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51"/>
  </p:notesMasterIdLst>
  <p:sldIdLst>
    <p:sldId id="263" r:id="rId2"/>
    <p:sldId id="264" r:id="rId3"/>
    <p:sldId id="267" r:id="rId4"/>
    <p:sldId id="266" r:id="rId5"/>
    <p:sldId id="310" r:id="rId6"/>
    <p:sldId id="268" r:id="rId7"/>
    <p:sldId id="308" r:id="rId8"/>
    <p:sldId id="309" r:id="rId9"/>
    <p:sldId id="311" r:id="rId10"/>
    <p:sldId id="312" r:id="rId11"/>
    <p:sldId id="313" r:id="rId12"/>
    <p:sldId id="269" r:id="rId13"/>
    <p:sldId id="270" r:id="rId14"/>
    <p:sldId id="271" r:id="rId15"/>
    <p:sldId id="272" r:id="rId16"/>
    <p:sldId id="274" r:id="rId17"/>
    <p:sldId id="275" r:id="rId18"/>
    <p:sldId id="276" r:id="rId19"/>
    <p:sldId id="278" r:id="rId20"/>
    <p:sldId id="279" r:id="rId21"/>
    <p:sldId id="281" r:id="rId22"/>
    <p:sldId id="284" r:id="rId23"/>
    <p:sldId id="287" r:id="rId24"/>
    <p:sldId id="282" r:id="rId25"/>
    <p:sldId id="273" r:id="rId26"/>
    <p:sldId id="285" r:id="rId27"/>
    <p:sldId id="286" r:id="rId28"/>
    <p:sldId id="288" r:id="rId29"/>
    <p:sldId id="289" r:id="rId30"/>
    <p:sldId id="290" r:id="rId31"/>
    <p:sldId id="291" r:id="rId32"/>
    <p:sldId id="292" r:id="rId33"/>
    <p:sldId id="293" r:id="rId34"/>
    <p:sldId id="294" r:id="rId35"/>
    <p:sldId id="295" r:id="rId36"/>
    <p:sldId id="296" r:id="rId37"/>
    <p:sldId id="298" r:id="rId38"/>
    <p:sldId id="300" r:id="rId39"/>
    <p:sldId id="299" r:id="rId40"/>
    <p:sldId id="302" r:id="rId41"/>
    <p:sldId id="303" r:id="rId42"/>
    <p:sldId id="304" r:id="rId43"/>
    <p:sldId id="305" r:id="rId44"/>
    <p:sldId id="306" r:id="rId45"/>
    <p:sldId id="297" r:id="rId46"/>
    <p:sldId id="280" r:id="rId47"/>
    <p:sldId id="301" r:id="rId48"/>
    <p:sldId id="307" r:id="rId49"/>
    <p:sldId id="277"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F047A08-585C-0A43-A909-E70795640C76}">
          <p14:sldIdLst>
            <p14:sldId id="263"/>
            <p14:sldId id="264"/>
          </p14:sldIdLst>
        </p14:section>
        <p14:section name="Who am I" id="{10977006-B917-CA43-AA48-11AADBE0582D}">
          <p14:sldIdLst>
            <p14:sldId id="267"/>
            <p14:sldId id="266"/>
            <p14:sldId id="310"/>
            <p14:sldId id="268"/>
            <p14:sldId id="308"/>
            <p14:sldId id="309"/>
            <p14:sldId id="311"/>
            <p14:sldId id="312"/>
            <p14:sldId id="313"/>
            <p14:sldId id="269"/>
            <p14:sldId id="270"/>
            <p14:sldId id="271"/>
          </p14:sldIdLst>
        </p14:section>
        <p14:section name="The engineering substrate" id="{1F9C62F0-749B-474D-A085-119525DEBECA}">
          <p14:sldIdLst>
            <p14:sldId id="272"/>
            <p14:sldId id="274"/>
            <p14:sldId id="275"/>
          </p14:sldIdLst>
        </p14:section>
        <p14:section name="Vibe coding" id="{DF2688F0-4C65-964F-89D2-BF793DFEF083}">
          <p14:sldIdLst>
            <p14:sldId id="276"/>
            <p14:sldId id="278"/>
            <p14:sldId id="279"/>
            <p14:sldId id="281"/>
          </p14:sldIdLst>
        </p14:section>
        <p14:section name="MAGE" id="{2CBCCDE0-CBC0-2D4F-BEA3-35FC249AD0B2}">
          <p14:sldIdLst>
            <p14:sldId id="284"/>
            <p14:sldId id="287"/>
            <p14:sldId id="282"/>
            <p14:sldId id="273"/>
          </p14:sldIdLst>
        </p14:section>
        <p14:section name="Modeling" id="{8C77C89A-8986-1944-9048-CF4051B46CF1}">
          <p14:sldIdLst>
            <p14:sldId id="285"/>
            <p14:sldId id="286"/>
            <p14:sldId id="288"/>
            <p14:sldId id="289"/>
            <p14:sldId id="290"/>
            <p14:sldId id="291"/>
          </p14:sldIdLst>
        </p14:section>
        <p14:section name="Alignment" id="{6EB14DA4-2EEB-084D-B8B5-D8E6F0A2CF76}">
          <p14:sldIdLst>
            <p14:sldId id="292"/>
            <p14:sldId id="293"/>
            <p14:sldId id="294"/>
            <p14:sldId id="295"/>
          </p14:sldIdLst>
        </p14:section>
        <p14:section name="The MAGE Method" id="{D9F13DC2-4E13-1D43-92E5-C854A5D80B7B}">
          <p14:sldIdLst>
            <p14:sldId id="296"/>
            <p14:sldId id="298"/>
            <p14:sldId id="300"/>
            <p14:sldId id="299"/>
          </p14:sldIdLst>
        </p14:section>
        <p14:section name="Data" id="{A4D3572A-87C5-C947-847B-7911F0A61791}">
          <p14:sldIdLst>
            <p14:sldId id="302"/>
            <p14:sldId id="303"/>
            <p14:sldId id="304"/>
            <p14:sldId id="305"/>
            <p14:sldId id="306"/>
          </p14:sldIdLst>
        </p14:section>
        <p14:section name="Related work and Implications" id="{2905DDA2-B84C-804A-8957-7E4CDEB8AB88}">
          <p14:sldIdLst>
            <p14:sldId id="297"/>
            <p14:sldId id="280"/>
          </p14:sldIdLst>
        </p14:section>
        <p14:section name="Closing remarks" id="{561B07CB-7B5A-CC49-AA82-759305B2F0C3}">
          <p14:sldIdLst>
            <p14:sldId id="301"/>
            <p14:sldId id="30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FFB2F9-B20B-F3D9-E2CF-8A1B6FB546FE}" name="James C Davis" initials="JCD" userId="S::davisjam@purdue.edu::84778d94-b1cc-4a48-87ce-749e1d7d6e7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FD655A-D7EA-8A4A-BAE4-1D385EBA1B35}" v="391" dt="2026-08-26T11:08:01.8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201" autoAdjust="0"/>
    <p:restoredTop sz="84863"/>
  </p:normalViewPr>
  <p:slideViewPr>
    <p:cSldViewPr snapToGrid="0" snapToObjects="1">
      <p:cViewPr varScale="1">
        <p:scale>
          <a:sx n="89" d="100"/>
          <a:sy n="89" d="100"/>
        </p:scale>
        <p:origin x="168" y="456"/>
      </p:cViewPr>
      <p:guideLst/>
    </p:cSldViewPr>
  </p:slideViewPr>
  <p:notesTextViewPr>
    <p:cViewPr>
      <p:scale>
        <a:sx n="80" d="100"/>
        <a:sy n="80" d="100"/>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C Davis" userId="84778d94-b1cc-4a48-87ce-749e1d7d6e72" providerId="ADAL" clId="{184774F8-66FE-589C-AE1E-89FB2E64E974}"/>
    <pc:docChg chg="undo custSel addSld delSld modSld modSection">
      <pc:chgData name="James C Davis" userId="84778d94-b1cc-4a48-87ce-749e1d7d6e72" providerId="ADAL" clId="{184774F8-66FE-589C-AE1E-89FB2E64E974}" dt="2026-08-26T11:08:01.870" v="3709" actId="20577"/>
      <pc:docMkLst>
        <pc:docMk/>
      </pc:docMkLst>
      <pc:sldChg chg="addSp modSp mod">
        <pc:chgData name="James C Davis" userId="84778d94-b1cc-4a48-87ce-749e1d7d6e72" providerId="ADAL" clId="{184774F8-66FE-589C-AE1E-89FB2E64E974}" dt="2026-08-26T10:24:01.338" v="225" actId="14100"/>
        <pc:sldMkLst>
          <pc:docMk/>
          <pc:sldMk cId="681153070" sldId="263"/>
        </pc:sldMkLst>
        <pc:spChg chg="add mod">
          <ac:chgData name="James C Davis" userId="84778d94-b1cc-4a48-87ce-749e1d7d6e72" providerId="ADAL" clId="{184774F8-66FE-589C-AE1E-89FB2E64E974}" dt="2026-08-26T10:23:30.397" v="220" actId="1076"/>
          <ac:spMkLst>
            <pc:docMk/>
            <pc:sldMk cId="681153070" sldId="263"/>
            <ac:spMk id="2" creationId="{C20F3E3B-2ECA-CC40-1DD7-05517A1B7F77}"/>
          </ac:spMkLst>
        </pc:spChg>
        <pc:spChg chg="mod">
          <ac:chgData name="James C Davis" userId="84778d94-b1cc-4a48-87ce-749e1d7d6e72" providerId="ADAL" clId="{184774F8-66FE-589C-AE1E-89FB2E64E974}" dt="2026-08-26T10:24:01.338" v="225" actId="14100"/>
          <ac:spMkLst>
            <pc:docMk/>
            <pc:sldMk cId="681153070" sldId="263"/>
            <ac:spMk id="7" creationId="{FCEDA1E7-56BA-62BC-4FB9-8E9BF0374B47}"/>
          </ac:spMkLst>
        </pc:spChg>
        <pc:picChg chg="add mod">
          <ac:chgData name="James C Davis" userId="84778d94-b1cc-4a48-87ce-749e1d7d6e72" providerId="ADAL" clId="{184774F8-66FE-589C-AE1E-89FB2E64E974}" dt="2026-08-26T10:23:54.028" v="224" actId="1076"/>
          <ac:picMkLst>
            <pc:docMk/>
            <pc:sldMk cId="681153070" sldId="263"/>
            <ac:picMk id="4" creationId="{1BDC6842-A1BF-1FAC-4EE4-32020EB525A3}"/>
          </ac:picMkLst>
        </pc:picChg>
      </pc:sldChg>
      <pc:sldChg chg="delSp modSp mod delAnim modAnim">
        <pc:chgData name="James C Davis" userId="84778d94-b1cc-4a48-87ce-749e1d7d6e72" providerId="ADAL" clId="{184774F8-66FE-589C-AE1E-89FB2E64E974}" dt="2026-08-26T10:28:55.102" v="281" actId="478"/>
        <pc:sldMkLst>
          <pc:docMk/>
          <pc:sldMk cId="1692458401" sldId="266"/>
        </pc:sldMkLst>
        <pc:spChg chg="mod">
          <ac:chgData name="James C Davis" userId="84778d94-b1cc-4a48-87ce-749e1d7d6e72" providerId="ADAL" clId="{184774F8-66FE-589C-AE1E-89FB2E64E974}" dt="2026-08-26T10:28:50" v="279" actId="20577"/>
          <ac:spMkLst>
            <pc:docMk/>
            <pc:sldMk cId="1692458401" sldId="266"/>
            <ac:spMk id="2" creationId="{B9772EDA-0C8B-03E3-1004-D8CBE1E44D68}"/>
          </ac:spMkLst>
        </pc:spChg>
        <pc:spChg chg="del mod">
          <ac:chgData name="James C Davis" userId="84778d94-b1cc-4a48-87ce-749e1d7d6e72" providerId="ADAL" clId="{184774F8-66FE-589C-AE1E-89FB2E64E974}" dt="2026-08-26T10:28:55.102" v="281" actId="478"/>
          <ac:spMkLst>
            <pc:docMk/>
            <pc:sldMk cId="1692458401" sldId="266"/>
            <ac:spMk id="5" creationId="{6C84A635-EB78-9C99-1394-910060F276AC}"/>
          </ac:spMkLst>
        </pc:spChg>
        <pc:picChg chg="del">
          <ac:chgData name="James C Davis" userId="84778d94-b1cc-4a48-87ce-749e1d7d6e72" providerId="ADAL" clId="{184774F8-66FE-589C-AE1E-89FB2E64E974}" dt="2026-08-26T10:28:16.512" v="226" actId="478"/>
          <ac:picMkLst>
            <pc:docMk/>
            <pc:sldMk cId="1692458401" sldId="266"/>
            <ac:picMk id="7" creationId="{F513252E-614D-D0CF-0CC5-24718652FC6A}"/>
          </ac:picMkLst>
        </pc:picChg>
        <pc:picChg chg="del">
          <ac:chgData name="James C Davis" userId="84778d94-b1cc-4a48-87ce-749e1d7d6e72" providerId="ADAL" clId="{184774F8-66FE-589C-AE1E-89FB2E64E974}" dt="2026-08-26T10:28:16.512" v="226" actId="478"/>
          <ac:picMkLst>
            <pc:docMk/>
            <pc:sldMk cId="1692458401" sldId="266"/>
            <ac:picMk id="9" creationId="{69087708-07DD-67D8-8388-589B838B7947}"/>
          </ac:picMkLst>
        </pc:picChg>
        <pc:picChg chg="del">
          <ac:chgData name="James C Davis" userId="84778d94-b1cc-4a48-87ce-749e1d7d6e72" providerId="ADAL" clId="{184774F8-66FE-589C-AE1E-89FB2E64E974}" dt="2026-08-26T10:28:16.512" v="226" actId="478"/>
          <ac:picMkLst>
            <pc:docMk/>
            <pc:sldMk cId="1692458401" sldId="266"/>
            <ac:picMk id="11" creationId="{ED6FE3AC-E4B5-0E54-16DE-B49A42BB7756}"/>
          </ac:picMkLst>
        </pc:picChg>
        <pc:picChg chg="del">
          <ac:chgData name="James C Davis" userId="84778d94-b1cc-4a48-87ce-749e1d7d6e72" providerId="ADAL" clId="{184774F8-66FE-589C-AE1E-89FB2E64E974}" dt="2026-08-26T10:28:16.512" v="226" actId="478"/>
          <ac:picMkLst>
            <pc:docMk/>
            <pc:sldMk cId="1692458401" sldId="266"/>
            <ac:picMk id="13" creationId="{0A4602B0-3036-D28F-736D-728DF4CFA15D}"/>
          </ac:picMkLst>
        </pc:picChg>
      </pc:sldChg>
      <pc:sldChg chg="modSp mod">
        <pc:chgData name="James C Davis" userId="84778d94-b1cc-4a48-87ce-749e1d7d6e72" providerId="ADAL" clId="{184774F8-66FE-589C-AE1E-89FB2E64E974}" dt="2026-08-26T10:44:12.600" v="1609" actId="20577"/>
        <pc:sldMkLst>
          <pc:docMk/>
          <pc:sldMk cId="4285858400" sldId="268"/>
        </pc:sldMkLst>
        <pc:spChg chg="mod">
          <ac:chgData name="James C Davis" userId="84778d94-b1cc-4a48-87ce-749e1d7d6e72" providerId="ADAL" clId="{184774F8-66FE-589C-AE1E-89FB2E64E974}" dt="2026-08-26T10:44:12.600" v="1609" actId="20577"/>
          <ac:spMkLst>
            <pc:docMk/>
            <pc:sldMk cId="4285858400" sldId="268"/>
            <ac:spMk id="3" creationId="{55DD86E3-A6D4-3788-E183-BDFE8D26636D}"/>
          </ac:spMkLst>
        </pc:spChg>
      </pc:sldChg>
      <pc:sldChg chg="modSp mod">
        <pc:chgData name="James C Davis" userId="84778d94-b1cc-4a48-87ce-749e1d7d6e72" providerId="ADAL" clId="{184774F8-66FE-589C-AE1E-89FB2E64E974}" dt="2026-08-26T10:34:49.206" v="1075" actId="20577"/>
        <pc:sldMkLst>
          <pc:docMk/>
          <pc:sldMk cId="2598150077" sldId="269"/>
        </pc:sldMkLst>
        <pc:spChg chg="mod">
          <ac:chgData name="James C Davis" userId="84778d94-b1cc-4a48-87ce-749e1d7d6e72" providerId="ADAL" clId="{184774F8-66FE-589C-AE1E-89FB2E64E974}" dt="2026-08-26T10:34:49.206" v="1075" actId="20577"/>
          <ac:spMkLst>
            <pc:docMk/>
            <pc:sldMk cId="2598150077" sldId="269"/>
            <ac:spMk id="3" creationId="{8F87B7BE-726F-C1F3-6334-098E32AD8E11}"/>
          </ac:spMkLst>
        </pc:spChg>
      </pc:sldChg>
      <pc:sldChg chg="addSp modSp new mod modNotesTx">
        <pc:chgData name="James C Davis" userId="84778d94-b1cc-4a48-87ce-749e1d7d6e72" providerId="ADAL" clId="{184774F8-66FE-589C-AE1E-89FB2E64E974}" dt="2026-08-26T10:48:50.344" v="1830" actId="20577"/>
        <pc:sldMkLst>
          <pc:docMk/>
          <pc:sldMk cId="4078353197" sldId="308"/>
        </pc:sldMkLst>
        <pc:spChg chg="mod">
          <ac:chgData name="James C Davis" userId="84778d94-b1cc-4a48-87ce-749e1d7d6e72" providerId="ADAL" clId="{184774F8-66FE-589C-AE1E-89FB2E64E974}" dt="2026-08-26T10:48:50.344" v="1830" actId="20577"/>
          <ac:spMkLst>
            <pc:docMk/>
            <pc:sldMk cId="4078353197" sldId="308"/>
            <ac:spMk id="2" creationId="{E8ADEAED-6F28-5149-6A8A-3EA8DCDA41B4}"/>
          </ac:spMkLst>
        </pc:spChg>
        <pc:spChg chg="mod">
          <ac:chgData name="James C Davis" userId="84778d94-b1cc-4a48-87ce-749e1d7d6e72" providerId="ADAL" clId="{184774F8-66FE-589C-AE1E-89FB2E64E974}" dt="2026-08-26T10:44:17.800" v="1618" actId="20577"/>
          <ac:spMkLst>
            <pc:docMk/>
            <pc:sldMk cId="4078353197" sldId="308"/>
            <ac:spMk id="3" creationId="{3323A2CE-D976-F53C-4C11-34F3821E8145}"/>
          </ac:spMkLst>
        </pc:spChg>
        <pc:spChg chg="add mod">
          <ac:chgData name="James C Davis" userId="84778d94-b1cc-4a48-87ce-749e1d7d6e72" providerId="ADAL" clId="{184774F8-66FE-589C-AE1E-89FB2E64E974}" dt="2026-08-26T10:47:50.805" v="1825" actId="20577"/>
          <ac:spMkLst>
            <pc:docMk/>
            <pc:sldMk cId="4078353197" sldId="308"/>
            <ac:spMk id="5" creationId="{54862DAC-EBC4-6083-5EC3-25E3B88D6608}"/>
          </ac:spMkLst>
        </pc:spChg>
      </pc:sldChg>
      <pc:sldChg chg="addSp modSp new mod modAnim">
        <pc:chgData name="James C Davis" userId="84778d94-b1cc-4a48-87ce-749e1d7d6e72" providerId="ADAL" clId="{184774F8-66FE-589C-AE1E-89FB2E64E974}" dt="2026-08-26T10:43:18.361" v="1519" actId="14100"/>
        <pc:sldMkLst>
          <pc:docMk/>
          <pc:sldMk cId="966649385" sldId="309"/>
        </pc:sldMkLst>
        <pc:spChg chg="mod">
          <ac:chgData name="James C Davis" userId="84778d94-b1cc-4a48-87ce-749e1d7d6e72" providerId="ADAL" clId="{184774F8-66FE-589C-AE1E-89FB2E64E974}" dt="2026-08-26T10:40:34.888" v="1481" actId="20577"/>
          <ac:spMkLst>
            <pc:docMk/>
            <pc:sldMk cId="966649385" sldId="309"/>
            <ac:spMk id="3" creationId="{235DF4BF-FFFF-1900-23BC-2565EE75CD3A}"/>
          </ac:spMkLst>
        </pc:spChg>
        <pc:picChg chg="add mod">
          <ac:chgData name="James C Davis" userId="84778d94-b1cc-4a48-87ce-749e1d7d6e72" providerId="ADAL" clId="{184774F8-66FE-589C-AE1E-89FB2E64E974}" dt="2026-08-26T10:43:18.361" v="1519" actId="14100"/>
          <ac:picMkLst>
            <pc:docMk/>
            <pc:sldMk cId="966649385" sldId="309"/>
            <ac:picMk id="5" creationId="{455C9916-A5A6-746B-909B-57433D514D74}"/>
          </ac:picMkLst>
        </pc:picChg>
        <pc:picChg chg="add mod">
          <ac:chgData name="James C Davis" userId="84778d94-b1cc-4a48-87ce-749e1d7d6e72" providerId="ADAL" clId="{184774F8-66FE-589C-AE1E-89FB2E64E974}" dt="2026-08-26T10:42:53.197" v="1512" actId="14100"/>
          <ac:picMkLst>
            <pc:docMk/>
            <pc:sldMk cId="966649385" sldId="309"/>
            <ac:picMk id="6" creationId="{4A72B979-9E96-EE4B-67A2-7CBA50EFA1A5}"/>
          </ac:picMkLst>
        </pc:picChg>
        <pc:picChg chg="add mod">
          <ac:chgData name="James C Davis" userId="84778d94-b1cc-4a48-87ce-749e1d7d6e72" providerId="ADAL" clId="{184774F8-66FE-589C-AE1E-89FB2E64E974}" dt="2026-08-26T10:43:00.898" v="1515" actId="14100"/>
          <ac:picMkLst>
            <pc:docMk/>
            <pc:sldMk cId="966649385" sldId="309"/>
            <ac:picMk id="7" creationId="{19B56FA4-DBCA-2A79-0490-54D4F2D8F7D8}"/>
          </ac:picMkLst>
        </pc:picChg>
      </pc:sldChg>
      <pc:sldChg chg="addSp delSp modSp new mod modClrScheme chgLayout">
        <pc:chgData name="James C Davis" userId="84778d94-b1cc-4a48-87ce-749e1d7d6e72" providerId="ADAL" clId="{184774F8-66FE-589C-AE1E-89FB2E64E974}" dt="2026-08-26T10:51:09.233" v="2177" actId="27636"/>
        <pc:sldMkLst>
          <pc:docMk/>
          <pc:sldMk cId="653947174" sldId="310"/>
        </pc:sldMkLst>
        <pc:spChg chg="del">
          <ac:chgData name="James C Davis" userId="84778d94-b1cc-4a48-87ce-749e1d7d6e72" providerId="ADAL" clId="{184774F8-66FE-589C-AE1E-89FB2E64E974}" dt="2026-08-26T10:43:51.867" v="1528" actId="700"/>
          <ac:spMkLst>
            <pc:docMk/>
            <pc:sldMk cId="653947174" sldId="310"/>
            <ac:spMk id="2" creationId="{B05A7250-4646-08A9-BA52-63680034FB16}"/>
          </ac:spMkLst>
        </pc:spChg>
        <pc:spChg chg="del mod ord">
          <ac:chgData name="James C Davis" userId="84778d94-b1cc-4a48-87ce-749e1d7d6e72" providerId="ADAL" clId="{184774F8-66FE-589C-AE1E-89FB2E64E974}" dt="2026-08-26T10:43:51.867" v="1528" actId="700"/>
          <ac:spMkLst>
            <pc:docMk/>
            <pc:sldMk cId="653947174" sldId="310"/>
            <ac:spMk id="3" creationId="{0D10057F-B25B-E920-851A-3F97C09A19E7}"/>
          </ac:spMkLst>
        </pc:spChg>
        <pc:spChg chg="mod ord">
          <ac:chgData name="James C Davis" userId="84778d94-b1cc-4a48-87ce-749e1d7d6e72" providerId="ADAL" clId="{184774F8-66FE-589C-AE1E-89FB2E64E974}" dt="2026-08-26T10:43:51.867" v="1528" actId="700"/>
          <ac:spMkLst>
            <pc:docMk/>
            <pc:sldMk cId="653947174" sldId="310"/>
            <ac:spMk id="4" creationId="{3DBF756A-7F67-E2D7-DAD4-D9078492F1CE}"/>
          </ac:spMkLst>
        </pc:spChg>
        <pc:spChg chg="add mod ord">
          <ac:chgData name="James C Davis" userId="84778d94-b1cc-4a48-87ce-749e1d7d6e72" providerId="ADAL" clId="{184774F8-66FE-589C-AE1E-89FB2E64E974}" dt="2026-08-26T10:51:09.233" v="2177" actId="27636"/>
          <ac:spMkLst>
            <pc:docMk/>
            <pc:sldMk cId="653947174" sldId="310"/>
            <ac:spMk id="5" creationId="{311D470E-B79B-51B9-E71C-E237A742FED0}"/>
          </ac:spMkLst>
        </pc:spChg>
      </pc:sldChg>
      <pc:sldChg chg="addSp delSp modSp new mod modClrScheme delAnim modAnim chgLayout">
        <pc:chgData name="James C Davis" userId="84778d94-b1cc-4a48-87ce-749e1d7d6e72" providerId="ADAL" clId="{184774F8-66FE-589C-AE1E-89FB2E64E974}" dt="2026-08-26T10:51:53.437" v="2239"/>
        <pc:sldMkLst>
          <pc:docMk/>
          <pc:sldMk cId="514260613" sldId="311"/>
        </pc:sldMkLst>
        <pc:spChg chg="del">
          <ac:chgData name="James C Davis" userId="84778d94-b1cc-4a48-87ce-749e1d7d6e72" providerId="ADAL" clId="{184774F8-66FE-589C-AE1E-89FB2E64E974}" dt="2026-08-26T10:49:18.213" v="1843" actId="700"/>
          <ac:spMkLst>
            <pc:docMk/>
            <pc:sldMk cId="514260613" sldId="311"/>
            <ac:spMk id="2" creationId="{AE0D6AFF-47B8-B064-8B15-C4CE0309D9C1}"/>
          </ac:spMkLst>
        </pc:spChg>
        <pc:spChg chg="mod ord">
          <ac:chgData name="James C Davis" userId="84778d94-b1cc-4a48-87ce-749e1d7d6e72" providerId="ADAL" clId="{184774F8-66FE-589C-AE1E-89FB2E64E974}" dt="2026-08-26T10:51:19.123" v="2178" actId="1076"/>
          <ac:spMkLst>
            <pc:docMk/>
            <pc:sldMk cId="514260613" sldId="311"/>
            <ac:spMk id="3" creationId="{E6A2D8D3-2D4E-927A-A219-FA5DC544CAB4}"/>
          </ac:spMkLst>
        </pc:spChg>
        <pc:spChg chg="mod ord">
          <ac:chgData name="James C Davis" userId="84778d94-b1cc-4a48-87ce-749e1d7d6e72" providerId="ADAL" clId="{184774F8-66FE-589C-AE1E-89FB2E64E974}" dt="2026-08-26T10:49:18.213" v="1843" actId="700"/>
          <ac:spMkLst>
            <pc:docMk/>
            <pc:sldMk cId="514260613" sldId="311"/>
            <ac:spMk id="4" creationId="{A00AC69E-9BB8-F76D-A294-E6652716283D}"/>
          </ac:spMkLst>
        </pc:spChg>
        <pc:spChg chg="add mod">
          <ac:chgData name="James C Davis" userId="84778d94-b1cc-4a48-87ce-749e1d7d6e72" providerId="ADAL" clId="{184774F8-66FE-589C-AE1E-89FB2E64E974}" dt="2026-08-26T10:51:21.403" v="2179" actId="1076"/>
          <ac:spMkLst>
            <pc:docMk/>
            <pc:sldMk cId="514260613" sldId="311"/>
            <ac:spMk id="5" creationId="{9AD14ED5-AC94-455A-8F33-F4517349788E}"/>
          </ac:spMkLst>
        </pc:spChg>
        <pc:spChg chg="add mod">
          <ac:chgData name="James C Davis" userId="84778d94-b1cc-4a48-87ce-749e1d7d6e72" providerId="ADAL" clId="{184774F8-66FE-589C-AE1E-89FB2E64E974}" dt="2026-08-26T10:51:48.082" v="2238" actId="403"/>
          <ac:spMkLst>
            <pc:docMk/>
            <pc:sldMk cId="514260613" sldId="311"/>
            <ac:spMk id="7" creationId="{A6CF385B-CCC2-7A51-E95F-4DC24D80DE0C}"/>
          </ac:spMkLst>
        </pc:spChg>
        <pc:picChg chg="add del mod">
          <ac:chgData name="James C Davis" userId="84778d94-b1cc-4a48-87ce-749e1d7d6e72" providerId="ADAL" clId="{184774F8-66FE-589C-AE1E-89FB2E64E974}" dt="2026-08-26T10:50:26.798" v="2122" actId="478"/>
          <ac:picMkLst>
            <pc:docMk/>
            <pc:sldMk cId="514260613" sldId="311"/>
            <ac:picMk id="6" creationId="{93D7A5F6-F691-44D7-6F41-6509469965F3}"/>
          </ac:picMkLst>
        </pc:picChg>
      </pc:sldChg>
      <pc:sldChg chg="modSp add mod">
        <pc:chgData name="James C Davis" userId="84778d94-b1cc-4a48-87ce-749e1d7d6e72" providerId="ADAL" clId="{184774F8-66FE-589C-AE1E-89FB2E64E974}" dt="2026-08-26T10:52:08.746" v="2273" actId="20577"/>
        <pc:sldMkLst>
          <pc:docMk/>
          <pc:sldMk cId="2718798908" sldId="312"/>
        </pc:sldMkLst>
        <pc:spChg chg="mod">
          <ac:chgData name="James C Davis" userId="84778d94-b1cc-4a48-87ce-749e1d7d6e72" providerId="ADAL" clId="{184774F8-66FE-589C-AE1E-89FB2E64E974}" dt="2026-08-26T10:52:08.746" v="2273" actId="20577"/>
          <ac:spMkLst>
            <pc:docMk/>
            <pc:sldMk cId="2718798908" sldId="312"/>
            <ac:spMk id="5" creationId="{5A7DEC3A-165B-70D2-E071-F72A6C72D0D9}"/>
          </ac:spMkLst>
        </pc:spChg>
      </pc:sldChg>
      <pc:sldChg chg="addSp delSp modSp new mod modClrScheme modAnim chgLayout">
        <pc:chgData name="James C Davis" userId="84778d94-b1cc-4a48-87ce-749e1d7d6e72" providerId="ADAL" clId="{184774F8-66FE-589C-AE1E-89FB2E64E974}" dt="2026-08-26T11:08:01.870" v="3709" actId="20577"/>
        <pc:sldMkLst>
          <pc:docMk/>
          <pc:sldMk cId="468738637" sldId="313"/>
        </pc:sldMkLst>
        <pc:spChg chg="del mod ord">
          <ac:chgData name="James C Davis" userId="84778d94-b1cc-4a48-87ce-749e1d7d6e72" providerId="ADAL" clId="{184774F8-66FE-589C-AE1E-89FB2E64E974}" dt="2026-08-26T10:52:24.525" v="2277" actId="700"/>
          <ac:spMkLst>
            <pc:docMk/>
            <pc:sldMk cId="468738637" sldId="313"/>
            <ac:spMk id="2" creationId="{FC62342C-BBDF-DF4B-F47F-60576960E4A5}"/>
          </ac:spMkLst>
        </pc:spChg>
        <pc:spChg chg="mod ord">
          <ac:chgData name="James C Davis" userId="84778d94-b1cc-4a48-87ce-749e1d7d6e72" providerId="ADAL" clId="{184774F8-66FE-589C-AE1E-89FB2E64E974}" dt="2026-08-26T10:52:24.525" v="2277" actId="700"/>
          <ac:spMkLst>
            <pc:docMk/>
            <pc:sldMk cId="468738637" sldId="313"/>
            <ac:spMk id="3" creationId="{1B34B351-C52C-C9FB-84DE-2A75D0B0A289}"/>
          </ac:spMkLst>
        </pc:spChg>
        <pc:spChg chg="add mod ord">
          <ac:chgData name="James C Davis" userId="84778d94-b1cc-4a48-87ce-749e1d7d6e72" providerId="ADAL" clId="{184774F8-66FE-589C-AE1E-89FB2E64E974}" dt="2026-08-26T10:52:28.445" v="2300" actId="20577"/>
          <ac:spMkLst>
            <pc:docMk/>
            <pc:sldMk cId="468738637" sldId="313"/>
            <ac:spMk id="4" creationId="{7EA20AF2-8112-50CB-8B4F-DC4B574E1664}"/>
          </ac:spMkLst>
        </pc:spChg>
        <pc:spChg chg="add mod ord">
          <ac:chgData name="James C Davis" userId="84778d94-b1cc-4a48-87ce-749e1d7d6e72" providerId="ADAL" clId="{184774F8-66FE-589C-AE1E-89FB2E64E974}" dt="2026-08-26T11:08:01.870" v="3709" actId="20577"/>
          <ac:spMkLst>
            <pc:docMk/>
            <pc:sldMk cId="468738637" sldId="313"/>
            <ac:spMk id="5" creationId="{B9236951-979C-C772-A2C0-BB543B4605DC}"/>
          </ac:spMkLst>
        </pc:spChg>
        <pc:spChg chg="add mod">
          <ac:chgData name="James C Davis" userId="84778d94-b1cc-4a48-87ce-749e1d7d6e72" providerId="ADAL" clId="{184774F8-66FE-589C-AE1E-89FB2E64E974}" dt="2026-08-26T11:07:00.031" v="3704" actId="207"/>
          <ac:spMkLst>
            <pc:docMk/>
            <pc:sldMk cId="468738637" sldId="313"/>
            <ac:spMk id="6" creationId="{AB238BA0-8E57-DA01-AAD7-D2C5179A7A81}"/>
          </ac:spMkLst>
        </pc:spChg>
      </pc:sldChg>
      <pc:sldChg chg="new del">
        <pc:chgData name="James C Davis" userId="84778d94-b1cc-4a48-87ce-749e1d7d6e72" providerId="ADAL" clId="{184774F8-66FE-589C-AE1E-89FB2E64E974}" dt="2026-08-26T10:52:18.760" v="2275" actId="2696"/>
        <pc:sldMkLst>
          <pc:docMk/>
          <pc:sldMk cId="779149015" sldId="31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data1.xml><?xml version="1.0" encoding="utf-8"?>
<dgm:dataModel xmlns:dgm="http://schemas.openxmlformats.org/drawingml/2006/diagram" xmlns:a="http://schemas.openxmlformats.org/drawingml/2006/main">
  <dgm:ptLst>
    <dgm:pt modelId="{AB12CD69-1D5C-3349-AE21-964BDE31C4D5}" type="doc">
      <dgm:prSet loTypeId="urn:microsoft.com/office/officeart/2024/layout/BulletTimeline" loCatId="process" qsTypeId="urn:microsoft.com/office/officeart/2005/8/quickstyle/simple4" qsCatId="simple" csTypeId="urn:microsoft.com/office/officeart/2005/8/colors/accent0_1" csCatId="mainScheme" phldr="1"/>
      <dgm:spPr/>
      <dgm:t>
        <a:bodyPr/>
        <a:lstStyle/>
        <a:p>
          <a:endParaRPr lang="en-US"/>
        </a:p>
      </dgm:t>
    </dgm:pt>
    <dgm:pt modelId="{F829D2E8-CECE-8C49-9B0F-AA44D4BD7C3F}">
      <dgm:prSet phldrT="Add an event"/>
      <dgm:spPr/>
      <dgm:t>
        <a:bodyPr/>
        <a:lstStyle/>
        <a:p>
          <a:pPr>
            <a:defRPr b="1"/>
          </a:pPr>
          <a:r>
            <a:rPr lang="en-US" dirty="0"/>
            <a:t>1990: ADA</a:t>
          </a:r>
        </a:p>
      </dgm:t>
    </dgm:pt>
    <dgm:pt modelId="{64705791-78ED-A04A-85C9-77F288B2BCEB}" type="parTrans" cxnId="{A5E39B24-B7FB-2C44-B46E-36249559A090}">
      <dgm:prSet/>
      <dgm:spPr/>
      <dgm:t>
        <a:bodyPr/>
        <a:lstStyle/>
        <a:p>
          <a:endParaRPr lang="en-US"/>
        </a:p>
      </dgm:t>
    </dgm:pt>
    <dgm:pt modelId="{4389F565-3455-1C4E-9160-F08D037864FC}" type="sibTrans" cxnId="{A5E39B24-B7FB-2C44-B46E-36249559A090}">
      <dgm:prSet/>
      <dgm:spPr/>
      <dgm:t>
        <a:bodyPr/>
        <a:lstStyle/>
        <a:p>
          <a:endParaRPr lang="en-US"/>
        </a:p>
      </dgm:t>
    </dgm:pt>
    <dgm:pt modelId="{7A91DBBA-EF56-5249-8C73-32C606754BFF}">
      <dgm:prSet phldrT="Add an event"/>
      <dgm:spPr/>
      <dgm:t>
        <a:bodyPr/>
        <a:lstStyle/>
        <a:p>
          <a:pPr>
            <a:defRPr b="1"/>
          </a:pPr>
          <a:r>
            <a:rPr lang="en-US" dirty="0"/>
            <a:t>2024: DOJ: ADA += "digital”</a:t>
          </a:r>
        </a:p>
      </dgm:t>
    </dgm:pt>
    <dgm:pt modelId="{01F4F99F-C360-DE45-94A6-0D997A84789D}" type="parTrans" cxnId="{2B12C69C-D3E2-9147-8BBC-EBB36D6B2F8A}">
      <dgm:prSet/>
      <dgm:spPr/>
      <dgm:t>
        <a:bodyPr/>
        <a:lstStyle/>
        <a:p>
          <a:endParaRPr lang="en-US"/>
        </a:p>
      </dgm:t>
    </dgm:pt>
    <dgm:pt modelId="{FAB75934-BAC2-8F4F-9741-E50F29B98715}" type="sibTrans" cxnId="{2B12C69C-D3E2-9147-8BBC-EBB36D6B2F8A}">
      <dgm:prSet/>
      <dgm:spPr/>
      <dgm:t>
        <a:bodyPr/>
        <a:lstStyle/>
        <a:p>
          <a:endParaRPr lang="en-US"/>
        </a:p>
      </dgm:t>
    </dgm:pt>
    <dgm:pt modelId="{6305506A-304D-0145-B8D8-F00FF9A933D6}">
      <dgm:prSet phldrT="Add an event"/>
      <dgm:spPr/>
      <dgm:t>
        <a:bodyPr/>
        <a:lstStyle/>
        <a:p>
          <a:pPr>
            <a:defRPr b="1"/>
          </a:pPr>
          <a:r>
            <a:rPr lang="en-US" dirty="0"/>
            <a:t>4/2026: Compliance deadline</a:t>
          </a:r>
        </a:p>
      </dgm:t>
    </dgm:pt>
    <dgm:pt modelId="{2D37BF73-72AB-964A-8F36-22C11E894A7F}" type="parTrans" cxnId="{220F2A4A-6136-7F45-BED8-1E55AB677FEC}">
      <dgm:prSet/>
      <dgm:spPr/>
      <dgm:t>
        <a:bodyPr/>
        <a:lstStyle/>
        <a:p>
          <a:endParaRPr lang="en-US"/>
        </a:p>
      </dgm:t>
    </dgm:pt>
    <dgm:pt modelId="{79B7C077-10C6-4247-B8DF-B43747DC9861}" type="sibTrans" cxnId="{220F2A4A-6136-7F45-BED8-1E55AB677FEC}">
      <dgm:prSet/>
      <dgm:spPr/>
      <dgm:t>
        <a:bodyPr/>
        <a:lstStyle/>
        <a:p>
          <a:endParaRPr lang="en-US"/>
        </a:p>
      </dgm:t>
    </dgm:pt>
    <dgm:pt modelId="{2CE7FA65-EE52-0243-AD08-8C37F34C33BC}">
      <dgm:prSet phldrT="Add an event"/>
      <dgm:spPr/>
      <dgm:t>
        <a:bodyPr/>
        <a:lstStyle/>
        <a:p>
          <a:pPr>
            <a:defRPr b="1"/>
          </a:pPr>
          <a:r>
            <a:rPr lang="en-US" dirty="0"/>
            <a:t>4/2027: Revised compliance deadline</a:t>
          </a:r>
        </a:p>
      </dgm:t>
    </dgm:pt>
    <dgm:pt modelId="{B3742183-16F7-BB4B-B3E6-8A30831375CB}" type="parTrans" cxnId="{F8BC3C2A-7742-724F-BD8C-D83C897D3F7D}">
      <dgm:prSet/>
      <dgm:spPr/>
      <dgm:t>
        <a:bodyPr/>
        <a:lstStyle/>
        <a:p>
          <a:endParaRPr lang="en-US"/>
        </a:p>
      </dgm:t>
    </dgm:pt>
    <dgm:pt modelId="{C4C5F8EB-63AA-4D4D-8560-66428BF6467D}" type="sibTrans" cxnId="{F8BC3C2A-7742-724F-BD8C-D83C897D3F7D}">
      <dgm:prSet/>
      <dgm:spPr/>
      <dgm:t>
        <a:bodyPr/>
        <a:lstStyle/>
        <a:p>
          <a:endParaRPr lang="en-US"/>
        </a:p>
      </dgm:t>
    </dgm:pt>
    <dgm:pt modelId="{052125EB-FA83-E84A-9190-E1071218BD1F}" type="pres">
      <dgm:prSet presAssocID="{AB12CD69-1D5C-3349-AE21-964BDE31C4D5}" presName="root" presStyleCnt="0">
        <dgm:presLayoutVars>
          <dgm:dir/>
          <dgm:animLvl val="lvl"/>
        </dgm:presLayoutVars>
      </dgm:prSet>
      <dgm:spPr/>
    </dgm:pt>
    <dgm:pt modelId="{49281A70-0FE4-394E-A71A-38B038D2A89B}" type="pres">
      <dgm:prSet presAssocID="{AB12CD69-1D5C-3349-AE21-964BDE31C4D5}" presName="divider" presStyleCnt="0"/>
      <dgm:spPr/>
    </dgm:pt>
    <dgm:pt modelId="{18D2FE70-799F-9847-A918-0A848A8DA597}" type="pres">
      <dgm:prSet presAssocID="{AB12CD69-1D5C-3349-AE21-964BDE31C4D5}" presName="rectBar" presStyleLbl="dkBgShp" presStyleIdx="0" presStyleCnt="6"/>
      <dgm:spPr>
        <a:gradFill rotWithShape="0">
          <a:gsLst>
            <a:gs pos="0">
              <a:schemeClr val="dk1">
                <a:tint val="76000"/>
              </a:schemeClr>
            </a:gs>
            <a:gs pos="100000">
              <a:schemeClr val="dk1">
                <a:tint val="76000"/>
              </a:schemeClr>
            </a:gs>
          </a:gsLst>
          <a:lin ang="0" scaled="0"/>
        </a:gradFill>
        <a:ln>
          <a:noFill/>
        </a:ln>
        <a:effectLst/>
      </dgm:spPr>
    </dgm:pt>
    <dgm:pt modelId="{C054134C-0DD7-3F45-87DC-CC6F306C63DA}" type="pres">
      <dgm:prSet presAssocID="{AB12CD69-1D5C-3349-AE21-964BDE31C4D5}" presName="chevronArrow" presStyleLbl="dkBgShp" presStyleIdx="1" presStyleCnt="6"/>
      <dgm:spPr>
        <a:gradFill rotWithShape="0">
          <a:gsLst>
            <a:gs pos="0">
              <a:schemeClr val="dk1">
                <a:tint val="76000"/>
              </a:schemeClr>
            </a:gs>
            <a:gs pos="100000">
              <a:schemeClr val="dk1">
                <a:tint val="76000"/>
              </a:schemeClr>
            </a:gs>
          </a:gsLst>
          <a:lin ang="0" scaled="0"/>
        </a:gradFill>
        <a:ln>
          <a:noFill/>
        </a:ln>
        <a:effectLst/>
      </dgm:spPr>
    </dgm:pt>
    <dgm:pt modelId="{3224703F-A380-9146-BEA5-AE943E86E3AD}" type="pres">
      <dgm:prSet presAssocID="{AB12CD69-1D5C-3349-AE21-964BDE31C4D5}" presName="nodes" presStyleCnt="0">
        <dgm:presLayoutVars>
          <dgm:chMax/>
          <dgm:chPref/>
          <dgm:animLvl val="lvl"/>
        </dgm:presLayoutVars>
      </dgm:prSet>
      <dgm:spPr/>
    </dgm:pt>
    <dgm:pt modelId="{286E30B0-8C0D-3245-9088-3CDDF2BD4E12}" type="pres">
      <dgm:prSet presAssocID="{F829D2E8-CECE-8C49-9B0F-AA44D4BD7C3F}" presName="composite" presStyleCnt="0"/>
      <dgm:spPr/>
    </dgm:pt>
    <dgm:pt modelId="{93BFCB07-2D5D-E945-B131-8BDE6B5A5A1D}" type="pres">
      <dgm:prSet presAssocID="{F829D2E8-CECE-8C49-9B0F-AA44D4BD7C3F}" presName="DropPinPlaceHolder" presStyleCnt="0"/>
      <dgm:spPr/>
    </dgm:pt>
    <dgm:pt modelId="{0B183D1F-446C-A54B-94B7-5F008056C13D}" type="pres">
      <dgm:prSet presAssocID="{F829D2E8-CECE-8C49-9B0F-AA44D4BD7C3F}" presName="DropPin" presStyleLbl="alignNode1" presStyleIdx="0" presStyleCnt="4"/>
      <dgm:spPr/>
    </dgm:pt>
    <dgm:pt modelId="{8F5E5FBA-950B-604D-A5C7-39668D06B188}" type="pres">
      <dgm:prSet presAssocID="{F829D2E8-CECE-8C49-9B0F-AA44D4BD7C3F}" presName="Ellipse" presStyleLbl="fgAcc1" presStyleIdx="0" presStyleCnt="4"/>
      <dgm:spPr/>
    </dgm:pt>
    <dgm:pt modelId="{EFCE1A4B-76F0-A643-A4F9-4FBCA7DD49E1}" type="pres">
      <dgm:prSet presAssocID="{F829D2E8-CECE-8C49-9B0F-AA44D4BD7C3F}" presName="L2TextContainer" presStyleLbl="revTx" presStyleIdx="0" presStyleCnt="8">
        <dgm:presLayoutVars>
          <dgm:bulletEnabled val="1"/>
        </dgm:presLayoutVars>
      </dgm:prSet>
      <dgm:spPr/>
    </dgm:pt>
    <dgm:pt modelId="{B4E83F11-E112-4943-B89B-4BAA3A0A27CC}" type="pres">
      <dgm:prSet presAssocID="{F829D2E8-CECE-8C49-9B0F-AA44D4BD7C3F}" presName="L1TextContainer" presStyleLbl="revTx" presStyleIdx="1" presStyleCnt="8">
        <dgm:presLayoutVars>
          <dgm:chMax val="1"/>
          <dgm:chPref val="1"/>
          <dgm:bulletEnabled val="1"/>
        </dgm:presLayoutVars>
      </dgm:prSet>
      <dgm:spPr/>
    </dgm:pt>
    <dgm:pt modelId="{1440B6B7-E83F-A94C-A897-94F680E052BB}" type="pres">
      <dgm:prSet presAssocID="{F829D2E8-CECE-8C49-9B0F-AA44D4BD7C3F}" presName="ConnectLine" presStyleLbl="dkBgShp" presStyleIdx="2" presStyleCnt="6"/>
      <dgm:spPr>
        <a:gradFill rotWithShape="0">
          <a:gsLst>
            <a:gs pos="0">
              <a:schemeClr val="dk1">
                <a:tint val="76000"/>
              </a:schemeClr>
            </a:gs>
            <a:gs pos="100000">
              <a:schemeClr val="dk1">
                <a:tint val="76000"/>
              </a:schemeClr>
            </a:gs>
          </a:gsLst>
          <a:lin ang="0" scaled="0"/>
        </a:gradFill>
        <a:ln>
          <a:noFill/>
        </a:ln>
        <a:effectLst/>
      </dgm:spPr>
    </dgm:pt>
    <dgm:pt modelId="{C5312137-037E-5D4F-BD7B-82AE08F5F12E}" type="pres">
      <dgm:prSet presAssocID="{F829D2E8-CECE-8C49-9B0F-AA44D4BD7C3F}" presName="ConnectorPoint" presStyleCnt="0"/>
      <dgm:spPr/>
    </dgm:pt>
    <dgm:pt modelId="{198A991B-393E-8F4C-B939-8A442615E7F7}" type="pres">
      <dgm:prSet presAssocID="{F829D2E8-CECE-8C49-9B0F-AA44D4BD7C3F}" presName="Bullet" presStyleLbl="node1NoLn" presStyleIdx="0" presStyleCnt="4"/>
      <dgm:spPr/>
    </dgm:pt>
    <dgm:pt modelId="{62B2B876-DC53-CD4F-A1E7-8FEB58F19FA5}" type="pres">
      <dgm:prSet presAssocID="{F829D2E8-CECE-8C49-9B0F-AA44D4BD7C3F}" presName="EmptyPlaceHolder" presStyleCnt="0"/>
      <dgm:spPr/>
    </dgm:pt>
    <dgm:pt modelId="{ED8112DA-702F-844E-B6F0-65E22148FB87}" type="pres">
      <dgm:prSet presAssocID="{4389F565-3455-1C4E-9160-F08D037864FC}" presName="spaceBetweenRectangles" presStyleCnt="0"/>
      <dgm:spPr/>
    </dgm:pt>
    <dgm:pt modelId="{A5B4E7A8-8F51-ED46-893D-8372B397551E}" type="pres">
      <dgm:prSet presAssocID="{7A91DBBA-EF56-5249-8C73-32C606754BFF}" presName="composite" presStyleCnt="0"/>
      <dgm:spPr/>
    </dgm:pt>
    <dgm:pt modelId="{70261E87-AB0B-4445-BB3A-19D00E53B4AD}" type="pres">
      <dgm:prSet presAssocID="{7A91DBBA-EF56-5249-8C73-32C606754BFF}" presName="DropPinPlaceHolder" presStyleCnt="0"/>
      <dgm:spPr/>
    </dgm:pt>
    <dgm:pt modelId="{4C547055-03A6-0342-8D3A-49F0DAF0DA2C}" type="pres">
      <dgm:prSet presAssocID="{7A91DBBA-EF56-5249-8C73-32C606754BFF}" presName="DropPin" presStyleLbl="alignNode1" presStyleIdx="1" presStyleCnt="4"/>
      <dgm:spPr/>
    </dgm:pt>
    <dgm:pt modelId="{CABD2FEA-BD3A-F042-8644-0FC4F3D1FFC9}" type="pres">
      <dgm:prSet presAssocID="{7A91DBBA-EF56-5249-8C73-32C606754BFF}" presName="Ellipse" presStyleLbl="fgAcc1" presStyleIdx="1" presStyleCnt="4"/>
      <dgm:spPr/>
    </dgm:pt>
    <dgm:pt modelId="{2FD463F8-ACF6-0844-AE61-426C269F5EAE}" type="pres">
      <dgm:prSet presAssocID="{7A91DBBA-EF56-5249-8C73-32C606754BFF}" presName="L2TextContainer" presStyleLbl="revTx" presStyleIdx="2" presStyleCnt="8">
        <dgm:presLayoutVars>
          <dgm:bulletEnabled val="1"/>
        </dgm:presLayoutVars>
      </dgm:prSet>
      <dgm:spPr/>
    </dgm:pt>
    <dgm:pt modelId="{2A1CAD92-A06B-564F-BC5D-EC40CAC4A312}" type="pres">
      <dgm:prSet presAssocID="{7A91DBBA-EF56-5249-8C73-32C606754BFF}" presName="L1TextContainer" presStyleLbl="revTx" presStyleIdx="3" presStyleCnt="8" custLinFactY="54680" custLinFactNeighborX="-2186" custLinFactNeighborY="100000">
        <dgm:presLayoutVars>
          <dgm:chMax val="1"/>
          <dgm:chPref val="1"/>
          <dgm:bulletEnabled val="1"/>
        </dgm:presLayoutVars>
      </dgm:prSet>
      <dgm:spPr/>
    </dgm:pt>
    <dgm:pt modelId="{67946316-87A7-5549-969B-56F29084BD42}" type="pres">
      <dgm:prSet presAssocID="{7A91DBBA-EF56-5249-8C73-32C606754BFF}" presName="ConnectLine" presStyleLbl="dkBgShp" presStyleIdx="3" presStyleCnt="6"/>
      <dgm:spPr>
        <a:gradFill rotWithShape="0">
          <a:gsLst>
            <a:gs pos="0">
              <a:schemeClr val="dk1">
                <a:tint val="76000"/>
              </a:schemeClr>
            </a:gs>
            <a:gs pos="100000">
              <a:schemeClr val="dk1">
                <a:tint val="76000"/>
              </a:schemeClr>
            </a:gs>
          </a:gsLst>
          <a:lin ang="0" scaled="0"/>
        </a:gradFill>
        <a:ln>
          <a:noFill/>
        </a:ln>
        <a:effectLst/>
      </dgm:spPr>
    </dgm:pt>
    <dgm:pt modelId="{1EB2C000-C03A-C847-8436-21636999450A}" type="pres">
      <dgm:prSet presAssocID="{7A91DBBA-EF56-5249-8C73-32C606754BFF}" presName="ConnectorPoint" presStyleCnt="0"/>
      <dgm:spPr/>
    </dgm:pt>
    <dgm:pt modelId="{DD87CFB8-BC33-AD44-BA9E-3403EF2EB05A}" type="pres">
      <dgm:prSet presAssocID="{7A91DBBA-EF56-5249-8C73-32C606754BFF}" presName="Bullet" presStyleLbl="node1NoLn" presStyleIdx="1" presStyleCnt="4"/>
      <dgm:spPr/>
    </dgm:pt>
    <dgm:pt modelId="{ED5ADF73-DF16-0841-83F6-351D0EC86225}" type="pres">
      <dgm:prSet presAssocID="{7A91DBBA-EF56-5249-8C73-32C606754BFF}" presName="EmptyPlaceHolder" presStyleCnt="0"/>
      <dgm:spPr/>
    </dgm:pt>
    <dgm:pt modelId="{8865559A-EE7F-C740-BC81-C91038BBA464}" type="pres">
      <dgm:prSet presAssocID="{FAB75934-BAC2-8F4F-9741-E50F29B98715}" presName="spaceBetweenRectangles" presStyleCnt="0"/>
      <dgm:spPr/>
    </dgm:pt>
    <dgm:pt modelId="{6283F8C7-7B22-524C-AD43-01A6B9A1C0D2}" type="pres">
      <dgm:prSet presAssocID="{6305506A-304D-0145-B8D8-F00FF9A933D6}" presName="composite" presStyleCnt="0"/>
      <dgm:spPr/>
    </dgm:pt>
    <dgm:pt modelId="{AE10F21B-6BD9-5B46-8ABA-F76AF5DDFCC4}" type="pres">
      <dgm:prSet presAssocID="{6305506A-304D-0145-B8D8-F00FF9A933D6}" presName="DropPinPlaceHolder" presStyleCnt="0"/>
      <dgm:spPr/>
    </dgm:pt>
    <dgm:pt modelId="{0B41D12F-8A16-B14F-9BA4-BD02CE8C7391}" type="pres">
      <dgm:prSet presAssocID="{6305506A-304D-0145-B8D8-F00FF9A933D6}" presName="DropPin" presStyleLbl="alignNode1" presStyleIdx="2" presStyleCnt="4"/>
      <dgm:spPr/>
    </dgm:pt>
    <dgm:pt modelId="{CA3B83BF-75E0-F74A-9118-3ED562C82300}" type="pres">
      <dgm:prSet presAssocID="{6305506A-304D-0145-B8D8-F00FF9A933D6}" presName="Ellipse" presStyleLbl="fgAcc1" presStyleIdx="2" presStyleCnt="4"/>
      <dgm:spPr/>
    </dgm:pt>
    <dgm:pt modelId="{6C797658-C136-8445-8FF7-DC7861122892}" type="pres">
      <dgm:prSet presAssocID="{6305506A-304D-0145-B8D8-F00FF9A933D6}" presName="L2TextContainer" presStyleLbl="revTx" presStyleIdx="4" presStyleCnt="8">
        <dgm:presLayoutVars>
          <dgm:bulletEnabled val="1"/>
        </dgm:presLayoutVars>
      </dgm:prSet>
      <dgm:spPr/>
    </dgm:pt>
    <dgm:pt modelId="{E196CB4B-9F9F-004C-80E3-E8CA04F85FFC}" type="pres">
      <dgm:prSet presAssocID="{6305506A-304D-0145-B8D8-F00FF9A933D6}" presName="L1TextContainer" presStyleLbl="revTx" presStyleIdx="5" presStyleCnt="8">
        <dgm:presLayoutVars>
          <dgm:chMax val="1"/>
          <dgm:chPref val="1"/>
          <dgm:bulletEnabled val="1"/>
        </dgm:presLayoutVars>
      </dgm:prSet>
      <dgm:spPr/>
    </dgm:pt>
    <dgm:pt modelId="{ED2B5302-A781-FD42-9D31-D20B1EAF9234}" type="pres">
      <dgm:prSet presAssocID="{6305506A-304D-0145-B8D8-F00FF9A933D6}" presName="ConnectLine" presStyleLbl="dkBgShp" presStyleIdx="4" presStyleCnt="6"/>
      <dgm:spPr>
        <a:gradFill rotWithShape="0">
          <a:gsLst>
            <a:gs pos="0">
              <a:schemeClr val="dk1">
                <a:tint val="76000"/>
              </a:schemeClr>
            </a:gs>
            <a:gs pos="100000">
              <a:schemeClr val="dk1">
                <a:tint val="76000"/>
              </a:schemeClr>
            </a:gs>
          </a:gsLst>
          <a:lin ang="0" scaled="0"/>
        </a:gradFill>
        <a:ln>
          <a:noFill/>
        </a:ln>
        <a:effectLst/>
      </dgm:spPr>
    </dgm:pt>
    <dgm:pt modelId="{844835DD-BA14-484D-9D5B-97EC6FD2639E}" type="pres">
      <dgm:prSet presAssocID="{6305506A-304D-0145-B8D8-F00FF9A933D6}" presName="ConnectorPoint" presStyleCnt="0"/>
      <dgm:spPr/>
    </dgm:pt>
    <dgm:pt modelId="{2FAE6FF9-A674-BB44-8631-5FDFD8918A8F}" type="pres">
      <dgm:prSet presAssocID="{6305506A-304D-0145-B8D8-F00FF9A933D6}" presName="Bullet" presStyleLbl="node1NoLn" presStyleIdx="2" presStyleCnt="4"/>
      <dgm:spPr/>
    </dgm:pt>
    <dgm:pt modelId="{73856EA0-9E70-3441-871E-7135ECAC8DB8}" type="pres">
      <dgm:prSet presAssocID="{6305506A-304D-0145-B8D8-F00FF9A933D6}" presName="EmptyPlaceHolder" presStyleCnt="0"/>
      <dgm:spPr/>
    </dgm:pt>
    <dgm:pt modelId="{95EDBBD3-C66D-FC41-B114-5C3ACD6BE8F0}" type="pres">
      <dgm:prSet presAssocID="{79B7C077-10C6-4247-B8DF-B43747DC9861}" presName="spaceBetweenRectangles" presStyleCnt="0"/>
      <dgm:spPr/>
    </dgm:pt>
    <dgm:pt modelId="{2379A7C8-E9CA-E545-A9B9-A7C79CBA8F61}" type="pres">
      <dgm:prSet presAssocID="{2CE7FA65-EE52-0243-AD08-8C37F34C33BC}" presName="composite" presStyleCnt="0"/>
      <dgm:spPr/>
    </dgm:pt>
    <dgm:pt modelId="{24B28574-F207-A848-94A4-D36FEB50CEC0}" type="pres">
      <dgm:prSet presAssocID="{2CE7FA65-EE52-0243-AD08-8C37F34C33BC}" presName="DropPinPlaceHolder" presStyleCnt="0"/>
      <dgm:spPr/>
    </dgm:pt>
    <dgm:pt modelId="{ADA0A88D-31DF-0F4E-BA75-8ECC12F8D553}" type="pres">
      <dgm:prSet presAssocID="{2CE7FA65-EE52-0243-AD08-8C37F34C33BC}" presName="DropPin" presStyleLbl="alignNode1" presStyleIdx="3" presStyleCnt="4"/>
      <dgm:spPr/>
    </dgm:pt>
    <dgm:pt modelId="{428CCF85-BAD1-0647-8CB7-75C0E0F05BB4}" type="pres">
      <dgm:prSet presAssocID="{2CE7FA65-EE52-0243-AD08-8C37F34C33BC}" presName="Ellipse" presStyleLbl="fgAcc1" presStyleIdx="3" presStyleCnt="4"/>
      <dgm:spPr/>
    </dgm:pt>
    <dgm:pt modelId="{71EEB4A9-2EB5-E041-9DCF-9A22DDE6A38D}" type="pres">
      <dgm:prSet presAssocID="{2CE7FA65-EE52-0243-AD08-8C37F34C33BC}" presName="L2TextContainer" presStyleLbl="revTx" presStyleIdx="6" presStyleCnt="8">
        <dgm:presLayoutVars>
          <dgm:bulletEnabled val="1"/>
        </dgm:presLayoutVars>
      </dgm:prSet>
      <dgm:spPr/>
    </dgm:pt>
    <dgm:pt modelId="{56B2EAD7-A85F-8D49-848F-267ACFE8B3A1}" type="pres">
      <dgm:prSet presAssocID="{2CE7FA65-EE52-0243-AD08-8C37F34C33BC}" presName="L1TextContainer" presStyleLbl="revTx" presStyleIdx="7" presStyleCnt="8" custLinFactY="48731" custLinFactNeighborX="-547" custLinFactNeighborY="100000">
        <dgm:presLayoutVars>
          <dgm:chMax val="1"/>
          <dgm:chPref val="1"/>
          <dgm:bulletEnabled val="1"/>
        </dgm:presLayoutVars>
      </dgm:prSet>
      <dgm:spPr/>
    </dgm:pt>
    <dgm:pt modelId="{FF049EA5-6A18-2544-A751-BAFA149B27E9}" type="pres">
      <dgm:prSet presAssocID="{2CE7FA65-EE52-0243-AD08-8C37F34C33BC}" presName="ConnectLine" presStyleLbl="dkBgShp" presStyleIdx="5" presStyleCnt="6"/>
      <dgm:spPr>
        <a:gradFill rotWithShape="0">
          <a:gsLst>
            <a:gs pos="0">
              <a:schemeClr val="dk1">
                <a:tint val="76000"/>
              </a:schemeClr>
            </a:gs>
            <a:gs pos="100000">
              <a:schemeClr val="dk1">
                <a:tint val="76000"/>
              </a:schemeClr>
            </a:gs>
          </a:gsLst>
          <a:lin ang="0" scaled="0"/>
        </a:gradFill>
        <a:ln>
          <a:noFill/>
        </a:ln>
        <a:effectLst/>
      </dgm:spPr>
    </dgm:pt>
    <dgm:pt modelId="{36513A1B-EFE3-F344-9C94-A83892842A5D}" type="pres">
      <dgm:prSet presAssocID="{2CE7FA65-EE52-0243-AD08-8C37F34C33BC}" presName="ConnectorPoint" presStyleCnt="0"/>
      <dgm:spPr/>
    </dgm:pt>
    <dgm:pt modelId="{B1C5E060-E952-6742-A705-06BA47E093C5}" type="pres">
      <dgm:prSet presAssocID="{2CE7FA65-EE52-0243-AD08-8C37F34C33BC}" presName="Bullet" presStyleLbl="node1NoLn" presStyleIdx="3" presStyleCnt="4"/>
      <dgm:spPr/>
    </dgm:pt>
    <dgm:pt modelId="{AA5631CA-0726-D74E-B3A7-77370791E9A1}" type="pres">
      <dgm:prSet presAssocID="{2CE7FA65-EE52-0243-AD08-8C37F34C33BC}" presName="EmptyPlaceHolder" presStyleCnt="0"/>
      <dgm:spPr/>
    </dgm:pt>
  </dgm:ptLst>
  <dgm:cxnLst>
    <dgm:cxn modelId="{7035F21E-6FE8-E641-BC05-9DA38B83831C}" type="presOf" srcId="{2CE7FA65-EE52-0243-AD08-8C37F34C33BC}" destId="{56B2EAD7-A85F-8D49-848F-267ACFE8B3A1}" srcOrd="0" destOrd="0" presId="urn:microsoft.com/office/officeart/2024/layout/BulletTimeline"/>
    <dgm:cxn modelId="{A5E39B24-B7FB-2C44-B46E-36249559A090}" srcId="{AB12CD69-1D5C-3349-AE21-964BDE31C4D5}" destId="{F829D2E8-CECE-8C49-9B0F-AA44D4BD7C3F}" srcOrd="0" destOrd="0" parTransId="{64705791-78ED-A04A-85C9-77F288B2BCEB}" sibTransId="{4389F565-3455-1C4E-9160-F08D037864FC}"/>
    <dgm:cxn modelId="{F8BC3C2A-7742-724F-BD8C-D83C897D3F7D}" srcId="{AB12CD69-1D5C-3349-AE21-964BDE31C4D5}" destId="{2CE7FA65-EE52-0243-AD08-8C37F34C33BC}" srcOrd="3" destOrd="0" parTransId="{B3742183-16F7-BB4B-B3E6-8A30831375CB}" sibTransId="{C4C5F8EB-63AA-4D4D-8560-66428BF6467D}"/>
    <dgm:cxn modelId="{6DDB4238-1239-EE46-8435-84687FFF1D52}" type="presOf" srcId="{6305506A-304D-0145-B8D8-F00FF9A933D6}" destId="{E196CB4B-9F9F-004C-80E3-E8CA04F85FFC}" srcOrd="0" destOrd="0" presId="urn:microsoft.com/office/officeart/2024/layout/BulletTimeline"/>
    <dgm:cxn modelId="{220F2A4A-6136-7F45-BED8-1E55AB677FEC}" srcId="{AB12CD69-1D5C-3349-AE21-964BDE31C4D5}" destId="{6305506A-304D-0145-B8D8-F00FF9A933D6}" srcOrd="2" destOrd="0" parTransId="{2D37BF73-72AB-964A-8F36-22C11E894A7F}" sibTransId="{79B7C077-10C6-4247-B8DF-B43747DC9861}"/>
    <dgm:cxn modelId="{61A09860-34E7-5F4F-87DA-41F7E539E127}" type="presOf" srcId="{F829D2E8-CECE-8C49-9B0F-AA44D4BD7C3F}" destId="{B4E83F11-E112-4943-B89B-4BAA3A0A27CC}" srcOrd="0" destOrd="0" presId="urn:microsoft.com/office/officeart/2024/layout/BulletTimeline"/>
    <dgm:cxn modelId="{2B12C69C-D3E2-9147-8BBC-EBB36D6B2F8A}" srcId="{AB12CD69-1D5C-3349-AE21-964BDE31C4D5}" destId="{7A91DBBA-EF56-5249-8C73-32C606754BFF}" srcOrd="1" destOrd="0" parTransId="{01F4F99F-C360-DE45-94A6-0D997A84789D}" sibTransId="{FAB75934-BAC2-8F4F-9741-E50F29B98715}"/>
    <dgm:cxn modelId="{8D2A35B9-E753-2649-BF2F-7A4585D60C57}" type="presOf" srcId="{7A91DBBA-EF56-5249-8C73-32C606754BFF}" destId="{2A1CAD92-A06B-564F-BC5D-EC40CAC4A312}" srcOrd="0" destOrd="0" presId="urn:microsoft.com/office/officeart/2024/layout/BulletTimeline"/>
    <dgm:cxn modelId="{8A8FF2BD-6042-2940-AFD7-7C7A00F081F0}" type="presOf" srcId="{AB12CD69-1D5C-3349-AE21-964BDE31C4D5}" destId="{052125EB-FA83-E84A-9190-E1071218BD1F}" srcOrd="0" destOrd="0" presId="urn:microsoft.com/office/officeart/2024/layout/BulletTimeline"/>
    <dgm:cxn modelId="{1ACB4FBE-E1D2-4943-B4BE-34719144EB22}" type="presParOf" srcId="{052125EB-FA83-E84A-9190-E1071218BD1F}" destId="{49281A70-0FE4-394E-A71A-38B038D2A89B}" srcOrd="0" destOrd="0" presId="urn:microsoft.com/office/officeart/2024/layout/BulletTimeline"/>
    <dgm:cxn modelId="{4FFF045A-960B-8345-8ED6-295B381F1F33}" type="presParOf" srcId="{49281A70-0FE4-394E-A71A-38B038D2A89B}" destId="{18D2FE70-799F-9847-A918-0A848A8DA597}" srcOrd="0" destOrd="0" presId="urn:microsoft.com/office/officeart/2024/layout/BulletTimeline"/>
    <dgm:cxn modelId="{F1C94334-DE6A-A541-B97D-D04C3C0AEB2B}" type="presParOf" srcId="{49281A70-0FE4-394E-A71A-38B038D2A89B}" destId="{C054134C-0DD7-3F45-87DC-CC6F306C63DA}" srcOrd="1" destOrd="0" presId="urn:microsoft.com/office/officeart/2024/layout/BulletTimeline"/>
    <dgm:cxn modelId="{8325050A-E737-9149-AACB-FFF552A615C4}" type="presParOf" srcId="{052125EB-FA83-E84A-9190-E1071218BD1F}" destId="{3224703F-A380-9146-BEA5-AE943E86E3AD}" srcOrd="1" destOrd="0" presId="urn:microsoft.com/office/officeart/2024/layout/BulletTimeline"/>
    <dgm:cxn modelId="{7AD942D4-2D1D-B74D-8DCC-80FC9AA959B8}" type="presParOf" srcId="{3224703F-A380-9146-BEA5-AE943E86E3AD}" destId="{286E30B0-8C0D-3245-9088-3CDDF2BD4E12}" srcOrd="0" destOrd="0" presId="urn:microsoft.com/office/officeart/2024/layout/BulletTimeline"/>
    <dgm:cxn modelId="{DD24C967-857A-6F46-904F-02BA100344F3}" type="presParOf" srcId="{286E30B0-8C0D-3245-9088-3CDDF2BD4E12}" destId="{93BFCB07-2D5D-E945-B131-8BDE6B5A5A1D}" srcOrd="0" destOrd="0" presId="urn:microsoft.com/office/officeart/2024/layout/BulletTimeline"/>
    <dgm:cxn modelId="{C4E50216-AF7F-5C48-95A5-F62F8780A52B}" type="presParOf" srcId="{93BFCB07-2D5D-E945-B131-8BDE6B5A5A1D}" destId="{0B183D1F-446C-A54B-94B7-5F008056C13D}" srcOrd="0" destOrd="0" presId="urn:microsoft.com/office/officeart/2024/layout/BulletTimeline"/>
    <dgm:cxn modelId="{526464C3-211D-804E-96B9-0BBADF1E45F9}" type="presParOf" srcId="{93BFCB07-2D5D-E945-B131-8BDE6B5A5A1D}" destId="{8F5E5FBA-950B-604D-A5C7-39668D06B188}" srcOrd="1" destOrd="0" presId="urn:microsoft.com/office/officeart/2024/layout/BulletTimeline"/>
    <dgm:cxn modelId="{E16F6B2A-0F79-7E45-88C1-7DD48A7C7E16}" type="presParOf" srcId="{286E30B0-8C0D-3245-9088-3CDDF2BD4E12}" destId="{EFCE1A4B-76F0-A643-A4F9-4FBCA7DD49E1}" srcOrd="1" destOrd="0" presId="urn:microsoft.com/office/officeart/2024/layout/BulletTimeline"/>
    <dgm:cxn modelId="{772CBD8C-15CB-4343-91CC-ADEB7D872BE3}" type="presParOf" srcId="{286E30B0-8C0D-3245-9088-3CDDF2BD4E12}" destId="{B4E83F11-E112-4943-B89B-4BAA3A0A27CC}" srcOrd="2" destOrd="0" presId="urn:microsoft.com/office/officeart/2024/layout/BulletTimeline"/>
    <dgm:cxn modelId="{2F91578E-C858-BA43-BA8E-4FA986B41E31}" type="presParOf" srcId="{286E30B0-8C0D-3245-9088-3CDDF2BD4E12}" destId="{1440B6B7-E83F-A94C-A897-94F680E052BB}" srcOrd="3" destOrd="0" presId="urn:microsoft.com/office/officeart/2024/layout/BulletTimeline"/>
    <dgm:cxn modelId="{3CB89ECC-1F43-8E4C-8545-DE19EBF4534E}" type="presParOf" srcId="{286E30B0-8C0D-3245-9088-3CDDF2BD4E12}" destId="{C5312137-037E-5D4F-BD7B-82AE08F5F12E}" srcOrd="4" destOrd="0" presId="urn:microsoft.com/office/officeart/2024/layout/BulletTimeline"/>
    <dgm:cxn modelId="{F575AE2E-FF79-964E-B37A-1472598F4441}" type="presParOf" srcId="{C5312137-037E-5D4F-BD7B-82AE08F5F12E}" destId="{198A991B-393E-8F4C-B939-8A442615E7F7}" srcOrd="0" destOrd="0" presId="urn:microsoft.com/office/officeart/2024/layout/BulletTimeline"/>
    <dgm:cxn modelId="{93CC474D-915D-3747-B326-878C70478393}" type="presParOf" srcId="{286E30B0-8C0D-3245-9088-3CDDF2BD4E12}" destId="{62B2B876-DC53-CD4F-A1E7-8FEB58F19FA5}" srcOrd="5" destOrd="0" presId="urn:microsoft.com/office/officeart/2024/layout/BulletTimeline"/>
    <dgm:cxn modelId="{798A6527-5B81-6646-83DE-0CDC91EB8992}" type="presParOf" srcId="{3224703F-A380-9146-BEA5-AE943E86E3AD}" destId="{ED8112DA-702F-844E-B6F0-65E22148FB87}" srcOrd="1" destOrd="0" presId="urn:microsoft.com/office/officeart/2024/layout/BulletTimeline"/>
    <dgm:cxn modelId="{160F0580-EB3E-1B49-AE2C-8FE8021DA215}" type="presParOf" srcId="{3224703F-A380-9146-BEA5-AE943E86E3AD}" destId="{A5B4E7A8-8F51-ED46-893D-8372B397551E}" srcOrd="2" destOrd="0" presId="urn:microsoft.com/office/officeart/2024/layout/BulletTimeline"/>
    <dgm:cxn modelId="{CE11A501-FC59-F44F-8514-52E59CC85C20}" type="presParOf" srcId="{A5B4E7A8-8F51-ED46-893D-8372B397551E}" destId="{70261E87-AB0B-4445-BB3A-19D00E53B4AD}" srcOrd="0" destOrd="0" presId="urn:microsoft.com/office/officeart/2024/layout/BulletTimeline"/>
    <dgm:cxn modelId="{5E2E7653-F716-7C41-9FFE-0CDBB7F5298F}" type="presParOf" srcId="{70261E87-AB0B-4445-BB3A-19D00E53B4AD}" destId="{4C547055-03A6-0342-8D3A-49F0DAF0DA2C}" srcOrd="0" destOrd="0" presId="urn:microsoft.com/office/officeart/2024/layout/BulletTimeline"/>
    <dgm:cxn modelId="{3F55930D-6E0E-954E-A4B1-BD73923AB902}" type="presParOf" srcId="{70261E87-AB0B-4445-BB3A-19D00E53B4AD}" destId="{CABD2FEA-BD3A-F042-8644-0FC4F3D1FFC9}" srcOrd="1" destOrd="0" presId="urn:microsoft.com/office/officeart/2024/layout/BulletTimeline"/>
    <dgm:cxn modelId="{2083B13D-896A-4B41-BF29-D7562B066424}" type="presParOf" srcId="{A5B4E7A8-8F51-ED46-893D-8372B397551E}" destId="{2FD463F8-ACF6-0844-AE61-426C269F5EAE}" srcOrd="1" destOrd="0" presId="urn:microsoft.com/office/officeart/2024/layout/BulletTimeline"/>
    <dgm:cxn modelId="{E68F67BD-7793-2945-A559-B1F6C59CB742}" type="presParOf" srcId="{A5B4E7A8-8F51-ED46-893D-8372B397551E}" destId="{2A1CAD92-A06B-564F-BC5D-EC40CAC4A312}" srcOrd="2" destOrd="0" presId="urn:microsoft.com/office/officeart/2024/layout/BulletTimeline"/>
    <dgm:cxn modelId="{C15247FC-6F9A-0446-9230-60531173BCF1}" type="presParOf" srcId="{A5B4E7A8-8F51-ED46-893D-8372B397551E}" destId="{67946316-87A7-5549-969B-56F29084BD42}" srcOrd="3" destOrd="0" presId="urn:microsoft.com/office/officeart/2024/layout/BulletTimeline"/>
    <dgm:cxn modelId="{58847D35-193D-4D40-8248-6BA7B819CAF9}" type="presParOf" srcId="{A5B4E7A8-8F51-ED46-893D-8372B397551E}" destId="{1EB2C000-C03A-C847-8436-21636999450A}" srcOrd="4" destOrd="0" presId="urn:microsoft.com/office/officeart/2024/layout/BulletTimeline"/>
    <dgm:cxn modelId="{B6D3AA33-B35B-D24C-94E4-7AC49AC8B6F9}" type="presParOf" srcId="{1EB2C000-C03A-C847-8436-21636999450A}" destId="{DD87CFB8-BC33-AD44-BA9E-3403EF2EB05A}" srcOrd="0" destOrd="0" presId="urn:microsoft.com/office/officeart/2024/layout/BulletTimeline"/>
    <dgm:cxn modelId="{7960AFCB-68C1-2E4E-B1E3-8C589BAE04A9}" type="presParOf" srcId="{A5B4E7A8-8F51-ED46-893D-8372B397551E}" destId="{ED5ADF73-DF16-0841-83F6-351D0EC86225}" srcOrd="5" destOrd="0" presId="urn:microsoft.com/office/officeart/2024/layout/BulletTimeline"/>
    <dgm:cxn modelId="{152A847F-9BCC-CB4E-8C6B-795F5158E2B1}" type="presParOf" srcId="{3224703F-A380-9146-BEA5-AE943E86E3AD}" destId="{8865559A-EE7F-C740-BC81-C91038BBA464}" srcOrd="3" destOrd="0" presId="urn:microsoft.com/office/officeart/2024/layout/BulletTimeline"/>
    <dgm:cxn modelId="{31A220B7-49FB-0C45-B988-21156875626A}" type="presParOf" srcId="{3224703F-A380-9146-BEA5-AE943E86E3AD}" destId="{6283F8C7-7B22-524C-AD43-01A6B9A1C0D2}" srcOrd="4" destOrd="0" presId="urn:microsoft.com/office/officeart/2024/layout/BulletTimeline"/>
    <dgm:cxn modelId="{5E46596C-3EC2-3741-A55F-1A2A15B3E5A7}" type="presParOf" srcId="{6283F8C7-7B22-524C-AD43-01A6B9A1C0D2}" destId="{AE10F21B-6BD9-5B46-8ABA-F76AF5DDFCC4}" srcOrd="0" destOrd="0" presId="urn:microsoft.com/office/officeart/2024/layout/BulletTimeline"/>
    <dgm:cxn modelId="{CA342EE4-39E0-9349-A5CB-1E453734E3A1}" type="presParOf" srcId="{AE10F21B-6BD9-5B46-8ABA-F76AF5DDFCC4}" destId="{0B41D12F-8A16-B14F-9BA4-BD02CE8C7391}" srcOrd="0" destOrd="0" presId="urn:microsoft.com/office/officeart/2024/layout/BulletTimeline"/>
    <dgm:cxn modelId="{52416918-5E34-E04A-AE5E-D0B9C2E335F4}" type="presParOf" srcId="{AE10F21B-6BD9-5B46-8ABA-F76AF5DDFCC4}" destId="{CA3B83BF-75E0-F74A-9118-3ED562C82300}" srcOrd="1" destOrd="0" presId="urn:microsoft.com/office/officeart/2024/layout/BulletTimeline"/>
    <dgm:cxn modelId="{0756B8C6-63C3-064E-BBB7-B51254A6FF00}" type="presParOf" srcId="{6283F8C7-7B22-524C-AD43-01A6B9A1C0D2}" destId="{6C797658-C136-8445-8FF7-DC7861122892}" srcOrd="1" destOrd="0" presId="urn:microsoft.com/office/officeart/2024/layout/BulletTimeline"/>
    <dgm:cxn modelId="{6C5F8872-6EA3-8F46-AB85-DBE6C1B431A3}" type="presParOf" srcId="{6283F8C7-7B22-524C-AD43-01A6B9A1C0D2}" destId="{E196CB4B-9F9F-004C-80E3-E8CA04F85FFC}" srcOrd="2" destOrd="0" presId="urn:microsoft.com/office/officeart/2024/layout/BulletTimeline"/>
    <dgm:cxn modelId="{4FB16C07-5198-224A-A81E-40563E061F8E}" type="presParOf" srcId="{6283F8C7-7B22-524C-AD43-01A6B9A1C0D2}" destId="{ED2B5302-A781-FD42-9D31-D20B1EAF9234}" srcOrd="3" destOrd="0" presId="urn:microsoft.com/office/officeart/2024/layout/BulletTimeline"/>
    <dgm:cxn modelId="{341C2483-6BDF-8446-BB16-EE53C0F6233E}" type="presParOf" srcId="{6283F8C7-7B22-524C-AD43-01A6B9A1C0D2}" destId="{844835DD-BA14-484D-9D5B-97EC6FD2639E}" srcOrd="4" destOrd="0" presId="urn:microsoft.com/office/officeart/2024/layout/BulletTimeline"/>
    <dgm:cxn modelId="{C2730553-374D-1A49-9AE6-750AE3D96EFE}" type="presParOf" srcId="{844835DD-BA14-484D-9D5B-97EC6FD2639E}" destId="{2FAE6FF9-A674-BB44-8631-5FDFD8918A8F}" srcOrd="0" destOrd="0" presId="urn:microsoft.com/office/officeart/2024/layout/BulletTimeline"/>
    <dgm:cxn modelId="{07C5E05A-E516-E541-B1E0-67A866CE5FE8}" type="presParOf" srcId="{6283F8C7-7B22-524C-AD43-01A6B9A1C0D2}" destId="{73856EA0-9E70-3441-871E-7135ECAC8DB8}" srcOrd="5" destOrd="0" presId="urn:microsoft.com/office/officeart/2024/layout/BulletTimeline"/>
    <dgm:cxn modelId="{3ED75443-DB61-BA4A-92A0-2EA97B2CAFD9}" type="presParOf" srcId="{3224703F-A380-9146-BEA5-AE943E86E3AD}" destId="{95EDBBD3-C66D-FC41-B114-5C3ACD6BE8F0}" srcOrd="5" destOrd="0" presId="urn:microsoft.com/office/officeart/2024/layout/BulletTimeline"/>
    <dgm:cxn modelId="{6093BAD1-2BF3-2740-84EF-F94C22186D7A}" type="presParOf" srcId="{3224703F-A380-9146-BEA5-AE943E86E3AD}" destId="{2379A7C8-E9CA-E545-A9B9-A7C79CBA8F61}" srcOrd="6" destOrd="0" presId="urn:microsoft.com/office/officeart/2024/layout/BulletTimeline"/>
    <dgm:cxn modelId="{7B72AF8D-E6C5-9841-968D-0B48DE2DFC3A}" type="presParOf" srcId="{2379A7C8-E9CA-E545-A9B9-A7C79CBA8F61}" destId="{24B28574-F207-A848-94A4-D36FEB50CEC0}" srcOrd="0" destOrd="0" presId="urn:microsoft.com/office/officeart/2024/layout/BulletTimeline"/>
    <dgm:cxn modelId="{F5D3CBFE-65B8-A943-B9AF-A2DAEC78A807}" type="presParOf" srcId="{24B28574-F207-A848-94A4-D36FEB50CEC0}" destId="{ADA0A88D-31DF-0F4E-BA75-8ECC12F8D553}" srcOrd="0" destOrd="0" presId="urn:microsoft.com/office/officeart/2024/layout/BulletTimeline"/>
    <dgm:cxn modelId="{19289A29-7F7F-AE42-B929-93AD65D53939}" type="presParOf" srcId="{24B28574-F207-A848-94A4-D36FEB50CEC0}" destId="{428CCF85-BAD1-0647-8CB7-75C0E0F05BB4}" srcOrd="1" destOrd="0" presId="urn:microsoft.com/office/officeart/2024/layout/BulletTimeline"/>
    <dgm:cxn modelId="{F4C28B69-E368-CF48-BDE2-A00FF652939E}" type="presParOf" srcId="{2379A7C8-E9CA-E545-A9B9-A7C79CBA8F61}" destId="{71EEB4A9-2EB5-E041-9DCF-9A22DDE6A38D}" srcOrd="1" destOrd="0" presId="urn:microsoft.com/office/officeart/2024/layout/BulletTimeline"/>
    <dgm:cxn modelId="{ED3EA1BF-AFD9-AF4A-8F92-6F29743D5D59}" type="presParOf" srcId="{2379A7C8-E9CA-E545-A9B9-A7C79CBA8F61}" destId="{56B2EAD7-A85F-8D49-848F-267ACFE8B3A1}" srcOrd="2" destOrd="0" presId="urn:microsoft.com/office/officeart/2024/layout/BulletTimeline"/>
    <dgm:cxn modelId="{B52F61FC-1C2E-D743-969D-BC517658D8B9}" type="presParOf" srcId="{2379A7C8-E9CA-E545-A9B9-A7C79CBA8F61}" destId="{FF049EA5-6A18-2544-A751-BAFA149B27E9}" srcOrd="3" destOrd="0" presId="urn:microsoft.com/office/officeart/2024/layout/BulletTimeline"/>
    <dgm:cxn modelId="{66CCAADD-AC0A-1544-BA6E-7ECF57A4873F}" type="presParOf" srcId="{2379A7C8-E9CA-E545-A9B9-A7C79CBA8F61}" destId="{36513A1B-EFE3-F344-9C94-A83892842A5D}" srcOrd="4" destOrd="0" presId="urn:microsoft.com/office/officeart/2024/layout/BulletTimeline"/>
    <dgm:cxn modelId="{4BDD763B-05AE-2C43-BC88-151542BBF3AD}" type="presParOf" srcId="{36513A1B-EFE3-F344-9C94-A83892842A5D}" destId="{B1C5E060-E952-6742-A705-06BA47E093C5}" srcOrd="0" destOrd="0" presId="urn:microsoft.com/office/officeart/2024/layout/BulletTimeline"/>
    <dgm:cxn modelId="{73025795-A439-494B-8598-1971831A324E}" type="presParOf" srcId="{2379A7C8-E9CA-E545-A9B9-A7C79CBA8F61}" destId="{AA5631CA-0726-D74E-B3A7-77370791E9A1}" srcOrd="5" destOrd="0" presId="urn:microsoft.com/office/officeart/2024/layout/Bulle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D2FE70-799F-9847-A918-0A848A8DA597}">
      <dsp:nvSpPr>
        <dsp:cNvPr id="0" name=""/>
        <dsp:cNvSpPr/>
      </dsp:nvSpPr>
      <dsp:spPr>
        <a:xfrm>
          <a:off x="0" y="2011680"/>
          <a:ext cx="8229206" cy="4064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C054134C-0DD7-3F45-87DC-CC6F306C63DA}">
      <dsp:nvSpPr>
        <dsp:cNvPr id="0" name=""/>
        <dsp:cNvSpPr/>
      </dsp:nvSpPr>
      <dsp:spPr>
        <a:xfrm>
          <a:off x="8018416" y="1869440"/>
          <a:ext cx="243840" cy="325120"/>
        </a:xfrm>
        <a:prstGeom prst="chevron">
          <a:avLst>
            <a:gd name="adj" fmla="val 75000"/>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EFCE1A4B-76F0-A643-A4F9-4FBCA7DD49E1}">
      <dsp:nvSpPr>
        <dsp:cNvPr id="0" name=""/>
        <dsp:cNvSpPr/>
      </dsp:nvSpPr>
      <dsp:spPr>
        <a:xfrm>
          <a:off x="521200" y="926592"/>
          <a:ext cx="2742399" cy="942847"/>
        </a:xfrm>
        <a:prstGeom prst="rect">
          <a:avLst/>
        </a:prstGeom>
        <a:noFill/>
        <a:ln>
          <a:noFill/>
        </a:ln>
        <a:effectLst/>
      </dsp:spPr>
      <dsp:style>
        <a:lnRef idx="0">
          <a:scrgbClr r="0" g="0" b="0"/>
        </a:lnRef>
        <a:fillRef idx="0">
          <a:scrgbClr r="0" g="0" b="0"/>
        </a:fillRef>
        <a:effectRef idx="0">
          <a:scrgbClr r="0" g="0" b="0"/>
        </a:effectRef>
        <a:fontRef idx="minor"/>
      </dsp:style>
    </dsp:sp>
    <dsp:sp modelId="{B4E83F11-E112-4943-B89B-4BAA3A0A27CC}">
      <dsp:nvSpPr>
        <dsp:cNvPr id="0" name=""/>
        <dsp:cNvSpPr/>
      </dsp:nvSpPr>
      <dsp:spPr>
        <a:xfrm>
          <a:off x="521200" y="438911"/>
          <a:ext cx="2742399" cy="48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1990: ADA</a:t>
          </a:r>
        </a:p>
      </dsp:txBody>
      <dsp:txXfrm>
        <a:off x="521200" y="438911"/>
        <a:ext cx="2742399" cy="487680"/>
      </dsp:txXfrm>
    </dsp:sp>
    <dsp:sp modelId="{1440B6B7-E83F-A94C-A897-94F680E052BB}">
      <dsp:nvSpPr>
        <dsp:cNvPr id="0" name=""/>
        <dsp:cNvSpPr/>
      </dsp:nvSpPr>
      <dsp:spPr>
        <a:xfrm>
          <a:off x="244848" y="406399"/>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2FD463F8-ACF6-0844-AE61-426C269F5EAE}">
      <dsp:nvSpPr>
        <dsp:cNvPr id="0" name=""/>
        <dsp:cNvSpPr/>
      </dsp:nvSpPr>
      <dsp:spPr>
        <a:xfrm>
          <a:off x="2113299" y="3640544"/>
          <a:ext cx="2742399" cy="764031"/>
        </a:xfrm>
        <a:prstGeom prst="rect">
          <a:avLst/>
        </a:prstGeom>
        <a:noFill/>
        <a:ln>
          <a:noFill/>
        </a:ln>
        <a:effectLst/>
      </dsp:spPr>
      <dsp:style>
        <a:lnRef idx="0">
          <a:scrgbClr r="0" g="0" b="0"/>
        </a:lnRef>
        <a:fillRef idx="0">
          <a:scrgbClr r="0" g="0" b="0"/>
        </a:fillRef>
        <a:effectRef idx="0">
          <a:scrgbClr r="0" g="0" b="0"/>
        </a:effectRef>
        <a:fontRef idx="minor"/>
      </dsp:style>
    </dsp:sp>
    <dsp:sp modelId="{2A1CAD92-A06B-564F-BC5D-EC40CAC4A312}">
      <dsp:nvSpPr>
        <dsp:cNvPr id="0" name=""/>
        <dsp:cNvSpPr/>
      </dsp:nvSpPr>
      <dsp:spPr>
        <a:xfrm>
          <a:off x="2113299" y="3136608"/>
          <a:ext cx="2742399" cy="50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2024: DOJ: ADA += "digital”</a:t>
          </a:r>
        </a:p>
      </dsp:txBody>
      <dsp:txXfrm>
        <a:off x="2113299" y="3136608"/>
        <a:ext cx="2742399" cy="503936"/>
      </dsp:txXfrm>
    </dsp:sp>
    <dsp:sp modelId="{67946316-87A7-5549-969B-56F29084BD42}">
      <dsp:nvSpPr>
        <dsp:cNvPr id="0" name=""/>
        <dsp:cNvSpPr/>
      </dsp:nvSpPr>
      <dsp:spPr>
        <a:xfrm>
          <a:off x="1896896" y="2032000"/>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198A991B-393E-8F4C-B939-8A442615E7F7}">
      <dsp:nvSpPr>
        <dsp:cNvPr id="0" name=""/>
        <dsp:cNvSpPr/>
      </dsp:nvSpPr>
      <dsp:spPr>
        <a:xfrm>
          <a:off x="176573"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D87CFB8-BC33-AD44-BA9E-3403EF2EB05A}">
      <dsp:nvSpPr>
        <dsp:cNvPr id="0" name=""/>
        <dsp:cNvSpPr/>
      </dsp:nvSpPr>
      <dsp:spPr>
        <a:xfrm>
          <a:off x="1828621"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6C797658-C136-8445-8FF7-DC7861122892}">
      <dsp:nvSpPr>
        <dsp:cNvPr id="0" name=""/>
        <dsp:cNvSpPr/>
      </dsp:nvSpPr>
      <dsp:spPr>
        <a:xfrm>
          <a:off x="3825296" y="926592"/>
          <a:ext cx="2742399" cy="942847"/>
        </a:xfrm>
        <a:prstGeom prst="rect">
          <a:avLst/>
        </a:prstGeom>
        <a:noFill/>
        <a:ln>
          <a:noFill/>
        </a:ln>
        <a:effectLst/>
      </dsp:spPr>
      <dsp:style>
        <a:lnRef idx="0">
          <a:scrgbClr r="0" g="0" b="0"/>
        </a:lnRef>
        <a:fillRef idx="0">
          <a:scrgbClr r="0" g="0" b="0"/>
        </a:fillRef>
        <a:effectRef idx="0">
          <a:scrgbClr r="0" g="0" b="0"/>
        </a:effectRef>
        <a:fontRef idx="minor"/>
      </dsp:style>
    </dsp:sp>
    <dsp:sp modelId="{E196CB4B-9F9F-004C-80E3-E8CA04F85FFC}">
      <dsp:nvSpPr>
        <dsp:cNvPr id="0" name=""/>
        <dsp:cNvSpPr/>
      </dsp:nvSpPr>
      <dsp:spPr>
        <a:xfrm>
          <a:off x="3825296" y="438911"/>
          <a:ext cx="2742399" cy="48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4/2026: Compliance deadline</a:t>
          </a:r>
        </a:p>
      </dsp:txBody>
      <dsp:txXfrm>
        <a:off x="3825296" y="438911"/>
        <a:ext cx="2742399" cy="487680"/>
      </dsp:txXfrm>
    </dsp:sp>
    <dsp:sp modelId="{ED2B5302-A781-FD42-9D31-D20B1EAF9234}">
      <dsp:nvSpPr>
        <dsp:cNvPr id="0" name=""/>
        <dsp:cNvSpPr/>
      </dsp:nvSpPr>
      <dsp:spPr>
        <a:xfrm>
          <a:off x="3548944" y="406399"/>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71EEB4A9-2EB5-E041-9DCF-9A22DDE6A38D}">
      <dsp:nvSpPr>
        <dsp:cNvPr id="0" name=""/>
        <dsp:cNvSpPr/>
      </dsp:nvSpPr>
      <dsp:spPr>
        <a:xfrm>
          <a:off x="5462342" y="3610565"/>
          <a:ext cx="2742399" cy="764031"/>
        </a:xfrm>
        <a:prstGeom prst="rect">
          <a:avLst/>
        </a:prstGeom>
        <a:noFill/>
        <a:ln>
          <a:noFill/>
        </a:ln>
        <a:effectLst/>
      </dsp:spPr>
      <dsp:style>
        <a:lnRef idx="0">
          <a:scrgbClr r="0" g="0" b="0"/>
        </a:lnRef>
        <a:fillRef idx="0">
          <a:scrgbClr r="0" g="0" b="0"/>
        </a:fillRef>
        <a:effectRef idx="0">
          <a:scrgbClr r="0" g="0" b="0"/>
        </a:effectRef>
        <a:fontRef idx="minor"/>
      </dsp:style>
    </dsp:sp>
    <dsp:sp modelId="{56B2EAD7-A85F-8D49-848F-267ACFE8B3A1}">
      <dsp:nvSpPr>
        <dsp:cNvPr id="0" name=""/>
        <dsp:cNvSpPr/>
      </dsp:nvSpPr>
      <dsp:spPr>
        <a:xfrm>
          <a:off x="5462342" y="3106629"/>
          <a:ext cx="2742399" cy="50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4/2027: Revised compliance deadline</a:t>
          </a:r>
        </a:p>
      </dsp:txBody>
      <dsp:txXfrm>
        <a:off x="5462342" y="3106629"/>
        <a:ext cx="2742399" cy="503936"/>
      </dsp:txXfrm>
    </dsp:sp>
    <dsp:sp modelId="{FF049EA5-6A18-2544-A751-BAFA149B27E9}">
      <dsp:nvSpPr>
        <dsp:cNvPr id="0" name=""/>
        <dsp:cNvSpPr/>
      </dsp:nvSpPr>
      <dsp:spPr>
        <a:xfrm>
          <a:off x="5200991" y="2032000"/>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2FAE6FF9-A674-BB44-8631-5FDFD8918A8F}">
      <dsp:nvSpPr>
        <dsp:cNvPr id="0" name=""/>
        <dsp:cNvSpPr/>
      </dsp:nvSpPr>
      <dsp:spPr>
        <a:xfrm>
          <a:off x="3480668"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1C5E060-E952-6742-A705-06BA47E093C5}">
      <dsp:nvSpPr>
        <dsp:cNvPr id="0" name=""/>
        <dsp:cNvSpPr/>
      </dsp:nvSpPr>
      <dsp:spPr>
        <a:xfrm>
          <a:off x="5132716"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8/26/26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Willard E. Davis</a:t>
            </a:r>
          </a:p>
          <a:p>
            <a:r>
              <a:rPr lang="en-US" dirty="0"/>
              <a:t>Willard J. Davis</a:t>
            </a:r>
          </a:p>
          <a:p>
            <a:r>
              <a:rPr lang="en-US" dirty="0"/>
              <a:t>Robert Willard Davis</a:t>
            </a:r>
          </a:p>
          <a:p>
            <a:endParaRPr lang="en-US" dirty="0"/>
          </a:p>
          <a:p>
            <a:r>
              <a:rPr lang="en-US" dirty="0"/>
              <a:t>and me!</a:t>
            </a:r>
          </a:p>
          <a:p>
            <a:endParaRPr lang="en-US" dirty="0"/>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a:t>
            </a:fld>
            <a:endParaRPr lang="en-US"/>
          </a:p>
        </p:txBody>
      </p:sp>
    </p:spTree>
    <p:extLst>
      <p:ext uri="{BB962C8B-B14F-4D97-AF65-F5344CB8AC3E}">
        <p14:creationId xmlns:p14="http://schemas.microsoft.com/office/powerpoint/2010/main" val="390867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In 2020, automating this sort of thing would be impossible.</a:t>
            </a:r>
          </a:p>
          <a:p>
            <a:r>
              <a:rPr lang="en-US" dirty="0"/>
              <a:t>The DOJ’s standard is “substantially equivalent experience” for someone using accessibility tools, and computers could not make sense of images.</a:t>
            </a:r>
          </a:p>
          <a:p>
            <a:endParaRPr lang="en-US" dirty="0"/>
          </a:p>
          <a:p>
            <a:r>
              <a:rPr lang="en-US" dirty="0"/>
              <a:t>But GenAI is here and now they can. So the question is: Can engineers build it?</a:t>
            </a:r>
          </a:p>
        </p:txBody>
      </p:sp>
      <p:sp>
        <p:nvSpPr>
          <p:cNvPr id="4" name="Slide Number Placeholder 3"/>
          <p:cNvSpPr>
            <a:spLocks noGrp="1"/>
          </p:cNvSpPr>
          <p:nvPr>
            <p:ph type="sldNum" sz="quarter" idx="5"/>
          </p:nvPr>
        </p:nvSpPr>
        <p:spPr/>
        <p:txBody>
          <a:bodyPr/>
          <a:lstStyle/>
          <a:p>
            <a:fld id="{FF209F92-05EE-6F4A-AD9C-ED35F0F76927}" type="slidenum">
              <a:rPr lang="en-US" smtClean="0"/>
              <a:t>7</a:t>
            </a:fld>
            <a:endParaRPr lang="en-US"/>
          </a:p>
        </p:txBody>
      </p:sp>
    </p:spTree>
    <p:extLst>
      <p:ext uri="{BB962C8B-B14F-4D97-AF65-F5344CB8AC3E}">
        <p14:creationId xmlns:p14="http://schemas.microsoft.com/office/powerpoint/2010/main" val="3264818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11</a:t>
            </a:fld>
            <a:endParaRPr lang="en-US"/>
          </a:p>
        </p:txBody>
      </p:sp>
    </p:spTree>
    <p:extLst>
      <p:ext uri="{BB962C8B-B14F-4D97-AF65-F5344CB8AC3E}">
        <p14:creationId xmlns:p14="http://schemas.microsoft.com/office/powerpoint/2010/main" val="2287648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12</a:t>
            </a:fld>
            <a:endParaRPr lang="en-US"/>
          </a:p>
        </p:txBody>
      </p:sp>
    </p:spTree>
    <p:extLst>
      <p:ext uri="{BB962C8B-B14F-4D97-AF65-F5344CB8AC3E}">
        <p14:creationId xmlns:p14="http://schemas.microsoft.com/office/powerpoint/2010/main" val="2634445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discuss why PDF is (much) harder than O365</a:t>
            </a:r>
          </a:p>
        </p:txBody>
      </p:sp>
      <p:sp>
        <p:nvSpPr>
          <p:cNvPr id="4" name="Slide Number Placeholder 3"/>
          <p:cNvSpPr>
            <a:spLocks noGrp="1"/>
          </p:cNvSpPr>
          <p:nvPr>
            <p:ph type="sldNum" sz="quarter" idx="5"/>
          </p:nvPr>
        </p:nvSpPr>
        <p:spPr/>
        <p:txBody>
          <a:bodyPr/>
          <a:lstStyle/>
          <a:p>
            <a:fld id="{FF209F92-05EE-6F4A-AD9C-ED35F0F76927}" type="slidenum">
              <a:rPr lang="en-US" smtClean="0"/>
              <a:t>13</a:t>
            </a:fld>
            <a:endParaRPr lang="en-US"/>
          </a:p>
        </p:txBody>
      </p:sp>
    </p:spTree>
    <p:extLst>
      <p:ext uri="{BB962C8B-B14F-4D97-AF65-F5344CB8AC3E}">
        <p14:creationId xmlns:p14="http://schemas.microsoft.com/office/powerpoint/2010/main" val="3701713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reorganizes when a constraint moves. Steam made mechanical power far cheaper; integrated circuits did the same for computation; coding agents are now doing it for implementation. “Scarce” here is the economic sense, not a mood. A scarce factor constrains output, so it draws investment and attention. Implementation was never the only scarce input to software engineering, but for most of the field’s history it consumed enough expert effort to limit what teams could attempt and how quickly they could change a system. As its marginal cost falls, other constraints become more visible: deciding what to build, representing a large system well enough to reason about it, producing evidence that a change is acceptable, and giving consequential engineering decisions authority across many changes.</a:t>
            </a:r>
          </a:p>
          <a:p>
            <a:endParaRPr lang="en-US" dirty="0"/>
          </a:p>
          <a:p>
            <a:r>
              <a:rPr lang="en-US" dirty="0"/>
              <a:t>Abundance does not make implementation unimportant; it changes where additional engineering effort earns the greatest return. A factory with unlimited machine capacity and one inspector has not stopped manufacturing; inspection has become the throughput constraint. In software, agents can now produce changes faster than engineers can specify, understand, validate, and govern them. Models amortize representation and judgment across many acts of implementation; validators and gates can amortize selected judgments about acceptance. Rational effort therefore moves upstream into representation and outward into the engineered environment. This Part asks what follows from that shift: what remains hard, which properties of the new substrate matter, and what engineering problems they leave us to solve.</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16</a:t>
            </a:fld>
            <a:endParaRPr lang="en-US"/>
          </a:p>
        </p:txBody>
      </p:sp>
    </p:spTree>
    <p:extLst>
      <p:ext uri="{BB962C8B-B14F-4D97-AF65-F5344CB8AC3E}">
        <p14:creationId xmlns:p14="http://schemas.microsoft.com/office/powerpoint/2010/main" val="3268488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E99CB-E371-E189-5C87-AF12CA000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AC535-6626-886A-6796-ADAC9CA84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590A42-8C4A-E02B-4590-75C7E628448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foundation model supplies inexpensive semantic reasoning under finite, probabilistic working conditions; the harness turns that reasoning into observable, </a:t>
            </a:r>
            <a:r>
              <a:rPr lang="en-US" sz="1200" b="0" i="0" kern="1200" dirty="0" err="1">
                <a:solidFill>
                  <a:schemeClr val="tx1"/>
                </a:solidFill>
                <a:effectLst/>
                <a:latin typeface="+mn-lt"/>
                <a:ea typeface="+mn-ea"/>
                <a:cs typeface="+mn-cs"/>
              </a:rPr>
              <a:t>interceptable</a:t>
            </a:r>
            <a:r>
              <a:rPr lang="en-US" sz="1200" b="0" i="0" kern="1200" dirty="0">
                <a:solidFill>
                  <a:schemeClr val="tx1"/>
                </a:solidFill>
                <a:effectLst/>
                <a:latin typeface="+mn-lt"/>
                <a:ea typeface="+mn-ea"/>
                <a:cs typeface="+mn-cs"/>
              </a:rPr>
              <a:t> action.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talk is about my understanding of how CODING AGENTS will re-organize engineering work, and what the nature of the relatively scarce resource becomes.</a:t>
            </a:r>
            <a:endParaRPr lang="en-US" dirty="0"/>
          </a:p>
        </p:txBody>
      </p:sp>
      <p:sp>
        <p:nvSpPr>
          <p:cNvPr id="4" name="Slide Number Placeholder 3">
            <a:extLst>
              <a:ext uri="{FF2B5EF4-FFF2-40B4-BE49-F238E27FC236}">
                <a16:creationId xmlns:a16="http://schemas.microsoft.com/office/drawing/2014/main" id="{EB8BB7F6-B5CE-34A0-D5D1-8A807BCDDF23}"/>
              </a:ext>
            </a:extLst>
          </p:cNvPr>
          <p:cNvSpPr>
            <a:spLocks noGrp="1"/>
          </p:cNvSpPr>
          <p:nvPr>
            <p:ph type="sldNum" sz="quarter" idx="5"/>
          </p:nvPr>
        </p:nvSpPr>
        <p:spPr/>
        <p:txBody>
          <a:bodyPr/>
          <a:lstStyle/>
          <a:p>
            <a:fld id="{FF209F92-05EE-6F4A-AD9C-ED35F0F76927}" type="slidenum">
              <a:rPr lang="en-US" smtClean="0"/>
              <a:t>17</a:t>
            </a:fld>
            <a:endParaRPr lang="en-US"/>
          </a:p>
        </p:txBody>
      </p:sp>
    </p:spTree>
    <p:extLst>
      <p:ext uri="{BB962C8B-B14F-4D97-AF65-F5344CB8AC3E}">
        <p14:creationId xmlns:p14="http://schemas.microsoft.com/office/powerpoint/2010/main" val="3367817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At scale, finite active state </a:t>
            </a:r>
            <a:r>
              <a:rPr lang="en-US" sz="1200" b="1" kern="1200" dirty="0">
                <a:solidFill>
                  <a:schemeClr val="tx1"/>
                </a:solidFill>
                <a:effectLst/>
                <a:latin typeface="+mn-lt"/>
                <a:ea typeface="+mn-ea"/>
                <a:cs typeface="+mn-cs"/>
                <a:sym typeface="Wingdings" pitchFamily="2" charset="2"/>
              </a:rPr>
              <a:t></a:t>
            </a:r>
            <a:r>
              <a:rPr lang="en-US" sz="1200" b="1" kern="1200" dirty="0">
                <a:solidFill>
                  <a:schemeClr val="tx1"/>
                </a:solidFill>
                <a:effectLst/>
                <a:latin typeface="+mn-lt"/>
                <a:ea typeface="+mn-ea"/>
                <a:cs typeface="+mn-cs"/>
              </a:rPr>
              <a:t> reconstruction unavoidable </a:t>
            </a:r>
            <a:r>
              <a:rPr lang="en-US" sz="1200" b="1" kern="1200" dirty="0">
                <a:solidFill>
                  <a:schemeClr val="tx1"/>
                </a:solidFill>
                <a:effectLst/>
                <a:latin typeface="+mn-lt"/>
                <a:ea typeface="+mn-ea"/>
                <a:cs typeface="+mn-cs"/>
                <a:sym typeface="Wingdings" pitchFamily="2" charset="2"/>
              </a:rPr>
              <a:t> representations determine the burden</a:t>
            </a:r>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1.3-2.</a:t>
            </a:r>
            <a:r>
              <a:rPr lang="en-US" dirty="0"/>
              <a:t> </a:t>
            </a:r>
            <a:r>
              <a:rPr lang="en-US" i="1" dirty="0">
                <a:effectLst/>
              </a:rPr>
              <a:t>The reasoning horizon.</a:t>
            </a:r>
            <a:r>
              <a:rPr lang="en-US" dirty="0"/>
              <a:t> At sufficient scale, a task requires more state than a finite reasoner can keep active, so some state must be reconstructed. Representation determines the cost: raw implementation carries irrelevant detail, while purposeful abstraction can keep question-relevant state smaller and cheaper to recover.</a:t>
            </a:r>
            <a:br>
              <a:rPr lang="en-US" dirty="0"/>
            </a:b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27</a:t>
            </a:fld>
            <a:endParaRPr lang="en-US"/>
          </a:p>
        </p:txBody>
      </p:sp>
    </p:spTree>
    <p:extLst>
      <p:ext uri="{BB962C8B-B14F-4D97-AF65-F5344CB8AC3E}">
        <p14:creationId xmlns:p14="http://schemas.microsoft.com/office/powerpoint/2010/main" val="938118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2.1-1.</a:t>
            </a:r>
            <a:r>
              <a:rPr lang="en-US" dirty="0"/>
              <a:t> </a:t>
            </a:r>
            <a:r>
              <a:rPr lang="en-US" i="1" dirty="0">
                <a:effectLst/>
              </a:rPr>
              <a:t>MAGE's working model ontology.</a:t>
            </a:r>
            <a:r>
              <a:rPr lang="en-US" dirty="0"/>
              <a:t> The six classes distinguish models by the engineering question they answer. Classes may overlap, and each may be encoded using several representation forms.</a:t>
            </a:r>
            <a:br>
              <a:rPr lang="en-US" dirty="0"/>
            </a:br>
            <a:endParaRPr lang="en-US" dirty="0"/>
          </a:p>
          <a:p>
            <a:r>
              <a:rPr lang="en-US" dirty="0"/>
              <a:t>Connected through shared identity and traceability, these models form the system’s explicit engineering knowledge.</a:t>
            </a:r>
          </a:p>
        </p:txBody>
      </p:sp>
      <p:sp>
        <p:nvSpPr>
          <p:cNvPr id="4" name="Slide Number Placeholder 3"/>
          <p:cNvSpPr>
            <a:spLocks noGrp="1"/>
          </p:cNvSpPr>
          <p:nvPr>
            <p:ph type="sldNum" sz="quarter" idx="5"/>
          </p:nvPr>
        </p:nvSpPr>
        <p:spPr/>
        <p:txBody>
          <a:bodyPr/>
          <a:lstStyle/>
          <a:p>
            <a:fld id="{FF209F92-05EE-6F4A-AD9C-ED35F0F76927}" type="slidenum">
              <a:rPr lang="en-US" smtClean="0"/>
              <a:t>28</a:t>
            </a:fld>
            <a:endParaRPr lang="en-US"/>
          </a:p>
        </p:txBody>
      </p:sp>
    </p:spTree>
    <p:extLst>
      <p:ext uri="{BB962C8B-B14F-4D97-AF65-F5344CB8AC3E}">
        <p14:creationId xmlns:p14="http://schemas.microsoft.com/office/powerpoint/2010/main" val="1959700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2.3-3.</a:t>
            </a:r>
            <a:r>
              <a:rPr lang="en-US" dirty="0"/>
              <a:t> </a:t>
            </a:r>
            <a:r>
              <a:rPr lang="en-US" i="1" dirty="0">
                <a:effectLst/>
              </a:rPr>
              <a:t>Behavioral models expose different classes of properties.</a:t>
            </a:r>
            <a:r>
              <a:rPr lang="en-US" dirty="0"/>
              <a:t> A transition relation can support local legality checks, reasoning over reachable states, or temporal claims over executions. The appropriate checker follows from the property; richer machinery is not automatically stronger for every question.</a:t>
            </a:r>
            <a:br>
              <a:rPr lang="en-US" dirty="0"/>
            </a:b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29</a:t>
            </a:fld>
            <a:endParaRPr lang="en-US"/>
          </a:p>
        </p:txBody>
      </p:sp>
    </p:spTree>
    <p:extLst>
      <p:ext uri="{BB962C8B-B14F-4D97-AF65-F5344CB8AC3E}">
        <p14:creationId xmlns:p14="http://schemas.microsoft.com/office/powerpoint/2010/main" val="4286904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2.5-1.</a:t>
            </a:r>
            <a:r>
              <a:rPr lang="en-US" dirty="0"/>
              <a:t> </a:t>
            </a:r>
            <a:r>
              <a:rPr lang="en-US" i="1" dirty="0">
                <a:effectLst/>
              </a:rPr>
              <a:t>Service-flow model.</a:t>
            </a:r>
            <a:r>
              <a:rPr lang="en-US" dirty="0"/>
              <a:t> A declared graph of which service may reach which. The public web tier is the only node facing the outside; an absent edge means the relationship is not permitted by the model, and enforcement is separate.</a:t>
            </a:r>
          </a:p>
        </p:txBody>
      </p:sp>
      <p:sp>
        <p:nvSpPr>
          <p:cNvPr id="4" name="Slide Number Placeholder 3"/>
          <p:cNvSpPr>
            <a:spLocks noGrp="1"/>
          </p:cNvSpPr>
          <p:nvPr>
            <p:ph type="sldNum" sz="quarter" idx="5"/>
          </p:nvPr>
        </p:nvSpPr>
        <p:spPr/>
        <p:txBody>
          <a:bodyPr/>
          <a:lstStyle/>
          <a:p>
            <a:fld id="{FF209F92-05EE-6F4A-AD9C-ED35F0F76927}" type="slidenum">
              <a:rPr lang="en-US" smtClean="0"/>
              <a:t>30</a:t>
            </a:fld>
            <a:endParaRPr lang="en-US"/>
          </a:p>
        </p:txBody>
      </p:sp>
    </p:spTree>
    <p:extLst>
      <p:ext uri="{BB962C8B-B14F-4D97-AF65-F5344CB8AC3E}">
        <p14:creationId xmlns:p14="http://schemas.microsoft.com/office/powerpoint/2010/main" val="1586382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mechanisms can act directly on observable actions; explicit models make richer system properties available too.</a:t>
            </a:r>
          </a:p>
          <a:p>
            <a:r>
              <a:rPr lang="en-US" dirty="0"/>
              <a:t>For example, …</a:t>
            </a:r>
          </a:p>
          <a:p>
            <a:r>
              <a:rPr lang="en-US" dirty="0"/>
              <a:t>Of course, there ARE implicit properties embedded in direct alignment, but they are tacit. Somebody who set up a sandbox knows what </a:t>
            </a:r>
            <a:r>
              <a:rPr lang="en-US" dirty="0" err="1"/>
              <a:t>syscalls</a:t>
            </a:r>
            <a:r>
              <a:rPr lang="en-US" dirty="0"/>
              <a:t> are permitted. They may not have articulated it as a model, but there’s a latent model of necessary </a:t>
            </a:r>
            <a:r>
              <a:rPr lang="en-US" dirty="0" err="1"/>
              <a:t>syscall</a:t>
            </a:r>
            <a:r>
              <a:rPr lang="en-US" dirty="0"/>
              <a:t> affordances in there.</a:t>
            </a:r>
            <a:br>
              <a:rPr lang="en-US" dirty="0"/>
            </a:br>
            <a:endParaRPr lang="en-US" dirty="0"/>
          </a:p>
          <a:p>
            <a:r>
              <a:rPr lang="en-US" sz="1200" b="1" kern="1200" dirty="0">
                <a:solidFill>
                  <a:schemeClr val="tx1"/>
                </a:solidFill>
                <a:effectLst/>
                <a:latin typeface="+mn-lt"/>
                <a:ea typeface="+mn-ea"/>
                <a:cs typeface="+mn-cs"/>
              </a:rPr>
              <a:t>Figure 2.8-6.</a:t>
            </a:r>
            <a:r>
              <a:rPr lang="en-US" dirty="0"/>
              <a:t> </a:t>
            </a:r>
            <a:r>
              <a:rPr lang="en-US" i="1" dirty="0">
                <a:effectLst/>
              </a:rPr>
              <a:t>Modeling expands the semantic reach of Alignment.</a:t>
            </a:r>
            <a:r>
              <a:rPr lang="en-US" dirty="0"/>
              <a:t> Alignment mechanisms can act directly on observable actions and artifacts; explicit models make additional system-level properties available for constraint, sensing, evaluation, and admission.</a:t>
            </a:r>
            <a:br>
              <a:rPr lang="en-US" dirty="0"/>
            </a:b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33</a:t>
            </a:fld>
            <a:endParaRPr lang="en-US"/>
          </a:p>
        </p:txBody>
      </p:sp>
    </p:spTree>
    <p:extLst>
      <p:ext uri="{BB962C8B-B14F-4D97-AF65-F5344CB8AC3E}">
        <p14:creationId xmlns:p14="http://schemas.microsoft.com/office/powerpoint/2010/main" val="2255141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3.1-1.</a:t>
            </a:r>
            <a:r>
              <a:rPr lang="en-US" dirty="0"/>
              <a:t> </a:t>
            </a:r>
            <a:r>
              <a:rPr lang="en-US" i="1" dirty="0">
                <a:effectLst/>
              </a:rPr>
              <a:t>Intervention boundaries.</a:t>
            </a:r>
            <a:r>
              <a:rPr lang="en-US" dirty="0"/>
              <a:t> Guidance shapes reasoning input; authority can bind actions, completed units of work, or accepted artifact/runtime state. Place a mechanism at the earliest boundary where the obligation is legible and the consequence can be affected.</a:t>
            </a:r>
            <a:br>
              <a:rPr lang="en-US" dirty="0"/>
            </a:br>
            <a:endParaRPr lang="en-US" dirty="0"/>
          </a:p>
          <a:p>
            <a:r>
              <a:rPr lang="en-US" dirty="0"/>
              <a:t>Semantic gap.</a:t>
            </a:r>
          </a:p>
        </p:txBody>
      </p:sp>
      <p:sp>
        <p:nvSpPr>
          <p:cNvPr id="4" name="Slide Number Placeholder 3"/>
          <p:cNvSpPr>
            <a:spLocks noGrp="1"/>
          </p:cNvSpPr>
          <p:nvPr>
            <p:ph type="sldNum" sz="quarter" idx="5"/>
          </p:nvPr>
        </p:nvSpPr>
        <p:spPr/>
        <p:txBody>
          <a:bodyPr/>
          <a:lstStyle/>
          <a:p>
            <a:fld id="{FF209F92-05EE-6F4A-AD9C-ED35F0F76927}" type="slidenum">
              <a:rPr lang="en-US" smtClean="0"/>
              <a:t>34</a:t>
            </a:fld>
            <a:endParaRPr lang="en-US"/>
          </a:p>
        </p:txBody>
      </p:sp>
    </p:spTree>
    <p:extLst>
      <p:ext uri="{BB962C8B-B14F-4D97-AF65-F5344CB8AC3E}">
        <p14:creationId xmlns:p14="http://schemas.microsoft.com/office/powerpoint/2010/main" val="1434615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4.1-1.</a:t>
            </a:r>
            <a:r>
              <a:rPr lang="en-US" dirty="0"/>
              <a:t> </a:t>
            </a:r>
            <a:r>
              <a:rPr lang="en-US" i="1" dirty="0">
                <a:effectLst/>
              </a:rPr>
              <a:t>Precision Follows Knowledge.</a:t>
            </a:r>
            <a:r>
              <a:rPr lang="en-US" dirty="0"/>
              <a:t> Explore uncertain needs; represent claims as they stabilize; grant authority only when an obligation is stable and consequential enough to justify it.</a:t>
            </a:r>
            <a:br>
              <a:rPr lang="en-US" dirty="0"/>
            </a:b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37</a:t>
            </a:fld>
            <a:endParaRPr lang="en-US"/>
          </a:p>
        </p:txBody>
      </p:sp>
    </p:spTree>
    <p:extLst>
      <p:ext uri="{BB962C8B-B14F-4D97-AF65-F5344CB8AC3E}">
        <p14:creationId xmlns:p14="http://schemas.microsoft.com/office/powerpoint/2010/main" val="1477658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4.2-4.</a:t>
            </a:r>
            <a:r>
              <a:rPr lang="en-US" dirty="0"/>
              <a:t> </a:t>
            </a:r>
            <a:r>
              <a:rPr lang="en-US" i="1" dirty="0">
                <a:effectLst/>
              </a:rPr>
              <a:t>Discovering models during a brownfield migration.</a:t>
            </a:r>
            <a:r>
              <a:rPr lang="en-US" dirty="0"/>
              <a:t> Weak signals — primitive density, repeated shapes, the component and boundary view — identify places worth inspecting; they do not dictate the remedy. Partitioning separates legitimate primitive-heavy code and mechanical debt from repeated shapes that reveal missing engineering concepts. Naming those concepts as typed vocabulary and explicit relations changes the substrate on which later migration and enforcement operate.</a:t>
            </a:r>
          </a:p>
        </p:txBody>
      </p:sp>
      <p:sp>
        <p:nvSpPr>
          <p:cNvPr id="4" name="Slide Number Placeholder 3"/>
          <p:cNvSpPr>
            <a:spLocks noGrp="1"/>
          </p:cNvSpPr>
          <p:nvPr>
            <p:ph type="sldNum" sz="quarter" idx="5"/>
          </p:nvPr>
        </p:nvSpPr>
        <p:spPr/>
        <p:txBody>
          <a:bodyPr/>
          <a:lstStyle/>
          <a:p>
            <a:fld id="{FF209F92-05EE-6F4A-AD9C-ED35F0F76927}" type="slidenum">
              <a:rPr lang="en-US" smtClean="0"/>
              <a:t>38</a:t>
            </a:fld>
            <a:endParaRPr lang="en-US"/>
          </a:p>
        </p:txBody>
      </p:sp>
    </p:spTree>
    <p:extLst>
      <p:ext uri="{BB962C8B-B14F-4D97-AF65-F5344CB8AC3E}">
        <p14:creationId xmlns:p14="http://schemas.microsoft.com/office/powerpoint/2010/main" val="3029124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D46A9-ADB0-4CAD-ADD8-2F705D82B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8C329-0D3E-0D0E-A2F9-521500883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7846C-88AB-44AC-A9B3-B99E42F2B5F8}"/>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Figure 4.2-1.</a:t>
            </a:r>
            <a:r>
              <a:rPr lang="en-US" dirty="0"/>
              <a:t> </a:t>
            </a:r>
            <a:r>
              <a:rPr lang="en-US" i="1" dirty="0">
                <a:effectLst/>
              </a:rPr>
              <a:t>Where a migration starts.</a:t>
            </a:r>
            <a:r>
              <a:rPr lang="en-US" dirty="0"/>
              <a:t> Existing system stock determines what can be recovered; settled intent determines how much structure and authority the work can support initially. Authority is not a single project-wide dial — the more settled a </a:t>
            </a:r>
            <a:r>
              <a:rPr lang="en-US" i="1" dirty="0">
                <a:effectLst/>
              </a:rPr>
              <a:t>particular obligation</a:t>
            </a:r>
            <a:r>
              <a:rPr lang="en-US" dirty="0"/>
              <a:t>, the more authority it can safely receive, so a security, legal, or safety constraint may be settled even when the product behavior around it is still exploratory.</a:t>
            </a:r>
            <a:br>
              <a:rPr lang="en-US" dirty="0"/>
            </a:br>
            <a:endParaRPr lang="en-US" dirty="0"/>
          </a:p>
        </p:txBody>
      </p:sp>
      <p:sp>
        <p:nvSpPr>
          <p:cNvPr id="4" name="Slide Number Placeholder 3">
            <a:extLst>
              <a:ext uri="{FF2B5EF4-FFF2-40B4-BE49-F238E27FC236}">
                <a16:creationId xmlns:a16="http://schemas.microsoft.com/office/drawing/2014/main" id="{CC6A37D6-1C8E-3159-A90E-8FF59AEDB52E}"/>
              </a:ext>
            </a:extLst>
          </p:cNvPr>
          <p:cNvSpPr>
            <a:spLocks noGrp="1"/>
          </p:cNvSpPr>
          <p:nvPr>
            <p:ph type="sldNum" sz="quarter" idx="5"/>
          </p:nvPr>
        </p:nvSpPr>
        <p:spPr/>
        <p:txBody>
          <a:bodyPr/>
          <a:lstStyle/>
          <a:p>
            <a:fld id="{FF209F92-05EE-6F4A-AD9C-ED35F0F76927}" type="slidenum">
              <a:rPr lang="en-US" smtClean="0"/>
              <a:t>39</a:t>
            </a:fld>
            <a:endParaRPr lang="en-US"/>
          </a:p>
        </p:txBody>
      </p:sp>
    </p:spTree>
    <p:extLst>
      <p:ext uri="{BB962C8B-B14F-4D97-AF65-F5344CB8AC3E}">
        <p14:creationId xmlns:p14="http://schemas.microsoft.com/office/powerpoint/2010/main" val="106130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speaker notes I’d use:</a:t>
            </a:r>
          </a:p>
          <a:p>
            <a:r>
              <a:rPr lang="en-US" b="1" dirty="0"/>
              <a:t>Does MAGE change token economics? Maybe—but not in the obvious direction.</a:t>
            </a:r>
            <a:endParaRPr lang="en-US" dirty="0"/>
          </a:p>
          <a:p>
            <a:r>
              <a:rPr lang="en-US" dirty="0"/>
              <a:t>We ran an ablation with the MAGE context mechanisms on and off and looked at matched task slices. If explicit models and injected context merely saved agents from rediscovering the system, we might expect fewer tokens and fewer turns.</a:t>
            </a:r>
          </a:p>
          <a:p>
            <a:r>
              <a:rPr lang="en-US" dirty="0"/>
              <a:t>That is </a:t>
            </a:r>
            <a:r>
              <a:rPr lang="en-US" b="1" dirty="0"/>
              <a:t>not</a:t>
            </a:r>
            <a:r>
              <a:rPr lang="en-US" dirty="0"/>
              <a:t> what we see. For the Opus slices, turning the machinery on actually increases median token use—by about 1,400 to 5,200 tokens—and the evidence on turns is mixed. Sonnet implementation goes the other direction, with a roughly 22,000-token reduction, but that result is not strong enough to call.</a:t>
            </a:r>
          </a:p>
          <a:p>
            <a:r>
              <a:rPr lang="en-US" dirty="0"/>
              <a:t>The consistent signal is </a:t>
            </a:r>
            <a:r>
              <a:rPr lang="en-US" b="1" dirty="0"/>
              <a:t>duration</a:t>
            </a:r>
            <a:r>
              <a:rPr lang="en-US" dirty="0"/>
              <a:t>: every slice takes longer with the machinery enabled, from roughly 9 to 38 seconds more. That is plausible: retrieving, injecting, and reasoning over additional engineering context has a computational cost.</a:t>
            </a:r>
          </a:p>
          <a:p>
            <a:r>
              <a:rPr lang="en-US" dirty="0"/>
              <a:t>So I would not claim that MAGE is a token-saving technique. The more interesting hypothesis is that </a:t>
            </a:r>
            <a:r>
              <a:rPr lang="en-US" b="1" dirty="0"/>
              <a:t>MAGE spends context to improve the quality of reasoning</a:t>
            </a:r>
            <a:r>
              <a:rPr lang="en-US" dirty="0"/>
              <a:t>. Explicit models may make agents reason over obligations they would otherwise discover only later through tests, gates, or failed attempts.</a:t>
            </a:r>
          </a:p>
          <a:p>
            <a:r>
              <a:rPr lang="en-US" dirty="0"/>
              <a:t>That changes the economic question. It is not, “Does modeling minimize tokens per task?” It is, </a:t>
            </a:r>
            <a:r>
              <a:rPr lang="en-US" b="1" dirty="0"/>
              <a:t>“Does spending more reasoning up front reduce expensive downstream churn?”</a:t>
            </a:r>
            <a:endParaRPr lang="en-US" dirty="0"/>
          </a:p>
          <a:p>
            <a:r>
              <a:rPr lang="en-US" dirty="0"/>
              <a:t>These results are suggestive, not conclusive. The next measurement has to connect this overhead to outcomes: retries, rejected changes, regressions, human intervention, and ultimately successful governed work per unit cost.</a:t>
            </a:r>
          </a:p>
          <a:p>
            <a:r>
              <a:rPr lang="en-US" dirty="0"/>
              <a:t>I would particularly resist saying that these data show a token-efficiency benefit. </a:t>
            </a:r>
            <a:r>
              <a:rPr lang="en-US" b="1" dirty="0"/>
              <a:t>They don’t.</a:t>
            </a:r>
            <a:r>
              <a:rPr lang="en-US" dirty="0"/>
              <a:t> They show that MAGE changes the computational profile, with a surprisingly plausible story that it purchases more up-front reasoning.</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44</a:t>
            </a:fld>
            <a:endParaRPr lang="en-US"/>
          </a:p>
        </p:txBody>
      </p:sp>
    </p:spTree>
    <p:extLst>
      <p:ext uri="{BB962C8B-B14F-4D97-AF65-F5344CB8AC3E}">
        <p14:creationId xmlns:p14="http://schemas.microsoft.com/office/powerpoint/2010/main" val="3487857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6.5-2.</a:t>
            </a:r>
            <a:r>
              <a:rPr lang="en-US" dirty="0"/>
              <a:t> </a:t>
            </a:r>
            <a:r>
              <a:rPr lang="en-US" i="1" dirty="0">
                <a:effectLst/>
              </a:rPr>
              <a:t>Established traditions, new composition.</a:t>
            </a:r>
            <a:r>
              <a:rPr lang="en-US" dirty="0"/>
              <a:t> MAGE draws on two long-running traditions. Engineering disciplines developed explicit models, constrained representations, verification, and external control; AI repeatedly extended reasoners through knowledge representation, planning state, memory, structured reasoning, tools, and surrounding machinery. MAGE brings these inheritances together around autonomous software work: Modeling makes engineering knowledge explicit, Alignment gives selected obligations authority, and both meet in the Governed Engineering Environment. Governance conversion carries recurring judgment into durable engineering capital. Commodity intelligence changes the economics of this composition, not the provenance of its parts.</a:t>
            </a:r>
            <a:br>
              <a:rPr lang="en-US" dirty="0"/>
            </a:b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46</a:t>
            </a:fld>
            <a:endParaRPr lang="en-US"/>
          </a:p>
        </p:txBody>
      </p:sp>
    </p:spTree>
    <p:extLst>
      <p:ext uri="{BB962C8B-B14F-4D97-AF65-F5344CB8AC3E}">
        <p14:creationId xmlns:p14="http://schemas.microsoft.com/office/powerpoint/2010/main" val="2525464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Commodity intelligence did not abolish software engineering. By making implementation cheaper, it may force us to practice more of it.</a:t>
            </a:r>
          </a:p>
          <a:p>
            <a:endParaRPr lang="en-US" dirty="0"/>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47</a:t>
            </a:fld>
            <a:endParaRPr lang="en-US"/>
          </a:p>
        </p:txBody>
      </p:sp>
    </p:spTree>
    <p:extLst>
      <p:ext uri="{BB962C8B-B14F-4D97-AF65-F5344CB8AC3E}">
        <p14:creationId xmlns:p14="http://schemas.microsoft.com/office/powerpoint/2010/main" val="543995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6.5-3.</a:t>
            </a:r>
            <a:r>
              <a:rPr lang="en-US" dirty="0"/>
              <a:t> </a:t>
            </a:r>
            <a:r>
              <a:rPr lang="en-US" i="1" dirty="0">
                <a:effectLst/>
              </a:rPr>
              <a:t>Model induction.</a:t>
            </a:r>
            <a:r>
              <a:rPr lang="en-US" dirty="0"/>
              <a:t> The same move runs in three settings: realized work yields repeated low-level forms, weak detection surfaces candidate regularities, and engineering judgment names the concept that survives comparison. The left rail states the move; the three columns instantiate it in software, knowledge work, and CAD. Software is the grounded case; the extension to knowledge work and CAD is a generalization, not evidence </a:t>
            </a:r>
            <a:r>
              <a:rPr lang="en-US" dirty="0" err="1"/>
              <a:t>DocAble</a:t>
            </a:r>
            <a:r>
              <a:rPr lang="en-US" dirty="0"/>
              <a:t> supplied.</a:t>
            </a:r>
            <a:br>
              <a:rPr lang="en-US" dirty="0"/>
            </a:b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49</a:t>
            </a:fld>
            <a:endParaRPr lang="en-US"/>
          </a:p>
        </p:txBody>
      </p:sp>
    </p:spTree>
    <p:extLst>
      <p:ext uri="{BB962C8B-B14F-4D97-AF65-F5344CB8AC3E}">
        <p14:creationId xmlns:p14="http://schemas.microsoft.com/office/powerpoint/2010/main" val="2934829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3" name="Picture 2">
            <a:extLst>
              <a:ext uri="{FF2B5EF4-FFF2-40B4-BE49-F238E27FC236}">
                <a16:creationId xmlns:a16="http://schemas.microsoft.com/office/drawing/2014/main" id="{34D4D87E-5C89-3CCC-26E5-A215359345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55425" y="5735529"/>
            <a:ext cx="4706149" cy="503455"/>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hyperlink" Target="https://davisjam.github.io/model-based-agentic-software-engineering/talks.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hyperlink" Target="https://nces.ed.gov/ccd/tables/202324_summary_3.as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nces.ed.gov/fastfacts/display.asp?id=112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aplab.cs.columbia.edu/general/2026/01/07/why-vibe-coding-fails-and-how-to-fix-it.html" TargetMode="Externa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hyperlink" Target="https://www.wsj.com/tech/ai/vibe-coding-slop-ai-tools-e6a99394" TargetMode="External"/><Relationship Id="rId4" Type="http://schemas.openxmlformats.org/officeDocument/2006/relationships/hyperlink" Target="https://daplab.cs.columbia.edu/general/2026/01/08/9-critical-failure-patterns-of-coding-agents.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7" name="Title 6">
            <a:extLst>
              <a:ext uri="{FF2B5EF4-FFF2-40B4-BE49-F238E27FC236}">
                <a16:creationId xmlns:a16="http://schemas.microsoft.com/office/drawing/2014/main" id="{FCEDA1E7-56BA-62BC-4FB9-8E9BF0374B47}"/>
              </a:ext>
            </a:extLst>
          </p:cNvPr>
          <p:cNvSpPr>
            <a:spLocks noGrp="1"/>
          </p:cNvSpPr>
          <p:nvPr>
            <p:ph type="ctrTitle"/>
          </p:nvPr>
        </p:nvSpPr>
        <p:spPr>
          <a:xfrm>
            <a:off x="1043091" y="1029938"/>
            <a:ext cx="6556233" cy="3307774"/>
          </a:xfrm>
        </p:spPr>
        <p:txBody>
          <a:bodyPr>
            <a:normAutofit fontScale="90000"/>
          </a:bodyPr>
          <a:lstStyle/>
          <a:p>
            <a:r>
              <a:rPr lang="en-US" sz="4400" b="1" u="sng" dirty="0"/>
              <a:t>MAGE</a:t>
            </a:r>
            <a:br>
              <a:rPr lang="en-US" sz="4400" b="1" u="sng" dirty="0"/>
            </a:br>
            <a:r>
              <a:rPr lang="en-US" sz="2000" b="1" u="sng" dirty="0"/>
              <a:t> </a:t>
            </a:r>
            <a:br>
              <a:rPr lang="en-US" b="1" dirty="0"/>
            </a:br>
            <a:r>
              <a:rPr lang="en-US" dirty="0"/>
              <a:t>Model-Based</a:t>
            </a:r>
            <a:br>
              <a:rPr lang="en-US" dirty="0"/>
            </a:br>
            <a:r>
              <a:rPr lang="en-US" dirty="0"/>
              <a:t>Agentic Engineering</a:t>
            </a:r>
            <a:r>
              <a:rPr lang="en-US" sz="1000" dirty="0"/>
              <a:t>  </a:t>
            </a:r>
            <a:br>
              <a:rPr lang="en-US" sz="4400" dirty="0"/>
            </a:br>
            <a:r>
              <a:rPr lang="en-US" sz="1100" dirty="0"/>
              <a:t> </a:t>
            </a:r>
            <a:br>
              <a:rPr lang="en-US" dirty="0"/>
            </a:br>
            <a:r>
              <a:rPr lang="en-US" sz="1800" dirty="0"/>
              <a:t> </a:t>
            </a:r>
            <a:br>
              <a:rPr lang="en-US" dirty="0"/>
            </a:br>
            <a:r>
              <a:rPr lang="en-US" sz="2800" i="1" dirty="0"/>
              <a:t>Making GenAI More Trustworthy for Consequential Knowledge Work</a:t>
            </a:r>
            <a:endParaRPr lang="en-US" sz="4400" dirty="0"/>
          </a:p>
        </p:txBody>
      </p:sp>
      <p:sp>
        <p:nvSpPr>
          <p:cNvPr id="5" name="TextBox 4">
            <a:extLst>
              <a:ext uri="{FF2B5EF4-FFF2-40B4-BE49-F238E27FC236}">
                <a16:creationId xmlns:a16="http://schemas.microsoft.com/office/drawing/2014/main" id="{68B3971B-9BCF-8EA7-EBB8-07E4D687FC79}"/>
              </a:ext>
            </a:extLst>
          </p:cNvPr>
          <p:cNvSpPr txBox="1"/>
          <p:nvPr/>
        </p:nvSpPr>
        <p:spPr>
          <a:xfrm>
            <a:off x="3245866" y="4614722"/>
            <a:ext cx="2652265" cy="584775"/>
          </a:xfrm>
          <a:prstGeom prst="rect">
            <a:avLst/>
          </a:prstGeom>
          <a:noFill/>
        </p:spPr>
        <p:txBody>
          <a:bodyPr wrap="none" rtlCol="0">
            <a:spAutoFit/>
          </a:bodyPr>
          <a:lstStyle/>
          <a:p>
            <a:r>
              <a:rPr lang="en-US" sz="3200" b="1" dirty="0"/>
              <a:t>James C. Davis</a:t>
            </a:r>
          </a:p>
        </p:txBody>
      </p:sp>
      <p:sp>
        <p:nvSpPr>
          <p:cNvPr id="8" name="TextBox 7">
            <a:extLst>
              <a:ext uri="{FF2B5EF4-FFF2-40B4-BE49-F238E27FC236}">
                <a16:creationId xmlns:a16="http://schemas.microsoft.com/office/drawing/2014/main" id="{566C0D9A-22A3-A901-108F-DDA6FB1D9CCE}"/>
              </a:ext>
            </a:extLst>
          </p:cNvPr>
          <p:cNvSpPr txBox="1"/>
          <p:nvPr/>
        </p:nvSpPr>
        <p:spPr>
          <a:xfrm>
            <a:off x="3257312" y="6356350"/>
            <a:ext cx="2629374" cy="369332"/>
          </a:xfrm>
          <a:prstGeom prst="rect">
            <a:avLst/>
          </a:prstGeom>
          <a:noFill/>
        </p:spPr>
        <p:txBody>
          <a:bodyPr wrap="none" rtlCol="0">
            <a:spAutoFit/>
          </a:bodyPr>
          <a:lstStyle/>
          <a:p>
            <a:r>
              <a:rPr lang="en-US" dirty="0"/>
              <a:t>https://</a:t>
            </a:r>
            <a:r>
              <a:rPr lang="en-US" dirty="0" err="1"/>
              <a:t>davisjam.github.io</a:t>
            </a:r>
            <a:endParaRPr lang="en-US" dirty="0"/>
          </a:p>
        </p:txBody>
      </p:sp>
      <p:sp>
        <p:nvSpPr>
          <p:cNvPr id="2" name="TextBox 1">
            <a:extLst>
              <a:ext uri="{FF2B5EF4-FFF2-40B4-BE49-F238E27FC236}">
                <a16:creationId xmlns:a16="http://schemas.microsoft.com/office/drawing/2014/main" id="{C20F3E3B-2ECA-CC40-1DD7-05517A1B7F77}"/>
              </a:ext>
            </a:extLst>
          </p:cNvPr>
          <p:cNvSpPr txBox="1"/>
          <p:nvPr/>
        </p:nvSpPr>
        <p:spPr>
          <a:xfrm>
            <a:off x="0" y="132318"/>
            <a:ext cx="7599324" cy="461665"/>
          </a:xfrm>
          <a:prstGeom prst="rect">
            <a:avLst/>
          </a:prstGeom>
          <a:noFill/>
        </p:spPr>
        <p:txBody>
          <a:bodyPr wrap="none" rtlCol="0">
            <a:spAutoFit/>
          </a:bodyPr>
          <a:lstStyle/>
          <a:p>
            <a:r>
              <a:rPr lang="en-US" sz="1200" dirty="0"/>
              <a:t>Slides for this talk are available here:  </a:t>
            </a:r>
            <a:r>
              <a:rPr lang="en-US" sz="1200" dirty="0">
                <a:hlinkClick r:id="rId2" tooltip="https://davisjam.github.io/model-based-agentic-software-engineering/talks.html"/>
              </a:rPr>
              <a:t>https://davisjam.github.io/model-based-agentic-software-engineering/talks.html</a:t>
            </a:r>
            <a:endParaRPr lang="en-US" sz="1200" dirty="0"/>
          </a:p>
          <a:p>
            <a:r>
              <a:rPr lang="en-US" sz="1200" dirty="0"/>
              <a:t>MAGE materials and book are available here:  </a:t>
            </a:r>
            <a:r>
              <a:rPr lang="en-US" sz="1200" dirty="0">
                <a:hlinkClick r:id="rId2" tooltip="https://davisjam.github.io/model-based-agentic-software-engineering/talks.html"/>
              </a:rPr>
              <a:t>https://davisjam.github.io/model-based-agentic-software-engineering</a:t>
            </a:r>
            <a:endParaRPr lang="en-US" sz="1200" dirty="0"/>
          </a:p>
        </p:txBody>
      </p:sp>
      <p:pic>
        <p:nvPicPr>
          <p:cNvPr id="4" name="Picture 3">
            <a:extLst>
              <a:ext uri="{FF2B5EF4-FFF2-40B4-BE49-F238E27FC236}">
                <a16:creationId xmlns:a16="http://schemas.microsoft.com/office/drawing/2014/main" id="{1BDC6842-A1BF-1FAC-4EE4-32020EB525A3}"/>
              </a:ext>
            </a:extLst>
          </p:cNvPr>
          <p:cNvPicPr>
            <a:picLocks noChangeAspect="1"/>
          </p:cNvPicPr>
          <p:nvPr/>
        </p:nvPicPr>
        <p:blipFill>
          <a:blip r:embed="rId3"/>
          <a:stretch>
            <a:fillRect/>
          </a:stretch>
        </p:blipFill>
        <p:spPr>
          <a:xfrm>
            <a:off x="6103393" y="4337712"/>
            <a:ext cx="1186754" cy="1323980"/>
          </a:xfrm>
          <a:prstGeom prst="rect">
            <a:avLst/>
          </a:prstGeom>
        </p:spPr>
      </p:pic>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C5CE45-3B2C-D5E3-6E5C-908663A200B7}"/>
              </a:ext>
            </a:extLst>
          </p:cNvPr>
          <p:cNvSpPr>
            <a:spLocks noGrp="1"/>
          </p:cNvSpPr>
          <p:nvPr>
            <p:ph idx="1"/>
          </p:nvPr>
        </p:nvSpPr>
        <p:spPr/>
        <p:txBody>
          <a:bodyPr/>
          <a:lstStyle/>
          <a:p>
            <a:pPr marL="342900" indent="-342900">
              <a:buFont typeface="+mj-lt"/>
              <a:buAutoNum type="arabicPeriod"/>
            </a:pPr>
            <a:r>
              <a:rPr lang="en-US" dirty="0"/>
              <a:t>Who am I and why am I here</a:t>
            </a:r>
          </a:p>
          <a:p>
            <a:pPr marL="342900" indent="-342900">
              <a:buFont typeface="+mj-lt"/>
              <a:buAutoNum type="arabicPeriod"/>
            </a:pPr>
            <a:r>
              <a:rPr lang="en-US" dirty="0"/>
              <a:t>The substrate: Engineering shifts in response to technology change</a:t>
            </a:r>
          </a:p>
          <a:p>
            <a:pPr marL="342900" indent="-342900">
              <a:buFont typeface="+mj-lt"/>
              <a:buAutoNum type="arabicPeriod"/>
            </a:pPr>
            <a:r>
              <a:rPr lang="en-US" dirty="0"/>
              <a:t>Vibe coding</a:t>
            </a:r>
          </a:p>
          <a:p>
            <a:pPr marL="342900" indent="-342900">
              <a:buFont typeface="+mj-lt"/>
              <a:buAutoNum type="arabicPeriod"/>
            </a:pPr>
            <a:r>
              <a:rPr lang="en-US" dirty="0"/>
              <a:t>MAGE</a:t>
            </a:r>
          </a:p>
          <a:p>
            <a:pPr marL="342900" indent="-342900">
              <a:buFont typeface="+mj-lt"/>
              <a:buAutoNum type="arabicPeriod"/>
            </a:pPr>
            <a:r>
              <a:rPr lang="en-US" dirty="0"/>
              <a:t>Modeling</a:t>
            </a:r>
          </a:p>
          <a:p>
            <a:pPr marL="342900" indent="-342900">
              <a:buFont typeface="+mj-lt"/>
              <a:buAutoNum type="arabicPeriod"/>
            </a:pPr>
            <a:r>
              <a:rPr lang="en-US" dirty="0"/>
              <a:t>Alignment</a:t>
            </a:r>
          </a:p>
          <a:p>
            <a:pPr marL="342900" indent="-342900">
              <a:buFont typeface="+mj-lt"/>
              <a:buAutoNum type="arabicPeriod"/>
            </a:pPr>
            <a:r>
              <a:rPr lang="en-US" dirty="0"/>
              <a:t>Putting it together: The MAGE Method</a:t>
            </a:r>
          </a:p>
          <a:p>
            <a:pPr marL="342900" indent="-342900">
              <a:buFont typeface="+mj-lt"/>
              <a:buAutoNum type="arabicPeriod"/>
            </a:pPr>
            <a:r>
              <a:rPr lang="en-US" dirty="0">
                <a:solidFill>
                  <a:schemeClr val="bg1"/>
                </a:solidFill>
              </a:rPr>
              <a:t>Related work and Implications:</a:t>
            </a:r>
            <a:r>
              <a:rPr lang="en-US" dirty="0"/>
              <a:t> for engineering, for research, for education</a:t>
            </a:r>
          </a:p>
          <a:p>
            <a:pPr marL="342900" indent="-342900">
              <a:buFont typeface="+mj-lt"/>
              <a:buAutoNum type="arabicPeriod"/>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854C76BB-5EE4-8893-06C1-23F3A6D0182B}"/>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616F4735-B376-FBCB-1FD1-0A7D01BE9E55}"/>
              </a:ext>
            </a:extLst>
          </p:cNvPr>
          <p:cNvSpPr>
            <a:spLocks noGrp="1"/>
          </p:cNvSpPr>
          <p:nvPr>
            <p:ph type="sldNum" sz="quarter" idx="4"/>
          </p:nvPr>
        </p:nvSpPr>
        <p:spPr/>
        <p:txBody>
          <a:bodyPr/>
          <a:lstStyle/>
          <a:p>
            <a:fld id="{B7EB45DA-9A0D-DC49-8E02-F30A5DDC21C3}" type="slidenum">
              <a:rPr lang="en-US" smtClean="0"/>
              <a:t>2</a:t>
            </a:fld>
            <a:endParaRPr lang="en-US"/>
          </a:p>
        </p:txBody>
      </p:sp>
    </p:spTree>
    <p:extLst>
      <p:ext uri="{BB962C8B-B14F-4D97-AF65-F5344CB8AC3E}">
        <p14:creationId xmlns:p14="http://schemas.microsoft.com/office/powerpoint/2010/main" val="2679909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D183E-CFAF-B685-95C0-F81A5BAACEE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3900DC-21BC-BF95-D70B-E49A7612A09B}"/>
              </a:ext>
            </a:extLst>
          </p:cNvPr>
          <p:cNvSpPr>
            <a:spLocks noGrp="1"/>
          </p:cNvSpPr>
          <p:nvPr>
            <p:ph idx="1"/>
          </p:nvPr>
        </p:nvSpPr>
        <p:spPr/>
        <p:txBody>
          <a:bodyPr/>
          <a:lstStyle/>
          <a:p>
            <a:pPr marL="342900" indent="-342900">
              <a:buFont typeface="+mj-lt"/>
              <a:buAutoNum type="arabicPeriod"/>
            </a:pPr>
            <a:r>
              <a:rPr lang="en-US" b="1" dirty="0"/>
              <a:t>Who am I and why am I here</a:t>
            </a:r>
          </a:p>
          <a:p>
            <a:pPr marL="342900" indent="-342900">
              <a:buFont typeface="+mj-lt"/>
              <a:buAutoNum type="arabicPeriod"/>
            </a:pPr>
            <a:r>
              <a:rPr lang="en-US" dirty="0">
                <a:solidFill>
                  <a:schemeClr val="accent6">
                    <a:lumMod val="40000"/>
                    <a:lumOff val="60000"/>
                  </a:schemeClr>
                </a:solidFill>
              </a:rPr>
              <a:t>The substrate: Engineering shifts in response to technology change</a:t>
            </a:r>
          </a:p>
          <a:p>
            <a:pPr marL="342900" indent="-342900">
              <a:buFont typeface="+mj-lt"/>
              <a:buAutoNum type="arabicPeriod"/>
            </a:pPr>
            <a:r>
              <a:rPr lang="en-US" dirty="0">
                <a:solidFill>
                  <a:schemeClr val="accent6">
                    <a:lumMod val="40000"/>
                    <a:lumOff val="60000"/>
                  </a:schemeClr>
                </a:solidFill>
              </a:rPr>
              <a:t>Vibe coding</a:t>
            </a:r>
          </a:p>
          <a:p>
            <a:pPr marL="342900" indent="-342900">
              <a:buFont typeface="+mj-lt"/>
              <a:buAutoNum type="arabicPeriod"/>
            </a:pPr>
            <a:r>
              <a:rPr lang="en-US" dirty="0">
                <a:solidFill>
                  <a:schemeClr val="accent6">
                    <a:lumMod val="40000"/>
                    <a:lumOff val="60000"/>
                  </a:schemeClr>
                </a:solidFill>
              </a:rPr>
              <a:t>MAGE</a:t>
            </a:r>
          </a:p>
          <a:p>
            <a:pPr marL="342900" indent="-342900">
              <a:buFont typeface="+mj-lt"/>
              <a:buAutoNum type="arabicPeriod"/>
            </a:pPr>
            <a:r>
              <a:rPr lang="en-US" dirty="0">
                <a:solidFill>
                  <a:schemeClr val="accent6">
                    <a:lumMod val="40000"/>
                    <a:lumOff val="60000"/>
                  </a:schemeClr>
                </a:solidFill>
              </a:rPr>
              <a:t>Modeling</a:t>
            </a:r>
          </a:p>
          <a:p>
            <a:pPr marL="342900" indent="-342900">
              <a:buFont typeface="+mj-lt"/>
              <a:buAutoNum type="arabicPeriod"/>
            </a:pPr>
            <a:r>
              <a:rPr lang="en-US" dirty="0">
                <a:solidFill>
                  <a:schemeClr val="accent6">
                    <a:lumMod val="40000"/>
                    <a:lumOff val="60000"/>
                  </a:schemeClr>
                </a:solidFill>
              </a:rPr>
              <a:t>Alignment</a:t>
            </a:r>
          </a:p>
          <a:p>
            <a:pPr marL="342900" indent="-342900">
              <a:buFont typeface="+mj-lt"/>
              <a:buAutoNum type="arabicPeriod"/>
            </a:pPr>
            <a:r>
              <a:rPr lang="en-US" dirty="0">
                <a:solidFill>
                  <a:schemeClr val="accent6">
                    <a:lumMod val="40000"/>
                    <a:lumOff val="60000"/>
                  </a:schemeClr>
                </a:solidFill>
              </a:rPr>
              <a:t>Putting it together: The MAGE Method</a:t>
            </a:r>
          </a:p>
          <a:p>
            <a:pPr marL="342900" indent="-342900">
              <a:buFont typeface="+mj-lt"/>
              <a:buAutoNum type="arabicPeriod"/>
            </a:pPr>
            <a:r>
              <a:rPr lang="en-US" dirty="0">
                <a:solidFill>
                  <a:schemeClr val="accent6">
                    <a:lumMod val="40000"/>
                    <a:lumOff val="60000"/>
                  </a:schemeClr>
                </a:solidFill>
              </a:rPr>
              <a:t>Related work and Implications: for engineering, for research, for education</a:t>
            </a:r>
          </a:p>
          <a:p>
            <a:pPr marL="342900" indent="-342900">
              <a:buFont typeface="+mj-lt"/>
              <a:buAutoNum type="arabicPeriod"/>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D2627423-F6B8-5123-D23D-679F9472A641}"/>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AABF1916-6EE6-2981-48B9-A08A8E239D17}"/>
              </a:ext>
            </a:extLst>
          </p:cNvPr>
          <p:cNvSpPr>
            <a:spLocks noGrp="1"/>
          </p:cNvSpPr>
          <p:nvPr>
            <p:ph type="sldNum" sz="quarter" idx="4"/>
          </p:nvPr>
        </p:nvSpPr>
        <p:spPr/>
        <p:txBody>
          <a:bodyPr/>
          <a:lstStyle/>
          <a:p>
            <a:fld id="{B7EB45DA-9A0D-DC49-8E02-F30A5DDC21C3}" type="slidenum">
              <a:rPr lang="en-US" smtClean="0"/>
              <a:t>3</a:t>
            </a:fld>
            <a:endParaRPr lang="en-US"/>
          </a:p>
        </p:txBody>
      </p:sp>
    </p:spTree>
    <p:extLst>
      <p:ext uri="{BB962C8B-B14F-4D97-AF65-F5344CB8AC3E}">
        <p14:creationId xmlns:p14="http://schemas.microsoft.com/office/powerpoint/2010/main" val="1583248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772EDA-0C8B-03E3-1004-D8CBE1E44D68}"/>
              </a:ext>
            </a:extLst>
          </p:cNvPr>
          <p:cNvSpPr>
            <a:spLocks noGrp="1"/>
          </p:cNvSpPr>
          <p:nvPr>
            <p:ph idx="1"/>
          </p:nvPr>
        </p:nvSpPr>
        <p:spPr/>
        <p:txBody>
          <a:bodyPr>
            <a:normAutofit/>
          </a:bodyPr>
          <a:lstStyle/>
          <a:p>
            <a:r>
              <a:rPr lang="en-US" dirty="0"/>
              <a:t>2012-2017: Software QA, IBM GPFS / Spectrum Scale</a:t>
            </a:r>
          </a:p>
          <a:p>
            <a:r>
              <a:rPr lang="en-US" dirty="0"/>
              <a:t>2018: Summer at IBM Research @ Almaden, CA</a:t>
            </a:r>
          </a:p>
          <a:p>
            <a:r>
              <a:rPr lang="en-US" dirty="0"/>
              <a:t>2019: Summer at Microsoft Research @ Redmond, WA</a:t>
            </a:r>
          </a:p>
          <a:p>
            <a:r>
              <a:rPr lang="en-US" dirty="0"/>
              <a:t>2020-present: Assistant Professor, ECE @ Purdue</a:t>
            </a:r>
          </a:p>
          <a:p>
            <a:endParaRPr lang="en-US" dirty="0"/>
          </a:p>
          <a:p>
            <a:r>
              <a:rPr lang="en-US" dirty="0"/>
              <a:t>March 2026 – present: Saturator of 4 Claude Max 20x accounts</a:t>
            </a:r>
          </a:p>
        </p:txBody>
      </p:sp>
      <p:sp>
        <p:nvSpPr>
          <p:cNvPr id="3" name="Title 2">
            <a:extLst>
              <a:ext uri="{FF2B5EF4-FFF2-40B4-BE49-F238E27FC236}">
                <a16:creationId xmlns:a16="http://schemas.microsoft.com/office/drawing/2014/main" id="{8B725220-2252-641A-A623-B9832F21244D}"/>
              </a:ext>
            </a:extLst>
          </p:cNvPr>
          <p:cNvSpPr>
            <a:spLocks noGrp="1"/>
          </p:cNvSpPr>
          <p:nvPr>
            <p:ph type="title"/>
          </p:nvPr>
        </p:nvSpPr>
        <p:spPr/>
        <p:txBody>
          <a:bodyPr>
            <a:normAutofit fontScale="90000"/>
          </a:bodyPr>
          <a:lstStyle/>
          <a:p>
            <a:r>
              <a:rPr lang="en-US" dirty="0" err="1"/>
              <a:t>Biosketch</a:t>
            </a:r>
            <a:endParaRPr lang="en-US" dirty="0"/>
          </a:p>
        </p:txBody>
      </p:sp>
      <p:sp>
        <p:nvSpPr>
          <p:cNvPr id="4" name="Slide Number Placeholder 3">
            <a:extLst>
              <a:ext uri="{FF2B5EF4-FFF2-40B4-BE49-F238E27FC236}">
                <a16:creationId xmlns:a16="http://schemas.microsoft.com/office/drawing/2014/main" id="{12F7721E-F6D4-A6B1-54A6-03324A90EEA0}"/>
              </a:ext>
            </a:extLst>
          </p:cNvPr>
          <p:cNvSpPr>
            <a:spLocks noGrp="1"/>
          </p:cNvSpPr>
          <p:nvPr>
            <p:ph type="sldNum" sz="quarter" idx="4"/>
          </p:nvPr>
        </p:nvSpPr>
        <p:spPr/>
        <p:txBody>
          <a:bodyPr/>
          <a:lstStyle/>
          <a:p>
            <a:fld id="{B7EB45DA-9A0D-DC49-8E02-F30A5DDC21C3}" type="slidenum">
              <a:rPr lang="en-US" smtClean="0"/>
              <a:t>4</a:t>
            </a:fld>
            <a:endParaRPr lang="en-US"/>
          </a:p>
        </p:txBody>
      </p:sp>
    </p:spTree>
    <p:extLst>
      <p:ext uri="{BB962C8B-B14F-4D97-AF65-F5344CB8AC3E}">
        <p14:creationId xmlns:p14="http://schemas.microsoft.com/office/powerpoint/2010/main" val="169245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11D470E-B79B-51B9-E71C-E237A742FED0}"/>
              </a:ext>
            </a:extLst>
          </p:cNvPr>
          <p:cNvSpPr>
            <a:spLocks noGrp="1"/>
          </p:cNvSpPr>
          <p:nvPr>
            <p:ph type="title"/>
          </p:nvPr>
        </p:nvSpPr>
        <p:spPr/>
        <p:txBody>
          <a:bodyPr>
            <a:normAutofit fontScale="90000"/>
          </a:bodyPr>
          <a:lstStyle/>
          <a:p>
            <a:r>
              <a:rPr lang="en-US" dirty="0"/>
              <a:t>Context and motivating question</a:t>
            </a:r>
          </a:p>
        </p:txBody>
      </p:sp>
      <p:sp>
        <p:nvSpPr>
          <p:cNvPr id="4" name="Slide Number Placeholder 3">
            <a:extLst>
              <a:ext uri="{FF2B5EF4-FFF2-40B4-BE49-F238E27FC236}">
                <a16:creationId xmlns:a16="http://schemas.microsoft.com/office/drawing/2014/main" id="{3DBF756A-7F67-E2D7-DAD4-D9078492F1CE}"/>
              </a:ext>
            </a:extLst>
          </p:cNvPr>
          <p:cNvSpPr>
            <a:spLocks noGrp="1"/>
          </p:cNvSpPr>
          <p:nvPr>
            <p:ph type="sldNum" sz="quarter" idx="4"/>
          </p:nvPr>
        </p:nvSpPr>
        <p:spPr/>
        <p:txBody>
          <a:bodyPr/>
          <a:lstStyle/>
          <a:p>
            <a:fld id="{B7EB45DA-9A0D-DC49-8E02-F30A5DDC21C3}" type="slidenum">
              <a:rPr lang="en-US" smtClean="0"/>
              <a:t>5</a:t>
            </a:fld>
            <a:endParaRPr lang="en-US"/>
          </a:p>
        </p:txBody>
      </p:sp>
    </p:spTree>
    <p:extLst>
      <p:ext uri="{BB962C8B-B14F-4D97-AF65-F5344CB8AC3E}">
        <p14:creationId xmlns:p14="http://schemas.microsoft.com/office/powerpoint/2010/main" val="653947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DD86E3-A6D4-3788-E183-BDFE8D26636D}"/>
              </a:ext>
            </a:extLst>
          </p:cNvPr>
          <p:cNvSpPr>
            <a:spLocks noGrp="1"/>
          </p:cNvSpPr>
          <p:nvPr>
            <p:ph type="title"/>
          </p:nvPr>
        </p:nvSpPr>
        <p:spPr/>
        <p:txBody>
          <a:bodyPr>
            <a:normAutofit fontScale="90000"/>
          </a:bodyPr>
          <a:lstStyle/>
          <a:p>
            <a:r>
              <a:rPr lang="en-US" dirty="0"/>
              <a:t>The US DOJ’s electronic-era update to the ADA</a:t>
            </a:r>
          </a:p>
        </p:txBody>
      </p:sp>
      <p:sp>
        <p:nvSpPr>
          <p:cNvPr id="4" name="Slide Number Placeholder 3">
            <a:extLst>
              <a:ext uri="{FF2B5EF4-FFF2-40B4-BE49-F238E27FC236}">
                <a16:creationId xmlns:a16="http://schemas.microsoft.com/office/drawing/2014/main" id="{B982697A-5309-C86B-58CD-B1F9CA0496A6}"/>
              </a:ext>
            </a:extLst>
          </p:cNvPr>
          <p:cNvSpPr>
            <a:spLocks noGrp="1"/>
          </p:cNvSpPr>
          <p:nvPr>
            <p:ph type="sldNum" sz="quarter" idx="4"/>
          </p:nvPr>
        </p:nvSpPr>
        <p:spPr/>
        <p:txBody>
          <a:bodyPr/>
          <a:lstStyle/>
          <a:p>
            <a:fld id="{B7EB45DA-9A0D-DC49-8E02-F30A5DDC21C3}" type="slidenum">
              <a:rPr lang="en-US" smtClean="0"/>
              <a:t>6</a:t>
            </a:fld>
            <a:endParaRPr lang="en-US"/>
          </a:p>
        </p:txBody>
      </p:sp>
      <p:graphicFrame>
        <p:nvGraphicFramePr>
          <p:cNvPr id="7" name="Diagram 6">
            <a:extLst>
              <a:ext uri="{FF2B5EF4-FFF2-40B4-BE49-F238E27FC236}">
                <a16:creationId xmlns:a16="http://schemas.microsoft.com/office/drawing/2014/main" id="{2BA1D440-47A0-84D0-0CB0-1E114CB73F0D}"/>
              </a:ext>
            </a:extLst>
          </p:cNvPr>
          <p:cNvGraphicFramePr/>
          <p:nvPr>
            <p:extLst>
              <p:ext uri="{D42A27DB-BD31-4B8C-83A1-F6EECF244321}">
                <p14:modId xmlns:p14="http://schemas.microsoft.com/office/powerpoint/2010/main" val="1933215749"/>
              </p:ext>
            </p:extLst>
          </p:nvPr>
        </p:nvGraphicFramePr>
        <p:xfrm>
          <a:off x="440872" y="756603"/>
          <a:ext cx="8262256"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85670E62-AA6C-A56A-5139-E0349EC0C857}"/>
              </a:ext>
            </a:extLst>
          </p:cNvPr>
          <p:cNvPicPr>
            <a:picLocks noChangeAspect="1"/>
          </p:cNvPicPr>
          <p:nvPr/>
        </p:nvPicPr>
        <p:blipFill>
          <a:blip r:embed="rId7"/>
          <a:stretch>
            <a:fillRect/>
          </a:stretch>
        </p:blipFill>
        <p:spPr>
          <a:xfrm>
            <a:off x="535331" y="992923"/>
            <a:ext cx="3480077" cy="5545989"/>
          </a:xfrm>
          <a:prstGeom prst="rect">
            <a:avLst/>
          </a:prstGeom>
          <a:ln>
            <a:solidFill>
              <a:schemeClr val="accent1"/>
            </a:solidFill>
          </a:ln>
        </p:spPr>
      </p:pic>
      <p:pic>
        <p:nvPicPr>
          <p:cNvPr id="9" name="Picture 8">
            <a:extLst>
              <a:ext uri="{FF2B5EF4-FFF2-40B4-BE49-F238E27FC236}">
                <a16:creationId xmlns:a16="http://schemas.microsoft.com/office/drawing/2014/main" id="{EBD76EBC-77F9-AE47-FB91-B8E603EB8413}"/>
              </a:ext>
            </a:extLst>
          </p:cNvPr>
          <p:cNvPicPr>
            <a:picLocks noChangeAspect="1"/>
          </p:cNvPicPr>
          <p:nvPr/>
        </p:nvPicPr>
        <p:blipFill>
          <a:blip r:embed="rId8"/>
          <a:stretch>
            <a:fillRect/>
          </a:stretch>
        </p:blipFill>
        <p:spPr>
          <a:xfrm>
            <a:off x="5429528" y="992923"/>
            <a:ext cx="3368059" cy="5545990"/>
          </a:xfrm>
          <a:prstGeom prst="rect">
            <a:avLst/>
          </a:prstGeom>
          <a:ln>
            <a:solidFill>
              <a:schemeClr val="accent1"/>
            </a:solidFill>
          </a:ln>
        </p:spPr>
      </p:pic>
      <p:cxnSp>
        <p:nvCxnSpPr>
          <p:cNvPr id="11" name="Straight Arrow Connector 10">
            <a:extLst>
              <a:ext uri="{FF2B5EF4-FFF2-40B4-BE49-F238E27FC236}">
                <a16:creationId xmlns:a16="http://schemas.microsoft.com/office/drawing/2014/main" id="{A5593CD0-E772-DE9B-B6AB-2BC38C09D563}"/>
              </a:ext>
            </a:extLst>
          </p:cNvPr>
          <p:cNvCxnSpPr>
            <a:cxnSpLocks/>
          </p:cNvCxnSpPr>
          <p:nvPr/>
        </p:nvCxnSpPr>
        <p:spPr>
          <a:xfrm>
            <a:off x="4015408" y="4135663"/>
            <a:ext cx="1414120" cy="0"/>
          </a:xfrm>
          <a:prstGeom prst="straightConnector1">
            <a:avLst/>
          </a:prstGeom>
          <a:ln w="1905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585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7"/>
                                        </p:tgtEl>
                                        <p:attrNameLst>
                                          <p:attrName>style.opacity</p:attrName>
                                        </p:attrNameLst>
                                      </p:cBhvr>
                                      <p:to>
                                        <p:strVal val="0.5"/>
                                      </p:to>
                                    </p:set>
                                    <p:animEffect filter="image" prLst="opacity: 0.5">
                                      <p:cBhvr rctx="IE">
                                        <p:cTn id="7" dur="indefinite"/>
                                        <p:tgtEl>
                                          <p:spTgt spid="7"/>
                                        </p:tgtEl>
                                      </p:cBhvr>
                                    </p:animEffec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ADEAED-6F28-5149-6A8A-3EA8DCDA41B4}"/>
              </a:ext>
            </a:extLst>
          </p:cNvPr>
          <p:cNvSpPr>
            <a:spLocks noGrp="1"/>
          </p:cNvSpPr>
          <p:nvPr>
            <p:ph idx="1"/>
          </p:nvPr>
        </p:nvSpPr>
        <p:spPr>
          <a:xfrm>
            <a:off x="125260" y="985916"/>
            <a:ext cx="9144000" cy="5753656"/>
          </a:xfrm>
        </p:spPr>
        <p:txBody>
          <a:bodyPr>
            <a:normAutofit lnSpcReduction="10000"/>
          </a:bodyPr>
          <a:lstStyle/>
          <a:p>
            <a:r>
              <a:rPr lang="en-US" sz="2000" dirty="0"/>
              <a:t>Given:</a:t>
            </a:r>
          </a:p>
          <a:p>
            <a:pPr lvl="1"/>
            <a:r>
              <a:rPr lang="en-US" sz="1800" dirty="0"/>
              <a:t>Professor or teacher salary of $50K – $200K </a:t>
            </a:r>
            <a:r>
              <a:rPr lang="en-US" sz="1800" dirty="0">
                <a:sym typeface="Wingdings" pitchFamily="2" charset="2"/>
              </a:rPr>
              <a:t> hourly rate?</a:t>
            </a:r>
            <a:endParaRPr lang="en-US" sz="1800" dirty="0"/>
          </a:p>
          <a:p>
            <a:pPr lvl="1"/>
            <a:r>
              <a:rPr lang="en-US" sz="1800" dirty="0"/>
              <a:t>16 weeks/semester x 3 slide decks/week</a:t>
            </a:r>
          </a:p>
          <a:p>
            <a:pPr lvl="1"/>
            <a:r>
              <a:rPr lang="en-US" sz="1800" dirty="0"/>
              <a:t>2 readings per week (PDF format)</a:t>
            </a:r>
          </a:p>
          <a:p>
            <a:pPr lvl="1"/>
            <a:r>
              <a:rPr lang="en-US" sz="1800" dirty="0"/>
              <a:t>3 hours per slide deck and 5 hours per PDF	</a:t>
            </a:r>
            <a:r>
              <a:rPr lang="en-US" sz="1500" i="1" dirty="0"/>
              <a:t>* L. Schumacher reported spending a week on one PDF</a:t>
            </a:r>
          </a:p>
          <a:p>
            <a:r>
              <a:rPr lang="en-US" sz="2000" dirty="0"/>
              <a:t>Find:</a:t>
            </a:r>
          </a:p>
          <a:p>
            <a:pPr lvl="1"/>
            <a:r>
              <a:rPr lang="en-US" sz="1800" dirty="0"/>
              <a:t>How many hours to remediate a course?</a:t>
            </a:r>
          </a:p>
          <a:p>
            <a:pPr lvl="1"/>
            <a:r>
              <a:rPr lang="en-US" sz="1800" dirty="0"/>
              <a:t>How much does it cost the university to remediate a course?</a:t>
            </a:r>
          </a:p>
          <a:p>
            <a:endParaRPr lang="en-US" sz="2000" dirty="0"/>
          </a:p>
          <a:p>
            <a:r>
              <a:rPr lang="en-US" sz="2000" dirty="0"/>
              <a:t>Given:</a:t>
            </a:r>
          </a:p>
          <a:p>
            <a:pPr lvl="1"/>
            <a:r>
              <a:rPr lang="en-US" sz="1800" dirty="0"/>
              <a:t>Purdue has 3000 courses in its catalogue</a:t>
            </a:r>
          </a:p>
          <a:p>
            <a:r>
              <a:rPr lang="en-US" sz="2000" dirty="0"/>
              <a:t>Find:</a:t>
            </a:r>
          </a:p>
          <a:p>
            <a:pPr lvl="1"/>
            <a:r>
              <a:rPr lang="en-US" sz="1800" dirty="0"/>
              <a:t>How much does it cost the university to become compliant by hand?</a:t>
            </a:r>
          </a:p>
          <a:p>
            <a:pPr marL="0" indent="0">
              <a:buNone/>
            </a:pPr>
            <a:r>
              <a:rPr lang="en-US" sz="2000" i="1" dirty="0"/>
              <a:t>Multiply by every public K-12 school (99,297) and university (1,600) nationwide</a:t>
            </a:r>
          </a:p>
        </p:txBody>
      </p:sp>
      <p:sp>
        <p:nvSpPr>
          <p:cNvPr id="3" name="Title 2">
            <a:extLst>
              <a:ext uri="{FF2B5EF4-FFF2-40B4-BE49-F238E27FC236}">
                <a16:creationId xmlns:a16="http://schemas.microsoft.com/office/drawing/2014/main" id="{3323A2CE-D976-F53C-4C11-34F3821E8145}"/>
              </a:ext>
            </a:extLst>
          </p:cNvPr>
          <p:cNvSpPr>
            <a:spLocks noGrp="1"/>
          </p:cNvSpPr>
          <p:nvPr>
            <p:ph type="title"/>
          </p:nvPr>
        </p:nvSpPr>
        <p:spPr/>
        <p:txBody>
          <a:bodyPr>
            <a:normAutofit fontScale="90000"/>
          </a:bodyPr>
          <a:lstStyle/>
          <a:p>
            <a:r>
              <a:rPr lang="en-US" dirty="0"/>
              <a:t>Manual remediation: Some back-of-envelope math</a:t>
            </a:r>
          </a:p>
        </p:txBody>
      </p:sp>
      <p:sp>
        <p:nvSpPr>
          <p:cNvPr id="4" name="Slide Number Placeholder 3">
            <a:extLst>
              <a:ext uri="{FF2B5EF4-FFF2-40B4-BE49-F238E27FC236}">
                <a16:creationId xmlns:a16="http://schemas.microsoft.com/office/drawing/2014/main" id="{46AA5100-55EE-FE95-8498-5B7E9699FCE5}"/>
              </a:ext>
            </a:extLst>
          </p:cNvPr>
          <p:cNvSpPr>
            <a:spLocks noGrp="1"/>
          </p:cNvSpPr>
          <p:nvPr>
            <p:ph type="sldNum" sz="quarter" idx="4"/>
          </p:nvPr>
        </p:nvSpPr>
        <p:spPr/>
        <p:txBody>
          <a:bodyPr/>
          <a:lstStyle/>
          <a:p>
            <a:fld id="{B7EB45DA-9A0D-DC49-8E02-F30A5DDC21C3}" type="slidenum">
              <a:rPr lang="en-US" smtClean="0"/>
              <a:t>7</a:t>
            </a:fld>
            <a:endParaRPr lang="en-US"/>
          </a:p>
        </p:txBody>
      </p:sp>
      <p:sp>
        <p:nvSpPr>
          <p:cNvPr id="5" name="TextBox 4">
            <a:extLst>
              <a:ext uri="{FF2B5EF4-FFF2-40B4-BE49-F238E27FC236}">
                <a16:creationId xmlns:a16="http://schemas.microsoft.com/office/drawing/2014/main" id="{54862DAC-EBC4-6083-5EC3-25E3B88D6608}"/>
              </a:ext>
            </a:extLst>
          </p:cNvPr>
          <p:cNvSpPr txBox="1"/>
          <p:nvPr/>
        </p:nvSpPr>
        <p:spPr>
          <a:xfrm>
            <a:off x="-50596" y="6488668"/>
            <a:ext cx="8072082" cy="307777"/>
          </a:xfrm>
          <a:prstGeom prst="rect">
            <a:avLst/>
          </a:prstGeom>
          <a:noFill/>
        </p:spPr>
        <p:txBody>
          <a:bodyPr wrap="none" rtlCol="0">
            <a:spAutoFit/>
          </a:bodyPr>
          <a:lstStyle/>
          <a:p>
            <a:r>
              <a:rPr lang="en-US" sz="1400" i="1" dirty="0">
                <a:hlinkClick r:id="rId3"/>
              </a:rPr>
              <a:t>https://nces.ed.gov/ccd/tables/202324_summary_3.asp</a:t>
            </a:r>
            <a:r>
              <a:rPr lang="en-US" sz="1400" i="1" dirty="0"/>
              <a:t>, </a:t>
            </a:r>
            <a:r>
              <a:rPr lang="en-US" sz="1400" i="1" dirty="0">
                <a:hlinkClick r:id="rId4"/>
              </a:rPr>
              <a:t>https://nces.ed.gov/fastfacts/display.asp?id=1122</a:t>
            </a:r>
            <a:endParaRPr lang="en-US" sz="1400" i="1" dirty="0"/>
          </a:p>
        </p:txBody>
      </p:sp>
    </p:spTree>
    <p:extLst>
      <p:ext uri="{BB962C8B-B14F-4D97-AF65-F5344CB8AC3E}">
        <p14:creationId xmlns:p14="http://schemas.microsoft.com/office/powerpoint/2010/main" val="407835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51C3F7-B5D4-D15B-6C7E-84826D2884AF}"/>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235DF4BF-FFFF-1900-23BC-2565EE75CD3A}"/>
              </a:ext>
            </a:extLst>
          </p:cNvPr>
          <p:cNvSpPr>
            <a:spLocks noGrp="1"/>
          </p:cNvSpPr>
          <p:nvPr>
            <p:ph type="title"/>
          </p:nvPr>
        </p:nvSpPr>
        <p:spPr/>
        <p:txBody>
          <a:bodyPr>
            <a:normAutofit fontScale="90000"/>
          </a:bodyPr>
          <a:lstStyle/>
          <a:p>
            <a:r>
              <a:rPr lang="en-US" dirty="0"/>
              <a:t>Why did the DOJ extend the deadline?</a:t>
            </a:r>
          </a:p>
        </p:txBody>
      </p:sp>
      <p:sp>
        <p:nvSpPr>
          <p:cNvPr id="4" name="Slide Number Placeholder 3">
            <a:extLst>
              <a:ext uri="{FF2B5EF4-FFF2-40B4-BE49-F238E27FC236}">
                <a16:creationId xmlns:a16="http://schemas.microsoft.com/office/drawing/2014/main" id="{4C6C6BF7-2BBC-B307-5CEA-E39FA40DEE20}"/>
              </a:ext>
            </a:extLst>
          </p:cNvPr>
          <p:cNvSpPr>
            <a:spLocks noGrp="1"/>
          </p:cNvSpPr>
          <p:nvPr>
            <p:ph type="sldNum" sz="quarter" idx="4"/>
          </p:nvPr>
        </p:nvSpPr>
        <p:spPr/>
        <p:txBody>
          <a:bodyPr/>
          <a:lstStyle/>
          <a:p>
            <a:fld id="{B7EB45DA-9A0D-DC49-8E02-F30A5DDC21C3}" type="slidenum">
              <a:rPr lang="en-US" smtClean="0"/>
              <a:t>8</a:t>
            </a:fld>
            <a:endParaRPr lang="en-US"/>
          </a:p>
        </p:txBody>
      </p:sp>
      <p:pic>
        <p:nvPicPr>
          <p:cNvPr id="6" name="Picture 5">
            <a:extLst>
              <a:ext uri="{FF2B5EF4-FFF2-40B4-BE49-F238E27FC236}">
                <a16:creationId xmlns:a16="http://schemas.microsoft.com/office/drawing/2014/main" id="{4A72B979-9E96-EE4B-67A2-7CBA50EFA1A5}"/>
              </a:ext>
            </a:extLst>
          </p:cNvPr>
          <p:cNvPicPr>
            <a:picLocks noChangeAspect="1"/>
          </p:cNvPicPr>
          <p:nvPr/>
        </p:nvPicPr>
        <p:blipFill>
          <a:blip r:embed="rId2"/>
          <a:stretch>
            <a:fillRect/>
          </a:stretch>
        </p:blipFill>
        <p:spPr>
          <a:xfrm>
            <a:off x="112735" y="966735"/>
            <a:ext cx="8425870" cy="3354744"/>
          </a:xfrm>
          <a:prstGeom prst="rect">
            <a:avLst/>
          </a:prstGeom>
          <a:ln>
            <a:solidFill>
              <a:schemeClr val="accent1"/>
            </a:solidFill>
          </a:ln>
        </p:spPr>
      </p:pic>
      <p:pic>
        <p:nvPicPr>
          <p:cNvPr id="5" name="Picture 4">
            <a:extLst>
              <a:ext uri="{FF2B5EF4-FFF2-40B4-BE49-F238E27FC236}">
                <a16:creationId xmlns:a16="http://schemas.microsoft.com/office/drawing/2014/main" id="{455C9916-A5A6-746B-909B-57433D514D74}"/>
              </a:ext>
            </a:extLst>
          </p:cNvPr>
          <p:cNvPicPr>
            <a:picLocks noChangeAspect="1"/>
          </p:cNvPicPr>
          <p:nvPr/>
        </p:nvPicPr>
        <p:blipFill>
          <a:blip r:embed="rId3"/>
          <a:stretch>
            <a:fillRect/>
          </a:stretch>
        </p:blipFill>
        <p:spPr>
          <a:xfrm>
            <a:off x="180600" y="2934438"/>
            <a:ext cx="8529939" cy="1963239"/>
          </a:xfrm>
          <a:prstGeom prst="rect">
            <a:avLst/>
          </a:prstGeom>
          <a:ln>
            <a:solidFill>
              <a:schemeClr val="accent1"/>
            </a:solidFill>
          </a:ln>
        </p:spPr>
      </p:pic>
      <p:pic>
        <p:nvPicPr>
          <p:cNvPr id="7" name="Picture 6">
            <a:extLst>
              <a:ext uri="{FF2B5EF4-FFF2-40B4-BE49-F238E27FC236}">
                <a16:creationId xmlns:a16="http://schemas.microsoft.com/office/drawing/2014/main" id="{19B56FA4-DBCA-2A79-0490-54D4F2D8F7D8}"/>
              </a:ext>
            </a:extLst>
          </p:cNvPr>
          <p:cNvPicPr>
            <a:picLocks noChangeAspect="1"/>
          </p:cNvPicPr>
          <p:nvPr/>
        </p:nvPicPr>
        <p:blipFill>
          <a:blip r:embed="rId4"/>
          <a:stretch>
            <a:fillRect/>
          </a:stretch>
        </p:blipFill>
        <p:spPr>
          <a:xfrm>
            <a:off x="587625" y="3606696"/>
            <a:ext cx="8281827" cy="2749654"/>
          </a:xfrm>
          <a:prstGeom prst="rect">
            <a:avLst/>
          </a:prstGeom>
          <a:ln>
            <a:solidFill>
              <a:schemeClr val="accent1"/>
            </a:solidFill>
          </a:ln>
        </p:spPr>
      </p:pic>
    </p:spTree>
    <p:extLst>
      <p:ext uri="{BB962C8B-B14F-4D97-AF65-F5344CB8AC3E}">
        <p14:creationId xmlns:p14="http://schemas.microsoft.com/office/powerpoint/2010/main" val="96664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A2D8D3-2D4E-927A-A219-FA5DC544CAB4}"/>
              </a:ext>
            </a:extLst>
          </p:cNvPr>
          <p:cNvSpPr>
            <a:spLocks noGrp="1"/>
          </p:cNvSpPr>
          <p:nvPr>
            <p:ph type="title"/>
          </p:nvPr>
        </p:nvSpPr>
        <p:spPr>
          <a:xfrm>
            <a:off x="685800" y="535107"/>
            <a:ext cx="7772400" cy="2575599"/>
          </a:xfrm>
        </p:spPr>
        <p:txBody>
          <a:bodyPr>
            <a:normAutofit/>
          </a:bodyPr>
          <a:lstStyle/>
          <a:p>
            <a:r>
              <a:rPr lang="en-US" b="1" dirty="0"/>
              <a:t>Question of this talk</a:t>
            </a:r>
            <a:br>
              <a:rPr lang="en-US" dirty="0"/>
            </a:br>
            <a:r>
              <a:rPr lang="en-US" dirty="0"/>
              <a:t>Is this a problem of technology or of engineering?</a:t>
            </a:r>
          </a:p>
        </p:txBody>
      </p:sp>
      <p:sp>
        <p:nvSpPr>
          <p:cNvPr id="4" name="Slide Number Placeholder 3">
            <a:extLst>
              <a:ext uri="{FF2B5EF4-FFF2-40B4-BE49-F238E27FC236}">
                <a16:creationId xmlns:a16="http://schemas.microsoft.com/office/drawing/2014/main" id="{A00AC69E-9BB8-F76D-A294-E6652716283D}"/>
              </a:ext>
            </a:extLst>
          </p:cNvPr>
          <p:cNvSpPr>
            <a:spLocks noGrp="1"/>
          </p:cNvSpPr>
          <p:nvPr>
            <p:ph type="sldNum" sz="quarter" idx="4"/>
          </p:nvPr>
        </p:nvSpPr>
        <p:spPr/>
        <p:txBody>
          <a:bodyPr/>
          <a:lstStyle/>
          <a:p>
            <a:fld id="{B7EB45DA-9A0D-DC49-8E02-F30A5DDC21C3}" type="slidenum">
              <a:rPr lang="en-US" smtClean="0"/>
              <a:t>9</a:t>
            </a:fld>
            <a:endParaRPr lang="en-US"/>
          </a:p>
        </p:txBody>
      </p:sp>
      <p:sp>
        <p:nvSpPr>
          <p:cNvPr id="5" name="TextBox 4">
            <a:extLst>
              <a:ext uri="{FF2B5EF4-FFF2-40B4-BE49-F238E27FC236}">
                <a16:creationId xmlns:a16="http://schemas.microsoft.com/office/drawing/2014/main" id="{9AD14ED5-AC94-455A-8F33-F4517349788E}"/>
              </a:ext>
            </a:extLst>
          </p:cNvPr>
          <p:cNvSpPr txBox="1"/>
          <p:nvPr/>
        </p:nvSpPr>
        <p:spPr>
          <a:xfrm>
            <a:off x="395023" y="2644170"/>
            <a:ext cx="8353954" cy="1569660"/>
          </a:xfrm>
          <a:prstGeom prst="rect">
            <a:avLst/>
          </a:prstGeom>
          <a:noFill/>
        </p:spPr>
        <p:txBody>
          <a:bodyPr wrap="none" rtlCol="0">
            <a:spAutoFit/>
          </a:bodyPr>
          <a:lstStyle/>
          <a:p>
            <a:pPr algn="ctr"/>
            <a:r>
              <a:rPr lang="en-US" dirty="0"/>
              <a:t>“[C]</a:t>
            </a:r>
            <a:r>
              <a:rPr lang="en-US" dirty="0" err="1"/>
              <a:t>urrent</a:t>
            </a:r>
            <a:r>
              <a:rPr lang="en-US" dirty="0"/>
              <a:t> technology…cannot reliably automate the remediation of STEM materials….”</a:t>
            </a:r>
          </a:p>
          <a:p>
            <a:pPr algn="ctr"/>
            <a:endParaRPr lang="en-US" dirty="0"/>
          </a:p>
          <a:p>
            <a:pPr algn="ctr"/>
            <a:r>
              <a:rPr lang="en-US" sz="2400" dirty="0"/>
              <a:t>vs.</a:t>
            </a:r>
          </a:p>
          <a:p>
            <a:pPr algn="ctr"/>
            <a:endParaRPr lang="en-US" dirty="0"/>
          </a:p>
          <a:p>
            <a:pPr algn="ctr"/>
            <a:r>
              <a:rPr lang="en-US" dirty="0"/>
              <a:t>“The…availability of technology did not meet the Department’s expectations”</a:t>
            </a:r>
          </a:p>
        </p:txBody>
      </p:sp>
      <p:sp>
        <p:nvSpPr>
          <p:cNvPr id="7" name="TextBox 6">
            <a:extLst>
              <a:ext uri="{FF2B5EF4-FFF2-40B4-BE49-F238E27FC236}">
                <a16:creationId xmlns:a16="http://schemas.microsoft.com/office/drawing/2014/main" id="{A6CF385B-CCC2-7A51-E95F-4DC24D80DE0C}"/>
              </a:ext>
            </a:extLst>
          </p:cNvPr>
          <p:cNvSpPr txBox="1"/>
          <p:nvPr/>
        </p:nvSpPr>
        <p:spPr>
          <a:xfrm>
            <a:off x="395023" y="4850437"/>
            <a:ext cx="8353954" cy="523220"/>
          </a:xfrm>
          <a:prstGeom prst="rect">
            <a:avLst/>
          </a:prstGeom>
          <a:noFill/>
        </p:spPr>
        <p:txBody>
          <a:bodyPr wrap="square" rtlCol="0">
            <a:spAutoFit/>
          </a:bodyPr>
          <a:lstStyle/>
          <a:p>
            <a:pPr algn="ctr"/>
            <a:r>
              <a:rPr lang="en-US" sz="2800" b="1" dirty="0"/>
              <a:t>Question: How does one answer such a question?  </a:t>
            </a:r>
          </a:p>
        </p:txBody>
      </p:sp>
    </p:spTree>
    <p:extLst>
      <p:ext uri="{BB962C8B-B14F-4D97-AF65-F5344CB8AC3E}">
        <p14:creationId xmlns:p14="http://schemas.microsoft.com/office/powerpoint/2010/main" val="51426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CECD-34AF-E8FD-08D1-4ADD8F1CCB8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7DEC3A-165B-70D2-E071-F72A6C72D0D9}"/>
              </a:ext>
            </a:extLst>
          </p:cNvPr>
          <p:cNvSpPr>
            <a:spLocks noGrp="1"/>
          </p:cNvSpPr>
          <p:nvPr>
            <p:ph type="title"/>
          </p:nvPr>
        </p:nvSpPr>
        <p:spPr/>
        <p:txBody>
          <a:bodyPr>
            <a:normAutofit/>
          </a:bodyPr>
          <a:lstStyle/>
          <a:p>
            <a:r>
              <a:rPr lang="en-US" dirty="0"/>
              <a:t>Answering the question</a:t>
            </a:r>
          </a:p>
        </p:txBody>
      </p:sp>
      <p:sp>
        <p:nvSpPr>
          <p:cNvPr id="4" name="Slide Number Placeholder 3">
            <a:extLst>
              <a:ext uri="{FF2B5EF4-FFF2-40B4-BE49-F238E27FC236}">
                <a16:creationId xmlns:a16="http://schemas.microsoft.com/office/drawing/2014/main" id="{F973AC5F-78F2-E517-269C-16DE202C2C3D}"/>
              </a:ext>
            </a:extLst>
          </p:cNvPr>
          <p:cNvSpPr>
            <a:spLocks noGrp="1"/>
          </p:cNvSpPr>
          <p:nvPr>
            <p:ph type="sldNum" sz="quarter" idx="4"/>
          </p:nvPr>
        </p:nvSpPr>
        <p:spPr/>
        <p:txBody>
          <a:bodyPr/>
          <a:lstStyle/>
          <a:p>
            <a:fld id="{B7EB45DA-9A0D-DC49-8E02-F30A5DDC21C3}" type="slidenum">
              <a:rPr lang="en-US" smtClean="0"/>
              <a:t>10</a:t>
            </a:fld>
            <a:endParaRPr lang="en-US"/>
          </a:p>
        </p:txBody>
      </p:sp>
    </p:spTree>
    <p:extLst>
      <p:ext uri="{BB962C8B-B14F-4D97-AF65-F5344CB8AC3E}">
        <p14:creationId xmlns:p14="http://schemas.microsoft.com/office/powerpoint/2010/main" val="2718798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9236951-979C-C772-A2C0-BB543B4605DC}"/>
              </a:ext>
            </a:extLst>
          </p:cNvPr>
          <p:cNvSpPr>
            <a:spLocks noGrp="1"/>
          </p:cNvSpPr>
          <p:nvPr>
            <p:ph idx="1"/>
          </p:nvPr>
        </p:nvSpPr>
        <p:spPr>
          <a:xfrm>
            <a:off x="277148" y="756603"/>
            <a:ext cx="8573736" cy="5637952"/>
          </a:xfrm>
        </p:spPr>
        <p:txBody>
          <a:bodyPr>
            <a:normAutofit fontScale="92500" lnSpcReduction="20000"/>
          </a:bodyPr>
          <a:lstStyle/>
          <a:p>
            <a:r>
              <a:rPr lang="en-US" dirty="0"/>
              <a:t>Q: What will an ADA Automator need to do?</a:t>
            </a:r>
          </a:p>
          <a:p>
            <a:pPr lvl="1"/>
            <a:r>
              <a:rPr lang="en-US" dirty="0"/>
              <a:t>(Please surface responses in Teams chat or at least ponder it yourself)</a:t>
            </a:r>
          </a:p>
          <a:p>
            <a:pPr lvl="1"/>
            <a:endParaRPr lang="en-US" dirty="0"/>
          </a:p>
          <a:p>
            <a:r>
              <a:rPr lang="en-US" dirty="0"/>
              <a:t>Input: A document</a:t>
            </a:r>
          </a:p>
          <a:p>
            <a:r>
              <a:rPr lang="en-US" dirty="0"/>
              <a:t>Output: A document with the following properties:</a:t>
            </a:r>
          </a:p>
          <a:p>
            <a:pPr lvl="1"/>
            <a:r>
              <a:rPr lang="en-US" dirty="0"/>
              <a:t>Is minimally changed for non-assistive use</a:t>
            </a:r>
          </a:p>
          <a:p>
            <a:pPr lvl="1"/>
            <a:r>
              <a:rPr lang="en-US" dirty="0"/>
              <a:t>Provides “substantially equivalent experience” using assistive technology (</a:t>
            </a:r>
            <a:r>
              <a:rPr lang="en-US" i="1" dirty="0"/>
              <a:t>WCAG 2.1 Level AA</a:t>
            </a:r>
            <a:r>
              <a:rPr lang="en-US" dirty="0"/>
              <a:t>)</a:t>
            </a:r>
          </a:p>
          <a:p>
            <a:pPr lvl="2"/>
            <a:r>
              <a:rPr lang="en-US" dirty="0"/>
              <a:t>Alt-text on figures</a:t>
            </a:r>
          </a:p>
          <a:p>
            <a:pPr lvl="2"/>
            <a:r>
              <a:rPr lang="en-US" dirty="0"/>
              <a:t>Reading order established</a:t>
            </a:r>
          </a:p>
          <a:p>
            <a:pPr lvl="2"/>
            <a:r>
              <a:rPr lang="en-US" dirty="0"/>
              <a:t>Scans transcribed</a:t>
            </a:r>
          </a:p>
          <a:p>
            <a:pPr lvl="2"/>
            <a:r>
              <a:rPr lang="en-US" dirty="0"/>
              <a:t>Media captioned</a:t>
            </a:r>
          </a:p>
          <a:p>
            <a:pPr lvl="2"/>
            <a:r>
              <a:rPr lang="en-US" dirty="0"/>
              <a:t>Fonts large enough and with enough color-contrast on their backgrounds</a:t>
            </a:r>
          </a:p>
          <a:p>
            <a:endParaRPr lang="en-US" dirty="0"/>
          </a:p>
          <a:p>
            <a:pPr marL="0" indent="0">
              <a:buNone/>
            </a:pPr>
            <a:r>
              <a:rPr lang="en-US" b="1" dirty="0"/>
              <a:t>Target formats:</a:t>
            </a:r>
          </a:p>
          <a:p>
            <a:r>
              <a:rPr lang="en-US" i="1"/>
              <a:t>Plaintext formats</a:t>
            </a:r>
            <a:r>
              <a:rPr lang="en-US"/>
              <a:t>: </a:t>
            </a:r>
            <a:r>
              <a:rPr lang="en-US" dirty="0"/>
              <a:t>LaTeX, </a:t>
            </a:r>
            <a:r>
              <a:rPr lang="en-US" dirty="0" err="1"/>
              <a:t>Typst</a:t>
            </a:r>
            <a:r>
              <a:rPr lang="en-US" dirty="0"/>
              <a:t>, HTML</a:t>
            </a:r>
          </a:p>
          <a:p>
            <a:r>
              <a:rPr lang="en-US" i="1" dirty="0"/>
              <a:t>Structured document formats</a:t>
            </a:r>
            <a:r>
              <a:rPr lang="en-US" dirty="0"/>
              <a:t>: Office, LibreOffice</a:t>
            </a:r>
          </a:p>
          <a:p>
            <a:r>
              <a:rPr lang="en-US" i="1" dirty="0"/>
              <a:t>The accumulated arbitrary madness of decades</a:t>
            </a:r>
            <a:r>
              <a:rPr lang="en-US" dirty="0"/>
              <a:t>: PDF</a:t>
            </a:r>
          </a:p>
        </p:txBody>
      </p:sp>
      <p:sp>
        <p:nvSpPr>
          <p:cNvPr id="4" name="Title 3">
            <a:extLst>
              <a:ext uri="{FF2B5EF4-FFF2-40B4-BE49-F238E27FC236}">
                <a16:creationId xmlns:a16="http://schemas.microsoft.com/office/drawing/2014/main" id="{7EA20AF2-8112-50CB-8B4F-DC4B574E1664}"/>
              </a:ext>
            </a:extLst>
          </p:cNvPr>
          <p:cNvSpPr>
            <a:spLocks noGrp="1"/>
          </p:cNvSpPr>
          <p:nvPr>
            <p:ph type="title"/>
          </p:nvPr>
        </p:nvSpPr>
        <p:spPr/>
        <p:txBody>
          <a:bodyPr>
            <a:normAutofit fontScale="90000"/>
          </a:bodyPr>
          <a:lstStyle/>
          <a:p>
            <a:r>
              <a:rPr lang="en-US" dirty="0"/>
              <a:t>Scope of work</a:t>
            </a:r>
          </a:p>
        </p:txBody>
      </p:sp>
      <p:sp>
        <p:nvSpPr>
          <p:cNvPr id="3" name="Slide Number Placeholder 2">
            <a:extLst>
              <a:ext uri="{FF2B5EF4-FFF2-40B4-BE49-F238E27FC236}">
                <a16:creationId xmlns:a16="http://schemas.microsoft.com/office/drawing/2014/main" id="{1B34B351-C52C-C9FB-84DE-2A75D0B0A289}"/>
              </a:ext>
            </a:extLst>
          </p:cNvPr>
          <p:cNvSpPr>
            <a:spLocks noGrp="1"/>
          </p:cNvSpPr>
          <p:nvPr>
            <p:ph type="sldNum" sz="quarter" idx="4"/>
          </p:nvPr>
        </p:nvSpPr>
        <p:spPr/>
        <p:txBody>
          <a:bodyPr/>
          <a:lstStyle/>
          <a:p>
            <a:fld id="{B7EB45DA-9A0D-DC49-8E02-F30A5DDC21C3}" type="slidenum">
              <a:rPr lang="en-US" smtClean="0"/>
              <a:t>11</a:t>
            </a:fld>
            <a:endParaRPr lang="en-US"/>
          </a:p>
        </p:txBody>
      </p:sp>
      <p:sp>
        <p:nvSpPr>
          <p:cNvPr id="6" name="TextBox 5">
            <a:extLst>
              <a:ext uri="{FF2B5EF4-FFF2-40B4-BE49-F238E27FC236}">
                <a16:creationId xmlns:a16="http://schemas.microsoft.com/office/drawing/2014/main" id="{AB238BA0-8E57-DA01-AAD7-D2C5179A7A81}"/>
              </a:ext>
            </a:extLst>
          </p:cNvPr>
          <p:cNvSpPr txBox="1"/>
          <p:nvPr/>
        </p:nvSpPr>
        <p:spPr>
          <a:xfrm>
            <a:off x="-85725" y="6121980"/>
            <a:ext cx="9315450" cy="646331"/>
          </a:xfrm>
          <a:prstGeom prst="rect">
            <a:avLst/>
          </a:prstGeom>
          <a:solidFill>
            <a:schemeClr val="accent4"/>
          </a:solidFill>
        </p:spPr>
        <p:txBody>
          <a:bodyPr wrap="square" rtlCol="0">
            <a:spAutoFit/>
          </a:bodyPr>
          <a:lstStyle/>
          <a:p>
            <a:r>
              <a:rPr lang="en-US" dirty="0"/>
              <a:t>Clearly we can ask our favorite LLM to do most of these things for us.</a:t>
            </a:r>
          </a:p>
          <a:p>
            <a:r>
              <a:rPr lang="en-US" dirty="0"/>
              <a:t>The engineering challenge: (1) Can we rely on its answers, and (2) Can we cheaply build a system?</a:t>
            </a:r>
          </a:p>
        </p:txBody>
      </p:sp>
    </p:spTree>
    <p:extLst>
      <p:ext uri="{BB962C8B-B14F-4D97-AF65-F5344CB8AC3E}">
        <p14:creationId xmlns:p14="http://schemas.microsoft.com/office/powerpoint/2010/main" val="46873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57E5B-32D5-D3F4-691C-69B81A5A7D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87B7BE-726F-C1F3-6334-098E32AD8E11}"/>
              </a:ext>
            </a:extLst>
          </p:cNvPr>
          <p:cNvSpPr>
            <a:spLocks noGrp="1"/>
          </p:cNvSpPr>
          <p:nvPr>
            <p:ph type="title"/>
          </p:nvPr>
        </p:nvSpPr>
        <p:spPr>
          <a:xfrm>
            <a:off x="-104931" y="136525"/>
            <a:ext cx="9952532" cy="638175"/>
          </a:xfrm>
        </p:spPr>
        <p:txBody>
          <a:bodyPr>
            <a:noAutofit/>
          </a:bodyPr>
          <a:lstStyle/>
          <a:p>
            <a:r>
              <a:rPr lang="en-US" sz="2200" dirty="0"/>
              <a:t>With GenAI, can one engineer/SME build a remediation system?</a:t>
            </a:r>
          </a:p>
        </p:txBody>
      </p:sp>
      <p:sp>
        <p:nvSpPr>
          <p:cNvPr id="4" name="Slide Number Placeholder 3">
            <a:extLst>
              <a:ext uri="{FF2B5EF4-FFF2-40B4-BE49-F238E27FC236}">
                <a16:creationId xmlns:a16="http://schemas.microsoft.com/office/drawing/2014/main" id="{D6BB0A95-F9A8-15B9-AD92-5FD9AE278046}"/>
              </a:ext>
            </a:extLst>
          </p:cNvPr>
          <p:cNvSpPr>
            <a:spLocks noGrp="1"/>
          </p:cNvSpPr>
          <p:nvPr>
            <p:ph type="sldNum" sz="quarter" idx="4"/>
          </p:nvPr>
        </p:nvSpPr>
        <p:spPr/>
        <p:txBody>
          <a:bodyPr/>
          <a:lstStyle/>
          <a:p>
            <a:fld id="{B7EB45DA-9A0D-DC49-8E02-F30A5DDC21C3}" type="slidenum">
              <a:rPr lang="en-US" smtClean="0"/>
              <a:t>12</a:t>
            </a:fld>
            <a:endParaRPr lang="en-US"/>
          </a:p>
        </p:txBody>
      </p:sp>
      <p:pic>
        <p:nvPicPr>
          <p:cNvPr id="5" name="Picture 4">
            <a:extLst>
              <a:ext uri="{FF2B5EF4-FFF2-40B4-BE49-F238E27FC236}">
                <a16:creationId xmlns:a16="http://schemas.microsoft.com/office/drawing/2014/main" id="{5654CBBD-95B7-0227-4CCB-92B892904607}"/>
              </a:ext>
            </a:extLst>
          </p:cNvPr>
          <p:cNvPicPr>
            <a:picLocks noChangeAspect="1"/>
          </p:cNvPicPr>
          <p:nvPr/>
        </p:nvPicPr>
        <p:blipFill>
          <a:blip r:embed="rId3"/>
          <a:stretch>
            <a:fillRect/>
          </a:stretch>
        </p:blipFill>
        <p:spPr>
          <a:xfrm>
            <a:off x="795328" y="926623"/>
            <a:ext cx="7525682" cy="3796141"/>
          </a:xfrm>
          <a:prstGeom prst="rect">
            <a:avLst/>
          </a:prstGeom>
        </p:spPr>
      </p:pic>
      <p:pic>
        <p:nvPicPr>
          <p:cNvPr id="7" name="Picture 6">
            <a:extLst>
              <a:ext uri="{FF2B5EF4-FFF2-40B4-BE49-F238E27FC236}">
                <a16:creationId xmlns:a16="http://schemas.microsoft.com/office/drawing/2014/main" id="{470DB972-1589-EADE-687C-FAF5FED9B03F}"/>
              </a:ext>
            </a:extLst>
          </p:cNvPr>
          <p:cNvPicPr>
            <a:picLocks noChangeAspect="1"/>
          </p:cNvPicPr>
          <p:nvPr/>
        </p:nvPicPr>
        <p:blipFill>
          <a:blip r:embed="rId4"/>
          <a:stretch>
            <a:fillRect/>
          </a:stretch>
        </p:blipFill>
        <p:spPr>
          <a:xfrm>
            <a:off x="90538" y="2515093"/>
            <a:ext cx="8424812" cy="1808808"/>
          </a:xfrm>
          <a:prstGeom prst="rect">
            <a:avLst/>
          </a:prstGeom>
          <a:ln>
            <a:solidFill>
              <a:schemeClr val="accent1"/>
            </a:solidFill>
          </a:ln>
        </p:spPr>
      </p:pic>
      <p:pic>
        <p:nvPicPr>
          <p:cNvPr id="8" name="Picture 7">
            <a:extLst>
              <a:ext uri="{FF2B5EF4-FFF2-40B4-BE49-F238E27FC236}">
                <a16:creationId xmlns:a16="http://schemas.microsoft.com/office/drawing/2014/main" id="{7CD32310-9876-8657-F847-6B2425BED2F7}"/>
              </a:ext>
            </a:extLst>
          </p:cNvPr>
          <p:cNvPicPr>
            <a:picLocks noChangeAspect="1"/>
          </p:cNvPicPr>
          <p:nvPr/>
        </p:nvPicPr>
        <p:blipFill>
          <a:blip r:embed="rId5"/>
          <a:stretch>
            <a:fillRect/>
          </a:stretch>
        </p:blipFill>
        <p:spPr>
          <a:xfrm>
            <a:off x="463950" y="3039710"/>
            <a:ext cx="8424809" cy="1808808"/>
          </a:xfrm>
          <a:prstGeom prst="rect">
            <a:avLst/>
          </a:prstGeom>
          <a:ln>
            <a:solidFill>
              <a:schemeClr val="accent1"/>
            </a:solidFill>
          </a:ln>
        </p:spPr>
      </p:pic>
      <p:pic>
        <p:nvPicPr>
          <p:cNvPr id="9" name="Picture 8">
            <a:extLst>
              <a:ext uri="{FF2B5EF4-FFF2-40B4-BE49-F238E27FC236}">
                <a16:creationId xmlns:a16="http://schemas.microsoft.com/office/drawing/2014/main" id="{B2B26D8B-3F7F-5E5B-706B-1133805BD840}"/>
              </a:ext>
            </a:extLst>
          </p:cNvPr>
          <p:cNvPicPr>
            <a:picLocks noChangeAspect="1"/>
          </p:cNvPicPr>
          <p:nvPr/>
        </p:nvPicPr>
        <p:blipFill>
          <a:blip r:embed="rId6"/>
          <a:stretch>
            <a:fillRect/>
          </a:stretch>
        </p:blipFill>
        <p:spPr>
          <a:xfrm>
            <a:off x="719192" y="3558354"/>
            <a:ext cx="8424808" cy="1808808"/>
          </a:xfrm>
          <a:prstGeom prst="rect">
            <a:avLst/>
          </a:prstGeom>
          <a:ln>
            <a:solidFill>
              <a:schemeClr val="accent1"/>
            </a:solidFill>
          </a:ln>
        </p:spPr>
      </p:pic>
      <p:grpSp>
        <p:nvGrpSpPr>
          <p:cNvPr id="13" name="Group 12">
            <a:extLst>
              <a:ext uri="{FF2B5EF4-FFF2-40B4-BE49-F238E27FC236}">
                <a16:creationId xmlns:a16="http://schemas.microsoft.com/office/drawing/2014/main" id="{0FFCB399-82BF-D44F-9B54-0F5517FD4461}"/>
              </a:ext>
            </a:extLst>
          </p:cNvPr>
          <p:cNvGrpSpPr/>
          <p:nvPr/>
        </p:nvGrpSpPr>
        <p:grpSpPr>
          <a:xfrm>
            <a:off x="1808426" y="5965274"/>
            <a:ext cx="6125817" cy="720090"/>
            <a:chOff x="685800" y="3068955"/>
            <a:chExt cx="6125817" cy="720090"/>
          </a:xfrm>
        </p:grpSpPr>
        <p:pic>
          <p:nvPicPr>
            <p:cNvPr id="12" name="Picture 11">
              <a:extLst>
                <a:ext uri="{FF2B5EF4-FFF2-40B4-BE49-F238E27FC236}">
                  <a16:creationId xmlns:a16="http://schemas.microsoft.com/office/drawing/2014/main" id="{8D0711F4-C13E-A615-D659-1101B4CD2E7F}"/>
                </a:ext>
              </a:extLst>
            </p:cNvPr>
            <p:cNvPicPr>
              <a:picLocks noChangeAspect="1"/>
            </p:cNvPicPr>
            <p:nvPr/>
          </p:nvPicPr>
          <p:blipFill>
            <a:blip r:embed="rId7"/>
            <a:srcRect r="21186"/>
            <a:stretch>
              <a:fillRect/>
            </a:stretch>
          </p:blipFill>
          <p:spPr>
            <a:xfrm>
              <a:off x="685800" y="3068955"/>
              <a:ext cx="6125817" cy="720090"/>
            </a:xfrm>
            <a:prstGeom prst="rect">
              <a:avLst/>
            </a:prstGeom>
          </p:spPr>
        </p:pic>
        <p:pic>
          <p:nvPicPr>
            <p:cNvPr id="11" name="Picture 10">
              <a:extLst>
                <a:ext uri="{FF2B5EF4-FFF2-40B4-BE49-F238E27FC236}">
                  <a16:creationId xmlns:a16="http://schemas.microsoft.com/office/drawing/2014/main" id="{41D39BA9-84A1-B804-D86A-BE95D1C89930}"/>
                </a:ext>
              </a:extLst>
            </p:cNvPr>
            <p:cNvPicPr>
              <a:picLocks noChangeAspect="1"/>
            </p:cNvPicPr>
            <p:nvPr/>
          </p:nvPicPr>
          <p:blipFill>
            <a:blip r:embed="rId8"/>
            <a:srcRect t="35601" b="15678"/>
            <a:stretch>
              <a:fillRect/>
            </a:stretch>
          </p:blipFill>
          <p:spPr>
            <a:xfrm>
              <a:off x="6063515" y="3551998"/>
              <a:ext cx="635000" cy="204190"/>
            </a:xfrm>
            <a:prstGeom prst="rect">
              <a:avLst/>
            </a:prstGeom>
          </p:spPr>
        </p:pic>
      </p:grpSp>
      <p:sp>
        <p:nvSpPr>
          <p:cNvPr id="14" name="TextBox 13">
            <a:extLst>
              <a:ext uri="{FF2B5EF4-FFF2-40B4-BE49-F238E27FC236}">
                <a16:creationId xmlns:a16="http://schemas.microsoft.com/office/drawing/2014/main" id="{DB35B0A9-E800-099A-D157-72E9268C51A1}"/>
              </a:ext>
            </a:extLst>
          </p:cNvPr>
          <p:cNvSpPr txBox="1"/>
          <p:nvPr/>
        </p:nvSpPr>
        <p:spPr>
          <a:xfrm>
            <a:off x="681194" y="6018846"/>
            <a:ext cx="1127232" cy="584775"/>
          </a:xfrm>
          <a:prstGeom prst="rect">
            <a:avLst/>
          </a:prstGeom>
          <a:noFill/>
        </p:spPr>
        <p:txBody>
          <a:bodyPr wrap="none" rtlCol="0">
            <a:spAutoFit/>
          </a:bodyPr>
          <a:lstStyle/>
          <a:p>
            <a:r>
              <a:rPr lang="en-US" sz="3200" b="1" dirty="0"/>
              <a:t>$0.11</a:t>
            </a:r>
          </a:p>
        </p:txBody>
      </p:sp>
      <p:grpSp>
        <p:nvGrpSpPr>
          <p:cNvPr id="16" name="Group 15">
            <a:extLst>
              <a:ext uri="{FF2B5EF4-FFF2-40B4-BE49-F238E27FC236}">
                <a16:creationId xmlns:a16="http://schemas.microsoft.com/office/drawing/2014/main" id="{781A8C2B-BA55-5C67-5A02-9E3B3202501E}"/>
              </a:ext>
            </a:extLst>
          </p:cNvPr>
          <p:cNvGrpSpPr/>
          <p:nvPr/>
        </p:nvGrpSpPr>
        <p:grpSpPr>
          <a:xfrm>
            <a:off x="655584" y="4063108"/>
            <a:ext cx="8041539" cy="1783197"/>
            <a:chOff x="1327149" y="3861470"/>
            <a:chExt cx="8041539" cy="1783197"/>
          </a:xfrm>
        </p:grpSpPr>
        <p:pic>
          <p:nvPicPr>
            <p:cNvPr id="10" name="Picture 9">
              <a:extLst>
                <a:ext uri="{FF2B5EF4-FFF2-40B4-BE49-F238E27FC236}">
                  <a16:creationId xmlns:a16="http://schemas.microsoft.com/office/drawing/2014/main" id="{5823766E-FDD1-46E4-313C-46C8DCF17F65}"/>
                </a:ext>
              </a:extLst>
            </p:cNvPr>
            <p:cNvPicPr>
              <a:picLocks noChangeAspect="1"/>
            </p:cNvPicPr>
            <p:nvPr/>
          </p:nvPicPr>
          <p:blipFill>
            <a:blip r:embed="rId9"/>
            <a:srcRect b="53620"/>
            <a:stretch>
              <a:fillRect/>
            </a:stretch>
          </p:blipFill>
          <p:spPr>
            <a:xfrm>
              <a:off x="1327149" y="3861470"/>
              <a:ext cx="8039791" cy="948633"/>
            </a:xfrm>
            <a:prstGeom prst="rect">
              <a:avLst/>
            </a:prstGeom>
          </p:spPr>
        </p:pic>
        <p:pic>
          <p:nvPicPr>
            <p:cNvPr id="15" name="Picture 14">
              <a:extLst>
                <a:ext uri="{FF2B5EF4-FFF2-40B4-BE49-F238E27FC236}">
                  <a16:creationId xmlns:a16="http://schemas.microsoft.com/office/drawing/2014/main" id="{AD70C4A5-DB12-9441-8DF1-7F83EC88DEFB}"/>
                </a:ext>
              </a:extLst>
            </p:cNvPr>
            <p:cNvPicPr>
              <a:picLocks noChangeAspect="1"/>
            </p:cNvPicPr>
            <p:nvPr/>
          </p:nvPicPr>
          <p:blipFill>
            <a:blip r:embed="rId9"/>
            <a:srcRect t="56512"/>
            <a:stretch>
              <a:fillRect/>
            </a:stretch>
          </p:blipFill>
          <p:spPr>
            <a:xfrm>
              <a:off x="1328897" y="4755173"/>
              <a:ext cx="8039791" cy="889494"/>
            </a:xfrm>
            <a:prstGeom prst="rect">
              <a:avLst/>
            </a:prstGeom>
          </p:spPr>
        </p:pic>
      </p:grpSp>
    </p:spTree>
    <p:extLst>
      <p:ext uri="{BB962C8B-B14F-4D97-AF65-F5344CB8AC3E}">
        <p14:creationId xmlns:p14="http://schemas.microsoft.com/office/powerpoint/2010/main" val="259815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9" presetClass="emph" presetSubtype="0" nodeType="withEffect">
                                  <p:stCondLst>
                                    <p:cond delay="0"/>
                                  </p:stCondLst>
                                  <p:childTnLst>
                                    <p:set>
                                      <p:cBhvr>
                                        <p:cTn id="8" dur="indefinite"/>
                                        <p:tgtEl>
                                          <p:spTgt spid="5"/>
                                        </p:tgtEl>
                                        <p:attrNameLst>
                                          <p:attrName>style.opacity</p:attrName>
                                        </p:attrNameLst>
                                      </p:cBhvr>
                                      <p:to>
                                        <p:strVal val="0.5"/>
                                      </p:to>
                                    </p:set>
                                    <p:animEffect filter="image" prLst="opacity: 0.5">
                                      <p:cBhvr rctx="IE">
                                        <p:cTn id="9" dur="indefinite"/>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xit" presetSubtype="0" fill="hold" nodeType="withEffect">
                                  <p:stCondLst>
                                    <p:cond delay="0"/>
                                  </p:stCondLst>
                                  <p:childTnLst>
                                    <p:set>
                                      <p:cBhvr>
                                        <p:cTn id="21" dur="1" fill="hold">
                                          <p:stCondLst>
                                            <p:cond delay="0"/>
                                          </p:stCondLst>
                                        </p:cTn>
                                        <p:tgtEl>
                                          <p:spTgt spid="8"/>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87B5-0773-53E8-0EE2-8FE283C1E5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F58509-308B-BEA5-19E0-FDBBA52B14AE}"/>
              </a:ext>
            </a:extLst>
          </p:cNvPr>
          <p:cNvSpPr>
            <a:spLocks noGrp="1"/>
          </p:cNvSpPr>
          <p:nvPr>
            <p:ph type="title"/>
          </p:nvPr>
        </p:nvSpPr>
        <p:spPr>
          <a:xfrm>
            <a:off x="152568" y="136525"/>
            <a:ext cx="7587916" cy="638175"/>
          </a:xfrm>
        </p:spPr>
        <p:txBody>
          <a:bodyPr>
            <a:noAutofit/>
          </a:bodyPr>
          <a:lstStyle/>
          <a:p>
            <a:r>
              <a:rPr lang="en-US" sz="2200" dirty="0" err="1"/>
              <a:t>DocAble</a:t>
            </a:r>
            <a:r>
              <a:rPr lang="en-US" sz="2200" dirty="0"/>
              <a:t>: And don’t forget an editor!</a:t>
            </a:r>
          </a:p>
        </p:txBody>
      </p:sp>
      <p:sp>
        <p:nvSpPr>
          <p:cNvPr id="4" name="Slide Number Placeholder 3">
            <a:extLst>
              <a:ext uri="{FF2B5EF4-FFF2-40B4-BE49-F238E27FC236}">
                <a16:creationId xmlns:a16="http://schemas.microsoft.com/office/drawing/2014/main" id="{FF61F0E5-1486-EED5-5EBE-7F621FAA6150}"/>
              </a:ext>
            </a:extLst>
          </p:cNvPr>
          <p:cNvSpPr>
            <a:spLocks noGrp="1"/>
          </p:cNvSpPr>
          <p:nvPr>
            <p:ph type="sldNum" sz="quarter" idx="4"/>
          </p:nvPr>
        </p:nvSpPr>
        <p:spPr/>
        <p:txBody>
          <a:bodyPr/>
          <a:lstStyle/>
          <a:p>
            <a:fld id="{B7EB45DA-9A0D-DC49-8E02-F30A5DDC21C3}" type="slidenum">
              <a:rPr lang="en-US" smtClean="0"/>
              <a:t>13</a:t>
            </a:fld>
            <a:endParaRPr lang="en-US"/>
          </a:p>
        </p:txBody>
      </p:sp>
      <p:pic>
        <p:nvPicPr>
          <p:cNvPr id="6" name="Picture 5">
            <a:extLst>
              <a:ext uri="{FF2B5EF4-FFF2-40B4-BE49-F238E27FC236}">
                <a16:creationId xmlns:a16="http://schemas.microsoft.com/office/drawing/2014/main" id="{5A110458-F4E0-80F5-8B2B-3A420C10E3AF}"/>
              </a:ext>
            </a:extLst>
          </p:cNvPr>
          <p:cNvPicPr>
            <a:picLocks noChangeAspect="1"/>
          </p:cNvPicPr>
          <p:nvPr/>
        </p:nvPicPr>
        <p:blipFill>
          <a:blip r:embed="rId3"/>
          <a:stretch>
            <a:fillRect/>
          </a:stretch>
        </p:blipFill>
        <p:spPr>
          <a:xfrm>
            <a:off x="152568" y="1311807"/>
            <a:ext cx="8838864" cy="4270846"/>
          </a:xfrm>
          <a:prstGeom prst="rect">
            <a:avLst/>
          </a:prstGeom>
        </p:spPr>
      </p:pic>
    </p:spTree>
    <p:extLst>
      <p:ext uri="{BB962C8B-B14F-4D97-AF65-F5344CB8AC3E}">
        <p14:creationId xmlns:p14="http://schemas.microsoft.com/office/powerpoint/2010/main" val="2176273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A86951-5807-F174-2611-58A28FFA6D7C}"/>
              </a:ext>
            </a:extLst>
          </p:cNvPr>
          <p:cNvSpPr>
            <a:spLocks noGrp="1"/>
          </p:cNvSpPr>
          <p:nvPr>
            <p:ph type="title"/>
          </p:nvPr>
        </p:nvSpPr>
        <p:spPr>
          <a:xfrm>
            <a:off x="277148" y="0"/>
            <a:ext cx="8043862" cy="756603"/>
          </a:xfrm>
        </p:spPr>
        <p:txBody>
          <a:bodyPr>
            <a:noAutofit/>
          </a:bodyPr>
          <a:lstStyle/>
          <a:p>
            <a:pPr>
              <a:tabLst>
                <a:tab pos="962025" algn="l"/>
              </a:tabLst>
            </a:pPr>
            <a:r>
              <a:rPr lang="en-US" sz="3200" dirty="0"/>
              <a:t>		Engineering process</a:t>
            </a:r>
            <a:br>
              <a:rPr lang="en-US" sz="3200" dirty="0"/>
            </a:br>
            <a:endParaRPr lang="en-US" sz="3200" dirty="0"/>
          </a:p>
        </p:txBody>
      </p:sp>
      <p:sp>
        <p:nvSpPr>
          <p:cNvPr id="4" name="Slide Number Placeholder 3">
            <a:extLst>
              <a:ext uri="{FF2B5EF4-FFF2-40B4-BE49-F238E27FC236}">
                <a16:creationId xmlns:a16="http://schemas.microsoft.com/office/drawing/2014/main" id="{36D26CB2-B3EE-5687-68AA-FF53C9180855}"/>
              </a:ext>
            </a:extLst>
          </p:cNvPr>
          <p:cNvSpPr>
            <a:spLocks noGrp="1"/>
          </p:cNvSpPr>
          <p:nvPr>
            <p:ph type="sldNum" sz="quarter" idx="4"/>
          </p:nvPr>
        </p:nvSpPr>
        <p:spPr/>
        <p:txBody>
          <a:bodyPr/>
          <a:lstStyle/>
          <a:p>
            <a:fld id="{B7EB45DA-9A0D-DC49-8E02-F30A5DDC21C3}" type="slidenum">
              <a:rPr lang="en-US" smtClean="0"/>
              <a:t>14</a:t>
            </a:fld>
            <a:endParaRPr lang="en-US"/>
          </a:p>
        </p:txBody>
      </p:sp>
      <p:pic>
        <p:nvPicPr>
          <p:cNvPr id="5" name="Picture 4">
            <a:extLst>
              <a:ext uri="{FF2B5EF4-FFF2-40B4-BE49-F238E27FC236}">
                <a16:creationId xmlns:a16="http://schemas.microsoft.com/office/drawing/2014/main" id="{5D6EF8B4-137D-88FB-5CED-10F4E592B9D1}"/>
              </a:ext>
            </a:extLst>
          </p:cNvPr>
          <p:cNvPicPr>
            <a:picLocks noChangeAspect="1"/>
          </p:cNvPicPr>
          <p:nvPr/>
        </p:nvPicPr>
        <p:blipFill>
          <a:blip r:embed="rId2"/>
          <a:srcRect t="1983" r="21569"/>
          <a:stretch>
            <a:fillRect/>
          </a:stretch>
        </p:blipFill>
        <p:spPr>
          <a:xfrm>
            <a:off x="2173928" y="875031"/>
            <a:ext cx="6904756" cy="5853381"/>
          </a:xfrm>
          <a:prstGeom prst="rect">
            <a:avLst/>
          </a:prstGeom>
        </p:spPr>
      </p:pic>
      <p:pic>
        <p:nvPicPr>
          <p:cNvPr id="8" name="Picture 7">
            <a:extLst>
              <a:ext uri="{FF2B5EF4-FFF2-40B4-BE49-F238E27FC236}">
                <a16:creationId xmlns:a16="http://schemas.microsoft.com/office/drawing/2014/main" id="{0360E4CB-BDAE-9B01-9382-57FD615F27DE}"/>
              </a:ext>
            </a:extLst>
          </p:cNvPr>
          <p:cNvPicPr>
            <a:picLocks noChangeAspect="1"/>
          </p:cNvPicPr>
          <p:nvPr/>
        </p:nvPicPr>
        <p:blipFill>
          <a:blip r:embed="rId3"/>
          <a:stretch>
            <a:fillRect/>
          </a:stretch>
        </p:blipFill>
        <p:spPr>
          <a:xfrm>
            <a:off x="0" y="0"/>
            <a:ext cx="2016087" cy="6858000"/>
          </a:xfrm>
          <a:prstGeom prst="rect">
            <a:avLst/>
          </a:prstGeom>
        </p:spPr>
      </p:pic>
      <p:sp>
        <p:nvSpPr>
          <p:cNvPr id="9" name="Title 2">
            <a:extLst>
              <a:ext uri="{FF2B5EF4-FFF2-40B4-BE49-F238E27FC236}">
                <a16:creationId xmlns:a16="http://schemas.microsoft.com/office/drawing/2014/main" id="{702E7B7A-0493-9E3B-A9CA-41E4C7FA4650}"/>
              </a:ext>
            </a:extLst>
          </p:cNvPr>
          <p:cNvSpPr txBox="1">
            <a:spLocks/>
          </p:cNvSpPr>
          <p:nvPr/>
        </p:nvSpPr>
        <p:spPr bwMode="black">
          <a:xfrm>
            <a:off x="429548" y="152400"/>
            <a:ext cx="8043862" cy="756603"/>
          </a:xfrm>
          <a:prstGeom prst="rect">
            <a:avLst/>
          </a:prstGeom>
          <a:noFill/>
          <a:ln w="31750" cap="sq">
            <a:noFill/>
            <a:miter lim="800000"/>
          </a:ln>
        </p:spPr>
        <p:txBody>
          <a:bodyPr vert="horz" lIns="182880" tIns="182880" rIns="182880" bIns="182880" rtlCol="0" anchor="ctr">
            <a:noAutofit/>
          </a:bodyPr>
          <a:lstStyle>
            <a:lvl1pPr algn="l" defTabSz="914400" rtl="0" eaLnBrk="1" latinLnBrk="0" hangingPunct="1">
              <a:lnSpc>
                <a:spcPct val="90000"/>
              </a:lnSpc>
              <a:spcBef>
                <a:spcPct val="0"/>
              </a:spcBef>
              <a:buNone/>
              <a:defRPr sz="2600" b="0" kern="1200" cap="none" spc="200" baseline="0">
                <a:solidFill>
                  <a:srgbClr val="262626"/>
                </a:solidFill>
                <a:latin typeface="Calibri" panose="020F0502020204030204" pitchFamily="34" charset="0"/>
                <a:ea typeface="+mj-ea"/>
                <a:cs typeface="Calibri" panose="020F0502020204030204" pitchFamily="34" charset="0"/>
              </a:defRPr>
            </a:lvl1pPr>
          </a:lstStyle>
          <a:p>
            <a:pPr>
              <a:tabLst>
                <a:tab pos="962025" algn="l"/>
              </a:tabLst>
            </a:pPr>
            <a:r>
              <a:rPr lang="en-US" sz="3200" dirty="0"/>
              <a:t>				Growth of autonomy</a:t>
            </a:r>
          </a:p>
        </p:txBody>
      </p:sp>
    </p:spTree>
    <p:extLst>
      <p:ext uri="{BB962C8B-B14F-4D97-AF65-F5344CB8AC3E}">
        <p14:creationId xmlns:p14="http://schemas.microsoft.com/office/powerpoint/2010/main" val="6147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3"/>
                                        </p:tgtEl>
                                        <p:attrNameLst>
                                          <p:attrName>style.opacity</p:attrName>
                                        </p:attrNameLst>
                                      </p:cBhvr>
                                      <p:to>
                                        <p:strVal val="0.5"/>
                                      </p:to>
                                    </p:set>
                                    <p:animEffect filter="image" prLst="opacity: 0.5">
                                      <p:cBhvr rctx="IE">
                                        <p:cTn id="11" dur="indefinite"/>
                                        <p:tgtEl>
                                          <p:spTgt spid="3"/>
                                        </p:tgtEl>
                                      </p:cBhvr>
                                    </p:animEffect>
                                  </p:childTnLst>
                                </p:cTn>
                              </p:par>
                              <p:par>
                                <p:cTn id="12" presetID="9" presetClass="emph" presetSubtype="0" nodeType="withEffect">
                                  <p:stCondLst>
                                    <p:cond delay="0"/>
                                  </p:stCondLst>
                                  <p:childTnLst>
                                    <p:set>
                                      <p:cBhvr>
                                        <p:cTn id="13" dur="indefinite"/>
                                        <p:tgtEl>
                                          <p:spTgt spid="8"/>
                                        </p:tgtEl>
                                        <p:attrNameLst>
                                          <p:attrName>style.opacity</p:attrName>
                                        </p:attrNameLst>
                                      </p:cBhvr>
                                      <p:to>
                                        <p:strVal val="0.5"/>
                                      </p:to>
                                    </p:set>
                                    <p:animEffect filter="image" prLst="opacity: 0.5">
                                      <p:cBhvr rctx="IE">
                                        <p:cTn id="14" dur="indefinite"/>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85F00-C513-DAA6-FE44-7944FEB3C9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B82A7F-8ECC-69C3-2A73-AC65D01286CE}"/>
              </a:ext>
            </a:extLst>
          </p:cNvPr>
          <p:cNvSpPr>
            <a:spLocks noGrp="1"/>
          </p:cNvSpPr>
          <p:nvPr>
            <p:ph idx="1"/>
          </p:nvPr>
        </p:nvSpPr>
        <p:spPr>
          <a:ln>
            <a:solidFill>
              <a:schemeClr val="bg1"/>
            </a:solidFill>
          </a:ln>
        </p:spPr>
        <p:txBody>
          <a:bodyPr/>
          <a:lstStyle/>
          <a:p>
            <a:pPr marL="342900" indent="-342900">
              <a:buFont typeface="+mj-lt"/>
              <a:buAutoNum type="arabicPeriod"/>
            </a:pPr>
            <a:r>
              <a:rPr lang="en-US" dirty="0">
                <a:solidFill>
                  <a:schemeClr val="accent6">
                    <a:lumMod val="40000"/>
                    <a:lumOff val="60000"/>
                  </a:schemeClr>
                </a:solidFill>
              </a:rPr>
              <a:t>Who am I and why am I here</a:t>
            </a:r>
          </a:p>
          <a:p>
            <a:pPr marL="342900" indent="-342900">
              <a:buFont typeface="+mj-lt"/>
              <a:buAutoNum type="arabicPeriod"/>
            </a:pPr>
            <a:r>
              <a:rPr lang="en-US" b="1" dirty="0">
                <a:solidFill>
                  <a:schemeClr val="bg1"/>
                </a:solidFill>
              </a:rPr>
              <a:t>The substrate: Engineering shifts in response to technology change</a:t>
            </a:r>
          </a:p>
          <a:p>
            <a:pPr marL="342900" indent="-342900">
              <a:buFont typeface="+mj-lt"/>
              <a:buAutoNum type="arabicPeriod"/>
            </a:pPr>
            <a:r>
              <a:rPr lang="en-US" dirty="0">
                <a:solidFill>
                  <a:schemeClr val="accent6">
                    <a:lumMod val="40000"/>
                    <a:lumOff val="60000"/>
                  </a:schemeClr>
                </a:solidFill>
              </a:rPr>
              <a:t>Vibe coding</a:t>
            </a:r>
          </a:p>
          <a:p>
            <a:pPr marL="342900" indent="-342900">
              <a:buFont typeface="+mj-lt"/>
              <a:buAutoNum type="arabicPeriod"/>
            </a:pPr>
            <a:r>
              <a:rPr lang="en-US" dirty="0">
                <a:solidFill>
                  <a:schemeClr val="accent6">
                    <a:lumMod val="40000"/>
                    <a:lumOff val="60000"/>
                  </a:schemeClr>
                </a:solidFill>
              </a:rPr>
              <a:t>MAGE</a:t>
            </a:r>
          </a:p>
          <a:p>
            <a:pPr marL="342900" indent="-342900">
              <a:buFont typeface="+mj-lt"/>
              <a:buAutoNum type="arabicPeriod"/>
            </a:pPr>
            <a:r>
              <a:rPr lang="en-US" dirty="0">
                <a:solidFill>
                  <a:schemeClr val="accent6">
                    <a:lumMod val="40000"/>
                    <a:lumOff val="60000"/>
                  </a:schemeClr>
                </a:solidFill>
              </a:rPr>
              <a:t>Modeling</a:t>
            </a:r>
          </a:p>
          <a:p>
            <a:pPr marL="342900" indent="-342900">
              <a:buFont typeface="+mj-lt"/>
              <a:buAutoNum type="arabicPeriod"/>
            </a:pPr>
            <a:r>
              <a:rPr lang="en-US" dirty="0">
                <a:solidFill>
                  <a:schemeClr val="accent6">
                    <a:lumMod val="40000"/>
                    <a:lumOff val="60000"/>
                  </a:schemeClr>
                </a:solidFill>
              </a:rPr>
              <a:t>Alignment</a:t>
            </a:r>
          </a:p>
          <a:p>
            <a:pPr marL="342900" indent="-342900">
              <a:buFont typeface="+mj-lt"/>
              <a:buAutoNum type="arabicPeriod"/>
            </a:pPr>
            <a:r>
              <a:rPr lang="en-US" dirty="0">
                <a:solidFill>
                  <a:schemeClr val="accent6">
                    <a:lumMod val="40000"/>
                    <a:lumOff val="60000"/>
                  </a:schemeClr>
                </a:solidFill>
              </a:rPr>
              <a:t>Putting it together: The MAGE Method</a:t>
            </a:r>
          </a:p>
          <a:p>
            <a:pPr marL="342900" indent="-342900">
              <a:buFont typeface="+mj-lt"/>
              <a:buAutoNum type="arabicPeriod"/>
            </a:pPr>
            <a:r>
              <a:rPr lang="en-US" dirty="0">
                <a:solidFill>
                  <a:schemeClr val="accent6">
                    <a:lumMod val="40000"/>
                    <a:lumOff val="60000"/>
                  </a:schemeClr>
                </a:solidFill>
              </a:rPr>
              <a:t>Related work and Implications: for engineering, for research, for education</a:t>
            </a:r>
          </a:p>
          <a:p>
            <a:pPr marL="342900" indent="-342900">
              <a:buFont typeface="+mj-lt"/>
              <a:buAutoNum type="arabicPeriod"/>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0F6AF8BB-AE14-9EC4-76F4-96A77B3C8C70}"/>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88411724-F1D1-CEB7-C7F8-96B05351FD9F}"/>
              </a:ext>
            </a:extLst>
          </p:cNvPr>
          <p:cNvSpPr>
            <a:spLocks noGrp="1"/>
          </p:cNvSpPr>
          <p:nvPr>
            <p:ph type="sldNum" sz="quarter" idx="4"/>
          </p:nvPr>
        </p:nvSpPr>
        <p:spPr/>
        <p:txBody>
          <a:bodyPr/>
          <a:lstStyle/>
          <a:p>
            <a:fld id="{B7EB45DA-9A0D-DC49-8E02-F30A5DDC21C3}" type="slidenum">
              <a:rPr lang="en-US" smtClean="0"/>
              <a:t>15</a:t>
            </a:fld>
            <a:endParaRPr lang="en-US"/>
          </a:p>
        </p:txBody>
      </p:sp>
    </p:spTree>
    <p:extLst>
      <p:ext uri="{BB962C8B-B14F-4D97-AF65-F5344CB8AC3E}">
        <p14:creationId xmlns:p14="http://schemas.microsoft.com/office/powerpoint/2010/main" val="345449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F30DC-2473-0CBD-5AB7-C146CE769508}"/>
              </a:ext>
            </a:extLst>
          </p:cNvPr>
          <p:cNvSpPr>
            <a:spLocks noGrp="1"/>
          </p:cNvSpPr>
          <p:nvPr>
            <p:ph type="title"/>
          </p:nvPr>
        </p:nvSpPr>
        <p:spPr/>
        <p:txBody>
          <a:bodyPr>
            <a:noAutofit/>
          </a:bodyPr>
          <a:lstStyle/>
          <a:p>
            <a:r>
              <a:rPr lang="en-US" sz="2400" dirty="0"/>
              <a:t>Technology moves engineering bottlenecks</a:t>
            </a:r>
            <a:endParaRPr lang="en-US" sz="2400" i="1" dirty="0"/>
          </a:p>
        </p:txBody>
      </p:sp>
      <p:sp>
        <p:nvSpPr>
          <p:cNvPr id="4" name="Slide Number Placeholder 3">
            <a:extLst>
              <a:ext uri="{FF2B5EF4-FFF2-40B4-BE49-F238E27FC236}">
                <a16:creationId xmlns:a16="http://schemas.microsoft.com/office/drawing/2014/main" id="{60490101-6464-379E-91BF-EBFA89051353}"/>
              </a:ext>
            </a:extLst>
          </p:cNvPr>
          <p:cNvSpPr>
            <a:spLocks noGrp="1"/>
          </p:cNvSpPr>
          <p:nvPr>
            <p:ph type="sldNum" sz="quarter" idx="4"/>
          </p:nvPr>
        </p:nvSpPr>
        <p:spPr/>
        <p:txBody>
          <a:bodyPr/>
          <a:lstStyle/>
          <a:p>
            <a:fld id="{B7EB45DA-9A0D-DC49-8E02-F30A5DDC21C3}" type="slidenum">
              <a:rPr lang="en-US" smtClean="0"/>
              <a:t>16</a:t>
            </a:fld>
            <a:endParaRPr lang="en-US"/>
          </a:p>
        </p:txBody>
      </p:sp>
      <p:graphicFrame>
        <p:nvGraphicFramePr>
          <p:cNvPr id="9" name="Table 8">
            <a:extLst>
              <a:ext uri="{FF2B5EF4-FFF2-40B4-BE49-F238E27FC236}">
                <a16:creationId xmlns:a16="http://schemas.microsoft.com/office/drawing/2014/main" id="{09EF71D1-905B-41D3-4B64-A8946D3D93AE}"/>
              </a:ext>
            </a:extLst>
          </p:cNvPr>
          <p:cNvGraphicFramePr>
            <a:graphicFrameLocks noGrp="1"/>
          </p:cNvGraphicFramePr>
          <p:nvPr>
            <p:extLst>
              <p:ext uri="{D42A27DB-BD31-4B8C-83A1-F6EECF244321}">
                <p14:modId xmlns:p14="http://schemas.microsoft.com/office/powerpoint/2010/main" val="642166942"/>
              </p:ext>
            </p:extLst>
          </p:nvPr>
        </p:nvGraphicFramePr>
        <p:xfrm>
          <a:off x="277148" y="1585216"/>
          <a:ext cx="8353504" cy="4860756"/>
        </p:xfrm>
        <a:graphic>
          <a:graphicData uri="http://schemas.openxmlformats.org/drawingml/2006/table">
            <a:tbl>
              <a:tblPr firstRow="1" bandRow="1">
                <a:tableStyleId>{21E4AEA4-8DFA-4A89-87EB-49C32662AFE0}</a:tableStyleId>
              </a:tblPr>
              <a:tblGrid>
                <a:gridCol w="2556064">
                  <a:extLst>
                    <a:ext uri="{9D8B030D-6E8A-4147-A177-3AD203B41FA5}">
                      <a16:colId xmlns:a16="http://schemas.microsoft.com/office/drawing/2014/main" val="523707895"/>
                    </a:ext>
                  </a:extLst>
                </a:gridCol>
                <a:gridCol w="3012939">
                  <a:extLst>
                    <a:ext uri="{9D8B030D-6E8A-4147-A177-3AD203B41FA5}">
                      <a16:colId xmlns:a16="http://schemas.microsoft.com/office/drawing/2014/main" val="3057521312"/>
                    </a:ext>
                  </a:extLst>
                </a:gridCol>
                <a:gridCol w="2784501">
                  <a:extLst>
                    <a:ext uri="{9D8B030D-6E8A-4147-A177-3AD203B41FA5}">
                      <a16:colId xmlns:a16="http://schemas.microsoft.com/office/drawing/2014/main" val="1644799581"/>
                    </a:ext>
                  </a:extLst>
                </a:gridCol>
              </a:tblGrid>
              <a:tr h="1031964">
                <a:tc>
                  <a:txBody>
                    <a:bodyPr/>
                    <a:lstStyle/>
                    <a:p>
                      <a:pPr algn="ctr"/>
                      <a:r>
                        <a:rPr lang="en-US" sz="2400" dirty="0">
                          <a:solidFill>
                            <a:schemeClr val="accent4"/>
                          </a:solidFill>
                        </a:rPr>
                        <a:t>Technology</a:t>
                      </a:r>
                    </a:p>
                  </a:txBody>
                  <a:tcPr anchor="ctr"/>
                </a:tc>
                <a:tc>
                  <a:txBody>
                    <a:bodyPr/>
                    <a:lstStyle/>
                    <a:p>
                      <a:pPr algn="ctr"/>
                      <a:r>
                        <a:rPr lang="en-US" sz="2400" dirty="0">
                          <a:solidFill>
                            <a:schemeClr val="accent4"/>
                          </a:solidFill>
                        </a:rPr>
                        <a:t>Makes abundant</a:t>
                      </a:r>
                    </a:p>
                  </a:txBody>
                  <a:tcPr anchor="ctr"/>
                </a:tc>
                <a:tc>
                  <a:txBody>
                    <a:bodyPr/>
                    <a:lstStyle/>
                    <a:p>
                      <a:pPr algn="ctr"/>
                      <a:r>
                        <a:rPr lang="en-US" sz="2400" dirty="0">
                          <a:solidFill>
                            <a:schemeClr val="accent4"/>
                          </a:solidFill>
                        </a:rPr>
                        <a:t>Relatively scarce resource</a:t>
                      </a:r>
                    </a:p>
                  </a:txBody>
                  <a:tcPr anchor="ctr"/>
                </a:tc>
                <a:extLst>
                  <a:ext uri="{0D108BD9-81ED-4DB2-BD59-A6C34878D82A}">
                    <a16:rowId xmlns:a16="http://schemas.microsoft.com/office/drawing/2014/main" val="3479732520"/>
                  </a:ext>
                </a:extLst>
              </a:tr>
              <a:tr h="957198">
                <a:tc>
                  <a:txBody>
                    <a:bodyPr/>
                    <a:lstStyle/>
                    <a:p>
                      <a:pPr algn="l"/>
                      <a:r>
                        <a:rPr lang="en-US" sz="2400" dirty="0"/>
                        <a:t>Steam engine</a:t>
                      </a:r>
                    </a:p>
                  </a:txBody>
                  <a:tcPr anchor="ctr"/>
                </a:tc>
                <a:tc>
                  <a:txBody>
                    <a:bodyPr/>
                    <a:lstStyle/>
                    <a:p>
                      <a:pPr algn="l"/>
                      <a:r>
                        <a:rPr lang="en-US" sz="2400" dirty="0"/>
                        <a:t>Mechanical power</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781815113"/>
                  </a:ext>
                </a:extLst>
              </a:tr>
              <a:tr h="957198">
                <a:tc>
                  <a:txBody>
                    <a:bodyPr/>
                    <a:lstStyle/>
                    <a:p>
                      <a:pPr algn="l"/>
                      <a:r>
                        <a:rPr lang="en-US" sz="2400" dirty="0"/>
                        <a:t>Factory</a:t>
                      </a:r>
                    </a:p>
                  </a:txBody>
                  <a:tcPr anchor="ctr"/>
                </a:tc>
                <a:tc>
                  <a:txBody>
                    <a:bodyPr/>
                    <a:lstStyle/>
                    <a:p>
                      <a:pPr algn="l"/>
                      <a:r>
                        <a:rPr lang="en-US" sz="2400" dirty="0"/>
                        <a:t>Standard production</a:t>
                      </a:r>
                    </a:p>
                  </a:txBody>
                  <a:tcPr anchor="ctr"/>
                </a:tc>
                <a:tc>
                  <a:txBody>
                    <a:bodyPr/>
                    <a:lstStyle/>
                    <a:p>
                      <a:pPr algn="l"/>
                      <a:r>
                        <a:rPr lang="en-US" sz="2400" dirty="0"/>
                        <a:t>Design &amp; Coordination</a:t>
                      </a:r>
                    </a:p>
                  </a:txBody>
                  <a:tcPr anchor="ctr"/>
                </a:tc>
                <a:extLst>
                  <a:ext uri="{0D108BD9-81ED-4DB2-BD59-A6C34878D82A}">
                    <a16:rowId xmlns:a16="http://schemas.microsoft.com/office/drawing/2014/main" val="2128134710"/>
                  </a:ext>
                </a:extLst>
              </a:tr>
              <a:tr h="957198">
                <a:tc>
                  <a:txBody>
                    <a:bodyPr/>
                    <a:lstStyle/>
                    <a:p>
                      <a:pPr algn="l"/>
                      <a:r>
                        <a:rPr lang="en-US" sz="2400" dirty="0"/>
                        <a:t>Integrated circuit</a:t>
                      </a:r>
                    </a:p>
                  </a:txBody>
                  <a:tcPr anchor="ctr"/>
                </a:tc>
                <a:tc>
                  <a:txBody>
                    <a:bodyPr/>
                    <a:lstStyle/>
                    <a:p>
                      <a:pPr algn="l"/>
                      <a:r>
                        <a:rPr lang="en-US" sz="2400" dirty="0"/>
                        <a:t>Computation</a:t>
                      </a:r>
                    </a:p>
                  </a:txBody>
                  <a:tcPr anchor="ctr"/>
                </a:tc>
                <a:tc>
                  <a:txBody>
                    <a:bodyPr/>
                    <a:lstStyle/>
                    <a:p>
                      <a:pPr algn="l"/>
                      <a:r>
                        <a:rPr lang="en-US" sz="2400" dirty="0"/>
                        <a:t>Software &amp; Systems</a:t>
                      </a:r>
                    </a:p>
                  </a:txBody>
                  <a:tcPr anchor="ctr"/>
                </a:tc>
                <a:extLst>
                  <a:ext uri="{0D108BD9-81ED-4DB2-BD59-A6C34878D82A}">
                    <a16:rowId xmlns:a16="http://schemas.microsoft.com/office/drawing/2014/main" val="2064043440"/>
                  </a:ext>
                </a:extLst>
              </a:tr>
              <a:tr h="957198">
                <a:tc>
                  <a:txBody>
                    <a:bodyPr/>
                    <a:lstStyle/>
                    <a:p>
                      <a:pPr algn="l"/>
                      <a:r>
                        <a:rPr lang="en-US" sz="2400" dirty="0"/>
                        <a:t>Coding agents</a:t>
                      </a:r>
                    </a:p>
                  </a:txBody>
                  <a:tcPr anchor="ctr"/>
                </a:tc>
                <a:tc>
                  <a:txBody>
                    <a:bodyPr/>
                    <a:lstStyle/>
                    <a:p>
                      <a:pPr algn="l"/>
                      <a:r>
                        <a:rPr lang="en-US" sz="2400" dirty="0"/>
                        <a:t>Software implementation</a:t>
                      </a:r>
                    </a:p>
                  </a:txBody>
                  <a:tcPr anchor="ctr"/>
                </a:tc>
                <a:tc>
                  <a:txBody>
                    <a:bodyPr/>
                    <a:lstStyle/>
                    <a:p>
                      <a:pPr algn="l"/>
                      <a:r>
                        <a:rPr lang="en-US" sz="2400" dirty="0"/>
                        <a:t>Software engineering</a:t>
                      </a:r>
                    </a:p>
                  </a:txBody>
                  <a:tcPr anchor="ctr"/>
                </a:tc>
                <a:extLst>
                  <a:ext uri="{0D108BD9-81ED-4DB2-BD59-A6C34878D82A}">
                    <a16:rowId xmlns:a16="http://schemas.microsoft.com/office/drawing/2014/main" val="768153019"/>
                  </a:ext>
                </a:extLst>
              </a:tr>
            </a:tbl>
          </a:graphicData>
        </a:graphic>
      </p:graphicFrame>
      <p:sp>
        <p:nvSpPr>
          <p:cNvPr id="10" name="TextBox 9">
            <a:extLst>
              <a:ext uri="{FF2B5EF4-FFF2-40B4-BE49-F238E27FC236}">
                <a16:creationId xmlns:a16="http://schemas.microsoft.com/office/drawing/2014/main" id="{F17C0687-2C42-A17B-DAC9-87280433D2E7}"/>
              </a:ext>
            </a:extLst>
          </p:cNvPr>
          <p:cNvSpPr txBox="1"/>
          <p:nvPr/>
        </p:nvSpPr>
        <p:spPr>
          <a:xfrm>
            <a:off x="1270334" y="814468"/>
            <a:ext cx="6216316" cy="738664"/>
          </a:xfrm>
          <a:prstGeom prst="rect">
            <a:avLst/>
          </a:prstGeom>
          <a:noFill/>
        </p:spPr>
        <p:txBody>
          <a:bodyPr wrap="square" rtlCol="0">
            <a:spAutoFit/>
          </a:bodyPr>
          <a:lstStyle/>
          <a:p>
            <a:r>
              <a:rPr lang="en-US" u="sng" dirty="0"/>
              <a:t>Goldratt’s Theory of Constraints / Amdahl’s Law</a:t>
            </a:r>
            <a:r>
              <a:rPr lang="en-US" dirty="0"/>
              <a:t>:</a:t>
            </a:r>
          </a:p>
          <a:p>
            <a:r>
              <a:rPr lang="en-US" b="1" i="1" dirty="0"/>
              <a:t>	</a:t>
            </a:r>
            <a:r>
              <a:rPr lang="en-US" sz="2400" b="1" i="1" dirty="0"/>
              <a:t>Removing one bottleneck exposes the next</a:t>
            </a:r>
            <a:endParaRPr lang="en-US" sz="2400" b="1" dirty="0"/>
          </a:p>
        </p:txBody>
      </p:sp>
      <p:sp>
        <p:nvSpPr>
          <p:cNvPr id="14" name="Rectangle 13">
            <a:extLst>
              <a:ext uri="{FF2B5EF4-FFF2-40B4-BE49-F238E27FC236}">
                <a16:creationId xmlns:a16="http://schemas.microsoft.com/office/drawing/2014/main" id="{11E8D08A-D0BC-E43D-2D28-0FE1264B6DD5}"/>
              </a:ext>
            </a:extLst>
          </p:cNvPr>
          <p:cNvSpPr/>
          <p:nvPr/>
        </p:nvSpPr>
        <p:spPr>
          <a:xfrm>
            <a:off x="160421" y="5457524"/>
            <a:ext cx="8646695" cy="1081388"/>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CBE246-48E5-16F4-4A36-506F3AD5047C}"/>
              </a:ext>
            </a:extLst>
          </p:cNvPr>
          <p:cNvSpPr/>
          <p:nvPr/>
        </p:nvSpPr>
        <p:spPr>
          <a:xfrm>
            <a:off x="5890661" y="2675823"/>
            <a:ext cx="2624689" cy="80986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B6DE994-F7AD-CA82-2431-B6DA876C706A}"/>
              </a:ext>
            </a:extLst>
          </p:cNvPr>
          <p:cNvSpPr/>
          <p:nvPr/>
        </p:nvSpPr>
        <p:spPr>
          <a:xfrm>
            <a:off x="100684" y="3517769"/>
            <a:ext cx="8646695" cy="1049304"/>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9C28A54-C5FA-D2C2-7A32-FBA5916B9710}"/>
              </a:ext>
            </a:extLst>
          </p:cNvPr>
          <p:cNvSpPr/>
          <p:nvPr/>
        </p:nvSpPr>
        <p:spPr>
          <a:xfrm>
            <a:off x="248652" y="4514717"/>
            <a:ext cx="8646695" cy="1165828"/>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84A1EC5-685F-0485-D937-D312484B6A34}"/>
              </a:ext>
            </a:extLst>
          </p:cNvPr>
          <p:cNvSpPr/>
          <p:nvPr/>
        </p:nvSpPr>
        <p:spPr>
          <a:xfrm>
            <a:off x="5890660" y="3625983"/>
            <a:ext cx="2624689" cy="856650"/>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F50F5C2-5692-C602-83BD-1A5D831A060C}"/>
              </a:ext>
            </a:extLst>
          </p:cNvPr>
          <p:cNvSpPr/>
          <p:nvPr/>
        </p:nvSpPr>
        <p:spPr>
          <a:xfrm>
            <a:off x="5890659" y="4562640"/>
            <a:ext cx="2624689" cy="856650"/>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6EC4075-AADF-C299-7796-88865F8E5162}"/>
              </a:ext>
            </a:extLst>
          </p:cNvPr>
          <p:cNvSpPr/>
          <p:nvPr/>
        </p:nvSpPr>
        <p:spPr>
          <a:xfrm>
            <a:off x="5903538" y="5584702"/>
            <a:ext cx="2624689" cy="80986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236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10F25-1E8C-EB1F-8678-4A7F5B1CDF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4CC5BB-723B-20D6-2E82-2308784CE2F9}"/>
              </a:ext>
            </a:extLst>
          </p:cNvPr>
          <p:cNvSpPr>
            <a:spLocks noGrp="1"/>
          </p:cNvSpPr>
          <p:nvPr>
            <p:ph type="title"/>
          </p:nvPr>
        </p:nvSpPr>
        <p:spPr/>
        <p:txBody>
          <a:bodyPr>
            <a:noAutofit/>
          </a:bodyPr>
          <a:lstStyle/>
          <a:p>
            <a:pPr algn="ctr"/>
            <a:r>
              <a:rPr lang="en-US" sz="2400" dirty="0"/>
              <a:t>The Agentic Substrate: </a:t>
            </a:r>
            <a:r>
              <a:rPr lang="en-US" sz="2400" i="1" dirty="0"/>
              <a:t>“Commodity Intelligence”</a:t>
            </a:r>
          </a:p>
        </p:txBody>
      </p:sp>
      <p:sp>
        <p:nvSpPr>
          <p:cNvPr id="4" name="Slide Number Placeholder 3">
            <a:extLst>
              <a:ext uri="{FF2B5EF4-FFF2-40B4-BE49-F238E27FC236}">
                <a16:creationId xmlns:a16="http://schemas.microsoft.com/office/drawing/2014/main" id="{8D3AB5E7-E037-5A83-BA23-EC0134056A62}"/>
              </a:ext>
            </a:extLst>
          </p:cNvPr>
          <p:cNvSpPr>
            <a:spLocks noGrp="1"/>
          </p:cNvSpPr>
          <p:nvPr>
            <p:ph type="sldNum" sz="quarter" idx="4"/>
          </p:nvPr>
        </p:nvSpPr>
        <p:spPr/>
        <p:txBody>
          <a:bodyPr/>
          <a:lstStyle/>
          <a:p>
            <a:fld id="{B7EB45DA-9A0D-DC49-8E02-F30A5DDC21C3}" type="slidenum">
              <a:rPr lang="en-US" smtClean="0"/>
              <a:t>17</a:t>
            </a:fld>
            <a:endParaRPr lang="en-US"/>
          </a:p>
        </p:txBody>
      </p:sp>
      <p:pic>
        <p:nvPicPr>
          <p:cNvPr id="5" name="Picture 4">
            <a:extLst>
              <a:ext uri="{FF2B5EF4-FFF2-40B4-BE49-F238E27FC236}">
                <a16:creationId xmlns:a16="http://schemas.microsoft.com/office/drawing/2014/main" id="{FD6E942D-78E2-BD56-CFDE-04CE72C4D391}"/>
              </a:ext>
            </a:extLst>
          </p:cNvPr>
          <p:cNvPicPr>
            <a:picLocks noChangeAspect="1"/>
          </p:cNvPicPr>
          <p:nvPr/>
        </p:nvPicPr>
        <p:blipFill>
          <a:blip r:embed="rId3"/>
          <a:stretch>
            <a:fillRect/>
          </a:stretch>
        </p:blipFill>
        <p:spPr>
          <a:xfrm>
            <a:off x="694093" y="1045029"/>
            <a:ext cx="7755814" cy="3748384"/>
          </a:xfrm>
          <a:prstGeom prst="rect">
            <a:avLst/>
          </a:prstGeom>
        </p:spPr>
      </p:pic>
      <p:pic>
        <p:nvPicPr>
          <p:cNvPr id="2" name="Picture 1">
            <a:extLst>
              <a:ext uri="{FF2B5EF4-FFF2-40B4-BE49-F238E27FC236}">
                <a16:creationId xmlns:a16="http://schemas.microsoft.com/office/drawing/2014/main" id="{A9AA83B5-F1D5-52A8-3E4D-E6CBAFCB15A7}"/>
              </a:ext>
            </a:extLst>
          </p:cNvPr>
          <p:cNvPicPr>
            <a:picLocks noChangeAspect="1"/>
          </p:cNvPicPr>
          <p:nvPr/>
        </p:nvPicPr>
        <p:blipFill>
          <a:blip r:embed="rId4"/>
          <a:stretch>
            <a:fillRect/>
          </a:stretch>
        </p:blipFill>
        <p:spPr>
          <a:xfrm>
            <a:off x="2630260" y="1299400"/>
            <a:ext cx="3883479" cy="4785261"/>
          </a:xfrm>
          <a:prstGeom prst="rect">
            <a:avLst/>
          </a:prstGeom>
          <a:ln>
            <a:noFill/>
          </a:ln>
        </p:spPr>
      </p:pic>
    </p:spTree>
    <p:extLst>
      <p:ext uri="{BB962C8B-B14F-4D97-AF65-F5344CB8AC3E}">
        <p14:creationId xmlns:p14="http://schemas.microsoft.com/office/powerpoint/2010/main" val="127044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9" presetClass="emph" presetSubtype="0" nodeType="withEffect">
                                  <p:stCondLst>
                                    <p:cond delay="0"/>
                                  </p:stCondLst>
                                  <p:childTnLst>
                                    <p:set>
                                      <p:cBhvr>
                                        <p:cTn id="8" dur="indefinite"/>
                                        <p:tgtEl>
                                          <p:spTgt spid="5"/>
                                        </p:tgtEl>
                                        <p:attrNameLst>
                                          <p:attrName>style.opacity</p:attrName>
                                        </p:attrNameLst>
                                      </p:cBhvr>
                                      <p:to>
                                        <p:strVal val="0.5"/>
                                      </p:to>
                                    </p:set>
                                    <p:animEffect filter="image" prLst="opacity: 0.5">
                                      <p:cBhvr rctx="IE">
                                        <p:cTn id="9" dur="indefinite"/>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D2DEC-BD5B-E4CE-0009-953FDBA0A9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6CB1C8-85A1-6004-6FCB-2378AF96D9D3}"/>
              </a:ext>
            </a:extLst>
          </p:cNvPr>
          <p:cNvSpPr>
            <a:spLocks noGrp="1"/>
          </p:cNvSpPr>
          <p:nvPr>
            <p:ph idx="1"/>
          </p:nvPr>
        </p:nvSpPr>
        <p:spPr>
          <a:ln>
            <a:solidFill>
              <a:schemeClr val="bg1"/>
            </a:solidFill>
          </a:ln>
        </p:spPr>
        <p:txBody>
          <a:bodyPr/>
          <a:lstStyle/>
          <a:p>
            <a:pPr marL="342900" indent="-342900">
              <a:buFont typeface="+mj-lt"/>
              <a:buAutoNum type="arabicPeriod"/>
            </a:pPr>
            <a:r>
              <a:rPr lang="en-US" dirty="0">
                <a:solidFill>
                  <a:schemeClr val="accent6">
                    <a:lumMod val="40000"/>
                    <a:lumOff val="60000"/>
                  </a:schemeClr>
                </a:solidFill>
              </a:rPr>
              <a:t>Who am I and why am I here</a:t>
            </a:r>
          </a:p>
          <a:p>
            <a:pPr marL="342900" indent="-342900">
              <a:buFont typeface="+mj-lt"/>
              <a:buAutoNum type="arabicPeriod"/>
            </a:pPr>
            <a:r>
              <a:rPr lang="en-US" b="1" dirty="0">
                <a:solidFill>
                  <a:schemeClr val="accent6">
                    <a:lumMod val="40000"/>
                    <a:lumOff val="60000"/>
                  </a:schemeClr>
                </a:solidFill>
              </a:rPr>
              <a:t>The substrate: Engineering shifts in response to technology change</a:t>
            </a:r>
          </a:p>
          <a:p>
            <a:pPr marL="342900" indent="-342900">
              <a:buFont typeface="+mj-lt"/>
              <a:buAutoNum type="arabicPeriod"/>
            </a:pPr>
            <a:r>
              <a:rPr lang="en-US" b="1" dirty="0">
                <a:solidFill>
                  <a:schemeClr val="bg1"/>
                </a:solidFill>
              </a:rPr>
              <a:t>Vibe coding</a:t>
            </a:r>
          </a:p>
          <a:p>
            <a:pPr marL="342900" indent="-342900">
              <a:buFont typeface="+mj-lt"/>
              <a:buAutoNum type="arabicPeriod"/>
            </a:pPr>
            <a:r>
              <a:rPr lang="en-US" dirty="0">
                <a:solidFill>
                  <a:schemeClr val="accent6">
                    <a:lumMod val="40000"/>
                    <a:lumOff val="60000"/>
                  </a:schemeClr>
                </a:solidFill>
              </a:rPr>
              <a:t>MAGE</a:t>
            </a:r>
          </a:p>
          <a:p>
            <a:pPr marL="342900" indent="-342900">
              <a:buFont typeface="+mj-lt"/>
              <a:buAutoNum type="arabicPeriod"/>
            </a:pPr>
            <a:r>
              <a:rPr lang="en-US" dirty="0">
                <a:solidFill>
                  <a:schemeClr val="accent6">
                    <a:lumMod val="40000"/>
                    <a:lumOff val="60000"/>
                  </a:schemeClr>
                </a:solidFill>
              </a:rPr>
              <a:t>Modeling</a:t>
            </a:r>
          </a:p>
          <a:p>
            <a:pPr marL="342900" indent="-342900">
              <a:buFont typeface="+mj-lt"/>
              <a:buAutoNum type="arabicPeriod"/>
            </a:pPr>
            <a:r>
              <a:rPr lang="en-US" dirty="0">
                <a:solidFill>
                  <a:schemeClr val="accent6">
                    <a:lumMod val="40000"/>
                    <a:lumOff val="60000"/>
                  </a:schemeClr>
                </a:solidFill>
              </a:rPr>
              <a:t>Alignment</a:t>
            </a:r>
          </a:p>
          <a:p>
            <a:pPr marL="342900" indent="-342900">
              <a:buFont typeface="+mj-lt"/>
              <a:buAutoNum type="arabicPeriod"/>
            </a:pPr>
            <a:r>
              <a:rPr lang="en-US" dirty="0">
                <a:solidFill>
                  <a:schemeClr val="accent6">
                    <a:lumMod val="40000"/>
                    <a:lumOff val="60000"/>
                  </a:schemeClr>
                </a:solidFill>
              </a:rPr>
              <a:t>Putting it together: The MAGE Method</a:t>
            </a:r>
          </a:p>
          <a:p>
            <a:pPr marL="342900" indent="-342900">
              <a:buFont typeface="+mj-lt"/>
              <a:buAutoNum type="arabicPeriod"/>
            </a:pPr>
            <a:r>
              <a:rPr lang="en-US" dirty="0">
                <a:solidFill>
                  <a:schemeClr val="accent6">
                    <a:lumMod val="40000"/>
                    <a:lumOff val="60000"/>
                  </a:schemeClr>
                </a:solidFill>
              </a:rPr>
              <a:t>Related work and Implications: for engineering, for research, for education</a:t>
            </a:r>
          </a:p>
          <a:p>
            <a:pPr marL="342900" indent="-342900">
              <a:buFont typeface="+mj-lt"/>
              <a:buAutoNum type="arabicPeriod"/>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87D7E237-13CB-A086-75BB-C0CF7CE84ECF}"/>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9E318080-F391-335E-D9E6-604CBFB40B38}"/>
              </a:ext>
            </a:extLst>
          </p:cNvPr>
          <p:cNvSpPr>
            <a:spLocks noGrp="1"/>
          </p:cNvSpPr>
          <p:nvPr>
            <p:ph type="sldNum" sz="quarter" idx="4"/>
          </p:nvPr>
        </p:nvSpPr>
        <p:spPr/>
        <p:txBody>
          <a:bodyPr/>
          <a:lstStyle/>
          <a:p>
            <a:fld id="{B7EB45DA-9A0D-DC49-8E02-F30A5DDC21C3}" type="slidenum">
              <a:rPr lang="en-US" smtClean="0"/>
              <a:t>18</a:t>
            </a:fld>
            <a:endParaRPr lang="en-US"/>
          </a:p>
        </p:txBody>
      </p:sp>
    </p:spTree>
    <p:extLst>
      <p:ext uri="{BB962C8B-B14F-4D97-AF65-F5344CB8AC3E}">
        <p14:creationId xmlns:p14="http://schemas.microsoft.com/office/powerpoint/2010/main" val="763562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9E2421-DFFD-18F7-F7C6-DE2D7C5D6FB3}"/>
              </a:ext>
            </a:extLst>
          </p:cNvPr>
          <p:cNvSpPr>
            <a:spLocks noGrp="1"/>
          </p:cNvSpPr>
          <p:nvPr>
            <p:ph type="title"/>
          </p:nvPr>
        </p:nvSpPr>
        <p:spPr>
          <a:xfrm>
            <a:off x="277147" y="118428"/>
            <a:ext cx="8686979" cy="638175"/>
          </a:xfrm>
        </p:spPr>
        <p:txBody>
          <a:bodyPr>
            <a:normAutofit fontScale="90000"/>
          </a:bodyPr>
          <a:lstStyle/>
          <a:p>
            <a:r>
              <a:rPr lang="en-US" dirty="0"/>
              <a:t>If we have commodity intelligence, can we retire?</a:t>
            </a:r>
          </a:p>
        </p:txBody>
      </p:sp>
      <p:sp>
        <p:nvSpPr>
          <p:cNvPr id="4" name="Slide Number Placeholder 3">
            <a:extLst>
              <a:ext uri="{FF2B5EF4-FFF2-40B4-BE49-F238E27FC236}">
                <a16:creationId xmlns:a16="http://schemas.microsoft.com/office/drawing/2014/main" id="{C5C054CC-1007-E7CB-75E0-E2131C208D9F}"/>
              </a:ext>
            </a:extLst>
          </p:cNvPr>
          <p:cNvSpPr>
            <a:spLocks noGrp="1"/>
          </p:cNvSpPr>
          <p:nvPr>
            <p:ph type="sldNum" sz="quarter" idx="4"/>
          </p:nvPr>
        </p:nvSpPr>
        <p:spPr/>
        <p:txBody>
          <a:bodyPr/>
          <a:lstStyle/>
          <a:p>
            <a:fld id="{B7EB45DA-9A0D-DC49-8E02-F30A5DDC21C3}" type="slidenum">
              <a:rPr lang="en-US" smtClean="0"/>
              <a:t>19</a:t>
            </a:fld>
            <a:endParaRPr lang="en-US"/>
          </a:p>
        </p:txBody>
      </p:sp>
      <p:pic>
        <p:nvPicPr>
          <p:cNvPr id="5" name="Picture 4">
            <a:extLst>
              <a:ext uri="{FF2B5EF4-FFF2-40B4-BE49-F238E27FC236}">
                <a16:creationId xmlns:a16="http://schemas.microsoft.com/office/drawing/2014/main" id="{578C01BA-6725-4758-7B6F-AD9952F810E3}"/>
              </a:ext>
            </a:extLst>
          </p:cNvPr>
          <p:cNvPicPr>
            <a:picLocks noChangeAspect="1"/>
          </p:cNvPicPr>
          <p:nvPr/>
        </p:nvPicPr>
        <p:blipFill>
          <a:blip r:embed="rId2"/>
          <a:stretch>
            <a:fillRect/>
          </a:stretch>
        </p:blipFill>
        <p:spPr>
          <a:xfrm>
            <a:off x="179872" y="867836"/>
            <a:ext cx="8784255" cy="3377593"/>
          </a:xfrm>
          <a:prstGeom prst="rect">
            <a:avLst/>
          </a:prstGeom>
        </p:spPr>
      </p:pic>
      <p:pic>
        <p:nvPicPr>
          <p:cNvPr id="9" name="Picture 8">
            <a:extLst>
              <a:ext uri="{FF2B5EF4-FFF2-40B4-BE49-F238E27FC236}">
                <a16:creationId xmlns:a16="http://schemas.microsoft.com/office/drawing/2014/main" id="{F0A2D042-AA2A-F75C-8120-E42DFC9ECBDF}"/>
              </a:ext>
            </a:extLst>
          </p:cNvPr>
          <p:cNvPicPr>
            <a:picLocks noChangeAspect="1"/>
          </p:cNvPicPr>
          <p:nvPr/>
        </p:nvPicPr>
        <p:blipFill>
          <a:blip r:embed="rId3"/>
          <a:stretch>
            <a:fillRect/>
          </a:stretch>
        </p:blipFill>
        <p:spPr>
          <a:xfrm>
            <a:off x="685799" y="4716830"/>
            <a:ext cx="7772400" cy="1452948"/>
          </a:xfrm>
          <a:prstGeom prst="rect">
            <a:avLst/>
          </a:prstGeom>
        </p:spPr>
      </p:pic>
    </p:spTree>
    <p:extLst>
      <p:ext uri="{BB962C8B-B14F-4D97-AF65-F5344CB8AC3E}">
        <p14:creationId xmlns:p14="http://schemas.microsoft.com/office/powerpoint/2010/main" val="1847981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2956FF-0F36-EA0C-FD6D-8D6F0594A35B}"/>
              </a:ext>
            </a:extLst>
          </p:cNvPr>
          <p:cNvSpPr>
            <a:spLocks noGrp="1"/>
          </p:cNvSpPr>
          <p:nvPr>
            <p:ph type="title"/>
          </p:nvPr>
        </p:nvSpPr>
        <p:spPr/>
        <p:txBody>
          <a:bodyPr>
            <a:normAutofit fontScale="90000"/>
          </a:bodyPr>
          <a:lstStyle/>
          <a:p>
            <a:r>
              <a:rPr lang="en-US" dirty="0"/>
              <a:t>The experience of the vibe coders</a:t>
            </a:r>
          </a:p>
        </p:txBody>
      </p:sp>
      <p:sp>
        <p:nvSpPr>
          <p:cNvPr id="4" name="Slide Number Placeholder 3">
            <a:extLst>
              <a:ext uri="{FF2B5EF4-FFF2-40B4-BE49-F238E27FC236}">
                <a16:creationId xmlns:a16="http://schemas.microsoft.com/office/drawing/2014/main" id="{64EA6586-2124-46E5-A2BD-90A7F64C7D06}"/>
              </a:ext>
            </a:extLst>
          </p:cNvPr>
          <p:cNvSpPr>
            <a:spLocks noGrp="1"/>
          </p:cNvSpPr>
          <p:nvPr>
            <p:ph type="sldNum" sz="quarter" idx="4"/>
          </p:nvPr>
        </p:nvSpPr>
        <p:spPr/>
        <p:txBody>
          <a:bodyPr/>
          <a:lstStyle/>
          <a:p>
            <a:fld id="{B7EB45DA-9A0D-DC49-8E02-F30A5DDC21C3}" type="slidenum">
              <a:rPr lang="en-US" smtClean="0"/>
              <a:t>20</a:t>
            </a:fld>
            <a:endParaRPr lang="en-US"/>
          </a:p>
        </p:txBody>
      </p:sp>
      <p:pic>
        <p:nvPicPr>
          <p:cNvPr id="10" name="Picture 9">
            <a:extLst>
              <a:ext uri="{FF2B5EF4-FFF2-40B4-BE49-F238E27FC236}">
                <a16:creationId xmlns:a16="http://schemas.microsoft.com/office/drawing/2014/main" id="{45DBD92F-95F0-0110-E02F-CC3726318E00}"/>
              </a:ext>
            </a:extLst>
          </p:cNvPr>
          <p:cNvPicPr>
            <a:picLocks noChangeAspect="1"/>
          </p:cNvPicPr>
          <p:nvPr/>
        </p:nvPicPr>
        <p:blipFill>
          <a:blip r:embed="rId2"/>
          <a:stretch>
            <a:fillRect/>
          </a:stretch>
        </p:blipFill>
        <p:spPr>
          <a:xfrm>
            <a:off x="932823" y="835046"/>
            <a:ext cx="7278353" cy="4385208"/>
          </a:xfrm>
          <a:prstGeom prst="rect">
            <a:avLst/>
          </a:prstGeom>
        </p:spPr>
      </p:pic>
      <p:sp>
        <p:nvSpPr>
          <p:cNvPr id="6" name="TextBox 5">
            <a:extLst>
              <a:ext uri="{FF2B5EF4-FFF2-40B4-BE49-F238E27FC236}">
                <a16:creationId xmlns:a16="http://schemas.microsoft.com/office/drawing/2014/main" id="{C51B4D25-4645-B45D-EE95-1EC7C5A2ACA6}"/>
              </a:ext>
            </a:extLst>
          </p:cNvPr>
          <p:cNvSpPr txBox="1"/>
          <p:nvPr/>
        </p:nvSpPr>
        <p:spPr>
          <a:xfrm>
            <a:off x="0" y="6277907"/>
            <a:ext cx="6492611" cy="646331"/>
          </a:xfrm>
          <a:prstGeom prst="rect">
            <a:avLst/>
          </a:prstGeom>
          <a:noFill/>
        </p:spPr>
        <p:txBody>
          <a:bodyPr wrap="none" rtlCol="0">
            <a:spAutoFit/>
          </a:bodyPr>
          <a:lstStyle/>
          <a:p>
            <a:r>
              <a:rPr lang="en-US" sz="1200" dirty="0">
                <a:hlinkClick r:id="rId3"/>
              </a:rPr>
              <a:t>https://daplab.cs.columbia.edu/general/2026/01/07/why-vibe-coding-fails-and-how-to-fix-it.html</a:t>
            </a:r>
            <a:endParaRPr lang="en-US" sz="1200" dirty="0"/>
          </a:p>
          <a:p>
            <a:r>
              <a:rPr lang="en-US" sz="1200" dirty="0">
                <a:hlinkClick r:id="rId4"/>
              </a:rPr>
              <a:t>https://daplab.cs.columbia.edu/general/2026/01/08/9-critical-failure-patterns-of-coding-agents.html</a:t>
            </a:r>
            <a:endParaRPr lang="en-US" sz="1200" dirty="0"/>
          </a:p>
          <a:p>
            <a:r>
              <a:rPr lang="en-US" sz="1200" dirty="0">
                <a:hlinkClick r:id="rId5"/>
              </a:rPr>
              <a:t>https://www.wsj.com/tech/ai/vibe-coding-slop-ai-tools-e6a99394</a:t>
            </a:r>
            <a:endParaRPr lang="en-US" sz="1200" dirty="0"/>
          </a:p>
        </p:txBody>
      </p:sp>
      <p:pic>
        <p:nvPicPr>
          <p:cNvPr id="7" name="Picture 6">
            <a:extLst>
              <a:ext uri="{FF2B5EF4-FFF2-40B4-BE49-F238E27FC236}">
                <a16:creationId xmlns:a16="http://schemas.microsoft.com/office/drawing/2014/main" id="{59EF2A3A-AD54-CCF9-4DD5-AAC49291F633}"/>
              </a:ext>
            </a:extLst>
          </p:cNvPr>
          <p:cNvPicPr>
            <a:picLocks noChangeAspect="1"/>
          </p:cNvPicPr>
          <p:nvPr/>
        </p:nvPicPr>
        <p:blipFill>
          <a:blip r:embed="rId6"/>
          <a:stretch>
            <a:fillRect/>
          </a:stretch>
        </p:blipFill>
        <p:spPr>
          <a:xfrm>
            <a:off x="1555296" y="5340367"/>
            <a:ext cx="6033407" cy="937540"/>
          </a:xfrm>
          <a:prstGeom prst="rect">
            <a:avLst/>
          </a:prstGeom>
          <a:ln>
            <a:solidFill>
              <a:schemeClr val="accent1"/>
            </a:solidFill>
          </a:ln>
        </p:spPr>
      </p:pic>
    </p:spTree>
    <p:extLst>
      <p:ext uri="{BB962C8B-B14F-4D97-AF65-F5344CB8AC3E}">
        <p14:creationId xmlns:p14="http://schemas.microsoft.com/office/powerpoint/2010/main" val="1118365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CADA35-D584-CA5B-8B35-B0D8BEE08E04}"/>
              </a:ext>
            </a:extLst>
          </p:cNvPr>
          <p:cNvSpPr>
            <a:spLocks noGrp="1"/>
          </p:cNvSpPr>
          <p:nvPr>
            <p:ph type="title"/>
          </p:nvPr>
        </p:nvSpPr>
        <p:spPr/>
        <p:txBody>
          <a:bodyPr>
            <a:normAutofit fontScale="90000"/>
          </a:bodyPr>
          <a:lstStyle/>
          <a:p>
            <a:r>
              <a:rPr lang="en-US" dirty="0"/>
              <a:t>The obvious answers: More oversight, more process</a:t>
            </a:r>
          </a:p>
        </p:txBody>
      </p:sp>
      <p:sp>
        <p:nvSpPr>
          <p:cNvPr id="4" name="Slide Number Placeholder 3">
            <a:extLst>
              <a:ext uri="{FF2B5EF4-FFF2-40B4-BE49-F238E27FC236}">
                <a16:creationId xmlns:a16="http://schemas.microsoft.com/office/drawing/2014/main" id="{CF8026C0-C3B3-9BA6-4CFC-1575A3CD52DA}"/>
              </a:ext>
            </a:extLst>
          </p:cNvPr>
          <p:cNvSpPr>
            <a:spLocks noGrp="1"/>
          </p:cNvSpPr>
          <p:nvPr>
            <p:ph type="sldNum" sz="quarter" idx="4"/>
          </p:nvPr>
        </p:nvSpPr>
        <p:spPr/>
        <p:txBody>
          <a:bodyPr/>
          <a:lstStyle/>
          <a:p>
            <a:fld id="{B7EB45DA-9A0D-DC49-8E02-F30A5DDC21C3}" type="slidenum">
              <a:rPr lang="en-US" smtClean="0"/>
              <a:t>21</a:t>
            </a:fld>
            <a:endParaRPr lang="en-US"/>
          </a:p>
        </p:txBody>
      </p:sp>
      <p:pic>
        <p:nvPicPr>
          <p:cNvPr id="5" name="Picture 4">
            <a:extLst>
              <a:ext uri="{FF2B5EF4-FFF2-40B4-BE49-F238E27FC236}">
                <a16:creationId xmlns:a16="http://schemas.microsoft.com/office/drawing/2014/main" id="{E0F4E85F-3826-2376-EF26-D5756B6DC427}"/>
              </a:ext>
            </a:extLst>
          </p:cNvPr>
          <p:cNvPicPr>
            <a:picLocks noChangeAspect="1"/>
          </p:cNvPicPr>
          <p:nvPr/>
        </p:nvPicPr>
        <p:blipFill>
          <a:blip r:embed="rId2"/>
          <a:stretch>
            <a:fillRect/>
          </a:stretch>
        </p:blipFill>
        <p:spPr>
          <a:xfrm>
            <a:off x="4810297" y="1502967"/>
            <a:ext cx="4038714" cy="1646030"/>
          </a:xfrm>
          <a:prstGeom prst="rect">
            <a:avLst/>
          </a:prstGeom>
          <a:ln>
            <a:solidFill>
              <a:schemeClr val="accent1"/>
            </a:solidFill>
          </a:ln>
        </p:spPr>
      </p:pic>
      <p:pic>
        <p:nvPicPr>
          <p:cNvPr id="6" name="Picture 5">
            <a:extLst>
              <a:ext uri="{FF2B5EF4-FFF2-40B4-BE49-F238E27FC236}">
                <a16:creationId xmlns:a16="http://schemas.microsoft.com/office/drawing/2014/main" id="{3355735C-080B-6C37-39FC-C33504F0CDBC}"/>
              </a:ext>
            </a:extLst>
          </p:cNvPr>
          <p:cNvPicPr>
            <a:picLocks noChangeAspect="1"/>
          </p:cNvPicPr>
          <p:nvPr/>
        </p:nvPicPr>
        <p:blipFill>
          <a:blip r:embed="rId3"/>
          <a:stretch>
            <a:fillRect/>
          </a:stretch>
        </p:blipFill>
        <p:spPr>
          <a:xfrm>
            <a:off x="277148" y="1502968"/>
            <a:ext cx="4320760" cy="1646030"/>
          </a:xfrm>
          <a:prstGeom prst="rect">
            <a:avLst/>
          </a:prstGeom>
          <a:ln>
            <a:solidFill>
              <a:schemeClr val="accent1"/>
            </a:solidFill>
          </a:ln>
        </p:spPr>
      </p:pic>
      <p:sp>
        <p:nvSpPr>
          <p:cNvPr id="7" name="TextBox 6">
            <a:extLst>
              <a:ext uri="{FF2B5EF4-FFF2-40B4-BE49-F238E27FC236}">
                <a16:creationId xmlns:a16="http://schemas.microsoft.com/office/drawing/2014/main" id="{38635370-B20C-204E-5350-8B054016121C}"/>
              </a:ext>
            </a:extLst>
          </p:cNvPr>
          <p:cNvSpPr txBox="1"/>
          <p:nvPr/>
        </p:nvSpPr>
        <p:spPr>
          <a:xfrm>
            <a:off x="1529138" y="883246"/>
            <a:ext cx="1816779" cy="584775"/>
          </a:xfrm>
          <a:prstGeom prst="rect">
            <a:avLst/>
          </a:prstGeom>
          <a:noFill/>
        </p:spPr>
        <p:txBody>
          <a:bodyPr wrap="none" rtlCol="0">
            <a:spAutoFit/>
          </a:bodyPr>
          <a:lstStyle/>
          <a:p>
            <a:r>
              <a:rPr lang="en-US" sz="3200" b="1" dirty="0"/>
              <a:t>Oversight</a:t>
            </a:r>
          </a:p>
        </p:txBody>
      </p:sp>
      <p:sp>
        <p:nvSpPr>
          <p:cNvPr id="8" name="TextBox 7">
            <a:extLst>
              <a:ext uri="{FF2B5EF4-FFF2-40B4-BE49-F238E27FC236}">
                <a16:creationId xmlns:a16="http://schemas.microsoft.com/office/drawing/2014/main" id="{3FF4F540-D5D5-CFAB-3BD6-889EA5BF65F5}"/>
              </a:ext>
            </a:extLst>
          </p:cNvPr>
          <p:cNvSpPr txBox="1"/>
          <p:nvPr/>
        </p:nvSpPr>
        <p:spPr>
          <a:xfrm>
            <a:off x="5269771" y="883246"/>
            <a:ext cx="3119765" cy="584775"/>
          </a:xfrm>
          <a:prstGeom prst="rect">
            <a:avLst/>
          </a:prstGeom>
          <a:noFill/>
        </p:spPr>
        <p:txBody>
          <a:bodyPr wrap="none" rtlCol="0">
            <a:spAutoFit/>
          </a:bodyPr>
          <a:lstStyle/>
          <a:p>
            <a:r>
              <a:rPr lang="en-US" sz="3200" b="1" dirty="0"/>
              <a:t>Process imitation</a:t>
            </a:r>
          </a:p>
        </p:txBody>
      </p:sp>
      <p:sp>
        <p:nvSpPr>
          <p:cNvPr id="9" name="TextBox 8">
            <a:extLst>
              <a:ext uri="{FF2B5EF4-FFF2-40B4-BE49-F238E27FC236}">
                <a16:creationId xmlns:a16="http://schemas.microsoft.com/office/drawing/2014/main" id="{F892E668-00EF-BD80-1A57-2881AEB0E857}"/>
              </a:ext>
            </a:extLst>
          </p:cNvPr>
          <p:cNvSpPr txBox="1"/>
          <p:nvPr/>
        </p:nvSpPr>
        <p:spPr>
          <a:xfrm>
            <a:off x="5208767" y="3183943"/>
            <a:ext cx="3246979" cy="369332"/>
          </a:xfrm>
          <a:prstGeom prst="rect">
            <a:avLst/>
          </a:prstGeom>
          <a:noFill/>
        </p:spPr>
        <p:txBody>
          <a:bodyPr wrap="none" rtlCol="0">
            <a:spAutoFit/>
          </a:bodyPr>
          <a:lstStyle/>
          <a:p>
            <a:r>
              <a:rPr lang="en-US" b="1" i="1" dirty="0"/>
              <a:t>Personas, </a:t>
            </a:r>
            <a:r>
              <a:rPr lang="en-US" b="1" dirty="0"/>
              <a:t>e.g.</a:t>
            </a:r>
            <a:r>
              <a:rPr lang="en-US" b="1" i="1" dirty="0"/>
              <a:t>, Yegge’s Gastown</a:t>
            </a:r>
          </a:p>
        </p:txBody>
      </p:sp>
      <p:sp>
        <p:nvSpPr>
          <p:cNvPr id="11" name="TextBox 10">
            <a:extLst>
              <a:ext uri="{FF2B5EF4-FFF2-40B4-BE49-F238E27FC236}">
                <a16:creationId xmlns:a16="http://schemas.microsoft.com/office/drawing/2014/main" id="{A00020D7-F991-4AF1-38AD-ADED9469A8F9}"/>
              </a:ext>
            </a:extLst>
          </p:cNvPr>
          <p:cNvSpPr txBox="1"/>
          <p:nvPr/>
        </p:nvSpPr>
        <p:spPr>
          <a:xfrm>
            <a:off x="454273" y="3602975"/>
            <a:ext cx="4143635" cy="584775"/>
          </a:xfrm>
          <a:prstGeom prst="rect">
            <a:avLst/>
          </a:prstGeom>
          <a:noFill/>
        </p:spPr>
        <p:txBody>
          <a:bodyPr wrap="none" rtlCol="0">
            <a:spAutoFit/>
          </a:bodyPr>
          <a:lstStyle/>
          <a:p>
            <a:r>
              <a:rPr lang="en-US" sz="3200" i="1" dirty="0"/>
              <a:t>Does not scale / </a:t>
            </a:r>
            <a:r>
              <a:rPr lang="en-US" sz="3200" i="1" dirty="0" err="1"/>
              <a:t>DevExp</a:t>
            </a:r>
            <a:endParaRPr lang="en-US" sz="3200" i="1" dirty="0"/>
          </a:p>
        </p:txBody>
      </p:sp>
      <p:sp>
        <p:nvSpPr>
          <p:cNvPr id="12" name="TextBox 11">
            <a:extLst>
              <a:ext uri="{FF2B5EF4-FFF2-40B4-BE49-F238E27FC236}">
                <a16:creationId xmlns:a16="http://schemas.microsoft.com/office/drawing/2014/main" id="{80441E97-BACB-0B0D-AD60-25F5D7C1C5ED}"/>
              </a:ext>
            </a:extLst>
          </p:cNvPr>
          <p:cNvSpPr txBox="1"/>
          <p:nvPr/>
        </p:nvSpPr>
        <p:spPr>
          <a:xfrm>
            <a:off x="4765241" y="3565266"/>
            <a:ext cx="4124591" cy="584775"/>
          </a:xfrm>
          <a:prstGeom prst="rect">
            <a:avLst/>
          </a:prstGeom>
          <a:noFill/>
        </p:spPr>
        <p:txBody>
          <a:bodyPr wrap="none" rtlCol="0">
            <a:spAutoFit/>
          </a:bodyPr>
          <a:lstStyle/>
          <a:p>
            <a:r>
              <a:rPr lang="en-US" sz="3200" i="1" dirty="0"/>
              <a:t>Process is not judgment</a:t>
            </a:r>
          </a:p>
        </p:txBody>
      </p:sp>
      <p:sp>
        <p:nvSpPr>
          <p:cNvPr id="14" name="TextBox 13">
            <a:extLst>
              <a:ext uri="{FF2B5EF4-FFF2-40B4-BE49-F238E27FC236}">
                <a16:creationId xmlns:a16="http://schemas.microsoft.com/office/drawing/2014/main" id="{A56DA766-880A-AE61-221C-644517DA759F}"/>
              </a:ext>
            </a:extLst>
          </p:cNvPr>
          <p:cNvSpPr txBox="1"/>
          <p:nvPr/>
        </p:nvSpPr>
        <p:spPr>
          <a:xfrm>
            <a:off x="0" y="4782522"/>
            <a:ext cx="9067972" cy="1200329"/>
          </a:xfrm>
          <a:prstGeom prst="rect">
            <a:avLst/>
          </a:prstGeom>
          <a:noFill/>
        </p:spPr>
        <p:txBody>
          <a:bodyPr wrap="square" rtlCol="0">
            <a:spAutoFit/>
          </a:bodyPr>
          <a:lstStyle/>
          <a:p>
            <a:pPr algn="ctr"/>
            <a:r>
              <a:rPr lang="en-US" sz="3600" b="1" i="1" dirty="0"/>
              <a:t>Q: How do we retain agentic velocity while preserving engineering judgment &amp; oversight?</a:t>
            </a:r>
          </a:p>
        </p:txBody>
      </p:sp>
      <p:sp>
        <p:nvSpPr>
          <p:cNvPr id="15" name="TextBox 14">
            <a:extLst>
              <a:ext uri="{FF2B5EF4-FFF2-40B4-BE49-F238E27FC236}">
                <a16:creationId xmlns:a16="http://schemas.microsoft.com/office/drawing/2014/main" id="{2B71936A-7704-7794-2C33-F1A1B728C1A0}"/>
              </a:ext>
            </a:extLst>
          </p:cNvPr>
          <p:cNvSpPr txBox="1"/>
          <p:nvPr/>
        </p:nvSpPr>
        <p:spPr>
          <a:xfrm>
            <a:off x="1131781" y="3244334"/>
            <a:ext cx="2918941" cy="369332"/>
          </a:xfrm>
          <a:prstGeom prst="rect">
            <a:avLst/>
          </a:prstGeom>
          <a:noFill/>
        </p:spPr>
        <p:txBody>
          <a:bodyPr wrap="none" rtlCol="0">
            <a:spAutoFit/>
          </a:bodyPr>
          <a:lstStyle/>
          <a:p>
            <a:r>
              <a:rPr lang="en-US" b="1" i="1" dirty="0"/>
              <a:t>“My job is now code review”</a:t>
            </a:r>
          </a:p>
        </p:txBody>
      </p:sp>
    </p:spTree>
    <p:extLst>
      <p:ext uri="{BB962C8B-B14F-4D97-AF65-F5344CB8AC3E}">
        <p14:creationId xmlns:p14="http://schemas.microsoft.com/office/powerpoint/2010/main" val="1907780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67357-5211-9825-FCD2-D2103569F4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79C480-3BEA-01EB-B16C-E75CB5A2F28A}"/>
              </a:ext>
            </a:extLst>
          </p:cNvPr>
          <p:cNvSpPr>
            <a:spLocks noGrp="1"/>
          </p:cNvSpPr>
          <p:nvPr>
            <p:ph idx="1"/>
          </p:nvPr>
        </p:nvSpPr>
        <p:spPr>
          <a:ln>
            <a:solidFill>
              <a:schemeClr val="bg1"/>
            </a:solidFill>
          </a:ln>
        </p:spPr>
        <p:txBody>
          <a:bodyPr/>
          <a:lstStyle/>
          <a:p>
            <a:pPr marL="342900" indent="-342900">
              <a:buFont typeface="+mj-lt"/>
              <a:buAutoNum type="arabicPeriod"/>
            </a:pPr>
            <a:r>
              <a:rPr lang="en-US" dirty="0">
                <a:solidFill>
                  <a:schemeClr val="accent6">
                    <a:lumMod val="40000"/>
                    <a:lumOff val="60000"/>
                  </a:schemeClr>
                </a:solidFill>
              </a:rPr>
              <a:t>Who am I and why am I here</a:t>
            </a:r>
          </a:p>
          <a:p>
            <a:pPr marL="342900" indent="-342900">
              <a:buFont typeface="+mj-lt"/>
              <a:buAutoNum type="arabicPeriod"/>
            </a:pPr>
            <a:r>
              <a:rPr lang="en-US" b="1" dirty="0">
                <a:solidFill>
                  <a:schemeClr val="accent6">
                    <a:lumMod val="40000"/>
                    <a:lumOff val="60000"/>
                  </a:schemeClr>
                </a:solidFill>
              </a:rPr>
              <a:t>The substrate: Engineering shifts in response to technology change</a:t>
            </a:r>
          </a:p>
          <a:p>
            <a:pPr marL="342900" indent="-342900">
              <a:buFont typeface="+mj-lt"/>
              <a:buAutoNum type="arabicPeriod"/>
            </a:pPr>
            <a:r>
              <a:rPr lang="en-US" dirty="0">
                <a:solidFill>
                  <a:schemeClr val="accent6">
                    <a:lumMod val="40000"/>
                    <a:lumOff val="60000"/>
                  </a:schemeClr>
                </a:solidFill>
              </a:rPr>
              <a:t>Vibe coding</a:t>
            </a:r>
          </a:p>
          <a:p>
            <a:pPr marL="342900" indent="-342900">
              <a:buFont typeface="+mj-lt"/>
              <a:buAutoNum type="arabicPeriod"/>
            </a:pPr>
            <a:r>
              <a:rPr lang="en-US" b="1" dirty="0">
                <a:solidFill>
                  <a:schemeClr val="bg1"/>
                </a:solidFill>
              </a:rPr>
              <a:t>MAGE</a:t>
            </a:r>
          </a:p>
          <a:p>
            <a:pPr marL="342900" indent="-342900">
              <a:buFont typeface="+mj-lt"/>
              <a:buAutoNum type="arabicPeriod"/>
            </a:pPr>
            <a:r>
              <a:rPr lang="en-US" dirty="0">
                <a:solidFill>
                  <a:schemeClr val="accent6">
                    <a:lumMod val="40000"/>
                    <a:lumOff val="60000"/>
                  </a:schemeClr>
                </a:solidFill>
              </a:rPr>
              <a:t>Modeling</a:t>
            </a:r>
          </a:p>
          <a:p>
            <a:pPr marL="342900" indent="-342900">
              <a:buFont typeface="+mj-lt"/>
              <a:buAutoNum type="arabicPeriod"/>
            </a:pPr>
            <a:r>
              <a:rPr lang="en-US" dirty="0">
                <a:solidFill>
                  <a:schemeClr val="accent6">
                    <a:lumMod val="40000"/>
                    <a:lumOff val="60000"/>
                  </a:schemeClr>
                </a:solidFill>
              </a:rPr>
              <a:t>Alignment</a:t>
            </a:r>
          </a:p>
          <a:p>
            <a:pPr marL="342900" indent="-342900">
              <a:buFont typeface="+mj-lt"/>
              <a:buAutoNum type="arabicPeriod"/>
            </a:pPr>
            <a:r>
              <a:rPr lang="en-US" dirty="0">
                <a:solidFill>
                  <a:schemeClr val="accent6">
                    <a:lumMod val="40000"/>
                    <a:lumOff val="60000"/>
                  </a:schemeClr>
                </a:solidFill>
              </a:rPr>
              <a:t>Putting it together: The MAGE Method</a:t>
            </a:r>
          </a:p>
          <a:p>
            <a:pPr marL="342900" indent="-342900">
              <a:buFont typeface="+mj-lt"/>
              <a:buAutoNum type="arabicPeriod"/>
            </a:pPr>
            <a:r>
              <a:rPr lang="en-US" dirty="0">
                <a:solidFill>
                  <a:schemeClr val="accent6">
                    <a:lumMod val="40000"/>
                    <a:lumOff val="60000"/>
                  </a:schemeClr>
                </a:solidFill>
              </a:rPr>
              <a:t>Related work and Implications: for engineering, for research, for education</a:t>
            </a:r>
          </a:p>
          <a:p>
            <a:pPr marL="0" indent="0">
              <a:buNone/>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6985902A-D44F-5C77-115A-D981BB1F4620}"/>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55974CB1-89FB-8700-A151-32D87C1164CA}"/>
              </a:ext>
            </a:extLst>
          </p:cNvPr>
          <p:cNvSpPr>
            <a:spLocks noGrp="1"/>
          </p:cNvSpPr>
          <p:nvPr>
            <p:ph type="sldNum" sz="quarter" idx="4"/>
          </p:nvPr>
        </p:nvSpPr>
        <p:spPr/>
        <p:txBody>
          <a:bodyPr/>
          <a:lstStyle/>
          <a:p>
            <a:fld id="{B7EB45DA-9A0D-DC49-8E02-F30A5DDC21C3}" type="slidenum">
              <a:rPr lang="en-US" smtClean="0"/>
              <a:t>22</a:t>
            </a:fld>
            <a:endParaRPr lang="en-US"/>
          </a:p>
        </p:txBody>
      </p:sp>
    </p:spTree>
    <p:extLst>
      <p:ext uri="{BB962C8B-B14F-4D97-AF65-F5344CB8AC3E}">
        <p14:creationId xmlns:p14="http://schemas.microsoft.com/office/powerpoint/2010/main" val="1810759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F6B113-0A54-C54F-7C02-69E5356750F3}"/>
              </a:ext>
            </a:extLst>
          </p:cNvPr>
          <p:cNvSpPr>
            <a:spLocks noGrp="1"/>
          </p:cNvSpPr>
          <p:nvPr>
            <p:ph type="title"/>
          </p:nvPr>
        </p:nvSpPr>
        <p:spPr/>
        <p:txBody>
          <a:bodyPr>
            <a:normAutofit fontScale="90000"/>
          </a:bodyPr>
          <a:lstStyle/>
          <a:p>
            <a:r>
              <a:rPr lang="en-US" dirty="0"/>
              <a:t>Mage principles: Modeling and Alignment</a:t>
            </a:r>
          </a:p>
        </p:txBody>
      </p:sp>
      <p:sp>
        <p:nvSpPr>
          <p:cNvPr id="2" name="Slide Number Placeholder 1">
            <a:extLst>
              <a:ext uri="{FF2B5EF4-FFF2-40B4-BE49-F238E27FC236}">
                <a16:creationId xmlns:a16="http://schemas.microsoft.com/office/drawing/2014/main" id="{39AFD0B7-2C8A-B7D9-9A42-5BD78E0ED25C}"/>
              </a:ext>
            </a:extLst>
          </p:cNvPr>
          <p:cNvSpPr>
            <a:spLocks noGrp="1"/>
          </p:cNvSpPr>
          <p:nvPr>
            <p:ph type="sldNum" sz="quarter" idx="4"/>
          </p:nvPr>
        </p:nvSpPr>
        <p:spPr/>
        <p:txBody>
          <a:bodyPr/>
          <a:lstStyle/>
          <a:p>
            <a:fld id="{B7EB45DA-9A0D-DC49-8E02-F30A5DDC21C3}" type="slidenum">
              <a:rPr lang="en-US" smtClean="0"/>
              <a:t>23</a:t>
            </a:fld>
            <a:endParaRPr lang="en-US"/>
          </a:p>
        </p:txBody>
      </p:sp>
      <p:pic>
        <p:nvPicPr>
          <p:cNvPr id="3" name="Picture 2">
            <a:extLst>
              <a:ext uri="{FF2B5EF4-FFF2-40B4-BE49-F238E27FC236}">
                <a16:creationId xmlns:a16="http://schemas.microsoft.com/office/drawing/2014/main" id="{650C72C1-0FFE-81D3-0270-9DADF78BD879}"/>
              </a:ext>
            </a:extLst>
          </p:cNvPr>
          <p:cNvPicPr>
            <a:picLocks noChangeAspect="1"/>
          </p:cNvPicPr>
          <p:nvPr/>
        </p:nvPicPr>
        <p:blipFill>
          <a:blip r:embed="rId2"/>
          <a:stretch>
            <a:fillRect/>
          </a:stretch>
        </p:blipFill>
        <p:spPr>
          <a:xfrm>
            <a:off x="89680" y="1883664"/>
            <a:ext cx="8964639" cy="2760164"/>
          </a:xfrm>
          <a:prstGeom prst="rect">
            <a:avLst/>
          </a:prstGeom>
        </p:spPr>
      </p:pic>
    </p:spTree>
    <p:extLst>
      <p:ext uri="{BB962C8B-B14F-4D97-AF65-F5344CB8AC3E}">
        <p14:creationId xmlns:p14="http://schemas.microsoft.com/office/powerpoint/2010/main" val="2187757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801D3E-CA03-DDE1-F50F-4F4FD7887A2B}"/>
              </a:ext>
            </a:extLst>
          </p:cNvPr>
          <p:cNvSpPr>
            <a:spLocks noGrp="1"/>
          </p:cNvSpPr>
          <p:nvPr>
            <p:ph type="sldNum" sz="quarter" idx="4"/>
          </p:nvPr>
        </p:nvSpPr>
        <p:spPr/>
        <p:txBody>
          <a:bodyPr/>
          <a:lstStyle/>
          <a:p>
            <a:fld id="{B7EB45DA-9A0D-DC49-8E02-F30A5DDC21C3}" type="slidenum">
              <a:rPr lang="en-US" smtClean="0"/>
              <a:t>24</a:t>
            </a:fld>
            <a:endParaRPr lang="en-US"/>
          </a:p>
        </p:txBody>
      </p:sp>
      <p:pic>
        <p:nvPicPr>
          <p:cNvPr id="6" name="Picture 5">
            <a:extLst>
              <a:ext uri="{FF2B5EF4-FFF2-40B4-BE49-F238E27FC236}">
                <a16:creationId xmlns:a16="http://schemas.microsoft.com/office/drawing/2014/main" id="{FAC08FA6-F1C7-0A29-7250-BAFA9429DC8E}"/>
              </a:ext>
            </a:extLst>
          </p:cNvPr>
          <p:cNvPicPr>
            <a:picLocks noChangeAspect="1"/>
          </p:cNvPicPr>
          <p:nvPr/>
        </p:nvPicPr>
        <p:blipFill>
          <a:blip r:embed="rId2"/>
          <a:stretch>
            <a:fillRect/>
          </a:stretch>
        </p:blipFill>
        <p:spPr>
          <a:xfrm>
            <a:off x="1834702" y="0"/>
            <a:ext cx="7284806" cy="6858000"/>
          </a:xfrm>
          <a:prstGeom prst="rect">
            <a:avLst/>
          </a:prstGeom>
        </p:spPr>
      </p:pic>
      <p:sp>
        <p:nvSpPr>
          <p:cNvPr id="2" name="TextBox 1">
            <a:extLst>
              <a:ext uri="{FF2B5EF4-FFF2-40B4-BE49-F238E27FC236}">
                <a16:creationId xmlns:a16="http://schemas.microsoft.com/office/drawing/2014/main" id="{6E23EEA0-7A3C-98FC-673F-0986481690F1}"/>
              </a:ext>
            </a:extLst>
          </p:cNvPr>
          <p:cNvSpPr txBox="1"/>
          <p:nvPr/>
        </p:nvSpPr>
        <p:spPr>
          <a:xfrm>
            <a:off x="24492" y="1322195"/>
            <a:ext cx="1676100" cy="1323439"/>
          </a:xfrm>
          <a:prstGeom prst="rect">
            <a:avLst/>
          </a:prstGeom>
          <a:noFill/>
        </p:spPr>
        <p:txBody>
          <a:bodyPr wrap="none" rtlCol="0">
            <a:spAutoFit/>
          </a:bodyPr>
          <a:lstStyle/>
          <a:p>
            <a:pPr algn="ctr"/>
            <a:r>
              <a:rPr lang="en-US" sz="4000" b="1" dirty="0"/>
              <a:t>MAGE</a:t>
            </a:r>
          </a:p>
          <a:p>
            <a:pPr algn="ctr"/>
            <a:r>
              <a:rPr lang="en-US" sz="4000" b="1" dirty="0"/>
              <a:t>Theory</a:t>
            </a:r>
          </a:p>
        </p:txBody>
      </p:sp>
      <p:pic>
        <p:nvPicPr>
          <p:cNvPr id="5" name="Picture 4">
            <a:extLst>
              <a:ext uri="{FF2B5EF4-FFF2-40B4-BE49-F238E27FC236}">
                <a16:creationId xmlns:a16="http://schemas.microsoft.com/office/drawing/2014/main" id="{21CE0242-9C99-FF40-80B3-7CFB86EAD87D}"/>
              </a:ext>
            </a:extLst>
          </p:cNvPr>
          <p:cNvPicPr>
            <a:picLocks noChangeAspect="1"/>
          </p:cNvPicPr>
          <p:nvPr/>
        </p:nvPicPr>
        <p:blipFill>
          <a:blip r:embed="rId3"/>
          <a:stretch>
            <a:fillRect/>
          </a:stretch>
        </p:blipFill>
        <p:spPr>
          <a:xfrm>
            <a:off x="158619" y="2768422"/>
            <a:ext cx="1407846" cy="1443945"/>
          </a:xfrm>
          <a:prstGeom prst="rect">
            <a:avLst/>
          </a:prstGeom>
        </p:spPr>
      </p:pic>
      <p:sp>
        <p:nvSpPr>
          <p:cNvPr id="7" name="TextBox 6">
            <a:extLst>
              <a:ext uri="{FF2B5EF4-FFF2-40B4-BE49-F238E27FC236}">
                <a16:creationId xmlns:a16="http://schemas.microsoft.com/office/drawing/2014/main" id="{81765294-9B9B-C40D-65B1-0EE47D5B997D}"/>
              </a:ext>
            </a:extLst>
          </p:cNvPr>
          <p:cNvSpPr txBox="1"/>
          <p:nvPr/>
        </p:nvSpPr>
        <p:spPr>
          <a:xfrm>
            <a:off x="-50622" y="4212367"/>
            <a:ext cx="1885324" cy="369332"/>
          </a:xfrm>
          <a:prstGeom prst="rect">
            <a:avLst/>
          </a:prstGeom>
          <a:noFill/>
        </p:spPr>
        <p:txBody>
          <a:bodyPr wrap="none" rtlCol="0">
            <a:spAutoFit/>
          </a:bodyPr>
          <a:lstStyle/>
          <a:p>
            <a:r>
              <a:rPr lang="en-US" i="1" dirty="0"/>
              <a:t>Blog, links to book</a:t>
            </a:r>
          </a:p>
        </p:txBody>
      </p:sp>
    </p:spTree>
    <p:extLst>
      <p:ext uri="{BB962C8B-B14F-4D97-AF65-F5344CB8AC3E}">
        <p14:creationId xmlns:p14="http://schemas.microsoft.com/office/powerpoint/2010/main" val="2527788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34C1CD-E008-DDE4-CE48-CD4FBFC250D3}"/>
              </a:ext>
            </a:extLst>
          </p:cNvPr>
          <p:cNvSpPr>
            <a:spLocks noGrp="1"/>
          </p:cNvSpPr>
          <p:nvPr>
            <p:ph type="title"/>
          </p:nvPr>
        </p:nvSpPr>
        <p:spPr>
          <a:xfrm>
            <a:off x="54864" y="136525"/>
            <a:ext cx="9287476" cy="638175"/>
          </a:xfrm>
        </p:spPr>
        <p:txBody>
          <a:bodyPr>
            <a:normAutofit fontScale="90000"/>
          </a:bodyPr>
          <a:lstStyle/>
          <a:p>
            <a:r>
              <a:rPr lang="en-US" dirty="0"/>
              <a:t>MAGE captures industry descriptions of “effective Agentic SE”</a:t>
            </a:r>
          </a:p>
        </p:txBody>
      </p:sp>
      <p:sp>
        <p:nvSpPr>
          <p:cNvPr id="4" name="Slide Number Placeholder 3">
            <a:extLst>
              <a:ext uri="{FF2B5EF4-FFF2-40B4-BE49-F238E27FC236}">
                <a16:creationId xmlns:a16="http://schemas.microsoft.com/office/drawing/2014/main" id="{1BF78F75-38D7-6E5A-8F94-2C076A8876DF}"/>
              </a:ext>
            </a:extLst>
          </p:cNvPr>
          <p:cNvSpPr>
            <a:spLocks noGrp="1"/>
          </p:cNvSpPr>
          <p:nvPr>
            <p:ph type="sldNum" sz="quarter" idx="4"/>
          </p:nvPr>
        </p:nvSpPr>
        <p:spPr/>
        <p:txBody>
          <a:bodyPr/>
          <a:lstStyle/>
          <a:p>
            <a:fld id="{B7EB45DA-9A0D-DC49-8E02-F30A5DDC21C3}" type="slidenum">
              <a:rPr lang="en-US" smtClean="0"/>
              <a:t>25</a:t>
            </a:fld>
            <a:endParaRPr lang="en-US"/>
          </a:p>
        </p:txBody>
      </p:sp>
      <p:pic>
        <p:nvPicPr>
          <p:cNvPr id="5" name="Picture 4">
            <a:extLst>
              <a:ext uri="{FF2B5EF4-FFF2-40B4-BE49-F238E27FC236}">
                <a16:creationId xmlns:a16="http://schemas.microsoft.com/office/drawing/2014/main" id="{5FD8DFD5-76B6-EE38-1249-CEF0A48A2A95}"/>
              </a:ext>
            </a:extLst>
          </p:cNvPr>
          <p:cNvPicPr>
            <a:picLocks noChangeAspect="1"/>
          </p:cNvPicPr>
          <p:nvPr/>
        </p:nvPicPr>
        <p:blipFill>
          <a:blip r:embed="rId2"/>
          <a:stretch>
            <a:fillRect/>
          </a:stretch>
        </p:blipFill>
        <p:spPr>
          <a:xfrm>
            <a:off x="548610" y="1513400"/>
            <a:ext cx="7772400" cy="4294549"/>
          </a:xfrm>
          <a:prstGeom prst="rect">
            <a:avLst/>
          </a:prstGeom>
        </p:spPr>
      </p:pic>
    </p:spTree>
    <p:extLst>
      <p:ext uri="{BB962C8B-B14F-4D97-AF65-F5344CB8AC3E}">
        <p14:creationId xmlns:p14="http://schemas.microsoft.com/office/powerpoint/2010/main" val="1468634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D032B-7703-1D00-282D-A18F0748E8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3BFB78-5927-1A83-09DA-B861ECF2D592}"/>
              </a:ext>
            </a:extLst>
          </p:cNvPr>
          <p:cNvSpPr>
            <a:spLocks noGrp="1"/>
          </p:cNvSpPr>
          <p:nvPr>
            <p:ph idx="1"/>
          </p:nvPr>
        </p:nvSpPr>
        <p:spPr>
          <a:ln>
            <a:solidFill>
              <a:schemeClr val="bg1"/>
            </a:solidFill>
          </a:ln>
        </p:spPr>
        <p:txBody>
          <a:bodyPr/>
          <a:lstStyle/>
          <a:p>
            <a:pPr marL="342900" indent="-342900">
              <a:buFont typeface="+mj-lt"/>
              <a:buAutoNum type="arabicPeriod"/>
            </a:pPr>
            <a:r>
              <a:rPr lang="en-US" dirty="0">
                <a:solidFill>
                  <a:schemeClr val="accent6">
                    <a:lumMod val="40000"/>
                    <a:lumOff val="60000"/>
                  </a:schemeClr>
                </a:solidFill>
              </a:rPr>
              <a:t>Who am I and why am I here</a:t>
            </a:r>
          </a:p>
          <a:p>
            <a:pPr marL="342900" indent="-342900">
              <a:buFont typeface="+mj-lt"/>
              <a:buAutoNum type="arabicPeriod"/>
            </a:pPr>
            <a:r>
              <a:rPr lang="en-US" b="1" dirty="0">
                <a:solidFill>
                  <a:schemeClr val="accent6">
                    <a:lumMod val="40000"/>
                    <a:lumOff val="60000"/>
                  </a:schemeClr>
                </a:solidFill>
              </a:rPr>
              <a:t>The substrate: Engineering shifts in response to technology change</a:t>
            </a:r>
          </a:p>
          <a:p>
            <a:pPr marL="342900" indent="-342900">
              <a:buFont typeface="+mj-lt"/>
              <a:buAutoNum type="arabicPeriod"/>
            </a:pPr>
            <a:r>
              <a:rPr lang="en-US" dirty="0">
                <a:solidFill>
                  <a:schemeClr val="accent6">
                    <a:lumMod val="40000"/>
                    <a:lumOff val="60000"/>
                  </a:schemeClr>
                </a:solidFill>
              </a:rPr>
              <a:t>Vibe coding</a:t>
            </a:r>
          </a:p>
          <a:p>
            <a:pPr marL="342900" indent="-342900">
              <a:buFont typeface="+mj-lt"/>
              <a:buAutoNum type="arabicPeriod"/>
            </a:pPr>
            <a:r>
              <a:rPr lang="en-US" dirty="0">
                <a:solidFill>
                  <a:schemeClr val="accent6">
                    <a:lumMod val="40000"/>
                    <a:lumOff val="60000"/>
                  </a:schemeClr>
                </a:solidFill>
              </a:rPr>
              <a:t>MAGE</a:t>
            </a:r>
          </a:p>
          <a:p>
            <a:pPr marL="342900" indent="-342900">
              <a:buFont typeface="+mj-lt"/>
              <a:buAutoNum type="arabicPeriod"/>
            </a:pPr>
            <a:r>
              <a:rPr lang="en-US" b="1" dirty="0">
                <a:solidFill>
                  <a:schemeClr val="bg1"/>
                </a:solidFill>
              </a:rPr>
              <a:t>Modeling</a:t>
            </a:r>
          </a:p>
          <a:p>
            <a:pPr marL="342900" indent="-342900">
              <a:buFont typeface="+mj-lt"/>
              <a:buAutoNum type="arabicPeriod"/>
            </a:pPr>
            <a:r>
              <a:rPr lang="en-US" dirty="0">
                <a:solidFill>
                  <a:schemeClr val="accent6">
                    <a:lumMod val="40000"/>
                    <a:lumOff val="60000"/>
                  </a:schemeClr>
                </a:solidFill>
              </a:rPr>
              <a:t>Alignment</a:t>
            </a:r>
          </a:p>
          <a:p>
            <a:pPr marL="342900" indent="-342900">
              <a:buFont typeface="+mj-lt"/>
              <a:buAutoNum type="arabicPeriod"/>
            </a:pPr>
            <a:r>
              <a:rPr lang="en-US" dirty="0">
                <a:solidFill>
                  <a:schemeClr val="accent6">
                    <a:lumMod val="40000"/>
                    <a:lumOff val="60000"/>
                  </a:schemeClr>
                </a:solidFill>
              </a:rPr>
              <a:t>Putting it together: The MAGE Method</a:t>
            </a:r>
          </a:p>
          <a:p>
            <a:pPr marL="342900" indent="-342900">
              <a:buFont typeface="+mj-lt"/>
              <a:buAutoNum type="arabicPeriod"/>
            </a:pPr>
            <a:r>
              <a:rPr lang="en-US" dirty="0">
                <a:solidFill>
                  <a:schemeClr val="accent6">
                    <a:lumMod val="40000"/>
                    <a:lumOff val="60000"/>
                  </a:schemeClr>
                </a:solidFill>
              </a:rPr>
              <a:t>Related work and Implications: for engineering, for research, for education</a:t>
            </a:r>
          </a:p>
          <a:p>
            <a:pPr marL="0" indent="0">
              <a:buNone/>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5A7AA74E-3864-7AFD-9495-54F5AC26CFB5}"/>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1D8FF06A-7E5A-BFA8-C499-CE3C81D98E0B}"/>
              </a:ext>
            </a:extLst>
          </p:cNvPr>
          <p:cNvSpPr>
            <a:spLocks noGrp="1"/>
          </p:cNvSpPr>
          <p:nvPr>
            <p:ph type="sldNum" sz="quarter" idx="4"/>
          </p:nvPr>
        </p:nvSpPr>
        <p:spPr/>
        <p:txBody>
          <a:bodyPr/>
          <a:lstStyle/>
          <a:p>
            <a:fld id="{B7EB45DA-9A0D-DC49-8E02-F30A5DDC21C3}" type="slidenum">
              <a:rPr lang="en-US" smtClean="0"/>
              <a:t>26</a:t>
            </a:fld>
            <a:endParaRPr lang="en-US"/>
          </a:p>
        </p:txBody>
      </p:sp>
    </p:spTree>
    <p:extLst>
      <p:ext uri="{BB962C8B-B14F-4D97-AF65-F5344CB8AC3E}">
        <p14:creationId xmlns:p14="http://schemas.microsoft.com/office/powerpoint/2010/main" val="650380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282B6E-667C-E2A6-50FB-28D9B3E49457}"/>
              </a:ext>
            </a:extLst>
          </p:cNvPr>
          <p:cNvSpPr>
            <a:spLocks noGrp="1"/>
          </p:cNvSpPr>
          <p:nvPr>
            <p:ph type="title"/>
          </p:nvPr>
        </p:nvSpPr>
        <p:spPr>
          <a:xfrm>
            <a:off x="277148" y="118428"/>
            <a:ext cx="8557768" cy="638175"/>
          </a:xfrm>
        </p:spPr>
        <p:txBody>
          <a:bodyPr>
            <a:normAutofit fontScale="90000"/>
          </a:bodyPr>
          <a:lstStyle/>
          <a:p>
            <a:r>
              <a:rPr lang="en-US" dirty="0"/>
              <a:t>Modeling </a:t>
            </a:r>
            <a:r>
              <a:rPr lang="en-US" dirty="0">
                <a:sym typeface="Wingdings" pitchFamily="2" charset="2"/>
              </a:rPr>
              <a:t> Coherence	  | 	No modeling  Churn</a:t>
            </a:r>
            <a:endParaRPr lang="en-US" dirty="0"/>
          </a:p>
        </p:txBody>
      </p:sp>
      <p:sp>
        <p:nvSpPr>
          <p:cNvPr id="4" name="Slide Number Placeholder 3">
            <a:extLst>
              <a:ext uri="{FF2B5EF4-FFF2-40B4-BE49-F238E27FC236}">
                <a16:creationId xmlns:a16="http://schemas.microsoft.com/office/drawing/2014/main" id="{FB920360-290F-B220-F80F-A0DCC876A10D}"/>
              </a:ext>
            </a:extLst>
          </p:cNvPr>
          <p:cNvSpPr>
            <a:spLocks noGrp="1"/>
          </p:cNvSpPr>
          <p:nvPr>
            <p:ph type="sldNum" sz="quarter" idx="4"/>
          </p:nvPr>
        </p:nvSpPr>
        <p:spPr/>
        <p:txBody>
          <a:bodyPr/>
          <a:lstStyle/>
          <a:p>
            <a:fld id="{B7EB45DA-9A0D-DC49-8E02-F30A5DDC21C3}" type="slidenum">
              <a:rPr lang="en-US" smtClean="0"/>
              <a:t>27</a:t>
            </a:fld>
            <a:endParaRPr lang="en-US"/>
          </a:p>
        </p:txBody>
      </p:sp>
      <p:pic>
        <p:nvPicPr>
          <p:cNvPr id="5" name="Picture 4">
            <a:extLst>
              <a:ext uri="{FF2B5EF4-FFF2-40B4-BE49-F238E27FC236}">
                <a16:creationId xmlns:a16="http://schemas.microsoft.com/office/drawing/2014/main" id="{934F9899-4346-D398-963F-AAB2F88F746F}"/>
              </a:ext>
            </a:extLst>
          </p:cNvPr>
          <p:cNvPicPr>
            <a:picLocks noChangeAspect="1"/>
          </p:cNvPicPr>
          <p:nvPr/>
        </p:nvPicPr>
        <p:blipFill>
          <a:blip r:embed="rId3"/>
          <a:stretch>
            <a:fillRect/>
          </a:stretch>
        </p:blipFill>
        <p:spPr>
          <a:xfrm>
            <a:off x="685800" y="1040748"/>
            <a:ext cx="7772400" cy="5431172"/>
          </a:xfrm>
          <a:prstGeom prst="rect">
            <a:avLst/>
          </a:prstGeom>
        </p:spPr>
      </p:pic>
    </p:spTree>
    <p:extLst>
      <p:ext uri="{BB962C8B-B14F-4D97-AF65-F5344CB8AC3E}">
        <p14:creationId xmlns:p14="http://schemas.microsoft.com/office/powerpoint/2010/main" val="677557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F6966A-2C9F-83B9-BB48-22662E8841C3}"/>
              </a:ext>
            </a:extLst>
          </p:cNvPr>
          <p:cNvSpPr>
            <a:spLocks noGrp="1"/>
          </p:cNvSpPr>
          <p:nvPr>
            <p:ph type="title"/>
          </p:nvPr>
        </p:nvSpPr>
        <p:spPr/>
        <p:txBody>
          <a:bodyPr>
            <a:normAutofit fontScale="90000"/>
          </a:bodyPr>
          <a:lstStyle/>
          <a:p>
            <a:r>
              <a:rPr lang="en-US" dirty="0"/>
              <a:t>Models let us encode obligations</a:t>
            </a:r>
          </a:p>
        </p:txBody>
      </p:sp>
      <p:sp>
        <p:nvSpPr>
          <p:cNvPr id="4" name="Slide Number Placeholder 3">
            <a:extLst>
              <a:ext uri="{FF2B5EF4-FFF2-40B4-BE49-F238E27FC236}">
                <a16:creationId xmlns:a16="http://schemas.microsoft.com/office/drawing/2014/main" id="{AC129992-764B-5D50-5371-E4B14A791E96}"/>
              </a:ext>
            </a:extLst>
          </p:cNvPr>
          <p:cNvSpPr>
            <a:spLocks noGrp="1"/>
          </p:cNvSpPr>
          <p:nvPr>
            <p:ph type="sldNum" sz="quarter" idx="4"/>
          </p:nvPr>
        </p:nvSpPr>
        <p:spPr/>
        <p:txBody>
          <a:bodyPr/>
          <a:lstStyle/>
          <a:p>
            <a:fld id="{B7EB45DA-9A0D-DC49-8E02-F30A5DDC21C3}" type="slidenum">
              <a:rPr lang="en-US" smtClean="0"/>
              <a:t>28</a:t>
            </a:fld>
            <a:endParaRPr lang="en-US"/>
          </a:p>
        </p:txBody>
      </p:sp>
      <p:pic>
        <p:nvPicPr>
          <p:cNvPr id="5" name="Picture 4">
            <a:extLst>
              <a:ext uri="{FF2B5EF4-FFF2-40B4-BE49-F238E27FC236}">
                <a16:creationId xmlns:a16="http://schemas.microsoft.com/office/drawing/2014/main" id="{1030C4A3-97C4-682E-1D71-0329176F6EAE}"/>
              </a:ext>
            </a:extLst>
          </p:cNvPr>
          <p:cNvPicPr>
            <a:picLocks noChangeAspect="1"/>
          </p:cNvPicPr>
          <p:nvPr/>
        </p:nvPicPr>
        <p:blipFill>
          <a:blip r:embed="rId3"/>
          <a:stretch>
            <a:fillRect/>
          </a:stretch>
        </p:blipFill>
        <p:spPr>
          <a:xfrm>
            <a:off x="307785" y="1365815"/>
            <a:ext cx="8528430" cy="4126370"/>
          </a:xfrm>
          <a:prstGeom prst="rect">
            <a:avLst/>
          </a:prstGeom>
        </p:spPr>
      </p:pic>
    </p:spTree>
    <p:extLst>
      <p:ext uri="{BB962C8B-B14F-4D97-AF65-F5344CB8AC3E}">
        <p14:creationId xmlns:p14="http://schemas.microsoft.com/office/powerpoint/2010/main" val="1555987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B31066-8356-0717-3AEA-1CE5D9C17F26}"/>
              </a:ext>
            </a:extLst>
          </p:cNvPr>
          <p:cNvSpPr>
            <a:spLocks noGrp="1"/>
          </p:cNvSpPr>
          <p:nvPr>
            <p:ph type="title"/>
          </p:nvPr>
        </p:nvSpPr>
        <p:spPr/>
        <p:txBody>
          <a:bodyPr>
            <a:normAutofit fontScale="90000"/>
          </a:bodyPr>
          <a:lstStyle/>
          <a:p>
            <a:r>
              <a:rPr lang="en-US" dirty="0"/>
              <a:t>Example: Behavioral models (State machines)</a:t>
            </a:r>
          </a:p>
        </p:txBody>
      </p:sp>
      <p:sp>
        <p:nvSpPr>
          <p:cNvPr id="4" name="Slide Number Placeholder 3">
            <a:extLst>
              <a:ext uri="{FF2B5EF4-FFF2-40B4-BE49-F238E27FC236}">
                <a16:creationId xmlns:a16="http://schemas.microsoft.com/office/drawing/2014/main" id="{883DC397-02F2-D149-5514-788AFB3379D9}"/>
              </a:ext>
            </a:extLst>
          </p:cNvPr>
          <p:cNvSpPr>
            <a:spLocks noGrp="1"/>
          </p:cNvSpPr>
          <p:nvPr>
            <p:ph type="sldNum" sz="quarter" idx="4"/>
          </p:nvPr>
        </p:nvSpPr>
        <p:spPr/>
        <p:txBody>
          <a:bodyPr/>
          <a:lstStyle/>
          <a:p>
            <a:fld id="{B7EB45DA-9A0D-DC49-8E02-F30A5DDC21C3}" type="slidenum">
              <a:rPr lang="en-US" smtClean="0"/>
              <a:t>29</a:t>
            </a:fld>
            <a:endParaRPr lang="en-US"/>
          </a:p>
        </p:txBody>
      </p:sp>
      <p:pic>
        <p:nvPicPr>
          <p:cNvPr id="5" name="Picture 4">
            <a:extLst>
              <a:ext uri="{FF2B5EF4-FFF2-40B4-BE49-F238E27FC236}">
                <a16:creationId xmlns:a16="http://schemas.microsoft.com/office/drawing/2014/main" id="{B8DBD1F9-CF2D-64B2-DC62-648ECD4C718E}"/>
              </a:ext>
            </a:extLst>
          </p:cNvPr>
          <p:cNvPicPr>
            <a:picLocks noChangeAspect="1"/>
          </p:cNvPicPr>
          <p:nvPr/>
        </p:nvPicPr>
        <p:blipFill>
          <a:blip r:embed="rId3"/>
          <a:stretch>
            <a:fillRect/>
          </a:stretch>
        </p:blipFill>
        <p:spPr>
          <a:xfrm>
            <a:off x="356691" y="1367924"/>
            <a:ext cx="8430617" cy="4122151"/>
          </a:xfrm>
          <a:prstGeom prst="rect">
            <a:avLst/>
          </a:prstGeom>
        </p:spPr>
      </p:pic>
    </p:spTree>
    <p:extLst>
      <p:ext uri="{BB962C8B-B14F-4D97-AF65-F5344CB8AC3E}">
        <p14:creationId xmlns:p14="http://schemas.microsoft.com/office/powerpoint/2010/main" val="2676214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21843-5222-7FCD-B4B8-063E3D2874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943161-0266-3B7A-0129-D4A6AE265AD0}"/>
              </a:ext>
            </a:extLst>
          </p:cNvPr>
          <p:cNvSpPr>
            <a:spLocks noGrp="1"/>
          </p:cNvSpPr>
          <p:nvPr>
            <p:ph type="title"/>
          </p:nvPr>
        </p:nvSpPr>
        <p:spPr>
          <a:xfrm>
            <a:off x="277148" y="118428"/>
            <a:ext cx="8866852" cy="638175"/>
          </a:xfrm>
        </p:spPr>
        <p:txBody>
          <a:bodyPr>
            <a:normAutofit fontScale="90000"/>
          </a:bodyPr>
          <a:lstStyle/>
          <a:p>
            <a:r>
              <a:rPr lang="en-US" dirty="0"/>
              <a:t>Example: Service flow model (e.g., data flow diagrams)</a:t>
            </a:r>
          </a:p>
        </p:txBody>
      </p:sp>
      <p:sp>
        <p:nvSpPr>
          <p:cNvPr id="4" name="Slide Number Placeholder 3">
            <a:extLst>
              <a:ext uri="{FF2B5EF4-FFF2-40B4-BE49-F238E27FC236}">
                <a16:creationId xmlns:a16="http://schemas.microsoft.com/office/drawing/2014/main" id="{6ED44AEA-C9E9-425E-DC76-F8CC81D1B142}"/>
              </a:ext>
            </a:extLst>
          </p:cNvPr>
          <p:cNvSpPr>
            <a:spLocks noGrp="1"/>
          </p:cNvSpPr>
          <p:nvPr>
            <p:ph type="sldNum" sz="quarter" idx="4"/>
          </p:nvPr>
        </p:nvSpPr>
        <p:spPr/>
        <p:txBody>
          <a:bodyPr/>
          <a:lstStyle/>
          <a:p>
            <a:fld id="{B7EB45DA-9A0D-DC49-8E02-F30A5DDC21C3}" type="slidenum">
              <a:rPr lang="en-US" smtClean="0"/>
              <a:t>30</a:t>
            </a:fld>
            <a:endParaRPr lang="en-US"/>
          </a:p>
        </p:txBody>
      </p:sp>
      <p:pic>
        <p:nvPicPr>
          <p:cNvPr id="2" name="Picture 1">
            <a:extLst>
              <a:ext uri="{FF2B5EF4-FFF2-40B4-BE49-F238E27FC236}">
                <a16:creationId xmlns:a16="http://schemas.microsoft.com/office/drawing/2014/main" id="{498A6394-4CAA-E030-EF2B-4330863064E4}"/>
              </a:ext>
            </a:extLst>
          </p:cNvPr>
          <p:cNvPicPr>
            <a:picLocks noChangeAspect="1"/>
          </p:cNvPicPr>
          <p:nvPr/>
        </p:nvPicPr>
        <p:blipFill>
          <a:blip r:embed="rId3"/>
          <a:stretch>
            <a:fillRect/>
          </a:stretch>
        </p:blipFill>
        <p:spPr>
          <a:xfrm>
            <a:off x="548610" y="1271465"/>
            <a:ext cx="7772400" cy="4863710"/>
          </a:xfrm>
          <a:prstGeom prst="rect">
            <a:avLst/>
          </a:prstGeom>
        </p:spPr>
      </p:pic>
    </p:spTree>
    <p:extLst>
      <p:ext uri="{BB962C8B-B14F-4D97-AF65-F5344CB8AC3E}">
        <p14:creationId xmlns:p14="http://schemas.microsoft.com/office/powerpoint/2010/main" val="4232038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7287FF-9A07-D16B-D8C4-1545F22A8A32}"/>
              </a:ext>
            </a:extLst>
          </p:cNvPr>
          <p:cNvSpPr>
            <a:spLocks noGrp="1"/>
          </p:cNvSpPr>
          <p:nvPr>
            <p:ph type="title"/>
          </p:nvPr>
        </p:nvSpPr>
        <p:spPr/>
        <p:txBody>
          <a:bodyPr>
            <a:normAutofit fontScale="90000"/>
          </a:bodyPr>
          <a:lstStyle/>
          <a:p>
            <a:r>
              <a:rPr lang="en-US" dirty="0"/>
              <a:t>Models are views that encode distinct obligations</a:t>
            </a:r>
          </a:p>
        </p:txBody>
      </p:sp>
      <p:sp>
        <p:nvSpPr>
          <p:cNvPr id="4" name="Slide Number Placeholder 3">
            <a:extLst>
              <a:ext uri="{FF2B5EF4-FFF2-40B4-BE49-F238E27FC236}">
                <a16:creationId xmlns:a16="http://schemas.microsoft.com/office/drawing/2014/main" id="{35A2556A-0F0F-AEB8-FB7F-68C0EB31D093}"/>
              </a:ext>
            </a:extLst>
          </p:cNvPr>
          <p:cNvSpPr>
            <a:spLocks noGrp="1"/>
          </p:cNvSpPr>
          <p:nvPr>
            <p:ph type="sldNum" sz="quarter" idx="4"/>
          </p:nvPr>
        </p:nvSpPr>
        <p:spPr/>
        <p:txBody>
          <a:bodyPr/>
          <a:lstStyle/>
          <a:p>
            <a:fld id="{B7EB45DA-9A0D-DC49-8E02-F30A5DDC21C3}" type="slidenum">
              <a:rPr lang="en-US" smtClean="0"/>
              <a:t>31</a:t>
            </a:fld>
            <a:endParaRPr lang="en-US"/>
          </a:p>
        </p:txBody>
      </p:sp>
      <p:pic>
        <p:nvPicPr>
          <p:cNvPr id="5" name="Picture 4">
            <a:extLst>
              <a:ext uri="{FF2B5EF4-FFF2-40B4-BE49-F238E27FC236}">
                <a16:creationId xmlns:a16="http://schemas.microsoft.com/office/drawing/2014/main" id="{A9CE9FC0-35A9-1012-2406-D77B8B015B76}"/>
              </a:ext>
            </a:extLst>
          </p:cNvPr>
          <p:cNvPicPr>
            <a:picLocks noChangeAspect="1"/>
          </p:cNvPicPr>
          <p:nvPr/>
        </p:nvPicPr>
        <p:blipFill>
          <a:blip r:embed="rId2"/>
          <a:stretch>
            <a:fillRect/>
          </a:stretch>
        </p:blipFill>
        <p:spPr>
          <a:xfrm>
            <a:off x="1149350" y="892175"/>
            <a:ext cx="6845300" cy="5829300"/>
          </a:xfrm>
          <a:prstGeom prst="rect">
            <a:avLst/>
          </a:prstGeom>
        </p:spPr>
      </p:pic>
    </p:spTree>
    <p:extLst>
      <p:ext uri="{BB962C8B-B14F-4D97-AF65-F5344CB8AC3E}">
        <p14:creationId xmlns:p14="http://schemas.microsoft.com/office/powerpoint/2010/main" val="1614472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146A4-C323-B5FF-C09A-945157EC86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68645E-D104-1151-DCC1-1E90D63B78C0}"/>
              </a:ext>
            </a:extLst>
          </p:cNvPr>
          <p:cNvSpPr>
            <a:spLocks noGrp="1"/>
          </p:cNvSpPr>
          <p:nvPr>
            <p:ph idx="1"/>
          </p:nvPr>
        </p:nvSpPr>
        <p:spPr>
          <a:ln>
            <a:solidFill>
              <a:schemeClr val="bg1"/>
            </a:solidFill>
          </a:ln>
        </p:spPr>
        <p:txBody>
          <a:bodyPr/>
          <a:lstStyle/>
          <a:p>
            <a:pPr marL="342900" indent="-342900">
              <a:buFont typeface="+mj-lt"/>
              <a:buAutoNum type="arabicPeriod"/>
            </a:pPr>
            <a:r>
              <a:rPr lang="en-US" dirty="0">
                <a:solidFill>
                  <a:schemeClr val="accent6">
                    <a:lumMod val="40000"/>
                    <a:lumOff val="60000"/>
                  </a:schemeClr>
                </a:solidFill>
              </a:rPr>
              <a:t>Who am I and why am I here</a:t>
            </a:r>
          </a:p>
          <a:p>
            <a:pPr marL="342900" indent="-342900">
              <a:buFont typeface="+mj-lt"/>
              <a:buAutoNum type="arabicPeriod"/>
            </a:pPr>
            <a:r>
              <a:rPr lang="en-US" b="1" dirty="0">
                <a:solidFill>
                  <a:schemeClr val="accent6">
                    <a:lumMod val="40000"/>
                    <a:lumOff val="60000"/>
                  </a:schemeClr>
                </a:solidFill>
              </a:rPr>
              <a:t>The substrate: Engineering shifts in response to technology change</a:t>
            </a:r>
          </a:p>
          <a:p>
            <a:pPr marL="342900" indent="-342900">
              <a:buFont typeface="+mj-lt"/>
              <a:buAutoNum type="arabicPeriod"/>
            </a:pPr>
            <a:r>
              <a:rPr lang="en-US" dirty="0">
                <a:solidFill>
                  <a:schemeClr val="accent6">
                    <a:lumMod val="40000"/>
                    <a:lumOff val="60000"/>
                  </a:schemeClr>
                </a:solidFill>
              </a:rPr>
              <a:t>Vibe coding</a:t>
            </a:r>
          </a:p>
          <a:p>
            <a:pPr marL="342900" indent="-342900">
              <a:buFont typeface="+mj-lt"/>
              <a:buAutoNum type="arabicPeriod"/>
            </a:pPr>
            <a:r>
              <a:rPr lang="en-US" dirty="0">
                <a:solidFill>
                  <a:schemeClr val="accent6">
                    <a:lumMod val="40000"/>
                    <a:lumOff val="60000"/>
                  </a:schemeClr>
                </a:solidFill>
              </a:rPr>
              <a:t>MAGE</a:t>
            </a:r>
          </a:p>
          <a:p>
            <a:pPr marL="342900" indent="-342900">
              <a:buFont typeface="+mj-lt"/>
              <a:buAutoNum type="arabicPeriod"/>
            </a:pPr>
            <a:r>
              <a:rPr lang="en-US" dirty="0">
                <a:solidFill>
                  <a:schemeClr val="accent6">
                    <a:lumMod val="40000"/>
                    <a:lumOff val="60000"/>
                  </a:schemeClr>
                </a:solidFill>
              </a:rPr>
              <a:t>Modeling</a:t>
            </a:r>
          </a:p>
          <a:p>
            <a:pPr marL="342900" indent="-342900">
              <a:buFont typeface="+mj-lt"/>
              <a:buAutoNum type="arabicPeriod"/>
            </a:pPr>
            <a:r>
              <a:rPr lang="en-US" b="1" dirty="0">
                <a:solidFill>
                  <a:schemeClr val="bg1"/>
                </a:solidFill>
              </a:rPr>
              <a:t>Alignment</a:t>
            </a:r>
          </a:p>
          <a:p>
            <a:pPr marL="342900" indent="-342900">
              <a:buFont typeface="+mj-lt"/>
              <a:buAutoNum type="arabicPeriod"/>
            </a:pPr>
            <a:r>
              <a:rPr lang="en-US" dirty="0">
                <a:solidFill>
                  <a:schemeClr val="accent6">
                    <a:lumMod val="40000"/>
                    <a:lumOff val="60000"/>
                  </a:schemeClr>
                </a:solidFill>
              </a:rPr>
              <a:t>Putting it together: The MAGE Method</a:t>
            </a:r>
          </a:p>
          <a:p>
            <a:pPr marL="342900" indent="-342900">
              <a:buFont typeface="+mj-lt"/>
              <a:buAutoNum type="arabicPeriod"/>
            </a:pPr>
            <a:r>
              <a:rPr lang="en-US" dirty="0">
                <a:solidFill>
                  <a:schemeClr val="accent6">
                    <a:lumMod val="40000"/>
                    <a:lumOff val="60000"/>
                  </a:schemeClr>
                </a:solidFill>
              </a:rPr>
              <a:t>Related work and Implications: for engineering, for research, for education</a:t>
            </a:r>
          </a:p>
          <a:p>
            <a:pPr marL="0" indent="0">
              <a:buNone/>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A0EB5570-2181-2851-CB5D-B5D558BA0072}"/>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042458E7-4803-9079-3391-896520DE952B}"/>
              </a:ext>
            </a:extLst>
          </p:cNvPr>
          <p:cNvSpPr>
            <a:spLocks noGrp="1"/>
          </p:cNvSpPr>
          <p:nvPr>
            <p:ph type="sldNum" sz="quarter" idx="4"/>
          </p:nvPr>
        </p:nvSpPr>
        <p:spPr/>
        <p:txBody>
          <a:bodyPr/>
          <a:lstStyle/>
          <a:p>
            <a:fld id="{B7EB45DA-9A0D-DC49-8E02-F30A5DDC21C3}" type="slidenum">
              <a:rPr lang="en-US" smtClean="0"/>
              <a:t>32</a:t>
            </a:fld>
            <a:endParaRPr lang="en-US"/>
          </a:p>
        </p:txBody>
      </p:sp>
    </p:spTree>
    <p:extLst>
      <p:ext uri="{BB962C8B-B14F-4D97-AF65-F5344CB8AC3E}">
        <p14:creationId xmlns:p14="http://schemas.microsoft.com/office/powerpoint/2010/main" val="3459530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A6D496-7B24-6136-E30B-C38CC0538299}"/>
              </a:ext>
            </a:extLst>
          </p:cNvPr>
          <p:cNvSpPr>
            <a:spLocks noGrp="1"/>
          </p:cNvSpPr>
          <p:nvPr>
            <p:ph type="title"/>
          </p:nvPr>
        </p:nvSpPr>
        <p:spPr/>
        <p:txBody>
          <a:bodyPr>
            <a:normAutofit fontScale="90000"/>
          </a:bodyPr>
          <a:lstStyle/>
          <a:p>
            <a:r>
              <a:rPr lang="en-US" dirty="0"/>
              <a:t>Alignment is easier with explicit models</a:t>
            </a:r>
          </a:p>
        </p:txBody>
      </p:sp>
      <p:sp>
        <p:nvSpPr>
          <p:cNvPr id="4" name="Slide Number Placeholder 3">
            <a:extLst>
              <a:ext uri="{FF2B5EF4-FFF2-40B4-BE49-F238E27FC236}">
                <a16:creationId xmlns:a16="http://schemas.microsoft.com/office/drawing/2014/main" id="{2160C05D-A828-25E0-8429-236B6FC9C196}"/>
              </a:ext>
            </a:extLst>
          </p:cNvPr>
          <p:cNvSpPr>
            <a:spLocks noGrp="1"/>
          </p:cNvSpPr>
          <p:nvPr>
            <p:ph type="sldNum" sz="quarter" idx="4"/>
          </p:nvPr>
        </p:nvSpPr>
        <p:spPr/>
        <p:txBody>
          <a:bodyPr/>
          <a:lstStyle/>
          <a:p>
            <a:fld id="{B7EB45DA-9A0D-DC49-8E02-F30A5DDC21C3}" type="slidenum">
              <a:rPr lang="en-US" smtClean="0"/>
              <a:t>33</a:t>
            </a:fld>
            <a:endParaRPr lang="en-US"/>
          </a:p>
        </p:txBody>
      </p:sp>
      <p:pic>
        <p:nvPicPr>
          <p:cNvPr id="5" name="Picture 4">
            <a:extLst>
              <a:ext uri="{FF2B5EF4-FFF2-40B4-BE49-F238E27FC236}">
                <a16:creationId xmlns:a16="http://schemas.microsoft.com/office/drawing/2014/main" id="{E7C83F23-B46D-0532-FBC1-B2E6D1BA7BC2}"/>
              </a:ext>
            </a:extLst>
          </p:cNvPr>
          <p:cNvPicPr>
            <a:picLocks noChangeAspect="1"/>
          </p:cNvPicPr>
          <p:nvPr/>
        </p:nvPicPr>
        <p:blipFill>
          <a:blip r:embed="rId3"/>
          <a:stretch>
            <a:fillRect/>
          </a:stretch>
        </p:blipFill>
        <p:spPr>
          <a:xfrm>
            <a:off x="1297116" y="940075"/>
            <a:ext cx="6549767" cy="5598837"/>
          </a:xfrm>
          <a:prstGeom prst="rect">
            <a:avLst/>
          </a:prstGeom>
        </p:spPr>
      </p:pic>
    </p:spTree>
    <p:extLst>
      <p:ext uri="{BB962C8B-B14F-4D97-AF65-F5344CB8AC3E}">
        <p14:creationId xmlns:p14="http://schemas.microsoft.com/office/powerpoint/2010/main" val="21094513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179D9-9501-C75E-0022-73C03534FB9E}"/>
              </a:ext>
            </a:extLst>
          </p:cNvPr>
          <p:cNvSpPr>
            <a:spLocks noGrp="1"/>
          </p:cNvSpPr>
          <p:nvPr>
            <p:ph type="title"/>
          </p:nvPr>
        </p:nvSpPr>
        <p:spPr/>
        <p:txBody>
          <a:bodyPr>
            <a:normAutofit fontScale="90000"/>
          </a:bodyPr>
          <a:lstStyle/>
          <a:p>
            <a:r>
              <a:rPr lang="en-US" dirty="0"/>
              <a:t>Alignment can act at different points</a:t>
            </a:r>
          </a:p>
        </p:txBody>
      </p:sp>
      <p:sp>
        <p:nvSpPr>
          <p:cNvPr id="4" name="Slide Number Placeholder 3">
            <a:extLst>
              <a:ext uri="{FF2B5EF4-FFF2-40B4-BE49-F238E27FC236}">
                <a16:creationId xmlns:a16="http://schemas.microsoft.com/office/drawing/2014/main" id="{28498B86-3486-2BFE-C8D9-1B1F944C1C62}"/>
              </a:ext>
            </a:extLst>
          </p:cNvPr>
          <p:cNvSpPr>
            <a:spLocks noGrp="1"/>
          </p:cNvSpPr>
          <p:nvPr>
            <p:ph type="sldNum" sz="quarter" idx="4"/>
          </p:nvPr>
        </p:nvSpPr>
        <p:spPr/>
        <p:txBody>
          <a:bodyPr/>
          <a:lstStyle/>
          <a:p>
            <a:fld id="{B7EB45DA-9A0D-DC49-8E02-F30A5DDC21C3}" type="slidenum">
              <a:rPr lang="en-US" smtClean="0"/>
              <a:t>34</a:t>
            </a:fld>
            <a:endParaRPr lang="en-US"/>
          </a:p>
        </p:txBody>
      </p:sp>
      <p:pic>
        <p:nvPicPr>
          <p:cNvPr id="5" name="Picture 4">
            <a:extLst>
              <a:ext uri="{FF2B5EF4-FFF2-40B4-BE49-F238E27FC236}">
                <a16:creationId xmlns:a16="http://schemas.microsoft.com/office/drawing/2014/main" id="{1EBBC8DB-7C9C-047A-8BFC-873DC880B56B}"/>
              </a:ext>
            </a:extLst>
          </p:cNvPr>
          <p:cNvPicPr>
            <a:picLocks noChangeAspect="1"/>
          </p:cNvPicPr>
          <p:nvPr/>
        </p:nvPicPr>
        <p:blipFill>
          <a:blip r:embed="rId3"/>
          <a:stretch>
            <a:fillRect/>
          </a:stretch>
        </p:blipFill>
        <p:spPr>
          <a:xfrm>
            <a:off x="643765" y="840236"/>
            <a:ext cx="7856470" cy="3684960"/>
          </a:xfrm>
          <a:prstGeom prst="rect">
            <a:avLst/>
          </a:prstGeom>
        </p:spPr>
      </p:pic>
      <p:pic>
        <p:nvPicPr>
          <p:cNvPr id="6" name="Picture 5">
            <a:extLst>
              <a:ext uri="{FF2B5EF4-FFF2-40B4-BE49-F238E27FC236}">
                <a16:creationId xmlns:a16="http://schemas.microsoft.com/office/drawing/2014/main" id="{8A8442C8-7122-4F35-BAA7-B228C36297B2}"/>
              </a:ext>
            </a:extLst>
          </p:cNvPr>
          <p:cNvPicPr>
            <a:picLocks noChangeAspect="1"/>
          </p:cNvPicPr>
          <p:nvPr/>
        </p:nvPicPr>
        <p:blipFill>
          <a:blip r:embed="rId4"/>
          <a:stretch>
            <a:fillRect/>
          </a:stretch>
        </p:blipFill>
        <p:spPr>
          <a:xfrm>
            <a:off x="1578756" y="4525195"/>
            <a:ext cx="5440645" cy="2148985"/>
          </a:xfrm>
          <a:prstGeom prst="rect">
            <a:avLst/>
          </a:prstGeom>
        </p:spPr>
      </p:pic>
      <p:sp>
        <p:nvSpPr>
          <p:cNvPr id="7" name="TextBox 6">
            <a:extLst>
              <a:ext uri="{FF2B5EF4-FFF2-40B4-BE49-F238E27FC236}">
                <a16:creationId xmlns:a16="http://schemas.microsoft.com/office/drawing/2014/main" id="{9D9AE00A-4AC5-8B46-7193-1434EE1E9AE8}"/>
              </a:ext>
            </a:extLst>
          </p:cNvPr>
          <p:cNvSpPr txBox="1"/>
          <p:nvPr/>
        </p:nvSpPr>
        <p:spPr>
          <a:xfrm>
            <a:off x="7019401" y="4953356"/>
            <a:ext cx="2133276" cy="646331"/>
          </a:xfrm>
          <a:prstGeom prst="rect">
            <a:avLst/>
          </a:prstGeom>
          <a:noFill/>
        </p:spPr>
        <p:txBody>
          <a:bodyPr wrap="none" rtlCol="0">
            <a:spAutoFit/>
          </a:bodyPr>
          <a:lstStyle/>
          <a:p>
            <a:r>
              <a:rPr lang="en-US" b="1" dirty="0"/>
              <a:t>Semantic gaps</a:t>
            </a:r>
          </a:p>
          <a:p>
            <a:r>
              <a:rPr lang="en-US" b="1" dirty="0"/>
              <a:t>End-to-end principle</a:t>
            </a:r>
          </a:p>
        </p:txBody>
      </p:sp>
    </p:spTree>
    <p:extLst>
      <p:ext uri="{BB962C8B-B14F-4D97-AF65-F5344CB8AC3E}">
        <p14:creationId xmlns:p14="http://schemas.microsoft.com/office/powerpoint/2010/main" val="43099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99F00F-FC14-5F87-FF38-3FB41091C6DC}"/>
              </a:ext>
            </a:extLst>
          </p:cNvPr>
          <p:cNvPicPr>
            <a:picLocks noGrp="1" noChangeAspect="1"/>
          </p:cNvPicPr>
          <p:nvPr>
            <p:ph idx="1"/>
          </p:nvPr>
        </p:nvPicPr>
        <p:blipFill>
          <a:blip r:embed="rId2"/>
          <a:stretch>
            <a:fillRect/>
          </a:stretch>
        </p:blipFill>
        <p:spPr>
          <a:xfrm>
            <a:off x="277813" y="1579465"/>
            <a:ext cx="8556625" cy="4618233"/>
          </a:xfrm>
          <a:prstGeom prst="rect">
            <a:avLst/>
          </a:prstGeom>
        </p:spPr>
      </p:pic>
      <p:sp>
        <p:nvSpPr>
          <p:cNvPr id="3" name="Title 2">
            <a:extLst>
              <a:ext uri="{FF2B5EF4-FFF2-40B4-BE49-F238E27FC236}">
                <a16:creationId xmlns:a16="http://schemas.microsoft.com/office/drawing/2014/main" id="{DC49A650-0D56-5402-A5CA-C1D78BCDB64F}"/>
              </a:ext>
            </a:extLst>
          </p:cNvPr>
          <p:cNvSpPr>
            <a:spLocks noGrp="1"/>
          </p:cNvSpPr>
          <p:nvPr>
            <p:ph type="title"/>
          </p:nvPr>
        </p:nvSpPr>
        <p:spPr/>
        <p:txBody>
          <a:bodyPr>
            <a:normAutofit fontScale="90000"/>
          </a:bodyPr>
          <a:lstStyle/>
          <a:p>
            <a:r>
              <a:rPr lang="en-US" dirty="0"/>
              <a:t>Kinds of alignment questions you might ask</a:t>
            </a:r>
          </a:p>
        </p:txBody>
      </p:sp>
      <p:sp>
        <p:nvSpPr>
          <p:cNvPr id="4" name="Slide Number Placeholder 3">
            <a:extLst>
              <a:ext uri="{FF2B5EF4-FFF2-40B4-BE49-F238E27FC236}">
                <a16:creationId xmlns:a16="http://schemas.microsoft.com/office/drawing/2014/main" id="{611F5CC8-06B9-279F-B61E-3A1865289636}"/>
              </a:ext>
            </a:extLst>
          </p:cNvPr>
          <p:cNvSpPr>
            <a:spLocks noGrp="1"/>
          </p:cNvSpPr>
          <p:nvPr>
            <p:ph type="sldNum" sz="quarter" idx="4"/>
          </p:nvPr>
        </p:nvSpPr>
        <p:spPr/>
        <p:txBody>
          <a:bodyPr/>
          <a:lstStyle/>
          <a:p>
            <a:fld id="{B7EB45DA-9A0D-DC49-8E02-F30A5DDC21C3}" type="slidenum">
              <a:rPr lang="en-US" smtClean="0"/>
              <a:t>35</a:t>
            </a:fld>
            <a:endParaRPr lang="en-US"/>
          </a:p>
        </p:txBody>
      </p:sp>
    </p:spTree>
    <p:extLst>
      <p:ext uri="{BB962C8B-B14F-4D97-AF65-F5344CB8AC3E}">
        <p14:creationId xmlns:p14="http://schemas.microsoft.com/office/powerpoint/2010/main" val="3306563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F77E-8549-466F-CED8-33B566A5E8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02471B-B1D5-692B-10DC-024187530820}"/>
              </a:ext>
            </a:extLst>
          </p:cNvPr>
          <p:cNvSpPr>
            <a:spLocks noGrp="1"/>
          </p:cNvSpPr>
          <p:nvPr>
            <p:ph idx="1"/>
          </p:nvPr>
        </p:nvSpPr>
        <p:spPr>
          <a:ln>
            <a:solidFill>
              <a:schemeClr val="bg1"/>
            </a:solidFill>
          </a:ln>
        </p:spPr>
        <p:txBody>
          <a:bodyPr/>
          <a:lstStyle/>
          <a:p>
            <a:pPr marL="342900" indent="-342900">
              <a:buFont typeface="+mj-lt"/>
              <a:buAutoNum type="arabicPeriod"/>
            </a:pPr>
            <a:r>
              <a:rPr lang="en-US" dirty="0">
                <a:solidFill>
                  <a:schemeClr val="accent6">
                    <a:lumMod val="40000"/>
                    <a:lumOff val="60000"/>
                  </a:schemeClr>
                </a:solidFill>
              </a:rPr>
              <a:t>Who am I and why am I here</a:t>
            </a:r>
          </a:p>
          <a:p>
            <a:pPr marL="342900" indent="-342900">
              <a:buFont typeface="+mj-lt"/>
              <a:buAutoNum type="arabicPeriod"/>
            </a:pPr>
            <a:r>
              <a:rPr lang="en-US" b="1" dirty="0">
                <a:solidFill>
                  <a:schemeClr val="accent6">
                    <a:lumMod val="40000"/>
                    <a:lumOff val="60000"/>
                  </a:schemeClr>
                </a:solidFill>
              </a:rPr>
              <a:t>The substrate: Engineering shifts in response to technology change</a:t>
            </a:r>
          </a:p>
          <a:p>
            <a:pPr marL="342900" indent="-342900">
              <a:buFont typeface="+mj-lt"/>
              <a:buAutoNum type="arabicPeriod"/>
            </a:pPr>
            <a:r>
              <a:rPr lang="en-US" dirty="0">
                <a:solidFill>
                  <a:schemeClr val="accent6">
                    <a:lumMod val="40000"/>
                    <a:lumOff val="60000"/>
                  </a:schemeClr>
                </a:solidFill>
              </a:rPr>
              <a:t>Vibe coding</a:t>
            </a:r>
          </a:p>
          <a:p>
            <a:pPr marL="342900" indent="-342900">
              <a:buFont typeface="+mj-lt"/>
              <a:buAutoNum type="arabicPeriod"/>
            </a:pPr>
            <a:r>
              <a:rPr lang="en-US" dirty="0">
                <a:solidFill>
                  <a:schemeClr val="accent6">
                    <a:lumMod val="40000"/>
                    <a:lumOff val="60000"/>
                  </a:schemeClr>
                </a:solidFill>
              </a:rPr>
              <a:t>MAGE</a:t>
            </a:r>
          </a:p>
          <a:p>
            <a:pPr marL="342900" indent="-342900">
              <a:buFont typeface="+mj-lt"/>
              <a:buAutoNum type="arabicPeriod"/>
            </a:pPr>
            <a:r>
              <a:rPr lang="en-US" dirty="0">
                <a:solidFill>
                  <a:schemeClr val="accent6">
                    <a:lumMod val="40000"/>
                    <a:lumOff val="60000"/>
                  </a:schemeClr>
                </a:solidFill>
              </a:rPr>
              <a:t>Modeling</a:t>
            </a:r>
          </a:p>
          <a:p>
            <a:pPr marL="342900" indent="-342900">
              <a:buFont typeface="+mj-lt"/>
              <a:buAutoNum type="arabicPeriod"/>
            </a:pPr>
            <a:r>
              <a:rPr lang="en-US" b="1" dirty="0">
                <a:solidFill>
                  <a:schemeClr val="accent6">
                    <a:lumMod val="40000"/>
                    <a:lumOff val="60000"/>
                  </a:schemeClr>
                </a:solidFill>
              </a:rPr>
              <a:t>Alignment</a:t>
            </a:r>
          </a:p>
          <a:p>
            <a:pPr marL="342900" indent="-342900">
              <a:buFont typeface="+mj-lt"/>
              <a:buAutoNum type="arabicPeriod"/>
            </a:pPr>
            <a:r>
              <a:rPr lang="en-US" b="1" dirty="0">
                <a:solidFill>
                  <a:schemeClr val="bg1"/>
                </a:solidFill>
              </a:rPr>
              <a:t>Putting it together: The MAGE Method</a:t>
            </a:r>
          </a:p>
          <a:p>
            <a:pPr marL="342900" indent="-342900">
              <a:buFont typeface="+mj-lt"/>
              <a:buAutoNum type="arabicPeriod"/>
            </a:pPr>
            <a:r>
              <a:rPr lang="en-US" dirty="0">
                <a:solidFill>
                  <a:schemeClr val="accent6">
                    <a:lumMod val="40000"/>
                    <a:lumOff val="60000"/>
                  </a:schemeClr>
                </a:solidFill>
              </a:rPr>
              <a:t>Related work and Implications: for engineering, for research, for education</a:t>
            </a:r>
          </a:p>
          <a:p>
            <a:pPr marL="0" indent="0">
              <a:buNone/>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54AE88E9-B0CF-BF4D-8E22-982F55C3090C}"/>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7CC6934E-2A4C-55FF-B7D1-3B1AC7D8EC8A}"/>
              </a:ext>
            </a:extLst>
          </p:cNvPr>
          <p:cNvSpPr>
            <a:spLocks noGrp="1"/>
          </p:cNvSpPr>
          <p:nvPr>
            <p:ph type="sldNum" sz="quarter" idx="4"/>
          </p:nvPr>
        </p:nvSpPr>
        <p:spPr/>
        <p:txBody>
          <a:bodyPr/>
          <a:lstStyle/>
          <a:p>
            <a:fld id="{B7EB45DA-9A0D-DC49-8E02-F30A5DDC21C3}" type="slidenum">
              <a:rPr lang="en-US" smtClean="0"/>
              <a:t>36</a:t>
            </a:fld>
            <a:endParaRPr lang="en-US"/>
          </a:p>
        </p:txBody>
      </p:sp>
    </p:spTree>
    <p:extLst>
      <p:ext uri="{BB962C8B-B14F-4D97-AF65-F5344CB8AC3E}">
        <p14:creationId xmlns:p14="http://schemas.microsoft.com/office/powerpoint/2010/main" val="29891112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AFFCCA-3D3A-7BD1-2F97-EC4D2EB1E96D}"/>
              </a:ext>
            </a:extLst>
          </p:cNvPr>
          <p:cNvSpPr>
            <a:spLocks noGrp="1"/>
          </p:cNvSpPr>
          <p:nvPr>
            <p:ph type="title"/>
          </p:nvPr>
        </p:nvSpPr>
        <p:spPr/>
        <p:txBody>
          <a:bodyPr>
            <a:normAutofit fontScale="90000"/>
          </a:bodyPr>
          <a:lstStyle/>
          <a:p>
            <a:r>
              <a:rPr lang="en-US" dirty="0"/>
              <a:t>Greenfield MAGE</a:t>
            </a:r>
          </a:p>
        </p:txBody>
      </p:sp>
      <p:sp>
        <p:nvSpPr>
          <p:cNvPr id="4" name="Slide Number Placeholder 3">
            <a:extLst>
              <a:ext uri="{FF2B5EF4-FFF2-40B4-BE49-F238E27FC236}">
                <a16:creationId xmlns:a16="http://schemas.microsoft.com/office/drawing/2014/main" id="{C0335760-DF1F-F6BB-9FDF-D41A05865DC4}"/>
              </a:ext>
            </a:extLst>
          </p:cNvPr>
          <p:cNvSpPr>
            <a:spLocks noGrp="1"/>
          </p:cNvSpPr>
          <p:nvPr>
            <p:ph type="sldNum" sz="quarter" idx="4"/>
          </p:nvPr>
        </p:nvSpPr>
        <p:spPr/>
        <p:txBody>
          <a:bodyPr/>
          <a:lstStyle/>
          <a:p>
            <a:fld id="{B7EB45DA-9A0D-DC49-8E02-F30A5DDC21C3}" type="slidenum">
              <a:rPr lang="en-US" smtClean="0"/>
              <a:t>37</a:t>
            </a:fld>
            <a:endParaRPr lang="en-US"/>
          </a:p>
        </p:txBody>
      </p:sp>
      <p:pic>
        <p:nvPicPr>
          <p:cNvPr id="5" name="Picture 4">
            <a:extLst>
              <a:ext uri="{FF2B5EF4-FFF2-40B4-BE49-F238E27FC236}">
                <a16:creationId xmlns:a16="http://schemas.microsoft.com/office/drawing/2014/main" id="{89737F95-ACCB-9B74-CC84-0B9C287A742D}"/>
              </a:ext>
            </a:extLst>
          </p:cNvPr>
          <p:cNvPicPr>
            <a:picLocks noChangeAspect="1"/>
          </p:cNvPicPr>
          <p:nvPr/>
        </p:nvPicPr>
        <p:blipFill>
          <a:blip r:embed="rId3"/>
          <a:stretch>
            <a:fillRect/>
          </a:stretch>
        </p:blipFill>
        <p:spPr>
          <a:xfrm>
            <a:off x="282808" y="2529206"/>
            <a:ext cx="8578384" cy="2387095"/>
          </a:xfrm>
          <a:prstGeom prst="rect">
            <a:avLst/>
          </a:prstGeom>
        </p:spPr>
      </p:pic>
    </p:spTree>
    <p:extLst>
      <p:ext uri="{BB962C8B-B14F-4D97-AF65-F5344CB8AC3E}">
        <p14:creationId xmlns:p14="http://schemas.microsoft.com/office/powerpoint/2010/main" val="474945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F44774-6A77-1398-91B9-2ED9CBF5005C}"/>
              </a:ext>
            </a:extLst>
          </p:cNvPr>
          <p:cNvSpPr>
            <a:spLocks noGrp="1"/>
          </p:cNvSpPr>
          <p:nvPr>
            <p:ph type="title"/>
          </p:nvPr>
        </p:nvSpPr>
        <p:spPr>
          <a:xfrm>
            <a:off x="277148" y="118428"/>
            <a:ext cx="9086308" cy="638175"/>
          </a:xfrm>
        </p:spPr>
        <p:txBody>
          <a:bodyPr>
            <a:normAutofit fontScale="90000"/>
          </a:bodyPr>
          <a:lstStyle/>
          <a:p>
            <a:r>
              <a:rPr lang="en-US" dirty="0"/>
              <a:t>Brownfield MAGE: Inducing models from an existing system </a:t>
            </a:r>
          </a:p>
        </p:txBody>
      </p:sp>
      <p:sp>
        <p:nvSpPr>
          <p:cNvPr id="4" name="Slide Number Placeholder 3">
            <a:extLst>
              <a:ext uri="{FF2B5EF4-FFF2-40B4-BE49-F238E27FC236}">
                <a16:creationId xmlns:a16="http://schemas.microsoft.com/office/drawing/2014/main" id="{702A0647-2E53-F118-4017-314AE653770E}"/>
              </a:ext>
            </a:extLst>
          </p:cNvPr>
          <p:cNvSpPr>
            <a:spLocks noGrp="1"/>
          </p:cNvSpPr>
          <p:nvPr>
            <p:ph type="sldNum" sz="quarter" idx="4"/>
          </p:nvPr>
        </p:nvSpPr>
        <p:spPr/>
        <p:txBody>
          <a:bodyPr/>
          <a:lstStyle/>
          <a:p>
            <a:fld id="{B7EB45DA-9A0D-DC49-8E02-F30A5DDC21C3}" type="slidenum">
              <a:rPr lang="en-US" smtClean="0"/>
              <a:t>38</a:t>
            </a:fld>
            <a:endParaRPr lang="en-US"/>
          </a:p>
        </p:txBody>
      </p:sp>
      <p:pic>
        <p:nvPicPr>
          <p:cNvPr id="5" name="Picture 4">
            <a:extLst>
              <a:ext uri="{FF2B5EF4-FFF2-40B4-BE49-F238E27FC236}">
                <a16:creationId xmlns:a16="http://schemas.microsoft.com/office/drawing/2014/main" id="{C137E28E-5EA8-4519-D486-68DCB25FF9BD}"/>
              </a:ext>
            </a:extLst>
          </p:cNvPr>
          <p:cNvPicPr>
            <a:picLocks noChangeAspect="1"/>
          </p:cNvPicPr>
          <p:nvPr/>
        </p:nvPicPr>
        <p:blipFill>
          <a:blip r:embed="rId3"/>
          <a:stretch>
            <a:fillRect/>
          </a:stretch>
        </p:blipFill>
        <p:spPr>
          <a:xfrm>
            <a:off x="277148" y="833056"/>
            <a:ext cx="5907148" cy="5705856"/>
          </a:xfrm>
          <a:prstGeom prst="rect">
            <a:avLst/>
          </a:prstGeom>
        </p:spPr>
      </p:pic>
      <p:sp>
        <p:nvSpPr>
          <p:cNvPr id="6" name="TextBox 5">
            <a:extLst>
              <a:ext uri="{FF2B5EF4-FFF2-40B4-BE49-F238E27FC236}">
                <a16:creationId xmlns:a16="http://schemas.microsoft.com/office/drawing/2014/main" id="{8034085A-8D5C-49F8-4FC7-37A273FE27AB}"/>
              </a:ext>
            </a:extLst>
          </p:cNvPr>
          <p:cNvSpPr txBox="1"/>
          <p:nvPr/>
        </p:nvSpPr>
        <p:spPr>
          <a:xfrm>
            <a:off x="6184296" y="1645920"/>
            <a:ext cx="2751587" cy="830997"/>
          </a:xfrm>
          <a:prstGeom prst="rect">
            <a:avLst/>
          </a:prstGeom>
          <a:noFill/>
        </p:spPr>
        <p:txBody>
          <a:bodyPr wrap="none" rtlCol="0">
            <a:spAutoFit/>
          </a:bodyPr>
          <a:lstStyle/>
          <a:p>
            <a:r>
              <a:rPr lang="en-US" sz="2400" b="1" u="sng" dirty="0"/>
              <a:t>Example</a:t>
            </a:r>
          </a:p>
          <a:p>
            <a:r>
              <a:rPr lang="en-US" sz="2400" dirty="0"/>
              <a:t>Primitive density lint</a:t>
            </a:r>
          </a:p>
        </p:txBody>
      </p:sp>
    </p:spTree>
    <p:extLst>
      <p:ext uri="{BB962C8B-B14F-4D97-AF65-F5344CB8AC3E}">
        <p14:creationId xmlns:p14="http://schemas.microsoft.com/office/powerpoint/2010/main" val="29494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A55B-F506-D41E-E00B-49FFFEB39D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3861CF-EFCC-8E85-CBA0-2D464F8F6601}"/>
              </a:ext>
            </a:extLst>
          </p:cNvPr>
          <p:cNvSpPr>
            <a:spLocks noGrp="1"/>
          </p:cNvSpPr>
          <p:nvPr>
            <p:ph type="title"/>
          </p:nvPr>
        </p:nvSpPr>
        <p:spPr>
          <a:xfrm>
            <a:off x="277148" y="118428"/>
            <a:ext cx="8866852" cy="638175"/>
          </a:xfrm>
        </p:spPr>
        <p:txBody>
          <a:bodyPr>
            <a:normAutofit fontScale="90000"/>
          </a:bodyPr>
          <a:lstStyle/>
          <a:p>
            <a:r>
              <a:rPr lang="en-US" dirty="0"/>
              <a:t>MAGE Decision Matrix</a:t>
            </a:r>
          </a:p>
        </p:txBody>
      </p:sp>
      <p:sp>
        <p:nvSpPr>
          <p:cNvPr id="4" name="Slide Number Placeholder 3">
            <a:extLst>
              <a:ext uri="{FF2B5EF4-FFF2-40B4-BE49-F238E27FC236}">
                <a16:creationId xmlns:a16="http://schemas.microsoft.com/office/drawing/2014/main" id="{FA26F7AF-9A9D-0DE4-B65A-712E62F51D74}"/>
              </a:ext>
            </a:extLst>
          </p:cNvPr>
          <p:cNvSpPr>
            <a:spLocks noGrp="1"/>
          </p:cNvSpPr>
          <p:nvPr>
            <p:ph type="sldNum" sz="quarter" idx="4"/>
          </p:nvPr>
        </p:nvSpPr>
        <p:spPr/>
        <p:txBody>
          <a:bodyPr/>
          <a:lstStyle/>
          <a:p>
            <a:fld id="{B7EB45DA-9A0D-DC49-8E02-F30A5DDC21C3}" type="slidenum">
              <a:rPr lang="en-US" smtClean="0"/>
              <a:t>39</a:t>
            </a:fld>
            <a:endParaRPr lang="en-US"/>
          </a:p>
        </p:txBody>
      </p:sp>
      <p:pic>
        <p:nvPicPr>
          <p:cNvPr id="2" name="Picture 1">
            <a:extLst>
              <a:ext uri="{FF2B5EF4-FFF2-40B4-BE49-F238E27FC236}">
                <a16:creationId xmlns:a16="http://schemas.microsoft.com/office/drawing/2014/main" id="{7F61B8C5-1861-9C84-59B4-D8E074841BD9}"/>
              </a:ext>
            </a:extLst>
          </p:cNvPr>
          <p:cNvPicPr>
            <a:picLocks noChangeAspect="1"/>
          </p:cNvPicPr>
          <p:nvPr/>
        </p:nvPicPr>
        <p:blipFill>
          <a:blip r:embed="rId3"/>
          <a:stretch>
            <a:fillRect/>
          </a:stretch>
        </p:blipFill>
        <p:spPr>
          <a:xfrm>
            <a:off x="563770" y="1026017"/>
            <a:ext cx="8293608" cy="5330333"/>
          </a:xfrm>
          <a:prstGeom prst="rect">
            <a:avLst/>
          </a:prstGeom>
        </p:spPr>
      </p:pic>
    </p:spTree>
    <p:extLst>
      <p:ext uri="{BB962C8B-B14F-4D97-AF65-F5344CB8AC3E}">
        <p14:creationId xmlns:p14="http://schemas.microsoft.com/office/powerpoint/2010/main" val="223726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DB9753-E073-226D-7033-B64A08D9A77D}"/>
              </a:ext>
            </a:extLst>
          </p:cNvPr>
          <p:cNvSpPr>
            <a:spLocks noGrp="1"/>
          </p:cNvSpPr>
          <p:nvPr>
            <p:ph type="title"/>
          </p:nvPr>
        </p:nvSpPr>
        <p:spPr/>
        <p:txBody>
          <a:bodyPr/>
          <a:lstStyle/>
          <a:p>
            <a:r>
              <a:rPr lang="en-US" dirty="0"/>
              <a:t>DATA</a:t>
            </a:r>
          </a:p>
        </p:txBody>
      </p:sp>
      <p:sp>
        <p:nvSpPr>
          <p:cNvPr id="4" name="Slide Number Placeholder 3">
            <a:extLst>
              <a:ext uri="{FF2B5EF4-FFF2-40B4-BE49-F238E27FC236}">
                <a16:creationId xmlns:a16="http://schemas.microsoft.com/office/drawing/2014/main" id="{5AF74649-E488-CEE6-190D-3B7BA257F4D6}"/>
              </a:ext>
            </a:extLst>
          </p:cNvPr>
          <p:cNvSpPr>
            <a:spLocks noGrp="1"/>
          </p:cNvSpPr>
          <p:nvPr>
            <p:ph type="sldNum" sz="quarter" idx="4"/>
          </p:nvPr>
        </p:nvSpPr>
        <p:spPr/>
        <p:txBody>
          <a:bodyPr/>
          <a:lstStyle/>
          <a:p>
            <a:fld id="{B7EB45DA-9A0D-DC49-8E02-F30A5DDC21C3}" type="slidenum">
              <a:rPr lang="en-US" smtClean="0"/>
              <a:t>40</a:t>
            </a:fld>
            <a:endParaRPr lang="en-US"/>
          </a:p>
        </p:txBody>
      </p:sp>
    </p:spTree>
    <p:extLst>
      <p:ext uri="{BB962C8B-B14F-4D97-AF65-F5344CB8AC3E}">
        <p14:creationId xmlns:p14="http://schemas.microsoft.com/office/powerpoint/2010/main" val="30174853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DF63C3-45C5-113C-115B-B5C5037694C1}"/>
              </a:ext>
            </a:extLst>
          </p:cNvPr>
          <p:cNvSpPr>
            <a:spLocks noGrp="1"/>
          </p:cNvSpPr>
          <p:nvPr>
            <p:ph type="title"/>
          </p:nvPr>
        </p:nvSpPr>
        <p:spPr>
          <a:xfrm>
            <a:off x="277148" y="118428"/>
            <a:ext cx="8866852" cy="638175"/>
          </a:xfrm>
        </p:spPr>
        <p:txBody>
          <a:bodyPr>
            <a:normAutofit fontScale="90000"/>
          </a:bodyPr>
          <a:lstStyle/>
          <a:p>
            <a:r>
              <a:rPr lang="en-US" dirty="0"/>
              <a:t>Growth of </a:t>
            </a:r>
            <a:r>
              <a:rPr lang="en-US" dirty="0" err="1"/>
              <a:t>DocAble’s</a:t>
            </a:r>
            <a:r>
              <a:rPr lang="en-US" dirty="0"/>
              <a:t> Governed Engineering Environment</a:t>
            </a:r>
          </a:p>
        </p:txBody>
      </p:sp>
      <p:sp>
        <p:nvSpPr>
          <p:cNvPr id="3" name="Slide Number Placeholder 2">
            <a:extLst>
              <a:ext uri="{FF2B5EF4-FFF2-40B4-BE49-F238E27FC236}">
                <a16:creationId xmlns:a16="http://schemas.microsoft.com/office/drawing/2014/main" id="{56A0BADB-52D7-66B9-3AD4-69C0B7E2F0BD}"/>
              </a:ext>
            </a:extLst>
          </p:cNvPr>
          <p:cNvSpPr>
            <a:spLocks noGrp="1"/>
          </p:cNvSpPr>
          <p:nvPr>
            <p:ph type="sldNum" sz="quarter" idx="4"/>
          </p:nvPr>
        </p:nvSpPr>
        <p:spPr/>
        <p:txBody>
          <a:bodyPr/>
          <a:lstStyle/>
          <a:p>
            <a:fld id="{B7EB45DA-9A0D-DC49-8E02-F30A5DDC21C3}" type="slidenum">
              <a:rPr lang="en-US" smtClean="0"/>
              <a:t>41</a:t>
            </a:fld>
            <a:endParaRPr lang="en-US"/>
          </a:p>
        </p:txBody>
      </p:sp>
      <p:pic>
        <p:nvPicPr>
          <p:cNvPr id="6" name="Picture 5">
            <a:extLst>
              <a:ext uri="{FF2B5EF4-FFF2-40B4-BE49-F238E27FC236}">
                <a16:creationId xmlns:a16="http://schemas.microsoft.com/office/drawing/2014/main" id="{2F834847-FF82-74F1-3958-9CECF847BDEA}"/>
              </a:ext>
            </a:extLst>
          </p:cNvPr>
          <p:cNvPicPr>
            <a:picLocks noChangeAspect="1"/>
          </p:cNvPicPr>
          <p:nvPr/>
        </p:nvPicPr>
        <p:blipFill>
          <a:blip r:embed="rId2"/>
          <a:stretch>
            <a:fillRect/>
          </a:stretch>
        </p:blipFill>
        <p:spPr>
          <a:xfrm>
            <a:off x="277148" y="1418777"/>
            <a:ext cx="8458200" cy="4414993"/>
          </a:xfrm>
          <a:prstGeom prst="rect">
            <a:avLst/>
          </a:prstGeom>
        </p:spPr>
      </p:pic>
    </p:spTree>
    <p:extLst>
      <p:ext uri="{BB962C8B-B14F-4D97-AF65-F5344CB8AC3E}">
        <p14:creationId xmlns:p14="http://schemas.microsoft.com/office/powerpoint/2010/main" val="525331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E20A-1268-77F1-7B65-C6A57666D4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30DCE1-6CDB-3C00-0F8D-EEAA9493C9D8}"/>
              </a:ext>
            </a:extLst>
          </p:cNvPr>
          <p:cNvSpPr>
            <a:spLocks noGrp="1"/>
          </p:cNvSpPr>
          <p:nvPr>
            <p:ph type="title"/>
          </p:nvPr>
        </p:nvSpPr>
        <p:spPr>
          <a:xfrm>
            <a:off x="277148" y="118428"/>
            <a:ext cx="8866852" cy="638175"/>
          </a:xfrm>
        </p:spPr>
        <p:txBody>
          <a:bodyPr>
            <a:normAutofit fontScale="90000"/>
          </a:bodyPr>
          <a:lstStyle/>
          <a:p>
            <a:r>
              <a:rPr lang="en-US" dirty="0"/>
              <a:t>Ratio of GEE to production code</a:t>
            </a:r>
          </a:p>
        </p:txBody>
      </p:sp>
      <p:sp>
        <p:nvSpPr>
          <p:cNvPr id="3" name="Slide Number Placeholder 2">
            <a:extLst>
              <a:ext uri="{FF2B5EF4-FFF2-40B4-BE49-F238E27FC236}">
                <a16:creationId xmlns:a16="http://schemas.microsoft.com/office/drawing/2014/main" id="{5AB1BEC7-62B3-F092-3794-0F3761EBD5C2}"/>
              </a:ext>
            </a:extLst>
          </p:cNvPr>
          <p:cNvSpPr>
            <a:spLocks noGrp="1"/>
          </p:cNvSpPr>
          <p:nvPr>
            <p:ph type="sldNum" sz="quarter" idx="4"/>
          </p:nvPr>
        </p:nvSpPr>
        <p:spPr/>
        <p:txBody>
          <a:bodyPr/>
          <a:lstStyle/>
          <a:p>
            <a:fld id="{B7EB45DA-9A0D-DC49-8E02-F30A5DDC21C3}" type="slidenum">
              <a:rPr lang="en-US" smtClean="0"/>
              <a:t>42</a:t>
            </a:fld>
            <a:endParaRPr lang="en-US"/>
          </a:p>
        </p:txBody>
      </p:sp>
      <p:pic>
        <p:nvPicPr>
          <p:cNvPr id="2" name="Picture 1">
            <a:extLst>
              <a:ext uri="{FF2B5EF4-FFF2-40B4-BE49-F238E27FC236}">
                <a16:creationId xmlns:a16="http://schemas.microsoft.com/office/drawing/2014/main" id="{794442FE-5818-C7D7-9858-6833EA68E391}"/>
              </a:ext>
            </a:extLst>
          </p:cNvPr>
          <p:cNvPicPr>
            <a:picLocks noChangeAspect="1"/>
          </p:cNvPicPr>
          <p:nvPr/>
        </p:nvPicPr>
        <p:blipFill>
          <a:blip r:embed="rId2"/>
          <a:stretch>
            <a:fillRect/>
          </a:stretch>
        </p:blipFill>
        <p:spPr>
          <a:xfrm>
            <a:off x="300759" y="1491404"/>
            <a:ext cx="8542482" cy="3875191"/>
          </a:xfrm>
          <a:prstGeom prst="rect">
            <a:avLst/>
          </a:prstGeom>
        </p:spPr>
      </p:pic>
    </p:spTree>
    <p:extLst>
      <p:ext uri="{BB962C8B-B14F-4D97-AF65-F5344CB8AC3E}">
        <p14:creationId xmlns:p14="http://schemas.microsoft.com/office/powerpoint/2010/main" val="861829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9858-B105-530C-75F3-49E758E48E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D0C1C6-3703-47FE-3523-6AB512F5811A}"/>
              </a:ext>
            </a:extLst>
          </p:cNvPr>
          <p:cNvSpPr>
            <a:spLocks noGrp="1"/>
          </p:cNvSpPr>
          <p:nvPr>
            <p:ph type="title"/>
          </p:nvPr>
        </p:nvSpPr>
        <p:spPr>
          <a:xfrm>
            <a:off x="277148" y="118428"/>
            <a:ext cx="8866852" cy="638175"/>
          </a:xfrm>
        </p:spPr>
        <p:txBody>
          <a:bodyPr>
            <a:normAutofit fontScale="90000"/>
          </a:bodyPr>
          <a:lstStyle/>
          <a:p>
            <a:r>
              <a:rPr lang="en-US" dirty="0"/>
              <a:t>Commit volume -- ~1K commits/week</a:t>
            </a:r>
          </a:p>
        </p:txBody>
      </p:sp>
      <p:sp>
        <p:nvSpPr>
          <p:cNvPr id="3" name="Slide Number Placeholder 2">
            <a:extLst>
              <a:ext uri="{FF2B5EF4-FFF2-40B4-BE49-F238E27FC236}">
                <a16:creationId xmlns:a16="http://schemas.microsoft.com/office/drawing/2014/main" id="{B822147A-EEA4-CA23-0FD6-16B0AA536578}"/>
              </a:ext>
            </a:extLst>
          </p:cNvPr>
          <p:cNvSpPr>
            <a:spLocks noGrp="1"/>
          </p:cNvSpPr>
          <p:nvPr>
            <p:ph type="sldNum" sz="quarter" idx="4"/>
          </p:nvPr>
        </p:nvSpPr>
        <p:spPr/>
        <p:txBody>
          <a:bodyPr/>
          <a:lstStyle/>
          <a:p>
            <a:fld id="{B7EB45DA-9A0D-DC49-8E02-F30A5DDC21C3}" type="slidenum">
              <a:rPr lang="en-US" smtClean="0"/>
              <a:t>43</a:t>
            </a:fld>
            <a:endParaRPr lang="en-US"/>
          </a:p>
        </p:txBody>
      </p:sp>
      <p:pic>
        <p:nvPicPr>
          <p:cNvPr id="5" name="Picture 4">
            <a:extLst>
              <a:ext uri="{FF2B5EF4-FFF2-40B4-BE49-F238E27FC236}">
                <a16:creationId xmlns:a16="http://schemas.microsoft.com/office/drawing/2014/main" id="{5B0BA756-C5C3-C199-AA84-B58A6A9B9549}"/>
              </a:ext>
            </a:extLst>
          </p:cNvPr>
          <p:cNvPicPr>
            <a:picLocks noChangeAspect="1"/>
          </p:cNvPicPr>
          <p:nvPr/>
        </p:nvPicPr>
        <p:blipFill>
          <a:blip r:embed="rId2"/>
          <a:stretch>
            <a:fillRect/>
          </a:stretch>
        </p:blipFill>
        <p:spPr>
          <a:xfrm>
            <a:off x="685800" y="1311343"/>
            <a:ext cx="7772400" cy="4235314"/>
          </a:xfrm>
          <a:prstGeom prst="rect">
            <a:avLst/>
          </a:prstGeom>
        </p:spPr>
      </p:pic>
    </p:spTree>
    <p:extLst>
      <p:ext uri="{BB962C8B-B14F-4D97-AF65-F5344CB8AC3E}">
        <p14:creationId xmlns:p14="http://schemas.microsoft.com/office/powerpoint/2010/main" val="1681314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74783-6BE6-FA33-A49F-39E8182C0D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E910D0-3D90-EBB4-740D-9C624762C398}"/>
              </a:ext>
            </a:extLst>
          </p:cNvPr>
          <p:cNvSpPr>
            <a:spLocks noGrp="1"/>
          </p:cNvSpPr>
          <p:nvPr>
            <p:ph type="title"/>
          </p:nvPr>
        </p:nvSpPr>
        <p:spPr>
          <a:xfrm>
            <a:off x="277148" y="118428"/>
            <a:ext cx="8866852" cy="638175"/>
          </a:xfrm>
        </p:spPr>
        <p:txBody>
          <a:bodyPr>
            <a:normAutofit fontScale="90000"/>
          </a:bodyPr>
          <a:lstStyle/>
          <a:p>
            <a:r>
              <a:rPr lang="en-US" dirty="0"/>
              <a:t>Does MAGE impact </a:t>
            </a:r>
            <a:r>
              <a:rPr lang="en-US" dirty="0" err="1"/>
              <a:t>tokenomics</a:t>
            </a:r>
            <a:r>
              <a:rPr lang="en-US" dirty="0"/>
              <a:t>? </a:t>
            </a:r>
            <a:r>
              <a:rPr lang="en-US"/>
              <a:t>Maybe…</a:t>
            </a:r>
            <a:endParaRPr lang="en-US" dirty="0"/>
          </a:p>
        </p:txBody>
      </p:sp>
      <p:sp>
        <p:nvSpPr>
          <p:cNvPr id="3" name="Slide Number Placeholder 2">
            <a:extLst>
              <a:ext uri="{FF2B5EF4-FFF2-40B4-BE49-F238E27FC236}">
                <a16:creationId xmlns:a16="http://schemas.microsoft.com/office/drawing/2014/main" id="{7A11175C-C11A-7E7F-CEFF-C2171B2000FF}"/>
              </a:ext>
            </a:extLst>
          </p:cNvPr>
          <p:cNvSpPr>
            <a:spLocks noGrp="1"/>
          </p:cNvSpPr>
          <p:nvPr>
            <p:ph type="sldNum" sz="quarter" idx="4"/>
          </p:nvPr>
        </p:nvSpPr>
        <p:spPr/>
        <p:txBody>
          <a:bodyPr/>
          <a:lstStyle/>
          <a:p>
            <a:fld id="{B7EB45DA-9A0D-DC49-8E02-F30A5DDC21C3}" type="slidenum">
              <a:rPr lang="en-US" smtClean="0"/>
              <a:t>44</a:t>
            </a:fld>
            <a:endParaRPr lang="en-US"/>
          </a:p>
        </p:txBody>
      </p:sp>
      <p:pic>
        <p:nvPicPr>
          <p:cNvPr id="2" name="Picture 1">
            <a:extLst>
              <a:ext uri="{FF2B5EF4-FFF2-40B4-BE49-F238E27FC236}">
                <a16:creationId xmlns:a16="http://schemas.microsoft.com/office/drawing/2014/main" id="{E78C432B-9A96-0C9E-6E02-29C3CE1B3A71}"/>
              </a:ext>
            </a:extLst>
          </p:cNvPr>
          <p:cNvPicPr>
            <a:picLocks noChangeAspect="1"/>
          </p:cNvPicPr>
          <p:nvPr/>
        </p:nvPicPr>
        <p:blipFill>
          <a:blip r:embed="rId3"/>
          <a:srcRect b="84074"/>
          <a:stretch>
            <a:fillRect/>
          </a:stretch>
        </p:blipFill>
        <p:spPr>
          <a:xfrm>
            <a:off x="116739" y="2121409"/>
            <a:ext cx="8910522" cy="369332"/>
          </a:xfrm>
          <a:prstGeom prst="rect">
            <a:avLst/>
          </a:prstGeom>
        </p:spPr>
      </p:pic>
      <p:pic>
        <p:nvPicPr>
          <p:cNvPr id="7" name="Picture 6">
            <a:extLst>
              <a:ext uri="{FF2B5EF4-FFF2-40B4-BE49-F238E27FC236}">
                <a16:creationId xmlns:a16="http://schemas.microsoft.com/office/drawing/2014/main" id="{6EA148C0-22DA-2164-8EAB-7D5F29E39EED}"/>
              </a:ext>
            </a:extLst>
          </p:cNvPr>
          <p:cNvPicPr>
            <a:picLocks noChangeAspect="1"/>
          </p:cNvPicPr>
          <p:nvPr/>
        </p:nvPicPr>
        <p:blipFill>
          <a:blip r:embed="rId3"/>
          <a:srcRect t="48592"/>
          <a:stretch>
            <a:fillRect/>
          </a:stretch>
        </p:blipFill>
        <p:spPr>
          <a:xfrm>
            <a:off x="116739" y="2417589"/>
            <a:ext cx="8910522" cy="1192132"/>
          </a:xfrm>
          <a:prstGeom prst="rect">
            <a:avLst/>
          </a:prstGeom>
        </p:spPr>
      </p:pic>
    </p:spTree>
    <p:extLst>
      <p:ext uri="{BB962C8B-B14F-4D97-AF65-F5344CB8AC3E}">
        <p14:creationId xmlns:p14="http://schemas.microsoft.com/office/powerpoint/2010/main" val="4270374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67A35-35F2-8076-7DC3-EE2191224B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262EBD-4448-8F75-CFCF-257927E3EF29}"/>
              </a:ext>
            </a:extLst>
          </p:cNvPr>
          <p:cNvSpPr>
            <a:spLocks noGrp="1"/>
          </p:cNvSpPr>
          <p:nvPr>
            <p:ph idx="1"/>
          </p:nvPr>
        </p:nvSpPr>
        <p:spPr>
          <a:ln>
            <a:solidFill>
              <a:schemeClr val="bg1"/>
            </a:solidFill>
          </a:ln>
        </p:spPr>
        <p:txBody>
          <a:bodyPr/>
          <a:lstStyle/>
          <a:p>
            <a:pPr marL="342900" indent="-342900">
              <a:buFont typeface="+mj-lt"/>
              <a:buAutoNum type="arabicPeriod"/>
            </a:pPr>
            <a:r>
              <a:rPr lang="en-US" dirty="0">
                <a:solidFill>
                  <a:schemeClr val="accent6">
                    <a:lumMod val="40000"/>
                    <a:lumOff val="60000"/>
                  </a:schemeClr>
                </a:solidFill>
              </a:rPr>
              <a:t>Who am I and why am I here</a:t>
            </a:r>
          </a:p>
          <a:p>
            <a:pPr marL="342900" indent="-342900">
              <a:buFont typeface="+mj-lt"/>
              <a:buAutoNum type="arabicPeriod"/>
            </a:pPr>
            <a:r>
              <a:rPr lang="en-US" b="1" dirty="0">
                <a:solidFill>
                  <a:schemeClr val="accent6">
                    <a:lumMod val="40000"/>
                    <a:lumOff val="60000"/>
                  </a:schemeClr>
                </a:solidFill>
              </a:rPr>
              <a:t>The substrate: Engineering shifts in response to technology change</a:t>
            </a:r>
          </a:p>
          <a:p>
            <a:pPr marL="342900" indent="-342900">
              <a:buFont typeface="+mj-lt"/>
              <a:buAutoNum type="arabicPeriod"/>
            </a:pPr>
            <a:r>
              <a:rPr lang="en-US" dirty="0">
                <a:solidFill>
                  <a:schemeClr val="accent6">
                    <a:lumMod val="40000"/>
                    <a:lumOff val="60000"/>
                  </a:schemeClr>
                </a:solidFill>
              </a:rPr>
              <a:t>Vibe coding</a:t>
            </a:r>
          </a:p>
          <a:p>
            <a:pPr marL="342900" indent="-342900">
              <a:buFont typeface="+mj-lt"/>
              <a:buAutoNum type="arabicPeriod"/>
            </a:pPr>
            <a:r>
              <a:rPr lang="en-US" dirty="0">
                <a:solidFill>
                  <a:schemeClr val="accent6">
                    <a:lumMod val="40000"/>
                    <a:lumOff val="60000"/>
                  </a:schemeClr>
                </a:solidFill>
              </a:rPr>
              <a:t>MAGE</a:t>
            </a:r>
          </a:p>
          <a:p>
            <a:pPr marL="342900" indent="-342900">
              <a:buFont typeface="+mj-lt"/>
              <a:buAutoNum type="arabicPeriod"/>
            </a:pPr>
            <a:r>
              <a:rPr lang="en-US" dirty="0">
                <a:solidFill>
                  <a:schemeClr val="accent6">
                    <a:lumMod val="40000"/>
                    <a:lumOff val="60000"/>
                  </a:schemeClr>
                </a:solidFill>
              </a:rPr>
              <a:t>Modeling</a:t>
            </a:r>
          </a:p>
          <a:p>
            <a:pPr marL="342900" indent="-342900">
              <a:buFont typeface="+mj-lt"/>
              <a:buAutoNum type="arabicPeriod"/>
            </a:pPr>
            <a:r>
              <a:rPr lang="en-US" dirty="0">
                <a:solidFill>
                  <a:schemeClr val="accent6">
                    <a:lumMod val="40000"/>
                    <a:lumOff val="60000"/>
                  </a:schemeClr>
                </a:solidFill>
              </a:rPr>
              <a:t>Alignment</a:t>
            </a:r>
          </a:p>
          <a:p>
            <a:pPr marL="342900" indent="-342900">
              <a:buFont typeface="+mj-lt"/>
              <a:buAutoNum type="arabicPeriod"/>
            </a:pPr>
            <a:r>
              <a:rPr lang="en-US" dirty="0">
                <a:solidFill>
                  <a:schemeClr val="accent6">
                    <a:lumMod val="40000"/>
                    <a:lumOff val="60000"/>
                  </a:schemeClr>
                </a:solidFill>
              </a:rPr>
              <a:t>Putting it together: The MAGE Method</a:t>
            </a:r>
          </a:p>
          <a:p>
            <a:pPr marL="342900" indent="-342900">
              <a:buFont typeface="+mj-lt"/>
              <a:buAutoNum type="arabicPeriod"/>
            </a:pPr>
            <a:r>
              <a:rPr lang="en-US" b="1" dirty="0">
                <a:solidFill>
                  <a:schemeClr val="bg1"/>
                </a:solidFill>
              </a:rPr>
              <a:t>Related work and Implications: for engineering, for research, for education</a:t>
            </a:r>
          </a:p>
          <a:p>
            <a:pPr marL="0" indent="0">
              <a:buNone/>
            </a:pPr>
            <a:endParaRPr lang="en-US" dirty="0"/>
          </a:p>
          <a:p>
            <a:pPr marL="342900" indent="-342900">
              <a:buFont typeface="+mj-lt"/>
              <a:buAutoNum type="arabicPeriod"/>
            </a:pPr>
            <a:endParaRPr lang="en-US" dirty="0"/>
          </a:p>
        </p:txBody>
      </p:sp>
      <p:sp>
        <p:nvSpPr>
          <p:cNvPr id="3" name="Title 2">
            <a:extLst>
              <a:ext uri="{FF2B5EF4-FFF2-40B4-BE49-F238E27FC236}">
                <a16:creationId xmlns:a16="http://schemas.microsoft.com/office/drawing/2014/main" id="{78067981-BD50-E46C-B4CA-9FB5B30AA310}"/>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44CB94A6-1C96-9870-B4A3-45D880D8A239}"/>
              </a:ext>
            </a:extLst>
          </p:cNvPr>
          <p:cNvSpPr>
            <a:spLocks noGrp="1"/>
          </p:cNvSpPr>
          <p:nvPr>
            <p:ph type="sldNum" sz="quarter" idx="4"/>
          </p:nvPr>
        </p:nvSpPr>
        <p:spPr/>
        <p:txBody>
          <a:bodyPr/>
          <a:lstStyle/>
          <a:p>
            <a:fld id="{B7EB45DA-9A0D-DC49-8E02-F30A5DDC21C3}" type="slidenum">
              <a:rPr lang="en-US" smtClean="0"/>
              <a:t>45</a:t>
            </a:fld>
            <a:endParaRPr lang="en-US"/>
          </a:p>
        </p:txBody>
      </p:sp>
    </p:spTree>
    <p:extLst>
      <p:ext uri="{BB962C8B-B14F-4D97-AF65-F5344CB8AC3E}">
        <p14:creationId xmlns:p14="http://schemas.microsoft.com/office/powerpoint/2010/main" val="37504792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55BC5B-BF0E-1C12-D958-A76FEB878075}"/>
              </a:ext>
            </a:extLst>
          </p:cNvPr>
          <p:cNvSpPr>
            <a:spLocks noGrp="1"/>
          </p:cNvSpPr>
          <p:nvPr>
            <p:ph type="sldNum" sz="quarter" idx="4"/>
          </p:nvPr>
        </p:nvSpPr>
        <p:spPr/>
        <p:txBody>
          <a:bodyPr/>
          <a:lstStyle/>
          <a:p>
            <a:fld id="{B7EB45DA-9A0D-DC49-8E02-F30A5DDC21C3}" type="slidenum">
              <a:rPr lang="en-US" smtClean="0"/>
              <a:t>46</a:t>
            </a:fld>
            <a:endParaRPr lang="en-US"/>
          </a:p>
        </p:txBody>
      </p:sp>
      <p:pic>
        <p:nvPicPr>
          <p:cNvPr id="7" name="Picture 6">
            <a:extLst>
              <a:ext uri="{FF2B5EF4-FFF2-40B4-BE49-F238E27FC236}">
                <a16:creationId xmlns:a16="http://schemas.microsoft.com/office/drawing/2014/main" id="{96DAF8EC-D427-9769-BA3F-35CE14949F07}"/>
              </a:ext>
            </a:extLst>
          </p:cNvPr>
          <p:cNvPicPr>
            <a:picLocks noChangeAspect="1"/>
          </p:cNvPicPr>
          <p:nvPr/>
        </p:nvPicPr>
        <p:blipFill>
          <a:blip r:embed="rId3"/>
          <a:stretch>
            <a:fillRect/>
          </a:stretch>
        </p:blipFill>
        <p:spPr>
          <a:xfrm>
            <a:off x="1161288" y="640080"/>
            <a:ext cx="7126526" cy="6133737"/>
          </a:xfrm>
          <a:prstGeom prst="rect">
            <a:avLst/>
          </a:prstGeom>
        </p:spPr>
      </p:pic>
      <p:sp>
        <p:nvSpPr>
          <p:cNvPr id="8" name="TextBox 7">
            <a:extLst>
              <a:ext uri="{FF2B5EF4-FFF2-40B4-BE49-F238E27FC236}">
                <a16:creationId xmlns:a16="http://schemas.microsoft.com/office/drawing/2014/main" id="{12D66396-0403-04E1-DCD2-DF78ADFCC269}"/>
              </a:ext>
            </a:extLst>
          </p:cNvPr>
          <p:cNvSpPr txBox="1"/>
          <p:nvPr/>
        </p:nvSpPr>
        <p:spPr>
          <a:xfrm>
            <a:off x="-54864" y="45085"/>
            <a:ext cx="9436608" cy="523220"/>
          </a:xfrm>
          <a:prstGeom prst="rect">
            <a:avLst/>
          </a:prstGeom>
          <a:noFill/>
        </p:spPr>
        <p:txBody>
          <a:bodyPr wrap="square" rtlCol="0">
            <a:spAutoFit/>
          </a:bodyPr>
          <a:lstStyle/>
          <a:p>
            <a:r>
              <a:rPr lang="en-US" sz="2800" b="1" dirty="0"/>
              <a:t>MAGE bridges engineering and AI traditions to center the GEE</a:t>
            </a:r>
          </a:p>
        </p:txBody>
      </p:sp>
    </p:spTree>
    <p:extLst>
      <p:ext uri="{BB962C8B-B14F-4D97-AF65-F5344CB8AC3E}">
        <p14:creationId xmlns:p14="http://schemas.microsoft.com/office/powerpoint/2010/main" val="7379689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BBCE6C-2368-3FC9-483F-77A64091230F}"/>
              </a:ext>
            </a:extLst>
          </p:cNvPr>
          <p:cNvSpPr>
            <a:spLocks noGrp="1"/>
          </p:cNvSpPr>
          <p:nvPr>
            <p:ph type="title"/>
          </p:nvPr>
        </p:nvSpPr>
        <p:spPr/>
        <p:txBody>
          <a:bodyPr>
            <a:normAutofit fontScale="90000"/>
          </a:bodyPr>
          <a:lstStyle/>
          <a:p>
            <a:r>
              <a:rPr lang="en-US" i="1" dirty="0"/>
              <a:t>MAGE: Patting the engineering in software engineering</a:t>
            </a:r>
          </a:p>
        </p:txBody>
      </p:sp>
      <p:sp>
        <p:nvSpPr>
          <p:cNvPr id="2" name="Slide Number Placeholder 1">
            <a:extLst>
              <a:ext uri="{FF2B5EF4-FFF2-40B4-BE49-F238E27FC236}">
                <a16:creationId xmlns:a16="http://schemas.microsoft.com/office/drawing/2014/main" id="{86B3EC9A-ADF3-C3E2-63BC-68587CE474B1}"/>
              </a:ext>
            </a:extLst>
          </p:cNvPr>
          <p:cNvSpPr>
            <a:spLocks noGrp="1"/>
          </p:cNvSpPr>
          <p:nvPr>
            <p:ph type="sldNum" sz="quarter" idx="4"/>
          </p:nvPr>
        </p:nvSpPr>
        <p:spPr/>
        <p:txBody>
          <a:bodyPr/>
          <a:lstStyle/>
          <a:p>
            <a:fld id="{B7EB45DA-9A0D-DC49-8E02-F30A5DDC21C3}" type="slidenum">
              <a:rPr lang="en-US" smtClean="0"/>
              <a:t>47</a:t>
            </a:fld>
            <a:endParaRPr lang="en-US"/>
          </a:p>
        </p:txBody>
      </p:sp>
      <p:sp>
        <p:nvSpPr>
          <p:cNvPr id="5" name="TextBox 4">
            <a:extLst>
              <a:ext uri="{FF2B5EF4-FFF2-40B4-BE49-F238E27FC236}">
                <a16:creationId xmlns:a16="http://schemas.microsoft.com/office/drawing/2014/main" id="{91DB2CE9-B346-E37C-24D1-197609D37F3A}"/>
              </a:ext>
            </a:extLst>
          </p:cNvPr>
          <p:cNvSpPr txBox="1"/>
          <p:nvPr/>
        </p:nvSpPr>
        <p:spPr>
          <a:xfrm>
            <a:off x="0" y="6077247"/>
            <a:ext cx="3850862" cy="461665"/>
          </a:xfrm>
          <a:prstGeom prst="rect">
            <a:avLst/>
          </a:prstGeom>
          <a:noFill/>
        </p:spPr>
        <p:txBody>
          <a:bodyPr wrap="none" rtlCol="0">
            <a:spAutoFit/>
          </a:bodyPr>
          <a:lstStyle/>
          <a:p>
            <a:r>
              <a:rPr lang="en-US" sz="2400" i="1" dirty="0"/>
              <a:t>Thank you for your attention!</a:t>
            </a:r>
          </a:p>
        </p:txBody>
      </p:sp>
      <p:sp>
        <p:nvSpPr>
          <p:cNvPr id="6" name="TextBox 5">
            <a:extLst>
              <a:ext uri="{FF2B5EF4-FFF2-40B4-BE49-F238E27FC236}">
                <a16:creationId xmlns:a16="http://schemas.microsoft.com/office/drawing/2014/main" id="{D3B86A57-9FC1-D746-B54E-644E6F882032}"/>
              </a:ext>
            </a:extLst>
          </p:cNvPr>
          <p:cNvSpPr txBox="1"/>
          <p:nvPr/>
        </p:nvSpPr>
        <p:spPr>
          <a:xfrm>
            <a:off x="0" y="6412032"/>
            <a:ext cx="6875921" cy="369332"/>
          </a:xfrm>
          <a:prstGeom prst="rect">
            <a:avLst/>
          </a:prstGeom>
          <a:noFill/>
        </p:spPr>
        <p:txBody>
          <a:bodyPr wrap="none" rtlCol="0">
            <a:spAutoFit/>
          </a:bodyPr>
          <a:lstStyle/>
          <a:p>
            <a:r>
              <a:rPr lang="en-US" dirty="0"/>
              <a:t>https://</a:t>
            </a:r>
            <a:r>
              <a:rPr lang="en-US" dirty="0" err="1"/>
              <a:t>davisjam.github.io</a:t>
            </a:r>
            <a:r>
              <a:rPr lang="en-US" dirty="0"/>
              <a:t>/model-based-agentic-software-engineering/</a:t>
            </a:r>
          </a:p>
        </p:txBody>
      </p:sp>
    </p:spTree>
    <p:extLst>
      <p:ext uri="{BB962C8B-B14F-4D97-AF65-F5344CB8AC3E}">
        <p14:creationId xmlns:p14="http://schemas.microsoft.com/office/powerpoint/2010/main" val="4956952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ADE0E-3A73-8E49-857C-839BACF3DF5D}"/>
              </a:ext>
            </a:extLst>
          </p:cNvPr>
          <p:cNvSpPr>
            <a:spLocks noGrp="1"/>
          </p:cNvSpPr>
          <p:nvPr>
            <p:ph type="title"/>
          </p:nvPr>
        </p:nvSpPr>
        <p:spPr/>
        <p:txBody>
          <a:bodyPr/>
          <a:lstStyle/>
          <a:p>
            <a:r>
              <a:rPr lang="en-US" dirty="0"/>
              <a:t>BONUS</a:t>
            </a:r>
          </a:p>
        </p:txBody>
      </p:sp>
      <p:sp>
        <p:nvSpPr>
          <p:cNvPr id="3" name="Slide Number Placeholder 2">
            <a:extLst>
              <a:ext uri="{FF2B5EF4-FFF2-40B4-BE49-F238E27FC236}">
                <a16:creationId xmlns:a16="http://schemas.microsoft.com/office/drawing/2014/main" id="{7E98AA97-6055-929A-71FB-A7996B7531F3}"/>
              </a:ext>
            </a:extLst>
          </p:cNvPr>
          <p:cNvSpPr>
            <a:spLocks noGrp="1"/>
          </p:cNvSpPr>
          <p:nvPr>
            <p:ph type="sldNum" sz="quarter" idx="4"/>
          </p:nvPr>
        </p:nvSpPr>
        <p:spPr/>
        <p:txBody>
          <a:bodyPr/>
          <a:lstStyle/>
          <a:p>
            <a:fld id="{B7EB45DA-9A0D-DC49-8E02-F30A5DDC21C3}" type="slidenum">
              <a:rPr lang="en-US" smtClean="0"/>
              <a:t>48</a:t>
            </a:fld>
            <a:endParaRPr lang="en-US"/>
          </a:p>
        </p:txBody>
      </p:sp>
    </p:spTree>
    <p:extLst>
      <p:ext uri="{BB962C8B-B14F-4D97-AF65-F5344CB8AC3E}">
        <p14:creationId xmlns:p14="http://schemas.microsoft.com/office/powerpoint/2010/main" val="2744888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55FFBB-CA46-C5DF-9A5C-8B1C4D16E831}"/>
              </a:ext>
            </a:extLst>
          </p:cNvPr>
          <p:cNvSpPr>
            <a:spLocks noGrp="1"/>
          </p:cNvSpPr>
          <p:nvPr>
            <p:ph type="title"/>
          </p:nvPr>
        </p:nvSpPr>
        <p:spPr>
          <a:xfrm>
            <a:off x="277148" y="118428"/>
            <a:ext cx="8866852" cy="638175"/>
          </a:xfrm>
        </p:spPr>
        <p:txBody>
          <a:bodyPr>
            <a:normAutofit fontScale="90000"/>
          </a:bodyPr>
          <a:lstStyle/>
          <a:p>
            <a:r>
              <a:rPr lang="en-US" dirty="0"/>
              <a:t>Brownfield MAGE: Inducing models from an existing system</a:t>
            </a:r>
          </a:p>
        </p:txBody>
      </p:sp>
      <p:sp>
        <p:nvSpPr>
          <p:cNvPr id="4" name="Slide Number Placeholder 3">
            <a:extLst>
              <a:ext uri="{FF2B5EF4-FFF2-40B4-BE49-F238E27FC236}">
                <a16:creationId xmlns:a16="http://schemas.microsoft.com/office/drawing/2014/main" id="{C0F960D8-81FB-093B-6C34-245AD072FF8C}"/>
              </a:ext>
            </a:extLst>
          </p:cNvPr>
          <p:cNvSpPr>
            <a:spLocks noGrp="1"/>
          </p:cNvSpPr>
          <p:nvPr>
            <p:ph type="sldNum" sz="quarter" idx="4"/>
          </p:nvPr>
        </p:nvSpPr>
        <p:spPr/>
        <p:txBody>
          <a:bodyPr/>
          <a:lstStyle/>
          <a:p>
            <a:fld id="{B7EB45DA-9A0D-DC49-8E02-F30A5DDC21C3}" type="slidenum">
              <a:rPr lang="en-US" smtClean="0"/>
              <a:t>49</a:t>
            </a:fld>
            <a:endParaRPr lang="en-US"/>
          </a:p>
        </p:txBody>
      </p:sp>
      <p:pic>
        <p:nvPicPr>
          <p:cNvPr id="5" name="Picture 4">
            <a:extLst>
              <a:ext uri="{FF2B5EF4-FFF2-40B4-BE49-F238E27FC236}">
                <a16:creationId xmlns:a16="http://schemas.microsoft.com/office/drawing/2014/main" id="{166A024A-640A-6A4A-0512-C9B852CAC8AE}"/>
              </a:ext>
            </a:extLst>
          </p:cNvPr>
          <p:cNvPicPr>
            <a:picLocks noChangeAspect="1"/>
          </p:cNvPicPr>
          <p:nvPr/>
        </p:nvPicPr>
        <p:blipFill>
          <a:blip r:embed="rId3"/>
          <a:stretch>
            <a:fillRect/>
          </a:stretch>
        </p:blipFill>
        <p:spPr>
          <a:xfrm>
            <a:off x="685800" y="864827"/>
            <a:ext cx="7772400" cy="5128345"/>
          </a:xfrm>
          <a:prstGeom prst="rect">
            <a:avLst/>
          </a:prstGeom>
        </p:spPr>
      </p:pic>
    </p:spTree>
    <p:extLst>
      <p:ext uri="{BB962C8B-B14F-4D97-AF65-F5344CB8AC3E}">
        <p14:creationId xmlns:p14="http://schemas.microsoft.com/office/powerpoint/2010/main" val="2971821924"/>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24537</TotalTime>
  <Words>2898</Words>
  <Application>Microsoft Macintosh PowerPoint</Application>
  <PresentationFormat>On-screen Show (4:3)</PresentationFormat>
  <Paragraphs>326</Paragraphs>
  <Slides>49</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Acumin Pro</vt:lpstr>
      <vt:lpstr>Arial</vt:lpstr>
      <vt:lpstr>Calibri</vt:lpstr>
      <vt:lpstr>Times</vt:lpstr>
      <vt:lpstr>Wingdings</vt:lpstr>
      <vt:lpstr>Purdue1</vt:lpstr>
      <vt:lpstr>MAGE   Model-Based Agentic Engineering       Making GenAI More Trustworthy for Consequential Knowledge Work</vt:lpstr>
      <vt:lpstr>Talk outline</vt:lpstr>
      <vt:lpstr>Talk outline</vt:lpstr>
      <vt:lpstr>Biosketch</vt:lpstr>
      <vt:lpstr>Context and motivating question</vt:lpstr>
      <vt:lpstr>The US DOJ’s electronic-era update to the ADA</vt:lpstr>
      <vt:lpstr>Manual remediation: Some back-of-envelope math</vt:lpstr>
      <vt:lpstr>Why did the DOJ extend the deadline?</vt:lpstr>
      <vt:lpstr>Question of this talk Is this a problem of technology or of engineering?</vt:lpstr>
      <vt:lpstr>Answering the question</vt:lpstr>
      <vt:lpstr>Scope of work</vt:lpstr>
      <vt:lpstr>With GenAI, can one engineer/SME build a remediation system?</vt:lpstr>
      <vt:lpstr>DocAble: And don’t forget an editor!</vt:lpstr>
      <vt:lpstr>  Engineering process </vt:lpstr>
      <vt:lpstr>Talk outline</vt:lpstr>
      <vt:lpstr>Technology moves engineering bottlenecks</vt:lpstr>
      <vt:lpstr>The Agentic Substrate: “Commodity Intelligence”</vt:lpstr>
      <vt:lpstr>Talk outline</vt:lpstr>
      <vt:lpstr>If we have commodity intelligence, can we retire?</vt:lpstr>
      <vt:lpstr>The experience of the vibe coders</vt:lpstr>
      <vt:lpstr>The obvious answers: More oversight, more process</vt:lpstr>
      <vt:lpstr>Talk outline</vt:lpstr>
      <vt:lpstr>Mage principles: Modeling and Alignment</vt:lpstr>
      <vt:lpstr>PowerPoint Presentation</vt:lpstr>
      <vt:lpstr>MAGE captures industry descriptions of “effective Agentic SE”</vt:lpstr>
      <vt:lpstr>Talk outline</vt:lpstr>
      <vt:lpstr>Modeling  Coherence   |  No modeling  Churn</vt:lpstr>
      <vt:lpstr>Models let us encode obligations</vt:lpstr>
      <vt:lpstr>Example: Behavioral models (State machines)</vt:lpstr>
      <vt:lpstr>Example: Service flow model (e.g., data flow diagrams)</vt:lpstr>
      <vt:lpstr>Models are views that encode distinct obligations</vt:lpstr>
      <vt:lpstr>Talk outline</vt:lpstr>
      <vt:lpstr>Alignment is easier with explicit models</vt:lpstr>
      <vt:lpstr>Alignment can act at different points</vt:lpstr>
      <vt:lpstr>Kinds of alignment questions you might ask</vt:lpstr>
      <vt:lpstr>Talk outline</vt:lpstr>
      <vt:lpstr>Greenfield MAGE</vt:lpstr>
      <vt:lpstr>Brownfield MAGE: Inducing models from an existing system </vt:lpstr>
      <vt:lpstr>MAGE Decision Matrix</vt:lpstr>
      <vt:lpstr>DATA</vt:lpstr>
      <vt:lpstr>Growth of DocAble’s Governed Engineering Environment</vt:lpstr>
      <vt:lpstr>Ratio of GEE to production code</vt:lpstr>
      <vt:lpstr>Commit volume -- ~1K commits/week</vt:lpstr>
      <vt:lpstr>Does MAGE impact tokenomics? Maybe…</vt:lpstr>
      <vt:lpstr>Talk outline</vt:lpstr>
      <vt:lpstr>PowerPoint Presentation</vt:lpstr>
      <vt:lpstr>MAGE: Patting the engineering in software engineering</vt:lpstr>
      <vt:lpstr>BONUS</vt:lpstr>
      <vt:lpstr>Brownfield MAGE: Inducing models from an existing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Bowers, Anna K</dc:creator>
  <cp:lastModifiedBy>James C Davis</cp:lastModifiedBy>
  <cp:revision>1869</cp:revision>
  <dcterms:created xsi:type="dcterms:W3CDTF">2020-02-21T23:00:33Z</dcterms:created>
  <dcterms:modified xsi:type="dcterms:W3CDTF">2026-08-26T11:08:02Z</dcterms:modified>
</cp:coreProperties>
</file>