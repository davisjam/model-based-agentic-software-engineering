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41" r:id="rId25"/>
    <p:sldId id="724" r:id="rId26"/>
    <p:sldId id="725" r:id="rId27"/>
    <p:sldId id="726" r:id="rId28"/>
    <p:sldId id="727" r:id="rId29"/>
    <p:sldId id="728" r:id="rId30"/>
    <p:sldId id="729" r:id="rId31"/>
    <p:sldId id="730" r:id="rId32"/>
    <p:sldId id="731" r:id="rId33"/>
    <p:sldId id="732" r:id="rId34"/>
    <p:sldId id="733" r:id="rId35"/>
    <p:sldId id="734" r:id="rId36"/>
    <p:sldId id="735" r:id="rId37"/>
    <p:sldId id="736" r:id="rId38"/>
    <p:sldId id="737" r:id="rId39"/>
    <p:sldId id="738" r:id="rId40"/>
    <p:sldId id="739" r:id="rId41"/>
    <p:sldId id="740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The strip is the lecture thesis in miniature: BOUND → EQUIP → AUTHORIZE → VERIFY — delegation is designed, not just performed.</a:t>
            </a:r>
          </a:p>
          <a:p>
            <a:r>
              <a:rPr dirty="0"/>
              <a:t>- Do not define agent yet; the definition is earned in the harness subsection.</a:t>
            </a:r>
          </a:p>
          <a:p>
            <a:r>
              <a:rPr dirty="0"/>
              <a:t>- The model/harness/environment picture is coming — but as a submodel inside EQUIP, not the headline.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Act I, not a new definition lecture.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  <a:p>
            <a:r>
              <a:rPr dirty="0"/>
              <a:t>- The ‘you cannot delegate responsibility’ line near the end of the lecture is a callback to THIS slide.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map of the day: four engineering decisions.</a:t>
            </a:r>
          </a:p>
          <a:p>
            <a:endParaRPr dirty="0"/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sub-line: the decisions interact — not a rigid pipeline. Better representations can enlarge a task; narrower authority can buy autonomy.</a:t>
            </a:r>
          </a:p>
          <a:p>
            <a:r>
              <a:rPr dirty="0"/>
              <a:t>- Promise the shape of the day: BOUND now, EQUIP until the break, the reasoning horizon as the bridge, then AUTHORIZE and VERIFY.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the first delegation decision — design the work itself.</a:t>
            </a:r>
          </a:p>
          <a:p>
            <a:endParaRPr dirty="0"/>
          </a:p>
          <a:p>
            <a:r>
              <a:rPr dirty="0"/>
              <a:t>- The point is NOT ‘make tasks small.’ The point is the footer: change the task to change the reasoning problem.</a:t>
            </a:r>
          </a:p>
          <a:p>
            <a:r>
              <a:rPr dirty="0"/>
              <a:t>- Walk the picture: one large task becomes coherent work units joined by explicit artifacts and checkpoints.</a:t>
            </a:r>
          </a:p>
          <a:p>
            <a:r>
              <a:rPr dirty="0"/>
              <a:t>- The tradeoff lines are the teaching: too broad overwhelms the horizon; too fragmented forces context across every boundary.</a:t>
            </a:r>
          </a:p>
          <a:p>
            <a:r>
              <a:rPr dirty="0"/>
              <a:t>- Reasoning horizon is only named here — the full treatment comes after the break.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three-line question as one sentence; it is the BOUND design criterion.</a:t>
            </a:r>
          </a:p>
          <a:p>
            <a:r>
              <a:rPr dirty="0"/>
              <a:t>- The five levers are how engineers move a boundary — scope, decomposition, interfaces, artifacts, checkpoints.</a:t>
            </a:r>
          </a:p>
          <a:p>
            <a:r>
              <a:rPr dirty="0"/>
              <a:t>- The preview line plants the bridge: the boundary decides the reasoning problem; the horizon section makes that precise.</a:t>
            </a:r>
          </a:p>
          <a:p>
            <a:r>
              <a:rPr dirty="0"/>
              <a:t>- Do not solve an example here; the TPS slides later do that work.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Role change: this strip now answers ONE of the four questions — what capability the agent brings to the bounded work.</a:t>
            </a:r>
          </a:p>
          <a:p>
            <a:r>
              <a:rPr dirty="0"/>
              <a:t>- Each observation previews an EQUIP subsection: models, harnesses, environments.</a:t>
            </a:r>
          </a:p>
          <a:p>
            <a:r>
              <a:rPr dirty="0"/>
              <a:t>- Say the boundary line aloud: these layers supply capability; they do not decide what to delegate, authorize, or accept.</a:t>
            </a:r>
          </a:p>
          <a:p>
            <a:r>
              <a:rPr dirty="0"/>
              <a:t>- The footer still holds — engineer the system, not merely the prompt — now scoped to EQUIP.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0.3 minutes — </a:t>
            </a:r>
            <a:r>
              <a:rPr i="1" dirty="0"/>
              <a:t>Name the EQUIP · model subsection.</a:t>
            </a:r>
          </a:p>
          <a:p>
            <a:endParaRPr dirty="0"/>
          </a:p>
          <a:p>
            <a:r>
              <a:rPr dirty="0"/>
              <a:t>- 15-20 seconds only.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Models differ along many axes; strength is not a scalar.</a:t>
            </a:r>
          </a:p>
          <a:p>
            <a:endParaRPr dirty="0"/>
          </a:p>
          <a:p>
            <a:r>
              <a:rPr dirty="0"/>
              <a:t>- Do not teach transformers; capabilities in the abstract only.</a:t>
            </a:r>
          </a:p>
          <a:p>
            <a:r>
              <a:rPr dirty="0"/>
              <a:t>- Second row is the row students forget: cost, latency, context, deployment, availability.</a:t>
            </a:r>
          </a:p>
          <a:p>
            <a:r>
              <a:rPr dirty="0"/>
              <a:t>- Sets up the next slide: with this many axes there cannot be one best model.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Selection under requirements and constraints; no products recommended.</a:t>
            </a:r>
          </a:p>
          <a:p>
            <a:endParaRPr dirty="0"/>
          </a:p>
          <a:p>
            <a:r>
              <a:rPr dirty="0"/>
              <a:t>- Four example points in the decision space, not four products.</a:t>
            </a:r>
          </a:p>
          <a:p>
            <a:r>
              <a:rPr dirty="0"/>
              <a:t>- Open-weight models belong here: what their availability changes, not advocacy.</a:t>
            </a:r>
          </a:p>
          <a:p>
            <a:r>
              <a:rPr dirty="0"/>
              <a:t>- Callback to Act I decision-making: requirements and constraints select.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4 minutes — </a:t>
            </a:r>
            <a:r>
              <a:rPr i="1" dirty="0"/>
              <a:t>The empirical surprise: support can rival model strength. TPS.</a:t>
            </a:r>
          </a:p>
          <a:p>
            <a:endParaRPr dirty="0"/>
          </a:p>
          <a:p>
            <a:r>
              <a:rPr dirty="0"/>
              <a:t>- Build: strong+weak row, weaker+strong row, then the evidence card.</a:t>
            </a:r>
          </a:p>
          <a:p>
            <a:r>
              <a:rPr dirty="0"/>
              <a:t>- Numbers are real: Anthropic reported 33%→49% on SWE-bench Verified for the same Claude 3.5 Sonnet under different scaffolds (2024). Leaderboard scaffold spreads for one model are of similar size.</a:t>
            </a:r>
          </a:p>
          <a:p>
            <a:r>
              <a:rPr dirty="0"/>
              <a:t>- TPS ~2 min. Expected answer: cannot tell — depends on task, costs, constraints. That IS the lesson.</a:t>
            </a:r>
          </a:p>
          <a:p>
            <a:r>
              <a:rPr dirty="0"/>
              <a:t>- Do not let this become ‘models don’t matter’; both rows are levers.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0.3 minutes — </a:t>
            </a:r>
            <a:r>
              <a:rPr i="1" dirty="0"/>
              <a:t>Name the EQUIP · harness subsection.</a:t>
            </a:r>
          </a:p>
          <a:p>
            <a:endParaRPr dirty="0"/>
          </a:p>
          <a:p>
            <a:r>
              <a:rPr dirty="0"/>
              <a:t>- 15-20 seconds only.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Two rows: one inference vs a loop of reasoning and action.</a:t>
            </a:r>
          </a:p>
          <a:p>
            <a:endParaRPr dirty="0"/>
          </a:p>
          <a:p>
            <a:r>
              <a:rPr dirty="0"/>
              <a:t>- Build model row first, then the agent loop on the second click.</a:t>
            </a:r>
          </a:p>
          <a:p>
            <a:r>
              <a:rPr dirty="0"/>
              <a:t>- Say explicitly: this is a pedagogical abstraction — the model does not literally contain a ‘reason’ module; the loop is imposed from outside.</a:t>
            </a:r>
          </a:p>
          <a:p>
            <a:r>
              <a:rPr dirty="0"/>
              <a:t>- The footer names the next slide’s subject: the harness.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definition slide; read it once, slowly.</a:t>
            </a:r>
          </a:p>
          <a:p>
            <a:endParaRPr dirty="0"/>
          </a:p>
          <a:p>
            <a:r>
              <a:rPr dirty="0"/>
              <a:t>- Every phrase in the definition is a design surface: manages context, exposes tools, executes, returns results, controls continuation.</a:t>
            </a:r>
          </a:p>
          <a:p>
            <a:r>
              <a:rPr dirty="0"/>
              <a:t>- The loop below is the same picture reduced to four boxes; nothing else on this slide by design.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concrete coding loop, one step per click.</a:t>
            </a:r>
          </a:p>
          <a:p>
            <a:endParaRPr dirty="0"/>
          </a:p>
          <a:p>
            <a:r>
              <a:rPr dirty="0"/>
              <a:t>- Narrate as a story: the agent looks, edits, runs the tests, sees the failure, revises.</a:t>
            </a:r>
          </a:p>
          <a:p>
            <a:r>
              <a:rPr dirty="0"/>
              <a:t>- The left rail closes the loop visually: revise feeds the next inspection.</a:t>
            </a:r>
          </a:p>
          <a:p>
            <a:r>
              <a:rPr dirty="0"/>
              <a:t>- Punch line is the footer: inference becomes extended work because consequences return as inputs.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overview slide for the technical mechanisms.</a:t>
            </a:r>
          </a:p>
          <a:p>
            <a:endParaRPr dirty="0"/>
          </a:p>
          <a:p>
            <a:r>
              <a:rPr dirty="0"/>
              <a:t>- Six levers around the harness; the next five slides take them in turn — each asks only ‘what engineering lever is this?’</a:t>
            </a:r>
          </a:p>
          <a:p>
            <a:r>
              <a:rPr dirty="0"/>
              <a:t>- Task structure is deliberately absent: it was decided under BOUND — it changes the task, not the harness.</a:t>
            </a:r>
          </a:p>
          <a:p>
            <a:r>
              <a:rPr dirty="0"/>
              <a:t>- Warn the class: none of these is a tutorial; platform details go stale, the levers do not.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Two different levers that share one channel.</a:t>
            </a:r>
          </a:p>
          <a:p>
            <a:endParaRPr dirty="0"/>
          </a:p>
          <a:p>
            <a:r>
              <a:rPr dirty="0"/>
              <a:t>- Context answers ‘what is available’; instructions answer ‘how to approach it.’</a:t>
            </a:r>
          </a:p>
          <a:p>
            <a:r>
              <a:rPr dirty="0"/>
              <a:t>- The insight box is the teachable subtlety: the model weighs both; neither is privileged truth.</a:t>
            </a:r>
          </a:p>
          <a:p>
            <a:r>
              <a:rPr dirty="0"/>
              <a:t>- Resist listing vendor features; the lever framing is the content.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Tools are the lever that gives reasoning consequences.</a:t>
            </a:r>
          </a:p>
          <a:p>
            <a:endParaRPr dirty="0"/>
          </a:p>
          <a:p>
            <a:r>
              <a:rPr dirty="0"/>
              <a:t>- Walk the list quickly; the point is the footer, not the inventory.</a:t>
            </a:r>
          </a:p>
          <a:p>
            <a:r>
              <a:rPr dirty="0"/>
              <a:t>- Seed permissions here but do NOT teach authority yet — AUTHORIZE owns that.</a:t>
            </a:r>
          </a:p>
          <a:p>
            <a:r>
              <a:rPr dirty="0"/>
              <a:t>- The lever: choose what the agent can observe and affect.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One conceptual MCP slide: the problem it solves, nothing else.</a:t>
            </a:r>
          </a:p>
          <a:p>
            <a:endParaRPr dirty="0"/>
          </a:p>
          <a:p>
            <a:r>
              <a:rPr dirty="0"/>
              <a:t>- The engineering claim is the N×M → N+M collapse; that is what a common protocol buys.</a:t>
            </a:r>
          </a:p>
          <a:p>
            <a:r>
              <a:rPr dirty="0"/>
              <a:t>- Mention resources/tools exist at the protocol level — one sentence, no more.</a:t>
            </a:r>
          </a:p>
          <a:p>
            <a:r>
              <a:rPr dirty="0"/>
              <a:t>- Absolutely no JSON-RPC, transports, SDKs, OAuth, or server implementation.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Skills are packaged procedure — the knowledge-management lever.</a:t>
            </a:r>
          </a:p>
          <a:p>
            <a:endParaRPr dirty="0"/>
          </a:p>
          <a:p>
            <a:r>
              <a:rPr dirty="0"/>
              <a:t>- Contrast: an instruction serves one task; a skill serves the class of tasks.</a:t>
            </a:r>
          </a:p>
          <a:p>
            <a:r>
              <a:rPr dirty="0"/>
              <a:t>- The example keeps it concrete without becoming a product tour.</a:t>
            </a:r>
          </a:p>
          <a:p>
            <a:r>
              <a:rPr dirty="0"/>
              <a:t>- First explicit link to Engineering Knowledge (Handbook ch. 4); the environment subsection deepens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‘memory’ into three kinds of persistence.</a:t>
            </a:r>
          </a:p>
          <a:p>
            <a:endParaRPr dirty="0"/>
          </a:p>
          <a:p>
            <a:r>
              <a:rPr dirty="0"/>
              <a:t>- Left to right: an inference, a task, an organization’s knowledge.</a:t>
            </a:r>
          </a:p>
          <a:p>
            <a:r>
              <a:rPr dirty="0"/>
              <a:t>- The footer is the bridge to Handbook ch. 4: what should an organization remember — and what goes stale?</a:t>
            </a:r>
          </a:p>
          <a:p>
            <a:r>
              <a:rPr dirty="0"/>
              <a:t>- The lever: choose what persists, at which lifetime, and who maintains 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0.3 minutes — </a:t>
            </a:r>
            <a:r>
              <a:rPr i="1" dirty="0"/>
              <a:t>Name the EQUIP · environment subsection.</a:t>
            </a:r>
          </a:p>
          <a:p>
            <a:endParaRPr dirty="0"/>
          </a:p>
          <a:p>
            <a:r>
              <a:rPr dirty="0"/>
              <a:t>- 15-20 seconds only.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second definition; the examples make it concrete.</a:t>
            </a:r>
          </a:p>
          <a:p>
            <a:endParaRPr dirty="0"/>
          </a:p>
          <a:p>
            <a:r>
              <a:rPr dirty="0"/>
              <a:t>- Read the definition once; then point out the students already know every example.</a:t>
            </a:r>
          </a:p>
          <a:p>
            <a:r>
              <a:rPr dirty="0"/>
              <a:t>- The italic line frames the section: environment quality now multiplies machine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visual payoff of the harness subsection: zoom from model to environment.</a:t>
            </a:r>
          </a:p>
          <a:p>
            <a:endParaRPr dirty="0"/>
          </a:p>
          <a:p>
            <a:r>
              <a:rPr dirty="0"/>
              <a:t>- Build inside-out: model, then harness, then environment — the reverse of how vendors sell it.</a:t>
            </a:r>
          </a:p>
          <a:p>
            <a:r>
              <a:rPr dirty="0"/>
              <a:t>- Note: the environment ring is where most of a software organization already lives.</a:t>
            </a:r>
          </a:p>
          <a:p>
            <a:r>
              <a:rPr dirty="0"/>
              <a:t>- This run up to the EQUIP synthesis is the intellectual heart of the first half; do not rush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Engineering Knowledge reading enters: represented vs reconstructed.</a:t>
            </a:r>
          </a:p>
          <a:p>
            <a:endParaRPr dirty="0"/>
          </a:p>
          <a:p>
            <a:r>
              <a:rPr dirty="0"/>
              <a:t>- Left: every reasoning episode re-purchases the same reconstruction. Right: the environment already knows.</a:t>
            </a:r>
          </a:p>
          <a:p>
            <a:r>
              <a:rPr dirty="0"/>
              <a:t>- The regret question is old knowledge management — newly visible because reconstruction now has a per-episode price.</a:t>
            </a:r>
          </a:p>
          <a:p>
            <a:r>
              <a:rPr dirty="0"/>
              <a:t>- Foreshadow the reasoning horizon: this move — change what the reasoner is given — has a name coming.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4.5 minutes — </a:t>
            </a:r>
            <a:r>
              <a:rPr i="1" dirty="0"/>
              <a:t>TPS: an engineering tradeoff with no dominant option.</a:t>
            </a:r>
          </a:p>
          <a:p>
            <a:endParaRPr dirty="0"/>
          </a:p>
          <a:p>
            <a:r>
              <a:rPr dirty="0"/>
              <a:t>- Beats: scenario first; then the five options; then the prompt. Let students argue.</a:t>
            </a:r>
          </a:p>
          <a:p>
            <a:r>
              <a:rPr dirty="0"/>
              <a:t>- Push for ‘what additional information would you need?’ — cost per task, failure rate, constraint stability.</a:t>
            </a:r>
          </a:p>
          <a:p>
            <a:r>
              <a:rPr dirty="0"/>
              <a:t>- The dependency-model option quietly previews the representation lever of the horizon run — do not resolve it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EQUIP synthesis — not the lecture synthesis.</a:t>
            </a:r>
          </a:p>
          <a:p>
            <a:endParaRPr dirty="0"/>
          </a:p>
          <a:p>
            <a:r>
              <a:rPr dirty="0"/>
              <a:t>- Read the stack once: model + harness + engineering environment → capability for the bounded work.</a:t>
            </a:r>
          </a:p>
          <a:p>
            <a:r>
              <a:rPr dirty="0"/>
              <a:t>- Work structure is gone from the stack: BOUND already made that decision, on the task itself.</a:t>
            </a:r>
          </a:p>
          <a:p>
            <a:r>
              <a:rPr dirty="0"/>
              <a:t>- This closes ONE of four questions. The break question hands over to the rest: the horizon bridge, then AUTHORIZE and VERIFY.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break; leave the question on screen.</a:t>
            </a:r>
          </a:p>
          <a:p>
            <a:endParaRPr dirty="0"/>
          </a:p>
          <a:p>
            <a:r>
              <a:rPr dirty="0"/>
              <a:t>- The question tees up the second half: the reasoning horizon bridges BOUND and EQUIP; then AUTHORIZE and VERIFY.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Define the reasoning horizon carefully; kill the context-window reduction.</a:t>
            </a:r>
          </a:p>
          <a:p>
            <a:endParaRPr dirty="0"/>
          </a:p>
          <a:p>
            <a:r>
              <a:rPr dirty="0"/>
              <a:t>- Definition earns the blue box: it is used for the rest of the lecture.</a:t>
            </a:r>
          </a:p>
          <a:p>
            <a:r>
              <a:rPr dirty="0"/>
              <a:t>- Boundary depends on model, harness, repository, task — all four are engineering surfaces.</a:t>
            </a:r>
          </a:p>
          <a:p>
            <a:r>
              <a:rPr dirty="0"/>
              <a:t>- Beyond the horizon work degrades into churn: repeated rediscovery, forgotten constraints, contradictory local decisions.</a:t>
            </a:r>
          </a:p>
          <a:p>
            <a:r>
              <a:rPr dirty="0"/>
              <a:t>- The footer is the BOUND ↔ EQUIP bridge: work that does not fit means move the boundary, or change what the agent has to reason with.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The decision slide — the lecture’s recurring diagram, built in beats.</a:t>
            </a:r>
          </a:p>
          <a:p>
            <a:endParaRPr dirty="0"/>
          </a:p>
          <a:p>
            <a:r>
              <a:rPr dirty="0"/>
              <a:t>- Beats: task×reasoner and the failure; the improve-the-reasoner knob; the assist-the-reasoning knob; the benchmark meter.</a:t>
            </a:r>
          </a:p>
          <a:p>
            <a:r>
              <a:rPr dirty="0"/>
              <a:t>- Two knobs, one meter: change the reasoner ↔ change the task as presented; benchmark tells you which paid.</a:t>
            </a:r>
          </a:p>
          <a:p>
            <a:r>
              <a:rPr dirty="0"/>
              <a:t>- Do not assume the frontier model is the answer; do not assume clever scaffolding is either.</a:t>
            </a:r>
          </a:p>
          <a:p>
            <a:r>
              <a:rPr dirty="0"/>
              <a:t>- The bottom lines enumerate the response space when work exceeds the horizon — reducing the task is re-BOUNDing. Neither knob is the default answer.</a:t>
            </a:r>
          </a:p>
          <a:p>
            <a:r>
              <a:rPr dirty="0"/>
              <a:t>- BENCHMARK, not measure — the course established benchmarking in Act I.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Pólya gives the move its intellectual weight.</a:t>
            </a:r>
          </a:p>
          <a:p>
            <a:endParaRPr dirty="0"/>
          </a:p>
          <a:p>
            <a:r>
              <a:rPr dirty="0"/>
              <a:t>- Four moves, read slowly; each changes the representation, none changes the solver.</a:t>
            </a:r>
          </a:p>
          <a:p>
            <a:r>
              <a:rPr dirty="0"/>
              <a:t>- Say aloud: this is not an AI trick — it predates computers. The novelty is that we can engineer these aids systematically around a machine reasoner.</a:t>
            </a:r>
          </a:p>
          <a:p>
            <a:r>
              <a:rPr dirty="0"/>
              <a:t>- Same framing as the MAGE book’s ‘Rotate the problem’ inset (brownfield chapter) and the assigned How to Solve It reading (Part I §§6–9).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MAGE example almost directly: a graph answers what sources merely contain.</a:t>
            </a:r>
          </a:p>
          <a:p>
            <a:endParaRPr dirty="0"/>
          </a:p>
          <a:p>
            <a:r>
              <a:rPr dirty="0"/>
              <a:t>- Left: the answer exists, diffused across thousands of lines — the reasoner must reconstruct it.</a:t>
            </a:r>
          </a:p>
          <a:p>
            <a:r>
              <a:rPr dirty="0"/>
              <a:t>- Right: the same answer is one edge-lookup in a representation the environment maintains.</a:t>
            </a:r>
          </a:p>
          <a:p>
            <a:r>
              <a:rPr dirty="0"/>
              <a:t>- A dependency graph can answer a question that retrieved source merely makes available.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Resist doctrine: the alternatives are priced and tested, not preached.</a:t>
            </a:r>
          </a:p>
          <a:p>
            <a:endParaRPr dirty="0"/>
          </a:p>
          <a:p>
            <a:r>
              <a:rPr dirty="0"/>
              <a:t>- Fill in plausible costs live; the blanks are deliberate — they differ per organization.</a:t>
            </a:r>
          </a:p>
          <a:p>
            <a:r>
              <a:rPr dirty="0"/>
              <a:t>- This is the Act I decision-making stance applied to agents: evidence over ideology.</a:t>
            </a:r>
          </a:p>
          <a:p>
            <a:r>
              <a:rPr dirty="0"/>
              <a:t>- The footer is the slide’s reason to exist: your benchmark, your work, your costs — not a leaderboard.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0.3 minutes — </a:t>
            </a:r>
            <a:r>
              <a:rPr i="1" dirty="0"/>
              <a:t>Name AUTHORIZE — the control problem.</a:t>
            </a:r>
          </a:p>
          <a:p>
            <a:endParaRPr dirty="0"/>
          </a:p>
          <a:p>
            <a:r>
              <a:rPr dirty="0"/>
              <a:t>- 15-20 seconds only.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Sparse on purpose: the arithmetic of delegation.</a:t>
            </a:r>
          </a:p>
          <a:p>
            <a:endParaRPr dirty="0"/>
          </a:p>
          <a:p>
            <a:r>
              <a:rPr dirty="0"/>
              <a:t>- One human, one agent, four implementations — and the four keep multiplying.</a:t>
            </a:r>
          </a:p>
          <a:p>
            <a:r>
              <a:rPr dirty="0"/>
              <a:t>- Let the footer land in silence; it is the ethical spine of Act II.</a:t>
            </a:r>
          </a:p>
          <a:p>
            <a:r>
              <a:rPr dirty="0"/>
              <a:t>- The line is a callback to the ENGINEERING slide at the open: delegating realization never delegated responsibility.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model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This sets up ‘Guidance is not authority’ next — do not teach mechanisms yet.</a:t>
            </a:r>
          </a:p>
          <a:p>
            <a:r>
              <a:rPr dirty="0"/>
              <a:t>- Deliberately sparse; let the progression do the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The conceptual revelation of AUTHORIZE.</a:t>
            </a:r>
          </a:p>
          <a:p>
            <a:endParaRPr dirty="0"/>
          </a:p>
          <a:p>
            <a:r>
              <a:rPr dirty="0"/>
              <a:t>- One obligation, two very different realizations: helping the agent comply vs refusing the outcome.</a:t>
            </a:r>
          </a:p>
          <a:p>
            <a:r>
              <a:rPr dirty="0"/>
              <a:t>- The previous slide separated capability from authority; this one separates guidance from authority.</a:t>
            </a:r>
          </a:p>
          <a:p>
            <a:r>
              <a:rPr dirty="0"/>
              <a:t>- The question is the hinge: guidance fails exactly when the reasoning fails — which is when you needed protection.</a:t>
            </a:r>
          </a:p>
          <a:p>
            <a:r>
              <a:rPr dirty="0"/>
              <a:t>- Do not teach enforcement mechanics; Alignment owns that.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Four grains where an obligation can act; leave the question unresolved.</a:t>
            </a:r>
          </a:p>
          <a:p>
            <a:endParaRPr dirty="0"/>
          </a:p>
          <a:p>
            <a:r>
              <a:rPr dirty="0"/>
              <a:t>- Terminology care: the first column is guidance — it shapes reasoning; it does not bind outcomes the way permissions, admission, and runtime control do.</a:t>
            </a:r>
          </a:p>
          <a:p>
            <a:r>
              <a:rPr dirty="0"/>
              <a:t>- Walk left to right: guidance → action authority → admission → runtime control.</a:t>
            </a:r>
          </a:p>
          <a:p>
            <a:r>
              <a:rPr dirty="0"/>
              <a:t>- Do NOT teach the ‘obligation not decidable here → move mechanism’ material — that belongs to Alignment.</a:t>
            </a:r>
          </a:p>
          <a:p>
            <a:r>
              <a:rPr dirty="0"/>
              <a:t>- End on the footer question and say explicitly: we are leaving it open.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 — before the work begins.</a:t>
            </a:r>
          </a:p>
          <a:p>
            <a:endParaRPr dirty="0"/>
          </a:p>
          <a:p>
            <a:r>
              <a:rPr dirty="0"/>
              <a:t>- Three delegated tasks, three evidence shapes; the burden scales with claims and consequences.</a:t>
            </a:r>
          </a:p>
          <a:p>
            <a:r>
              <a:rPr dirty="0"/>
              <a:t>- The claim lines are the content: the burden does not depend on who — or what — produced the artifact.</a:t>
            </a:r>
          </a:p>
          <a:p>
            <a:r>
              <a:rPr dirty="0"/>
              <a:t>- Do NOT reprise the Validation lecture; students know evidence. This puts evidence into the delegation model.</a:t>
            </a:r>
          </a:p>
          <a:p>
            <a:r>
              <a:rPr dirty="0"/>
              <a:t>- Alignment develops the machinery; here we only place the decision.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Self-report is a claim, not independent evidence.</a:t>
            </a:r>
          </a:p>
          <a:p>
            <a:endParaRPr dirty="0"/>
          </a:p>
          <a:p>
            <a:r>
              <a:rPr dirty="0"/>
              <a:t>- Walk the chain: the agent produces; the environment obtains and checks evidence; acceptance is an engineering decision.</a:t>
            </a:r>
          </a:p>
          <a:p>
            <a:r>
              <a:rPr dirty="0"/>
              <a:t>- An agent asserting ‘the tests pass’ is a claim to verify — exactly like a human author’s assertion.</a:t>
            </a:r>
          </a:p>
          <a:p>
            <a:r>
              <a:rPr dirty="0"/>
              <a:t>- One slide, one idea; resist mechanism details — Alignment owns enforcement.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only summary slide; hand off to the rest of Act II.</a:t>
            </a:r>
          </a:p>
          <a:p>
            <a:endParaRPr dirty="0"/>
          </a:p>
          <a:p>
            <a:r>
              <a:rPr dirty="0"/>
              <a:t>- Return of the four moves, now with their imperatives — nothing new, deliberately.</a:t>
            </a:r>
          </a:p>
          <a:p>
            <a:r>
              <a:rPr dirty="0"/>
              <a:t>- Three forward questions name the next units: Modeling lives inside EQUIP; Alignment deepens AUTHORIZE and VERIFY.</a:t>
            </a:r>
          </a:p>
          <a:p>
            <a:r>
              <a:rPr dirty="0"/>
              <a:t>- Final spoken line: delegate realization — without delegating engineering. It lands because the lecture taught a model of delegation.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is an engineering design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agent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Four decisions, not a rigid pipeline — they interact.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Everything today answers one of these four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BigTask"/>
          <p:cNvSpPr/>
          <p:nvPr/>
        </p:nvSpPr>
        <p:spPr>
          <a:xfrm>
            <a:off x="594360" y="1600200"/>
            <a:ext cx="242316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ONE LARGE TASK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more relevant state than one reasoning episode can hold</a:t>
            </a:r>
          </a:p>
        </p:txBody>
      </p:sp>
      <p:cxnSp>
        <p:nvCxnSpPr>
          <p:cNvPr id="101" name="A0"/>
          <p:cNvCxnSpPr/>
          <p:nvPr/>
        </p:nvCxnSpPr>
        <p:spPr>
          <a:xfrm>
            <a:off x="3086100" y="251460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WU0"/>
          <p:cNvSpPr/>
          <p:nvPr/>
        </p:nvSpPr>
        <p:spPr>
          <a:xfrm>
            <a:off x="3520440" y="1600200"/>
            <a:ext cx="20116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WORK UNIT</a:t>
            </a:r>
          </a:p>
        </p:txBody>
      </p:sp>
      <p:sp>
        <p:nvSpPr>
          <p:cNvPr id="103" name="WU1"/>
          <p:cNvSpPr/>
          <p:nvPr/>
        </p:nvSpPr>
        <p:spPr>
          <a:xfrm>
            <a:off x="3520440" y="2240280"/>
            <a:ext cx="20116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WORK UNIT</a:t>
            </a:r>
          </a:p>
        </p:txBody>
      </p:sp>
      <p:sp>
        <p:nvSpPr>
          <p:cNvPr id="104" name="WU2"/>
          <p:cNvSpPr/>
          <p:nvPr/>
        </p:nvSpPr>
        <p:spPr>
          <a:xfrm>
            <a:off x="3520440" y="2880360"/>
            <a:ext cx="20116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WORK UNIT</a:t>
            </a:r>
          </a:p>
        </p:txBody>
      </p:sp>
      <p:sp>
        <p:nvSpPr>
          <p:cNvPr id="140" name="G140"/>
          <p:cNvSpPr txBox="1"/>
          <p:nvPr/>
        </p:nvSpPr>
        <p:spPr>
          <a:xfrm>
            <a:off x="5760720" y="169164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intermediate artifacts</a:t>
            </a:r>
          </a:p>
        </p:txBody>
      </p:sp>
      <p:sp>
        <p:nvSpPr>
          <p:cNvPr id="141" name="G141"/>
          <p:cNvSpPr txBox="1"/>
          <p:nvPr/>
        </p:nvSpPr>
        <p:spPr>
          <a:xfrm>
            <a:off x="5760720" y="233172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checkpoints between stages</a:t>
            </a:r>
          </a:p>
        </p:txBody>
      </p:sp>
      <p:sp>
        <p:nvSpPr>
          <p:cNvPr id="142" name="G142"/>
          <p:cNvSpPr txBox="1"/>
          <p:nvPr/>
        </p:nvSpPr>
        <p:spPr>
          <a:xfrm>
            <a:off x="5760720" y="297180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boundaries that limit state</a:t>
            </a:r>
          </a:p>
        </p:txBody>
      </p:sp>
      <p:sp>
        <p:nvSpPr>
          <p:cNvPr id="106" name="Tradeoff"/>
          <p:cNvSpPr txBox="1"/>
          <p:nvPr/>
        </p:nvSpPr>
        <p:spPr>
          <a:xfrm>
            <a:off x="274320" y="3960000"/>
            <a:ext cx="859536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Too broad → relevant state exceeds the reasoning horizon.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Too fragmented → context must constantly cross boundaries.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Question"/>
          <p:cNvSpPr txBox="1"/>
          <p:nvPr/>
        </p:nvSpPr>
        <p:spPr>
          <a:xfrm>
            <a:off x="274320" y="1600200"/>
            <a:ext cx="859536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1" dirty="0">
                <a:solidFill>
                  <a:srgbClr val="000000"/>
                </a:solidFill>
              </a:rPr>
              <a:t>The question is not how small the task can be —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400" b="0" i="1" dirty="0">
                <a:solidFill>
                  <a:srgbClr val="000000"/>
                </a:solidFill>
              </a:rPr>
              <a:t>it is what boundary makes the work reasonable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400" b="0" i="1" dirty="0">
                <a:solidFill>
                  <a:srgbClr val="000000"/>
                </a:solidFill>
              </a:rPr>
              <a:t>without breaking the relationships that matter.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29184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2" name="Levers"/>
          <p:cNvSpPr txBox="1"/>
          <p:nvPr/>
        </p:nvSpPr>
        <p:spPr>
          <a:xfrm>
            <a:off x="274320" y="370332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scope · decomposition · interfaces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intermediate artifacts · checkpoints</a:t>
            </a:r>
          </a:p>
        </p:txBody>
      </p:sp>
      <p:sp>
        <p:nvSpPr>
          <p:cNvPr id="103" name="Preview"/>
          <p:cNvSpPr txBox="1"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Where the boundary sits decides what the agent must reason about.</a:t>
            </a:r>
          </a:p>
        </p:txBody>
      </p:sp>
      <p:sp>
        <p:nvSpPr>
          <p:cNvPr id="10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After the break: the reasoning horizon makes this precise.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where does capability live?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502920" y="1371600"/>
            <a:ext cx="182880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1" name="S1"/>
          <p:cNvSpPr/>
          <p:nvPr/>
        </p:nvSpPr>
        <p:spPr>
          <a:xfrm>
            <a:off x="2743200" y="1371600"/>
            <a:ext cx="23774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2" name="S2"/>
          <p:cNvSpPr/>
          <p:nvPr/>
        </p:nvSpPr>
        <p:spPr>
          <a:xfrm>
            <a:off x="5532120" y="1371600"/>
            <a:ext cx="3108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ENGINEERING ENVIRONMENT</a:t>
            </a:r>
          </a:p>
        </p:txBody>
      </p:sp>
      <p:sp>
        <p:nvSpPr>
          <p:cNvPr id="103" name="PlusA"/>
          <p:cNvSpPr txBox="1"/>
          <p:nvPr/>
        </p:nvSpPr>
        <p:spPr>
          <a:xfrm>
            <a:off x="2377440" y="1536192"/>
            <a:ext cx="32918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4" name="PlusB"/>
          <p:cNvSpPr txBox="1"/>
          <p:nvPr/>
        </p:nvSpPr>
        <p:spPr>
          <a:xfrm>
            <a:off x="5148072" y="1536192"/>
            <a:ext cx="32918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>+</a:t>
            </a:r>
          </a:p>
        </p:txBody>
      </p:sp>
      <p:cxnSp>
        <p:nvCxnSpPr>
          <p:cNvPr id="105" name="Down"/>
          <p:cNvCxnSpPr/>
          <p:nvPr/>
        </p:nvCxnSpPr>
        <p:spPr>
          <a:xfrm>
            <a:off x="4572000" y="2286000"/>
            <a:ext cx="0" cy="457200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6" name="Cap"/>
          <p:cNvSpPr/>
          <p:nvPr/>
        </p:nvSpPr>
        <p:spPr>
          <a:xfrm>
            <a:off x="2743200" y="2880360"/>
            <a:ext cx="36576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ENGINEERING CAPABILITY</a:t>
            </a:r>
          </a:p>
        </p:txBody>
      </p:sp>
      <p:sp>
        <p:nvSpPr>
          <p:cNvPr id="107" name="Obs"/>
          <p:cNvSpPr txBox="1"/>
          <p:nvPr/>
        </p:nvSpPr>
        <p:spPr>
          <a:xfrm>
            <a:off x="640080" y="4069080"/>
            <a:ext cx="786384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Models provide capability.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Harnesses turn capability into work.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Environments determine what work requires reasoning.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These layers supply capability for the bounded work. They do not decide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to delegate, what to authorize, or what evidence to require.</a:t>
            </a:r>
          </a:p>
        </p:txBody>
      </p:sp>
      <p:sp>
        <p:nvSpPr>
          <p:cNvPr id="10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Engineer the system, not merely the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are we buying in a model?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EQUIP · THE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differ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Cap"/>
          <p:cNvSpPr txBox="1"/>
          <p:nvPr/>
        </p:nvSpPr>
        <p:spPr>
          <a:xfrm>
            <a:off x="274320" y="96012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1" i="0" dirty="0">
                <a:solidFill>
                  <a:srgbClr val="5C4826"/>
                </a:solidFill>
              </a:rPr>
              <a:t>CAPABILITY</a:t>
            </a:r>
          </a:p>
        </p:txBody>
      </p:sp>
      <p:sp>
        <p:nvSpPr>
          <p:cNvPr id="101" name="C0"/>
          <p:cNvSpPr/>
          <p:nvPr/>
        </p:nvSpPr>
        <p:spPr>
          <a:xfrm>
            <a:off x="594360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02" name="C1"/>
          <p:cNvSpPr/>
          <p:nvPr/>
        </p:nvSpPr>
        <p:spPr>
          <a:xfrm>
            <a:off x="2221992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03" name="C2"/>
          <p:cNvSpPr/>
          <p:nvPr/>
        </p:nvSpPr>
        <p:spPr>
          <a:xfrm>
            <a:off x="3849624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04" name="C3"/>
          <p:cNvSpPr/>
          <p:nvPr/>
        </p:nvSpPr>
        <p:spPr>
          <a:xfrm>
            <a:off x="5477256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05" name="C4"/>
          <p:cNvSpPr/>
          <p:nvPr/>
        </p:nvSpPr>
        <p:spPr>
          <a:xfrm>
            <a:off x="7104888" y="192024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6" name="Lbl2"/>
          <p:cNvSpPr txBox="1"/>
          <p:nvPr/>
        </p:nvSpPr>
        <p:spPr>
          <a:xfrm>
            <a:off x="274320" y="306324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AND ENGINEERING PROPERTIES</a:t>
            </a:r>
          </a:p>
        </p:txBody>
      </p:sp>
      <p:sp>
        <p:nvSpPr>
          <p:cNvPr id="107" name="P0"/>
          <p:cNvSpPr/>
          <p:nvPr/>
        </p:nvSpPr>
        <p:spPr>
          <a:xfrm>
            <a:off x="594360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cost</a:t>
            </a:r>
          </a:p>
        </p:txBody>
      </p:sp>
      <p:sp>
        <p:nvSpPr>
          <p:cNvPr id="108" name="P1"/>
          <p:cNvSpPr/>
          <p:nvPr/>
        </p:nvSpPr>
        <p:spPr>
          <a:xfrm>
            <a:off x="2221992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latency</a:t>
            </a:r>
          </a:p>
        </p:txBody>
      </p:sp>
      <p:sp>
        <p:nvSpPr>
          <p:cNvPr id="109" name="P2"/>
          <p:cNvSpPr/>
          <p:nvPr/>
        </p:nvSpPr>
        <p:spPr>
          <a:xfrm>
            <a:off x="3849624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0" name="P3"/>
          <p:cNvSpPr/>
          <p:nvPr/>
        </p:nvSpPr>
        <p:spPr>
          <a:xfrm>
            <a:off x="5477256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deployment</a:t>
            </a:r>
          </a:p>
        </p:txBody>
      </p:sp>
      <p:sp>
        <p:nvSpPr>
          <p:cNvPr id="111" name="P4"/>
          <p:cNvSpPr/>
          <p:nvPr/>
        </p:nvSpPr>
        <p:spPr>
          <a:xfrm>
            <a:off x="7104888" y="3566160"/>
            <a:ext cx="1517904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availability</a:t>
            </a:r>
          </a:p>
        </p:txBody>
      </p:sp>
      <p:sp>
        <p:nvSpPr>
          <p:cNvPr id="112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Different models occupy genuinely different points in this space.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“Model strength” is not a scalar engineering specification.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There is no context-free best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365760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FRONTIER</a:t>
            </a:r>
          </a:p>
        </p:txBody>
      </p:sp>
      <p:sp>
        <p:nvSpPr>
          <p:cNvPr id="101" name="B0"/>
          <p:cNvSpPr/>
          <p:nvPr/>
        </p:nvSpPr>
        <p:spPr>
          <a:xfrm>
            <a:off x="365760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most capable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highest cost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hosted API only</a:t>
            </a:r>
          </a:p>
        </p:txBody>
      </p:sp>
      <p:sp>
        <p:nvSpPr>
          <p:cNvPr id="102" name="H1"/>
          <p:cNvSpPr/>
          <p:nvPr/>
        </p:nvSpPr>
        <p:spPr>
          <a:xfrm>
            <a:off x="2496312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FAST HOSTED</a:t>
            </a:r>
          </a:p>
        </p:txBody>
      </p:sp>
      <p:sp>
        <p:nvSpPr>
          <p:cNvPr id="103" name="B1"/>
          <p:cNvSpPr/>
          <p:nvPr/>
        </p:nvSpPr>
        <p:spPr>
          <a:xfrm>
            <a:off x="2496312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cheaper · faster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less capable</a:t>
            </a:r>
          </a:p>
        </p:txBody>
      </p:sp>
      <p:sp>
        <p:nvSpPr>
          <p:cNvPr id="104" name="H2"/>
          <p:cNvSpPr/>
          <p:nvPr/>
        </p:nvSpPr>
        <p:spPr>
          <a:xfrm>
            <a:off x="4626864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SPECIALIZED</a:t>
            </a:r>
          </a:p>
        </p:txBody>
      </p:sp>
      <p:sp>
        <p:nvSpPr>
          <p:cNvPr id="105" name="B2"/>
          <p:cNvSpPr/>
          <p:nvPr/>
        </p:nvSpPr>
        <p:spPr>
          <a:xfrm>
            <a:off x="4626864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strong in a domain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narrow elsewhere</a:t>
            </a:r>
          </a:p>
        </p:txBody>
      </p:sp>
      <p:sp>
        <p:nvSpPr>
          <p:cNvPr id="106" name="H3"/>
          <p:cNvSpPr/>
          <p:nvPr/>
        </p:nvSpPr>
        <p:spPr>
          <a:xfrm>
            <a:off x="6757416" y="1097280"/>
            <a:ext cx="1965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OPEN-WEIGHT</a:t>
            </a:r>
          </a:p>
        </p:txBody>
      </p:sp>
      <p:sp>
        <p:nvSpPr>
          <p:cNvPr id="107" name="B3"/>
          <p:cNvSpPr/>
          <p:nvPr/>
        </p:nvSpPr>
        <p:spPr>
          <a:xfrm>
            <a:off x="6757416" y="1783080"/>
            <a:ext cx="196596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local / self-hosted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your data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yours to adapt</a:t>
            </a:r>
          </a:p>
        </p:txBody>
      </p:sp>
      <p:sp>
        <p:nvSpPr>
          <p:cNvPr id="108" name="OpenNote"/>
          <p:cNvSpPr/>
          <p:nvPr/>
        </p:nvSpPr>
        <p:spPr>
          <a:xfrm>
            <a:off x="365760" y="3520440"/>
            <a:ext cx="841248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Open weights change what is engineerable: deployment, privacy,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customization, economics — depending on the model and the license.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274320" y="47091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Selection is made under requirements and constraints — not from a leaderboard.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 selection is an engineering decision.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Stronger model ≠ stronger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0" name="RA0"/>
          <p:cNvSpPr/>
          <p:nvPr/>
        </p:nvSpPr>
        <p:spPr>
          <a:xfrm>
            <a:off x="365760" y="96012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STRONG MODEL</a:t>
            </a:r>
          </a:p>
        </p:txBody>
      </p:sp>
      <p:sp>
        <p:nvSpPr>
          <p:cNvPr id="101" name="RAp"/>
          <p:cNvSpPr txBox="1"/>
          <p:nvPr/>
        </p:nvSpPr>
        <p:spPr>
          <a:xfrm>
            <a:off x="2697480" y="1069848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2" name="RA1"/>
          <p:cNvSpPr/>
          <p:nvPr/>
        </p:nvSpPr>
        <p:spPr>
          <a:xfrm>
            <a:off x="3017520" y="96012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>WEAK SUPPORT</a:t>
            </a:r>
          </a:p>
        </p:txBody>
      </p:sp>
      <p:cxnSp>
        <p:nvCxnSpPr>
          <p:cNvPr id="103" name="RAa"/>
          <p:cNvCxnSpPr/>
          <p:nvPr/>
        </p:nvCxnSpPr>
        <p:spPr>
          <a:xfrm>
            <a:off x="5440680" y="1243584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Aq"/>
          <p:cNvSpPr/>
          <p:nvPr/>
        </p:nvSpPr>
        <p:spPr>
          <a:xfrm>
            <a:off x="5943600" y="960120"/>
            <a:ext cx="640080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05" name="RB0"/>
          <p:cNvSpPr/>
          <p:nvPr/>
        </p:nvSpPr>
        <p:spPr>
          <a:xfrm>
            <a:off x="365760" y="169164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>WEAKER MODEL</a:t>
            </a:r>
          </a:p>
        </p:txBody>
      </p:sp>
      <p:sp>
        <p:nvSpPr>
          <p:cNvPr id="106" name="RBp"/>
          <p:cNvSpPr txBox="1"/>
          <p:nvPr/>
        </p:nvSpPr>
        <p:spPr>
          <a:xfrm>
            <a:off x="2697480" y="1801368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7" name="RB1"/>
          <p:cNvSpPr/>
          <p:nvPr/>
        </p:nvSpPr>
        <p:spPr>
          <a:xfrm>
            <a:off x="3017520" y="1691640"/>
            <a:ext cx="22860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STRONG SUPPORT</a:t>
            </a:r>
          </a:p>
        </p:txBody>
      </p:sp>
      <p:cxnSp>
        <p:nvCxnSpPr>
          <p:cNvPr id="108" name="RBa"/>
          <p:cNvCxnSpPr/>
          <p:nvPr/>
        </p:nvCxnSpPr>
        <p:spPr>
          <a:xfrm>
            <a:off x="5440680" y="1975104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RBq"/>
          <p:cNvSpPr/>
          <p:nvPr/>
        </p:nvSpPr>
        <p:spPr>
          <a:xfrm>
            <a:off x="5943600" y="1691640"/>
            <a:ext cx="640080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0" name="Evid"/>
          <p:cNvSpPr/>
          <p:nvPr/>
        </p:nvSpPr>
        <p:spPr>
          <a:xfrm>
            <a:off x="365760" y="2514600"/>
            <a:ext cx="8412480" cy="123444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Same model, different harnesses: 33% → 49% (SWE-bench Verified)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Claude 3.5 Sonnet across scaffold revisions (Anthropic, 2024).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Public-leaderboard harness gaps for one model rival model gaps.</a:t>
            </a:r>
          </a:p>
        </p:txBody>
      </p:sp>
      <p:sp>
        <p:nvSpPr>
          <p:cNvPr id="111" name="TPSbadge"/>
          <p:cNvSpPr/>
          <p:nvPr/>
        </p:nvSpPr>
        <p:spPr>
          <a:xfrm>
            <a:off x="365760" y="397764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>THINK</a:t>
            </a:r>
            <a:r>
              <a:rPr lang="en-US" sz="2000" b="1" i="0" dirty="0">
                <a:solidFill>
                  <a:srgbClr val="9A9A9A"/>
                </a:solidFill>
              </a:rPr>
              <a:t>  ·  </a:t>
            </a:r>
            <a:r>
              <a:rPr lang="en-US" sz="2000" b="1" i="0" dirty="0">
                <a:solidFill>
                  <a:srgbClr val="2E74B5"/>
                </a:solidFill>
              </a:rPr>
              <a:t>PAIR</a:t>
            </a:r>
            <a:r>
              <a:rPr lang="en-US" sz="2000" b="1" i="0" dirty="0">
                <a:solidFill>
                  <a:srgbClr val="9A9A9A"/>
                </a:solidFill>
              </a:rPr>
              <a:t>  ·  </a:t>
            </a:r>
            <a:r>
              <a:rPr lang="en-US" sz="2000" b="1" i="0" dirty="0">
                <a:solidFill>
                  <a:srgbClr val="1F7A4D"/>
                </a:solidFill>
              </a:rPr>
              <a:t>SHARE</a:t>
            </a:r>
          </a:p>
        </p:txBody>
      </p:sp>
      <p:sp>
        <p:nvSpPr>
          <p:cNvPr id="112" name="TpsPrompt"/>
          <p:cNvSpPr txBox="1"/>
          <p:nvPr/>
        </p:nvSpPr>
        <p:spPr>
          <a:xfrm>
            <a:off x="3657600" y="3977640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If a cheaper model needs a better environment, which should you buy?</a:t>
            </a:r>
          </a:p>
        </p:txBody>
      </p:sp>
      <p:sp>
        <p:nvSpPr>
          <p:cNvPr id="113" name="Reveal"/>
          <p:cNvSpPr txBox="1"/>
          <p:nvPr/>
        </p:nvSpPr>
        <p:spPr>
          <a:xfrm>
            <a:off x="365760" y="498348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Insufficient information — and that is the point. It is an engineering decision.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Support is a capability lever of the same order as model choice.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makes a model an agent?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EQUIP · THE HARNESS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model produces; an agent acts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0" name="MLbl"/>
          <p:cNvSpPr txBox="1"/>
          <p:nvPr/>
        </p:nvSpPr>
        <p:spPr>
          <a:xfrm>
            <a:off x="365760" y="10058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MODEL</a:t>
            </a:r>
          </a:p>
        </p:txBody>
      </p:sp>
      <p:sp>
        <p:nvSpPr>
          <p:cNvPr id="101" name="M0"/>
          <p:cNvSpPr/>
          <p:nvPr/>
        </p:nvSpPr>
        <p:spPr>
          <a:xfrm>
            <a:off x="54864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context</a:t>
            </a:r>
          </a:p>
        </p:txBody>
      </p:sp>
      <p:cxnSp>
        <p:nvCxnSpPr>
          <p:cNvPr id="102" name="MA0"/>
          <p:cNvCxnSpPr/>
          <p:nvPr/>
        </p:nvCxnSpPr>
        <p:spPr>
          <a:xfrm>
            <a:off x="2743200" y="187452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1"/>
          <p:cNvSpPr/>
          <p:nvPr/>
        </p:nvSpPr>
        <p:spPr>
          <a:xfrm>
            <a:off x="320040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inference</a:t>
            </a:r>
          </a:p>
        </p:txBody>
      </p:sp>
      <p:cxnSp>
        <p:nvCxnSpPr>
          <p:cNvPr id="104" name="MA1"/>
          <p:cNvCxnSpPr/>
          <p:nvPr/>
        </p:nvCxnSpPr>
        <p:spPr>
          <a:xfrm>
            <a:off x="5394960" y="1874520"/>
            <a:ext cx="3657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M2"/>
          <p:cNvSpPr/>
          <p:nvPr/>
        </p:nvSpPr>
        <p:spPr>
          <a:xfrm>
            <a:off x="5852160" y="1554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output</a:t>
            </a:r>
          </a:p>
        </p:txBody>
      </p:sp>
      <p:sp>
        <p:nvSpPr>
          <p:cNvPr id="106" name="ALbl"/>
          <p:cNvSpPr txBox="1"/>
          <p:nvPr/>
        </p:nvSpPr>
        <p:spPr>
          <a:xfrm>
            <a:off x="365760" y="26517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AGENT</a:t>
            </a:r>
          </a:p>
        </p:txBody>
      </p:sp>
      <p:sp>
        <p:nvSpPr>
          <p:cNvPr id="107" name="A0"/>
          <p:cNvSpPr/>
          <p:nvPr/>
        </p:nvSpPr>
        <p:spPr>
          <a:xfrm>
            <a:off x="54864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goal</a:t>
            </a:r>
          </a:p>
        </p:txBody>
      </p:sp>
      <p:cxnSp>
        <p:nvCxnSpPr>
          <p:cNvPr id="108" name="AA0"/>
          <p:cNvCxnSpPr/>
          <p:nvPr/>
        </p:nvCxnSpPr>
        <p:spPr>
          <a:xfrm>
            <a:off x="237744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A1"/>
          <p:cNvSpPr/>
          <p:nvPr/>
        </p:nvSpPr>
        <p:spPr>
          <a:xfrm>
            <a:off x="265176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</a:t>
            </a:r>
          </a:p>
        </p:txBody>
      </p:sp>
      <p:cxnSp>
        <p:nvCxnSpPr>
          <p:cNvPr id="110" name="AA1"/>
          <p:cNvCxnSpPr/>
          <p:nvPr/>
        </p:nvCxnSpPr>
        <p:spPr>
          <a:xfrm>
            <a:off x="448056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A2"/>
          <p:cNvSpPr/>
          <p:nvPr/>
        </p:nvSpPr>
        <p:spPr>
          <a:xfrm>
            <a:off x="475488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act</a:t>
            </a:r>
          </a:p>
        </p:txBody>
      </p:sp>
      <p:cxnSp>
        <p:nvCxnSpPr>
          <p:cNvPr id="112" name="AA2"/>
          <p:cNvCxnSpPr/>
          <p:nvPr/>
        </p:nvCxnSpPr>
        <p:spPr>
          <a:xfrm>
            <a:off x="6583680" y="35204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3" name="A3"/>
          <p:cNvSpPr/>
          <p:nvPr/>
        </p:nvSpPr>
        <p:spPr>
          <a:xfrm>
            <a:off x="6858000" y="3200400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observe</a:t>
            </a:r>
          </a:p>
        </p:txBody>
      </p:sp>
      <p:cxnSp>
        <p:nvCxnSpPr>
          <p:cNvPr id="114" name="LD"/>
          <p:cNvCxnSpPr/>
          <p:nvPr/>
        </p:nvCxnSpPr>
        <p:spPr>
          <a:xfrm>
            <a:off x="7726680" y="39319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5" name="LA"/>
          <p:cNvCxnSpPr/>
          <p:nvPr/>
        </p:nvCxnSpPr>
        <p:spPr>
          <a:xfrm flipH="1">
            <a:off x="3520440" y="4434840"/>
            <a:ext cx="420624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6" name="LU"/>
          <p:cNvCxnSpPr/>
          <p:nvPr/>
        </p:nvCxnSpPr>
        <p:spPr>
          <a:xfrm flipV="1">
            <a:off x="3520440" y="39319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7" name="LoopLbl"/>
          <p:cNvSpPr txBox="1"/>
          <p:nvPr/>
        </p:nvSpPr>
        <p:spPr>
          <a:xfrm>
            <a:off x="4023360" y="45720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results become new context</a:t>
            </a:r>
          </a:p>
        </p:txBody>
      </p:sp>
      <p:sp>
        <p:nvSpPr>
          <p:cNvPr id="1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harness creates the difference between these two rows.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Definition: the agent harness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05840"/>
            <a:ext cx="8138160" cy="20574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>AGENT HARNESS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The software infrastructure that turns model outputs into an iterative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process of observation, reasoning, and action — managing working context,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exposing tools, executing requested actions, returning their results,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and controlling how work continues.</a:t>
            </a:r>
          </a:p>
        </p:txBody>
      </p:sp>
      <p:sp>
        <p:nvSpPr>
          <p:cNvPr id="101" name="L0"/>
          <p:cNvSpPr/>
          <p:nvPr/>
        </p:nvSpPr>
        <p:spPr>
          <a:xfrm>
            <a:off x="86868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CONTEXT</a:t>
            </a:r>
          </a:p>
        </p:txBody>
      </p:sp>
      <p:cxnSp>
        <p:nvCxnSpPr>
          <p:cNvPr id="102" name="LC0"/>
          <p:cNvCxnSpPr/>
          <p:nvPr/>
        </p:nvCxnSpPr>
        <p:spPr>
          <a:xfrm>
            <a:off x="256032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L1"/>
          <p:cNvSpPr/>
          <p:nvPr/>
        </p:nvSpPr>
        <p:spPr>
          <a:xfrm>
            <a:off x="288036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MODEL</a:t>
            </a:r>
          </a:p>
        </p:txBody>
      </p:sp>
      <p:cxnSp>
        <p:nvCxnSpPr>
          <p:cNvPr id="104" name="LC1"/>
          <p:cNvCxnSpPr/>
          <p:nvPr/>
        </p:nvCxnSpPr>
        <p:spPr>
          <a:xfrm>
            <a:off x="457200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L2"/>
          <p:cNvSpPr/>
          <p:nvPr/>
        </p:nvSpPr>
        <p:spPr>
          <a:xfrm>
            <a:off x="489204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06" name="LC2"/>
          <p:cNvCxnSpPr/>
          <p:nvPr/>
        </p:nvCxnSpPr>
        <p:spPr>
          <a:xfrm>
            <a:off x="6583680" y="3840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L3"/>
          <p:cNvSpPr/>
          <p:nvPr/>
        </p:nvSpPr>
        <p:spPr>
          <a:xfrm>
            <a:off x="6903720" y="3520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RESULT</a:t>
            </a:r>
          </a:p>
        </p:txBody>
      </p:sp>
      <p:cxnSp>
        <p:nvCxnSpPr>
          <p:cNvPr id="108" name="LoopD"/>
          <p:cNvCxnSpPr/>
          <p:nvPr/>
        </p:nvCxnSpPr>
        <p:spPr>
          <a:xfrm>
            <a:off x="7680960" y="416052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09" name="LoopA"/>
          <p:cNvCxnSpPr/>
          <p:nvPr/>
        </p:nvCxnSpPr>
        <p:spPr>
          <a:xfrm flipH="1">
            <a:off x="1645920" y="4617720"/>
            <a:ext cx="603504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10" name="LoopU"/>
          <p:cNvCxnSpPr/>
          <p:nvPr/>
        </p:nvCxnSpPr>
        <p:spPr>
          <a:xfrm flipV="1">
            <a:off x="1645920" y="416052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LoopLbl"/>
          <p:cNvSpPr txBox="1"/>
          <p:nvPr/>
        </p:nvSpPr>
        <p:spPr>
          <a:xfrm>
            <a:off x="329184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and around again</a:t>
            </a:r>
          </a:p>
        </p:txBody>
      </p:sp>
      <p:sp>
        <p:nvSpPr>
          <p:cNvPr id="1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Every phrase in the definition is a design surface.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harness closes the loop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1463040" y="960120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inspect repo</a:t>
            </a:r>
          </a:p>
        </p:txBody>
      </p:sp>
      <p:sp>
        <p:nvSpPr>
          <p:cNvPr id="101" name="G0"/>
          <p:cNvSpPr txBox="1"/>
          <p:nvPr/>
        </p:nvSpPr>
        <p:spPr>
          <a:xfrm>
            <a:off x="4114800" y="110642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repository becomes context</a:t>
            </a:r>
          </a:p>
        </p:txBody>
      </p:sp>
      <p:cxnSp>
        <p:nvCxnSpPr>
          <p:cNvPr id="102" name="SA0"/>
          <p:cNvCxnSpPr/>
          <p:nvPr/>
        </p:nvCxnSpPr>
        <p:spPr>
          <a:xfrm>
            <a:off x="2651760" y="1581912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S1"/>
          <p:cNvSpPr/>
          <p:nvPr/>
        </p:nvSpPr>
        <p:spPr>
          <a:xfrm>
            <a:off x="1463040" y="1856232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edit file</a:t>
            </a:r>
          </a:p>
        </p:txBody>
      </p:sp>
      <p:sp>
        <p:nvSpPr>
          <p:cNvPr id="104" name="G1"/>
          <p:cNvSpPr txBox="1"/>
          <p:nvPr/>
        </p:nvSpPr>
        <p:spPr>
          <a:xfrm>
            <a:off x="4114800" y="2002536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an action with real effects</a:t>
            </a:r>
          </a:p>
        </p:txBody>
      </p:sp>
      <p:cxnSp>
        <p:nvCxnSpPr>
          <p:cNvPr id="105" name="SA1"/>
          <p:cNvCxnSpPr/>
          <p:nvPr/>
        </p:nvCxnSpPr>
        <p:spPr>
          <a:xfrm>
            <a:off x="2651760" y="2478024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S2"/>
          <p:cNvSpPr/>
          <p:nvPr/>
        </p:nvSpPr>
        <p:spPr>
          <a:xfrm>
            <a:off x="1463040" y="2752344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run test</a:t>
            </a:r>
          </a:p>
        </p:txBody>
      </p:sp>
      <p:sp>
        <p:nvSpPr>
          <p:cNvPr id="107" name="G2"/>
          <p:cNvSpPr txBox="1"/>
          <p:nvPr/>
        </p:nvSpPr>
        <p:spPr>
          <a:xfrm>
            <a:off x="4114800" y="2898648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environment answers</a:t>
            </a:r>
          </a:p>
        </p:txBody>
      </p:sp>
      <p:cxnSp>
        <p:nvCxnSpPr>
          <p:cNvPr id="108" name="SA2"/>
          <p:cNvCxnSpPr/>
          <p:nvPr/>
        </p:nvCxnSpPr>
        <p:spPr>
          <a:xfrm>
            <a:off x="2651760" y="3374136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S3"/>
          <p:cNvSpPr/>
          <p:nvPr/>
        </p:nvSpPr>
        <p:spPr>
          <a:xfrm>
            <a:off x="1463040" y="3648456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observe failure</a:t>
            </a:r>
          </a:p>
        </p:txBody>
      </p:sp>
      <p:sp>
        <p:nvSpPr>
          <p:cNvPr id="110" name="G3"/>
          <p:cNvSpPr txBox="1"/>
          <p:nvPr/>
        </p:nvSpPr>
        <p:spPr>
          <a:xfrm>
            <a:off x="4114800" y="3794760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answer becomes new context</a:t>
            </a:r>
          </a:p>
        </p:txBody>
      </p:sp>
      <p:cxnSp>
        <p:nvCxnSpPr>
          <p:cNvPr id="111" name="SA3"/>
          <p:cNvCxnSpPr/>
          <p:nvPr/>
        </p:nvCxnSpPr>
        <p:spPr>
          <a:xfrm>
            <a:off x="2651760" y="4270248"/>
            <a:ext cx="0" cy="256032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S4"/>
          <p:cNvSpPr/>
          <p:nvPr/>
        </p:nvSpPr>
        <p:spPr>
          <a:xfrm>
            <a:off x="1463040" y="4544568"/>
            <a:ext cx="23774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revise</a:t>
            </a:r>
          </a:p>
        </p:txBody>
      </p:sp>
      <p:sp>
        <p:nvSpPr>
          <p:cNvPr id="113" name="G4"/>
          <p:cNvSpPr txBox="1"/>
          <p:nvPr/>
        </p:nvSpPr>
        <p:spPr>
          <a:xfrm>
            <a:off x="4114800" y="469087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reasoning continues, better informed</a:t>
            </a:r>
          </a:p>
        </p:txBody>
      </p:sp>
      <p:cxnSp>
        <p:nvCxnSpPr>
          <p:cNvPr id="114" name="LoopL"/>
          <p:cNvCxnSpPr/>
          <p:nvPr/>
        </p:nvCxnSpPr>
        <p:spPr>
          <a:xfrm>
            <a:off x="1143000" y="1271016"/>
            <a:ext cx="0" cy="365760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5" name="LoopT"/>
          <p:cNvCxnSpPr/>
          <p:nvPr/>
        </p:nvCxnSpPr>
        <p:spPr>
          <a:xfrm>
            <a:off x="1143000" y="1271016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LoopB"/>
          <p:cNvCxnSpPr/>
          <p:nvPr/>
        </p:nvCxnSpPr>
        <p:spPr>
          <a:xfrm flipH="1">
            <a:off x="1143000" y="4928616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Consequences of earlier actions become inputs to later reasoning.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harness has levers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Hub"/>
          <p:cNvSpPr/>
          <p:nvPr/>
        </p:nvSpPr>
        <p:spPr>
          <a:xfrm>
            <a:off x="3154680" y="2514600"/>
            <a:ext cx="283464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(model inside)</a:t>
            </a:r>
          </a:p>
        </p:txBody>
      </p:sp>
      <p:sp>
        <p:nvSpPr>
          <p:cNvPr id="101" name="L0"/>
          <p:cNvSpPr/>
          <p:nvPr/>
        </p:nvSpPr>
        <p:spPr>
          <a:xfrm>
            <a:off x="68580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02" name="L1"/>
          <p:cNvSpPr/>
          <p:nvPr/>
        </p:nvSpPr>
        <p:spPr>
          <a:xfrm>
            <a:off x="356616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instructions</a:t>
            </a:r>
          </a:p>
        </p:txBody>
      </p:sp>
      <p:sp>
        <p:nvSpPr>
          <p:cNvPr id="103" name="L2"/>
          <p:cNvSpPr/>
          <p:nvPr/>
        </p:nvSpPr>
        <p:spPr>
          <a:xfrm>
            <a:off x="6446520" y="105156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4" name="L3"/>
          <p:cNvSpPr/>
          <p:nvPr/>
        </p:nvSpPr>
        <p:spPr>
          <a:xfrm>
            <a:off x="68580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skills</a:t>
            </a:r>
          </a:p>
        </p:txBody>
      </p:sp>
      <p:sp>
        <p:nvSpPr>
          <p:cNvPr id="105" name="L4"/>
          <p:cNvSpPr/>
          <p:nvPr/>
        </p:nvSpPr>
        <p:spPr>
          <a:xfrm>
            <a:off x="356616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memory / state</a:t>
            </a:r>
          </a:p>
        </p:txBody>
      </p:sp>
      <p:sp>
        <p:nvSpPr>
          <p:cNvPr id="106" name="L5"/>
          <p:cNvSpPr/>
          <p:nvPr/>
        </p:nvSpPr>
        <p:spPr>
          <a:xfrm>
            <a:off x="6446520" y="420624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permissions</a:t>
            </a:r>
          </a:p>
        </p:txBody>
      </p:sp>
      <p:cxnSp>
        <p:nvCxnSpPr>
          <p:cNvPr id="107" name="W0"/>
          <p:cNvCxnSpPr/>
          <p:nvPr/>
        </p:nvCxnSpPr>
        <p:spPr>
          <a:xfrm>
            <a:off x="1691640" y="1691640"/>
            <a:ext cx="2148840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08" name="W1"/>
          <p:cNvCxnSpPr/>
          <p:nvPr/>
        </p:nvCxnSpPr>
        <p:spPr>
          <a:xfrm>
            <a:off x="4572000" y="1691640"/>
            <a:ext cx="9144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09" name="W2"/>
          <p:cNvCxnSpPr/>
          <p:nvPr/>
        </p:nvCxnSpPr>
        <p:spPr>
          <a:xfrm flipH="1">
            <a:off x="5303520" y="1691640"/>
            <a:ext cx="2148840" cy="8229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0" name="W3"/>
          <p:cNvCxnSpPr/>
          <p:nvPr/>
        </p:nvCxnSpPr>
        <p:spPr>
          <a:xfrm flipV="1">
            <a:off x="1691640" y="3657600"/>
            <a:ext cx="2148840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1" name="W4"/>
          <p:cNvCxnSpPr/>
          <p:nvPr/>
        </p:nvCxnSpPr>
        <p:spPr>
          <a:xfrm flipV="1">
            <a:off x="4572000" y="3657600"/>
            <a:ext cx="9144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12" name="W5"/>
          <p:cNvCxnSpPr/>
          <p:nvPr/>
        </p:nvCxnSpPr>
        <p:spPr>
          <a:xfrm flipH="1" flipV="1">
            <a:off x="5303520" y="3657600"/>
            <a:ext cx="2148840" cy="54864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13" name="WorkS"/>
          <p:cNvSpPr txBox="1"/>
          <p:nvPr/>
        </p:nvSpPr>
        <p:spPr>
          <a:xfrm>
            <a:off x="365760" y="507492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Task structure is absent on purpose — it was decided under BOUND.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levers solve different problems.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Context and instructions shape reasoning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CONTEXT</a:t>
            </a:r>
          </a:p>
        </p:txBody>
      </p:sp>
      <p:sp>
        <p:nvSpPr>
          <p:cNvPr id="101" name="CardL"/>
          <p:cNvSpPr/>
          <p:nvPr/>
        </p:nvSpPr>
        <p:spPr>
          <a:xfrm>
            <a:off x="365760" y="1463040"/>
            <a:ext cx="4023360" cy="2286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What does the model have available to reason over?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repository slices · specifications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retrieved knowledge · prior results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INSTRUCTIONS</a:t>
            </a:r>
          </a:p>
        </p:txBody>
      </p:sp>
      <p:sp>
        <p:nvSpPr>
          <p:cNvPr id="103" name="CardR"/>
          <p:cNvSpPr/>
          <p:nvPr/>
        </p:nvSpPr>
        <p:spPr>
          <a:xfrm>
            <a:off x="4754880" y="1463040"/>
            <a:ext cx="4023360" cy="2286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How have we told it to approach the work?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system instructions · project conventions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task briefs · worked examples</a:t>
            </a:r>
          </a:p>
        </p:txBody>
      </p:sp>
      <p:sp>
        <p:nvSpPr>
          <p:cNvPr id="104" name="Insight"/>
          <p:cNvSpPr/>
          <p:nvPr/>
        </p:nvSpPr>
        <p:spPr>
          <a:xfrm>
            <a:off x="365760" y="4206240"/>
            <a:ext cx="841248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Both arrive through the same channel — but they do different jobs.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Instructions are not facts merely because they sit in the context.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lever: choose the reasoning surface the model starts from.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Tools turn reasoning into effects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7315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7548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1089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7548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1089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7548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1089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7548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1089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7548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1089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7548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service / API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1089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89204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Read-only search is one grant of authority; deploy is quite another.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tool expands capability — and potentially consequence.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MCP standardizes connections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Host"/>
          <p:cNvSpPr/>
          <p:nvPr/>
        </p:nvSpPr>
        <p:spPr>
          <a:xfrm>
            <a:off x="3291840" y="1005840"/>
            <a:ext cx="256032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/ HOST</a:t>
            </a:r>
          </a:p>
        </p:txBody>
      </p:sp>
      <p:cxnSp>
        <p:nvCxnSpPr>
          <p:cNvPr id="101" name="HD"/>
          <p:cNvCxnSpPr/>
          <p:nvPr/>
        </p:nvCxnSpPr>
        <p:spPr>
          <a:xfrm>
            <a:off x="4572000" y="169164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roto"/>
          <p:cNvSpPr/>
          <p:nvPr/>
        </p:nvSpPr>
        <p:spPr>
          <a:xfrm>
            <a:off x="2331720" y="2011680"/>
            <a:ext cx="4480560" cy="8686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>MODEL CONTEXT PROTOCOL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one common interface</a:t>
            </a:r>
          </a:p>
        </p:txBody>
      </p:sp>
      <p:cxnSp>
        <p:nvCxnSpPr>
          <p:cNvPr id="103" name="F0"/>
          <p:cNvCxnSpPr/>
          <p:nvPr/>
        </p:nvCxnSpPr>
        <p:spPr>
          <a:xfrm flipH="1">
            <a:off x="2606040" y="2880360"/>
            <a:ext cx="1965960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4" name="N0"/>
          <p:cNvSpPr/>
          <p:nvPr/>
        </p:nvSpPr>
        <p:spPr>
          <a:xfrm>
            <a:off x="182880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service</a:t>
            </a:r>
          </a:p>
        </p:txBody>
      </p:sp>
      <p:cxnSp>
        <p:nvCxnSpPr>
          <p:cNvPr id="105" name="F1"/>
          <p:cNvCxnSpPr/>
          <p:nvPr/>
        </p:nvCxnSpPr>
        <p:spPr>
          <a:xfrm>
            <a:off x="4572000" y="2880360"/>
            <a:ext cx="9144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6" name="N1"/>
          <p:cNvSpPr/>
          <p:nvPr/>
        </p:nvSpPr>
        <p:spPr>
          <a:xfrm>
            <a:off x="379476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repository</a:t>
            </a:r>
          </a:p>
        </p:txBody>
      </p:sp>
      <p:cxnSp>
        <p:nvCxnSpPr>
          <p:cNvPr id="107" name="F2"/>
          <p:cNvCxnSpPr/>
          <p:nvPr/>
        </p:nvCxnSpPr>
        <p:spPr>
          <a:xfrm>
            <a:off x="4572000" y="2880360"/>
            <a:ext cx="1965960" cy="41148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8" name="N2"/>
          <p:cNvSpPr/>
          <p:nvPr/>
        </p:nvSpPr>
        <p:spPr>
          <a:xfrm>
            <a:off x="5760720" y="3291840"/>
            <a:ext cx="155448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tool</a:t>
            </a:r>
          </a:p>
        </p:txBody>
      </p:sp>
      <p:sp>
        <p:nvSpPr>
          <p:cNvPr id="109" name="NM"/>
          <p:cNvSpPr/>
          <p:nvPr/>
        </p:nvSpPr>
        <p:spPr>
          <a:xfrm>
            <a:off x="457200" y="4160520"/>
            <a:ext cx="822960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Bespoke integrations grow as agents × systems.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 shared protocol grows as agents + systems: build a connector once, any agent can use it.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lever: standardization — integrate once, reuse everywhere.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Skills package reusable ways of working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ONE TASK</a:t>
            </a:r>
          </a:p>
        </p:txBody>
      </p:sp>
      <p:sp>
        <p:nvSpPr>
          <p:cNvPr id="101" name="CardL"/>
          <p:cNvSpPr/>
          <p:nvPr/>
        </p:nvSpPr>
        <p:spPr>
          <a:xfrm>
            <a:off x="365760" y="1463040"/>
            <a:ext cx="40233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an instruction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“do X this way”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written for this occasion, then gone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RECURRING WORK</a:t>
            </a:r>
          </a:p>
        </p:txBody>
      </p:sp>
      <p:sp>
        <p:nvSpPr>
          <p:cNvPr id="103" name="CardR"/>
          <p:cNvSpPr/>
          <p:nvPr/>
        </p:nvSpPr>
        <p:spPr>
          <a:xfrm>
            <a:off x="4754880" y="1463040"/>
            <a:ext cx="40233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skill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procedure + resources + checks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packaged once, loaded when the work recurs</a:t>
            </a:r>
          </a:p>
        </p:txBody>
      </p:sp>
      <p:sp>
        <p:nvSpPr>
          <p:cNvPr id="104" name="Ex"/>
          <p:cNvSpPr/>
          <p:nvPr/>
        </p:nvSpPr>
        <p:spPr>
          <a:xfrm>
            <a:off x="365760" y="3657600"/>
            <a:ext cx="8412480" cy="914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Example — accessibility remediation: the checklist, the tooling,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and the acceptance criteria travel together as one loadable procedure.</a:t>
            </a:r>
          </a:p>
        </p:txBody>
      </p:sp>
      <p:sp>
        <p:nvSpPr>
          <p:cNvPr id="105" name="Link"/>
          <p:cNvSpPr txBox="1"/>
          <p:nvPr/>
        </p:nvSpPr>
        <p:spPr>
          <a:xfrm>
            <a:off x="365760" y="480060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This is engineering knowledge, packaged for a machine collaborator.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Do not make every reasoning episode rediscover the procedure.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State lets work survive an inference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36576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CURRENT CONTEXT</a:t>
            </a:r>
          </a:p>
        </p:txBody>
      </p:sp>
      <p:sp>
        <p:nvSpPr>
          <p:cNvPr id="101" name="B0"/>
          <p:cNvSpPr/>
          <p:nvPr/>
        </p:nvSpPr>
        <p:spPr>
          <a:xfrm>
            <a:off x="36576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what this inference sees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gone when the call returns</a:t>
            </a:r>
          </a:p>
        </p:txBody>
      </p:sp>
      <p:sp>
        <p:nvSpPr>
          <p:cNvPr id="102" name="H1"/>
          <p:cNvSpPr/>
          <p:nvPr/>
        </p:nvSpPr>
        <p:spPr>
          <a:xfrm>
            <a:off x="320040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INTERMEDIATE TASK STATE</a:t>
            </a:r>
          </a:p>
        </p:txBody>
      </p:sp>
      <p:sp>
        <p:nvSpPr>
          <p:cNvPr id="103" name="B1"/>
          <p:cNvSpPr/>
          <p:nvPr/>
        </p:nvSpPr>
        <p:spPr>
          <a:xfrm>
            <a:off x="320040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plans · progress · scratchpads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carries one piece of work</a:t>
            </a:r>
          </a:p>
        </p:txBody>
      </p:sp>
      <p:sp>
        <p:nvSpPr>
          <p:cNvPr id="104" name="H2"/>
          <p:cNvSpPr/>
          <p:nvPr/>
        </p:nvSpPr>
        <p:spPr>
          <a:xfrm>
            <a:off x="6035040" y="1371600"/>
            <a:ext cx="26517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DURABLE KNOWLEDGE</a:t>
            </a:r>
          </a:p>
        </p:txBody>
      </p:sp>
      <p:sp>
        <p:nvSpPr>
          <p:cNvPr id="105" name="B2"/>
          <p:cNvSpPr/>
          <p:nvPr/>
        </p:nvSpPr>
        <p:spPr>
          <a:xfrm>
            <a:off x="6035040" y="2286000"/>
            <a:ext cx="265176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records · docs · memory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outlives the task</a:t>
            </a:r>
          </a:p>
        </p:txBody>
      </p:sp>
      <p:cxnSp>
        <p:nvCxnSpPr>
          <p:cNvPr id="106" name="Persist"/>
          <p:cNvCxnSpPr/>
          <p:nvPr/>
        </p:nvCxnSpPr>
        <p:spPr>
          <a:xfrm>
            <a:off x="640080" y="3886200"/>
            <a:ext cx="78638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PersistLbl"/>
          <p:cNvSpPr txBox="1"/>
          <p:nvPr/>
        </p:nvSpPr>
        <p:spPr>
          <a:xfrm>
            <a:off x="640080" y="40416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increasing persistence</a:t>
            </a:r>
          </a:p>
        </p:txBody>
      </p:sp>
      <p:sp>
        <p:nvSpPr>
          <p:cNvPr id="108" name="Vague"/>
          <p:cNvSpPr txBox="1"/>
          <p:nvPr/>
        </p:nvSpPr>
        <p:spPr>
          <a:xfrm>
            <a:off x="365760" y="470916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“Memory” is hopelessly vague until you say which of these you mean.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Persistence has a cost: stale knowledge persists too.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surrounds the agent?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EQUIP · THE ENVIRONMENT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Definition: the engineering environment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143000"/>
            <a:ext cx="8138160" cy="13716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>ENGINEERING ENVIRONMENT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The collection of artifacts, representations, tools, services, rules,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and interfaces through which engineering work is performed.</a:t>
            </a:r>
          </a:p>
        </p:txBody>
      </p:sp>
      <p:sp>
        <p:nvSpPr>
          <p:cNvPr id="101" name="I0"/>
          <p:cNvSpPr/>
          <p:nvPr/>
        </p:nvSpPr>
        <p:spPr>
          <a:xfrm>
            <a:off x="50292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02" name="I1"/>
          <p:cNvSpPr/>
          <p:nvPr/>
        </p:nvSpPr>
        <p:spPr>
          <a:xfrm>
            <a:off x="260604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specifications</a:t>
            </a:r>
          </a:p>
        </p:txBody>
      </p:sp>
      <p:sp>
        <p:nvSpPr>
          <p:cNvPr id="103" name="I2"/>
          <p:cNvSpPr/>
          <p:nvPr/>
        </p:nvSpPr>
        <p:spPr>
          <a:xfrm>
            <a:off x="470916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models</a:t>
            </a:r>
          </a:p>
        </p:txBody>
      </p:sp>
      <p:sp>
        <p:nvSpPr>
          <p:cNvPr id="104" name="I3"/>
          <p:cNvSpPr/>
          <p:nvPr/>
        </p:nvSpPr>
        <p:spPr>
          <a:xfrm>
            <a:off x="6812280" y="292608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sp>
        <p:nvSpPr>
          <p:cNvPr id="105" name="I4"/>
          <p:cNvSpPr/>
          <p:nvPr/>
        </p:nvSpPr>
        <p:spPr>
          <a:xfrm>
            <a:off x="50292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CI</a:t>
            </a:r>
          </a:p>
        </p:txBody>
      </p:sp>
      <p:sp>
        <p:nvSpPr>
          <p:cNvPr id="106" name="I5"/>
          <p:cNvSpPr/>
          <p:nvPr/>
        </p:nvSpPr>
        <p:spPr>
          <a:xfrm>
            <a:off x="260604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documentation</a:t>
            </a:r>
          </a:p>
        </p:txBody>
      </p:sp>
      <p:sp>
        <p:nvSpPr>
          <p:cNvPr id="107" name="I6"/>
          <p:cNvSpPr/>
          <p:nvPr/>
        </p:nvSpPr>
        <p:spPr>
          <a:xfrm>
            <a:off x="470916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issue history</a:t>
            </a:r>
          </a:p>
        </p:txBody>
      </p:sp>
      <p:sp>
        <p:nvSpPr>
          <p:cNvPr id="108" name="I7"/>
          <p:cNvSpPr/>
          <p:nvPr/>
        </p:nvSpPr>
        <p:spPr>
          <a:xfrm>
            <a:off x="6812280" y="3703320"/>
            <a:ext cx="192024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deployment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365760" y="470916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students already know this layer — it is where software organizations live.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did not create this layer — they make its quality newly consequential.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3977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70432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0020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repo · models · tests · CI · docs · services · knowledge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194560"/>
            <a:ext cx="493776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1576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tools · context · instructions · state</a:t>
            </a:r>
          </a:p>
        </p:txBody>
      </p:sp>
      <p:sp>
        <p:nvSpPr>
          <p:cNvPr id="106" name="Mod"/>
          <p:cNvSpPr/>
          <p:nvPr/>
        </p:nvSpPr>
        <p:spPr>
          <a:xfrm>
            <a:off x="3474720" y="3291840"/>
            <a:ext cx="219456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EQUIP submodel — now with every layer filled 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446520" y="6364224"/>
            <a:ext cx="2084831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0A0A0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we've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850516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40280"/>
            <a:ext cx="6080760" cy="11670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rtlCol="0" anchor="ctr"/>
          <a:lstStyle/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How will you scope the knowledge given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How will those artifacts and limits bound the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70199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272536"/>
            <a:ext cx="6080760" cy="859535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rtlCol="0" anchor="ctr"/>
          <a:lstStyle/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Which specific tools will the agent</a:t>
            </a:r>
            <a:r>
              <a:rPr lang="en-US" dirty="0">
                <a:solidFill>
                  <a:srgbClr val="5C4826"/>
                </a:solidFill>
              </a:rPr>
              <a:t>s</a:t>
            </a:r>
            <a:r>
              <a:rPr dirty="0">
                <a:solidFill>
                  <a:srgbClr val="5C4826"/>
                </a:solidFill>
              </a:rPr>
              <a:t> need for implementation?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Describe one MCP </a:t>
            </a:r>
            <a:r>
              <a:rPr lang="en-US" dirty="0">
                <a:solidFill>
                  <a:srgbClr val="5C4826"/>
                </a:solidFill>
              </a:rPr>
              <a:t>interface</a:t>
            </a:r>
            <a:r>
              <a:rPr dirty="0">
                <a:solidFill>
                  <a:srgbClr val="5C4826"/>
                </a:solidFill>
              </a:rPr>
              <a:t> that abstracts access to </a:t>
            </a:r>
            <a:r>
              <a:rPr lang="en-US" dirty="0">
                <a:solidFill>
                  <a:srgbClr val="5C4826"/>
                </a:solidFill>
              </a:rPr>
              <a:t>the tools</a:t>
            </a:r>
            <a:r>
              <a:rPr dirty="0">
                <a:solidFill>
                  <a:srgbClr val="5C4826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 T</a:t>
            </a:r>
            <a:r>
              <a:rPr sz="2000" b="1" dirty="0">
                <a:solidFill>
                  <a:srgbClr val="FFFFFF"/>
                </a:solidFill>
              </a:rPr>
              <a:t>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environment can do reasoning for you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365760" y="1463040"/>
            <a:ext cx="4023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SOURCE + CONFIG + HISTORY + DOCS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1005840" y="23317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1325880" y="239572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agent reconstructs</a:t>
            </a:r>
          </a:p>
        </p:txBody>
      </p:sp>
      <p:sp>
        <p:nvSpPr>
          <p:cNvPr id="104" name="OutL"/>
          <p:cNvSpPr/>
          <p:nvPr/>
        </p:nvSpPr>
        <p:spPr>
          <a:xfrm>
            <a:off x="365760" y="2834640"/>
            <a:ext cx="40233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architecture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REPRESENT</a:t>
            </a:r>
          </a:p>
        </p:txBody>
      </p:sp>
      <p:sp>
        <p:nvSpPr>
          <p:cNvPr id="106" name="SrcR"/>
          <p:cNvSpPr/>
          <p:nvPr/>
        </p:nvSpPr>
        <p:spPr>
          <a:xfrm>
            <a:off x="4754880" y="1463040"/>
            <a:ext cx="4023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ARCHITECTURE MODEL</a:t>
            </a:r>
          </a:p>
        </p:txBody>
      </p:sp>
      <p:cxnSp>
        <p:nvCxnSpPr>
          <p:cNvPr id="107" name="ArrR"/>
          <p:cNvCxnSpPr/>
          <p:nvPr/>
        </p:nvCxnSpPr>
        <p:spPr>
          <a:xfrm>
            <a:off x="6766560" y="2331720"/>
            <a:ext cx="0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8" name="OutR"/>
          <p:cNvSpPr/>
          <p:nvPr/>
        </p:nvSpPr>
        <p:spPr>
          <a:xfrm>
            <a:off x="4754880" y="2834640"/>
            <a:ext cx="40233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agent consults it</a:t>
            </a:r>
          </a:p>
        </p:txBody>
      </p:sp>
      <p:sp>
        <p:nvSpPr>
          <p:cNvPr id="109" name="Regret"/>
          <p:cNvSpPr txBox="1"/>
          <p:nvPr/>
        </p:nvSpPr>
        <p:spPr>
          <a:xfrm>
            <a:off x="365760" y="443484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C4826"/>
                </a:solidFill>
              </a:rPr>
              <a:t>What will future engineers — or agents — regret having to rediscover?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Why spend reasoning reconstructing something we already know?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Where would you spend the next dollar?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0" name="Scenario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capable agent keeps violating an architectural dependency constraint.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Reviews catch it — after the work is done.</a:t>
            </a:r>
          </a:p>
        </p:txBody>
      </p:sp>
      <p:sp>
        <p:nvSpPr>
          <p:cNvPr id="101" name="O0"/>
          <p:cNvSpPr/>
          <p:nvPr/>
        </p:nvSpPr>
        <p:spPr>
          <a:xfrm>
            <a:off x="365760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stronger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2" name="O1"/>
          <p:cNvSpPr/>
          <p:nvPr/>
        </p:nvSpPr>
        <p:spPr>
          <a:xfrm>
            <a:off x="2066544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better context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/ retrieval</a:t>
            </a:r>
          </a:p>
        </p:txBody>
      </p:sp>
      <p:sp>
        <p:nvSpPr>
          <p:cNvPr id="103" name="O2"/>
          <p:cNvSpPr/>
          <p:nvPr/>
        </p:nvSpPr>
        <p:spPr>
          <a:xfrm>
            <a:off x="3767328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explicit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dependency model</a:t>
            </a:r>
          </a:p>
        </p:txBody>
      </p:sp>
      <p:sp>
        <p:nvSpPr>
          <p:cNvPr id="104" name="O3"/>
          <p:cNvSpPr/>
          <p:nvPr/>
        </p:nvSpPr>
        <p:spPr>
          <a:xfrm>
            <a:off x="5468112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specialized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analysis tool</a:t>
            </a:r>
          </a:p>
        </p:txBody>
      </p:sp>
      <p:sp>
        <p:nvSpPr>
          <p:cNvPr id="105" name="O4"/>
          <p:cNvSpPr/>
          <p:nvPr/>
        </p:nvSpPr>
        <p:spPr>
          <a:xfrm>
            <a:off x="7168896" y="2148840"/>
            <a:ext cx="16093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smaller</a:t>
            </a:r>
          </a:p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work unit</a:t>
            </a:r>
          </a:p>
        </p:txBody>
      </p:sp>
      <p:sp>
        <p:nvSpPr>
          <p:cNvPr id="106" name="TPSbadge"/>
          <p:cNvSpPr/>
          <p:nvPr/>
        </p:nvSpPr>
        <p:spPr>
          <a:xfrm>
            <a:off x="365760" y="352044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>THINK</a:t>
            </a:r>
            <a:r>
              <a:rPr lang="en-US" sz="2000" b="1" i="0" dirty="0">
                <a:solidFill>
                  <a:srgbClr val="9A9A9A"/>
                </a:solidFill>
              </a:rPr>
              <a:t>  ·  </a:t>
            </a:r>
            <a:r>
              <a:rPr lang="en-US" sz="2000" b="1" i="0" dirty="0">
                <a:solidFill>
                  <a:srgbClr val="2E74B5"/>
                </a:solidFill>
              </a:rPr>
              <a:t>PAIR</a:t>
            </a:r>
            <a:r>
              <a:rPr lang="en-US" sz="2000" b="1" i="0" dirty="0">
                <a:solidFill>
                  <a:srgbClr val="9A9A9A"/>
                </a:solidFill>
              </a:rPr>
              <a:t>  ·  </a:t>
            </a:r>
            <a:r>
              <a:rPr lang="en-US" sz="2000" b="1" i="0" dirty="0">
                <a:solidFill>
                  <a:srgbClr val="1F7A4D"/>
                </a:solidFill>
              </a:rPr>
              <a:t>SHARE</a:t>
            </a:r>
          </a:p>
        </p:txBody>
      </p:sp>
      <p:sp>
        <p:nvSpPr>
          <p:cNvPr id="107" name="TpsPrompt"/>
          <p:cNvSpPr txBox="1"/>
          <p:nvPr/>
        </p:nvSpPr>
        <p:spPr>
          <a:xfrm>
            <a:off x="3657600" y="3520440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would you buy — and what would you need to know first?</a:t>
            </a:r>
          </a:p>
        </p:txBody>
      </p:sp>
      <p:sp>
        <p:nvSpPr>
          <p:cNvPr id="108" name="Neutral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All five are real engineering responses. None is the default answer.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Defend an investment, not a technology.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the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2651760" y="960120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1" name="Pl0"/>
          <p:cNvSpPr txBox="1"/>
          <p:nvPr/>
        </p:nvSpPr>
        <p:spPr>
          <a:xfrm>
            <a:off x="4425696" y="15087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2" name="S1"/>
          <p:cNvSpPr/>
          <p:nvPr/>
        </p:nvSpPr>
        <p:spPr>
          <a:xfrm>
            <a:off x="2651760" y="1856232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HARNESS</a:t>
            </a:r>
          </a:p>
        </p:txBody>
      </p:sp>
      <p:sp>
        <p:nvSpPr>
          <p:cNvPr id="103" name="Pl1"/>
          <p:cNvSpPr txBox="1"/>
          <p:nvPr/>
        </p:nvSpPr>
        <p:spPr>
          <a:xfrm>
            <a:off x="4425696" y="24048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4" name="S2"/>
          <p:cNvSpPr/>
          <p:nvPr/>
        </p:nvSpPr>
        <p:spPr>
          <a:xfrm>
            <a:off x="2651760" y="2752344"/>
            <a:ext cx="38404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ENGINEERING ENVIRONMENT</a:t>
            </a:r>
          </a:p>
        </p:txBody>
      </p:sp>
      <p:cxnSp>
        <p:nvCxnSpPr>
          <p:cNvPr id="107" name="Down"/>
          <p:cNvCxnSpPr/>
          <p:nvPr/>
        </p:nvCxnSpPr>
        <p:spPr>
          <a:xfrm>
            <a:off x="4572000" y="3438000"/>
            <a:ext cx="0" cy="384048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8" name="Obs"/>
          <p:cNvSpPr/>
          <p:nvPr/>
        </p:nvSpPr>
        <p:spPr>
          <a:xfrm>
            <a:off x="2172000" y="3960000"/>
            <a:ext cx="4800000" cy="68580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CAPABILITY FOR THE BOUNDED WORK</a:t>
            </a:r>
          </a:p>
        </p:txBody>
      </p:sp>
      <p:sp>
        <p:nvSpPr>
          <p:cNvPr id="130" name="BoundNote"/>
          <p:cNvSpPr txBox="1"/>
          <p:nvPr/>
        </p:nvSpPr>
        <p:spPr>
          <a:xfrm>
            <a:off x="274320" y="49834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Task structure already shaped the work — under BOUND.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performance is a property of the engineered system.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118872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If we can engineer the environment,</a:t>
            </a:r>
          </a:p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how much work can we hand over?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STRETCH BREAK · THEN: THE REASONING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70332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  <p:sp>
        <p:nvSpPr>
          <p:cNvPr id="100" name="Back"/>
          <p:cNvSpPr txBox="1"/>
          <p:nvPr/>
        </p:nvSpPr>
        <p:spPr>
          <a:xfrm>
            <a:off x="3136392" y="397764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Back in 5 minutes.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51560"/>
            <a:ext cx="8138160" cy="10972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2E74B5"/>
                </a:solidFill>
              </a:rPr>
              <a:t>REASONING HORIZON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The amount of relevant state a reasoner can effectively bring to bear.</a:t>
            </a:r>
          </a:p>
        </p:txBody>
      </p:sp>
      <p:sp>
        <p:nvSpPr>
          <p:cNvPr id="101" name="Task"/>
          <p:cNvSpPr/>
          <p:nvPr/>
        </p:nvSpPr>
        <p:spPr>
          <a:xfrm>
            <a:off x="502920" y="2377440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“Add feature X across this system”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requirement · architecture · files · constraints · observations · earlier decisions</a:t>
            </a:r>
          </a:p>
        </p:txBody>
      </p:sp>
      <p:cxnSp>
        <p:nvCxnSpPr>
          <p:cNvPr id="102" name="Brk"/>
          <p:cNvCxnSpPr/>
          <p:nvPr/>
        </p:nvCxnSpPr>
        <p:spPr>
          <a:xfrm>
            <a:off x="777240" y="3611880"/>
            <a:ext cx="39319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103" name="BrkR"/>
          <p:cNvCxnSpPr/>
          <p:nvPr/>
        </p:nvCxnSpPr>
        <p:spPr>
          <a:xfrm>
            <a:off x="4983480" y="3611880"/>
            <a:ext cx="3383280" cy="0"/>
          </a:xfrm>
          <a:prstGeom prst="straightConnector1">
            <a:avLst/>
          </a:prstGeom>
          <a:ln w="28575">
            <a:solidFill>
              <a:srgbClr val="C9B991"/>
            </a:solidFill>
            <a:prstDash val="dash"/>
          </a:ln>
        </p:spPr>
      </p:cxnSp>
      <p:sp>
        <p:nvSpPr>
          <p:cNvPr id="104" name="BrkLbl"/>
          <p:cNvSpPr txBox="1"/>
          <p:nvPr/>
        </p:nvSpPr>
        <p:spPr>
          <a:xfrm>
            <a:off x="777240" y="3767328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05" name="BeyondLbl"/>
          <p:cNvSpPr txBox="1"/>
          <p:nvPr/>
        </p:nvSpPr>
        <p:spPr>
          <a:xfrm>
            <a:off x="4983480" y="3767328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beyond it: churn</a:t>
            </a:r>
          </a:p>
        </p:txBody>
      </p:sp>
      <p:sp>
        <p:nvSpPr>
          <p:cNvPr id="106" name="Dep"/>
          <p:cNvSpPr/>
          <p:nvPr/>
        </p:nvSpPr>
        <p:spPr>
          <a:xfrm>
            <a:off x="502920" y="4434840"/>
            <a:ext cx="81381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The boundary moves with model, harness, repository, and task.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Context-window size is one present limit — not the definition.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 — or what the agent reasons with.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When reasoning fails, what do we change?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100" name="Top"/>
          <p:cNvSpPr/>
          <p:nvPr/>
        </p:nvSpPr>
        <p:spPr>
          <a:xfrm>
            <a:off x="3108960" y="914400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TASK × REASONER</a:t>
            </a:r>
          </a:p>
        </p:txBody>
      </p:sp>
      <p:cxnSp>
        <p:nvCxnSpPr>
          <p:cNvPr id="101" name="D0"/>
          <p:cNvCxnSpPr/>
          <p:nvPr/>
        </p:nvCxnSpPr>
        <p:spPr>
          <a:xfrm>
            <a:off x="4572000" y="1536192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oor"/>
          <p:cNvSpPr txBox="1"/>
          <p:nvPr/>
        </p:nvSpPr>
        <p:spPr>
          <a:xfrm>
            <a:off x="3108960" y="184708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poor performance</a:t>
            </a:r>
          </a:p>
        </p:txBody>
      </p:sp>
      <p:cxnSp>
        <p:nvCxnSpPr>
          <p:cNvPr id="103" name="BL"/>
          <p:cNvCxnSpPr/>
          <p:nvPr/>
        </p:nvCxnSpPr>
        <p:spPr>
          <a:xfrm flipH="1">
            <a:off x="2880360" y="2286000"/>
            <a:ext cx="1691640" cy="41148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04" name="BR"/>
          <p:cNvCxnSpPr/>
          <p:nvPr/>
        </p:nvCxnSpPr>
        <p:spPr>
          <a:xfrm>
            <a:off x="4572000" y="2286000"/>
            <a:ext cx="1691640" cy="41148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HL"/>
          <p:cNvSpPr/>
          <p:nvPr/>
        </p:nvSpPr>
        <p:spPr>
          <a:xfrm>
            <a:off x="594360" y="2743200"/>
            <a:ext cx="35661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IMPROVE THE REASONER</a:t>
            </a:r>
          </a:p>
        </p:txBody>
      </p:sp>
      <p:sp>
        <p:nvSpPr>
          <p:cNvPr id="106" name="HR"/>
          <p:cNvSpPr/>
          <p:nvPr/>
        </p:nvSpPr>
        <p:spPr>
          <a:xfrm>
            <a:off x="4983480" y="2743200"/>
            <a:ext cx="35661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ASSIST THE REASONING</a:t>
            </a:r>
          </a:p>
        </p:txBody>
      </p:sp>
      <p:sp>
        <p:nvSpPr>
          <p:cNvPr id="107" name="CL"/>
          <p:cNvSpPr/>
          <p:nvPr/>
        </p:nvSpPr>
        <p:spPr>
          <a:xfrm>
            <a:off x="594360" y="3520440"/>
            <a:ext cx="3566160" cy="1325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stronger model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more context · more compute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better harness</a:t>
            </a:r>
          </a:p>
        </p:txBody>
      </p:sp>
      <p:sp>
        <p:nvSpPr>
          <p:cNvPr id="108" name="CR"/>
          <p:cNvSpPr/>
          <p:nvPr/>
        </p:nvSpPr>
        <p:spPr>
          <a:xfrm>
            <a:off x="4983480" y="3520440"/>
            <a:ext cx="3566160" cy="1325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representation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decomposition · retrieval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intermediate state · tools</a:t>
            </a:r>
          </a:p>
        </p:txBody>
      </p:sp>
      <p:cxnSp>
        <p:nvCxnSpPr>
          <p:cNvPr id="109" name="ML"/>
          <p:cNvCxnSpPr/>
          <p:nvPr/>
        </p:nvCxnSpPr>
        <p:spPr>
          <a:xfrm>
            <a:off x="2377440" y="4846320"/>
            <a:ext cx="173736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0" name="MR"/>
          <p:cNvCxnSpPr/>
          <p:nvPr/>
        </p:nvCxnSpPr>
        <p:spPr>
          <a:xfrm flipH="1">
            <a:off x="5029200" y="4846320"/>
            <a:ext cx="173736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Bench"/>
          <p:cNvSpPr/>
          <p:nvPr/>
        </p:nvSpPr>
        <p:spPr>
          <a:xfrm>
            <a:off x="3520440" y="5138928"/>
            <a:ext cx="210312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112" name="Invest"/>
          <p:cNvSpPr txBox="1"/>
          <p:nvPr/>
        </p:nvSpPr>
        <p:spPr>
          <a:xfrm>
            <a:off x="365760" y="573000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reduce the task · improve the representation · retrieve context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externalize state · provide tools · improve the reasoner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Pólya: rotate the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Book"/>
          <p:cNvSpPr/>
          <p:nvPr/>
        </p:nvSpPr>
        <p:spPr>
          <a:xfrm>
            <a:off x="777240" y="1234440"/>
            <a:ext cx="2377440" cy="3200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>HOW TO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>SOLVE IT</a:t>
            </a:r>
          </a:p>
          <a:p>
            <a:pPr algn="ctr">
              <a:buNone/>
            </a:pPr>
            <a:endParaRPr lang="en-US" sz="2400" b="1" i="0" dirty="0">
              <a:solidFill>
                <a:srgbClr val="FFFFFF"/>
              </a:solidFill>
            </a:endParaRPr>
          </a:p>
          <a:p>
            <a:pPr algn="ctr">
              <a:spcBef>
                <a:spcPts val="400"/>
              </a:spcBef>
              <a:buNone/>
            </a:pPr>
            <a:r>
              <a:rPr lang="en-US" sz="2000" b="0" i="1" dirty="0">
                <a:solidFill>
                  <a:srgbClr val="FFFFFF"/>
                </a:solidFill>
              </a:rPr>
              <a:t>G. Pólya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FFFFFF"/>
                </a:solidFill>
              </a:rPr>
              <a:t>1945</a:t>
            </a:r>
          </a:p>
        </p:txBody>
      </p:sp>
      <p:sp>
        <p:nvSpPr>
          <p:cNvPr id="101" name="Quote"/>
          <p:cNvSpPr txBox="1"/>
          <p:nvPr/>
        </p:nvSpPr>
        <p:spPr>
          <a:xfrm>
            <a:off x="3611880" y="1234440"/>
            <a:ext cx="5166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300" b="0" i="1" dirty="0">
                <a:solidFill>
                  <a:srgbClr val="5C4826"/>
                </a:solidFill>
              </a:rPr>
              <a:t>“When a problem is difficult, change how you represent it.”</a:t>
            </a:r>
          </a:p>
        </p:txBody>
      </p:sp>
      <p:sp>
        <p:nvSpPr>
          <p:cNvPr id="102" name="M0"/>
          <p:cNvSpPr/>
          <p:nvPr/>
        </p:nvSpPr>
        <p:spPr>
          <a:xfrm>
            <a:off x="3611880" y="2240280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Draw a figure</a:t>
            </a:r>
          </a:p>
        </p:txBody>
      </p:sp>
      <p:sp>
        <p:nvSpPr>
          <p:cNvPr id="103" name="M1"/>
          <p:cNvSpPr/>
          <p:nvPr/>
        </p:nvSpPr>
        <p:spPr>
          <a:xfrm>
            <a:off x="3611880" y="2898648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Change the notation</a:t>
            </a:r>
          </a:p>
        </p:txBody>
      </p:sp>
      <p:sp>
        <p:nvSpPr>
          <p:cNvPr id="104" name="M2"/>
          <p:cNvSpPr/>
          <p:nvPr/>
        </p:nvSpPr>
        <p:spPr>
          <a:xfrm>
            <a:off x="3611880" y="3557016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Consider a related problem</a:t>
            </a:r>
          </a:p>
        </p:txBody>
      </p:sp>
      <p:sp>
        <p:nvSpPr>
          <p:cNvPr id="105" name="M3"/>
          <p:cNvSpPr/>
          <p:nvPr/>
        </p:nvSpPr>
        <p:spPr>
          <a:xfrm>
            <a:off x="3611880" y="4215384"/>
            <a:ext cx="51663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Work backward</a:t>
            </a:r>
          </a:p>
        </p:txBody>
      </p:sp>
      <p:sp>
        <p:nvSpPr>
          <p:cNvPr id="106" name="Modern"/>
          <p:cNvSpPr txBox="1"/>
          <p:nvPr/>
        </p:nvSpPr>
        <p:spPr>
          <a:xfrm>
            <a:off x="3611880" y="4937760"/>
            <a:ext cx="5166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Techniques that predate computers — now engineerable, systematically.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reasoner did not change. The reasoning problem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substitute for reasoning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SOURCE FILES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reconstruct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E8F0F7"/>
          </a:solidFill>
          <a:ln w="12700">
            <a:solidFill>
              <a:srgbClr val="A9C4DB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6858000" y="24231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5" name="Same"/>
          <p:cNvSpPr txBox="1"/>
          <p:nvPr/>
        </p:nvSpPr>
        <p:spPr>
          <a:xfrm>
            <a:off x="457200" y="43434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1" dirty="0">
                <a:solidFill>
                  <a:srgbClr val="5C4826"/>
                </a:solidFill>
              </a:rPr>
              <a:t>Same question. Same reasoner. Different reasoning problem.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Backward: Engineering Knowledge. Forward: Modeling.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Don’t make the reasoner rediscover what you already know.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Which investment wins? Benchmark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100" name="L0"/>
          <p:cNvSpPr/>
          <p:nvPr/>
        </p:nvSpPr>
        <p:spPr>
          <a:xfrm>
            <a:off x="365760" y="1005840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BASELINE</a:t>
            </a:r>
          </a:p>
        </p:txBody>
      </p:sp>
      <p:sp>
        <p:nvSpPr>
          <p:cNvPr id="101" name="D0"/>
          <p:cNvSpPr/>
          <p:nvPr/>
        </p:nvSpPr>
        <p:spPr>
          <a:xfrm>
            <a:off x="2103120" y="1005840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Model A + raw repository</a:t>
            </a:r>
          </a:p>
        </p:txBody>
      </p:sp>
      <p:sp>
        <p:nvSpPr>
          <p:cNvPr id="102" name="C0"/>
          <p:cNvSpPr/>
          <p:nvPr/>
        </p:nvSpPr>
        <p:spPr>
          <a:xfrm>
            <a:off x="6903720" y="1005840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—</a:t>
            </a:r>
          </a:p>
        </p:txBody>
      </p:sp>
      <p:sp>
        <p:nvSpPr>
          <p:cNvPr id="103" name="L1"/>
          <p:cNvSpPr/>
          <p:nvPr/>
        </p:nvSpPr>
        <p:spPr>
          <a:xfrm>
            <a:off x="365760" y="1719072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OPTION 1</a:t>
            </a:r>
          </a:p>
        </p:txBody>
      </p:sp>
      <p:sp>
        <p:nvSpPr>
          <p:cNvPr id="104" name="D1"/>
          <p:cNvSpPr/>
          <p:nvPr/>
        </p:nvSpPr>
        <p:spPr>
          <a:xfrm>
            <a:off x="2103120" y="1719072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Model B + raw repository</a:t>
            </a:r>
          </a:p>
        </p:txBody>
      </p:sp>
      <p:sp>
        <p:nvSpPr>
          <p:cNvPr id="105" name="C1"/>
          <p:cNvSpPr/>
          <p:nvPr/>
        </p:nvSpPr>
        <p:spPr>
          <a:xfrm>
            <a:off x="6903720" y="1719072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+$ per task</a:t>
            </a:r>
          </a:p>
        </p:txBody>
      </p:sp>
      <p:sp>
        <p:nvSpPr>
          <p:cNvPr id="106" name="L2"/>
          <p:cNvSpPr/>
          <p:nvPr/>
        </p:nvSpPr>
        <p:spPr>
          <a:xfrm>
            <a:off x="365760" y="2432304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OPTION 2</a:t>
            </a:r>
          </a:p>
        </p:txBody>
      </p:sp>
      <p:sp>
        <p:nvSpPr>
          <p:cNvPr id="107" name="D2"/>
          <p:cNvSpPr/>
          <p:nvPr/>
        </p:nvSpPr>
        <p:spPr>
          <a:xfrm>
            <a:off x="2103120" y="2432304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Model A + dependency representation</a:t>
            </a:r>
          </a:p>
        </p:txBody>
      </p:sp>
      <p:sp>
        <p:nvSpPr>
          <p:cNvPr id="108" name="C2"/>
          <p:cNvSpPr/>
          <p:nvPr/>
        </p:nvSpPr>
        <p:spPr>
          <a:xfrm>
            <a:off x="6903720" y="2432304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+$ engineering</a:t>
            </a:r>
          </a:p>
        </p:txBody>
      </p:sp>
      <p:sp>
        <p:nvSpPr>
          <p:cNvPr id="109" name="L3"/>
          <p:cNvSpPr/>
          <p:nvPr/>
        </p:nvSpPr>
        <p:spPr>
          <a:xfrm>
            <a:off x="365760" y="3145536"/>
            <a:ext cx="1600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OPTION 3</a:t>
            </a:r>
          </a:p>
        </p:txBody>
      </p:sp>
      <p:sp>
        <p:nvSpPr>
          <p:cNvPr id="110" name="D3"/>
          <p:cNvSpPr/>
          <p:nvPr/>
        </p:nvSpPr>
        <p:spPr>
          <a:xfrm>
            <a:off x="2103120" y="3145536"/>
            <a:ext cx="46634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Model A + retrieval / decomposition</a:t>
            </a:r>
          </a:p>
        </p:txBody>
      </p:sp>
      <p:sp>
        <p:nvSpPr>
          <p:cNvPr id="111" name="C3"/>
          <p:cNvSpPr/>
          <p:nvPr/>
        </p:nvSpPr>
        <p:spPr>
          <a:xfrm>
            <a:off x="6903720" y="3145536"/>
            <a:ext cx="18745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+$ harness work</a:t>
            </a:r>
          </a:p>
        </p:txBody>
      </p:sp>
      <p:sp>
        <p:nvSpPr>
          <p:cNvPr id="112" name="Q"/>
          <p:cNvSpPr txBox="1"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Which produces acceptable work at acceptable cost?</a:t>
            </a:r>
          </a:p>
        </p:txBody>
      </p:sp>
      <p:sp>
        <p:nvSpPr>
          <p:cNvPr id="113" name="Run"/>
          <p:cNvSpPr/>
          <p:nvPr/>
        </p:nvSpPr>
        <p:spPr>
          <a:xfrm>
            <a:off x="3063240" y="4572000"/>
            <a:ext cx="301752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RUN THE BENCHMARK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Benchmark the system on the work you care about —</a:t>
            </a:r>
          </a:p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not the foundation model on a generic leaderboard.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118872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What changes when the machine works</a:t>
            </a:r>
          </a:p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>faster than you can inspect?</a:t>
            </a:r>
          </a:p>
        </p:txBody>
      </p:sp>
      <p:sp>
        <p:nvSpPr>
          <p:cNvPr id="9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91" name="Rule"/>
          <p:cNvSpPr/>
          <p:nvPr/>
        </p:nvSpPr>
        <p:spPr>
          <a:xfrm>
            <a:off x="3429000" y="370332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You cannot review everything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35</a:t>
            </a:fld>
            <a:endParaRPr lang="en-US"/>
          </a:p>
        </p:txBody>
      </p:sp>
      <p:sp>
        <p:nvSpPr>
          <p:cNvPr id="100" name="Human"/>
          <p:cNvSpPr/>
          <p:nvPr/>
        </p:nvSpPr>
        <p:spPr>
          <a:xfrm>
            <a:off x="3566160" y="96012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HUMAN</a:t>
            </a:r>
          </a:p>
        </p:txBody>
      </p:sp>
      <p:cxnSp>
        <p:nvCxnSpPr>
          <p:cNvPr id="101" name="Del"/>
          <p:cNvCxnSpPr/>
          <p:nvPr/>
        </p:nvCxnSpPr>
        <p:spPr>
          <a:xfrm>
            <a:off x="4572000" y="1600200"/>
            <a:ext cx="0" cy="45720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DelLbl"/>
          <p:cNvSpPr txBox="1"/>
          <p:nvPr/>
        </p:nvSpPr>
        <p:spPr>
          <a:xfrm>
            <a:off x="4800600" y="16916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delegates</a:t>
            </a:r>
          </a:p>
        </p:txBody>
      </p:sp>
      <p:sp>
        <p:nvSpPr>
          <p:cNvPr id="103" name="Agent"/>
          <p:cNvSpPr/>
          <p:nvPr/>
        </p:nvSpPr>
        <p:spPr>
          <a:xfrm>
            <a:off x="3566160" y="2103120"/>
            <a:ext cx="20116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104" name="FI0"/>
          <p:cNvCxnSpPr/>
          <p:nvPr/>
        </p:nvCxnSpPr>
        <p:spPr>
          <a:xfrm flipH="1">
            <a:off x="1554480" y="2743200"/>
            <a:ext cx="301752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Impl0"/>
          <p:cNvSpPr/>
          <p:nvPr/>
        </p:nvSpPr>
        <p:spPr>
          <a:xfrm>
            <a:off x="68580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implementation</a:t>
            </a:r>
          </a:p>
        </p:txBody>
      </p:sp>
      <p:cxnSp>
        <p:nvCxnSpPr>
          <p:cNvPr id="106" name="FI1"/>
          <p:cNvCxnSpPr/>
          <p:nvPr/>
        </p:nvCxnSpPr>
        <p:spPr>
          <a:xfrm flipH="1">
            <a:off x="3566160" y="2743200"/>
            <a:ext cx="100584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Impl1"/>
          <p:cNvSpPr/>
          <p:nvPr/>
        </p:nvSpPr>
        <p:spPr>
          <a:xfrm>
            <a:off x="269748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implementation</a:t>
            </a:r>
          </a:p>
        </p:txBody>
      </p:sp>
      <p:cxnSp>
        <p:nvCxnSpPr>
          <p:cNvPr id="108" name="FI2"/>
          <p:cNvCxnSpPr/>
          <p:nvPr/>
        </p:nvCxnSpPr>
        <p:spPr>
          <a:xfrm>
            <a:off x="4572000" y="2743200"/>
            <a:ext cx="100584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Impl2"/>
          <p:cNvSpPr/>
          <p:nvPr/>
        </p:nvSpPr>
        <p:spPr>
          <a:xfrm>
            <a:off x="470916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implementation</a:t>
            </a:r>
          </a:p>
        </p:txBody>
      </p:sp>
      <p:cxnSp>
        <p:nvCxnSpPr>
          <p:cNvPr id="110" name="FI3"/>
          <p:cNvCxnSpPr/>
          <p:nvPr/>
        </p:nvCxnSpPr>
        <p:spPr>
          <a:xfrm>
            <a:off x="4572000" y="2743200"/>
            <a:ext cx="3017520" cy="54864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Impl3"/>
          <p:cNvSpPr/>
          <p:nvPr/>
        </p:nvSpPr>
        <p:spPr>
          <a:xfrm>
            <a:off x="6720840" y="3291840"/>
            <a:ext cx="17373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12" name="Scale"/>
          <p:cNvSpPr txBox="1"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0" dirty="0">
                <a:solidFill>
                  <a:srgbClr val="5C4826"/>
                </a:solidFill>
              </a:rPr>
              <a:t>Delegation scales realization faster than direct inspection.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can delegate work.</a:t>
            </a:r>
          </a:p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cannot delegate responsibility for its consequences.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Same agent. Same model. Increasing authority and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Guidance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37</a:t>
            </a:fld>
            <a:endParaRPr lang="en-US"/>
          </a:p>
        </p:txBody>
      </p:sp>
      <p:sp>
        <p:nvSpPr>
          <p:cNvPr id="100" name="Rule"/>
          <p:cNvSpPr/>
          <p:nvPr/>
        </p:nvSpPr>
        <p:spPr>
          <a:xfrm>
            <a:off x="365760" y="960120"/>
            <a:ext cx="8412480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“Do not merge unless the security tests pass.”</a:t>
            </a:r>
          </a:p>
        </p:txBody>
      </p:sp>
      <p:sp>
        <p:nvSpPr>
          <p:cNvPr id="101" name="LblL"/>
          <p:cNvSpPr txBox="1"/>
          <p:nvPr/>
        </p:nvSpPr>
        <p:spPr>
          <a:xfrm>
            <a:off x="365760" y="1828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AS GUIDANCE</a:t>
            </a:r>
          </a:p>
        </p:txBody>
      </p:sp>
      <p:sp>
        <p:nvSpPr>
          <p:cNvPr id="102" name="CardL"/>
          <p:cNvSpPr/>
          <p:nvPr/>
        </p:nvSpPr>
        <p:spPr>
          <a:xfrm>
            <a:off x="365760" y="2286000"/>
            <a:ext cx="402336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prompt · project instructions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skill · worked example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makes compliance more likely</a:t>
            </a:r>
          </a:p>
        </p:txBody>
      </p:sp>
      <p:sp>
        <p:nvSpPr>
          <p:cNvPr id="103" name="LblR"/>
          <p:cNvSpPr txBox="1"/>
          <p:nvPr/>
        </p:nvSpPr>
        <p:spPr>
          <a:xfrm>
            <a:off x="4754880" y="1828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AS AUTHORITY</a:t>
            </a:r>
          </a:p>
        </p:txBody>
      </p:sp>
      <p:sp>
        <p:nvSpPr>
          <p:cNvPr id="104" name="CardR"/>
          <p:cNvSpPr/>
          <p:nvPr/>
        </p:nvSpPr>
        <p:spPr>
          <a:xfrm>
            <a:off x="4754880" y="2286000"/>
            <a:ext cx="402336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permission · hook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CI gate · admission mechanism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makes violation impossible to admit</a:t>
            </a:r>
          </a:p>
        </p:txBody>
      </p:sp>
      <p:sp>
        <p:nvSpPr>
          <p:cNvPr id="105" name="Q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0" i="0" dirty="0">
                <a:solidFill>
                  <a:srgbClr val="5C4826"/>
                </a:solidFill>
              </a:rPr>
              <a:t>Same sentence. Different mechanisms. What happens if the agent reasons incorrectly?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Guidance shapes behavior; authority binds outcomes.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Obligations can act at different grains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38</a:t>
            </a:fld>
            <a:endParaRPr lang="en-US"/>
          </a:p>
        </p:txBody>
      </p:sp>
      <p:sp>
        <p:nvSpPr>
          <p:cNvPr id="100" name="G0"/>
          <p:cNvSpPr/>
          <p:nvPr/>
        </p:nvSpPr>
        <p:spPr>
          <a:xfrm>
            <a:off x="36576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GUIDANCE</a:t>
            </a:r>
          </a:p>
        </p:txBody>
      </p:sp>
      <p:sp>
        <p:nvSpPr>
          <p:cNvPr id="101" name="E0"/>
          <p:cNvSpPr/>
          <p:nvPr/>
        </p:nvSpPr>
        <p:spPr>
          <a:xfrm>
            <a:off x="36576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what context and instructions it is given</a:t>
            </a:r>
          </a:p>
        </p:txBody>
      </p:sp>
      <p:sp>
        <p:nvSpPr>
          <p:cNvPr id="102" name="G1"/>
          <p:cNvSpPr/>
          <p:nvPr/>
        </p:nvSpPr>
        <p:spPr>
          <a:xfrm>
            <a:off x="251460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ACTION AUTHORITY</a:t>
            </a:r>
          </a:p>
        </p:txBody>
      </p:sp>
      <p:sp>
        <p:nvSpPr>
          <p:cNvPr id="103" name="E1"/>
          <p:cNvSpPr/>
          <p:nvPr/>
        </p:nvSpPr>
        <p:spPr>
          <a:xfrm>
            <a:off x="251460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which tool calls are permitted</a:t>
            </a:r>
          </a:p>
        </p:txBody>
      </p:sp>
      <p:sp>
        <p:nvSpPr>
          <p:cNvPr id="104" name="G2"/>
          <p:cNvSpPr/>
          <p:nvPr/>
        </p:nvSpPr>
        <p:spPr>
          <a:xfrm>
            <a:off x="466344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ADMISSION</a:t>
            </a:r>
          </a:p>
        </p:txBody>
      </p:sp>
      <p:sp>
        <p:nvSpPr>
          <p:cNvPr id="105" name="E2"/>
          <p:cNvSpPr/>
          <p:nvPr/>
        </p:nvSpPr>
        <p:spPr>
          <a:xfrm>
            <a:off x="466344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which changes are admitted</a:t>
            </a:r>
          </a:p>
        </p:txBody>
      </p:sp>
      <p:sp>
        <p:nvSpPr>
          <p:cNvPr id="106" name="G3"/>
          <p:cNvSpPr/>
          <p:nvPr/>
        </p:nvSpPr>
        <p:spPr>
          <a:xfrm>
            <a:off x="6812280" y="1371600"/>
            <a:ext cx="201168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RUNTIME CONTROL</a:t>
            </a:r>
          </a:p>
        </p:txBody>
      </p:sp>
      <p:sp>
        <p:nvSpPr>
          <p:cNvPr id="107" name="E3"/>
          <p:cNvSpPr/>
          <p:nvPr/>
        </p:nvSpPr>
        <p:spPr>
          <a:xfrm>
            <a:off x="6812280" y="2286000"/>
            <a:ext cx="201168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what the deployed system may do</a:t>
            </a:r>
          </a:p>
        </p:txBody>
      </p:sp>
      <p:cxnSp>
        <p:nvCxnSpPr>
          <p:cNvPr id="108" name="Grain"/>
          <p:cNvCxnSpPr/>
          <p:nvPr/>
        </p:nvCxnSpPr>
        <p:spPr>
          <a:xfrm>
            <a:off x="640080" y="3840480"/>
            <a:ext cx="78638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9" name="GrainLbl"/>
          <p:cNvSpPr txBox="1"/>
          <p:nvPr/>
        </p:nvSpPr>
        <p:spPr>
          <a:xfrm>
            <a:off x="640080" y="399592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increasing semantic grain</a:t>
            </a:r>
          </a:p>
        </p:txBody>
      </p:sp>
      <p:sp>
        <p:nvSpPr>
          <p:cNvPr id="110" name="Q"/>
          <p:cNvSpPr txBox="1"/>
          <p:nvPr/>
        </p:nvSpPr>
        <p:spPr>
          <a:xfrm>
            <a:off x="365760" y="466344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obligation can bind at any of these points — at different costs.</a:t>
            </a:r>
          </a:p>
        </p:txBody>
      </p:sp>
      <p:sp>
        <p:nvSpPr>
          <p:cNvPr id="11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should an obligation become binding?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delegation?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4290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7315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7315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7315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comes from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from whether a human or an agent produced the artifact.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agent’s confidence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11480" y="2057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produces an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880360" y="2560320"/>
            <a:ext cx="4114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83280" y="2057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52160" y="2560320"/>
            <a:ext cx="4114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446520" y="2057400"/>
            <a:ext cx="21945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79476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Self-report is a claim to verify, not evidence to accept.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Agents create the rest of Act II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41</a:t>
            </a:fld>
            <a:endParaRPr lang="en-US"/>
          </a:p>
        </p:txBody>
      </p:sp>
      <p:sp>
        <p:nvSpPr>
          <p:cNvPr id="100" name="Thesis"/>
          <p:cNvSpPr txBox="1"/>
          <p:nvPr/>
        </p:nvSpPr>
        <p:spPr>
          <a:xfrm>
            <a:off x="274320" y="8686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 delegation</a:t>
            </a:r>
          </a:p>
        </p:txBody>
      </p:sp>
      <p:sp>
        <p:nvSpPr>
          <p:cNvPr id="101" name="Ch0"/>
          <p:cNvSpPr/>
          <p:nvPr/>
        </p:nvSpPr>
        <p:spPr>
          <a:xfrm>
            <a:off x="717804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2" name="CA0"/>
          <p:cNvCxnSpPr/>
          <p:nvPr/>
        </p:nvCxnSpPr>
        <p:spPr>
          <a:xfrm>
            <a:off x="2432304" y="175564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1"/>
          <p:cNvSpPr/>
          <p:nvPr/>
        </p:nvSpPr>
        <p:spPr>
          <a:xfrm>
            <a:off x="2720340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4" name="CA1"/>
          <p:cNvCxnSpPr/>
          <p:nvPr/>
        </p:nvCxnSpPr>
        <p:spPr>
          <a:xfrm>
            <a:off x="4434840" y="175564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Ch2"/>
          <p:cNvSpPr/>
          <p:nvPr/>
        </p:nvSpPr>
        <p:spPr>
          <a:xfrm>
            <a:off x="4722876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6" name="CA2"/>
          <p:cNvCxnSpPr/>
          <p:nvPr/>
        </p:nvCxnSpPr>
        <p:spPr>
          <a:xfrm>
            <a:off x="6437376" y="175564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Ch3"/>
          <p:cNvSpPr/>
          <p:nvPr/>
        </p:nvSpPr>
        <p:spPr>
          <a:xfrm>
            <a:off x="6725412" y="1463040"/>
            <a:ext cx="1700784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8" name="Two"/>
          <p:cNvSpPr txBox="1"/>
          <p:nvPr/>
        </p:nvSpPr>
        <p:spPr>
          <a:xfrm>
            <a:off x="274320" y="2160000"/>
            <a:ext cx="859536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Bound the work so it presents a tractable reasoning problem.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Equip the agent with sufficient capability and reasoning surfaces.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Authorize only the consequences it should be permitted to produce.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Verify the claims necessary to accept the work.</a:t>
            </a:r>
          </a:p>
        </p:txBody>
      </p:sp>
      <p:sp>
        <p:nvSpPr>
          <p:cNvPr id="109" name="FQ0"/>
          <p:cNvSpPr/>
          <p:nvPr/>
        </p:nvSpPr>
        <p:spPr>
          <a:xfrm>
            <a:off x="365760" y="3520440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do we represent what should be built?</a:t>
            </a:r>
          </a:p>
        </p:txBody>
      </p:sp>
      <p:cxnSp>
        <p:nvCxnSpPr>
          <p:cNvPr id="110" name="FA0"/>
          <p:cNvCxnSpPr/>
          <p:nvPr/>
        </p:nvCxnSpPr>
        <p:spPr>
          <a:xfrm>
            <a:off x="5806440" y="3803904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1" name="FD0"/>
          <p:cNvSpPr/>
          <p:nvPr/>
        </p:nvSpPr>
        <p:spPr>
          <a:xfrm>
            <a:off x="6217920" y="3520440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MODELING</a:t>
            </a:r>
          </a:p>
        </p:txBody>
      </p:sp>
      <p:sp>
        <p:nvSpPr>
          <p:cNvPr id="112" name="FQ1"/>
          <p:cNvSpPr/>
          <p:nvPr/>
        </p:nvSpPr>
        <p:spPr>
          <a:xfrm>
            <a:off x="365760" y="4233672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do consequential obligations govern realization?</a:t>
            </a:r>
          </a:p>
        </p:txBody>
      </p:sp>
      <p:cxnSp>
        <p:nvCxnSpPr>
          <p:cNvPr id="113" name="FA1"/>
          <p:cNvCxnSpPr/>
          <p:nvPr/>
        </p:nvCxnSpPr>
        <p:spPr>
          <a:xfrm>
            <a:off x="5806440" y="4517136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4" name="FD1"/>
          <p:cNvSpPr/>
          <p:nvPr/>
        </p:nvSpPr>
        <p:spPr>
          <a:xfrm>
            <a:off x="6217920" y="4233672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ALIGNMENT</a:t>
            </a:r>
          </a:p>
        </p:txBody>
      </p:sp>
      <p:sp>
        <p:nvSpPr>
          <p:cNvPr id="115" name="FQ2"/>
          <p:cNvSpPr/>
          <p:nvPr/>
        </p:nvSpPr>
        <p:spPr>
          <a:xfrm>
            <a:off x="365760" y="4946904"/>
            <a:ext cx="53949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What do we learn when reality contradicts expectation?</a:t>
            </a:r>
          </a:p>
        </p:txBody>
      </p:sp>
      <p:cxnSp>
        <p:nvCxnSpPr>
          <p:cNvPr id="116" name="FA2"/>
          <p:cNvCxnSpPr/>
          <p:nvPr/>
        </p:nvCxnSpPr>
        <p:spPr>
          <a:xfrm>
            <a:off x="5806440" y="5230368"/>
            <a:ext cx="3200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7" name="FD2"/>
          <p:cNvSpPr/>
          <p:nvPr/>
        </p:nvSpPr>
        <p:spPr>
          <a:xfrm>
            <a:off x="6217920" y="4946904"/>
            <a:ext cx="25603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FAILURE-AWARE ENGINEERING</a:t>
            </a:r>
          </a:p>
        </p:txBody>
      </p:sp>
      <p:sp>
        <p:nvSpPr>
          <p:cNvPr id="1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Delegate realization — without delegating engineering.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Times</vt:lpstr>
      <vt:lpstr>Purdue1</vt:lpstr>
      <vt:lpstr>ECE 30861/46100: Software Engineering</vt:lpstr>
      <vt:lpstr>Engineers may delegate realization without delegating responsibility for the resulting system.</vt:lpstr>
      <vt:lpstr>Delegation is an engineering design problem</vt:lpstr>
      <vt:lpstr>BOUND: design the delegated work</vt:lpstr>
      <vt:lpstr>A delegation boundary is a reasoning boundary</vt:lpstr>
      <vt:lpstr>EQUIP: where does capability live?</vt:lpstr>
      <vt:lpstr>What are we buying in a model?</vt:lpstr>
      <vt:lpstr>Models differ</vt:lpstr>
      <vt:lpstr>There is no context-free best model</vt:lpstr>
      <vt:lpstr>Stronger model ≠ stronger agent</vt:lpstr>
      <vt:lpstr>What makes a model an agent?</vt:lpstr>
      <vt:lpstr>A model produces; an agent acts</vt:lpstr>
      <vt:lpstr>Definition: the agent harness</vt:lpstr>
      <vt:lpstr>The harness closes the loop</vt:lpstr>
      <vt:lpstr>The harness has levers</vt:lpstr>
      <vt:lpstr>Context and instructions shape reasoning</vt:lpstr>
      <vt:lpstr>Tools turn reasoning into effects</vt:lpstr>
      <vt:lpstr>MCP standardizes connections</vt:lpstr>
      <vt:lpstr>Skills package reusable ways of working</vt:lpstr>
      <vt:lpstr>State lets work survive an inference</vt:lpstr>
      <vt:lpstr>What surrounds the agent?</vt:lpstr>
      <vt:lpstr>Definition: the engineering environment</vt:lpstr>
      <vt:lpstr>Zoom out</vt:lpstr>
      <vt:lpstr>How will you equip your agents?</vt:lpstr>
      <vt:lpstr>The environment can do reasoning for you</vt:lpstr>
      <vt:lpstr>Where would you spend the next dollar?</vt:lpstr>
      <vt:lpstr>Equip the agent</vt:lpstr>
      <vt:lpstr>If we can engineer the environment, how much work can we hand over?</vt:lpstr>
      <vt:lpstr>Reasoning has a horizon</vt:lpstr>
      <vt:lpstr>When reasoning fails, what do we change?</vt:lpstr>
      <vt:lpstr>Pólya: rotate the problem</vt:lpstr>
      <vt:lpstr>Representation can substitute for reasoning</vt:lpstr>
      <vt:lpstr>Which investment wins? Benchmark it</vt:lpstr>
      <vt:lpstr>What changes when the machine works faster than you can inspect?</vt:lpstr>
      <vt:lpstr>You cannot review everything</vt:lpstr>
      <vt:lpstr>Capability is not authority</vt:lpstr>
      <vt:lpstr>Guidance is not authority</vt:lpstr>
      <vt:lpstr>Obligations can act at different grains</vt:lpstr>
      <vt:lpstr>VERIFY: what evidence closes the delegation?</vt:lpstr>
      <vt:lpstr>The agent’s confidence is not independent evidence</vt:lpstr>
      <vt:lpstr>Agents create the rest of Act II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