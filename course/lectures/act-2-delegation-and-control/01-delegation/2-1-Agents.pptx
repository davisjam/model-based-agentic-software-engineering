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1"/>
    <p:sldId id="731" r:id="rId32"/>
    <p:sldId id="732" r:id="rId33"/>
    <p:sldId id="733" r:id="rId34"/>
    <p:sldId id="734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4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45" Type="http://schemas.openxmlformats.org/officeDocument/2006/relationships/viewProps" Target="viewProps.xml"/><Relationship Id="rId44" Type="http://schemas.openxmlformats.org/officeDocument/2006/relationships/presProps" Target="presProps.xml"/><Relationship Id="rId43" Type="http://schemas.openxmlformats.org/officeDocument/2006/relationships/notesMaster" Target="notesMasters/notesMaster1.xml"/><Relationship Id="rId46" Type="http://schemas.openxmlformats.org/officeDocument/2006/relationships/theme" Target="theme/theme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Open Act II: delegation to capable but fallible machines.</a:t>
            </a:r>
          </a:p>
          <a:p>
            <a:endParaRPr dirty="0"/>
          </a:p>
          <a:p>
            <a:r>
              <a:rPr dirty="0"/>
              <a:t>- Act I taught how engineers decide what should be built and how to justify consequential choices.</a:t>
            </a:r>
          </a:p>
          <a:p>
            <a:r>
              <a:rPr dirty="0"/>
              <a:t>- Act II asks what happens when some part of realization is handed to another reasoner.</a:t>
            </a:r>
          </a:p>
          <a:p>
            <a:r>
              <a:rPr dirty="0"/>
              <a:t>- The strip at the bottom is the model this lecture builds. Name the four words; do NOT explain them yet.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 minute — </a:t>
            </a:r>
            <a:r>
              <a:rPr i="1" dirty="0"/>
              <a:t>Callback to the course definition of engineering: informed control plus responsibility for outcomes.</a:t>
            </a:r>
          </a:p>
          <a:p>
            <a:endParaRPr dirty="0"/>
          </a:p>
          <a:p>
            <a:r>
              <a:rPr dirty="0"/>
              <a:t>- Read the delegation clause once, slowly; do NOT re-teach the Engineering definition.</a:t>
            </a:r>
          </a:p>
          <a:p>
            <a:r>
              <a:rPr dirty="0"/>
              <a:t>- The transition line is the premise of the whole lecture: delegation itself must be engineered.</a:t>
            </a:r>
          </a:p>
          <a:p>
            <a:r>
              <a:rPr dirty="0"/>
              <a:t>- Say the four moves aloud once; every slide today answers one of them.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Delegation engineering predates generative AI.</a:t>
            </a:r>
          </a:p>
          <a:p>
            <a:endParaRPr dirty="0"/>
          </a:p>
          <a:p>
            <a:r>
              <a:rPr dirty="0"/>
              <a:t>- This is NOT a history lecture. Nursing and manufacturing are evidence, not content to be examined.</a:t>
            </a:r>
          </a:p>
          <a:p>
            <a:r>
              <a:rPr dirty="0"/>
              <a:t>- Nursing: a licensed professional delegates clinical work and remains accountable for it.</a:t>
            </a:r>
          </a:p>
          <a:p>
            <a:r>
              <a:rPr dirty="0"/>
              <a:t>- Factory: an engineer delegates realization to machinists and to machinery.</a:t>
            </a:r>
          </a:p>
          <a:p>
            <a:r>
              <a:rPr dirty="0"/>
              <a:t>- Software: we have long delegated to colleagues and to deterministic automation. The agent is a third recipient.</a:t>
            </a:r>
          </a:p>
          <a:p>
            <a:r>
              <a:rPr dirty="0"/>
              <a:t>- Land the bottom line and move on: different recipients, the same engineering problem.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 minutes — </a:t>
            </a:r>
            <a:r>
              <a:rPr i="1" dirty="0"/>
              <a:t>One property at a time, across three recipients.</a:t>
            </a:r>
          </a:p>
          <a:p>
            <a:endParaRPr dirty="0"/>
          </a:p>
          <a:p>
            <a:r>
              <a:rPr dirty="0"/>
              <a:t>- Build by ROWS, not columns, so students compare recipients on one property at a time.</a:t>
            </a:r>
          </a:p>
          <a:p>
            <a:r>
              <a:rPr dirty="0"/>
              <a:t>- The rows are engineering properties of the recipient, not a ranking.</a:t>
            </a:r>
          </a:p>
          <a:p>
            <a:r>
              <a:rPr dirty="0"/>
              <a:t>- Accountability is the row that does not move: neither kind of automation is accountable.</a:t>
            </a:r>
          </a:p>
          <a:p>
            <a:r>
              <a:rPr dirty="0"/>
              <a:t>- Say explicitly: do NOT define agents by today's weaknesses. These properties can move as technology improves.</a:t>
            </a:r>
          </a:p>
          <a:p>
            <a:r>
              <a:rPr dirty="0"/>
              <a:t>- The marginal-cost row is why this matters now: probabilistic automation is cheap enough to delegate to at scale.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The four decisions, now DERIVED rather than announced.</a:t>
            </a:r>
          </a:p>
          <a:p>
            <a:endParaRPr dirty="0"/>
          </a:p>
          <a:p>
            <a:r>
              <a:rPr dirty="0"/>
              <a:t>- Students have just seen where this comes from: whoever the recipient is, these four questions must be answered.</a:t>
            </a:r>
          </a:p>
          <a:p>
            <a:r>
              <a:rPr dirty="0"/>
              <a:t>- Read each move with its question; this is the organizing model of the lecture.</a:t>
            </a:r>
          </a:p>
          <a:p>
            <a:r>
              <a:rPr dirty="0"/>
              <a:t>- Stress the bottom line: four engineering decisions, not four rigid stages. They interact.</a:t>
            </a:r>
          </a:p>
          <a:p>
            <a:r>
              <a:rPr dirty="0"/>
              <a:t>- Promise the shape of the day: BOUND, then EQUIP at length, then AUTHORIZE and VERIFY.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BOUND.</a:t>
            </a:r>
          </a:p>
          <a:p>
            <a:endParaRPr dirty="0"/>
          </a:p>
          <a:p>
            <a:r>
              <a:rPr dirty="0"/>
              <a:t>- We know the delegation problem. First decide what is being delegated.</a:t>
            </a:r>
          </a:p>
          <a:p>
            <a:r>
              <a:rPr dirty="0"/>
              <a:t>- This is not merely task sizing. It determines which relationships and degrees of freedom another reasoner must handle.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BOUND: design the work itself, before equipping anyone to do it.</a:t>
            </a:r>
          </a:p>
          <a:p>
            <a:endParaRPr dirty="0"/>
          </a:p>
          <a:p>
            <a:r>
              <a:rPr dirty="0"/>
              <a:t>- The point is NOT 'make tasks small'. The point is the footer: change the task to change the reasoning problem.</a:t>
            </a:r>
          </a:p>
          <a:p>
            <a:r>
              <a:rPr dirty="0"/>
              <a:t>- Left: too much relevant state has to be held together at once.</a:t>
            </a:r>
          </a:p>
          <a:p>
            <a:r>
              <a:rPr dirty="0"/>
              <a:t>- Right: the work is cut so finely that context has to cross a boundary at every step.</a:t>
            </a:r>
          </a:p>
          <a:p>
            <a:r>
              <a:rPr dirty="0"/>
              <a:t>- Middle: a work unit whose relevant state holds together.</a:t>
            </a:r>
          </a:p>
          <a:p>
            <a:r>
              <a:rPr dirty="0"/>
              <a:t>- Do NOT enumerate decomposition techniques here.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boundary question, stated carefully.</a:t>
            </a:r>
          </a:p>
          <a:p>
            <a:endParaRPr dirty="0"/>
          </a:p>
          <a:p>
            <a:r>
              <a:rPr dirty="0"/>
              <a:t>- Read the central question as the BOUND design criterion.</a:t>
            </a:r>
          </a:p>
          <a:p>
            <a:r>
              <a:rPr dirty="0"/>
              <a:t>- Walk the boundary: requirement, relevant architecture, implementation, constraints, observations.</a:t>
            </a:r>
          </a:p>
          <a:p>
            <a:r>
              <a:rPr dirty="0"/>
              <a:t>- The five levers are how engineers move a boundary.</a:t>
            </a:r>
          </a:p>
          <a:p>
            <a:r>
              <a:rPr dirty="0"/>
              <a:t>- Land the footer: what sits outside must be reconstructed, re-derived, or done without.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Define the reasoning horizon; kill the context-window reduction.</a:t>
            </a:r>
          </a:p>
          <a:p>
            <a:endParaRPr dirty="0"/>
          </a:p>
          <a:p>
            <a:r>
              <a:rPr dirty="0"/>
              <a:t>- The definition earns its box: it is used for the rest of the lecture.</a:t>
            </a:r>
          </a:p>
          <a:p>
            <a:r>
              <a:rPr dirty="0"/>
              <a:t>- Do NOT equate this with context-window length. A long window with poor representations still has a short horizon.</a:t>
            </a:r>
          </a:p>
          <a:p>
            <a:r>
              <a:rPr dirty="0"/>
              <a:t>- The horizon moves with the reasoner, the harness, the representations, the repository, and the task — all five are engineering surfaces.</a:t>
            </a:r>
          </a:p>
          <a:p>
            <a:r>
              <a:rPr dirty="0"/>
              <a:t>- Beyond the horizon, work degrades into churn: repeated rediscovery, forgotten constraints, contradictory local decisions.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Act I callback: delegation hands over the choices that are left.</a:t>
            </a:r>
          </a:p>
          <a:p>
            <a:endParaRPr dirty="0"/>
          </a:p>
          <a:p>
            <a:r>
              <a:rPr dirty="0"/>
              <a:t>- Earlier engineering decisions — specification, architecture, design — already resolved the consequential choices.</a:t>
            </a:r>
          </a:p>
          <a:p>
            <a:r>
              <a:rPr dirty="0"/>
              <a:t>- What remains is a set of degrees of freedom. Delegation decides which of them another reasoner may resolve.</a:t>
            </a:r>
          </a:p>
          <a:p>
            <a:r>
              <a:rPr dirty="0"/>
              <a:t>- Do NOT compress this into an aphorism. Explain the relationship.</a:t>
            </a:r>
          </a:p>
          <a:p>
            <a:r>
              <a:rPr dirty="0"/>
              <a:t>- Analogies to say aloud: a factory does not specify every muscle movement; a manager does not specify every cognitive step.</a:t>
            </a:r>
          </a:p>
          <a:p>
            <a:r>
              <a:rPr dirty="0"/>
              <a:t>- A more capable delegate can be given more degrees of freedom — that is an engineering judgment, not an automatic consequence.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EQUIP.</a:t>
            </a:r>
          </a:p>
          <a:p>
            <a:endParaRPr dirty="0"/>
          </a:p>
          <a:p>
            <a:r>
              <a:rPr dirty="0"/>
              <a:t>- Once we know what work we are delegating, we can ask what capability that work requires.</a:t>
            </a:r>
          </a:p>
          <a:p>
            <a:r>
              <a:rPr dirty="0"/>
              <a:t>- We are going to treat capability as something engineered across a system, not purchased as a model.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EQUIP opens: capability is a property of a system.</a:t>
            </a:r>
          </a:p>
          <a:p>
            <a:endParaRPr dirty="0"/>
          </a:p>
          <a:p>
            <a:r>
              <a:rPr dirty="0"/>
              <a:t>- This nested picture is the master picture for the whole EQUIP section.</a:t>
            </a:r>
          </a:p>
          <a:p>
            <a:r>
              <a:rPr dirty="0"/>
              <a:t>- Model reasons. Harness turns reasoning into sustained action. Environment supplies the world in which engineering occurs.</a:t>
            </a:r>
          </a:p>
          <a:p>
            <a:r>
              <a:rPr dirty="0"/>
              <a:t>- Say the boundary line: these layers supply capability; they do not decide what to delegate, authorize, or accept.</a:t>
            </a:r>
          </a:p>
          <a:p>
            <a:r>
              <a:rPr dirty="0"/>
              <a:t>- Build inside-out — model, then harness, then environment — the reverse of how vendors sell it.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The three things you equip; the technologies sit underneath these.</a:t>
            </a:r>
          </a:p>
          <a:p>
            <a:endParaRPr dirty="0"/>
          </a:p>
          <a:p>
            <a:r>
              <a:rPr dirty="0"/>
              <a:t>- Build row by row. Each row names an ENGINEERING PURPOSE first; the examples are illustrations, not the content.</a:t>
            </a:r>
          </a:p>
          <a:p>
            <a:r>
              <a:rPr dirty="0"/>
              <a:t>- Say 'engineering models' explicitly in the INFORMATION row; do not debate the terminology with the class.</a:t>
            </a:r>
          </a:p>
          <a:p>
            <a:r>
              <a:rPr dirty="0"/>
              <a:t>- The rest of EQUIP takes these three rows in order.</a:t>
            </a:r>
          </a:p>
          <a:p>
            <a:r>
              <a:rPr dirty="0"/>
              <a:t>- The footer is the method: diagnose what the delegation lacks before deciding how to equip it.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Reasoner selection as a decision under requirements and constraints.</a:t>
            </a:r>
          </a:p>
          <a:p>
            <a:endParaRPr dirty="0"/>
          </a:p>
          <a:p>
            <a:r>
              <a:rPr dirty="0"/>
              <a:t>- Two axes, not four product categories. Do not recommend products.</a:t>
            </a:r>
          </a:p>
          <a:p>
            <a:r>
              <a:rPr dirty="0"/>
              <a:t>- Top row: what capability the work needs. Bottom row: what the delegation can tolerate.</a:t>
            </a:r>
          </a:p>
          <a:p>
            <a:r>
              <a:rPr dirty="0"/>
              <a:t>- Callback to Act I decision-making: requirements and constraints select; leaderboards do not.</a:t>
            </a:r>
          </a:p>
          <a:p>
            <a:r>
              <a:rPr dirty="0"/>
              <a:t>- Do NOT run the harness-comparison benchmark argument here. The lecture makes that point structurally.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Split 'memory' into three kinds of persistence, all feeding one reasoner.</a:t>
            </a:r>
          </a:p>
          <a:p>
            <a:endParaRPr dirty="0"/>
          </a:p>
          <a:p>
            <a:r>
              <a:rPr dirty="0"/>
              <a:t>- Left to right: one reasoning episode, one piece of work, an organization's knowledge.</a:t>
            </a:r>
          </a:p>
          <a:p>
            <a:r>
              <a:rPr dirty="0"/>
              <a:t>- 'Memory' is unhelpfully broad unless we say what persists and for how long.</a:t>
            </a:r>
          </a:p>
          <a:p>
            <a:r>
              <a:rPr dirty="0"/>
              <a:t>- The key line is the teaching: the question is not how much context we can stuff in.</a:t>
            </a:r>
          </a:p>
          <a:p>
            <a:r>
              <a:rPr dirty="0"/>
              <a:t>- Durable engineering knowledge is the bridge to the Engineering Knowledge reading.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Representation changes the reasoning problem, not the reasoner.</a:t>
            </a:r>
          </a:p>
          <a:p>
            <a:endParaRPr dirty="0"/>
          </a:p>
          <a:p>
            <a:r>
              <a:rPr dirty="0"/>
              <a:t>- Left: the answer exists, diffused across thousands of lines; the reasoner must reconstruct it.</a:t>
            </a:r>
          </a:p>
          <a:p>
            <a:r>
              <a:rPr dirty="0"/>
              <a:t>- Right: the same answer is one lookup in a representation the environment maintains.</a:t>
            </a:r>
          </a:p>
          <a:p>
            <a:r>
              <a:rPr dirty="0"/>
              <a:t>- Polya may be mentioned verbally here: when a problem is difficult, change how you represent it. Draw a figure; change the notation.</a:t>
            </a:r>
          </a:p>
          <a:p>
            <a:r>
              <a:rPr dirty="0"/>
              <a:t>- Do NOT teach Modeling here. Establish only that representations are one way of equipping a delegate.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Means: how the agent observes and acts.</a:t>
            </a:r>
          </a:p>
          <a:p>
            <a:endParaRPr dirty="0"/>
          </a:p>
          <a:p>
            <a:r>
              <a:rPr dirty="0"/>
              <a:t>- Walk the list quickly; the inventory is not the point.</a:t>
            </a:r>
          </a:p>
          <a:p>
            <a:r>
              <a:rPr dirty="0"/>
              <a:t>- Tools and APIs provide capabilities. MCP standardizes connections so a connector built once serves any agent.</a:t>
            </a:r>
          </a:p>
          <a:p>
            <a:r>
              <a:rPr dirty="0"/>
              <a:t>- Skills and workflows package recurring ways of using those capabilities.</a:t>
            </a:r>
          </a:p>
          <a:p>
            <a:r>
              <a:rPr dirty="0"/>
              <a:t>- The footer foreshadows AUTHORIZE without teaching it: means expand what it can accomplish; authority decides what it may cause.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One contemporary implementation of the surfaces we just derived.</a:t>
            </a:r>
          </a:p>
          <a:p>
            <a:endParaRPr dirty="0"/>
          </a:p>
          <a:p>
            <a:r>
              <a:rPr dirty="0"/>
              <a:t>- This figure is our own conceptual drawing of the framework's shape, not a screenshot and not the conceptual model.</a:t>
            </a:r>
          </a:p>
          <a:p>
            <a:r>
              <a:rPr dirty="0"/>
              <a:t>- Context providers assemble what the reasoner sees; the before-invocation step fixes instructions, messages, and tools.</a:t>
            </a:r>
          </a:p>
          <a:p>
            <a:r>
              <a:rPr dirty="0"/>
              <a:t>- After the invocation, state is extracted and persisted, so the next invocation starts better informed.</a:t>
            </a:r>
          </a:p>
          <a:p>
            <a:r>
              <a:rPr dirty="0"/>
              <a:t>- The API will change. The engineering purposes are the point.</a:t>
            </a:r>
          </a:p>
          <a:p>
            <a:r>
              <a:rPr dirty="0"/>
              <a:t>- Link on the slide is the Microsoft Agent Framework overview page.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EQUIP synthesis: capability emerges from the whole system.</a:t>
            </a:r>
          </a:p>
          <a:p>
            <a:endParaRPr dirty="0"/>
          </a:p>
          <a:p>
            <a:r>
              <a:rPr dirty="0"/>
              <a:t>- Same nested picture as the EQUIP opener, now with representative examples filled in.</a:t>
            </a:r>
          </a:p>
          <a:p>
            <a:r>
              <a:rPr dirty="0"/>
              <a:t>- Reasoner supplies reasoning capability; the harness supplies context, state, tools, and continuation.</a:t>
            </a:r>
          </a:p>
          <a:p>
            <a:r>
              <a:rPr dirty="0"/>
              <a:t>- The environment is where most of a software organization already lives — agents did not create that layer.</a:t>
            </a:r>
          </a:p>
          <a:p>
            <a:r>
              <a:rPr dirty="0"/>
              <a:t>- This closes ONE of the four questions.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 minutes — </a:t>
            </a:r>
            <a:r>
              <a:rPr i="1" dirty="0"/>
              <a:t>Team activity: make your own project environment concrete.</a:t>
            </a:r>
          </a:p>
          <a:p>
            <a:endParaRPr dirty="0"/>
          </a:p>
          <a:p>
            <a:r>
              <a:rPr dirty="0"/>
              <a:t>- Students are making their project environment concrete, not redesigning the framework.</a:t>
            </a:r>
          </a:p>
          <a:p>
            <a:r>
              <a:rPr dirty="0"/>
              <a:t>- Circulate. Push teams from technology names toward engineering purposes.</a:t>
            </a:r>
          </a:p>
          <a:p>
            <a:r>
              <a:rPr dirty="0"/>
              <a:t>- Students MAY choose MCP; do not require it. Forcing MCP would make a technology mechanism into the learning objective.</a:t>
            </a:r>
          </a:p>
          <a:p>
            <a:r>
              <a:rPr dirty="0"/>
              <a:t>- One response per team via the form; the QR code is on the slide.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5 minutes — </a:t>
            </a:r>
            <a:r>
              <a:rPr i="1" dirty="0"/>
              <a:t>Stretch break, straight after the team activity.</a:t>
            </a:r>
          </a:p>
          <a:p>
            <a:endParaRPr dirty="0"/>
          </a:p>
          <a:p>
            <a:r>
              <a:rPr dirty="0"/>
              <a:t>- Let the room reset before the control half of the lecture.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 minute — </a:t>
            </a:r>
            <a:r>
              <a:rPr i="1" dirty="0"/>
              <a:t>Section break: AUTHORIZE. Reboots the room after the activity.</a:t>
            </a:r>
          </a:p>
          <a:p>
            <a:endParaRPr dirty="0"/>
          </a:p>
          <a:p>
            <a:r>
              <a:rPr dirty="0"/>
              <a:t>- Capability asks what it can do. Authority asks what we permit it to cause.</a:t>
            </a:r>
          </a:p>
          <a:p>
            <a:r>
              <a:rPr dirty="0"/>
              <a:t>- Say the contrast line aloud; the next slide is its demonstration, not a new topic.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AUTHORIZE hinge: same capability, five grants of authority.</a:t>
            </a:r>
          </a:p>
          <a:p>
            <a:endParaRPr dirty="0"/>
          </a:p>
          <a:p>
            <a:r>
              <a:rPr dirty="0"/>
              <a:t>- Walk the chain left to right: the agent never changes; the permitted consequence does.</a:t>
            </a:r>
          </a:p>
          <a:p>
            <a:r>
              <a:rPr dirty="0"/>
              <a:t>- Say it plainly: what an agent CAN do and what it MAY cause are separate engineering decisions.</a:t>
            </a:r>
          </a:p>
          <a:p>
            <a:r>
              <a:rPr dirty="0"/>
              <a:t>- Deliberately sparse. Let the progression do the work.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Authority is chosen against consequence, not against capability.</a:t>
            </a:r>
          </a:p>
          <a:p>
            <a:endParaRPr dirty="0"/>
          </a:p>
          <a:p>
            <a:r>
              <a:rPr dirty="0"/>
              <a:t>- Each step up the staircase admits a different class of consequence.</a:t>
            </a:r>
          </a:p>
          <a:p>
            <a:r>
              <a:rPr dirty="0"/>
              <a:t>- The question to leave on screen: what is the LEAST authority sufficient for the bounded work?</a:t>
            </a:r>
          </a:p>
          <a:p>
            <a:r>
              <a:rPr dirty="0"/>
              <a:t>- Say explicitly: a more capable agent does not automatically warrant more authority. This is where technological improvement and governance separate.</a:t>
            </a:r>
          </a:p>
          <a:p>
            <a:r>
              <a:rPr dirty="0"/>
              <a:t>- Do NOT teach guidance versus enforcement. That belongs to Alignment.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 minutes — </a:t>
            </a:r>
            <a:r>
              <a:rPr i="1" dirty="0"/>
              <a:t>Authority is chosen against the work, not against the agent.</a:t>
            </a:r>
          </a:p>
          <a:p>
            <a:endParaRPr dirty="0"/>
          </a:p>
          <a:p>
            <a:r>
              <a:rPr dirty="0"/>
              <a:t>- Two dimensions: BOUND asks which choices the agent may resolve; AUTHORIZE asks what consequences those choices may produce.</a:t>
            </a:r>
          </a:p>
          <a:p>
            <a:r>
              <a:rPr dirty="0"/>
              <a:t>- Broader work does not imply broader authority. A better agent does not imply broader authority.</a:t>
            </a:r>
          </a:p>
          <a:p>
            <a:r>
              <a:rPr dirty="0"/>
              <a:t>- Walk the production-defect example: the same desired outcome admits very different assignments of authority.</a:t>
            </a:r>
          </a:p>
          <a:p>
            <a:r>
              <a:rPr dirty="0"/>
              <a:t>- Leave the bottom question on screen: which consequences must actually be available for this delegation to succeed?</a:t>
            </a:r>
          </a:p>
          <a:p>
            <a:r>
              <a:rPr dirty="0"/>
              <a:t>- Do NOT reintroduce guidance versus enforcement, gates, or obligation grains. Those belong to Alignment.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VERIFY.</a:t>
            </a:r>
          </a:p>
          <a:p>
            <a:endParaRPr dirty="0"/>
          </a:p>
          <a:p>
            <a:r>
              <a:rPr dirty="0"/>
              <a:t>- Permission to perform the work does not tell us when the work is acceptable.</a:t>
            </a:r>
          </a:p>
          <a:p>
            <a:r>
              <a:rPr dirty="0"/>
              <a:t>- This is the same evidentiary reasoning we developed in Validation, now applied to delegated work.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VERIFY: decide what evidence closes the delegation.</a:t>
            </a:r>
          </a:p>
          <a:p>
            <a:endParaRPr dirty="0"/>
          </a:p>
          <a:p>
            <a:r>
              <a:rPr dirty="0"/>
              <a:t>- Three delegated tasks, three evidence shapes; the burden scales with the claim and its consequences.</a:t>
            </a:r>
          </a:p>
          <a:p>
            <a:r>
              <a:rPr dirty="0"/>
              <a:t>- The principle is the content: the burden follows the claim, not the identity of the producer.</a:t>
            </a:r>
          </a:p>
          <a:p>
            <a:r>
              <a:rPr dirty="0"/>
              <a:t>- Do NOT reprise the Validation lecture. This places evidence inside the delegation model.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A producer's confidence is a claim, not evidence.</a:t>
            </a:r>
          </a:p>
          <a:p>
            <a:endParaRPr dirty="0"/>
          </a:p>
          <a:p>
            <a:r>
              <a:rPr dirty="0"/>
              <a:t>- The chain: a producer creates the artifact; the environment obtains and checks evidence; acceptance is an engineering decision.</a:t>
            </a:r>
          </a:p>
          <a:p>
            <a:r>
              <a:rPr dirty="0"/>
              <a:t>- Deliberately says PERSON OR AGENT. This is durable, not a statement about current agent unreliability.</a:t>
            </a:r>
          </a:p>
          <a:p>
            <a:r>
              <a:rPr dirty="0"/>
              <a:t>- An agent asserting 'the tests pass' is a claim to verify — exactly like a human author's assertion.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the delegation system. All four elements, equally.</a:t>
            </a:r>
          </a:p>
          <a:p>
            <a:endParaRPr dirty="0"/>
          </a:p>
          <a:p>
            <a:r>
              <a:rPr dirty="0"/>
              <a:t>- No single element is emphasized here. The remaining slides are about how the four interact.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four decisions interact; the delegation system is the engineering object.</a:t>
            </a:r>
          </a:p>
          <a:p>
            <a:endParaRPr dirty="0"/>
          </a:p>
          <a:p>
            <a:r>
              <a:rPr dirty="0"/>
              <a:t>- Do not read these as four bullets. Point at the annotations and the box each one moves.</a:t>
            </a:r>
          </a:p>
          <a:p>
            <a:r>
              <a:rPr dirty="0"/>
              <a:t>- A stronger reasoner can support a broader BOUND. A better representation enlarges the tractable reasoning surface.</a:t>
            </a:r>
          </a:p>
          <a:p>
            <a:r>
              <a:rPr dirty="0"/>
              <a:t>- Narrower AUTHORIZE can buy safer autonomy. Stronger VERIFY can buy broader delegation.</a:t>
            </a:r>
          </a:p>
          <a:p>
            <a:r>
              <a:rPr dirty="0"/>
              <a:t>- The footer is the lecture's structural claim.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Establish the trajectory without making the framework contingent on 2026 limitations.</a:t>
            </a:r>
          </a:p>
          <a:p>
            <a:endParaRPr dirty="0"/>
          </a:p>
          <a:p>
            <a:r>
              <a:rPr dirty="0"/>
              <a:t>- Read the six capabilities as suppositions, not predictions.</a:t>
            </a:r>
          </a:p>
          <a:p>
            <a:r>
              <a:rPr dirty="0"/>
              <a:t>- Then reveal the bottom line and STOP. Do not answer it here.</a:t>
            </a:r>
          </a:p>
          <a:p>
            <a:r>
              <a:rPr dirty="0"/>
              <a:t>- The framework must not depend on today's weaknesses; that is why this slide is hypothetical.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6 minutes — </a:t>
            </a:r>
            <a:r>
              <a:rPr i="1" dirty="0"/>
              <a:t>Think, pair, share. Both questions stay open.</a:t>
            </a:r>
          </a:p>
          <a:p>
            <a:endParaRPr dirty="0"/>
          </a:p>
          <a:p>
            <a:r>
              <a:rPr dirty="0"/>
              <a:t>- Two minutes think, two minutes pair, two minutes share.</a:t>
            </a:r>
          </a:p>
          <a:p>
            <a:r>
              <a:rPr dirty="0"/>
              <a:t>- Prompt one is the direct question: which parts of engineering delegation change, and which remain?</a:t>
            </a:r>
          </a:p>
          <a:p>
            <a:r>
              <a:rPr dirty="0"/>
              <a:t>- Prompt two is deliberately provocative and is the segue to Modeling and Alignment.</a:t>
            </a:r>
          </a:p>
          <a:p>
            <a:r>
              <a:rPr dirty="0"/>
              <a:t>- DO NOT show answers. Discuss orally, then move on with the questions still open.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Hand off to the rest of Act II.</a:t>
            </a:r>
          </a:p>
          <a:p>
            <a:endParaRPr dirty="0"/>
          </a:p>
          <a:p>
            <a:r>
              <a:rPr dirty="0"/>
              <a:t>- Return of the four moves, nothing new.</a:t>
            </a:r>
          </a:p>
          <a:p>
            <a:r>
              <a:rPr dirty="0"/>
              <a:t>- Three forward questions name the next units: Modeling, Alignment, Failure-aware engineering.</a:t>
            </a:r>
          </a:p>
          <a:p>
            <a:r>
              <a:rPr dirty="0"/>
              <a:t>- Closing line: agents change who can perform realization; the rest of Act II asks how engineering retains informed control.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Logistics; do not let it interrupt the close.</a:t>
            </a:r>
          </a:p>
          <a:p>
            <a:endParaRPr dirty="0"/>
          </a:p>
          <a:p>
            <a:r>
              <a:rPr dirty="0"/>
              <a:t>- Phase 2 honest individual status update. The form closes at 4 PM today.</a:t>
            </a:r>
          </a:p>
          <a:p>
            <a:r>
              <a:rPr dirty="0"/>
              <a:t>- QR code and URL are both on the slide; either works.</a:t>
            </a:r>
          </a:p>
          <a:p>
            <a:r>
              <a:rPr dirty="0"/>
              <a:t>- This is an INDIVIDUAL submission, distinct from the team response collected during the in-class activity.</a:t>
            </a: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Engineering with Agents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How should engineers delegate work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to capable but fallible machines?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THE MODEL THIS LECTURE BUILDS</a:t>
            </a:r>
          </a:p>
        </p:txBody>
      </p:sp>
      <p:sp>
        <p:nvSpPr>
          <p:cNvPr id="102" name="T0"/>
          <p:cNvSpPr/>
          <p:nvPr/>
        </p:nvSpPr>
        <p:spPr>
          <a:xfrm>
            <a:off x="717804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20" name="TA0"/>
          <p:cNvCxnSpPr/>
          <p:nvPr/>
        </p:nvCxnSpPr>
        <p:spPr>
          <a:xfrm>
            <a:off x="2432304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T1"/>
          <p:cNvSpPr/>
          <p:nvPr/>
        </p:nvSpPr>
        <p:spPr>
          <a:xfrm>
            <a:off x="2720340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21" name="TA1"/>
          <p:cNvCxnSpPr/>
          <p:nvPr/>
        </p:nvCxnSpPr>
        <p:spPr>
          <a:xfrm>
            <a:off x="4434840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T2"/>
          <p:cNvSpPr/>
          <p:nvPr/>
        </p:nvSpPr>
        <p:spPr>
          <a:xfrm>
            <a:off x="4722876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22" name="TA2"/>
          <p:cNvCxnSpPr/>
          <p:nvPr/>
        </p:nvCxnSpPr>
        <p:spPr>
          <a:xfrm>
            <a:off x="6437376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T3"/>
          <p:cNvSpPr/>
          <p:nvPr/>
        </p:nvSpPr>
        <p:spPr>
          <a:xfrm>
            <a:off x="6725412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 asked how engineers decide what to build and how to justify it.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II begins with machines that can do the building. Today: how to delegate.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90" name="SectionLabel"/>
          <p:cNvSpPr txBox="1"/>
          <p:nvPr/>
        </p:nvSpPr>
        <p:spPr>
          <a:xfrm>
            <a:off x="685800" y="187452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ENGINEERING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377440"/>
            <a:ext cx="7772400" cy="13716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Engineers may delegate realization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without delegating responsibility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for the resulting system.</a:t>
            </a:r>
          </a:p>
        </p:txBody>
      </p:sp>
      <p:sp>
        <p:nvSpPr>
          <p:cNvPr id="91" name="Rule"/>
          <p:cNvSpPr/>
          <p:nvPr/>
        </p:nvSpPr>
        <p:spPr>
          <a:xfrm>
            <a:off x="3429000" y="4023360"/>
            <a:ext cx="2286000" cy="51206"/>
          </a:xfrm>
          <a:prstGeom prst="rect">
            <a:avLst/>
          </a:prstGeom>
          <a:solidFill>
            <a:srgbClr val="8E6F3E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92" name="Transition"/>
          <p:cNvSpPr txBox="1"/>
          <p:nvPr/>
        </p:nvSpPr>
        <p:spPr>
          <a:xfrm>
            <a:off x="274320" y="443484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So delegation itself must be engineered.</a:t>
            </a:r>
          </a:p>
        </p:txBody>
      </p:sp>
      <p:sp>
        <p:nvSpPr>
          <p:cNvPr id="93" name="Chain"/>
          <p:cNvSpPr txBox="1"/>
          <p:nvPr/>
        </p:nvSpPr>
        <p:spPr>
          <a:xfrm>
            <a:off x="274320" y="50749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BOUND → EQUIP → AUTHORIZE → VERIFY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did not begin with agents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NURSING</a:t>
            </a:r>
          </a:p>
        </p:txBody>
      </p:sp>
      <p:sp>
        <p:nvSpPr>
          <p:cNvPr id="110" name="A0"/>
          <p:cNvSpPr/>
          <p:nvPr/>
        </p:nvSpPr>
        <p:spPr>
          <a:xfrm>
            <a:off x="274320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professional</a:t>
            </a:r>
          </a:p>
        </p:txBody>
      </p:sp>
      <p:cxnSp>
        <p:nvCxnSpPr>
          <p:cNvPr id="120" name="AR0"/>
          <p:cNvCxnSpPr/>
          <p:nvPr/>
        </p:nvCxnSpPr>
        <p:spPr>
          <a:xfrm>
            <a:off x="1613916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B0"/>
          <p:cNvSpPr/>
          <p:nvPr/>
        </p:nvSpPr>
        <p:spPr>
          <a:xfrm>
            <a:off x="274320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delegated clinical work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FACTORY</a:t>
            </a:r>
          </a:p>
        </p:txBody>
      </p:sp>
      <p:sp>
        <p:nvSpPr>
          <p:cNvPr id="111" name="A1"/>
          <p:cNvSpPr/>
          <p:nvPr/>
        </p:nvSpPr>
        <p:spPr>
          <a:xfrm>
            <a:off x="3227832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engineer</a:t>
            </a:r>
          </a:p>
        </p:txBody>
      </p:sp>
      <p:cxnSp>
        <p:nvCxnSpPr>
          <p:cNvPr id="121" name="AR1"/>
          <p:cNvCxnSpPr/>
          <p:nvPr/>
        </p:nvCxnSpPr>
        <p:spPr>
          <a:xfrm>
            <a:off x="4567428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1" name="B1"/>
          <p:cNvSpPr/>
          <p:nvPr/>
        </p:nvSpPr>
        <p:spPr>
          <a:xfrm>
            <a:off x="3227832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machinist + machinery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SOFTWARE</a:t>
            </a:r>
          </a:p>
        </p:txBody>
      </p:sp>
      <p:sp>
        <p:nvSpPr>
          <p:cNvPr id="112" name="A2"/>
          <p:cNvSpPr/>
          <p:nvPr/>
        </p:nvSpPr>
        <p:spPr>
          <a:xfrm>
            <a:off x="6181344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engineer</a:t>
            </a:r>
          </a:p>
        </p:txBody>
      </p:sp>
      <p:cxnSp>
        <p:nvCxnSpPr>
          <p:cNvPr id="122" name="AR2"/>
          <p:cNvCxnSpPr/>
          <p:nvPr/>
        </p:nvCxnSpPr>
        <p:spPr>
          <a:xfrm>
            <a:off x="7520940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2" name="B2"/>
          <p:cNvSpPr/>
          <p:nvPr/>
        </p:nvSpPr>
        <p:spPr>
          <a:xfrm>
            <a:off x="6181344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colleague + deterministic automation + agent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Nursing and manufacturing engineered delegation long before generative AI.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Different recipients. The same engineering problem.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recipient changes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9" name="HL"/>
          <p:cNvSpPr/>
          <p:nvPr/>
        </p:nvSpPr>
        <p:spPr>
          <a:xfrm>
            <a:off x="274320" y="1051560"/>
            <a:ext cx="1920240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30428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PERSON</a:t>
            </a:r>
          </a:p>
        </p:txBody>
      </p:sp>
      <p:sp>
        <p:nvSpPr>
          <p:cNvPr id="101" name="H1"/>
          <p:cNvSpPr/>
          <p:nvPr/>
        </p:nvSpPr>
        <p:spPr>
          <a:xfrm>
            <a:off x="449884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DETERMINISTIC AUTOMATION</a:t>
            </a:r>
          </a:p>
        </p:txBody>
      </p:sp>
      <p:sp>
        <p:nvSpPr>
          <p:cNvPr id="102" name="H2"/>
          <p:cNvSpPr/>
          <p:nvPr/>
        </p:nvSpPr>
        <p:spPr>
          <a:xfrm>
            <a:off x="669340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PROBABILISTIC AUTOMATION</a:t>
            </a:r>
          </a:p>
        </p:txBody>
      </p:sp>
      <p:sp>
        <p:nvSpPr>
          <p:cNvPr id="200" name="L0"/>
          <p:cNvSpPr/>
          <p:nvPr/>
        </p:nvSpPr>
        <p:spPr>
          <a:xfrm>
            <a:off x="274320" y="1673352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adapts to novelty</a:t>
            </a:r>
          </a:p>
        </p:txBody>
      </p:sp>
      <p:sp>
        <p:nvSpPr>
          <p:cNvPr id="201" name="C00"/>
          <p:cNvSpPr/>
          <p:nvPr/>
        </p:nvSpPr>
        <p:spPr>
          <a:xfrm>
            <a:off x="230428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judgment</a:t>
            </a:r>
          </a:p>
        </p:txBody>
      </p:sp>
      <p:sp>
        <p:nvSpPr>
          <p:cNvPr id="202" name="C01"/>
          <p:cNvSpPr/>
          <p:nvPr/>
        </p:nvSpPr>
        <p:spPr>
          <a:xfrm>
            <a:off x="449884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 independent judgment</a:t>
            </a:r>
          </a:p>
        </p:txBody>
      </p:sp>
      <p:sp>
        <p:nvSpPr>
          <p:cNvPr id="203" name="C02"/>
          <p:cNvSpPr/>
          <p:nvPr/>
        </p:nvSpPr>
        <p:spPr>
          <a:xfrm>
            <a:off x="669340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reasons, but may err</a:t>
            </a:r>
          </a:p>
        </p:txBody>
      </p:sp>
      <p:sp>
        <p:nvSpPr>
          <p:cNvPr id="204" name="L1"/>
          <p:cNvSpPr/>
          <p:nvPr/>
        </p:nvSpPr>
        <p:spPr>
          <a:xfrm>
            <a:off x="274320" y="2423160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what it needs</a:t>
            </a:r>
          </a:p>
        </p:txBody>
      </p:sp>
      <p:sp>
        <p:nvSpPr>
          <p:cNvPr id="205" name="C10"/>
          <p:cNvSpPr/>
          <p:nvPr/>
        </p:nvSpPr>
        <p:spPr>
          <a:xfrm>
            <a:off x="230428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context + instruction</a:t>
            </a:r>
          </a:p>
        </p:txBody>
      </p:sp>
      <p:sp>
        <p:nvSpPr>
          <p:cNvPr id="206" name="C11"/>
          <p:cNvSpPr/>
          <p:nvPr/>
        </p:nvSpPr>
        <p:spPr>
          <a:xfrm>
            <a:off x="449884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encoded specification</a:t>
            </a:r>
          </a:p>
        </p:txBody>
      </p:sp>
      <p:sp>
        <p:nvSpPr>
          <p:cNvPr id="207" name="C12"/>
          <p:cNvSpPr/>
          <p:nvPr/>
        </p:nvSpPr>
        <p:spPr>
          <a:xfrm>
            <a:off x="669340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context + environment</a:t>
            </a:r>
          </a:p>
        </p:txBody>
      </p:sp>
      <p:sp>
        <p:nvSpPr>
          <p:cNvPr id="208" name="L2"/>
          <p:cNvSpPr/>
          <p:nvPr/>
        </p:nvSpPr>
        <p:spPr>
          <a:xfrm>
            <a:off x="274320" y="3172968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persistence</a:t>
            </a:r>
          </a:p>
        </p:txBody>
      </p:sp>
      <p:sp>
        <p:nvSpPr>
          <p:cNvPr id="209" name="C20"/>
          <p:cNvSpPr/>
          <p:nvPr/>
        </p:nvSpPr>
        <p:spPr>
          <a:xfrm>
            <a:off x="230428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learns</a:t>
            </a:r>
          </a:p>
        </p:txBody>
      </p:sp>
      <p:sp>
        <p:nvSpPr>
          <p:cNvPr id="210" name="C21"/>
          <p:cNvSpPr/>
          <p:nvPr/>
        </p:nvSpPr>
        <p:spPr>
          <a:xfrm>
            <a:off x="449884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behavior encoded durably</a:t>
            </a:r>
          </a:p>
        </p:txBody>
      </p:sp>
      <p:sp>
        <p:nvSpPr>
          <p:cNvPr id="211" name="C22"/>
          <p:cNvSpPr/>
          <p:nvPr/>
        </p:nvSpPr>
        <p:spPr>
          <a:xfrm>
            <a:off x="669340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engineered state +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external knowledge</a:t>
            </a:r>
          </a:p>
        </p:txBody>
      </p:sp>
      <p:sp>
        <p:nvSpPr>
          <p:cNvPr id="212" name="L3"/>
          <p:cNvSpPr/>
          <p:nvPr/>
        </p:nvSpPr>
        <p:spPr>
          <a:xfrm>
            <a:off x="274320" y="3922776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accountable</a:t>
            </a:r>
          </a:p>
        </p:txBody>
      </p:sp>
      <p:sp>
        <p:nvSpPr>
          <p:cNvPr id="213" name="C30"/>
          <p:cNvSpPr/>
          <p:nvPr/>
        </p:nvSpPr>
        <p:spPr>
          <a:xfrm>
            <a:off x="230428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yes</a:t>
            </a:r>
          </a:p>
        </p:txBody>
      </p:sp>
      <p:sp>
        <p:nvSpPr>
          <p:cNvPr id="214" name="C31"/>
          <p:cNvSpPr/>
          <p:nvPr/>
        </p:nvSpPr>
        <p:spPr>
          <a:xfrm>
            <a:off x="449884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</a:t>
            </a:r>
          </a:p>
        </p:txBody>
      </p:sp>
      <p:sp>
        <p:nvSpPr>
          <p:cNvPr id="215" name="C32"/>
          <p:cNvSpPr/>
          <p:nvPr/>
        </p:nvSpPr>
        <p:spPr>
          <a:xfrm>
            <a:off x="669340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</a:t>
            </a:r>
          </a:p>
        </p:txBody>
      </p:sp>
      <p:sp>
        <p:nvSpPr>
          <p:cNvPr id="216" name="L4"/>
          <p:cNvSpPr/>
          <p:nvPr/>
        </p:nvSpPr>
        <p:spPr>
          <a:xfrm>
            <a:off x="274320" y="4672584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marginal cost</a:t>
            </a:r>
          </a:p>
        </p:txBody>
      </p:sp>
      <p:sp>
        <p:nvSpPr>
          <p:cNvPr id="217" name="C40"/>
          <p:cNvSpPr/>
          <p:nvPr/>
        </p:nvSpPr>
        <p:spPr>
          <a:xfrm>
            <a:off x="230428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high</a:t>
            </a:r>
          </a:p>
        </p:txBody>
      </p:sp>
      <p:sp>
        <p:nvSpPr>
          <p:cNvPr id="218" name="C41"/>
          <p:cNvSpPr/>
          <p:nvPr/>
        </p:nvSpPr>
        <p:spPr>
          <a:xfrm>
            <a:off x="449884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very low</a:t>
            </a:r>
          </a:p>
        </p:txBody>
      </p:sp>
      <p:sp>
        <p:nvSpPr>
          <p:cNvPr id="219" name="C42"/>
          <p:cNvSpPr/>
          <p:nvPr/>
        </p:nvSpPr>
        <p:spPr>
          <a:xfrm>
            <a:off x="669340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low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delegation problem does not change. The recipient does.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delegation problem remains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1143000" y="123444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10" name="Q0"/>
          <p:cNvSpPr txBox="1"/>
          <p:nvPr/>
        </p:nvSpPr>
        <p:spPr>
          <a:xfrm>
            <a:off x="3520440" y="137160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work are we delegating?</a:t>
            </a:r>
          </a:p>
        </p:txBody>
      </p:sp>
      <p:sp>
        <p:nvSpPr>
          <p:cNvPr id="101" name="M1"/>
          <p:cNvSpPr/>
          <p:nvPr/>
        </p:nvSpPr>
        <p:spPr>
          <a:xfrm>
            <a:off x="1143000" y="210312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11" name="Q1"/>
          <p:cNvSpPr txBox="1"/>
          <p:nvPr/>
        </p:nvSpPr>
        <p:spPr>
          <a:xfrm>
            <a:off x="3520440" y="224028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does the recipient need to succeed?</a:t>
            </a:r>
          </a:p>
        </p:txBody>
      </p:sp>
      <p:sp>
        <p:nvSpPr>
          <p:cNvPr id="102" name="M2"/>
          <p:cNvSpPr/>
          <p:nvPr/>
        </p:nvSpPr>
        <p:spPr>
          <a:xfrm>
            <a:off x="1143000" y="297180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12" name="Q2"/>
          <p:cNvSpPr txBox="1"/>
          <p:nvPr/>
        </p:nvSpPr>
        <p:spPr>
          <a:xfrm>
            <a:off x="3520440" y="310896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consequences may it produce?</a:t>
            </a:r>
          </a:p>
        </p:txBody>
      </p:sp>
      <p:sp>
        <p:nvSpPr>
          <p:cNvPr id="103" name="M3"/>
          <p:cNvSpPr/>
          <p:nvPr/>
        </p:nvSpPr>
        <p:spPr>
          <a:xfrm>
            <a:off x="1143000" y="3840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13" name="Q3"/>
          <p:cNvSpPr txBox="1"/>
          <p:nvPr/>
        </p:nvSpPr>
        <p:spPr>
          <a:xfrm>
            <a:off x="3520440" y="397764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evidence closes the work?</a:t>
            </a:r>
          </a:p>
        </p:txBody>
      </p:sp>
      <p:sp>
        <p:nvSpPr>
          <p:cNvPr id="120" name="Sub"/>
          <p:cNvSpPr txBox="1"/>
          <p:nvPr/>
        </p:nvSpPr>
        <p:spPr>
          <a:xfrm>
            <a:off x="274320" y="470916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same four questions, whoever the recipient is.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Four engineering decisions, not four rigid stages.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BOUND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work should the agent perform?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BOUND: design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51560"/>
            <a:ext cx="2679192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TOO BROAD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51560"/>
            <a:ext cx="2679192" cy="5029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COHERENT WORK UNIT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51560"/>
            <a:ext cx="2679192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TOO FRAGMENTED</a:t>
            </a:r>
          </a:p>
        </p:txBody>
      </p:sp>
      <p:sp>
        <p:nvSpPr>
          <p:cNvPr id="110" name="Big"/>
          <p:cNvSpPr/>
          <p:nvPr/>
        </p:nvSpPr>
        <p:spPr>
          <a:xfrm>
            <a:off x="411480" y="1691640"/>
            <a:ext cx="2404872" cy="2331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ONE LARGE TASK</a:t>
            </a:r>
          </a:p>
        </p:txBody>
      </p:sp>
      <p:sp>
        <p:nvSpPr>
          <p:cNvPr id="111" name="Unit"/>
          <p:cNvSpPr/>
          <p:nvPr/>
        </p:nvSpPr>
        <p:spPr>
          <a:xfrm>
            <a:off x="3364992" y="1691640"/>
            <a:ext cx="2404872" cy="1463040"/>
          </a:xfrm>
          <a:prstGeom prst="rect">
            <a:avLst/>
          </a:prstGeom>
          <a:solidFill>
            <a:srgbClr val="F5F1E8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ONE WORK UNIT</a:t>
            </a:r>
          </a:p>
        </p:txBody>
      </p:sp>
      <p:sp>
        <p:nvSpPr>
          <p:cNvPr id="120" name="F00"/>
          <p:cNvSpPr/>
          <p:nvPr/>
        </p:nvSpPr>
        <p:spPr>
          <a:xfrm>
            <a:off x="6318504" y="1691640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1" name="F01"/>
          <p:cNvSpPr/>
          <p:nvPr/>
        </p:nvSpPr>
        <p:spPr>
          <a:xfrm>
            <a:off x="7571232" y="1691640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2" name="F10"/>
          <p:cNvSpPr/>
          <p:nvPr/>
        </p:nvSpPr>
        <p:spPr>
          <a:xfrm>
            <a:off x="6318504" y="2496312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3" name="F11"/>
          <p:cNvSpPr/>
          <p:nvPr/>
        </p:nvSpPr>
        <p:spPr>
          <a:xfrm>
            <a:off x="7571232" y="2496312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4" name="F20"/>
          <p:cNvSpPr/>
          <p:nvPr/>
        </p:nvSpPr>
        <p:spPr>
          <a:xfrm>
            <a:off x="6318504" y="3300984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5" name="F21"/>
          <p:cNvSpPr/>
          <p:nvPr/>
        </p:nvSpPr>
        <p:spPr>
          <a:xfrm>
            <a:off x="7571232" y="3300984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40" name="Cap0"/>
          <p:cNvSpPr txBox="1"/>
          <p:nvPr/>
        </p:nvSpPr>
        <p:spPr>
          <a:xfrm>
            <a:off x="274320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too much relevant state must be considered together</a:t>
            </a:r>
          </a:p>
        </p:txBody>
      </p:sp>
      <p:sp>
        <p:nvSpPr>
          <p:cNvPr id="141" name="Cap1"/>
          <p:cNvSpPr txBox="1"/>
          <p:nvPr/>
        </p:nvSpPr>
        <p:spPr>
          <a:xfrm>
            <a:off x="3227832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relevant state holds together inside one boundary</a:t>
            </a:r>
          </a:p>
        </p:txBody>
      </p:sp>
      <p:sp>
        <p:nvSpPr>
          <p:cNvPr id="142" name="Cap2"/>
          <p:cNvSpPr txBox="1"/>
          <p:nvPr/>
        </p:nvSpPr>
        <p:spPr>
          <a:xfrm>
            <a:off x="6181344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important context continually crosses boundaries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Change the task to change the reasoning problem.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delegation boundary is a reasoning boundary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Q"/>
          <p:cNvSpPr txBox="1"/>
          <p:nvPr/>
        </p:nvSpPr>
        <p:spPr>
          <a:xfrm>
            <a:off x="274320" y="96012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What must the delegate reason about together?</a:t>
            </a:r>
          </a:p>
        </p:txBody>
      </p:sp>
      <p:sp>
        <p:nvSpPr>
          <p:cNvPr id="101" name="Bnd"/>
          <p:cNvSpPr/>
          <p:nvPr/>
        </p:nvSpPr>
        <p:spPr>
          <a:xfrm>
            <a:off x="1097280" y="1691640"/>
            <a:ext cx="6949440" cy="2103120"/>
          </a:xfrm>
          <a:prstGeom prst="roundRect">
            <a:avLst/>
          </a:prstGeom>
          <a:noFill/>
          <a:ln w="28575">
            <a:solidFill>
              <a:srgbClr val="8E6F3E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T0"/>
          <p:cNvSpPr/>
          <p:nvPr/>
        </p:nvSpPr>
        <p:spPr>
          <a:xfrm>
            <a:off x="137160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111" name="T1"/>
          <p:cNvSpPr/>
          <p:nvPr/>
        </p:nvSpPr>
        <p:spPr>
          <a:xfrm>
            <a:off x="356616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relevant architecture</a:t>
            </a:r>
          </a:p>
        </p:txBody>
      </p:sp>
      <p:sp>
        <p:nvSpPr>
          <p:cNvPr id="112" name="T2"/>
          <p:cNvSpPr/>
          <p:nvPr/>
        </p:nvSpPr>
        <p:spPr>
          <a:xfrm>
            <a:off x="576072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implementation</a:t>
            </a:r>
          </a:p>
        </p:txBody>
      </p:sp>
      <p:sp>
        <p:nvSpPr>
          <p:cNvPr id="120" name="U0"/>
          <p:cNvSpPr/>
          <p:nvPr/>
        </p:nvSpPr>
        <p:spPr>
          <a:xfrm>
            <a:off x="2468880" y="2889504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constraints</a:t>
            </a:r>
          </a:p>
        </p:txBody>
      </p:sp>
      <p:sp>
        <p:nvSpPr>
          <p:cNvPr id="121" name="U1"/>
          <p:cNvSpPr/>
          <p:nvPr/>
        </p:nvSpPr>
        <p:spPr>
          <a:xfrm>
            <a:off x="4663440" y="2889504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observations</a:t>
            </a:r>
          </a:p>
        </p:txBody>
      </p:sp>
      <p:sp>
        <p:nvSpPr>
          <p:cNvPr id="129" name="LevLbl"/>
          <p:cNvSpPr txBox="1"/>
          <p:nvPr/>
        </p:nvSpPr>
        <p:spPr>
          <a:xfrm>
            <a:off x="274320" y="4041648"/>
            <a:ext cx="8595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LEVERS THAT MOVE THE BOUNDARY</a:t>
            </a:r>
          </a:p>
        </p:txBody>
      </p:sp>
      <p:sp>
        <p:nvSpPr>
          <p:cNvPr id="130" name="Levers"/>
          <p:cNvSpPr txBox="1"/>
          <p:nvPr/>
        </p:nvSpPr>
        <p:spPr>
          <a:xfrm>
            <a:off x="274320" y="4407408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scope · decomposition · interfaces · intermediate artifacts · checkpoints</a:t>
            </a:r>
          </a:p>
        </p:txBody>
      </p:sp>
      <p:sp>
        <p:nvSpPr>
          <p:cNvPr id="131" name="Note"/>
          <p:cNvSpPr txBox="1"/>
          <p:nvPr/>
        </p:nvSpPr>
        <p:spPr>
          <a:xfrm>
            <a:off x="274320" y="5010912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Everything left outside must be reconstructed, re-derived, or done without.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Where the boundary sits determines what must be reconstructed inside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Reasoning has a horizon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078992"/>
            <a:ext cx="8138160" cy="1051560"/>
          </a:xfrm>
          <a:prstGeom prst="rect">
            <a:avLst/>
          </a:prstGeom>
          <a:solidFill>
            <a:srgbClr val="F5F1E8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REASONING HORIZON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The amount of relevant state a reasoner can effectively bring to bear on a task.</a:t>
            </a:r>
          </a:p>
        </p:txBody>
      </p:sp>
      <p:sp>
        <p:nvSpPr>
          <p:cNvPr id="101" name="Lbl"/>
          <p:cNvSpPr txBox="1"/>
          <p:nvPr/>
        </p:nvSpPr>
        <p:spPr>
          <a:xfrm>
            <a:off x="292608" y="2395728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RELEVANT STATE FOR THE WORK</a:t>
            </a:r>
          </a:p>
        </p:txBody>
      </p:sp>
      <p:sp>
        <p:nvSpPr>
          <p:cNvPr id="110" name="I0"/>
          <p:cNvSpPr/>
          <p:nvPr/>
        </p:nvSpPr>
        <p:spPr>
          <a:xfrm>
            <a:off x="292608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111" name="I1"/>
          <p:cNvSpPr/>
          <p:nvPr/>
        </p:nvSpPr>
        <p:spPr>
          <a:xfrm>
            <a:off x="1728216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architecture</a:t>
            </a:r>
          </a:p>
        </p:txBody>
      </p:sp>
      <p:sp>
        <p:nvSpPr>
          <p:cNvPr id="112" name="I2"/>
          <p:cNvSpPr/>
          <p:nvPr/>
        </p:nvSpPr>
        <p:spPr>
          <a:xfrm>
            <a:off x="3163824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code</a:t>
            </a:r>
          </a:p>
        </p:txBody>
      </p:sp>
      <p:sp>
        <p:nvSpPr>
          <p:cNvPr id="113" name="I3"/>
          <p:cNvSpPr/>
          <p:nvPr/>
        </p:nvSpPr>
        <p:spPr>
          <a:xfrm>
            <a:off x="4599432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constraints</a:t>
            </a:r>
          </a:p>
        </p:txBody>
      </p:sp>
      <p:sp>
        <p:nvSpPr>
          <p:cNvPr id="120" name="O0"/>
          <p:cNvSpPr/>
          <p:nvPr/>
        </p:nvSpPr>
        <p:spPr>
          <a:xfrm>
            <a:off x="6163056" y="2816352"/>
            <a:ext cx="1307592" cy="777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observations</a:t>
            </a:r>
          </a:p>
        </p:txBody>
      </p:sp>
      <p:sp>
        <p:nvSpPr>
          <p:cNvPr id="121" name="O1"/>
          <p:cNvSpPr/>
          <p:nvPr/>
        </p:nvSpPr>
        <p:spPr>
          <a:xfrm>
            <a:off x="7534656" y="2816352"/>
            <a:ext cx="1307592" cy="777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prior decisions</a:t>
            </a:r>
          </a:p>
        </p:txBody>
      </p:sp>
      <p:cxnSp>
        <p:nvCxnSpPr>
          <p:cNvPr id="130" name="Horizon"/>
          <p:cNvCxnSpPr/>
          <p:nvPr/>
        </p:nvCxnSpPr>
        <p:spPr>
          <a:xfrm>
            <a:off x="6053328" y="2596896"/>
            <a:ext cx="0" cy="1216152"/>
          </a:xfrm>
          <a:prstGeom prst="straightConnector1">
            <a:avLst/>
          </a:prstGeom>
          <a:ln w="22225">
            <a:solidFill>
              <a:srgbClr val="8E6F3E"/>
            </a:solidFill>
            <a:prstDash val="dash"/>
          </a:ln>
        </p:spPr>
      </p:cxnSp>
      <p:sp>
        <p:nvSpPr>
          <p:cNvPr id="131" name="In"/>
          <p:cNvSpPr txBox="1"/>
          <p:nvPr/>
        </p:nvSpPr>
        <p:spPr>
          <a:xfrm>
            <a:off x="292608" y="3767328"/>
            <a:ext cx="56509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within the horizon</a:t>
            </a:r>
          </a:p>
        </p:txBody>
      </p:sp>
      <p:sp>
        <p:nvSpPr>
          <p:cNvPr id="132" name="Out"/>
          <p:cNvSpPr txBox="1"/>
          <p:nvPr/>
        </p:nvSpPr>
        <p:spPr>
          <a:xfrm>
            <a:off x="6163056" y="3767328"/>
            <a:ext cx="2679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beyond it: rediscovery and churn</a:t>
            </a:r>
          </a:p>
        </p:txBody>
      </p:sp>
      <p:sp>
        <p:nvSpPr>
          <p:cNvPr id="140" name="Dep"/>
          <p:cNvSpPr/>
          <p:nvPr/>
        </p:nvSpPr>
        <p:spPr>
          <a:xfrm>
            <a:off x="502920" y="4279392"/>
            <a:ext cx="81381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The horizon moves with the reasoner, the harness,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the representations, the repository, and the task.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Context-window length is one present limit — not the definition.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Work that does not fit: change the boundary, or what it reasons with.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leaves degrees of freedom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Lbl"/>
          <p:cNvSpPr txBox="1"/>
          <p:nvPr/>
        </p:nvSpPr>
        <p:spPr>
          <a:xfrm>
            <a:off x="274320" y="868680"/>
            <a:ext cx="8595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EARLIER ENGINEERING DECISIONS</a:t>
            </a:r>
          </a:p>
        </p:txBody>
      </p:sp>
      <p:sp>
        <p:nvSpPr>
          <p:cNvPr id="110" name="D0"/>
          <p:cNvSpPr/>
          <p:nvPr/>
        </p:nvSpPr>
        <p:spPr>
          <a:xfrm>
            <a:off x="955548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Specification</a:t>
            </a:r>
          </a:p>
        </p:txBody>
      </p:sp>
      <p:sp>
        <p:nvSpPr>
          <p:cNvPr id="111" name="D1"/>
          <p:cNvSpPr/>
          <p:nvPr/>
        </p:nvSpPr>
        <p:spPr>
          <a:xfrm>
            <a:off x="3497580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Architecture</a:t>
            </a:r>
          </a:p>
        </p:txBody>
      </p:sp>
      <p:sp>
        <p:nvSpPr>
          <p:cNvPr id="112" name="D2"/>
          <p:cNvSpPr/>
          <p:nvPr/>
        </p:nvSpPr>
        <p:spPr>
          <a:xfrm>
            <a:off x="6039612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Design</a:t>
            </a:r>
          </a:p>
        </p:txBody>
      </p:sp>
      <p:cxnSp>
        <p:nvCxnSpPr>
          <p:cNvPr id="115" name="DA0"/>
          <p:cNvCxnSpPr/>
          <p:nvPr/>
        </p:nvCxnSpPr>
        <p:spPr>
          <a:xfrm>
            <a:off x="3163824" y="148132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6" name="DA1"/>
          <p:cNvCxnSpPr/>
          <p:nvPr/>
        </p:nvCxnSpPr>
        <p:spPr>
          <a:xfrm>
            <a:off x="5705856" y="148132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7" name="DT0"/>
          <p:cNvCxnSpPr/>
          <p:nvPr/>
        </p:nvCxnSpPr>
        <p:spPr>
          <a:xfrm>
            <a:off x="2032254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8" name="DT1"/>
          <p:cNvCxnSpPr/>
          <p:nvPr/>
        </p:nvCxnSpPr>
        <p:spPr>
          <a:xfrm>
            <a:off x="4574286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9" name="DT2"/>
          <p:cNvCxnSpPr/>
          <p:nvPr/>
        </p:nvCxnSpPr>
        <p:spPr>
          <a:xfrm>
            <a:off x="7116318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60" name="Bar"/>
          <p:cNvCxnSpPr/>
          <p:nvPr/>
        </p:nvCxnSpPr>
        <p:spPr>
          <a:xfrm>
            <a:off x="2032254" y="1883664"/>
            <a:ext cx="5079492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30" name="SA0"/>
          <p:cNvCxnSpPr/>
          <p:nvPr/>
        </p:nvCxnSpPr>
        <p:spPr>
          <a:xfrm>
            <a:off x="4572000" y="1883664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0" name="S0"/>
          <p:cNvSpPr/>
          <p:nvPr/>
        </p:nvSpPr>
        <p:spPr>
          <a:xfrm>
            <a:off x="2331720" y="2212848"/>
            <a:ext cx="44805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DELEGATED WORK</a:t>
            </a:r>
          </a:p>
        </p:txBody>
      </p:sp>
      <p:cxnSp>
        <p:nvCxnSpPr>
          <p:cNvPr id="131" name="SA1"/>
          <p:cNvCxnSpPr/>
          <p:nvPr/>
        </p:nvCxnSpPr>
        <p:spPr>
          <a:xfrm>
            <a:off x="4572000" y="2907792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1" name="S1"/>
          <p:cNvSpPr/>
          <p:nvPr/>
        </p:nvSpPr>
        <p:spPr>
          <a:xfrm>
            <a:off x="2331720" y="3236976"/>
            <a:ext cx="4480560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REMAINING DEGREES OF FREEDOM</a:t>
            </a:r>
          </a:p>
        </p:txBody>
      </p:sp>
      <p:cxnSp>
        <p:nvCxnSpPr>
          <p:cNvPr id="132" name="SA2"/>
          <p:cNvCxnSpPr/>
          <p:nvPr/>
        </p:nvCxnSpPr>
        <p:spPr>
          <a:xfrm>
            <a:off x="4572000" y="3931920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2" name="S2"/>
          <p:cNvSpPr/>
          <p:nvPr/>
        </p:nvSpPr>
        <p:spPr>
          <a:xfrm>
            <a:off x="2331720" y="4261104"/>
            <a:ext cx="4480560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RESOLVED BY THE AGENT</a:t>
            </a:r>
          </a:p>
        </p:txBody>
      </p:sp>
      <p:sp>
        <p:nvSpPr>
          <p:cNvPr id="150" name="More"/>
          <p:cNvSpPr txBox="1"/>
          <p:nvPr/>
        </p:nvSpPr>
        <p:spPr>
          <a:xfrm>
            <a:off x="274320" y="502920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more capable delegate may be given more degrees of freedom.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Delegation decides which remaining choices another reasoner resolves.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EQUIP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does the agent need to succeed?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EQUIP: capability lives in a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4343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887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27632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supplies the world in which engineering occurs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212848"/>
            <a:ext cx="4937760" cy="2651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40864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6148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turns reasoning into sustained action</a:t>
            </a:r>
          </a:p>
        </p:txBody>
      </p:sp>
      <p:sp>
        <p:nvSpPr>
          <p:cNvPr id="106" name="Mod"/>
          <p:cNvSpPr/>
          <p:nvPr/>
        </p:nvSpPr>
        <p:spPr>
          <a:xfrm>
            <a:off x="3337560" y="3401568"/>
            <a:ext cx="2468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 capability is not a property of the foundation model alone.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 three things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P"/>
          <p:cNvSpPr/>
          <p:nvPr/>
        </p:nvSpPr>
        <p:spPr>
          <a:xfrm>
            <a:off x="2267712" y="1005840"/>
            <a:ext cx="2880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ENGINEERING PURPOSE</a:t>
            </a:r>
          </a:p>
        </p:txBody>
      </p:sp>
      <p:sp>
        <p:nvSpPr>
          <p:cNvPr id="101" name="HE"/>
          <p:cNvSpPr/>
          <p:nvPr/>
        </p:nvSpPr>
        <p:spPr>
          <a:xfrm>
            <a:off x="5312664" y="1005840"/>
            <a:ext cx="3557016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EXAMPLES</a:t>
            </a:r>
          </a:p>
        </p:txBody>
      </p:sp>
      <p:sp>
        <p:nvSpPr>
          <p:cNvPr id="200" name="L0"/>
          <p:cNvSpPr/>
          <p:nvPr/>
        </p:nvSpPr>
        <p:spPr>
          <a:xfrm>
            <a:off x="274320" y="1719072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REASONER</a:t>
            </a:r>
          </a:p>
        </p:txBody>
      </p:sp>
      <p:sp>
        <p:nvSpPr>
          <p:cNvPr id="201" name="P0"/>
          <p:cNvSpPr/>
          <p:nvPr/>
        </p:nvSpPr>
        <p:spPr>
          <a:xfrm>
            <a:off x="2267712" y="1719072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Select reasoning capability</a:t>
            </a:r>
          </a:p>
        </p:txBody>
      </p:sp>
      <p:sp>
        <p:nvSpPr>
          <p:cNvPr id="202" name="E0"/>
          <p:cNvSpPr/>
          <p:nvPr/>
        </p:nvSpPr>
        <p:spPr>
          <a:xfrm>
            <a:off x="5312664" y="1719072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frontier · low-cost · specialized · open-weight models</a:t>
            </a:r>
          </a:p>
        </p:txBody>
      </p:sp>
      <p:sp>
        <p:nvSpPr>
          <p:cNvPr id="203" name="L1"/>
          <p:cNvSpPr/>
          <p:nvPr/>
        </p:nvSpPr>
        <p:spPr>
          <a:xfrm>
            <a:off x="274320" y="3054096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INFORMATION</a:t>
            </a:r>
          </a:p>
        </p:txBody>
      </p:sp>
      <p:sp>
        <p:nvSpPr>
          <p:cNvPr id="204" name="P1"/>
          <p:cNvSpPr/>
          <p:nvPr/>
        </p:nvSpPr>
        <p:spPr>
          <a:xfrm>
            <a:off x="2267712" y="3054096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Make relevant knowledge and state available</a:t>
            </a:r>
          </a:p>
        </p:txBody>
      </p:sp>
      <p:sp>
        <p:nvSpPr>
          <p:cNvPr id="205" name="E1"/>
          <p:cNvSpPr/>
          <p:nvPr/>
        </p:nvSpPr>
        <p:spPr>
          <a:xfrm>
            <a:off x="5312664" y="3054096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context · instructions · retrieval · memory · </a:t>
            </a:r>
            <a:r>
              <a:rPr lang="en-US" sz="1800" b="1" i="0" dirty="0">
                <a:solidFill>
                  <a:srgbClr val="5C4826"/>
                </a:solidFill>
              </a:rPr>
              <a:t>engineering models</a:t>
            </a:r>
          </a:p>
        </p:txBody>
      </p:sp>
      <p:sp>
        <p:nvSpPr>
          <p:cNvPr id="206" name="L2"/>
          <p:cNvSpPr/>
          <p:nvPr/>
        </p:nvSpPr>
        <p:spPr>
          <a:xfrm>
            <a:off x="274320" y="4389120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MEANS</a:t>
            </a:r>
          </a:p>
        </p:txBody>
      </p:sp>
      <p:sp>
        <p:nvSpPr>
          <p:cNvPr id="207" name="P2"/>
          <p:cNvSpPr/>
          <p:nvPr/>
        </p:nvSpPr>
        <p:spPr>
          <a:xfrm>
            <a:off x="2267712" y="4389120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Give the agent ways to observe and act</a:t>
            </a:r>
          </a:p>
        </p:txBody>
      </p:sp>
      <p:sp>
        <p:nvSpPr>
          <p:cNvPr id="208" name="E2"/>
          <p:cNvSpPr/>
          <p:nvPr/>
        </p:nvSpPr>
        <p:spPr>
          <a:xfrm>
            <a:off x="5312664" y="4389120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tools · APIs · MCP connections · skills · workflows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Diagnose what the delegation lacks before deciding how to equip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Choose the reasoner for the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L1"/>
          <p:cNvSpPr txBox="1"/>
          <p:nvPr/>
        </p:nvSpPr>
        <p:spPr>
          <a:xfrm>
            <a:off x="292608" y="1051560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CAPABILITY THE WORK NEEDS</a:t>
            </a:r>
          </a:p>
        </p:txBody>
      </p:sp>
      <p:sp>
        <p:nvSpPr>
          <p:cNvPr id="110" name="C0"/>
          <p:cNvSpPr/>
          <p:nvPr/>
        </p:nvSpPr>
        <p:spPr>
          <a:xfrm>
            <a:off x="292608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reasoning</a:t>
            </a:r>
          </a:p>
        </p:txBody>
      </p:sp>
      <p:sp>
        <p:nvSpPr>
          <p:cNvPr id="111" name="C1"/>
          <p:cNvSpPr/>
          <p:nvPr/>
        </p:nvSpPr>
        <p:spPr>
          <a:xfrm>
            <a:off x="2011680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coding</a:t>
            </a:r>
          </a:p>
        </p:txBody>
      </p:sp>
      <p:sp>
        <p:nvSpPr>
          <p:cNvPr id="112" name="C2"/>
          <p:cNvSpPr/>
          <p:nvPr/>
        </p:nvSpPr>
        <p:spPr>
          <a:xfrm>
            <a:off x="3730752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vision</a:t>
            </a:r>
          </a:p>
        </p:txBody>
      </p:sp>
      <p:sp>
        <p:nvSpPr>
          <p:cNvPr id="113" name="C3"/>
          <p:cNvSpPr/>
          <p:nvPr/>
        </p:nvSpPr>
        <p:spPr>
          <a:xfrm>
            <a:off x="5449824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tool use</a:t>
            </a:r>
          </a:p>
        </p:txBody>
      </p:sp>
      <p:sp>
        <p:nvSpPr>
          <p:cNvPr id="114" name="C4"/>
          <p:cNvSpPr/>
          <p:nvPr/>
        </p:nvSpPr>
        <p:spPr>
          <a:xfrm>
            <a:off x="7168896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domain knowledge</a:t>
            </a:r>
          </a:p>
        </p:txBody>
      </p:sp>
      <p:sp>
        <p:nvSpPr>
          <p:cNvPr id="101" name="L2"/>
          <p:cNvSpPr txBox="1"/>
          <p:nvPr/>
        </p:nvSpPr>
        <p:spPr>
          <a:xfrm>
            <a:off x="292608" y="2423160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CONSTRAINTS THE DELEGATION FACES</a:t>
            </a:r>
          </a:p>
        </p:txBody>
      </p:sp>
      <p:sp>
        <p:nvSpPr>
          <p:cNvPr id="120" name="P0"/>
          <p:cNvSpPr/>
          <p:nvPr/>
        </p:nvSpPr>
        <p:spPr>
          <a:xfrm>
            <a:off x="292608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cost</a:t>
            </a:r>
          </a:p>
        </p:txBody>
      </p:sp>
      <p:sp>
        <p:nvSpPr>
          <p:cNvPr id="121" name="P1"/>
          <p:cNvSpPr/>
          <p:nvPr/>
        </p:nvSpPr>
        <p:spPr>
          <a:xfrm>
            <a:off x="1728216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latency</a:t>
            </a:r>
          </a:p>
        </p:txBody>
      </p:sp>
      <p:sp>
        <p:nvSpPr>
          <p:cNvPr id="122" name="P2"/>
          <p:cNvSpPr/>
          <p:nvPr/>
        </p:nvSpPr>
        <p:spPr>
          <a:xfrm>
            <a:off x="3163824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context</a:t>
            </a:r>
          </a:p>
        </p:txBody>
      </p:sp>
      <p:sp>
        <p:nvSpPr>
          <p:cNvPr id="123" name="P3"/>
          <p:cNvSpPr/>
          <p:nvPr/>
        </p:nvSpPr>
        <p:spPr>
          <a:xfrm>
            <a:off x="4599432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deployment</a:t>
            </a:r>
          </a:p>
        </p:txBody>
      </p:sp>
      <p:sp>
        <p:nvSpPr>
          <p:cNvPr id="124" name="P4"/>
          <p:cNvSpPr/>
          <p:nvPr/>
        </p:nvSpPr>
        <p:spPr>
          <a:xfrm>
            <a:off x="6035040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privacy</a:t>
            </a:r>
          </a:p>
        </p:txBody>
      </p:sp>
      <p:sp>
        <p:nvSpPr>
          <p:cNvPr id="125" name="P5"/>
          <p:cNvSpPr/>
          <p:nvPr/>
        </p:nvSpPr>
        <p:spPr>
          <a:xfrm>
            <a:off x="7470648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availability</a:t>
            </a:r>
          </a:p>
        </p:txBody>
      </p:sp>
      <p:sp>
        <p:nvSpPr>
          <p:cNvPr id="140" name="Q"/>
          <p:cNvSpPr txBox="1"/>
          <p:nvPr/>
        </p:nvSpPr>
        <p:spPr>
          <a:xfrm>
            <a:off x="274320" y="4023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Which reasoner satisfies the requirements of this delegation?</a:t>
            </a:r>
          </a:p>
        </p:txBody>
      </p:sp>
      <p:sp>
        <p:nvSpPr>
          <p:cNvPr id="141" name="Small"/>
          <p:cNvSpPr txBox="1"/>
          <p:nvPr/>
        </p:nvSpPr>
        <p:spPr>
          <a:xfrm>
            <a:off x="274320" y="47548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There is no context-free best model.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Selected under requirements and constraints, not from a leaderboard.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 the information available to it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CURRENT CONTEXT</a:t>
            </a:r>
          </a:p>
        </p:txBody>
      </p:sp>
      <p:sp>
        <p:nvSpPr>
          <p:cNvPr id="110" name="B0"/>
          <p:cNvSpPr/>
          <p:nvPr/>
        </p:nvSpPr>
        <p:spPr>
          <a:xfrm>
            <a:off x="274320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what this reasoning episode can see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WORKING STATE</a:t>
            </a:r>
          </a:p>
        </p:txBody>
      </p:sp>
      <p:sp>
        <p:nvSpPr>
          <p:cNvPr id="111" name="B1"/>
          <p:cNvSpPr/>
          <p:nvPr/>
        </p:nvSpPr>
        <p:spPr>
          <a:xfrm>
            <a:off x="3227832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plans · progress · intermediate artifacts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DURABLE ENGINEERING KNOWLEDGE</a:t>
            </a:r>
          </a:p>
        </p:txBody>
      </p:sp>
      <p:sp>
        <p:nvSpPr>
          <p:cNvPr id="112" name="B2"/>
          <p:cNvSpPr/>
          <p:nvPr/>
        </p:nvSpPr>
        <p:spPr>
          <a:xfrm>
            <a:off x="6181344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specifications · architecture · records · engineering models</a:t>
            </a:r>
          </a:p>
        </p:txBody>
      </p:sp>
      <p:cxnSp>
        <p:nvCxnSpPr>
          <p:cNvPr id="120" name="AL"/>
          <p:cNvCxnSpPr/>
          <p:nvPr/>
        </p:nvCxnSpPr>
        <p:spPr>
          <a:xfrm>
            <a:off x="1613916" y="2962656"/>
            <a:ext cx="1554480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21" name="AM"/>
          <p:cNvCxnSpPr/>
          <p:nvPr/>
        </p:nvCxnSpPr>
        <p:spPr>
          <a:xfrm>
            <a:off x="4572000" y="2962656"/>
            <a:ext cx="0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22" name="AR"/>
          <p:cNvCxnSpPr/>
          <p:nvPr/>
        </p:nvCxnSpPr>
        <p:spPr>
          <a:xfrm flipH="1">
            <a:off x="5975604" y="2962656"/>
            <a:ext cx="1545336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Reasoner"/>
          <p:cNvSpPr/>
          <p:nvPr/>
        </p:nvSpPr>
        <p:spPr>
          <a:xfrm>
            <a:off x="2788920" y="3566160"/>
            <a:ext cx="356616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THE REASONER</a:t>
            </a:r>
          </a:p>
        </p:txBody>
      </p:sp>
      <p:sp>
        <p:nvSpPr>
          <p:cNvPr id="140" name="Key"/>
          <p:cNvSpPr txBox="1"/>
          <p:nvPr/>
        </p:nvSpPr>
        <p:spPr>
          <a:xfrm>
            <a:off x="274320" y="4526280"/>
            <a:ext cx="85953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The question is not how much context we can stuff in.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It is what information makes the relevant relationships tractable.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Say what persists, and for how long.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Representation can change the reasoning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45720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RECONSTRUCT</a:t>
            </a:r>
          </a:p>
        </p:txBody>
      </p:sp>
      <p:sp>
        <p:nvSpPr>
          <p:cNvPr id="101" name="SrcL"/>
          <p:cNvSpPr/>
          <p:nvPr/>
        </p:nvSpPr>
        <p:spPr>
          <a:xfrm>
            <a:off x="457200" y="1417320"/>
            <a:ext cx="38404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thousands of source lines</a:t>
            </a:r>
          </a:p>
        </p:txBody>
      </p:sp>
      <p:cxnSp>
        <p:nvCxnSpPr>
          <p:cNvPr id="102" name="ArrL"/>
          <p:cNvCxnSpPr/>
          <p:nvPr/>
        </p:nvCxnSpPr>
        <p:spPr>
          <a:xfrm>
            <a:off x="2377440" y="2148840"/>
            <a:ext cx="0" cy="10515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GlossL"/>
          <p:cNvSpPr txBox="1"/>
          <p:nvPr/>
        </p:nvSpPr>
        <p:spPr>
          <a:xfrm>
            <a:off x="2651760" y="246888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agent reasons</a:t>
            </a:r>
          </a:p>
        </p:txBody>
      </p:sp>
      <p:sp>
        <p:nvSpPr>
          <p:cNvPr id="104" name="QL"/>
          <p:cNvSpPr/>
          <p:nvPr/>
        </p:nvSpPr>
        <p:spPr>
          <a:xfrm>
            <a:off x="45720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</a:t>
            </a:r>
          </a:p>
        </p:txBody>
      </p:sp>
      <p:sp>
        <p:nvSpPr>
          <p:cNvPr id="105" name="LblR"/>
          <p:cNvSpPr txBox="1"/>
          <p:nvPr/>
        </p:nvSpPr>
        <p:spPr>
          <a:xfrm>
            <a:off x="493776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CONSULT</a:t>
            </a:r>
          </a:p>
        </p:txBody>
      </p:sp>
      <p:sp>
        <p:nvSpPr>
          <p:cNvPr id="106" name="NA"/>
          <p:cNvSpPr/>
          <p:nvPr/>
        </p:nvSpPr>
        <p:spPr>
          <a:xfrm>
            <a:off x="6492240" y="13258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</a:t>
            </a:r>
          </a:p>
        </p:txBody>
      </p:sp>
      <p:sp>
        <p:nvSpPr>
          <p:cNvPr id="107" name="NB"/>
          <p:cNvSpPr/>
          <p:nvPr/>
        </p:nvSpPr>
        <p:spPr>
          <a:xfrm>
            <a:off x="566928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</a:t>
            </a:r>
          </a:p>
        </p:txBody>
      </p:sp>
      <p:sp>
        <p:nvSpPr>
          <p:cNvPr id="108" name="NC"/>
          <p:cNvSpPr/>
          <p:nvPr/>
        </p:nvSpPr>
        <p:spPr>
          <a:xfrm>
            <a:off x="731520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</a:t>
            </a:r>
          </a:p>
        </p:txBody>
      </p:sp>
      <p:sp>
        <p:nvSpPr>
          <p:cNvPr id="109" name="NX"/>
          <p:cNvSpPr/>
          <p:nvPr/>
        </p:nvSpPr>
        <p:spPr>
          <a:xfrm>
            <a:off x="6492240" y="26974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X</a:t>
            </a:r>
          </a:p>
        </p:txBody>
      </p:sp>
      <p:cxnSp>
        <p:nvCxnSpPr>
          <p:cNvPr id="110" name="EAB"/>
          <p:cNvCxnSpPr/>
          <p:nvPr/>
        </p:nvCxnSpPr>
        <p:spPr>
          <a:xfrm flipH="1">
            <a:off x="603504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1" name="EAC"/>
          <p:cNvCxnSpPr/>
          <p:nvPr/>
        </p:nvCxnSpPr>
        <p:spPr>
          <a:xfrm>
            <a:off x="685800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EBX"/>
          <p:cNvCxnSpPr/>
          <p:nvPr/>
        </p:nvCxnSpPr>
        <p:spPr>
          <a:xfrm>
            <a:off x="6035040" y="2423160"/>
            <a:ext cx="64008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3" name="ECX"/>
          <p:cNvCxnSpPr/>
          <p:nvPr/>
        </p:nvCxnSpPr>
        <p:spPr>
          <a:xfrm flipH="1">
            <a:off x="7040880" y="2423160"/>
            <a:ext cx="64008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114" name="QR"/>
          <p:cNvSpPr/>
          <p:nvPr/>
        </p:nvSpPr>
        <p:spPr>
          <a:xfrm>
            <a:off x="493776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 — read it off</a:t>
            </a:r>
          </a:p>
        </p:txBody>
      </p:sp>
      <p:sp>
        <p:nvSpPr>
          <p:cNvPr id="116" name="Fwd"/>
          <p:cNvSpPr txBox="1"/>
          <p:nvPr/>
        </p:nvSpPr>
        <p:spPr>
          <a:xfrm>
            <a:off x="457200" y="493776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Representations are one way of equipping a delegate.</a:t>
            </a:r>
          </a:p>
        </p:txBody>
      </p:sp>
      <p:sp>
        <p:nvSpPr>
          <p:cNvPr id="1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Same question. Same reasoner. Different reasoning problem.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Give the agent means to observe and act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00" name="Agent"/>
          <p:cNvSpPr/>
          <p:nvPr/>
        </p:nvSpPr>
        <p:spPr>
          <a:xfrm>
            <a:off x="960120" y="2194560"/>
            <a:ext cx="237744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AGENT</a:t>
            </a:r>
          </a:p>
        </p:txBody>
      </p:sp>
      <p:sp>
        <p:nvSpPr>
          <p:cNvPr id="101" name="T0"/>
          <p:cNvSpPr/>
          <p:nvPr/>
        </p:nvSpPr>
        <p:spPr>
          <a:xfrm>
            <a:off x="4983480" y="100584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search</a:t>
            </a:r>
          </a:p>
        </p:txBody>
      </p:sp>
      <p:cxnSp>
        <p:nvCxnSpPr>
          <p:cNvPr id="102" name="TC0"/>
          <p:cNvCxnSpPr/>
          <p:nvPr/>
        </p:nvCxnSpPr>
        <p:spPr>
          <a:xfrm flipV="1">
            <a:off x="3337560" y="1280160"/>
            <a:ext cx="1645920" cy="129844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3" name="T1"/>
          <p:cNvSpPr/>
          <p:nvPr/>
        </p:nvSpPr>
        <p:spPr>
          <a:xfrm>
            <a:off x="4983480" y="1627632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shell</a:t>
            </a:r>
          </a:p>
        </p:txBody>
      </p:sp>
      <p:cxnSp>
        <p:nvCxnSpPr>
          <p:cNvPr id="104" name="TC1"/>
          <p:cNvCxnSpPr/>
          <p:nvPr/>
        </p:nvCxnSpPr>
        <p:spPr>
          <a:xfrm flipV="1">
            <a:off x="3337560" y="1901952"/>
            <a:ext cx="1645920" cy="676656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5" name="T2"/>
          <p:cNvSpPr/>
          <p:nvPr/>
        </p:nvSpPr>
        <p:spPr>
          <a:xfrm>
            <a:off x="4983480" y="2249424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compiler</a:t>
            </a:r>
          </a:p>
        </p:txBody>
      </p:sp>
      <p:cxnSp>
        <p:nvCxnSpPr>
          <p:cNvPr id="106" name="TC2"/>
          <p:cNvCxnSpPr/>
          <p:nvPr/>
        </p:nvCxnSpPr>
        <p:spPr>
          <a:xfrm flipV="1">
            <a:off x="3337560" y="2523744"/>
            <a:ext cx="1645920" cy="54864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7" name="T3"/>
          <p:cNvSpPr/>
          <p:nvPr/>
        </p:nvSpPr>
        <p:spPr>
          <a:xfrm>
            <a:off x="4983480" y="2871216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tests</a:t>
            </a:r>
          </a:p>
        </p:txBody>
      </p:sp>
      <p:cxnSp>
        <p:nvCxnSpPr>
          <p:cNvPr id="108" name="TC3"/>
          <p:cNvCxnSpPr/>
          <p:nvPr/>
        </p:nvCxnSpPr>
        <p:spPr>
          <a:xfrm>
            <a:off x="3337560" y="2578608"/>
            <a:ext cx="1645920" cy="56692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9" name="T4"/>
          <p:cNvSpPr/>
          <p:nvPr/>
        </p:nvSpPr>
        <p:spPr>
          <a:xfrm>
            <a:off x="4983480" y="3493008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Git</a:t>
            </a:r>
          </a:p>
        </p:txBody>
      </p:sp>
      <p:cxnSp>
        <p:nvCxnSpPr>
          <p:cNvPr id="110" name="TC4"/>
          <p:cNvCxnSpPr/>
          <p:nvPr/>
        </p:nvCxnSpPr>
        <p:spPr>
          <a:xfrm>
            <a:off x="3337560" y="2578608"/>
            <a:ext cx="1645920" cy="118872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1" name="T5"/>
          <p:cNvSpPr/>
          <p:nvPr/>
        </p:nvSpPr>
        <p:spPr>
          <a:xfrm>
            <a:off x="4983480" y="411480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engineering services</a:t>
            </a:r>
          </a:p>
        </p:txBody>
      </p:sp>
      <p:cxnSp>
        <p:nvCxnSpPr>
          <p:cNvPr id="112" name="TC5"/>
          <p:cNvCxnSpPr/>
          <p:nvPr/>
        </p:nvCxnSpPr>
        <p:spPr>
          <a:xfrm>
            <a:off x="3337560" y="2578608"/>
            <a:ext cx="1645920" cy="1810512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3" name="Seed"/>
          <p:cNvSpPr txBox="1"/>
          <p:nvPr/>
        </p:nvSpPr>
        <p:spPr>
          <a:xfrm>
            <a:off x="365760" y="475488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Tools / APIs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provide capabilities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MCP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standardizes connections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Skills / workflows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package recurring ways of using capabilities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605463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Means expand what the agent can accomplish.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Authority determines which consequences it may produce.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real harness engineers the reasoning surface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CP"/>
          <p:cNvSpPr/>
          <p:nvPr/>
        </p:nvSpPr>
        <p:spPr>
          <a:xfrm>
            <a:off x="274320" y="1005840"/>
            <a:ext cx="571500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CONTEXT PROVIDERS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history · memory · skills · files · mode · custom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3131820" y="1874520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BI"/>
          <p:cNvSpPr/>
          <p:nvPr/>
        </p:nvSpPr>
        <p:spPr>
          <a:xfrm>
            <a:off x="274320" y="2212848"/>
            <a:ext cx="57150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BEFORE INVOCATION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instructions · messages · tools</a:t>
            </a:r>
          </a:p>
        </p:txBody>
      </p:sp>
      <p:cxnSp>
        <p:nvCxnSpPr>
          <p:cNvPr id="103" name="A2"/>
          <p:cNvCxnSpPr/>
          <p:nvPr/>
        </p:nvCxnSpPr>
        <p:spPr>
          <a:xfrm>
            <a:off x="3131820" y="3035808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RE"/>
          <p:cNvSpPr/>
          <p:nvPr/>
        </p:nvSpPr>
        <p:spPr>
          <a:xfrm>
            <a:off x="1737360" y="3374136"/>
            <a:ext cx="27889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REASONER</a:t>
            </a:r>
          </a:p>
        </p:txBody>
      </p:sp>
      <p:cxnSp>
        <p:nvCxnSpPr>
          <p:cNvPr id="105" name="A3"/>
          <p:cNvCxnSpPr/>
          <p:nvPr/>
        </p:nvCxnSpPr>
        <p:spPr>
          <a:xfrm>
            <a:off x="3131820" y="3986784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6" name="AL"/>
          <p:cNvSpPr txBox="1"/>
          <p:nvPr/>
        </p:nvSpPr>
        <p:spPr>
          <a:xfrm>
            <a:off x="3291840" y="402336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action / response</a:t>
            </a:r>
          </a:p>
        </p:txBody>
      </p:sp>
      <p:sp>
        <p:nvSpPr>
          <p:cNvPr id="107" name="AI"/>
          <p:cNvSpPr/>
          <p:nvPr/>
        </p:nvSpPr>
        <p:spPr>
          <a:xfrm>
            <a:off x="274320" y="4325112"/>
            <a:ext cx="57150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AFTER INVOCATION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extract · persist state</a:t>
            </a:r>
          </a:p>
        </p:txBody>
      </p:sp>
      <p:sp>
        <p:nvSpPr>
          <p:cNvPr id="110" name="K0"/>
          <p:cNvSpPr/>
          <p:nvPr/>
        </p:nvSpPr>
        <p:spPr>
          <a:xfrm>
            <a:off x="6217920" y="1005840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INFORMATION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is selected and assembled</a:t>
            </a:r>
          </a:p>
        </p:txBody>
      </p:sp>
      <p:sp>
        <p:nvSpPr>
          <p:cNvPr id="111" name="K1"/>
          <p:cNvSpPr/>
          <p:nvPr/>
        </p:nvSpPr>
        <p:spPr>
          <a:xfrm>
            <a:off x="6217920" y="2212848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MEANS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are exposed</a:t>
            </a:r>
          </a:p>
        </p:txBody>
      </p:sp>
      <p:sp>
        <p:nvSpPr>
          <p:cNvPr id="112" name="K2"/>
          <p:cNvSpPr/>
          <p:nvPr/>
        </p:nvSpPr>
        <p:spPr>
          <a:xfrm>
            <a:off x="6217920" y="3419856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STATE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can persist across invocations</a:t>
            </a:r>
          </a:p>
        </p:txBody>
      </p:sp>
      <p:sp>
        <p:nvSpPr>
          <p:cNvPr id="150" name="Src"/>
          <p:cNvSpPr txBox="1"/>
          <p:nvPr/>
        </p:nvSpPr>
        <p:spPr>
          <a:xfrm>
            <a:off x="274320" y="5321808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Microsoft Agent Framework overview — https://learn.microsoft.com/en-us/agent-framework/overview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contemporary implementation of the design surfaces we just derived.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Zoom out: the equipped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4343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887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27632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code · specifications · engineering models · tests · CI · services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212848"/>
            <a:ext cx="4937760" cy="2651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40864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6148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context · state · tools · continuation</a:t>
            </a:r>
          </a:p>
        </p:txBody>
      </p:sp>
      <p:sp>
        <p:nvSpPr>
          <p:cNvPr id="106" name="Mod"/>
          <p:cNvSpPr/>
          <p:nvPr/>
        </p:nvSpPr>
        <p:spPr>
          <a:xfrm>
            <a:off x="3337560" y="3401568"/>
            <a:ext cx="2468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Capability for the bounded work emerges from the whole system.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will you equip your agents?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Now that we’ve explored ways that engineers delegate work to machines, start getting specific about how your team will do this.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</a:pPr>
            <a:r>
              <a:rPr dirty="0">
                <a:solidFill>
                  <a:srgbClr val="5C4826"/>
                </a:solidFill>
              </a:rPr>
              <a:t>What artifacts will seed your initial environment?</a:t>
            </a:r>
          </a:p>
          <a:p>
            <a:pPr algn="l">
              <a:spcAft>
                <a:spcPts val="1600"/>
              </a:spcAft>
            </a:pPr>
            <a:r>
              <a:rPr dirty="0">
                <a:solidFill>
                  <a:srgbClr val="5C4826"/>
                </a:solidFill>
              </a:rPr>
              <a:t>How will you scope the knowledge given to the agent?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How will those artifacts and limits bound the problem?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AGENT HARNESS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</a:pPr>
            <a:r>
              <a:rPr dirty="0">
                <a:solidFill>
                  <a:srgbClr val="5C4826"/>
                </a:solidFill>
              </a:rPr>
              <a:t>Which specific tools will the agents need for your project implementation?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Describe one MCP interface that abstracts access to the tools.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136" y="2953512"/>
            <a:ext cx="1865376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8E6F3E"/>
                </a:solidFill>
              </a:rPr>
              <a:t>QR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the questions. Then submit one response per team.</a:t>
            </a:r>
          </a:p>
        </p:txBody>
      </p:sp>
      <p:sp>
        <p:nvSpPr>
          <p:cNvPr id="14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7FE9633-BCB7-AC15-4DD8-7935AD785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26502"/>
            <a:ext cx="269748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AUTHORIZE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consequences may the agent produce?</a:t>
            </a:r>
          </a:p>
        </p:txBody>
      </p:sp>
      <p:sp>
        <p:nvSpPr>
          <p:cNvPr id="102" name="Contrast"/>
          <p:cNvSpPr txBox="1"/>
          <p:nvPr/>
        </p:nvSpPr>
        <p:spPr>
          <a:xfrm>
            <a:off x="502920" y="3438144"/>
            <a:ext cx="813816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Capability asks what it can do. Authority asks what we permit it to cause.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4059936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Capability is not authority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36</a:t>
            </a:fld>
            <a:endParaRPr lang="en-US"/>
          </a:p>
        </p:txBody>
      </p:sp>
      <p:sp>
        <p:nvSpPr>
          <p:cNvPr id="100" name="P0"/>
          <p:cNvSpPr/>
          <p:nvPr/>
        </p:nvSpPr>
        <p:spPr>
          <a:xfrm>
            <a:off x="402336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READ</a:t>
            </a:r>
          </a:p>
        </p:txBody>
      </p:sp>
      <p:cxnSp>
        <p:nvCxnSpPr>
          <p:cNvPr id="110" name="PA0"/>
          <p:cNvCxnSpPr/>
          <p:nvPr/>
        </p:nvCxnSpPr>
        <p:spPr>
          <a:xfrm>
            <a:off x="1842516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P1"/>
          <p:cNvSpPr/>
          <p:nvPr/>
        </p:nvSpPr>
        <p:spPr>
          <a:xfrm>
            <a:off x="2130408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11" name="PA1"/>
          <p:cNvCxnSpPr/>
          <p:nvPr/>
        </p:nvCxnSpPr>
        <p:spPr>
          <a:xfrm>
            <a:off x="3570588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P2"/>
          <p:cNvSpPr/>
          <p:nvPr/>
        </p:nvSpPr>
        <p:spPr>
          <a:xfrm>
            <a:off x="3858480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112" name="PA2"/>
          <p:cNvCxnSpPr/>
          <p:nvPr/>
        </p:nvCxnSpPr>
        <p:spPr>
          <a:xfrm>
            <a:off x="5298660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P3"/>
          <p:cNvSpPr/>
          <p:nvPr/>
        </p:nvSpPr>
        <p:spPr>
          <a:xfrm>
            <a:off x="5586552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13" name="PA3"/>
          <p:cNvCxnSpPr/>
          <p:nvPr/>
        </p:nvCxnSpPr>
        <p:spPr>
          <a:xfrm>
            <a:off x="7026732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P4"/>
          <p:cNvSpPr/>
          <p:nvPr/>
        </p:nvSpPr>
        <p:spPr>
          <a:xfrm>
            <a:off x="7314624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119" name="Above"/>
          <p:cNvSpPr txBox="1"/>
          <p:nvPr/>
        </p:nvSpPr>
        <p:spPr>
          <a:xfrm>
            <a:off x="274320" y="10972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Same capable agent.</a:t>
            </a:r>
          </a:p>
        </p:txBody>
      </p:sp>
      <p:sp>
        <p:nvSpPr>
          <p:cNvPr id="120" name="Same"/>
          <p:cNvSpPr txBox="1"/>
          <p:nvPr/>
        </p:nvSpPr>
        <p:spPr>
          <a:xfrm>
            <a:off x="274320" y="29260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Increasing permitted consequence.</a:t>
            </a:r>
          </a:p>
        </p:txBody>
      </p:sp>
      <p:sp>
        <p:nvSpPr>
          <p:cNvPr id="121" name="Caption"/>
          <p:cNvSpPr txBox="1"/>
          <p:nvPr/>
        </p:nvSpPr>
        <p:spPr>
          <a:xfrm>
            <a:off x="274320" y="42976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What an agent can do and what it is permitted to cause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are separate engineering decisions.</a:t>
            </a:r>
          </a:p>
        </p:txBody>
      </p:sp>
      <p:sp>
        <p:nvSpPr>
          <p:cNvPr id="12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Authority is engineered independently of capability.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Authority follows consequence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cxnSp>
        <p:nvCxnSpPr>
          <p:cNvPr id="100" name="Axis"/>
          <p:cNvCxnSpPr/>
          <p:nvPr/>
        </p:nvCxnSpPr>
        <p:spPr>
          <a:xfrm flipV="1">
            <a:off x="502920" y="1883664"/>
            <a:ext cx="0" cy="316382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AxL"/>
          <p:cNvSpPr txBox="1"/>
          <p:nvPr/>
        </p:nvSpPr>
        <p:spPr>
          <a:xfrm>
            <a:off x="274320" y="1444752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>CONSEQUENCE</a:t>
            </a:r>
          </a:p>
        </p:txBody>
      </p:sp>
      <p:sp>
        <p:nvSpPr>
          <p:cNvPr id="110" name="S0"/>
          <p:cNvSpPr/>
          <p:nvPr/>
        </p:nvSpPr>
        <p:spPr>
          <a:xfrm>
            <a:off x="822960" y="444398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read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111" name="S1"/>
          <p:cNvSpPr/>
          <p:nvPr/>
        </p:nvSpPr>
        <p:spPr>
          <a:xfrm>
            <a:off x="2450592" y="380390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propose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patch</a:t>
            </a:r>
          </a:p>
        </p:txBody>
      </p:sp>
      <p:sp>
        <p:nvSpPr>
          <p:cNvPr id="112" name="S2"/>
          <p:cNvSpPr/>
          <p:nvPr/>
        </p:nvSpPr>
        <p:spPr>
          <a:xfrm>
            <a:off x="4078224" y="316382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modify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branch</a:t>
            </a:r>
          </a:p>
        </p:txBody>
      </p:sp>
      <p:sp>
        <p:nvSpPr>
          <p:cNvPr id="113" name="S3"/>
          <p:cNvSpPr/>
          <p:nvPr/>
        </p:nvSpPr>
        <p:spPr>
          <a:xfrm>
            <a:off x="5705856" y="252374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14" name="S4"/>
          <p:cNvSpPr/>
          <p:nvPr/>
        </p:nvSpPr>
        <p:spPr>
          <a:xfrm>
            <a:off x="7333488" y="1883664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deploy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production</a:t>
            </a:r>
          </a:p>
        </p:txBody>
      </p:sp>
      <p:sp>
        <p:nvSpPr>
          <p:cNvPr id="150" name="Note"/>
          <p:cNvSpPr txBox="1"/>
          <p:nvPr/>
        </p:nvSpPr>
        <p:spPr>
          <a:xfrm>
            <a:off x="274320" y="5285232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Each step admits a different class of consequence.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What is the least authority sufficient for the bounded work?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Authority should match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B"/>
          <p:cNvSpPr/>
          <p:nvPr/>
        </p:nvSpPr>
        <p:spPr>
          <a:xfrm>
            <a:off x="274320" y="960120"/>
            <a:ext cx="41605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BOUND</a:t>
            </a:r>
          </a:p>
        </p:txBody>
      </p:sp>
      <p:sp>
        <p:nvSpPr>
          <p:cNvPr id="101" name="HA"/>
          <p:cNvSpPr/>
          <p:nvPr/>
        </p:nvSpPr>
        <p:spPr>
          <a:xfrm>
            <a:off x="4709160" y="960120"/>
            <a:ext cx="41605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AUTHORIZE</a:t>
            </a:r>
          </a:p>
        </p:txBody>
      </p:sp>
      <p:sp>
        <p:nvSpPr>
          <p:cNvPr id="102" name="QB"/>
          <p:cNvSpPr/>
          <p:nvPr/>
        </p:nvSpPr>
        <p:spPr>
          <a:xfrm>
            <a:off x="274320" y="1581912"/>
            <a:ext cx="4160520" cy="84124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What choices may the agent resolve?</a:t>
            </a:r>
          </a:p>
        </p:txBody>
      </p:sp>
      <p:sp>
        <p:nvSpPr>
          <p:cNvPr id="103" name="QA"/>
          <p:cNvSpPr/>
          <p:nvPr/>
        </p:nvSpPr>
        <p:spPr>
          <a:xfrm>
            <a:off x="4709160" y="1581912"/>
            <a:ext cx="4160520" cy="84124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What consequences may those choices produce?</a:t>
            </a:r>
          </a:p>
        </p:txBody>
      </p:sp>
      <p:sp>
        <p:nvSpPr>
          <p:cNvPr id="110" name="IL0"/>
          <p:cNvSpPr/>
          <p:nvPr/>
        </p:nvSpPr>
        <p:spPr>
          <a:xfrm>
            <a:off x="274320" y="2633472"/>
            <a:ext cx="2487168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broader work</a:t>
            </a:r>
          </a:p>
        </p:txBody>
      </p:sp>
      <p:cxnSp>
        <p:nvCxnSpPr>
          <p:cNvPr id="111" name="IA0"/>
          <p:cNvCxnSpPr/>
          <p:nvPr/>
        </p:nvCxnSpPr>
        <p:spPr>
          <a:xfrm>
            <a:off x="2834640" y="2916936"/>
            <a:ext cx="347472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IR0"/>
          <p:cNvSpPr/>
          <p:nvPr/>
        </p:nvSpPr>
        <p:spPr>
          <a:xfrm>
            <a:off x="3255264" y="2633472"/>
            <a:ext cx="5614416" cy="566928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does NOT imply broader authority</a:t>
            </a:r>
          </a:p>
        </p:txBody>
      </p:sp>
      <p:sp>
        <p:nvSpPr>
          <p:cNvPr id="113" name="IL1"/>
          <p:cNvSpPr/>
          <p:nvPr/>
        </p:nvSpPr>
        <p:spPr>
          <a:xfrm>
            <a:off x="274320" y="3291840"/>
            <a:ext cx="2487168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 better agent</a:t>
            </a:r>
          </a:p>
        </p:txBody>
      </p:sp>
      <p:cxnSp>
        <p:nvCxnSpPr>
          <p:cNvPr id="114" name="IA1"/>
          <p:cNvCxnSpPr/>
          <p:nvPr/>
        </p:nvCxnSpPr>
        <p:spPr>
          <a:xfrm>
            <a:off x="2834640" y="3575304"/>
            <a:ext cx="347472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5" name="IR1"/>
          <p:cNvSpPr/>
          <p:nvPr/>
        </p:nvSpPr>
        <p:spPr>
          <a:xfrm>
            <a:off x="3255264" y="3291840"/>
            <a:ext cx="5614416" cy="566928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does NOT imply broader authority</a:t>
            </a:r>
          </a:p>
        </p:txBody>
      </p:sp>
      <p:sp>
        <p:nvSpPr>
          <p:cNvPr id="130" name="TaskLbl"/>
          <p:cNvSpPr txBox="1"/>
          <p:nvPr/>
        </p:nvSpPr>
        <p:spPr>
          <a:xfrm>
            <a:off x="274320" y="3986784"/>
            <a:ext cx="8595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TASK: DIAGNOSE AND REPAIR A PRODUCTION DEFECT</a:t>
            </a:r>
          </a:p>
        </p:txBody>
      </p:sp>
      <p:sp>
        <p:nvSpPr>
          <p:cNvPr id="140" name="O0"/>
          <p:cNvSpPr/>
          <p:nvPr/>
        </p:nvSpPr>
        <p:spPr>
          <a:xfrm>
            <a:off x="27432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inspect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telemetry</a:t>
            </a:r>
          </a:p>
        </p:txBody>
      </p:sp>
      <p:sp>
        <p:nvSpPr>
          <p:cNvPr id="141" name="O1"/>
          <p:cNvSpPr/>
          <p:nvPr/>
        </p:nvSpPr>
        <p:spPr>
          <a:xfrm>
            <a:off x="201168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propose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patch</a:t>
            </a:r>
          </a:p>
        </p:txBody>
      </p:sp>
      <p:sp>
        <p:nvSpPr>
          <p:cNvPr id="142" name="O2"/>
          <p:cNvSpPr/>
          <p:nvPr/>
        </p:nvSpPr>
        <p:spPr>
          <a:xfrm>
            <a:off x="374904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modify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branch</a:t>
            </a:r>
          </a:p>
        </p:txBody>
      </p:sp>
      <p:sp>
        <p:nvSpPr>
          <p:cNvPr id="143" name="O3"/>
          <p:cNvSpPr/>
          <p:nvPr/>
        </p:nvSpPr>
        <p:spPr>
          <a:xfrm>
            <a:off x="548640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merge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after checks</a:t>
            </a:r>
          </a:p>
        </p:txBody>
      </p:sp>
      <p:sp>
        <p:nvSpPr>
          <p:cNvPr id="144" name="O4"/>
          <p:cNvSpPr/>
          <p:nvPr/>
        </p:nvSpPr>
        <p:spPr>
          <a:xfrm>
            <a:off x="722376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deploy</a:t>
            </a:r>
          </a:p>
        </p:txBody>
      </p:sp>
      <p:sp>
        <p:nvSpPr>
          <p:cNvPr id="160" name="Same"/>
          <p:cNvSpPr txBox="1"/>
          <p:nvPr/>
        </p:nvSpPr>
        <p:spPr>
          <a:xfrm>
            <a:off x="274320" y="5230368"/>
            <a:ext cx="859536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Same desired outcome, different assignments of authority.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Which consequences must actually be available for this delegation to succeed?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VERIFY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evidence closes the work?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VERIFY: what evidence closes the work?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39</a:t>
            </a:fld>
            <a:endParaRPr lang="en-US"/>
          </a:p>
        </p:txBody>
      </p:sp>
      <p:sp>
        <p:nvSpPr>
          <p:cNvPr id="100" name="HdrL"/>
          <p:cNvSpPr txBox="1"/>
          <p:nvPr/>
        </p:nvSpPr>
        <p:spPr>
          <a:xfrm>
            <a:off x="685800" y="1371600"/>
            <a:ext cx="3200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DELEGATED WORK</a:t>
            </a:r>
          </a:p>
        </p:txBody>
      </p:sp>
      <p:sp>
        <p:nvSpPr>
          <p:cNvPr id="101" name="HdrR"/>
          <p:cNvSpPr txBox="1"/>
          <p:nvPr/>
        </p:nvSpPr>
        <p:spPr>
          <a:xfrm>
            <a:off x="4754880" y="1371600"/>
            <a:ext cx="370332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POSSIBLE EVIDENCE</a:t>
            </a:r>
          </a:p>
        </p:txBody>
      </p:sp>
      <p:sp>
        <p:nvSpPr>
          <p:cNvPr id="102" name="W0"/>
          <p:cNvSpPr/>
          <p:nvPr/>
        </p:nvSpPr>
        <p:spPr>
          <a:xfrm>
            <a:off x="685800" y="182880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patch</a:t>
            </a:r>
          </a:p>
        </p:txBody>
      </p:sp>
      <p:cxnSp>
        <p:nvCxnSpPr>
          <p:cNvPr id="103" name="WA0"/>
          <p:cNvCxnSpPr/>
          <p:nvPr/>
        </p:nvCxnSpPr>
        <p:spPr>
          <a:xfrm>
            <a:off x="3977640" y="214884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E0"/>
          <p:cNvSpPr/>
          <p:nvPr/>
        </p:nvSpPr>
        <p:spPr>
          <a:xfrm>
            <a:off x="4754880" y="182880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review</a:t>
            </a:r>
          </a:p>
        </p:txBody>
      </p:sp>
      <p:sp>
        <p:nvSpPr>
          <p:cNvPr id="105" name="W1"/>
          <p:cNvSpPr/>
          <p:nvPr/>
        </p:nvSpPr>
        <p:spPr>
          <a:xfrm>
            <a:off x="685800" y="269748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dependency change</a:t>
            </a:r>
          </a:p>
        </p:txBody>
      </p:sp>
      <p:cxnSp>
        <p:nvCxnSpPr>
          <p:cNvPr id="106" name="WA1"/>
          <p:cNvCxnSpPr/>
          <p:nvPr/>
        </p:nvCxnSpPr>
        <p:spPr>
          <a:xfrm>
            <a:off x="3977640" y="301752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E1"/>
          <p:cNvSpPr/>
          <p:nvPr/>
        </p:nvSpPr>
        <p:spPr>
          <a:xfrm>
            <a:off x="4754880" y="269748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architectural check</a:t>
            </a:r>
          </a:p>
        </p:txBody>
      </p:sp>
      <p:sp>
        <p:nvSpPr>
          <p:cNvPr id="108" name="W2"/>
          <p:cNvSpPr/>
          <p:nvPr/>
        </p:nvSpPr>
        <p:spPr>
          <a:xfrm>
            <a:off x="685800" y="356616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deployment</a:t>
            </a:r>
          </a:p>
        </p:txBody>
      </p:sp>
      <p:cxnSp>
        <p:nvCxnSpPr>
          <p:cNvPr id="109" name="WA2"/>
          <p:cNvCxnSpPr/>
          <p:nvPr/>
        </p:nvCxnSpPr>
        <p:spPr>
          <a:xfrm>
            <a:off x="3977640" y="388620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0" name="E2"/>
          <p:cNvSpPr/>
          <p:nvPr/>
        </p:nvSpPr>
        <p:spPr>
          <a:xfrm>
            <a:off x="4754880" y="356616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policy / admission checks</a:t>
            </a:r>
          </a:p>
        </p:txBody>
      </p:sp>
      <p:sp>
        <p:nvSpPr>
          <p:cNvPr id="120" name="Claim"/>
          <p:cNvSpPr txBox="1"/>
          <p:nvPr/>
        </p:nvSpPr>
        <p:spPr>
          <a:xfrm>
            <a:off x="274320" y="45262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evidentiary burden follows the claim and its consequences,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not the identity of the producer.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Evidence follows the claim — not the author.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producer is not independent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40</a:t>
            </a:fld>
            <a:endParaRPr lang="en-US"/>
          </a:p>
        </p:txBody>
      </p:sp>
      <p:sp>
        <p:nvSpPr>
          <p:cNvPr id="100" name="C0"/>
          <p:cNvSpPr/>
          <p:nvPr/>
        </p:nvSpPr>
        <p:spPr>
          <a:xfrm>
            <a:off x="45720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PRODUCER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PERSON OR AGENT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creates artifact</a:t>
            </a:r>
          </a:p>
        </p:txBody>
      </p:sp>
      <p:cxnSp>
        <p:nvCxnSpPr>
          <p:cNvPr id="101" name="CA0"/>
          <p:cNvCxnSpPr/>
          <p:nvPr/>
        </p:nvCxnSpPr>
        <p:spPr>
          <a:xfrm>
            <a:off x="2944368" y="2583180"/>
            <a:ext cx="374904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1"/>
          <p:cNvSpPr/>
          <p:nvPr/>
        </p:nvSpPr>
        <p:spPr>
          <a:xfrm>
            <a:off x="333756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ENVIRONMENT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obtains and checks evidence</a:t>
            </a:r>
          </a:p>
        </p:txBody>
      </p:sp>
      <p:cxnSp>
        <p:nvCxnSpPr>
          <p:cNvPr id="103" name="CA1"/>
          <p:cNvCxnSpPr/>
          <p:nvPr/>
        </p:nvCxnSpPr>
        <p:spPr>
          <a:xfrm>
            <a:off x="5824728" y="2583180"/>
            <a:ext cx="374904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C2"/>
          <p:cNvSpPr/>
          <p:nvPr/>
        </p:nvSpPr>
        <p:spPr>
          <a:xfrm>
            <a:off x="621792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ACCEPTANCE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the engineering decision</a:t>
            </a:r>
          </a:p>
        </p:txBody>
      </p:sp>
      <p:sp>
        <p:nvSpPr>
          <p:cNvPr id="105" name="Line"/>
          <p:cNvSpPr txBox="1"/>
          <p:nvPr/>
        </p:nvSpPr>
        <p:spPr>
          <a:xfrm>
            <a:off x="274320" y="38404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 producer’s confidence in its own work is a claim,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not independent evidence for the claim.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Acceptance rests on evidence the environment checks.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DELEGATION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The four decisions interact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 the delegation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722376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05" name="MA0"/>
          <p:cNvCxnSpPr/>
          <p:nvPr/>
        </p:nvCxnSpPr>
        <p:spPr>
          <a:xfrm>
            <a:off x="2432304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M1"/>
          <p:cNvSpPr/>
          <p:nvPr/>
        </p:nvSpPr>
        <p:spPr>
          <a:xfrm>
            <a:off x="2724912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06" name="MA1"/>
          <p:cNvCxnSpPr/>
          <p:nvPr/>
        </p:nvCxnSpPr>
        <p:spPr>
          <a:xfrm>
            <a:off x="4434840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M2"/>
          <p:cNvSpPr/>
          <p:nvPr/>
        </p:nvSpPr>
        <p:spPr>
          <a:xfrm>
            <a:off x="4727448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07" name="MA2"/>
          <p:cNvCxnSpPr/>
          <p:nvPr/>
        </p:nvCxnSpPr>
        <p:spPr>
          <a:xfrm>
            <a:off x="6437376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M3"/>
          <p:cNvSpPr/>
          <p:nvPr/>
        </p:nvSpPr>
        <p:spPr>
          <a:xfrm>
            <a:off x="6729984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200" name="RL0"/>
          <p:cNvSpPr/>
          <p:nvPr/>
        </p:nvSpPr>
        <p:spPr>
          <a:xfrm>
            <a:off x="274320" y="2103120"/>
            <a:ext cx="2377440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INCREASE CAPABILITY</a:t>
            </a:r>
          </a:p>
        </p:txBody>
      </p:sp>
      <p:sp>
        <p:nvSpPr>
          <p:cNvPr id="201" name="RV0"/>
          <p:cNvSpPr/>
          <p:nvPr/>
        </p:nvSpPr>
        <p:spPr>
          <a:xfrm>
            <a:off x="2788920" y="2103120"/>
            <a:ext cx="361188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stronger reasoner  ·  better information  ·  better means</a:t>
            </a:r>
          </a:p>
        </p:txBody>
      </p:sp>
      <p:cxnSp>
        <p:nvCxnSpPr>
          <p:cNvPr id="202" name="RA0"/>
          <p:cNvCxnSpPr/>
          <p:nvPr/>
        </p:nvCxnSpPr>
        <p:spPr>
          <a:xfrm>
            <a:off x="6455664" y="2697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3" name="RE0"/>
          <p:cNvSpPr/>
          <p:nvPr/>
        </p:nvSpPr>
        <p:spPr>
          <a:xfrm>
            <a:off x="6803136" y="2103120"/>
            <a:ext cx="20665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may permit broader or less structured delegation</a:t>
            </a:r>
          </a:p>
        </p:txBody>
      </p:sp>
      <p:sp>
        <p:nvSpPr>
          <p:cNvPr id="204" name="RL1"/>
          <p:cNvSpPr/>
          <p:nvPr/>
        </p:nvSpPr>
        <p:spPr>
          <a:xfrm>
            <a:off x="274320" y="3493008"/>
            <a:ext cx="2377440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CHANGE GOVERNANCE</a:t>
            </a:r>
          </a:p>
        </p:txBody>
      </p:sp>
      <p:sp>
        <p:nvSpPr>
          <p:cNvPr id="205" name="RV1"/>
          <p:cNvSpPr/>
          <p:nvPr/>
        </p:nvSpPr>
        <p:spPr>
          <a:xfrm>
            <a:off x="2788920" y="3493008"/>
            <a:ext cx="361188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narrower authority  ·  stronger independent evidence</a:t>
            </a:r>
          </a:p>
        </p:txBody>
      </p:sp>
      <p:cxnSp>
        <p:nvCxnSpPr>
          <p:cNvPr id="206" name="RA1"/>
          <p:cNvCxnSpPr/>
          <p:nvPr/>
        </p:nvCxnSpPr>
        <p:spPr>
          <a:xfrm>
            <a:off x="6455664" y="408736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7" name="RE1"/>
          <p:cNvSpPr/>
          <p:nvPr/>
        </p:nvSpPr>
        <p:spPr>
          <a:xfrm>
            <a:off x="6803136" y="3493008"/>
            <a:ext cx="20665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may make greater autonomy acceptable</a:t>
            </a:r>
          </a:p>
        </p:txBody>
      </p:sp>
      <p:sp>
        <p:nvSpPr>
          <p:cNvPr id="160" name="Inter"/>
          <p:cNvSpPr txBox="1"/>
          <p:nvPr/>
        </p:nvSpPr>
        <p:spPr>
          <a:xfrm>
            <a:off x="274320" y="4974336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Changing one decision can change the appropriate answer to another.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engineering object is the delegation system, not the agent alone.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Better agents change the delegation design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U00"/>
          <p:cNvSpPr/>
          <p:nvPr/>
        </p:nvSpPr>
        <p:spPr>
          <a:xfrm>
            <a:off x="274320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long-horizon reasoning</a:t>
            </a:r>
          </a:p>
        </p:txBody>
      </p:sp>
      <p:sp>
        <p:nvSpPr>
          <p:cNvPr id="101" name="U01"/>
          <p:cNvSpPr/>
          <p:nvPr/>
        </p:nvSpPr>
        <p:spPr>
          <a:xfrm>
            <a:off x="3227832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planning</a:t>
            </a:r>
          </a:p>
        </p:txBody>
      </p:sp>
      <p:sp>
        <p:nvSpPr>
          <p:cNvPr id="102" name="U02"/>
          <p:cNvSpPr/>
          <p:nvPr/>
        </p:nvSpPr>
        <p:spPr>
          <a:xfrm>
            <a:off x="6181344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representations</a:t>
            </a:r>
          </a:p>
        </p:txBody>
      </p:sp>
      <p:sp>
        <p:nvSpPr>
          <p:cNvPr id="103" name="U10"/>
          <p:cNvSpPr/>
          <p:nvPr/>
        </p:nvSpPr>
        <p:spPr>
          <a:xfrm>
            <a:off x="274320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retrieval</a:t>
            </a:r>
          </a:p>
        </p:txBody>
      </p:sp>
      <p:sp>
        <p:nvSpPr>
          <p:cNvPr id="104" name="U11"/>
          <p:cNvSpPr/>
          <p:nvPr/>
        </p:nvSpPr>
        <p:spPr>
          <a:xfrm>
            <a:off x="3227832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tool building</a:t>
            </a:r>
          </a:p>
        </p:txBody>
      </p:sp>
      <p:sp>
        <p:nvSpPr>
          <p:cNvPr id="105" name="U12"/>
          <p:cNvSpPr/>
          <p:nvPr/>
        </p:nvSpPr>
        <p:spPr>
          <a:xfrm>
            <a:off x="6181344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self-checking</a:t>
            </a:r>
          </a:p>
        </p:txBody>
      </p:sp>
      <p:cxnSp>
        <p:nvCxnSpPr>
          <p:cNvPr id="120" name="Down1"/>
          <p:cNvCxnSpPr/>
          <p:nvPr/>
        </p:nvCxnSpPr>
        <p:spPr>
          <a:xfrm>
            <a:off x="4572000" y="2395728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1" name="Better"/>
          <p:cNvSpPr/>
          <p:nvPr/>
        </p:nvSpPr>
        <p:spPr>
          <a:xfrm>
            <a:off x="2834640" y="2743200"/>
            <a:ext cx="347472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BETTER AGENTS</a:t>
            </a:r>
          </a:p>
        </p:txBody>
      </p:sp>
      <p:cxnSp>
        <p:nvCxnSpPr>
          <p:cNvPr id="122" name="Down2"/>
          <p:cNvCxnSpPr/>
          <p:nvPr/>
        </p:nvCxnSpPr>
        <p:spPr>
          <a:xfrm>
            <a:off x="4572000" y="3438144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N0"/>
          <p:cNvSpPr/>
          <p:nvPr/>
        </p:nvSpPr>
        <p:spPr>
          <a:xfrm>
            <a:off x="722376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40" name="Q0"/>
          <p:cNvSpPr/>
          <p:nvPr/>
        </p:nvSpPr>
        <p:spPr>
          <a:xfrm>
            <a:off x="722376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1" name="N1"/>
          <p:cNvSpPr/>
          <p:nvPr/>
        </p:nvSpPr>
        <p:spPr>
          <a:xfrm>
            <a:off x="2724912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41" name="Q1"/>
          <p:cNvSpPr/>
          <p:nvPr/>
        </p:nvSpPr>
        <p:spPr>
          <a:xfrm>
            <a:off x="2724912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2" name="N2"/>
          <p:cNvSpPr/>
          <p:nvPr/>
        </p:nvSpPr>
        <p:spPr>
          <a:xfrm>
            <a:off x="4727448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42" name="Q2"/>
          <p:cNvSpPr/>
          <p:nvPr/>
        </p:nvSpPr>
        <p:spPr>
          <a:xfrm>
            <a:off x="4727448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3" name="N3"/>
          <p:cNvSpPr/>
          <p:nvPr/>
        </p:nvSpPr>
        <p:spPr>
          <a:xfrm>
            <a:off x="6729984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43" name="Q3"/>
          <p:cNvSpPr/>
          <p:nvPr/>
        </p:nvSpPr>
        <p:spPr>
          <a:xfrm>
            <a:off x="6729984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60" name="Supp"/>
          <p:cNvSpPr txBox="1"/>
          <p:nvPr/>
        </p:nvSpPr>
        <p:spPr>
          <a:xfrm>
            <a:off x="274320" y="5138928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Suppose these capabilities improve substantially…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More capable ≠ same delegation design.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changes? What stays?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PSbadge"/>
          <p:cNvSpPr/>
          <p:nvPr/>
        </p:nvSpPr>
        <p:spPr>
          <a:xfrm>
            <a:off x="274320" y="914400"/>
            <a:ext cx="3017520" cy="54864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 xml:space="preserve"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 xml:space="preserve"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B8860B"/>
                </a:solidFill>
              </a:rPr>
              <a:t xml:space="preserve">SHARE</a:t>
            </a:r>
          </a:p>
        </p:txBody>
      </p:sp>
      <p:sp>
        <p:nvSpPr>
          <p:cNvPr id="110" name="N0"/>
          <p:cNvSpPr/>
          <p:nvPr/>
        </p:nvSpPr>
        <p:spPr>
          <a:xfrm>
            <a:off x="722376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20" name="Q0"/>
          <p:cNvSpPr/>
          <p:nvPr/>
        </p:nvSpPr>
        <p:spPr>
          <a:xfrm>
            <a:off x="722376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1" name="N1"/>
          <p:cNvSpPr/>
          <p:nvPr/>
        </p:nvSpPr>
        <p:spPr>
          <a:xfrm>
            <a:off x="2724912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21" name="Q1"/>
          <p:cNvSpPr/>
          <p:nvPr/>
        </p:nvSpPr>
        <p:spPr>
          <a:xfrm>
            <a:off x="2724912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2" name="N2"/>
          <p:cNvSpPr/>
          <p:nvPr/>
        </p:nvSpPr>
        <p:spPr>
          <a:xfrm>
            <a:off x="4727448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22" name="Q2"/>
          <p:cNvSpPr/>
          <p:nvPr/>
        </p:nvSpPr>
        <p:spPr>
          <a:xfrm>
            <a:off x="4727448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3" name="N3"/>
          <p:cNvSpPr/>
          <p:nvPr/>
        </p:nvSpPr>
        <p:spPr>
          <a:xfrm>
            <a:off x="6729984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23" name="Q3"/>
          <p:cNvSpPr/>
          <p:nvPr/>
        </p:nvSpPr>
        <p:spPr>
          <a:xfrm>
            <a:off x="6729984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40" name="P1"/>
          <p:cNvSpPr/>
          <p:nvPr/>
        </p:nvSpPr>
        <p:spPr>
          <a:xfrm>
            <a:off x="274320" y="3182112"/>
            <a:ext cx="8595360" cy="113385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As agents become better at reasoning, constructing their own representations,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and checking their own work, which parts of engineering delegation change?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Which remain?</a:t>
            </a:r>
          </a:p>
        </p:txBody>
      </p:sp>
      <p:sp>
        <p:nvSpPr>
          <p:cNvPr id="141" name="P2"/>
          <p:cNvSpPr/>
          <p:nvPr/>
        </p:nvSpPr>
        <p:spPr>
          <a:xfrm>
            <a:off x="274320" y="4462272"/>
            <a:ext cx="8595360" cy="1207008"/>
          </a:xfrm>
          <a:prstGeom prst="rect">
            <a:avLst/>
          </a:prstGeom>
          <a:solidFill>
            <a:srgbClr val="FBF8F2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If an agent can construct the models it needs and judge its own work,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what engineering knowledge must still exist outside the agent,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and what obligations should the environment itself enforce?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must exist outside the agent?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9" name="Act"/>
          <p:cNvSpPr txBox="1"/>
          <p:nvPr/>
        </p:nvSpPr>
        <p:spPr>
          <a:xfrm>
            <a:off x="274320" y="841248"/>
            <a:ext cx="859536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Rest of Act 2: Controlling delegation to software agents</a:t>
            </a:r>
          </a:p>
        </p:txBody>
      </p:sp>
      <p:sp>
        <p:nvSpPr>
          <p:cNvPr id="100" name="Ch0"/>
          <p:cNvSpPr/>
          <p:nvPr/>
        </p:nvSpPr>
        <p:spPr>
          <a:xfrm>
            <a:off x="722376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05" name="CA0"/>
          <p:cNvCxnSpPr/>
          <p:nvPr/>
        </p:nvCxnSpPr>
        <p:spPr>
          <a:xfrm>
            <a:off x="2432304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Ch1"/>
          <p:cNvSpPr/>
          <p:nvPr/>
        </p:nvSpPr>
        <p:spPr>
          <a:xfrm>
            <a:off x="2724912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06" name="CA1"/>
          <p:cNvCxnSpPr/>
          <p:nvPr/>
        </p:nvCxnSpPr>
        <p:spPr>
          <a:xfrm>
            <a:off x="4434840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h2"/>
          <p:cNvSpPr/>
          <p:nvPr/>
        </p:nvSpPr>
        <p:spPr>
          <a:xfrm>
            <a:off x="4727448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07" name="CA2"/>
          <p:cNvCxnSpPr/>
          <p:nvPr/>
        </p:nvCxnSpPr>
        <p:spPr>
          <a:xfrm>
            <a:off x="6437376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Ch3"/>
          <p:cNvSpPr/>
          <p:nvPr/>
        </p:nvSpPr>
        <p:spPr>
          <a:xfrm>
            <a:off x="6729984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10" name="FQ0"/>
          <p:cNvSpPr/>
          <p:nvPr/>
        </p:nvSpPr>
        <p:spPr>
          <a:xfrm>
            <a:off x="274320" y="2212848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What consequential knowledge should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persist outside a reasoning episode?</a:t>
            </a:r>
          </a:p>
        </p:txBody>
      </p:sp>
      <p:cxnSp>
        <p:nvCxnSpPr>
          <p:cNvPr id="111" name="FA0"/>
          <p:cNvCxnSpPr/>
          <p:nvPr/>
        </p:nvCxnSpPr>
        <p:spPr>
          <a:xfrm>
            <a:off x="5541264" y="265176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FD0"/>
          <p:cNvSpPr/>
          <p:nvPr/>
        </p:nvSpPr>
        <p:spPr>
          <a:xfrm>
            <a:off x="5888736" y="2212848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113" name="FQ1"/>
          <p:cNvSpPr/>
          <p:nvPr/>
        </p:nvSpPr>
        <p:spPr>
          <a:xfrm>
            <a:off x="274320" y="3236976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When should an engineering obligation have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consequences beyond the reasoner’s judgment?</a:t>
            </a:r>
          </a:p>
        </p:txBody>
      </p:sp>
      <p:cxnSp>
        <p:nvCxnSpPr>
          <p:cNvPr id="114" name="FA1"/>
          <p:cNvCxnSpPr/>
          <p:nvPr/>
        </p:nvCxnSpPr>
        <p:spPr>
          <a:xfrm>
            <a:off x="5541264" y="36758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5" name="FD1"/>
          <p:cNvSpPr/>
          <p:nvPr/>
        </p:nvSpPr>
        <p:spPr>
          <a:xfrm>
            <a:off x="5888736" y="3236976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16" name="FQ2"/>
          <p:cNvSpPr/>
          <p:nvPr/>
        </p:nvSpPr>
        <p:spPr>
          <a:xfrm>
            <a:off x="274320" y="4261104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What should change when reality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contradicts what we expected?</a:t>
            </a:r>
          </a:p>
        </p:txBody>
      </p:sp>
      <p:cxnSp>
        <p:nvCxnSpPr>
          <p:cNvPr id="117" name="FA2"/>
          <p:cNvCxnSpPr/>
          <p:nvPr/>
        </p:nvCxnSpPr>
        <p:spPr>
          <a:xfrm>
            <a:off x="5541264" y="4700016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8" name="FD2"/>
          <p:cNvSpPr/>
          <p:nvPr/>
        </p:nvSpPr>
        <p:spPr>
          <a:xfrm>
            <a:off x="5888736" y="4261104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FAILURE-AWARE ENGINEERING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Agents change who can perform realization.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rest of Act II asks how engineering retains informed control.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Please fill this out by 4 PM today</a:t>
            </a:r>
          </a:p>
          <a:p>
            <a:r>
              <a:rPr lang="en-US" dirty="0"/>
              <a:t>https://forms.gle/3MvDXsy6XjrjCp2N6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Phase 2 honest individual status update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984" y="2956964"/>
            <a:ext cx="2596032" cy="259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