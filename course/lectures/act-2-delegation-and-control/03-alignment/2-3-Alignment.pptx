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297" r:id="rId41"/>
    <p:sldId id="298" r:id="rId42"/>
    <p:sldId id="299" r:id="rId14"/>
    <p:sldId id="262" r:id="rId13"/>
    <p:sldId id="300" r:id="rId12"/>
    <p:sldId id="266" r:id="rId17"/>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4.xml"/><Relationship Id="rId11" Type="http://schemas.openxmlformats.org/officeDocument/2006/relationships/slide" Target="slides/slide30.xml"/><Relationship Id="rId12" Type="http://schemas.openxmlformats.org/officeDocument/2006/relationships/slide" Target="slides/slide16.xml"/><Relationship Id="rId13" Type="http://schemas.openxmlformats.org/officeDocument/2006/relationships/slide" Target="slides/slide15.xml"/><Relationship Id="rId14" Type="http://schemas.openxmlformats.org/officeDocument/2006/relationships/slide" Target="slides/slide14.xml"/><Relationship Id="rId15" Type="http://schemas.openxmlformats.org/officeDocument/2006/relationships/slide" Target="slides/slide2.xml"/><Relationship Id="rId16" Type="http://schemas.openxmlformats.org/officeDocument/2006/relationships/slide" Target="slides/slide19.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7.xml"/><Relationship Id="rId34" Type="http://schemas.openxmlformats.org/officeDocument/2006/relationships/slide" Target="slides/slide3.xml"/><Relationship Id="rId35" Type="http://schemas.openxmlformats.org/officeDocument/2006/relationships/slide" Target="slides/slide6.xml"/><Relationship Id="rId36"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39" Type="http://schemas.openxmlformats.org/officeDocument/2006/relationships/slide" Target="slides/slide10.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9" Type="http://schemas.openxmlformats.org/officeDocument/2006/relationships/slide" Target="slides/slide5.xml"/><Relationship Id="rId50" Type="http://schemas.openxmlformats.org/officeDocument/2006/relationships/slide" Target="slides/slide11.xml"/><Relationship Id="rId51" Type="http://schemas.openxmlformats.org/officeDocument/2006/relationships/slide" Target="slides/slide21.xml"/><Relationship Id="rId52" Type="http://schemas.openxmlformats.org/officeDocument/2006/relationships/slide" Target="slides/slide33.xml"/><Relationship Id="rId53" Type="http://schemas.openxmlformats.org/officeDocument/2006/relationships/slide" Target="slides/slide26.xml"/><Relationship Id="rId54" Type="http://schemas.openxmlformats.org/officeDocument/2006/relationships/slide" Target="slides/slide38.xml"/><Relationship Id="rId55" Type="http://schemas.openxmlformats.org/officeDocument/2006/relationships/slide" Target="slides/slide39.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Goal says what we want.</a:t>
            </a:r>
          </a:p>
          <a:p>
            <a:r>
              <a:t>- Scope says where the work belongs.</a:t>
            </a:r>
          </a:p>
          <a:p>
            <a:r>
              <a:t>- Preserve and Do not encode obligations and exclusions.</a:t>
            </a:r>
          </a:p>
          <a:p>
            <a:r>
              <a:t>- Check says what evidence we expect.</a:t>
            </a:r>
          </a:p>
          <a:p>
            <a:r>
              <a:t>- Deliver says when this unit of work terminates.</a:t>
            </a:r>
          </a:p>
          <a:p>
            <a:r>
              <a:t>- Authority says what consequential actions remain outside the delegation.</a:t>
            </a:r>
          </a:p>
          <a:p>
            <a:r>
              <a:t>- Notice that none of this tells the agent exactly how to implement bulk refunds.</a:t>
            </a:r>
          </a:p>
          <a:p>
            <a:r>
              <a:t>- That is deliberate.</a:t>
            </a:r>
          </a:p>
          <a:p>
            <a:r>
              <a:t>ANIMATION</a:t>
            </a:r>
          </a:p>
          <a:p>
            <a:r>
              <a:t>- Reveal the work order row by row.</a:t>
            </a:r>
          </a:p>
          <a:p>
            <a:r>
              <a:t>- Reveal the right-side category labels after each corresponding row, or all together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"Add bulk refunds" describes an outcome.</a:t>
            </a:r>
          </a:p>
          <a:p>
            <a:r>
              <a:t>- Imagine handing that sentence to a human engineer on their first day. What else would they need to know?</a:t>
            </a:r>
          </a:p>
          <a:p>
            <a:r>
              <a:t>- Where may they work? What existing behavior must survive? What may they not touch? What checks establish success? What are they supposed to hand back?</a:t>
            </a:r>
          </a:p>
          <a:p>
            <a:r>
              <a:t>- Agentic engineering does not make those questions disappear.</a:t>
            </a:r>
          </a:p>
          <a:p>
            <a:r>
              <a:t>- In fact, cheap implementation makes it easier to discover that we never answered them.</a:t>
            </a:r>
          </a:p>
          <a:p>
            <a:r>
              <a:t>- Delegation therefore includes both the desired outcome and a process within which the outcome is produced.</a:t>
            </a:r>
          </a:p>
          <a:p>
            <a:r>
              <a:t>ANIMATION</a:t>
            </a:r>
          </a:p>
          <a:p>
            <a:r>
              <a:t>- Show TASK first.</a:t>
            </a:r>
          </a:p>
          <a:p>
            <a:r>
              <a:t>- Ask "what else do you need?" before revealing PROCESS questions.</a:t>
            </a:r>
          </a:p>
          <a:p>
            <a:r>
              <a:t>- Reveal process questions progressively.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Fourth failure: "all tests pass" sounds like evidence, but evidence of what?</a:t>
            </a:r>
          </a:p>
          <a:p>
            <a:r>
              <a:t>- Which tests? What obligation does each test bear on? In what environment did they run? What remains untested?</a:t>
            </a:r>
          </a:p>
          <a:p>
            <a:r>
              <a:t>- Introduce obligation carefully: a condition against which the work can be wrong.</a:t>
            </a:r>
          </a:p>
          <a:p>
            <a:r>
              <a:t>- Evidence is not useful merely because some measurement or test exists. It must bear on an obligation we care about.</a:t>
            </a:r>
          </a:p>
          <a:p>
            <a:r>
              <a:t>- This is why the opening exercise produced different answers to "does it work?" Students silently chose different obligations and collected different evidence.</a:t>
            </a:r>
          </a:p>
          <a:p>
            <a:r>
              <a:t>ANIMATION</a:t>
            </a:r>
          </a:p>
          <a:p>
            <a:r>
              <a:t>- Reveal the agent's claim first: "All tests pass."</a:t>
            </a:r>
          </a:p>
          <a:p>
            <a:r>
              <a:t>- Reveal OBLIGATION definition.</a:t>
            </a:r>
          </a:p>
          <a:p>
            <a:r>
              <a:t>- Reveal the diagnostic questions.</a:t>
            </a:r>
          </a:p>
          <a:p>
            <a:r>
              <a:t>- Reveal "Evidence bears on an obligation" last.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"Do not help the agent" and "If it makes a choice…" only after students have started reading.</a:t>
            </a:r>
          </a:p>
          <a:p>
            <a:r>
              <a:t>- Start the five-minute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a:t>
            </a:r>
          </a:p>
          <a:p>
            <a:r>
              <a:t>- You have four obligations: API preservation, a memory bound, forbidden dependency, and cycle ordering.</a:t>
            </a:r>
          </a:p>
          <a:p>
            <a:r>
              <a:t>- The model is given. Do not spend the activity rediscovering it from implementation.</a:t>
            </a:r>
          </a:p>
          <a:p>
            <a:r>
              <a:t>- Your job is to design the delegated process and its controls.</a:t>
            </a:r>
          </a:p>
          <a:p>
            <a:r>
              <a:t>- Different obligations should lead you toward different evidence, mechanisms, and boundaries.</a:t>
            </a:r>
          </a:p>
          <a:p>
            <a:r>
              <a:t>- Do not assume everything should block everything.</a:t>
            </a:r>
          </a:p>
          <a:p>
            <a:r>
              <a:t>- You should be able to defend why each control sits where you put it.</a:t>
            </a:r>
          </a:p>
          <a:p>
            <a:r>
              <a:t>ANIMATION</a:t>
            </a:r>
          </a:p>
          <a:p>
            <a:r>
              <a:t>- Reveal scenario.</a:t>
            </a:r>
          </a:p>
          <a:p>
            <a:r>
              <a:t>- Reveal obligations one at a time.</a:t>
            </a:r>
          </a:p>
          <a:p>
            <a:r>
              <a:t>- Reveal the given model.</a:t>
            </a:r>
          </a:p>
          <a:p>
            <a:r>
              <a:t>- Reveal "Design the delegated process and its controls" as the start signal.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a:t>
            </a:r>
          </a:p>
          <a:p>
            <a:r>
              <a:t>- For each obligation, walk through the same questions.</a:t>
            </a:r>
          </a:p>
          <a:p>
            <a:r>
              <a:t>- Failure: what specifically can go wrong?</a:t>
            </a:r>
          </a:p>
          <a:p>
            <a:r>
              <a:t>- Obligation: what must actually remain true?</a:t>
            </a:r>
          </a:p>
          <a:p>
            <a:r>
              <a:t>- Control: can the invalid state be prevented, or do you need evidence?</a:t>
            </a:r>
          </a:p>
          <a:p>
            <a:r>
              <a:t>- Evidence: what observation bears on the obligation?</a:t>
            </a:r>
          </a:p>
          <a:p>
            <a:r>
              <a:t>- Boundary: where does enough information exist to decide it?</a:t>
            </a:r>
          </a:p>
          <a:p>
            <a:r>
              <a:t>- Mechanism: which roles are needed?</a:t>
            </a:r>
          </a:p>
          <a:p>
            <a:r>
              <a:t>- Authority: what happens when the verdict is negative?</a:t>
            </a:r>
          </a:p>
          <a:p>
            <a:r>
              <a:t>- Circulate and challenge teams especially on boundary and authority.</a:t>
            </a:r>
          </a:p>
          <a:p>
            <a:r>
              <a:t>- If someone says "run a test," ask what obligation the test establishes.</a:t>
            </a:r>
          </a:p>
          <a:p>
            <a:r>
              <a:t>- If someone says "block the commit," ask whether the obligation is decidable at commit.</a:t>
            </a:r>
          </a:p>
          <a:p>
            <a:r>
              <a:t>- If someone says "tell the agent not to," ask whether the environment can enforce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a:t>
            </a:r>
          </a:p>
          <a:p>
            <a:r>
              <a:t>- Correspondence: do two representations agree?</a:t>
            </a:r>
          </a:p>
          <a:p>
            <a:r>
              <a:t>- Conformance: does an artifact satisfy an independent obligation?</a:t>
            </a:r>
          </a:p>
          <a:p>
            <a:r>
              <a:t>- Acceptance: will the receiving environment accept the artifact?</a:t>
            </a:r>
          </a:p>
          <a:p>
            <a:r>
              <a:t>- These are different claims.</a:t>
            </a:r>
          </a:p>
          <a:p>
            <a:r>
              <a:t>- A model and implementation can correspond perfectly and both be wrong relative to the requirement.</a:t>
            </a:r>
          </a:p>
          <a:p>
            <a:r>
              <a:t>- An artifact can satisfy its requirement but still be rejected by an incompatible receiving environment.</a:t>
            </a:r>
          </a:p>
          <a:p>
            <a:r>
              <a:t>- Evidence for one relation does not establish the others.</a:t>
            </a:r>
          </a:p>
          <a:p>
            <a:r>
              <a:t>- This is why "the implementation matches the model" is not by itself a correctness argument.</a:t>
            </a:r>
          </a:p>
          <a:p>
            <a:r>
              <a:t>ANIMATION</a:t>
            </a:r>
          </a:p>
          <a:p>
            <a:r>
              <a:t>- Reveal CORRESPONDENCE row.</a:t>
            </a:r>
          </a:p>
          <a:p>
            <a:r>
              <a:t>- Reveal CONFORMANCE row.</a:t>
            </a:r>
          </a:p>
          <a:p>
            <a:r>
              <a:t>- Reveal ACCEPTANCE row.</a:t>
            </a:r>
          </a:p>
          <a:p>
            <a:r>
              <a:t>- Reveal "Evidence for one does not establish the others" last.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A prompt that names an outcome is not yet a complete engineering process.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Now we have a process, ask the engineering question: how can it fail?</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So the obvious challenge is: why did we spend the previous lecture on Modeling?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Put the four failures together.</a:t>
            </a:r>
          </a:p>
          <a:p>
            <a:r>
              <a:t>- Wrong result means we need evidence about artifact properties.</a:t>
            </a:r>
          </a:p>
          <a:p>
            <a:r>
              <a:t>- Wrong process means we need to observe or constrain actions, not merely inspect the final state.</a:t>
            </a:r>
          </a:p>
          <a:p>
            <a:r>
              <a:t>- Excess authority means consequential actions must be restricted.</a:t>
            </a:r>
          </a:p>
          <a:p>
            <a:r>
              <a:t>- Insufficient evidence means acceptance must depend on evidence appropriate to the obligation.</a:t>
            </a:r>
          </a:p>
          <a:p>
            <a:r>
              <a:t>- This is why we built the failure model first. Controls should answer plausible failures rather than being accumulated as generic "best practices."</a:t>
            </a:r>
          </a:p>
          <a:p>
            <a:r>
              <a:t>ANIMATION</a:t>
            </a:r>
          </a:p>
          <a:p>
            <a:r>
              <a:t>- Reveal one failure/response row at a time.</a:t>
            </a:r>
          </a:p>
          <a:p>
            <a:r>
              <a:t>- Ask students for the response before revealing it where practical.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Make this concrete with one document-processing-service model.</a:t>
            </a:r>
          </a:p>
          <a:p>
            <a:r>
              <a:t>- Suppose the model includes a lifecycle machine and resource graph.</a:t>
            </a:r>
          </a:p>
          <a:p>
            <a:r>
              <a:t>- From the lifecycle model, ask whether a Completed document can re-enter processing.</a:t>
            </a:r>
          </a:p>
          <a:p>
            <a:r>
              <a:t>- From retry structure, establish whether the retry loop is bounded.</a:t>
            </a:r>
          </a:p>
          <a:p>
            <a:r>
              <a:t>- From the resource graph, calculate peak memory demand.</a:t>
            </a:r>
          </a:p>
          <a:p>
            <a:r>
              <a:t>- These are different validators over shared engineering knowledge.</a:t>
            </a:r>
          </a:p>
          <a:p>
            <a:r>
              <a:t>- Their verdicts may simply be reported, or some may feed a gate.</a:t>
            </a:r>
          </a:p>
          <a:p>
            <a:r>
              <a:t>- The gate is optional because not every judgment should automatically block an action.</a:t>
            </a:r>
          </a:p>
          <a:p>
            <a:r>
              <a:t>- This is what models buy Alignment: explicit engineering knowledge can be consumed by multiple controls without reconstructing the relevant structure separately each time.</a:t>
            </a:r>
          </a:p>
          <a:p>
            <a:r>
              <a:t>ANIMATION</a:t>
            </a:r>
          </a:p>
          <a:p>
            <a:r>
              <a:t>- Reveal the explicit model first.</a:t>
            </a:r>
          </a:p>
          <a:p>
            <a:r>
              <a:t>- Reveal LIFECYCLE CHECK and verdict.</a:t>
            </a:r>
          </a:p>
          <a:p>
            <a:r>
              <a:t>- Reveal RETRY BOUND and verdict.</a:t>
            </a:r>
          </a:p>
          <a:p>
            <a:r>
              <a:t>- Reveal MEMORY ANALYSIS and verdict.</a:t>
            </a:r>
          </a:p>
          <a:p>
            <a:r>
              <a:t>- Reveal VERDICTS.</a:t>
            </a:r>
          </a:p>
          <a:p>
            <a:r>
              <a:t>- Reveal optional GATE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r>
              <a:t/>
            </a:r>
          </a:p>
          <a:p>
            <a:r>
              <a:t>ANIMATION</a:t>
            </a:r>
          </a:p>
          <a:p>
            <a:r>
              <a:t>- Reveal p(T,M,R,H) and the PRODUCTION label first.</a:t>
            </a:r>
          </a:p>
          <a:p>
            <a:r>
              <a:t>- Reveal CANDIDATE.</a:t>
            </a:r>
          </a:p>
          <a:p>
            <a:r>
              <a:t>- Reveal OBLIGATION, EVIDENCE, JUDGMENT, CONSEQUENCE one at a time.</a:t>
            </a:r>
          </a:p>
          <a:p>
            <a:r>
              <a:t>- Reveal the footer last.</a:t>
            </a:r>
          </a:p>
        </p:txBody>
      </p:sp>
    </p:spTree>
  </p:cSld>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orders we give an agent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are we actually asking an agent to do?</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task is not a process</a:t>
            </a:r>
          </a:p>
        </p:txBody>
      </p:sp>
      <p:sp>
        <p:nvSpPr>
          <p:cNvPr id="4" name="Task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TASK</a:t>
            </a:r>
          </a:p>
          <a:p>
            <a:pPr algn="ctr"/>
            <a:r>
              <a:rPr sz="1000" b="0" i="0">
                <a:solidFill>
                  <a:srgbClr val="5C4826"/>
                </a:solidFill>
              </a:rPr>
              <a:t/>
            </a:r>
          </a:p>
          <a:p>
            <a:pPr algn="ctr"/>
            <a:r>
              <a:rPr sz="1800" b="0" i="0">
                <a:solidFill>
                  <a:srgbClr val="5C4826"/>
                </a:solidFill>
              </a:rPr>
              <a:t>Add bulk refunds to the payments service.</a:t>
            </a:r>
          </a:p>
        </p:txBody>
      </p:sp>
      <p:sp>
        <p:nvSpPr>
          <p:cNvPr id="5" name="Process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PROCESS</a:t>
            </a:r>
          </a:p>
          <a:p>
            <a:pPr algn="ctr"/>
            <a:r>
              <a:rPr sz="600" b="0" i="0">
                <a:solidFill>
                  <a:srgbClr val="5C4826"/>
                </a:solidFill>
              </a:rPr>
              <a:t/>
            </a:r>
          </a:p>
          <a:p>
            <a:pPr algn="ctr"/>
            <a:r>
              <a:rPr sz="1600" b="0" i="0">
                <a:solidFill>
                  <a:srgbClr val="5C4826"/>
                </a:solidFill>
              </a:rPr>
              <a:t>Where do you work?</a:t>
            </a:r>
          </a:p>
          <a:p>
            <a:pPr algn="ctr"/>
            <a:r>
              <a:rPr sz="1600" b="0" i="0">
                <a:solidFill>
                  <a:srgbClr val="5C4826"/>
                </a:solidFill>
              </a:rPr>
              <a:t>What may you change?</a:t>
            </a:r>
          </a:p>
          <a:p>
            <a:pPr algn="ctr"/>
            <a:r>
              <a:rPr sz="1600" b="0" i="0">
                <a:solidFill>
                  <a:srgbClr val="5C4826"/>
                </a:solidFill>
              </a:rPr>
              <a:t>What information should you inspect?</a:t>
            </a:r>
          </a:p>
          <a:p>
            <a:pPr algn="ctr"/>
            <a:r>
              <a:rPr sz="1600" b="0" i="0">
                <a:solidFill>
                  <a:srgbClr val="5C4826"/>
                </a:solidFill>
              </a:rPr>
              <a:t>What checks must you run?</a:t>
            </a:r>
          </a:p>
          <a:p>
            <a:pPr algn="ctr"/>
            <a:r>
              <a:rPr sz="1600" b="0" i="0">
                <a:solidFill>
                  <a:srgbClr val="5C4826"/>
                </a:solidFill>
              </a:rPr>
              <a:t>What artifact should you produce?</a:t>
            </a:r>
          </a:p>
          <a:p>
            <a:pPr algn="ctr"/>
            <a:r>
              <a:rPr sz="1600" b="0" i="0">
                <a:solidFill>
                  <a:srgbClr val="5C4826"/>
                </a:solidFill>
              </a:rPr>
              <a:t>When are you finished?</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 task describes an outcome.</a:t>
            </a:r>
          </a:p>
          <a:p>
            <a:pPr algn="ctr"/>
            <a:r>
              <a:rPr sz="1600" b="1" i="0">
                <a:solidFill>
                  <a:srgbClr val="FFFFFF"/>
                </a:solidFill>
              </a:rPr>
              <a:t>Delegation also specifies a process.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292608"/>
          </a:xfrm>
          <a:prstGeom prst="rect">
            <a:avLst/>
          </a:prstGeom>
          <a:noFill/>
        </p:spPr>
        <p:txBody>
          <a:bodyPr wrap="square" anchor="t">
            <a:spAutoFit/>
          </a:bodyPr>
          <a:lstStyle/>
          <a:p>
            <a:pPr algn="l"/>
            <a:r>
              <a:rPr sz="14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commit / PR</a:t>
            </a:r>
          </a:p>
        </p:txBody>
      </p:sp>
      <p:sp>
        <p:nvSpPr>
          <p:cNvPr id="19" name="EnvCaption"/>
          <p:cNvSpPr txBox="1"/>
          <p:nvPr/>
        </p:nvSpPr>
        <p:spPr>
          <a:xfrm>
            <a:off x="274320" y="5559552"/>
            <a:ext cx="8595360" cy="256032"/>
          </a:xfrm>
          <a:prstGeom prst="rect">
            <a:avLst/>
          </a:prstGeom>
          <a:noFill/>
        </p:spPr>
        <p:txBody>
          <a:bodyPr wrap="square" anchor="t">
            <a:spAutoFit/>
          </a:bodyPr>
          <a:lstStyle/>
          <a:p>
            <a:pPr algn="ctr"/>
            <a:r>
              <a:rPr sz="1300" b="0" i="1">
                <a:solidFill>
                  <a:srgbClr val="555960"/>
                </a:solidFill>
              </a:rPr>
              <a:t>Git worktree · branch · issue · repository instructions · tools · tests · CI · PR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4517136"/>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1800" b="1" i="0">
                          <a:solidFill>
                            <a:srgbClr val="FFFFFF"/>
                          </a:solidFill>
                        </a:rPr>
                        <a:t>WORK ORDER: Bulk refunds</a:t>
                      </a:r>
                    </a:p>
                  </a:txBody>
                  <a:tcPr anchor="ctr" marL="68580" marR="45720" marT="27432" marB="27432">
                    <a:solidFill>
                      <a:srgbClr val="8E6F3E"/>
                    </a:solidFill>
                  </a:tcPr>
                </a:tc>
                <a:tc hMerge="1">
                  <a:txBody>
                    <a:bodyPr/>
                    <a:lstStyle/>
                    <a:p/>
                  </a:txBody>
                  <a:tcPr/>
                </a:tc>
              </a:tr>
              <a:tr h="566928">
                <a:tc>
                  <a:txBody>
                    <a:bodyPr wrap="square" anchor="ctr"/>
                    <a:lstStyle/>
                    <a:p>
                      <a:pPr algn="l"/>
                      <a:r>
                        <a:rPr sz="1600" b="1" i="0">
                          <a:solidFill>
                            <a:srgbClr val="5C4826"/>
                          </a:solidFill>
                        </a:rPr>
                        <a:t>Goal</a:t>
                      </a:r>
                    </a:p>
                  </a:txBody>
                  <a:tcPr anchor="ctr" marL="68580" marR="45720" marT="27432" marB="27432">
                    <a:solidFill>
                      <a:srgbClr val="F5F1E8"/>
                    </a:solidFill>
                  </a:tcPr>
                </a:tc>
                <a:tc>
                  <a:txBody>
                    <a:bodyPr wrap="square" anchor="ctr"/>
                    <a:lstStyle/>
                    <a:p>
                      <a:pPr algn="l"/>
                      <a:r>
                        <a:rPr sz="1600" b="0" i="0">
                          <a:solidFill>
                            <a:srgbClr val="5C4826"/>
                          </a:solidFill>
                        </a:rPr>
                        <a:t>Add POST /refunds/bulk</a:t>
                      </a:r>
                    </a:p>
                  </a:txBody>
                  <a:tcPr anchor="ctr" marL="68580" marR="45720" marT="27432" marB="27432">
                    <a:solidFill>
                      <a:srgbClr val="FBF8F2"/>
                    </a:solidFill>
                  </a:tcPr>
                </a:tc>
              </a:tr>
              <a:tr h="566928">
                <a:tc>
                  <a:txBody>
                    <a:bodyPr wrap="square" anchor="ctr"/>
                    <a:lstStyle/>
                    <a:p>
                      <a:pPr algn="l"/>
                      <a:r>
                        <a:rPr sz="1600" b="1" i="0">
                          <a:solidFill>
                            <a:srgbClr val="5C4826"/>
                          </a:solidFill>
                        </a:rPr>
                        <a:t>Scope</a:t>
                      </a:r>
                    </a:p>
                  </a:txBody>
                  <a:tcPr anchor="ctr" marL="68580" marR="45720" marT="27432" marB="27432">
                    <a:solidFill>
                      <a:srgbClr val="F5F1E8"/>
                    </a:solidFill>
                  </a:tcPr>
                </a:tc>
                <a:tc>
                  <a:txBody>
                    <a:bodyPr wrap="square" anchor="ctr"/>
                    <a:lstStyle/>
                    <a:p>
                      <a:pPr algn="l"/>
                      <a:r>
                        <a:rPr sz="1600" b="0" i="0">
                          <a:solidFill>
                            <a:srgbClr val="5C4826"/>
                          </a:solidFill>
                        </a:rPr>
                        <a:t>Modify the payments service only</a:t>
                      </a:r>
                    </a:p>
                  </a:txBody>
                  <a:tcPr anchor="ctr" marL="68580" marR="45720" marT="27432" marB="27432">
                    <a:solidFill>
                      <a:srgbClr val="FBF8F2"/>
                    </a:solidFill>
                  </a:tcPr>
                </a:tc>
              </a:tr>
              <a:tr h="566928">
                <a:tc>
                  <a:txBody>
                    <a:bodyPr wrap="square" anchor="ctr"/>
                    <a:lstStyle/>
                    <a:p>
                      <a:pPr algn="l"/>
                      <a:r>
                        <a:rPr sz="1600" b="1" i="0">
                          <a:solidFill>
                            <a:srgbClr val="5C4826"/>
                          </a:solidFill>
                        </a:rPr>
                        <a:t>Preserve</a:t>
                      </a:r>
                    </a:p>
                  </a:txBody>
                  <a:tcPr anchor="ctr" marL="68580" marR="45720" marT="27432" marB="27432">
                    <a:solidFill>
                      <a:srgbClr val="F5F1E8"/>
                    </a:solidFill>
                  </a:tcPr>
                </a:tc>
                <a:tc>
                  <a:txBody>
                    <a:bodyPr wrap="square" anchor="ctr"/>
                    <a:lstStyle/>
                    <a:p>
                      <a:pPr algn="l"/>
                      <a:r>
                        <a:rPr sz="1600" b="0" i="0">
                          <a:solidFill>
                            <a:srgbClr val="5C4826"/>
                          </a:solidFill>
                        </a:rPr>
                        <a:t>Existing single-refund API behavior</a:t>
                      </a:r>
                    </a:p>
                  </a:txBody>
                  <a:tcPr anchor="ctr" marL="68580" marR="45720" marT="27432" marB="27432">
                    <a:solidFill>
                      <a:srgbClr val="FBF8F2"/>
                    </a:solidFill>
                  </a:tcPr>
                </a:tc>
              </a:tr>
              <a:tr h="566928">
                <a:tc>
                  <a:txBody>
                    <a:bodyPr wrap="square" anchor="ctr"/>
                    <a:lstStyle/>
                    <a:p>
                      <a:pPr algn="l"/>
                      <a:r>
                        <a:rPr sz="1600" b="1" i="0">
                          <a:solidFill>
                            <a:srgbClr val="5C4826"/>
                          </a:solidFill>
                        </a:rPr>
                        <a:t>Do not</a:t>
                      </a:r>
                    </a:p>
                  </a:txBody>
                  <a:tcPr anchor="ctr" marL="68580" marR="45720" marT="27432" marB="27432">
                    <a:solidFill>
                      <a:srgbClr val="F5F1E8"/>
                    </a:solidFill>
                  </a:tcPr>
                </a:tc>
                <a:tc>
                  <a:txBody>
                    <a:bodyPr wrap="square" anchor="ctr"/>
                    <a:lstStyle/>
                    <a:p>
                      <a:pPr algn="l"/>
                      <a:r>
                        <a:rPr sz="1600" b="0" i="0">
                          <a:solidFill>
                            <a:srgbClr val="5C4826"/>
                          </a:solidFill>
                        </a:rPr>
                        <a:t>Modify authentication or payment-provider adapters</a:t>
                      </a:r>
                    </a:p>
                  </a:txBody>
                  <a:tcPr anchor="ctr" marL="68580" marR="45720" marT="27432" marB="27432">
                    <a:solidFill>
                      <a:srgbClr val="FBF8F2"/>
                    </a:solidFill>
                  </a:tcPr>
                </a:tc>
              </a:tr>
              <a:tr h="566928">
                <a:tc>
                  <a:txBody>
                    <a:bodyPr wrap="square" anchor="ctr"/>
                    <a:lstStyle/>
                    <a:p>
                      <a:pPr algn="l"/>
                      <a:r>
                        <a:rPr sz="1600" b="1" i="0">
                          <a:solidFill>
                            <a:srgbClr val="5C4826"/>
                          </a:solidFill>
                        </a:rPr>
                        <a:t>Check</a:t>
                      </a:r>
                    </a:p>
                  </a:txBody>
                  <a:tcPr anchor="ctr" marL="68580" marR="45720" marT="27432" marB="27432">
                    <a:solidFill>
                      <a:srgbClr val="F5F1E8"/>
                    </a:solidFill>
                  </a:tcPr>
                </a:tc>
                <a:tc>
                  <a:txBody>
                    <a:bodyPr wrap="square" anchor="ctr"/>
                    <a:lstStyle/>
                    <a:p>
                      <a:pPr algn="l"/>
                      <a:r>
                        <a:rPr sz="1600" b="0" i="0">
                          <a:solidFill>
                            <a:srgbClr val="5C4826"/>
                          </a:solidFill>
                        </a:rPr>
                        <a:t>Existing tests + new bulk-refund tests</a:t>
                      </a:r>
                    </a:p>
                  </a:txBody>
                  <a:tcPr anchor="ctr" marL="68580" marR="45720" marT="27432" marB="27432">
                    <a:solidFill>
                      <a:srgbClr val="FBF8F2"/>
                    </a:solidFill>
                  </a:tcPr>
                </a:tc>
              </a:tr>
              <a:tr h="566928">
                <a:tc>
                  <a:txBody>
                    <a:bodyPr wrap="square" anchor="ctr"/>
                    <a:lstStyle/>
                    <a:p>
                      <a:pPr algn="l"/>
                      <a:r>
                        <a:rPr sz="1600" b="1" i="0">
                          <a:solidFill>
                            <a:srgbClr val="5C4826"/>
                          </a:solidFill>
                        </a:rPr>
                        <a:t>Deliver</a:t>
                      </a:r>
                    </a:p>
                  </a:txBody>
                  <a:tcPr anchor="ctr" marL="68580" marR="45720" marT="27432" marB="27432">
                    <a:solidFill>
                      <a:srgbClr val="F5F1E8"/>
                    </a:solidFill>
                  </a:tcPr>
                </a:tc>
                <a:tc>
                  <a:txBody>
                    <a:bodyPr wrap="square" anchor="ctr"/>
                    <a:lstStyle/>
                    <a:p>
                      <a:pPr algn="l"/>
                      <a:r>
                        <a:rPr sz="1600" b="0" i="0">
                          <a:solidFill>
                            <a:srgbClr val="5C4826"/>
                          </a:solidFill>
                        </a:rPr>
                        <a:t>Commit changes on your worktree and open a PR</a:t>
                      </a:r>
                    </a:p>
                  </a:txBody>
                  <a:tcPr anchor="ctr" marL="68580" marR="45720" marT="27432" marB="27432">
                    <a:solidFill>
                      <a:srgbClr val="FBF8F2"/>
                    </a:solidFill>
                  </a:tcPr>
                </a:tc>
              </a:tr>
              <a:tr h="566928">
                <a:tc>
                  <a:txBody>
                    <a:bodyPr wrap="square" anchor="ctr"/>
                    <a:lstStyle/>
                    <a:p>
                      <a:pPr algn="l"/>
                      <a:r>
                        <a:rPr sz="1600" b="1" i="0">
                          <a:solidFill>
                            <a:srgbClr val="5C4826"/>
                          </a:solidFill>
                        </a:rPr>
                        <a:t>Authority</a:t>
                      </a:r>
                    </a:p>
                  </a:txBody>
                  <a:tcPr anchor="ctr" marL="68580" marR="45720" marT="27432" marB="27432">
                    <a:solidFill>
                      <a:srgbClr val="F5F1E8"/>
                    </a:solidFill>
                  </a:tcPr>
                </a:tc>
                <a:tc>
                  <a:txBody>
                    <a:bodyPr wrap="square" anchor="ctr"/>
                    <a:lstStyle/>
                    <a:p>
                      <a:pPr algn="l"/>
                      <a:r>
                        <a:rPr sz="1600" b="0" i="0">
                          <a:solidFill>
                            <a:srgbClr val="5C4826"/>
                          </a:solidFill>
                        </a:rPr>
                        <a:t>Do not merge or deploy</a:t>
                      </a:r>
                    </a:p>
                  </a:txBody>
                  <a:tcPr anchor="ctr" marL="68580" marR="45720" marT="27432" marB="27432">
                    <a:solidFill>
                      <a:srgbClr val="FBF8F2"/>
                    </a:solidFill>
                  </a:tcPr>
                </a:tc>
              </a:tr>
            </a:tbl>
          </a:graphicData>
        </a:graphic>
      </p:graphicFrame>
      <p:sp>
        <p:nvSpPr>
          <p:cNvPr id="5" name="Annot-outcome"/>
          <p:cNvSpPr txBox="1"/>
          <p:nvPr/>
        </p:nvSpPr>
        <p:spPr>
          <a:xfrm>
            <a:off x="7178040" y="1664207"/>
            <a:ext cx="1874519" cy="347472"/>
          </a:xfrm>
          <a:prstGeom prst="rect">
            <a:avLst/>
          </a:prstGeom>
          <a:noFill/>
        </p:spPr>
        <p:txBody>
          <a:bodyPr wrap="square" anchor="t">
            <a:spAutoFit/>
          </a:bodyPr>
          <a:lstStyle/>
          <a:p>
            <a:pPr algn="l"/>
            <a:r>
              <a:rPr sz="1400" b="0" i="1">
                <a:solidFill>
                  <a:srgbClr val="555960"/>
                </a:solidFill>
              </a:rPr>
              <a:t>outcome</a:t>
            </a:r>
          </a:p>
        </p:txBody>
      </p:sp>
      <p:sp>
        <p:nvSpPr>
          <p:cNvPr id="6" name="Annot-scope"/>
          <p:cNvSpPr txBox="1"/>
          <p:nvPr/>
        </p:nvSpPr>
        <p:spPr>
          <a:xfrm>
            <a:off x="7178040" y="2231136"/>
            <a:ext cx="1874519" cy="347472"/>
          </a:xfrm>
          <a:prstGeom prst="rect">
            <a:avLst/>
          </a:prstGeom>
          <a:noFill/>
        </p:spPr>
        <p:txBody>
          <a:bodyPr wrap="square" anchor="t">
            <a:spAutoFit/>
          </a:bodyPr>
          <a:lstStyle/>
          <a:p>
            <a:pPr algn="l"/>
            <a:r>
              <a:rPr sz="1400" b="0" i="1">
                <a:solidFill>
                  <a:srgbClr val="555960"/>
                </a:solidFill>
              </a:rPr>
              <a:t>scope</a:t>
            </a:r>
          </a:p>
        </p:txBody>
      </p:sp>
      <p:sp>
        <p:nvSpPr>
          <p:cNvPr id="7" name="Annot-obligations"/>
          <p:cNvSpPr txBox="1"/>
          <p:nvPr/>
        </p:nvSpPr>
        <p:spPr>
          <a:xfrm>
            <a:off x="7178040" y="3081528"/>
            <a:ext cx="1874519" cy="347472"/>
          </a:xfrm>
          <a:prstGeom prst="rect">
            <a:avLst/>
          </a:prstGeom>
          <a:noFill/>
        </p:spPr>
        <p:txBody>
          <a:bodyPr wrap="square" anchor="t">
            <a:spAutoFit/>
          </a:bodyPr>
          <a:lstStyle/>
          <a:p>
            <a:pPr algn="l"/>
            <a:r>
              <a:rPr sz="1400" b="0" i="1">
                <a:solidFill>
                  <a:srgbClr val="555960"/>
                </a:solidFill>
              </a:rPr>
              <a:t>obligations</a:t>
            </a:r>
          </a:p>
        </p:txBody>
      </p:sp>
      <p:sp>
        <p:nvSpPr>
          <p:cNvPr id="8" name="Annot-process"/>
          <p:cNvSpPr txBox="1"/>
          <p:nvPr/>
        </p:nvSpPr>
        <p:spPr>
          <a:xfrm>
            <a:off x="7178040" y="3931920"/>
            <a:ext cx="1874519" cy="347472"/>
          </a:xfrm>
          <a:prstGeom prst="rect">
            <a:avLst/>
          </a:prstGeom>
          <a:noFill/>
        </p:spPr>
        <p:txBody>
          <a:bodyPr wrap="square" anchor="t">
            <a:spAutoFit/>
          </a:bodyPr>
          <a:lstStyle/>
          <a:p>
            <a:pPr algn="l"/>
            <a:r>
              <a:rPr sz="1400" b="0" i="1">
                <a:solidFill>
                  <a:srgbClr val="555960"/>
                </a:solidFill>
              </a:rPr>
              <a:t>process</a:t>
            </a:r>
          </a:p>
        </p:txBody>
      </p:sp>
      <p:sp>
        <p:nvSpPr>
          <p:cNvPr id="9" name="Annot-stopping condition"/>
          <p:cNvSpPr txBox="1"/>
          <p:nvPr/>
        </p:nvSpPr>
        <p:spPr>
          <a:xfrm>
            <a:off x="7178040" y="4498848"/>
            <a:ext cx="1874519" cy="347472"/>
          </a:xfrm>
          <a:prstGeom prst="rect">
            <a:avLst/>
          </a:prstGeom>
          <a:noFill/>
        </p:spPr>
        <p:txBody>
          <a:bodyPr wrap="square" anchor="t">
            <a:spAutoFit/>
          </a:bodyPr>
          <a:lstStyle/>
          <a:p>
            <a:pPr algn="l"/>
            <a:r>
              <a:rPr sz="1400" b="0" i="1">
                <a:solidFill>
                  <a:srgbClr val="555960"/>
                </a:solidFill>
              </a:rPr>
              <a:t>stopping condition</a:t>
            </a:r>
          </a:p>
        </p:txBody>
      </p:sp>
      <p:sp>
        <p:nvSpPr>
          <p:cNvPr id="10" name="Annot-authority"/>
          <p:cNvSpPr txBox="1"/>
          <p:nvPr/>
        </p:nvSpPr>
        <p:spPr>
          <a:xfrm>
            <a:off x="7178040" y="5065776"/>
            <a:ext cx="1874519" cy="347472"/>
          </a:xfrm>
          <a:prstGeom prst="rect">
            <a:avLst/>
          </a:prstGeom>
          <a:noFill/>
        </p:spPr>
        <p:txBody>
          <a:bodyPr wrap="square" anchor="t">
            <a:spAutoFit/>
          </a:bodyPr>
          <a:lstStyle/>
          <a:p>
            <a:pPr algn="l"/>
            <a:r>
              <a:rPr sz="1400" b="0" i="1">
                <a:solidFill>
                  <a:srgbClr val="555960"/>
                </a:solidFill>
              </a:rPr>
              <a:t>authority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Orders reduce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1600" b="0" i="0">
                <a:solidFill>
                  <a:srgbClr val="5C4826"/>
                </a:solidFill>
              </a:rPr>
              <a:t>worktree</a:t>
            </a:r>
          </a:p>
          <a:p>
            <a:pPr algn="ctr"/>
            <a:r>
              <a:rPr sz="1600" b="0" i="0">
                <a:solidFill>
                  <a:srgbClr val="5C4826"/>
                </a:solidFill>
              </a:rPr>
              <a:t>files in scope</a:t>
            </a:r>
          </a:p>
          <a:p>
            <a:pPr algn="ctr"/>
            <a:r>
              <a:rPr sz="1600" b="0" i="0">
                <a:solidFill>
                  <a:srgbClr val="5C4826"/>
                </a:solidFill>
              </a:rPr>
              <a:t>forbidden actions</a:t>
            </a:r>
          </a:p>
          <a:p>
            <a:pPr algn="ctr"/>
            <a:r>
              <a:rPr sz="1600" b="0" i="0">
                <a:solidFill>
                  <a:srgbClr val="5C4826"/>
                </a:solidFill>
              </a:rPr>
              <a:t>required checks</a:t>
            </a:r>
          </a:p>
          <a:p>
            <a:pPr algn="ctr"/>
            <a:r>
              <a:rPr sz="16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1600" b="0" i="0">
                <a:solidFill>
                  <a:srgbClr val="5C4826"/>
                </a:solidFill>
              </a:rPr>
              <a:t>local implementation</a:t>
            </a:r>
          </a:p>
          <a:p>
            <a:pPr algn="ctr"/>
            <a:r>
              <a:rPr sz="1600" b="0" i="0">
                <a:solidFill>
                  <a:srgbClr val="5C4826"/>
                </a:solidFill>
              </a:rPr>
              <a:t>decomposition</a:t>
            </a:r>
          </a:p>
          <a:p>
            <a:pPr algn="ctr"/>
            <a:r>
              <a:rPr sz="1600" b="0" i="0">
                <a:solidFill>
                  <a:srgbClr val="5C4826"/>
                </a:solidFill>
              </a:rPr>
              <a:t>naming choices</a:t>
            </a:r>
          </a:p>
          <a:p>
            <a:pPr algn="ctr"/>
            <a:r>
              <a:rPr sz="1600" b="0" i="0">
                <a:solidFill>
                  <a:srgbClr val="5C4826"/>
                </a:solidFill>
              </a:rPr>
              <a:t>algorithm, where unconstrained</a:t>
            </a:r>
          </a:p>
          <a:p>
            <a:pPr algn="ctr"/>
            <a:r>
              <a:rPr sz="1600" b="0" i="0">
                <a:solidFill>
                  <a:srgbClr val="5C4826"/>
                </a:solidFill>
              </a:rPr>
              <a:t>order of intermediate edits</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Good delegation constrains consequential choices</a:t>
            </a:r>
          </a:p>
          <a:p>
            <a:pPr algn="ctr"/>
            <a:r>
              <a:rPr sz="1600" b="1" i="0">
                <a:solidFill>
                  <a:srgbClr val="FFFFFF"/>
                </a:solidFill>
              </a:rPr>
              <a:t>without prescribing every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320040"/>
          </a:xfrm>
          <a:prstGeom prst="rect">
            <a:avLst/>
          </a:prstGeom>
          <a:noFill/>
        </p:spPr>
        <p:txBody>
          <a:bodyPr wrap="square" anchor="t">
            <a:spAutoFit/>
          </a:bodyPr>
          <a:lstStyle/>
          <a:p>
            <a:pPr algn="ctr"/>
            <a:r>
              <a:rPr sz="15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pPr algn="ctr"/>
            <a:r>
              <a:rPr sz="2000" b="0" i="0">
                <a:solidFill>
                  <a:srgbClr val="5C4826"/>
                </a:solidFill>
              </a:rPr>
              <a:t>A process model says what work may happen, in what environment, and what must be established before work proceeds.</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go wrong between the work order and the result?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result can be wrong</a:t>
            </a:r>
          </a:p>
        </p:txBody>
      </p:sp>
      <p:sp>
        <p:nvSpPr>
          <p:cNvPr id="4" name="Example"/>
          <p:cNvSpPr txBox="1"/>
          <p:nvPr/>
        </p:nvSpPr>
        <p:spPr>
          <a:xfrm>
            <a:off x="274320" y="932688"/>
            <a:ext cx="8595360" cy="640080"/>
          </a:xfrm>
          <a:prstGeom prst="rect">
            <a:avLst/>
          </a:prstGeom>
          <a:noFill/>
        </p:spPr>
        <p:txBody>
          <a:bodyPr wrap="square" anchor="t">
            <a:spAutoFit/>
          </a:bodyPr>
          <a:lstStyle/>
          <a:p>
            <a:pPr algn="l"/>
            <a:r>
              <a:rPr sz="1700" b="0" i="1">
                <a:solidFill>
                  <a:srgbClr val="555960"/>
                </a:solidFill>
              </a:rPr>
              <a:t>Requirement: existing clients continue to behave identically.</a:t>
            </a:r>
          </a:p>
          <a:p>
            <a:pPr algn="l"/>
            <a:r>
              <a:rPr sz="17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365760"/>
          </a:xfrm>
          <a:prstGeom prst="rect">
            <a:avLst/>
          </a:prstGeom>
          <a:noFill/>
        </p:spPr>
        <p:txBody>
          <a:bodyPr wrap="square" anchor="t">
            <a:spAutoFit/>
          </a:bodyPr>
          <a:lstStyle/>
          <a:p>
            <a:pPr algn="ctr"/>
            <a:r>
              <a:rPr sz="15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365760"/>
          </a:xfrm>
          <a:prstGeom prst="rect">
            <a:avLst/>
          </a:prstGeom>
          <a:noFill/>
        </p:spPr>
        <p:txBody>
          <a:bodyPr wrap="square" anchor="t">
            <a:spAutoFit/>
          </a:bodyPr>
          <a:lstStyle/>
          <a:p>
            <a:pPr algn="ctr"/>
            <a:r>
              <a:rPr sz="15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do the wrong work</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exceed its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evidence can be insufficient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Which tests?</a:t>
            </a:r>
          </a:p>
        </p:txBody>
      </p:sp>
      <p:sp>
        <p:nvSpPr>
          <p:cNvPr id="10" name="Rectangle 9"/>
          <p:cNvSpPr/>
          <p:nvPr/>
        </p:nvSpPr>
        <p:spPr>
          <a:xfrm>
            <a:off x="2596896"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Against which obligations?</a:t>
            </a:r>
          </a:p>
        </p:txBody>
      </p:sp>
      <p:sp>
        <p:nvSpPr>
          <p:cNvPr id="11" name="Rectangle 10"/>
          <p:cNvSpPr/>
          <p:nvPr/>
        </p:nvSpPr>
        <p:spPr>
          <a:xfrm>
            <a:off x="4672584"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In which environment?</a:t>
            </a:r>
          </a:p>
        </p:txBody>
      </p:sp>
      <p:sp>
        <p:nvSpPr>
          <p:cNvPr id="12" name="Rectangle 11"/>
          <p:cNvSpPr/>
          <p:nvPr/>
        </p:nvSpPr>
        <p:spPr>
          <a:xfrm>
            <a:off x="6748272"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bears on an obligation.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6" name="FCHeadFailure"/>
          <p:cNvSpPr txBox="1"/>
          <p:nvPr/>
        </p:nvSpPr>
        <p:spPr>
          <a:xfrm>
            <a:off x="502920" y="932688"/>
            <a:ext cx="3291840" cy="292608"/>
          </a:xfrm>
          <a:prstGeom prst="rect">
            <a:avLst/>
          </a:prstGeom>
          <a:noFill/>
        </p:spPr>
        <p:txBody>
          <a:bodyPr wrap="square" anchor="t" lIns="27432" rIns="27432" tIns="22860" bIns="22860">
            <a:spAutoFit/>
          </a:bodyPr>
          <a:lstStyle/>
          <a:p>
            <a:pPr algn="ctr"/>
            <a:r>
              <a:rPr sz="1200" b="1" i="0">
                <a:solidFill>
                  <a:srgbClr val="8E6F3E"/>
                </a:solidFill>
              </a:rPr>
              <a:t>FAILURE</a:t>
            </a:r>
          </a:p>
        </p:txBody>
      </p:sp>
      <p:sp>
        <p:nvSpPr>
          <p:cNvPr id="7" name="FCHeadResponse"/>
          <p:cNvSpPr txBox="1"/>
          <p:nvPr/>
        </p:nvSpPr>
        <p:spPr>
          <a:xfrm>
            <a:off x="4800600" y="932688"/>
            <a:ext cx="3840480" cy="292608"/>
          </a:xfrm>
          <a:prstGeom prst="rect">
            <a:avLst/>
          </a:prstGeom>
          <a:noFill/>
        </p:spPr>
        <p:txBody>
          <a:bodyPr wrap="square" anchor="t" lIns="27432" rIns="27432" tIns="22860" bIns="22860">
            <a:spAutoFit/>
          </a:bodyPr>
          <a:lstStyle/>
          <a:p>
            <a:pPr algn="ctr"/>
            <a:r>
              <a:rPr sz="1200" b="1" i="0">
                <a:solidFill>
                  <a:srgbClr val="8E6F3E"/>
                </a:solidFill>
              </a:rPr>
              <a:t>ENGINEERING RESPONSE</a:t>
            </a:r>
          </a:p>
        </p:txBody>
      </p:sp>
      <p:sp>
        <p:nvSpPr>
          <p:cNvPr id="8" name="FCFail1"/>
          <p:cNvSpPr/>
          <p:nvPr/>
        </p:nvSpPr>
        <p:spPr>
          <a:xfrm>
            <a:off x="502920" y="1325880"/>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RESULT</a:t>
            </a:r>
          </a:p>
        </p:txBody>
      </p:sp>
      <p:sp>
        <p:nvSpPr>
          <p:cNvPr id="9" name="FCResp1"/>
          <p:cNvSpPr/>
          <p:nvPr/>
        </p:nvSpPr>
        <p:spPr>
          <a:xfrm>
            <a:off x="4800600" y="1325880"/>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establish properties of the artifact</a:t>
            </a:r>
          </a:p>
        </p:txBody>
      </p:sp>
      <p:cxnSp>
        <p:nvCxnSpPr>
          <p:cNvPr id="10" name="FCArrow1"/>
          <p:cNvCxnSpPr/>
          <p:nvPr/>
        </p:nvCxnSpPr>
        <p:spPr>
          <a:xfrm>
            <a:off x="3794760" y="1746504"/>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CFail2"/>
          <p:cNvSpPr/>
          <p:nvPr/>
        </p:nvSpPr>
        <p:spPr>
          <a:xfrm>
            <a:off x="502920" y="2304288"/>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PROCESS</a:t>
            </a:r>
          </a:p>
        </p:txBody>
      </p:sp>
      <p:sp>
        <p:nvSpPr>
          <p:cNvPr id="12" name="FCResp2"/>
          <p:cNvSpPr/>
          <p:nvPr/>
        </p:nvSpPr>
        <p:spPr>
          <a:xfrm>
            <a:off x="4800600" y="2304288"/>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observe or constrain actions</a:t>
            </a:r>
          </a:p>
        </p:txBody>
      </p:sp>
      <p:cxnSp>
        <p:nvCxnSpPr>
          <p:cNvPr id="13" name="FCArrow2"/>
          <p:cNvCxnSpPr/>
          <p:nvPr/>
        </p:nvCxnSpPr>
        <p:spPr>
          <a:xfrm>
            <a:off x="3794760" y="2724912"/>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FCFail3"/>
          <p:cNvSpPr/>
          <p:nvPr/>
        </p:nvSpPr>
        <p:spPr>
          <a:xfrm>
            <a:off x="502920" y="3282696"/>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EXCESS AUTHORITY</a:t>
            </a:r>
          </a:p>
        </p:txBody>
      </p:sp>
      <p:sp>
        <p:nvSpPr>
          <p:cNvPr id="15" name="FCResp3"/>
          <p:cNvSpPr/>
          <p:nvPr/>
        </p:nvSpPr>
        <p:spPr>
          <a:xfrm>
            <a:off x="4800600" y="3282696"/>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restrict consequential actions</a:t>
            </a:r>
          </a:p>
        </p:txBody>
      </p:sp>
      <p:cxnSp>
        <p:nvCxnSpPr>
          <p:cNvPr id="16" name="FCArrow3"/>
          <p:cNvCxnSpPr/>
          <p:nvPr/>
        </p:nvCxnSpPr>
        <p:spPr>
          <a:xfrm>
            <a:off x="3794760" y="3703320"/>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FCFail4"/>
          <p:cNvSpPr/>
          <p:nvPr/>
        </p:nvSpPr>
        <p:spPr>
          <a:xfrm>
            <a:off x="502920" y="4261104"/>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INSUFFICIENT EVIDENCE</a:t>
            </a:r>
          </a:p>
        </p:txBody>
      </p:sp>
      <p:sp>
        <p:nvSpPr>
          <p:cNvPr id="18" name="FCResp4"/>
          <p:cNvSpPr/>
          <p:nvPr/>
        </p:nvSpPr>
        <p:spPr>
          <a:xfrm>
            <a:off x="4800600" y="4261104"/>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require evidence before acceptance</a:t>
            </a:r>
          </a:p>
        </p:txBody>
      </p:sp>
      <p:cxnSp>
        <p:nvCxnSpPr>
          <p:cNvPr id="19" name="FCArrow4"/>
          <p:cNvCxnSpPr/>
          <p:nvPr/>
        </p:nvCxnSpPr>
        <p:spPr>
          <a:xfrm>
            <a:off x="3794760" y="4681728"/>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91440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94183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1591056"/>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1618488"/>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2267712"/>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2295144"/>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2944368"/>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2971800"/>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17" name="TextBox 16"/>
          <p:cNvSpPr txBox="1"/>
          <p:nvPr/>
        </p:nvSpPr>
        <p:spPr>
          <a:xfrm>
            <a:off x="274320" y="3639312"/>
            <a:ext cx="8595360" cy="384048"/>
          </a:xfrm>
          <a:prstGeom prst="rect">
            <a:avLst/>
          </a:prstGeom>
          <a:noFill/>
        </p:spPr>
        <p:txBody>
          <a:bodyPr wrap="square" anchor="t">
            <a:spAutoFit/>
          </a:bodyPr>
          <a:lstStyle/>
          <a:p>
            <a:pPr algn="ctr"/>
            <a:r>
              <a:rPr sz="1300" b="0" i="1">
                <a:solidFill>
                  <a:srgbClr val="555960"/>
                </a:solidFill>
              </a:rPr>
              <a:t>These are roles, not four required components. One mechanism may play several roles.</a:t>
            </a:r>
          </a:p>
        </p:txBody>
      </p:sp>
      <p:sp>
        <p:nvSpPr>
          <p:cNvPr id="18" name="PairObligation"/>
          <p:cNvSpPr/>
          <p:nvPr/>
        </p:nvSpPr>
        <p:spPr>
          <a:xfrm>
            <a:off x="3017520" y="4096512"/>
            <a:ext cx="3108960" cy="4389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ENGINEERING OBLIGATION</a:t>
            </a:r>
          </a:p>
        </p:txBody>
      </p:sp>
      <p:sp>
        <p:nvSpPr>
          <p:cNvPr id="19" name="PairWorkState"/>
          <p:cNvSpPr/>
          <p:nvPr/>
        </p:nvSpPr>
        <p:spPr>
          <a:xfrm>
            <a:off x="123444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WORK / STATE</a:t>
            </a:r>
          </a:p>
        </p:txBody>
      </p:sp>
      <p:sp>
        <p:nvSpPr>
          <p:cNvPr id="20" name="PairDecision"/>
          <p:cNvSpPr/>
          <p:nvPr/>
        </p:nvSpPr>
        <p:spPr>
          <a:xfrm>
            <a:off x="562356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DECISION / ADMISSION</a:t>
            </a:r>
          </a:p>
        </p:txBody>
      </p:sp>
      <p:sp>
        <p:nvSpPr>
          <p:cNvPr id="21" name="PairLeafConstraint"/>
          <p:cNvSpPr/>
          <p:nvPr/>
        </p:nvSpPr>
        <p:spPr>
          <a:xfrm>
            <a:off x="50292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CONSTRAINT</a:t>
            </a:r>
          </a:p>
          <a:p>
            <a:pPr algn="ctr"/>
            <a:r>
              <a:rPr sz="1000" b="0" i="1">
                <a:solidFill>
                  <a:srgbClr val="555960"/>
                </a:solidFill>
              </a:rPr>
              <a:t>what may happen</a:t>
            </a:r>
          </a:p>
        </p:txBody>
      </p:sp>
      <p:sp>
        <p:nvSpPr>
          <p:cNvPr id="22" name="PairLeafSensor"/>
          <p:cNvSpPr/>
          <p:nvPr/>
        </p:nvSpPr>
        <p:spPr>
          <a:xfrm>
            <a:off x="246888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SENSOR</a:t>
            </a:r>
          </a:p>
          <a:p>
            <a:pPr algn="ctr"/>
            <a:r>
              <a:rPr sz="1000" b="0" i="1">
                <a:solidFill>
                  <a:srgbClr val="555960"/>
                </a:solidFill>
              </a:rPr>
              <a:t>what happened</a:t>
            </a:r>
          </a:p>
        </p:txBody>
      </p:sp>
      <p:sp>
        <p:nvSpPr>
          <p:cNvPr id="23" name="PairLeafValidator"/>
          <p:cNvSpPr/>
          <p:nvPr/>
        </p:nvSpPr>
        <p:spPr>
          <a:xfrm>
            <a:off x="489204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VALIDATOR</a:t>
            </a:r>
          </a:p>
          <a:p>
            <a:pPr algn="ctr"/>
            <a:r>
              <a:rPr sz="1000" b="0" i="1">
                <a:solidFill>
                  <a:srgbClr val="555960"/>
                </a:solidFill>
              </a:rPr>
              <a:t>is it OK?</a:t>
            </a:r>
          </a:p>
        </p:txBody>
      </p:sp>
      <p:sp>
        <p:nvSpPr>
          <p:cNvPr id="24" name="PairLeafGate"/>
          <p:cNvSpPr/>
          <p:nvPr/>
        </p:nvSpPr>
        <p:spPr>
          <a:xfrm>
            <a:off x="685800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GATE</a:t>
            </a:r>
          </a:p>
          <a:p>
            <a:pPr algn="ctr"/>
            <a:r>
              <a:rPr sz="1000" b="0" i="1">
                <a:solidFill>
                  <a:srgbClr val="555960"/>
                </a:solidFill>
              </a:rPr>
              <a:t>may it pass?</a:t>
            </a:r>
          </a:p>
        </p:txBody>
      </p:sp>
      <p:cxnSp>
        <p:nvCxnSpPr>
          <p:cNvPr id="25" name="PairConnL"/>
          <p:cNvCxnSpPr/>
          <p:nvPr/>
        </p:nvCxnSpPr>
        <p:spPr>
          <a:xfrm flipH="1">
            <a:off x="237744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PairConnR"/>
          <p:cNvCxnSpPr/>
          <p:nvPr/>
        </p:nvCxnSpPr>
        <p:spPr>
          <a:xfrm>
            <a:off x="457200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PairConnL1"/>
          <p:cNvCxnSpPr/>
          <p:nvPr/>
        </p:nvCxnSpPr>
        <p:spPr>
          <a:xfrm flipH="1">
            <a:off x="13944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PairConnL2"/>
          <p:cNvCxnSpPr/>
          <p:nvPr/>
        </p:nvCxnSpPr>
        <p:spPr>
          <a:xfrm>
            <a:off x="237744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PairConnR1"/>
          <p:cNvCxnSpPr/>
          <p:nvPr/>
        </p:nvCxnSpPr>
        <p:spPr>
          <a:xfrm flipH="1">
            <a:off x="578358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PairConnR2"/>
          <p:cNvCxnSpPr/>
          <p:nvPr/>
        </p:nvCxnSpPr>
        <p:spPr>
          <a:xfrm>
            <a:off x="67665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18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18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1800" b="0" i="1">
                <a:solidFill>
                  <a:srgbClr val="555960"/>
                </a:solidFill>
              </a:rPr>
              <a:t>admits</a:t>
            </a:r>
          </a:p>
        </p:txBody>
      </p:sp>
      <p:sp>
        <p:nvSpPr>
          <p:cNvPr id="26" name="Rectangle 25"/>
          <p:cNvSpPr/>
          <p:nvPr/>
        </p:nvSpPr>
        <p:spPr>
          <a:xfrm>
            <a:off x="6757415"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1800" b="0" i="1">
                <a:solidFill>
                  <a:srgbClr val="555960"/>
                </a:solidFill>
              </a:rPr>
              <a:t>The agent may modify and propose freely.</a:t>
            </a:r>
          </a:p>
          <a:p>
            <a:pPr algn="ctr"/>
            <a:r>
              <a:rPr sz="18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18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18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 xml:space="preserve">OBLIGATION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1" i="0">
                <a:solidFill>
                  <a:srgbClr val="FBF8F2"/>
                </a:solidFill>
              </a:rPr>
              <a:t xml:space="preserve">ONE EXPLICIT MODEL  </a:t>
            </a:r>
            <a:r>
              <a:rPr sz="1050" b="0" i="1">
                <a:solidFill>
                  <a:srgbClr val="FBF8F2"/>
                </a:solidFill>
              </a:rPr>
              <a:t>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GIVEN MODEL</a:t>
            </a:r>
          </a:p>
          <a:p>
            <a:pPr algn="l"/>
            <a:r>
              <a:rPr sz="1200" b="0" i="0">
                <a:solidFill>
                  <a:srgbClr val="5C4826"/>
                </a:solidFill>
                <a:latin typeface="Consolas"/>
              </a:rPr>
              <a:t>Controller</a:t>
            </a:r>
          </a:p>
          <a:p>
            <a:pPr algn="l"/>
            <a:r>
              <a:rPr sz="1200" b="0" i="0">
                <a:solidFill>
                  <a:srgbClr val="5C4826"/>
                </a:solidFill>
                <a:latin typeface="Consolas"/>
              </a:rPr>
              <a:t xml:space="preserve"> ├─ API: IController</a:t>
            </a:r>
          </a:p>
          <a:p>
            <a:pPr algn="l"/>
            <a:r>
              <a:rPr sz="1200" b="0" i="0">
                <a:solidFill>
                  <a:srgbClr val="5C4826"/>
                </a:solidFill>
                <a:latin typeface="Consolas"/>
              </a:rPr>
              <a:t xml:space="preserve"> ├─ uses → Sensor</a:t>
            </a:r>
          </a:p>
          <a:p>
            <a:pPr algn="l"/>
            <a:r>
              <a:rPr sz="1200" b="0" i="0">
                <a:solidFill>
                  <a:srgbClr val="5C4826"/>
                </a:solidFill>
                <a:latin typeface="Consolas"/>
              </a:rPr>
              <a:t xml:space="preserve"> ├─ uses → Actuator</a:t>
            </a:r>
          </a:p>
          <a:p>
            <a:pPr algn="l"/>
            <a:r>
              <a:rPr sz="1200" b="0" i="0">
                <a:solidFill>
                  <a:srgbClr val="5C4826"/>
                </a:solidFill>
                <a:latin typeface="Consolas"/>
              </a:rPr>
              <a:t xml:space="preserve"> ├─ forbidden → CloudSDK</a:t>
            </a:r>
          </a:p>
          <a:p>
            <a:pPr algn="l"/>
            <a:r>
              <a:rPr sz="1200" b="0" i="0">
                <a:solidFill>
                  <a:srgbClr val="5C4826"/>
                </a:solidFill>
                <a:latin typeface="Consolas"/>
              </a:rPr>
              <a:t xml:space="preserve"> └─ memory ≤ 64 MB</a:t>
            </a:r>
          </a:p>
          <a:p>
            <a:pPr algn="l"/>
            <a:r>
              <a:rPr sz="1050" b="0" i="1">
                <a:solidFill>
                  <a:srgbClr val="555960"/>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a:t>
            </a:r>
          </a:p>
          <a:p>
            <a:pPr algn="l"/>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evidence</a:t>
            </a:r>
          </a:p>
          <a:p>
            <a:pPr algn="l"/>
            <a:r>
              <a:rPr sz="1700" b="0" i="0">
                <a:solidFill>
                  <a:srgbClr val="5C4826"/>
                </a:solidFill>
              </a:rPr>
              <a:t>Can the failure be prevented, or must it be observed and evaluated?</a:t>
            </a:r>
          </a:p>
        </p:txBody>
      </p:sp>
      <p:sp>
        <p:nvSpPr>
          <p:cNvPr id="12" name="Compare3"/>
          <p:cNvSpPr/>
          <p:nvPr/>
        </p:nvSpPr>
        <p:spPr>
          <a:xfrm>
            <a:off x="502920" y="2880360"/>
            <a:ext cx="8138160" cy="932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a:t>
            </a:r>
          </a:p>
          <a:p>
            <a:pPr algn="l"/>
            <a:r>
              <a:rPr sz="17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a:t>
            </a:r>
          </a:p>
          <a:p>
            <a:pPr algn="l"/>
            <a:r>
              <a:rPr sz="17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1600" b="1" i="1" dirty="0">
                <a:solidFill>
                  <a:srgbClr val="8E6F3E"/>
                </a:solidFill>
              </a:rPr>
              <a:t>T</a:t>
            </a:r>
            <a:r>
              <a:rPr lang="en-US" sz="1600" b="0" dirty="0">
                <a:solidFill>
                  <a:srgbClr val="555960"/>
                </a:solidFill>
              </a:rPr>
              <a:t xml:space="preserve"> task   ·   </a:t>
            </a:r>
            <a:r>
              <a:rPr lang="en-US" sz="1600" b="1" i="1" dirty="0">
                <a:solidFill>
                  <a:srgbClr val="8E6F3E"/>
                </a:solidFill>
              </a:rPr>
              <a:t>M</a:t>
            </a:r>
            <a:r>
              <a:rPr lang="en-US" sz="1600" b="0" dirty="0">
                <a:solidFill>
                  <a:srgbClr val="555960"/>
                </a:solidFill>
              </a:rPr>
              <a:t xml:space="preserve"> reasoning model   ·   </a:t>
            </a:r>
            <a:r>
              <a:rPr lang="en-US" sz="1600" b="1" i="1" dirty="0">
                <a:solidFill>
                  <a:srgbClr val="8E6F3E"/>
                </a:solidFill>
              </a:rPr>
              <a:t>R</a:t>
            </a:r>
            <a:r>
              <a:rPr lang="en-US" sz="1600" b="0" dirty="0">
                <a:solidFill>
                  <a:srgbClr val="555960"/>
                </a:solidFill>
              </a:rPr>
              <a:t xml:space="preserve"> representation   ·   </a:t>
            </a:r>
            <a:r>
              <a:rPr lang="en-US" sz="1600" b="1" i="1" dirty="0">
                <a:solidFill>
                  <a:srgbClr val="8E6F3E"/>
                </a:solidFill>
              </a:rPr>
              <a:t>H</a:t>
            </a:r>
            <a:r>
              <a:rPr lang="en-US" sz="16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822960"/>
          </a:xfrm>
          <a:prstGeom prst="rect">
            <a:avLst/>
          </a:prstGeom>
          <a:noFill/>
          <a:ln>
            <a:noFill/>
          </a:ln>
        </p:spPr>
        <p:txBody>
          <a:bodyPr wrap="square" lIns="0" tIns="0" rIns="0" bIns="0" anchor="ctr"/>
          <a:lstStyle/>
          <a:p>
            <a:pPr algn="l">
              <a:spcAft>
                <a:spcPts val="0"/>
              </a:spcAft>
              <a:buNone/>
            </a:pPr>
            <a:r>
              <a:rPr lang="en-US" sz="1800" b="1" dirty="0">
                <a:solidFill>
                  <a:srgbClr val="8E6F3E"/>
                </a:solidFill>
              </a:rPr>
              <a:t>PRODUCTION</a:t>
            </a:r>
          </a:p>
          <a:p>
            <a:pPr algn="l">
              <a:spcAft>
                <a:spcPts val="0"/>
              </a:spcAft>
              <a:buNone/>
            </a:pPr>
            <a:r>
              <a:rPr lang="en-US" sz="14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18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1800" b="1" i="0">
                <a:solidFill>
                  <a:srgbClr val="FFFFFF"/>
                </a:solidFill>
              </a:rPr>
              <a:t>CONSEQUENCE</a:t>
            </a:r>
          </a:p>
        </p:txBody>
      </p:sp>
      <p:sp>
        <p:nvSpPr>
          <p:cNvPr id="199" name="FooterBand"/>
          <p:cNvSpPr/>
          <p:nvPr/>
        </p:nvSpPr>
        <p:spPr>
          <a:xfrm>
            <a:off x="274320" y="5641848"/>
            <a:ext cx="8595360" cy="777240"/>
          </a:xfrm>
          <a:prstGeom prst="rect">
            <a:avLst/>
          </a:prstGeom>
          <a:solidFill>
            <a:srgbClr val="8E6F3E"/>
          </a:solidFill>
          <a:ln>
            <a:noFill/>
          </a:ln>
        </p:spPr>
        <p:txBody>
          <a:bodyPr wrap="square" lIns="27432" tIns="0" rIns="27432" bIns="45720" anchor="ctr"/>
          <a:lstStyle/>
          <a:p>
            <a:pPr algn="ctr">
              <a:buNone/>
            </a:pPr>
            <a:r>
              <a:rPr lang="en-US" sz="2000" b="1" i="0" dirty="0">
                <a:solidFill>
                  <a:srgbClr val="FFFFFF"/>
                </a:solidFill>
              </a:rPr>
              <a:t>Production asks what delegation can produce.</a:t>
            </a:r>
          </a:p>
          <a:p>
            <a:pPr algn="ctr">
              <a:buNone/>
            </a:pPr>
            <a:r>
              <a:rPr lang="en-US" sz="2000" b="1" i="0" dirty="0">
                <a:solidFill>
                  <a:srgbClr val="FFFFFF"/>
                </a:solidFill>
              </a:rPr>
              <a:t>Alignment governs what produced work may cause.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