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MODEL → CHECK → DECIDE → CONTROL.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rIns="0" tIns="0" bIns="0">
            <a:spAutoFit/>
          </a:bodyPr>
          <a:lstStyle/>
          <a:p>
            <a:r>
              <a:rPr sz="2000" b="1" i="0">
                <a:solidFill>
                  <a:srgbClr val="5C4826"/>
                </a:solidFill>
              </a:rPr>
              <a:t>Before Alignment: </a:t>
            </a:r>
            <a:r>
              <a:rPr sz="2000" b="0" i="0">
                <a:solidFill>
                  <a:srgbClr val="555960"/>
                </a:solidFill>
              </a:rPr>
              <a:t>How likely is the agent to realize the obligation correctly?</a:t>
            </a:r>
          </a:p>
          <a:p>
            <a:pPr>
              <a:spcBef>
                <a:spcPts val="800"/>
              </a:spcBef>
            </a:pPr>
            <a:r>
              <a:rPr sz="2000" b="1" i="0">
                <a:solidFill>
                  <a:srgbClr val="5C4826"/>
                </a:solidFill>
              </a:rPr>
              <a:t>After Alignment: </a:t>
            </a:r>
            <a:r>
              <a:rPr sz="2000" b="0" i="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rIns="0" tIns="0" bIns="0">
            <a:spAutoFit/>
          </a:bodyPr>
          <a:lstStyle/>
          <a:p>
            <a:r>
              <a:rPr sz="2000" b="1" i="0">
                <a:solidFill>
                  <a:srgbClr val="5C4826"/>
                </a:solidFill>
              </a:rPr>
              <a:t>Modeling</a:t>
            </a:r>
            <a:r>
              <a:rPr sz="2000" b="0" i="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rIns="0" t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How can we use these models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18288"/>
            <a:ext cx="8046720" cy="731520"/>
          </a:xfrm>
        </p:spPr>
        <p:txBody>
          <a:bodyPr wrap="square"/>
          <a:lstStyle/>
          <a:p>
            <a:r>
              <a:rPr sz="2400" b="0">
                <a:solidFill>
                  <a:srgbClr val="000000"/>
                </a:solidFill>
              </a:rPr>
              <a:t>Back to the lab:</a:t>
            </a:r>
          </a:p>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