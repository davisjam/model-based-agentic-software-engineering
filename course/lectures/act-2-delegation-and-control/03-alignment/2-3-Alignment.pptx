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6" r:id="rId4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2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2.xml"/><Relationship Id="rId16" Type="http://schemas.openxmlformats.org/officeDocument/2006/relationships/slide" Target="slides/slide20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9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2.xml"/><Relationship Id="rId52" Type="http://schemas.openxmlformats.org/officeDocument/2006/relationships/slide" Target="slides/slide35.xml"/><Relationship Id="rId5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roles are two conceptual pairs, not a pipeline: constraint and sensor concern the work and its state (what may happen; what did happen); validator and gate concern judgment and admission (is it OK; may it pass). One mechanism may bundle roles: a CI test senses, validates, and gates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3.3-1 (constraint vs sensor): the student performs the choice. Can the unwanted state be excluded cleanly and reliably? YES: constraint (typed enum, permission, narrow API). NO: sensor (metric, trace, call scan, log) — then validate the evidence, and gate on the verdict when appropriate. The first engineering preference is prevention, when cheap and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3.2-3 (the semantic gap): this explains WHY the rule exists rather than merely stating it. The obligation is legible only at the boundary where the whole unit of work is assembled; below it, no single commit / call / turn carries enough to decide. Ask the room why not everything at edit time before revealing. "Shift left" is not an unconditional maxim — check earlier only when the required evidence exists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 The takeaway uses the chapter vocabulary: the earliest boundary where the obligation is legible and decidable. The last line ties to the Modeling lecture: wrong abstraction means the property is not represented; wrong Alignment boundary means the evidence is unavailable.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3.2-1: three distinct relations, drawn separately so they cannot be read as one. Correspondence — do two representations agree? Conformance — does the artifact satisfy an independent obligation? Acceptance — will the receiving environment admit it? Evidence for one does not establish the others: a model and realization can agree completely and still violate an external obligation, and a representation extracted from the implementation corresponds by construction — that is not independent evidence of correctness. Next slide: now look specifically at obligation / model / realization — agreement occupies only one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from diagnosis to mechanism: each failure from the last four slides maps to a distinct engineering response. The four failures are genuinely different — wrong artifact, wrong process, excess authority, insufficient evidence — which is why the next slide needs four roles rather than one checker. This earns the control vocabulary: the failure model, not a framework, motivates the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between Modeling and Alignment, shown on a REAL shipped model (workbench example: medium-document-processing). One document service, declared once — entities, a bounded-retry lifecycle (submitted/queued/processing/completed/failed, retry_count at most 2), and a working-memory envelope (two 384 MB task slots against a 1 GB worker) — is consumed several ways: a lifecycle reachability check, a retry-bound check, and a memory analysis. Two kinds of question over one system; their verdicts meet at a gate. Nothing here was reconstructed from the code — every figure is a declaration in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sp>
        <p:nvSpPr>
          <p:cNvPr id="5" name="FCTransition"/>
          <p:cNvSpPr txBox="1"/>
          <p:nvPr/>
        </p:nvSpPr>
        <p:spPr>
          <a:xfrm>
            <a:off x="502920" y="530352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  <p:sp>
        <p:nvSpPr>
          <p:cNvPr id="6" name="FCHeadFailure"/>
          <p:cNvSpPr txBox="1"/>
          <p:nvPr/>
        </p:nvSpPr>
        <p:spPr>
          <a:xfrm>
            <a:off x="502920" y="932688"/>
            <a:ext cx="329184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FAILURE</a:t>
            </a:r>
          </a:p>
        </p:txBody>
      </p:sp>
      <p:sp>
        <p:nvSpPr>
          <p:cNvPr id="7" name="FCHeadResponse"/>
          <p:cNvSpPr txBox="1"/>
          <p:nvPr/>
        </p:nvSpPr>
        <p:spPr>
          <a:xfrm>
            <a:off x="4800600" y="932688"/>
            <a:ext cx="384048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ENGINEERING RESPONSE</a:t>
            </a:r>
          </a:p>
        </p:txBody>
      </p:sp>
      <p:sp>
        <p:nvSpPr>
          <p:cNvPr id="8" name="FCFail1"/>
          <p:cNvSpPr/>
          <p:nvPr/>
        </p:nvSpPr>
        <p:spPr>
          <a:xfrm>
            <a:off x="502920" y="1325880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RESULT</a:t>
            </a:r>
          </a:p>
        </p:txBody>
      </p:sp>
      <p:sp>
        <p:nvSpPr>
          <p:cNvPr id="9" name="FCResp1"/>
          <p:cNvSpPr/>
          <p:nvPr/>
        </p:nvSpPr>
        <p:spPr>
          <a:xfrm>
            <a:off x="4800600" y="1325880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establish properties of the artifact</a:t>
            </a:r>
          </a:p>
        </p:txBody>
      </p:sp>
      <p:cxnSp>
        <p:nvCxnSpPr>
          <p:cNvPr id="10" name="FCArrow1"/>
          <p:cNvCxnSpPr/>
          <p:nvPr/>
        </p:nvCxnSpPr>
        <p:spPr>
          <a:xfrm>
            <a:off x="3794760" y="1746504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CFail2"/>
          <p:cNvSpPr/>
          <p:nvPr/>
        </p:nvSpPr>
        <p:spPr>
          <a:xfrm>
            <a:off x="502920" y="2304288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PROCESS</a:t>
            </a:r>
          </a:p>
        </p:txBody>
      </p:sp>
      <p:sp>
        <p:nvSpPr>
          <p:cNvPr id="12" name="FCResp2"/>
          <p:cNvSpPr/>
          <p:nvPr/>
        </p:nvSpPr>
        <p:spPr>
          <a:xfrm>
            <a:off x="4800600" y="2304288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observe or constrain actions</a:t>
            </a:r>
          </a:p>
        </p:txBody>
      </p:sp>
      <p:cxnSp>
        <p:nvCxnSpPr>
          <p:cNvPr id="13" name="FCArrow2"/>
          <p:cNvCxnSpPr/>
          <p:nvPr/>
        </p:nvCxnSpPr>
        <p:spPr>
          <a:xfrm>
            <a:off x="3794760" y="2724912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CFail3"/>
          <p:cNvSpPr/>
          <p:nvPr/>
        </p:nvSpPr>
        <p:spPr>
          <a:xfrm>
            <a:off x="502920" y="3282696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EXCESS AUTHORITY</a:t>
            </a:r>
          </a:p>
        </p:txBody>
      </p:sp>
      <p:sp>
        <p:nvSpPr>
          <p:cNvPr id="15" name="FCResp3"/>
          <p:cNvSpPr/>
          <p:nvPr/>
        </p:nvSpPr>
        <p:spPr>
          <a:xfrm>
            <a:off x="4800600" y="3282696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restrict consequential actions</a:t>
            </a:r>
          </a:p>
        </p:txBody>
      </p:sp>
      <p:cxnSp>
        <p:nvCxnSpPr>
          <p:cNvPr id="16" name="FCArrow3"/>
          <p:cNvCxnSpPr/>
          <p:nvPr/>
        </p:nvCxnSpPr>
        <p:spPr>
          <a:xfrm>
            <a:off x="3794760" y="3703320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CFail4"/>
          <p:cNvSpPr/>
          <p:nvPr/>
        </p:nvSpPr>
        <p:spPr>
          <a:xfrm>
            <a:off x="502920" y="4261104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INSUFFICIENT EVIDENCE</a:t>
            </a:r>
          </a:p>
        </p:txBody>
      </p:sp>
      <p:sp>
        <p:nvSpPr>
          <p:cNvPr id="18" name="FCResp4"/>
          <p:cNvSpPr/>
          <p:nvPr/>
        </p:nvSpPr>
        <p:spPr>
          <a:xfrm>
            <a:off x="4800600" y="4261104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require evidence before acceptance</a:t>
            </a:r>
          </a:p>
        </p:txBody>
      </p:sp>
      <p:cxnSp>
        <p:nvCxnSpPr>
          <p:cNvPr id="19" name="FCArrow4"/>
          <p:cNvCxnSpPr/>
          <p:nvPr/>
        </p:nvCxnSpPr>
        <p:spPr>
          <a:xfrm>
            <a:off x="3794760" y="4681728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74320" y="46177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  <p:pic>
        <p:nvPicPr>
          <p:cNvPr id="9" name="Fig-3-3-1-constraint-vs-sensor" descr="constraint-vs-sensor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76809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  <p:pic>
        <p:nvPicPr>
          <p:cNvPr id="9" name="Fig-3-2-3-semantic-gap" descr="semantic-gap-level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8046720" cy="3017520"/>
          </a:xfrm>
          <a:prstGeom prst="rect">
            <a:avLst/>
          </a:prstGeom>
        </p:spPr>
      </p:pic>
      <p:sp>
        <p:nvSpPr>
          <p:cNvPr id="10" name="SemanticGapTakeaway"/>
          <p:cNvSpPr txBox="1"/>
          <p:nvPr/>
        </p:nvSpPr>
        <p:spPr>
          <a:xfrm>
            <a:off x="274320" y="4389120"/>
            <a:ext cx="8595360" cy="8229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 property that spans several commits, calls, or turns cannot be decided from any single event.</a:t>
            </a:r>
          </a:p>
          <a:p>
            <a:pPr algn="ctr"/>
            <a:r>
              <a:rPr sz="1600" b="1" i="0">
                <a:solidFill>
                  <a:srgbClr val="5C4826"/>
                </a:solidFill>
              </a:rPr>
              <a:t>Lift the mechanism to the first boundary where the whole obligation becomes legible.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  <a:r>
              <a:rPr sz="1800" b="1" i="0">
                <a:solidFill>
                  <a:srgbClr val="5C4826"/>
                </a:solidFill>
              </a:rPr>
              <a:t>Both place the check at the earliest boundary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where the obligation is legible and decidable.</a:t>
            </a:r>
          </a:p>
        </p:txBody>
      </p:sp>
      <p:sp>
        <p:nvSpPr>
          <p:cNvPr id="10" name="ModelingTie"/>
          <p:cNvSpPr txBox="1"/>
          <p:nvPr/>
        </p:nvSpPr>
        <p:spPr>
          <a:xfrm>
            <a:off x="274320" y="4709160"/>
            <a:ext cx="859536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abstraction: the property is not represented.  Wrong Alignment boundary: the evidence is unavailable.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14" name="MCVerdicts"/>
          <p:cNvSpPr txBox="1"/>
          <p:nvPr/>
        </p:nvSpPr>
        <p:spPr>
          <a:xfrm>
            <a:off x="5532120" y="388620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76732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  <p:sp>
        <p:nvSpPr>
          <p:cNvPr id="18" name="RealModel"/>
          <p:cNvSpPr/>
          <p:nvPr/>
        </p:nvSpPr>
        <p:spPr>
          <a:xfrm>
            <a:off x="2103120" y="914400"/>
            <a:ext cx="4937760" cy="80467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DOCUMENT PROCESSING SERVICE</a:t>
            </a:r>
          </a:p>
          <a:p>
            <a:pPr algn="ctr"/>
            <a:r>
              <a:rPr sz="1050" b="0" i="1">
                <a:solidFill>
                  <a:srgbClr val="FBF8F2"/>
                </a:solidFill>
              </a:rPr>
              <a:t>one explicit model: lifecycle machine + resource graph</a:t>
            </a:r>
          </a:p>
        </p:txBody>
      </p:sp>
      <p:sp>
        <p:nvSpPr>
          <p:cNvPr id="19" name="MC-lifecycle"/>
          <p:cNvSpPr/>
          <p:nvPr/>
        </p:nvSpPr>
        <p:spPr>
          <a:xfrm>
            <a:off x="41148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LIFECYCLE CHECK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a Completed document ever be processed again?  no</a:t>
            </a:r>
          </a:p>
        </p:txBody>
      </p:sp>
      <p:sp>
        <p:nvSpPr>
          <p:cNvPr id="20" name="MC-retry"/>
          <p:cNvSpPr/>
          <p:nvPr/>
        </p:nvSpPr>
        <p:spPr>
          <a:xfrm>
            <a:off x="333756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RETRY BOUND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the retry loop run forever?  no — at most 2 retries</a:t>
            </a:r>
          </a:p>
        </p:txBody>
      </p:sp>
      <p:sp>
        <p:nvSpPr>
          <p:cNvPr id="21" name="MC-memory"/>
          <p:cNvSpPr/>
          <p:nvPr/>
        </p:nvSpPr>
        <p:spPr>
          <a:xfrm>
            <a:off x="626364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MEMORY ANALYSIS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peak demand 2 × 384 MB — within the 1 GB worker ceiling</a:t>
            </a:r>
          </a:p>
        </p:txBody>
      </p:sp>
      <p:cxnSp>
        <p:nvCxnSpPr>
          <p:cNvPr id="22" name="RM-Conn1"/>
          <p:cNvCxnSpPr/>
          <p:nvPr/>
        </p:nvCxnSpPr>
        <p:spPr>
          <a:xfrm flipH="1">
            <a:off x="1645920" y="1719072"/>
            <a:ext cx="292608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M-Conn2"/>
          <p:cNvCxnSpPr/>
          <p:nvPr/>
        </p:nvCxnSpPr>
        <p:spPr>
          <a:xfrm>
            <a:off x="4572000" y="1719072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M-Conn3"/>
          <p:cNvCxnSpPr/>
          <p:nvPr/>
        </p:nvCxnSpPr>
        <p:spPr>
          <a:xfrm>
            <a:off x="4572000" y="1719072"/>
            <a:ext cx="2926079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M-Conn4"/>
          <p:cNvCxnSpPr/>
          <p:nvPr/>
        </p:nvCxnSpPr>
        <p:spPr>
          <a:xfrm>
            <a:off x="1645920" y="3200400"/>
            <a:ext cx="237744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M-Conn5"/>
          <p:cNvCxnSpPr/>
          <p:nvPr/>
        </p:nvCxnSpPr>
        <p:spPr>
          <a:xfrm>
            <a:off x="4572000" y="3200400"/>
            <a:ext cx="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M-Conn6"/>
          <p:cNvCxnSpPr/>
          <p:nvPr/>
        </p:nvCxnSpPr>
        <p:spPr>
          <a:xfrm flipH="1">
            <a:off x="5120640" y="3200400"/>
            <a:ext cx="2377439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  <p:pic>
        <p:nvPicPr>
          <p:cNvPr id="10" name="Fig-3-2-1-three-relations" descr="three-relation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051560"/>
            <a:ext cx="6309360" cy="3680460"/>
          </a:xfrm>
          <a:prstGeom prst="rect">
            <a:avLst/>
          </a:prstGeom>
        </p:spPr>
      </p:pic>
      <p:sp>
        <p:nvSpPr>
          <p:cNvPr id="11" name="ThreeRelationsTakeaway"/>
          <p:cNvSpPr txBox="1"/>
          <p:nvPr/>
        </p:nvSpPr>
        <p:spPr>
          <a:xfrm>
            <a:off x="274320" y="4937760"/>
            <a:ext cx="8595360" cy="5029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Three relations people casually conflate — and their evidence is not interchangeable.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