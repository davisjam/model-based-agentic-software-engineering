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1" r:id="rId11"/>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9" Type="http://schemas.openxmlformats.org/officeDocument/2006/relationships/slide" Target="slides/slide5.xml"/><Relationship Id="rId11" Type="http://schemas.openxmlformats.org/officeDocument/2006/relationships/slide" Target="slides/slide33.xml"/><Relationship Id="rId12" Type="http://schemas.openxmlformats.org/officeDocument/2006/relationships/slide" Target="slides/slide18.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1.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2.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41.xml"/><Relationship Id="rId23" Type="http://schemas.openxmlformats.org/officeDocument/2006/relationships/slide" Target="slides/slide26.xml"/><Relationship Id="rId24" Type="http://schemas.openxmlformats.org/officeDocument/2006/relationships/slide" Target="slides/slide28.xml"/><Relationship Id="rId25" Type="http://schemas.openxmlformats.org/officeDocument/2006/relationships/slide" Target="slides/slide37.xml"/><Relationship Id="rId26" Type="http://schemas.openxmlformats.org/officeDocument/2006/relationships/slide" Target="slides/slide38.xml"/><Relationship Id="rId27" Type="http://schemas.openxmlformats.org/officeDocument/2006/relationships/slide" Target="slides/slide3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40.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42.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3.xml"/><Relationship Id="rId52" Type="http://schemas.openxmlformats.org/officeDocument/2006/relationships/slide" Target="slides/slide36.xml"/><Relationship Id="rId53" Type="http://schemas.openxmlformats.org/officeDocument/2006/relationships/slide" Target="slides/slide29.xml"/><Relationship Id="rId54" Type="http://schemas.openxmlformats.org/officeDocument/2006/relationships/slide" Target="slides/slide2.xml"/><Relationship Id="rId55"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"Do not help the agent" and "If it makes a choice…" only after students have started reading.</a:t>
            </a:r>
          </a:p>
          <a:p>
            <a:r>
              <a:t>- Start the five-minute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a:t>
            </a:r>
          </a:p>
          <a:p>
            <a:r>
              <a:t>- You have four obligations: API preservation, a memory bound, forbidden dependency, and cycle ordering.</a:t>
            </a:r>
          </a:p>
          <a:p>
            <a:r>
              <a:t>- The model is given. Do not spend the activity rediscovering it from implementation.</a:t>
            </a:r>
          </a:p>
          <a:p>
            <a:r>
              <a:t>- Your job is to design the delegated process and its controls.</a:t>
            </a:r>
          </a:p>
          <a:p>
            <a:r>
              <a:t>- Different obligations should lead you toward different evidence, mechanisms, and boundaries.</a:t>
            </a:r>
          </a:p>
          <a:p>
            <a:r>
              <a:t>- Do not assume everything should block everything.</a:t>
            </a:r>
          </a:p>
          <a:p>
            <a:r>
              <a:t>- You should be able to defend why each control sits where you put it.</a:t>
            </a:r>
          </a:p>
          <a:p>
            <a:r>
              <a:t>ANIMATION</a:t>
            </a:r>
          </a:p>
          <a:p>
            <a:r>
              <a:t>- Reveal scenario.</a:t>
            </a:r>
          </a:p>
          <a:p>
            <a:r>
              <a:t>- Reveal obligations one at a time.</a:t>
            </a:r>
          </a:p>
          <a:p>
            <a:r>
              <a:t>- Reveal the given model.</a:t>
            </a:r>
          </a:p>
          <a:p>
            <a:r>
              <a:t>- Reveal "Design the delegated process and its controls" as the start signal.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a:t>
            </a:r>
          </a:p>
          <a:p>
            <a:r>
              <a:t>- For each obligation, walk through the same questions.</a:t>
            </a:r>
          </a:p>
          <a:p>
            <a:r>
              <a:t>- Failure: what specifically can go wrong?</a:t>
            </a:r>
          </a:p>
          <a:p>
            <a:r>
              <a:t>- Obligation: what must actually remain true?</a:t>
            </a:r>
          </a:p>
          <a:p>
            <a:r>
              <a:t>- Control: can the invalid state be prevented, or do you need evidence?</a:t>
            </a:r>
          </a:p>
          <a:p>
            <a:r>
              <a:t>- Evidence: what observation bears on the obligation?</a:t>
            </a:r>
          </a:p>
          <a:p>
            <a:r>
              <a:t>- Boundary: where does enough information exist to decide it?</a:t>
            </a:r>
          </a:p>
          <a:p>
            <a:r>
              <a:t>- Mechanism: which roles are needed?</a:t>
            </a:r>
          </a:p>
          <a:p>
            <a:r>
              <a:t>- Authority: what happens when the verdict is negative?</a:t>
            </a:r>
          </a:p>
          <a:p>
            <a:r>
              <a:t>- Circulate and challenge teams especially on boundary and authority.</a:t>
            </a:r>
          </a:p>
          <a:p>
            <a:r>
              <a:t>- If someone says "run a test," ask what obligation the test establishes.</a:t>
            </a:r>
          </a:p>
          <a:p>
            <a:r>
              <a:t>- If someone says "block the commit," ask whether the obligation is decidable at commit.</a:t>
            </a:r>
          </a:p>
          <a:p>
            <a:r>
              <a:t>- If someone says "tell the agent not to," ask whether the environment can enforce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a:t>
            </a:r>
          </a:p>
          <a:p>
            <a:r>
              <a:t>- Correspondence: do two representations agree?</a:t>
            </a:r>
          </a:p>
          <a:p>
            <a:r>
              <a:t>- Conformance: does an artifact satisfy an independent obligation?</a:t>
            </a:r>
          </a:p>
          <a:p>
            <a:r>
              <a:t>- Acceptance: will the receiving environment accept the artifact?</a:t>
            </a:r>
          </a:p>
          <a:p>
            <a:r>
              <a:t>- These are different claims.</a:t>
            </a:r>
          </a:p>
          <a:p>
            <a:r>
              <a:t>- A model and implementation can correspond perfectly and both be wrong relative to the requirement.</a:t>
            </a:r>
          </a:p>
          <a:p>
            <a:r>
              <a:t>- An artifact can satisfy its requirement but still be rejected by an incompatible receiving environment.</a:t>
            </a:r>
          </a:p>
          <a:p>
            <a:r>
              <a:t>- Evidence for one relation does not establish the others.</a:t>
            </a:r>
          </a:p>
          <a:p>
            <a:r>
              <a:t>- This is why "the implementation matches the model" is not by itself a correctness argument.</a:t>
            </a:r>
          </a:p>
          <a:p>
            <a:r>
              <a:t>ANIMATION</a:t>
            </a:r>
          </a:p>
          <a:p>
            <a:r>
              <a:t>- Reveal CORRESPONDENCE row.</a:t>
            </a:r>
          </a:p>
          <a:p>
            <a:r>
              <a:t>- Reveal CONFORMANCE row.</a:t>
            </a:r>
          </a:p>
          <a:p>
            <a:r>
              <a:t>- Reveal ACCEPTANCE row.</a:t>
            </a:r>
          </a:p>
          <a:p>
            <a:r>
              <a:t>- Reveal "Evidence for one does not establish the others" last.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So the obvious challenge is: why did we spend the previous lecture on Modeling?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Make this concrete with one document-processing-service model.</a:t>
            </a:r>
          </a:p>
          <a:p>
            <a:r>
              <a:t>- Suppose the model includes a lifecycle machine and resource graph.</a:t>
            </a:r>
          </a:p>
          <a:p>
            <a:r>
              <a:t>- From the lifecycle model, ask whether a Completed document can re-enter processing.</a:t>
            </a:r>
          </a:p>
          <a:p>
            <a:r>
              <a:t>- From retry structure, establish whether the retry loop is bounded.</a:t>
            </a:r>
          </a:p>
          <a:p>
            <a:r>
              <a:t>- From the resource graph, calculate peak memory demand.</a:t>
            </a:r>
          </a:p>
          <a:p>
            <a:r>
              <a:t>- These are different validators over shared engineering knowledge.</a:t>
            </a:r>
          </a:p>
          <a:p>
            <a:r>
              <a:t>- Their verdicts may simply be reported, or some may feed a gate.</a:t>
            </a:r>
          </a:p>
          <a:p>
            <a:r>
              <a:t>- The gate is optional because not every judgment should automatically block an action.</a:t>
            </a:r>
          </a:p>
          <a:p>
            <a:r>
              <a:t>- This is what models buy Alignment: explicit engineering knowledge can be consumed by multiple controls without reconstructing the relevant structure separately each time.</a:t>
            </a:r>
          </a:p>
          <a:p>
            <a:r>
              <a:t>ANIMATION</a:t>
            </a:r>
          </a:p>
          <a:p>
            <a:r>
              <a:t>- Reveal the explicit model first.</a:t>
            </a:r>
          </a:p>
          <a:p>
            <a:r>
              <a:t>- Reveal LIFECYCLE CHECK and verdict.</a:t>
            </a:r>
          </a:p>
          <a:p>
            <a:r>
              <a:t>- Reveal RETRY BOUND and verdict.</a:t>
            </a:r>
          </a:p>
          <a:p>
            <a:r>
              <a:t>- Reveal MEMORY ANALYSIS and verdict.</a:t>
            </a:r>
          </a:p>
          <a:p>
            <a:r>
              <a:t>- Reveal VERDICTS.</a:t>
            </a:r>
          </a:p>
          <a:p>
            <a:r>
              <a:t>- Reveal optional GATE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r>
              <a:t/>
            </a:r>
          </a:p>
          <a:p>
            <a:r>
              <a:t>ANIMATION</a:t>
            </a:r>
          </a:p>
          <a:p>
            <a:r>
              <a:t>- Reveal p(T,M,R,H) and the PRODUCTION label first.</a:t>
            </a:r>
          </a:p>
          <a:p>
            <a:r>
              <a:t>- Reveal CANDIDATE.</a:t>
            </a:r>
          </a:p>
          <a:p>
            <a:r>
              <a:t>- Reveal OBLIGATION, EVIDENCE, JUDGMENT, CONSEQUENCE one at a time.</a:t>
            </a:r>
          </a:p>
          <a:p>
            <a:r>
              <a:t>- Reveal the footer last.</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1600" b="1" i="1" dirty="0">
                <a:solidFill>
                  <a:srgbClr val="8E6F3E"/>
                </a:solidFill>
              </a:rPr>
              <a:t>T</a:t>
            </a:r>
            <a:r>
              <a:rPr lang="en-US" sz="1600" b="0" dirty="0">
                <a:solidFill>
                  <a:srgbClr val="555960"/>
                </a:solidFill>
              </a:rPr>
              <a:t xml:space="preserve"> task   ·   </a:t>
            </a:r>
            <a:r>
              <a:rPr lang="en-US" sz="1600" b="1" i="1" dirty="0">
                <a:solidFill>
                  <a:srgbClr val="8E6F3E"/>
                </a:solidFill>
              </a:rPr>
              <a:t>M</a:t>
            </a:r>
            <a:r>
              <a:rPr lang="en-US" sz="1600" b="0" dirty="0">
                <a:solidFill>
                  <a:srgbClr val="555960"/>
                </a:solidFill>
              </a:rPr>
              <a:t xml:space="preserve"> reasoning model   ·   </a:t>
            </a:r>
            <a:r>
              <a:rPr lang="en-US" sz="1600" b="1" i="1" dirty="0">
                <a:solidFill>
                  <a:srgbClr val="8E6F3E"/>
                </a:solidFill>
              </a:rPr>
              <a:t>R</a:t>
            </a:r>
            <a:r>
              <a:rPr lang="en-US" sz="1600" b="0" dirty="0">
                <a:solidFill>
                  <a:srgbClr val="555960"/>
                </a:solidFill>
              </a:rPr>
              <a:t xml:space="preserve"> representation   ·   </a:t>
            </a:r>
            <a:r>
              <a:rPr lang="en-US" sz="1600" b="1" i="1" dirty="0">
                <a:solidFill>
                  <a:srgbClr val="8E6F3E"/>
                </a:solidFill>
              </a:rPr>
              <a:t>H</a:t>
            </a:r>
            <a:r>
              <a:rPr lang="en-US" sz="16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buNone/>
              <a:spcBef>
                <a:spcPts val="900"/>
              </a:spcBef>
            </a:pPr>
            <a:r>
              <a:rPr lang="en-US" sz="2000" b="0" i="0" dirty="0">
                <a:solidFill>
                  <a:srgbClr val="5C4826"/>
                </a:solidFill>
              </a:rPr>
              <a:t>What outcome is required?</a:t>
            </a:r>
          </a:p>
          <a:p>
            <a:pPr algn="l">
              <a:buNone/>
              <a:spcBef>
                <a:spcPts val="900"/>
              </a:spcBef>
            </a:pPr>
            <a:r>
              <a:rPr lang="en-US" sz="2000" b="0" i="0" dirty="0">
                <a:solidFill>
                  <a:srgbClr val="5C4826"/>
                </a:solidFill>
              </a:rPr>
              <a:t>What must remain true?</a:t>
            </a:r>
          </a:p>
          <a:p>
            <a:pPr algn="l">
              <a:buNone/>
              <a:spcBef>
                <a:spcPts val="900"/>
              </a:spcBef>
            </a:pPr>
            <a:r>
              <a:rPr lang="en-US" sz="2000" b="0" i="0" dirty="0">
                <a:solidFill>
                  <a:srgbClr val="5C4826"/>
                </a:solidFill>
              </a:rPr>
              <a:t>What is out of scope?</a:t>
            </a:r>
          </a:p>
          <a:p>
            <a:pPr algn="l">
              <a:buNone/>
              <a:spcBef>
                <a:spcPts val="900"/>
              </a:spcBef>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buNone/>
              <a:spcBef>
                <a:spcPts val="900"/>
              </a:spcBef>
            </a:pPr>
            <a:r>
              <a:rPr lang="en-US" sz="2000" b="0" i="0" dirty="0">
                <a:solidFill>
                  <a:srgbClr val="5C4826"/>
                </a:solidFill>
              </a:rPr>
              <a:t>Where may the agent work?</a:t>
            </a:r>
          </a:p>
          <a:p>
            <a:pPr algn="l">
              <a:buNone/>
              <a:spcBef>
                <a:spcPts val="900"/>
              </a:spcBef>
            </a:pPr>
            <a:r>
              <a:rPr lang="en-US" sz="2000" b="0" i="0" dirty="0">
                <a:solidFill>
                  <a:srgbClr val="5C4826"/>
                </a:solidFill>
              </a:rPr>
              <a:t>What may it change?</a:t>
            </a:r>
          </a:p>
          <a:p>
            <a:pPr algn="l">
              <a:buNone/>
              <a:spcBef>
                <a:spcPts val="900"/>
              </a:spcBef>
            </a:pPr>
            <a:r>
              <a:rPr lang="en-US" sz="2000" b="0" i="0" dirty="0">
                <a:solidFill>
                  <a:srgbClr val="5C4826"/>
                </a:solidFill>
              </a:rPr>
              <a:t>What must it inspect or check?</a:t>
            </a:r>
          </a:p>
          <a:p>
            <a:pPr algn="l">
              <a:buNone/>
              <a:spcBef>
                <a:spcPts val="900"/>
              </a:spcBef>
            </a:pPr>
            <a:r>
              <a:rPr lang="en-US" sz="2000" b="0" i="0" dirty="0">
                <a:solidFill>
                  <a:srgbClr val="5C4826"/>
                </a:solidFill>
              </a:rPr>
              <a:t>When is the work complete?</a:t>
            </a:r>
          </a:p>
          <a:p>
            <a:pPr algn="l">
              <a:buNone/>
              <a:spcBef>
                <a:spcPts val="900"/>
              </a:spcBef>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774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type</a:t>
            </a:r>
          </a:p>
          <a:p>
            <a:pPr algn="ctr"/>
            <a:r>
              <a:rPr sz="18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82496"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forbidden</a:t>
            </a:r>
          </a:p>
          <a:p>
            <a:pPr algn="ctr"/>
            <a:r>
              <a:rPr sz="18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0"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integration</a:t>
            </a:r>
          </a:p>
          <a:p>
            <a:pPr algn="ctr"/>
            <a:r>
              <a:rPr sz="18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6016752"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latency</a:t>
            </a:r>
          </a:p>
          <a:p>
            <a:pPr algn="ctr"/>
            <a:r>
              <a:rPr sz="18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61504" y="2834640"/>
            <a:ext cx="1298448"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0" i="0">
                <a:solidFill>
                  <a:srgbClr val="5C4826"/>
                </a:solidFill>
              </a:rPr>
              <a:t>deployed</a:t>
            </a:r>
          </a:p>
          <a:p>
            <a:pPr algn="ctr"/>
            <a:r>
              <a:rPr sz="18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1600" b="0" i="0">
                <a:solidFill>
                  <a:srgbClr val="5C4826"/>
                </a:solidFill>
              </a:rPr>
              <a:t>Lift the check to the first boundary where the obligation becomes decidable.</a:t>
            </a:r>
          </a:p>
        </p:txBody>
      </p:sp>
      <p:sp>
        <p:nvSpPr>
          <p:cNvPr id="19" name="SG-Unit"/>
          <p:cNvSpPr/>
          <p:nvPr/>
        </p:nvSpPr>
        <p:spPr>
          <a:xfrm>
            <a:off x="2103120" y="105156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COMPLETED UNIT OF WORK</a:t>
            </a:r>
          </a:p>
          <a:p>
            <a:pPr algn="ctr"/>
            <a:r>
              <a:rPr sz="105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347472"/>
          </a:xfrm>
          <a:prstGeom prst="rect">
            <a:avLst/>
          </a:prstGeom>
          <a:noFill/>
        </p:spPr>
        <p:txBody>
          <a:bodyPr wrap="square" anchor="t" lIns="27432" rIns="27432" tIns="22860" bIns="22860">
            <a:spAutoFit/>
          </a:bodyPr>
          <a:lstStyle/>
          <a:p>
            <a:pPr algn="ctr"/>
            <a:r>
              <a:rPr sz="13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6400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800" b="1" i="0">
                <a:solidFill>
                  <a:srgbClr val="8E6F3E"/>
                </a:solidFill>
              </a:rPr>
              <a:t xml:space="preserve">OBLIGATION  </a:t>
            </a:r>
            <a:r>
              <a:rPr sz="18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enforced per-commit</a:t>
            </a:r>
          </a:p>
          <a:p>
            <a:pPr algn="ctr"/>
            <a:r>
              <a:rPr sz="1800" b="0" i="1">
                <a:solidFill>
                  <a:srgbClr val="555960"/>
                </a:solidFill>
              </a:rPr>
              <a:t>rejects legitimate</a:t>
            </a:r>
          </a:p>
          <a:p>
            <a:pPr algn="ctr"/>
            <a:r>
              <a:rPr sz="18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  decided at merge</a:t>
            </a:r>
          </a:p>
          <a:p>
            <a:pPr algn="ctr"/>
            <a:r>
              <a:rPr sz="1800" b="0" i="1">
                <a:solidFill>
                  <a:srgbClr val="555960"/>
                </a:solidFill>
              </a:rPr>
              <a:t>when the task’s work</a:t>
            </a:r>
          </a:p>
          <a:p>
            <a:pPr algn="ctr"/>
            <a:r>
              <a:rPr sz="18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822960"/>
          </a:xfrm>
          <a:prstGeom prst="rect">
            <a:avLst/>
          </a:prstGeom>
          <a:noFill/>
          <a:ln>
            <a:noFill/>
          </a:ln>
        </p:spPr>
        <p:txBody>
          <a:bodyPr wrap="square" lIns="0" tIns="0" rIns="0" bIns="0" anchor="ctr"/>
          <a:lstStyle/>
          <a:p>
            <a:pPr algn="l">
              <a:spcAft>
                <a:spcPts val="0"/>
              </a:spcAft>
              <a:buNone/>
            </a:pPr>
            <a:r>
              <a:rPr lang="en-US" sz="1800" b="1" dirty="0">
                <a:solidFill>
                  <a:srgbClr val="8E6F3E"/>
                </a:solidFill>
              </a:rPr>
              <a:t>PRODUCTION</a:t>
            </a:r>
          </a:p>
          <a:p>
            <a:pPr algn="l">
              <a:spcAft>
                <a:spcPts val="0"/>
              </a:spcAft>
              <a:buNone/>
            </a:pPr>
            <a:r>
              <a:rPr lang="en-US" sz="14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18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18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1800" b="1" i="0">
                <a:solidFill>
                  <a:srgbClr val="FFFFFF"/>
                </a:solidFill>
              </a:rPr>
              <a:t>CONSEQUENCE</a:t>
            </a:r>
          </a:p>
        </p:txBody>
      </p:sp>
      <p:sp>
        <p:nvSpPr>
          <p:cNvPr id="199" name="FooterBand"/>
          <p:cNvSpPr/>
          <p:nvPr/>
        </p:nvSpPr>
        <p:spPr>
          <a:xfrm>
            <a:off x="274320" y="5641848"/>
            <a:ext cx="8595360" cy="777240"/>
          </a:xfrm>
          <a:prstGeom prst="rect">
            <a:avLst/>
          </a:prstGeom>
          <a:solidFill>
            <a:srgbClr val="8E6F3E"/>
          </a:solidFill>
          <a:ln>
            <a:noFill/>
          </a:ln>
        </p:spPr>
        <p:txBody>
          <a:bodyPr wrap="square" lIns="27432" tIns="0" rIns="27432" bIns="45720" anchor="ctr"/>
          <a:lstStyle/>
          <a:p>
            <a:pPr algn="ctr">
              <a:buNone/>
            </a:pPr>
            <a:r>
              <a:rPr lang="en-US" sz="2000" b="1" i="0" dirty="0">
                <a:solidFill>
                  <a:srgbClr val="FFFFFF"/>
                </a:solidFill>
              </a:rPr>
              <a:t>Production asks what delegation can produce.</a:t>
            </a:r>
          </a:p>
          <a:p>
            <a:pPr algn="ctr">
              <a:buNone/>
            </a:pPr>
            <a:r>
              <a:rPr lang="en-US" sz="2000" b="1" i="0" dirty="0">
                <a:solidFill>
                  <a:srgbClr val="FFFFFF"/>
                </a:solidFill>
              </a:rPr>
              <a:t>Alignment governs what produced work may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What do models buy us?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does an explicit model add?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pPr algn="ctr"/>
            <a:r>
              <a:rPr sz="2000" b="0" i="1">
                <a:solidFill>
                  <a:srgbClr val="555960"/>
                </a:solidFill>
              </a:rPr>
              <a:t>Different analyses can then operate over the same engineering knowledge.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Models can drive controls</a:t>
            </a:r>
          </a:p>
        </p:txBody>
      </p:sp>
      <p:sp>
        <p:nvSpPr>
          <p:cNvPr id="15" name="MCGate"/>
          <p:cNvSpPr/>
          <p:nvPr/>
        </p:nvSpPr>
        <p:spPr>
          <a:xfrm>
            <a:off x="3749039" y="3767328"/>
            <a:ext cx="16459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VERDICTS</a:t>
            </a:r>
          </a:p>
        </p:txBody>
      </p:sp>
      <p:sp>
        <p:nvSpPr>
          <p:cNvPr id="16" name="MCPoint"/>
          <p:cNvSpPr txBox="1"/>
          <p:nvPr/>
        </p:nvSpPr>
        <p:spPr>
          <a:xfrm>
            <a:off x="502920" y="4572000"/>
            <a:ext cx="8138160" cy="548640"/>
          </a:xfrm>
          <a:prstGeom prst="rect">
            <a:avLst/>
          </a:prstGeom>
          <a:noFill/>
        </p:spPr>
        <p:txBody>
          <a:bodyPr wrap="square" anchor="t">
            <a:spAutoFit/>
          </a:bodyPr>
          <a:lstStyle/>
          <a:p>
            <a:pPr algn="ctr"/>
            <a:r>
              <a:rPr sz="2000" b="0" i="0">
                <a:solidFill>
                  <a:srgbClr val="5C4826"/>
                </a:solidFill>
              </a:rPr>
              <a:t>The same explicit engineering knowledge can support multiple validators and constraints.</a:t>
            </a:r>
          </a:p>
        </p:txBody>
      </p:sp>
      <p:sp>
        <p:nvSpPr>
          <p:cNvPr id="18" name="RealModel"/>
          <p:cNvSpPr/>
          <p:nvPr/>
        </p:nvSpPr>
        <p:spPr>
          <a:xfrm>
            <a:off x="2103120" y="914400"/>
            <a:ext cx="4937760" cy="80467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400" b="1" i="0">
                <a:solidFill>
                  <a:srgbClr val="FFFFFF"/>
                </a:solidFill>
              </a:rPr>
              <a:t>DOCUMENT PROCESSING SERVICE</a:t>
            </a:r>
          </a:p>
          <a:p>
            <a:pPr algn="ctr"/>
            <a:r>
              <a:rPr sz="1050" b="1" i="0">
                <a:solidFill>
                  <a:srgbClr val="FBF8F2"/>
                </a:solidFill>
              </a:rPr>
              <a:t xml:space="preserve">ONE EXPLICIT MODEL  </a:t>
            </a:r>
            <a:r>
              <a:rPr sz="1050" b="0" i="1">
                <a:solidFill>
                  <a:srgbClr val="FBF8F2"/>
                </a:solidFill>
              </a:rPr>
              <a:t>lifecycle machine + resource graph</a:t>
            </a:r>
          </a:p>
        </p:txBody>
      </p:sp>
      <p:sp>
        <p:nvSpPr>
          <p:cNvPr id="19" name="MC-lifecycle"/>
          <p:cNvSpPr/>
          <p:nvPr/>
        </p:nvSpPr>
        <p:spPr>
          <a:xfrm>
            <a:off x="41148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LIFECYCLE CHECK</a:t>
            </a:r>
          </a:p>
          <a:p>
            <a:pPr algn="ctr"/>
            <a:r>
              <a:rPr sz="950" b="0" i="0">
                <a:solidFill>
                  <a:srgbClr val="555960"/>
                </a:solidFill>
              </a:rPr>
              <a:t>can a Completed document ever be processed again?  no</a:t>
            </a:r>
          </a:p>
        </p:txBody>
      </p:sp>
      <p:sp>
        <p:nvSpPr>
          <p:cNvPr id="20" name="MC-retry"/>
          <p:cNvSpPr/>
          <p:nvPr/>
        </p:nvSpPr>
        <p:spPr>
          <a:xfrm>
            <a:off x="333756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RETRY BOUND</a:t>
            </a:r>
          </a:p>
          <a:p>
            <a:pPr algn="ctr"/>
            <a:r>
              <a:rPr sz="950" b="0" i="0">
                <a:solidFill>
                  <a:srgbClr val="555960"/>
                </a:solidFill>
              </a:rPr>
              <a:t>can the retry loop run forever?  no, at most 2 retries</a:t>
            </a:r>
          </a:p>
        </p:txBody>
      </p:sp>
      <p:sp>
        <p:nvSpPr>
          <p:cNvPr id="21" name="MC-memory"/>
          <p:cNvSpPr/>
          <p:nvPr/>
        </p:nvSpPr>
        <p:spPr>
          <a:xfrm>
            <a:off x="6263640" y="2240280"/>
            <a:ext cx="246888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1" i="0">
                <a:solidFill>
                  <a:srgbClr val="5C4826"/>
                </a:solidFill>
              </a:rPr>
              <a:t>MEMORY ANALYSIS</a:t>
            </a:r>
          </a:p>
          <a:p>
            <a:pPr algn="ctr"/>
            <a:r>
              <a:rPr sz="950" b="0" i="0">
                <a:solidFill>
                  <a:srgbClr val="555960"/>
                </a:solidFill>
              </a:rPr>
              <a:t>peak demand 2 × 384 MB, within the 1 GB worker ceiling</a:t>
            </a:r>
          </a:p>
        </p:txBody>
      </p:sp>
      <p:cxnSp>
        <p:nvCxnSpPr>
          <p:cNvPr id="22" name="RM-Conn1"/>
          <p:cNvCxnSpPr/>
          <p:nvPr/>
        </p:nvCxnSpPr>
        <p:spPr>
          <a:xfrm flipH="1">
            <a:off x="1645920" y="1719072"/>
            <a:ext cx="292608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RM-Conn2"/>
          <p:cNvCxnSpPr/>
          <p:nvPr/>
        </p:nvCxnSpPr>
        <p:spPr>
          <a:xfrm>
            <a:off x="4572000" y="1719072"/>
            <a:ext cx="0"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RM-Conn3"/>
          <p:cNvCxnSpPr/>
          <p:nvPr/>
        </p:nvCxnSpPr>
        <p:spPr>
          <a:xfrm>
            <a:off x="4572000" y="1719072"/>
            <a:ext cx="2926079" cy="52120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RM-Conn4"/>
          <p:cNvCxnSpPr/>
          <p:nvPr/>
        </p:nvCxnSpPr>
        <p:spPr>
          <a:xfrm>
            <a:off x="1645920" y="3200400"/>
            <a:ext cx="237744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RM-Conn5"/>
          <p:cNvCxnSpPr/>
          <p:nvPr/>
        </p:nvCxnSpPr>
        <p:spPr>
          <a:xfrm>
            <a:off x="4572000" y="3200400"/>
            <a:ext cx="0"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RM-Conn6"/>
          <p:cNvCxnSpPr/>
          <p:nvPr/>
        </p:nvCxnSpPr>
        <p:spPr>
          <a:xfrm flipH="1">
            <a:off x="5120640" y="3200400"/>
            <a:ext cx="2377439" cy="566928"/>
          </a:xfrm>
          <a:prstGeom prst="line">
            <a:avLst/>
          </a:prstGeom>
          <a:ln w="28575">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MC-Optional"/>
          <p:cNvSpPr txBox="1"/>
          <p:nvPr/>
        </p:nvSpPr>
        <p:spPr>
          <a:xfrm>
            <a:off x="5989320" y="3438144"/>
            <a:ext cx="1234440" cy="274320"/>
          </a:xfrm>
          <a:prstGeom prst="rect">
            <a:avLst/>
          </a:prstGeom>
          <a:noFill/>
        </p:spPr>
        <p:txBody>
          <a:bodyPr wrap="square" anchor="t">
            <a:spAutoFit/>
          </a:bodyPr>
          <a:lstStyle/>
          <a:p>
            <a:pPr algn="ctr"/>
            <a:r>
              <a:rPr sz="1200" b="0" i="1">
                <a:solidFill>
                  <a:srgbClr val="555960"/>
                </a:solidFill>
              </a:rPr>
              <a:t>optional</a:t>
            </a:r>
          </a:p>
        </p:txBody>
      </p:sp>
      <p:sp>
        <p:nvSpPr>
          <p:cNvPr id="29" name="MC-GateOpt"/>
          <p:cNvSpPr/>
          <p:nvPr/>
        </p:nvSpPr>
        <p:spPr>
          <a:xfrm>
            <a:off x="5989320" y="3767328"/>
            <a:ext cx="123444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600" b="1" i="0">
                <a:solidFill>
                  <a:srgbClr val="FFFFFF"/>
                </a:solidFill>
              </a:rPr>
              <a:t>GATE</a:t>
            </a:r>
          </a:p>
        </p:txBody>
      </p:sp>
      <p:cxnSp>
        <p:nvCxnSpPr>
          <p:cNvPr id="30" name="MC-VGArrow"/>
          <p:cNvCxnSpPr/>
          <p:nvPr/>
        </p:nvCxnSpPr>
        <p:spPr>
          <a:xfrm>
            <a:off x="5468112" y="4050791"/>
            <a:ext cx="45720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15" name="TR-Label1"/>
          <p:cNvSpPr txBox="1"/>
          <p:nvPr/>
        </p:nvSpPr>
        <p:spPr>
          <a:xfrm>
            <a:off x="320040" y="1353312"/>
            <a:ext cx="2697480" cy="457200"/>
          </a:xfrm>
          <a:prstGeom prst="rect">
            <a:avLst/>
          </a:prstGeom>
          <a:noFill/>
        </p:spPr>
        <p:txBody>
          <a:bodyPr wrap="square" anchor="t">
            <a:spAutoFit/>
          </a:bodyPr>
          <a:lstStyle/>
          <a:p>
            <a:pPr algn="l"/>
            <a:r>
              <a:rPr sz="2200" b="1" i="0">
                <a:solidFill>
                  <a:srgbClr val="8E6F3E"/>
                </a:solidFill>
              </a:rPr>
              <a:t>CORRESPONDENCE</a:t>
            </a:r>
          </a:p>
        </p:txBody>
      </p:sp>
      <p:sp>
        <p:nvSpPr>
          <p:cNvPr id="16" name="TR-Box1a"/>
          <p:cNvSpPr/>
          <p:nvPr/>
        </p:nvSpPr>
        <p:spPr>
          <a:xfrm>
            <a:off x="3108960" y="12801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implementation</a:t>
            </a:r>
          </a:p>
        </p:txBody>
      </p:sp>
      <p:sp>
        <p:nvSpPr>
          <p:cNvPr id="17" name="TR-Box1b"/>
          <p:cNvSpPr/>
          <p:nvPr/>
        </p:nvSpPr>
        <p:spPr>
          <a:xfrm>
            <a:off x="5989320" y="12801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representation</a:t>
            </a:r>
          </a:p>
        </p:txBody>
      </p:sp>
      <p:cxnSp>
        <p:nvCxnSpPr>
          <p:cNvPr id="18" name="TR-Arrow1"/>
          <p:cNvCxnSpPr/>
          <p:nvPr/>
        </p:nvCxnSpPr>
        <p:spPr>
          <a:xfrm>
            <a:off x="5138928" y="1645920"/>
            <a:ext cx="786384" cy="0"/>
          </a:xfrm>
          <a:prstGeom prst="line">
            <a:avLst/>
          </a:prstGeom>
          <a:ln w="28575">
            <a:solidFill>
              <a:srgbClr val="8E6F3E"/>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R-Q1"/>
          <p:cNvSpPr txBox="1"/>
          <p:nvPr/>
        </p:nvSpPr>
        <p:spPr>
          <a:xfrm>
            <a:off x="4617720" y="1097280"/>
            <a:ext cx="1828800" cy="292608"/>
          </a:xfrm>
          <a:prstGeom prst="rect">
            <a:avLst/>
          </a:prstGeom>
          <a:noFill/>
        </p:spPr>
        <p:txBody>
          <a:bodyPr wrap="square" anchor="t">
            <a:spAutoFit/>
          </a:bodyPr>
          <a:lstStyle/>
          <a:p>
            <a:pPr algn="ctr"/>
            <a:r>
              <a:rPr sz="1200" b="0" i="1">
                <a:solidFill>
                  <a:srgbClr val="555960"/>
                </a:solidFill>
              </a:rPr>
              <a:t>do they agree?</a:t>
            </a:r>
          </a:p>
        </p:txBody>
      </p:sp>
      <p:sp>
        <p:nvSpPr>
          <p:cNvPr id="20" name="TR-Label2"/>
          <p:cNvSpPr txBox="1"/>
          <p:nvPr/>
        </p:nvSpPr>
        <p:spPr>
          <a:xfrm>
            <a:off x="320040" y="2953512"/>
            <a:ext cx="2697480" cy="457200"/>
          </a:xfrm>
          <a:prstGeom prst="rect">
            <a:avLst/>
          </a:prstGeom>
          <a:noFill/>
        </p:spPr>
        <p:txBody>
          <a:bodyPr wrap="square" anchor="t">
            <a:spAutoFit/>
          </a:bodyPr>
          <a:lstStyle/>
          <a:p>
            <a:pPr algn="l"/>
            <a:r>
              <a:rPr sz="2200" b="1" i="0">
                <a:solidFill>
                  <a:srgbClr val="8E6F3E"/>
                </a:solidFill>
              </a:rPr>
              <a:t>CONFORMANCE</a:t>
            </a:r>
          </a:p>
        </p:txBody>
      </p:sp>
      <p:sp>
        <p:nvSpPr>
          <p:cNvPr id="21" name="TR-Box2a"/>
          <p:cNvSpPr/>
          <p:nvPr/>
        </p:nvSpPr>
        <p:spPr>
          <a:xfrm>
            <a:off x="3108960" y="2880360"/>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2" name="TR-Box2b"/>
          <p:cNvSpPr/>
          <p:nvPr/>
        </p:nvSpPr>
        <p:spPr>
          <a:xfrm>
            <a:off x="5989320" y="2880360"/>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independent obligation</a:t>
            </a:r>
          </a:p>
        </p:txBody>
      </p:sp>
      <p:cxnSp>
        <p:nvCxnSpPr>
          <p:cNvPr id="23" name="TR-Arrow2"/>
          <p:cNvCxnSpPr/>
          <p:nvPr/>
        </p:nvCxnSpPr>
        <p:spPr>
          <a:xfrm>
            <a:off x="5138928" y="32461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R-Q2"/>
          <p:cNvSpPr txBox="1"/>
          <p:nvPr/>
        </p:nvSpPr>
        <p:spPr>
          <a:xfrm>
            <a:off x="4617720" y="2697480"/>
            <a:ext cx="1828800" cy="292608"/>
          </a:xfrm>
          <a:prstGeom prst="rect">
            <a:avLst/>
          </a:prstGeom>
          <a:noFill/>
        </p:spPr>
        <p:txBody>
          <a:bodyPr wrap="square" anchor="t">
            <a:spAutoFit/>
          </a:bodyPr>
          <a:lstStyle/>
          <a:p>
            <a:pPr algn="ctr"/>
            <a:r>
              <a:rPr sz="1200" b="0" i="1">
                <a:solidFill>
                  <a:srgbClr val="555960"/>
                </a:solidFill>
              </a:rPr>
              <a:t>does it satisfy?</a:t>
            </a:r>
          </a:p>
        </p:txBody>
      </p:sp>
      <p:sp>
        <p:nvSpPr>
          <p:cNvPr id="25" name="TR-Label3"/>
          <p:cNvSpPr txBox="1"/>
          <p:nvPr/>
        </p:nvSpPr>
        <p:spPr>
          <a:xfrm>
            <a:off x="320040" y="4553712"/>
            <a:ext cx="2697480" cy="457200"/>
          </a:xfrm>
          <a:prstGeom prst="rect">
            <a:avLst/>
          </a:prstGeom>
          <a:noFill/>
        </p:spPr>
        <p:txBody>
          <a:bodyPr wrap="square" anchor="t">
            <a:spAutoFit/>
          </a:bodyPr>
          <a:lstStyle/>
          <a:p>
            <a:pPr algn="l"/>
            <a:r>
              <a:rPr sz="2200" b="1" i="0">
                <a:solidFill>
                  <a:srgbClr val="8E6F3E"/>
                </a:solidFill>
              </a:rPr>
              <a:t>ACCEPTANCE</a:t>
            </a:r>
          </a:p>
        </p:txBody>
      </p:sp>
      <p:sp>
        <p:nvSpPr>
          <p:cNvPr id="26" name="TR-Box3a"/>
          <p:cNvSpPr/>
          <p:nvPr/>
        </p:nvSpPr>
        <p:spPr>
          <a:xfrm>
            <a:off x="3108960" y="4480559"/>
            <a:ext cx="1965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artifact</a:t>
            </a:r>
          </a:p>
        </p:txBody>
      </p:sp>
      <p:sp>
        <p:nvSpPr>
          <p:cNvPr id="27" name="TR-Box3b"/>
          <p:cNvSpPr/>
          <p:nvPr/>
        </p:nvSpPr>
        <p:spPr>
          <a:xfrm>
            <a:off x="5989320" y="4480559"/>
            <a:ext cx="283464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500" b="0" i="0">
                <a:solidFill>
                  <a:srgbClr val="5C4826"/>
                </a:solidFill>
              </a:rPr>
              <a:t>receiving environment</a:t>
            </a:r>
          </a:p>
        </p:txBody>
      </p:sp>
      <p:cxnSp>
        <p:nvCxnSpPr>
          <p:cNvPr id="28" name="TR-Arrow3"/>
          <p:cNvCxnSpPr/>
          <p:nvPr/>
        </p:nvCxnSpPr>
        <p:spPr>
          <a:xfrm>
            <a:off x="5138928" y="4846320"/>
            <a:ext cx="78638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R-Q3"/>
          <p:cNvSpPr txBox="1"/>
          <p:nvPr/>
        </p:nvSpPr>
        <p:spPr>
          <a:xfrm>
            <a:off x="4617720" y="4297679"/>
            <a:ext cx="1828800" cy="292608"/>
          </a:xfrm>
          <a:prstGeom prst="rect">
            <a:avLst/>
          </a:prstGeom>
          <a:noFill/>
        </p:spPr>
        <p:txBody>
          <a:bodyPr wrap="square" anchor="t">
            <a:spAutoFit/>
          </a:bodyPr>
          <a:lstStyle/>
          <a:p>
            <a:pPr algn="ctr"/>
            <a:r>
              <a:rPr sz="1200" b="0" i="1">
                <a:solidFill>
                  <a:srgbClr val="555960"/>
                </a:solidFill>
              </a:rPr>
              <a:t>will it accept?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1800" b="0" i="1">
                <a:solidFill>
                  <a:srgbClr val="555960"/>
                </a:solidFill>
              </a:rPr>
              <a:t>does the model capture</a:t>
            </a:r>
          </a:p>
          <a:p>
            <a:pPr algn="l"/>
            <a:r>
              <a:rPr sz="18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1800" b="0" i="1">
                <a:solidFill>
                  <a:srgbClr val="555960"/>
                </a:solidFill>
              </a:rPr>
              <a:t>does the realization</a:t>
            </a:r>
          </a:p>
          <a:p>
            <a:pPr algn="r"/>
            <a:r>
              <a:rPr sz="18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18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GIVEN MODEL</a:t>
            </a:r>
          </a:p>
          <a:p>
            <a:pPr algn="l"/>
            <a:r>
              <a:rPr sz="1200" b="0" i="0">
                <a:solidFill>
                  <a:srgbClr val="5C4826"/>
                </a:solidFill>
                <a:latin typeface="Consolas"/>
              </a:rPr>
              <a:t>Controller</a:t>
            </a:r>
          </a:p>
          <a:p>
            <a:pPr algn="l"/>
            <a:r>
              <a:rPr sz="1200" b="0" i="0">
                <a:solidFill>
                  <a:srgbClr val="5C4826"/>
                </a:solidFill>
                <a:latin typeface="Consolas"/>
              </a:rPr>
              <a:t xml:space="preserve"> ├─ API: IController</a:t>
            </a:r>
          </a:p>
          <a:p>
            <a:pPr algn="l"/>
            <a:r>
              <a:rPr sz="1200" b="0" i="0">
                <a:solidFill>
                  <a:srgbClr val="5C4826"/>
                </a:solidFill>
                <a:latin typeface="Consolas"/>
              </a:rPr>
              <a:t xml:space="preserve"> ├─ uses → Sensor</a:t>
            </a:r>
          </a:p>
          <a:p>
            <a:pPr algn="l"/>
            <a:r>
              <a:rPr sz="1200" b="0" i="0">
                <a:solidFill>
                  <a:srgbClr val="5C4826"/>
                </a:solidFill>
                <a:latin typeface="Consolas"/>
              </a:rPr>
              <a:t xml:space="preserve"> ├─ uses → Actuator</a:t>
            </a:r>
          </a:p>
          <a:p>
            <a:pPr algn="l"/>
            <a:r>
              <a:rPr sz="1200" b="0" i="0">
                <a:solidFill>
                  <a:srgbClr val="5C4826"/>
                </a:solidFill>
                <a:latin typeface="Consolas"/>
              </a:rPr>
              <a:t xml:space="preserve"> ├─ forbidden → CloudSDK</a:t>
            </a:r>
          </a:p>
          <a:p>
            <a:pPr algn="l"/>
            <a:r>
              <a:rPr sz="1200" b="0" i="0">
                <a:solidFill>
                  <a:srgbClr val="5C4826"/>
                </a:solidFill>
                <a:latin typeface="Consolas"/>
              </a:rPr>
              <a:t xml:space="preserve"> └─ memory ≤ 64 MB</a:t>
            </a:r>
          </a:p>
          <a:p>
            <a:pPr algn="l"/>
            <a:r>
              <a:rPr sz="1050" b="0" i="1">
                <a:solidFill>
                  <a:srgbClr val="555960"/>
                </a:solidFill>
              </a:rPr>
              <a:t>each cycle: Sensor.read → decide → Actuator.act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a:t>
            </a:r>
          </a:p>
          <a:p>
            <a:pPr algn="l"/>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evidence</a:t>
            </a:r>
          </a:p>
          <a:p>
            <a:pPr algn="l"/>
            <a:r>
              <a:rPr sz="1700" b="0" i="0">
                <a:solidFill>
                  <a:srgbClr val="5C4826"/>
                </a:solidFill>
              </a:rPr>
              <a:t>Can the failure be prevented, or must it be observed and evaluated?</a:t>
            </a:r>
          </a:p>
        </p:txBody>
      </p:sp>
      <p:sp>
        <p:nvSpPr>
          <p:cNvPr id="12" name="Compare3"/>
          <p:cNvSpPr/>
          <p:nvPr/>
        </p:nvSpPr>
        <p:spPr>
          <a:xfrm>
            <a:off x="502920" y="2880360"/>
            <a:ext cx="8138160" cy="932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a:t>
            </a:r>
          </a:p>
          <a:p>
            <a:pPr algn="l"/>
            <a:r>
              <a:rPr sz="17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a:t>
            </a:r>
          </a:p>
          <a:p>
            <a:pPr algn="l"/>
            <a:r>
              <a:rPr sz="1700" b="0" i="0">
                <a:solidFill>
                  <a:srgbClr val="5C4826"/>
                </a:solidFill>
              </a:rPr>
              <a:t>What becomes easier if the relevant knowledge is explicit?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