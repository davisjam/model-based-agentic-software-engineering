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89" r:id="rId15"/>
    <p:sldId id="290" r:id="rId34"/>
    <p:sldId id="258" r:id="rId9"/>
    <p:sldId id="284" r:id="rId49"/>
    <p:sldId id="291" r:id="rId35"/>
    <p:sldId id="292" r:id="rId36"/>
    <p:sldId id="293" r:id="rId37"/>
    <p:sldId id="294" r:id="rId38"/>
    <p:sldId id="295" r:id="rId39"/>
    <p:sldId id="285" r:id="rId50"/>
    <p:sldId id="296" r:id="rId40"/>
    <p:sldId id="297" r:id="rId41"/>
    <p:sldId id="298" r:id="rId42"/>
    <p:sldId id="299" r:id="rId14"/>
    <p:sldId id="262" r:id="rId13"/>
    <p:sldId id="300" r:id="rId12"/>
    <p:sldId id="266" r:id="rId17"/>
    <p:sldId id="267" r:id="rId18"/>
    <p:sldId id="265" r:id="rId16"/>
    <p:sldId id="268" r:id="rId19"/>
    <p:sldId id="286" r:id="rId51"/>
    <p:sldId id="269" r:id="rId20"/>
    <p:sldId id="270" r:id="rId21"/>
    <p:sldId id="271" r:id="rId22"/>
    <p:sldId id="272" r:id="rId23"/>
    <p:sldId id="273" r:id="rId24"/>
    <p:sldId id="288" r:id="rId53"/>
    <p:sldId id="277" r:id="rId28"/>
    <p:sldId id="278" r:id="rId29"/>
    <p:sldId id="279" r:id="rId30"/>
    <p:sldId id="301" r:id="rId11"/>
    <p:sldId id="280" r:id="rId31"/>
    <p:sldId id="281" r:id="rId32"/>
    <p:sldId id="287" r:id="rId52"/>
    <p:sldId id="274" r:id="rId25"/>
    <p:sldId id="275" r:id="rId26"/>
    <p:sldId id="276" r:id="rId27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9" Type="http://schemas.openxmlformats.org/officeDocument/2006/relationships/slide" Target="slides/slide4.xml"/><Relationship Id="rId11" Type="http://schemas.openxmlformats.org/officeDocument/2006/relationships/slide" Target="slides/slide32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2.xml"/><Relationship Id="rId16" Type="http://schemas.openxmlformats.org/officeDocument/2006/relationships/slide" Target="slides/slide20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1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slide" Target="slides/slide36.xml"/><Relationship Id="rId26" Type="http://schemas.openxmlformats.org/officeDocument/2006/relationships/slide" Target="slides/slide37.xml"/><Relationship Id="rId27" Type="http://schemas.openxmlformats.org/officeDocument/2006/relationships/slide" Target="slides/slide38.xml"/><Relationship Id="rId28" Type="http://schemas.openxmlformats.org/officeDocument/2006/relationships/slide" Target="slides/slide29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9.xml"/><Relationship Id="rId34" Type="http://schemas.openxmlformats.org/officeDocument/2006/relationships/slide" Target="slides/slide3.xml"/><Relationship Id="rId35" Type="http://schemas.openxmlformats.org/officeDocument/2006/relationships/slide" Target="slides/slide6.xml"/><Relationship Id="rId36" Type="http://schemas.openxmlformats.org/officeDocument/2006/relationships/slide" Target="slides/slide7.xml"/><Relationship Id="rId37" Type="http://schemas.openxmlformats.org/officeDocument/2006/relationships/slide" Target="slides/slide8.xml"/><Relationship Id="rId38" Type="http://schemas.openxmlformats.org/officeDocument/2006/relationships/slide" Target="slides/slide9.xml"/><Relationship Id="rId39" Type="http://schemas.openxmlformats.org/officeDocument/2006/relationships/slide" Target="slides/slide10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9" Type="http://schemas.openxmlformats.org/officeDocument/2006/relationships/slide" Target="slides/slide5.xml"/><Relationship Id="rId50" Type="http://schemas.openxmlformats.org/officeDocument/2006/relationships/slide" Target="slides/slide11.xml"/><Relationship Id="rId51" Type="http://schemas.openxmlformats.org/officeDocument/2006/relationships/slide" Target="slides/slide22.xml"/><Relationship Id="rId52" Type="http://schemas.openxmlformats.org/officeDocument/2006/relationships/slide" Target="slides/slide35.xml"/><Relationship Id="rId53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question; do not answer it yet. Do not preview the model. Transition: "Rather than define Alignment, let's give an agent some work."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callback to Architecture/Design — the same degrees-of-freedom visual language. Speaker: "This is the same design problem we have seen before: decide which degrees of freedom matter." We are NOT teaching students to write giant prompts that micromanage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after the todo-app discussion: name the two halves the students just experienced. The footer phrase is the unit framing (it also opens the lander). No Section 0, no recap — straight into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PLAUSIBLE work order, not a generic list. Walk the rows; the right-hand annotations name what each row is doing: outcome, scope, obligations, process, stopping condition,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"environment" finally becomes concrete. The agent is not a chat window: it is placed inside a repository, with tools and context, and its work leaves through a commit and 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the todo app: "That was fine for a todo list. Now suppose the work matters. What else would we give the agent?" Caution: do NOT claim every delegation requires all of these to be explicitly specified. The point is that some process will occur whether you model it or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 failure mode. "All tests pass" is a claim, not yet evidence of the right thing. Recover the Section-1 definition: an OBLIGATION is a condition against which the work can be wrong. Evidence is evidence only relative to an obligation — one of the strongest propositions in the deck; let it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empty on purpose — no list of suggested checks initially; let the room discover the ambiguity. The gold line and the check list are a BUILD revealed after discussion. Collect: adding, editing, deletion, persistence, appearance, console errors, refresh, multiple tabs. Only after they volunteer these, point out that they are implicitly inventing obligations and evidence. Do not resolve anything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low-stakes and independent of the running engineering example. Students should experience "I asked an agent for something; it produced something that looks plausible; now what does WORKS mean?" before consequential delegated work appears. "Use whatever implementation approach you think is appropriate" deliberately creates degrees of freedom to return to later: different frameworks, storage mechanisms, UI choices, command sequences. The prompt paragraph is a single copyable block — students paste it into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pivotal picture: verification governing admission to greater consequence. Demoted build (speaker): a verdict can carry increasing authority — WARN (note it) / RECOMMEND (ask the agent to reconsider) / REJECT (refuse the patch) / PREVENT (make the action impossible). Guidance shapes behavior; enforcement determines what the environment accepts.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roles are two conceptual pairs, not a pipeline: constraint and sensor concern the work and its state (what may happen; what did happen); validator and gate concern judgment and admission (is it OK; may it pass). One mechanism may bundle roles: a CI test senses, validates, and gates at once; a narrow interface constrains while producing evidence of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3.3-1 (constraint vs sensor): the student performs the choice. Can the unwanted state be excluded cleanly and reliably? YES: constraint (typed enum, permission, narrow API). NO: sensor (metric, trace, call scan, log) — then validate the evidence, and gate on the verdict when appropriate. The first engineering preference is prevention, when cheap and 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Section 2: Alignment as Validation with consequences, not a second framework. Validation asks whether evidence supports the claim; Alignment asks what the verdict should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3.2-3 (the semantic gap): this explains WHY the rule exists rather than merely stating it. The obligation is legible only at the boundary where the whole unit of work is assembled; below it, no single commit / call / turn carries enough to decide. Ask the room why not everything at edit time before revealing. "Shift left" is not an unconditional maxim — check earlier only when the required evidence exists earlier.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 The takeaway uses the chapter vocabulary: the earliest boundary where the obligation is legible and decidable. The last line ties to the Modeling lecture: wrong abstraction means the property is not represented; wrong Alignment boundary means the evidence is unavailable.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(18 min): ~10–12 min team work, ~6 min debrief. Same scenario for every team so the debrief can compare designs. The instruction is deliberately wider than "how will each obligation be checked?" — teams design the delegated process AND its controls. One obligation is structurally preventable, one measured, one static, one integration-only — keep that heterogeneity. The model is GIVEN explicitly — students should not spend the exercise reconstructing it from prose immediately after being told why reconstruction is undesirable. The cycle line is the interaction behavior: obligation 4 is observable only in composition, so it forces a different boundary than the other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entire lecture on one slide — the design sequence each team applies to each obligation. Give them 10–12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 — each comparison corresponds directly to a lecture choice. The outcome: students can perform Alignment and say what an explicit model bought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3.2-1: three distinct relations, drawn separately so they cannot be read as one. Correspondence — do two representations agree? Conformance — does the artifact satisfy an independent obligation? Acceptance — will the receiving environment admit it? Evidence for one does not establish the others: a model and realization can agree completely and still violate an external obligation, and a representation extracted from the implementation corresponds by construction — that is not independent evidence of correctness. Next slide: now look specifically at obligation / model / realization — agreement occupies only one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to the opening. Build: the six questions appear one at a time — the first is the new one. Spoken close, returning to the opening activity: "You told an agent to vibe-code a todo list; later you told one to add bulk refunds. Both times the question was: does it work? We now have a better question: what must be true, what evidence can establish it, and what will the engineered environment permit when it isn’t?" Then the FA-SDLC handoff sentence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(12 min). Transition from the todo app: "That was fine for a todo list. Now suppose the work matters. What else would we give the agent?"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Build the failure model one mode at a time before any control vocabulary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(12 min). Moved BEFORE the design activity: the Modeling payoff is a design resource the activity should get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explicit process-modeling slide. The distinction matters: we are modeling the engineering process, not pretending we have a faithful cognitive model of an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Reuse of the Section-1 process diagram, now with the endpoint highlighted: does the chain end in ACCEPTABLE work? The question shifts from "what should happen" to "what can go wrong."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failure mode; take them one at a time. The artifact itself is wrong against an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Crucial: each example can leave a final state that LOOKS fine. The failure is in the path, not (only) the artifact — which is why final-state validation alone does not capture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failure mode. Explicit callback to the Agents lecture. This is what sets up gates later in the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from diagnosis to mechanism: each failure from the last four slides maps to a distinct engineering response. The four failures are genuinely different — wrong artifact, wrong process, excess authority, insufficient evidence — which is why the next slide needs four roles rather than one checker. This earns the control vocabulary: the failure model, not a framework, motivates the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between Modeling and Alignment, shown on a REAL shipped model (workbench example: medium-document-processing). One document service, declared once — entities, a bounded-retry lifecycle (submitted/queued/processing/completed/failed, retry_count at most 2), and a working-memory envelope (two 384 MB task slots against a 1 GB worker) — is consumed several ways: a lifecycle reachability check, a retry-bound check, and a memory analysis. Two kinds of question over one system; their verdicts meet at a gate. Nothing here was reconstructed from the code — every figure is a declaration in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Vibe code a todo list</a:t>
            </a:r>
          </a:p>
        </p:txBody>
      </p:sp>
      <p:sp>
        <p:nvSpPr>
          <p:cNvPr id="4" name="Instruction"/>
          <p:cNvSpPr txBox="1"/>
          <p:nvPr/>
        </p:nvSpPr>
        <p:spPr>
          <a:xfrm>
            <a:off x="274320" y="8961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Open Claude Code. Give it the following task.</a:t>
            </a:r>
          </a:p>
        </p:txBody>
      </p:sp>
      <p:sp>
        <p:nvSpPr>
          <p:cNvPr id="5" name="PromptBlock"/>
          <p:cNvSpPr/>
          <p:nvPr/>
        </p:nvSpPr>
        <p:spPr>
          <a:xfrm>
            <a:off x="502920" y="1417320"/>
            <a:ext cx="8138160" cy="1783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/>
            <a:r>
              <a:rPr sz="1400" b="0" i="0">
                <a:solidFill>
                  <a:srgbClr val="5C4826"/>
                </a:solidFill>
                <a:latin typeface="Consolas"/>
              </a:rPr>
              <a:t>Create a todo-list web application and make it available at localhost. A user should be able to add a todo item, mark an item complete, edit an existing item, and delete an item. The list should survive a browser refresh. Give the application a clean, usable interface with a text field for adding items and a visible list of current todos. Use whatever implementation approach you think is appropriate. When you are finished, start the application so that I can use it in my browser.</a:t>
            </a:r>
          </a:p>
        </p:txBody>
      </p:sp>
      <p:sp>
        <p:nvSpPr>
          <p:cNvPr id="6" name="Rules"/>
          <p:cNvSpPr txBox="1"/>
          <p:nvPr/>
        </p:nvSpPr>
        <p:spPr>
          <a:xfrm>
            <a:off x="502920" y="347472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960"/>
                </a:solidFill>
              </a:rPr>
              <a:t>Do not help the agent.</a:t>
            </a:r>
          </a:p>
          <a:p>
            <a:pPr algn="l"/>
            <a:r>
              <a:rPr sz="1800" b="0" i="0">
                <a:solidFill>
                  <a:srgbClr val="555960"/>
                </a:solidFill>
              </a:rPr>
              <a:t>If it makes a choice you did not specify, let it choose.</a:t>
            </a:r>
          </a:p>
        </p:txBody>
      </p:sp>
      <p:sp>
        <p:nvSpPr>
          <p:cNvPr id="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You have 5 minutes.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Does it work?</a:t>
            </a:r>
          </a:p>
        </p:txBody>
      </p:sp>
      <p:sp>
        <p:nvSpPr>
          <p:cNvPr id="4" name="OpenIt"/>
          <p:cNvSpPr txBox="1"/>
          <p:nvPr/>
        </p:nvSpPr>
        <p:spPr>
          <a:xfrm>
            <a:off x="274320" y="2103120"/>
            <a:ext cx="8595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 i="0">
                <a:solidFill>
                  <a:srgbClr val="5C4826"/>
                </a:solidFill>
              </a:rPr>
              <a:t>Open the application in your browser.</a:t>
            </a:r>
          </a:p>
          <a:p>
            <a:pPr algn="ctr"/>
            <a:r>
              <a:rPr sz="14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3200" b="1" i="0">
                <a:solidFill>
                  <a:srgbClr val="5C4826"/>
                </a:solidFill>
              </a:rPr>
              <a:t>Does it work?</a:t>
            </a:r>
          </a:p>
        </p:txBody>
      </p:sp>
      <p:sp>
        <p:nvSpPr>
          <p:cNvPr id="5" name="Reveal"/>
          <p:cNvSpPr txBox="1"/>
          <p:nvPr/>
        </p:nvSpPr>
        <p:spPr>
          <a:xfrm>
            <a:off x="274320" y="43891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What did you check before answering?</a:t>
            </a:r>
          </a:p>
        </p:txBody>
      </p:sp>
      <p:sp>
        <p:nvSpPr>
          <p:cNvPr id="6" name="Checks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adding · editing · deleting · persistence · appearance · console errors · refresh · multiple tabs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736592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a third framework — the point where the first two meet.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orders we give an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are we actually asking an agent to do?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task is not a process</a:t>
            </a:r>
          </a:p>
        </p:txBody>
      </p:sp>
      <p:sp>
        <p:nvSpPr>
          <p:cNvPr id="4" name="Task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TASK</a:t>
            </a:r>
          </a:p>
          <a:p>
            <a:pPr algn="ctr"/>
            <a:r>
              <a:rPr sz="10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Add bulk refunds to the payments service.</a:t>
            </a:r>
          </a:p>
        </p:txBody>
      </p:sp>
      <p:sp>
        <p:nvSpPr>
          <p:cNvPr id="5" name="Process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PROCESS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Where do you work?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may you change?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information should you inspect?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checks must you run?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artifact should you produce?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When are you finished?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 task describes an outcome.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Delegation also requires a process for producing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real agent gets a work environment</a:t>
            </a:r>
          </a:p>
        </p:txBody>
      </p:sp>
      <p:sp>
        <p:nvSpPr>
          <p:cNvPr id="4" name="WorkOrder"/>
          <p:cNvSpPr/>
          <p:nvPr/>
        </p:nvSpPr>
        <p:spPr>
          <a:xfrm>
            <a:off x="3566160" y="91440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417320"/>
            <a:ext cx="0" cy="30175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Worktree"/>
          <p:cNvSpPr/>
          <p:nvPr/>
        </p:nvSpPr>
        <p:spPr>
          <a:xfrm>
            <a:off x="1097280" y="1737360"/>
            <a:ext cx="6949440" cy="2240280"/>
          </a:xfrm>
          <a:prstGeom prst="rect">
            <a:avLst/>
          </a:prstGeom>
          <a:noFill/>
          <a:ln w="190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7" name="WorktreeLabel"/>
          <p:cNvSpPr txBox="1"/>
          <p:nvPr/>
        </p:nvSpPr>
        <p:spPr>
          <a:xfrm>
            <a:off x="1234440" y="1810512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WORKTREE</a:t>
            </a:r>
          </a:p>
        </p:txBody>
      </p:sp>
      <p:sp>
        <p:nvSpPr>
          <p:cNvPr id="8" name="EnvRepo"/>
          <p:cNvSpPr/>
          <p:nvPr/>
        </p:nvSpPr>
        <p:spPr>
          <a:xfrm>
            <a:off x="146304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9" name="EnvTools"/>
          <p:cNvSpPr/>
          <p:nvPr/>
        </p:nvSpPr>
        <p:spPr>
          <a:xfrm>
            <a:off x="370332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tools</a:t>
            </a:r>
          </a:p>
        </p:txBody>
      </p:sp>
      <p:sp>
        <p:nvSpPr>
          <p:cNvPr id="10" name="EnvContext"/>
          <p:cNvSpPr/>
          <p:nvPr/>
        </p:nvSpPr>
        <p:spPr>
          <a:xfrm>
            <a:off x="594360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context</a:t>
            </a:r>
          </a:p>
        </p:txBody>
      </p:sp>
      <p:sp>
        <p:nvSpPr>
          <p:cNvPr id="11" name="EnvAgent"/>
          <p:cNvSpPr/>
          <p:nvPr/>
        </p:nvSpPr>
        <p:spPr>
          <a:xfrm>
            <a:off x="3703320" y="3218688"/>
            <a:ext cx="1737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72000" y="2743200"/>
            <a:ext cx="0" cy="47548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5780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3785615"/>
            <a:ext cx="0" cy="420625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posed"/>
          <p:cNvSpPr/>
          <p:nvPr/>
        </p:nvSpPr>
        <p:spPr>
          <a:xfrm>
            <a:off x="3566160" y="4224528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proposed change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4700016"/>
            <a:ext cx="0" cy="2926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ommitPR"/>
          <p:cNvSpPr/>
          <p:nvPr/>
        </p:nvSpPr>
        <p:spPr>
          <a:xfrm>
            <a:off x="3566160" y="5010912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commit / PR</a:t>
            </a:r>
          </a:p>
        </p:txBody>
      </p:sp>
      <p:sp>
        <p:nvSpPr>
          <p:cNvPr id="19" name="EnvCaption"/>
          <p:cNvSpPr txBox="1"/>
          <p:nvPr/>
        </p:nvSpPr>
        <p:spPr>
          <a:xfrm>
            <a:off x="274320" y="5559552"/>
            <a:ext cx="8595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Git worktree · branch · issue · repository instructions · tools · tests · CI · PR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We do not merely give agents prompts.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place them inside engineered processes.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Give it a work order</a:t>
            </a:r>
          </a:p>
        </p:txBody>
      </p:sp>
      <p:graphicFrame>
        <p:nvGraphicFramePr>
          <p:cNvPr id="4" name="WorkOrderTable"/>
          <p:cNvGraphicFramePr>
            <a:graphicFrameLocks noGrp="1"/>
          </p:cNvGraphicFramePr>
          <p:nvPr/>
        </p:nvGraphicFramePr>
        <p:xfrm>
          <a:off x="502920" y="1005840"/>
          <a:ext cx="6492240" cy="45171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5029200"/>
              </a:tblGrid>
              <a:tr h="548640">
                <a:tc gridSpan="2">
                  <a:txBody>
                    <a:bodyPr wrap="square" anchor="ctr"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WORK ORDER: Bulk refunds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Goal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Add POST /refunds/bulk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Scope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the payments service only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Preserve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single-refund API behavior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Do not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authentication or payment-provider adapters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Check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tests + new bulk-refund tests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Deliver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Commit changes on your worktree and open a PR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Do not merge or deploy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Annot-outcome"/>
          <p:cNvSpPr txBox="1"/>
          <p:nvPr/>
        </p:nvSpPr>
        <p:spPr>
          <a:xfrm>
            <a:off x="7178040" y="1664207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outcome</a:t>
            </a:r>
          </a:p>
        </p:txBody>
      </p:sp>
      <p:sp>
        <p:nvSpPr>
          <p:cNvPr id="6" name="Annot-scope"/>
          <p:cNvSpPr txBox="1"/>
          <p:nvPr/>
        </p:nvSpPr>
        <p:spPr>
          <a:xfrm>
            <a:off x="7178040" y="223113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scope</a:t>
            </a:r>
          </a:p>
        </p:txBody>
      </p:sp>
      <p:sp>
        <p:nvSpPr>
          <p:cNvPr id="7" name="Annot-obligations"/>
          <p:cNvSpPr txBox="1"/>
          <p:nvPr/>
        </p:nvSpPr>
        <p:spPr>
          <a:xfrm>
            <a:off x="7178040" y="308152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obligations</a:t>
            </a:r>
          </a:p>
        </p:txBody>
      </p:sp>
      <p:sp>
        <p:nvSpPr>
          <p:cNvPr id="8" name="Annot-process"/>
          <p:cNvSpPr txBox="1"/>
          <p:nvPr/>
        </p:nvSpPr>
        <p:spPr>
          <a:xfrm>
            <a:off x="7178040" y="3931920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process</a:t>
            </a:r>
          </a:p>
        </p:txBody>
      </p:sp>
      <p:sp>
        <p:nvSpPr>
          <p:cNvPr id="9" name="Annot-stopping condition"/>
          <p:cNvSpPr txBox="1"/>
          <p:nvPr/>
        </p:nvSpPr>
        <p:spPr>
          <a:xfrm>
            <a:off x="7178040" y="449884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stopping condition</a:t>
            </a:r>
          </a:p>
        </p:txBody>
      </p:sp>
      <p:sp>
        <p:nvSpPr>
          <p:cNvPr id="10" name="Annot-authority"/>
          <p:cNvSpPr txBox="1"/>
          <p:nvPr/>
        </p:nvSpPr>
        <p:spPr>
          <a:xfrm>
            <a:off x="7178040" y="506577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authority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Orders reduce degrees of freedom</a:t>
            </a:r>
          </a:p>
        </p:txBody>
      </p:sp>
      <p:sp>
        <p:nvSpPr>
          <p:cNvPr id="4" name="Bound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BOUND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worktree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files in scope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forbidden actions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required checks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delivery boundary</a:t>
            </a:r>
          </a:p>
        </p:txBody>
      </p:sp>
      <p:sp>
        <p:nvSpPr>
          <p:cNvPr id="5" name="Free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LEAVE FREE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local implementation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decomposition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naming choices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algorithm, where unconstrained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order of intermediate edits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Good delegation constrains consequential choices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without prescribing every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process is a model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CAspects"/>
          <p:cNvSpPr txBox="1"/>
          <p:nvPr/>
        </p:nvSpPr>
        <p:spPr>
          <a:xfrm>
            <a:off x="274320" y="3246120"/>
            <a:ext cx="8595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permitted actions · required transitions · stopping criteria · evidence produced</a:t>
            </a:r>
          </a:p>
        </p:txBody>
      </p:sp>
      <p:sp>
        <p:nvSpPr>
          <p:cNvPr id="19" name="PCMain"/>
          <p:cNvSpPr txBox="1"/>
          <p:nvPr/>
        </p:nvSpPr>
        <p:spPr>
          <a:xfrm>
            <a:off x="502920" y="3977639"/>
            <a:ext cx="8138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 process model says what work may happen, in what environment, and what must be established before work proceeds.</a:t>
            </a:r>
          </a:p>
        </p:txBody>
      </p:sp>
      <p:sp>
        <p:nvSpPr>
          <p:cNvPr id="20" name="PCCaveat"/>
          <p:cNvSpPr txBox="1"/>
          <p:nvPr/>
        </p:nvSpPr>
        <p:spPr>
          <a:xfrm>
            <a:off x="502920" y="498348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It need not prescribe the agent’s internal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can delegated work fail?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go wrong between the work order and the result?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process gives us something to reason about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12379" y="2514600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COutcome"/>
          <p:cNvSpPr/>
          <p:nvPr/>
        </p:nvSpPr>
        <p:spPr>
          <a:xfrm>
            <a:off x="6903720" y="3054096"/>
            <a:ext cx="19202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acceptable work?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If we want to control delegated work,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need a model of how it can fail.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result can be wrong</a:t>
            </a:r>
          </a:p>
        </p:txBody>
      </p:sp>
      <p:sp>
        <p:nvSpPr>
          <p:cNvPr id="4" name="Example"/>
          <p:cNvSpPr txBox="1"/>
          <p:nvPr/>
        </p:nvSpPr>
        <p:spPr>
          <a:xfrm>
            <a:off x="274320" y="932688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555960"/>
                </a:solidFill>
              </a:rPr>
              <a:t>Requirement: existing clients continue to behave identically.</a:t>
            </a:r>
          </a:p>
          <a:p>
            <a:pPr algn="l"/>
            <a:r>
              <a:rPr sz="1700" b="0" i="1">
                <a:solidFill>
                  <a:srgbClr val="555960"/>
                </a:solidFill>
              </a:rPr>
              <a:t>The agent changes response semantics.</a:t>
            </a:r>
          </a:p>
        </p:txBody>
      </p:sp>
      <p:sp>
        <p:nvSpPr>
          <p:cNvPr id="5" name="FRequest"/>
          <p:cNvSpPr/>
          <p:nvPr/>
        </p:nvSpPr>
        <p:spPr>
          <a:xfrm>
            <a:off x="1097280" y="1965960"/>
            <a:ext cx="17373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REQUEST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249424"/>
            <a:ext cx="4114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Impl"/>
          <p:cNvSpPr/>
          <p:nvPr/>
        </p:nvSpPr>
        <p:spPr>
          <a:xfrm>
            <a:off x="3246120" y="1965960"/>
            <a:ext cx="21945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IMPLEMENTATION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532888"/>
            <a:ext cx="0" cy="484632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X"/>
          <p:cNvSpPr txBox="1"/>
          <p:nvPr/>
        </p:nvSpPr>
        <p:spPr>
          <a:xfrm>
            <a:off x="4114800" y="2788920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✗</a:t>
            </a:r>
          </a:p>
        </p:txBody>
      </p:sp>
      <p:sp>
        <p:nvSpPr>
          <p:cNvPr id="10" name="FReq"/>
          <p:cNvSpPr txBox="1"/>
          <p:nvPr/>
        </p:nvSpPr>
        <p:spPr>
          <a:xfrm>
            <a:off x="3291840" y="32461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555960"/>
                </a:solidFill>
              </a:rPr>
              <a:t>required behavior</a:t>
            </a:r>
          </a:p>
        </p:txBody>
      </p:sp>
      <p:sp>
        <p:nvSpPr>
          <p:cNvPr id="11" name="FailLabel"/>
          <p:cNvSpPr/>
          <p:nvPr/>
        </p:nvSpPr>
        <p:spPr>
          <a:xfrm>
            <a:off x="502920" y="406908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ARTIFACT FAILURE</a:t>
            </a:r>
          </a:p>
        </p:txBody>
      </p:sp>
      <p:sp>
        <p:nvSpPr>
          <p:cNvPr id="12" name="FailDef"/>
          <p:cNvSpPr txBox="1"/>
          <p:nvPr/>
        </p:nvSpPr>
        <p:spPr>
          <a:xfrm>
            <a:off x="3246120" y="4133087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resulting system violates an obligation.</a:t>
            </a:r>
          </a:p>
        </p:txBody>
      </p:sp>
      <p:sp>
        <p:nvSpPr>
          <p:cNvPr id="13" name="FailKinds"/>
          <p:cNvSpPr txBox="1"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behavior · violated invariant · excessive memory · incompatible API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do the wrong work</a:t>
            </a:r>
          </a:p>
        </p:txBody>
      </p:sp>
      <p:sp>
        <p:nvSpPr>
          <p:cNvPr id="4" name="WrongWork1"/>
          <p:cNvSpPr/>
          <p:nvPr/>
        </p:nvSpPr>
        <p:spPr>
          <a:xfrm>
            <a:off x="502920" y="100584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Modifies files outside the declared scope</a:t>
            </a:r>
          </a:p>
        </p:txBody>
      </p:sp>
      <p:sp>
        <p:nvSpPr>
          <p:cNvPr id="5" name="WrongWork2"/>
          <p:cNvSpPr/>
          <p:nvPr/>
        </p:nvSpPr>
        <p:spPr>
          <a:xfrm>
            <a:off x="502920" y="173736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Replaces an approved dependency</a:t>
            </a:r>
          </a:p>
        </p:txBody>
      </p:sp>
      <p:sp>
        <p:nvSpPr>
          <p:cNvPr id="6" name="WrongWork3"/>
          <p:cNvSpPr/>
          <p:nvPr/>
        </p:nvSpPr>
        <p:spPr>
          <a:xfrm>
            <a:off x="502920" y="246888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Changes the model instead of satisfying it</a:t>
            </a:r>
          </a:p>
        </p:txBody>
      </p:sp>
      <p:sp>
        <p:nvSpPr>
          <p:cNvPr id="7" name="WrongWork4"/>
          <p:cNvSpPr/>
          <p:nvPr/>
        </p:nvSpPr>
        <p:spPr>
          <a:xfrm>
            <a:off x="502920" y="320040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“Fixes” a test to make the implementation pass</a:t>
            </a:r>
          </a:p>
        </p:txBody>
      </p:sp>
      <p:sp>
        <p:nvSpPr>
          <p:cNvPr id="8" name="ScopeLabel"/>
          <p:cNvSpPr/>
          <p:nvPr/>
        </p:nvSpPr>
        <p:spPr>
          <a:xfrm>
            <a:off x="502920" y="4160520"/>
            <a:ext cx="310896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SCOPE / PROCESS FAILURE</a:t>
            </a:r>
          </a:p>
        </p:txBody>
      </p:sp>
      <p:sp>
        <p:nvSpPr>
          <p:cNvPr id="9" name="ScopeDef"/>
          <p:cNvSpPr txBox="1"/>
          <p:nvPr/>
        </p:nvSpPr>
        <p:spPr>
          <a:xfrm>
            <a:off x="3794760" y="422452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path to the result violates the work order.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Final-state validation alone does not capture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exceed its authority</a:t>
            </a:r>
          </a:p>
        </p:txBody>
      </p:sp>
      <p:sp>
        <p:nvSpPr>
          <p:cNvPr id="4" name="AuthREAD"/>
          <p:cNvSpPr/>
          <p:nvPr/>
        </p:nvSpPr>
        <p:spPr>
          <a:xfrm>
            <a:off x="41148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READ</a:t>
            </a:r>
          </a:p>
        </p:txBody>
      </p:sp>
      <p:sp>
        <p:nvSpPr>
          <p:cNvPr id="5" name="AuthMarkREAD"/>
          <p:cNvSpPr txBox="1"/>
          <p:nvPr/>
        </p:nvSpPr>
        <p:spPr>
          <a:xfrm>
            <a:off x="41148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00200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uthMODIFY"/>
          <p:cNvSpPr/>
          <p:nvPr/>
        </p:nvSpPr>
        <p:spPr>
          <a:xfrm>
            <a:off x="1837944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MODIFY</a:t>
            </a:r>
          </a:p>
        </p:txBody>
      </p:sp>
      <p:sp>
        <p:nvSpPr>
          <p:cNvPr id="8" name="AuthMarkMODIFY"/>
          <p:cNvSpPr txBox="1"/>
          <p:nvPr/>
        </p:nvSpPr>
        <p:spPr>
          <a:xfrm>
            <a:off x="1837944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26664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uthCOMMIT"/>
          <p:cNvSpPr/>
          <p:nvPr/>
        </p:nvSpPr>
        <p:spPr>
          <a:xfrm>
            <a:off x="3264408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11" name="AuthMarkCOMMIT"/>
          <p:cNvSpPr txBox="1"/>
          <p:nvPr/>
        </p:nvSpPr>
        <p:spPr>
          <a:xfrm>
            <a:off x="3264408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53128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hPUSH"/>
          <p:cNvSpPr/>
          <p:nvPr/>
        </p:nvSpPr>
        <p:spPr>
          <a:xfrm>
            <a:off x="4690872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PUSH</a:t>
            </a:r>
          </a:p>
        </p:txBody>
      </p:sp>
      <p:sp>
        <p:nvSpPr>
          <p:cNvPr id="14" name="AuthMarkPUSH"/>
          <p:cNvSpPr txBox="1"/>
          <p:nvPr/>
        </p:nvSpPr>
        <p:spPr>
          <a:xfrm>
            <a:off x="4690872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9592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uthMERGE"/>
          <p:cNvSpPr/>
          <p:nvPr/>
        </p:nvSpPr>
        <p:spPr>
          <a:xfrm>
            <a:off x="6117336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7" name="AuthMarkMERGE"/>
          <p:cNvSpPr txBox="1"/>
          <p:nvPr/>
        </p:nvSpPr>
        <p:spPr>
          <a:xfrm>
            <a:off x="6117336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6056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uthDEPLOY"/>
          <p:cNvSpPr/>
          <p:nvPr/>
        </p:nvSpPr>
        <p:spPr>
          <a:xfrm>
            <a:off x="754380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20" name="AuthMarkDEPLOY"/>
          <p:cNvSpPr txBox="1"/>
          <p:nvPr/>
        </p:nvSpPr>
        <p:spPr>
          <a:xfrm>
            <a:off x="754380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sp>
        <p:nvSpPr>
          <p:cNvPr id="21" name="AuthStmt"/>
          <p:cNvSpPr txBox="1"/>
          <p:nvPr/>
        </p:nvSpPr>
        <p:spPr>
          <a:xfrm>
            <a:off x="502920" y="338328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agent may be capable of an action that it is not authorized to take.</a:t>
            </a:r>
          </a:p>
        </p:txBody>
      </p:sp>
      <p:sp>
        <p:nvSpPr>
          <p:cNvPr id="22" name="AuthCallback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From Agents: capability is not authority.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evidence can be insufficient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agent reports: “All tests pass.”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546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3101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Which tests?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6896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Against which obligations?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2584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In which environment?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What wasn’t tested?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is evidence only relative to an obligation.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failure model suggests controls</a:t>
            </a:r>
          </a:p>
        </p:txBody>
      </p:sp>
      <p:sp>
        <p:nvSpPr>
          <p:cNvPr id="5" name="FCTransition"/>
          <p:cNvSpPr txBox="1"/>
          <p:nvPr/>
        </p:nvSpPr>
        <p:spPr>
          <a:xfrm>
            <a:off x="502920" y="530352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We can now ask how to make each failure impossible, observable, detectable, or consequential.</a:t>
            </a:r>
          </a:p>
        </p:txBody>
      </p:sp>
      <p:sp>
        <p:nvSpPr>
          <p:cNvPr id="6" name="FCHeadFailure"/>
          <p:cNvSpPr txBox="1"/>
          <p:nvPr/>
        </p:nvSpPr>
        <p:spPr>
          <a:xfrm>
            <a:off x="502920" y="932688"/>
            <a:ext cx="3291840" cy="292608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200" b="1" i="0">
                <a:solidFill>
                  <a:srgbClr val="8E6F3E"/>
                </a:solidFill>
              </a:rPr>
              <a:t>FAILURE</a:t>
            </a:r>
          </a:p>
        </p:txBody>
      </p:sp>
      <p:sp>
        <p:nvSpPr>
          <p:cNvPr id="7" name="FCHeadResponse"/>
          <p:cNvSpPr txBox="1"/>
          <p:nvPr/>
        </p:nvSpPr>
        <p:spPr>
          <a:xfrm>
            <a:off x="4800600" y="932688"/>
            <a:ext cx="3840480" cy="292608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200" b="1" i="0">
                <a:solidFill>
                  <a:srgbClr val="8E6F3E"/>
                </a:solidFill>
              </a:rPr>
              <a:t>ENGINEERING RESPONSE</a:t>
            </a:r>
          </a:p>
        </p:txBody>
      </p:sp>
      <p:sp>
        <p:nvSpPr>
          <p:cNvPr id="8" name="FCFail1"/>
          <p:cNvSpPr/>
          <p:nvPr/>
        </p:nvSpPr>
        <p:spPr>
          <a:xfrm>
            <a:off x="502920" y="1325880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WRONG RESULT</a:t>
            </a:r>
          </a:p>
        </p:txBody>
      </p:sp>
      <p:sp>
        <p:nvSpPr>
          <p:cNvPr id="9" name="FCResp1"/>
          <p:cNvSpPr/>
          <p:nvPr/>
        </p:nvSpPr>
        <p:spPr>
          <a:xfrm>
            <a:off x="4800600" y="1325880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establish properties of the artifact</a:t>
            </a:r>
          </a:p>
        </p:txBody>
      </p:sp>
      <p:cxnSp>
        <p:nvCxnSpPr>
          <p:cNvPr id="10" name="FCArrow1"/>
          <p:cNvCxnSpPr/>
          <p:nvPr/>
        </p:nvCxnSpPr>
        <p:spPr>
          <a:xfrm>
            <a:off x="3794760" y="1746504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CFail2"/>
          <p:cNvSpPr/>
          <p:nvPr/>
        </p:nvSpPr>
        <p:spPr>
          <a:xfrm>
            <a:off x="502920" y="2304288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WRONG PROCESS</a:t>
            </a:r>
          </a:p>
        </p:txBody>
      </p:sp>
      <p:sp>
        <p:nvSpPr>
          <p:cNvPr id="12" name="FCResp2"/>
          <p:cNvSpPr/>
          <p:nvPr/>
        </p:nvSpPr>
        <p:spPr>
          <a:xfrm>
            <a:off x="4800600" y="2304288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observe or constrain actions</a:t>
            </a:r>
          </a:p>
        </p:txBody>
      </p:sp>
      <p:cxnSp>
        <p:nvCxnSpPr>
          <p:cNvPr id="13" name="FCArrow2"/>
          <p:cNvCxnSpPr/>
          <p:nvPr/>
        </p:nvCxnSpPr>
        <p:spPr>
          <a:xfrm>
            <a:off x="3794760" y="2724912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CFail3"/>
          <p:cNvSpPr/>
          <p:nvPr/>
        </p:nvSpPr>
        <p:spPr>
          <a:xfrm>
            <a:off x="502920" y="3282696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EXCESS AUTHORITY</a:t>
            </a:r>
          </a:p>
        </p:txBody>
      </p:sp>
      <p:sp>
        <p:nvSpPr>
          <p:cNvPr id="15" name="FCResp3"/>
          <p:cNvSpPr/>
          <p:nvPr/>
        </p:nvSpPr>
        <p:spPr>
          <a:xfrm>
            <a:off x="4800600" y="3282696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restrict consequential actions</a:t>
            </a:r>
          </a:p>
        </p:txBody>
      </p:sp>
      <p:cxnSp>
        <p:nvCxnSpPr>
          <p:cNvPr id="16" name="FCArrow3"/>
          <p:cNvCxnSpPr/>
          <p:nvPr/>
        </p:nvCxnSpPr>
        <p:spPr>
          <a:xfrm>
            <a:off x="3794760" y="3703320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CFail4"/>
          <p:cNvSpPr/>
          <p:nvPr/>
        </p:nvSpPr>
        <p:spPr>
          <a:xfrm>
            <a:off x="502920" y="4261104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INSUFFICIENT EVIDENCE</a:t>
            </a:r>
          </a:p>
        </p:txBody>
      </p:sp>
      <p:sp>
        <p:nvSpPr>
          <p:cNvPr id="18" name="FCResp4"/>
          <p:cNvSpPr/>
          <p:nvPr/>
        </p:nvSpPr>
        <p:spPr>
          <a:xfrm>
            <a:off x="4800600" y="4261104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require evidence before acceptance</a:t>
            </a:r>
          </a:p>
        </p:txBody>
      </p:sp>
      <p:cxnSp>
        <p:nvCxnSpPr>
          <p:cNvPr id="19" name="FCArrow4"/>
          <p:cNvCxnSpPr/>
          <p:nvPr/>
        </p:nvCxnSpPr>
        <p:spPr>
          <a:xfrm>
            <a:off x="3794760" y="4681728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4183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1848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67712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951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44368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7180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39312"/>
            <a:ext cx="8595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  <p:sp>
        <p:nvSpPr>
          <p:cNvPr id="18" name="PairObligation"/>
          <p:cNvSpPr/>
          <p:nvPr/>
        </p:nvSpPr>
        <p:spPr>
          <a:xfrm>
            <a:off x="3017520" y="4096512"/>
            <a:ext cx="3108960" cy="43891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ENGINEERING OBLIGATION</a:t>
            </a:r>
          </a:p>
        </p:txBody>
      </p:sp>
      <p:sp>
        <p:nvSpPr>
          <p:cNvPr id="19" name="PairWorkState"/>
          <p:cNvSpPr/>
          <p:nvPr/>
        </p:nvSpPr>
        <p:spPr>
          <a:xfrm>
            <a:off x="123444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WORK / STATE</a:t>
            </a:r>
          </a:p>
        </p:txBody>
      </p:sp>
      <p:sp>
        <p:nvSpPr>
          <p:cNvPr id="20" name="PairDecision"/>
          <p:cNvSpPr/>
          <p:nvPr/>
        </p:nvSpPr>
        <p:spPr>
          <a:xfrm>
            <a:off x="562356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DECISION / ADMISSION</a:t>
            </a:r>
          </a:p>
        </p:txBody>
      </p:sp>
      <p:sp>
        <p:nvSpPr>
          <p:cNvPr id="21" name="PairLeafConstraint"/>
          <p:cNvSpPr/>
          <p:nvPr/>
        </p:nvSpPr>
        <p:spPr>
          <a:xfrm>
            <a:off x="50292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CONSTRAINT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may happen</a:t>
            </a:r>
          </a:p>
        </p:txBody>
      </p:sp>
      <p:sp>
        <p:nvSpPr>
          <p:cNvPr id="22" name="PairLeafSensor"/>
          <p:cNvSpPr/>
          <p:nvPr/>
        </p:nvSpPr>
        <p:spPr>
          <a:xfrm>
            <a:off x="246888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SENSOR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happened</a:t>
            </a:r>
          </a:p>
        </p:txBody>
      </p:sp>
      <p:sp>
        <p:nvSpPr>
          <p:cNvPr id="23" name="PairLeafValidator"/>
          <p:cNvSpPr/>
          <p:nvPr/>
        </p:nvSpPr>
        <p:spPr>
          <a:xfrm>
            <a:off x="489204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VALIDATOR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is it OK?</a:t>
            </a:r>
          </a:p>
        </p:txBody>
      </p:sp>
      <p:sp>
        <p:nvSpPr>
          <p:cNvPr id="24" name="PairLeafGate"/>
          <p:cNvSpPr/>
          <p:nvPr/>
        </p:nvSpPr>
        <p:spPr>
          <a:xfrm>
            <a:off x="685800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GATE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may it pass?</a:t>
            </a:r>
          </a:p>
        </p:txBody>
      </p:sp>
      <p:cxnSp>
        <p:nvCxnSpPr>
          <p:cNvPr id="25" name="PairConnL"/>
          <p:cNvCxnSpPr/>
          <p:nvPr/>
        </p:nvCxnSpPr>
        <p:spPr>
          <a:xfrm flipH="1">
            <a:off x="237744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PairConnR"/>
          <p:cNvCxnSpPr/>
          <p:nvPr/>
        </p:nvCxnSpPr>
        <p:spPr>
          <a:xfrm>
            <a:off x="457200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PairConnL1"/>
          <p:cNvCxnSpPr/>
          <p:nvPr/>
        </p:nvCxnSpPr>
        <p:spPr>
          <a:xfrm flipH="1">
            <a:off x="13944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PairConnL2"/>
          <p:cNvCxnSpPr/>
          <p:nvPr/>
        </p:nvCxnSpPr>
        <p:spPr>
          <a:xfrm>
            <a:off x="237744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PairConnR1"/>
          <p:cNvCxnSpPr/>
          <p:nvPr/>
        </p:nvCxnSpPr>
        <p:spPr>
          <a:xfrm flipH="1">
            <a:off x="578358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PairConnR2"/>
          <p:cNvCxnSpPr/>
          <p:nvPr/>
        </p:nvCxnSpPr>
        <p:spPr>
          <a:xfrm>
            <a:off x="67665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74320" y="46177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every invalid state can be excluded in advance. Some properties appear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only across a sequence of actions, in the assembled system, or at runtime.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  <p:pic>
        <p:nvPicPr>
          <p:cNvPr id="9" name="Fig-3-3-1-constraint-vs-sensor" descr="constraint-vs-sensor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7680960" cy="33604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verdict can control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02920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212140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0175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84048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Some actions are permitted only after their obligations are satisfied.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Alignment gives validation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  <p:sp>
        <p:nvSpPr>
          <p:cNvPr id="2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added step is consequence: the verdict can control what happens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check can decide a property only where the required information exists.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Different boundaries provide enough information to decide different properties.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Put the check where its question can be answered.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earlier when the required evidence exists earlier.</a:t>
            </a:r>
          </a:p>
        </p:txBody>
      </p:sp>
      <p:pic>
        <p:nvPicPr>
          <p:cNvPr id="9" name="Fig-3-2-3-semantic-gap" descr="semantic-gap-levels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8046720" cy="3017520"/>
          </a:xfrm>
          <a:prstGeom prst="rect">
            <a:avLst/>
          </a:prstGeom>
        </p:spPr>
      </p:pic>
      <p:sp>
        <p:nvSpPr>
          <p:cNvPr id="10" name="SemanticGapTakeaway"/>
          <p:cNvSpPr txBox="1"/>
          <p:nvPr/>
        </p:nvSpPr>
        <p:spPr>
          <a:xfrm>
            <a:off x="274320" y="4389120"/>
            <a:ext cx="8595360" cy="82296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 property that spans several commits, calls, or turns cannot be decided from any single event.</a:t>
            </a:r>
          </a:p>
          <a:p>
            <a:pPr algn="ctr"/>
            <a:r>
              <a:rPr sz="1600" b="1" i="0">
                <a:solidFill>
                  <a:srgbClr val="5C4826"/>
                </a:solidFill>
              </a:rPr>
              <a:t>Lift the mechanism to the first boundary where the whole obligation becomes legible.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Both rules place the check at the earliest point</a:t>
            </a:r>
            <a:r>
              <a:rPr sz="1800" b="1" i="0">
                <a:solidFill>
                  <a:srgbClr val="5C4826"/>
                </a:solidFill>
              </a:rPr>
              <a:t>Both place the check at the earliest boundary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with enough information to decide the claim.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where the obligation is legible and decidable.</a:t>
            </a:r>
          </a:p>
        </p:txBody>
      </p:sp>
      <p:sp>
        <p:nvSpPr>
          <p:cNvPr id="10" name="ModelingTie"/>
          <p:cNvSpPr txBox="1"/>
          <p:nvPr/>
        </p:nvSpPr>
        <p:spPr>
          <a:xfrm>
            <a:off x="274320" y="4709160"/>
            <a:ext cx="8595360" cy="7315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abstraction: the property is not represented.  Wrong Alignment boundary: the evidence is unavailable.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Enforcing an obligation before it can be decided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gives weaker control, not stronger control.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We just reasoned about constraints, evidence, evaluation, and authority.</a:t>
            </a:r>
          </a:p>
          <a:p>
            <a:pPr algn="ctr"/>
            <a:r>
              <a:rPr sz="2400" b="1" i="0">
                <a:solidFill>
                  <a:srgbClr val="000000"/>
                </a:solidFill>
              </a:rPr>
              <a:t>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Models can drive controls</a:t>
            </a:r>
          </a:p>
        </p:txBody>
      </p:sp>
      <p:sp>
        <p:nvSpPr>
          <p:cNvPr id="14" name="MCVerdicts"/>
          <p:cNvSpPr txBox="1"/>
          <p:nvPr/>
        </p:nvSpPr>
        <p:spPr>
          <a:xfrm>
            <a:off x="5532120" y="388620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960"/>
                </a:solidFill>
              </a:rPr>
              <a:t>verdicts</a:t>
            </a:r>
          </a:p>
        </p:txBody>
      </p:sp>
      <p:sp>
        <p:nvSpPr>
          <p:cNvPr id="15" name="MCGate"/>
          <p:cNvSpPr/>
          <p:nvPr/>
        </p:nvSpPr>
        <p:spPr>
          <a:xfrm>
            <a:off x="3749039" y="3767328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6" name="MCPoint"/>
          <p:cNvSpPr txBox="1"/>
          <p:nvPr/>
        </p:nvSpPr>
        <p:spPr>
          <a:xfrm>
            <a:off x="502920" y="45720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same explicit engineering knowledge can support multiple validators and constraints.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model becomes operational when the engineered environment uses it.</a:t>
            </a:r>
          </a:p>
        </p:txBody>
      </p:sp>
      <p:sp>
        <p:nvSpPr>
          <p:cNvPr id="18" name="RealModel"/>
          <p:cNvSpPr/>
          <p:nvPr/>
        </p:nvSpPr>
        <p:spPr>
          <a:xfrm>
            <a:off x="2103120" y="914400"/>
            <a:ext cx="4937760" cy="80467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DOCUMENT PROCESSING SERVICE</a:t>
            </a:r>
          </a:p>
          <a:p>
            <a:pPr algn="ctr"/>
            <a:r>
              <a:rPr sz="1050" b="0" i="1">
                <a:solidFill>
                  <a:srgbClr val="FBF8F2"/>
                </a:solidFill>
              </a:rPr>
              <a:t>one explicit model: lifecycle machine + resource graph</a:t>
            </a:r>
          </a:p>
        </p:txBody>
      </p:sp>
      <p:sp>
        <p:nvSpPr>
          <p:cNvPr id="19" name="MC-lifecycle"/>
          <p:cNvSpPr/>
          <p:nvPr/>
        </p:nvSpPr>
        <p:spPr>
          <a:xfrm>
            <a:off x="41148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LIFECYCLE CHECK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a Completed document ever be processed again?  no</a:t>
            </a:r>
          </a:p>
        </p:txBody>
      </p:sp>
      <p:sp>
        <p:nvSpPr>
          <p:cNvPr id="20" name="MC-retry"/>
          <p:cNvSpPr/>
          <p:nvPr/>
        </p:nvSpPr>
        <p:spPr>
          <a:xfrm>
            <a:off x="333756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RETRY BOUND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the retry loop run forever?  no — at most 2 retries</a:t>
            </a:r>
          </a:p>
        </p:txBody>
      </p:sp>
      <p:sp>
        <p:nvSpPr>
          <p:cNvPr id="21" name="MC-memory"/>
          <p:cNvSpPr/>
          <p:nvPr/>
        </p:nvSpPr>
        <p:spPr>
          <a:xfrm>
            <a:off x="626364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MEMORY ANALYSIS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peak demand 2 × 384 MB — within the 1 GB worker ceiling</a:t>
            </a:r>
          </a:p>
        </p:txBody>
      </p:sp>
      <p:cxnSp>
        <p:nvCxnSpPr>
          <p:cNvPr id="22" name="RM-Conn1"/>
          <p:cNvCxnSpPr/>
          <p:nvPr/>
        </p:nvCxnSpPr>
        <p:spPr>
          <a:xfrm flipH="1">
            <a:off x="1645920" y="1719072"/>
            <a:ext cx="292608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M-Conn2"/>
          <p:cNvCxnSpPr/>
          <p:nvPr/>
        </p:nvCxnSpPr>
        <p:spPr>
          <a:xfrm>
            <a:off x="4572000" y="1719072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RM-Conn3"/>
          <p:cNvCxnSpPr/>
          <p:nvPr/>
        </p:nvCxnSpPr>
        <p:spPr>
          <a:xfrm>
            <a:off x="4572000" y="1719072"/>
            <a:ext cx="2926079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RM-Conn4"/>
          <p:cNvCxnSpPr/>
          <p:nvPr/>
        </p:nvCxnSpPr>
        <p:spPr>
          <a:xfrm>
            <a:off x="1645920" y="3200400"/>
            <a:ext cx="237744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M-Conn5"/>
          <p:cNvCxnSpPr/>
          <p:nvPr/>
        </p:nvCxnSpPr>
        <p:spPr>
          <a:xfrm>
            <a:off x="4572000" y="3200400"/>
            <a:ext cx="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M-Conn6"/>
          <p:cNvCxnSpPr/>
          <p:nvPr/>
        </p:nvCxnSpPr>
        <p:spPr>
          <a:xfrm flipH="1">
            <a:off x="5120640" y="3200400"/>
            <a:ext cx="2377439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  <p:pic>
        <p:nvPicPr>
          <p:cNvPr id="10" name="Fig-3-2-1-three-relations" descr="three-relations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051560"/>
            <a:ext cx="6309360" cy="3680460"/>
          </a:xfrm>
          <a:prstGeom prst="rect">
            <a:avLst/>
          </a:prstGeom>
        </p:spPr>
      </p:pic>
      <p:sp>
        <p:nvSpPr>
          <p:cNvPr id="11" name="ThreeRelationsTakeaway"/>
          <p:cNvSpPr txBox="1"/>
          <p:nvPr/>
        </p:nvSpPr>
        <p:spPr>
          <a:xfrm>
            <a:off x="274320" y="4937760"/>
            <a:ext cx="8595360" cy="5029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Three relations people casually conflate — and their evidence is not interchangeable.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Given the failures, obligations, and boundaries, what should control the agent?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074920" y="205000"/>
            <a:ext cx="379476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10–12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2024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1  ·  </a:t>
            </a:r>
            <a:r>
              <a:rPr sz="14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74320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2  ·  </a:t>
            </a:r>
            <a:r>
              <a:rPr sz="14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56616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3  ·  </a:t>
            </a:r>
            <a:r>
              <a:rPr sz="14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438912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4  ·  </a:t>
            </a:r>
            <a:r>
              <a:rPr sz="14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5230368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 of different kinds.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Design the delegated process and its controls.</a:t>
            </a:r>
          </a:p>
        </p:txBody>
      </p:sp>
      <p:sp>
        <p:nvSpPr>
          <p:cNvPr id="13" name="GivenModel"/>
          <p:cNvSpPr/>
          <p:nvPr/>
        </p:nvSpPr>
        <p:spPr>
          <a:xfrm>
            <a:off x="4617720" y="1920240"/>
            <a:ext cx="4251960" cy="32186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1150" b="1" i="0">
                <a:solidFill>
                  <a:srgbClr val="8E6F3E"/>
                </a:solidFill>
              </a:rPr>
              <a:t>THE MODEL — GIVEN, NOT RECONSTRUCTED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Controller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API: IController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uses → Sensor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uses → Actuator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forbidden → CloudSDK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└─ memory ≤ 64 MB</a:t>
            </a:r>
          </a:p>
          <a:p>
            <a:pPr algn="l"/>
            <a:r>
              <a:rPr sz="1050" b="0" i="1">
                <a:solidFill>
                  <a:srgbClr val="555960"/>
                </a:solidFill>
              </a:rPr>
              <a:t>each cycle: Sensor.read → decide → Actuator.act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authority choices.</a:t>
            </a:r>
          </a:p>
        </p:txBody>
      </p:sp>
      <p:graphicFrame>
        <p:nvGraphicFramePr>
          <p:cNvPr id="16" name="DesignSequence"/>
          <p:cNvGraphicFramePr>
            <a:graphicFrameLocks noGrp="1"/>
          </p:cNvGraphicFramePr>
          <p:nvPr/>
        </p:nvGraphicFramePr>
        <p:xfrm>
          <a:off x="1097280" y="914400"/>
          <a:ext cx="694944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93776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can go wrong?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OBLIGATION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must be true?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Can we prevent it, or must we detect it?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observation could establish it?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BOUNDARY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Where does enough information exist?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Constraint · sensor · validator · gate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happens if it fails?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There may be more than one defensible control design.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  <p:sp>
        <p:nvSpPr>
          <p:cNvPr id="10" name="Compare1"/>
          <p:cNvSpPr/>
          <p:nvPr/>
        </p:nvSpPr>
        <p:spPr>
          <a:xfrm>
            <a:off x="502920" y="10515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Same obligation, different boundary — </a:t>
            </a:r>
            <a:r>
              <a:rPr sz="1700" b="0" i="0">
                <a:solidFill>
                  <a:srgbClr val="5C4826"/>
                </a:solidFill>
              </a:rPr>
              <a:t>Which boundary actually has enough information?</a:t>
            </a:r>
          </a:p>
        </p:txBody>
      </p:sp>
      <p:sp>
        <p:nvSpPr>
          <p:cNvPr id="11" name="Compare2"/>
          <p:cNvSpPr/>
          <p:nvPr/>
        </p:nvSpPr>
        <p:spPr>
          <a:xfrm>
            <a:off x="502920" y="19659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Constraint vs. validator — </a:t>
            </a:r>
            <a:r>
              <a:rPr sz="1700" b="0" i="0">
                <a:solidFill>
                  <a:srgbClr val="5C4826"/>
                </a:solidFill>
              </a:rPr>
              <a:t>What failure does each prevent or detect?</a:t>
            </a:r>
          </a:p>
        </p:txBody>
      </p:sp>
      <p:sp>
        <p:nvSpPr>
          <p:cNvPr id="12" name="Compare3"/>
          <p:cNvSpPr/>
          <p:nvPr/>
        </p:nvSpPr>
        <p:spPr>
          <a:xfrm>
            <a:off x="502920" y="28803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Different authority — </a:t>
            </a:r>
            <a:r>
              <a:rPr sz="1700" b="0" i="0">
                <a:solidFill>
                  <a:srgbClr val="5C4826"/>
                </a:solidFill>
              </a:rPr>
              <a:t>Should this failure block the commit, the PR, the merge, the deployment — or merely produce evidence?</a:t>
            </a:r>
          </a:p>
        </p:txBody>
      </p:sp>
      <p:sp>
        <p:nvSpPr>
          <p:cNvPr id="13" name="Compare4"/>
          <p:cNvSpPr/>
          <p:nvPr/>
        </p:nvSpPr>
        <p:spPr>
          <a:xfrm>
            <a:off x="502920" y="37947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Model vs. reconstruction — </a:t>
            </a:r>
            <a:r>
              <a:rPr sz="1700" b="0" i="0">
                <a:solidFill>
                  <a:srgbClr val="5C4826"/>
                </a:solidFill>
              </a:rPr>
              <a:t>What becomes easier if the relevant knowledge is explicit?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2331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1" i="0">
                <a:solidFill>
                  <a:srgbClr val="5C4826"/>
                </a:solidFill>
              </a:rPr>
              <a:t>How can the delegated work fail?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