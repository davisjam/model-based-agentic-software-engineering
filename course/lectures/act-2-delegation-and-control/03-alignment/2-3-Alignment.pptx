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St-MODEL"/>
          <p:cNvSpPr/>
          <p:nvPr/>
        </p:nvSpPr>
        <p:spPr>
          <a:xfrm>
            <a:off x="50292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t-ANALYSIS"/>
          <p:cNvSpPr/>
          <p:nvPr/>
        </p:nvSpPr>
        <p:spPr>
          <a:xfrm>
            <a:off x="3291840" y="1005840"/>
            <a:ext cx="256032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ANALYSIS</a:t>
            </a:r>
          </a:p>
        </p:txBody>
      </p:sp>
      <p:sp>
        <p:nvSpPr>
          <p:cNvPr id="6" name="St-VERDICT"/>
          <p:cNvSpPr/>
          <p:nvPr/>
        </p:nvSpPr>
        <p:spPr>
          <a:xfrm>
            <a:off x="681228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cxnSp>
        <p:nvCxnSpPr>
          <p:cNvPr id="7" name="St-A1"/>
          <p:cNvCxnSpPr/>
          <p:nvPr/>
        </p:nvCxnSpPr>
        <p:spPr>
          <a:xfrm>
            <a:off x="2331720" y="1325880"/>
            <a:ext cx="960120" cy="0"/>
          </a:xfrm>
          <a:prstGeom prst="straightConnector1">
            <a:avLst/>
          </a:prstGeom>
          <a:ln w="19050">
            <a:solidFill>
              <a:srgbClr val="8E6F3E"/>
            </a:solidFill>
            <a:tailEnd type="triangle"/>
          </a:ln>
        </p:spPr>
      </p:cxnSp>
      <p:cxnSp>
        <p:nvCxnSpPr>
          <p:cNvPr id="8" name="St-A2"/>
          <p:cNvCxnSpPr/>
          <p:nvPr/>
        </p:nvCxnSpPr>
        <p:spPr>
          <a:xfrm>
            <a:off x="5852160" y="1325880"/>
            <a:ext cx="960120" cy="0"/>
          </a:xfrm>
          <a:prstGeom prst="straightConnector1">
            <a:avLst/>
          </a:prstGeom>
          <a:ln w="19050">
            <a:solidFill>
              <a:srgbClr val="8E6F3E"/>
            </a:solidFill>
            <a:tailEnd type="triangle"/>
          </a:ln>
        </p:spPr>
      </p:cxnSp>
      <p:sp>
        <p:nvSpPr>
          <p:cNvPr id="9" name="St-Questions"/>
          <p:cNvSpPr/>
          <p:nvPr/>
        </p:nvSpPr>
        <p:spPr>
          <a:xfrm>
            <a:off x="502920" y="2103120"/>
            <a:ext cx="8138160" cy="237744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10"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Dy-MODEL"/>
          <p:cNvSpPr/>
          <p:nvPr/>
        </p:nvSpPr>
        <p:spPr>
          <a:xfrm>
            <a:off x="2697480" y="3831336"/>
            <a:ext cx="2203704" cy="7315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flipH="1">
            <a:off x="2240280" y="4197096"/>
            <a:ext cx="402336" cy="0"/>
          </a:xfrm>
          <a:prstGeom prst="straightConnector1">
            <a:avLst/>
          </a:prstGeom>
          <a:ln w="19050">
            <a:solidFill>
              <a:srgbClr val="8E6F3E"/>
            </a:solidFill>
            <a:tailEnd type="triangle"/>
          </a:ln>
        </p:spPr>
      </p:cxnSp>
      <p:sp>
        <p:nvSpPr>
          <p:cNvPr id="6" name="Dy-EXECUTION"/>
          <p:cNvSpPr/>
          <p:nvPr/>
        </p:nvSpPr>
        <p:spPr>
          <a:xfrm>
            <a:off x="685800" y="105156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685800" y="1993392"/>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685800" y="2935224"/>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685800" y="3877056"/>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685800" y="4818888"/>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435608" y="1691639"/>
            <a:ext cx="0" cy="301752"/>
          </a:xfrm>
          <a:prstGeom prst="straightConnector1">
            <a:avLst/>
          </a:prstGeom>
          <a:ln w="19050">
            <a:solidFill>
              <a:srgbClr val="8E6F3E"/>
            </a:solidFill>
            <a:tailEnd type="triangle"/>
          </a:ln>
        </p:spPr>
      </p:cxnSp>
      <p:cxnSp>
        <p:nvCxnSpPr>
          <p:cNvPr id="12" name="Dy-A1"/>
          <p:cNvCxnSpPr/>
          <p:nvPr/>
        </p:nvCxnSpPr>
        <p:spPr>
          <a:xfrm>
            <a:off x="1435608" y="2633472"/>
            <a:ext cx="0" cy="301752"/>
          </a:xfrm>
          <a:prstGeom prst="straightConnector1">
            <a:avLst/>
          </a:prstGeom>
          <a:ln w="19050">
            <a:solidFill>
              <a:srgbClr val="8E6F3E"/>
            </a:solidFill>
            <a:tailEnd type="triangle"/>
          </a:ln>
        </p:spPr>
      </p:cxnSp>
      <p:cxnSp>
        <p:nvCxnSpPr>
          <p:cNvPr id="13" name="Dy-A2"/>
          <p:cNvCxnSpPr/>
          <p:nvPr/>
        </p:nvCxnSpPr>
        <p:spPr>
          <a:xfrm>
            <a:off x="1435608" y="3575304"/>
            <a:ext cx="0" cy="301752"/>
          </a:xfrm>
          <a:prstGeom prst="straightConnector1">
            <a:avLst/>
          </a:prstGeom>
          <a:ln w="19050">
            <a:solidFill>
              <a:srgbClr val="8E6F3E"/>
            </a:solidFill>
            <a:tailEnd type="triangle"/>
          </a:ln>
        </p:spPr>
      </p:cxnSp>
      <p:cxnSp>
        <p:nvCxnSpPr>
          <p:cNvPr id="14"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wrap="square" lIns="27432" tIns="22860" rIns="27432" bIns="22860" rtlCol="0" anchor="t"/>
          <a:lstStyle/>
          <a:p>
            <a:pPr algn="ctr"/>
            <a:r>
              <a:rPr sz="2000" b="1">
                <a:solidFill>
                  <a:srgbClr val="5C4826"/>
                </a:solidFill>
              </a:rPr>
              <a:t>STATIC</a:t>
            </a:r>
          </a:p>
          <a:p>
            <a:pPr algn="ctr"/>
            <a:r>
              <a:rPr sz="2000" b="0">
                <a:solidFill>
                  <a:srgbClr val="5C4826"/>
                </a:solidFill>
              </a:rPr>
              <a:t>verdict over the modeled space</a:t>
            </a:r>
          </a:p>
          <a:p>
            <a:pPr algn="ctr"/>
            <a:endParaRPr sz="2000" b="0">
              <a:solidFill>
                <a:srgbClr val="5C4826"/>
              </a:solidFill>
            </a:endParaRP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