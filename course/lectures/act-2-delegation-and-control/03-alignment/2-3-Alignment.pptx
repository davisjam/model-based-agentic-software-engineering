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6" r:id="rId4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1" Type="http://schemas.openxmlformats.org/officeDocument/2006/relationships/slide" Target="slides/slide39.xml"/><Relationship Id="rId12" Type="http://schemas.openxmlformats.org/officeDocument/2006/relationships/slide" Target="slides/slide38.xml"/><Relationship Id="rId13" Type="http://schemas.openxmlformats.org/officeDocument/2006/relationships/slide" Target="slides/slide4.xml"/><Relationship Id="rId14" Type="http://schemas.openxmlformats.org/officeDocument/2006/relationships/slide" Target="slides/slide37.xml"/><Relationship Id="rId15" Type="http://schemas.openxmlformats.org/officeDocument/2006/relationships/slide" Target="slides/slide27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3.xml"/><Relationship Id="rId50" Type="http://schemas.openxmlformats.org/officeDocument/2006/relationships/slide" Target="slides/slide5.xml"/><Relationship Id="rId51" Type="http://schemas.openxmlformats.org/officeDocument/2006/relationships/slide" Target="slides/slide10.xml"/><Relationship Id="rId52" Type="http://schemas.openxmlformats.org/officeDocument/2006/relationships/slide" Target="slides/slide16.xml"/><Relationship Id="rId53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CI test can sense, validate, and gate at once; a narrow interface constrains while producing evidence of use. Then map the roles onto the delegated process: constraint bounds the agent; sensor observes it; validator judges the artifact; the gate decides whether work crosses the next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engineering preference is prevention — when cheap and reliable. Enum/permission/narrow-API versus test/trace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why not everything at edit time before revealing the right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Correspondence / conformance earns its appearance here, now that the students have designed real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of the Section-1 process diagram, now with the endpoint highlighted: does the chain end in ACCEPTABLE work? The question shifts from "what should happen" to "what can go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earns the control vocabulary: the failure model, not a framework, motivates the four roles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missing bridge between Modeling and Alignment: one explicit model, several controls derived from it, their verdicts meeting at a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MapConstraint"/>
          <p:cNvSpPr/>
          <p:nvPr/>
        </p:nvSpPr>
        <p:spPr>
          <a:xfrm>
            <a:off x="1965960" y="4160520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CONSTRAINT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43200" y="4636008"/>
            <a:ext cx="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MapWork"/>
          <p:cNvSpPr/>
          <p:nvPr/>
        </p:nvSpPr>
        <p:spPr>
          <a:xfrm>
            <a:off x="502920" y="4892040"/>
            <a:ext cx="118872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691640" y="5157216"/>
            <a:ext cx="27432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MapAgent"/>
          <p:cNvSpPr/>
          <p:nvPr/>
        </p:nvSpPr>
        <p:spPr>
          <a:xfrm>
            <a:off x="1965960" y="4892040"/>
            <a:ext cx="1554480" cy="53035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520440" y="5157216"/>
            <a:ext cx="27432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MapArtifact"/>
          <p:cNvSpPr/>
          <p:nvPr/>
        </p:nvSpPr>
        <p:spPr>
          <a:xfrm>
            <a:off x="3794760" y="4892040"/>
            <a:ext cx="155448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ARTIFACT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43200" y="5422392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pSensor"/>
          <p:cNvSpPr/>
          <p:nvPr/>
        </p:nvSpPr>
        <p:spPr>
          <a:xfrm>
            <a:off x="1965960" y="5687568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SENSOR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5422392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apValidator"/>
          <p:cNvSpPr/>
          <p:nvPr/>
        </p:nvSpPr>
        <p:spPr>
          <a:xfrm>
            <a:off x="3794760" y="5687568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VALIDATOR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20440" y="5925312"/>
            <a:ext cx="251460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49240" y="5925312"/>
            <a:ext cx="68580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MapEvidence"/>
          <p:cNvSpPr txBox="1"/>
          <p:nvPr/>
        </p:nvSpPr>
        <p:spPr>
          <a:xfrm>
            <a:off x="5166360" y="55595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32" name="MapGate"/>
          <p:cNvSpPr/>
          <p:nvPr/>
        </p:nvSpPr>
        <p:spPr>
          <a:xfrm>
            <a:off x="6035040" y="5687568"/>
            <a:ext cx="1188720" cy="47548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23760" y="5925312"/>
            <a:ext cx="274319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MapNext"/>
          <p:cNvSpPr/>
          <p:nvPr/>
        </p:nvSpPr>
        <p:spPr>
          <a:xfrm>
            <a:off x="7498079" y="5687568"/>
            <a:ext cx="141732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100" b="1" i="0">
                <a:solidFill>
                  <a:srgbClr val="5C4826"/>
                </a:solidFill>
              </a:rPr>
              <a:t>NEXT BOUNDARY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377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PREVENT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If an invalid state can be excluded cheaply and reliably, constrain it.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closed enumeration · permission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narrow API · typed representation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DETECT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Otherwise, observe the work and evaluate the evidence.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test · trace · measurement · analysis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then validate it — and gate on the verdict when appropriate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788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EARLIER IS CHEAPER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Early detection or prevention reduces wasted work and consequence.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So why not put every check at edit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788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SOME PROPERTIES</a:t>
            </a:r>
          </a:p>
          <a:p>
            <a:pPr algn="l"/>
            <a:r>
              <a:rPr sz="2000" b="1" i="0">
                <a:solidFill>
                  <a:srgbClr val="8E6F3E"/>
                </a:solidFill>
              </a:rPr>
              <a:t>CANNOT BE DECIDED YET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Integration behavior needs composition.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Production behavior needs deployed conditions.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Mid-task, work may legitimately disagree with an end-state obligation.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1148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“Shift left” is not an unconditional maxim.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
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977639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MODEL AND REALIZATION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AGREE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They can agree completely and still violate an external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3977639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DERIVED FROM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THE IMPLEMENTATION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A representation extracted from the implementation may correspond by construction. That does not provide independent evidence of correctness.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7772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Correspondence</a:t>
            </a:r>
            <a:r>
              <a:rPr sz="2000" b="0" i="0">
                <a:solidFill>
                  <a:srgbClr val="5C4826"/>
                </a:solidFill>
              </a:rPr>
              <a:t> — do two representations agree?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Conformance</a:t>
            </a:r>
            <a:r>
              <a:rPr sz="2000" b="0" i="0">
                <a:solidFill>
                  <a:srgbClr val="5C4826"/>
                </a:solidFill>
              </a:rPr>
              <a:t> — does the artifact satisfy an independent obligation?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Acceptance</a:t>
            </a:r>
            <a:r>
              <a:rPr sz="2000" b="0" i="0">
                <a:solidFill>
                  <a:srgbClr val="5C4826"/>
                </a:solidFill>
              </a:rPr>
              <a:t> — will the environment admit it?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1920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2331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402336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do not merely give agents prompts.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place them inside engineered processes.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process gives us something to reason about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12379" y="2514600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COutcome"/>
          <p:cNvSpPr/>
          <p:nvPr/>
        </p:nvSpPr>
        <p:spPr>
          <a:xfrm>
            <a:off x="6903720" y="3054096"/>
            <a:ext cx="19202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acceptable work?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If we want to control delegated work,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need a model of how it can fail.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graphicFrame>
        <p:nvGraphicFramePr>
          <p:cNvPr id="4" name="FailureControlTable"/>
          <p:cNvGraphicFramePr>
            <a:graphicFrameLocks noGrp="1"/>
          </p:cNvGraphicFramePr>
          <p:nvPr/>
        </p:nvGraphicFramePr>
        <p:xfrm>
          <a:off x="914400" y="1188720"/>
          <a:ext cx="7315200" cy="3182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572000"/>
              </a:tblGrid>
              <a:tr h="548640"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What we need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result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establish properties of the artifact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process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observe or constrain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excess 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restrict consequential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insufficient evidence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require evidence before acceptance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FCTransition"/>
          <p:cNvSpPr txBox="1"/>
          <p:nvPr/>
        </p:nvSpPr>
        <p:spPr>
          <a:xfrm>
            <a:off x="502920" y="48006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4" name="ArchModel"/>
          <p:cNvSpPr/>
          <p:nvPr/>
        </p:nvSpPr>
        <p:spPr>
          <a:xfrm>
            <a:off x="3291840" y="100584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ARCHITECTURE MODEL</a:t>
            </a:r>
          </a:p>
        </p:txBody>
      </p:sp>
      <p:sp>
        <p:nvSpPr>
          <p:cNvPr id="5" name="MC-dependency check"/>
          <p:cNvSpPr/>
          <p:nvPr/>
        </p:nvSpPr>
        <p:spPr>
          <a:xfrm>
            <a:off x="118872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dependency check</a:t>
            </a:r>
          </a:p>
        </p:txBody>
      </p:sp>
      <p:sp>
        <p:nvSpPr>
          <p:cNvPr id="6" name="MC-memory analysis"/>
          <p:cNvSpPr/>
          <p:nvPr/>
        </p:nvSpPr>
        <p:spPr>
          <a:xfrm>
            <a:off x="365760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memory analysis</a:t>
            </a:r>
          </a:p>
        </p:txBody>
      </p:sp>
      <p:sp>
        <p:nvSpPr>
          <p:cNvPr id="7" name="MC-interface check"/>
          <p:cNvSpPr/>
          <p:nvPr/>
        </p:nvSpPr>
        <p:spPr>
          <a:xfrm>
            <a:off x="612648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interface check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103120" y="1600200"/>
            <a:ext cx="246888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160020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2000" y="1600200"/>
            <a:ext cx="246888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103120" y="2880360"/>
            <a:ext cx="246888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72000" y="2880360"/>
            <a:ext cx="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4572000" y="2880360"/>
            <a:ext cx="246888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CVerdicts"/>
          <p:cNvSpPr txBox="1"/>
          <p:nvPr/>
        </p:nvSpPr>
        <p:spPr>
          <a:xfrm>
            <a:off x="5349240" y="312724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63016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