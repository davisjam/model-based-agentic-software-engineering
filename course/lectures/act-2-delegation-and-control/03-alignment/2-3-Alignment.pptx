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08" r:id="rId1"/>
  </p:sldMasterIdLst>
  <p:notesMasterIdLst>
    <p:notesMasterId r:id="rId43"/>
  </p:notesMasterIdLst>
  <p:sldIdLst>
    <p:sldId id="256" r:id="rId7"/>
    <p:sldId id="258" r:id="rId9"/>
    <p:sldId id="284" r:id="rId49"/>
    <p:sldId id="262" r:id="rId13"/>
    <p:sldId id="285" r:id="rId50"/>
    <p:sldId id="265" r:id="rId16"/>
    <p:sldId id="266" r:id="rId17"/>
    <p:sldId id="267" r:id="rId18"/>
    <p:sldId id="268" r:id="rId19"/>
    <p:sldId id="286" r:id="rId51"/>
    <p:sldId id="269" r:id="rId20"/>
    <p:sldId id="270" r:id="rId21"/>
    <p:sldId id="271" r:id="rId22"/>
    <p:sldId id="272" r:id="rId23"/>
    <p:sldId id="273" r:id="rId24"/>
    <p:sldId id="287" r:id="rId52"/>
    <p:sldId id="274" r:id="rId25"/>
    <p:sldId id="275" r:id="rId26"/>
    <p:sldId id="276" r:id="rId27"/>
    <p:sldId id="288" r:id="rId53"/>
    <p:sldId id="277" r:id="rId28"/>
    <p:sldId id="278" r:id="rId29"/>
    <p:sldId id="279" r:id="rId30"/>
    <p:sldId id="280" r:id="rId31"/>
    <p:sldId id="281" r:id="rId32"/>
    <p:sldId id="282" r:id="rId33"/>
    <p:sldId id="289" r:id="rId15"/>
    <p:sldId id="290" r:id="rId34"/>
    <p:sldId id="291" r:id="rId35"/>
    <p:sldId id="292" r:id="rId36"/>
    <p:sldId id="293" r:id="rId37"/>
    <p:sldId id="294" r:id="rId38"/>
    <p:sldId id="295" r:id="rId3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14" autoAdjust="0"/>
    <p:restoredTop sz="56164"/>
  </p:normalViewPr>
  <p:slideViewPr>
    <p:cSldViewPr snapToGrid="0" snapToObjects="1">
      <p:cViewPr varScale="1">
        <p:scale>
          <a:sx n="64" d="100"/>
          <a:sy n="64" d="100"/>
        </p:scale>
        <p:origin x="303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9" Type="http://schemas.openxmlformats.org/officeDocument/2006/relationships/slide" Target="slides/slide2.xml"/><Relationship Id="rId13" Type="http://schemas.openxmlformats.org/officeDocument/2006/relationships/slide" Target="slides/slide4.xml"/><Relationship Id="rId15" Type="http://schemas.openxmlformats.org/officeDocument/2006/relationships/slide" Target="slides/slide27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Relationship Id="rId49" Type="http://schemas.openxmlformats.org/officeDocument/2006/relationships/slide" Target="slides/slide3.xml"/><Relationship Id="rId50" Type="http://schemas.openxmlformats.org/officeDocument/2006/relationships/slide" Target="slides/slide5.xml"/><Relationship Id="rId51" Type="http://schemas.openxmlformats.org/officeDocument/2006/relationships/slide" Target="slides/slide10.xml"/><Relationship Id="rId52" Type="http://schemas.openxmlformats.org/officeDocument/2006/relationships/slide" Target="slides/slide16.xml"/><Relationship Id="rId53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E8B4C4-0720-F64E-9EEE-9472CF165DC6}" type="datetimeFigureOut">
              <a:t>9/29/26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209F92-05EE-6F4A-AD9C-ED35F0F7692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556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question; do not answer it yet. Do not preview the model. Transition: "Rather than define Alignment, let's give an agent some work."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Explicit callback to Architecture/Design — the same degrees-of-freedom visual language. Speaker: "This is the same design problem we have seen before: decide which degrees of freedom matter." We are NOT teaching students to write giant prompts that micromanage agents.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Lands after the todo-app discussion: name the two halves the students just experienced. The footer phrase is the unit framing (it also opens the lander). No Section 0, no recap — straight into Section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PLAUSIBLE work order, not a generic list. Walk the rows; the right-hand annotations name what each row is doing: outcome, scope, obligations, process, stopping condition, authority.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where "environment" finally becomes concrete. The agent is not a chat window: it is placed inside a repository, with tools and context, and its work leaves through a commit and a PR.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 from the todo app: "That was fine for a todo list. Now suppose the work matters. What else would we give the agent?" Caution: do NOT claim every delegation requires all of these to be explicitly specified. The point is that some process will occur whether you model it or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Fourth failure mode. "All tests pass" is a claim, not yet evidence of the right thing. Recover the Section-1 definition: an OBLIGATION is a condition against which the work can be wrong. Evidence is evidence only relative to an obligation — one of the strongest propositions in the deck; let it land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Almost empty on purpose — no list of suggested checks initially; let the room discover the ambiguity. The gold line and the check list are a BUILD revealed after discussion. Collect: adding, editing, deletion, persistence, appearance, console errors, refresh, multiple tabs. Only after they volunteer these, point out that they are implicitly inventing obligations and evidence. Do not resolve anything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Deliberately low-stakes and independent of the running engineering example. Students should experience "I asked an agent for something; it produced something that looks plausible; now what does WORKS mean?" before consequential delegated work appears. "Use whatever implementation approach you think is appropriate" deliberately creates degrees of freedom to return to later: different frameworks, storage mechanisms, UI choices, command sequences. The prompt paragraph is a single copyable block — students paste it into Claude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pivotal picture: verification governing admission to greater consequence. Demoted build (speaker): a verdict can carry increasing authority — WARN (note it) / RECOMMEND (ask the agent to reconsider) / REJECT (refuse the patch) / PREVENT (make the action impossible). Guidance shapes behavior; enforcement determines what the environment accepts.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CI test can sense, validate, and gate at once; a narrow interface constrains while producing evidence of use. Then map the roles onto the delegated process: constraint bounds the agent; sensor observes it; validator judges the artifact; the gate decides whether work crosses the next boundary.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first engineering preference is prevention — when cheap and reliable. Enum/permission/narrow-API versus test/trace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Closes Section 2: Alignment as Validation with consequences, not a second framework. Validation asks whether evidence supports the claim; Alignment asks what the verdict should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 (12 min). The lifecycle pipeline is the visual anchor for the whole section. Build: place the candidate checks one at a time, asking the room where each belongs before revealing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 why not everything at edit time before revealing the right panel.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central callback of Section 3 — put the two statements side by side and let students recognize the principle.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Worked example. Enforcing an end-state obligation per-commit produces a bad control: it enforces the right obligation at a boundary that cannot yet decide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minutes, then the team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 (18 min): ~10–12 min team work, ~6 min debrief. Same scenario for every team so the debrief can compare designs. The instruction is deliberately wider than "how will each obligation be checked?" — teams design the delegated process AND its controls. One obligation is structurally preventable, one measured, one static, one integration-only — keep that heterogeneity.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entire lecture on one slide — the design sequence each team applies to each obligation. Give them 10–12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Select disagreements, not merely good answers — each comparison corresponds directly to a lecture choice. The outcome: students can perform Alignment and say what an explicit model bought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 explicitly. Deliberate mode change: fewer slides, more discussion, from here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Put only the question on screen and stop. ~5 minutes of whole-class discussion; let students recover ideas from Modeling before showing any answer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the discussion, consolidate: what an explicit representation adds to the Alignment the students just performed.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Correspondence / conformance earns its appearance here, now that the students have designed real checks.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what each edge means before giving the labels. This makes correspondence / conformance concrete rather than vocabulary.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Return to the opening. Build: the six questions appear one at a time — the first is the new one. Spoken close, returning to the opening activity: "You told an agent to vibe-code a todo list; later you told one to add bulk refunds. Both times the question was: does it work? We now have a better question: what must be true, what evidence can establish it, and what will the engineered environment permit when it isn’t?" Then the FA-SDLC handoff sentence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 (12 min). Transition from the todo app: "That was fine for a todo list. Now suppose the work matters. What else would we give the agent?"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 (15 min). Build the failure model one mode at a time before any control vocabulary appears.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 (12 min). Moved BEFORE the design activity: the Modeling payoff is a design resource the activity should get to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 explicit process-modeling slide. The distinction matters: we are modeling the engineering process, not pretending we have a faithful cognitive model of an LLM.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18" name="Rectangle 14"/>
          <p:cNvSpPr>
            <a:spLocks noGrp="1" noChangeArrowheads="1"/>
          </p:cNvSpPr>
          <p:nvPr>
            <p:ph type="subTitle" idx="1"/>
          </p:nvPr>
        </p:nvSpPr>
        <p:spPr>
          <a:xfrm>
            <a:off x="1308100" y="3235325"/>
            <a:ext cx="6400800" cy="1881188"/>
          </a:xfrm>
        </p:spPr>
        <p:txBody>
          <a:bodyPr/>
          <a:lstStyle>
            <a:lvl1pPr marL="0" indent="0" algn="ctr">
              <a:buFont typeface="Times" pitchFamily="18" charset="0"/>
              <a:buNone/>
              <a:defRPr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subtitle style</a:t>
            </a:r>
          </a:p>
        </p:txBody>
      </p:sp>
      <p:sp>
        <p:nvSpPr>
          <p:cNvPr id="251914" name="Rectangle 10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127125" y="2078038"/>
            <a:ext cx="7031038" cy="874712"/>
          </a:xfrm>
          <a:ln>
            <a:noFill/>
          </a:ln>
        </p:spPr>
        <p:txBody>
          <a:bodyPr/>
          <a:lstStyle>
            <a:lvl1pPr algn="ctr">
              <a:defRPr sz="3600" cap="none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title style</a:t>
            </a:r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9629C0A1-FA46-974B-8B59-DAFA34D587F5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6760" y="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Line 66">
            <a:extLst>
              <a:ext uri="{FF2B5EF4-FFF2-40B4-BE49-F238E27FC236}">
                <a16:creationId xmlns:a16="http://schemas.microsoft.com/office/drawing/2014/main" id="{F21F285B-3B58-4149-B959-9010CE636448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0" y="685800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3C42A2-A875-7F49-9930-886B64F26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  <p:pic>
        <p:nvPicPr>
          <p:cNvPr id="1026" name="Purdue CoBrand">
            <a:extLst>
              <a:ext uri="{FF2B5EF4-FFF2-40B4-BE49-F238E27FC236}">
                <a16:creationId xmlns:a16="http://schemas.microsoft.com/office/drawing/2014/main" id="{BCBD89D8-43BD-5D41-99C6-91B0B6A5190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097131" y="5715964"/>
            <a:ext cx="5091026" cy="542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26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277148" y="1305004"/>
            <a:ext cx="8557768" cy="5166916"/>
          </a:xfrm>
        </p:spPr>
        <p:txBody>
          <a:bodyPr/>
          <a:lstStyle>
            <a:lvl2pPr>
              <a:defRPr/>
            </a:lvl2pPr>
            <a:lvl3pPr>
              <a:defRPr/>
            </a:lvl3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  <a:p>
            <a:pPr lvl="1"/>
            <a:r>
              <a:rPr lang="en-US" altLang="ko-KR" dirty="0"/>
              <a:t>Words</a:t>
            </a:r>
            <a:endParaRPr lang="ko-KR" altLang="en-US" dirty="0"/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67B3E873-1394-3543-8BD2-2C910090ECB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57769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010635A2-0953-8C4C-807B-9F1EE80A1B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718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" hasCustomPrompt="1"/>
          </p:nvPr>
        </p:nvSpPr>
        <p:spPr>
          <a:xfrm>
            <a:off x="484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675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43238AEC-E676-EF48-A1EE-CE1856C5DB8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4EEA1B3E-FF6B-734D-830E-C9FC203C0A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596EAF3-2266-1C40-896A-50BCE8F3A5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698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685800" y="2747963"/>
            <a:ext cx="7772400" cy="1362075"/>
          </a:xfrm>
          <a:ln>
            <a:noFill/>
          </a:ln>
        </p:spPr>
        <p:txBody>
          <a:bodyPr anchor="t"/>
          <a:lstStyle>
            <a:lvl1pPr algn="ctr">
              <a:defRPr sz="4000" b="0" cap="none"/>
            </a:lvl1pPr>
          </a:lstStyle>
          <a:p>
            <a:r>
              <a:rPr lang="en-US" altLang="ko-KR" dirty="0"/>
              <a:t>Section heading</a:t>
            </a:r>
            <a:endParaRPr lang="ko-KR" alt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5A7CBECB-F891-1E49-A038-D12E9EBD544E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6" name="Line 66">
            <a:extLst>
              <a:ext uri="{FF2B5EF4-FFF2-40B4-BE49-F238E27FC236}">
                <a16:creationId xmlns:a16="http://schemas.microsoft.com/office/drawing/2014/main" id="{A0F4931F-670B-5345-A445-E4A05AED83C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78517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8B85C08C-FD8D-C643-B13D-155D9A63D5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255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 - tit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 hasCustomPrompt="1"/>
          </p:nvPr>
        </p:nvSpPr>
        <p:spPr>
          <a:xfrm>
            <a:off x="457200" y="1258655"/>
            <a:ext cx="4040188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Left title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57200" y="1898417"/>
            <a:ext cx="4040188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 hasCustomPrompt="1"/>
          </p:nvPr>
        </p:nvSpPr>
        <p:spPr>
          <a:xfrm>
            <a:off x="4645025" y="1258655"/>
            <a:ext cx="4041775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Right title</a:t>
            </a:r>
            <a:endParaRPr lang="ko-KR" altLang="en-US" dirty="0"/>
          </a:p>
        </p:txBody>
      </p:sp>
      <p:sp>
        <p:nvSpPr>
          <p:cNvPr id="6" name="내용 개체 틀 5"/>
          <p:cNvSpPr>
            <a:spLocks noGrp="1"/>
          </p:cNvSpPr>
          <p:nvPr>
            <p:ph sz="quarter" idx="4" hasCustomPrompt="1"/>
          </p:nvPr>
        </p:nvSpPr>
        <p:spPr>
          <a:xfrm>
            <a:off x="4645025" y="1898417"/>
            <a:ext cx="4041775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9" name="Line 66">
            <a:extLst>
              <a:ext uri="{FF2B5EF4-FFF2-40B4-BE49-F238E27FC236}">
                <a16:creationId xmlns:a16="http://schemas.microsoft.com/office/drawing/2014/main" id="{2473502F-33E0-294C-B0A7-D634CB78173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AA231EA3-1A2F-1844-B410-74339C343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B355AFC-141A-4E45-A581-13630ADD3A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69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ust bor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6ABDBE64-F9E8-B742-A7A4-414B9EF73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98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5" name="그림 개체 틀 2">
            <a:extLst>
              <a:ext uri="{FF2B5EF4-FFF2-40B4-BE49-F238E27FC236}">
                <a16:creationId xmlns:a16="http://schemas.microsoft.com/office/drawing/2014/main" id="{672F7B82-6823-A344-B297-9A5CC48E1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77888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07CA502D-41E1-4240-B817-57AFD70BC6F0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5204723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2" name="그림 개체 틀 2">
            <a:extLst>
              <a:ext uri="{FF2B5EF4-FFF2-40B4-BE49-F238E27FC236}">
                <a16:creationId xmlns:a16="http://schemas.microsoft.com/office/drawing/2014/main" id="{D1C72364-3DC9-604F-9514-883DF7EEBE18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877887" y="3596647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6" name="그림 개체 틀 2">
            <a:extLst>
              <a:ext uri="{FF2B5EF4-FFF2-40B4-BE49-F238E27FC236}">
                <a16:creationId xmlns:a16="http://schemas.microsoft.com/office/drawing/2014/main" id="{4193784B-AAFC-0447-AC84-915471C69183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5204723" y="3616525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4036BF46-3CC3-FB43-A785-15DF5595B7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77819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6" name="Text Placeholder 31">
            <a:extLst>
              <a:ext uri="{FF2B5EF4-FFF2-40B4-BE49-F238E27FC236}">
                <a16:creationId xmlns:a16="http://schemas.microsoft.com/office/drawing/2014/main" id="{8484378F-A4EB-7845-937E-05F9671789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05344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1EB6C479-EE50-B041-BED8-613EFA5D95F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77819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8" name="Text Placeholder 31">
            <a:extLst>
              <a:ext uri="{FF2B5EF4-FFF2-40B4-BE49-F238E27FC236}">
                <a16:creationId xmlns:a16="http://schemas.microsoft.com/office/drawing/2014/main" id="{7D0CA80B-F16F-FF48-80A3-27652129D3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5344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A66D64DC-EDD3-FD46-B93B-F8B818A43F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395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 dirty="0"/>
              <a:t>Remarks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00379C94-9660-514E-8573-54286DE8941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D15DDF22-1F41-F644-A1F1-7ADD56BDE3A3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8A78BD7-835C-4B42-B0A0-24D4E1AA3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61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ibu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3A8F23-A2CA-264E-8907-B0144A7D91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5200" y="106023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1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86516E46-FEB4-8747-ABDB-067B42ABF68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1898EFD-2916-7E45-875E-EDC4A17C409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7610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1F72ABDE-5179-AD48-8D9D-B12289E15BE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8438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91A572F-A890-4245-9D69-1E7986ADF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5200" y="312988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2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15D737B2-4D4D-4242-8E23-8DE607338B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610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96C1B088-3A02-5945-975E-54F1F9D0E5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438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763F7E14-41AB-9449-929A-4F43668AF0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Summary of contributions</a:t>
            </a:r>
            <a:endParaRPr lang="ko-KR" altLang="en-US" dirty="0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218A7F7C-A154-3640-88AE-9E855B94C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95915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Relationship Id="rId1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C6965342-B6F4-4E4D-AE27-465DB42B2B5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8746670" y="6562249"/>
            <a:ext cx="292555" cy="15627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ABD288-7B20-F443-BAE8-CBAAD13A4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rgbClr val="555960"/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36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none" spc="200" baseline="0">
          <a:solidFill>
            <a:srgbClr val="262626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4056">
          <p15:clr>
            <a:srgbClr val="F26B43"/>
          </p15:clr>
        </p15:guide>
        <p15:guide id="4" orient="horz" pos="393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DD7291C3-5AE9-477A-3F39-34A06A62D99C}"/>
              </a:ext>
            </a:extLst>
          </p:cNvPr>
          <p:cNvSpPr txBox="1">
            <a:spLocks/>
          </p:cNvSpPr>
          <p:nvPr/>
        </p:nvSpPr>
        <p:spPr bwMode="black">
          <a:xfrm>
            <a:off x="439339" y="565149"/>
            <a:ext cx="8265319" cy="1195411"/>
          </a:xfrm>
          <a:prstGeom prst="rect">
            <a:avLst/>
          </a:prstGeom>
          <a:solidFill>
            <a:srgbClr val="FFFFFF"/>
          </a:solidFill>
          <a:ln w="31750" cap="sq">
            <a:noFill/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none" spc="200" baseline="0">
                <a:solidFill>
                  <a:srgbClr val="000000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sz="2000" i="1" dirty="0"/>
              <a:t>Software Engineering</a:t>
            </a:r>
            <a:br>
              <a:rPr lang="en-US" sz="2000" i="1" dirty="0"/>
            </a:br>
            <a:br>
              <a:rPr lang="en-US" sz="2000" i="1" dirty="0"/>
            </a:br>
            <a:r>
              <a:rPr lang="en-US" sz="1600" i="1" dirty="0"/>
              <a:t>ECE 30861 / CSCI 45000</a:t>
            </a:r>
            <a:endParaRPr lang="en-US" sz="2000" i="1" dirty="0"/>
          </a:p>
        </p:txBody>
      </p:sp>
      <p:sp>
        <p:nvSpPr>
          <p:cNvPr id="6" name="TitleBlock"/>
          <p:cNvSpPr txBox="1"/>
          <p:nvPr/>
        </p:nvSpPr>
        <p:spPr>
          <a:xfrm>
            <a:off x="219456" y="1371600"/>
            <a:ext cx="8695944" cy="2148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 i="0">
                <a:solidFill>
                  <a:srgbClr val="000000"/>
                </a:solidFill>
              </a:rPr>
              <a:t>Alignment</a:t>
            </a:r>
          </a:p>
          <a:p>
            <a:pPr algn="ctr">
              <a:spcBef>
                <a:spcPts val="1000"/>
              </a:spcBef>
            </a:pPr>
            <a:r>
              <a:rPr sz="2300" b="0" i="1">
                <a:solidFill>
                  <a:srgbClr val="8E6F3E"/>
                </a:solidFill>
              </a:rPr>
              <a:t>How do you know whether an agent</a:t>
            </a:r>
          </a:p>
          <a:p>
            <a:pPr algn="ctr"/>
            <a:r>
              <a:rPr sz="2300" b="0" i="1">
                <a:solidFill>
                  <a:srgbClr val="8E6F3E"/>
                </a:solidFill>
              </a:rPr>
              <a:t>is doing what you want?</a:t>
            </a:r>
          </a:p>
          <a:p>
            <a:pPr algn="ctr">
              <a:spcBef>
                <a:spcPts val="1000"/>
              </a:spcBef>
            </a:pPr>
            <a:r>
              <a:rPr sz="2000" b="0" i="1">
                <a:solidFill>
                  <a:srgbClr val="000000"/>
                </a:solidFill>
              </a:rPr>
              <a:t>Prof. James C. Davis</a:t>
            </a:r>
          </a:p>
          <a:p>
            <a:pPr algn="ctr"/>
            <a:r>
              <a:rPr sz="2000" b="0" i="1">
                <a:solidFill>
                  <a:srgbClr val="000000"/>
                </a:solidFill>
              </a:rPr>
              <a:t>Prof. Steve France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Validation meets Delegation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219456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389888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555960"/>
                </a:solidFill>
              </a:rPr>
              <a:t>When does evidence justify action?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331720"/>
            <a:ext cx="219456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DELEGATION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2532888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555960"/>
                </a:solidFill>
              </a:rPr>
              <a:t>What action may the agent take?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47472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ALIGNMENT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3474720"/>
            <a:ext cx="5760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8E6F3E"/>
                </a:solidFill>
              </a:rPr>
              <a:t>When should an engineering judgment control what the agent — or the environment — is permitted to do?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4736592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Not a third framework — the point where the first two meet.</a:t>
            </a:r>
          </a:p>
        </p:txBody>
      </p:sp>
      <p:sp>
        <p:nvSpPr>
          <p:cNvPr id="12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Alignment connects a validation judgment</a:t>
            </a:r>
          </a:p>
          <a:p>
            <a:pPr algn="ctr"/>
            <a:r>
              <a:rPr sz="2000" b="1" i="0">
                <a:solidFill>
                  <a:srgbClr val="FFFFFF"/>
                </a:solidFill>
              </a:rPr>
              <a:t>to what the environment permits.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1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The orders we give an agent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are we actually asking an agent to do?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The evidence can be insufficient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74320" y="96012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 agent reports: “All tests pass.”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154680"/>
            <a:ext cx="2194560" cy="9144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OBLIGATION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3310128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5C4826"/>
                </a:solidFill>
              </a:rPr>
              <a:t>A condition against which the work can be wrong.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7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Which tests?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96896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Against which obligations?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72584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In which environment?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48272" y="1828800"/>
            <a:ext cx="1874519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0" i="0">
                <a:solidFill>
                  <a:srgbClr val="5C4826"/>
                </a:solidFill>
              </a:rPr>
              <a:t>What wasn’t tested?</a:t>
            </a:r>
          </a:p>
        </p:txBody>
      </p:sp>
      <p:sp>
        <p:nvSpPr>
          <p:cNvPr id="1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Evidence is evidence only relative to an obligation.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2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How can delegated work fail?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can go wrong between the work order and the result?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 verdict can control authority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502920" y="1801368"/>
            <a:ext cx="173736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WORK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8568" y="2121408"/>
            <a:ext cx="31089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911095" y="147218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evidence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87752" y="1801368"/>
            <a:ext cx="173736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VALIDATOR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343400" y="2121408"/>
            <a:ext cx="31089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995928" y="147218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verdict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72583" y="1801368"/>
            <a:ext cx="1737360" cy="64008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GATE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28231" y="2121408"/>
            <a:ext cx="310897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080759" y="1472184"/>
            <a:ext cx="10058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admits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57415" y="1801368"/>
            <a:ext cx="1737360" cy="6400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 · DEPLOY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301752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The agent may propose freely. It may modify its branch freely.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It may merge if the checks pass. It may deploy if the release satisfies admission obligations.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3840480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Some actions are permitted only after their obligations are satisfied.</a:t>
            </a:r>
          </a:p>
        </p:txBody>
      </p:sp>
      <p:sp>
        <p:nvSpPr>
          <p:cNvPr id="2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A gate makes authority conditional on a verdict.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Four roles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914400"/>
            <a:ext cx="21945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CONSTRAINT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941832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narrows what may happen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91056"/>
            <a:ext cx="219456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SENSOR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1618488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observes what happened and produces evidence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267712"/>
            <a:ext cx="219456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VALIDATOR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295144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evaluates evidence against an obligation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944368"/>
            <a:ext cx="21945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2971800"/>
            <a:ext cx="4297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controls whether work crosses a boundary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3639312"/>
            <a:ext cx="85953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These are roles, not four required components. One mechanism may play several roles.</a:t>
            </a:r>
          </a:p>
        </p:txBody>
      </p:sp>
      <p:sp>
        <p:nvSpPr>
          <p:cNvPr id="18" name="MapConstraint"/>
          <p:cNvSpPr/>
          <p:nvPr/>
        </p:nvSpPr>
        <p:spPr>
          <a:xfrm>
            <a:off x="1965960" y="4160520"/>
            <a:ext cx="1554480" cy="4754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CONSTRAINT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743200" y="4636008"/>
            <a:ext cx="0" cy="25603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MapWork"/>
          <p:cNvSpPr/>
          <p:nvPr/>
        </p:nvSpPr>
        <p:spPr>
          <a:xfrm>
            <a:off x="502920" y="4892040"/>
            <a:ext cx="1188720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WORK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691640" y="5157216"/>
            <a:ext cx="27432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MapAgent"/>
          <p:cNvSpPr/>
          <p:nvPr/>
        </p:nvSpPr>
        <p:spPr>
          <a:xfrm>
            <a:off x="1965960" y="4892040"/>
            <a:ext cx="1554480" cy="530352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AGENT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520440" y="5157216"/>
            <a:ext cx="27432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MapArtifact"/>
          <p:cNvSpPr/>
          <p:nvPr/>
        </p:nvSpPr>
        <p:spPr>
          <a:xfrm>
            <a:off x="3794760" y="4892040"/>
            <a:ext cx="1554480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ARTIFACT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743200" y="5422392"/>
            <a:ext cx="0" cy="265176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MapSensor"/>
          <p:cNvSpPr/>
          <p:nvPr/>
        </p:nvSpPr>
        <p:spPr>
          <a:xfrm>
            <a:off x="1965960" y="5687568"/>
            <a:ext cx="1554480" cy="4754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SENSOR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572000" y="5422392"/>
            <a:ext cx="0" cy="265176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MapValidator"/>
          <p:cNvSpPr/>
          <p:nvPr/>
        </p:nvSpPr>
        <p:spPr>
          <a:xfrm>
            <a:off x="3794760" y="5687568"/>
            <a:ext cx="1554480" cy="4754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5C4826"/>
                </a:solidFill>
              </a:rPr>
              <a:t>VALIDATOR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520440" y="5925312"/>
            <a:ext cx="251460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349240" y="5925312"/>
            <a:ext cx="68580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MapEvidence"/>
          <p:cNvSpPr txBox="1"/>
          <p:nvPr/>
        </p:nvSpPr>
        <p:spPr>
          <a:xfrm>
            <a:off x="5166360" y="5559552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555960"/>
                </a:solidFill>
              </a:rPr>
              <a:t>evidence</a:t>
            </a:r>
          </a:p>
        </p:txBody>
      </p:sp>
      <p:sp>
        <p:nvSpPr>
          <p:cNvPr id="32" name="MapGate"/>
          <p:cNvSpPr/>
          <p:nvPr/>
        </p:nvSpPr>
        <p:spPr>
          <a:xfrm>
            <a:off x="6035040" y="5687568"/>
            <a:ext cx="1188720" cy="47548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GATE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223760" y="5925312"/>
            <a:ext cx="274319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MapNext"/>
          <p:cNvSpPr/>
          <p:nvPr/>
        </p:nvSpPr>
        <p:spPr>
          <a:xfrm>
            <a:off x="7498079" y="5687568"/>
            <a:ext cx="1417320" cy="4754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100" b="1" i="0">
                <a:solidFill>
                  <a:srgbClr val="5C4826"/>
                </a:solidFill>
              </a:rPr>
              <a:t>NEXT BOUNDARY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Prevent or detect?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3977639" cy="23774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PREVENT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If an invalid state can be excluded cheaply and reliably, constrain it.</a:t>
            </a:r>
          </a:p>
          <a:p>
            <a:pPr algn="l">
              <a:spcBef>
                <a:spcPts val="1000"/>
              </a:spcBef>
            </a:pPr>
            <a:r>
              <a:rPr sz="1800" b="0" i="1">
                <a:solidFill>
                  <a:srgbClr val="555960"/>
                </a:solidFill>
              </a:rPr>
              <a:t>closed enumeration · permission</a:t>
            </a:r>
          </a:p>
          <a:p>
            <a:pPr algn="l"/>
            <a:r>
              <a:rPr sz="1800" b="0" i="1">
                <a:solidFill>
                  <a:srgbClr val="555960"/>
                </a:solidFill>
              </a:rPr>
              <a:t>narrow API · typed representation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663440" y="1051560"/>
            <a:ext cx="3977639" cy="23774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DETECT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Otherwise, observe the work and evaluate the evidence.</a:t>
            </a:r>
          </a:p>
          <a:p>
            <a:pPr algn="l">
              <a:spcBef>
                <a:spcPts val="1000"/>
              </a:spcBef>
            </a:pPr>
            <a:r>
              <a:rPr sz="1800" b="0" i="1">
                <a:solidFill>
                  <a:srgbClr val="555960"/>
                </a:solidFill>
              </a:rPr>
              <a:t>test · trace · measurement · analysis</a:t>
            </a:r>
          </a:p>
          <a:p>
            <a:pPr algn="l"/>
            <a:r>
              <a:rPr sz="1800" b="0" i="1">
                <a:solidFill>
                  <a:srgbClr val="555960"/>
                </a:solidFill>
              </a:rPr>
              <a:t>then validate it — and gate on the verdict when appropriate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402336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Not every invalid state can be excluded in advance. Some properties appear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only across a sequence of actions, in the assembled system, or at runtime.</a:t>
            </a:r>
          </a:p>
        </p:txBody>
      </p:sp>
      <p:sp>
        <p:nvSpPr>
          <p:cNvPr id="8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If you can make the wrong state impossible, do. Otherwise: evidence.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Alignment gives validation consequences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37160" y="1572768"/>
            <a:ext cx="1371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554480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CLAIM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91256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3419856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EVIDENCE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56632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5285232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JUDGMENT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922008" y="1892807"/>
            <a:ext cx="219456" cy="0"/>
          </a:xfrm>
          <a:prstGeom prst="line">
            <a:avLst/>
          </a:prstGeom>
          <a:ln w="28575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7150608" y="1591056"/>
            <a:ext cx="1627632" cy="603504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ACTION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368296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233672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99048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964424" y="2231136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37160" y="2907792"/>
            <a:ext cx="13716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ALIGNMENT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54480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OBLIGATION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191256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3419856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EVIDENCE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056632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285232" y="2926080"/>
            <a:ext cx="1627632" cy="603504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JUDGMENT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922008" y="3227832"/>
            <a:ext cx="219456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7150608" y="2926080"/>
            <a:ext cx="1627632" cy="60350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CONSEQUENCE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02336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Validation asks whether the evidence supports the claim.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Alignment asks what the verdict should control.</a:t>
            </a:r>
          </a:p>
        </p:txBody>
      </p:sp>
      <p:sp>
        <p:nvSpPr>
          <p:cNvPr id="2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The added step is consequence: the verdict can control what happens next.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3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Check it where you can know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Where can each obligation actually be decided?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Where can you decide?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92608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EDIT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490472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737360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35224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182112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PUSH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379976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4626864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824728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6071616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DEPLOY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269480" y="147218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516368" y="118872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RUNTIME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886968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237744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type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property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2331720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1682496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forbidden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dependency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5221224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4572000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integration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behavior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6665976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6016752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latency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under load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8110728" y="1783080"/>
            <a:ext cx="0" cy="100584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7461504" y="2834640"/>
            <a:ext cx="1298448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0" i="0">
                <a:solidFill>
                  <a:srgbClr val="5C4826"/>
                </a:solidFill>
              </a:rPr>
              <a:t>deployed</a:t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configuration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4069080"/>
            <a:ext cx="85953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A check can decide a property only where the required information exists.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Different boundaries provide enough information to decide different properties.</a:t>
            </a:r>
          </a:p>
        </p:txBody>
      </p:sp>
      <p:sp>
        <p:nvSpPr>
          <p:cNvPr id="2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Put the check where its question can be answered.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Earlier is cheaper — but not always possible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02920" y="1051560"/>
            <a:ext cx="3977639" cy="27889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EARLIER IS CHEAPER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Early detection or prevention reduces wasted work and consequence.</a:t>
            </a:r>
          </a:p>
          <a:p>
            <a:pPr algn="l">
              <a:spcBef>
                <a:spcPts val="1000"/>
              </a:spcBef>
            </a:pPr>
            <a:r>
              <a:rPr sz="1800" b="0" i="1">
                <a:solidFill>
                  <a:srgbClr val="555960"/>
                </a:solidFill>
              </a:rPr>
              <a:t>So why not put every check at edit time?</a:t>
            </a:r>
          </a:p>
        </p:txBody>
      </p:sp>
      <p:sp>
        <p:nvSpPr>
          <p:cNvPr id="6" name="Rectangle 5"/>
          <p:cNvSpPr/>
          <p:nvPr/>
        </p:nvSpPr>
        <p:spPr>
          <a:xfrm>
            <a:off x="4663440" y="1051560"/>
            <a:ext cx="3977639" cy="27889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SOME PROPERTIES</a:t>
            </a:r>
          </a:p>
          <a:p>
            <a:pPr algn="l"/>
            <a:r>
              <a:rPr sz="2000" b="1" i="0">
                <a:solidFill>
                  <a:srgbClr val="8E6F3E"/>
                </a:solidFill>
              </a:rPr>
              <a:t>CANNOT BE DECIDED YET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Integration behavior needs composition.</a:t>
            </a:r>
          </a:p>
          <a:p>
            <a:pPr algn="l">
              <a:spcBef>
                <a:spcPts val="400"/>
              </a:spcBef>
            </a:pPr>
            <a:r>
              <a:rPr sz="1800" b="0" i="0">
                <a:solidFill>
                  <a:srgbClr val="5C4826"/>
                </a:solidFill>
              </a:rPr>
              <a:t>Production behavior needs deployed conditions.</a:t>
            </a:r>
          </a:p>
          <a:p>
            <a:pPr algn="l">
              <a:spcBef>
                <a:spcPts val="400"/>
              </a:spcBef>
            </a:pPr>
            <a:r>
              <a:rPr sz="1800" b="0" i="0">
                <a:solidFill>
                  <a:srgbClr val="5C4826"/>
                </a:solidFill>
              </a:rPr>
              <a:t>Mid-task, work may legitimately disagree with an end-state obligation.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411480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“Shift left” is not an unconditional maxim.</a:t>
            </a:r>
          </a:p>
        </p:txBody>
      </p:sp>
      <p:sp>
        <p:nvSpPr>
          <p:cNvPr id="8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Check earlier when the required evidence exists earlier.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The boundary follows the property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3977639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VALIDATION TAUGHT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828800"/>
            <a:ext cx="3977639" cy="14630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1">
                <a:solidFill>
                  <a:srgbClr val="5C4826"/>
                </a:solidFill>
              </a:rPr>
              <a:t>Check at the lowest scope that can establish it,</a:t>
            </a:r>
          </a:p>
          <a:p>
            <a:pPr algn="ctr"/>
            <a:r>
              <a:rPr sz="2000" b="1" i="1">
                <a:solidFill>
                  <a:srgbClr val="5C4826"/>
                </a:solidFill>
              </a:rPr>
              <a:t>but no lower.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663440" y="1188720"/>
            <a:ext cx="3977639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ALIGNMENT GENERALIZES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828800"/>
            <a:ext cx="3977639" cy="14630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0" i="1">
                <a:solidFill>
                  <a:srgbClr val="5C4826"/>
                </a:solidFill>
              </a:rPr>
              <a:t>Check at the earliest boundary where the obligation can be decided,</a:t>
            </a:r>
          </a:p>
          <a:p>
            <a:pPr algn="ctr"/>
            <a:r>
              <a:rPr sz="2000" b="1" i="1">
                <a:solidFill>
                  <a:srgbClr val="5C4826"/>
                </a:solidFill>
              </a:rPr>
              <a:t>but no earlier.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3657600"/>
            <a:ext cx="8595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Both rules place the check at the earliest point</a:t>
            </a:r>
          </a:p>
          <a:p>
            <a:pPr algn="ctr"/>
            <a:r>
              <a:rPr sz="2000" b="0" i="1">
                <a:solidFill>
                  <a:srgbClr val="555960"/>
                </a:solidFill>
              </a:rPr>
              <a:t>with enough information to decide the claim.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Right obligation, wrong boundary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859536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OBLIGATION — </a:t>
            </a:r>
            <a:r>
              <a:rPr sz="1800" b="0" i="0">
                <a:solidFill>
                  <a:srgbClr val="5C4826"/>
                </a:solidFill>
              </a:rPr>
              <a:t>the code and its architectural model must agree when the task completes.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EDIT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90472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1737360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935224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3182112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PUSH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79976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626864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MERGE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824728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071616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DEPLOY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269480" y="2203704"/>
            <a:ext cx="237744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7516368" y="1920240"/>
            <a:ext cx="1188720" cy="56692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RUNTIME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2331720" y="2606040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1051560" y="3291840"/>
            <a:ext cx="2560320" cy="10515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✗  enforced per-commit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rejects legitimate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intermediate states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5221224" y="2606040"/>
            <a:ext cx="0" cy="64008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3941064" y="3291840"/>
            <a:ext cx="2560320" cy="10515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✓  decided at merge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when the task’s work</a:t>
            </a:r>
          </a:p>
          <a:p>
            <a:pPr algn="ctr"/>
            <a:r>
              <a:rPr sz="1800" b="0" i="1">
                <a:solidFill>
                  <a:srgbClr val="555960"/>
                </a:solidFill>
              </a:rPr>
              <a:t>is assembled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4572000"/>
            <a:ext cx="85953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 obligation is right. The early boundary simply cannot decide it yet.</a:t>
            </a:r>
          </a:p>
        </p:txBody>
      </p:sp>
      <p:sp>
        <p:nvSpPr>
          <p:cNvPr id="22" name="FooterBand"/>
          <p:cNvSpPr/>
          <p:nvPr/>
        </p:nvSpPr>
        <p:spPr>
          <a:xfrm>
            <a:off x="274320" y="5605272"/>
            <a:ext cx="8595360" cy="7772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Enforcing an obligation before it can be decided</a:t>
            </a:r>
          </a:p>
          <a:p>
            <a:pPr algn="ctr"/>
            <a:r>
              <a:rPr sz="2000" b="1" i="0">
                <a:solidFill>
                  <a:srgbClr val="FFFFFF"/>
                </a:solidFill>
              </a:rPr>
              <a:t>gives weaker control, not stronger control.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9696"/>
            <a:ext cx="7772400" cy="1444752"/>
          </a:xfrm>
        </p:spPr>
        <p:txBody>
          <a:bodyPr wrap="square"/>
          <a:lstStyle/>
          <a:p>
            <a:pPr algn="ctr"/>
            <a:r>
              <a:rPr sz="3400">
                <a:solidFill>
                  <a:srgbClr val="000000"/>
                </a:solidFill>
              </a:rPr>
              <a:t>Stretch break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3429000" y="3383280"/>
            <a:ext cx="2286000" cy="5486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5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Design the Alignment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Given the failures, obligations, and boundaries, what should control the agent?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Activity: govern the agent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KickerBadge">
            <a:extLst>
              <a:ext uri="{FF2B5EF4-FFF2-40B4-BE49-F238E27FC236}">
                <a16:creationId xmlns:a16="http://schemas.microsoft.com/office/drawing/2014/main" id="{55489336-5766-22EA-2ADC-D9F38F769456}"/>
              </a:ext>
            </a:extLst>
          </p:cNvPr>
          <p:cNvSpPr/>
          <p:nvPr/>
        </p:nvSpPr>
        <p:spPr>
          <a:xfrm>
            <a:off x="5620000" y="205000"/>
            <a:ext cx="3249680" cy="47000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91440" tIns="27432" rIns="91440" bIns="27432" anchor="ctr"/>
          <a:lstStyle/>
          <a:p>
            <a:pPr algn="ctr">
              <a:buNone/>
            </a:pPr>
            <a:r>
              <a:rPr lang="en-US" b="1" i="0" dirty="0">
                <a:solidFill>
                  <a:srgbClr val="8E6F3E"/>
                </a:solidFill>
              </a:rPr>
              <a:t>TEAM ACTIVITY  ·  10–12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05840"/>
            <a:ext cx="8595360" cy="7315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SCENARIO — </a:t>
            </a:r>
            <a:r>
              <a:rPr sz="2000" b="1" i="0">
                <a:solidFill>
                  <a:srgbClr val="5C4826"/>
                </a:solidFill>
              </a:rPr>
              <a:t>an agent is modifying an embedded controller.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42062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1  ·  </a:t>
            </a:r>
            <a:r>
              <a:rPr sz="1800" b="0" i="0">
                <a:solidFill>
                  <a:srgbClr val="5C4826"/>
                </a:solidFill>
              </a:rPr>
              <a:t>Preserve the external API.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965960"/>
            <a:ext cx="42062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2  ·  </a:t>
            </a:r>
            <a:r>
              <a:rPr sz="1800" b="0" i="0">
                <a:solidFill>
                  <a:srgbClr val="5C4826"/>
                </a:solidFill>
              </a:rPr>
              <a:t>Worst-case memory below 64 MB.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154680"/>
            <a:ext cx="42062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3  ·  </a:t>
            </a:r>
            <a:r>
              <a:rPr sz="1800" b="0" i="0">
                <a:solidFill>
                  <a:srgbClr val="5C4826"/>
                </a:solidFill>
              </a:rPr>
              <a:t>Avoid the forbidden dependency.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3154680"/>
            <a:ext cx="420624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4  ·  </a:t>
            </a:r>
            <a:r>
              <a:rPr sz="1800" b="0" i="0">
                <a:solidFill>
                  <a:srgbClr val="5C4826"/>
                </a:solidFill>
              </a:rPr>
              <a:t>Retain a behavior observable only when components interact.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457200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Four obligations of different kinds.</a:t>
            </a:r>
          </a:p>
        </p:txBody>
      </p:sp>
      <p:sp>
        <p:nvSpPr>
          <p:cNvPr id="12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Design the delegated process and its controls.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For each obligation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5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Be ready to defend your boundary and authority choices.</a:t>
            </a:r>
          </a:p>
        </p:txBody>
      </p:sp>
      <p:graphicFrame>
        <p:nvGraphicFramePr>
          <p:cNvPr id="16" name="DesignSequence"/>
          <p:cNvGraphicFramePr>
            <a:graphicFrameLocks noGrp="1"/>
          </p:cNvGraphicFramePr>
          <p:nvPr/>
        </p:nvGraphicFramePr>
        <p:xfrm>
          <a:off x="1097280" y="914400"/>
          <a:ext cx="6949440" cy="4480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4937760"/>
              </a:tblGrid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FAILURE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can go wrong?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OBLIGATION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must be true?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CONTROL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Can we prevent it, or must we detect it?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EVIDENCE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observation could establish it?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BOUNDARY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Where does enough information exist?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MECHANISM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Constraint · sensor · validator · gate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640080">
                <a:tc>
                  <a:txBody>
                    <a:bodyPr wrap="square" anchor="ctr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</a:rPr>
                        <a:t>AUTHORITY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What happens if it fails?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Compare your designs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274320" y="475488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There may be more than one defensible control design.</a:t>
            </a:r>
          </a:p>
        </p:txBody>
      </p:sp>
      <p:sp>
        <p:nvSpPr>
          <p:cNvPr id="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The obligation constrains the design. Engineering judgment remains.</a:t>
            </a:r>
          </a:p>
        </p:txBody>
      </p:sp>
      <p:sp>
        <p:nvSpPr>
          <p:cNvPr id="10" name="Compare1"/>
          <p:cNvSpPr/>
          <p:nvPr/>
        </p:nvSpPr>
        <p:spPr>
          <a:xfrm>
            <a:off x="502920" y="10515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Same obligation, different boundary — </a:t>
            </a:r>
            <a:r>
              <a:rPr sz="1700" b="0" i="0">
                <a:solidFill>
                  <a:srgbClr val="5C4826"/>
                </a:solidFill>
              </a:rPr>
              <a:t>Which boundary actually has enough information?</a:t>
            </a:r>
          </a:p>
        </p:txBody>
      </p:sp>
      <p:sp>
        <p:nvSpPr>
          <p:cNvPr id="11" name="Compare2"/>
          <p:cNvSpPr/>
          <p:nvPr/>
        </p:nvSpPr>
        <p:spPr>
          <a:xfrm>
            <a:off x="502920" y="19659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Constraint vs. validator — </a:t>
            </a:r>
            <a:r>
              <a:rPr sz="1700" b="0" i="0">
                <a:solidFill>
                  <a:srgbClr val="5C4826"/>
                </a:solidFill>
              </a:rPr>
              <a:t>What failure does each prevent or detect?</a:t>
            </a:r>
          </a:p>
        </p:txBody>
      </p:sp>
      <p:sp>
        <p:nvSpPr>
          <p:cNvPr id="12" name="Compare3"/>
          <p:cNvSpPr/>
          <p:nvPr/>
        </p:nvSpPr>
        <p:spPr>
          <a:xfrm>
            <a:off x="502920" y="28803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Different authority — </a:t>
            </a:r>
            <a:r>
              <a:rPr sz="1700" b="0" i="0">
                <a:solidFill>
                  <a:srgbClr val="5C4826"/>
                </a:solidFill>
              </a:rPr>
              <a:t>Should this failure block the commit, the PR, the merge, the deployment — or merely produce evidence?</a:t>
            </a:r>
          </a:p>
        </p:txBody>
      </p:sp>
      <p:sp>
        <p:nvSpPr>
          <p:cNvPr id="13" name="Compare4"/>
          <p:cNvSpPr/>
          <p:nvPr/>
        </p:nvSpPr>
        <p:spPr>
          <a:xfrm>
            <a:off x="502920" y="3794760"/>
            <a:ext cx="8138160" cy="74980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l"/>
            <a:r>
              <a:rPr sz="1700" b="1" i="0">
                <a:solidFill>
                  <a:srgbClr val="5C4826"/>
                </a:solidFill>
              </a:rPr>
              <a:t>Model vs. reconstruction — </a:t>
            </a:r>
            <a:r>
              <a:rPr sz="1700" b="0" i="0">
                <a:solidFill>
                  <a:srgbClr val="5C4826"/>
                </a:solidFill>
              </a:rPr>
              <a:t>What becomes easier if the relevant knowledge is explicit?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8E6F3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SECTION 4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What do models buy us?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7EB45DA-9A0D-DC49-8E02-F30A5DDC21C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5C482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What does an explicit model add?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We just did Alignment without models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8046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000000"/>
                </a:solidFill>
              </a:rPr>
              <a:t>We just reasoned about constraints, evidence, evaluation, and authority.
No explicit model was required.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840480"/>
            <a:ext cx="8046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300" b="0" i="1">
                <a:solidFill>
                  <a:srgbClr val="8E6F3E"/>
                </a:solidFill>
              </a:rPr>
              <a:t>So why did we spend the previous lecture on Modeling?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 wrap="square"/>
          <a:lstStyle/>
          <a:p>
            <a:pPr algn="ctr"/>
            <a:r>
              <a:rPr sz="4000">
                <a:solidFill>
                  <a:srgbClr val="000000"/>
                </a:solidFill>
              </a:rPr>
              <a:t>What do models buy us?</a:t>
            </a:r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DISCUSSION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429000" y="3017520"/>
            <a:ext cx="2286000" cy="54864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Models make engineering knowledge explicit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A MODEL CAN …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PRESERVE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499616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distinctions that matter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304288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EXPOSE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432304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relationships that would otherwise be reconstructed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236976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LEAVE OPEN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3364992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realization choices that do not matter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69664"/>
            <a:ext cx="2560320" cy="7315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5C4826"/>
                </a:solidFill>
              </a:rPr>
              <a:t>ENABLE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4297680"/>
            <a:ext cx="5440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5C4826"/>
                </a:solidFill>
              </a:rPr>
              <a:t>evaluations that otherwise require reconstruction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5010912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555960"/>
                </a:solidFill>
              </a:rPr>
              <a:t>Different analyses can then operate over the same engineering knowledge.</a:t>
            </a:r>
          </a:p>
        </p:txBody>
      </p:sp>
      <p:sp>
        <p:nvSpPr>
          <p:cNvPr id="15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Explicit structure can turn reconstruction into inspection.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Agreement is not correctness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02920" y="1097280"/>
            <a:ext cx="3977639" cy="21031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MODEL AND REALIZATION</a:t>
            </a:r>
          </a:p>
          <a:p>
            <a:pPr algn="l"/>
            <a:r>
              <a:rPr sz="1800" b="1" i="0">
                <a:solidFill>
                  <a:srgbClr val="8E6F3E"/>
                </a:solidFill>
              </a:rPr>
              <a:t>AGREE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They can agree completely and still violate an external obligation.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663440" y="1097280"/>
            <a:ext cx="3977639" cy="21031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DERIVED FROM</a:t>
            </a:r>
          </a:p>
          <a:p>
            <a:pPr algn="l"/>
            <a:r>
              <a:rPr sz="1800" b="1" i="0">
                <a:solidFill>
                  <a:srgbClr val="8E6F3E"/>
                </a:solidFill>
              </a:rPr>
              <a:t>THE IMPLEMENTATION</a:t>
            </a:r>
          </a:p>
          <a:p>
            <a:pPr algn="l">
              <a:spcBef>
                <a:spcPts val="800"/>
              </a:spcBef>
            </a:pPr>
            <a:r>
              <a:rPr sz="1800" b="0" i="0">
                <a:solidFill>
                  <a:srgbClr val="5C4826"/>
                </a:solidFill>
              </a:rPr>
              <a:t>A representation extracted from the implementation may correspond by construction. That does not provide independent evidence of correctness.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29000"/>
            <a:ext cx="777240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5C4826"/>
                </a:solidFill>
              </a:rPr>
              <a:t>Correspondence</a:t>
            </a:r>
            <a:r>
              <a:rPr sz="2000" b="0" i="0">
                <a:solidFill>
                  <a:srgbClr val="5C4826"/>
                </a:solidFill>
              </a:rPr>
              <a:t> — do two representations agree?</a:t>
            </a:r>
          </a:p>
          <a:p>
            <a:pPr algn="l"/>
            <a:r>
              <a:rPr sz="2000" b="1" i="0">
                <a:solidFill>
                  <a:srgbClr val="5C4826"/>
                </a:solidFill>
              </a:rPr>
              <a:t>Conformance</a:t>
            </a:r>
            <a:r>
              <a:rPr sz="2000" b="0" i="0">
                <a:solidFill>
                  <a:srgbClr val="5C4826"/>
                </a:solidFill>
              </a:rPr>
              <a:t> — does the artifact satisfy an independent obligation?</a:t>
            </a:r>
          </a:p>
          <a:p>
            <a:pPr algn="l"/>
            <a:r>
              <a:rPr sz="2000" b="1" i="0">
                <a:solidFill>
                  <a:srgbClr val="5C4826"/>
                </a:solidFill>
              </a:rPr>
              <a:t>Acceptance</a:t>
            </a:r>
            <a:r>
              <a:rPr sz="2000" b="0" i="0">
                <a:solidFill>
                  <a:srgbClr val="5C4826"/>
                </a:solidFill>
              </a:rPr>
              <a:t> — will the environment admit it?</a:t>
            </a:r>
          </a:p>
        </p:txBody>
      </p:sp>
      <p:sp>
        <p:nvSpPr>
          <p:cNvPr id="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Evidence for one does not establish the others.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Three things can disagree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3474720" y="1097280"/>
            <a:ext cx="2194560" cy="68580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OBLIGATION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566160"/>
            <a:ext cx="2194560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3566160"/>
            <a:ext cx="2194560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REALIZATION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011680" y="1440180"/>
            <a:ext cx="146304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11680" y="1440180"/>
            <a:ext cx="0" cy="212598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69280" y="1440180"/>
            <a:ext cx="146304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132320" y="1440180"/>
            <a:ext cx="0" cy="212598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108960" y="3909060"/>
            <a:ext cx="2926080" cy="0"/>
          </a:xfrm>
          <a:prstGeom prst="line">
            <a:avLst/>
          </a:prstGeom>
          <a:ln w="28575">
            <a:solidFill>
              <a:srgbClr val="8E6F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2121408" y="2331720"/>
            <a:ext cx="239572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1">
                <a:solidFill>
                  <a:srgbClr val="555960"/>
                </a:solidFill>
              </a:rPr>
              <a:t>does the model capture</a:t>
            </a:r>
          </a:p>
          <a:p>
            <a:pPr algn="l"/>
            <a:r>
              <a:rPr sz="1800" b="0" i="1">
                <a:solidFill>
                  <a:srgbClr val="555960"/>
                </a:solidFill>
              </a:rPr>
              <a:t>the obligation?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2331720"/>
            <a:ext cx="239572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800" b="0" i="1">
                <a:solidFill>
                  <a:srgbClr val="555960"/>
                </a:solidFill>
              </a:rPr>
              <a:t>does the realization</a:t>
            </a:r>
          </a:p>
          <a:p>
            <a:pPr algn="r"/>
            <a:r>
              <a:rPr sz="1800" b="0" i="1">
                <a:solidFill>
                  <a:srgbClr val="555960"/>
                </a:solidFill>
              </a:rPr>
              <a:t>satisfy it?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4069080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555960"/>
                </a:solidFill>
              </a:rPr>
              <a:t>do they correspond?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4800600"/>
            <a:ext cx="8595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What claim does each edge make? What evidence would establish it?</a:t>
            </a:r>
          </a:p>
        </p:txBody>
      </p:sp>
      <p:sp>
        <p:nvSpPr>
          <p:cNvPr id="1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Correspondence is one edge, not the whole triangle.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400" b="0">
                <a:solidFill>
                  <a:srgbClr val="000000"/>
                </a:solidFill>
              </a:rPr>
              <a:t>How do you know?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640080" y="100584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MODELING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033272"/>
            <a:ext cx="5715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5C4826"/>
                </a:solidFill>
              </a:rPr>
              <a:t>make consequential engineering knowledge explicit while leaving irrelevant choices free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965960"/>
            <a:ext cx="2194560" cy="82296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ALIGNMENT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1993392"/>
            <a:ext cx="5715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 i="0">
                <a:solidFill>
                  <a:srgbClr val="5C4826"/>
                </a:solidFill>
              </a:rPr>
              <a:t>decide which obligations have consequences in the engineered environment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063240"/>
            <a:ext cx="8183879" cy="19202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27432" tIns="73152" bIns="22860"/>
          <a:lstStyle/>
          <a:p>
            <a:pPr algn="l"/>
            <a:r>
              <a:rPr sz="1800" b="1" i="0">
                <a:solidFill>
                  <a:srgbClr val="8E6F3E"/>
                </a:solidFill>
              </a:rPr>
              <a:t>THE REUSABLE QUESTIONS</a:t>
            </a:r>
          </a:p>
          <a:p>
            <a:pPr algn="l">
              <a:spcBef>
                <a:spcPts val="600"/>
              </a:spcBef>
            </a:pPr>
            <a:r>
              <a:rPr sz="1800" b="1" i="0">
                <a:solidFill>
                  <a:srgbClr val="5C4826"/>
                </a:solidFill>
              </a:rPr>
              <a:t>How can the delegated work fail?</a:t>
            </a:r>
          </a:p>
          <a:p>
            <a:pPr algn="l">
              <a:spcBef>
                <a:spcPts val="600"/>
              </a:spcBef>
            </a:pPr>
            <a:r>
              <a:rPr sz="1800" b="0" i="0">
                <a:solidFill>
                  <a:srgbClr val="5C4826"/>
                </a:solidFill>
              </a:rPr>
              <a:t>What must be true?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What evidence bears on it?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Where can it be decided?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How will it be evaluated?</a:t>
            </a:r>
          </a:p>
          <a:p>
            <a:pPr algn="l"/>
            <a:r>
              <a:rPr sz="1800" b="0" i="0">
                <a:solidFill>
                  <a:srgbClr val="5C4826"/>
                </a:solidFill>
              </a:rPr>
              <a:t>Should failure control what happens next?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Vibe code a todo list</a:t>
            </a:r>
          </a:p>
        </p:txBody>
      </p:sp>
      <p:sp>
        <p:nvSpPr>
          <p:cNvPr id="4" name="Instruction"/>
          <p:cNvSpPr txBox="1"/>
          <p:nvPr/>
        </p:nvSpPr>
        <p:spPr>
          <a:xfrm>
            <a:off x="274320" y="896112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8E6F3E"/>
                </a:solidFill>
              </a:rPr>
              <a:t>Open Claude Code. Give it the following task.</a:t>
            </a:r>
          </a:p>
        </p:txBody>
      </p:sp>
      <p:sp>
        <p:nvSpPr>
          <p:cNvPr id="5" name="PromptBlock"/>
          <p:cNvSpPr/>
          <p:nvPr/>
        </p:nvSpPr>
        <p:spPr>
          <a:xfrm>
            <a:off x="502920" y="1417320"/>
            <a:ext cx="8138160" cy="233172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91440"/>
          <a:lstStyle/>
          <a:p>
            <a:pPr algn="l"/>
            <a:r>
              <a:rPr sz="1400" b="0" i="0">
                <a:solidFill>
                  <a:srgbClr val="5C4826"/>
                </a:solidFill>
                <a:latin typeface="Consolas"/>
              </a:rPr>
              <a:t>Create a todo-list web application and make it available at localhost. A user should be able to add a todo item, mark an item complete, edit an existing item, and delete an item. The list should survive a browser refresh. Give the application a clean, usable interface with a text field for adding items and a visible list of current todos. Use whatever implementation approach you think is appropriate. When you are finished, start the application so that I can use it in my browser.</a:t>
            </a:r>
          </a:p>
        </p:txBody>
      </p:sp>
      <p:sp>
        <p:nvSpPr>
          <p:cNvPr id="6" name="Rules"/>
          <p:cNvSpPr txBox="1"/>
          <p:nvPr/>
        </p:nvSpPr>
        <p:spPr>
          <a:xfrm>
            <a:off x="502920" y="4023360"/>
            <a:ext cx="81381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555960"/>
                </a:solidFill>
              </a:rPr>
              <a:t>Do not help the agent.</a:t>
            </a:r>
          </a:p>
          <a:p>
            <a:pPr algn="l"/>
            <a:r>
              <a:rPr sz="1800" b="0" i="0">
                <a:solidFill>
                  <a:srgbClr val="555960"/>
                </a:solidFill>
              </a:rPr>
              <a:t>If it makes a choice you did not specify, let it choose.</a:t>
            </a:r>
          </a:p>
        </p:txBody>
      </p:sp>
      <p:sp>
        <p:nvSpPr>
          <p:cNvPr id="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You have 5 minutes.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Does it work?</a:t>
            </a:r>
          </a:p>
        </p:txBody>
      </p:sp>
      <p:sp>
        <p:nvSpPr>
          <p:cNvPr id="4" name="OpenIt"/>
          <p:cNvSpPr txBox="1"/>
          <p:nvPr/>
        </p:nvSpPr>
        <p:spPr>
          <a:xfrm>
            <a:off x="274320" y="2103120"/>
            <a:ext cx="85953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0" i="0">
                <a:solidFill>
                  <a:srgbClr val="5C4826"/>
                </a:solidFill>
              </a:rPr>
              <a:t>Open the application in your browser.</a:t>
            </a:r>
          </a:p>
          <a:p>
            <a:pPr algn="ctr"/>
            <a:r>
              <a:rPr sz="14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3200" b="1" i="0">
                <a:solidFill>
                  <a:srgbClr val="5C4826"/>
                </a:solidFill>
              </a:rPr>
              <a:t>Does it work?</a:t>
            </a:r>
          </a:p>
        </p:txBody>
      </p:sp>
      <p:sp>
        <p:nvSpPr>
          <p:cNvPr id="5" name="Reveal"/>
          <p:cNvSpPr txBox="1"/>
          <p:nvPr/>
        </p:nvSpPr>
        <p:spPr>
          <a:xfrm>
            <a:off x="274320" y="4389120"/>
            <a:ext cx="8595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What did you check before answering?</a:t>
            </a:r>
          </a:p>
        </p:txBody>
      </p:sp>
      <p:sp>
        <p:nvSpPr>
          <p:cNvPr id="6" name="Checks"/>
          <p:cNvSpPr txBox="1"/>
          <p:nvPr/>
        </p:nvSpPr>
        <p:spPr>
          <a:xfrm>
            <a:off x="274320" y="4892040"/>
            <a:ext cx="8595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555960"/>
                </a:solidFill>
              </a:rPr>
              <a:t>adding · editing · deleting · persistence · appearance · console errors · refresh · multiple tabs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A task is not a process</a:t>
            </a:r>
          </a:p>
        </p:txBody>
      </p:sp>
      <p:sp>
        <p:nvSpPr>
          <p:cNvPr id="4" name="TaskPanel"/>
          <p:cNvSpPr/>
          <p:nvPr/>
        </p:nvSpPr>
        <p:spPr>
          <a:xfrm>
            <a:off x="50292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TASK</a:t>
            </a:r>
          </a:p>
          <a:p>
            <a:pPr algn="ctr"/>
            <a:r>
              <a:rPr sz="10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800" b="0" i="0">
                <a:solidFill>
                  <a:srgbClr val="5C4826"/>
                </a:solidFill>
              </a:rPr>
              <a:t>Add bulk refunds to the payments service.</a:t>
            </a:r>
          </a:p>
        </p:txBody>
      </p:sp>
      <p:sp>
        <p:nvSpPr>
          <p:cNvPr id="5" name="ProcessPanel"/>
          <p:cNvSpPr/>
          <p:nvPr/>
        </p:nvSpPr>
        <p:spPr>
          <a:xfrm>
            <a:off x="466344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PROCESS</a:t>
            </a:r>
          </a:p>
          <a:p>
            <a:pPr algn="ctr"/>
            <a:r>
              <a:rPr sz="6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Where do you work?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may you change?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information should you inspect?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checks must you run?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What artifact should you produce?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When are you finished?</a:t>
            </a:r>
          </a:p>
        </p:txBody>
      </p:sp>
      <p:sp>
        <p:nvSpPr>
          <p:cNvPr id="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A task describes an outcome.</a:t>
            </a:r>
          </a:p>
          <a:p>
            <a:pPr algn="ctr"/>
            <a:r>
              <a:rPr sz="1600" b="1" i="0">
                <a:solidFill>
                  <a:srgbClr val="FFFFFF"/>
                </a:solidFill>
              </a:rPr>
              <a:t>Delegation also requires a process for producing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A real agent gets a work environment</a:t>
            </a:r>
          </a:p>
        </p:txBody>
      </p:sp>
      <p:sp>
        <p:nvSpPr>
          <p:cNvPr id="4" name="WorkOrder"/>
          <p:cNvSpPr/>
          <p:nvPr/>
        </p:nvSpPr>
        <p:spPr>
          <a:xfrm>
            <a:off x="3566160" y="914400"/>
            <a:ext cx="2011680" cy="50292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WORK ORDER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572000" y="1417320"/>
            <a:ext cx="0" cy="301752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Worktree"/>
          <p:cNvSpPr/>
          <p:nvPr/>
        </p:nvSpPr>
        <p:spPr>
          <a:xfrm>
            <a:off x="1097280" y="1737360"/>
            <a:ext cx="6949440" cy="2240280"/>
          </a:xfrm>
          <a:prstGeom prst="rect">
            <a:avLst/>
          </a:prstGeom>
          <a:noFill/>
          <a:ln w="1905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200" b="0" i="0">
                <a:solidFill>
                  <a:srgbClr val="5C4826"/>
                </a:solidFill>
              </a:rPr>
              <a:t/>
            </a:r>
          </a:p>
        </p:txBody>
      </p:sp>
      <p:sp>
        <p:nvSpPr>
          <p:cNvPr id="7" name="WorktreeLabel"/>
          <p:cNvSpPr txBox="1"/>
          <p:nvPr/>
        </p:nvSpPr>
        <p:spPr>
          <a:xfrm>
            <a:off x="1234440" y="1810512"/>
            <a:ext cx="1828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8E6F3E"/>
                </a:solidFill>
              </a:rPr>
              <a:t>WORKTREE</a:t>
            </a:r>
          </a:p>
        </p:txBody>
      </p:sp>
      <p:sp>
        <p:nvSpPr>
          <p:cNvPr id="8" name="EnvRepo"/>
          <p:cNvSpPr/>
          <p:nvPr/>
        </p:nvSpPr>
        <p:spPr>
          <a:xfrm>
            <a:off x="1463040" y="2212848"/>
            <a:ext cx="1737360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repository</a:t>
            </a:r>
          </a:p>
        </p:txBody>
      </p:sp>
      <p:sp>
        <p:nvSpPr>
          <p:cNvPr id="9" name="EnvTools"/>
          <p:cNvSpPr/>
          <p:nvPr/>
        </p:nvSpPr>
        <p:spPr>
          <a:xfrm>
            <a:off x="3703320" y="2212848"/>
            <a:ext cx="1737360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tools</a:t>
            </a:r>
          </a:p>
        </p:txBody>
      </p:sp>
      <p:sp>
        <p:nvSpPr>
          <p:cNvPr id="10" name="EnvContext"/>
          <p:cNvSpPr/>
          <p:nvPr/>
        </p:nvSpPr>
        <p:spPr>
          <a:xfrm>
            <a:off x="5943600" y="2212848"/>
            <a:ext cx="1737360" cy="530352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context</a:t>
            </a:r>
          </a:p>
        </p:txBody>
      </p:sp>
      <p:sp>
        <p:nvSpPr>
          <p:cNvPr id="11" name="EnvAgent"/>
          <p:cNvSpPr/>
          <p:nvPr/>
        </p:nvSpPr>
        <p:spPr>
          <a:xfrm>
            <a:off x="3703320" y="3218688"/>
            <a:ext cx="1737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AGENT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331720" y="2743200"/>
            <a:ext cx="1554480" cy="512064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572000" y="2743200"/>
            <a:ext cx="0" cy="47548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5257800" y="2743200"/>
            <a:ext cx="1554480" cy="512064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572000" y="3785615"/>
            <a:ext cx="0" cy="420625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Proposed"/>
          <p:cNvSpPr/>
          <p:nvPr/>
        </p:nvSpPr>
        <p:spPr>
          <a:xfrm>
            <a:off x="3566160" y="4224528"/>
            <a:ext cx="2011680" cy="4754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proposed change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0" y="4700016"/>
            <a:ext cx="0" cy="292608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CommitPR"/>
          <p:cNvSpPr/>
          <p:nvPr/>
        </p:nvSpPr>
        <p:spPr>
          <a:xfrm>
            <a:off x="3566160" y="5010912"/>
            <a:ext cx="2011680" cy="4754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0" i="0">
                <a:solidFill>
                  <a:srgbClr val="5C4826"/>
                </a:solidFill>
              </a:rPr>
              <a:t>commit / PR</a:t>
            </a:r>
          </a:p>
        </p:txBody>
      </p:sp>
      <p:sp>
        <p:nvSpPr>
          <p:cNvPr id="19" name="EnvCaption"/>
          <p:cNvSpPr txBox="1"/>
          <p:nvPr/>
        </p:nvSpPr>
        <p:spPr>
          <a:xfrm>
            <a:off x="274320" y="5559552"/>
            <a:ext cx="85953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55960"/>
                </a:solidFill>
              </a:rPr>
              <a:t>Git worktree · branch · issue · repository instructions · tools · tests · CI · PR</a:t>
            </a:r>
          </a:p>
        </p:txBody>
      </p:sp>
      <p:sp>
        <p:nvSpPr>
          <p:cNvPr id="20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We do not merely give agents prompts.</a:t>
            </a:r>
          </a:p>
          <a:p>
            <a:pPr algn="ctr"/>
            <a:r>
              <a:rPr sz="1600" b="1" i="0">
                <a:solidFill>
                  <a:srgbClr val="FFFFFF"/>
                </a:solidFill>
              </a:rPr>
              <a:t>We place them inside engineered processes.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Give it a work order</a:t>
            </a:r>
          </a:p>
        </p:txBody>
      </p:sp>
      <p:graphicFrame>
        <p:nvGraphicFramePr>
          <p:cNvPr id="4" name="WorkOrderTable"/>
          <p:cNvGraphicFramePr>
            <a:graphicFrameLocks noGrp="1"/>
          </p:cNvGraphicFramePr>
          <p:nvPr/>
        </p:nvGraphicFramePr>
        <p:xfrm>
          <a:off x="502920" y="1005840"/>
          <a:ext cx="6492240" cy="45171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5029200"/>
              </a:tblGrid>
              <a:tr h="548640">
                <a:tc gridSpan="2">
                  <a:txBody>
                    <a:bodyPr wrap="square" anchor="ctr"/>
                    <a:lstStyle/>
                    <a:p>
                      <a:pPr algn="ctr"/>
                      <a:r>
                        <a:rPr sz="1800" b="1" i="0">
                          <a:solidFill>
                            <a:srgbClr val="FFFFFF"/>
                          </a:solidFill>
                        </a:rPr>
                        <a:t>WORK ORDER: Bulk refunds</a:t>
                      </a:r>
                    </a:p>
                  </a:txBody>
                  <a:tcPr anchor="ctr" marL="68580" marR="45720" marT="27432" marB="27432">
                    <a:solidFill>
                      <a:srgbClr val="8E6F3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Goal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Add POST /refunds/bulk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Scope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Modify the payments service only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Preserve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Existing single-refund API behavior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Do not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Modify authentication or payment-provider adapters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Check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Existing tests + new bulk-refund tests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Deliver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Commit changes on your worktree and open a PR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  <a:tr h="566928"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1" i="0">
                          <a:solidFill>
                            <a:srgbClr val="5C4826"/>
                          </a:solidFill>
                        </a:rPr>
                        <a:t>Authority</a:t>
                      </a:r>
                    </a:p>
                  </a:txBody>
                  <a:tcPr anchor="ctr" marL="68580" marR="45720" marT="27432" marB="27432">
                    <a:solidFill>
                      <a:srgbClr val="F5F1E8"/>
                    </a:solidFill>
                  </a:tcPr>
                </a:tc>
                <a:tc>
                  <a:txBody>
                    <a:bodyPr wrap="square" anchor="ctr"/>
                    <a:lstStyle/>
                    <a:p>
                      <a:pPr algn="l"/>
                      <a:r>
                        <a:rPr sz="1600" b="0" i="0">
                          <a:solidFill>
                            <a:srgbClr val="5C4826"/>
                          </a:solidFill>
                        </a:rPr>
                        <a:t>Do not merge or deploy</a:t>
                      </a:r>
                    </a:p>
                  </a:txBody>
                  <a:tcPr anchor="ctr" marL="68580" marR="45720" marT="27432" marB="27432"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Annot-outcome"/>
          <p:cNvSpPr txBox="1"/>
          <p:nvPr/>
        </p:nvSpPr>
        <p:spPr>
          <a:xfrm>
            <a:off x="7178040" y="1664207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outcome</a:t>
            </a:r>
          </a:p>
        </p:txBody>
      </p:sp>
      <p:sp>
        <p:nvSpPr>
          <p:cNvPr id="6" name="Annot-scope"/>
          <p:cNvSpPr txBox="1"/>
          <p:nvPr/>
        </p:nvSpPr>
        <p:spPr>
          <a:xfrm>
            <a:off x="7178040" y="2231136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scope</a:t>
            </a:r>
          </a:p>
        </p:txBody>
      </p:sp>
      <p:sp>
        <p:nvSpPr>
          <p:cNvPr id="7" name="Annot-obligations"/>
          <p:cNvSpPr txBox="1"/>
          <p:nvPr/>
        </p:nvSpPr>
        <p:spPr>
          <a:xfrm>
            <a:off x="7178040" y="3081528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obligations</a:t>
            </a:r>
          </a:p>
        </p:txBody>
      </p:sp>
      <p:sp>
        <p:nvSpPr>
          <p:cNvPr id="8" name="Annot-process"/>
          <p:cNvSpPr txBox="1"/>
          <p:nvPr/>
        </p:nvSpPr>
        <p:spPr>
          <a:xfrm>
            <a:off x="7178040" y="3931920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process</a:t>
            </a:r>
          </a:p>
        </p:txBody>
      </p:sp>
      <p:sp>
        <p:nvSpPr>
          <p:cNvPr id="9" name="Annot-stopping condition"/>
          <p:cNvSpPr txBox="1"/>
          <p:nvPr/>
        </p:nvSpPr>
        <p:spPr>
          <a:xfrm>
            <a:off x="7178040" y="4498848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stopping condition</a:t>
            </a:r>
          </a:p>
        </p:txBody>
      </p:sp>
      <p:sp>
        <p:nvSpPr>
          <p:cNvPr id="10" name="Annot-authority"/>
          <p:cNvSpPr txBox="1"/>
          <p:nvPr/>
        </p:nvSpPr>
        <p:spPr>
          <a:xfrm>
            <a:off x="7178040" y="5065776"/>
            <a:ext cx="1874519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1">
                <a:solidFill>
                  <a:srgbClr val="555960"/>
                </a:solidFill>
              </a:rPr>
              <a:t>authority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Orders reduce degrees of freedom</a:t>
            </a:r>
          </a:p>
        </p:txBody>
      </p:sp>
      <p:sp>
        <p:nvSpPr>
          <p:cNvPr id="4" name="BoundPanel"/>
          <p:cNvSpPr/>
          <p:nvPr/>
        </p:nvSpPr>
        <p:spPr>
          <a:xfrm>
            <a:off x="50292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BOUND</a:t>
            </a:r>
          </a:p>
          <a:p>
            <a:pPr algn="ctr"/>
            <a:r>
              <a:rPr sz="6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worktree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files in scope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forbidden actions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required checks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delivery boundary</a:t>
            </a:r>
          </a:p>
        </p:txBody>
      </p:sp>
      <p:sp>
        <p:nvSpPr>
          <p:cNvPr id="5" name="FreePanel"/>
          <p:cNvSpPr/>
          <p:nvPr/>
        </p:nvSpPr>
        <p:spPr>
          <a:xfrm>
            <a:off x="4663440" y="1051560"/>
            <a:ext cx="3977639" cy="3291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2860" bIns="22860"/>
          <a:lstStyle/>
          <a:p>
            <a:pPr algn="ctr"/>
            <a:r>
              <a:rPr sz="2000" b="1" i="0">
                <a:solidFill>
                  <a:srgbClr val="5C4826"/>
                </a:solidFill>
              </a:rPr>
              <a:t>LEAVE FREE</a:t>
            </a:r>
          </a:p>
          <a:p>
            <a:pPr algn="ctr"/>
            <a:r>
              <a:rPr sz="600" b="0" i="0">
                <a:solidFill>
                  <a:srgbClr val="5C4826"/>
                </a:solidFill>
              </a:rPr>
              <a:t/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local implementation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decomposition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naming choices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algorithm, where unconstrained</a:t>
            </a:r>
          </a:p>
          <a:p>
            <a:pPr algn="ctr"/>
            <a:r>
              <a:rPr sz="1600" b="0" i="0">
                <a:solidFill>
                  <a:srgbClr val="5C4826"/>
                </a:solidFill>
              </a:rPr>
              <a:t>order of intermediate edits</a:t>
            </a:r>
          </a:p>
        </p:txBody>
      </p:sp>
      <p:sp>
        <p:nvSpPr>
          <p:cNvPr id="6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Good delegation constrains consequential choices</a:t>
            </a:r>
          </a:p>
          <a:p>
            <a:pPr algn="ctr"/>
            <a:r>
              <a:rPr sz="1600" b="1" i="0">
                <a:solidFill>
                  <a:srgbClr val="FFFFFF"/>
                </a:solidFill>
              </a:rPr>
              <a:t>without prescribing every move.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/>
              <a:t>The process is a model</a:t>
            </a:r>
          </a:p>
        </p:txBody>
      </p:sp>
      <p:sp>
        <p:nvSpPr>
          <p:cNvPr id="4" name="PCWorkOrder"/>
          <p:cNvSpPr/>
          <p:nvPr/>
        </p:nvSpPr>
        <p:spPr>
          <a:xfrm>
            <a:off x="502920" y="1005840"/>
            <a:ext cx="1737360" cy="548640"/>
          </a:xfrm>
          <a:prstGeom prst="rect">
            <a:avLst/>
          </a:prstGeom>
          <a:solidFill>
            <a:srgbClr val="8E6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WORK ORDER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371600" y="1554480"/>
            <a:ext cx="0" cy="36576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PCINSPECT"/>
          <p:cNvSpPr/>
          <p:nvPr/>
        </p:nvSpPr>
        <p:spPr>
          <a:xfrm>
            <a:off x="5029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INSPECT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202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PCMODIFY"/>
          <p:cNvSpPr/>
          <p:nvPr/>
        </p:nvSpPr>
        <p:spPr>
          <a:xfrm>
            <a:off x="21031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MODIFY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20439" y="2217420"/>
            <a:ext cx="182881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PCCHECK"/>
          <p:cNvSpPr/>
          <p:nvPr/>
        </p:nvSpPr>
        <p:spPr>
          <a:xfrm>
            <a:off x="37033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CHECK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1206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PCCOMMIT"/>
          <p:cNvSpPr/>
          <p:nvPr/>
        </p:nvSpPr>
        <p:spPr>
          <a:xfrm>
            <a:off x="53035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COMMIT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720840" y="2217420"/>
            <a:ext cx="182880" cy="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CPROPOSE"/>
          <p:cNvSpPr/>
          <p:nvPr/>
        </p:nvSpPr>
        <p:spPr>
          <a:xfrm>
            <a:off x="6903720" y="1920240"/>
            <a:ext cx="141732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2860" bIns="22860"/>
          <a:lstStyle/>
          <a:p>
            <a:pPr algn="ctr"/>
            <a:r>
              <a:rPr sz="1500" b="1" i="0">
                <a:solidFill>
                  <a:srgbClr val="5C4826"/>
                </a:solidFill>
              </a:rPr>
              <a:t>PROPOSE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411980" y="2514600"/>
            <a:ext cx="0" cy="274320"/>
          </a:xfrm>
          <a:prstGeom prst="line">
            <a:avLst/>
          </a:prstGeom>
          <a:ln w="19050">
            <a:solidFill>
              <a:srgbClr val="C9B9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811779" y="2788920"/>
            <a:ext cx="1600201" cy="0"/>
          </a:xfrm>
          <a:prstGeom prst="line">
            <a:avLst/>
          </a:prstGeom>
          <a:ln w="19050">
            <a:solidFill>
              <a:srgbClr val="C9B99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2811779" y="2551176"/>
            <a:ext cx="0" cy="237744"/>
          </a:xfrm>
          <a:prstGeom prst="line">
            <a:avLst/>
          </a:prstGeom>
          <a:ln w="19050">
            <a:solidFill>
              <a:srgbClr val="C9B99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PCAspects"/>
          <p:cNvSpPr txBox="1"/>
          <p:nvPr/>
        </p:nvSpPr>
        <p:spPr>
          <a:xfrm>
            <a:off x="274320" y="3246120"/>
            <a:ext cx="8595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 i="1">
                <a:solidFill>
                  <a:srgbClr val="555960"/>
                </a:solidFill>
              </a:rPr>
              <a:t>permitted actions · required transitions · stopping criteria · evidence produced</a:t>
            </a:r>
          </a:p>
        </p:txBody>
      </p:sp>
      <p:sp>
        <p:nvSpPr>
          <p:cNvPr id="19" name="PCMain"/>
          <p:cNvSpPr txBox="1"/>
          <p:nvPr/>
        </p:nvSpPr>
        <p:spPr>
          <a:xfrm>
            <a:off x="502920" y="3977639"/>
            <a:ext cx="81381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0">
                <a:solidFill>
                  <a:srgbClr val="5C4826"/>
                </a:solidFill>
              </a:rPr>
              <a:t>A process model says what work may happen, in what environment, and what must be established before work proceeds.</a:t>
            </a:r>
          </a:p>
        </p:txBody>
      </p:sp>
      <p:sp>
        <p:nvSpPr>
          <p:cNvPr id="20" name="PCCaveat"/>
          <p:cNvSpPr txBox="1"/>
          <p:nvPr/>
        </p:nvSpPr>
        <p:spPr>
          <a:xfrm>
            <a:off x="502920" y="4983480"/>
            <a:ext cx="8138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8E6F3E"/>
                </a:solidFill>
              </a:rPr>
              <a:t>It need not prescribe the agent’s internal reasoning.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urdue1">
  <a:themeElements>
    <a:clrScheme name="PurdueColors">
      <a:dk1>
        <a:srgbClr val="000000"/>
      </a:dk1>
      <a:lt1>
        <a:srgbClr val="000000"/>
      </a:lt1>
      <a:dk2>
        <a:srgbClr val="C4BFC0"/>
      </a:dk2>
      <a:lt2>
        <a:srgbClr val="C9B991"/>
      </a:lt2>
      <a:accent1>
        <a:srgbClr val="8E6F3E"/>
      </a:accent1>
      <a:accent2>
        <a:srgbClr val="555960"/>
      </a:accent2>
      <a:accent3>
        <a:srgbClr val="C9B991"/>
      </a:accent3>
      <a:accent4>
        <a:srgbClr val="FFFFFF"/>
      </a:accent4>
      <a:accent5>
        <a:srgbClr val="000000"/>
      </a:accent5>
      <a:accent6>
        <a:srgbClr val="555960"/>
      </a:accent6>
      <a:hlink>
        <a:srgbClr val="000000"/>
      </a:hlink>
      <a:folHlink>
        <a:srgbClr val="55596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-CoBrand_Template_Gold_Theme_Std_Screen_2.pptx" id="{33130098-72E9-B14B-8D33-14895F32E203}" vid="{24A02D5D-460C-B047-B557-67731F776B7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Relationship Id="rId2" Type="http://schemas.microsoft.com/office/2011/relationships/webextension" Target="webextension2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02577843-0252-164E-9900-50E04AC84376}">
  <we:reference id="wa104381063" version="1.0.0.1" store="en-001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2F6451B-05D5-964F-AC61-763C973265E8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1299b91e-8e0b-4b63-ab37-4fd482b3179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PU-CoBrand_Template_Gold_Theme_Std_Screen_2</Template>
  <TotalTime>8564</TotalTime>
  <Words>5079</Words>
  <Application>Microsoft Macintosh PowerPoint</Application>
  <PresentationFormat>On-screen Show (4:3)</PresentationFormat>
  <Paragraphs>694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Calibri</vt:lpstr>
      <vt:lpstr>Times</vt:lpstr>
      <vt:lpstr>Purdue1</vt:lpstr>
      <vt:lpstr>PowerPoint Presentation</vt:lpstr>
      <vt:lpstr>Engineers may delegate realization without delegating responsibility for the resulting system.</vt:lpstr>
      <vt:lpstr>Delegation did not begin with agents</vt:lpstr>
      <vt:lpstr>The recipient changes</vt:lpstr>
      <vt:lpstr>The delegation problem remains</vt:lpstr>
      <vt:lpstr>BOUND</vt:lpstr>
      <vt:lpstr>BOUND: design the delegated work</vt:lpstr>
      <vt:lpstr>A delegation boundary is a reasoning boundary</vt:lpstr>
      <vt:lpstr>Reasoning has a horizon</vt:lpstr>
      <vt:lpstr>Delegation leaves degrees of freedom</vt:lpstr>
      <vt:lpstr>EQUIP</vt:lpstr>
      <vt:lpstr>EQUIP: capability lives in a system</vt:lpstr>
      <vt:lpstr>Equip three things</vt:lpstr>
      <vt:lpstr>Choose the reasoner for the work</vt:lpstr>
      <vt:lpstr>Engineer the information available to it</vt:lpstr>
      <vt:lpstr>Representation can change the reasoning problem</vt:lpstr>
      <vt:lpstr>Give the agent means to observe and act</vt:lpstr>
      <vt:lpstr>A real harness engineers the reasoning surface</vt:lpstr>
      <vt:lpstr>Zoom out: the equipped agent</vt:lpstr>
      <vt:lpstr>How will you equip your agents?</vt:lpstr>
      <vt:lpstr>Stretch break</vt:lpstr>
      <vt:lpstr>AUTHORIZE</vt:lpstr>
      <vt:lpstr>Capability is not authority</vt:lpstr>
      <vt:lpstr>Authority follows consequence</vt:lpstr>
      <vt:lpstr>Authority should match the delegated work</vt:lpstr>
      <vt:lpstr>VERIFY</vt:lpstr>
      <vt:lpstr>VERIFY: what evidence closes the work?</vt:lpstr>
      <vt:lpstr>The producer is not independent evidence</vt:lpstr>
      <vt:lpstr>THE DELEGATION SYSTEM</vt:lpstr>
      <vt:lpstr>Engineer the delegation system</vt:lpstr>
      <vt:lpstr>Better agents change the delegation design</vt:lpstr>
      <vt:lpstr>What changes? What stays?</vt:lpstr>
      <vt:lpstr>What must exist outside the agent?</vt:lpstr>
      <vt:lpstr>Phase 2 honest individual status update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Bowers, Anna K</dc:creator>
  <cp:keywords/>
  <dc:description/>
  <cp:lastModifiedBy>James C Davis</cp:lastModifiedBy>
  <cp:revision>398</cp:revision>
  <dcterms:created xsi:type="dcterms:W3CDTF">2020-02-21T23:00:33Z</dcterms:created>
  <dcterms:modified xsi:type="dcterms:W3CDTF">2026-09-29T15:52:00Z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2024-09-05T02:27:24Z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e1ff3097-c009-4f67-8781-6e468e7749d4</vt:lpwstr>
  </property>
  <property fmtid="{D5CDD505-2E9C-101B-9397-08002B2CF9AE}" pid="8" name="MSIP_Label_4044bd30-2ed7-4c9d-9d12-46200872a97b_ContentBits">
    <vt:lpwstr>0</vt:lpwstr>
  </property>
</Properties>
</file>