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5" r:id="rId22"/>
    <p:sldId id="300" r:id="rId12"/>
    <p:sldId id="266" r:id="rId17"/>
    <p:sldId id="306" r:id="rId48"/>
    <p:sldId id="267" r:id="rId18"/>
    <p:sldId id="265" r:id="rId16"/>
    <p:sldId id="268" r:id="rId19"/>
    <p:sldId id="286" r:id="rId51"/>
    <p:sldId id="269" r:id="rId20"/>
    <p:sldId id="270" r:id="rId21"/>
    <p:sldId id="272" r:id="rId23"/>
    <p:sldId id="303" r:id="rId55"/>
    <p:sldId id="273" r:id="rId24"/>
    <p:sldId id="288" r:id="rId53"/>
    <p:sldId id="277" r:id="rId28"/>
    <p:sldId id="278" r:id="rId29"/>
    <p:sldId id="279" r:id="rId30"/>
    <p:sldId id="307" r:id="rId10"/>
    <p:sldId id="308" r:id="rId8"/>
    <p:sldId id="309" r:id="rId6"/>
    <p:sldId id="310" r:id="rId5"/>
    <p:sldId id="280" r:id="rId31"/>
    <p:sldId id="281" r:id="rId32"/>
    <p:sldId id="287" r:id="rId52"/>
    <p:sldId id="274" r:id="rId25"/>
    <p:sldId id="311" r:id="rId11"/>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8.xml"/><Relationship Id="rId6" Type="http://schemas.openxmlformats.org/officeDocument/2006/relationships/slide" Target="slides/slide37.xml"/><Relationship Id="rId7" Type="http://schemas.openxmlformats.org/officeDocument/2006/relationships/slide" Target="slides/slide1.xml"/><Relationship Id="rId8" Type="http://schemas.openxmlformats.org/officeDocument/2006/relationships/slide" Target="slides/slide36.xml"/><Relationship Id="rId9" Type="http://schemas.openxmlformats.org/officeDocument/2006/relationships/slide" Target="slides/slide5.xml"/><Relationship Id="rId10" Type="http://schemas.openxmlformats.org/officeDocument/2006/relationships/slide" Target="slides/slide35.xml"/><Relationship Id="rId11" Type="http://schemas.openxmlformats.org/officeDocument/2006/relationships/slide" Target="slides/slide43.xml"/><Relationship Id="rId12" Type="http://schemas.openxmlformats.org/officeDocument/2006/relationships/slide" Target="slides/slide19.xml"/><Relationship Id="rId13" Type="http://schemas.openxmlformats.org/officeDocument/2006/relationships/slide" Target="slides/slide17.xml"/><Relationship Id="rId14" Type="http://schemas.openxmlformats.org/officeDocument/2006/relationships/slide" Target="slides/slide16.xml"/><Relationship Id="rId15" Type="http://schemas.openxmlformats.org/officeDocument/2006/relationships/slide" Target="slides/slide3.xml"/><Relationship Id="rId16" Type="http://schemas.openxmlformats.org/officeDocument/2006/relationships/slide" Target="slides/slide23.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18.xml"/><Relationship Id="rId23" Type="http://schemas.openxmlformats.org/officeDocument/2006/relationships/slide" Target="slides/slide28.xml"/><Relationship Id="rId24" Type="http://schemas.openxmlformats.org/officeDocument/2006/relationships/slide" Target="slides/slide30.xml"/><Relationship Id="rId25" Type="http://schemas.openxmlformats.org/officeDocument/2006/relationships/slide" Target="slides/slide42.xml"/><Relationship Id="rId26" Type="http://schemas.openxmlformats.org/officeDocument/2006/relationships/slide" Target="slides/slide44.xml"/><Relationship Id="rId27" Type="http://schemas.openxmlformats.org/officeDocument/2006/relationships/slide" Target="slides/slide45.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slide" Target="slides/slide34.xml"/><Relationship Id="rId31" Type="http://schemas.openxmlformats.org/officeDocument/2006/relationships/slide" Target="slides/slide39.xml"/><Relationship Id="rId32" Type="http://schemas.openxmlformats.org/officeDocument/2006/relationships/slide" Target="slides/slide40.xml"/><Relationship Id="rId33" Type="http://schemas.openxmlformats.org/officeDocument/2006/relationships/slide" Target="slides/slide46.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21.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5.xml"/><Relationship Id="rId52" Type="http://schemas.openxmlformats.org/officeDocument/2006/relationships/slide" Target="slides/slide41.xml"/><Relationship Id="rId53" Type="http://schemas.openxmlformats.org/officeDocument/2006/relationships/slide" Target="slides/slide31.xml"/><Relationship Id="rId54" Type="http://schemas.openxmlformats.org/officeDocument/2006/relationships/slide" Target="slides/slide2.xml"/><Relationship Id="rId5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"Do not help the agent" and "If it makes a choice…" only after students have started reading.</a:t>
            </a:r>
          </a:p>
          <a:p>
            <a:r>
              <a:t>- Start the five-minute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Enough vocabulary.</a:t>
            </a:r>
          </a:p>
          <a:p>
            <a:r>
              <a:t>- Now use it.</a:t>
            </a:r>
          </a:p>
          <a:p>
            <a:r>
              <a:t>- You are going to receive explicit obligations and a model, and design the delegated process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setup + 8-10 minutes work</a:t>
            </a:r>
          </a:p>
          <a:p>
            <a:r>
              <a:t>- Scenario: an agent modifies an embedded controller — the SAME domain as the lab's sensor node, so read this as a continuation, not a new scenario.</a:t>
            </a:r>
          </a:p>
          <a:p>
            <a:r>
              <a:t>- Four obligations: API preservation, a memory bound, a forbidden dependency, and cycle ordering.</a:t>
            </a:r>
          </a:p>
          <a:p>
            <a:r>
              <a:t>- The model is given on the next slide. Do not spend the activity rediscovering it from implementation.</a:t>
            </a:r>
          </a:p>
          <a:p>
            <a:r>
              <a:t>- Your job is to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Everything so far could be done with tests, permissions, CI, repository state, and ordinary process controls.</a:t>
            </a:r>
          </a:p>
          <a:p>
            <a:r>
              <a:t>- We reasoned about obligations, evidence, validators, constraints, gates, and authority.</a:t>
            </a:r>
          </a:p>
          <a:p>
            <a:r>
              <a:t>- No explicit model was logically required.</a:t>
            </a:r>
          </a:p>
          <a:p>
            <a:r>
              <a:t>- So explicit modeling has to earn its cost.</a:t>
            </a:r>
          </a:p>
          <a:p>
            <a:r>
              <a:t>- What does it let us do better?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Ask the room before answering.</a:t>
            </a:r>
          </a:p>
          <a:p>
            <a:r>
              <a:t>- Look for answers about preserving knowledge, making relationships inspectable, enabling analysis, reducing repeated reconstruction, and separating what matters from what does not.</a:t>
            </a:r>
          </a:p>
          <a:p>
            <a:r>
              <a:t>- Push beyond "documentation." If the model is only documentation, it is not yet clear why Alignment cares.</a:t>
            </a:r>
          </a:p>
          <a:p>
            <a:r>
              <a:t>- Ask: what could a control do with a model that is difficult to do with prose or by repeatedly inspecting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First content of the section: put the four failures against their engineering responses.</a:t>
            </a:r>
          </a:p>
          <a:p>
            <a:r>
              <a:t>- Wrong result: we need evidence about artifact properties.</a:t>
            </a:r>
          </a:p>
          <a:p>
            <a:r>
              <a:t>- Wrong process: we need to observe or constrain actions, not merely inspect the final state.</a:t>
            </a:r>
          </a:p>
          <a:p>
            <a:r>
              <a:t>- Excess authority and insufficient evidence are SPECIES of process failure. We keep them as separate rows because each leads to a distinct mechanism: authority restriction, and evidence-conditioned acceptance.</a:t>
            </a:r>
          </a:p>
          <a:p>
            <a:r>
              <a:t>- Each response names a control problem; the next slide names the roles that solve them.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Same two kinds of model the class built in the lab: structural facts that support static checks, and a behavioral ordering that defines what to observe at runtime.</a:t>
            </a:r>
          </a:p>
          <a:p>
            <a:r>
              <a:t>- The structural side carries the API, the dependency facts (including the forbidden one), and the memory bound. The behavioral side carries the cycle ordering.</a:t>
            </a:r>
          </a:p>
          <a:p>
            <a:r>
              <a:t>- Teams should ask, per obligation, which side of the model makes the relevant fact explicit — that feeds the MODEL USE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p>
            <a:r>
              <a:t>ANIMATION</a:t>
            </a:r>
          </a:p>
          <a:p>
            <a:r>
              <a:t>- Reveal p(T,M,R,H) and the PRODUCTION label first.</a:t>
            </a:r>
          </a:p>
          <a:p>
            <a:r>
              <a:t>- Reveal CANDIDATE.</a:t>
            </a:r>
          </a:p>
          <a:p>
            <a:r>
              <a:t>- Reveal OBLIGATION, EVIDENCE, JUDGMENT, CONSEQUENCE one at a time.</a:t>
            </a:r>
          </a:p>
          <a:p>
            <a:r>
              <a:t>- Reveal the footer last.</a:t>
            </a:r>
          </a:p>
          <a:p>
            <a:r>
              <a:t>- The compressed form: production asks whether the agent can produce an acceptable candidate; alignment decides whether that candidate may be accepted, merged, deployed, or otherwise acted upon.</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Pose the footer question and DO NOT answer it immediately. Let them discuss.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Do not help the agent.</a:t>
            </a:r>
          </a:p>
          <a:p>
            <a:pPr algn="l"/>
            <a:r>
              <a:rPr sz="2000" b="0" i="0">
                <a:solidFill>
                  <a:srgbClr val="555960"/>
                </a:solidFill>
              </a:rPr>
              <a:t>If it makes a choice you did not specify, let it choose.</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buNone/>
              <a:spcBef>
                <a:spcPts val="900"/>
              </a:spcBef>
            </a:pPr>
            <a:r>
              <a:rPr lang="en-US" sz="2000" b="0" i="0" dirty="0">
                <a:solidFill>
                  <a:srgbClr val="5C4826"/>
                </a:solidFill>
              </a:rPr>
              <a:t>What outcome is required?</a:t>
            </a:r>
          </a:p>
          <a:p>
            <a:pPr algn="l">
              <a:buNone/>
              <a:spcBef>
                <a:spcPts val="900"/>
              </a:spcBef>
            </a:pPr>
            <a:r>
              <a:rPr lang="en-US" sz="2000" b="0" i="0" dirty="0">
                <a:solidFill>
                  <a:srgbClr val="5C4826"/>
                </a:solidFill>
              </a:rPr>
              <a:t>What must remain true?</a:t>
            </a:r>
          </a:p>
          <a:p>
            <a:pPr algn="l">
              <a:buNone/>
              <a:spcBef>
                <a:spcPts val="900"/>
              </a:spcBef>
            </a:pPr>
            <a:r>
              <a:rPr lang="en-US" sz="2000" b="0" i="0" dirty="0">
                <a:solidFill>
                  <a:srgbClr val="5C4826"/>
                </a:solidFill>
              </a:rPr>
              <a:t>What is out of scope?</a:t>
            </a:r>
          </a:p>
          <a:p>
            <a:pPr algn="l">
              <a:buNone/>
              <a:spcBef>
                <a:spcPts val="900"/>
              </a:spcBef>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buNone/>
              <a:spcBef>
                <a:spcPts val="900"/>
              </a:spcBef>
            </a:pPr>
            <a:r>
              <a:rPr lang="en-US" sz="2000" b="0" i="0" dirty="0">
                <a:solidFill>
                  <a:srgbClr val="5C4826"/>
                </a:solidFill>
              </a:rPr>
              <a:t>Where may the agent work?</a:t>
            </a:r>
          </a:p>
          <a:p>
            <a:pPr algn="l">
              <a:buNone/>
              <a:spcBef>
                <a:spcPts val="900"/>
              </a:spcBef>
            </a:pPr>
            <a:r>
              <a:rPr lang="en-US" sz="2000" b="0" i="0" dirty="0">
                <a:solidFill>
                  <a:srgbClr val="5C4826"/>
                </a:solidFill>
              </a:rPr>
              <a:t>What may it change?</a:t>
            </a:r>
          </a:p>
          <a:p>
            <a:pPr algn="l">
              <a:buNone/>
              <a:spcBef>
                <a:spcPts val="900"/>
              </a:spcBef>
            </a:pPr>
            <a:r>
              <a:rPr lang="en-US" sz="2000" b="0" i="0" dirty="0">
                <a:solidFill>
                  <a:srgbClr val="5C4826"/>
                </a:solidFill>
              </a:rPr>
              <a:t>What must it inspect or check?</a:t>
            </a:r>
          </a:p>
          <a:p>
            <a:pPr algn="l">
              <a:buNone/>
              <a:spcBef>
                <a:spcPts val="900"/>
              </a:spcBef>
            </a:pPr>
            <a:r>
              <a:rPr lang="en-US" sz="2000" b="0" i="0" dirty="0">
                <a:solidFill>
                  <a:srgbClr val="5C4826"/>
                </a:solidFill>
              </a:rPr>
              <a:t>When is the work complete?</a:t>
            </a:r>
          </a:p>
          <a:p>
            <a:pPr algn="l">
              <a:buNone/>
              <a:spcBef>
                <a:spcPts val="900"/>
              </a:spcBef>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0" name="FCHeadFailure"/>
          <p:cNvSpPr/>
          <p:nvPr/>
        </p:nvSpPr>
        <p:spPr>
          <a:xfrm>
            <a:off x="502920" y="914400"/>
            <a:ext cx="329184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FAILURE</a:t>
            </a:r>
          </a:p>
        </p:txBody>
      </p:sp>
      <p:sp>
        <p:nvSpPr>
          <p:cNvPr id="0" name="FCHeadResponse"/>
          <p:cNvSpPr/>
          <p:nvPr/>
        </p:nvSpPr>
        <p:spPr>
          <a:xfrm>
            <a:off x="4800600" y="914400"/>
            <a:ext cx="384048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ENGINEERING RESPONSE</a:t>
            </a:r>
          </a:p>
        </p:txBody>
      </p:sp>
      <p:sp>
        <p:nvSpPr>
          <p:cNvPr id="0" name="FCFail1"/>
          <p:cNvSpPr/>
          <p:nvPr/>
        </p:nvSpPr>
        <p:spPr>
          <a:xfrm>
            <a:off x="502920" y="1508760"/>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FCResp1"/>
          <p:cNvSpPr/>
          <p:nvPr/>
        </p:nvSpPr>
        <p:spPr>
          <a:xfrm>
            <a:off x="4800600" y="1508760"/>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establish properties of the artifact</a:t>
            </a:r>
          </a:p>
        </p:txBody>
      </p:sp>
      <p:cxnSp>
        <p:nvCxnSpPr>
          <p:cNvPr id="0" name="FCArrow1"/>
          <p:cNvCxnSpPr/>
          <p:nvPr/>
        </p:nvCxnSpPr>
        <p:spPr>
          <a:xfrm>
            <a:off x="3794760" y="1929384"/>
            <a:ext cx="1005840" cy="0"/>
          </a:xfrm>
          <a:prstGeom prst="straightConnector1">
            <a:avLst/>
          </a:prstGeom>
          <a:ln w="19050">
            <a:solidFill>
              <a:srgbClr val="8E6F3E"/>
            </a:solidFill>
            <a:tailEnd type="triangle"/>
          </a:ln>
        </p:spPr>
      </p:cxnSp>
      <p:sp>
        <p:nvSpPr>
          <p:cNvPr id="0" name="FCFail2"/>
          <p:cNvSpPr/>
          <p:nvPr/>
        </p:nvSpPr>
        <p:spPr>
          <a:xfrm>
            <a:off x="502920" y="2487168"/>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FCResp2"/>
          <p:cNvSpPr/>
          <p:nvPr/>
        </p:nvSpPr>
        <p:spPr>
          <a:xfrm>
            <a:off x="4800600" y="2487168"/>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observe or constrain actions</a:t>
            </a:r>
          </a:p>
        </p:txBody>
      </p:sp>
      <p:cxnSp>
        <p:nvCxnSpPr>
          <p:cNvPr id="0" name="FCArrow2"/>
          <p:cNvCxnSpPr/>
          <p:nvPr/>
        </p:nvCxnSpPr>
        <p:spPr>
          <a:xfrm>
            <a:off x="3794760" y="2907792"/>
            <a:ext cx="1005840" cy="0"/>
          </a:xfrm>
          <a:prstGeom prst="straightConnector1">
            <a:avLst/>
          </a:prstGeom>
          <a:ln w="19050">
            <a:solidFill>
              <a:srgbClr val="8E6F3E"/>
            </a:solidFill>
            <a:tailEnd type="triangle"/>
          </a:ln>
        </p:spPr>
      </p:cxnSp>
      <p:sp>
        <p:nvSpPr>
          <p:cNvPr id="0" name="FCFail3"/>
          <p:cNvSpPr/>
          <p:nvPr/>
        </p:nvSpPr>
        <p:spPr>
          <a:xfrm>
            <a:off x="502920" y="3465576"/>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EXCESS AUTHORITY</a:t>
            </a:r>
          </a:p>
        </p:txBody>
      </p:sp>
      <p:sp>
        <p:nvSpPr>
          <p:cNvPr id="0" name="FCResp3"/>
          <p:cNvSpPr/>
          <p:nvPr/>
        </p:nvSpPr>
        <p:spPr>
          <a:xfrm>
            <a:off x="4800600" y="3465576"/>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restrict consequential actions</a:t>
            </a:r>
          </a:p>
        </p:txBody>
      </p:sp>
      <p:cxnSp>
        <p:nvCxnSpPr>
          <p:cNvPr id="0" name="FCArrow3"/>
          <p:cNvCxnSpPr/>
          <p:nvPr/>
        </p:nvCxnSpPr>
        <p:spPr>
          <a:xfrm>
            <a:off x="3794760" y="3886200"/>
            <a:ext cx="1005840" cy="0"/>
          </a:xfrm>
          <a:prstGeom prst="straightConnector1">
            <a:avLst/>
          </a:prstGeom>
          <a:ln w="19050">
            <a:solidFill>
              <a:srgbClr val="8E6F3E"/>
            </a:solidFill>
            <a:tailEnd type="triangle"/>
          </a:ln>
        </p:spPr>
      </p:cxnSp>
      <p:sp>
        <p:nvSpPr>
          <p:cNvPr id="0" name="FCFail4"/>
          <p:cNvSpPr/>
          <p:nvPr/>
        </p:nvSpPr>
        <p:spPr>
          <a:xfrm>
            <a:off x="502920" y="4443984"/>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INSUFFICIENT EVIDENCE</a:t>
            </a:r>
          </a:p>
        </p:txBody>
      </p:sp>
      <p:sp>
        <p:nvSpPr>
          <p:cNvPr id="0" name="FCResp4"/>
          <p:cNvSpPr/>
          <p:nvPr/>
        </p:nvSpPr>
        <p:spPr>
          <a:xfrm>
            <a:off x="4800600" y="4443984"/>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require evidence before acceptance</a:t>
            </a:r>
          </a:p>
        </p:txBody>
      </p:sp>
      <p:cxnSp>
        <p:nvCxnSpPr>
          <p:cNvPr id="0" name="FCArrow4"/>
          <p:cNvCxnSpPr/>
          <p:nvPr/>
        </p:nvCxnSpPr>
        <p:spPr>
          <a:xfrm>
            <a:off x="3794760" y="4864608"/>
            <a:ext cx="1005840" cy="0"/>
          </a:xfrm>
          <a:prstGeom prst="straightConnector1">
            <a:avLst/>
          </a:prstGeom>
          <a:ln w="19050">
            <a:solidFill>
              <a:srgbClr val="8E6F3E"/>
            </a:solidFill>
            <a:tailEnd type="triangle"/>
          </a:ln>
        </p:spPr>
      </p:cxnSp>
      <p:sp>
        <p:nvSpPr>
          <p:cNvPr id="0" name="FC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The bottom two are species of process failure — kept separate because each leads to a distinct mechanism.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ADMISSION"/>
          <p:cNvSpPr/>
          <p:nvPr/>
        </p:nvSpPr>
        <p:spPr>
          <a:xfrm>
            <a:off x="736968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ADMISSION</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decides admission.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20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20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2000" b="0" i="1">
                <a:solidFill>
                  <a:srgbClr val="555960"/>
                </a:solidFill>
              </a:rPr>
              <a:t>admits</a:t>
            </a:r>
          </a:p>
        </p:txBody>
      </p:sp>
      <p:sp>
        <p:nvSpPr>
          <p:cNvPr id="26" name="Rectangle 25"/>
          <p:cNvSpPr/>
          <p:nvPr/>
        </p:nvSpPr>
        <p:spPr>
          <a:xfrm>
            <a:off x="6757415" y="1801368"/>
            <a:ext cx="17373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2000" b="0" i="1">
                <a:solidFill>
                  <a:srgbClr val="555960"/>
                </a:solidFill>
              </a:rPr>
              <a:t>The agent may modify and propose freely.</a:t>
            </a:r>
          </a:p>
          <a:p>
            <a:pPr algn="ctr"/>
            <a:r>
              <a:rPr sz="20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10" name="ProdLabel"/>
          <p:cNvSpPr txBox="1"/>
          <p:nvPr/>
        </p:nvSpPr>
        <p:spPr>
          <a:xfrm>
            <a:off x="365760" y="1143000"/>
            <a:ext cx="2925024" cy="114300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PRODUCTION</a:t>
            </a:r>
          </a:p>
          <a:p>
            <a:pPr algn="l">
              <a:spcAft>
                <a:spcPts val="0"/>
              </a:spcAft>
              <a:buNone/>
            </a:pPr>
            <a:r>
              <a:rPr lang="en-US" sz="20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rtlCol="0" anchor="ctr" wrap="square" lIns="27432" rIns="27432" tIns="22860" bIns="22860"/>
          <a:lstStyle/>
          <a:p>
            <a:pPr algn="ctr"/>
            <a:r>
              <a:rPr sz="20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rtlCol="0" anchor="ctr" wrap="square" lIns="27432" rIns="27432" tIns="22860" bIns="22860"/>
          <a:lstStyle/>
          <a:p>
            <a:pPr algn="ctr"/>
            <a:r>
              <a:rPr sz="2000" b="1" i="0">
                <a:solidFill>
                  <a:srgbClr val="FFFFFF"/>
                </a:solidFill>
              </a:rPr>
              <a:t>CONSEQUENCE</a:t>
            </a:r>
          </a:p>
        </p:txBody>
      </p:sp>
      <p:sp>
        <p:nvSpPr>
          <p:cNvPr id="199" name="FooterBand"/>
          <p:cNvSpPr/>
          <p:nvPr/>
        </p:nvSpPr>
        <p:spPr>
          <a:xfrm>
            <a:off x="274320" y="5486400"/>
            <a:ext cx="8595360" cy="1325880"/>
          </a:xfrm>
          <a:prstGeom prst="rect">
            <a:avLst/>
          </a:prstGeom>
          <a:solidFill>
            <a:srgbClr val="8E6F3E"/>
          </a:solidFill>
          <a:ln>
            <a:noFill/>
          </a:ln>
        </p:spPr>
        <p:txBody>
          <a:bodyPr wrap="square" lIns="27432" tIns="0" rIns="27432" bIns="45720" anchor="ctr"/>
          <a:lstStyle/>
          <a:p>
            <a:r>
              <a:rPr lang="en-US" sz="2000" b="1" i="0" dirty="0">
                <a:solidFill>
                  <a:srgbClr val="FFFFFF"/>
                </a:solidFill>
              </a:rPr>
              <a:t>Production asks whether the agent can produce an acceptable candidate.</a:t>
            </a:r>
          </a:p>
          <a:p>
            <a:r>
              <a:rPr lang="en-US" sz="2000" b="1" i="0" dirty="0">
                <a:solidFill>
                  <a:srgbClr val="FFFFFF"/>
                </a:solidFill>
              </a:rPr>
              <a:t>Alignment decides whether that candidate may be accepted, merged, deployed, or otherwise acted upon.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We just did Alignment without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548640" y="1645920"/>
            <a:ext cx="8046720" cy="1463040"/>
          </a:xfrm>
          <a:prstGeom prst="rect">
            <a:avLst/>
          </a:prstGeom>
          <a:noFill/>
        </p:spPr>
        <p:txBody>
          <a:bodyPr wrap="square" anchor="ctr">
            <a:spAutoFit/>
          </a:bodyPr>
          <a:lstStyle/>
          <a:p>
            <a:pPr algn="ctr"/>
            <a:r>
              <a:rPr sz="2400" b="1" i="0">
                <a:solidFill>
                  <a:srgbClr val="000000"/>
                </a:solidFill>
              </a:rPr>
              <a:t>We just reasoned about constraints, evidence, evaluation, and authority.</a:t>
            </a:r>
          </a:p>
          <a:p>
            <a:pPr algn="ctr"/>
            <a:r>
              <a:rPr sz="2400" b="1" i="0">
                <a:solidFill>
                  <a:srgbClr val="000000"/>
                </a:solidFill>
              </a:rPr>
              <a:t>No explicit model was required.</a:t>
            </a:r>
          </a:p>
        </p:txBody>
      </p:sp>
      <p:sp>
        <p:nvSpPr>
          <p:cNvPr id="6" name="TextBox 5"/>
          <p:cNvSpPr txBox="1"/>
          <p:nvPr/>
        </p:nvSpPr>
        <p:spPr>
          <a:xfrm>
            <a:off x="548640" y="3840480"/>
            <a:ext cx="8046720" cy="548640"/>
          </a:xfrm>
          <a:prstGeom prst="rect">
            <a:avLst/>
          </a:prstGeom>
          <a:noFill/>
        </p:spPr>
        <p:txBody>
          <a:bodyPr wrap="square" anchor="t">
            <a:spAutoFit/>
          </a:bodyPr>
          <a:lstStyle/>
          <a:p>
            <a:pPr algn="ctr"/>
            <a:r>
              <a:rPr sz="2300" b="0" i="1">
                <a:solidFill>
                  <a:srgbClr val="8E6F3E"/>
                </a:solidFill>
              </a:rPr>
              <a:t>So why did we spend the previous lecture on Modeling?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wrap="square"/>
          <a:lstStyle/>
          <a:p>
            <a:pPr algn="ctr"/>
            <a:r>
              <a:rPr sz="4000">
                <a:solidFill>
                  <a:srgbClr val="000000"/>
                </a:solidFill>
              </a:rPr>
              <a:t>What do models buy us?</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TextBox 3"/>
          <p:cNvSpPr txBox="1"/>
          <p:nvPr/>
        </p:nvSpPr>
        <p:spPr>
          <a:xfrm>
            <a:off x="685800" y="1243584"/>
            <a:ext cx="7772400" cy="365760"/>
          </a:xfrm>
          <a:prstGeom prst="rect">
            <a:avLst/>
          </a:prstGeom>
          <a:noFill/>
        </p:spPr>
        <p:txBody>
          <a:bodyPr wrap="square" anchor="t">
            <a:spAutoFit/>
          </a:bodyPr>
          <a:lstStyle/>
          <a:p>
            <a:pPr algn="ctr"/>
            <a:r>
              <a:rPr sz="2000" b="1" i="0">
                <a:solidFill>
                  <a:srgbClr val="8E6F3E"/>
                </a:solidFill>
              </a:rPr>
              <a:t>DISCUSSION</a:t>
            </a:r>
          </a:p>
        </p:txBody>
      </p:sp>
      <p:sp>
        <p:nvSpPr>
          <p:cNvPr id="5" name="Rectangle 4"/>
          <p:cNvSpPr/>
          <p:nvPr/>
        </p:nvSpPr>
        <p:spPr>
          <a:xfrm>
            <a:off x="3429000" y="301752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buNone/>
              <a:spcBef>
                <a:spcPts val="900"/>
              </a:spcBef>
            </a:pPr>
            <a:r>
              <a:rPr lang="en-US" sz="2000" b="0" i="1" dirty="0">
                <a:solidFill>
                  <a:srgbClr val="555960"/>
                </a:solidFill>
              </a:rPr>
              <a:t>working memory view</a:t>
            </a:r>
          </a:p>
          <a:p>
            <a:pPr algn="l">
              <a:buNone/>
              <a:spcBef>
                <a:spcPts val="900"/>
              </a:spcBef>
            </a:pPr>
            <a:r>
              <a:rPr lang="en-US" sz="2000" b="0" i="0" dirty="0">
                <a:solidFill>
                  <a:srgbClr val="5C4826"/>
                </a:solidFill>
              </a:rPr>
              <a:t>Sense · Analyze · Transmit</a:t>
            </a:r>
          </a:p>
          <a:p>
            <a:pPr algn="l">
              <a:buNone/>
              <a:spcBef>
                <a:spcPts val="900"/>
              </a:spcBef>
            </a:pPr>
            <a:r>
              <a:rPr lang="en-US" sz="2000" b="0" i="0" dirty="0">
                <a:solidFill>
                  <a:srgbClr val="5C4826"/>
                </a:solidFill>
              </a:rPr>
              <a:t>max working memory 24 / 32 / 24 KB</a:t>
            </a:r>
          </a:p>
          <a:p>
            <a:pPr algn="l">
              <a:buNone/>
              <a:spcBef>
                <a:spcPts val="900"/>
              </a:spcBef>
            </a:pPr>
            <a:r>
              <a:rPr lang="en-US" sz="2000" b="0" i="0" dirty="0">
                <a:solidFill>
                  <a:srgbClr val="5C4826"/>
                </a:solidFill>
              </a:rPr>
              <a:t>device ceiling 48 KB</a:t>
            </a:r>
          </a:p>
          <a:p>
            <a:pPr algn="l">
              <a:buNone/>
              <a:spcBef>
                <a:spcPts val="900"/>
              </a:spcBef>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buNone/>
              <a:spcBef>
                <a:spcPts val="900"/>
              </a:spcBef>
            </a:pPr>
            <a:r>
              <a:rPr lang="en-US" sz="2000" b="0" i="1" dirty="0">
                <a:solidFill>
                  <a:srgbClr val="555960"/>
                </a:solidFill>
              </a:rPr>
              <a:t>lifecycle view</a:t>
            </a:r>
          </a:p>
          <a:p>
            <a:pPr algn="l">
              <a:buNone/>
              <a:spcBef>
                <a:spcPts val="900"/>
              </a:spcBef>
            </a:pPr>
            <a:r>
              <a:rPr lang="en-US" sz="2000" b="0" i="0" dirty="0">
                <a:solidFill>
                  <a:srgbClr val="5C4826"/>
                </a:solidFill>
              </a:rPr>
              <a:t>each thread: Asleep ⇄ Awake</a:t>
            </a:r>
          </a:p>
          <a:p>
            <a:pPr algn="l">
              <a:buNone/>
              <a:spcBef>
                <a:spcPts val="900"/>
              </a:spcBef>
            </a:pPr>
            <a:r>
              <a:rPr lang="en-US" sz="2000" b="0" i="0" dirty="0">
                <a:solidFill>
                  <a:srgbClr val="5C4826"/>
                </a:solidFill>
              </a:rPr>
              <a:t>asleep holds no working memory; awake holds up to its maximum</a:t>
            </a:r>
          </a:p>
          <a:p>
            <a:pPr algn="l">
              <a:buNone/>
              <a:spcBef>
                <a:spcPts val="900"/>
              </a:spcBef>
            </a:pPr>
            <a:r>
              <a:rPr lang="en-US" sz="2000" b="0" i="0" dirty="0">
                <a:solidFill>
                  <a:srgbClr val="5C4826"/>
                </a:solidFill>
              </a:rPr>
              <a:t>the Scheduler admits at most two threads awake</a:t>
            </a:r>
          </a:p>
          <a:p>
            <a:pPr algn="l">
              <a:buNone/>
              <a:spcBef>
                <a:spcPts val="900"/>
              </a:spcBef>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might we use each model in validation?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buNone/>
              <a:spcBef>
                <a:spcPts val="900"/>
              </a:spcBef>
            </a:pPr>
            <a:r>
              <a:rPr lang="en-US" sz="2000" b="0" i="0" dirty="0">
                <a:solidFill>
                  <a:srgbClr val="5C4826"/>
                </a:solidFill>
              </a:rPr>
              <a:t>Is a forbidden dependency reachable?</a:t>
            </a:r>
          </a:p>
          <a:p>
            <a:pPr algn="l">
              <a:buNone/>
              <a:spcBef>
                <a:spcPts val="900"/>
              </a:spcBef>
            </a:pPr>
            <a:r>
              <a:rPr lang="en-US" sz="2000" b="0" i="0" dirty="0">
                <a:solidFill>
                  <a:srgbClr val="5C4826"/>
                </a:solidFill>
              </a:rPr>
              <a:t>Does every permitted route cross the required boundary?</a:t>
            </a:r>
          </a:p>
          <a:p>
            <a:pPr algn="l">
              <a:buNone/>
              <a:spcBef>
                <a:spcPts val="900"/>
              </a:spcBef>
            </a:pPr>
            <a:r>
              <a:rPr lang="en-US" sz="2000" b="0" i="0" dirty="0">
                <a:solidFill>
                  <a:srgbClr val="5C4826"/>
                </a:solidFill>
              </a:rPr>
              <a:t>Can the memory bound be exceeded?</a:t>
            </a:r>
          </a:p>
          <a:p>
            <a:pPr algn="l">
              <a:buNone/>
              <a:spcBef>
                <a:spcPts val="900"/>
              </a:spcBef>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buNone/>
              <a:spcBef>
                <a:spcPts val="900"/>
              </a:spcBef>
            </a:pPr>
            <a:r>
              <a:rPr lang="en-US" sz="2000" b="0" i="0" dirty="0">
                <a:solidFill>
                  <a:srgbClr val="5C4826"/>
                </a:solidFill>
              </a:rPr>
              <a:t>Did events occur in the required order?</a:t>
            </a:r>
          </a:p>
          <a:p>
            <a:pPr algn="l">
              <a:buNone/>
              <a:spcBef>
                <a:spcPts val="900"/>
              </a:spcBef>
            </a:pPr>
            <a:r>
              <a:rPr lang="en-US" sz="2000" b="0" i="0" dirty="0">
                <a:solidFill>
                  <a:srgbClr val="5C4826"/>
                </a:solidFill>
              </a:rPr>
              <a:t>Did execution enter a forbidden state?</a:t>
            </a:r>
          </a:p>
          <a:p>
            <a:pPr algn="l">
              <a:buNone/>
              <a:spcBef>
                <a:spcPts val="900"/>
              </a:spcBef>
            </a:pPr>
            <a:r>
              <a:rPr lang="en-US" sz="2000" b="0" i="0" dirty="0">
                <a:solidFill>
                  <a:srgbClr val="5C4826"/>
                </a:solidFill>
              </a:rPr>
              <a:t>Did a measured quantity stay within its modeled bound?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buNone/>
              <a:spcBef>
                <a:spcPts val="900"/>
              </a:spcBef>
            </a:pPr>
            <a:r>
              <a:rPr lang="en-US" sz="2000" b="0" i="0" dirty="0">
                <a:solidFill>
                  <a:srgbClr val="5C4826"/>
                </a:solidFill>
              </a:rPr>
              <a:t>decided over the model itself</a:t>
            </a:r>
          </a:p>
          <a:p>
            <a:pPr algn="l">
              <a:buNone/>
              <a:spcBef>
                <a:spcPts val="900"/>
              </a:spcBef>
            </a:pPr>
            <a:r>
              <a:rPr lang="en-US" sz="2000" b="0" i="0" dirty="0">
                <a:solidFill>
                  <a:srgbClr val="5C4826"/>
                </a:solidFill>
              </a:rPr>
              <a:t>runs before any execution</a:t>
            </a:r>
          </a:p>
          <a:p>
            <a:pPr algn="l">
              <a:buNone/>
              <a:spcBef>
                <a:spcPts val="900"/>
              </a:spcBef>
            </a:pPr>
            <a:r>
              <a:rPr lang="en-US" sz="2000" b="0" i="0" dirty="0">
                <a:solidFill>
                  <a:srgbClr val="5C4826"/>
                </a:solidFill>
              </a:rPr>
              <a:t>exhaustive over the modeled space</a:t>
            </a:r>
          </a:p>
          <a:p>
            <a:pPr algn="l">
              <a:buNone/>
              <a:spcBef>
                <a:spcPts val="900"/>
              </a:spcBef>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buNone/>
              <a:spcBef>
                <a:spcPts val="900"/>
              </a:spcBef>
            </a:pPr>
            <a:r>
              <a:rPr lang="en-US" sz="2000" b="0" i="0" dirty="0">
                <a:solidFill>
                  <a:srgbClr val="5C4826"/>
                </a:solidFill>
              </a:rPr>
              <a:t>decided over a trace of execution</a:t>
            </a:r>
          </a:p>
          <a:p>
            <a:pPr algn="l">
              <a:buNone/>
              <a:spcBef>
                <a:spcPts val="900"/>
              </a:spcBef>
            </a:pPr>
            <a:r>
              <a:rPr lang="en-US" sz="2000" b="0" i="0" dirty="0">
                <a:solidFill>
                  <a:srgbClr val="5C4826"/>
                </a:solidFill>
              </a:rPr>
              <a:t>runs while or after the system runs</a:t>
            </a:r>
          </a:p>
          <a:p>
            <a:pPr algn="l">
              <a:buNone/>
              <a:spcBef>
                <a:spcPts val="900"/>
              </a:spcBef>
            </a:pPr>
            <a:r>
              <a:rPr lang="en-US" sz="2000" b="0" i="0" dirty="0">
                <a:solidFill>
                  <a:srgbClr val="5C4826"/>
                </a:solidFill>
              </a:rPr>
              <a:t>evidence about the runs you observed</a:t>
            </a:r>
          </a:p>
          <a:p>
            <a:pPr algn="l">
              <a:buNone/>
              <a:spcBef>
                <a:spcPts val="900"/>
              </a:spcBef>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Design the Alignment</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5C4826"/>
                </a:solidFill>
                <a:effectLst/>
                <a:uLnTx/>
                <a:uFillTx/>
                <a:latin typeface="Calibri" panose="020F0502020204030204"/>
                <a:ea typeface="+mn-ea"/>
                <a:cs typeface="+mn-cs"/>
              </a:rPr>
              <a:t>How should the environment control delegated work?</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Activity: govern the agent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6" name="Rectangle 5"/>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SCENARIO — </a:t>
            </a:r>
            <a:r>
              <a:rPr sz="2000" b="1" i="0">
                <a:solidFill>
                  <a:srgbClr val="5C4826"/>
                </a:solidFill>
              </a:rPr>
              <a:t>an agent is modifying an embedded controller.</a:t>
            </a:r>
          </a:p>
        </p:txBody>
      </p:sp>
      <p:sp>
        <p:nvSpPr>
          <p:cNvPr id="7" name="Rectangle 6"/>
          <p:cNvSpPr/>
          <p:nvPr/>
        </p:nvSpPr>
        <p:spPr>
          <a:xfrm>
            <a:off x="274320" y="192024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1  ·  </a:t>
            </a:r>
            <a:r>
              <a:rPr sz="2000" b="0" i="0">
                <a:solidFill>
                  <a:srgbClr val="5C4826"/>
                </a:solidFill>
              </a:rPr>
              <a:t>Preserve the external API.</a:t>
            </a:r>
          </a:p>
        </p:txBody>
      </p:sp>
      <p:sp>
        <p:nvSpPr>
          <p:cNvPr id="8" name="Rectangle 7"/>
          <p:cNvSpPr/>
          <p:nvPr/>
        </p:nvSpPr>
        <p:spPr>
          <a:xfrm>
            <a:off x="274320" y="274320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2  ·  </a:t>
            </a:r>
            <a:r>
              <a:rPr sz="2000" b="0" i="0">
                <a:solidFill>
                  <a:srgbClr val="5C4826"/>
                </a:solidFill>
              </a:rPr>
              <a:t>Worst-case memory below 64 MB.</a:t>
            </a:r>
          </a:p>
        </p:txBody>
      </p:sp>
      <p:sp>
        <p:nvSpPr>
          <p:cNvPr id="9" name="Rectangle 8"/>
          <p:cNvSpPr/>
          <p:nvPr/>
        </p:nvSpPr>
        <p:spPr>
          <a:xfrm>
            <a:off x="274320" y="356616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3  ·  </a:t>
            </a:r>
            <a:r>
              <a:rPr sz="2000" b="0" i="0">
                <a:solidFill>
                  <a:srgbClr val="5C4826"/>
                </a:solidFill>
              </a:rPr>
              <a:t>Avoid the forbidden dependency.</a:t>
            </a:r>
          </a:p>
        </p:txBody>
      </p:sp>
      <p:sp>
        <p:nvSpPr>
          <p:cNvPr id="10" name="Rectangle 9"/>
          <p:cNvSpPr/>
          <p:nvPr/>
        </p:nvSpPr>
        <p:spPr>
          <a:xfrm>
            <a:off x="274320" y="4389120"/>
            <a:ext cx="85953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4  ·  </a:t>
            </a:r>
            <a:r>
              <a:rPr sz="2000" b="0" i="0">
                <a:solidFill>
                  <a:srgbClr val="5C4826"/>
                </a:solidFill>
              </a:rPr>
              <a:t>Preserve the cycle ordering: Sensor.read → decide → Actuator.act.</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given model</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THE LAB'S DOMAIN AGAIN</a:t>
            </a:r>
          </a:p>
        </p:txBody>
      </p:sp>
      <p:sp>
        <p:nvSpPr>
          <p:cNvPr id="0" name="GM-structure"/>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STRUCTURE</a:t>
            </a:r>
          </a:p>
          <a:p>
            <a:pPr algn="l">
              <a:buNone/>
              <a:spcBef>
                <a:spcPts val="900"/>
              </a:spcBef>
            </a:pPr>
            <a:r>
              <a:rPr lang="en-US" sz="2000" b="0" i="0" dirty="0">
                <a:solidFill>
                  <a:srgbClr val="5C4826"/>
                </a:solidFill>
              </a:rPr>
              <a:t>Controller — API: IController</a:t>
            </a:r>
          </a:p>
          <a:p>
            <a:pPr algn="l">
              <a:buNone/>
              <a:spcBef>
                <a:spcPts val="900"/>
              </a:spcBef>
            </a:pPr>
            <a:r>
              <a:rPr lang="en-US" sz="2000" b="0" i="0" dirty="0">
                <a:solidFill>
                  <a:srgbClr val="5C4826"/>
                </a:solidFill>
              </a:rPr>
              <a:t>uses → Sensor</a:t>
            </a:r>
          </a:p>
          <a:p>
            <a:pPr algn="l">
              <a:buNone/>
              <a:spcBef>
                <a:spcPts val="900"/>
              </a:spcBef>
            </a:pPr>
            <a:r>
              <a:rPr lang="en-US" sz="2000" b="0" i="0" dirty="0">
                <a:solidFill>
                  <a:srgbClr val="5C4826"/>
                </a:solidFill>
              </a:rPr>
              <a:t>uses → Actuator</a:t>
            </a:r>
          </a:p>
          <a:p>
            <a:pPr algn="l">
              <a:buNone/>
              <a:spcBef>
                <a:spcPts val="900"/>
              </a:spcBef>
            </a:pPr>
            <a:r>
              <a:rPr lang="en-US" sz="2000" b="0" i="0" dirty="0">
                <a:solidFill>
                  <a:srgbClr val="5C4826"/>
                </a:solidFill>
              </a:rPr>
              <a:t>forbidden → CloudSDK</a:t>
            </a:r>
          </a:p>
          <a:p>
            <a:pPr algn="l">
              <a:buNone/>
              <a:spcBef>
                <a:spcPts val="900"/>
              </a:spcBef>
            </a:pPr>
            <a:r>
              <a:rPr lang="en-US" sz="2000" b="0" i="0" dirty="0">
                <a:solidFill>
                  <a:srgbClr val="5C4826"/>
                </a:solidFill>
              </a:rPr>
              <a:t>memory ≤ 64 MB</a:t>
            </a:r>
          </a:p>
        </p:txBody>
      </p:sp>
      <p:sp>
        <p:nvSpPr>
          <p:cNvPr id="0" name="GM-behavior"/>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BEHAVIOR</a:t>
            </a:r>
          </a:p>
          <a:p>
            <a:pPr algn="l">
              <a:buNone/>
              <a:spcBef>
                <a:spcPts val="900"/>
              </a:spcBef>
            </a:pPr>
            <a:r>
              <a:rPr lang="en-US" sz="2000" b="0" i="0" dirty="0">
                <a:solidFill>
                  <a:srgbClr val="5C4826"/>
                </a:solidFill>
              </a:rPr>
              <a:t>each cycle:</a:t>
            </a:r>
          </a:p>
          <a:p>
            <a:pPr algn="l">
              <a:buNone/>
              <a:spcBef>
                <a:spcPts val="900"/>
              </a:spcBef>
            </a:pPr>
            <a:r>
              <a:rPr lang="en-US" sz="2000" b="1" i="0" dirty="0">
                <a:solidFill>
                  <a:srgbClr val="5C4826"/>
                </a:solidFill>
              </a:rPr>
              <a:t>Sensor.read</a:t>
            </a:r>
          </a:p>
          <a:p>
            <a:pPr algn="l">
              <a:buNone/>
              <a:spcBef>
                <a:spcPts val="900"/>
              </a:spcBef>
            </a:pPr>
            <a:r>
              <a:rPr lang="en-US" sz="2000" b="1" i="0" dirty="0">
                <a:solidFill>
                  <a:srgbClr val="5C4826"/>
                </a:solidFill>
              </a:rPr>
              <a:t>→ decide</a:t>
            </a:r>
          </a:p>
          <a:p>
            <a:pPr algn="l">
              <a:buNone/>
              <a:spcBef>
                <a:spcPts val="900"/>
              </a:spcBef>
            </a:pPr>
            <a:r>
              <a:rPr lang="en-US" sz="2000" b="1" i="0" dirty="0">
                <a:solidFill>
                  <a:srgbClr val="5C4826"/>
                </a:solidFill>
              </a:rPr>
              <a:t>→ Actuator.act</a:t>
            </a:r>
          </a:p>
          <a:p>
            <a:pPr algn="l">
              <a:buNone/>
              <a:spcBef>
                <a:spcPts val="900"/>
              </a:spcBef>
            </a:pPr>
            <a:r>
              <a:rPr lang="en-US" sz="2000" b="0" i="1" dirty="0">
                <a:solidFill>
                  <a:srgbClr val="555960"/>
                </a:solidFill>
              </a:rPr>
              <a:t>an ordering obligation over execution</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Use the model as given — do not rediscover it from the implementation.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buNone/>
              <a:spcBef>
                <a:spcPts val="600"/>
              </a:spcBef>
            </a:pPr>
            <a:r>
              <a:rPr lang="en-US" sz="2000" b="1" i="0" dirty="0">
                <a:solidFill>
                  <a:srgbClr val="5C4826"/>
                </a:solidFill>
              </a:rPr>
              <a:t>OBLIGATION — </a:t>
            </a:r>
            <a:r>
              <a:rPr lang="en-US" sz="2000" b="0" i="0" dirty="0">
                <a:solidFill>
                  <a:srgbClr val="5C4826"/>
                </a:solidFill>
              </a:rPr>
              <a:t>what must be true?</a:t>
            </a:r>
          </a:p>
          <a:p>
            <a:pPr algn="l">
              <a:buNone/>
              <a:spcBef>
                <a:spcPts val="600"/>
              </a:spcBef>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buNone/>
              <a:spcBef>
                <a:spcPts val="600"/>
              </a:spcBef>
            </a:pPr>
            <a:r>
              <a:rPr lang="en-US" sz="2000" b="1" i="0" dirty="0">
                <a:solidFill>
                  <a:srgbClr val="5C4826"/>
                </a:solidFill>
              </a:rPr>
              <a:t>EVIDENCE — </a:t>
            </a:r>
            <a:r>
              <a:rPr lang="en-US" sz="2000" b="0" i="0" dirty="0">
                <a:solidFill>
                  <a:srgbClr val="5C4826"/>
                </a:solidFill>
              </a:rPr>
              <a:t>what observation could establish it?</a:t>
            </a:r>
          </a:p>
          <a:p>
            <a:pPr algn="l">
              <a:buNone/>
              <a:spcBef>
                <a:spcPts val="600"/>
              </a:spcBef>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buNone/>
              <a:spcBef>
                <a:spcPts val="600"/>
              </a:spcBef>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