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0 (5 min). Open with the question; do not answer it yet. The chain is the model this lecture builds, same convention as the Agents and Validation title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JUDGMENT/ACTION and AUTHORIZE/VERIFY — do not re-explain either framework. Build: reveal the Validation chain, then the Agents chain, then the highlights.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footer phrase is the unit framing (it also opens the lander). Five minutes maximum for Section 0, then straight to the concrete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(10 min). State what the agent must accomplish — do not hand students a validation scheme. The payments service is Validation’s running example, reused deliberately.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question to the room; accumulate answers visibly. Build: the six candidate boxes appear as answers arrive (or write them on the board). No footer band — discussion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minutes total. The transition out of the share-round is the key move: every proposed check implicitly assumes an obligation.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Section 1. The students proposed evidence; now name the thing the evidence is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Deliberately the Validation visual grammar. Flash the familiar three-ways strip — do NOT reteach static analysis, testing, fuzzing, or model checking.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 on one slide: the escalation of authority, then the prompt-vs-gate contrast. Build: escalation row first, panels second. This is where Alignment begins to extend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the Agents authority ladder. The lower diagram is the lecture’s pivotal picture: verification governing admission to greater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lands here: Alignment as a richer Validation, not a second framework. Build: Validation chain first, then the transformation arrows.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(18 min): ~12 min team work, ~6 min debrief. Same scenario for every team so the debrief can compare designs. Do not mention models yet. One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reasoning chain each team applies to each obligation. This is Sections 1–3 performed, before models are introduced.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answers. The outcome: students can perform Alignment without needing 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(15 min). This sentence matters — 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verbatim to the opening question. Build: the five questions appear one at a time. Close with one spoken sentence only: “We won’t anticipate all of these obligations in advance; next time we ask what happens when the development process learns them through experience.” That is the FA-SDLC handoff — do not preview governance conversion beyond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" y="3639312"/>
            <a:ext cx="869594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MODEL THIS LECTURE BUILDS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32304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2724912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34840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727448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37376" y="4407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729983" y="4041648"/>
            <a:ext cx="1700784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CONSEQUENCE</a:t>
            </a:r>
          </a:p>
        </p:txBody>
      </p:sp>
      <p:sp>
        <p:nvSpPr>
          <p:cNvPr id="15" name="TwoLines"/>
          <p:cNvSpPr txBox="1"/>
          <p:nvPr/>
        </p:nvSpPr>
        <p:spPr>
          <a:xfrm>
            <a:off x="219456" y="4956048"/>
            <a:ext cx="86959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 know how evidence justifies action, and how to delegate work.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Today: when should that knowledge control what is permitted?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You have seen both halves of this problem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3268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32304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724912" y="131673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34840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727448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37376" y="161848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6729983" y="131673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is sufficient to deliver a system into the world?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257860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BOUND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32304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724912" y="2962656"/>
            <a:ext cx="1700784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EQUIP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434840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727448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AUTHORIZE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7376" y="3264408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29983" y="2962656"/>
            <a:ext cx="1700784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VERIFY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3639312"/>
            <a:ext cx="8595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What evidence closes delegated work? The burden follows the claim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and its consequences — not the identity of the producer.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461772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Judgment and action. Authority and verification. Today those pairs meet.</a:t>
            </a:r>
          </a:p>
        </p:txBody>
      </p:sp>
      <p:sp>
        <p:nvSpPr>
          <p:cNvPr id="24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We already know how to verify work.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What should the environment do with that knowledge?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engineering knowledge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the epistemology of Validation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the control problem of Delegation.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Give the agent a job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51560"/>
            <a:ext cx="8595360" cy="1417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TASK — </a:t>
            </a:r>
            <a:r>
              <a:rPr sz="2000" b="1" i="0">
                <a:solidFill>
                  <a:srgbClr val="5C4826"/>
                </a:solidFill>
              </a:rPr>
              <a:t>add bulk refunds to the payments service’s public API.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Existing client behavior must be preserved. Refunds move real money.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697480"/>
            <a:ext cx="8595360" cy="1143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THE AGENT HAS — </a:t>
            </a:r>
            <a:r>
              <a:rPr sz="2000" b="0" i="0">
                <a:solidFill>
                  <a:srgbClr val="5C4826"/>
                </a:solidFill>
              </a:rPr>
              <a:t>the repository, the test suite, a branch it may modify,</a:t>
            </a:r>
          </a:p>
          <a:p>
            <a:pPr algn="l"/>
            <a:r>
              <a:rPr sz="2000" b="0" i="0">
                <a:solidFill>
                  <a:srgbClr val="5C4826"/>
                </a:solidFill>
              </a:rPr>
              <a:t>and permission to open a merge request.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2976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payments system you validated in Act I. Now an agent is changing it.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agent reports: finished.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would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agent says it is finished.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How do you decide whether it actually did what you wanted?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the tests?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Read the diff?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the agent?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Ask another agent?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Run it and see?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383280"/>
            <a:ext cx="256032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Watch production?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Collect the answers. Don’t classify them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would convince you?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PSbadge"/>
          <p:cNvSpPr/>
          <p:nvPr/>
        </p:nvSpPr>
        <p:spPr>
          <a:xfrm>
            <a:off x="274320" y="914400"/>
            <a:ext cx="3017520" cy="54864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6B3FA0"/>
                </a:solidFill>
              </a:rPr>
              <a:t xml:space="preserve">THINK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2E74B5"/>
                </a:solidFill>
              </a:rPr>
              <a:t xml:space="preserve">PAIR</a:t>
            </a:r>
            <a:r>
              <a:rPr lang="en-US" sz="2000" b="1" i="0" dirty="0">
                <a:solidFill>
                  <a:srgbClr val="9A9A9A"/>
                </a:solidFill>
              </a:rPr>
              <a:t xml:space="preserve">  ·  </a:t>
            </a:r>
            <a:r>
              <a:rPr lang="en-US" sz="2000" b="1" i="0" dirty="0">
                <a:solidFill>
                  <a:srgbClr val="B8860B"/>
                </a:solidFill>
              </a:rPr>
              <a:t xml:space="preserve">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INDIVIDUAL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evidence would convince you the task was done correctly?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PAIR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990087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Compare answers. What can each proposed check not establish?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86200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4041648"/>
            <a:ext cx="5760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We’ll collect three or four answers.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Every answer presupposes something that must be true.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Evidence of what?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Tests are evidence only relative to some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“It works” is not yet an engineering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19385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15468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OBLIGATIONS COME IN MANY FORMS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737360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invariant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policy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8576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tolerance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44184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permission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79792" y="3611880"/>
            <a:ext cx="137160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Your answers already assumed these. Alignment makes them explicit.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agent can be wrong against an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722376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22376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83864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3864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observation bears on it?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1335024"/>
            <a:ext cx="37490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245352" y="1051560"/>
            <a:ext cx="237744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JUDGMENT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91640"/>
            <a:ext cx="237744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verdict does it support?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WE ALREADY KNOW HOW TO OBTAIN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👁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HUMAN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83864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🗺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REASONING OVER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POSSIBLE BEHAVIOR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200400"/>
            <a:ext cx="23774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▶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OBSERVING</a:t>
            </a:r>
          </a:p>
          <a:p>
            <a:pPr algn="ctr"/>
            <a:r>
              <a:rPr sz="1800" b="1" i="0">
                <a:solidFill>
                  <a:srgbClr val="5C4826"/>
                </a:solidFill>
              </a:rPr>
              <a:t>EXECUTION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5262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Judge it, reason over it, or run it — Validation taught all three.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new question is what happens to the verdict.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What happens when the answer is no?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note 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04288" y="1335024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60603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RECOMMEND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3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ask the agent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to reconsider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40740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70915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refuse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the patch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10527" y="1335024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812279" y="1051560"/>
            <a:ext cx="178308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PREVENT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79" y="1664208"/>
            <a:ext cx="1783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make the action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impossible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8E6F3E"/>
                </a:solidFill>
              </a:rPr>
              <a:t>increasing authority over what happens next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3977639" cy="16916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GUIDANCE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“Do not merge unless the security tests pass.”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Influences the producer. Can be misread, forgotten, or wrongly judged satisfied.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63440" y="2926080"/>
            <a:ext cx="3977639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ENFORCEMENT</a:t>
            </a:r>
          </a:p>
          <a:p>
            <a:pPr algn="l">
              <a:spcBef>
                <a:spcPts val="600"/>
              </a:spcBef>
            </a:pPr>
            <a:r>
              <a:rPr sz="1800" b="0" i="1">
                <a:solidFill>
                  <a:srgbClr val="5C4826"/>
                </a:solidFill>
              </a:rPr>
              <a:t>The merge is unavailable unless the tests pass.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55960"/>
                </a:solidFill>
              </a:rPr>
              <a:t>The environment decides. The obligation holds regardless of the producer.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480060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Same engineering knowledge. Different authority.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Guidance shapes behavior;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enforcement determines what the environment accepts.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Verification can govern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Agents taught: capability is not authority.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402336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READ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37943" y="1636776"/>
            <a:ext cx="283465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130552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858768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94376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586984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22592" y="1636776"/>
            <a:ext cx="28346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1353312"/>
            <a:ext cx="1426464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1993392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increasing permitted consequence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2395728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THE NEW MOVE: AUTHORITY CAN BE CONDITIONAL ON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344728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312724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344728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279806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312724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489204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Not all authority is granted up front. Some is earned by satisfying obligations.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is an engineered relationship between VERIFY and AUTHORIZE.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097280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echoes AUTHORIZE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84248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029967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observes, and produces evidence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86600" y="2029967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echoes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916936"/>
            <a:ext cx="219456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962656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explicitly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849624"/>
            <a:ext cx="2194560" cy="7315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95344"/>
            <a:ext cx="42976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3895344"/>
            <a:ext cx="1783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the genuinely new authority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48463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Roles, not four required components — one mechanism can play several.</a:t>
            </a:r>
          </a:p>
        </p:txBody>
      </p:sp>
      <p:sp>
        <p:nvSpPr>
          <p:cNvPr id="18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Sensor and validator you already know.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Constraint and gate are the new emphasis.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a validator — and perhaps a 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property can be held structurally — some appear only across sequences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of individually legal actions, in the assembled artifact,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richer version of Validation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epistemic machinery you already own.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What the verdict is about changes — and what the verdict controls.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novelty is the last arrow: the verdict can control what happens.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boundary can decide a property only when the property exists there in a decidable form.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Each check sits where its question can be answered.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Different boundaries can see different things.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DO NOT EXIST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Earlier is cheaper — when the property already exists in a decidable form.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same principle: put the decision where the information exists —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as early and as local as possible, without pretending it exists.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From scope to boundary: the rule now runs along the delegated-work lifecycle.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“More enforced” at an incapable boundary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is a worse control, not a stronger one.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obligations, deliberately of different kinds. One design per team.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Decide what holds each obligation — and 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51560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What must be true?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627631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640080" y="1911095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743200" y="2487168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640080" y="2770632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Where is it decidable?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43200" y="3346703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640080" y="3630168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mechanism should hold it?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743200" y="4206240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40080" y="4489704"/>
            <a:ext cx="420624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What happens if it fails?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1874519"/>
            <a:ext cx="3474720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USE THE ROLES WHERE THEY HELP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constraint · sensor · validator · gate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Not all four are required.</a:t>
            </a:r>
          </a:p>
          <a:p>
            <a:pPr algn="l">
              <a:spcBef>
                <a:spcPts val="800"/>
              </a:spcBef>
            </a:pPr>
            <a:r>
              <a:rPr sz="1800" b="0" i="1">
                <a:solidFill>
                  <a:srgbClr val="555960"/>
                </a:solidFill>
              </a:rPr>
              <a:t>And decide: what authority should the verdict have?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your authority choices.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control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4300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Team A put this at merge; Team B at runtime. Which claim can each boundary actually establish?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31720"/>
            <a:ext cx="8138160" cy="960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One team used a constraint; another a validator and a gate. What does each buy?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520439"/>
            <a:ext cx="8138160" cy="6858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Should this failed check actually prevent admission?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Interrogate the disagreements — there need not be one correct mechanism.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For the last hour you designed constraints, evidence,</a:t>
            </a:r>
          </a:p>
          <a:p>
            <a:pPr algn="ctr"/>
            <a:r>
              <a:rPr sz="2400" b="1" i="0">
                <a:solidFill>
                  <a:srgbClr val="000000"/>
                </a:solidFill>
              </a:rPr>
              <a:t>evaluation, and authority.</a:t>
            </a:r>
          </a:p>
          <a:p>
            <a:pPr algn="ctr">
              <a:spcBef>
                <a:spcPts val="1400"/>
              </a:spcBef>
            </a:pPr>
            <a:r>
              <a:rPr sz="2400" b="1" i="0">
                <a:solidFill>
                  <a:srgbClr val="000000"/>
                </a:solidFill>
              </a:rPr>
              <a:t>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An explicit thing to be wrong against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consequential distinctions the realization is judged against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the degrees of freedom that don’t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MAKE TRACTABLE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were subjective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PERFECT CORRESPONDENCE,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STILL WRONG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Model and realization can agree completely — and together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EXTRACTED,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SO IT AGREES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derived from the implementation corresponds by construction — and provides little independent assurance.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Evidence for one does not establish the others.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Two artifacts agreeing does not establish an independent obligation.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lives on each edge — and what evidence would support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— preserving the degrees of freedom that don’t matter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acquire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  <p:sp>
        <p:nvSpPr>
          <p:cNvPr id="10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Agents have not changed what it means to know software is acceptable —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they changed the scale, speed, and locus at which it becomes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