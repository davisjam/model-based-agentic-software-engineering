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08" r:id="rId1"/>
  </p:sldMasterIdLst>
  <p:notesMasterIdLst>
    <p:notesMasterId r:id="rId43"/>
  </p:notesMasterIdLst>
  <p:sldIdLst>
    <p:sldId id="256" r:id="rId7"/>
    <p:sldId id="283" r:id="rId48"/>
    <p:sldId id="257" r:id="rId8"/>
    <p:sldId id="258" r:id="rId9"/>
    <p:sldId id="284" r:id="rId49"/>
    <p:sldId id="259" r:id="rId10"/>
    <p:sldId id="260" r:id="rId11"/>
    <p:sldId id="261" r:id="rId12"/>
    <p:sldId id="262" r:id="rId13"/>
    <p:sldId id="285" r:id="rId50"/>
    <p:sldId id="263" r:id="rId14"/>
    <p:sldId id="264" r:id="rId15"/>
    <p:sldId id="265" r:id="rId16"/>
    <p:sldId id="266" r:id="rId17"/>
    <p:sldId id="267" r:id="rId18"/>
    <p:sldId id="268" r:id="rId19"/>
    <p:sldId id="286" r:id="rId51"/>
    <p:sldId id="269" r:id="rId20"/>
    <p:sldId id="270" r:id="rId21"/>
    <p:sldId id="271" r:id="rId22"/>
    <p:sldId id="272" r:id="rId23"/>
    <p:sldId id="273" r:id="rId24"/>
    <p:sldId id="287" r:id="rId52"/>
    <p:sldId id="274" r:id="rId25"/>
    <p:sldId id="275" r:id="rId26"/>
    <p:sldId id="276" r:id="rId27"/>
    <p:sldId id="288" r:id="rId53"/>
    <p:sldId id="277" r:id="rId28"/>
    <p:sldId id="278" r:id="rId29"/>
    <p:sldId id="279" r:id="rId30"/>
    <p:sldId id="280" r:id="rId31"/>
    <p:sldId id="281" r:id="rId32"/>
    <p:sldId id="282" r:id="rId3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614" autoAdjust="0"/>
    <p:restoredTop sz="56164"/>
  </p:normalViewPr>
  <p:slideViewPr>
    <p:cSldViewPr snapToGrid="0" snapToObjects="1">
      <p:cViewPr varScale="1">
        <p:scale>
          <a:sx n="64" d="100"/>
          <a:sy n="64" d="100"/>
        </p:scale>
        <p:origin x="303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napToObjects="1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Relationship Id="rId48" Type="http://schemas.openxmlformats.org/officeDocument/2006/relationships/slide" Target="slides/slide28.xml"/><Relationship Id="rId49" Type="http://schemas.openxmlformats.org/officeDocument/2006/relationships/slide" Target="slides/slide29.xml"/><Relationship Id="rId50" Type="http://schemas.openxmlformats.org/officeDocument/2006/relationships/slide" Target="slides/slide30.xml"/><Relationship Id="rId51" Type="http://schemas.openxmlformats.org/officeDocument/2006/relationships/slide" Target="slides/slide31.xml"/><Relationship Id="rId52" Type="http://schemas.openxmlformats.org/officeDocument/2006/relationships/slide" Target="slides/slide32.xml"/><Relationship Id="rId53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E8B4C4-0720-F64E-9EEE-9472CF165DC6}" type="datetimeFigureOut">
              <a:t>9/29/26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209F92-05EE-6F4A-AD9C-ED35F0F76927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45567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0 (5 min). Open with the question; do not answer it yet. The chain is the model this lecture builds, same convention as the Agents and Validation title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Highlight JUDGMENT/ACTION and AUTHORIZE/VERIFY — do not re-explain either framework. Build: reveal the Validation chain, then the Agents chain, then the highlights.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footer phrase is the unit framing (it also opens the lander). Five minutes maximum for Section 0, then straight to the concrete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 (10 min). State what the agent must accomplish — do not hand students a validation scheme. The payments service is Validation’s running example, reused deliberately.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question to the room; accumulate answers visibly. Build: the six candidate boxes appear as answers arrive (or write them on the board). No footer band — discussion mode.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~5 minutes total. The transition out of the share-round is the key move: every proposed check implicitly assumes an obligation.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Lands Section 1. The students proposed evidence; now name the thing the evidence is about.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 (15 min). Deliberately the Validation visual grammar. Flash the familiar three-ways strip — do NOT reteach static analysis, testing, fuzzing, or model checking.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beats on one slide: the escalation of authority, then the prompt-vs-gate contrast. Build: escalation row first, panels second. This is where Alignment begins to extend Validation.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Explicit callback to the Agents authority ladder. The lower diagram is the lecture’s pivotal picture: verification governing admission to greater consequence.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CI test can sense, validate, and gate at once; a narrow interface constrains while producing evidence of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first engineering preference is prevention — when cheap and reliable. Enum/permission/narrow-API versus test/trace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 lands here: Alignment as a richer Validation, not a second framework. Build: Validation chain first, then the transformation arrows.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3 (12 min). The lifecycle pipeline is the visual anchor for the whole section. Build: place the candidate checks one at a time, asking the room where each belongs before revealing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the room why not everything at edit time before revealing the right panel.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central callback of Section 3 — put the two statements side by side and let students recognize the principle.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Worked example. Enforcing an end-state obligation per-commit produces a bad control: it enforces the right obligation at a boundary that cannot yet decide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minutes, then the team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4 (18 min): ~12 min team work, ~6 min debrief. Same scenario for every team so the debrief can compare designs. Do not mention models yet. One is structurally preventable, one measured, one static, one integration-only — keep that heterogeneity.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reasoning chain each team applies to each obligation. This is Sections 1–3 performed, before models are introduced.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Select disagreements, not merely good answers. The outcome: students can perform Alignment without needing Modeling.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5 (15 min). This sentence matters — say it explicitly. Deliberate mode change: fewer slides, more discussion, from here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Put only the question on screen and stop. ~5 minutes of whole-class discussion; let students recover ideas from Modeling before showing any answer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the discussion, consolidate: what an explicit representation adds to the Alignment the students just performed.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Correspondence / conformance earns its appearance here, now that the students have designed real checks.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what each edge means before giving the labels. This makes correspondence / conformance concrete rather than vocabulary.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Return verbatim to the opening question. Build: the five questions appear one at a time. Close with one spoken sentence only: “We won’t anticipate all of these obligations in advance; next time we ask what happens when the development process learns them through experience.” That is the FA-SDLC handoff — do not preview governance conversion beyond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918" name="Rectangle 14"/>
          <p:cNvSpPr>
            <a:spLocks noGrp="1" noChangeArrowheads="1"/>
          </p:cNvSpPr>
          <p:nvPr>
            <p:ph type="subTitle" idx="1"/>
          </p:nvPr>
        </p:nvSpPr>
        <p:spPr>
          <a:xfrm>
            <a:off x="1308100" y="3235325"/>
            <a:ext cx="6400800" cy="1881188"/>
          </a:xfrm>
        </p:spPr>
        <p:txBody>
          <a:bodyPr/>
          <a:lstStyle>
            <a:lvl1pPr marL="0" indent="0" algn="ctr">
              <a:buFont typeface="Times" pitchFamily="18" charset="0"/>
              <a:buNone/>
              <a:defRPr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subtitle style</a:t>
            </a:r>
          </a:p>
        </p:txBody>
      </p:sp>
      <p:sp>
        <p:nvSpPr>
          <p:cNvPr id="251914" name="Rectangle 10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1127125" y="2078038"/>
            <a:ext cx="7031038" cy="874712"/>
          </a:xfrm>
          <a:ln>
            <a:noFill/>
          </a:ln>
        </p:spPr>
        <p:txBody>
          <a:bodyPr/>
          <a:lstStyle>
            <a:lvl1pPr algn="ctr">
              <a:defRPr sz="3600" cap="none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title style</a:t>
            </a:r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9629C0A1-FA46-974B-8B59-DAFA34D587F5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6760" y="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Line 66">
            <a:extLst>
              <a:ext uri="{FF2B5EF4-FFF2-40B4-BE49-F238E27FC236}">
                <a16:creationId xmlns:a16="http://schemas.microsoft.com/office/drawing/2014/main" id="{F21F285B-3B58-4149-B959-9010CE636448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0" y="685800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5F3C42A2-A875-7F49-9930-886B64F262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  <p:pic>
        <p:nvPicPr>
          <p:cNvPr id="1026" name="Purdue CoBrand">
            <a:extLst>
              <a:ext uri="{FF2B5EF4-FFF2-40B4-BE49-F238E27FC236}">
                <a16:creationId xmlns:a16="http://schemas.microsoft.com/office/drawing/2014/main" id="{BCBD89D8-43BD-5D41-99C6-91B0B6A5190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097131" y="5715964"/>
            <a:ext cx="5091026" cy="542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2609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277148" y="1305004"/>
            <a:ext cx="8557768" cy="5166916"/>
          </a:xfrm>
        </p:spPr>
        <p:txBody>
          <a:bodyPr/>
          <a:lstStyle>
            <a:lvl2pPr>
              <a:defRPr/>
            </a:lvl2pPr>
            <a:lvl3pPr>
              <a:defRPr/>
            </a:lvl3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  <a:p>
            <a:pPr lvl="1"/>
            <a:r>
              <a:rPr lang="en-US" altLang="ko-KR" dirty="0"/>
              <a:t>Words</a:t>
            </a:r>
            <a:endParaRPr lang="ko-KR" altLang="en-US" dirty="0"/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67B3E873-1394-3543-8BD2-2C910090ECB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57769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010635A2-0953-8C4C-807B-9F1EE80A1B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7181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" hasCustomPrompt="1"/>
          </p:nvPr>
        </p:nvSpPr>
        <p:spPr>
          <a:xfrm>
            <a:off x="484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675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43238AEC-E676-EF48-A1EE-CE1856C5DB8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2" name="제목 1">
            <a:extLst>
              <a:ext uri="{FF2B5EF4-FFF2-40B4-BE49-F238E27FC236}">
                <a16:creationId xmlns:a16="http://schemas.microsoft.com/office/drawing/2014/main" id="{4EEA1B3E-FF6B-734D-830E-C9FC203C0A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3596EAF3-2266-1C40-896A-50BCE8F3A5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6983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685800" y="2747963"/>
            <a:ext cx="7772400" cy="1362075"/>
          </a:xfrm>
          <a:ln>
            <a:noFill/>
          </a:ln>
        </p:spPr>
        <p:txBody>
          <a:bodyPr anchor="t"/>
          <a:lstStyle>
            <a:lvl1pPr algn="ctr">
              <a:defRPr sz="4000" b="0" cap="none"/>
            </a:lvl1pPr>
          </a:lstStyle>
          <a:p>
            <a:r>
              <a:rPr lang="en-US" altLang="ko-KR" dirty="0"/>
              <a:t>Section heading</a:t>
            </a:r>
            <a:endParaRPr lang="ko-KR" alt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5A7CBECB-F891-1E49-A038-D12E9EBD544E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6" name="Line 66">
            <a:extLst>
              <a:ext uri="{FF2B5EF4-FFF2-40B4-BE49-F238E27FC236}">
                <a16:creationId xmlns:a16="http://schemas.microsoft.com/office/drawing/2014/main" id="{A0F4931F-670B-5345-A445-E4A05AED83C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78517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8B85C08C-FD8D-C643-B13D-155D9A63D5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92555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 - titl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idx="1" hasCustomPrompt="1"/>
          </p:nvPr>
        </p:nvSpPr>
        <p:spPr>
          <a:xfrm>
            <a:off x="457200" y="1258655"/>
            <a:ext cx="4040188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Left title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57200" y="1898417"/>
            <a:ext cx="4040188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 hasCustomPrompt="1"/>
          </p:nvPr>
        </p:nvSpPr>
        <p:spPr>
          <a:xfrm>
            <a:off x="4645025" y="1258655"/>
            <a:ext cx="4041775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Right title</a:t>
            </a:r>
            <a:endParaRPr lang="ko-KR" altLang="en-US" dirty="0"/>
          </a:p>
        </p:txBody>
      </p:sp>
      <p:sp>
        <p:nvSpPr>
          <p:cNvPr id="6" name="내용 개체 틀 5"/>
          <p:cNvSpPr>
            <a:spLocks noGrp="1"/>
          </p:cNvSpPr>
          <p:nvPr>
            <p:ph sz="quarter" idx="4" hasCustomPrompt="1"/>
          </p:nvPr>
        </p:nvSpPr>
        <p:spPr>
          <a:xfrm>
            <a:off x="4645025" y="1898417"/>
            <a:ext cx="4041775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9" name="Line 66">
            <a:extLst>
              <a:ext uri="{FF2B5EF4-FFF2-40B4-BE49-F238E27FC236}">
                <a16:creationId xmlns:a16="http://schemas.microsoft.com/office/drawing/2014/main" id="{2473502F-33E0-294C-B0A7-D634CB78173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AA231EA3-1A2F-1844-B410-74339C343F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9B355AFC-141A-4E45-A581-13630ADD3A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1691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ust bor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6ABDBE64-F9E8-B742-A7A4-414B9EF73E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298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adra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5" name="그림 개체 틀 2">
            <a:extLst>
              <a:ext uri="{FF2B5EF4-FFF2-40B4-BE49-F238E27FC236}">
                <a16:creationId xmlns:a16="http://schemas.microsoft.com/office/drawing/2014/main" id="{672F7B82-6823-A344-B297-9A5CC48E1F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77888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7" name="그림 개체 틀 2">
            <a:extLst>
              <a:ext uri="{FF2B5EF4-FFF2-40B4-BE49-F238E27FC236}">
                <a16:creationId xmlns:a16="http://schemas.microsoft.com/office/drawing/2014/main" id="{07CA502D-41E1-4240-B817-57AFD70BC6F0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5204723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2" name="그림 개체 틀 2">
            <a:extLst>
              <a:ext uri="{FF2B5EF4-FFF2-40B4-BE49-F238E27FC236}">
                <a16:creationId xmlns:a16="http://schemas.microsoft.com/office/drawing/2014/main" id="{D1C72364-3DC9-604F-9514-883DF7EEBE18}"/>
              </a:ext>
            </a:extLst>
          </p:cNvPr>
          <p:cNvSpPr>
            <a:spLocks noGrp="1"/>
          </p:cNvSpPr>
          <p:nvPr>
            <p:ph type="pic" idx="11"/>
          </p:nvPr>
        </p:nvSpPr>
        <p:spPr>
          <a:xfrm>
            <a:off x="877887" y="3596647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6" name="그림 개체 틀 2">
            <a:extLst>
              <a:ext uri="{FF2B5EF4-FFF2-40B4-BE49-F238E27FC236}">
                <a16:creationId xmlns:a16="http://schemas.microsoft.com/office/drawing/2014/main" id="{4193784B-AAFC-0447-AC84-915471C69183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5204723" y="3616525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4036BF46-3CC3-FB43-A785-15DF5595B7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77819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6" name="Text Placeholder 31">
            <a:extLst>
              <a:ext uri="{FF2B5EF4-FFF2-40B4-BE49-F238E27FC236}">
                <a16:creationId xmlns:a16="http://schemas.microsoft.com/office/drawing/2014/main" id="{8484378F-A4EB-7845-937E-05F96717894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05344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7" name="Text Placeholder 31">
            <a:extLst>
              <a:ext uri="{FF2B5EF4-FFF2-40B4-BE49-F238E27FC236}">
                <a16:creationId xmlns:a16="http://schemas.microsoft.com/office/drawing/2014/main" id="{1EB6C479-EE50-B041-BED8-613EFA5D95F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77819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8" name="Text Placeholder 31">
            <a:extLst>
              <a:ext uri="{FF2B5EF4-FFF2-40B4-BE49-F238E27FC236}">
                <a16:creationId xmlns:a16="http://schemas.microsoft.com/office/drawing/2014/main" id="{7D0CA80B-F16F-FF48-80A3-27652129D32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05344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4" name="Slide Number Placeholder 4">
            <a:extLst>
              <a:ext uri="{FF2B5EF4-FFF2-40B4-BE49-F238E27FC236}">
                <a16:creationId xmlns:a16="http://schemas.microsoft.com/office/drawing/2014/main" id="{A66D64DC-EDD3-FD46-B93B-F8B818A43F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3951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 hasCustomPrompt="1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ko-KR" dirty="0"/>
              <a:t>Remarks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00379C94-9660-514E-8573-54286DE89411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D15DDF22-1F41-F644-A1F1-7ADD56BDE3A3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68A78BD7-835C-4B42-B0A0-24D4E1AA39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9615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ibu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3A8F23-A2CA-264E-8907-B0144A7D91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5200" y="106023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1</a:t>
            </a:r>
            <a:r>
              <a:rPr lang="en-US" b="1" u="none" dirty="0"/>
              <a:t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86516E46-FEB4-8747-ABDB-067B42ABF68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21898EFD-2916-7E45-875E-EDC4A17C409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7610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Picture Placeholder 7">
            <a:extLst>
              <a:ext uri="{FF2B5EF4-FFF2-40B4-BE49-F238E27FC236}">
                <a16:creationId xmlns:a16="http://schemas.microsoft.com/office/drawing/2014/main" id="{1F72ABDE-5179-AD48-8D9D-B12289E15BE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8438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B91A572F-A890-4245-9D69-1E7986ADF74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5200" y="312988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2</a:t>
            </a:r>
            <a:r>
              <a:rPr lang="en-US" b="1" u="none" dirty="0"/>
              <a:t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23" name="Picture Placeholder 7">
            <a:extLst>
              <a:ext uri="{FF2B5EF4-FFF2-40B4-BE49-F238E27FC236}">
                <a16:creationId xmlns:a16="http://schemas.microsoft.com/office/drawing/2014/main" id="{15D737B2-4D4D-4242-8E23-8DE607338BC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7610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4" name="Picture Placeholder 7">
            <a:extLst>
              <a:ext uri="{FF2B5EF4-FFF2-40B4-BE49-F238E27FC236}">
                <a16:creationId xmlns:a16="http://schemas.microsoft.com/office/drawing/2014/main" id="{96C1B088-3A02-5945-975E-54F1F9D0E5E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438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763F7E14-41AB-9449-929A-4F43668AF0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Summary of contributions</a:t>
            </a:r>
            <a:endParaRPr lang="ko-KR" altLang="en-US" dirty="0"/>
          </a:p>
        </p:txBody>
      </p: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218A7F7C-A154-3640-88AE-9E855B94CC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95915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Relationship Id="rId11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1606045" y="964692"/>
            <a:ext cx="5937755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06045" y="2638045"/>
            <a:ext cx="5937755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C6965342-B6F4-4E4D-AE27-465DB42B2B52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8746670" y="6562249"/>
            <a:ext cx="292555" cy="156273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ABD288-7B20-F443-BAE8-CBAAD13A46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rgbClr val="555960"/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368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</p:sldLayoutIdLst>
  <p:hf hd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600" kern="1200" cap="none" spc="200" baseline="0">
          <a:solidFill>
            <a:srgbClr val="262626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13144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59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28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  <p15:guide id="3" orient="horz" pos="4056">
          <p15:clr>
            <a:srgbClr val="F26B43"/>
          </p15:clr>
        </p15:guide>
        <p15:guide id="4" orient="horz" pos="3936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itle 2">
            <a:extLst>
              <a:ext uri="{FF2B5EF4-FFF2-40B4-BE49-F238E27FC236}">
                <a16:creationId xmlns:a16="http://schemas.microsoft.com/office/drawing/2014/main" id="{DD7291C3-5AE9-477A-3F39-34A06A62D99C}"/>
              </a:ext>
            </a:extLst>
          </p:cNvPr>
          <p:cNvSpPr txBox="1">
            <a:spLocks/>
          </p:cNvSpPr>
          <p:nvPr/>
        </p:nvSpPr>
        <p:spPr bwMode="black">
          <a:xfrm>
            <a:off x="439339" y="565149"/>
            <a:ext cx="8265319" cy="1195411"/>
          </a:xfrm>
          <a:prstGeom prst="rect">
            <a:avLst/>
          </a:prstGeom>
          <a:solidFill>
            <a:srgbClr val="FFFFFF"/>
          </a:solidFill>
          <a:ln w="31750" cap="sq">
            <a:noFill/>
            <a:miter lim="800000"/>
          </a:ln>
        </p:spPr>
        <p:txBody>
          <a:bodyPr vert="horz" lIns="182880" tIns="182880" rIns="182880" bIns="18288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none" spc="200" baseline="0">
                <a:solidFill>
                  <a:srgbClr val="000000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US" sz="2000" i="1" dirty="0"/>
              <a:t>Software Engineering</a:t>
            </a:r>
            <a:br>
              <a:rPr lang="en-US" sz="2000" i="1" dirty="0"/>
            </a:br>
            <a:br>
              <a:rPr lang="en-US" sz="2000" i="1" dirty="0"/>
            </a:br>
            <a:r>
              <a:rPr lang="en-US" sz="1600" i="1" dirty="0"/>
              <a:t>ECE 30861 / CSCI 45000</a:t>
            </a:r>
            <a:endParaRPr lang="en-US" sz="2000" i="1" dirty="0"/>
          </a:p>
        </p:txBody>
      </p:sp>
      <p:sp>
        <p:nvSpPr>
          <p:cNvPr id="6" name="TitleBlock"/>
          <p:cNvSpPr txBox="1"/>
          <p:nvPr/>
        </p:nvSpPr>
        <p:spPr>
          <a:xfrm>
            <a:off x="219456" y="1371600"/>
            <a:ext cx="8695944" cy="2148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 i="0">
                <a:solidFill>
                  <a:srgbClr val="000000"/>
                </a:solidFill>
              </a:rPr>
              <a:t>Alignment</a:t>
            </a:r>
          </a:p>
          <a:p>
            <a:pPr algn="ctr">
              <a:spcBef>
                <a:spcPts val="1000"/>
              </a:spcBef>
            </a:pPr>
            <a:r>
              <a:rPr sz="2300" b="0" i="1">
                <a:solidFill>
                  <a:srgbClr val="8E6F3E"/>
                </a:solidFill>
              </a:rPr>
              <a:t>How do you know whether an agent</a:t>
            </a:r>
          </a:p>
          <a:p>
            <a:pPr algn="ctr"/>
            <a:r>
              <a:rPr sz="2300" b="0" i="1">
                <a:solidFill>
                  <a:srgbClr val="8E6F3E"/>
                </a:solidFill>
              </a:rPr>
              <a:t>is doing what you want?</a:t>
            </a:r>
          </a:p>
          <a:p>
            <a:pPr algn="ctr">
              <a:spcBef>
                <a:spcPts val="1000"/>
              </a:spcBef>
            </a:pPr>
            <a:r>
              <a:rPr sz="2000" b="0" i="1">
                <a:solidFill>
                  <a:srgbClr val="000000"/>
                </a:solidFill>
              </a:rPr>
              <a:t>Prof. James C. Davis</a:t>
            </a:r>
          </a:p>
          <a:p>
            <a:pPr algn="ctr"/>
            <a:r>
              <a:rPr sz="2000" b="0" i="1">
                <a:solidFill>
                  <a:srgbClr val="000000"/>
                </a:solidFill>
              </a:rPr>
              <a:t>Prof. Steve France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" y="3639312"/>
            <a:ext cx="86959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THE MODEL THIS LECTURE BUILDS</a:t>
            </a:r>
          </a:p>
        </p:txBody>
      </p:sp>
      <p:sp>
        <p:nvSpPr>
          <p:cNvPr id="8" name="Rectangle 7"/>
          <p:cNvSpPr/>
          <p:nvPr/>
        </p:nvSpPr>
        <p:spPr>
          <a:xfrm>
            <a:off x="722376" y="4041648"/>
            <a:ext cx="1700784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OBLIGATION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432304" y="4407408"/>
            <a:ext cx="28346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2724912" y="4041648"/>
            <a:ext cx="1700784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EVIDENCE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434840" y="4407408"/>
            <a:ext cx="28346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4727448" y="4041648"/>
            <a:ext cx="1700784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JUDGMENT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437376" y="4407408"/>
            <a:ext cx="28346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729983" y="4041648"/>
            <a:ext cx="1700784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CONSEQUENCE</a:t>
            </a:r>
          </a:p>
        </p:txBody>
      </p:sp>
      <p:sp>
        <p:nvSpPr>
          <p:cNvPr id="15" name="TwoLines"/>
          <p:cNvSpPr txBox="1"/>
          <p:nvPr/>
        </p:nvSpPr>
        <p:spPr>
          <a:xfrm>
            <a:off x="219456" y="4956048"/>
            <a:ext cx="869594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You know how evidence justifies action, and how to delegate work.</a:t>
            </a:r>
          </a:p>
          <a:p>
            <a:pPr algn="ctr"/>
            <a:r>
              <a:rPr sz="2000" b="0" i="1">
                <a:solidFill>
                  <a:srgbClr val="555960"/>
                </a:solidFill>
              </a:rPr>
              <a:t>Today: when should that knowledge control what is permitted?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You have seen both halves of this problem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74320" y="932688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VALIDATION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22376" y="1316736"/>
            <a:ext cx="1700784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CLAIM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432304" y="1618488"/>
            <a:ext cx="28346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2724912" y="1316736"/>
            <a:ext cx="1700784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EVIDENCE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434840" y="1618488"/>
            <a:ext cx="28346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4727448" y="1316736"/>
            <a:ext cx="1700784" cy="60350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JUDGMENT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37376" y="1618488"/>
            <a:ext cx="28346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6729983" y="1316736"/>
            <a:ext cx="1700784" cy="60350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ACTION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1993392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What evidence is sufficient to deliver a system into the world?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2578608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AGENTS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2376" y="2962656"/>
            <a:ext cx="1700784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BOUND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432304" y="3264408"/>
            <a:ext cx="28346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2724912" y="2962656"/>
            <a:ext cx="1700784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EQUIP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434840" y="3264408"/>
            <a:ext cx="28346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4727448" y="2962656"/>
            <a:ext cx="1700784" cy="60350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AUTHORIZE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37376" y="3264408"/>
            <a:ext cx="28346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729983" y="2962656"/>
            <a:ext cx="1700784" cy="60350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VERIFY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3639312"/>
            <a:ext cx="8595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What evidence closes delegated work? The burden follows the claim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and its consequences — not the identity of the producer.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4617720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Judgment and action. Authority and verification. Today those pairs meet.</a:t>
            </a:r>
          </a:p>
        </p:txBody>
      </p:sp>
      <p:sp>
        <p:nvSpPr>
          <p:cNvPr id="24" name="FooterBand"/>
          <p:cNvSpPr/>
          <p:nvPr/>
        </p:nvSpPr>
        <p:spPr>
          <a:xfrm>
            <a:off x="274320" y="5605272"/>
            <a:ext cx="8595360" cy="7772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We already know how to verify work.</a:t>
            </a:r>
          </a:p>
          <a:p>
            <a:pPr algn="ctr"/>
            <a:r>
              <a:rPr sz="2000" b="1" i="0">
                <a:solidFill>
                  <a:srgbClr val="FFFFFF"/>
                </a:solidFill>
              </a:rPr>
              <a:t>What should the environment do with that knowledge?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Validation meets Delegation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194560" cy="8229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VALIDATION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1389888"/>
            <a:ext cx="5760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1">
                <a:solidFill>
                  <a:srgbClr val="555960"/>
                </a:solidFill>
              </a:rPr>
              <a:t>When does evidence justify action?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331720"/>
            <a:ext cx="2194560" cy="8229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DELEGATION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2532888"/>
            <a:ext cx="5760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1">
                <a:solidFill>
                  <a:srgbClr val="555960"/>
                </a:solidFill>
              </a:rPr>
              <a:t>What action may the agent take?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474720"/>
            <a:ext cx="2194560" cy="8229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ALIGNMENT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3474720"/>
            <a:ext cx="5760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1">
                <a:solidFill>
                  <a:srgbClr val="8E6F3E"/>
                </a:solidFill>
              </a:rPr>
              <a:t>When should engineering knowledge control what the agent — or the environment — is permitted to do?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4736592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Not a third framework — the point where the first two meet.</a:t>
            </a:r>
          </a:p>
        </p:txBody>
      </p:sp>
      <p:sp>
        <p:nvSpPr>
          <p:cNvPr id="12" name="FooterBand"/>
          <p:cNvSpPr/>
          <p:nvPr/>
        </p:nvSpPr>
        <p:spPr>
          <a:xfrm>
            <a:off x="274320" y="5605272"/>
            <a:ext cx="8595360" cy="7772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Alignment connects the epistemology of Validation</a:t>
            </a:r>
          </a:p>
          <a:p>
            <a:pPr algn="ctr"/>
            <a:r>
              <a:rPr sz="2000" b="1" i="0">
                <a:solidFill>
                  <a:srgbClr val="FFFFFF"/>
                </a:solidFill>
              </a:rPr>
              <a:t>to the control problem of Delegation.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Give the agent a job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274320" y="1051560"/>
            <a:ext cx="8595360" cy="1417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TASK — </a:t>
            </a:r>
            <a:r>
              <a:rPr sz="2000" b="1" i="0">
                <a:solidFill>
                  <a:srgbClr val="5C4826"/>
                </a:solidFill>
              </a:rPr>
              <a:t>add bulk refunds to the payments service’s public API.</a:t>
            </a:r>
          </a:p>
          <a:p>
            <a:pPr algn="l">
              <a:spcBef>
                <a:spcPts val="800"/>
              </a:spcBef>
            </a:pPr>
            <a:r>
              <a:rPr sz="1800" b="0" i="1">
                <a:solidFill>
                  <a:srgbClr val="555960"/>
                </a:solidFill>
              </a:rPr>
              <a:t>Existing client behavior must be preserved. Refunds move real money.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2697480"/>
            <a:ext cx="8595360" cy="11430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THE AGENT HAS — </a:t>
            </a:r>
            <a:r>
              <a:rPr sz="2000" b="0" i="0">
                <a:solidFill>
                  <a:srgbClr val="5C4826"/>
                </a:solidFill>
              </a:rPr>
              <a:t>the repository, the test suite, a branch it may modify,</a:t>
            </a:r>
          </a:p>
          <a:p>
            <a:pPr algn="l"/>
            <a:r>
              <a:rPr sz="2000" b="0" i="0">
                <a:solidFill>
                  <a:srgbClr val="5C4826"/>
                </a:solidFill>
              </a:rPr>
              <a:t>and permission to open a merge request.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4297680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The same payments system you validated in Act I. Now an agent is changing it.</a:t>
            </a:r>
          </a:p>
        </p:txBody>
      </p:sp>
      <p:sp>
        <p:nvSpPr>
          <p:cNvPr id="8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The agent reports: finished.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How would you know?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The agent says it is finished.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8595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000000"/>
                </a:solidFill>
              </a:rPr>
              <a:t>How do you decide whether it actually did what you wanted?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423160"/>
            <a:ext cx="2560320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Run the tests?</a:t>
            </a:r>
          </a:p>
        </p:txBody>
      </p:sp>
      <p:sp>
        <p:nvSpPr>
          <p:cNvPr id="8" name="Rectangle 7"/>
          <p:cNvSpPr/>
          <p:nvPr/>
        </p:nvSpPr>
        <p:spPr>
          <a:xfrm>
            <a:off x="3383280" y="2423160"/>
            <a:ext cx="2560320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Read the diff?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2423160"/>
            <a:ext cx="2560320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Ask the agent?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383280"/>
            <a:ext cx="2560320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Ask another agent?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3280" y="3383280"/>
            <a:ext cx="2560320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Run it and see?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3383280"/>
            <a:ext cx="2560320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Watch production?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4572000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Collect the answers. Don’t classify them yet.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What would convince you?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PSbadge"/>
          <p:cNvSpPr/>
          <p:nvPr/>
        </p:nvSpPr>
        <p:spPr>
          <a:xfrm>
            <a:off x="274320" y="914400"/>
            <a:ext cx="3017520" cy="548640"/>
          </a:xfrm>
          <a:prstGeom prst="roundRect">
            <a:avLst/>
          </a:prstGeom>
          <a:solidFill>
            <a:srgbClr val="FBF8F2"/>
          </a:solidFill>
          <a:ln w="15875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6B3FA0"/>
                </a:solidFill>
              </a:rPr>
              <a:t xml:space="preserve">THINK</a:t>
            </a:r>
            <a:r>
              <a:rPr lang="en-US" sz="2000" b="1" i="0" dirty="0">
                <a:solidFill>
                  <a:srgbClr val="9A9A9A"/>
                </a:solidFill>
              </a:rPr>
              <a:t xml:space="preserve">  ·  </a:t>
            </a:r>
            <a:r>
              <a:rPr lang="en-US" sz="2000" b="1" i="0" dirty="0">
                <a:solidFill>
                  <a:srgbClr val="2E74B5"/>
                </a:solidFill>
              </a:rPr>
              <a:t xml:space="preserve">PAIR</a:t>
            </a:r>
            <a:r>
              <a:rPr lang="en-US" sz="2000" b="1" i="0" dirty="0">
                <a:solidFill>
                  <a:srgbClr val="9A9A9A"/>
                </a:solidFill>
              </a:rPr>
              <a:t xml:space="preserve">  ·  </a:t>
            </a:r>
            <a:r>
              <a:rPr lang="en-US" sz="2000" b="1" i="0" dirty="0">
                <a:solidFill>
                  <a:srgbClr val="B8860B"/>
                </a:solidFill>
              </a:rPr>
              <a:t xml:space="preserve">SHARE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219456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INDIVIDUAL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1938528"/>
            <a:ext cx="5760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1">
                <a:solidFill>
                  <a:srgbClr val="555960"/>
                </a:solidFill>
              </a:rPr>
              <a:t>What evidence would convince you the task was done correctly?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34639"/>
            <a:ext cx="219456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PAIR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2990087"/>
            <a:ext cx="5760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1">
                <a:solidFill>
                  <a:srgbClr val="555960"/>
                </a:solidFill>
              </a:rPr>
              <a:t>Compare answers. What can each proposed check not establish?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86200"/>
            <a:ext cx="219456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SHARE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4041648"/>
            <a:ext cx="5760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1">
                <a:solidFill>
                  <a:srgbClr val="555960"/>
                </a:solidFill>
              </a:rPr>
              <a:t>We’ll collect three or four answers.</a:t>
            </a:r>
          </a:p>
        </p:txBody>
      </p:sp>
      <p:sp>
        <p:nvSpPr>
          <p:cNvPr id="12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Every answer presupposes something that must be true.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Evidence of what?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74320" y="96012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Tests are evidence only relative to some claim.</a:t>
            </a:r>
          </a:p>
          <a:p>
            <a:pPr algn="ctr"/>
            <a:r>
              <a:rPr sz="2000" b="0" i="1">
                <a:solidFill>
                  <a:srgbClr val="555960"/>
                </a:solidFill>
              </a:rPr>
              <a:t>“It works” is not yet an engineering obligation.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2194560" cy="9144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OBLIGATION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1938528"/>
            <a:ext cx="5760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>
                <a:solidFill>
                  <a:srgbClr val="5C4826"/>
                </a:solidFill>
              </a:rPr>
              <a:t>A condition against which the work can be wrong.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3154680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OBLIGATIONS COME IN MANY FORMS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" y="3611880"/>
            <a:ext cx="137160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requirement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1737360" y="3611880"/>
            <a:ext cx="137160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invariant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72968" y="3611880"/>
            <a:ext cx="137160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policy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08576" y="3611880"/>
            <a:ext cx="137160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tolerance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44184" y="3611880"/>
            <a:ext cx="137160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permission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79792" y="3611880"/>
            <a:ext cx="137160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schema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4526280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Your answers already assumed these. Alignment makes them explicit.</a:t>
            </a:r>
          </a:p>
        </p:txBody>
      </p:sp>
      <p:sp>
        <p:nvSpPr>
          <p:cNvPr id="16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Evidence is evidence only relative to an obligation.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The agent can be wrong against an obligation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722376" y="1051560"/>
            <a:ext cx="237744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OBLIGATION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22376" y="1691640"/>
            <a:ext cx="2377440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What must be true?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108960" y="1335024"/>
            <a:ext cx="37490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3483864" y="1051560"/>
            <a:ext cx="237744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EVIDENCE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3483864" y="1691640"/>
            <a:ext cx="2377440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What observation bears on it?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870448" y="1335024"/>
            <a:ext cx="37490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6245352" y="1051560"/>
            <a:ext cx="237744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JUDGMENT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45352" y="1691640"/>
            <a:ext cx="2377440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What verdict does it support?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2743200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WE ALREADY KNOW HOW TO OBTAIN EVIDENCE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2376" y="3200400"/>
            <a:ext cx="237744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👁</a:t>
            </a:r>
          </a:p>
          <a:p>
            <a:pPr algn="ctr"/>
            <a:r>
              <a:rPr sz="1800" b="1" i="0">
                <a:solidFill>
                  <a:srgbClr val="5C4826"/>
                </a:solidFill>
              </a:rPr>
              <a:t>HUMAN</a:t>
            </a:r>
          </a:p>
          <a:p>
            <a:pPr algn="ctr"/>
            <a:r>
              <a:rPr sz="1800" b="1" i="0">
                <a:solidFill>
                  <a:srgbClr val="5C4826"/>
                </a:solidFill>
              </a:rPr>
              <a:t>JUDGMENT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83864" y="3200400"/>
            <a:ext cx="237744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🗺</a:t>
            </a:r>
          </a:p>
          <a:p>
            <a:pPr algn="ctr"/>
            <a:r>
              <a:rPr sz="1800" b="1" i="0">
                <a:solidFill>
                  <a:srgbClr val="5C4826"/>
                </a:solidFill>
              </a:rPr>
              <a:t>REASONING OVER</a:t>
            </a:r>
          </a:p>
          <a:p>
            <a:pPr algn="ctr"/>
            <a:r>
              <a:rPr sz="1800" b="1" i="0">
                <a:solidFill>
                  <a:srgbClr val="5C4826"/>
                </a:solidFill>
              </a:rPr>
              <a:t>POSSIBLE BEHAVIOR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45352" y="3200400"/>
            <a:ext cx="237744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▶</a:t>
            </a:r>
          </a:p>
          <a:p>
            <a:pPr algn="ctr"/>
            <a:r>
              <a:rPr sz="1800" b="1" i="0">
                <a:solidFill>
                  <a:srgbClr val="5C4826"/>
                </a:solidFill>
              </a:rPr>
              <a:t>OBSERVING</a:t>
            </a:r>
          </a:p>
          <a:p>
            <a:pPr algn="ctr"/>
            <a:r>
              <a:rPr sz="1800" b="1" i="0">
                <a:solidFill>
                  <a:srgbClr val="5C4826"/>
                </a:solidFill>
              </a:rPr>
              <a:t>EXECUTION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4526280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Judge it, reason over it, or run it — Validation taught all three.</a:t>
            </a:r>
          </a:p>
        </p:txBody>
      </p:sp>
      <p:sp>
        <p:nvSpPr>
          <p:cNvPr id="18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The new question is what happens to the verdict.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What happens when the answer is no?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502920" y="1051560"/>
            <a:ext cx="178308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WARN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64208"/>
            <a:ext cx="1783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note it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304288" y="1335024"/>
            <a:ext cx="28346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2606039" y="1051560"/>
            <a:ext cx="178308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RECOMMEND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39" y="1664208"/>
            <a:ext cx="1783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ask the agent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to reconsider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407407" y="1335024"/>
            <a:ext cx="283465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4709159" y="1051560"/>
            <a:ext cx="178308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REJECT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59" y="1664208"/>
            <a:ext cx="1783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refuse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the patch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510527" y="1335024"/>
            <a:ext cx="283465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812279" y="1051560"/>
            <a:ext cx="178308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PREVENT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79" y="1664208"/>
            <a:ext cx="1783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make the action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impossible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2395728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8E6F3E"/>
                </a:solidFill>
              </a:rPr>
              <a:t>increasing authority over what happens next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926080"/>
            <a:ext cx="3977639" cy="16916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GUIDANCE</a:t>
            </a:r>
          </a:p>
          <a:p>
            <a:pPr algn="l">
              <a:spcBef>
                <a:spcPts val="600"/>
              </a:spcBef>
            </a:pPr>
            <a:r>
              <a:rPr sz="1800" b="0" i="1">
                <a:solidFill>
                  <a:srgbClr val="5C4826"/>
                </a:solidFill>
              </a:rPr>
              <a:t>“Do not merge unless the security tests pass.”</a:t>
            </a:r>
          </a:p>
          <a:p>
            <a:pPr algn="l">
              <a:spcBef>
                <a:spcPts val="600"/>
              </a:spcBef>
            </a:pPr>
            <a:r>
              <a:rPr sz="1800" b="0" i="0">
                <a:solidFill>
                  <a:srgbClr val="555960"/>
                </a:solidFill>
              </a:rPr>
              <a:t>Influences the producer. Can be misread, forgotten, or wrongly judged satisfied.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63440" y="2926080"/>
            <a:ext cx="3977639" cy="1691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ENFORCEMENT</a:t>
            </a:r>
          </a:p>
          <a:p>
            <a:pPr algn="l">
              <a:spcBef>
                <a:spcPts val="600"/>
              </a:spcBef>
            </a:pPr>
            <a:r>
              <a:rPr sz="1800" b="0" i="1">
                <a:solidFill>
                  <a:srgbClr val="5C4826"/>
                </a:solidFill>
              </a:rPr>
              <a:t>The merge is unavailable unless the tests pass.</a:t>
            </a:r>
          </a:p>
          <a:p>
            <a:pPr algn="l">
              <a:spcBef>
                <a:spcPts val="600"/>
              </a:spcBef>
            </a:pPr>
            <a:r>
              <a:rPr sz="1800" b="0" i="0">
                <a:solidFill>
                  <a:srgbClr val="555960"/>
                </a:solidFill>
              </a:rPr>
              <a:t>The environment decides. The obligation holds regardless of the producer.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4800600"/>
            <a:ext cx="8595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Same engineering knowledge. Different authority.</a:t>
            </a:r>
          </a:p>
        </p:txBody>
      </p:sp>
      <p:sp>
        <p:nvSpPr>
          <p:cNvPr id="20" name="FooterBand"/>
          <p:cNvSpPr/>
          <p:nvPr/>
        </p:nvSpPr>
        <p:spPr>
          <a:xfrm>
            <a:off x="274320" y="5605272"/>
            <a:ext cx="8595360" cy="7772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Guidance shapes behavior;</a:t>
            </a:r>
          </a:p>
          <a:p>
            <a:pPr algn="ctr"/>
            <a:r>
              <a:rPr sz="2000" b="1" i="0">
                <a:solidFill>
                  <a:srgbClr val="FFFFFF"/>
                </a:solidFill>
              </a:rPr>
              <a:t>enforcement determines what the environment accepts.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Verification can govern authority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74320" y="914400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Agents taught: capability is not authority.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353312"/>
            <a:ext cx="1426464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READ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837943" y="1636776"/>
            <a:ext cx="283465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2130552" y="1353312"/>
            <a:ext cx="1426464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PROPOSE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66160" y="1636776"/>
            <a:ext cx="28346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3858768" y="1353312"/>
            <a:ext cx="1426464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MODIFY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294376" y="1636776"/>
            <a:ext cx="28346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5586984" y="1353312"/>
            <a:ext cx="1426464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MERGE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22592" y="1636776"/>
            <a:ext cx="28346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7315200" y="1353312"/>
            <a:ext cx="1426464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DEPLOY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1993392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increasing permitted consequence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2395728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THE NEW MOVE: AUTHORITY CAN BE CONDITIONAL ON EVIDENCE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127248"/>
            <a:ext cx="173736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WORK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8568" y="3447288"/>
            <a:ext cx="31089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911095" y="2798064"/>
            <a:ext cx="1005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evidence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87752" y="3127248"/>
            <a:ext cx="1737360" cy="6400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VALIDATOR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343400" y="3447288"/>
            <a:ext cx="31089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995928" y="2798064"/>
            <a:ext cx="1005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verdict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72583" y="3127248"/>
            <a:ext cx="1737360" cy="6400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GATE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428231" y="3447288"/>
            <a:ext cx="310897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080759" y="2798064"/>
            <a:ext cx="1005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admits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57415" y="3127248"/>
            <a:ext cx="173736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MERGE · DEPLOY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" y="406908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The agent may propose freely. It may modify its branch freely.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It may merge if the checks pass. It may deploy if the release satisfies admission obligations.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" y="4892040"/>
            <a:ext cx="8595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Not all authority is granted up front. Some is earned by satisfying obligations.</a:t>
            </a:r>
          </a:p>
        </p:txBody>
      </p:sp>
      <p:sp>
        <p:nvSpPr>
          <p:cNvPr id="2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A gate is an engineered relationship between VERIFY and AUTHORIZE.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Four roles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640080" y="1051560"/>
            <a:ext cx="2194560" cy="73152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CONSTRAINT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1097280"/>
            <a:ext cx="42976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narrows what may happen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86600" y="1097280"/>
            <a:ext cx="17830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 i="1">
                <a:solidFill>
                  <a:srgbClr val="555960"/>
                </a:solidFill>
              </a:rPr>
              <a:t>echoes AUTHORIZE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84248"/>
            <a:ext cx="219456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SENSOR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2029967"/>
            <a:ext cx="42976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observes, and produces evidence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86600" y="2029967"/>
            <a:ext cx="17830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 i="1">
                <a:solidFill>
                  <a:srgbClr val="555960"/>
                </a:solidFill>
              </a:rPr>
              <a:t>echoes Validation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916936"/>
            <a:ext cx="219456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VALIDATOR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2962656"/>
            <a:ext cx="42976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evaluates evidence against an obligation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2962656"/>
            <a:ext cx="17830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 i="1">
                <a:solidFill>
                  <a:srgbClr val="555960"/>
                </a:solidFill>
              </a:rPr>
              <a:t>explicitly Validation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849624"/>
            <a:ext cx="2194560" cy="73152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GATE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3895344"/>
            <a:ext cx="42976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controls whether work crosses a boundary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6600" y="3895344"/>
            <a:ext cx="17830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 i="1">
                <a:solidFill>
                  <a:srgbClr val="555960"/>
                </a:solidFill>
              </a:rPr>
              <a:t>the genuinely new authority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4846320"/>
            <a:ext cx="8595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Roles, not four required components — one mechanism can play several.</a:t>
            </a:r>
          </a:p>
        </p:txBody>
      </p:sp>
      <p:sp>
        <p:nvSpPr>
          <p:cNvPr id="18" name="FooterBand"/>
          <p:cNvSpPr/>
          <p:nvPr/>
        </p:nvSpPr>
        <p:spPr>
          <a:xfrm>
            <a:off x="274320" y="5605272"/>
            <a:ext cx="8595360" cy="7772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Sensor and validator you already know.</a:t>
            </a:r>
          </a:p>
          <a:p>
            <a:pPr algn="ctr"/>
            <a:r>
              <a:rPr sz="2000" b="1" i="0">
                <a:solidFill>
                  <a:srgbClr val="FFFFFF"/>
                </a:solidFill>
              </a:rPr>
              <a:t>Constraint and gate are the new emphasis.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Prevent or detect?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502920" y="1051560"/>
            <a:ext cx="3977639" cy="23774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PREVENT</a:t>
            </a:r>
          </a:p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5C4826"/>
                </a:solidFill>
              </a:rPr>
              <a:t>If an invalid state can be excluded cheaply and reliably, constrain it.</a:t>
            </a:r>
          </a:p>
          <a:p>
            <a:pPr algn="l">
              <a:spcBef>
                <a:spcPts val="1000"/>
              </a:spcBef>
            </a:pPr>
            <a:r>
              <a:rPr sz="1800" b="0" i="1">
                <a:solidFill>
                  <a:srgbClr val="555960"/>
                </a:solidFill>
              </a:rPr>
              <a:t>closed enumeration · permission</a:t>
            </a:r>
          </a:p>
          <a:p>
            <a:pPr algn="l"/>
            <a:r>
              <a:rPr sz="1800" b="0" i="1">
                <a:solidFill>
                  <a:srgbClr val="555960"/>
                </a:solidFill>
              </a:rPr>
              <a:t>narrow API · typed representation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663440" y="1051560"/>
            <a:ext cx="3977639" cy="23774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DETECT</a:t>
            </a:r>
          </a:p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5C4826"/>
                </a:solidFill>
              </a:rPr>
              <a:t>Otherwise, observe the work and evaluate the evidence.</a:t>
            </a:r>
          </a:p>
          <a:p>
            <a:pPr algn="l">
              <a:spcBef>
                <a:spcPts val="1000"/>
              </a:spcBef>
            </a:pPr>
            <a:r>
              <a:rPr sz="1800" b="0" i="1">
                <a:solidFill>
                  <a:srgbClr val="555960"/>
                </a:solidFill>
              </a:rPr>
              <a:t>test · trace · measurement · analysis</a:t>
            </a:r>
          </a:p>
          <a:p>
            <a:pPr algn="l"/>
            <a:r>
              <a:rPr sz="1800" b="0" i="1">
                <a:solidFill>
                  <a:srgbClr val="555960"/>
                </a:solidFill>
              </a:rPr>
              <a:t>then a validator — and perhaps a gate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402336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Not every property can be held structurally — some appear only across sequences</a:t>
            </a:r>
          </a:p>
          <a:p>
            <a:pPr algn="ctr"/>
            <a:r>
              <a:rPr sz="2000" b="0" i="1">
                <a:solidFill>
                  <a:srgbClr val="555960"/>
                </a:solidFill>
              </a:rPr>
              <a:t>of individually legal actions, in the assembled artifact, or at runtime.</a:t>
            </a:r>
          </a:p>
        </p:txBody>
      </p:sp>
      <p:sp>
        <p:nvSpPr>
          <p:cNvPr id="8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If you can make the wrong state impossible, do. Otherwise: evidence.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A richer version of Validation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37160" y="1572768"/>
            <a:ext cx="1371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VALIDATION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554480" y="1591056"/>
            <a:ext cx="1627632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CLAIM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191256" y="1892807"/>
            <a:ext cx="219456" cy="0"/>
          </a:xfrm>
          <a:prstGeom prst="line">
            <a:avLst/>
          </a:prstGeom>
          <a:ln w="28575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3419856" y="1591056"/>
            <a:ext cx="1627632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EVIDENCE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056632" y="1892807"/>
            <a:ext cx="219456" cy="0"/>
          </a:xfrm>
          <a:prstGeom prst="line">
            <a:avLst/>
          </a:prstGeom>
          <a:ln w="28575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5285232" y="1591056"/>
            <a:ext cx="1627632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JUDGMENT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922008" y="1892807"/>
            <a:ext cx="219456" cy="0"/>
          </a:xfrm>
          <a:prstGeom prst="line">
            <a:avLst/>
          </a:prstGeom>
          <a:ln w="28575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7150608" y="1591056"/>
            <a:ext cx="1627632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ACTION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368296" y="2231136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233672" y="2231136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099048" y="2231136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964424" y="2231136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37160" y="2907792"/>
            <a:ext cx="1371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ALIGNMENT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554480" y="2926080"/>
            <a:ext cx="162763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OBLIGATION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191256" y="3227832"/>
            <a:ext cx="21945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3419856" y="2926080"/>
            <a:ext cx="162763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EVIDENCE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056632" y="3227832"/>
            <a:ext cx="21945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285232" y="2926080"/>
            <a:ext cx="162763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JUDGMENT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922008" y="3227832"/>
            <a:ext cx="21945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7150608" y="2926080"/>
            <a:ext cx="1627632" cy="60350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CONSEQUENCE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402336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The same epistemic machinery you already own.</a:t>
            </a:r>
          </a:p>
          <a:p>
            <a:pPr algn="ctr"/>
            <a:r>
              <a:rPr sz="2000" b="0" i="1">
                <a:solidFill>
                  <a:srgbClr val="555960"/>
                </a:solidFill>
              </a:rPr>
              <a:t>What the verdict is about changes — and what the verdict controls.</a:t>
            </a:r>
          </a:p>
        </p:txBody>
      </p:sp>
      <p:sp>
        <p:nvSpPr>
          <p:cNvPr id="26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The novelty is the last arrow: the verdict can control what happens.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Where can you decide?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292608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EDIT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490472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1737360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COMMIT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35224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182112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PUSH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379976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4626864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MERGE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824728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6071616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DEPLOY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269480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516368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RUNTIME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886968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237744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type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property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2331720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1682496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forbidden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dependency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5221224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4572000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integration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behavior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6665976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6016752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latency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under load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8110728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7461504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deployed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configuration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406908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A boundary can decide a property only when the property exists there in a decidable form.</a:t>
            </a:r>
          </a:p>
          <a:p>
            <a:pPr algn="ctr"/>
            <a:r>
              <a:rPr sz="2000" b="0" i="1">
                <a:solidFill>
                  <a:srgbClr val="555960"/>
                </a:solidFill>
              </a:rPr>
              <a:t>Each check sits where its question can be answered.</a:t>
            </a:r>
          </a:p>
        </p:txBody>
      </p:sp>
      <p:sp>
        <p:nvSpPr>
          <p:cNvPr id="2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Different boundaries can see different things.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Earlier is cheaper — but not always possible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502920" y="1051560"/>
            <a:ext cx="3977639" cy="27889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EARLIER IS CHEAPER</a:t>
            </a:r>
          </a:p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5C4826"/>
                </a:solidFill>
              </a:rPr>
              <a:t>Early detection or prevention reduces wasted work and consequence.</a:t>
            </a:r>
          </a:p>
          <a:p>
            <a:pPr algn="l">
              <a:spcBef>
                <a:spcPts val="1000"/>
              </a:spcBef>
            </a:pPr>
            <a:r>
              <a:rPr sz="1800" b="0" i="1">
                <a:solidFill>
                  <a:srgbClr val="555960"/>
                </a:solidFill>
              </a:rPr>
              <a:t>So why not put every check at edit time?</a:t>
            </a:r>
          </a:p>
        </p:txBody>
      </p:sp>
      <p:sp>
        <p:nvSpPr>
          <p:cNvPr id="6" name="Rectangle 5"/>
          <p:cNvSpPr/>
          <p:nvPr/>
        </p:nvSpPr>
        <p:spPr>
          <a:xfrm>
            <a:off x="4663440" y="1051560"/>
            <a:ext cx="3977639" cy="27889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SOME PROPERTIES</a:t>
            </a:r>
          </a:p>
          <a:p>
            <a:pPr algn="l"/>
            <a:r>
              <a:rPr sz="2000" b="1" i="0">
                <a:solidFill>
                  <a:srgbClr val="8E6F3E"/>
                </a:solidFill>
              </a:rPr>
              <a:t>DO NOT EXIST YET</a:t>
            </a:r>
          </a:p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5C4826"/>
                </a:solidFill>
              </a:rPr>
              <a:t>Integration behavior needs composition.</a:t>
            </a:r>
          </a:p>
          <a:p>
            <a:pPr algn="l">
              <a:spcBef>
                <a:spcPts val="400"/>
              </a:spcBef>
            </a:pPr>
            <a:r>
              <a:rPr sz="1800" b="0" i="0">
                <a:solidFill>
                  <a:srgbClr val="5C4826"/>
                </a:solidFill>
              </a:rPr>
              <a:t>Production behavior needs deployed conditions.</a:t>
            </a:r>
          </a:p>
          <a:p>
            <a:pPr algn="l">
              <a:spcBef>
                <a:spcPts val="400"/>
              </a:spcBef>
            </a:pPr>
            <a:r>
              <a:rPr sz="1800" b="0" i="0">
                <a:solidFill>
                  <a:srgbClr val="5C4826"/>
                </a:solidFill>
              </a:rPr>
              <a:t>Mid-task, work may legitimately disagree with an end-state obligation.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4114800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“Shift left” is not an unconditional maxim.</a:t>
            </a:r>
          </a:p>
        </p:txBody>
      </p:sp>
      <p:sp>
        <p:nvSpPr>
          <p:cNvPr id="8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Earlier is cheaper — when the property already exists in a decidable form.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The boundary follows the property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3977639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VALIDATION TAUGHT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828800"/>
            <a:ext cx="3977639" cy="14630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1">
                <a:solidFill>
                  <a:srgbClr val="5C4826"/>
                </a:solidFill>
              </a:rPr>
              <a:t>Check at the lowest scope that can establish it,</a:t>
            </a:r>
          </a:p>
          <a:p>
            <a:pPr algn="ctr"/>
            <a:r>
              <a:rPr sz="2000" b="1" i="1">
                <a:solidFill>
                  <a:srgbClr val="5C4826"/>
                </a:solidFill>
              </a:rPr>
              <a:t>but no lower.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663440" y="1188720"/>
            <a:ext cx="3977639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ALIGNMENT GENERALIZES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828800"/>
            <a:ext cx="3977639" cy="14630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1">
                <a:solidFill>
                  <a:srgbClr val="5C4826"/>
                </a:solidFill>
              </a:rPr>
              <a:t>Check at the earliest boundary where the obligation can be decided,</a:t>
            </a:r>
          </a:p>
          <a:p>
            <a:pPr algn="ctr"/>
            <a:r>
              <a:rPr sz="2000" b="1" i="1">
                <a:solidFill>
                  <a:srgbClr val="5C4826"/>
                </a:solidFill>
              </a:rPr>
              <a:t>but no earlier.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3657600"/>
            <a:ext cx="8595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The same principle: put the decision where the information exists —</a:t>
            </a:r>
          </a:p>
          <a:p>
            <a:pPr algn="ctr"/>
            <a:r>
              <a:rPr sz="2000" b="0" i="1">
                <a:solidFill>
                  <a:srgbClr val="555960"/>
                </a:solidFill>
              </a:rPr>
              <a:t>as early and as local as possible, without pretending it exists.</a:t>
            </a:r>
          </a:p>
        </p:txBody>
      </p:sp>
      <p:sp>
        <p:nvSpPr>
          <p:cNvPr id="1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From scope to boundary: the rule now runs along the delegated-work lifecycle.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Right obligation, wrong boundary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274320" y="1005840"/>
            <a:ext cx="8595360" cy="6400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OBLIGATION — </a:t>
            </a:r>
            <a:r>
              <a:rPr sz="1800" b="0" i="0">
                <a:solidFill>
                  <a:srgbClr val="5C4826"/>
                </a:solidFill>
              </a:rPr>
              <a:t>the code and its architectural model must agree when the task completes.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EDIT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90472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1737360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COMMIT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935224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3182112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PUSH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379976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4626864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MERGE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24728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071616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DEPLOY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269480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7516368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RUNTIME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2331720" y="2606040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051560" y="3291840"/>
            <a:ext cx="2560320" cy="10515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✗  enforced per-commit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rejects legitimate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intermediate states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5221224" y="2606040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3941064" y="3291840"/>
            <a:ext cx="2560320" cy="10515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✓  decided at merge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when the task’s work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is assembled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4572000"/>
            <a:ext cx="8595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The obligation is right. The early boundary simply cannot decide it yet.</a:t>
            </a:r>
          </a:p>
        </p:txBody>
      </p:sp>
      <p:sp>
        <p:nvSpPr>
          <p:cNvPr id="22" name="FooterBand"/>
          <p:cNvSpPr/>
          <p:nvPr/>
        </p:nvSpPr>
        <p:spPr>
          <a:xfrm>
            <a:off x="274320" y="5605272"/>
            <a:ext cx="8595360" cy="7772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“More enforced” at an incapable boundary</a:t>
            </a:r>
          </a:p>
          <a:p>
            <a:pPr algn="ctr"/>
            <a:r>
              <a:rPr sz="2000" b="1" i="0">
                <a:solidFill>
                  <a:srgbClr val="FFFFFF"/>
                </a:solidFill>
              </a:rPr>
              <a:t>is a worse control, not a stronger one.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39696"/>
            <a:ext cx="7772400" cy="1444752"/>
          </a:xfrm>
        </p:spPr>
        <p:txBody>
          <a:bodyPr wrap="square"/>
          <a:lstStyle/>
          <a:p>
            <a:pPr algn="ctr"/>
            <a:r>
              <a:rPr sz="3400">
                <a:solidFill>
                  <a:srgbClr val="000000"/>
                </a:solidFill>
              </a:rPr>
              <a:t>Stretch break</a:t>
            </a:r>
          </a:p>
        </p:txBody>
      </p:sp>
      <p:sp>
        <p:nvSpPr>
          <p:cNvPr id="3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3429000" y="3383280"/>
            <a:ext cx="2286000" cy="5486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Activity: govern the agent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KickerBadge">
            <a:extLst>
              <a:ext uri="{FF2B5EF4-FFF2-40B4-BE49-F238E27FC236}">
                <a16:creationId xmlns:a16="http://schemas.microsoft.com/office/drawing/2014/main" id="{55489336-5766-22EA-2ADC-D9F38F769456}"/>
              </a:ext>
            </a:extLst>
          </p:cNvPr>
          <p:cNvSpPr/>
          <p:nvPr/>
        </p:nvSpPr>
        <p:spPr>
          <a:xfrm>
            <a:off x="5620000" y="205000"/>
            <a:ext cx="3249680" cy="470000"/>
          </a:xfrm>
          <a:prstGeom prst="roundRect">
            <a:avLst/>
          </a:prstGeom>
          <a:solidFill>
            <a:srgbClr val="FBF8F2"/>
          </a:solidFill>
          <a:ln w="15875">
            <a:solidFill>
              <a:srgbClr val="8E6F3E"/>
            </a:solidFill>
          </a:ln>
        </p:spPr>
        <p:txBody>
          <a:bodyPr wrap="square" lIns="91440" tIns="27432" rIns="91440" bIns="27432" anchor="ctr"/>
          <a:lstStyle/>
          <a:p>
            <a:pPr algn="ctr">
              <a:buNone/>
            </a:pPr>
            <a:r>
              <a:rPr lang="en-US" b="1" i="0" dirty="0">
                <a:solidFill>
                  <a:srgbClr val="8E6F3E"/>
                </a:solidFill>
              </a:rPr>
              <a:t>TEAM ACTIVITY  ·  12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05840"/>
            <a:ext cx="8595360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SCENARIO — </a:t>
            </a:r>
            <a:r>
              <a:rPr sz="2000" b="1" i="0">
                <a:solidFill>
                  <a:srgbClr val="5C4826"/>
                </a:solidFill>
              </a:rPr>
              <a:t>an agent is modifying an embedded controller.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965960"/>
            <a:ext cx="420624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1  ·  </a:t>
            </a:r>
            <a:r>
              <a:rPr sz="1800" b="0" i="0">
                <a:solidFill>
                  <a:srgbClr val="5C4826"/>
                </a:solidFill>
              </a:rPr>
              <a:t>Preserve the external API.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965960"/>
            <a:ext cx="420624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2  ·  </a:t>
            </a:r>
            <a:r>
              <a:rPr sz="1800" b="0" i="0">
                <a:solidFill>
                  <a:srgbClr val="5C4826"/>
                </a:solidFill>
              </a:rPr>
              <a:t>Worst-case memory below 64 MB.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3154680"/>
            <a:ext cx="420624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3  ·  </a:t>
            </a:r>
            <a:r>
              <a:rPr sz="1800" b="0" i="0">
                <a:solidFill>
                  <a:srgbClr val="5C4826"/>
                </a:solidFill>
              </a:rPr>
              <a:t>Avoid the forbidden dependency.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3154680"/>
            <a:ext cx="420624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4  ·  </a:t>
            </a:r>
            <a:r>
              <a:rPr sz="1800" b="0" i="0">
                <a:solidFill>
                  <a:srgbClr val="5C4826"/>
                </a:solidFill>
              </a:rPr>
              <a:t>Retain a behavior observable only when components interact.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4572000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Four obligations, deliberately of different kinds. One design per team.</a:t>
            </a:r>
          </a:p>
        </p:txBody>
      </p:sp>
      <p:sp>
        <p:nvSpPr>
          <p:cNvPr id="12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Decide what holds each obligation — and where.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For each obligation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640080" y="1051560"/>
            <a:ext cx="420624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What must be true?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743200" y="1627631"/>
            <a:ext cx="0" cy="265176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640080" y="1911095"/>
            <a:ext cx="420624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What evidence bears on it?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743200" y="2487168"/>
            <a:ext cx="0" cy="265176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640080" y="2770632"/>
            <a:ext cx="420624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Where is it decidable?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743200" y="3346703"/>
            <a:ext cx="0" cy="265176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640080" y="3630168"/>
            <a:ext cx="420624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What mechanism should hold it?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743200" y="4206240"/>
            <a:ext cx="0" cy="265176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640080" y="4489704"/>
            <a:ext cx="420624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What happens if it fails?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0" y="1874519"/>
            <a:ext cx="3474720" cy="23774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USE THE ROLES WHERE THEY HELP</a:t>
            </a:r>
          </a:p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5C4826"/>
                </a:solidFill>
              </a:rPr>
              <a:t>constraint · sensor · validator · gate</a:t>
            </a:r>
          </a:p>
          <a:p>
            <a:pPr algn="l">
              <a:spcBef>
                <a:spcPts val="800"/>
              </a:spcBef>
            </a:pPr>
            <a:r>
              <a:rPr sz="1800" b="0" i="1">
                <a:solidFill>
                  <a:srgbClr val="555960"/>
                </a:solidFill>
              </a:rPr>
              <a:t>Not all four are required.</a:t>
            </a:r>
          </a:p>
          <a:p>
            <a:pPr algn="l">
              <a:spcBef>
                <a:spcPts val="800"/>
              </a:spcBef>
            </a:pPr>
            <a:r>
              <a:rPr sz="1800" b="0" i="1">
                <a:solidFill>
                  <a:srgbClr val="555960"/>
                </a:solidFill>
              </a:rPr>
              <a:t>And decide: what authority should the verdict have?</a:t>
            </a:r>
          </a:p>
        </p:txBody>
      </p:sp>
      <p:sp>
        <p:nvSpPr>
          <p:cNvPr id="15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Be ready to defend your boundary and your authority choices.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Compare your control designs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502920" y="1143000"/>
            <a:ext cx="8138160" cy="9601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Team A put this at merge; Team B at runtime. Which claim can each boundary actually establish?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331720"/>
            <a:ext cx="8138160" cy="9601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One team used a constraint; another a validator and a gate. What does each buy?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3520439"/>
            <a:ext cx="8138160" cy="6858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Should this failed check actually prevent admission?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4754880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Interrogate the disagreements — there need not be one correct mechanism.</a:t>
            </a:r>
          </a:p>
        </p:txBody>
      </p:sp>
      <p:sp>
        <p:nvSpPr>
          <p:cNvPr id="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The obligation constrains the design. Engineering judgment remains.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We just did Alignment without models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80467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000000"/>
                </a:solidFill>
              </a:rPr>
              <a:t>For the last hour you designed constraints, evidence,</a:t>
            </a:r>
          </a:p>
          <a:p>
            <a:pPr algn="ctr"/>
            <a:r>
              <a:rPr sz="2400" b="1" i="0">
                <a:solidFill>
                  <a:srgbClr val="000000"/>
                </a:solidFill>
              </a:rPr>
              <a:t>evaluation, and authority.</a:t>
            </a:r>
          </a:p>
          <a:p>
            <a:pPr algn="ctr">
              <a:spcBef>
                <a:spcPts val="1400"/>
              </a:spcBef>
            </a:pPr>
            <a:r>
              <a:rPr sz="2400" b="1" i="0">
                <a:solidFill>
                  <a:srgbClr val="000000"/>
                </a:solidFill>
              </a:rPr>
              <a:t>No explicit model was required.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40480"/>
            <a:ext cx="8046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300" b="0" i="1">
                <a:solidFill>
                  <a:srgbClr val="8E6F3E"/>
                </a:solidFill>
              </a:rPr>
              <a:t>So why did we spend the previous lecture on Modeling?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 wrap="square"/>
          <a:lstStyle/>
          <a:p>
            <a:pPr algn="ctr"/>
            <a:r>
              <a:rPr sz="4000">
                <a:solidFill>
                  <a:srgbClr val="000000"/>
                </a:solidFill>
              </a:rPr>
              <a:t>What do models buy us?</a:t>
            </a:r>
          </a:p>
        </p:txBody>
      </p:sp>
      <p:sp>
        <p:nvSpPr>
          <p:cNvPr id="3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DISCUSSION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429000" y="3017520"/>
            <a:ext cx="2286000" cy="5486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An explicit thing to be wrong against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A MODEL CAN …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256032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PRESERVE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1499616"/>
            <a:ext cx="5440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the consequential distinctions the realization is judged against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304288"/>
            <a:ext cx="256032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EXPOSE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2432304"/>
            <a:ext cx="5440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relationships that would otherwise be reconstructed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236976"/>
            <a:ext cx="256032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LEAVE OPEN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3364992"/>
            <a:ext cx="5440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the degrees of freedom that don’t matter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69664"/>
            <a:ext cx="256032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MAKE TRACTABLE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4297680"/>
            <a:ext cx="5440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evaluations that were subjective reconstruction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5010912"/>
            <a:ext cx="8595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Different analyses can then operate over the same engineering knowledge.</a:t>
            </a:r>
          </a:p>
        </p:txBody>
      </p:sp>
      <p:sp>
        <p:nvSpPr>
          <p:cNvPr id="15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Explicit structure can turn reconstruction into inspection.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Agreement is not correctness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502920" y="1097280"/>
            <a:ext cx="3977639" cy="21031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PERFECT CORRESPONDENCE,</a:t>
            </a:r>
          </a:p>
          <a:p>
            <a:pPr algn="l"/>
            <a:r>
              <a:rPr sz="1800" b="1" i="0">
                <a:solidFill>
                  <a:srgbClr val="8E6F3E"/>
                </a:solidFill>
              </a:rPr>
              <a:t>STILL WRONG</a:t>
            </a:r>
          </a:p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5C4826"/>
                </a:solidFill>
              </a:rPr>
              <a:t>Model and realization can agree completely — and together violate an external obligation.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4663440" y="1097280"/>
            <a:ext cx="3977639" cy="21031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EXTRACTED,</a:t>
            </a:r>
          </a:p>
          <a:p>
            <a:pPr algn="l"/>
            <a:r>
              <a:rPr sz="1800" b="1" i="0">
                <a:solidFill>
                  <a:srgbClr val="8E6F3E"/>
                </a:solidFill>
              </a:rPr>
              <a:t>SO IT AGREES</a:t>
            </a:r>
          </a:p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5C4826"/>
                </a:solidFill>
              </a:rPr>
              <a:t>A representation derived from the implementation corresponds by construction — and provides little independent assurance.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429000"/>
            <a:ext cx="7772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5C4826"/>
                </a:solidFill>
              </a:rPr>
              <a:t>Correspondence</a:t>
            </a:r>
            <a:r>
              <a:rPr sz="2000" b="0" i="0">
                <a:solidFill>
                  <a:srgbClr val="5C4826"/>
                </a:solidFill>
              </a:rPr>
              <a:t> — do two representations agree?</a:t>
            </a:r>
          </a:p>
          <a:p>
            <a:pPr algn="l"/>
            <a:r>
              <a:rPr sz="2000" b="1" i="0">
                <a:solidFill>
                  <a:srgbClr val="5C4826"/>
                </a:solidFill>
              </a:rPr>
              <a:t>Conformance</a:t>
            </a:r>
            <a:r>
              <a:rPr sz="2000" b="0" i="0">
                <a:solidFill>
                  <a:srgbClr val="5C4826"/>
                </a:solidFill>
              </a:rPr>
              <a:t> — does the artifact satisfy an independent obligation?</a:t>
            </a:r>
          </a:p>
          <a:p>
            <a:pPr algn="l"/>
            <a:r>
              <a:rPr sz="2000" b="1" i="0">
                <a:solidFill>
                  <a:srgbClr val="5C4826"/>
                </a:solidFill>
              </a:rPr>
              <a:t>Acceptance</a:t>
            </a:r>
            <a:r>
              <a:rPr sz="2000" b="0" i="0">
                <a:solidFill>
                  <a:srgbClr val="5C4826"/>
                </a:solidFill>
              </a:rPr>
              <a:t> — will the environment admit it?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4754880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Evidence for one does not establish the others.</a:t>
            </a:r>
          </a:p>
        </p:txBody>
      </p:sp>
      <p:sp>
        <p:nvSpPr>
          <p:cNvPr id="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Two artifacts agreeing does not establish an independent obligation.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Three things can disagree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3474720" y="1097280"/>
            <a:ext cx="2194560" cy="6858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OBLIGATION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3566160"/>
            <a:ext cx="2194560" cy="685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MODEL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5040" y="3566160"/>
            <a:ext cx="2194560" cy="685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REALIZATION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2011680" y="1440180"/>
            <a:ext cx="1463040" cy="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011680" y="1440180"/>
            <a:ext cx="0" cy="212598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669280" y="1440180"/>
            <a:ext cx="1463040" cy="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132320" y="1440180"/>
            <a:ext cx="0" cy="212598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108960" y="3909060"/>
            <a:ext cx="2926080" cy="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121408" y="2331720"/>
            <a:ext cx="239572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1">
                <a:solidFill>
                  <a:srgbClr val="555960"/>
                </a:solidFill>
              </a:rPr>
              <a:t>does the model capture</a:t>
            </a:r>
          </a:p>
          <a:p>
            <a:pPr algn="l"/>
            <a:r>
              <a:rPr sz="1800" b="0" i="1">
                <a:solidFill>
                  <a:srgbClr val="555960"/>
                </a:solidFill>
              </a:rPr>
              <a:t>the obligation?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6864" y="2331720"/>
            <a:ext cx="239572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800" b="0" i="1">
                <a:solidFill>
                  <a:srgbClr val="555960"/>
                </a:solidFill>
              </a:rPr>
              <a:t>does the realization</a:t>
            </a:r>
          </a:p>
          <a:p>
            <a:pPr algn="r"/>
            <a:r>
              <a:rPr sz="1800" b="0" i="1">
                <a:solidFill>
                  <a:srgbClr val="555960"/>
                </a:solidFill>
              </a:rPr>
              <a:t>satisfy it?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4069080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do they correspond?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4800600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What claim lives on each edge — and what evidence would support it?</a:t>
            </a:r>
          </a:p>
        </p:txBody>
      </p:sp>
      <p:sp>
        <p:nvSpPr>
          <p:cNvPr id="1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Correspondence is one edge, not the whole triangle.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How do you know?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640080" y="1005840"/>
            <a:ext cx="2194560" cy="8229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MODELING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1033272"/>
            <a:ext cx="5715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 i="0">
                <a:solidFill>
                  <a:srgbClr val="5C4826"/>
                </a:solidFill>
              </a:rPr>
              <a:t>make consequential engineering knowledge explicit — preserving the degrees of freedom that don’t matter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965960"/>
            <a:ext cx="2194560" cy="8229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ALIGNMENT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1993392"/>
            <a:ext cx="5715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 i="0">
                <a:solidFill>
                  <a:srgbClr val="5C4826"/>
                </a:solidFill>
              </a:rPr>
              <a:t>decide which obligations acquire consequences in the engineered environment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063240"/>
            <a:ext cx="8183879" cy="19202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THE REUSABLE QUESTIONS</a:t>
            </a:r>
          </a:p>
          <a:p>
            <a:pPr algn="l">
              <a:spcBef>
                <a:spcPts val="600"/>
              </a:spcBef>
            </a:pPr>
            <a:r>
              <a:rPr sz="1800" b="0" i="0">
                <a:solidFill>
                  <a:srgbClr val="5C4826"/>
                </a:solidFill>
              </a:rPr>
              <a:t>What must be true?</a:t>
            </a:r>
          </a:p>
          <a:p>
            <a:pPr algn="l"/>
            <a:r>
              <a:rPr sz="1800" b="0" i="0">
                <a:solidFill>
                  <a:srgbClr val="5C4826"/>
                </a:solidFill>
              </a:rPr>
              <a:t>What evidence bears on it?</a:t>
            </a:r>
          </a:p>
          <a:p>
            <a:pPr algn="l"/>
            <a:r>
              <a:rPr sz="1800" b="0" i="0">
                <a:solidFill>
                  <a:srgbClr val="5C4826"/>
                </a:solidFill>
              </a:rPr>
              <a:t>Where can it be decided?</a:t>
            </a:r>
          </a:p>
          <a:p>
            <a:pPr algn="l"/>
            <a:r>
              <a:rPr sz="1800" b="0" i="0">
                <a:solidFill>
                  <a:srgbClr val="5C4826"/>
                </a:solidFill>
              </a:rPr>
              <a:t>How will it be evaluated?</a:t>
            </a:r>
          </a:p>
          <a:p>
            <a:pPr algn="l"/>
            <a:r>
              <a:rPr sz="1800" b="0" i="0">
                <a:solidFill>
                  <a:srgbClr val="5C4826"/>
                </a:solidFill>
              </a:rPr>
              <a:t>Should failure control what happens next?</a:t>
            </a:r>
          </a:p>
        </p:txBody>
      </p:sp>
      <p:sp>
        <p:nvSpPr>
          <p:cNvPr id="10" name="FooterBand"/>
          <p:cNvSpPr/>
          <p:nvPr/>
        </p:nvSpPr>
        <p:spPr>
          <a:xfrm>
            <a:off x="274320" y="5605272"/>
            <a:ext cx="8595360" cy="7772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Agents have not changed what it means to know software is acceptable —</a:t>
            </a:r>
          </a:p>
          <a:p>
            <a:pPr algn="ctr"/>
            <a:r>
              <a:rPr sz="2000" b="1" i="0">
                <a:solidFill>
                  <a:srgbClr val="FFFFFF"/>
                </a:solidFill>
              </a:rPr>
              <a:t>they changed the scale, speed, and locus at which it becomes control.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0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Validation meets Delegation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When should engineering knowledge govern delegated work?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1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How do you know?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How do you decide whether it did what you wanted?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2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From evidence to authority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When should a failed check have consequences?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3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Check it where you can know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Where can each obligation actually be decided?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4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Design the Alignment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What must be true, and what should hold it?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5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What do models buy us?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What does an explicit model add?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urdue1">
  <a:themeElements>
    <a:clrScheme name="PurdueColors">
      <a:dk1>
        <a:srgbClr val="000000"/>
      </a:dk1>
      <a:lt1>
        <a:srgbClr val="000000"/>
      </a:lt1>
      <a:dk2>
        <a:srgbClr val="C4BFC0"/>
      </a:dk2>
      <a:lt2>
        <a:srgbClr val="C9B991"/>
      </a:lt2>
      <a:accent1>
        <a:srgbClr val="8E6F3E"/>
      </a:accent1>
      <a:accent2>
        <a:srgbClr val="555960"/>
      </a:accent2>
      <a:accent3>
        <a:srgbClr val="C9B991"/>
      </a:accent3>
      <a:accent4>
        <a:srgbClr val="FFFFFF"/>
      </a:accent4>
      <a:accent5>
        <a:srgbClr val="000000"/>
      </a:accent5>
      <a:accent6>
        <a:srgbClr val="555960"/>
      </a:accent6>
      <a:hlink>
        <a:srgbClr val="000000"/>
      </a:hlink>
      <a:folHlink>
        <a:srgbClr val="55596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U-CoBrand_Template_Gold_Theme_Std_Screen_2.pptx" id="{33130098-72E9-B14B-8D33-14895F32E203}" vid="{24A02D5D-460C-B047-B557-67731F776B7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02577843-0252-164E-9900-50E04AC84376}">
  <we:reference id="wa104381063" version="1.0.0.1" store="en-001" storeType="OMEX"/>
  <we:alternateReferences>
    <we:reference id="wa104381063" version="1.0.0.1" store="wa104381063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2F6451B-05D5-964F-AC61-763C973265E8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1299b91e-8e0b-4b63-ab37-4fd482b3179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PU-CoBrand_Template_Gold_Theme_Std_Screen_2</Template>
  <TotalTime>8564</TotalTime>
  <Words>5079</Words>
  <Application>Microsoft Macintosh PowerPoint</Application>
  <PresentationFormat>On-screen Show (4:3)</PresentationFormat>
  <Paragraphs>694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8" baseType="lpstr">
      <vt:lpstr>Arial</vt:lpstr>
      <vt:lpstr>Calibri</vt:lpstr>
      <vt:lpstr>Times</vt:lpstr>
      <vt:lpstr>Purdue1</vt:lpstr>
      <vt:lpstr>PowerPoint Presentation</vt:lpstr>
      <vt:lpstr>Engineers may delegate realization without delegating responsibility for the resulting system.</vt:lpstr>
      <vt:lpstr>Delegation did not begin with agents</vt:lpstr>
      <vt:lpstr>The recipient changes</vt:lpstr>
      <vt:lpstr>The delegation problem remains</vt:lpstr>
      <vt:lpstr>BOUND</vt:lpstr>
      <vt:lpstr>BOUND: design the delegated work</vt:lpstr>
      <vt:lpstr>A delegation boundary is a reasoning boundary</vt:lpstr>
      <vt:lpstr>Reasoning has a horizon</vt:lpstr>
      <vt:lpstr>Delegation leaves degrees of freedom</vt:lpstr>
      <vt:lpstr>EQUIP</vt:lpstr>
      <vt:lpstr>EQUIP: capability lives in a system</vt:lpstr>
      <vt:lpstr>Equip three things</vt:lpstr>
      <vt:lpstr>Choose the reasoner for the work</vt:lpstr>
      <vt:lpstr>Engineer the information available to it</vt:lpstr>
      <vt:lpstr>Representation can change the reasoning problem</vt:lpstr>
      <vt:lpstr>Give the agent means to observe and act</vt:lpstr>
      <vt:lpstr>A real harness engineers the reasoning surface</vt:lpstr>
      <vt:lpstr>Zoom out: the equipped agent</vt:lpstr>
      <vt:lpstr>How will you equip your agents?</vt:lpstr>
      <vt:lpstr>Stretch break</vt:lpstr>
      <vt:lpstr>AUTHORIZE</vt:lpstr>
      <vt:lpstr>Capability is not authority</vt:lpstr>
      <vt:lpstr>Authority follows consequence</vt:lpstr>
      <vt:lpstr>Authority should match the delegated work</vt:lpstr>
      <vt:lpstr>VERIFY</vt:lpstr>
      <vt:lpstr>VERIFY: what evidence closes the work?</vt:lpstr>
      <vt:lpstr>The producer is not independent evidence</vt:lpstr>
      <vt:lpstr>THE DELEGATION SYSTEM</vt:lpstr>
      <vt:lpstr>Engineer the delegation system</vt:lpstr>
      <vt:lpstr>Better agents change the delegation design</vt:lpstr>
      <vt:lpstr>What changes? What stays?</vt:lpstr>
      <vt:lpstr>What must exist outside the agent?</vt:lpstr>
      <vt:lpstr>Phase 2 honest individual status update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Bowers, Anna K</dc:creator>
  <cp:keywords/>
  <dc:description/>
  <cp:lastModifiedBy>James C Davis</cp:lastModifiedBy>
  <cp:revision>398</cp:revision>
  <dcterms:created xsi:type="dcterms:W3CDTF">2020-02-21T23:00:33Z</dcterms:created>
  <dcterms:modified xsi:type="dcterms:W3CDTF">2026-09-29T15:52:00Z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2024-09-05T02:27:24Z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e1ff3097-c009-4f67-8781-6e468e7749d4</vt:lpwstr>
  </property>
  <property fmtid="{D5CDD505-2E9C-101B-9397-08002B2CF9AE}" pid="8" name="MSIP_Label_4044bd30-2ed7-4c9d-9d12-46200872a97b_ContentBits">
    <vt:lpwstr>0</vt:lpwstr>
  </property>
</Properties>
</file>