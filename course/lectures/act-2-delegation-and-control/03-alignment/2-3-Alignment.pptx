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3"/>
  </p:notesMasterIdLst>
  <p:sldIdLst>
    <p:sldId id="256" r:id="rId7"/>
    <p:sldId id="302" r:id="rId54"/>
    <p:sldId id="289" r:id="rId15"/>
    <p:sldId id="290" r:id="rId34"/>
    <p:sldId id="258" r:id="rId9"/>
    <p:sldId id="284" r:id="rId49"/>
    <p:sldId id="291" r:id="rId35"/>
    <p:sldId id="293" r:id="rId37"/>
    <p:sldId id="294" r:id="rId38"/>
    <p:sldId id="285" r:id="rId50"/>
    <p:sldId id="304" r:id="rId40"/>
    <p:sldId id="297" r:id="rId41"/>
    <p:sldId id="298" r:id="rId42"/>
    <p:sldId id="305" r:id="rId22"/>
    <p:sldId id="267" r:id="rId18"/>
    <p:sldId id="306" r:id="rId48"/>
    <p:sldId id="268" r:id="rId19"/>
    <p:sldId id="286" r:id="rId51"/>
    <p:sldId id="269" r:id="rId20"/>
    <p:sldId id="270" r:id="rId21"/>
    <p:sldId id="273" r:id="rId24"/>
    <p:sldId id="288" r:id="rId53"/>
    <p:sldId id="307" r:id="rId10"/>
    <p:sldId id="308" r:id="rId8"/>
    <p:sldId id="309" r:id="rId6"/>
    <p:sldId id="281" r:id="rId32"/>
    <p:sldId id="274" r:id="rId25"/>
    <p:sldId id="276" r:id="rId27"/>
    <p:sldId id="282"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25.xml"/><Relationship Id="rId7" Type="http://schemas.openxmlformats.org/officeDocument/2006/relationships/slide" Target="slides/slide1.xml"/><Relationship Id="rId8" Type="http://schemas.openxmlformats.org/officeDocument/2006/relationships/slide" Target="slides/slide24.xml"/><Relationship Id="rId9" Type="http://schemas.openxmlformats.org/officeDocument/2006/relationships/slide" Target="slides/slide5.xml"/><Relationship Id="rId10" Type="http://schemas.openxmlformats.org/officeDocument/2006/relationships/slide" Target="slides/slide23.xml"/><Relationship Id="rId15" Type="http://schemas.openxmlformats.org/officeDocument/2006/relationships/slide" Target="slides/slide3.xml"/><Relationship Id="rId18" Type="http://schemas.openxmlformats.org/officeDocument/2006/relationships/slide" Target="slides/slide15.xml"/><Relationship Id="rId19" Type="http://schemas.openxmlformats.org/officeDocument/2006/relationships/slide" Target="slides/slide17.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14.xml"/><Relationship Id="rId24" Type="http://schemas.openxmlformats.org/officeDocument/2006/relationships/slide" Target="slides/slide21.xml"/><Relationship Id="rId25" Type="http://schemas.openxmlformats.org/officeDocument/2006/relationships/slide" Target="slides/slide27.xml"/><Relationship Id="rId27" Type="http://schemas.openxmlformats.org/officeDocument/2006/relationships/slide" Target="slides/slide28.xml"/><Relationship Id="rId32" Type="http://schemas.openxmlformats.org/officeDocument/2006/relationships/slide" Target="slides/slide26.xml"/><Relationship Id="rId33" Type="http://schemas.openxmlformats.org/officeDocument/2006/relationships/slide" Target="slides/slide29.xml"/><Relationship Id="rId34" Type="http://schemas.openxmlformats.org/officeDocument/2006/relationships/slide" Target="slides/slide4.xml"/><Relationship Id="rId35" Type="http://schemas.openxmlformats.org/officeDocument/2006/relationships/slide" Target="slides/slide7.xml"/><Relationship Id="rId37" Type="http://schemas.openxmlformats.org/officeDocument/2006/relationships/slide" Target="slides/slide8.xml"/><Relationship Id="rId38" Type="http://schemas.openxmlformats.org/officeDocument/2006/relationships/slide" Target="slides/slide9.xml"/><Relationship Id="rId40" Type="http://schemas.openxmlformats.org/officeDocument/2006/relationships/slide" Target="slides/slide11.xml"/><Relationship Id="rId41" Type="http://schemas.openxmlformats.org/officeDocument/2006/relationships/slide" Target="slides/slide12.xml"/><Relationship Id="rId42" Type="http://schemas.openxmlformats.org/officeDocument/2006/relationships/slide" Target="slides/slide13.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8" Type="http://schemas.openxmlformats.org/officeDocument/2006/relationships/slide" Target="slides/slide16.xml"/><Relationship Id="rId49" Type="http://schemas.openxmlformats.org/officeDocument/2006/relationships/slide" Target="slides/slide6.xml"/><Relationship Id="rId50" Type="http://schemas.openxmlformats.org/officeDocument/2006/relationships/slide" Target="slides/slide10.xml"/><Relationship Id="rId51" Type="http://schemas.openxmlformats.org/officeDocument/2006/relationships/slide" Target="slides/slide18.xml"/><Relationship Id="rId53" Type="http://schemas.openxmlformats.org/officeDocument/2006/relationships/slide" Target="slides/slide22.xml"/><Relationship Id="rId54"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Recall degrees of freedom from Architecture and Design. Engineering is not about specifying everything.</a:t>
            </a:r>
          </a:p>
          <a:p>
            <a:r>
              <a:t>- We bind choices whose consequences matter: worktree, scope, forbidden actions, required checks, delivery boundary.</a:t>
            </a:r>
          </a:p>
          <a:p>
            <a:r>
              <a:t>- We deliberately leave other choices free: implementation, decomposition, naming, algorithms where no obligation constrains them, the order of intermediate edits.</a:t>
            </a:r>
          </a:p>
          <a:p>
            <a:r>
              <a:t>- If we specify all of those too, we have defeated much of the purpose of delegation. Good delegation is therefore selective reduction of degrees of freedom — it constrains consequential choices without prescribing every move (that line was the slide footer; now spoken).</a:t>
            </a:r>
          </a:p>
          <a:p>
            <a:r>
              <a:t>THE PROCESS STRIP (absorbed from the deleted "The process is a model" slide):</a:t>
            </a:r>
          </a:p>
          <a:p>
            <a:r>
              <a:t>- We can recognize the same move we made in the Modeling lecture: the work order and environment define a model of the delegated process — permitted actions, transitions, stopping conditions, expected evidence.</a:t>
            </a:r>
          </a:p>
          <a:p>
            <a:r>
              <a:t>- Importantly, this is not a model of the agent’s internal chain of thought. We do not need to prescribe how the agent reasons internally; we need enough external structure to reason about consequential behavior. That gives us something against which failure can be defined.</a:t>
            </a:r>
          </a:p>
          <a:p>
            <a:r>
              <a:t>- This is the first Modeling callback of the lecture: the work order and environment DEFINE a model of the delegated process. We will lean on this in the models section.</a:t>
            </a:r>
          </a:p>
          <a:p>
            <a:r>
              <a:t>ANIMATION</a:t>
            </a:r>
          </a:p>
          <a:p>
            <a:r>
              <a:t>- Reveal BOUND first, LEAVE FREE second.</a:t>
            </a:r>
          </a:p>
          <a:p>
            <a:r>
              <a:t>- Reveal the process strip, then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Sometimes by preventing invalid states; sometimes by producing evidence, evaluating it, and making subsequent action conditional on the verdict.</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This now OPENS the section: we know what can fail; the first design decision is whether we can prevent it — and if not, we need evidence. The roles that turn evidence into consequence come next.</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a:p>
            <a:r>
              <a:t>THE CONCRETE EXAMPLE (absorbed from the deleted boundary-example slide; the obligation bar carries it):</a:t>
            </a:r>
          </a:p>
          <a:p>
            <a:r>
              <a:t>- The obligation is legitimate: when the task is complete, code and architectural model must correspond.</a:t>
            </a:r>
          </a:p>
          <a:p>
            <a:r>
              <a:t>- Enforcing it after every intermediate edit or commit rejects legitimate transitional states; at merge, the task’s work is assembled and the obligation can be evaluated.</a:t>
            </a:r>
          </a:p>
          <a:p>
            <a:r>
              <a:t>- Notice the distinction: the obligation was not wrong; its placement was wrong. This is an Alignment design error, not a reason to abandon the property.</a:t>
            </a:r>
          </a:p>
          <a:p>
            <a:r>
              <a:t>CLOSING BEAT for the section (folds in the deleted "Production is only part of the system" slide):</a:t>
            </a:r>
          </a:p>
          <a:p>
            <a:r>
              <a:t>- Return to where we started. The Master Equation asks about production: how likely is this delegation system to produce an acceptable candidate? We absolutely care — better models, representations, harnesses, and work orders raise that probability. But reliable engineering cannot mean requiring every production attempt to succeed; we need an engineered answer for the other cases too.</a:t>
            </a:r>
          </a:p>
          <a:p>
            <a:r>
              <a:t>- Production and Alignment are related but not the same engineering problem. A better producer raises the probability that we get something acceptable. Alignment governs whether what was produced acquires consequences: production asks what the delegation can produce; Alignment asks what produced work may cause. Callback to Agents: capability and authority are independent.</a:t>
            </a:r>
          </a:p>
          <a:p>
            <a:r>
              <a:t>- Even this control system has to respect information availability: we cannot attach a meaningful consequence to a verdict we cannot yet justify. That is why the boundary follows the property.</a:t>
            </a:r>
          </a:p>
          <a:p>
            <a:r>
              <a:t>- Then stretch break. This is a good Act-II-halfway stopping point.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 transition + 2 minutes setup + 8-10 minutes work</a:t>
            </a:r>
          </a:p>
          <a:p>
            <a:r>
              <a:t>- This slide is now the section transition (the SECTION 6 divider was cut) — the activity title itself is the transition. Setup line: enough vocabulary; now use it.</a:t>
            </a:r>
          </a:p>
          <a:p>
            <a:r>
              <a:t>- Scenario (spoken, no longer on the slide): an agent is modifying an embedded controller — the SAME domain as the lab's sensor node, so read this as a continuation, not a new scenario.</a:t>
            </a:r>
          </a:p>
          <a:p>
            <a:r>
              <a:t>- Four obligations: API preservation, a memory bound, a forbidden dependency, and cycle ordering.</a:t>
            </a:r>
          </a:p>
          <a:p>
            <a:r>
              <a:t>- The model is given on the right — the same two kinds the class built in the lab. Structural facts support static checks: the API, the dependency facts (including the forbidden one), and the memory bound. The behavioral ordering defines what to observe at runtime: the cycle.</a:t>
            </a:r>
          </a:p>
          <a:p>
            <a:r>
              <a:t>- Use the model as given — do not spend the activity rediscovering it from the implementation.</a:t>
            </a:r>
          </a:p>
          <a:p>
            <a:r>
              <a:t>- Teams should ask, per obligation, which side of the model makes the relevant fact explicit — that feeds the MODEL USE question in the worksheet sequence below.</a:t>
            </a:r>
          </a:p>
          <a:p>
            <a:r>
              <a:t>- Your job: design the delegated process and its controls.</a:t>
            </a:r>
          </a:p>
          <a:p>
            <a:r>
              <a:t>WORKSHEET (was its own slide; keep this slide up while teams work and walk it aloud):</a:t>
            </a:r>
          </a:p>
          <a:p>
            <a:r>
              <a:t>- For each obligation, identify what can fail, what evidence establishes it, where it becomes decidable, and what failure should control.</a:t>
            </a:r>
          </a:p>
          <a:p>
            <a:r>
              <a:t>- Grouped as three questions. WHAT MUST HOLD: name the failure, state the obligation, and — new since the lab — ask what fact the model makes explicit, and whether you would validate it statically or dynamically.</a:t>
            </a:r>
          </a:p>
          <a:p>
            <a:r>
              <a:t>- HOW WILL WE KNOW: prevent or detect, what observation establishes it, and at which boundary enough information exists.</a:t>
            </a:r>
          </a:p>
          <a:p>
            <a:r>
              <a:t>- WHAT WILL IT CONTROL: which mechanism plays the role (constraint · sensor · validator · gate), and what authority the verdict carries.</a:t>
            </a:r>
          </a:p>
          <a:p>
            <a:r>
              <a:t>- Teams should be ready to defend their boundary and authority choices.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One distinction left: three kinds of judgment. The triangle carries them.</a:t>
            </a:r>
          </a:p>
          <a:p>
            <a:r>
              <a:t>- We have an obligation, a model, and a realization. Ask what claim each edge makes.</a:t>
            </a:r>
          </a:p>
          <a:p>
            <a:r>
              <a:t>- captures? — does the model actually capture the obligation?</a:t>
            </a:r>
          </a:p>
          <a:p>
            <a:r>
              <a:t>- satisfies? — does the realization satisfy the obligation? That judgment is CONFORMANCE: an artifact against an independent obligation.</a:t>
            </a:r>
          </a:p>
          <a:p>
            <a:r>
              <a:t>- corresponds? — do model and realization agree? That judgment is CORRESPONDENCE: two representations against each other.</a:t>
            </a:r>
          </a:p>
          <a:p>
            <a:r>
              <a:t>- ACCEPTANCE brings in a fourth object, the receiving environment: will it accept the artifact? On the slide it is the third legend line, not a fourth node — name the fourth object aloud.</a:t>
            </a:r>
          </a:p>
          <a:p>
            <a:r>
              <a:t>- None of these edges establishes the other two. A model and implementation can agree and both be wrong against the obligation. Evidence for one claim does not establish the others.</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 (Demoted from the slide; ask aloud:) What claim does each edge make? What evidence would establish it?</a:t>
            </a:r>
          </a:p>
          <a:p>
            <a:r>
              <a:t>ANIMATION</a:t>
            </a:r>
          </a:p>
          <a:p>
            <a:r>
              <a:t>- Reveal OBLIGATION, MODEL, REALIZATION without edges if possible.</a:t>
            </a:r>
          </a:p>
          <a:p>
            <a:r>
              <a:t>- Reveal the three edge questions, then the legend naming the three judgments.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a:t>
            </a:r>
          </a:p>
          <a:p>
            <a:r>
              <a:t>- One slide, three ways the PROCESS can be wrong: scope, authority, evidence. The comparison is the lesson — Section 2 just simplified the taxonomy; three separate slides made it feel complicated again. Slide "Wrong result" stays as the contrasting artifact failure.</a:t>
            </a:r>
          </a:p>
          <a:p>
            <a:r>
              <a:t>- SCOPE: the path to the result violates the work order. The agent modifies files outside the declared scope, replaces an approved dependency, changes the model instead of satisfying it, or "fixes" a test to make the implementation pass. Some of these can still yield an artifact that appears to pass — final-state validation alone does not capture it.</a:t>
            </a:r>
          </a:p>
          <a:p>
            <a:r>
              <a:t>- AUTHORITY: capability is not authority (from Agents). The agent may be technically capable of pushing, merging, or deploying; that does not mean we delegated those actions. A useful agent often needs broad capability for local work while consequential actions require separate authority. This distinction becomes important when we introduce gates.</a:t>
            </a:r>
          </a:p>
          <a:p>
            <a:r>
              <a:t>- EVIDENCE: "all tests pass" sounds like evidence — evidence of what? Which tests? Against which obligations? In which environment? What wasn't tested? An obligation is a condition against which the work can be wrong; a correct result is not enough if we cannot justify accepting it.</a:t>
            </a:r>
          </a:p>
          <a:p>
            <a:r>
              <a:t>- Then pose the bottom question explicitly and let them argue: can the result be correct while the process is wrong?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 That separates truth from justified engineering judgment — the sharpest conceptual moment in this section.</a:t>
            </a:r>
          </a:p>
          <a:p>
            <a:r>
              <a:t>ANIMATION</a:t>
            </a:r>
          </a:p>
          <a:p>
            <a:r>
              <a:t>- Reveal the three cards one at a time: SCOPE, AUTHORITY, EVIDENCE.</a:t>
            </a:r>
          </a:p>
          <a:p>
            <a:r>
              <a:t>- Reveal the bottom question last.</a:t>
            </a:r>
          </a:p>
          <a:p>
            <a:r>
              <a:t>- Card wording tightened to parallel one-line failure statements; the earlier phrasings ('Agent changes something outside the work order', 'Agent performs a consequential action it may not take') are spoken, not projected.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You saw this equation in Modeling. It describes the production problem: given the task, reasoner, representation, and harness, how likely is delegation to produce an acceptable result?</a:t>
            </a:r>
          </a:p>
          <a:p>
            <a:r>
              <a:t>- Last time we opened R. Modeling changes the representation available to the reasoner.</a:t>
            </a:r>
          </a:p>
          <a:p>
            <a:r>
              <a:t>- Today, notice one word we have mostly taken for granted: acceptable. What does that mean?</a:t>
            </a:r>
          </a:p>
          <a:p>
            <a:r>
              <a:t>- Then immediately: let's run the production system.</a:t>
            </a:r>
          </a:p>
          <a:p>
            <a:r>
              <a:t>- Advance to the vibe-coding exercise. Do not explain Alignment first; the students are about to experience the ambiguity in "acceptable" for themselves.</a:t>
            </a:r>
          </a:p>
          <a:p>
            <a:r>
              <a:t/>
            </a:r>
          </a:p>
          <a:p>
            <a:r>
              <a:t>ANIMATION</a:t>
            </a:r>
          </a:p>
          <a:p>
            <a:r>
              <a:t>- Reveal the equation exactly as remembered from Modeling.</a:t>
            </a:r>
          </a:p>
          <a:p>
            <a:r>
              <a:t>- Reveal the four definitions.</a:t>
            </a:r>
          </a:p>
          <a:p>
            <a:r>
              <a:t>- Reveal "What makes a result acceptable?" last, and leave it up as you advance.</a:t>
            </a: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a:t>
            </a:r>
          </a:p>
          <a:p>
            <a:r>
              <a:t>- We can now name four control roles, and they compose into a recognizable pipeline.</a:t>
            </a:r>
          </a:p>
          <a:p>
            <a:r>
              <a:t>- A CONSTRAINT narrows what may happen. A SENSOR observes what happened and produces evidence. A VALIDATOR evaluates that evidence against an obligation. A GATE controls whether work crosses a boundary.</a:t>
            </a:r>
          </a:p>
          <a:p>
            <a:r>
              <a:t>- These are roles, not four required components. One mechanism may play several roles. (This caveat used to be on the slide; it belongs here, spoken once the four roles are visible together.)</a:t>
            </a:r>
          </a:p>
          <a:p>
            <a:r>
              <a:t>- Keep the two sides distinct: constraints and sensors concern work/state; validators and gates concern judgment/admission.</a:t>
            </a:r>
          </a:p>
          <a:p>
            <a:r>
              <a:t>- An obligation enters at the top — it is what the validator judges against.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role vocabulary.)</a:t>
            </a:r>
          </a:p>
          <a:p>
            <a:r>
              <a:t>- The pipeline ends visibly at the gate controlling the CONSEQUENCE — concretely, merge and deploy:</a:t>
            </a:r>
          </a:p>
          <a:p>
            <a:r>
              <a:t>- Evidence becomes useful when a validator turns it into a verdict. But a verdict alone does not control anything; the gate connects it to authority.</a:t>
            </a:r>
          </a:p>
          <a:p>
            <a:r>
              <a:t>- The agent may modify and propose freely. Merge and deployment are conditional on verdicts.</a:t>
            </a:r>
          </a:p>
          <a:p>
            <a:r>
              <a:t>- This is stronger than telling the agent 'please don't merge broken code.' The environment itself conditions authority on the engineering judgment. A gate makes authority conditional on a verdict.</a:t>
            </a:r>
          </a:p>
          <a:p>
            <a:r>
              <a:t>- Spoken summary (was the footer band): a constraint narrows the work; a sensor observes it; a validator judges the evidence; a gate makes merge and deploy conditional on the verdict.</a:t>
            </a:r>
          </a:p>
          <a:p>
            <a:r>
              <a:t>- This vocabulary gives us a way to design rather than simply say "add checks."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This is now the section's opening DISCUSSION (it absorbs the deleted "We just did Alignment without models" and "What do models buy us?" beats). Frame it: everything in Sections 1-4 used tests, permissions, CI, and ordinary process controls — no explicit model was logically required, so explicit modeling has to earn its cost.</a:t>
            </a:r>
          </a:p>
          <a:p>
            <a:r>
              <a:t>- Pose the footer question and DO NOT answer it immediately. Let them discuss.</a:t>
            </a:r>
          </a:p>
          <a:p>
            <a:r>
              <a:t>- Look for answers about preserving knowledge, making relationships inspectable, enabling analysis, and reducing repeated reconstruction. Push beyond "documentation": what could a control do with a model that is difficult to do with prose or by repeatedly inspecting the implementation?</a:t>
            </a:r>
          </a:p>
          <a:p>
            <a:r>
              <a:t>- The VALIDATION SURFACE strip at the bottom is the answer — reveal it after they talk.</a:t>
            </a:r>
          </a:p>
          <a:p>
            <a:r>
              <a:t>THE REVEAL (absorbs the deleted answer slide; it is the strip under the cards):</a:t>
            </a:r>
          </a:p>
          <a:p>
            <a:r>
              <a:t>- A model preserves consequential distinctions; exposes relationships that would otherwise be inferred; deliberately leaves irrelevant realization choices open; enables evaluation without reconstruction.</a:t>
            </a:r>
          </a:p>
          <a:p>
            <a:r>
              <a:t>- The key point is not that models contain MORE information than the implementation — they contain the right engineering information in a form suited to the question. Multiple analyses can then operate over the same explicit knowledge.</a:t>
            </a:r>
          </a:p>
          <a:p>
            <a:r>
              <a:t>- Spoken gloss for the strip label: models give validation mechanisms an explicit object to inspect — that is why the strip is labeled VALIDATION SURFACE.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Static validation: a verdict decided over the model itself, before any execution.</a:t>
            </a:r>
          </a:p>
          <a:p>
            <a:r>
              <a:t>- Ground each question in the lab. 'Can admitted threads exceed the memory ceiling?' is the budget query: peak working memory of admitted threads against the declared 48 KB ceiling — the query that reported 80 KB in Stage 1. 'Can three threads be Awake simultaneously?' is decided against the Scheduler's admission rule: at most two awake. 'Is an illegal lifecycle transition reachable?' asks for a transition the lifecycle machines do not declare.</a:t>
            </a:r>
          </a:p>
          <a:p>
            <a:r>
              <a:t>- The payoff: once the structure is explicit, these stop being archaeology over code and become decidable queries.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Dynamic validation: the same model defines what a SENSOR must observe at runtime — the model states expected behavior; the trace is checked against it.</a:t>
            </a:r>
          </a:p>
          <a:p>
            <a:r>
              <a:t>- Ground it in the lab's lifecycle machines: every thread is Asleep or Awake, moved by admit and release events. The observation questions (now spoken, no longer projected): Did the observed transition exist in the model? Did events occur in the required order? Did execution enter a forbidden state? Did a measured quantity stay within its modeled bound — did the awake count ever exceed two, and did working memory stay within 48 KB?</a:t>
            </a:r>
          </a:p>
          <a:p>
            <a:r>
              <a:t>- This prevents students from hearing 'model-based validation' as synonymous with static analysis.</a:t>
            </a:r>
          </a:p>
          <a:p>
            <a:r>
              <a:t>- The STATIC / DYNAMIC panel (absorbed from the deleted strategies slide): static — verdict over the modeled space, exhaustive, available before execution; dynamic — verdict over observed execution, evidence about the runs you actually observed.</a:t>
            </a:r>
          </a:p>
          <a:p>
            <a:r>
              <a:t>- Close with the footer question — and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endParaRPr lang="en-US" sz="2000" i="1" dirty="0"/>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The Master Equation</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2000" b="0" i="1" dirty="0">
                <a:solidFill>
                  <a:srgbClr val="555960"/>
                </a:solidFill>
              </a:rPr>
              <a:t>the probability that delegation produces an acceptable result</a:t>
            </a:r>
          </a:p>
        </p:txBody>
      </p:sp>
      <p:sp>
        <p:nvSpPr>
          <p:cNvPr id="13" name="DefLine"/>
          <p:cNvSpPr txBox="1"/>
          <p:nvPr/>
        </p:nvSpPr>
        <p:spPr>
          <a:xfrm>
            <a:off x="274320" y="4023360"/>
            <a:ext cx="8595360" cy="365760"/>
          </a:xfrm>
          <a:prstGeom prst="rect">
            <a:avLst/>
          </a:prstGeom>
          <a:noFill/>
          <a:ln>
            <a:noFill/>
          </a:ln>
        </p:spPr>
        <p:txBody>
          <a:bodyPr wrap="square" lIns="0" tIns="0" rIns="0" bIns="0" anchor="ctr"/>
          <a:lstStyle/>
          <a:p>
            <a:pPr algn="ctr">
              <a:spcAft>
                <a:spcPts val="0"/>
              </a:spcAft>
              <a:buNone/>
            </a:pPr>
            <a:r>
              <a:rPr lang="en-US" sz="2000" b="1" i="1" dirty="0">
                <a:solidFill>
                  <a:srgbClr val="8E6F3E"/>
                </a:solidFill>
              </a:rPr>
              <a:t>T</a:t>
            </a:r>
            <a:r>
              <a:rPr lang="en-US" sz="2000" b="0" dirty="0">
                <a:solidFill>
                  <a:srgbClr val="555960"/>
                </a:solidFill>
              </a:rPr>
              <a:t xml:space="preserve"> task   ·   </a:t>
            </a:r>
            <a:r>
              <a:rPr lang="en-US" sz="2000" b="1" i="1" dirty="0">
                <a:solidFill>
                  <a:srgbClr val="8E6F3E"/>
                </a:solidFill>
              </a:rPr>
              <a:t>M</a:t>
            </a:r>
            <a:r>
              <a:rPr lang="en-US" sz="2000" b="0" dirty="0">
                <a:solidFill>
                  <a:srgbClr val="555960"/>
                </a:solidFill>
              </a:rPr>
              <a:t xml:space="preserve"> reasoning model   ·   </a:t>
            </a:r>
            <a:r>
              <a:rPr lang="en-US" sz="2000" b="1" i="1" dirty="0">
                <a:solidFill>
                  <a:srgbClr val="8E6F3E"/>
                </a:solidFill>
              </a:rPr>
              <a:t>R</a:t>
            </a:r>
            <a:r>
              <a:rPr lang="en-US" sz="2000" b="0" dirty="0">
                <a:solidFill>
                  <a:srgbClr val="555960"/>
                </a:solidFill>
              </a:rPr>
              <a:t xml:space="preserve"> representation   ·   </a:t>
            </a:r>
            <a:r>
              <a:rPr lang="en-US" sz="2000" b="1" i="1" dirty="0">
                <a:solidFill>
                  <a:srgbClr val="8E6F3E"/>
                </a:solidFill>
              </a:rPr>
              <a:t>H</a:t>
            </a:r>
            <a:r>
              <a:rPr lang="en-US" sz="2000" b="0" dirty="0">
                <a:solidFill>
                  <a:srgbClr val="555960"/>
                </a:solidFill>
              </a:rPr>
              <a:t xml:space="preserve"> harness/process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What makes a result acceptable?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Vibe-code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91440"/>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You have 5–10 minutes.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r>
              <a:rPr sz="1400" b="0" i="0">
                <a:solidFill>
                  <a:srgbClr val="5C4826"/>
                </a:solidFill>
              </a:rPr>
              <a:t/>
            </a: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5</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How do we enforce what must be true?</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Alignment connects engineering obligations</a:t>
            </a:r>
          </a:p>
          <a:p>
            <a:pPr algn="ctr"/>
            <a:r>
              <a:rPr sz="2000" b="1" i="0">
                <a:solidFill>
                  <a:srgbClr val="FFFFFF"/>
                </a:solidFill>
              </a:rPr>
              <a:t>to controls in the environment.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0" name="Taxo-TASK"/>
          <p:cNvSpPr/>
          <p:nvPr/>
        </p:nvSpPr>
        <p:spPr>
          <a:xfrm>
            <a:off x="50292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TASK</a:t>
            </a:r>
          </a:p>
          <a:p>
            <a:pPr algn="l">
              <a:spcBef>
                <a:spcPts val="900"/>
              </a:spcBef>
              <a:buNone/>
            </a:pPr>
            <a:r>
              <a:rPr lang="en-US" sz="2000" b="0" i="0" dirty="0">
                <a:solidFill>
                  <a:srgbClr val="5C4826"/>
                </a:solidFill>
              </a:rPr>
              <a:t>What outcome is required?</a:t>
            </a:r>
          </a:p>
          <a:p>
            <a:pPr algn="l">
              <a:spcBef>
                <a:spcPts val="900"/>
              </a:spcBef>
              <a:buNone/>
            </a:pPr>
            <a:r>
              <a:rPr lang="en-US" sz="2000" b="0" i="0" dirty="0">
                <a:solidFill>
                  <a:srgbClr val="5C4826"/>
                </a:solidFill>
              </a:rPr>
              <a:t>What must remain true?</a:t>
            </a:r>
          </a:p>
          <a:p>
            <a:pPr algn="l">
              <a:spcBef>
                <a:spcPts val="900"/>
              </a:spcBef>
              <a:buNone/>
            </a:pPr>
            <a:r>
              <a:rPr lang="en-US" sz="2000" b="0" i="0" dirty="0">
                <a:solidFill>
                  <a:srgbClr val="5C4826"/>
                </a:solidFill>
              </a:rPr>
              <a:t>What is out of scope?</a:t>
            </a:r>
          </a:p>
          <a:p>
            <a:pPr algn="l">
              <a:spcBef>
                <a:spcPts val="900"/>
              </a:spcBef>
              <a:buNone/>
            </a:pPr>
            <a:r>
              <a:rPr lang="en-US" sz="2000" b="0" i="0" dirty="0">
                <a:solidFill>
                  <a:srgbClr val="5C4826"/>
                </a:solidFill>
              </a:rPr>
              <a:t>What freedom remains?</a:t>
            </a:r>
          </a:p>
        </p:txBody>
      </p:sp>
      <p:sp>
        <p:nvSpPr>
          <p:cNvPr id="0" name="Taxo-CESS"/>
          <p:cNvSpPr/>
          <p:nvPr/>
        </p:nvSpPr>
        <p:spPr>
          <a:xfrm>
            <a:off x="466344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PROCESS</a:t>
            </a:r>
          </a:p>
          <a:p>
            <a:pPr algn="l">
              <a:spcBef>
                <a:spcPts val="900"/>
              </a:spcBef>
              <a:buNone/>
            </a:pPr>
            <a:r>
              <a:rPr lang="en-US" sz="2000" b="0" i="0" dirty="0">
                <a:solidFill>
                  <a:srgbClr val="5C4826"/>
                </a:solidFill>
              </a:rPr>
              <a:t>Where may the agent work?</a:t>
            </a:r>
          </a:p>
          <a:p>
            <a:pPr algn="l">
              <a:spcBef>
                <a:spcPts val="900"/>
              </a:spcBef>
              <a:buNone/>
            </a:pPr>
            <a:r>
              <a:rPr lang="en-US" sz="2000" b="0" i="0" dirty="0">
                <a:solidFill>
                  <a:srgbClr val="5C4826"/>
                </a:solidFill>
              </a:rPr>
              <a:t>What may it change?</a:t>
            </a:r>
          </a:p>
          <a:p>
            <a:pPr algn="l">
              <a:spcBef>
                <a:spcPts val="900"/>
              </a:spcBef>
              <a:buNone/>
            </a:pPr>
            <a:r>
              <a:rPr lang="en-US" sz="2000" b="0" i="0" dirty="0">
                <a:solidFill>
                  <a:srgbClr val="5C4826"/>
                </a:solidFill>
              </a:rPr>
              <a:t>What must it inspect or check?</a:t>
            </a:r>
          </a:p>
          <a:p>
            <a:pPr algn="l">
              <a:spcBef>
                <a:spcPts val="900"/>
              </a:spcBef>
              <a:buNone/>
            </a:pPr>
            <a:r>
              <a:rPr lang="en-US" sz="2000" b="0" i="0" dirty="0">
                <a:solidFill>
                  <a:srgbClr val="5C4826"/>
                </a:solidFill>
              </a:rPr>
              <a:t>When is the work complete?</a:t>
            </a:r>
          </a:p>
          <a:p>
            <a:pPr algn="l">
              <a:spcBef>
                <a:spcPts val="900"/>
              </a:spcBef>
              <a:buNone/>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Give it a work order</a:t>
            </a:r>
          </a:p>
        </p:txBody>
      </p:sp>
      <p:graphicFrame>
        <p:nvGraphicFramePr>
          <p:cNvPr id="4" name="WorkOrderTable"/>
          <p:cNvGraphicFramePr>
            <a:graphicFrameLocks noGrp="1"/>
          </p:cNvGraphicFramePr>
          <p:nvPr/>
        </p:nvGraphicFramePr>
        <p:xfrm>
          <a:off x="502920" y="1005840"/>
          <a:ext cx="6492240" cy="5029200"/>
        </p:xfrm>
        <a:graphic>
          <a:graphicData uri="http://schemas.openxmlformats.org/drawingml/2006/table">
            <a:tbl>
              <a:tblPr>
                <a:tableStyleId>{5C22544A-7EE6-4342-B048-85BDC9FD1C3A}</a:tableStyleId>
              </a:tblPr>
              <a:tblGrid>
                <a:gridCol w="1463040"/>
                <a:gridCol w="5029200"/>
              </a:tblGrid>
              <a:tr h="548640">
                <a:tc gridSpan="2">
                  <a:txBody>
                    <a:bodyPr wrap="square" anchor="ctr"/>
                    <a:lstStyle/>
                    <a:p>
                      <a:pPr algn="ctr"/>
                      <a:r>
                        <a:rPr sz="2000" b="1" i="0">
                          <a:solidFill>
                            <a:srgbClr val="FFFFFF"/>
                          </a:solidFill>
                        </a:rPr>
                        <a:t>WORK ORDER: Bulk refunds</a:t>
                      </a:r>
                    </a:p>
                  </a:txBody>
                  <a:tcPr anchor="ctr" marL="68580" marR="45720" marT="27432" marB="27432">
                    <a:solidFill>
                      <a:srgbClr val="8E6F3E"/>
                    </a:solidFill>
                  </a:tcPr>
                </a:tc>
                <a:tc hMerge="1">
                  <a:txBody>
                    <a:bodyPr/>
                    <a:lstStyle/>
                    <a:p/>
                  </a:txBody>
                  <a:tcPr/>
                </a:tc>
              </a:tr>
              <a:tr h="640080">
                <a:tc>
                  <a:txBody>
                    <a:bodyPr wrap="square" anchor="ctr"/>
                    <a:lstStyle/>
                    <a:p>
                      <a:pPr algn="l"/>
                      <a:r>
                        <a:rPr sz="2000" b="1" i="0">
                          <a:solidFill>
                            <a:srgbClr val="5C4826"/>
                          </a:solidFill>
                        </a:rPr>
                        <a:t>Goal</a:t>
                      </a:r>
                    </a:p>
                  </a:txBody>
                  <a:tcPr anchor="ctr" marL="68580" marR="45720" marT="27432" marB="27432">
                    <a:solidFill>
                      <a:srgbClr val="F5F1E8"/>
                    </a:solidFill>
                  </a:tcPr>
                </a:tc>
                <a:tc>
                  <a:txBody>
                    <a:bodyPr wrap="square" anchor="ctr"/>
                    <a:lstStyle/>
                    <a:p>
                      <a:pPr algn="l"/>
                      <a:r>
                        <a:rPr sz="2000" b="0" i="0">
                          <a:solidFill>
                            <a:srgbClr val="5C4826"/>
                          </a:solidFill>
                        </a:rPr>
                        <a:t>Add POST /refunds/bulk</a:t>
                      </a:r>
                    </a:p>
                  </a:txBody>
                  <a:tcPr anchor="ctr" marL="68580" marR="45720" marT="27432" marB="27432">
                    <a:solidFill>
                      <a:srgbClr val="FBF8F2"/>
                    </a:solidFill>
                  </a:tcPr>
                </a:tc>
              </a:tr>
              <a:tr h="640080">
                <a:tc>
                  <a:txBody>
                    <a:bodyPr wrap="square" anchor="ctr"/>
                    <a:lstStyle/>
                    <a:p>
                      <a:pPr algn="l"/>
                      <a:r>
                        <a:rPr sz="2000" b="1" i="0">
                          <a:solidFill>
                            <a:srgbClr val="5C4826"/>
                          </a:solidFill>
                        </a:rPr>
                        <a:t>Scope</a:t>
                      </a:r>
                    </a:p>
                  </a:txBody>
                  <a:tcPr anchor="ctr" marL="68580" marR="45720" marT="27432" marB="27432">
                    <a:solidFill>
                      <a:srgbClr val="F5F1E8"/>
                    </a:solidFill>
                  </a:tcPr>
                </a:tc>
                <a:tc>
                  <a:txBody>
                    <a:bodyPr wrap="square" anchor="ctr"/>
                    <a:lstStyle/>
                    <a:p>
                      <a:pPr algn="l"/>
                      <a:r>
                        <a:rPr sz="2000" b="0" i="0">
                          <a:solidFill>
                            <a:srgbClr val="5C4826"/>
                          </a:solidFill>
                        </a:rPr>
                        <a:t>Modify the payments service only</a:t>
                      </a:r>
                    </a:p>
                  </a:txBody>
                  <a:tcPr anchor="ctr" marL="68580" marR="45720" marT="27432" marB="27432">
                    <a:solidFill>
                      <a:srgbClr val="FBF8F2"/>
                    </a:solidFill>
                  </a:tcPr>
                </a:tc>
              </a:tr>
              <a:tr h="640080">
                <a:tc>
                  <a:txBody>
                    <a:bodyPr wrap="square" anchor="ctr"/>
                    <a:lstStyle/>
                    <a:p>
                      <a:pPr algn="l"/>
                      <a:r>
                        <a:rPr sz="2000" b="1" i="0">
                          <a:solidFill>
                            <a:srgbClr val="5C4826"/>
                          </a:solidFill>
                        </a:rPr>
                        <a:t>Preserve</a:t>
                      </a:r>
                    </a:p>
                  </a:txBody>
                  <a:tcPr anchor="ctr" marL="68580" marR="45720" marT="27432" marB="27432">
                    <a:solidFill>
                      <a:srgbClr val="F5F1E8"/>
                    </a:solidFill>
                  </a:tcPr>
                </a:tc>
                <a:tc>
                  <a:txBody>
                    <a:bodyPr wrap="square" anchor="ctr"/>
                    <a:lstStyle/>
                    <a:p>
                      <a:pPr algn="l"/>
                      <a:r>
                        <a:rPr sz="2000" b="0" i="0">
                          <a:solidFill>
                            <a:srgbClr val="5C4826"/>
                          </a:solidFill>
                        </a:rPr>
                        <a:t>Existing single-refund API behavior</a:t>
                      </a:r>
                    </a:p>
                  </a:txBody>
                  <a:tcPr anchor="ctr" marL="68580" marR="45720" marT="27432" marB="27432">
                    <a:solidFill>
                      <a:srgbClr val="FBF8F2"/>
                    </a:solidFill>
                  </a:tcPr>
                </a:tc>
              </a:tr>
              <a:tr h="640080">
                <a:tc>
                  <a:txBody>
                    <a:bodyPr wrap="square" anchor="ctr"/>
                    <a:lstStyle/>
                    <a:p>
                      <a:pPr algn="l"/>
                      <a:r>
                        <a:rPr sz="2000" b="1" i="0">
                          <a:solidFill>
                            <a:srgbClr val="5C4826"/>
                          </a:solidFill>
                        </a:rPr>
                        <a:t>Do not</a:t>
                      </a:r>
                    </a:p>
                  </a:txBody>
                  <a:tcPr anchor="ctr" marL="68580" marR="45720" marT="27432" marB="27432">
                    <a:solidFill>
                      <a:srgbClr val="F5F1E8"/>
                    </a:solidFill>
                  </a:tcPr>
                </a:tc>
                <a:tc>
                  <a:txBody>
                    <a:bodyPr wrap="square" anchor="ctr"/>
                    <a:lstStyle/>
                    <a:p>
                      <a:pPr algn="l"/>
                      <a:r>
                        <a:rPr sz="2000" b="0" i="0">
                          <a:solidFill>
                            <a:srgbClr val="5C4826"/>
                          </a:solidFill>
                        </a:rPr>
                        <a:t>Modify authentication or payment-provider adapters</a:t>
                      </a:r>
                    </a:p>
                  </a:txBody>
                  <a:tcPr anchor="ctr" marL="68580" marR="45720" marT="27432" marB="27432">
                    <a:solidFill>
                      <a:srgbClr val="FBF8F2"/>
                    </a:solidFill>
                  </a:tcPr>
                </a:tc>
              </a:tr>
              <a:tr h="640080">
                <a:tc>
                  <a:txBody>
                    <a:bodyPr wrap="square" anchor="ctr"/>
                    <a:lstStyle/>
                    <a:p>
                      <a:pPr algn="l"/>
                      <a:r>
                        <a:rPr sz="2000" b="1" i="0">
                          <a:solidFill>
                            <a:srgbClr val="5C4826"/>
                          </a:solidFill>
                        </a:rPr>
                        <a:t>Check</a:t>
                      </a:r>
                    </a:p>
                  </a:txBody>
                  <a:tcPr anchor="ctr" marL="68580" marR="45720" marT="27432" marB="27432">
                    <a:solidFill>
                      <a:srgbClr val="F5F1E8"/>
                    </a:solidFill>
                  </a:tcPr>
                </a:tc>
                <a:tc>
                  <a:txBody>
                    <a:bodyPr wrap="square" anchor="ctr"/>
                    <a:lstStyle/>
                    <a:p>
                      <a:pPr algn="l"/>
                      <a:r>
                        <a:rPr sz="2000" b="0" i="0">
                          <a:solidFill>
                            <a:srgbClr val="5C4826"/>
                          </a:solidFill>
                        </a:rPr>
                        <a:t>Existing tests + new bulk-refund tests</a:t>
                      </a:r>
                    </a:p>
                  </a:txBody>
                  <a:tcPr anchor="ctr" marL="68580" marR="45720" marT="27432" marB="27432">
                    <a:solidFill>
                      <a:srgbClr val="FBF8F2"/>
                    </a:solidFill>
                  </a:tcPr>
                </a:tc>
              </a:tr>
              <a:tr h="640080">
                <a:tc>
                  <a:txBody>
                    <a:bodyPr wrap="square" anchor="ctr"/>
                    <a:lstStyle/>
                    <a:p>
                      <a:pPr algn="l"/>
                      <a:r>
                        <a:rPr sz="2000" b="1" i="0">
                          <a:solidFill>
                            <a:srgbClr val="5C4826"/>
                          </a:solidFill>
                        </a:rPr>
                        <a:t>Deliver</a:t>
                      </a:r>
                    </a:p>
                  </a:txBody>
                  <a:tcPr anchor="ctr" marL="68580" marR="45720" marT="27432" marB="27432">
                    <a:solidFill>
                      <a:srgbClr val="F5F1E8"/>
                    </a:solidFill>
                  </a:tcPr>
                </a:tc>
                <a:tc>
                  <a:txBody>
                    <a:bodyPr wrap="square" anchor="ctr"/>
                    <a:lstStyle/>
                    <a:p>
                      <a:pPr algn="l"/>
                      <a:r>
                        <a:rPr sz="2000" b="0" i="0">
                          <a:solidFill>
                            <a:srgbClr val="5C4826"/>
                          </a:solidFill>
                        </a:rPr>
                        <a:t>Commit changes on your worktree and open a PR</a:t>
                      </a:r>
                    </a:p>
                  </a:txBody>
                  <a:tcPr anchor="ctr" marL="68580" marR="45720" marT="27432" marB="27432">
                    <a:solidFill>
                      <a:srgbClr val="FBF8F2"/>
                    </a:solidFill>
                  </a:tcPr>
                </a:tc>
              </a:tr>
              <a:tr h="640080">
                <a:tc>
                  <a:txBody>
                    <a:bodyPr wrap="square" anchor="ctr"/>
                    <a:lstStyle/>
                    <a:p>
                      <a:pPr algn="l"/>
                      <a:r>
                        <a:rPr sz="2000" b="1" i="0">
                          <a:solidFill>
                            <a:srgbClr val="5C4826"/>
                          </a:solidFill>
                        </a:rPr>
                        <a:t>Authority</a:t>
                      </a:r>
                    </a:p>
                  </a:txBody>
                  <a:tcPr anchor="ctr" marL="68580" marR="45720" marT="27432" marB="27432">
                    <a:solidFill>
                      <a:srgbClr val="F5F1E8"/>
                    </a:solidFill>
                  </a:tcPr>
                </a:tc>
                <a:tc>
                  <a:txBody>
                    <a:bodyPr wrap="square" anchor="ctr"/>
                    <a:lstStyle/>
                    <a:p>
                      <a:pPr algn="l"/>
                      <a:r>
                        <a:rPr sz="2000" b="0" i="0">
                          <a:solidFill>
                            <a:srgbClr val="5C4826"/>
                          </a:solidFill>
                        </a:rPr>
                        <a:t>Do not merge or deploy</a:t>
                      </a:r>
                    </a:p>
                  </a:txBody>
                  <a:tcPr anchor="ctr" marL="68580" marR="45720" marT="27432" marB="27432">
                    <a:solidFill>
                      <a:srgbClr val="FBF8F2"/>
                    </a:solidFill>
                  </a:tcPr>
                </a:tc>
              </a:tr>
            </a:tbl>
          </a:graphicData>
        </a:graphic>
      </p:graphicFrame>
      <p:sp>
        <p:nvSpPr>
          <p:cNvPr id="0" name="BoundTask"/>
          <p:cNvSpPr/>
          <p:nvPr/>
        </p:nvSpPr>
        <p:spPr>
          <a:xfrm>
            <a:off x="7178040" y="1554480"/>
            <a:ext cx="1691640" cy="1920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0" name="BoundProcess"/>
          <p:cNvSpPr/>
          <p:nvPr/>
        </p:nvSpPr>
        <p:spPr>
          <a:xfrm>
            <a:off x="7178040" y="3474720"/>
            <a:ext cx="1691640" cy="25603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Bound the consequential degrees of freedom</a:t>
            </a:r>
          </a:p>
        </p:txBody>
      </p:sp>
      <p:sp>
        <p:nvSpPr>
          <p:cNvPr id="4" name="BoundPanel"/>
          <p:cNvSpPr/>
          <p:nvPr/>
        </p:nvSpPr>
        <p:spPr>
          <a:xfrm>
            <a:off x="50292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BOUND</a:t>
            </a:r>
          </a:p>
          <a:p>
            <a:pPr algn="ctr"/>
            <a:r>
              <a:rPr sz="600" b="0" i="0">
                <a:solidFill>
                  <a:srgbClr val="5C4826"/>
                </a:solidFill>
              </a:rPr>
              <a:t/>
            </a:r>
          </a:p>
          <a:p>
            <a:pPr algn="ctr"/>
            <a:r>
              <a:rPr sz="2000" b="0" i="0">
                <a:solidFill>
                  <a:srgbClr val="5C4826"/>
                </a:solidFill>
              </a:rPr>
              <a:t>worktree</a:t>
            </a:r>
          </a:p>
          <a:p>
            <a:pPr algn="ctr"/>
            <a:r>
              <a:rPr sz="2000" b="0" i="0">
                <a:solidFill>
                  <a:srgbClr val="5C4826"/>
                </a:solidFill>
              </a:rPr>
              <a:t>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LEAVE FREE</a:t>
            </a:r>
          </a:p>
          <a:p>
            <a:pPr algn="ctr"/>
            <a:r>
              <a:rPr sz="600" b="0" i="0">
                <a:solidFill>
                  <a:srgbClr val="5C4826"/>
                </a:solidFill>
              </a:rPr>
              <a:t/>
            </a:r>
          </a:p>
          <a:p>
            <a:pPr algn="ctr"/>
            <a:r>
              <a:rPr sz="2000" b="0" i="0">
                <a:solidFill>
                  <a:srgbClr val="5C4826"/>
                </a:solidFill>
              </a:rPr>
              <a:t>implementation</a:t>
            </a:r>
          </a:p>
          <a:p>
            <a:pPr algn="ctr"/>
            <a:r>
              <a:rPr sz="2000" b="0" i="0">
                <a:solidFill>
                  <a:srgbClr val="5C4826"/>
                </a:solidFill>
              </a:rPr>
              <a:t>decomposition</a:t>
            </a:r>
          </a:p>
          <a:p>
            <a:pPr algn="ctr"/>
            <a:r>
              <a:rPr sz="2000" b="0" i="0">
                <a:solidFill>
                  <a:srgbClr val="5C4826"/>
                </a:solidFill>
              </a:rPr>
              <a:t>naming</a:t>
            </a:r>
          </a:p>
          <a:p>
            <a:pPr algn="ctr"/>
            <a:r>
              <a:rPr sz="2000" b="0" i="0">
                <a:solidFill>
                  <a:srgbClr val="5C4826"/>
                </a:solidFill>
              </a:rPr>
              <a:t>algorithm choice, where unconstrained</a:t>
            </a:r>
          </a:p>
          <a:p>
            <a:pPr algn="ctr"/>
            <a:r>
              <a:rPr sz="2000" b="0" i="0">
                <a:solidFill>
                  <a:srgbClr val="5C4826"/>
                </a:solidFill>
              </a:rPr>
              <a:t>intermediate edits</a:t>
            </a:r>
          </a:p>
        </p:txBody>
      </p:sp>
      <p:sp>
        <p:nvSpPr>
          <p:cNvPr id="101" name="PCINSPECT"/>
          <p:cNvSpPr/>
          <p:nvPr/>
        </p:nvSpPr>
        <p:spPr>
          <a:xfrm>
            <a:off x="5029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INSPECT</a:t>
            </a:r>
          </a:p>
        </p:txBody>
      </p:sp>
      <p:cxnSp>
        <p:nvCxnSpPr>
          <p:cNvPr id="102" name="Connector 6"/>
          <p:cNvCxnSpPr/>
          <p:nvPr/>
        </p:nvCxnSpPr>
        <p:spPr>
          <a:xfrm>
            <a:off x="19202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3" name="PCMODIFY"/>
          <p:cNvSpPr/>
          <p:nvPr/>
        </p:nvSpPr>
        <p:spPr>
          <a:xfrm>
            <a:off x="21031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cxnSp>
        <p:nvCxnSpPr>
          <p:cNvPr id="104" name="Connector 8"/>
          <p:cNvCxnSpPr/>
          <p:nvPr/>
        </p:nvCxnSpPr>
        <p:spPr>
          <a:xfrm>
            <a:off x="3520439" y="4704588"/>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5" name="PCCHECK"/>
          <p:cNvSpPr/>
          <p:nvPr/>
        </p:nvSpPr>
        <p:spPr>
          <a:xfrm>
            <a:off x="37033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CHECK</a:t>
            </a:r>
          </a:p>
        </p:txBody>
      </p:sp>
      <p:cxnSp>
        <p:nvCxnSpPr>
          <p:cNvPr id="106" name="Connector 10"/>
          <p:cNvCxnSpPr/>
          <p:nvPr/>
        </p:nvCxnSpPr>
        <p:spPr>
          <a:xfrm>
            <a:off x="51206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7" name="PCCOMMIT"/>
          <p:cNvSpPr/>
          <p:nvPr/>
        </p:nvSpPr>
        <p:spPr>
          <a:xfrm>
            <a:off x="53035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108" name="Connector 12"/>
          <p:cNvCxnSpPr/>
          <p:nvPr/>
        </p:nvCxnSpPr>
        <p:spPr>
          <a:xfrm>
            <a:off x="67208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9" name="PCPROPOSE"/>
          <p:cNvSpPr/>
          <p:nvPr/>
        </p:nvSpPr>
        <p:spPr>
          <a:xfrm>
            <a:off x="69037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PROPOSE</a:t>
            </a:r>
          </a:p>
        </p:txBody>
      </p:sp>
      <p:sp>
        <p:nvSpPr>
          <p:cNvPr id="110" name="PCMain"/>
          <p:cNvSpPr txBox="1"/>
          <p:nvPr/>
        </p:nvSpPr>
        <p:spPr>
          <a:xfrm>
            <a:off x="274320" y="5212080"/>
            <a:ext cx="8595360" cy="914400"/>
          </a:xfrm>
          <a:prstGeom prst="rect">
            <a:avLst/>
          </a:prstGeom>
          <a:noFill/>
        </p:spPr>
        <p:txBody>
          <a:bodyPr wrap="square" anchor="t">
            <a:spAutoFit/>
          </a:bodyPr>
          <a:lstStyle/>
          <a:p>
            <a:pPr algn="ctr"/>
            <a:r>
              <a:rPr sz="2000" b="0">
                <a:solidFill>
                  <a:srgbClr val="5C4826"/>
                </a:solidFill>
              </a:rPr>
              <a:t>A process model makes consequential actions, transitions, evidence, and stopping conditions explicit without prescribing internal reasoning.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a:t>Either bound can be violated</a:t>
            </a:r>
          </a:p>
        </p:txBody>
      </p:sp>
      <p:sp>
        <p:nvSpPr>
          <p:cNvPr id="0" name="TaxHead-result"/>
          <p:cNvSpPr/>
          <p:nvPr/>
        </p:nvSpPr>
        <p:spPr>
          <a:xfrm>
            <a:off x="2286000" y="1005840"/>
            <a:ext cx="320040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RESULT</a:t>
            </a:r>
          </a:p>
        </p:txBody>
      </p:sp>
      <p:sp>
        <p:nvSpPr>
          <p:cNvPr id="0" name="TaxHead-process"/>
          <p:cNvSpPr/>
          <p:nvPr/>
        </p:nvSpPr>
        <p:spPr>
          <a:xfrm>
            <a:off x="5577840" y="1005840"/>
            <a:ext cx="329184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PROCESS</a:t>
            </a:r>
          </a:p>
        </p:txBody>
      </p:sp>
      <p:sp>
        <p:nvSpPr>
          <p:cNvPr id="0" name="TaxLbl-QUESTI"/>
          <p:cNvSpPr/>
          <p:nvPr/>
        </p:nvSpPr>
        <p:spPr>
          <a:xfrm>
            <a:off x="274320" y="173736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QUESTION</a:t>
            </a:r>
          </a:p>
        </p:txBody>
      </p:sp>
      <p:sp>
        <p:nvSpPr>
          <p:cNvPr id="0" name="TaxC1-QUESTI"/>
          <p:cNvSpPr/>
          <p:nvPr/>
        </p:nvSpPr>
        <p:spPr>
          <a:xfrm>
            <a:off x="2286000" y="173736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Did the artifact satisfy its obligations?</a:t>
            </a:r>
          </a:p>
        </p:txBody>
      </p:sp>
      <p:sp>
        <p:nvSpPr>
          <p:cNvPr id="0" name="TaxC2-QUESTI"/>
          <p:cNvSpPr/>
          <p:nvPr/>
        </p:nvSpPr>
        <p:spPr>
          <a:xfrm>
            <a:off x="5577840" y="173736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Was the work performed within the delegated process?</a:t>
            </a:r>
          </a:p>
        </p:txBody>
      </p:sp>
      <p:sp>
        <p:nvSpPr>
          <p:cNvPr id="0" name="TaxLbl-EXAMPL"/>
          <p:cNvSpPr/>
          <p:nvPr/>
        </p:nvSpPr>
        <p:spPr>
          <a:xfrm>
            <a:off x="274320" y="292608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EXAMPLE</a:t>
            </a:r>
          </a:p>
        </p:txBody>
      </p:sp>
      <p:sp>
        <p:nvSpPr>
          <p:cNvPr id="0" name="TaxC1-EXAMPL"/>
          <p:cNvSpPr/>
          <p:nvPr/>
        </p:nvSpPr>
        <p:spPr>
          <a:xfrm>
            <a:off x="2286000" y="292608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Existing API behavior changes</a:t>
            </a:r>
          </a:p>
        </p:txBody>
      </p:sp>
      <p:sp>
        <p:nvSpPr>
          <p:cNvPr id="0" name="TaxC2-EXAMPL"/>
          <p:cNvSpPr/>
          <p:nvPr/>
        </p:nvSpPr>
        <p:spPr>
          <a:xfrm>
            <a:off x="5577840" y="292608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Agent modifies a forbidden dependency</a:t>
            </a:r>
          </a:p>
        </p:txBody>
      </p:sp>
      <p:sp>
        <p:nvSpPr>
          <p:cNvPr id="0" name="TaxLbl-VALIDA"/>
          <p:cNvSpPr/>
          <p:nvPr/>
        </p:nvSpPr>
        <p:spPr>
          <a:xfrm>
            <a:off x="274320" y="411480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VALIDATION TARGET</a:t>
            </a:r>
          </a:p>
        </p:txBody>
      </p:sp>
      <p:sp>
        <p:nvSpPr>
          <p:cNvPr id="0" name="TaxC1-VALIDA"/>
          <p:cNvSpPr/>
          <p:nvPr/>
        </p:nvSpPr>
        <p:spPr>
          <a:xfrm>
            <a:off x="2286000" y="411480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Artifact / system state</a:t>
            </a:r>
          </a:p>
        </p:txBody>
      </p:sp>
      <p:sp>
        <p:nvSpPr>
          <p:cNvPr id="0" name="TaxC2-VALIDA"/>
          <p:cNvSpPr/>
          <p:nvPr/>
        </p:nvSpPr>
        <p:spPr>
          <a:xfrm>
            <a:off x="5577840" y="411480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Actions / evidence / authority</a:t>
            </a:r>
          </a:p>
        </p:txBody>
      </p:sp>
      <p:sp>
        <p:nvSpPr>
          <p:cNvPr id="0"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a:solidFill>
                  <a:srgbClr val="5C4826"/>
                </a:solidFill>
              </a:rPr>
              <a:t>The resulting system violates an obligation.</a:t>
            </a:r>
          </a:p>
        </p:txBody>
      </p:sp>
      <p:sp>
        <p:nvSpPr>
          <p:cNvPr id="13" name="FailKinds"/>
          <p:cNvSpPr txBox="1"/>
          <p:nvPr/>
        </p:nvSpPr>
        <p:spPr>
          <a:xfrm>
            <a:off x="274320" y="4983480"/>
            <a:ext cx="8595360" cy="731520"/>
          </a:xfrm>
          <a:prstGeom prst="rect">
            <a:avLst/>
          </a:prstGeom>
          <a:noFill/>
        </p:spPr>
        <p:txBody>
          <a:bodyPr wrap="square" anchor="t">
            <a:spAutoFit/>
          </a:bodyPr>
          <a:lstStyle/>
          <a:p>
            <a:pPr algn="ctr"/>
            <a:r>
              <a:rPr sz="2000" b="0" i="1">
                <a:solidFill>
                  <a:srgbClr val="555960"/>
                </a:solidFill>
              </a:rPr>
              <a:t>wrong behavior · violated invariant · excessive memory · incompatible API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can fail in different ways</a:t>
            </a:r>
          </a:p>
        </p:txBody>
      </p:sp>
      <p:sp>
        <p:nvSpPr>
          <p:cNvPr id="911" name="Card-scope"/>
          <p:cNvSpPr/>
          <p:nvPr/>
        </p:nvSpPr>
        <p:spPr>
          <a:xfrm>
            <a:off x="27432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SCOPE</a:t>
            </a:r>
          </a:p>
          <a:p>
            <a:pPr algn="l">
              <a:spcBef>
                <a:spcPts val="900"/>
              </a:spcBef>
              <a:buNone/>
            </a:pPr>
            <a:r>
              <a:rPr lang="en-US" sz="2000" b="0" i="0" dirty="0">
                <a:solidFill>
                  <a:srgbClr val="5C4826"/>
                </a:solidFill>
              </a:rPr>
              <a:t>Work exceeds the work order</a:t>
            </a:r>
          </a:p>
          <a:p>
            <a:pPr algn="l">
              <a:spcBef>
                <a:spcPts val="900"/>
              </a:spcBef>
              <a:buNone/>
            </a:pPr>
            <a:r>
              <a:rPr lang="en-US" sz="2000" b="0" i="1" dirty="0">
                <a:solidFill>
                  <a:srgbClr val="555960"/>
                </a:solidFill>
              </a:rPr>
              <a:t>forbidden file · altered test</a:t>
            </a:r>
          </a:p>
        </p:txBody>
      </p:sp>
      <p:sp>
        <p:nvSpPr>
          <p:cNvPr id="912" name="Card-authority"/>
          <p:cNvSpPr/>
          <p:nvPr/>
        </p:nvSpPr>
        <p:spPr>
          <a:xfrm>
            <a:off x="320040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AUTHORITY</a:t>
            </a:r>
          </a:p>
          <a:p>
            <a:pPr algn="l">
              <a:spcBef>
                <a:spcPts val="900"/>
              </a:spcBef>
              <a:buNone/>
            </a:pPr>
            <a:r>
              <a:rPr lang="en-US" sz="2000" b="0" i="0" dirty="0">
                <a:solidFill>
                  <a:srgbClr val="5C4826"/>
                </a:solidFill>
              </a:rPr>
              <a:t>Work exceeds delegated authority</a:t>
            </a:r>
          </a:p>
          <a:p>
            <a:pPr algn="l">
              <a:spcBef>
                <a:spcPts val="900"/>
              </a:spcBef>
              <a:buNone/>
            </a:pPr>
            <a:r>
              <a:rPr lang="en-US" sz="2000" b="0" i="1" dirty="0">
                <a:solidFill>
                  <a:srgbClr val="555960"/>
                </a:solidFill>
              </a:rPr>
              <a:t>merge · deploy</a:t>
            </a:r>
          </a:p>
        </p:txBody>
      </p:sp>
      <p:sp>
        <p:nvSpPr>
          <p:cNvPr id="913" name="Card-evidence"/>
          <p:cNvSpPr/>
          <p:nvPr/>
        </p:nvSpPr>
        <p:spPr>
          <a:xfrm>
            <a:off x="612648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EVIDENCE</a:t>
            </a:r>
          </a:p>
          <a:p>
            <a:pPr algn="l">
              <a:spcBef>
                <a:spcPts val="900"/>
              </a:spcBef>
              <a:buNone/>
            </a:pPr>
            <a:r>
              <a:rPr lang="en-US" sz="2000" b="0" i="0" dirty="0">
                <a:solidFill>
                  <a:srgbClr val="5C4826"/>
                </a:solidFill>
              </a:rPr>
              <a:t>Evidence does not establish the obligation</a:t>
            </a:r>
          </a:p>
          <a:p>
            <a:pPr algn="l">
              <a:spcBef>
                <a:spcPts val="900"/>
              </a:spcBef>
              <a:buNone/>
            </a:pPr>
            <a:r>
              <a:rPr lang="en-US" sz="2000" b="0" i="1" dirty="0">
                <a:solidFill>
                  <a:srgbClr val="555960"/>
                </a:solidFill>
              </a:rPr>
              <a:t>“all tests pass” without saying what was tested</a:t>
            </a:r>
          </a:p>
        </p:txBody>
      </p:sp>
      <p:sp>
        <p:nvSpPr>
          <p:cNvPr id="914"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Can the result be correct while the process is wrong?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15</a:t>
            </a:fld>
            <a:endParaRPr lang="en-US"/>
          </a:p>
        </p:txBody>
      </p:sp>
      <p:sp>
        <p:nvSpPr>
          <p:cNvPr id="8"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If you can make the wrong state impossible, do. Otherwise: evidence.</a:t>
            </a:r>
          </a:p>
        </p:txBody>
      </p:sp>
      <p:pic>
        <p:nvPicPr>
          <p:cNvPr id="9" name="Fig-3-3-1-constraint-vs-sensor" descr="constraint-vs-sensor-deck.png"/>
          <p:cNvPicPr>
            <a:picLocks noChangeAspect="1"/>
          </p:cNvPicPr>
          <p:nvPr/>
        </p:nvPicPr>
        <p:blipFill>
          <a:blip r:embed="rId3"/>
          <a:stretch>
            <a:fillRect/>
          </a:stretch>
        </p:blipFill>
        <p:spPr>
          <a:xfrm>
            <a:off x="731520" y="1051560"/>
            <a:ext cx="7680960" cy="336042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Four roles in a control system</a:t>
            </a:r>
          </a:p>
        </p:txBody>
      </p:sp>
      <p:sp>
        <p:nvSpPr>
          <p:cNvPr id="4" name="Slide Number Placeholder 5"/>
          <p:cNvSpPr>
            <a:spLocks noGrp="1"/>
          </p:cNvSpPr>
          <p:nvPr>
            <p:ph type="sldNum" sz="quarter" idx="4"/>
          </p:nvPr>
        </p:nvSpPr>
        <p:spPr/>
        <p:txBody>
          <a:bodyPr/>
          <a:lstStyle/>
          <a:p>
            <a:fld id="{B7EB45DA-9A0D-DC49-8E02-F30A5DDC21C3}" type="slidenum">
              <a:rPr lang="en-US" smtClean="0"/>
              <a:t>16</a:t>
            </a:fld>
            <a:endParaRPr lang="en-US"/>
          </a:p>
        </p:txBody>
      </p:sp>
      <p:sp>
        <p:nvSpPr>
          <p:cNvPr id="0" name="Pipe-WORK"/>
          <p:cNvSpPr/>
          <p:nvPr/>
        </p:nvSpPr>
        <p:spPr>
          <a:xfrm>
            <a:off x="274320" y="27000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WORK</a:t>
            </a:r>
          </a:p>
        </p:txBody>
      </p:sp>
      <p:sp>
        <p:nvSpPr>
          <p:cNvPr id="0" name="Pipe-SENSOR"/>
          <p:cNvSpPr/>
          <p:nvPr/>
        </p:nvSpPr>
        <p:spPr>
          <a:xfrm>
            <a:off x="204816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Pipe-VALIDATOR"/>
          <p:cNvSpPr/>
          <p:nvPr/>
        </p:nvSpPr>
        <p:spPr>
          <a:xfrm>
            <a:off x="382200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Pipe-GATE"/>
          <p:cNvSpPr/>
          <p:nvPr/>
        </p:nvSpPr>
        <p:spPr>
          <a:xfrm>
            <a:off x="559584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GATE</a:t>
            </a:r>
          </a:p>
        </p:txBody>
      </p:sp>
      <p:sp>
        <p:nvSpPr>
          <p:cNvPr id="0" name="Pipe-MERGE-DEPLOY"/>
          <p:cNvSpPr/>
          <p:nvPr/>
        </p:nvSpPr>
        <p:spPr>
          <a:xfrm>
            <a:off x="7150608" y="2560320"/>
            <a:ext cx="1719072" cy="914400"/>
          </a:xfrm>
          <a:prstGeom prst="rect">
            <a:avLst/>
          </a:prstGeom>
          <a:solidFill>
            <a:srgbClr val="F5F1E8"/>
          </a:solidFill>
          <a:ln w="12700">
            <a:solidFill>
              <a:srgbClr val="C9B991"/>
            </a:solidFill>
          </a:ln>
          <a:effectLst/>
        </p:spPr>
        <p:txBody>
          <a:bodyPr rtlCol="0" anchor="ctr" wrap="square" lIns="12700" rIns="12700" tIns="22860" bIns="22860"/>
          <a:lstStyle/>
          <a:p>
            <a:pPr algn="ctr">
              <a:buNone/>
            </a:pPr>
            <a:r>
              <a:rPr lang="en-US" sz="2000" b="1" i="0" dirty="0">
                <a:solidFill>
                  <a:srgbClr val="5C4826"/>
                </a:solidFill>
              </a:rPr>
              <a:t>CONSEQUENCE</a:t>
            </a:r>
          </a:p>
          <a:p>
            <a:pPr algn="ctr">
              <a:buNone/>
            </a:pPr>
            <a:r>
              <a:rPr lang="en-US" sz="2000" b="0" i="0" dirty="0">
                <a:solidFill>
                  <a:srgbClr val="5C4826"/>
                </a:solidFill>
              </a:rPr>
              <a:t>merge · deploy</a:t>
            </a:r>
          </a:p>
        </p:txBody>
      </p:sp>
      <p:cxnSp>
        <p:nvCxnSpPr>
          <p:cNvPr id="0" name="PipeArrow0"/>
          <p:cNvCxnSpPr/>
          <p:nvPr/>
        </p:nvCxnSpPr>
        <p:spPr>
          <a:xfrm>
            <a:off x="1774320" y="3020040"/>
            <a:ext cx="273840" cy="0"/>
          </a:xfrm>
          <a:prstGeom prst="straightConnector1">
            <a:avLst/>
          </a:prstGeom>
          <a:ln w="19050">
            <a:solidFill>
              <a:srgbClr val="8E6F3E"/>
            </a:solidFill>
            <a:tailEnd type="triangle"/>
          </a:ln>
        </p:spPr>
      </p:cxnSp>
      <p:cxnSp>
        <p:nvCxnSpPr>
          <p:cNvPr id="0" name="PipeArrow1"/>
          <p:cNvCxnSpPr/>
          <p:nvPr/>
        </p:nvCxnSpPr>
        <p:spPr>
          <a:xfrm>
            <a:off x="3548160" y="3020040"/>
            <a:ext cx="273840" cy="0"/>
          </a:xfrm>
          <a:prstGeom prst="straightConnector1">
            <a:avLst/>
          </a:prstGeom>
          <a:ln w="19050">
            <a:solidFill>
              <a:srgbClr val="8E6F3E"/>
            </a:solidFill>
            <a:tailEnd type="triangle"/>
          </a:ln>
        </p:spPr>
      </p:cxnSp>
      <p:cxnSp>
        <p:nvCxnSpPr>
          <p:cNvPr id="0" name="PipeArrow2"/>
          <p:cNvCxnSpPr/>
          <p:nvPr/>
        </p:nvCxnSpPr>
        <p:spPr>
          <a:xfrm>
            <a:off x="5322000" y="3020040"/>
            <a:ext cx="273840" cy="0"/>
          </a:xfrm>
          <a:prstGeom prst="straightConnector1">
            <a:avLst/>
          </a:prstGeom>
          <a:ln w="19050">
            <a:solidFill>
              <a:srgbClr val="8E6F3E"/>
            </a:solidFill>
            <a:tailEnd type="triangle"/>
          </a:ln>
        </p:spPr>
      </p:cxnSp>
      <p:cxnSp>
        <p:nvCxnSpPr>
          <p:cNvPr id="0" name="PipeArrow3"/>
          <p:cNvCxnSpPr/>
          <p:nvPr/>
        </p:nvCxnSpPr>
        <p:spPr>
          <a:xfrm>
            <a:off x="6949440" y="3017520"/>
            <a:ext cx="201168" cy="0"/>
          </a:xfrm>
          <a:prstGeom prst="straightConnector1">
            <a:avLst/>
          </a:prstGeom>
          <a:ln w="19050">
            <a:solidFill>
              <a:srgbClr val="8E6F3E"/>
            </a:solidFill>
            <a:tailEnd type="triangle"/>
          </a:ln>
        </p:spPr>
      </p:cxnSp>
      <p:sp>
        <p:nvSpPr>
          <p:cNvPr id="0" name="Pipe-evidence"/>
          <p:cNvSpPr/>
          <p:nvPr/>
        </p:nvSpPr>
        <p:spPr>
          <a:xfrm>
            <a:off x="313668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evidence</a:t>
            </a:r>
          </a:p>
        </p:txBody>
      </p:sp>
      <p:sp>
        <p:nvSpPr>
          <p:cNvPr id="0" name="Pipe-verdict"/>
          <p:cNvSpPr/>
          <p:nvPr/>
        </p:nvSpPr>
        <p:spPr>
          <a:xfrm>
            <a:off x="491052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verdict</a:t>
            </a:r>
          </a:p>
        </p:txBody>
      </p:sp>
      <p:sp>
        <p:nvSpPr>
          <p:cNvPr id="0" name="Pipe-obligation"/>
          <p:cNvSpPr/>
          <p:nvPr/>
        </p:nvSpPr>
        <p:spPr>
          <a:xfrm>
            <a:off x="3822191" y="1325880"/>
            <a:ext cx="150000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obligation</a:t>
            </a:r>
          </a:p>
        </p:txBody>
      </p:sp>
      <p:cxnSp>
        <p:nvCxnSpPr>
          <p:cNvPr id="0" name="PipeArrowObl"/>
          <p:cNvCxnSpPr/>
          <p:nvPr/>
        </p:nvCxnSpPr>
        <p:spPr>
          <a:xfrm>
            <a:off x="4572000" y="1783080"/>
            <a:ext cx="0" cy="914400"/>
          </a:xfrm>
          <a:prstGeom prst="straightConnector1">
            <a:avLst/>
          </a:prstGeom>
          <a:ln w="19050">
            <a:solidFill>
              <a:srgbClr val="8E6F3E"/>
            </a:solidFill>
            <a:tailEnd type="triangle"/>
          </a:ln>
        </p:spPr>
      </p:cxnSp>
      <p:sp>
        <p:nvSpPr>
          <p:cNvPr id="0" name="Pipe-CONSTRAINT"/>
          <p:cNvSpPr/>
          <p:nvPr/>
        </p:nvSpPr>
        <p:spPr>
          <a:xfrm>
            <a:off x="274320" y="420624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CONSTRAINT</a:t>
            </a:r>
          </a:p>
        </p:txBody>
      </p:sp>
      <p:cxnSp>
        <p:nvCxnSpPr>
          <p:cNvPr id="0" name="PipeArrowCon"/>
          <p:cNvCxnSpPr/>
          <p:nvPr/>
        </p:nvCxnSpPr>
        <p:spPr>
          <a:xfrm flipV="1">
            <a:off x="1024320" y="3340080"/>
            <a:ext cx="0" cy="866160"/>
          </a:xfrm>
          <a:prstGeom prst="straightConnector1">
            <a:avLst/>
          </a:prstGeom>
          <a:ln w="19050">
            <a:solidFill>
              <a:srgbClr val="8E6F3E"/>
            </a:solidFill>
            <a:tailEnd type="triangle"/>
          </a:ln>
        </p:spPr>
      </p:cxnSp>
      <p:sp>
        <p:nvSpPr>
          <p:cNvPr id="903" name="Pipe-admits"/>
          <p:cNvSpPr/>
          <p:nvPr/>
        </p:nvSpPr>
        <p:spPr>
          <a:xfrm>
            <a:off x="668436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admits</a:t>
            </a:r>
          </a:p>
        </p:txBody>
      </p:sp>
      <p:sp>
        <p:nvSpPr>
          <p:cNvPr id="904" name="TextBox 5"/>
          <p:cNvSpPr txBox="1"/>
          <p:nvPr/>
        </p:nvSpPr>
        <p:spPr>
          <a:xfrm>
            <a:off x="1911095" y="3474720"/>
            <a:ext cx="1773936" cy="1463040"/>
          </a:xfrm>
          <a:prstGeom prst="rect">
            <a:avLst/>
          </a:prstGeom>
          <a:noFill/>
        </p:spPr>
        <p:txBody>
          <a:bodyPr wrap="square" anchor="ctr">
            <a:spAutoFit/>
          </a:bodyPr>
          <a:lstStyle/>
          <a:p>
            <a:pPr algn="ctr"/>
            <a:r>
              <a:rPr sz="2000" b="0">
                <a:solidFill>
                  <a:srgbClr val="555960"/>
                </a:solidFill>
              </a:rPr>
              <a:t>observes what happened and produces evidence</a:t>
            </a:r>
          </a:p>
        </p:txBody>
      </p:sp>
      <p:sp>
        <p:nvSpPr>
          <p:cNvPr id="905" name="TextBox 5"/>
          <p:cNvSpPr txBox="1"/>
          <p:nvPr/>
        </p:nvSpPr>
        <p:spPr>
          <a:xfrm>
            <a:off x="3685032" y="3474720"/>
            <a:ext cx="1773936" cy="1463040"/>
          </a:xfrm>
          <a:prstGeom prst="rect">
            <a:avLst/>
          </a:prstGeom>
          <a:noFill/>
        </p:spPr>
        <p:txBody>
          <a:bodyPr wrap="square" anchor="ctr">
            <a:spAutoFit/>
          </a:bodyPr>
          <a:lstStyle/>
          <a:p>
            <a:pPr algn="ctr"/>
            <a:r>
              <a:rPr sz="2000" b="0">
                <a:solidFill>
                  <a:srgbClr val="555960"/>
                </a:solidFill>
              </a:rPr>
              <a:t>evaluates evidence against an obligation</a:t>
            </a:r>
          </a:p>
        </p:txBody>
      </p:sp>
      <p:sp>
        <p:nvSpPr>
          <p:cNvPr id="906" name="TextBox 5"/>
          <p:cNvSpPr txBox="1"/>
          <p:nvPr/>
        </p:nvSpPr>
        <p:spPr>
          <a:xfrm>
            <a:off x="5458968" y="3474720"/>
            <a:ext cx="1773936" cy="1463040"/>
          </a:xfrm>
          <a:prstGeom prst="rect">
            <a:avLst/>
          </a:prstGeom>
          <a:noFill/>
        </p:spPr>
        <p:txBody>
          <a:bodyPr wrap="square" anchor="ctr">
            <a:spAutoFit/>
          </a:bodyPr>
          <a:lstStyle/>
          <a:p>
            <a:pPr algn="ctr"/>
            <a:r>
              <a:rPr sz="2000" b="0">
                <a:solidFill>
                  <a:srgbClr val="555960"/>
                </a:solidFill>
              </a:rPr>
              <a:t>controls whether work crosses a boundary</a:t>
            </a:r>
          </a:p>
        </p:txBody>
      </p:sp>
      <p:sp>
        <p:nvSpPr>
          <p:cNvPr id="907" name="TextBox 5"/>
          <p:cNvSpPr txBox="1"/>
          <p:nvPr/>
        </p:nvSpPr>
        <p:spPr>
          <a:xfrm>
            <a:off x="45720" y="4919472"/>
            <a:ext cx="1956816" cy="731520"/>
          </a:xfrm>
          <a:prstGeom prst="rect">
            <a:avLst/>
          </a:prstGeom>
          <a:noFill/>
        </p:spPr>
        <p:txBody>
          <a:bodyPr wrap="square" anchor="ctr">
            <a:spAutoFit/>
          </a:bodyPr>
          <a:lstStyle/>
          <a:p>
            <a:pPr algn="ctr"/>
            <a:r>
              <a:rPr sz="2000" b="0">
                <a:solidFill>
                  <a:srgbClr val="555960"/>
                </a:solidFill>
              </a:rPr>
              <a:t>narrows what may happen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Alignment gives validation judgments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17</a:t>
            </a:fld>
            <a:endParaRPr lang="en-US"/>
          </a:p>
        </p:txBody>
      </p:sp>
      <p:sp>
        <p:nvSpPr>
          <p:cNvPr id="5" name="TextBox 4"/>
          <p:cNvSpPr txBox="1"/>
          <p:nvPr/>
        </p:nvSpPr>
        <p:spPr>
          <a:xfrm>
            <a:off x="137160" y="1572768"/>
            <a:ext cx="1417320" cy="640080"/>
          </a:xfrm>
          <a:prstGeom prst="rect">
            <a:avLst/>
          </a:prstGeom>
          <a:noFill/>
        </p:spPr>
        <p:txBody>
          <a:bodyPr wrap="square" anchor="ctr" rIns="0">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71907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417320" cy="640080"/>
          </a:xfrm>
          <a:prstGeom prst="rect">
            <a:avLst/>
          </a:prstGeom>
          <a:noFill/>
        </p:spPr>
        <p:txBody>
          <a:bodyPr wrap="square" anchor="ctr" rIns="0">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71907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evidence supports a judgment.</a:t>
            </a:r>
          </a:p>
          <a:p>
            <a:pPr algn="ctr"/>
            <a:r>
              <a:rPr sz="2000" b="0" i="1">
                <a:solidFill>
                  <a:srgbClr val="555960"/>
                </a:solidFill>
              </a:rPr>
              <a:t>Alignment asks what that judgment controls.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19</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Check at the earliest boundary where the obligation can be decided.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20</a:t>
            </a:fld>
            <a:endParaRPr lang="en-US"/>
          </a:p>
        </p:txBody>
      </p:sp>
      <p:sp>
        <p:nvSpPr>
          <p:cNvPr id="10" name="SemanticGapTakeaway"/>
          <p:cNvSpPr txBox="1"/>
          <p:nvPr/>
        </p:nvSpPr>
        <p:spPr>
          <a:xfrm>
            <a:off x="274320" y="5029200"/>
            <a:ext cx="8595360" cy="640080"/>
          </a:xfrm>
          <a:prstGeom prst="rect">
            <a:avLst/>
          </a:prstGeom>
          <a:noFill/>
        </p:spPr>
        <p:txBody>
          <a:bodyPr wrap="square" anchor="t" lIns="27432" rIns="27432" tIns="22860" bIns="22860">
            <a:spAutoFit/>
          </a:bodyPr>
          <a:lstStyle/>
          <a:p>
            <a:pPr algn="ctr"/>
            <a:r>
              <a:rPr sz="2000" b="0" i="0">
                <a:solidFill>
                  <a:srgbClr val="5C4826"/>
                </a:solidFill>
              </a:rPr>
              <a:t>The obligation is right. The earlier boundary cannot decide it yet.</a:t>
            </a:r>
          </a:p>
        </p:txBody>
      </p:sp>
      <p:sp>
        <p:nvSpPr>
          <p:cNvPr id="19" name="SG-Unit"/>
          <p:cNvSpPr/>
          <p:nvPr/>
        </p:nvSpPr>
        <p:spPr>
          <a:xfrm>
            <a:off x="2103120" y="178308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COMPLETED UNIT OF WORK</a:t>
            </a:r>
          </a:p>
          <a:p>
            <a:pPr algn="ctr"/>
            <a:r>
              <a:rPr sz="2000" b="0" i="1">
                <a:solidFill>
                  <a:srgbClr val="FBF8F2"/>
                </a:solidFill>
              </a:rPr>
              <a:t>✓  obligation decidable here</a:t>
            </a:r>
          </a:p>
        </p:txBody>
      </p:sp>
      <p:cxnSp>
        <p:nvCxnSpPr>
          <p:cNvPr id="20" name="SG-Lift"/>
          <p:cNvCxnSpPr/>
          <p:nvPr/>
        </p:nvCxnSpPr>
        <p:spPr>
          <a:xfrm flipV="1">
            <a:off x="4572000" y="2788920"/>
            <a:ext cx="0" cy="8686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657600"/>
            <a:ext cx="8595360" cy="457200"/>
          </a:xfrm>
          <a:prstGeom prst="rect">
            <a:avLst/>
          </a:prstGeom>
          <a:noFill/>
        </p:spPr>
        <p:txBody>
          <a:bodyPr wrap="square" anchor="t" lIns="27432" rIns="27432" tIns="22860" bIns="22860">
            <a:spAutoFit/>
          </a:bodyPr>
          <a:lstStyle/>
          <a:p>
            <a:pPr algn="ctr"/>
            <a:r>
              <a:rPr sz="2000" b="0" i="1">
                <a:solidFill>
                  <a:srgbClr val="8E6F3E"/>
                </a:solidFill>
              </a:rPr>
              <a:t>✗  not decidable at any individual commit</a:t>
            </a:r>
          </a:p>
        </p:txBody>
      </p:sp>
      <p:sp>
        <p:nvSpPr>
          <p:cNvPr id="22" name="SG-Commit1"/>
          <p:cNvSpPr/>
          <p:nvPr/>
        </p:nvSpPr>
        <p:spPr>
          <a:xfrm>
            <a:off x="1828800"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3" name="SG-Commit2"/>
          <p:cNvSpPr/>
          <p:nvPr/>
        </p:nvSpPr>
        <p:spPr>
          <a:xfrm>
            <a:off x="3264408"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4" name="SG-Commit3"/>
          <p:cNvSpPr/>
          <p:nvPr/>
        </p:nvSpPr>
        <p:spPr>
          <a:xfrm>
            <a:off x="4700016"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5" name="SG-Commit4"/>
          <p:cNvSpPr/>
          <p:nvPr/>
        </p:nvSpPr>
        <p:spPr>
          <a:xfrm>
            <a:off x="6135624"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cxnSp>
        <p:nvCxnSpPr>
          <p:cNvPr id="26" name="SG-Arrow1"/>
          <p:cNvCxnSpPr/>
          <p:nvPr/>
        </p:nvCxnSpPr>
        <p:spPr>
          <a:xfrm>
            <a:off x="3026664"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1" name="Rectangle 4"/>
          <p:cNvSpPr/>
          <p:nvPr/>
        </p:nvSpPr>
        <p:spPr>
          <a:xfrm>
            <a:off x="274320" y="896112"/>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OBLIGATION  </a:t>
            </a:r>
            <a:r>
              <a:rPr sz="2000" b="0" i="0">
                <a:solidFill>
                  <a:srgbClr val="5C4826"/>
                </a:solidFill>
              </a:rPr>
              <a:t>Code and architectural model must agree when the task completes.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21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You already have two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23</a:t>
            </a:fld>
            <a:endParaRPr lang="en-US"/>
          </a:p>
        </p:txBody>
      </p:sp>
      <p:sp>
        <p:nvSpPr>
          <p:cNvPr id="0" name="Lab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FROM THE MODELING LAB</a:t>
            </a:r>
          </a:p>
        </p:txBody>
      </p:sp>
      <p:sp>
        <p:nvSpPr>
          <p:cNvPr id="0" name="Card-memory"/>
          <p:cNvSpPr/>
          <p:nvPr/>
        </p:nvSpPr>
        <p:spPr>
          <a:xfrm>
            <a:off x="502920" y="1051560"/>
            <a:ext cx="3977639" cy="34290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a:p>
            <a:pPr algn="l">
              <a:spcBef>
                <a:spcPts val="900"/>
              </a:spcBef>
              <a:buNone/>
            </a:pPr>
            <a:r>
              <a:rPr lang="en-US" sz="2000" b="0" i="1" dirty="0">
                <a:solidFill>
                  <a:srgbClr val="555960"/>
                </a:solidFill>
              </a:rPr>
              <a:t>omits: who decides that a thread may run</a:t>
            </a:r>
          </a:p>
        </p:txBody>
      </p:sp>
      <p:sp>
        <p:nvSpPr>
          <p:cNvPr id="0" name="Card-control"/>
          <p:cNvSpPr/>
          <p:nvPr/>
        </p:nvSpPr>
        <p:spPr>
          <a:xfrm>
            <a:off x="4663440" y="1051560"/>
            <a:ext cx="3977639" cy="34290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asleep holds no working memory; awake holds up to its maximum</a:t>
            </a:r>
          </a:p>
          <a:p>
            <a:pPr algn="l">
              <a:spcBef>
                <a:spcPts val="900"/>
              </a:spcBef>
              <a:buNone/>
            </a:pPr>
            <a:r>
              <a:rPr lang="en-US" sz="2000" b="0" i="0" dirty="0">
                <a:solidFill>
                  <a:srgbClr val="5C4826"/>
                </a:solidFill>
              </a:rPr>
              <a:t>the Scheduler admits at most two threads awake</a:t>
            </a:r>
          </a:p>
          <a:p>
            <a:pPr algn="l">
              <a:spcBef>
                <a:spcPts val="900"/>
              </a:spcBef>
              <a:buNone/>
            </a:pPr>
            <a:r>
              <a:rPr lang="en-US" sz="2000" b="0" i="1" dirty="0">
                <a:solidFill>
                  <a:srgbClr val="555960"/>
                </a:solidFill>
              </a:rPr>
              <a:t>omits: what any thread costs in working memory</a:t>
            </a:r>
          </a:p>
        </p:txBody>
      </p:sp>
      <p:sp>
        <p:nvSpPr>
          <p:cNvPr id="0" name="FooterBand"/>
          <p:cNvSpPr/>
          <p:nvPr/>
        </p:nvSpPr>
        <p:spPr>
          <a:xfrm>
            <a:off x="274320" y="5760720"/>
            <a:ext cx="8595360" cy="59436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DISCUSSION  ·  How can we use these models in validation?</a:t>
            </a:r>
          </a:p>
        </p:txBody>
      </p:sp>
      <p:sp>
        <p:nvSpPr>
          <p:cNvPr id="101" name="TextBox 13"/>
          <p:cNvSpPr txBox="1"/>
          <p:nvPr/>
        </p:nvSpPr>
        <p:spPr>
          <a:xfrm>
            <a:off x="274320" y="4526280"/>
            <a:ext cx="8595360" cy="320040"/>
          </a:xfrm>
          <a:prstGeom prst="rect">
            <a:avLst/>
          </a:prstGeom>
          <a:noFill/>
        </p:spPr>
        <p:txBody>
          <a:bodyPr wrap="square" anchor="t">
            <a:spAutoFit/>
          </a:bodyPr>
          <a:lstStyle/>
          <a:p>
            <a:pPr algn="ctr"/>
            <a:r>
              <a:rPr sz="2000" b="1">
                <a:solidFill>
                  <a:srgbClr val="8E6F3E"/>
                </a:solidFill>
              </a:rPr>
              <a:t>VALIDATION SURFACE</a:t>
            </a:r>
          </a:p>
        </p:txBody>
      </p:sp>
      <p:sp>
        <p:nvSpPr>
          <p:cNvPr id="102" name="TextBox 13"/>
          <p:cNvSpPr txBox="1"/>
          <p:nvPr/>
        </p:nvSpPr>
        <p:spPr>
          <a:xfrm>
            <a:off x="274320" y="4864608"/>
            <a:ext cx="8595360" cy="777240"/>
          </a:xfrm>
          <a:prstGeom prst="rect">
            <a:avLst/>
          </a:prstGeom>
          <a:noFill/>
        </p:spPr>
        <p:txBody>
          <a:bodyPr wrap="square" anchor="t">
            <a:spAutoFit/>
          </a:bodyPr>
          <a:lstStyle/>
          <a:p>
            <a:pPr algn="ctr"/>
            <a:r>
              <a:rPr sz="2000" b="0">
                <a:solidFill>
                  <a:srgbClr val="5C4826"/>
                </a:solidFill>
              </a:rPr>
              <a:t>preserve consequential distinctions   ·   expose relationships</a:t>
            </a:r>
          </a:p>
          <a:p>
            <a:pPr algn="ctr"/>
            <a:r>
              <a:rPr sz="2000" b="0">
                <a:solidFill>
                  <a:srgbClr val="5C4826"/>
                </a:solidFill>
              </a:rPr>
              <a:t>leave irrelevant choices open   ·   enable evaluation without reconstruction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support static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24</a:t>
            </a:fld>
            <a:endParaRPr lang="en-US"/>
          </a:p>
        </p:txBody>
      </p:sp>
      <p:sp>
        <p:nvSpPr>
          <p:cNvPr id="0" name="St-MODEL"/>
          <p:cNvSpPr/>
          <p:nvPr/>
        </p:nvSpPr>
        <p:spPr>
          <a:xfrm>
            <a:off x="50292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a:t>
            </a:r>
          </a:p>
        </p:txBody>
      </p:sp>
      <p:sp>
        <p:nvSpPr>
          <p:cNvPr id="0" name="St-ANALYSIS"/>
          <p:cNvSpPr/>
          <p:nvPr/>
        </p:nvSpPr>
        <p:spPr>
          <a:xfrm>
            <a:off x="3291840" y="1005840"/>
            <a:ext cx="256032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STATIC ANALYSIS</a:t>
            </a:r>
          </a:p>
        </p:txBody>
      </p:sp>
      <p:sp>
        <p:nvSpPr>
          <p:cNvPr id="0" name="St-VERDICT"/>
          <p:cNvSpPr/>
          <p:nvPr/>
        </p:nvSpPr>
        <p:spPr>
          <a:xfrm>
            <a:off x="681228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VERDICT</a:t>
            </a:r>
          </a:p>
        </p:txBody>
      </p:sp>
      <p:cxnSp>
        <p:nvCxnSpPr>
          <p:cNvPr id="0" name="St-A1"/>
          <p:cNvCxnSpPr/>
          <p:nvPr/>
        </p:nvCxnSpPr>
        <p:spPr>
          <a:xfrm>
            <a:off x="2331720" y="1325880"/>
            <a:ext cx="960120" cy="0"/>
          </a:xfrm>
          <a:prstGeom prst="straightConnector1">
            <a:avLst/>
          </a:prstGeom>
          <a:ln w="19050">
            <a:solidFill>
              <a:srgbClr val="8E6F3E"/>
            </a:solidFill>
            <a:tailEnd type="triangle"/>
          </a:ln>
        </p:spPr>
      </p:cxnSp>
      <p:cxnSp>
        <p:nvCxnSpPr>
          <p:cNvPr id="0" name="St-A2"/>
          <p:cNvCxnSpPr/>
          <p:nvPr/>
        </p:nvCxnSpPr>
        <p:spPr>
          <a:xfrm>
            <a:off x="5852160" y="1325880"/>
            <a:ext cx="960120" cy="0"/>
          </a:xfrm>
          <a:prstGeom prst="straightConnector1">
            <a:avLst/>
          </a:prstGeom>
          <a:ln w="19050">
            <a:solidFill>
              <a:srgbClr val="8E6F3E"/>
            </a:solidFill>
            <a:tailEnd type="triangle"/>
          </a:ln>
        </p:spPr>
      </p:cxnSp>
      <p:sp>
        <p:nvSpPr>
          <p:cNvPr id="0" name="St-Questions"/>
          <p:cNvSpPr/>
          <p:nvPr/>
        </p:nvSpPr>
        <p:spPr>
          <a:xfrm>
            <a:off x="502920" y="2103120"/>
            <a:ext cx="8138160" cy="237744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1" i="0" dirty="0">
                <a:solidFill>
                  <a:srgbClr val="5C4826"/>
                </a:solidFill>
              </a:rPr>
              <a:t>Questions the lab model can already decide:</a:t>
            </a:r>
          </a:p>
          <a:p>
            <a:pPr algn="l">
              <a:spcBef>
                <a:spcPts val="900"/>
              </a:spcBef>
              <a:buNone/>
            </a:pPr>
            <a:r>
              <a:rPr lang="en-US" sz="2000" b="0" i="0" dirty="0">
                <a:solidFill>
                  <a:srgbClr val="5C4826"/>
                </a:solidFill>
              </a:rPr>
              <a:t>Can admitted threads exceed the memory ceiling?</a:t>
            </a:r>
          </a:p>
          <a:p>
            <a:pPr algn="l">
              <a:spcBef>
                <a:spcPts val="900"/>
              </a:spcBef>
              <a:buNone/>
            </a:pPr>
            <a:r>
              <a:rPr lang="en-US" sz="2000" b="0" i="0" dirty="0">
                <a:solidFill>
                  <a:srgbClr val="5C4826"/>
                </a:solidFill>
              </a:rPr>
              <a:t>Can three threads be Awake simultaneously?</a:t>
            </a:r>
          </a:p>
          <a:p>
            <a:pPr algn="l">
              <a:spcBef>
                <a:spcPts val="900"/>
              </a:spcBef>
              <a:buNone/>
            </a:pPr>
            <a:r>
              <a:rPr lang="en-US" sz="2000" b="0" i="0" dirty="0">
                <a:solidFill>
                  <a:srgbClr val="5C4826"/>
                </a:solidFill>
              </a:rPr>
              <a:t>Is an illegal lifecycle transition reachable?</a:t>
            </a:r>
          </a:p>
        </p:txBody>
      </p:sp>
      <p:sp>
        <p:nvSpPr>
          <p:cNvPr id="0" name="FooterBand"/>
          <p:cNvSpPr/>
          <p:nvPr/>
        </p:nvSpPr>
        <p:spPr>
          <a:xfrm>
            <a:off x="274320" y="5760720"/>
            <a:ext cx="8595360" cy="59436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Explicit structure can turn repeated reconstruction into a decidable query.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support dynamic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25</a:t>
            </a:fld>
            <a:endParaRPr lang="en-US"/>
          </a:p>
        </p:txBody>
      </p:sp>
      <p:sp>
        <p:nvSpPr>
          <p:cNvPr id="0" name="Dy-MODEL"/>
          <p:cNvSpPr/>
          <p:nvPr/>
        </p:nvSpPr>
        <p:spPr>
          <a:xfrm>
            <a:off x="2697480" y="3831336"/>
            <a:ext cx="2203704" cy="7315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 — expected behavior</a:t>
            </a:r>
          </a:p>
        </p:txBody>
      </p:sp>
      <p:cxnSp>
        <p:nvCxnSpPr>
          <p:cNvPr id="0" name="Dy-AM"/>
          <p:cNvCxnSpPr/>
          <p:nvPr/>
        </p:nvCxnSpPr>
        <p:spPr>
          <a:xfrm flipH="1">
            <a:off x="2240280" y="4197096"/>
            <a:ext cx="402336" cy="0"/>
          </a:xfrm>
          <a:prstGeom prst="straightConnector1">
            <a:avLst/>
          </a:prstGeom>
          <a:ln w="19050">
            <a:solidFill>
              <a:srgbClr val="8E6F3E"/>
            </a:solidFill>
            <a:tailEnd type="triangle"/>
          </a:ln>
        </p:spPr>
      </p:cxnSp>
      <p:sp>
        <p:nvSpPr>
          <p:cNvPr id="0" name="Dy-EXECUTION"/>
          <p:cNvSpPr/>
          <p:nvPr/>
        </p:nvSpPr>
        <p:spPr>
          <a:xfrm>
            <a:off x="685800" y="105156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EXECUTION</a:t>
            </a:r>
          </a:p>
        </p:txBody>
      </p:sp>
      <p:sp>
        <p:nvSpPr>
          <p:cNvPr id="0" name="Dy-SENSOR"/>
          <p:cNvSpPr/>
          <p:nvPr/>
        </p:nvSpPr>
        <p:spPr>
          <a:xfrm>
            <a:off x="685800" y="1993392"/>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Dy-TRACE"/>
          <p:cNvSpPr/>
          <p:nvPr/>
        </p:nvSpPr>
        <p:spPr>
          <a:xfrm>
            <a:off x="685800" y="2935224"/>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TRACE</a:t>
            </a:r>
          </a:p>
        </p:txBody>
      </p:sp>
      <p:sp>
        <p:nvSpPr>
          <p:cNvPr id="0" name="Dy-VALIDATOR"/>
          <p:cNvSpPr/>
          <p:nvPr/>
        </p:nvSpPr>
        <p:spPr>
          <a:xfrm>
            <a:off x="685800" y="3877056"/>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Dy-VERDICT"/>
          <p:cNvSpPr/>
          <p:nvPr/>
        </p:nvSpPr>
        <p:spPr>
          <a:xfrm>
            <a:off x="685800" y="4818888"/>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VERDICT</a:t>
            </a:r>
          </a:p>
        </p:txBody>
      </p:sp>
      <p:cxnSp>
        <p:nvCxnSpPr>
          <p:cNvPr id="0" name="Dy-A0"/>
          <p:cNvCxnSpPr/>
          <p:nvPr/>
        </p:nvCxnSpPr>
        <p:spPr>
          <a:xfrm>
            <a:off x="1435608" y="1691639"/>
            <a:ext cx="0" cy="301752"/>
          </a:xfrm>
          <a:prstGeom prst="straightConnector1">
            <a:avLst/>
          </a:prstGeom>
          <a:ln w="19050">
            <a:solidFill>
              <a:srgbClr val="8E6F3E"/>
            </a:solidFill>
            <a:tailEnd type="triangle"/>
          </a:ln>
        </p:spPr>
      </p:cxnSp>
      <p:cxnSp>
        <p:nvCxnSpPr>
          <p:cNvPr id="0" name="Dy-A1"/>
          <p:cNvCxnSpPr/>
          <p:nvPr/>
        </p:nvCxnSpPr>
        <p:spPr>
          <a:xfrm>
            <a:off x="1435608" y="2633472"/>
            <a:ext cx="0" cy="301752"/>
          </a:xfrm>
          <a:prstGeom prst="straightConnector1">
            <a:avLst/>
          </a:prstGeom>
          <a:ln w="19050">
            <a:solidFill>
              <a:srgbClr val="8E6F3E"/>
            </a:solidFill>
            <a:tailEnd type="triangle"/>
          </a:ln>
        </p:spPr>
      </p:cxnSp>
      <p:cxnSp>
        <p:nvCxnSpPr>
          <p:cNvPr id="0" name="Dy-A2"/>
          <p:cNvCxnSpPr/>
          <p:nvPr/>
        </p:nvCxnSpPr>
        <p:spPr>
          <a:xfrm>
            <a:off x="1435608" y="3575304"/>
            <a:ext cx="0" cy="301752"/>
          </a:xfrm>
          <a:prstGeom prst="straightConnector1">
            <a:avLst/>
          </a:prstGeom>
          <a:ln w="19050">
            <a:solidFill>
              <a:srgbClr val="8E6F3E"/>
            </a:solidFill>
            <a:tailEnd type="triangle"/>
          </a:ln>
        </p:spPr>
      </p:cxnSp>
      <p:cxnSp>
        <p:nvCxnSpPr>
          <p:cNvPr id="0" name="Dy-A3"/>
          <p:cNvCxnSpPr/>
          <p:nvPr/>
        </p:nvCxnSpPr>
        <p:spPr>
          <a:xfrm>
            <a:off x="1435608" y="4517136"/>
            <a:ext cx="0" cy="301752"/>
          </a:xfrm>
          <a:prstGeom prst="straightConnector1">
            <a:avLst/>
          </a:prstGeom>
          <a:ln w="19050">
            <a:solidFill>
              <a:srgbClr val="8E6F3E"/>
            </a:solidFill>
            <a:tailEnd type="triangle"/>
          </a:ln>
        </p:spPr>
      </p:cxnSp>
      <p:sp>
        <p:nvSpPr>
          <p:cNvPr id="101" name="Cmp-static"/>
          <p:cNvSpPr/>
          <p:nvPr/>
        </p:nvSpPr>
        <p:spPr>
          <a:xfrm>
            <a:off x="5120640" y="1965960"/>
            <a:ext cx="3657600" cy="2560320"/>
          </a:xfrm>
          <a:prstGeom prst="rect">
            <a:avLst/>
          </a:prstGeom>
          <a:solidFill>
            <a:srgbClr val="F5F1E8"/>
          </a:solidFill>
          <a:ln w="12700">
            <a:solidFill>
              <a:srgbClr val="C9B991"/>
            </a:solidFill>
          </a:ln>
          <a:effectLst/>
        </p:spPr>
        <p:txBody>
          <a:bodyPr rtlCol="0" anchor="t" wrap="square" lIns="27432" rIns="27432" tIns="22860" bIns="22860"/>
          <a:lstStyle/>
          <a:p>
            <a:pPr algn="ctr"/>
            <a:r>
              <a:rPr sz="2000" b="1">
                <a:solidFill>
                  <a:srgbClr val="5C4826"/>
                </a:solidFill>
              </a:rPr>
              <a:t>STATIC</a:t>
            </a:r>
          </a:p>
          <a:p>
            <a:pPr algn="ctr"/>
            <a:r>
              <a:rPr sz="2000" b="0">
                <a:solidFill>
                  <a:srgbClr val="5C4826"/>
                </a:solidFill>
              </a:rPr>
              <a:t>verdict over the modeled space</a:t>
            </a:r>
          </a:p>
          <a:p>
            <a:pPr algn="ctr"/>
            <a:r>
              <a:rPr sz="2000" b="0">
                <a:solidFill>
                  <a:srgbClr val="5C4826"/>
                </a:solidFill>
              </a:rPr>
              <a:t/>
            </a:r>
          </a:p>
          <a:p>
            <a:pPr algn="ctr"/>
            <a:r>
              <a:rPr sz="2000" b="1">
                <a:solidFill>
                  <a:srgbClr val="5C4826"/>
                </a:solidFill>
              </a:rPr>
              <a:t>DYNAMIC</a:t>
            </a:r>
          </a:p>
          <a:p>
            <a:pPr algn="ctr"/>
            <a:r>
              <a:rPr sz="2000" b="0">
                <a:solidFill>
                  <a:srgbClr val="5C4826"/>
                </a:solidFill>
              </a:rPr>
              <a:t>verdict over observed execution</a:t>
            </a:r>
          </a:p>
        </p:txBody>
      </p:sp>
      <p:sp>
        <p:nvSpPr>
          <p:cNvPr id="102" name="FooterBand"/>
          <p:cNvSpPr/>
          <p:nvPr/>
        </p:nvSpPr>
        <p:spPr>
          <a:xfrm>
            <a:off x="274320" y="5760720"/>
            <a:ext cx="8595360" cy="59436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Where should each verdict acquire authority?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26</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2000" b="0">
                <a:solidFill>
                  <a:srgbClr val="555960"/>
                </a:solidFill>
              </a:rPr>
              <a:t>captures?</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2000" b="0">
                <a:solidFill>
                  <a:srgbClr val="555960"/>
                </a:solidFill>
              </a:rPr>
              <a:t>satisfies?</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2000" b="0">
                <a:solidFill>
                  <a:srgbClr val="555960"/>
                </a:solidFill>
              </a:rPr>
              <a:t>corresponds?</a:t>
            </a:r>
          </a:p>
        </p:txBody>
      </p:sp>
      <p:sp>
        <p:nvSpPr>
          <p:cNvPr id="16" name="TextBox 15"/>
          <p:cNvSpPr txBox="1"/>
          <p:nvPr/>
        </p:nvSpPr>
        <p:spPr>
          <a:xfrm>
            <a:off x="274320" y="4572000"/>
            <a:ext cx="8595360" cy="1143000"/>
          </a:xfrm>
          <a:prstGeom prst="rect">
            <a:avLst/>
          </a:prstGeom>
          <a:noFill/>
        </p:spPr>
        <p:txBody>
          <a:bodyPr wrap="square" anchor="t">
            <a:spAutoFit/>
          </a:bodyPr>
          <a:lstStyle/>
          <a:p>
            <a:pPr algn="ctr"/>
            <a:r>
              <a:rPr sz="2000" b="0">
                <a:solidFill>
                  <a:srgbClr val="5C4826"/>
                </a:solidFill>
              </a:rPr>
              <a:t>model ↔ realization — </a:t>
            </a:r>
            <a:r>
              <a:rPr sz="2000" b="1">
                <a:solidFill>
                  <a:srgbClr val="8E6F3E"/>
                </a:solidFill>
              </a:rPr>
              <a:t>correspondence</a:t>
            </a:r>
          </a:p>
          <a:p>
            <a:pPr algn="ctr"/>
            <a:r>
              <a:rPr sz="2000" b="0">
                <a:solidFill>
                  <a:srgbClr val="5C4826"/>
                </a:solidFill>
              </a:rPr>
              <a:t>realization ↔ obligation — </a:t>
            </a:r>
            <a:r>
              <a:rPr sz="2000" b="1">
                <a:solidFill>
                  <a:srgbClr val="8E6F3E"/>
                </a:solidFill>
              </a:rPr>
              <a:t>conformance</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Correspondence is one edge, not the whole triangle.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Design the Alignment</a:t>
            </a:r>
          </a:p>
        </p:txBody>
      </p:sp>
      <p:sp>
        <p:nvSpPr>
          <p:cNvPr id="4" name="Slide Number Placeholder 5"/>
          <p:cNvSpPr>
            <a:spLocks noGrp="1"/>
          </p:cNvSpPr>
          <p:nvPr>
            <p:ph type="sldNum" sz="quarter" idx="4"/>
          </p:nvPr>
        </p:nvSpPr>
        <p:spPr/>
        <p:txBody>
          <a:bodyPr/>
          <a:lstStyle/>
          <a:p>
            <a:fld id="{B7EB45DA-9A0D-DC49-8E02-F30A5DDC21C3}" type="slidenum">
              <a:rPr lang="en-US" smtClean="0"/>
              <a:t>27</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sz="2000">
                <a:solidFill>
                  <a:srgbClr val="8E6F3E"/>
                </a:solidFill>
              </a:rPr>
              <a:t>TEAM ACTIVITY  ·  10–12 MINUTES</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Design the delegated process and its controls. Use the model as given.</a:t>
            </a:r>
          </a:p>
        </p:txBody>
      </p:sp>
      <p:sp>
        <p:nvSpPr>
          <p:cNvPr id="901" name="Card-obligations"/>
          <p:cNvSpPr/>
          <p:nvPr/>
        </p:nvSpPr>
        <p:spPr>
          <a:xfrm>
            <a:off x="274320" y="1051560"/>
            <a:ext cx="416052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OBLIGATIONS</a:t>
            </a:r>
          </a:p>
          <a:p>
            <a:pPr algn="l">
              <a:spcBef>
                <a:spcPts val="900"/>
              </a:spcBef>
              <a:buNone/>
            </a:pPr>
            <a:r>
              <a:rPr lang="en-US" sz="2000" b="1" i="0" dirty="0">
                <a:solidFill>
                  <a:srgbClr val="8E6F3E"/>
                </a:solidFill>
              </a:rPr>
              <a:t xml:space="preserve">1  ·  </a:t>
            </a:r>
            <a:r>
              <a:rPr lang="en-US" sz="2000" b="0" i="0" dirty="0">
                <a:solidFill>
                  <a:srgbClr val="5C4826"/>
                </a:solidFill>
              </a:rPr>
              <a:t>Preserve the external API.</a:t>
            </a:r>
          </a:p>
          <a:p>
            <a:pPr algn="l">
              <a:spcBef>
                <a:spcPts val="900"/>
              </a:spcBef>
              <a:buNone/>
            </a:pPr>
            <a:r>
              <a:rPr lang="en-US" sz="2000" b="1" i="0" dirty="0">
                <a:solidFill>
                  <a:srgbClr val="8E6F3E"/>
                </a:solidFill>
              </a:rPr>
              <a:t xml:space="preserve">2  ·  </a:t>
            </a:r>
            <a:r>
              <a:rPr lang="en-US" sz="2000" b="0" i="0" dirty="0">
                <a:solidFill>
                  <a:srgbClr val="5C4826"/>
                </a:solidFill>
              </a:rPr>
              <a:t>Worst-case memory below 64 MB.</a:t>
            </a:r>
          </a:p>
          <a:p>
            <a:pPr algn="l">
              <a:spcBef>
                <a:spcPts val="900"/>
              </a:spcBef>
              <a:buNone/>
            </a:pPr>
            <a:r>
              <a:rPr lang="en-US" sz="2000" b="1" i="0" dirty="0">
                <a:solidFill>
                  <a:srgbClr val="8E6F3E"/>
                </a:solidFill>
              </a:rPr>
              <a:t xml:space="preserve">3  ·  </a:t>
            </a:r>
            <a:r>
              <a:rPr lang="en-US" sz="2000" b="0" i="0" dirty="0">
                <a:solidFill>
                  <a:srgbClr val="5C4826"/>
                </a:solidFill>
              </a:rPr>
              <a:t>Avoid the forbidden dependency.</a:t>
            </a:r>
          </a:p>
          <a:p>
            <a:pPr algn="l">
              <a:spcBef>
                <a:spcPts val="900"/>
              </a:spcBef>
              <a:buNone/>
            </a:pPr>
            <a:r>
              <a:rPr lang="en-US" sz="2000" b="1" i="0" dirty="0">
                <a:solidFill>
                  <a:srgbClr val="8E6F3E"/>
                </a:solidFill>
              </a:rPr>
              <a:t xml:space="preserve">4  ·  </a:t>
            </a:r>
            <a:r>
              <a:rPr lang="en-US" sz="2000" b="0" i="0" dirty="0">
                <a:solidFill>
                  <a:srgbClr val="5C4826"/>
                </a:solidFill>
              </a:rPr>
              <a:t>Preserve the cycle ordering: Sensor.read → decide → Actuator.act.</a:t>
            </a:r>
          </a:p>
        </p:txBody>
      </p:sp>
      <p:sp>
        <p:nvSpPr>
          <p:cNvPr id="902" name="Card-given-model"/>
          <p:cNvSpPr/>
          <p:nvPr/>
        </p:nvSpPr>
        <p:spPr>
          <a:xfrm>
            <a:off x="4617720" y="1051560"/>
            <a:ext cx="425196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THE GIVEN MODEL</a:t>
            </a:r>
          </a:p>
          <a:p>
            <a:pPr algn="l">
              <a:spcBef>
                <a:spcPts val="900"/>
              </a:spcBef>
              <a:buNone/>
            </a:pPr>
            <a:r>
              <a:rPr lang="en-US" sz="2000" b="1" i="0" dirty="0">
                <a:solidFill>
                  <a:srgbClr val="8E6F3E"/>
                </a:solidFill>
              </a:rPr>
              <a:t>STRUCTURE</a:t>
            </a:r>
          </a:p>
          <a:p>
            <a:pPr algn="l">
              <a:spcBef>
                <a:spcPts val="900"/>
              </a:spcBef>
              <a:buNone/>
            </a:pPr>
            <a:r>
              <a:rPr lang="en-US" sz="2000" b="0" i="0" dirty="0">
                <a:solidFill>
                  <a:srgbClr val="5C4826"/>
                </a:solidFill>
              </a:rPr>
              <a:t>Controller — API: IController</a:t>
            </a:r>
          </a:p>
          <a:p>
            <a:pPr algn="l">
              <a:spcBef>
                <a:spcPts val="900"/>
              </a:spcBef>
              <a:buNone/>
            </a:pPr>
            <a:r>
              <a:rPr lang="en-US" sz="2000" b="0" i="0" dirty="0">
                <a:solidFill>
                  <a:srgbClr val="5C4826"/>
                </a:solidFill>
              </a:rPr>
              <a:t>uses → Sensor · Actuator</a:t>
            </a:r>
          </a:p>
          <a:p>
            <a:pPr algn="l">
              <a:spcBef>
                <a:spcPts val="900"/>
              </a:spcBef>
              <a:buNone/>
            </a:pPr>
            <a:r>
              <a:rPr lang="en-US" sz="2000" b="0" i="0" dirty="0">
                <a:solidFill>
                  <a:srgbClr val="5C4826"/>
                </a:solidFill>
              </a:rPr>
              <a:t>forbidden → CloudSDK</a:t>
            </a:r>
          </a:p>
          <a:p>
            <a:pPr algn="l">
              <a:spcBef>
                <a:spcPts val="900"/>
              </a:spcBef>
              <a:buNone/>
            </a:pPr>
            <a:r>
              <a:rPr lang="en-US" sz="2000" b="0" i="0" dirty="0">
                <a:solidFill>
                  <a:srgbClr val="5C4826"/>
                </a:solidFill>
              </a:rPr>
              <a:t>memory ≤ 64 MB</a:t>
            </a:r>
          </a:p>
          <a:p>
            <a:pPr algn="l">
              <a:spcBef>
                <a:spcPts val="900"/>
              </a:spcBef>
              <a:buNone/>
            </a:pPr>
            <a:r>
              <a:rPr lang="en-US" sz="2000" b="1" i="0" dirty="0">
                <a:solidFill>
                  <a:srgbClr val="8E6F3E"/>
                </a:solidFill>
              </a:rPr>
              <a:t>BEHAVIOR</a:t>
            </a:r>
          </a:p>
          <a:p>
            <a:pPr algn="l">
              <a:spcBef>
                <a:spcPts val="900"/>
              </a:spcBef>
              <a:buNone/>
            </a:pPr>
            <a:r>
              <a:rPr lang="en-US" sz="2000" b="0" i="0" dirty="0">
                <a:solidFill>
                  <a:srgbClr val="5C4826"/>
                </a:solidFill>
              </a:rPr>
              <a:t>each cycle: Sensor.read → decide → Actuator.act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Compare your designs</a:t>
            </a:r>
          </a:p>
        </p:txBody>
      </p:sp>
      <p:sp>
        <p:nvSpPr>
          <p:cNvPr id="4" name="Slide Number Placeholder 5"/>
          <p:cNvSpPr>
            <a:spLocks noGrp="1"/>
          </p:cNvSpPr>
          <p:nvPr>
            <p:ph type="sldNum" sz="quarter" idx="4"/>
          </p:nvPr>
        </p:nvSpPr>
        <p:spPr/>
        <p:txBody>
          <a:bodyPr/>
          <a:lstStyle/>
          <a:p>
            <a:fld id="{B7EB45DA-9A0D-DC49-8E02-F30A5DDC21C3}" type="slidenum">
              <a:rPr lang="en-US" smtClean="0"/>
              <a:t>28</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
        <p:nvSpPr>
          <p:cNvPr id="13" name="Compare4"/>
          <p:cNvSpPr/>
          <p:nvPr/>
        </p:nvSpPr>
        <p:spPr>
          <a:xfrm>
            <a:off x="502920" y="41427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Model vs. reconstruction</a:t>
            </a:r>
          </a:p>
          <a:p>
            <a:pPr algn="l"/>
            <a:r>
              <a:rPr sz="2000" b="0" i="0">
                <a:solidFill>
                  <a:srgbClr val="5C4826"/>
                </a:solidFill>
              </a:rPr>
              <a:t>What becomes easier if the relevant knowledge is explicit?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29</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decide which obligations have consequences in the engineered environment</a:t>
            </a:r>
          </a:p>
        </p:txBody>
      </p:sp>
      <p:sp>
        <p:nvSpPr>
          <p:cNvPr id="9" name="Rectangle 8"/>
          <p:cNvSpPr/>
          <p:nvPr/>
        </p:nvSpPr>
        <p:spPr>
          <a:xfrm>
            <a:off x="640080" y="3291840"/>
            <a:ext cx="8183879" cy="25146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27432" tIns="73152" bIns="22860"/>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8564</TotalTime>
  <Words>5079</Words>
  <Application>Microsoft Macintosh PowerPoint</Application>
  <PresentationFormat>On-screen Show (4:3)</PresentationFormat>
  <Paragraphs>694</Paragraphs>
  <Slides>34</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Times</vt:lpstr>
      <vt:lpstr>Purdue1</vt:lpstr>
      <vt:lpstr>PowerPoint Presentation</vt:lpstr>
      <vt:lpstr>Engineers may delegate realization without delegating responsibility for the resulting system.</vt:lpstr>
      <vt:lpstr>Delegation did not begin with agents</vt:lpstr>
      <vt:lpstr>The recipient changes</vt:lpstr>
      <vt:lpstr>The delegation problem remains</vt:lpstr>
      <vt:lpstr>BOUND</vt:lpstr>
      <vt:lpstr>BOUND: design the delegated work</vt:lpstr>
      <vt:lpstr>A delegation boundary is a reasoning boundary</vt:lpstr>
      <vt:lpstr>Reasoning has a horizon</vt:lpstr>
      <vt:lpstr>Delegation leaves degrees of freedom</vt:lpstr>
      <vt:lpstr>EQUIP</vt:lpstr>
      <vt:lpstr>EQUIP: capability lives in a system</vt:lpstr>
      <vt:lpstr>Equip three things</vt:lpstr>
      <vt:lpstr>Choose the reasoner for the work</vt:lpstr>
      <vt:lpstr>Engineer the information available to it</vt:lpstr>
      <vt:lpstr>Representation can change the reasoning problem</vt:lpstr>
      <vt:lpstr>Give the agent means to observe and act</vt:lpstr>
      <vt:lpstr>A real harness engineers the reasoning surface</vt:lpstr>
      <vt:lpstr>Zoom out: the equipped agent</vt:lpstr>
      <vt:lpstr>How will you equip your agents?</vt:lpstr>
      <vt:lpstr>Stretch break</vt:lpstr>
      <vt:lpstr>AUTHORIZE</vt:lpstr>
      <vt:lpstr>Capability is not authority</vt:lpstr>
      <vt:lpstr>Authority follows consequence</vt:lpstr>
      <vt:lpstr>Authority should match the delegated work</vt:lpstr>
      <vt:lpstr>VERIFY</vt:lpstr>
      <vt:lpstr>VERIFY: what evidence closes the work?</vt:lpstr>
      <vt:lpstr>The producer is not independent evidence</vt:lpstr>
      <vt:lpstr>THE DELEGATION SYSTEM</vt:lpstr>
      <vt:lpstr>Engineer the delegation system</vt:lpstr>
      <vt:lpstr>Better agents change the delegation design</vt:lpstr>
      <vt:lpstr>What changes? What stays?</vt:lpstr>
      <vt:lpstr>What must exist outside the agent?</vt:lpstr>
      <vt:lpstr>Phase 2 honest individual status update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398</cp:revision>
  <dcterms:created xsi:type="dcterms:W3CDTF">2020-02-21T23:00:33Z</dcterms:created>
  <dcterms:modified xsi:type="dcterms:W3CDTF">2026-09-29T15:52:00Z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