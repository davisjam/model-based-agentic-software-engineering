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3"/>
  </p:notesMasterIdLst>
  <p:sldIdLst>
    <p:sldId id="256" r:id="rId2"/>
    <p:sldId id="302" r:id="rId3"/>
    <p:sldId id="289" r:id="rId4"/>
    <p:sldId id="290" r:id="rId5"/>
    <p:sldId id="258" r:id="rId6"/>
    <p:sldId id="284" r:id="rId7"/>
    <p:sldId id="291" r:id="rId8"/>
    <p:sldId id="293" r:id="rId9"/>
    <p:sldId id="294" r:id="rId10"/>
    <p:sldId id="285" r:id="rId11"/>
    <p:sldId id="304" r:id="rId12"/>
    <p:sldId id="297" r:id="rId13"/>
    <p:sldId id="298" r:id="rId14"/>
    <p:sldId id="305" r:id="rId15"/>
    <p:sldId id="267" r:id="rId16"/>
    <p:sldId id="306" r:id="rId17"/>
    <p:sldId id="268" r:id="rId18"/>
    <p:sldId id="286" r:id="rId19"/>
    <p:sldId id="269" r:id="rId20"/>
    <p:sldId id="270" r:id="rId21"/>
    <p:sldId id="273" r:id="rId22"/>
    <p:sldId id="288" r:id="rId23"/>
    <p:sldId id="307" r:id="rId24"/>
    <p:sldId id="308" r:id="rId25"/>
    <p:sldId id="311" r:id="rId26"/>
    <p:sldId id="309" r:id="rId27"/>
    <p:sldId id="312" r:id="rId38"/>
    <p:sldId id="281" r:id="rId28"/>
    <p:sldId id="310" r:id="rId29"/>
    <p:sldId id="274" r:id="rId30"/>
    <p:sldId id="276" r:id="rId31"/>
    <p:sldId id="282"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86" autoAdjust="0"/>
    <p:restoredTop sz="56164"/>
  </p:normalViewPr>
  <p:slideViewPr>
    <p:cSldViewPr snapToGrid="0" snapToObjects="1">
      <p:cViewPr varScale="1">
        <p:scale>
          <a:sx n="64" d="100"/>
          <a:sy n="64" d="100"/>
        </p:scale>
        <p:origin x="296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Same equation, same picture as Modeling-1 — say so: you have seen this; nothing in the production band has changed.</a:t>
            </a:r>
          </a:p>
          <a:p>
            <a:r>
              <a:t>- What is new is below the band. The encoded obligation drops down as the MODEL; the realization drops down to the CHECK; the check consults the model; the verdict is PASS or DO NOT PASS.</a:t>
            </a:r>
          </a:p>
          <a:p>
            <a:r>
              <a:t>- The point you must not blur: Alignment does NOT make the fabricator better. P(E | R), P(I | E, R), and P(L | I, E, R) are untouched. Alignment changes the production system by adding SELECTION on the fabricator's output. Modeling works inside production; Alignment acts on its output.</a:t>
            </a:r>
          </a:p>
          <a:p>
            <a:r>
              <a:t>- The quantity that improves is P(L | C). Before Alignment: how likely is the agent to realize the obligation correctly? After Alignment: given that this realization was admitted, how likely is it to be correct?</a:t>
            </a:r>
          </a:p>
          <a:p>
            <a:r>
              <a:t>- Then immediately: let's run the production system. Advance to the vibe-coding exercise; do not belabor the structure — the students are about to experience what happens without the check.</a:t>
            </a:r>
          </a:p>
          <a:p>
            <a:endParaRPr/>
          </a:p>
          <a:p>
            <a:r>
              <a:t>ANIMATION (apply by hand in PowerPoint — python-pptx has no animation API, so this ships as one static composite; the check structure is baked into the figure, so building steps 2-5 as clicks means overlaying native shapes or splitting the picture):</a:t>
            </a:r>
          </a:p>
          <a:p>
            <a:r>
              <a:t>1. equation + production pipeline</a:t>
            </a:r>
          </a:p>
          <a:p>
            <a:r>
              <a:t>2. fade in Realization → CHECK</a:t>
            </a:r>
          </a:p>
          <a:p>
            <a:r>
              <a:t>3. draw the arrow back from CHECK to MODEL</a:t>
            </a:r>
          </a:p>
          <a:p>
            <a:r>
              <a:t>4. reveal PASS / DO NOT PASS</a:t>
            </a:r>
          </a:p>
          <a:p>
            <a:r>
              <a:t>5. reveal P(L | 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a:p>
            <a:r>
              <a:t>- We are no longer asking how to build or analyze a model. We already did that in Modeling. We are asking how an existing model can participate in Alignment.</a:t>
            </a:r>
          </a:p>
          <a:p>
            <a:r>
              <a:t>- That distinction governs the next several slides.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Last time, we asked what questions these models let us answer. Today the model is already here. The question is: how can we use it to decide whether something the agent built or did is acceptable?</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payoff strip under the cards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models give validation mechanisms an explicit object to inspect — that is what makes a model a validation surface.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In Modeling, we could analyze this model and ask whether its own states permit three threads to be Awake. That's useful, but it's not Alignment yet.</a:t>
            </a:r>
          </a:p>
          <a:p>
            <a:r>
              <a:t>- Here we have an implementation or execution produced by delegated work. Now the model gives us an explicit surface against which that realization can be checked.</a:t>
            </a:r>
          </a:p>
          <a:p>
            <a:r>
              <a:t>- Walk the picture. The model says what should be true: the lifecycle, the memory bounds, the admission rule. The realization is what was actually built: source code, configuration, execution. The check asks whether the realization corresponds where the model matters.</a:t>
            </a:r>
          </a:p>
          <a:p>
            <a:r>
              <a:t>- There are at least two broad ways to do that. We can inspect the realization without running it, or we can observe it executing.</a:t>
            </a:r>
          </a:p>
          <a:p>
            <a:r>
              <a:t>- Do not introduce OBLIGATION yet; the triangle two slides ahead complicates this picture deliberately.</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first broad way: inspect the realization without executing it.</a:t>
            </a:r>
          </a:p>
          <a:p>
            <a:r>
              <a:t>- Say 'static check', not 'static analysis'. 'Static check' is broader and more accurate: correspondence could be established by AST queries, architectural conformance, type checking, dependency checking, conventional static analysis, and more.</a:t>
            </a:r>
          </a:p>
          <a:p>
            <a:r>
              <a:t>- Ground each question in the lab. 'Can any code path admit a third Awake thread?' checks the code against the admission rule the class modeled — at most two awake. 'Does the implementation permit a lifecycle transition absent from the model?' checks the code's transitions against the modeled lifecycle. 'Do implementation resource bounds agree with the modeled bounds?' checks declared limits against the per-thread working-memory maxima and the 48 KB ceiling.</a:t>
            </a:r>
          </a:p>
          <a:p>
            <a:r>
              <a:t>- Note what each question interrogates: the REALIZATION, against what the model makes explicit. We are not analyzing the model; we are using it.</a:t>
            </a:r>
          </a:p>
          <a:p>
            <a:r>
              <a:t>- Careful claim: a green verdict proves neither the model nor the implementation correct. It establishes the selected correspondence property we checked — nothing more. 'Agreement is not correctness', two slides from now, exposes that limitation deliberately.</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second broad way: observe the realization executing.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(two projected on the slide, the rest spoken):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takeaway is deliberately narrower than 'the implementation corresponds to the model': a trace cannot establish universal correspondence. Dynamic evidence establishes correspondence over the execution you actually observed — nothing beyond it.</a:t>
            </a:r>
          </a:p>
          <a:p>
            <a:r>
              <a:t>- Close by asking aloud: where should each verdict acquire authority?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One distinction left: three kinds of judgment. The triangle carries them.</a:t>
            </a:r>
          </a:p>
          <a:p>
            <a:r>
              <a:t>- The previous two slides gave us ways to establish this bottom edge: correspondence between model and realization. But don't confuse agreement with correctness.</a:t>
            </a:r>
          </a:p>
          <a:p>
            <a:r>
              <a:t>- Walk the triangle: 1. Model and realization: does the realization correspond to the model? 2. Model and obligation: did the model capture the thing we actually care about? 3. Realization and obligation: does the resulting system actually satisfy the obligation?</a:t>
            </a:r>
          </a:p>
          <a:p>
            <a:r>
              <a:t>- A perfectly implemented bad model is still wrong.</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FF435-EF43-F977-7177-FF1086F60F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B394D-9E51-BE61-A98F-7C3BB3ADA4D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B43B97B-E0B1-E14A-60C7-73F6F8D12C62}"/>
              </a:ext>
            </a:extLst>
          </p:cNvPr>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a:extLst>
              <a:ext uri="{FF2B5EF4-FFF2-40B4-BE49-F238E27FC236}">
                <a16:creationId xmlns:a16="http://schemas.microsoft.com/office/drawing/2014/main" id="{E828341B-8E54-7EF7-758A-4A7BAE69D2C1}"/>
              </a:ext>
            </a:extLst>
          </p:cNvPr>
          <p:cNvSpPr>
            <a:spLocks noGrp="1"/>
          </p:cNvSpPr>
          <p:nvPr>
            <p:ph type="sldNum" sz="quarter" idx="5"/>
          </p:nvPr>
        </p:nvSpPr>
        <p:spPr/>
      </p:sp>
    </p:spTree>
    <p:extLst>
      <p:ext uri="{BB962C8B-B14F-4D97-AF65-F5344CB8AC3E}">
        <p14:creationId xmlns:p14="http://schemas.microsoft.com/office/powerpoint/2010/main" val="1505738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 transition + 2 minutes setup + 8-10 minutes work</a:t>
            </a:r>
          </a:p>
          <a:p>
            <a:r>
              <a:t>- This slide is the section transition — the activity title itself is the transition. Setup line: enough vocabulary; now use it.</a:t>
            </a:r>
          </a:p>
          <a:p>
            <a:r>
              <a:t>- This is unmistakably a RETURN TO THE LAB, not a new scenario: the two model cards on the left are the two models the class built in the Modeling lab and saw four slides ago (the working-memory view and the lifecycle view of the sensor node). In Modeling, they built and used the model; now they use that same model as an independent validation surface.</a:t>
            </a:r>
          </a:p>
          <a:p>
            <a:r>
              <a:t>- This lands the Modeling deck's own message that models constrain implementation without determining it: we left realization choices free; now we check that the chosen realization still satisfies what the model preserved.</a:t>
            </a:r>
          </a:p>
          <a:p>
            <a:r>
              <a:t>- Teams choose ONE obligation from the lab — the 48 KB device ceiling, the at-most-two-awake admission rule, a per-thread working-memory maximum — and walk the five questions on the right.</a:t>
            </a:r>
          </a:p>
          <a:p>
            <a:r>
              <a:t>WORKSHEET (keep this slide up while teams work and walk it aloud):</a:t>
            </a:r>
          </a:p>
          <a:p>
            <a:r>
              <a:t>- For each obligation, identify what can fail, what evidence establishes it, where it becomes decidable, and what failure should control.</a:t>
            </a:r>
          </a:p>
          <a:p>
            <a:r>
              <a:t>- The five numbered questions walk that sequence: failure mode; prevent or detect; evidence; earliest decidable boundary; consequence of a failed check. Teams should also ask which of the two views makes the relevant fact explicit, and whether they would validate it statically or dynamically.</a:t>
            </a:r>
          </a:p>
          <a:p>
            <a:r>
              <a:t>- Teams should be ready to defend their boundary choices and what authority the verdict carries.</a:t>
            </a:r>
          </a:p>
          <a:p>
            <a:r>
              <a:t>- Takeaway strip: OBLIGATION → MODEL → CHECK → DECIDE → CONTROL — the triangle has just made the point that the model is not the source of truth; the engineering obligation is.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relied on different evidence, ask whether the obligation can be decided from the realization itself — statically — or only from observed execution.</a:t>
            </a:r>
          </a:p>
          <a:p>
            <a:r>
              <a:t>- Finally, if teams attach different consequences, ask whether this failure warrants blocking commit, PR, merge, deployment, or merely producing evidence. This dimension goes last because it returns to the central Alignment question: where does the verdict acquire authority?</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gap in the lecture explicitly. So far this lecture has mostly discussed passive alignment, because controls are easiest to explain as checks on proposed work. But alignment is not merely rejection. If an existing realization violates a newly explicit obligation, the environment can expose the disagreement and use agents or other engineering work to change the realization until correspondence is established. After that succeeds, the same obligation can be preserved passively.</a:t>
            </a:r>
          </a:p>
          <a:p>
            <a:r>
              <a:t>Brownfield engineering: this is how a model acquires authority over a system that predates the model — one of the most practically important consequences of the active/passive distinction. And active alignment is not necessarily behavior preserving: satisfying a new model may require substantial changes to the realization, so do not assume it is just a refactor.</a:t>
            </a:r>
          </a:p>
          <a:p>
            <a:r>
              <a:t>Bridge forward to Failure-Aware Engineering, the next unit: a failure reveals something that should become explicit; you model the lesson; active alignment repairs the existing realization to satisfy it; passive alignment prevents later work from silently undoing it. Active alignment produces durable engineering structure — failure analysis tells us what the new evidence justifies changing; active alignment explains how a newly discovered obligation can be imposed on an already-existing realization.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fontScale="90000"/>
          </a:bodyPr>
          <a:lstStyle/>
          <a:p>
            <a:r>
              <a:rPr sz="2400" b="0">
                <a:solidFill>
                  <a:srgbClr val="000000"/>
                </a:solidFill>
              </a:rPr>
              <a:t>The Master Equation: Alignment adds a check</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4" name="EqBox"/>
          <p:cNvSpPr txBox="1"/>
          <p:nvPr/>
        </p:nvSpPr>
        <p:spPr>
          <a:xfrm>
            <a:off x="274320" y="804672"/>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P(E | R) · P(I | E, R) · P(L | I, E, R)</a:t>
            </a:r>
          </a:p>
        </p:txBody>
      </p:sp>
      <p:pic>
        <p:nvPicPr>
          <p:cNvPr id="5" name="BandCheckFigure" descr="production-band-with-check-deck.png"/>
          <p:cNvPicPr>
            <a:picLocks noChangeAspect="1"/>
          </p:cNvPicPr>
          <p:nvPr/>
        </p:nvPicPr>
        <p:blipFill>
          <a:blip r:embed="rId3"/>
          <a:stretch>
            <a:fillRect/>
          </a:stretch>
        </p:blipFill>
        <p:spPr>
          <a:xfrm>
            <a:off x="685800" y="1280160"/>
            <a:ext cx="7315200" cy="4216400"/>
          </a:xfrm>
          <a:prstGeom prst="rect">
            <a:avLst/>
          </a:prstGeom>
        </p:spPr>
      </p:pic>
      <p:sp>
        <p:nvSpPr>
          <p:cNvPr id="6" name="ContrastBlock"/>
          <p:cNvSpPr txBox="1"/>
          <p:nvPr/>
        </p:nvSpPr>
        <p:spPr>
          <a:xfrm>
            <a:off x="960120" y="4114800"/>
            <a:ext cx="4983480" cy="1280160"/>
          </a:xfrm>
          <a:prstGeom prst="rect">
            <a:avLst/>
          </a:prstGeom>
          <a:noFill/>
        </p:spPr>
        <p:txBody>
          <a:bodyPr wrap="square" lIns="0" tIns="0" rIns="0" bIns="0">
            <a:spAutoFit/>
          </a:bodyPr>
          <a:lstStyle/>
          <a:p>
            <a:r>
              <a:rPr sz="2000" b="1" i="0" dirty="0">
                <a:solidFill>
                  <a:srgbClr val="5C4826"/>
                </a:solidFill>
              </a:rPr>
              <a:t>Before Alignment: </a:t>
            </a:r>
            <a:r>
              <a:rPr sz="2000" b="0" i="0" dirty="0">
                <a:solidFill>
                  <a:srgbClr val="555960"/>
                </a:solidFill>
              </a:rPr>
              <a:t>How likely is the agent to realize the obligation correctly?</a:t>
            </a:r>
          </a:p>
          <a:p>
            <a:pPr>
              <a:spcBef>
                <a:spcPts val="800"/>
              </a:spcBef>
            </a:pPr>
            <a:r>
              <a:rPr sz="2000" b="1" i="0" dirty="0">
                <a:solidFill>
                  <a:srgbClr val="5C4826"/>
                </a:solidFill>
              </a:rPr>
              <a:t>After Alignment: </a:t>
            </a:r>
            <a:r>
              <a:rPr sz="2000" b="0" i="0" dirty="0">
                <a:solidFill>
                  <a:srgbClr val="555960"/>
                </a:solidFill>
              </a:rPr>
              <a:t>Given that this realization was admitted, how likely is it to be correct?</a:t>
            </a:r>
          </a:p>
        </p:txBody>
      </p:sp>
      <p:sp>
        <p:nvSpPr>
          <p:cNvPr id="7" name="Annotation-modeling"/>
          <p:cNvSpPr txBox="1"/>
          <p:nvPr/>
        </p:nvSpPr>
        <p:spPr>
          <a:xfrm>
            <a:off x="274320" y="5559552"/>
            <a:ext cx="7818120" cy="585216"/>
          </a:xfrm>
          <a:prstGeom prst="rect">
            <a:avLst/>
          </a:prstGeom>
          <a:noFill/>
        </p:spPr>
        <p:txBody>
          <a:bodyPr wrap="square" lIns="0" tIns="0" rIns="0" bIns="0">
            <a:spAutoFit/>
          </a:bodyPr>
          <a:lstStyle/>
          <a:p>
            <a:r>
              <a:rPr sz="2000" b="1" i="0" dirty="0">
                <a:solidFill>
                  <a:srgbClr val="5C4826"/>
                </a:solidFill>
              </a:rPr>
              <a:t>Modeling</a:t>
            </a:r>
            <a:r>
              <a:rPr sz="2000" b="0" i="0" dirty="0">
                <a:solidFill>
                  <a:srgbClr val="5C4826"/>
                </a:solidFill>
              </a:rPr>
              <a:t> raises the probability of a correct realization by improving what is represented and interpreted.</a:t>
            </a:r>
          </a:p>
        </p:txBody>
      </p:sp>
      <p:sp>
        <p:nvSpPr>
          <p:cNvPr id="8" name="Annotation-alignment"/>
          <p:cNvSpPr txBox="1"/>
          <p:nvPr/>
        </p:nvSpPr>
        <p:spPr>
          <a:xfrm>
            <a:off x="274320" y="6181344"/>
            <a:ext cx="7818120" cy="585216"/>
          </a:xfrm>
          <a:prstGeom prst="rect">
            <a:avLst/>
          </a:prstGeom>
          <a:noFill/>
        </p:spPr>
        <p:txBody>
          <a:bodyPr wrap="square" lIns="0" tIns="0" rIns="0" bIns="0">
            <a:spAutoFit/>
          </a:bodyPr>
          <a:lstStyle/>
          <a:p>
            <a:r>
              <a:rPr sz="2000" b="1" i="0">
                <a:solidFill>
                  <a:srgbClr val="9A3F12"/>
                </a:solidFill>
              </a:rPr>
              <a:t>Alignment</a:t>
            </a:r>
            <a:r>
              <a:rPr sz="2000" b="0" i="0">
                <a:solidFill>
                  <a:srgbClr val="5C4826"/>
                </a:solidFill>
              </a:rPr>
              <a:t> raises the probability of an accepted implementation being correct by checking the realization against the obligation.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91440" rtlCol="0" anchor="t"/>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endParaRPr sz="2800" b="0" i="0">
              <a:solidFill>
                <a:srgbClr val="5C4826"/>
              </a:solidFill>
            </a:endParaRP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4" name="Taxo-TASK"/>
          <p:cNvSpPr/>
          <p:nvPr/>
        </p:nvSpPr>
        <p:spPr>
          <a:xfrm>
            <a:off x="50292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5" name="Taxo-CESS"/>
          <p:cNvSpPr/>
          <p:nvPr/>
        </p:nvSpPr>
        <p:spPr>
          <a:xfrm>
            <a:off x="466344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Give it a work order</a:t>
            </a:r>
          </a:p>
        </p:txBody>
      </p:sp>
      <p:graphicFrame>
        <p:nvGraphicFramePr>
          <p:cNvPr id="4" name="WorkOrderTable"/>
          <p:cNvGraphicFramePr>
            <a:graphicFrameLocks noGrp="1"/>
          </p:cNvGraphicFramePr>
          <p:nvPr/>
        </p:nvGraphicFramePr>
        <p:xfrm>
          <a:off x="502920" y="1005840"/>
          <a:ext cx="6492240" cy="5077968"/>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48640">
                <a:tc gridSpan="2">
                  <a:txBody>
                    <a:bodyPr/>
                    <a:lstStyle/>
                    <a:p>
                      <a:pPr algn="ctr"/>
                      <a:r>
                        <a:rPr sz="2000" b="1" i="0">
                          <a:solidFill>
                            <a:srgbClr val="FFFFFF"/>
                          </a:solidFill>
                        </a:rPr>
                        <a:t>WORK ORDER: Bulk refunds</a:t>
                      </a:r>
                    </a:p>
                  </a:txBody>
                  <a:tcPr marL="68580" marR="45720" marT="27432" marB="27432" anchor="ctr">
                    <a:solidFill>
                      <a:srgbClr val="8E6F3E"/>
                    </a:solidFill>
                  </a:tcPr>
                </a:tc>
                <a:tc hMerge="1">
                  <a:txBody>
                    <a:bodyPr/>
                    <a:lstStyle/>
                    <a:p>
                      <a:endParaRPr/>
                    </a:p>
                  </a:txBody>
                  <a:tcPr/>
                </a:tc>
                <a:extLst>
                  <a:ext uri="{0D108BD9-81ED-4DB2-BD59-A6C34878D82A}">
                    <a16:rowId xmlns:a16="http://schemas.microsoft.com/office/drawing/2014/main" val="10000"/>
                  </a:ext>
                </a:extLst>
              </a:tr>
              <a:tr h="640080">
                <a:tc>
                  <a:txBody>
                    <a:bodyPr/>
                    <a:lstStyle/>
                    <a:p>
                      <a:pPr algn="l"/>
                      <a:r>
                        <a:rPr sz="2000" b="1" i="0">
                          <a:solidFill>
                            <a:srgbClr val="5C4826"/>
                          </a:solidFill>
                        </a:rPr>
                        <a:t>Goal</a:t>
                      </a:r>
                    </a:p>
                  </a:txBody>
                  <a:tcPr marL="68580" marR="45720" marT="27432" marB="27432" anchor="ctr">
                    <a:solidFill>
                      <a:srgbClr val="F5F1E8"/>
                    </a:solidFill>
                  </a:tcPr>
                </a:tc>
                <a:tc>
                  <a:txBody>
                    <a:bodyPr/>
                    <a:lstStyle/>
                    <a:p>
                      <a:pPr algn="l"/>
                      <a:r>
                        <a:rPr sz="2000" b="0" i="0">
                          <a:solidFill>
                            <a:srgbClr val="5C4826"/>
                          </a:solidFill>
                        </a:rPr>
                        <a:t>Add POST /refunds/bulk</a:t>
                      </a:r>
                    </a:p>
                  </a:txBody>
                  <a:tcPr marL="68580" marR="45720" marT="27432" marB="27432" anchor="ctr">
                    <a:solidFill>
                      <a:srgbClr val="FBF8F2"/>
                    </a:solidFill>
                  </a:tcPr>
                </a:tc>
                <a:extLst>
                  <a:ext uri="{0D108BD9-81ED-4DB2-BD59-A6C34878D82A}">
                    <a16:rowId xmlns:a16="http://schemas.microsoft.com/office/drawing/2014/main" val="10001"/>
                  </a:ext>
                </a:extLst>
              </a:tr>
              <a:tr h="640080">
                <a:tc>
                  <a:txBody>
                    <a:bodyPr/>
                    <a:lstStyle/>
                    <a:p>
                      <a:pPr algn="l"/>
                      <a:r>
                        <a:rPr sz="2000" b="1" i="0">
                          <a:solidFill>
                            <a:srgbClr val="5C4826"/>
                          </a:solidFill>
                        </a:rPr>
                        <a:t>Scope</a:t>
                      </a:r>
                    </a:p>
                  </a:txBody>
                  <a:tcPr marL="68580" marR="45720" marT="27432" marB="27432" anchor="ctr">
                    <a:solidFill>
                      <a:srgbClr val="F5F1E8"/>
                    </a:solidFill>
                  </a:tcPr>
                </a:tc>
                <a:tc>
                  <a:txBody>
                    <a:bodyPr/>
                    <a:lstStyle/>
                    <a:p>
                      <a:pPr algn="l"/>
                      <a:r>
                        <a:rPr sz="2000" b="0" i="0">
                          <a:solidFill>
                            <a:srgbClr val="5C4826"/>
                          </a:solidFill>
                        </a:rPr>
                        <a:t>Modify the payments service only</a:t>
                      </a:r>
                    </a:p>
                  </a:txBody>
                  <a:tcPr marL="68580" marR="45720" marT="27432" marB="27432" anchor="ctr">
                    <a:solidFill>
                      <a:srgbClr val="FBF8F2"/>
                    </a:solidFill>
                  </a:tcPr>
                </a:tc>
                <a:extLst>
                  <a:ext uri="{0D108BD9-81ED-4DB2-BD59-A6C34878D82A}">
                    <a16:rowId xmlns:a16="http://schemas.microsoft.com/office/drawing/2014/main" val="10002"/>
                  </a:ext>
                </a:extLst>
              </a:tr>
              <a:tr h="640080">
                <a:tc>
                  <a:txBody>
                    <a:bodyPr/>
                    <a:lstStyle/>
                    <a:p>
                      <a:pPr algn="l"/>
                      <a:r>
                        <a:rPr sz="2000" b="1" i="0">
                          <a:solidFill>
                            <a:srgbClr val="5C4826"/>
                          </a:solidFill>
                        </a:rPr>
                        <a:t>Preserve</a:t>
                      </a:r>
                    </a:p>
                  </a:txBody>
                  <a:tcPr marL="68580" marR="45720" marT="27432" marB="27432" anchor="ctr">
                    <a:solidFill>
                      <a:srgbClr val="F5F1E8"/>
                    </a:solidFill>
                  </a:tcPr>
                </a:tc>
                <a:tc>
                  <a:txBody>
                    <a:bodyPr/>
                    <a:lstStyle/>
                    <a:p>
                      <a:pPr algn="l"/>
                      <a:r>
                        <a:rPr sz="2000" b="0" i="0">
                          <a:solidFill>
                            <a:srgbClr val="5C4826"/>
                          </a:solidFill>
                        </a:rPr>
                        <a:t>Existing single-refund API behavior</a:t>
                      </a:r>
                    </a:p>
                  </a:txBody>
                  <a:tcPr marL="68580" marR="45720" marT="27432" marB="27432" anchor="ctr">
                    <a:solidFill>
                      <a:srgbClr val="FBF8F2"/>
                    </a:solidFill>
                  </a:tcPr>
                </a:tc>
                <a:extLst>
                  <a:ext uri="{0D108BD9-81ED-4DB2-BD59-A6C34878D82A}">
                    <a16:rowId xmlns:a16="http://schemas.microsoft.com/office/drawing/2014/main" val="10003"/>
                  </a:ext>
                </a:extLst>
              </a:tr>
              <a:tr h="640080">
                <a:tc>
                  <a:txBody>
                    <a:bodyPr/>
                    <a:lstStyle/>
                    <a:p>
                      <a:pPr algn="l"/>
                      <a:r>
                        <a:rPr sz="2000" b="1" i="0">
                          <a:solidFill>
                            <a:srgbClr val="5C4826"/>
                          </a:solidFill>
                        </a:rPr>
                        <a:t>Do not</a:t>
                      </a:r>
                    </a:p>
                  </a:txBody>
                  <a:tcPr marL="68580" marR="45720" marT="27432" marB="27432" anchor="ctr">
                    <a:solidFill>
                      <a:srgbClr val="F5F1E8"/>
                    </a:solidFill>
                  </a:tcPr>
                </a:tc>
                <a:tc>
                  <a:txBody>
                    <a:bodyPr/>
                    <a:lstStyle/>
                    <a:p>
                      <a:pPr algn="l"/>
                      <a:r>
                        <a:rPr sz="2000" b="0" i="0">
                          <a:solidFill>
                            <a:srgbClr val="5C4826"/>
                          </a:solidFill>
                        </a:rPr>
                        <a:t>Modify authentication or payment-provider adapters</a:t>
                      </a:r>
                    </a:p>
                  </a:txBody>
                  <a:tcPr marL="68580" marR="45720" marT="27432" marB="27432" anchor="ctr">
                    <a:solidFill>
                      <a:srgbClr val="FBF8F2"/>
                    </a:solidFill>
                  </a:tcPr>
                </a:tc>
                <a:extLst>
                  <a:ext uri="{0D108BD9-81ED-4DB2-BD59-A6C34878D82A}">
                    <a16:rowId xmlns:a16="http://schemas.microsoft.com/office/drawing/2014/main" val="10004"/>
                  </a:ext>
                </a:extLst>
              </a:tr>
              <a:tr h="640080">
                <a:tc>
                  <a:txBody>
                    <a:bodyPr/>
                    <a:lstStyle/>
                    <a:p>
                      <a:pPr algn="l"/>
                      <a:r>
                        <a:rPr sz="2000" b="1" i="0">
                          <a:solidFill>
                            <a:srgbClr val="5C4826"/>
                          </a:solidFill>
                        </a:rPr>
                        <a:t>Check</a:t>
                      </a:r>
                    </a:p>
                  </a:txBody>
                  <a:tcPr marL="68580" marR="45720" marT="27432" marB="27432" anchor="ctr">
                    <a:solidFill>
                      <a:srgbClr val="F5F1E8"/>
                    </a:solidFill>
                  </a:tcPr>
                </a:tc>
                <a:tc>
                  <a:txBody>
                    <a:bodyPr/>
                    <a:lstStyle/>
                    <a:p>
                      <a:pPr algn="l"/>
                      <a:r>
                        <a:rPr sz="2000" b="0" i="0">
                          <a:solidFill>
                            <a:srgbClr val="5C4826"/>
                          </a:solidFill>
                        </a:rPr>
                        <a:t>Existing tests + new bulk-refund tests</a:t>
                      </a:r>
                    </a:p>
                  </a:txBody>
                  <a:tcPr marL="68580" marR="45720" marT="27432" marB="27432" anchor="ctr">
                    <a:solidFill>
                      <a:srgbClr val="FBF8F2"/>
                    </a:solidFill>
                  </a:tcPr>
                </a:tc>
                <a:extLst>
                  <a:ext uri="{0D108BD9-81ED-4DB2-BD59-A6C34878D82A}">
                    <a16:rowId xmlns:a16="http://schemas.microsoft.com/office/drawing/2014/main" val="10005"/>
                  </a:ext>
                </a:extLst>
              </a:tr>
              <a:tr h="640080">
                <a:tc>
                  <a:txBody>
                    <a:bodyPr/>
                    <a:lstStyle/>
                    <a:p>
                      <a:pPr algn="l"/>
                      <a:r>
                        <a:rPr sz="2000" b="1" i="0">
                          <a:solidFill>
                            <a:srgbClr val="5C4826"/>
                          </a:solidFill>
                        </a:rPr>
                        <a:t>Deliver</a:t>
                      </a:r>
                    </a:p>
                  </a:txBody>
                  <a:tcPr marL="68580" marR="45720" marT="27432" marB="27432" anchor="ctr">
                    <a:solidFill>
                      <a:srgbClr val="F5F1E8"/>
                    </a:solidFill>
                  </a:tcPr>
                </a:tc>
                <a:tc>
                  <a:txBody>
                    <a:bodyPr/>
                    <a:lstStyle/>
                    <a:p>
                      <a:pPr algn="l"/>
                      <a:r>
                        <a:rPr sz="2000" b="0" i="0">
                          <a:solidFill>
                            <a:srgbClr val="5C4826"/>
                          </a:solidFill>
                        </a:rPr>
                        <a:t>Commit changes on your worktree and open a PR</a:t>
                      </a:r>
                    </a:p>
                  </a:txBody>
                  <a:tcPr marL="68580" marR="45720" marT="27432" marB="27432" anchor="ctr">
                    <a:solidFill>
                      <a:srgbClr val="FBF8F2"/>
                    </a:solidFill>
                  </a:tcPr>
                </a:tc>
                <a:extLst>
                  <a:ext uri="{0D108BD9-81ED-4DB2-BD59-A6C34878D82A}">
                    <a16:rowId xmlns:a16="http://schemas.microsoft.com/office/drawing/2014/main" val="10006"/>
                  </a:ext>
                </a:extLst>
              </a:tr>
              <a:tr h="640080">
                <a:tc>
                  <a:txBody>
                    <a:bodyPr/>
                    <a:lstStyle/>
                    <a:p>
                      <a:pPr algn="l"/>
                      <a:r>
                        <a:rPr sz="2000" b="1" i="0">
                          <a:solidFill>
                            <a:srgbClr val="5C4826"/>
                          </a:solidFill>
                        </a:rPr>
                        <a:t>Authority</a:t>
                      </a:r>
                    </a:p>
                  </a:txBody>
                  <a:tcPr marL="68580" marR="45720" marT="27432" marB="27432" anchor="ctr">
                    <a:solidFill>
                      <a:srgbClr val="F5F1E8"/>
                    </a:solidFill>
                  </a:tcPr>
                </a:tc>
                <a:tc>
                  <a:txBody>
                    <a:bodyPr/>
                    <a:lstStyle/>
                    <a:p>
                      <a:pPr algn="l"/>
                      <a:r>
                        <a:rPr sz="2000" b="0" i="0">
                          <a:solidFill>
                            <a:srgbClr val="5C4826"/>
                          </a:solidFill>
                        </a:rPr>
                        <a:t>Do not merge or deploy</a:t>
                      </a:r>
                    </a:p>
                  </a:txBody>
                  <a:tcPr marL="68580" marR="45720" marT="27432" marB="27432" anchor="ctr">
                    <a:solidFill>
                      <a:srgbClr val="FBF8F2"/>
                    </a:solidFill>
                  </a:tcPr>
                </a:tc>
                <a:extLst>
                  <a:ext uri="{0D108BD9-81ED-4DB2-BD59-A6C34878D82A}">
                    <a16:rowId xmlns:a16="http://schemas.microsoft.com/office/drawing/2014/main" val="10007"/>
                  </a:ext>
                </a:extLst>
              </a:tr>
            </a:tbl>
          </a:graphicData>
        </a:graphic>
      </p:graphicFrame>
      <p:sp>
        <p:nvSpPr>
          <p:cNvPr id="5" name="BoundTask"/>
          <p:cNvSpPr/>
          <p:nvPr/>
        </p:nvSpPr>
        <p:spPr>
          <a:xfrm>
            <a:off x="7178040" y="1554480"/>
            <a:ext cx="1691640" cy="1920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6" name="BoundProcess"/>
          <p:cNvSpPr/>
          <p:nvPr/>
        </p:nvSpPr>
        <p:spPr>
          <a:xfrm>
            <a:off x="7178040" y="3474720"/>
            <a:ext cx="1691640" cy="25603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BOUND</a:t>
            </a:r>
          </a:p>
          <a:p>
            <a:pPr algn="ctr"/>
            <a:endParaRPr sz="2000" b="1" i="0">
              <a:solidFill>
                <a:srgbClr val="5C4826"/>
              </a:solidFill>
            </a:endParaRP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LEAVE FREE</a:t>
            </a:r>
          </a:p>
          <a:p>
            <a:pPr algn="ctr"/>
            <a:endParaRPr sz="2000" b="1" i="0">
              <a:solidFill>
                <a:srgbClr val="5C4826"/>
              </a:solidFill>
            </a:endParaRP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Either bound can be violated</a:t>
            </a:r>
          </a:p>
        </p:txBody>
      </p:sp>
      <p:sp>
        <p:nvSpPr>
          <p:cNvPr id="2" name="TaxHead-result"/>
          <p:cNvSpPr/>
          <p:nvPr/>
        </p:nvSpPr>
        <p:spPr>
          <a:xfrm>
            <a:off x="228600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RESULT</a:t>
            </a:r>
          </a:p>
        </p:txBody>
      </p:sp>
      <p:sp>
        <p:nvSpPr>
          <p:cNvPr id="4" name="TaxHead-process"/>
          <p:cNvSpPr/>
          <p:nvPr/>
        </p:nvSpPr>
        <p:spPr>
          <a:xfrm>
            <a:off x="5577840" y="1005840"/>
            <a:ext cx="329184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PROCESS</a:t>
            </a:r>
          </a:p>
        </p:txBody>
      </p:sp>
      <p:sp>
        <p:nvSpPr>
          <p:cNvPr id="5" name="TaxLbl-QUESTI"/>
          <p:cNvSpPr/>
          <p:nvPr/>
        </p:nvSpPr>
        <p:spPr>
          <a:xfrm>
            <a:off x="274320" y="173736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QUESTION</a:t>
            </a:r>
          </a:p>
        </p:txBody>
      </p:sp>
      <p:sp>
        <p:nvSpPr>
          <p:cNvPr id="6" name="TaxC1-QUESTI"/>
          <p:cNvSpPr/>
          <p:nvPr/>
        </p:nvSpPr>
        <p:spPr>
          <a:xfrm>
            <a:off x="2286000" y="173736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Did the artifact satisfy its obligations?</a:t>
            </a:r>
          </a:p>
        </p:txBody>
      </p:sp>
      <p:sp>
        <p:nvSpPr>
          <p:cNvPr id="7" name="TaxC2-QUESTI"/>
          <p:cNvSpPr/>
          <p:nvPr/>
        </p:nvSpPr>
        <p:spPr>
          <a:xfrm>
            <a:off x="5577840" y="173736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Was the work performed within the delegated process?</a:t>
            </a:r>
          </a:p>
        </p:txBody>
      </p:sp>
      <p:sp>
        <p:nvSpPr>
          <p:cNvPr id="8" name="TaxLbl-EXAMPL"/>
          <p:cNvSpPr/>
          <p:nvPr/>
        </p:nvSpPr>
        <p:spPr>
          <a:xfrm>
            <a:off x="274320" y="292608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EXAMPLE</a:t>
            </a:r>
          </a:p>
        </p:txBody>
      </p:sp>
      <p:sp>
        <p:nvSpPr>
          <p:cNvPr id="9" name="TaxC1-EXAMPL"/>
          <p:cNvSpPr/>
          <p:nvPr/>
        </p:nvSpPr>
        <p:spPr>
          <a:xfrm>
            <a:off x="2286000" y="292608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Existing API behavior changes</a:t>
            </a:r>
          </a:p>
        </p:txBody>
      </p:sp>
      <p:sp>
        <p:nvSpPr>
          <p:cNvPr id="10" name="TaxC2-EXAMPL"/>
          <p:cNvSpPr/>
          <p:nvPr/>
        </p:nvSpPr>
        <p:spPr>
          <a:xfrm>
            <a:off x="5577840" y="292608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Agent modifies a forbidden dependency</a:t>
            </a:r>
          </a:p>
        </p:txBody>
      </p:sp>
      <p:sp>
        <p:nvSpPr>
          <p:cNvPr id="11" name="TaxLbl-VALIDA"/>
          <p:cNvSpPr/>
          <p:nvPr/>
        </p:nvSpPr>
        <p:spPr>
          <a:xfrm>
            <a:off x="274320" y="411480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VALIDATION TARGET</a:t>
            </a:r>
          </a:p>
        </p:txBody>
      </p:sp>
      <p:sp>
        <p:nvSpPr>
          <p:cNvPr id="12" name="TaxC1-VALIDA"/>
          <p:cNvSpPr/>
          <p:nvPr/>
        </p:nvSpPr>
        <p:spPr>
          <a:xfrm>
            <a:off x="2286000" y="411480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Artifact / system state</a:t>
            </a:r>
          </a:p>
        </p:txBody>
      </p:sp>
      <p:sp>
        <p:nvSpPr>
          <p:cNvPr id="13" name="TaxC2-VALIDA"/>
          <p:cNvSpPr/>
          <p:nvPr/>
        </p:nvSpPr>
        <p:spPr>
          <a:xfrm>
            <a:off x="5577840" y="411480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Actions / evidence / authority</a:t>
            </a:r>
          </a:p>
        </p:txBody>
      </p:sp>
      <p:sp>
        <p:nvSpPr>
          <p:cNvPr id="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dirty="0">
                <a:solidFill>
                  <a:srgbClr val="5C4826"/>
                </a:solidFill>
              </a:rPr>
              <a:t>The resulting system violates an obligation.</a:t>
            </a:r>
          </a:p>
        </p:txBody>
      </p:sp>
      <p:sp>
        <p:nvSpPr>
          <p:cNvPr id="13" name="FailKinds"/>
          <p:cNvSpPr txBox="1"/>
          <p:nvPr/>
        </p:nvSpPr>
        <p:spPr>
          <a:xfrm>
            <a:off x="274320" y="4983480"/>
            <a:ext cx="8595360" cy="1015663"/>
          </a:xfrm>
          <a:prstGeom prst="rect">
            <a:avLst/>
          </a:prstGeom>
          <a:noFill/>
        </p:spPr>
        <p:txBody>
          <a:bodyPr wrap="square" anchor="t">
            <a:spAutoFit/>
          </a:bodyPr>
          <a:lstStyle/>
          <a:p>
            <a:pPr algn="ctr"/>
            <a:r>
              <a:rPr sz="2000" b="0" i="1" dirty="0">
                <a:solidFill>
                  <a:srgbClr val="555960"/>
                </a:solidFill>
              </a:rPr>
              <a:t>wrong behavior · violated invariant · excessive memory · incompatible API</a:t>
            </a:r>
            <a:endParaRPr lang="en-US" sz="2000" b="0" i="1" dirty="0">
              <a:solidFill>
                <a:srgbClr val="555960"/>
              </a:solidFill>
            </a:endParaRPr>
          </a:p>
          <a:p>
            <a:pPr algn="ctr"/>
            <a:endParaRPr lang="en-US" sz="2000" i="1" dirty="0">
              <a:solidFill>
                <a:srgbClr val="555960"/>
              </a:solidFill>
            </a:endParaRPr>
          </a:p>
          <a:p>
            <a:pPr algn="ctr"/>
            <a:r>
              <a:rPr lang="en-US" sz="2000" i="1" dirty="0">
                <a:solidFill>
                  <a:srgbClr val="555960"/>
                </a:solidFill>
              </a:rPr>
              <a:t>(measurable – hopefully you notice before you ship)</a:t>
            </a:r>
            <a:endParaRPr sz="2000" b="0" i="1" dirty="0">
              <a:solidFill>
                <a:srgbClr val="55596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641870"/>
            <a:ext cx="8595360" cy="77721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i="0" dirty="0">
                <a:solidFill>
                  <a:srgbClr val="FFFFFF"/>
                </a:solidFill>
              </a:rPr>
              <a:t>Constraints: </a:t>
            </a:r>
            <a:r>
              <a:rPr sz="2000" b="1" i="0" dirty="0">
                <a:solidFill>
                  <a:srgbClr val="FFFFFF"/>
                </a:solidFill>
              </a:rPr>
              <a:t>If you can make the wrong state impossible, do</a:t>
            </a:r>
            <a:r>
              <a:rPr lang="en-US" sz="2000" b="1" i="0" dirty="0">
                <a:solidFill>
                  <a:srgbClr val="FFFFFF"/>
                </a:solidFill>
              </a:rPr>
              <a:t> so</a:t>
            </a:r>
            <a:r>
              <a:rPr sz="2000" b="1" i="0" dirty="0">
                <a:solidFill>
                  <a:srgbClr val="FFFFFF"/>
                </a:solidFill>
              </a:rPr>
              <a:t>.</a:t>
            </a:r>
            <a:endParaRPr lang="en-US" sz="2000" b="1" i="0" dirty="0">
              <a:solidFill>
                <a:srgbClr val="FFFFFF"/>
              </a:solidFill>
            </a:endParaRPr>
          </a:p>
          <a:p>
            <a:pPr algn="ctr"/>
            <a:r>
              <a:rPr sz="2000" b="1" i="0" dirty="0">
                <a:solidFill>
                  <a:srgbClr val="FFFFFF"/>
                </a:solidFill>
              </a:rPr>
              <a:t>Otherwise: </a:t>
            </a:r>
            <a:r>
              <a:rPr lang="en-US" sz="2000" b="1" i="0" dirty="0">
                <a:solidFill>
                  <a:srgbClr val="FFFFFF"/>
                </a:solidFill>
              </a:rPr>
              <a:t>Demand </a:t>
            </a:r>
            <a:r>
              <a:rPr lang="en-US" sz="2000" b="1" dirty="0" err="1">
                <a:solidFill>
                  <a:srgbClr val="FFFFFF"/>
                </a:solidFill>
              </a:rPr>
              <a:t>Evidence+Evaluation</a:t>
            </a:r>
            <a:endParaRPr sz="2000" b="1" i="0" dirty="0">
              <a:solidFill>
                <a:srgbClr val="FFFFFF"/>
              </a:solidFill>
            </a:endParaRPr>
          </a:p>
        </p:txBody>
      </p:sp>
      <p:pic>
        <p:nvPicPr>
          <p:cNvPr id="9" name="Fig-3-3-1-constraint-vs-sensor" descr="constraint-vs-sensor-deck.png"/>
          <p:cNvPicPr>
            <a:picLocks noChangeAspect="1"/>
          </p:cNvPicPr>
          <p:nvPr/>
        </p:nvPicPr>
        <p:blipFill>
          <a:blip r:embed="rId3"/>
          <a:stretch>
            <a:fillRect/>
          </a:stretch>
        </p:blipFill>
        <p:spPr>
          <a:xfrm>
            <a:off x="731520" y="1051559"/>
            <a:ext cx="7680960" cy="429535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2" name="Pipe-WORK"/>
          <p:cNvSpPr/>
          <p:nvPr/>
        </p:nvSpPr>
        <p:spPr>
          <a:xfrm>
            <a:off x="274320" y="27000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WORK</a:t>
            </a:r>
          </a:p>
        </p:txBody>
      </p:sp>
      <p:sp>
        <p:nvSpPr>
          <p:cNvPr id="5" name="Pipe-SENSOR"/>
          <p:cNvSpPr/>
          <p:nvPr/>
        </p:nvSpPr>
        <p:spPr>
          <a:xfrm>
            <a:off x="204816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6" name="Pipe-VALIDATOR"/>
          <p:cNvSpPr/>
          <p:nvPr/>
        </p:nvSpPr>
        <p:spPr>
          <a:xfrm>
            <a:off x="382200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7" name="Pipe-GATE"/>
          <p:cNvSpPr/>
          <p:nvPr/>
        </p:nvSpPr>
        <p:spPr>
          <a:xfrm>
            <a:off x="559584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GATE</a:t>
            </a:r>
          </a:p>
        </p:txBody>
      </p:sp>
      <p:sp>
        <p:nvSpPr>
          <p:cNvPr id="8" name="Pipe-MERGE-DEPLOY"/>
          <p:cNvSpPr/>
          <p:nvPr/>
        </p:nvSpPr>
        <p:spPr>
          <a:xfrm>
            <a:off x="7287768" y="2560320"/>
            <a:ext cx="1719072" cy="914400"/>
          </a:xfrm>
          <a:prstGeom prst="rect">
            <a:avLst/>
          </a:prstGeom>
          <a:solidFill>
            <a:srgbClr val="F5F1E8"/>
          </a:solidFill>
          <a:ln w="12700">
            <a:solidFill>
              <a:srgbClr val="C9B991"/>
            </a:solidFill>
          </a:ln>
          <a:effectLst/>
        </p:spPr>
        <p:txBody>
          <a:bodyPr wrap="square" lIns="12700" tIns="22860" rIns="12700" bIns="22860" rtlCol="0" anchor="ctr"/>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9" name="PipeArrow0"/>
          <p:cNvCxnSpPr/>
          <p:nvPr/>
        </p:nvCxnSpPr>
        <p:spPr>
          <a:xfrm>
            <a:off x="1774320" y="3020040"/>
            <a:ext cx="273840" cy="0"/>
          </a:xfrm>
          <a:prstGeom prst="straightConnector1">
            <a:avLst/>
          </a:prstGeom>
          <a:ln w="19050">
            <a:solidFill>
              <a:srgbClr val="8E6F3E"/>
            </a:solidFill>
            <a:tailEnd type="triangle"/>
          </a:ln>
        </p:spPr>
      </p:cxnSp>
      <p:cxnSp>
        <p:nvCxnSpPr>
          <p:cNvPr id="10" name="PipeArrow1"/>
          <p:cNvCxnSpPr/>
          <p:nvPr/>
        </p:nvCxnSpPr>
        <p:spPr>
          <a:xfrm>
            <a:off x="3548160" y="3020040"/>
            <a:ext cx="273840" cy="0"/>
          </a:xfrm>
          <a:prstGeom prst="straightConnector1">
            <a:avLst/>
          </a:prstGeom>
          <a:ln w="19050">
            <a:solidFill>
              <a:srgbClr val="8E6F3E"/>
            </a:solidFill>
            <a:tailEnd type="triangle"/>
          </a:ln>
        </p:spPr>
      </p:cxnSp>
      <p:cxnSp>
        <p:nvCxnSpPr>
          <p:cNvPr id="11" name="PipeArrow2"/>
          <p:cNvCxnSpPr/>
          <p:nvPr/>
        </p:nvCxnSpPr>
        <p:spPr>
          <a:xfrm>
            <a:off x="5322000" y="3020040"/>
            <a:ext cx="273840" cy="0"/>
          </a:xfrm>
          <a:prstGeom prst="straightConnector1">
            <a:avLst/>
          </a:prstGeom>
          <a:ln w="19050">
            <a:solidFill>
              <a:srgbClr val="8E6F3E"/>
            </a:solidFill>
            <a:tailEnd type="triangle"/>
          </a:ln>
        </p:spPr>
      </p:cxnSp>
      <p:cxnSp>
        <p:nvCxnSpPr>
          <p:cNvPr id="12" name="PipeArrow3"/>
          <p:cNvCxnSpPr>
            <a:cxnSpLocks/>
            <a:stCxn id="7" idx="3"/>
            <a:endCxn id="8" idx="1"/>
          </p:cNvCxnSpPr>
          <p:nvPr/>
        </p:nvCxnSpPr>
        <p:spPr>
          <a:xfrm flipV="1">
            <a:off x="7095840" y="3017520"/>
            <a:ext cx="191928" cy="2520"/>
          </a:xfrm>
          <a:prstGeom prst="straightConnector1">
            <a:avLst/>
          </a:prstGeom>
          <a:ln w="19050">
            <a:solidFill>
              <a:srgbClr val="8E6F3E"/>
            </a:solidFill>
            <a:tailEnd type="triangle"/>
          </a:ln>
        </p:spPr>
      </p:cxnSp>
      <p:sp>
        <p:nvSpPr>
          <p:cNvPr id="13" name="Pipe-evidence"/>
          <p:cNvSpPr/>
          <p:nvPr/>
        </p:nvSpPr>
        <p:spPr>
          <a:xfrm>
            <a:off x="313668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evidence</a:t>
            </a:r>
          </a:p>
        </p:txBody>
      </p:sp>
      <p:sp>
        <p:nvSpPr>
          <p:cNvPr id="14" name="Pipe-verdict"/>
          <p:cNvSpPr/>
          <p:nvPr/>
        </p:nvSpPr>
        <p:spPr>
          <a:xfrm>
            <a:off x="491052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verdict</a:t>
            </a:r>
          </a:p>
        </p:txBody>
      </p:sp>
      <p:sp>
        <p:nvSpPr>
          <p:cNvPr id="15" name="Pipe-obligation"/>
          <p:cNvSpPr/>
          <p:nvPr/>
        </p:nvSpPr>
        <p:spPr>
          <a:xfrm>
            <a:off x="3822191" y="1325880"/>
            <a:ext cx="150000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obligation</a:t>
            </a:r>
          </a:p>
        </p:txBody>
      </p:sp>
      <p:cxnSp>
        <p:nvCxnSpPr>
          <p:cNvPr id="16" name="PipeArrowObl"/>
          <p:cNvCxnSpPr/>
          <p:nvPr/>
        </p:nvCxnSpPr>
        <p:spPr>
          <a:xfrm>
            <a:off x="4572000" y="1783080"/>
            <a:ext cx="0" cy="914400"/>
          </a:xfrm>
          <a:prstGeom prst="straightConnector1">
            <a:avLst/>
          </a:prstGeom>
          <a:ln w="19050">
            <a:solidFill>
              <a:srgbClr val="8E6F3E"/>
            </a:solidFill>
            <a:tailEnd type="triangle"/>
          </a:ln>
        </p:spPr>
      </p:cxnSp>
      <p:sp>
        <p:nvSpPr>
          <p:cNvPr id="17" name="Pipe-CONSTRAINT"/>
          <p:cNvSpPr/>
          <p:nvPr/>
        </p:nvSpPr>
        <p:spPr>
          <a:xfrm>
            <a:off x="274320" y="420624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CONSTRAINT</a:t>
            </a:r>
          </a:p>
        </p:txBody>
      </p:sp>
      <p:cxnSp>
        <p:nvCxnSpPr>
          <p:cNvPr id="18"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dirty="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rIns="0"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rIns="0"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lIns="27432" tIns="22860" rIns="27432" bIns="22860" anchor="t">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lIns="27432" tIns="22860" rIns="27432" bIns="22860" anchor="t">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Recall Modeling </a:t>
            </a:r>
            <a:r>
              <a:rPr lang="en-US" sz="2400" dirty="0">
                <a:solidFill>
                  <a:srgbClr val="000000"/>
                </a:solidFill>
              </a:rPr>
              <a:t>L</a:t>
            </a:r>
            <a:r>
              <a:rPr lang="en-US" sz="2400" b="0" dirty="0">
                <a:solidFill>
                  <a:srgbClr val="000000"/>
                </a:solidFill>
              </a:rPr>
              <a:t>ab, Activity 1</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5" name="Card-memory"/>
          <p:cNvSpPr/>
          <p:nvPr/>
        </p:nvSpPr>
        <p:spPr>
          <a:xfrm>
            <a:off x="274320" y="1051560"/>
            <a:ext cx="4206239" cy="34290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6" name="Card-control"/>
          <p:cNvSpPr/>
          <p:nvPr/>
        </p:nvSpPr>
        <p:spPr>
          <a:xfrm>
            <a:off x="4663440" y="1051560"/>
            <a:ext cx="4206239" cy="34290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7" name="FooterBand"/>
          <p:cNvSpPr/>
          <p:nvPr/>
        </p:nvSpPr>
        <p:spPr>
          <a:xfrm>
            <a:off x="274319" y="550926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Quick Chat ·  How can we use these models in validation?</a:t>
            </a:r>
          </a:p>
        </p:txBody>
      </p:sp>
      <p:sp>
        <p:nvSpPr>
          <p:cNvPr id="8" name="TPSbadge">
            <a:extLst>
              <a:ext uri="{FF2B5EF4-FFF2-40B4-BE49-F238E27FC236}">
                <a16:creationId xmlns:a16="http://schemas.microsoft.com/office/drawing/2014/main" id="{A9081514-6DCF-3545-C354-5B7DE00E9A43}"/>
              </a:ext>
            </a:extLst>
          </p:cNvPr>
          <p:cNvSpPr/>
          <p:nvPr/>
        </p:nvSpPr>
        <p:spPr>
          <a:xfrm>
            <a:off x="3154680" y="4775517"/>
            <a:ext cx="3017520" cy="47000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Models give us something to check against</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2" name="Mr-MODEL"/>
          <p:cNvSpPr/>
          <p:nvPr/>
        </p:nvSpPr>
        <p:spPr>
          <a:xfrm>
            <a:off x="50292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Mr-REALIZATION"/>
          <p:cNvSpPr/>
          <p:nvPr/>
        </p:nvSpPr>
        <p:spPr>
          <a:xfrm>
            <a:off x="544068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Mr-ModelCap"/>
          <p:cNvSpPr/>
          <p:nvPr/>
        </p:nvSpPr>
        <p:spPr>
          <a:xfrm>
            <a:off x="50292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should be true</a:t>
            </a:r>
          </a:p>
          <a:p>
            <a:pPr algn="ctr">
              <a:spcBef>
                <a:spcPts val="600"/>
              </a:spcBef>
              <a:buNone/>
            </a:pPr>
            <a:r>
              <a:rPr lang="en-US" sz="2000" b="0" i="0" dirty="0">
                <a:solidFill>
                  <a:srgbClr val="5C4826"/>
                </a:solidFill>
              </a:rPr>
              <a:t>lifecycle · memory bounds · admission rule</a:t>
            </a:r>
          </a:p>
        </p:txBody>
      </p:sp>
      <p:sp>
        <p:nvSpPr>
          <p:cNvPr id="7" name="Mr-RealCap"/>
          <p:cNvSpPr/>
          <p:nvPr/>
        </p:nvSpPr>
        <p:spPr>
          <a:xfrm>
            <a:off x="544068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was actually built</a:t>
            </a:r>
          </a:p>
          <a:p>
            <a:pPr algn="ctr">
              <a:spcBef>
                <a:spcPts val="600"/>
              </a:spcBef>
              <a:buNone/>
            </a:pPr>
            <a:r>
              <a:rPr lang="en-US" sz="2000" b="0" i="0" dirty="0">
                <a:solidFill>
                  <a:srgbClr val="5C4826"/>
                </a:solidFill>
              </a:rPr>
              <a:t>source code · configuration · execution</a:t>
            </a:r>
          </a:p>
        </p:txBody>
      </p:sp>
      <p:cxnSp>
        <p:nvCxnSpPr>
          <p:cNvPr id="8" name="Mr-A1"/>
          <p:cNvCxnSpPr/>
          <p:nvPr/>
        </p:nvCxnSpPr>
        <p:spPr>
          <a:xfrm>
            <a:off x="2103120" y="2788920"/>
            <a:ext cx="0" cy="301752"/>
          </a:xfrm>
          <a:prstGeom prst="straightConnector1">
            <a:avLst/>
          </a:prstGeom>
          <a:ln w="19050">
            <a:solidFill>
              <a:srgbClr val="8E6F3E"/>
            </a:solidFill>
            <a:tailEnd type="triangle"/>
          </a:ln>
        </p:spPr>
      </p:cxnSp>
      <p:cxnSp>
        <p:nvCxnSpPr>
          <p:cNvPr id="9" name="Mr-A2"/>
          <p:cNvCxnSpPr/>
          <p:nvPr/>
        </p:nvCxnSpPr>
        <p:spPr>
          <a:xfrm>
            <a:off x="7040880" y="2788920"/>
            <a:ext cx="0" cy="301752"/>
          </a:xfrm>
          <a:prstGeom prst="straightConnector1">
            <a:avLst/>
          </a:prstGeom>
          <a:ln w="19050">
            <a:solidFill>
              <a:srgbClr val="8E6F3E"/>
            </a:solidFill>
            <a:tailEnd type="triangle"/>
          </a:ln>
        </p:spPr>
      </p:cxnSp>
      <p:sp>
        <p:nvSpPr>
          <p:cNvPr id="10" name="Mr-CHECK"/>
          <p:cNvSpPr/>
          <p:nvPr/>
        </p:nvSpPr>
        <p:spPr>
          <a:xfrm>
            <a:off x="1371600" y="3090672"/>
            <a:ext cx="6400800" cy="8686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CHECK</a:t>
            </a:r>
          </a:p>
          <a:p>
            <a:pPr algn="ctr">
              <a:spcBef>
                <a:spcPts val="600"/>
              </a:spcBef>
              <a:buNone/>
            </a:pPr>
            <a:r>
              <a:rPr lang="en-US" sz="2000" b="0" i="0" dirty="0">
                <a:solidFill>
                  <a:srgbClr val="5C4826"/>
                </a:solidFill>
              </a:rPr>
              <a:t>Does the realization correspond where the model matters?</a:t>
            </a:r>
          </a:p>
        </p:txBody>
      </p:sp>
      <p:cxnSp>
        <p:nvCxnSpPr>
          <p:cNvPr id="11" name="Mr-A3"/>
          <p:cNvCxnSpPr/>
          <p:nvPr/>
        </p:nvCxnSpPr>
        <p:spPr>
          <a:xfrm>
            <a:off x="4572000" y="3959352"/>
            <a:ext cx="0" cy="301752"/>
          </a:xfrm>
          <a:prstGeom prst="straightConnector1">
            <a:avLst/>
          </a:prstGeom>
          <a:ln w="19050">
            <a:solidFill>
              <a:srgbClr val="8E6F3E"/>
            </a:solidFill>
            <a:tailEnd type="triangle"/>
          </a:ln>
        </p:spPr>
      </p:cxnSp>
      <p:sp>
        <p:nvSpPr>
          <p:cNvPr id="12" name="Mr-VERDICT"/>
          <p:cNvSpPr/>
          <p:nvPr/>
        </p:nvSpPr>
        <p:spPr>
          <a:xfrm>
            <a:off x="3657600" y="4261104"/>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The model makes expected structure or behavior explicit so the realization can be checked against 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statically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2" name="Sc-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Sc-REALIZA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Sc-ModelItems"/>
          <p:cNvSpPr/>
          <p:nvPr/>
        </p:nvSpPr>
        <p:spPr>
          <a:xfrm>
            <a:off x="50292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lifecycle / bounds</a:t>
            </a:r>
          </a:p>
          <a:p>
            <a:pPr algn="ctr">
              <a:spcBef>
                <a:spcPts val="300"/>
              </a:spcBef>
              <a:buNone/>
            </a:pPr>
            <a:r>
              <a:rPr lang="en-US" sz="2000" b="0" i="0" dirty="0">
                <a:solidFill>
                  <a:srgbClr val="5C4826"/>
                </a:solidFill>
              </a:rPr>
              <a:t>architectural rules</a:t>
            </a:r>
          </a:p>
        </p:txBody>
      </p:sp>
      <p:sp>
        <p:nvSpPr>
          <p:cNvPr id="7" name="Sc-RealItems"/>
          <p:cNvSpPr/>
          <p:nvPr/>
        </p:nvSpPr>
        <p:spPr>
          <a:xfrm>
            <a:off x="544068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source code</a:t>
            </a:r>
          </a:p>
          <a:p>
            <a:pPr algn="ctr">
              <a:spcBef>
                <a:spcPts val="300"/>
              </a:spcBef>
              <a:buNone/>
            </a:pPr>
            <a:r>
              <a:rPr lang="en-US" sz="2000" b="0" i="0" dirty="0">
                <a:solidFill>
                  <a:srgbClr val="5C4826"/>
                </a:solidFill>
              </a:rPr>
              <a:t>configuration</a:t>
            </a:r>
          </a:p>
        </p:txBody>
      </p:sp>
      <p:cxnSp>
        <p:nvCxnSpPr>
          <p:cNvPr id="8" name="Sc-A1"/>
          <p:cNvCxnSpPr/>
          <p:nvPr/>
        </p:nvCxnSpPr>
        <p:spPr>
          <a:xfrm>
            <a:off x="2103120" y="2377440"/>
            <a:ext cx="0" cy="274320"/>
          </a:xfrm>
          <a:prstGeom prst="straightConnector1">
            <a:avLst/>
          </a:prstGeom>
          <a:ln w="19050">
            <a:solidFill>
              <a:srgbClr val="8E6F3E"/>
            </a:solidFill>
            <a:tailEnd type="triangle"/>
          </a:ln>
        </p:spPr>
      </p:cxnSp>
      <p:cxnSp>
        <p:nvCxnSpPr>
          <p:cNvPr id="9" name="Sc-A2"/>
          <p:cNvCxnSpPr/>
          <p:nvPr/>
        </p:nvCxnSpPr>
        <p:spPr>
          <a:xfrm>
            <a:off x="7040880" y="2377440"/>
            <a:ext cx="0" cy="274320"/>
          </a:xfrm>
          <a:prstGeom prst="straightConnector1">
            <a:avLst/>
          </a:prstGeom>
          <a:ln w="19050">
            <a:solidFill>
              <a:srgbClr val="8E6F3E"/>
            </a:solidFill>
            <a:tailEnd type="triangle"/>
          </a:ln>
        </p:spPr>
      </p:cxnSp>
      <p:sp>
        <p:nvSpPr>
          <p:cNvPr id="10" name="Sc-CHECK"/>
          <p:cNvSpPr/>
          <p:nvPr/>
        </p:nvSpPr>
        <p:spPr>
          <a:xfrm>
            <a:off x="1828800" y="265176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STATIC CHECK</a:t>
            </a:r>
          </a:p>
        </p:txBody>
      </p:sp>
      <p:cxnSp>
        <p:nvCxnSpPr>
          <p:cNvPr id="11" name="Sc-A3"/>
          <p:cNvCxnSpPr/>
          <p:nvPr/>
        </p:nvCxnSpPr>
        <p:spPr>
          <a:xfrm>
            <a:off x="4572000" y="3200400"/>
            <a:ext cx="0" cy="274320"/>
          </a:xfrm>
          <a:prstGeom prst="straightConnector1">
            <a:avLst/>
          </a:prstGeom>
          <a:ln w="19050">
            <a:solidFill>
              <a:srgbClr val="8E6F3E"/>
            </a:solidFill>
            <a:tailEnd type="triangle"/>
          </a:ln>
        </p:spPr>
      </p:cxnSp>
      <p:sp>
        <p:nvSpPr>
          <p:cNvPr id="12" name="Sc-VERDICT"/>
          <p:cNvSpPr/>
          <p:nvPr/>
        </p:nvSpPr>
        <p:spPr>
          <a:xfrm>
            <a:off x="3657600" y="347472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Sc-Questions"/>
          <p:cNvSpPr/>
          <p:nvPr/>
        </p:nvSpPr>
        <p:spPr>
          <a:xfrm>
            <a:off x="502920" y="4114800"/>
            <a:ext cx="8138160" cy="137160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Is there any declared correspondence between the model and its realization?</a:t>
            </a:r>
          </a:p>
          <a:p>
            <a:pPr algn="l">
              <a:buNone/>
            </a:pPr>
            <a:r>
              <a:rPr lang="en-US" sz="2000" b="0" i="0" dirty="0">
                <a:solidFill>
                  <a:srgbClr val="5C4826"/>
                </a:solidFill>
              </a:rPr>
              <a:t>Can any code path admit a third Awake thread?</a:t>
            </a:r>
          </a:p>
          <a:p>
            <a:pPr algn="l">
              <a:spcBef>
                <a:spcPts val="300"/>
              </a:spcBef>
              <a:buNone/>
            </a:pPr>
            <a:r>
              <a:rPr lang="en-US" sz="2000" b="0" i="0" dirty="0">
                <a:solidFill>
                  <a:srgbClr val="5C4826"/>
                </a:solidFill>
              </a:rPr>
              <a:t>Does the implementation permit a lifecycle transition absent from the model?</a:t>
            </a:r>
          </a:p>
        </p:txBody>
      </p:sp>
      <p:sp>
        <p:nvSpPr>
          <p:cNvPr id="14" name="FooterBand"/>
          <p:cNvSpPr/>
          <p:nvPr/>
        </p:nvSpPr>
        <p:spPr>
          <a:xfrm>
            <a:off x="274320" y="562356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Static evidence can show correspondence w/o executing the implementation.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dynamically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2" name="Dy-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Dy-ModelCap"/>
          <p:cNvSpPr/>
          <p:nvPr/>
        </p:nvSpPr>
        <p:spPr>
          <a:xfrm>
            <a:off x="502920" y="164592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expected behavior</a:t>
            </a:r>
          </a:p>
        </p:txBody>
      </p:sp>
      <p:sp>
        <p:nvSpPr>
          <p:cNvPr id="6" name="Dy-EXECU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EXECUTION</a:t>
            </a:r>
          </a:p>
        </p:txBody>
      </p:sp>
      <p:cxnSp>
        <p:nvCxnSpPr>
          <p:cNvPr id="7" name="Dy-A0"/>
          <p:cNvCxnSpPr/>
          <p:nvPr/>
        </p:nvCxnSpPr>
        <p:spPr>
          <a:xfrm>
            <a:off x="7040880" y="1554480"/>
            <a:ext cx="0" cy="228600"/>
          </a:xfrm>
          <a:prstGeom prst="straightConnector1">
            <a:avLst/>
          </a:prstGeom>
          <a:ln w="19050">
            <a:solidFill>
              <a:srgbClr val="8E6F3E"/>
            </a:solidFill>
            <a:tailEnd type="triangle"/>
          </a:ln>
        </p:spPr>
      </p:cxnSp>
      <p:sp>
        <p:nvSpPr>
          <p:cNvPr id="8" name="Dy-SENSOR"/>
          <p:cNvSpPr/>
          <p:nvPr/>
        </p:nvSpPr>
        <p:spPr>
          <a:xfrm>
            <a:off x="5440680" y="17830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SENSOR</a:t>
            </a:r>
          </a:p>
        </p:txBody>
      </p:sp>
      <p:cxnSp>
        <p:nvCxnSpPr>
          <p:cNvPr id="9" name="Dy-A1"/>
          <p:cNvCxnSpPr/>
          <p:nvPr/>
        </p:nvCxnSpPr>
        <p:spPr>
          <a:xfrm>
            <a:off x="7040880" y="2240280"/>
            <a:ext cx="0" cy="228600"/>
          </a:xfrm>
          <a:prstGeom prst="straightConnector1">
            <a:avLst/>
          </a:prstGeom>
          <a:ln w="19050">
            <a:solidFill>
              <a:srgbClr val="8E6F3E"/>
            </a:solidFill>
            <a:tailEnd type="triangle"/>
          </a:ln>
        </p:spPr>
      </p:cxnSp>
      <p:sp>
        <p:nvSpPr>
          <p:cNvPr id="10" name="Dy-TRACE"/>
          <p:cNvSpPr/>
          <p:nvPr/>
        </p:nvSpPr>
        <p:spPr>
          <a:xfrm>
            <a:off x="5440680" y="24688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TRACE</a:t>
            </a:r>
          </a:p>
        </p:txBody>
      </p:sp>
      <p:cxnSp>
        <p:nvCxnSpPr>
          <p:cNvPr id="11" name="Dy-A2"/>
          <p:cNvCxnSpPr/>
          <p:nvPr/>
        </p:nvCxnSpPr>
        <p:spPr>
          <a:xfrm>
            <a:off x="7040880" y="2926080"/>
            <a:ext cx="0" cy="365760"/>
          </a:xfrm>
          <a:prstGeom prst="straightConnector1">
            <a:avLst/>
          </a:prstGeom>
          <a:ln w="19050">
            <a:solidFill>
              <a:srgbClr val="8E6F3E"/>
            </a:solidFill>
            <a:tailEnd type="triangle"/>
          </a:ln>
        </p:spPr>
      </p:cxnSp>
      <p:cxnSp>
        <p:nvCxnSpPr>
          <p:cNvPr id="12" name="Dy-A3"/>
          <p:cNvCxnSpPr/>
          <p:nvPr/>
        </p:nvCxnSpPr>
        <p:spPr>
          <a:xfrm>
            <a:off x="2103120" y="2103120"/>
            <a:ext cx="0" cy="1188720"/>
          </a:xfrm>
          <a:prstGeom prst="straightConnector1">
            <a:avLst/>
          </a:prstGeom>
          <a:ln w="19050">
            <a:solidFill>
              <a:srgbClr val="8E6F3E"/>
            </a:solidFill>
            <a:tailEnd type="triangle"/>
          </a:ln>
        </p:spPr>
      </p:cxnSp>
      <p:sp>
        <p:nvSpPr>
          <p:cNvPr id="13" name="Dy-VALIDATOR"/>
          <p:cNvSpPr/>
          <p:nvPr/>
        </p:nvSpPr>
        <p:spPr>
          <a:xfrm>
            <a:off x="1828800" y="329184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VALIDATOR</a:t>
            </a:r>
          </a:p>
        </p:txBody>
      </p:sp>
      <p:cxnSp>
        <p:nvCxnSpPr>
          <p:cNvPr id="14" name="Dy-A4"/>
          <p:cNvCxnSpPr/>
          <p:nvPr/>
        </p:nvCxnSpPr>
        <p:spPr>
          <a:xfrm>
            <a:off x="4572000" y="3840480"/>
            <a:ext cx="0" cy="274320"/>
          </a:xfrm>
          <a:prstGeom prst="straightConnector1">
            <a:avLst/>
          </a:prstGeom>
          <a:ln w="19050">
            <a:solidFill>
              <a:srgbClr val="8E6F3E"/>
            </a:solidFill>
            <a:tailEnd type="triangle"/>
          </a:ln>
        </p:spPr>
      </p:cxnSp>
      <p:sp>
        <p:nvSpPr>
          <p:cNvPr id="15" name="Dy-VERDICT"/>
          <p:cNvSpPr/>
          <p:nvPr/>
        </p:nvSpPr>
        <p:spPr>
          <a:xfrm>
            <a:off x="3657600" y="411480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6" name="Dy-Questions"/>
          <p:cNvSpPr/>
          <p:nvPr/>
        </p:nvSpPr>
        <p:spPr>
          <a:xfrm>
            <a:off x="502920" y="4785360"/>
            <a:ext cx="8138160" cy="65532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Did the Scheduler ever admit three Awake threads?</a:t>
            </a:r>
          </a:p>
          <a:p>
            <a:pPr algn="l">
              <a:spcBef>
                <a:spcPts val="300"/>
              </a:spcBef>
              <a:buNone/>
            </a:pPr>
            <a:r>
              <a:rPr lang="en-US" sz="2000" b="0" i="0" dirty="0">
                <a:solidFill>
                  <a:srgbClr val="5C4826"/>
                </a:solidFill>
              </a:rPr>
              <a:t>Did an observed lifecycle transition violate the modeled lifecycle?</a:t>
            </a:r>
          </a:p>
        </p:txBody>
      </p:sp>
      <p:sp>
        <p:nvSpPr>
          <p:cNvPr id="1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Dynamic evidence establishes correspondence over observed execution.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dirty="0">
                <a:solidFill>
                  <a:srgbClr val="000000"/>
                </a:solidFill>
              </a:rPr>
              <a:t>Alignment helps us answer just one of three questions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prstDash val="sysDot"/>
            <a:headEnd type="arrow"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prstDash val="sysDot"/>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prstDash val="sysDot"/>
            <a:headEnd type="arrow"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prstDash val="sysDot"/>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13232" y="1076643"/>
            <a:ext cx="2395728" cy="461665"/>
          </a:xfrm>
          <a:prstGeom prst="rect">
            <a:avLst/>
          </a:prstGeom>
          <a:noFill/>
        </p:spPr>
        <p:txBody>
          <a:bodyPr wrap="square" anchor="t">
            <a:spAutoFit/>
          </a:bodyPr>
          <a:lstStyle/>
          <a:p>
            <a:pPr algn="l"/>
            <a:r>
              <a:rPr sz="2400" b="0" i="1" dirty="0">
                <a:solidFill>
                  <a:srgbClr val="555960"/>
                </a:solidFill>
              </a:rPr>
              <a:t>captures?</a:t>
            </a:r>
          </a:p>
        </p:txBody>
      </p:sp>
      <p:sp>
        <p:nvSpPr>
          <p:cNvPr id="14" name="TextBox 13"/>
          <p:cNvSpPr txBox="1"/>
          <p:nvPr/>
        </p:nvSpPr>
        <p:spPr>
          <a:xfrm>
            <a:off x="6119622" y="1072187"/>
            <a:ext cx="2395728" cy="461665"/>
          </a:xfrm>
          <a:prstGeom prst="rect">
            <a:avLst/>
          </a:prstGeom>
          <a:noFill/>
        </p:spPr>
        <p:txBody>
          <a:bodyPr wrap="square" anchor="t">
            <a:spAutoFit/>
          </a:bodyPr>
          <a:lstStyle/>
          <a:p>
            <a:pPr algn="r"/>
            <a:r>
              <a:rPr sz="2400" b="0" i="1" dirty="0">
                <a:solidFill>
                  <a:srgbClr val="555960"/>
                </a:solidFill>
              </a:rPr>
              <a:t>satisfies?</a:t>
            </a:r>
          </a:p>
        </p:txBody>
      </p:sp>
      <p:sp>
        <p:nvSpPr>
          <p:cNvPr id="15" name="TextBox 14"/>
          <p:cNvSpPr txBox="1"/>
          <p:nvPr/>
        </p:nvSpPr>
        <p:spPr>
          <a:xfrm>
            <a:off x="3108960" y="4069080"/>
            <a:ext cx="2926080" cy="461665"/>
          </a:xfrm>
          <a:prstGeom prst="rect">
            <a:avLst/>
          </a:prstGeom>
          <a:noFill/>
        </p:spPr>
        <p:txBody>
          <a:bodyPr wrap="square" anchor="t">
            <a:spAutoFit/>
          </a:bodyPr>
          <a:lstStyle/>
          <a:p>
            <a:pPr algn="ctr"/>
            <a:r>
              <a:rPr sz="2400" b="0" dirty="0">
                <a:solidFill>
                  <a:srgbClr val="555960"/>
                </a:solidFill>
              </a:rPr>
              <a:t>corresponds?</a:t>
            </a:r>
          </a:p>
        </p:txBody>
      </p:sp>
      <p:sp>
        <p:nvSpPr>
          <p:cNvPr id="16" name="TextBox 15"/>
          <p:cNvSpPr txBox="1"/>
          <p:nvPr/>
        </p:nvSpPr>
        <p:spPr>
          <a:xfrm>
            <a:off x="274320" y="4774530"/>
            <a:ext cx="8595360" cy="1015663"/>
          </a:xfrm>
          <a:prstGeom prst="rect">
            <a:avLst/>
          </a:prstGeom>
          <a:noFill/>
        </p:spPr>
        <p:txBody>
          <a:bodyPr wrap="square" anchor="t">
            <a:spAutoFit/>
          </a:bodyPr>
          <a:lstStyle/>
          <a:p>
            <a:pPr algn="ctr"/>
            <a:r>
              <a:rPr lang="en-US" sz="2000" b="1" i="1" dirty="0">
                <a:solidFill>
                  <a:srgbClr val="5C4826"/>
                </a:solidFill>
              </a:rPr>
              <a:t>Vocabulary</a:t>
            </a:r>
          </a:p>
          <a:p>
            <a:pPr algn="ctr"/>
            <a:r>
              <a:rPr lang="en-US" sz="2000" dirty="0">
                <a:solidFill>
                  <a:srgbClr val="5C4826"/>
                </a:solidFill>
              </a:rPr>
              <a:t>M</a:t>
            </a:r>
            <a:r>
              <a:rPr sz="2000" b="0" dirty="0">
                <a:solidFill>
                  <a:srgbClr val="5C4826"/>
                </a:solidFill>
              </a:rPr>
              <a:t>odel ↔ realization — </a:t>
            </a:r>
            <a:r>
              <a:rPr sz="2000" b="1" dirty="0">
                <a:solidFill>
                  <a:srgbClr val="8E6F3E"/>
                </a:solidFill>
              </a:rPr>
              <a:t>correspondence</a:t>
            </a:r>
          </a:p>
          <a:p>
            <a:pPr algn="ctr"/>
            <a:r>
              <a:rPr lang="en-US" sz="2000" b="0" dirty="0">
                <a:solidFill>
                  <a:srgbClr val="5C4826"/>
                </a:solidFill>
              </a:rPr>
              <a:t>Model/</a:t>
            </a:r>
            <a:r>
              <a:rPr lang="en-US" sz="2000" dirty="0">
                <a:solidFill>
                  <a:srgbClr val="5C4826"/>
                </a:solidFill>
              </a:rPr>
              <a:t>R</a:t>
            </a:r>
            <a:r>
              <a:rPr sz="2000" b="0" dirty="0">
                <a:solidFill>
                  <a:srgbClr val="5C4826"/>
                </a:solidFill>
              </a:rPr>
              <a:t>ealization ↔ obligation — </a:t>
            </a:r>
            <a:r>
              <a:rPr sz="2000" b="1" dirty="0">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Correspondence is one edge, not the whole triangle.</a:t>
            </a:r>
          </a:p>
        </p:txBody>
      </p:sp>
      <p:sp>
        <p:nvSpPr>
          <p:cNvPr id="2" name="TextBox 1">
            <a:extLst>
              <a:ext uri="{FF2B5EF4-FFF2-40B4-BE49-F238E27FC236}">
                <a16:creationId xmlns:a16="http://schemas.microsoft.com/office/drawing/2014/main" id="{E51D8973-EDB4-AC8B-A0CE-64034FAE3609}"/>
              </a:ext>
            </a:extLst>
          </p:cNvPr>
          <p:cNvSpPr txBox="1"/>
          <p:nvPr/>
        </p:nvSpPr>
        <p:spPr>
          <a:xfrm>
            <a:off x="3429564" y="3142457"/>
            <a:ext cx="2239716" cy="584775"/>
          </a:xfrm>
          <a:prstGeom prst="rect">
            <a:avLst/>
          </a:prstGeom>
          <a:noFill/>
        </p:spPr>
        <p:txBody>
          <a:bodyPr wrap="none" rtlCol="0">
            <a:spAutoFit/>
          </a:bodyPr>
          <a:lstStyle/>
          <a:p>
            <a:r>
              <a:rPr lang="en-US" sz="3200" dirty="0"/>
              <a:t>ALIGNMENT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F7EA4-4D48-89B1-A5E3-88E6BF3F4BB1}"/>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23E25E69-C0D2-60D9-A8E8-65BD0EB228A7}"/>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a:extLst>
              <a:ext uri="{FF2B5EF4-FFF2-40B4-BE49-F238E27FC236}">
                <a16:creationId xmlns:a16="http://schemas.microsoft.com/office/drawing/2014/main" id="{3D18A01C-4C8B-458E-D305-B9C56F4AE264}"/>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Exercise</a:t>
            </a:r>
          </a:p>
        </p:txBody>
      </p:sp>
      <p:sp>
        <p:nvSpPr>
          <p:cNvPr id="3" name="Slide Number Placeholder 3">
            <a:extLst>
              <a:ext uri="{FF2B5EF4-FFF2-40B4-BE49-F238E27FC236}">
                <a16:creationId xmlns:a16="http://schemas.microsoft.com/office/drawing/2014/main" id="{E08891BE-4CA1-662C-3512-6F92D608BDBD}"/>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D27F6373-DA08-6975-4BBD-73BECC87F026}"/>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Design Alignment for the Lab-Activity-1 Models</a:t>
            </a:r>
          </a:p>
        </p:txBody>
      </p:sp>
      <p:sp>
        <p:nvSpPr>
          <p:cNvPr id="103" name="Rule">
            <a:extLst>
              <a:ext uri="{FF2B5EF4-FFF2-40B4-BE49-F238E27FC236}">
                <a16:creationId xmlns:a16="http://schemas.microsoft.com/office/drawing/2014/main" id="{74E5029F-67F9-234B-3FCC-9068D14732D2}"/>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52892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18288"/>
            <a:ext cx="8046720" cy="731520"/>
          </a:xfrm>
        </p:spPr>
        <p:txBody>
          <a:bodyPr wrap="square">
            <a:normAutofit fontScale="90000"/>
          </a:bodyPr>
          <a:lstStyle/>
          <a:p>
            <a:r>
              <a:rPr sz="2400" b="0" dirty="0">
                <a:solidFill>
                  <a:srgbClr val="000000"/>
                </a:solidFill>
              </a:rPr>
              <a:t>Back to the lab:</a:t>
            </a:r>
          </a:p>
          <a:p>
            <a:r>
              <a:rPr lang="en-US" sz="2400" dirty="0">
                <a:solidFill>
                  <a:srgbClr val="000000"/>
                </a:solidFill>
              </a:rPr>
              <a:t>D</a:t>
            </a:r>
            <a:r>
              <a:rPr sz="2400" b="0" dirty="0">
                <a:solidFill>
                  <a:srgbClr val="000000"/>
                </a:solidFill>
              </a:rPr>
              <a:t>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2000" b="1" i="0" dirty="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OBLIGATION  →  MODEL  →  CHECK  →  DECIDE  →  CONTROL</a:t>
            </a:r>
          </a:p>
        </p:txBody>
      </p:sp>
      <p:sp>
        <p:nvSpPr>
          <p:cNvPr id="13" name="Card-memory"/>
          <p:cNvSpPr/>
          <p:nvPr/>
        </p:nvSpPr>
        <p:spPr>
          <a:xfrm>
            <a:off x="274320" y="105156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p:txBody>
      </p:sp>
      <p:sp>
        <p:nvSpPr>
          <p:cNvPr id="14" name="Card-control"/>
          <p:cNvSpPr/>
          <p:nvPr/>
        </p:nvSpPr>
        <p:spPr>
          <a:xfrm>
            <a:off x="274320" y="329184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the Scheduler admits at most two threads awake</a:t>
            </a:r>
          </a:p>
        </p:txBody>
      </p:sp>
      <p:sp>
        <p:nvSpPr>
          <p:cNvPr id="15" name="Card-prompt"/>
          <p:cNvSpPr/>
          <p:nvPr/>
        </p:nvSpPr>
        <p:spPr>
          <a:xfrm>
            <a:off x="4526280" y="1051560"/>
            <a:ext cx="4343400" cy="434340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Choose one obligation from the lab.</a:t>
            </a:r>
          </a:p>
          <a:p>
            <a:pPr algn="l">
              <a:spcBef>
                <a:spcPts val="900"/>
              </a:spcBef>
              <a:buNone/>
            </a:pPr>
            <a:r>
              <a:rPr lang="en-US" sz="2000" b="0" i="0" dirty="0">
                <a:solidFill>
                  <a:srgbClr val="5C4826"/>
                </a:solidFill>
              </a:rPr>
              <a:t>1  ·  How could the realization violate it?</a:t>
            </a:r>
          </a:p>
          <a:p>
            <a:pPr algn="l">
              <a:spcBef>
                <a:spcPts val="900"/>
              </a:spcBef>
              <a:buNone/>
            </a:pPr>
            <a:r>
              <a:rPr lang="en-US" sz="2000" b="0" i="0" dirty="0">
                <a:solidFill>
                  <a:srgbClr val="5C4826"/>
                </a:solidFill>
              </a:rPr>
              <a:t>2  ·  Can you prevent that failure, or must you detect it?</a:t>
            </a:r>
          </a:p>
          <a:p>
            <a:pPr algn="l">
              <a:spcBef>
                <a:spcPts val="900"/>
              </a:spcBef>
              <a:buNone/>
            </a:pPr>
            <a:r>
              <a:rPr lang="en-US" sz="2000" b="0" i="0" dirty="0">
                <a:solidFill>
                  <a:srgbClr val="5C4826"/>
                </a:solidFill>
              </a:rPr>
              <a:t>3  ·  What would you check, and what evidence would let you decide?</a:t>
            </a:r>
          </a:p>
          <a:p>
            <a:pPr algn="l">
              <a:spcBef>
                <a:spcPts val="900"/>
              </a:spcBef>
              <a:buNone/>
            </a:pPr>
            <a:r>
              <a:rPr lang="en-US" sz="2000" b="0" i="0" dirty="0">
                <a:solidFill>
                  <a:srgbClr val="5C4826"/>
                </a:solidFill>
              </a:rPr>
              <a:t>4  ·  Where is the earliest boundary at which it is decidable?</a:t>
            </a:r>
          </a:p>
          <a:p>
            <a:pPr algn="l">
              <a:spcBef>
                <a:spcPts val="900"/>
              </a:spcBef>
              <a:buNone/>
            </a:pPr>
            <a:r>
              <a:rPr lang="en-US" sz="2000" b="0" i="0" dirty="0">
                <a:solidFill>
                  <a:srgbClr val="5C4826"/>
                </a:solidFill>
              </a:rPr>
              <a:t>5  ·  What should happen if the check fails?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Report-out: </a:t>
            </a:r>
            <a:r>
              <a:rPr sz="2400" b="0" dirty="0">
                <a:solidFill>
                  <a:srgbClr val="000000"/>
                </a:solidFill>
              </a:rPr>
              <a:t>Compare your </a:t>
            </a:r>
            <a:r>
              <a:rPr lang="en-US" sz="2400" dirty="0">
                <a:solidFill>
                  <a:srgbClr val="000000"/>
                </a:solidFill>
              </a:rPr>
              <a:t>A</a:t>
            </a:r>
            <a:r>
              <a:rPr lang="en-US" sz="2400" b="0" dirty="0">
                <a:solidFill>
                  <a:srgbClr val="000000"/>
                </a:solidFill>
              </a:rPr>
              <a:t>lignment approaches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31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Static vs. dynamic evidence</a:t>
            </a:r>
          </a:p>
          <a:p>
            <a:pPr algn="l"/>
            <a:r>
              <a:rPr sz="2000" b="0" i="0">
                <a:solidFill>
                  <a:srgbClr val="5C4826"/>
                </a:solidFill>
              </a:rPr>
              <a:t>Can the obligation be decided from the realization itself, or only from observed execution?</a:t>
            </a:r>
          </a:p>
        </p:txBody>
      </p:sp>
      <p:sp>
        <p:nvSpPr>
          <p:cNvPr id="13" name="Compare4"/>
          <p:cNvSpPr/>
          <p:nvPr/>
        </p:nvSpPr>
        <p:spPr>
          <a:xfrm>
            <a:off x="502920" y="4142739"/>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Autofit/>
          </a:bodyPr>
          <a:lstStyle/>
          <a:p>
            <a:r>
              <a:rPr lang="en-US" sz="2400" b="1" dirty="0">
                <a:solidFill>
                  <a:srgbClr val="000000"/>
                </a:solidFill>
              </a:rPr>
              <a:t>In closing: </a:t>
            </a:r>
            <a:r>
              <a:rPr sz="2400" b="1" dirty="0">
                <a:solidFill>
                  <a:srgbClr val="000000"/>
                </a:solidFill>
              </a:rPr>
              <a:t>How do you </a:t>
            </a:r>
            <a:r>
              <a:rPr lang="en-US" sz="2400" b="1" dirty="0">
                <a:solidFill>
                  <a:srgbClr val="000000"/>
                </a:solidFill>
              </a:rPr>
              <a:t>supervise your delegation</a:t>
            </a:r>
            <a:r>
              <a:rPr sz="2400" b="1" dirty="0">
                <a:solidFill>
                  <a:srgbClr val="000000"/>
                </a:solidFill>
              </a:rPr>
              <a:t>?</a:t>
            </a:r>
          </a:p>
        </p:txBody>
      </p:sp>
      <p:sp>
        <p:nvSpPr>
          <p:cNvPr id="4" name="Slide Number Placeholder 5"/>
          <p:cNvSpPr>
            <a:spLocks noGrp="1"/>
          </p:cNvSpPr>
          <p:nvPr>
            <p:ph type="sldNum" sz="quarter" idx="4"/>
          </p:nvPr>
        </p:nvSpPr>
        <p:spPr/>
        <p:txBody>
          <a:bodyPr/>
          <a:lstStyle/>
          <a:p>
            <a:fld id="{B7EB45DA-9A0D-DC49-8E02-F30A5DDC21C3}" type="slidenum">
              <a:rPr lang="en-US" smtClean="0"/>
              <a:t>32</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t"/>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normAutofit fontScale="90000"/>
          </a:bodyPr>
          <a:lstStyle/>
          <a:p>
            <a:r>
              <a:rPr sz="2400" b="0" dirty="0">
                <a:solidFill>
                  <a:srgbClr val="000000"/>
                </a:solidFill>
              </a:rPr>
              <a:t>Alignment can change the realization</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pic>
        <p:nvPicPr>
          <p:cNvPr id="5" name="Fig-ActiveAlignment" descr="active-passive-alignment-deck.png"/>
          <p:cNvPicPr>
            <a:picLocks noChangeAspect="1"/>
          </p:cNvPicPr>
          <p:nvPr/>
        </p:nvPicPr>
        <p:blipFill>
          <a:blip r:embed="rId2"/>
          <a:stretch>
            <a:fillRect/>
          </a:stretch>
        </p:blipFill>
        <p:spPr>
          <a:xfrm>
            <a:off x="384048" y="914400"/>
            <a:ext cx="3911600" cy="4526280"/>
          </a:xfrm>
          <a:prstGeom prst="rect">
            <a:avLst/>
          </a:prstGeom>
        </p:spPr>
      </p:pic>
      <p:graphicFrame>
        <p:nvGraphicFramePr>
          <p:cNvPr id="6" name="ActivePassiveCompare"/>
          <p:cNvGraphicFramePr>
            <a:graphicFrameLocks noGrp="1"/>
          </p:cNvGraphicFramePr>
          <p:nvPr/>
        </p:nvGraphicFramePr>
        <p:xfrm>
          <a:off x="4663440" y="1874519"/>
          <a:ext cx="4023360" cy="2423160"/>
        </p:xfrm>
        <a:graphic>
          <a:graphicData uri="http://schemas.openxmlformats.org/drawingml/2006/table">
            <a:tbl>
              <a:tblPr>
                <a:tableStyleId>{2D5ABB26-0587-4C30-8999-92F81FD0307C}</a:tableStyleId>
              </a:tblPr>
              <a:tblGrid>
                <a:gridCol w="2011680"/>
                <a:gridCol w="2011680"/>
              </a:tblGrid>
              <a:tr h="502920">
                <a:tc>
                  <a:txBody>
                    <a:bodyPr/>
                    <a:lstStyle/>
                    <a:p>
                      <a:pPr algn="ctr"/>
                      <a:r>
                        <a:rPr sz="2000" b="1" i="0">
                          <a:solidFill>
                            <a:srgbClr val="FFFFFF"/>
                          </a:solidFill>
                        </a:rPr>
                        <a:t>ACTIVE</a:t>
                      </a:r>
                    </a:p>
                  </a:txBody>
                  <a:tcPr anchor="ctr" marL="54864" marR="54864" marT="36576" marB="36576">
                    <a:solidFill>
                      <a:srgbClr val="8E6F3E"/>
                    </a:solidFill>
                  </a:tcPr>
                </a:tc>
                <a:tc>
                  <a:txBody>
                    <a:bodyPr/>
                    <a:lstStyle/>
                    <a:p>
                      <a:pPr algn="ctr"/>
                      <a:r>
                        <a:rPr sz="2000" b="1" i="0">
                          <a:solidFill>
                            <a:srgbClr val="FFFFFF"/>
                          </a:solidFill>
                        </a:rPr>
                        <a:t>PASSIVE</a:t>
                      </a:r>
                    </a:p>
                  </a:txBody>
                  <a:tcPr anchor="ctr" marL="54864" marR="54864" marT="36576" marB="36576">
                    <a:solidFill>
                      <a:srgbClr val="8E6F3E"/>
                    </a:solidFill>
                  </a:tcPr>
                </a:tc>
              </a:tr>
              <a:tr h="960120">
                <a:tc>
                  <a:txBody>
                    <a:bodyPr/>
                    <a:lstStyle/>
                    <a:p>
                      <a:pPr algn="ctr"/>
                      <a:r>
                        <a:rPr sz="2000" b="0" i="1">
                          <a:solidFill>
                            <a:srgbClr val="5C4826"/>
                          </a:solidFill>
                        </a:rPr>
                        <a:t>establish correspondence</a:t>
                      </a:r>
                    </a:p>
                  </a:txBody>
                  <a:tcPr anchor="ctr" marL="54864" marR="54864" marT="36576" marB="36576">
                    <a:solidFill>
                      <a:srgbClr val="F5F1E8"/>
                    </a:solidFill>
                  </a:tcPr>
                </a:tc>
                <a:tc>
                  <a:txBody>
                    <a:bodyPr/>
                    <a:lstStyle/>
                    <a:p>
                      <a:pPr algn="ctr"/>
                      <a:r>
                        <a:rPr sz="2000" b="0" i="1">
                          <a:solidFill>
                            <a:srgbClr val="5C4826"/>
                          </a:solidFill>
                        </a:rPr>
                        <a:t>preserve correspondence</a:t>
                      </a:r>
                    </a:p>
                  </a:txBody>
                  <a:tcPr anchor="ctr" marL="54864" marR="54864" marT="36576" marB="36576">
                    <a:solidFill>
                      <a:srgbClr val="F5F1E8"/>
                    </a:solidFill>
                  </a:tcPr>
                </a:tc>
              </a:tr>
              <a:tr h="960120">
                <a:tc>
                  <a:txBody>
                    <a:bodyPr/>
                    <a:lstStyle/>
                    <a:p>
                      <a:pPr algn="ctr"/>
                      <a:r>
                        <a:rPr sz="2000" b="0" i="0">
                          <a:solidFill>
                            <a:srgbClr val="5C4826"/>
                          </a:solidFill>
                        </a:rPr>
                        <a:t>S → S′ until M agrees</a:t>
                      </a:r>
                    </a:p>
                  </a:txBody>
                  <a:tcPr anchor="ctr" marL="54864" marR="54864" marT="36576" marB="36576">
                    <a:solidFill>
                      <a:srgbClr val="F5F1E8"/>
                    </a:solidFill>
                  </a:tcPr>
                </a:tc>
                <a:tc>
                  <a:txBody>
                    <a:bodyPr/>
                    <a:lstStyle/>
                    <a:p>
                      <a:pPr algn="ctr"/>
                      <a:r>
                        <a:rPr sz="2000" b="0" i="0">
                          <a:solidFill>
                            <a:srgbClr val="5C4826"/>
                          </a:solidFill>
                        </a:rPr>
                        <a:t>ΔS → check → admit/reject</a:t>
                      </a:r>
                    </a:p>
                  </a:txBody>
                  <a:tcPr anchor="ctr" marL="54864" marR="54864" marT="36576" marB="36576">
                    <a:solidFill>
                      <a:srgbClr val="F5F1E8"/>
                    </a:solidFill>
                  </a:tcPr>
                </a:tc>
              </a:tr>
            </a:tbl>
          </a:graphicData>
        </a:graphic>
      </p:graphicFrame>
      <p:sp>
        <p:nvSpPr>
          <p:cNvPr id="7" name="FooterBand"/>
          <p:cNvSpPr/>
          <p:nvPr/>
        </p:nvSpPr>
        <p:spPr>
          <a:xfrm>
            <a:off x="274320" y="557784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a:solidFill>
                  <a:srgbClr val="FFFFFF"/>
                </a:solidFill>
              </a:rPr>
              <a:t>A model can govern an existing system by first becoming a target for change, then a constraint on later change.</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7265</Words>
  <Application>Microsoft Macintosh PowerPoint</Application>
  <PresentationFormat>On-screen Show (4:3)</PresentationFormat>
  <Paragraphs>623</Paragraphs>
  <Slides>31</Slides>
  <Notes>31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give us something to check against</vt:lpstr>
      <vt:lpstr>Check correspondence statically</vt:lpstr>
      <vt:lpstr>Check correspondence dynamically</vt:lpstr>
      <vt:lpstr>Alignment helps us answer just one of three questions</vt:lpstr>
      <vt:lpstr>Exercise</vt:lpstr>
      <vt:lpstr>Back to the lab: Design the Alignment</vt:lpstr>
      <vt:lpstr>Report-out: Compare your Alignment approaches</vt:lpstr>
      <vt:lpstr>In closing: How do you supervise your delegation?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438</cp:revision>
  <dcterms:created xsi:type="dcterms:W3CDTF">2020-02-21T23:00:33Z</dcterms:created>
  <dcterms:modified xsi:type="dcterms:W3CDTF">2026-10-08T03:06:19Z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