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2" r:id="rId36"/>
    <p:sldId id="293" r:id="rId37"/>
    <p:sldId id="294" r:id="rId38"/>
    <p:sldId id="295" r:id="rId39"/>
    <p:sldId id="285" r:id="rId50"/>
    <p:sldId id="304" r:id="rId40"/>
    <p:sldId id="297" r:id="rId41"/>
    <p:sldId id="298" r:id="rId42"/>
    <p:sldId id="299" r:id="rId14"/>
    <p:sldId id="262" r:id="rId13"/>
    <p:sldId id="305" r:id="rId22"/>
    <p:sldId id="267" r:id="rId18"/>
    <p:sldId id="266" r:id="rId17"/>
    <p:sldId id="306" r:id="rId48"/>
    <p:sldId id="268" r:id="rId19"/>
    <p:sldId id="286" r:id="rId51"/>
    <p:sldId id="269" r:id="rId20"/>
    <p:sldId id="270" r:id="rId21"/>
    <p:sldId id="272" r:id="rId23"/>
    <p:sldId id="273" r:id="rId24"/>
    <p:sldId id="288" r:id="rId53"/>
    <p:sldId id="307" r:id="rId10"/>
    <p:sldId id="279" r:id="rId30"/>
    <p:sldId id="308" r:id="rId8"/>
    <p:sldId id="309" r:id="rId6"/>
    <p:sldId id="310" r:id="rId5"/>
    <p:sldId id="280" r:id="rId31"/>
    <p:sldId id="281" r:id="rId32"/>
    <p:sldId id="274" r:id="rId25"/>
    <p:sldId id="275" r:id="rId26"/>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 Type="http://schemas.openxmlformats.org/officeDocument/2006/relationships/slide" Target="slides/slide34.xml"/><Relationship Id="rId6" Type="http://schemas.openxmlformats.org/officeDocument/2006/relationships/slide" Target="slides/slide33.xml"/><Relationship Id="rId7" Type="http://schemas.openxmlformats.org/officeDocument/2006/relationships/slide" Target="slides/slide1.xml"/><Relationship Id="rId8" Type="http://schemas.openxmlformats.org/officeDocument/2006/relationships/slide" Target="slides/slide32.xml"/><Relationship Id="rId9" Type="http://schemas.openxmlformats.org/officeDocument/2006/relationships/slide" Target="slides/slide5.xml"/><Relationship Id="rId10" Type="http://schemas.openxmlformats.org/officeDocument/2006/relationships/slide" Target="slides/slide30.xml"/><Relationship Id="rId13" Type="http://schemas.openxmlformats.org/officeDocument/2006/relationships/slide" Target="slides/slide17.xml"/><Relationship Id="rId14" Type="http://schemas.openxmlformats.org/officeDocument/2006/relationships/slide" Target="slides/slide16.xml"/><Relationship Id="rId15" Type="http://schemas.openxmlformats.org/officeDocument/2006/relationships/slide" Target="slides/slide3.xml"/><Relationship Id="rId17" Type="http://schemas.openxmlformats.org/officeDocument/2006/relationships/slide" Target="slides/slide20.xml"/><Relationship Id="rId18" Type="http://schemas.openxmlformats.org/officeDocument/2006/relationships/slide" Target="slides/slide22.xml"/><Relationship Id="rId19" Type="http://schemas.openxmlformats.org/officeDocument/2006/relationships/slide" Target="slides/slide23.xml"/><Relationship Id="rId20" Type="http://schemas.openxmlformats.org/officeDocument/2006/relationships/slide" Target="slides/slide25.xml"/><Relationship Id="rId21" Type="http://schemas.openxmlformats.org/officeDocument/2006/relationships/slide" Target="slides/slide26.xml"/><Relationship Id="rId22" Type="http://schemas.openxmlformats.org/officeDocument/2006/relationships/slide" Target="slides/slide18.xml"/><Relationship Id="rId23" Type="http://schemas.openxmlformats.org/officeDocument/2006/relationships/slide" Target="slides/slide27.xml"/><Relationship Id="rId24" Type="http://schemas.openxmlformats.org/officeDocument/2006/relationships/slide" Target="slides/slide28.xml"/><Relationship Id="rId25" Type="http://schemas.openxmlformats.org/officeDocument/2006/relationships/slide" Target="slides/slide37.xml"/><Relationship Id="rId26" Type="http://schemas.openxmlformats.org/officeDocument/2006/relationships/slide" Target="slides/slide38.xml"/><Relationship Id="rId27" Type="http://schemas.openxmlformats.org/officeDocument/2006/relationships/slide" Target="slides/slide39.xml"/><Relationship Id="rId30" Type="http://schemas.openxmlformats.org/officeDocument/2006/relationships/slide" Target="slides/slide31.xml"/><Relationship Id="rId31" Type="http://schemas.openxmlformats.org/officeDocument/2006/relationships/slide" Target="slides/slide35.xml"/><Relationship Id="rId32" Type="http://schemas.openxmlformats.org/officeDocument/2006/relationships/slide" Target="slides/slide36.xml"/><Relationship Id="rId33" Type="http://schemas.openxmlformats.org/officeDocument/2006/relationships/slide" Target="slides/slide40.xml"/><Relationship Id="rId34" Type="http://schemas.openxmlformats.org/officeDocument/2006/relationships/slide" Target="slides/slide4.xml"/><Relationship Id="rId35" Type="http://schemas.openxmlformats.org/officeDocument/2006/relationships/slide" Target="slides/slide7.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13.xml"/><Relationship Id="rId41" Type="http://schemas.openxmlformats.org/officeDocument/2006/relationships/slide" Target="slides/slide14.xml"/><Relationship Id="rId42" Type="http://schemas.openxmlformats.org/officeDocument/2006/relationships/slide" Target="slides/slide15.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21.xml"/><Relationship Id="rId49" Type="http://schemas.openxmlformats.org/officeDocument/2006/relationships/slide" Target="slides/slide6.xml"/><Relationship Id="rId50" Type="http://schemas.openxmlformats.org/officeDocument/2006/relationships/slide" Target="slides/slide12.xml"/><Relationship Id="rId51" Type="http://schemas.openxmlformats.org/officeDocument/2006/relationships/slide" Target="slides/slide24.xml"/><Relationship Id="rId53" Type="http://schemas.openxmlformats.org/officeDocument/2006/relationships/slide" Target="slides/slide29.xml"/><Relationship Id="rId54"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Recall degrees of freedom from Architecture and Design.</a:t>
            </a:r>
          </a:p>
          <a:p>
            <a:r>
              <a:t>- Engineering is not about specifying everything.</a:t>
            </a:r>
          </a:p>
          <a:p>
            <a:r>
              <a:t>- We bind choices whose consequences matter: worktree, scope, forbidden actions, evidence, delivery boundary.</a:t>
            </a:r>
          </a:p>
          <a:p>
            <a:r>
              <a:t>- We deliberately leave other choices free: local decomposition, naming, implementation details, algorithms where no obligation constrains them.</a:t>
            </a:r>
          </a:p>
          <a:p>
            <a:r>
              <a:t>- If we specify all of those too, we have defeated much of the purpose of delegation.</a:t>
            </a:r>
          </a:p>
          <a:p>
            <a:r>
              <a:t>- Good delegation is therefore selective reduction of degrees of freedom.</a:t>
            </a:r>
          </a:p>
          <a:p>
            <a:r>
              <a:t>ANIMATION</a:t>
            </a:r>
          </a:p>
          <a:p>
            <a:r>
              <a:t>- Reveal BOUND first.</a:t>
            </a:r>
          </a:p>
          <a:p>
            <a:r>
              <a:t>- Reveal LEAVE FREE second.</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In practice, the agent does not receive only natural-language instructions.</a:t>
            </a:r>
          </a:p>
          <a:p>
            <a:r>
              <a:t>- It receives a repository, worktree, branch, tools, tests, CI configuration, issue context, and repository instructions.</a:t>
            </a:r>
          </a:p>
          <a:p>
            <a:r>
              <a:t>- Those things collectively define part of the delegated environment.</a:t>
            </a:r>
          </a:p>
          <a:p>
            <a:r>
              <a:t>- Some are information. Some are capabilities. Some are constraints.</a:t>
            </a:r>
          </a:p>
          <a:p>
            <a:r>
              <a:t>- The output is also structured: not "some code somewhere," but typically a proposed change, commit, or PR.</a:t>
            </a:r>
          </a:p>
          <a:p>
            <a:r>
              <a:t>- This environment is already doing engineering work before we add any sophisticated agent-specific machinery.</a:t>
            </a:r>
          </a:p>
          <a:p>
            <a:r>
              <a:t>ANIMATION</a:t>
            </a:r>
          </a:p>
          <a:p>
            <a:r>
              <a:t>- Reveal WORK ORDER and WORKTREE.</a:t>
            </a:r>
          </a:p>
          <a:p>
            <a:r>
              <a:t>- Reveal AGENT.</a:t>
            </a:r>
          </a:p>
          <a:p>
            <a:r>
              <a:t>- Reveal proposed change / commit / PR.</a:t>
            </a:r>
          </a:p>
          <a:p>
            <a:r>
              <a:t>- Reveal the concrete environment elements last.</a:t>
            </a:r>
          </a:p>
          <a:p>
            <a:r>
              <a:t>- Frame this as an EXAMPLE of the taxonomy: the work environment is how we bound the process — where the agent may work, what it may touch, what tools it has.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Fourth failure: "all tests pass" sounds like evidence, but evidence of what? Which tests? Against which obligations? In which environment? What wasn't tested?</a:t>
            </a:r>
          </a:p>
          <a:p>
            <a:r>
              <a:t>- Introduce obligation carefully: a condition against which the work can be wrong.</a:t>
            </a:r>
          </a:p>
          <a:p>
            <a:r>
              <a:t>- Then pose the classroom question explicitly and let them argue: can the result be correct while the process is wrong?</a:t>
            </a:r>
          </a:p>
          <a:p>
            <a:r>
              <a:t>-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a:t>
            </a:r>
          </a:p>
          <a:p>
            <a:r>
              <a:t>- That separates truth from justified engineering judgment — the sharpest conceptual moment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can now name four control roles.</a:t>
            </a:r>
          </a:p>
          <a:p>
            <a:r>
              <a:t>- A constraint narrows what may happen.</a:t>
            </a:r>
          </a:p>
          <a:p>
            <a:r>
              <a:t>- A sensor tells us what happened and produces evidence.</a:t>
            </a:r>
          </a:p>
          <a:p>
            <a:r>
              <a:t>- A validator evaluates that evidence against an obligation.</a:t>
            </a:r>
          </a:p>
          <a:p>
            <a:r>
              <a:t>- A gate controls whether work crosses a boundary.</a:t>
            </a:r>
          </a:p>
          <a:p>
            <a:r>
              <a:t>- These are roles, not an architecture requiring four separate services.</a:t>
            </a:r>
          </a:p>
          <a:p>
            <a:r>
              <a:t>- A single mechanism can perform several roles.</a:t>
            </a:r>
          </a:p>
          <a:p>
            <a:r>
              <a:t>- Keep the two sides distinct: constraints and sensors concern work/state; validators and gates concern judgment/admission.</a:t>
            </a:r>
          </a:p>
          <a:p>
            <a:r>
              <a:t>- This vocabulary gives us a way to design rather than simply say "add checks."</a:t>
            </a:r>
          </a:p>
          <a:p>
            <a:r>
              <a:t>ANIMATION</a:t>
            </a:r>
          </a:p>
          <a:p>
            <a:r>
              <a:t>- Reveal CONSTRAINT and SENSOR first under WORK / STATE.</a:t>
            </a:r>
          </a:p>
          <a:p>
            <a:r>
              <a:t>- Reveal VALIDATOR and GATE under DECISION / ADMISSION.</a:t>
            </a:r>
          </a:p>
          <a:p>
            <a:r>
              <a:t>- Reveal the role definitions with each.</a:t>
            </a:r>
          </a:p>
          <a:p>
            <a:r>
              <a:t>- Reveal the "roles, not four required components" note last.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the concrete failure mode.</a:t>
            </a:r>
          </a:p>
          <a:p>
            <a:r>
              <a:t>- The obligation is legitimate: when the task is complete, code and architectural model must correspond.</a:t>
            </a:r>
          </a:p>
          <a:p>
            <a:r>
              <a:t>- Enforcing that obligation after every intermediate edit or commit rejects legitimate transitional states.</a:t>
            </a:r>
          </a:p>
          <a:p>
            <a:r>
              <a:t>- At merge, the task's work is assembled and the obligation can be evaluated.</a:t>
            </a:r>
          </a:p>
          <a:p>
            <a:r>
              <a:t>- Notice the distinction: the obligation was not wrong; its placement was wrong.</a:t>
            </a:r>
          </a:p>
          <a:p>
            <a:r>
              <a:t>- This is an Alignment design error, not a reason to abandon the property.</a:t>
            </a:r>
          </a:p>
          <a:p>
            <a:r>
              <a:t>- 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a:p>
            <a:r>
              <a:t>ANIMATION</a:t>
            </a:r>
          </a:p>
          <a:p>
            <a:r>
              <a:t>- Reveal the obligation.</a:t>
            </a:r>
          </a:p>
          <a:p>
            <a:r>
              <a:t>- Reveal per-commit enforcement and the red X.</a:t>
            </a:r>
          </a:p>
          <a:p>
            <a:r>
              <a:t>- Reveal the consequence: legitimate intermediate states rejected.</a:t>
            </a:r>
          </a:p>
          <a:p>
            <a:r>
              <a:t>- Reveal merge and green check.</a:t>
            </a:r>
          </a:p>
          <a:p>
            <a:r>
              <a:t>- Reveal the final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 transition + 2 minutes setup + 8-10 minutes work</a:t>
            </a:r>
          </a:p>
          <a:p>
            <a:r>
              <a:t>- This slide is now the section transition (the SECTION 6 divider was cut) — the activity title itself is the transition. Setup line: enough vocabulary; now use it.</a:t>
            </a:r>
          </a:p>
          <a:p>
            <a:r>
              <a:t>- Scenario (spoken, no longer on the slide): an agent is modifying an embedded controller — the SAME domain as the lab's sensor node, so read this as a continuation, not a new scenario.</a:t>
            </a:r>
          </a:p>
          <a:p>
            <a:r>
              <a:t>- Four obligations: API preservation, a memory bound, a forbidden dependency, and cycle ordering.</a:t>
            </a:r>
          </a:p>
          <a:p>
            <a:r>
              <a:t>- The model is given on the right — the same two kinds the class built in the lab. Structural facts support static checks: the API, the dependency facts (including the forbidden one), and the memory bound. The behavioral ordering defines what to observe at runtime: the cycle.</a:t>
            </a:r>
          </a:p>
          <a:p>
            <a:r>
              <a:t>- Use the model as given — do not spend the activity rediscovering it from the implementation.</a:t>
            </a:r>
          </a:p>
          <a:p>
            <a:r>
              <a:t>- Teams should ask, per obligation, which side of the model makes the relevant fact explicit — that feeds the MODEL USE question on the worksheet slide.</a:t>
            </a:r>
          </a:p>
          <a:p>
            <a:r>
              <a:t>- Your job: design the delegated process and its controls.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activity continues</a:t>
            </a:r>
          </a:p>
          <a:p>
            <a:r>
              <a:t>- Leave this slide up while teams work. For each obligation, walk the same sequence, now grouped into three questions.</a:t>
            </a:r>
          </a:p>
          <a:p>
            <a:r>
              <a:t>- WHAT MUST HOLD: name the failure, state the obligation, and — new since the lab — ask what fact the model makes explicit, and whether you would validate it statically or dynamically.</a:t>
            </a:r>
          </a:p>
          <a:p>
            <a:r>
              <a:t>- HOW WILL WE KNOW: prevent or detect, what observation establishes it, and at which boundary enough information exists.</a:t>
            </a:r>
          </a:p>
          <a:p>
            <a:r>
              <a:t>- WHAT WILL IT CONTROL: which mechanism plays the role, and what authority the verdict carries.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slide is the ANSWER to the discussion on the previous slide — show it only after the students talk.</a:t>
            </a:r>
          </a:p>
          <a:p>
            <a:r>
              <a:t>- A model preserves distinctions we have decided matter.</a:t>
            </a:r>
          </a:p>
          <a:p>
            <a:r>
              <a:t>- It exposes relationships that would otherwise need to be inferred.</a:t>
            </a:r>
          </a:p>
          <a:p>
            <a:r>
              <a:t>- It can deliberately leave realization choices open.</a:t>
            </a:r>
          </a:p>
          <a:p>
            <a:r>
              <a:t>- And because the information is explicit and structured, analyses can operate over it directly.</a:t>
            </a:r>
          </a:p>
          <a:p>
            <a:r>
              <a:t>- The key point is not that models contain more information than implementation.</a:t>
            </a:r>
          </a:p>
          <a:p>
            <a:r>
              <a:t>- The point is that they can contain the right engineering information in a form suited to the question.</a:t>
            </a:r>
          </a:p>
          <a:p>
            <a:r>
              <a:t>- Multiple analyses can then operate over the same explicit knowledge.</a:t>
            </a:r>
          </a:p>
          <a:p>
            <a:r>
              <a:t>ANIMATION</a:t>
            </a:r>
          </a:p>
          <a:p>
            <a:r>
              <a:t>- Reveal PRESERVE.</a:t>
            </a:r>
          </a:p>
          <a:p>
            <a:r>
              <a:t>- Reveal EXPOSE.</a:t>
            </a:r>
          </a:p>
          <a:p>
            <a:r>
              <a:t>- Reveal LEAVE OPEN.</a:t>
            </a:r>
          </a:p>
          <a:p>
            <a:r>
              <a:t>- Reveal ENABLE.</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Once we have models, we need one more distinction — three different kinds of claim.</a:t>
            </a:r>
          </a:p>
          <a:p>
            <a:r>
              <a:t>- Correspondence: do two representations agree?</a:t>
            </a:r>
          </a:p>
          <a:p>
            <a:r>
              <a:t>- Conformance: does an artifact satisfy an independent obligation?</a:t>
            </a:r>
          </a:p>
          <a:p>
            <a:r>
              <a:t>- Acceptance: will the receiving environment accept the artifact?</a:t>
            </a:r>
          </a:p>
          <a:p>
            <a:r>
              <a:t>- A model and implementation can agree and both be wrong against the obligation. Evidence for one claim does not establish the others.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Specialize that distinction to model-based engineering.</a:t>
            </a:r>
          </a:p>
          <a:p>
            <a:r>
              <a:t>- Transition explicitly: those were three different kinds of engineering claim. Now specialize this to model-based engineering. We have three things that can disagree.</a:t>
            </a:r>
          </a:p>
          <a:p>
            <a:r>
              <a:t>- We now have an obligation, a model, and a realization.</a:t>
            </a:r>
          </a:p>
          <a:p>
            <a:r>
              <a:t>- Ask what claim each edge makes.</a:t>
            </a:r>
          </a:p>
          <a:p>
            <a:r>
              <a:t>- Does the model actually capture the obligation?</a:t>
            </a:r>
          </a:p>
          <a:p>
            <a:r>
              <a:t>- Does the realization satisfy the obligation?</a:t>
            </a:r>
          </a:p>
          <a:p>
            <a:r>
              <a:t>- Do model and realization correspond?</a:t>
            </a:r>
          </a:p>
          <a:p>
            <a:r>
              <a:t>- None of those edges establishes the other two.</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ANIMATION</a:t>
            </a:r>
          </a:p>
          <a:p>
            <a:r>
              <a:t>- Reveal OBLIGATION, MODEL, REALIZATION without edges if possible.</a:t>
            </a:r>
          </a:p>
          <a:p>
            <a:r>
              <a:t>- Reveal obligation-model question.</a:t>
            </a:r>
          </a:p>
          <a:p>
            <a:r>
              <a:t>- Reveal obligation-realization question.</a:t>
            </a:r>
          </a:p>
          <a:p>
            <a:r>
              <a:t>- Reveal model-realization question.</a:t>
            </a:r>
          </a:p>
          <a:p>
            <a:r>
              <a:t>- Ask "What evidence would establish each?" before revealing the closing sentence.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We can now recognize the same move we made in the Modeling lecture.</a:t>
            </a:r>
          </a:p>
          <a:p>
            <a:r>
              <a:t>- The work order and environment define a model of the delegated process.</a:t>
            </a:r>
          </a:p>
          <a:p>
            <a:r>
              <a:t>- It has permitted actions, transitions, stopping conditions, and expected evidence.</a:t>
            </a:r>
          </a:p>
          <a:p>
            <a:r>
              <a:t>- Importantly, this is not a model of the agent's internal chain of thought.</a:t>
            </a:r>
          </a:p>
          <a:p>
            <a:r>
              <a:t>- We generally do not need to prescribe how the agent reasons internally.</a:t>
            </a:r>
          </a:p>
          <a:p>
            <a:r>
              <a:t>- We need enough external structure to reason about consequential behavior.</a:t>
            </a:r>
          </a:p>
          <a:p>
            <a:r>
              <a:t>- That gives us something against which failure can be defined.</a:t>
            </a:r>
          </a:p>
          <a:p>
            <a:r>
              <a:t>ANIMATION</a:t>
            </a:r>
          </a:p>
          <a:p>
            <a:r>
              <a:t>- Reveal the process sequence.</a:t>
            </a:r>
          </a:p>
          <a:p>
            <a:r>
              <a:t>- Reveal the four kinds of modeled information.</a:t>
            </a:r>
          </a:p>
          <a:p>
            <a:r>
              <a:t>- Reveal the final sentence about internal reasoning last.</a:t>
            </a:r>
          </a:p>
          <a:p>
            <a:r>
              <a:t>- This is the first Modeling callback of the lecture: the work order and environment DEFINE a model of the delegated process. We will lean on this in the models section.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A correct final artifact is not the only thing we care about.</a:t>
            </a:r>
          </a:p>
          <a:p>
            <a:r>
              <a:t>- The agent can modify files outside scope, replace an approved dependency, change the model instead of satisfying it, or weaken the test that exposes the defect.</a:t>
            </a:r>
          </a:p>
          <a:p>
            <a:r>
              <a:t>- Some of these actions might even lead to a final artifact that appears to pass.</a:t>
            </a:r>
          </a:p>
          <a:p>
            <a:r>
              <a:t>- That is why final-state validation is insufficient.</a:t>
            </a:r>
          </a:p>
          <a:p>
            <a:r>
              <a:t>- The path to the result can itself violate the work order.</a:t>
            </a:r>
          </a:p>
          <a:p>
            <a:r>
              <a:t>ANIMATION</a:t>
            </a:r>
          </a:p>
          <a:p>
            <a:r>
              <a:t>- Reveal examples one at a time.</a:t>
            </a:r>
          </a:p>
          <a:p>
            <a:r>
              <a:t>- Reveal SCOPE / PROCESS FAILURE after the examples.</a:t>
            </a:r>
          </a:p>
          <a:p>
            <a:r>
              <a:t>- Finish on "Final-state validation alone does not capture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Third failure: capability and authority are different.</a:t>
            </a:r>
          </a:p>
          <a:p>
            <a:r>
              <a:t>- We saw this distinction in Agents.</a:t>
            </a:r>
          </a:p>
          <a:p>
            <a:r>
              <a:t>- The agent may be technically capable of pushing, merging, or deploying. That does not mean we delegated all of those actions.</a:t>
            </a:r>
          </a:p>
          <a:p>
            <a:r>
              <a:t>- A useful agent often needs broad capability to perform local work.</a:t>
            </a:r>
          </a:p>
          <a:p>
            <a:r>
              <a:t>- Consequential actions can still require separate authority.</a:t>
            </a:r>
          </a:p>
          <a:p>
            <a:r>
              <a:t>- This distinction will become important when we introduce gates.</a:t>
            </a:r>
          </a:p>
          <a:p>
            <a:r>
              <a:t>ANIMATION</a:t>
            </a:r>
          </a:p>
          <a:p>
            <a:r>
              <a:t>- Reveal READ, MODIFY, COMMIT as permitted.</a:t>
            </a:r>
          </a:p>
          <a:p>
            <a:r>
              <a:t>- Reveal PUSH if appropriate to the intended work order.</a:t>
            </a:r>
          </a:p>
          <a:p>
            <a:r>
              <a:t>- Reveal MERGE and DEPLOY as prohibited.</a:t>
            </a:r>
          </a:p>
          <a:p>
            <a:r>
              <a:t>- Reveal "capability is not authority" last.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r>
              <a:t/>
            </a:r>
          </a:p>
          <a:p>
            <a:r>
              <a:t>ANIMATION</a:t>
            </a:r>
          </a:p>
          <a:p>
            <a:r>
              <a:t>- Reveal the equation exactly as remembered from Modeling.</a:t>
            </a:r>
          </a:p>
          <a:p>
            <a:r>
              <a:t>- Reveal the four definitions.</a:t>
            </a:r>
          </a:p>
          <a:p>
            <a:r>
              <a:t>- Reveal "What makes a result acceptable?" last, and leave it up as you advance.</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four roles are not four stations in a fixed architecture, but they do compose into a recognizable pipeline.</a:t>
            </a:r>
          </a:p>
          <a:p>
            <a:r>
              <a:t>- An obligation enters at the top.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previous slide.)</a:t>
            </a:r>
          </a:p>
          <a:p>
            <a:r>
              <a:t>- The pipeline now ends visibly at the gate controlling MERGE / DEPLOY (folds in the deleted "A verdict can control authority" slide):</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a:t>
            </a:r>
          </a:p>
          <a:p>
            <a:r>
              <a:t>- A gate makes authority conditional on a verdict.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next slide is the answer — show it after they talk.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Static validation: a verdict decided over the model itself, before any execution.</a:t>
            </a:r>
          </a:p>
          <a:p>
            <a:r>
              <a:t>- Ground each question in the lab. 'Can the memory bound be exceeded' is exactly the lab's budget query: peak working memory against the declared 48 KB ceiling — the query that reported 80 KB in Stage 1. 'Does every permitted route cross the required boundary' is the graph query that the Scheduler admits every thread. An illegal transition is one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 same model can define what a SENSOR must observe at runtime: the model states expected behavior; the trace is checked against it.</a:t>
            </a:r>
          </a:p>
          <a:p>
            <a:r>
              <a:t>- Ground it in the lab's lifecycle machines: every thread is Asleep or Awake, moved by admit and release events. Did an observed wake correspond to a declared transition? Did the awake count ever exceed two? Did working memory stay within its modeled 48 KB bound?</a:t>
            </a:r>
          </a:p>
          <a:p>
            <a:r>
              <a:t>- This prevents students from hearing 'model-based validation' as synonymous with static analysis.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One model, two validation strategies. Static verdicts are exhaustive over the modeled space and available before execution; dynamic verdicts are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20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2000" b="1" i="1" dirty="0">
                <a:solidFill>
                  <a:srgbClr val="8E6F3E"/>
                </a:solidFill>
              </a:rPr>
              <a:t>T</a:t>
            </a:r>
            <a:r>
              <a:rPr lang="en-US" sz="2000" b="0" dirty="0">
                <a:solidFill>
                  <a:srgbClr val="555960"/>
                </a:solidFill>
              </a:rPr>
              <a:t xml:space="preserve"> task   ·   </a:t>
            </a:r>
            <a:r>
              <a:rPr lang="en-US" sz="2000" b="1" i="1" dirty="0">
                <a:solidFill>
                  <a:srgbClr val="8E6F3E"/>
                </a:solidFill>
              </a:rPr>
              <a:t>M</a:t>
            </a:r>
            <a:r>
              <a:rPr lang="en-US" sz="2000" b="0" dirty="0">
                <a:solidFill>
                  <a:srgbClr val="555960"/>
                </a:solidFill>
              </a:rPr>
              <a:t xml:space="preserve"> reasoning model   ·   </a:t>
            </a:r>
            <a:r>
              <a:rPr lang="en-US" sz="2000" b="1" i="1" dirty="0">
                <a:solidFill>
                  <a:srgbClr val="8E6F3E"/>
                </a:solidFill>
              </a:rPr>
              <a:t>R</a:t>
            </a:r>
            <a:r>
              <a:rPr lang="en-US" sz="2000" b="0" dirty="0">
                <a:solidFill>
                  <a:srgbClr val="555960"/>
                </a:solidFill>
              </a:rPr>
              <a:t xml:space="preserve"> representation   ·   </a:t>
            </a:r>
            <a:r>
              <a:rPr lang="en-US" sz="2000" b="1" i="1" dirty="0">
                <a:solidFill>
                  <a:srgbClr val="8E6F3E"/>
                </a:solidFill>
              </a:rPr>
              <a:t>H</a:t>
            </a:r>
            <a:r>
              <a:rPr lang="en-US" sz="2000" b="0" dirty="0">
                <a:solidFill>
                  <a:srgbClr val="555960"/>
                </a:solidFill>
              </a:rPr>
              <a:t xml:space="preserve">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 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5-10 minutes. Give it a whirl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When should an engineering judgment control what the agent — or the environment — is permitted to do?</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a validation judgment</a:t>
            </a:r>
          </a:p>
          <a:p>
            <a:pPr algn="ctr"/>
            <a:r>
              <a:rPr sz="2000" b="1" i="0">
                <a:solidFill>
                  <a:srgbClr val="FFFFFF"/>
                </a:solidFill>
              </a:rPr>
              <a:t>to what the environment permits.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real agent gets a work environment</a:t>
            </a:r>
          </a:p>
        </p:txBody>
      </p:sp>
      <p:sp>
        <p:nvSpPr>
          <p:cNvPr id="4" name="WorkOrder"/>
          <p:cNvSpPr/>
          <p:nvPr/>
        </p:nvSpPr>
        <p:spPr>
          <a:xfrm>
            <a:off x="3566160" y="914400"/>
            <a:ext cx="2011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4572000" y="1417320"/>
            <a:ext cx="0" cy="301752"/>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Worktree"/>
          <p:cNvSpPr/>
          <p:nvPr/>
        </p:nvSpPr>
        <p:spPr>
          <a:xfrm>
            <a:off x="1097280" y="1737360"/>
            <a:ext cx="6949440" cy="2240280"/>
          </a:xfrm>
          <a:prstGeom prst="rect">
            <a:avLst/>
          </a:prstGeom>
          <a:noFill/>
          <a:ln w="1905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0" i="0">
                <a:solidFill>
                  <a:srgbClr val="5C4826"/>
                </a:solidFill>
              </a:rPr>
              <a:t/>
            </a:r>
          </a:p>
        </p:txBody>
      </p:sp>
      <p:sp>
        <p:nvSpPr>
          <p:cNvPr id="7" name="WorktreeLabel"/>
          <p:cNvSpPr txBox="1"/>
          <p:nvPr/>
        </p:nvSpPr>
        <p:spPr>
          <a:xfrm>
            <a:off x="1234440" y="1810512"/>
            <a:ext cx="1828800" cy="365760"/>
          </a:xfrm>
          <a:prstGeom prst="rect">
            <a:avLst/>
          </a:prstGeom>
          <a:noFill/>
        </p:spPr>
        <p:txBody>
          <a:bodyPr wrap="square" anchor="t">
            <a:spAutoFit/>
          </a:bodyPr>
          <a:lstStyle/>
          <a:p>
            <a:pPr algn="l"/>
            <a:r>
              <a:rPr sz="2000" b="1" i="0">
                <a:solidFill>
                  <a:srgbClr val="8E6F3E"/>
                </a:solidFill>
              </a:rPr>
              <a:t>WORKTREE</a:t>
            </a:r>
          </a:p>
        </p:txBody>
      </p:sp>
      <p:sp>
        <p:nvSpPr>
          <p:cNvPr id="8" name="EnvRepo"/>
          <p:cNvSpPr/>
          <p:nvPr/>
        </p:nvSpPr>
        <p:spPr>
          <a:xfrm>
            <a:off x="146304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repository</a:t>
            </a:r>
          </a:p>
        </p:txBody>
      </p:sp>
      <p:sp>
        <p:nvSpPr>
          <p:cNvPr id="9" name="EnvTools"/>
          <p:cNvSpPr/>
          <p:nvPr/>
        </p:nvSpPr>
        <p:spPr>
          <a:xfrm>
            <a:off x="370332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tools</a:t>
            </a:r>
          </a:p>
        </p:txBody>
      </p:sp>
      <p:sp>
        <p:nvSpPr>
          <p:cNvPr id="10" name="EnvContext"/>
          <p:cNvSpPr/>
          <p:nvPr/>
        </p:nvSpPr>
        <p:spPr>
          <a:xfrm>
            <a:off x="594360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context</a:t>
            </a:r>
          </a:p>
        </p:txBody>
      </p:sp>
      <p:sp>
        <p:nvSpPr>
          <p:cNvPr id="11" name="EnvAgent"/>
          <p:cNvSpPr/>
          <p:nvPr/>
        </p:nvSpPr>
        <p:spPr>
          <a:xfrm>
            <a:off x="3703320" y="3218688"/>
            <a:ext cx="1737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AGENT</a:t>
            </a:r>
          </a:p>
        </p:txBody>
      </p:sp>
      <p:cxnSp>
        <p:nvCxnSpPr>
          <p:cNvPr id="12" name="Connector 11"/>
          <p:cNvCxnSpPr/>
          <p:nvPr/>
        </p:nvCxnSpPr>
        <p:spPr>
          <a:xfrm>
            <a:off x="233172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72000" y="2743200"/>
            <a:ext cx="0" cy="47548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25780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572000" y="3785615"/>
            <a:ext cx="0" cy="420625"/>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Proposed"/>
          <p:cNvSpPr/>
          <p:nvPr/>
        </p:nvSpPr>
        <p:spPr>
          <a:xfrm>
            <a:off x="3566160" y="4224528"/>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proposed change</a:t>
            </a:r>
          </a:p>
        </p:txBody>
      </p:sp>
      <p:cxnSp>
        <p:nvCxnSpPr>
          <p:cNvPr id="17" name="Connector 16"/>
          <p:cNvCxnSpPr/>
          <p:nvPr/>
        </p:nvCxnSpPr>
        <p:spPr>
          <a:xfrm>
            <a:off x="4572000" y="4700016"/>
            <a:ext cx="0" cy="29260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ommitPR"/>
          <p:cNvSpPr/>
          <p:nvPr/>
        </p:nvSpPr>
        <p:spPr>
          <a:xfrm>
            <a:off x="3566160" y="5010912"/>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 / PR</a:t>
            </a:r>
          </a:p>
        </p:txBody>
      </p:sp>
      <p:sp>
        <p:nvSpPr>
          <p:cNvPr id="19" name="EnvCaption"/>
          <p:cNvSpPr txBox="1"/>
          <p:nvPr/>
        </p:nvSpPr>
        <p:spPr>
          <a:xfrm>
            <a:off x="274320" y="5559552"/>
            <a:ext cx="8595360" cy="365760"/>
          </a:xfrm>
          <a:prstGeom prst="rect">
            <a:avLst/>
          </a:prstGeom>
          <a:noFill/>
        </p:spPr>
        <p:txBody>
          <a:bodyPr wrap="square" anchor="t">
            <a:spAutoFit/>
          </a:bodyPr>
          <a:lstStyle/>
          <a:p>
            <a:pPr algn="ctr"/>
            <a:r>
              <a:rPr sz="2000" b="0" i="1">
                <a:solidFill>
                  <a:srgbClr val="555960"/>
                </a:solidFill>
              </a:rPr>
              <a:t>Git worktree · branch · issue · repository instructions · tools · tests · CI · PR</a:t>
            </a:r>
          </a:p>
        </p:txBody>
      </p:sp>
      <p:sp>
        <p:nvSpPr>
          <p:cNvPr id="0" name="Example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EXAMPLE · PROCESS BOUNDS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More instructions means fewer degrees of freedom</a:t>
            </a:r>
          </a:p>
        </p:txBody>
      </p:sp>
      <p:sp>
        <p:nvSpPr>
          <p:cNvPr id="4" name="BoundPanel"/>
          <p:cNvSpPr/>
          <p:nvPr/>
        </p:nvSpPr>
        <p:spPr>
          <a:xfrm>
            <a:off x="50292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files in 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local implementation</a:t>
            </a:r>
          </a:p>
          <a:p>
            <a:pPr algn="ctr"/>
            <a:r>
              <a:rPr sz="2000" b="0" i="0">
                <a:solidFill>
                  <a:srgbClr val="5C4826"/>
                </a:solidFill>
              </a:rPr>
              <a:t>decomposition</a:t>
            </a:r>
          </a:p>
          <a:p>
            <a:pPr algn="ctr"/>
            <a:r>
              <a:rPr sz="2000" b="0" i="0">
                <a:solidFill>
                  <a:srgbClr val="5C4826"/>
                </a:solidFill>
              </a:rPr>
              <a:t>naming choices</a:t>
            </a:r>
          </a:p>
          <a:p>
            <a:pPr algn="ctr"/>
            <a:r>
              <a:rPr sz="2000" b="0" i="0">
                <a:solidFill>
                  <a:srgbClr val="5C4826"/>
                </a:solidFill>
              </a:rPr>
              <a:t>algorithm, where unconstrained</a:t>
            </a:r>
          </a:p>
          <a:p>
            <a:pPr algn="ctr"/>
            <a:r>
              <a:rPr sz="2000" b="0" i="0">
                <a:solidFill>
                  <a:srgbClr val="5C4826"/>
                </a:solidFill>
              </a:rPr>
              <a:t>order of intermediate edits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Good delegation constrains consequential choices</a:t>
            </a:r>
          </a:p>
          <a:p>
            <a:pPr algn="ctr"/>
            <a:r>
              <a:rPr sz="2000" b="1" i="0">
                <a:solidFill>
                  <a:srgbClr val="FFFFFF"/>
                </a:solidFill>
              </a:rPr>
              <a:t>without prescribing every move.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process is a model</a:t>
            </a:r>
          </a:p>
        </p:txBody>
      </p:sp>
      <p:sp>
        <p:nvSpPr>
          <p:cNvPr id="4" name="PCWorkOrder"/>
          <p:cNvSpPr/>
          <p:nvPr/>
        </p:nvSpPr>
        <p:spPr>
          <a:xfrm>
            <a:off x="502920" y="1005840"/>
            <a:ext cx="17373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1371600" y="1554480"/>
            <a:ext cx="0" cy="36576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PCINSPECT"/>
          <p:cNvSpPr/>
          <p:nvPr/>
        </p:nvSpPr>
        <p:spPr>
          <a:xfrm>
            <a:off x="5029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7" name="Connector 6"/>
          <p:cNvCxnSpPr/>
          <p:nvPr/>
        </p:nvCxnSpPr>
        <p:spPr>
          <a:xfrm>
            <a:off x="19202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PCMODIFY"/>
          <p:cNvSpPr/>
          <p:nvPr/>
        </p:nvSpPr>
        <p:spPr>
          <a:xfrm>
            <a:off x="21031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9" name="Connector 8"/>
          <p:cNvCxnSpPr/>
          <p:nvPr/>
        </p:nvCxnSpPr>
        <p:spPr>
          <a:xfrm>
            <a:off x="3520439" y="2217420"/>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PCCHECK"/>
          <p:cNvSpPr/>
          <p:nvPr/>
        </p:nvSpPr>
        <p:spPr>
          <a:xfrm>
            <a:off x="37033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1" name="Connector 10"/>
          <p:cNvCxnSpPr/>
          <p:nvPr/>
        </p:nvCxnSpPr>
        <p:spPr>
          <a:xfrm>
            <a:off x="51206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PCCOMMIT"/>
          <p:cNvSpPr/>
          <p:nvPr/>
        </p:nvSpPr>
        <p:spPr>
          <a:xfrm>
            <a:off x="53035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3" name="Connector 12"/>
          <p:cNvCxnSpPr/>
          <p:nvPr/>
        </p:nvCxnSpPr>
        <p:spPr>
          <a:xfrm>
            <a:off x="67208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PCPROPOSE"/>
          <p:cNvSpPr/>
          <p:nvPr/>
        </p:nvSpPr>
        <p:spPr>
          <a:xfrm>
            <a:off x="69037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cxnSp>
        <p:nvCxnSpPr>
          <p:cNvPr id="15" name="Connector 14"/>
          <p:cNvCxnSpPr/>
          <p:nvPr/>
        </p:nvCxnSpPr>
        <p:spPr>
          <a:xfrm>
            <a:off x="4411980" y="2514600"/>
            <a:ext cx="0" cy="27432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811779" y="2788920"/>
            <a:ext cx="1600201" cy="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811779" y="2551176"/>
            <a:ext cx="0" cy="237744"/>
          </a:xfrm>
          <a:prstGeom prst="line">
            <a:avLst/>
          </a:prstGeom>
          <a:ln w="19050">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PCAspects"/>
          <p:cNvSpPr txBox="1"/>
          <p:nvPr/>
        </p:nvSpPr>
        <p:spPr>
          <a:xfrm>
            <a:off x="274320" y="3246120"/>
            <a:ext cx="8595360" cy="700000"/>
          </a:xfrm>
          <a:prstGeom prst="rect">
            <a:avLst/>
          </a:prstGeom>
          <a:noFill/>
        </p:spPr>
        <p:txBody>
          <a:bodyPr wrap="square" anchor="t">
            <a:spAutoFit/>
          </a:bodyPr>
          <a:lstStyle/>
          <a:p>
            <a:pPr algn="ctr"/>
            <a:r>
              <a:rPr sz="2000" b="0" i="1">
                <a:solidFill>
                  <a:srgbClr val="555960"/>
                </a:solidFill>
              </a:rPr>
              <a:t>permitted actions · required transitions · stopping criteria · required evidence</a:t>
            </a:r>
          </a:p>
        </p:txBody>
      </p:sp>
      <p:sp>
        <p:nvSpPr>
          <p:cNvPr id="19" name="PCMain"/>
          <p:cNvSpPr txBox="1"/>
          <p:nvPr/>
        </p:nvSpPr>
        <p:spPr>
          <a:xfrm>
            <a:off x="502920" y="3977639"/>
            <a:ext cx="8138160" cy="868680"/>
          </a:xfrm>
          <a:prstGeom prst="rect">
            <a:avLst/>
          </a:prstGeom>
          <a:noFill/>
        </p:spPr>
        <p:txBody>
          <a:bodyPr wrap="square" anchor="t">
            <a:spAutoFit/>
          </a:bodyPr>
          <a:lstStyle/>
          <a:p>
            <a:r>
              <a:rPr sz="2000" b="0" i="0">
                <a:solidFill>
                  <a:srgbClr val="5C4826"/>
                </a:solidFill>
              </a:rPr>
              <a:t>A process model makes consequential actions, transitions, evidence, and stopping conditions explicit.</a:t>
            </a:r>
          </a:p>
        </p:txBody>
      </p:sp>
      <p:sp>
        <p:nvSpPr>
          <p:cNvPr id="20" name="PCCaveat"/>
          <p:cNvSpPr txBox="1"/>
          <p:nvPr/>
        </p:nvSpPr>
        <p:spPr>
          <a:xfrm>
            <a:off x="502920" y="4983480"/>
            <a:ext cx="8138160" cy="457200"/>
          </a:xfrm>
          <a:prstGeom prst="rect">
            <a:avLst/>
          </a:prstGeom>
          <a:noFill/>
        </p:spPr>
        <p:txBody>
          <a:bodyPr wrap="square" anchor="t">
            <a:spAutoFit/>
          </a:bodyPr>
          <a:lstStyle/>
          <a:p>
            <a:pPr algn="ctr"/>
            <a:r>
              <a:rPr sz="2000" b="1" i="0">
                <a:solidFill>
                  <a:srgbClr val="8E6F3E"/>
                </a:solidFill>
              </a:rPr>
              <a:t>It need not prescribe the agent’s internal reasoning.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a:t>Either bound can be violated</a:t>
            </a:r>
          </a:p>
        </p:txBody>
      </p:sp>
      <p:sp>
        <p:nvSpPr>
          <p:cNvPr id="0" name="TaxHead-result"/>
          <p:cNvSpPr/>
          <p:nvPr/>
        </p:nvSpPr>
        <p:spPr>
          <a:xfrm>
            <a:off x="2286000" y="1005840"/>
            <a:ext cx="320040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TaxHead-process"/>
          <p:cNvSpPr/>
          <p:nvPr/>
        </p:nvSpPr>
        <p:spPr>
          <a:xfrm>
            <a:off x="5577840" y="1005840"/>
            <a:ext cx="329184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TaxLbl-QUESTI"/>
          <p:cNvSpPr/>
          <p:nvPr/>
        </p:nvSpPr>
        <p:spPr>
          <a:xfrm>
            <a:off x="274320" y="173736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QUESTION</a:t>
            </a:r>
          </a:p>
        </p:txBody>
      </p:sp>
      <p:sp>
        <p:nvSpPr>
          <p:cNvPr id="0" name="TaxC1-QUESTI"/>
          <p:cNvSpPr/>
          <p:nvPr/>
        </p:nvSpPr>
        <p:spPr>
          <a:xfrm>
            <a:off x="2286000" y="173736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Did the artifact satisfy its obligations?</a:t>
            </a:r>
          </a:p>
        </p:txBody>
      </p:sp>
      <p:sp>
        <p:nvSpPr>
          <p:cNvPr id="0" name="TaxC2-QUESTI"/>
          <p:cNvSpPr/>
          <p:nvPr/>
        </p:nvSpPr>
        <p:spPr>
          <a:xfrm>
            <a:off x="5577840" y="173736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Was the work performed within the delegated process?</a:t>
            </a:r>
          </a:p>
        </p:txBody>
      </p:sp>
      <p:sp>
        <p:nvSpPr>
          <p:cNvPr id="0" name="TaxLbl-EXAMPL"/>
          <p:cNvSpPr/>
          <p:nvPr/>
        </p:nvSpPr>
        <p:spPr>
          <a:xfrm>
            <a:off x="274320" y="292608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EXAMPLE</a:t>
            </a:r>
          </a:p>
        </p:txBody>
      </p:sp>
      <p:sp>
        <p:nvSpPr>
          <p:cNvPr id="0" name="TaxC1-EXAMPL"/>
          <p:cNvSpPr/>
          <p:nvPr/>
        </p:nvSpPr>
        <p:spPr>
          <a:xfrm>
            <a:off x="2286000" y="292608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Existing API behavior changes</a:t>
            </a:r>
          </a:p>
        </p:txBody>
      </p:sp>
      <p:sp>
        <p:nvSpPr>
          <p:cNvPr id="0" name="TaxC2-EXAMPL"/>
          <p:cNvSpPr/>
          <p:nvPr/>
        </p:nvSpPr>
        <p:spPr>
          <a:xfrm>
            <a:off x="5577840" y="292608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Agent modifies a forbidden dependency</a:t>
            </a:r>
          </a:p>
        </p:txBody>
      </p:sp>
      <p:sp>
        <p:nvSpPr>
          <p:cNvPr id="0" name="TaxLbl-VALIDA"/>
          <p:cNvSpPr/>
          <p:nvPr/>
        </p:nvSpPr>
        <p:spPr>
          <a:xfrm>
            <a:off x="274320" y="411480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VALIDATION TARGET</a:t>
            </a:r>
          </a:p>
        </p:txBody>
      </p:sp>
      <p:sp>
        <p:nvSpPr>
          <p:cNvPr id="0" name="TaxC1-VALIDA"/>
          <p:cNvSpPr/>
          <p:nvPr/>
        </p:nvSpPr>
        <p:spPr>
          <a:xfrm>
            <a:off x="2286000" y="411480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Artifact / system state</a:t>
            </a:r>
          </a:p>
        </p:txBody>
      </p:sp>
      <p:sp>
        <p:nvSpPr>
          <p:cNvPr id="0" name="TaxC2-VALIDA"/>
          <p:cNvSpPr/>
          <p:nvPr/>
        </p:nvSpPr>
        <p:spPr>
          <a:xfrm>
            <a:off x="5577840" y="411480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Actions / evidence / authority</a:t>
            </a:r>
          </a:p>
        </p:txBody>
      </p:sp>
      <p:sp>
        <p:nvSpPr>
          <p:cNvPr id="0"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prohibited action</a:t>
            </a:r>
          </a:p>
        </p:txBody>
      </p:sp>
      <p:sp>
        <p:nvSpPr>
          <p:cNvPr id="4" name="WrongWork1"/>
          <p:cNvSpPr/>
          <p:nvPr/>
        </p:nvSpPr>
        <p:spPr>
          <a:xfrm>
            <a:off x="502920" y="100584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Modifies files outside the declared scope</a:t>
            </a:r>
          </a:p>
        </p:txBody>
      </p:sp>
      <p:sp>
        <p:nvSpPr>
          <p:cNvPr id="5" name="WrongWork2"/>
          <p:cNvSpPr/>
          <p:nvPr/>
        </p:nvSpPr>
        <p:spPr>
          <a:xfrm>
            <a:off x="502920" y="173736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Replaces an approved dependency</a:t>
            </a:r>
          </a:p>
        </p:txBody>
      </p:sp>
      <p:sp>
        <p:nvSpPr>
          <p:cNvPr id="6" name="WrongWork3"/>
          <p:cNvSpPr/>
          <p:nvPr/>
        </p:nvSpPr>
        <p:spPr>
          <a:xfrm>
            <a:off x="502920" y="246888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Changes the model instead of satisfying it</a:t>
            </a:r>
          </a:p>
        </p:txBody>
      </p:sp>
      <p:sp>
        <p:nvSpPr>
          <p:cNvPr id="7" name="WrongWork4"/>
          <p:cNvSpPr/>
          <p:nvPr/>
        </p:nvSpPr>
        <p:spPr>
          <a:xfrm>
            <a:off x="502920" y="320040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“Fixes” a test to make the implementation pass</a:t>
            </a:r>
          </a:p>
        </p:txBody>
      </p:sp>
      <p:sp>
        <p:nvSpPr>
          <p:cNvPr id="8" name="ScopeLabel"/>
          <p:cNvSpPr/>
          <p:nvPr/>
        </p:nvSpPr>
        <p:spPr>
          <a:xfrm>
            <a:off x="502920" y="4160520"/>
            <a:ext cx="31089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SCOPE / PROCESS FAILURE</a:t>
            </a:r>
          </a:p>
        </p:txBody>
      </p:sp>
      <p:sp>
        <p:nvSpPr>
          <p:cNvPr id="9" name="ScopeDef"/>
          <p:cNvSpPr txBox="1"/>
          <p:nvPr/>
        </p:nvSpPr>
        <p:spPr>
          <a:xfrm>
            <a:off x="3794760" y="4224528"/>
            <a:ext cx="4846320" cy="502920"/>
          </a:xfrm>
          <a:prstGeom prst="rect">
            <a:avLst/>
          </a:prstGeom>
          <a:noFill/>
        </p:spPr>
        <p:txBody>
          <a:bodyPr wrap="square" anchor="t">
            <a:spAutoFit/>
          </a:bodyPr>
          <a:lstStyle/>
          <a:p>
            <a:pPr algn="l"/>
            <a:r>
              <a:rPr sz="2000" b="0" i="0">
                <a:solidFill>
                  <a:srgbClr val="5C4826"/>
                </a:solidFill>
              </a:rPr>
              <a:t>The path to the result violates the work order.</a:t>
            </a:r>
          </a:p>
        </p:txBody>
      </p:sp>
      <p:sp>
        <p:nvSpPr>
          <p:cNvPr id="1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Final-state validation alone does not capture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excess authority</a:t>
            </a:r>
          </a:p>
        </p:txBody>
      </p:sp>
      <p:sp>
        <p:nvSpPr>
          <p:cNvPr id="4" name="AuthREAD"/>
          <p:cNvSpPr/>
          <p:nvPr/>
        </p:nvSpPr>
        <p:spPr>
          <a:xfrm>
            <a:off x="41148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READ</a:t>
            </a:r>
          </a:p>
        </p:txBody>
      </p:sp>
      <p:sp>
        <p:nvSpPr>
          <p:cNvPr id="5" name="AuthMarkREAD"/>
          <p:cNvSpPr txBox="1"/>
          <p:nvPr/>
        </p:nvSpPr>
        <p:spPr>
          <a:xfrm>
            <a:off x="411480"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6" name="Connector 5"/>
          <p:cNvCxnSpPr/>
          <p:nvPr/>
        </p:nvCxnSpPr>
        <p:spPr>
          <a:xfrm>
            <a:off x="1600200"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AuthMODIFY"/>
          <p:cNvSpPr/>
          <p:nvPr/>
        </p:nvSpPr>
        <p:spPr>
          <a:xfrm>
            <a:off x="1837944"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sp>
        <p:nvSpPr>
          <p:cNvPr id="8" name="AuthMarkMODIFY"/>
          <p:cNvSpPr txBox="1"/>
          <p:nvPr/>
        </p:nvSpPr>
        <p:spPr>
          <a:xfrm>
            <a:off x="1837944"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9" name="Connector 8"/>
          <p:cNvCxnSpPr/>
          <p:nvPr/>
        </p:nvCxnSpPr>
        <p:spPr>
          <a:xfrm>
            <a:off x="3026664"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AuthCOMMIT"/>
          <p:cNvSpPr/>
          <p:nvPr/>
        </p:nvSpPr>
        <p:spPr>
          <a:xfrm>
            <a:off x="3264408"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sp>
        <p:nvSpPr>
          <p:cNvPr id="11" name="AuthMarkCOMMIT"/>
          <p:cNvSpPr txBox="1"/>
          <p:nvPr/>
        </p:nvSpPr>
        <p:spPr>
          <a:xfrm>
            <a:off x="3264408"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2" name="Connector 11"/>
          <p:cNvCxnSpPr/>
          <p:nvPr/>
        </p:nvCxnSpPr>
        <p:spPr>
          <a:xfrm>
            <a:off x="4453128"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AuthPUSH"/>
          <p:cNvSpPr/>
          <p:nvPr/>
        </p:nvSpPr>
        <p:spPr>
          <a:xfrm>
            <a:off x="4690872"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sp>
        <p:nvSpPr>
          <p:cNvPr id="14" name="AuthMarkPUSH"/>
          <p:cNvSpPr txBox="1"/>
          <p:nvPr/>
        </p:nvSpPr>
        <p:spPr>
          <a:xfrm>
            <a:off x="4690872"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5" name="Connector 14"/>
          <p:cNvCxnSpPr/>
          <p:nvPr/>
        </p:nvCxnSpPr>
        <p:spPr>
          <a:xfrm>
            <a:off x="5879592"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AuthMERGE"/>
          <p:cNvSpPr/>
          <p:nvPr/>
        </p:nvSpPr>
        <p:spPr>
          <a:xfrm>
            <a:off x="6117336"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sp>
        <p:nvSpPr>
          <p:cNvPr id="17" name="AuthMarkMERGE"/>
          <p:cNvSpPr txBox="1"/>
          <p:nvPr/>
        </p:nvSpPr>
        <p:spPr>
          <a:xfrm>
            <a:off x="6117336" y="2331720"/>
            <a:ext cx="1188720" cy="457200"/>
          </a:xfrm>
          <a:prstGeom prst="rect">
            <a:avLst/>
          </a:prstGeom>
          <a:noFill/>
        </p:spPr>
        <p:txBody>
          <a:bodyPr wrap="square" anchor="t">
            <a:spAutoFit/>
          </a:bodyPr>
          <a:lstStyle/>
          <a:p>
            <a:pPr algn="ctr"/>
            <a:r>
              <a:rPr sz="2400" b="1" i="0">
                <a:solidFill>
                  <a:srgbClr val="555960"/>
                </a:solidFill>
              </a:rPr>
              <a:t>✗</a:t>
            </a:r>
          </a:p>
        </p:txBody>
      </p:sp>
      <p:cxnSp>
        <p:nvCxnSpPr>
          <p:cNvPr id="18" name="Connector 17"/>
          <p:cNvCxnSpPr/>
          <p:nvPr/>
        </p:nvCxnSpPr>
        <p:spPr>
          <a:xfrm>
            <a:off x="7306056"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AuthDEPLOY"/>
          <p:cNvSpPr/>
          <p:nvPr/>
        </p:nvSpPr>
        <p:spPr>
          <a:xfrm>
            <a:off x="754380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sp>
        <p:nvSpPr>
          <p:cNvPr id="20" name="AuthMarkDEPLOY"/>
          <p:cNvSpPr txBox="1"/>
          <p:nvPr/>
        </p:nvSpPr>
        <p:spPr>
          <a:xfrm>
            <a:off x="7543800" y="2331720"/>
            <a:ext cx="1188720" cy="457200"/>
          </a:xfrm>
          <a:prstGeom prst="rect">
            <a:avLst/>
          </a:prstGeom>
          <a:noFill/>
        </p:spPr>
        <p:txBody>
          <a:bodyPr wrap="square" anchor="t">
            <a:spAutoFit/>
          </a:bodyPr>
          <a:lstStyle/>
          <a:p>
            <a:pPr algn="ctr"/>
            <a:r>
              <a:rPr sz="2400" b="1" i="0">
                <a:solidFill>
                  <a:srgbClr val="555960"/>
                </a:solidFill>
              </a:rPr>
              <a:t>✗</a:t>
            </a:r>
          </a:p>
        </p:txBody>
      </p:sp>
      <p:sp>
        <p:nvSpPr>
          <p:cNvPr id="21" name="AuthStmt"/>
          <p:cNvSpPr txBox="1"/>
          <p:nvPr/>
        </p:nvSpPr>
        <p:spPr>
          <a:xfrm>
            <a:off x="502920" y="3383280"/>
            <a:ext cx="8138160" cy="548640"/>
          </a:xfrm>
          <a:prstGeom prst="rect">
            <a:avLst/>
          </a:prstGeom>
          <a:noFill/>
        </p:spPr>
        <p:txBody>
          <a:bodyPr wrap="square" anchor="t">
            <a:spAutoFit/>
          </a:bodyPr>
          <a:lstStyle/>
          <a:p>
            <a:pPr algn="ctr"/>
            <a:r>
              <a:rPr sz="2000" b="0" i="0">
                <a:solidFill>
                  <a:srgbClr val="5C4826"/>
                </a:solidFill>
              </a:rPr>
              <a:t>The agent may be capable of an action that it is not authorized to take.</a:t>
            </a:r>
          </a:p>
        </p:txBody>
      </p:sp>
      <p:sp>
        <p:nvSpPr>
          <p:cNvPr id="22" name="AuthCallback"/>
          <p:cNvSpPr txBox="1"/>
          <p:nvPr/>
        </p:nvSpPr>
        <p:spPr>
          <a:xfrm>
            <a:off x="502920" y="4114800"/>
            <a:ext cx="8138160" cy="457200"/>
          </a:xfrm>
          <a:prstGeom prst="rect">
            <a:avLst/>
          </a:prstGeom>
          <a:noFill/>
        </p:spPr>
        <p:txBody>
          <a:bodyPr wrap="square" anchor="t">
            <a:spAutoFit/>
          </a:bodyPr>
          <a:lstStyle/>
          <a:p>
            <a:pPr algn="ctr"/>
            <a:r>
              <a:rPr sz="2000" b="1" i="0">
                <a:solidFill>
                  <a:srgbClr val="8E6F3E"/>
                </a:solidFill>
              </a:rPr>
              <a:t>From Agents: capability is not authority.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Wrong process: insufficient evidence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274320" y="960120"/>
            <a:ext cx="8595360" cy="731520"/>
          </a:xfrm>
          <a:prstGeom prst="rect">
            <a:avLst/>
          </a:prstGeom>
          <a:noFill/>
        </p:spPr>
        <p:txBody>
          <a:bodyPr wrap="square" anchor="t">
            <a:spAutoFit/>
          </a:bodyPr>
          <a:lstStyle/>
          <a:p>
            <a:pPr algn="ctr"/>
            <a:r>
              <a:rPr sz="2000" b="0" i="1">
                <a:solidFill>
                  <a:srgbClr val="555960"/>
                </a:solidFill>
              </a:rPr>
              <a:t>The agent reports: “All tests pass.”</a:t>
            </a:r>
          </a:p>
        </p:txBody>
      </p:sp>
      <p:sp>
        <p:nvSpPr>
          <p:cNvPr id="6" name="Rectangle 5"/>
          <p:cNvSpPr/>
          <p:nvPr/>
        </p:nvSpPr>
        <p:spPr>
          <a:xfrm>
            <a:off x="640080" y="3154680"/>
            <a:ext cx="219456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7" name="TextBox 6"/>
          <p:cNvSpPr txBox="1"/>
          <p:nvPr/>
        </p:nvSpPr>
        <p:spPr>
          <a:xfrm>
            <a:off x="3108960" y="3310128"/>
            <a:ext cx="5760720" cy="914400"/>
          </a:xfrm>
          <a:prstGeom prst="rect">
            <a:avLst/>
          </a:prstGeom>
          <a:noFill/>
        </p:spPr>
        <p:txBody>
          <a:bodyPr wrap="square" anchor="t">
            <a:spAutoFit/>
          </a:bodyPr>
          <a:lstStyle/>
          <a:p>
            <a:pPr algn="l"/>
            <a:r>
              <a:rPr sz="2200" b="1" i="0">
                <a:solidFill>
                  <a:srgbClr val="5C4826"/>
                </a:solidFill>
              </a:rPr>
              <a:t>A condition against which the work can be wrong.</a:t>
            </a:r>
          </a:p>
        </p:txBody>
      </p:sp>
      <p:sp>
        <p:nvSpPr>
          <p:cNvPr id="9" name="Rectangle 8"/>
          <p:cNvSpPr/>
          <p:nvPr/>
        </p:nvSpPr>
        <p:spPr>
          <a:xfrm>
            <a:off x="521207"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Which tests?</a:t>
            </a:r>
          </a:p>
        </p:txBody>
      </p:sp>
      <p:sp>
        <p:nvSpPr>
          <p:cNvPr id="10" name="Rectangle 9"/>
          <p:cNvSpPr/>
          <p:nvPr/>
        </p:nvSpPr>
        <p:spPr>
          <a:xfrm>
            <a:off x="2596896"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Against which obligations?</a:t>
            </a:r>
          </a:p>
        </p:txBody>
      </p:sp>
      <p:sp>
        <p:nvSpPr>
          <p:cNvPr id="11" name="Rectangle 10"/>
          <p:cNvSpPr/>
          <p:nvPr/>
        </p:nvSpPr>
        <p:spPr>
          <a:xfrm>
            <a:off x="4672584"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In which environment?</a:t>
            </a:r>
          </a:p>
        </p:txBody>
      </p:sp>
      <p:sp>
        <p:nvSpPr>
          <p:cNvPr id="12" name="Rectangle 11"/>
          <p:cNvSpPr/>
          <p:nvPr/>
        </p:nvSpPr>
        <p:spPr>
          <a:xfrm>
            <a:off x="6748272"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What wasn’t tested?</a:t>
            </a:r>
          </a:p>
        </p:txBody>
      </p:sp>
      <p:sp>
        <p:nvSpPr>
          <p:cNvPr id="16"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r>
              <a:rPr sz="2000" b="1" i="0">
                <a:solidFill>
                  <a:srgbClr val="FFFFFF"/>
                </a:solidFill>
              </a:rPr>
              <a:t>A correct result is not enough if we cannot justify accepting it.</a:t>
            </a:r>
          </a:p>
        </p:txBody>
      </p:sp>
      <p:sp>
        <p:nvSpPr>
          <p:cNvPr id="0" name="ClassQuestion"/>
          <p:cNvSpPr/>
          <p:nvPr/>
        </p:nvSpPr>
        <p:spPr>
          <a:xfrm>
            <a:off x="274320" y="4663440"/>
            <a:ext cx="8595360" cy="548640"/>
          </a:xfrm>
          <a:prstGeom prst="rect">
            <a:avLst/>
          </a:prstGeom>
          <a:noFill/>
          <a:ln>
            <a:noFill/>
          </a:ln>
          <a:effectLst/>
        </p:spPr>
        <p:txBody>
          <a:bodyPr rtlCol="0" anchor="ctr" wrap="square" lIns="27432" rIns="27432" tIns="22860" bIns="22860"/>
          <a:lstStyle/>
          <a:p>
            <a:pPr algn="ctr">
              <a:buNone/>
            </a:pPr>
            <a:r>
              <a:rPr lang="en-US" sz="2000" b="0" i="1" dirty="0">
                <a:solidFill>
                  <a:srgbClr val="555960"/>
                </a:solidFill>
              </a:rPr>
              <a:t>Can the result be correct while the process is wrong?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097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a:t>
            </a:r>
          </a:p>
        </p:txBody>
      </p:sp>
      <p:sp>
        <p:nvSpPr>
          <p:cNvPr id="6" name="TextBox 5"/>
          <p:cNvSpPr txBox="1"/>
          <p:nvPr/>
        </p:nvSpPr>
        <p:spPr>
          <a:xfrm>
            <a:off x="3108960" y="1124712"/>
            <a:ext cx="4297680" cy="548640"/>
          </a:xfrm>
          <a:prstGeom prst="rect">
            <a:avLst/>
          </a:prstGeom>
          <a:noFill/>
        </p:spPr>
        <p:txBody>
          <a:bodyPr wrap="square" anchor="ctr">
            <a:spAutoFit/>
          </a:bodyPr>
          <a:lstStyle/>
          <a:p>
            <a:pPr algn="l"/>
            <a:r>
              <a:rPr sz="2000" b="0" i="0">
                <a:solidFill>
                  <a:srgbClr val="5C4826"/>
                </a:solidFill>
              </a:rPr>
              <a:t>narrows what may happen</a:t>
            </a:r>
          </a:p>
        </p:txBody>
      </p:sp>
      <p:sp>
        <p:nvSpPr>
          <p:cNvPr id="8" name="Rectangle 7"/>
          <p:cNvSpPr/>
          <p:nvPr/>
        </p:nvSpPr>
        <p:spPr>
          <a:xfrm>
            <a:off x="640080" y="2240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SENSOR</a:t>
            </a:r>
          </a:p>
        </p:txBody>
      </p:sp>
      <p:sp>
        <p:nvSpPr>
          <p:cNvPr id="9" name="TextBox 8"/>
          <p:cNvSpPr txBox="1"/>
          <p:nvPr/>
        </p:nvSpPr>
        <p:spPr>
          <a:xfrm>
            <a:off x="3108960" y="2267712"/>
            <a:ext cx="4297680" cy="548640"/>
          </a:xfrm>
          <a:prstGeom prst="rect">
            <a:avLst/>
          </a:prstGeom>
          <a:noFill/>
        </p:spPr>
        <p:txBody>
          <a:bodyPr wrap="square" anchor="ctr">
            <a:spAutoFit/>
          </a:bodyPr>
          <a:lstStyle/>
          <a:p>
            <a:pPr algn="l"/>
            <a:r>
              <a:rPr sz="2000" b="0" i="0">
                <a:solidFill>
                  <a:srgbClr val="5C4826"/>
                </a:solidFill>
              </a:rPr>
              <a:t>observes what happened and produces evidence</a:t>
            </a:r>
          </a:p>
        </p:txBody>
      </p:sp>
      <p:sp>
        <p:nvSpPr>
          <p:cNvPr id="11" name="Rectangle 10"/>
          <p:cNvSpPr/>
          <p:nvPr/>
        </p:nvSpPr>
        <p:spPr>
          <a:xfrm>
            <a:off x="640080" y="3383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VALIDATOR</a:t>
            </a:r>
          </a:p>
        </p:txBody>
      </p:sp>
      <p:sp>
        <p:nvSpPr>
          <p:cNvPr id="12" name="TextBox 11"/>
          <p:cNvSpPr txBox="1"/>
          <p:nvPr/>
        </p:nvSpPr>
        <p:spPr>
          <a:xfrm>
            <a:off x="3108960" y="3410712"/>
            <a:ext cx="4297680" cy="548640"/>
          </a:xfrm>
          <a:prstGeom prst="rect">
            <a:avLst/>
          </a:prstGeom>
          <a:noFill/>
        </p:spPr>
        <p:txBody>
          <a:bodyPr wrap="square" anchor="ctr">
            <a:spAutoFit/>
          </a:bodyPr>
          <a:lstStyle/>
          <a:p>
            <a:pPr algn="l"/>
            <a:r>
              <a:rPr sz="2000" b="0" i="0">
                <a:solidFill>
                  <a:srgbClr val="5C4826"/>
                </a:solidFill>
              </a:rPr>
              <a:t>evaluates evidence against an obligation</a:t>
            </a:r>
          </a:p>
        </p:txBody>
      </p:sp>
      <p:sp>
        <p:nvSpPr>
          <p:cNvPr id="14" name="Rectangle 13"/>
          <p:cNvSpPr/>
          <p:nvPr/>
        </p:nvSpPr>
        <p:spPr>
          <a:xfrm>
            <a:off x="640080" y="4526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sp>
        <p:nvSpPr>
          <p:cNvPr id="15" name="TextBox 14"/>
          <p:cNvSpPr txBox="1"/>
          <p:nvPr/>
        </p:nvSpPr>
        <p:spPr>
          <a:xfrm>
            <a:off x="3108960" y="4553712"/>
            <a:ext cx="4297680" cy="548640"/>
          </a:xfrm>
          <a:prstGeom prst="rect">
            <a:avLst/>
          </a:prstGeom>
          <a:noFill/>
        </p:spPr>
        <p:txBody>
          <a:bodyPr wrap="square" anchor="ctr">
            <a:spAutoFit/>
          </a:bodyPr>
          <a:lstStyle/>
          <a:p>
            <a:pPr algn="l"/>
            <a:r>
              <a:rPr sz="2000" b="0" i="0">
                <a:solidFill>
                  <a:srgbClr val="5C4826"/>
                </a:solidFill>
              </a:rPr>
              <a:t>controls whether work crosses a boundary</a:t>
            </a:r>
          </a:p>
        </p:txBody>
      </p:sp>
      <p:sp>
        <p:nvSpPr>
          <p:cNvPr id="0" name="RolesNote"/>
          <p:cNvSpPr/>
          <p:nvPr/>
        </p:nvSpPr>
        <p:spPr>
          <a:xfrm>
            <a:off x="274320" y="5760720"/>
            <a:ext cx="8595360" cy="548640"/>
          </a:xfrm>
          <a:prstGeom prst="rect">
            <a:avLst/>
          </a:prstGeom>
          <a:noFill/>
          <a:ln>
            <a:noFill/>
          </a:ln>
          <a:effectLst/>
        </p:spPr>
        <p:txBody>
          <a:bodyPr rtlCol="0" anchor="ctr" wrap="square" lIns="27432" rIns="27432" tIns="22860" bIns="22860"/>
          <a:lstStyle/>
          <a:p>
            <a:pPr algn="ctr">
              <a:buNone/>
            </a:pPr>
            <a:r>
              <a:rPr lang="en-US" sz="2000" b="0" i="1" dirty="0">
                <a:solidFill>
                  <a:srgbClr val="555960"/>
                </a:solidFill>
              </a:rPr>
              <a:t>These are roles, not four required components. One mechanism may play several roles.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four roles compose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Pipe-WORK"/>
          <p:cNvSpPr/>
          <p:nvPr/>
        </p:nvSpPr>
        <p:spPr>
          <a:xfrm>
            <a:off x="27432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WORK</a:t>
            </a:r>
          </a:p>
        </p:txBody>
      </p:sp>
      <p:sp>
        <p:nvSpPr>
          <p:cNvPr id="0" name="Pipe-SENSOR"/>
          <p:cNvSpPr/>
          <p:nvPr/>
        </p:nvSpPr>
        <p:spPr>
          <a:xfrm>
            <a:off x="204816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Pipe-VALIDATOR"/>
          <p:cNvSpPr/>
          <p:nvPr/>
        </p:nvSpPr>
        <p:spPr>
          <a:xfrm>
            <a:off x="382200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Pipe-GATE"/>
          <p:cNvSpPr/>
          <p:nvPr/>
        </p:nvSpPr>
        <p:spPr>
          <a:xfrm>
            <a:off x="559584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GATE</a:t>
            </a:r>
          </a:p>
        </p:txBody>
      </p:sp>
      <p:sp>
        <p:nvSpPr>
          <p:cNvPr id="0" name="Pipe-MERGE-DEPLOY"/>
          <p:cNvSpPr/>
          <p:nvPr/>
        </p:nvSpPr>
        <p:spPr>
          <a:xfrm>
            <a:off x="7369680" y="2560320"/>
            <a:ext cx="1500000" cy="91440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MERGE · DEPLOY</a:t>
            </a:r>
          </a:p>
        </p:txBody>
      </p:sp>
      <p:cxnSp>
        <p:nvCxnSpPr>
          <p:cNvPr id="0" name="PipeArrow0"/>
          <p:cNvCxnSpPr/>
          <p:nvPr/>
        </p:nvCxnSpPr>
        <p:spPr>
          <a:xfrm>
            <a:off x="1774320" y="3020040"/>
            <a:ext cx="273840" cy="0"/>
          </a:xfrm>
          <a:prstGeom prst="straightConnector1">
            <a:avLst/>
          </a:prstGeom>
          <a:ln w="19050">
            <a:solidFill>
              <a:srgbClr val="8E6F3E"/>
            </a:solidFill>
            <a:tailEnd type="triangle"/>
          </a:ln>
        </p:spPr>
      </p:cxnSp>
      <p:cxnSp>
        <p:nvCxnSpPr>
          <p:cNvPr id="0" name="PipeArrow1"/>
          <p:cNvCxnSpPr/>
          <p:nvPr/>
        </p:nvCxnSpPr>
        <p:spPr>
          <a:xfrm>
            <a:off x="3548160" y="3020040"/>
            <a:ext cx="273840" cy="0"/>
          </a:xfrm>
          <a:prstGeom prst="straightConnector1">
            <a:avLst/>
          </a:prstGeom>
          <a:ln w="19050">
            <a:solidFill>
              <a:srgbClr val="8E6F3E"/>
            </a:solidFill>
            <a:tailEnd type="triangle"/>
          </a:ln>
        </p:spPr>
      </p:cxnSp>
      <p:cxnSp>
        <p:nvCxnSpPr>
          <p:cNvPr id="0" name="PipeArrow2"/>
          <p:cNvCxnSpPr/>
          <p:nvPr/>
        </p:nvCxnSpPr>
        <p:spPr>
          <a:xfrm>
            <a:off x="5322000" y="3020040"/>
            <a:ext cx="273840" cy="0"/>
          </a:xfrm>
          <a:prstGeom prst="straightConnector1">
            <a:avLst/>
          </a:prstGeom>
          <a:ln w="19050">
            <a:solidFill>
              <a:srgbClr val="8E6F3E"/>
            </a:solidFill>
            <a:tailEnd type="triangle"/>
          </a:ln>
        </p:spPr>
      </p:cxnSp>
      <p:cxnSp>
        <p:nvCxnSpPr>
          <p:cNvPr id="0" name="PipeArrow3"/>
          <p:cNvCxnSpPr/>
          <p:nvPr/>
        </p:nvCxnSpPr>
        <p:spPr>
          <a:xfrm>
            <a:off x="7095840" y="3020040"/>
            <a:ext cx="273840" cy="0"/>
          </a:xfrm>
          <a:prstGeom prst="straightConnector1">
            <a:avLst/>
          </a:prstGeom>
          <a:ln w="19050">
            <a:solidFill>
              <a:srgbClr val="8E6F3E"/>
            </a:solidFill>
            <a:tailEnd type="triangle"/>
          </a:ln>
        </p:spPr>
      </p:cxnSp>
      <p:sp>
        <p:nvSpPr>
          <p:cNvPr id="0" name="Pipe-evidence"/>
          <p:cNvSpPr/>
          <p:nvPr/>
        </p:nvSpPr>
        <p:spPr>
          <a:xfrm>
            <a:off x="313668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evidence</a:t>
            </a:r>
          </a:p>
        </p:txBody>
      </p:sp>
      <p:sp>
        <p:nvSpPr>
          <p:cNvPr id="0" name="Pipe-verdict"/>
          <p:cNvSpPr/>
          <p:nvPr/>
        </p:nvSpPr>
        <p:spPr>
          <a:xfrm>
            <a:off x="491052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verdict</a:t>
            </a:r>
          </a:p>
        </p:txBody>
      </p:sp>
      <p:sp>
        <p:nvSpPr>
          <p:cNvPr id="0" name="Pipe-obligation"/>
          <p:cNvSpPr/>
          <p:nvPr/>
        </p:nvSpPr>
        <p:spPr>
          <a:xfrm>
            <a:off x="274320" y="1325880"/>
            <a:ext cx="150000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obligation</a:t>
            </a:r>
          </a:p>
        </p:txBody>
      </p:sp>
      <p:cxnSp>
        <p:nvCxnSpPr>
          <p:cNvPr id="0" name="PipeArrowObl"/>
          <p:cNvCxnSpPr/>
          <p:nvPr/>
        </p:nvCxnSpPr>
        <p:spPr>
          <a:xfrm>
            <a:off x="1024320" y="1783080"/>
            <a:ext cx="0" cy="916920"/>
          </a:xfrm>
          <a:prstGeom prst="straightConnector1">
            <a:avLst/>
          </a:prstGeom>
          <a:ln w="19050">
            <a:solidFill>
              <a:srgbClr val="8E6F3E"/>
            </a:solidFill>
            <a:tailEnd type="triangle"/>
          </a:ln>
        </p:spPr>
      </p:cxnSp>
      <p:sp>
        <p:nvSpPr>
          <p:cNvPr id="0" name="Pipe-CONSTRAINT"/>
          <p:cNvSpPr/>
          <p:nvPr/>
        </p:nvSpPr>
        <p:spPr>
          <a:xfrm>
            <a:off x="274320" y="420624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CONSTRAINT</a:t>
            </a:r>
          </a:p>
        </p:txBody>
      </p:sp>
      <p:cxnSp>
        <p:nvCxnSpPr>
          <p:cNvPr id="0" name="PipeArrowCon"/>
          <p:cNvCxnSpPr/>
          <p:nvPr/>
        </p:nvCxnSpPr>
        <p:spPr>
          <a:xfrm flipV="1">
            <a:off x="1024320" y="3340080"/>
            <a:ext cx="0" cy="866160"/>
          </a:xfrm>
          <a:prstGeom prst="straightConnector1">
            <a:avLst/>
          </a:prstGeom>
          <a:ln w="19050">
            <a:solidFill>
              <a:srgbClr val="8E6F3E"/>
            </a:solidFill>
            <a:tailEnd type="triangle"/>
          </a:ln>
        </p:spPr>
      </p:cxnSp>
      <p:sp>
        <p:nvSpPr>
          <p:cNvPr id="0" name="PipeFooter"/>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constraint narrows the work; a sensor observes it; a validator judges the evidence; a gate makes merge and deploy conditional on the verdict.</a:t>
            </a:r>
          </a:p>
        </p:txBody>
      </p:sp>
      <p:sp>
        <p:nvSpPr>
          <p:cNvPr id="903" name="Pipe-admits"/>
          <p:cNvSpPr/>
          <p:nvPr/>
        </p:nvSpPr>
        <p:spPr>
          <a:xfrm>
            <a:off x="668436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admits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137160" y="1572768"/>
            <a:ext cx="1371600" cy="640080"/>
          </a:xfrm>
          <a:prstGeom prst="rect">
            <a:avLst/>
          </a:prstGeom>
          <a:noFill/>
        </p:spPr>
        <p:txBody>
          <a:bodyPr wrap="square" anchor="ctr">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371600" cy="640080"/>
          </a:xfrm>
          <a:prstGeom prst="rect">
            <a:avLst/>
          </a:prstGeom>
          <a:noFill/>
        </p:spPr>
        <p:txBody>
          <a:bodyPr wrap="square" anchor="ctr">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62763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the evidence supports the claim.</a:t>
            </a:r>
          </a:p>
          <a:p>
            <a:pPr algn="ctr"/>
            <a:r>
              <a:rPr sz="2000" b="0" i="1">
                <a:solidFill>
                  <a:srgbClr val="555960"/>
                </a:solidFill>
              </a:rPr>
              <a:t>Alignment asks what the verdict should control.</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SemanticGapTakeaway"/>
          <p:cNvSpPr txBox="1"/>
          <p:nvPr/>
        </p:nvSpPr>
        <p:spPr>
          <a:xfrm>
            <a:off x="274320" y="4709160"/>
            <a:ext cx="8595360" cy="822960"/>
          </a:xfrm>
          <a:prstGeom prst="rect">
            <a:avLst/>
          </a:prstGeom>
          <a:noFill/>
        </p:spPr>
        <p:txBody>
          <a:bodyPr wrap="square" anchor="t" lIns="27432" rIns="27432" tIns="22860" bIns="22860">
            <a:spAutoFit/>
          </a:bodyPr>
          <a:lstStyle/>
          <a:p>
            <a:pPr algn="ctr"/>
            <a:r>
              <a:rPr sz="2000" b="0" i="0">
                <a:solidFill>
                  <a:srgbClr val="5C4826"/>
                </a:solidFill>
              </a:rPr>
              <a:t>Lift the check to the first boundary where the obligation becomes decidable.</a:t>
            </a:r>
          </a:p>
        </p:txBody>
      </p:sp>
      <p:sp>
        <p:nvSpPr>
          <p:cNvPr id="19" name="SG-Unit"/>
          <p:cNvSpPr/>
          <p:nvPr/>
        </p:nvSpPr>
        <p:spPr>
          <a:xfrm>
            <a:off x="2103120" y="105156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COMPLETED UNIT OF WORK</a:t>
            </a:r>
          </a:p>
          <a:p>
            <a:pPr algn="ctr"/>
            <a:r>
              <a:rPr sz="2000" b="0" i="1">
                <a:solidFill>
                  <a:srgbClr val="FBF8F2"/>
                </a:solidFill>
              </a:rPr>
              <a:t>obligation decidable here</a:t>
            </a:r>
          </a:p>
        </p:txBody>
      </p:sp>
      <p:cxnSp>
        <p:nvCxnSpPr>
          <p:cNvPr id="20" name="SG-Lift"/>
          <p:cNvCxnSpPr/>
          <p:nvPr/>
        </p:nvCxnSpPr>
        <p:spPr>
          <a:xfrm flipV="1">
            <a:off x="4572000" y="2011680"/>
            <a:ext cx="0" cy="102412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218688"/>
            <a:ext cx="8595360" cy="457200"/>
          </a:xfrm>
          <a:prstGeom prst="rect">
            <a:avLst/>
          </a:prstGeom>
          <a:noFill/>
        </p:spPr>
        <p:txBody>
          <a:bodyPr wrap="square" anchor="t" lIns="27432" rIns="27432" tIns="22860" bIns="22860">
            <a:spAutoFit/>
          </a:bodyPr>
          <a:lstStyle/>
          <a:p>
            <a:pPr algn="ctr"/>
            <a:r>
              <a:rPr sz="2000" b="0" i="1">
                <a:solidFill>
                  <a:srgbClr val="8E6F3E"/>
                </a:solidFill>
              </a:rPr>
              <a:t>obligation not decidable at any individual commit</a:t>
            </a:r>
          </a:p>
        </p:txBody>
      </p:sp>
      <p:sp>
        <p:nvSpPr>
          <p:cNvPr id="22" name="SG-Commit1"/>
          <p:cNvSpPr/>
          <p:nvPr/>
        </p:nvSpPr>
        <p:spPr>
          <a:xfrm>
            <a:off x="1828800"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3" name="SG-Commit2"/>
          <p:cNvSpPr/>
          <p:nvPr/>
        </p:nvSpPr>
        <p:spPr>
          <a:xfrm>
            <a:off x="3264408"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4" name="SG-Commit3"/>
          <p:cNvSpPr/>
          <p:nvPr/>
        </p:nvSpPr>
        <p:spPr>
          <a:xfrm>
            <a:off x="4700016"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5" name="SG-Commit4"/>
          <p:cNvSpPr/>
          <p:nvPr/>
        </p:nvSpPr>
        <p:spPr>
          <a:xfrm>
            <a:off x="6135624"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cxnSp>
        <p:nvCxnSpPr>
          <p:cNvPr id="26" name="SG-Arrow1"/>
          <p:cNvCxnSpPr/>
          <p:nvPr/>
        </p:nvCxnSpPr>
        <p:spPr>
          <a:xfrm>
            <a:off x="3026664"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Right obligation, wrong boundary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74320" y="1005840"/>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OBLIGATION  </a:t>
            </a:r>
            <a:r>
              <a:rPr sz="2000" b="0" i="0">
                <a:solidFill>
                  <a:srgbClr val="5C4826"/>
                </a:solidFill>
              </a:rPr>
              <a:t>The code and its architectural model must agree when the task completes.</a:t>
            </a:r>
          </a:p>
        </p:txBody>
      </p:sp>
      <p:sp>
        <p:nvSpPr>
          <p:cNvPr id="6" name="Rectangle 5"/>
          <p:cNvSpPr/>
          <p:nvPr/>
        </p:nvSpPr>
        <p:spPr>
          <a:xfrm>
            <a:off x="29260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7" name="Connector 6"/>
          <p:cNvCxnSpPr/>
          <p:nvPr/>
        </p:nvCxnSpPr>
        <p:spPr>
          <a:xfrm>
            <a:off x="1490472"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737360"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9" name="Connector 8"/>
          <p:cNvCxnSpPr/>
          <p:nvPr/>
        </p:nvCxnSpPr>
        <p:spPr>
          <a:xfrm>
            <a:off x="2935224"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182112"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1" name="Connector 10"/>
          <p:cNvCxnSpPr/>
          <p:nvPr/>
        </p:nvCxnSpPr>
        <p:spPr>
          <a:xfrm>
            <a:off x="4379976"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4626864"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3" name="Connector 12"/>
          <p:cNvCxnSpPr/>
          <p:nvPr/>
        </p:nvCxnSpPr>
        <p:spPr>
          <a:xfrm>
            <a:off x="5824728"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6071616"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5" name="Connector 14"/>
          <p:cNvCxnSpPr/>
          <p:nvPr/>
        </p:nvCxnSpPr>
        <p:spPr>
          <a:xfrm>
            <a:off x="7269480"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751636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7" name="Connector 16"/>
          <p:cNvCxnSpPr/>
          <p:nvPr/>
        </p:nvCxnSpPr>
        <p:spPr>
          <a:xfrm flipV="1">
            <a:off x="2331720"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1051560" y="3291840"/>
            <a:ext cx="2560320" cy="10515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  enforced per-commit</a:t>
            </a:r>
          </a:p>
          <a:p>
            <a:pPr algn="ctr"/>
            <a:r>
              <a:rPr sz="2000" b="0" i="1">
                <a:solidFill>
                  <a:srgbClr val="555960"/>
                </a:solidFill>
              </a:rPr>
              <a:t>rejects legitimate</a:t>
            </a:r>
          </a:p>
          <a:p>
            <a:pPr algn="ctr"/>
            <a:r>
              <a:rPr sz="2000" b="0" i="1">
                <a:solidFill>
                  <a:srgbClr val="555960"/>
                </a:solidFill>
              </a:rPr>
              <a:t>intermediate states</a:t>
            </a:r>
          </a:p>
        </p:txBody>
      </p:sp>
      <p:cxnSp>
        <p:nvCxnSpPr>
          <p:cNvPr id="19" name="Connector 18"/>
          <p:cNvCxnSpPr/>
          <p:nvPr/>
        </p:nvCxnSpPr>
        <p:spPr>
          <a:xfrm flipV="1">
            <a:off x="5221224"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941064" y="3291840"/>
            <a:ext cx="256032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  decided at merge</a:t>
            </a:r>
          </a:p>
          <a:p>
            <a:pPr algn="ctr"/>
            <a:r>
              <a:rPr sz="2000" b="0" i="1">
                <a:solidFill>
                  <a:srgbClr val="555960"/>
                </a:solidFill>
              </a:rPr>
              <a:t>when the task’s work</a:t>
            </a:r>
          </a:p>
          <a:p>
            <a:pPr algn="ctr"/>
            <a:r>
              <a:rPr sz="2000" b="0" i="1">
                <a:solidFill>
                  <a:srgbClr val="555960"/>
                </a:solidFill>
              </a:rPr>
              <a:t>is assembled</a:t>
            </a:r>
          </a:p>
        </p:txBody>
      </p:sp>
      <p:sp>
        <p:nvSpPr>
          <p:cNvPr id="21" name="TextBox 20"/>
          <p:cNvSpPr txBox="1"/>
          <p:nvPr/>
        </p:nvSpPr>
        <p:spPr>
          <a:xfrm>
            <a:off x="274320" y="4572000"/>
            <a:ext cx="8595360" cy="502920"/>
          </a:xfrm>
          <a:prstGeom prst="rect">
            <a:avLst/>
          </a:prstGeom>
          <a:noFill/>
        </p:spPr>
        <p:txBody>
          <a:bodyPr wrap="square" anchor="t">
            <a:spAutoFit/>
          </a:bodyPr>
          <a:lstStyle/>
          <a:p>
            <a:pPr algn="ctr"/>
            <a:r>
              <a:rPr sz="2000" b="0" i="1">
                <a:solidFill>
                  <a:srgbClr val="555960"/>
                </a:solidFill>
              </a:rPr>
              <a:t>The obligation is right. The early boundary simply cannot decide it yet.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You already have two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LabKicker"/>
          <p:cNvSpPr/>
          <p:nvPr/>
        </p:nvSpPr>
        <p:spPr>
          <a:xfrm>
            <a:off x="4069080" y="205000"/>
            <a:ext cx="480060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DISCUSSION · FROM THE MODELING LAB</a:t>
            </a:r>
          </a:p>
        </p:txBody>
      </p:sp>
      <p:sp>
        <p:nvSpPr>
          <p:cNvPr id="0" name="Card-memory"/>
          <p:cNvSpPr/>
          <p:nvPr/>
        </p:nvSpPr>
        <p:spPr>
          <a:xfrm>
            <a:off x="50292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0" name="Card-control"/>
          <p:cNvSpPr/>
          <p:nvPr/>
        </p:nvSpPr>
        <p:spPr>
          <a:xfrm>
            <a:off x="466344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How might we use these in validation?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make engineering knowledge explicit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640080" y="914400"/>
            <a:ext cx="8595360" cy="365760"/>
          </a:xfrm>
          <a:prstGeom prst="rect">
            <a:avLst/>
          </a:prstGeom>
          <a:noFill/>
        </p:spPr>
        <p:txBody>
          <a:bodyPr wrap="square" anchor="t">
            <a:spAutoFit/>
          </a:bodyPr>
          <a:lstStyle/>
          <a:p>
            <a:pPr algn="l"/>
            <a:r>
              <a:rPr sz="2000" b="1" i="0">
                <a:solidFill>
                  <a:srgbClr val="8E6F3E"/>
                </a:solidFill>
              </a:rPr>
              <a:t>A MODEL CAN …</a:t>
            </a:r>
          </a:p>
        </p:txBody>
      </p:sp>
      <p:sp>
        <p:nvSpPr>
          <p:cNvPr id="6" name="Rectangle 5"/>
          <p:cNvSpPr/>
          <p:nvPr/>
        </p:nvSpPr>
        <p:spPr>
          <a:xfrm>
            <a:off x="640080" y="1371600"/>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PRESERVE</a:t>
            </a:r>
          </a:p>
        </p:txBody>
      </p:sp>
      <p:sp>
        <p:nvSpPr>
          <p:cNvPr id="7" name="TextBox 6"/>
          <p:cNvSpPr txBox="1"/>
          <p:nvPr/>
        </p:nvSpPr>
        <p:spPr>
          <a:xfrm>
            <a:off x="3383280" y="1499616"/>
            <a:ext cx="5440680" cy="731520"/>
          </a:xfrm>
          <a:prstGeom prst="rect">
            <a:avLst/>
          </a:prstGeom>
          <a:noFill/>
        </p:spPr>
        <p:txBody>
          <a:bodyPr wrap="square" anchor="t">
            <a:spAutoFit/>
          </a:bodyPr>
          <a:lstStyle/>
          <a:p>
            <a:pPr algn="l"/>
            <a:r>
              <a:rPr sz="2000" b="0" i="0">
                <a:solidFill>
                  <a:srgbClr val="5C4826"/>
                </a:solidFill>
              </a:rPr>
              <a:t>distinctions that matter</a:t>
            </a:r>
          </a:p>
        </p:txBody>
      </p:sp>
      <p:sp>
        <p:nvSpPr>
          <p:cNvPr id="8" name="Rectangle 7"/>
          <p:cNvSpPr/>
          <p:nvPr/>
        </p:nvSpPr>
        <p:spPr>
          <a:xfrm>
            <a:off x="640080" y="2304288"/>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EXPOSE</a:t>
            </a:r>
          </a:p>
        </p:txBody>
      </p:sp>
      <p:sp>
        <p:nvSpPr>
          <p:cNvPr id="9" name="TextBox 8"/>
          <p:cNvSpPr txBox="1"/>
          <p:nvPr/>
        </p:nvSpPr>
        <p:spPr>
          <a:xfrm>
            <a:off x="3383280" y="2432304"/>
            <a:ext cx="5440680" cy="731520"/>
          </a:xfrm>
          <a:prstGeom prst="rect">
            <a:avLst/>
          </a:prstGeom>
          <a:noFill/>
        </p:spPr>
        <p:txBody>
          <a:bodyPr wrap="square" anchor="t">
            <a:spAutoFit/>
          </a:bodyPr>
          <a:lstStyle/>
          <a:p>
            <a:pPr algn="l"/>
            <a:r>
              <a:rPr sz="2000" b="0" i="0">
                <a:solidFill>
                  <a:srgbClr val="5C4826"/>
                </a:solidFill>
              </a:rPr>
              <a:t>relationships that would otherwise have to be inferred</a:t>
            </a:r>
          </a:p>
        </p:txBody>
      </p:sp>
      <p:sp>
        <p:nvSpPr>
          <p:cNvPr id="10" name="Rectangle 9"/>
          <p:cNvSpPr/>
          <p:nvPr/>
        </p:nvSpPr>
        <p:spPr>
          <a:xfrm>
            <a:off x="640080" y="3236976"/>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LEAVE OPEN</a:t>
            </a:r>
          </a:p>
        </p:txBody>
      </p:sp>
      <p:sp>
        <p:nvSpPr>
          <p:cNvPr id="11" name="TextBox 10"/>
          <p:cNvSpPr txBox="1"/>
          <p:nvPr/>
        </p:nvSpPr>
        <p:spPr>
          <a:xfrm>
            <a:off x="3383280" y="3364992"/>
            <a:ext cx="5440680" cy="731520"/>
          </a:xfrm>
          <a:prstGeom prst="rect">
            <a:avLst/>
          </a:prstGeom>
          <a:noFill/>
        </p:spPr>
        <p:txBody>
          <a:bodyPr wrap="square" anchor="t">
            <a:spAutoFit/>
          </a:bodyPr>
          <a:lstStyle/>
          <a:p>
            <a:pPr algn="l"/>
            <a:r>
              <a:rPr sz="2000" b="0" i="0">
                <a:solidFill>
                  <a:srgbClr val="5C4826"/>
                </a:solidFill>
              </a:rPr>
              <a:t>realization choices that do not matter</a:t>
            </a:r>
          </a:p>
        </p:txBody>
      </p:sp>
      <p:sp>
        <p:nvSpPr>
          <p:cNvPr id="12" name="Rectangle 11"/>
          <p:cNvSpPr/>
          <p:nvPr/>
        </p:nvSpPr>
        <p:spPr>
          <a:xfrm>
            <a:off x="640080" y="4169664"/>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ENABLE</a:t>
            </a:r>
          </a:p>
        </p:txBody>
      </p:sp>
      <p:sp>
        <p:nvSpPr>
          <p:cNvPr id="13" name="TextBox 12"/>
          <p:cNvSpPr txBox="1"/>
          <p:nvPr/>
        </p:nvSpPr>
        <p:spPr>
          <a:xfrm>
            <a:off x="3383280" y="4297680"/>
            <a:ext cx="5440680" cy="731520"/>
          </a:xfrm>
          <a:prstGeom prst="rect">
            <a:avLst/>
          </a:prstGeom>
          <a:noFill/>
        </p:spPr>
        <p:txBody>
          <a:bodyPr wrap="square" anchor="t">
            <a:spAutoFit/>
          </a:bodyPr>
          <a:lstStyle/>
          <a:p>
            <a:pPr algn="l"/>
            <a:r>
              <a:rPr sz="2000" b="0" i="0">
                <a:solidFill>
                  <a:srgbClr val="5C4826"/>
                </a:solidFill>
              </a:rPr>
              <a:t>evaluations that otherwise require reconstruction</a:t>
            </a:r>
          </a:p>
        </p:txBody>
      </p:sp>
      <p:sp>
        <p:nvSpPr>
          <p:cNvPr id="14" name="TextBox 13"/>
          <p:cNvSpPr txBox="1"/>
          <p:nvPr/>
        </p:nvSpPr>
        <p:spPr>
          <a:xfrm>
            <a:off x="274320" y="5010912"/>
            <a:ext cx="8595360" cy="411480"/>
          </a:xfrm>
          <a:prstGeom prst="rect">
            <a:avLst/>
          </a:prstGeom>
          <a:noFill/>
        </p:spPr>
        <p:txBody>
          <a:bodyPr wrap="square" anchor="t">
            <a:spAutoFit/>
          </a:bodyPr>
          <a:lstStyle/>
          <a:p>
            <a:r>
              <a:rPr sz="2000" b="1" i="1">
                <a:solidFill>
                  <a:srgbClr val="555960"/>
                </a:solidFill>
              </a:rPr>
              <a:t>Models give validation mechanisms an explicit object to inspect.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model can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St-MODEL"/>
          <p:cNvSpPr/>
          <p:nvPr/>
        </p:nvSpPr>
        <p:spPr>
          <a:xfrm>
            <a:off x="50292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a:t>
            </a:r>
          </a:p>
        </p:txBody>
      </p:sp>
      <p:sp>
        <p:nvSpPr>
          <p:cNvPr id="0" name="St-ANALYSIS"/>
          <p:cNvSpPr/>
          <p:nvPr/>
        </p:nvSpPr>
        <p:spPr>
          <a:xfrm>
            <a:off x="3291840" y="1005840"/>
            <a:ext cx="256032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STATIC ANALYSIS</a:t>
            </a:r>
          </a:p>
        </p:txBody>
      </p:sp>
      <p:sp>
        <p:nvSpPr>
          <p:cNvPr id="0" name="St-VERDICT"/>
          <p:cNvSpPr/>
          <p:nvPr/>
        </p:nvSpPr>
        <p:spPr>
          <a:xfrm>
            <a:off x="681228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VERDICT</a:t>
            </a:r>
          </a:p>
        </p:txBody>
      </p:sp>
      <p:cxnSp>
        <p:nvCxnSpPr>
          <p:cNvPr id="0" name="St-A1"/>
          <p:cNvCxnSpPr/>
          <p:nvPr/>
        </p:nvCxnSpPr>
        <p:spPr>
          <a:xfrm>
            <a:off x="2331720" y="1325880"/>
            <a:ext cx="960120" cy="0"/>
          </a:xfrm>
          <a:prstGeom prst="straightConnector1">
            <a:avLst/>
          </a:prstGeom>
          <a:ln w="19050">
            <a:solidFill>
              <a:srgbClr val="8E6F3E"/>
            </a:solidFill>
            <a:tailEnd type="triangle"/>
          </a:ln>
        </p:spPr>
      </p:cxnSp>
      <p:cxnSp>
        <p:nvCxnSpPr>
          <p:cNvPr id="0" name="St-A2"/>
          <p:cNvCxnSpPr/>
          <p:nvPr/>
        </p:nvCxnSpPr>
        <p:spPr>
          <a:xfrm>
            <a:off x="5852160" y="1325880"/>
            <a:ext cx="960120" cy="0"/>
          </a:xfrm>
          <a:prstGeom prst="straightConnector1">
            <a:avLst/>
          </a:prstGeom>
          <a:ln w="19050">
            <a:solidFill>
              <a:srgbClr val="8E6F3E"/>
            </a:solidFill>
            <a:tailEnd type="triangle"/>
          </a:ln>
        </p:spPr>
      </p:cxnSp>
      <p:sp>
        <p:nvSpPr>
          <p:cNvPr id="0" name="St-Questions"/>
          <p:cNvSpPr/>
          <p:nvPr/>
        </p:nvSpPr>
        <p:spPr>
          <a:xfrm>
            <a:off x="502920" y="2103120"/>
            <a:ext cx="8138160" cy="329184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1" i="0" dirty="0">
                <a:solidFill>
                  <a:srgbClr val="5C4826"/>
                </a:solidFill>
              </a:rPr>
              <a:t>Questions the lab model can already decide:</a:t>
            </a:r>
          </a:p>
          <a:p>
            <a:pPr algn="l">
              <a:spcBef>
                <a:spcPts val="900"/>
              </a:spcBef>
              <a:buNone/>
            </a:pPr>
            <a:r>
              <a:rPr lang="en-US" sz="2000" b="0" i="0" dirty="0">
                <a:solidFill>
                  <a:srgbClr val="5C4826"/>
                </a:solidFill>
              </a:rPr>
              <a:t>Is a forbidden dependency reachable?</a:t>
            </a:r>
          </a:p>
          <a:p>
            <a:pPr algn="l">
              <a:spcBef>
                <a:spcPts val="900"/>
              </a:spcBef>
              <a:buNone/>
            </a:pPr>
            <a:r>
              <a:rPr lang="en-US" sz="2000" b="0" i="0" dirty="0">
                <a:solidFill>
                  <a:srgbClr val="5C4826"/>
                </a:solidFill>
              </a:rPr>
              <a:t>Does every permitted route cross the required boundary?</a:t>
            </a:r>
          </a:p>
          <a:p>
            <a:pPr algn="l">
              <a:spcBef>
                <a:spcPts val="900"/>
              </a:spcBef>
              <a:buNone/>
            </a:pPr>
            <a:r>
              <a:rPr lang="en-US" sz="2000" b="0" i="0" dirty="0">
                <a:solidFill>
                  <a:srgbClr val="5C4826"/>
                </a:solidFill>
              </a:rPr>
              <a:t>Can the memory bound be exceeded?</a:t>
            </a:r>
          </a:p>
          <a:p>
            <a:pPr algn="l">
              <a:spcBef>
                <a:spcPts val="900"/>
              </a:spcBef>
              <a:buNone/>
            </a:pPr>
            <a:r>
              <a:rPr lang="en-US" sz="2000" b="0" i="0" dirty="0">
                <a:solidFill>
                  <a:srgbClr val="5C4826"/>
                </a:solidFill>
              </a:rPr>
              <a:t>Is an illegal transition present?</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model can also define what to observe at runtime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Dy-MODEL"/>
          <p:cNvSpPr/>
          <p:nvPr/>
        </p:nvSpPr>
        <p:spPr>
          <a:xfrm>
            <a:off x="5245840" y="1097280"/>
            <a:ext cx="22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 — expected behavior</a:t>
            </a:r>
          </a:p>
        </p:txBody>
      </p:sp>
      <p:cxnSp>
        <p:nvCxnSpPr>
          <p:cNvPr id="0" name="Dy-AM"/>
          <p:cNvCxnSpPr/>
          <p:nvPr/>
        </p:nvCxnSpPr>
        <p:spPr>
          <a:xfrm>
            <a:off x="6345840" y="1737360"/>
            <a:ext cx="0" cy="777240"/>
          </a:xfrm>
          <a:prstGeom prst="straightConnector1">
            <a:avLst/>
          </a:prstGeom>
          <a:ln w="19050">
            <a:solidFill>
              <a:srgbClr val="8E6F3E"/>
            </a:solidFill>
            <a:tailEnd type="triangle"/>
          </a:ln>
        </p:spPr>
      </p:cxnSp>
      <p:sp>
        <p:nvSpPr>
          <p:cNvPr id="0" name="Dy-EXECUTION"/>
          <p:cNvSpPr/>
          <p:nvPr/>
        </p:nvSpPr>
        <p:spPr>
          <a:xfrm>
            <a:off x="27432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EXECUTION</a:t>
            </a:r>
          </a:p>
        </p:txBody>
      </p:sp>
      <p:sp>
        <p:nvSpPr>
          <p:cNvPr id="0" name="Dy-SENSOR"/>
          <p:cNvSpPr/>
          <p:nvPr/>
        </p:nvSpPr>
        <p:spPr>
          <a:xfrm>
            <a:off x="2048160" y="25146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Dy-TRACE"/>
          <p:cNvSpPr/>
          <p:nvPr/>
        </p:nvSpPr>
        <p:spPr>
          <a:xfrm>
            <a:off x="382200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TRACE</a:t>
            </a:r>
          </a:p>
        </p:txBody>
      </p:sp>
      <p:sp>
        <p:nvSpPr>
          <p:cNvPr id="0" name="Dy-VALIDATOR"/>
          <p:cNvSpPr/>
          <p:nvPr/>
        </p:nvSpPr>
        <p:spPr>
          <a:xfrm>
            <a:off x="5595840" y="25146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Dy-VERDICT"/>
          <p:cNvSpPr/>
          <p:nvPr/>
        </p:nvSpPr>
        <p:spPr>
          <a:xfrm>
            <a:off x="736968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VERDICT</a:t>
            </a:r>
          </a:p>
        </p:txBody>
      </p:sp>
      <p:cxnSp>
        <p:nvCxnSpPr>
          <p:cNvPr id="0" name="Dy-A0"/>
          <p:cNvCxnSpPr/>
          <p:nvPr/>
        </p:nvCxnSpPr>
        <p:spPr>
          <a:xfrm>
            <a:off x="1774320" y="2834640"/>
            <a:ext cx="273840" cy="0"/>
          </a:xfrm>
          <a:prstGeom prst="straightConnector1">
            <a:avLst/>
          </a:prstGeom>
          <a:ln w="19050">
            <a:solidFill>
              <a:srgbClr val="8E6F3E"/>
            </a:solidFill>
            <a:tailEnd type="triangle"/>
          </a:ln>
        </p:spPr>
      </p:cxnSp>
      <p:cxnSp>
        <p:nvCxnSpPr>
          <p:cNvPr id="0" name="Dy-A1"/>
          <p:cNvCxnSpPr/>
          <p:nvPr/>
        </p:nvCxnSpPr>
        <p:spPr>
          <a:xfrm>
            <a:off x="3548160" y="2834640"/>
            <a:ext cx="273840" cy="0"/>
          </a:xfrm>
          <a:prstGeom prst="straightConnector1">
            <a:avLst/>
          </a:prstGeom>
          <a:ln w="19050">
            <a:solidFill>
              <a:srgbClr val="8E6F3E"/>
            </a:solidFill>
            <a:tailEnd type="triangle"/>
          </a:ln>
        </p:spPr>
      </p:cxnSp>
      <p:cxnSp>
        <p:nvCxnSpPr>
          <p:cNvPr id="0" name="Dy-A2"/>
          <p:cNvCxnSpPr/>
          <p:nvPr/>
        </p:nvCxnSpPr>
        <p:spPr>
          <a:xfrm>
            <a:off x="5322000" y="2834640"/>
            <a:ext cx="273840" cy="0"/>
          </a:xfrm>
          <a:prstGeom prst="straightConnector1">
            <a:avLst/>
          </a:prstGeom>
          <a:ln w="19050">
            <a:solidFill>
              <a:srgbClr val="8E6F3E"/>
            </a:solidFill>
            <a:tailEnd type="triangle"/>
          </a:ln>
        </p:spPr>
      </p:cxnSp>
      <p:cxnSp>
        <p:nvCxnSpPr>
          <p:cNvPr id="0" name="Dy-A3"/>
          <p:cNvCxnSpPr/>
          <p:nvPr/>
        </p:nvCxnSpPr>
        <p:spPr>
          <a:xfrm>
            <a:off x="7095840" y="2834640"/>
            <a:ext cx="273840" cy="0"/>
          </a:xfrm>
          <a:prstGeom prst="straightConnector1">
            <a:avLst/>
          </a:prstGeom>
          <a:ln w="19050">
            <a:solidFill>
              <a:srgbClr val="8E6F3E"/>
            </a:solidFill>
            <a:tailEnd type="triangle"/>
          </a:ln>
        </p:spPr>
      </p:cxnSp>
      <p:sp>
        <p:nvSpPr>
          <p:cNvPr id="0" name="Dy-Questions"/>
          <p:cNvSpPr/>
          <p:nvPr/>
        </p:nvSpPr>
        <p:spPr>
          <a:xfrm>
            <a:off x="502920" y="3566160"/>
            <a:ext cx="8138160" cy="205740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0" i="0" dirty="0">
                <a:solidFill>
                  <a:srgbClr val="5C4826"/>
                </a:solidFill>
              </a:rPr>
              <a:t>Did the observed transition exist in the model?</a:t>
            </a:r>
          </a:p>
          <a:p>
            <a:pPr algn="l">
              <a:spcBef>
                <a:spcPts val="900"/>
              </a:spcBef>
              <a:buNone/>
            </a:pPr>
            <a:r>
              <a:rPr lang="en-US" sz="2000" b="0" i="0" dirty="0">
                <a:solidFill>
                  <a:srgbClr val="5C4826"/>
                </a:solidFill>
              </a:rPr>
              <a:t>Did events occur in the required order?</a:t>
            </a:r>
          </a:p>
          <a:p>
            <a:pPr algn="l">
              <a:spcBef>
                <a:spcPts val="900"/>
              </a:spcBef>
              <a:buNone/>
            </a:pPr>
            <a:r>
              <a:rPr lang="en-US" sz="2000" b="0" i="0" dirty="0">
                <a:solidFill>
                  <a:srgbClr val="5C4826"/>
                </a:solidFill>
              </a:rPr>
              <a:t>Did execution enter a forbidden state?</a:t>
            </a:r>
          </a:p>
          <a:p>
            <a:pPr algn="l">
              <a:spcBef>
                <a:spcPts val="900"/>
              </a:spcBef>
              <a:buNone/>
            </a:pPr>
            <a:r>
              <a:rPr lang="en-US" sz="2000" b="0" i="0" dirty="0">
                <a:solidFill>
                  <a:srgbClr val="5C4826"/>
                </a:solidFill>
              </a:rPr>
              <a:t>Did a measured quantity stay within its modeled bound?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same model can support different validation strategies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Cmp-static"/>
          <p:cNvSpPr/>
          <p:nvPr/>
        </p:nvSpPr>
        <p:spPr>
          <a:xfrm>
            <a:off x="50292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STATIC</a:t>
            </a:r>
          </a:p>
          <a:p>
            <a:pPr algn="l">
              <a:spcBef>
                <a:spcPts val="900"/>
              </a:spcBef>
              <a:buNone/>
            </a:pPr>
            <a:r>
              <a:rPr lang="en-US" sz="2000" b="0" i="0" dirty="0">
                <a:solidFill>
                  <a:srgbClr val="5C4826"/>
                </a:solidFill>
              </a:rPr>
              <a:t>decided over the model itself</a:t>
            </a:r>
          </a:p>
          <a:p>
            <a:pPr algn="l">
              <a:spcBef>
                <a:spcPts val="900"/>
              </a:spcBef>
              <a:buNone/>
            </a:pPr>
            <a:r>
              <a:rPr lang="en-US" sz="2000" b="0" i="0" dirty="0">
                <a:solidFill>
                  <a:srgbClr val="5C4826"/>
                </a:solidFill>
              </a:rPr>
              <a:t>runs before any execution</a:t>
            </a:r>
          </a:p>
          <a:p>
            <a:pPr algn="l">
              <a:spcBef>
                <a:spcPts val="900"/>
              </a:spcBef>
              <a:buNone/>
            </a:pPr>
            <a:r>
              <a:rPr lang="en-US" sz="2000" b="0" i="0" dirty="0">
                <a:solidFill>
                  <a:srgbClr val="5C4826"/>
                </a:solidFill>
              </a:rPr>
              <a:t>exhaustive over the modeled space</a:t>
            </a:r>
          </a:p>
          <a:p>
            <a:pPr algn="l">
              <a:spcBef>
                <a:spcPts val="900"/>
              </a:spcBef>
              <a:buNone/>
            </a:pPr>
            <a:r>
              <a:rPr lang="en-US" sz="2000" b="0" i="1" dirty="0">
                <a:solidFill>
                  <a:srgbClr val="555960"/>
                </a:solidFill>
              </a:rPr>
              <a:t>can the memory bound be exceeded?</a:t>
            </a:r>
          </a:p>
        </p:txBody>
      </p:sp>
      <p:sp>
        <p:nvSpPr>
          <p:cNvPr id="0" name="Cmp-dynamic"/>
          <p:cNvSpPr/>
          <p:nvPr/>
        </p:nvSpPr>
        <p:spPr>
          <a:xfrm>
            <a:off x="466344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DYNAMIC</a:t>
            </a:r>
          </a:p>
          <a:p>
            <a:pPr algn="l">
              <a:spcBef>
                <a:spcPts val="900"/>
              </a:spcBef>
              <a:buNone/>
            </a:pPr>
            <a:r>
              <a:rPr lang="en-US" sz="2000" b="0" i="0" dirty="0">
                <a:solidFill>
                  <a:srgbClr val="5C4826"/>
                </a:solidFill>
              </a:rPr>
              <a:t>decided over a trace of execution</a:t>
            </a:r>
          </a:p>
          <a:p>
            <a:pPr algn="l">
              <a:spcBef>
                <a:spcPts val="900"/>
              </a:spcBef>
              <a:buNone/>
            </a:pPr>
            <a:r>
              <a:rPr lang="en-US" sz="2000" b="0" i="0" dirty="0">
                <a:solidFill>
                  <a:srgbClr val="5C4826"/>
                </a:solidFill>
              </a:rPr>
              <a:t>runs while or after the system runs</a:t>
            </a:r>
          </a:p>
          <a:p>
            <a:pPr algn="l">
              <a:spcBef>
                <a:spcPts val="900"/>
              </a:spcBef>
              <a:buNone/>
            </a:pPr>
            <a:r>
              <a:rPr lang="en-US" sz="2000" b="0" i="0" dirty="0">
                <a:solidFill>
                  <a:srgbClr val="5C4826"/>
                </a:solidFill>
              </a:rPr>
              <a:t>evidence about the runs you observed</a:t>
            </a:r>
          </a:p>
          <a:p>
            <a:pPr algn="l">
              <a:spcBef>
                <a:spcPts val="900"/>
              </a:spcBef>
              <a:buNone/>
            </a:pPr>
            <a:r>
              <a:rPr lang="en-US" sz="2000" b="0" i="1" dirty="0">
                <a:solidFill>
                  <a:srgbClr val="555960"/>
                </a:solidFill>
              </a:rPr>
              <a:t>did the awake set ever exceed two?</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Where should each verdict acquire authority?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Evidence for one does not establish the others.</a:t>
            </a:r>
          </a:p>
        </p:txBody>
      </p:sp>
      <p:sp>
        <p:nvSpPr>
          <p:cNvPr id="0" name="TR-Head0"/>
          <p:cNvSpPr/>
          <p:nvPr/>
        </p:nvSpPr>
        <p:spPr>
          <a:xfrm>
            <a:off x="274320"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CORRESPONDENCE</a:t>
            </a:r>
          </a:p>
        </p:txBody>
      </p:sp>
      <p:sp>
        <p:nvSpPr>
          <p:cNvPr id="0" name="TR-Body0"/>
          <p:cNvSpPr/>
          <p:nvPr/>
        </p:nvSpPr>
        <p:spPr>
          <a:xfrm>
            <a:off x="274320"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implementation</a:t>
            </a:r>
          </a:p>
          <a:p>
            <a:pPr algn="ctr">
              <a:buNone/>
            </a:pPr>
            <a:r>
              <a:rPr lang="en-US" sz="2400" b="1" i="0" dirty="0">
                <a:solidFill>
                  <a:srgbClr val="8E6F3E"/>
                </a:solidFill>
              </a:rPr>
              <a:t>↕</a:t>
            </a:r>
          </a:p>
          <a:p>
            <a:pPr algn="ctr">
              <a:buNone/>
            </a:pPr>
            <a:r>
              <a:rPr lang="en-US" sz="2000" b="1" i="0" dirty="0">
                <a:solidFill>
                  <a:srgbClr val="5C4826"/>
                </a:solidFill>
              </a:rPr>
              <a:t>representation</a:t>
            </a:r>
          </a:p>
          <a:p>
            <a:pPr algn="ctr">
              <a:buNone/>
            </a:pPr>
            <a:r>
              <a:rPr lang="en-US" sz="2000" b="0" i="1" dirty="0">
                <a:solidFill>
                  <a:srgbClr val="555960"/>
                </a:solidFill>
              </a:rPr>
              <a:t>do they agree?</a:t>
            </a:r>
          </a:p>
        </p:txBody>
      </p:sp>
      <p:sp>
        <p:nvSpPr>
          <p:cNvPr id="0" name="TR-Head1"/>
          <p:cNvSpPr/>
          <p:nvPr/>
        </p:nvSpPr>
        <p:spPr>
          <a:xfrm>
            <a:off x="3200844"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CONFORMANCE</a:t>
            </a:r>
          </a:p>
        </p:txBody>
      </p:sp>
      <p:sp>
        <p:nvSpPr>
          <p:cNvPr id="0" name="TR-Body1"/>
          <p:cNvSpPr/>
          <p:nvPr/>
        </p:nvSpPr>
        <p:spPr>
          <a:xfrm>
            <a:off x="3200844"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artifact</a:t>
            </a:r>
          </a:p>
          <a:p>
            <a:pPr algn="ctr">
              <a:buNone/>
            </a:pPr>
            <a:r>
              <a:rPr lang="en-US" sz="2400" b="1" i="0" dirty="0">
                <a:solidFill>
                  <a:srgbClr val="8E6F3E"/>
                </a:solidFill>
              </a:rPr>
              <a:t>↕</a:t>
            </a:r>
          </a:p>
          <a:p>
            <a:pPr algn="ctr">
              <a:buNone/>
            </a:pPr>
            <a:r>
              <a:rPr lang="en-US" sz="2000" b="1" i="0" dirty="0">
                <a:solidFill>
                  <a:srgbClr val="5C4826"/>
                </a:solidFill>
              </a:rPr>
              <a:t>independent obligation</a:t>
            </a:r>
          </a:p>
          <a:p>
            <a:pPr algn="ctr">
              <a:buNone/>
            </a:pPr>
            <a:r>
              <a:rPr lang="en-US" sz="2000" b="0" i="1" dirty="0">
                <a:solidFill>
                  <a:srgbClr val="555960"/>
                </a:solidFill>
              </a:rPr>
              <a:t>does it satisfy?</a:t>
            </a:r>
          </a:p>
        </p:txBody>
      </p:sp>
      <p:sp>
        <p:nvSpPr>
          <p:cNvPr id="0" name="TR-Head2"/>
          <p:cNvSpPr/>
          <p:nvPr/>
        </p:nvSpPr>
        <p:spPr>
          <a:xfrm>
            <a:off x="6127368"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ACCEPTANCE</a:t>
            </a:r>
          </a:p>
        </p:txBody>
      </p:sp>
      <p:sp>
        <p:nvSpPr>
          <p:cNvPr id="0" name="TR-Body2"/>
          <p:cNvSpPr/>
          <p:nvPr/>
        </p:nvSpPr>
        <p:spPr>
          <a:xfrm>
            <a:off x="6127368"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artifact</a:t>
            </a:r>
          </a:p>
          <a:p>
            <a:pPr algn="ctr">
              <a:buNone/>
            </a:pPr>
            <a:r>
              <a:rPr lang="en-US" sz="2400" b="1" i="0" dirty="0">
                <a:solidFill>
                  <a:srgbClr val="8E6F3E"/>
                </a:solidFill>
              </a:rPr>
              <a:t>↕</a:t>
            </a:r>
          </a:p>
          <a:p>
            <a:pPr algn="ctr">
              <a:buNone/>
            </a:pPr>
            <a:r>
              <a:rPr lang="en-US" sz="2000" b="1" i="0" dirty="0">
                <a:solidFill>
                  <a:srgbClr val="5C4826"/>
                </a:solidFill>
              </a:rPr>
              <a:t>receiving environment</a:t>
            </a:r>
          </a:p>
          <a:p>
            <a:pPr algn="ctr">
              <a:buNone/>
            </a:pPr>
            <a:r>
              <a:rPr lang="en-US" sz="2000" b="0" i="1" dirty="0">
                <a:solidFill>
                  <a:srgbClr val="555960"/>
                </a:solidFill>
              </a:rPr>
              <a:t>will it accept?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Three things can disagree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i="1">
                <a:solidFill>
                  <a:srgbClr val="555960"/>
                </a:solidFill>
              </a:rPr>
              <a:t>does the model capture</a:t>
            </a:r>
          </a:p>
          <a:p>
            <a:pPr algn="l"/>
            <a:r>
              <a:rPr sz="2000" b="0" i="1">
                <a:solidFill>
                  <a:srgbClr val="555960"/>
                </a:solidFill>
              </a:rPr>
              <a:t>the obligation?</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i="1">
                <a:solidFill>
                  <a:srgbClr val="555960"/>
                </a:solidFill>
              </a:rPr>
              <a:t>does the realization</a:t>
            </a:r>
          </a:p>
          <a:p>
            <a:pPr algn="r"/>
            <a:r>
              <a:rPr sz="2000" b="0" i="1">
                <a:solidFill>
                  <a:srgbClr val="555960"/>
                </a:solidFill>
              </a:rPr>
              <a:t>satisfy it?</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i="1">
                <a:solidFill>
                  <a:srgbClr val="555960"/>
                </a:solidFill>
              </a:rPr>
              <a:t>do they correspond?</a:t>
            </a:r>
          </a:p>
        </p:txBody>
      </p:sp>
      <p:sp>
        <p:nvSpPr>
          <p:cNvPr id="16" name="TextBox 15"/>
          <p:cNvSpPr txBox="1"/>
          <p:nvPr/>
        </p:nvSpPr>
        <p:spPr>
          <a:xfrm>
            <a:off x="274320" y="4800600"/>
            <a:ext cx="8595360" cy="457200"/>
          </a:xfrm>
          <a:prstGeom prst="rect">
            <a:avLst/>
          </a:prstGeom>
          <a:noFill/>
        </p:spPr>
        <p:txBody>
          <a:bodyPr wrap="square" anchor="t">
            <a:spAutoFit/>
          </a:bodyPr>
          <a:lstStyle/>
          <a:p>
            <a:pPr algn="ctr"/>
            <a:r>
              <a:rPr sz="2000" b="1" i="0">
                <a:solidFill>
                  <a:srgbClr val="5C4826"/>
                </a:solidFill>
              </a:rPr>
              <a:t>What claim does each edge make? What evidence would establish it?</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Design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sz="200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 Use the model as given.</a:t>
            </a:r>
          </a:p>
        </p:txBody>
      </p:sp>
      <p:sp>
        <p:nvSpPr>
          <p:cNvPr id="901" name="Card-obligations"/>
          <p:cNvSpPr/>
          <p:nvPr/>
        </p:nvSpPr>
        <p:spPr>
          <a:xfrm>
            <a:off x="274320" y="1051560"/>
            <a:ext cx="416052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OBLIGATIONS</a:t>
            </a:r>
          </a:p>
          <a:p>
            <a:pPr algn="l">
              <a:spcBef>
                <a:spcPts val="900"/>
              </a:spcBef>
              <a:buNone/>
            </a:pPr>
            <a:r>
              <a:rPr lang="en-US" sz="2000" b="1" i="0" dirty="0">
                <a:solidFill>
                  <a:srgbClr val="8E6F3E"/>
                </a:solidFill>
              </a:rPr>
              <a:t xml:space="preserve">1  ·  </a:t>
            </a:r>
            <a:r>
              <a:rPr lang="en-US" sz="2000" b="0" i="0" dirty="0">
                <a:solidFill>
                  <a:srgbClr val="5C4826"/>
                </a:solidFill>
              </a:rPr>
              <a:t>Preserve the external API.</a:t>
            </a:r>
          </a:p>
          <a:p>
            <a:pPr algn="l">
              <a:spcBef>
                <a:spcPts val="900"/>
              </a:spcBef>
              <a:buNone/>
            </a:pPr>
            <a:r>
              <a:rPr lang="en-US" sz="2000" b="1" i="0" dirty="0">
                <a:solidFill>
                  <a:srgbClr val="8E6F3E"/>
                </a:solidFill>
              </a:rPr>
              <a:t xml:space="preserve">2  ·  </a:t>
            </a:r>
            <a:r>
              <a:rPr lang="en-US" sz="2000" b="0" i="0" dirty="0">
                <a:solidFill>
                  <a:srgbClr val="5C4826"/>
                </a:solidFill>
              </a:rPr>
              <a:t>Worst-case memory below 64 MB.</a:t>
            </a:r>
          </a:p>
          <a:p>
            <a:pPr algn="l">
              <a:spcBef>
                <a:spcPts val="900"/>
              </a:spcBef>
              <a:buNone/>
            </a:pPr>
            <a:r>
              <a:rPr lang="en-US" sz="2000" b="1" i="0" dirty="0">
                <a:solidFill>
                  <a:srgbClr val="8E6F3E"/>
                </a:solidFill>
              </a:rPr>
              <a:t xml:space="preserve">3  ·  </a:t>
            </a:r>
            <a:r>
              <a:rPr lang="en-US" sz="2000" b="0" i="0" dirty="0">
                <a:solidFill>
                  <a:srgbClr val="5C4826"/>
                </a:solidFill>
              </a:rPr>
              <a:t>Avoid the forbidden dependency.</a:t>
            </a:r>
          </a:p>
          <a:p>
            <a:pPr algn="l">
              <a:spcBef>
                <a:spcPts val="900"/>
              </a:spcBef>
              <a:buNone/>
            </a:pPr>
            <a:r>
              <a:rPr lang="en-US" sz="2000" b="1" i="0" dirty="0">
                <a:solidFill>
                  <a:srgbClr val="8E6F3E"/>
                </a:solidFill>
              </a:rPr>
              <a:t xml:space="preserve">4  ·  </a:t>
            </a:r>
            <a:r>
              <a:rPr lang="en-US" sz="2000" b="0" i="0" dirty="0">
                <a:solidFill>
                  <a:srgbClr val="5C4826"/>
                </a:solidFill>
              </a:rPr>
              <a:t>Preserve the cycle ordering: Sensor.read → decide → Actuator.act.</a:t>
            </a:r>
          </a:p>
        </p:txBody>
      </p:sp>
      <p:sp>
        <p:nvSpPr>
          <p:cNvPr id="902" name="Card-given-model"/>
          <p:cNvSpPr/>
          <p:nvPr/>
        </p:nvSpPr>
        <p:spPr>
          <a:xfrm>
            <a:off x="4617720" y="1051560"/>
            <a:ext cx="425196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THE GIVEN MODEL</a:t>
            </a:r>
          </a:p>
          <a:p>
            <a:pPr algn="l">
              <a:spcBef>
                <a:spcPts val="900"/>
              </a:spcBef>
              <a:buNone/>
            </a:pPr>
            <a:r>
              <a:rPr lang="en-US" sz="2000" b="1" i="0" dirty="0">
                <a:solidFill>
                  <a:srgbClr val="8E6F3E"/>
                </a:solidFill>
              </a:rPr>
              <a:t>STRUCTURE</a:t>
            </a:r>
          </a:p>
          <a:p>
            <a:pPr algn="l">
              <a:spcBef>
                <a:spcPts val="900"/>
              </a:spcBef>
              <a:buNone/>
            </a:pPr>
            <a:r>
              <a:rPr lang="en-US" sz="2000" b="0" i="0" dirty="0">
                <a:solidFill>
                  <a:srgbClr val="5C4826"/>
                </a:solidFill>
              </a:rPr>
              <a:t>Controller — API: IController</a:t>
            </a:r>
          </a:p>
          <a:p>
            <a:pPr algn="l">
              <a:spcBef>
                <a:spcPts val="900"/>
              </a:spcBef>
              <a:buNone/>
            </a:pPr>
            <a:r>
              <a:rPr lang="en-US" sz="2000" b="0" i="0" dirty="0">
                <a:solidFill>
                  <a:srgbClr val="5C4826"/>
                </a:solidFill>
              </a:rPr>
              <a:t>uses → Sensor · Actuator</a:t>
            </a:r>
          </a:p>
          <a:p>
            <a:pPr algn="l">
              <a:spcBef>
                <a:spcPts val="900"/>
              </a:spcBef>
              <a:buNone/>
            </a:pPr>
            <a:r>
              <a:rPr lang="en-US" sz="2000" b="0" i="0" dirty="0">
                <a:solidFill>
                  <a:srgbClr val="5C4826"/>
                </a:solidFill>
              </a:rPr>
              <a:t>forbidden → CloudSDK</a:t>
            </a:r>
          </a:p>
          <a:p>
            <a:pPr algn="l">
              <a:spcBef>
                <a:spcPts val="900"/>
              </a:spcBef>
              <a:buNone/>
            </a:pPr>
            <a:r>
              <a:rPr lang="en-US" sz="2000" b="0" i="0" dirty="0">
                <a:solidFill>
                  <a:srgbClr val="5C4826"/>
                </a:solidFill>
              </a:rPr>
              <a:t>memory ≤ 64 MB</a:t>
            </a:r>
          </a:p>
          <a:p>
            <a:pPr algn="l">
              <a:spcBef>
                <a:spcPts val="900"/>
              </a:spcBef>
              <a:buNone/>
            </a:pPr>
            <a:r>
              <a:rPr lang="en-US" sz="2000" b="1" i="0" dirty="0">
                <a:solidFill>
                  <a:srgbClr val="8E6F3E"/>
                </a:solidFill>
              </a:rPr>
              <a:t>BEHAVIOR</a:t>
            </a:r>
          </a:p>
          <a:p>
            <a:pPr algn="l">
              <a:spcBef>
                <a:spcPts val="900"/>
              </a:spcBef>
              <a:buNone/>
            </a:pPr>
            <a:r>
              <a:rPr lang="en-US" sz="2000" b="0" i="0" dirty="0">
                <a:solidFill>
                  <a:srgbClr val="5C4826"/>
                </a:solidFill>
              </a:rPr>
              <a:t>each cycle: Sensor.read → decide → Actuator.act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For each obligation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5"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Be ready to defend your boundary and authority choices.</a:t>
            </a:r>
          </a:p>
        </p:txBody>
      </p:sp>
      <p:sp>
        <p:nvSpPr>
          <p:cNvPr id="0" name="Grp-WHAT MUS"/>
          <p:cNvSpPr/>
          <p:nvPr/>
        </p:nvSpPr>
        <p:spPr>
          <a:xfrm>
            <a:off x="274320" y="1005840"/>
            <a:ext cx="2103120" cy="1737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WHAT MUST HOLD?</a:t>
            </a:r>
          </a:p>
        </p:txBody>
      </p:sp>
      <p:sp>
        <p:nvSpPr>
          <p:cNvPr id="0" name="GrpItems-WHAT MUS"/>
          <p:cNvSpPr/>
          <p:nvPr/>
        </p:nvSpPr>
        <p:spPr>
          <a:xfrm>
            <a:off x="2514600" y="1005840"/>
            <a:ext cx="6355080" cy="1737360"/>
          </a:xfrm>
          <a:prstGeom prst="rect">
            <a:avLst/>
          </a:prstGeom>
          <a:solidFill>
            <a:srgbClr val="F5F1E8"/>
          </a:solidFill>
          <a:ln w="12700">
            <a:solidFill>
              <a:srgbClr val="C9B991"/>
            </a:solidFill>
          </a:ln>
          <a:effectLst/>
        </p:spPr>
        <p:txBody>
          <a:bodyPr rtlCol="0" anchor="ctr" wrap="square" lIns="27432" rIns="27432" tIns="22860" bIns="22860"/>
          <a:lstStyle/>
          <a:p>
            <a:pPr algn="l">
              <a:buNone/>
            </a:pPr>
            <a:r>
              <a:rPr lang="en-US" sz="2000" b="1" i="0" dirty="0">
                <a:solidFill>
                  <a:srgbClr val="5C4826"/>
                </a:solidFill>
              </a:rPr>
              <a:t>FAILURE — </a:t>
            </a:r>
            <a:r>
              <a:rPr lang="en-US" sz="2000" b="0" i="0" dirty="0">
                <a:solidFill>
                  <a:srgbClr val="5C4826"/>
                </a:solidFill>
              </a:rPr>
              <a:t>what can go wrong?</a:t>
            </a:r>
          </a:p>
          <a:p>
            <a:pPr algn="l">
              <a:spcBef>
                <a:spcPts val="600"/>
              </a:spcBef>
              <a:buNone/>
            </a:pPr>
            <a:r>
              <a:rPr lang="en-US" sz="2000" b="1" i="0" dirty="0">
                <a:solidFill>
                  <a:srgbClr val="5C4826"/>
                </a:solidFill>
              </a:rPr>
              <a:t>OBLIGATION — </a:t>
            </a:r>
            <a:r>
              <a:rPr lang="en-US" sz="2000" b="0" i="0" dirty="0">
                <a:solidFill>
                  <a:srgbClr val="5C4826"/>
                </a:solidFill>
              </a:rPr>
              <a:t>what must be true?</a:t>
            </a:r>
          </a:p>
          <a:p>
            <a:pPr algn="l">
              <a:spcBef>
                <a:spcPts val="600"/>
              </a:spcBef>
              <a:buNone/>
            </a:pPr>
            <a:r>
              <a:rPr lang="en-US" sz="2000" b="1" i="0" dirty="0">
                <a:solidFill>
                  <a:srgbClr val="5C4826"/>
                </a:solidFill>
              </a:rPr>
              <a:t>MODEL USE — </a:t>
            </a:r>
            <a:r>
              <a:rPr lang="en-US" sz="2000" b="0" i="0" dirty="0">
                <a:solidFill>
                  <a:srgbClr val="5C4826"/>
                </a:solidFill>
              </a:rPr>
              <a:t>what fact does the model make explicit, and can you validate it statically or dynamically?</a:t>
            </a:r>
          </a:p>
        </p:txBody>
      </p:sp>
      <p:sp>
        <p:nvSpPr>
          <p:cNvPr id="0" name="Grp-HOW WILL"/>
          <p:cNvSpPr/>
          <p:nvPr/>
        </p:nvSpPr>
        <p:spPr>
          <a:xfrm>
            <a:off x="274320" y="2880360"/>
            <a:ext cx="2103120" cy="137160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HOW WILL WE KNOW?</a:t>
            </a:r>
          </a:p>
        </p:txBody>
      </p:sp>
      <p:sp>
        <p:nvSpPr>
          <p:cNvPr id="0" name="GrpItems-HOW WILL"/>
          <p:cNvSpPr/>
          <p:nvPr/>
        </p:nvSpPr>
        <p:spPr>
          <a:xfrm>
            <a:off x="2514600" y="2880360"/>
            <a:ext cx="6355080" cy="1371600"/>
          </a:xfrm>
          <a:prstGeom prst="rect">
            <a:avLst/>
          </a:prstGeom>
          <a:solidFill>
            <a:srgbClr val="F5F1E8"/>
          </a:solidFill>
          <a:ln w="12700">
            <a:solidFill>
              <a:srgbClr val="C9B991"/>
            </a:solidFill>
          </a:ln>
          <a:effectLst/>
        </p:spPr>
        <p:txBody>
          <a:bodyPr rtlCol="0" anchor="ctr" wrap="square" lIns="27432" rIns="27432" tIns="22860" bIns="22860"/>
          <a:lstStyle/>
          <a:p>
            <a:pPr algn="l">
              <a:buNone/>
            </a:pPr>
            <a:r>
              <a:rPr lang="en-US" sz="2000" b="1" i="0" dirty="0">
                <a:solidFill>
                  <a:srgbClr val="5C4826"/>
                </a:solidFill>
              </a:rPr>
              <a:t>CONTROL — </a:t>
            </a:r>
            <a:r>
              <a:rPr lang="en-US" sz="2000" b="0" i="0" dirty="0">
                <a:solidFill>
                  <a:srgbClr val="5C4826"/>
                </a:solidFill>
              </a:rPr>
              <a:t>can we prevent it, or must we detect it?</a:t>
            </a:r>
          </a:p>
          <a:p>
            <a:pPr algn="l">
              <a:spcBef>
                <a:spcPts val="600"/>
              </a:spcBef>
              <a:buNone/>
            </a:pPr>
            <a:r>
              <a:rPr lang="en-US" sz="2000" b="1" i="0" dirty="0">
                <a:solidFill>
                  <a:srgbClr val="5C4826"/>
                </a:solidFill>
              </a:rPr>
              <a:t>EVIDENCE — </a:t>
            </a:r>
            <a:r>
              <a:rPr lang="en-US" sz="2000" b="0" i="0" dirty="0">
                <a:solidFill>
                  <a:srgbClr val="5C4826"/>
                </a:solidFill>
              </a:rPr>
              <a:t>what observation could establish it?</a:t>
            </a:r>
          </a:p>
          <a:p>
            <a:pPr algn="l">
              <a:spcBef>
                <a:spcPts val="600"/>
              </a:spcBef>
              <a:buNone/>
            </a:pPr>
            <a:r>
              <a:rPr lang="en-US" sz="2000" b="1" i="0" dirty="0">
                <a:solidFill>
                  <a:srgbClr val="5C4826"/>
                </a:solidFill>
              </a:rPr>
              <a:t>BOUNDARY — </a:t>
            </a:r>
            <a:r>
              <a:rPr lang="en-US" sz="2000" b="0" i="0" dirty="0">
                <a:solidFill>
                  <a:srgbClr val="5C4826"/>
                </a:solidFill>
              </a:rPr>
              <a:t>where does enough information exist?</a:t>
            </a:r>
          </a:p>
        </p:txBody>
      </p:sp>
      <p:sp>
        <p:nvSpPr>
          <p:cNvPr id="0" name="Grp-WHAT WIL"/>
          <p:cNvSpPr/>
          <p:nvPr/>
        </p:nvSpPr>
        <p:spPr>
          <a:xfrm>
            <a:off x="274320" y="4389120"/>
            <a:ext cx="2103120" cy="10058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WHAT WILL IT CONTROL?</a:t>
            </a:r>
          </a:p>
        </p:txBody>
      </p:sp>
      <p:sp>
        <p:nvSpPr>
          <p:cNvPr id="0" name="GrpItems-WHAT WIL"/>
          <p:cNvSpPr/>
          <p:nvPr/>
        </p:nvSpPr>
        <p:spPr>
          <a:xfrm>
            <a:off x="2514600" y="4389120"/>
            <a:ext cx="6355080" cy="1005840"/>
          </a:xfrm>
          <a:prstGeom prst="rect">
            <a:avLst/>
          </a:prstGeom>
          <a:solidFill>
            <a:srgbClr val="F5F1E8"/>
          </a:solidFill>
          <a:ln w="12700">
            <a:solidFill>
              <a:srgbClr val="C9B991"/>
            </a:solidFill>
          </a:ln>
          <a:effectLst/>
        </p:spPr>
        <p:txBody>
          <a:bodyPr rtlCol="0" anchor="ctr" wrap="square" lIns="27432" rIns="27432" tIns="22860" bIns="22860"/>
          <a:lstStyle/>
          <a:p>
            <a:pPr algn="l">
              <a:buNone/>
            </a:pPr>
            <a:r>
              <a:rPr lang="en-US" sz="2000" b="1" i="0" dirty="0">
                <a:solidFill>
                  <a:srgbClr val="5C4826"/>
                </a:solidFill>
              </a:rPr>
              <a:t>MECHANISM — </a:t>
            </a:r>
            <a:r>
              <a:rPr lang="en-US" sz="2000" b="0" i="0" dirty="0">
                <a:solidFill>
                  <a:srgbClr val="5C4826"/>
                </a:solidFill>
              </a:rPr>
              <a:t>constraint · sensor · validator · gate</a:t>
            </a:r>
          </a:p>
          <a:p>
            <a:pPr algn="l">
              <a:spcBef>
                <a:spcPts val="600"/>
              </a:spcBef>
              <a:buNone/>
            </a:pPr>
            <a:r>
              <a:rPr lang="en-US" sz="2000" b="1" i="0" dirty="0">
                <a:solidFill>
                  <a:srgbClr val="5C4826"/>
                </a:solidFill>
              </a:rPr>
              <a:t>AUTHORITY — </a:t>
            </a:r>
            <a:r>
              <a:rPr lang="en-US" sz="2000" b="0" i="0" dirty="0">
                <a:solidFill>
                  <a:srgbClr val="5C4826"/>
                </a:solidFill>
              </a:rPr>
              <a:t>what happens if it fails?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39776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decide which obligations have consequences in the engineered environment</a:t>
            </a:r>
          </a:p>
        </p:txBody>
      </p:sp>
      <p:sp>
        <p:nvSpPr>
          <p:cNvPr id="9" name="Rectangle 8"/>
          <p:cNvSpPr/>
          <p:nvPr/>
        </p:nvSpPr>
        <p:spPr>
          <a:xfrm>
            <a:off x="640080" y="3291840"/>
            <a:ext cx="8183879" cy="23317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