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43"/>
  </p:notesMasterIdLst>
  <p:sldIdLst>
    <p:sldId id="256" r:id="rId7"/>
    <p:sldId id="302" r:id="rId54"/>
    <p:sldId id="289" r:id="rId15"/>
    <p:sldId id="290" r:id="rId34"/>
    <p:sldId id="258" r:id="rId9"/>
    <p:sldId id="284" r:id="rId49"/>
    <p:sldId id="291" r:id="rId35"/>
    <p:sldId id="292" r:id="rId36"/>
    <p:sldId id="293" r:id="rId37"/>
    <p:sldId id="294" r:id="rId38"/>
    <p:sldId id="295" r:id="rId39"/>
    <p:sldId id="285" r:id="rId50"/>
    <p:sldId id="304" r:id="rId40"/>
    <p:sldId id="297" r:id="rId41"/>
    <p:sldId id="298" r:id="rId42"/>
    <p:sldId id="299" r:id="rId14"/>
    <p:sldId id="262" r:id="rId13"/>
    <p:sldId id="305" r:id="rId22"/>
    <p:sldId id="300" r:id="rId12"/>
    <p:sldId id="266" r:id="rId17"/>
    <p:sldId id="306" r:id="rId48"/>
    <p:sldId id="267" r:id="rId18"/>
    <p:sldId id="265" r:id="rId16"/>
    <p:sldId id="268" r:id="rId19"/>
    <p:sldId id="286" r:id="rId51"/>
    <p:sldId id="269" r:id="rId20"/>
    <p:sldId id="270" r:id="rId21"/>
    <p:sldId id="272" r:id="rId23"/>
    <p:sldId id="303" r:id="rId55"/>
    <p:sldId id="273" r:id="rId24"/>
    <p:sldId id="288" r:id="rId53"/>
    <p:sldId id="277" r:id="rId28"/>
    <p:sldId id="278" r:id="rId29"/>
    <p:sldId id="279" r:id="rId30"/>
    <p:sldId id="307" r:id="rId10"/>
    <p:sldId id="308" r:id="rId8"/>
    <p:sldId id="309" r:id="rId6"/>
    <p:sldId id="310" r:id="rId5"/>
    <p:sldId id="280" r:id="rId31"/>
    <p:sldId id="281" r:id="rId32"/>
    <p:sldId id="287" r:id="rId52"/>
    <p:sldId id="274" r:id="rId25"/>
    <p:sldId id="311" r:id="rId11"/>
    <p:sldId id="275" r:id="rId26"/>
    <p:sldId id="276" r:id="rId27"/>
    <p:sldId id="282" r:id="rId3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614" autoAdjust="0"/>
    <p:restoredTop sz="56164"/>
  </p:normalViewPr>
  <p:slideViewPr>
    <p:cSldViewPr snapToGrid="0" snapToObjects="1">
      <p:cViewPr varScale="1">
        <p:scale>
          <a:sx n="64" d="100"/>
          <a:sy n="64" d="100"/>
        </p:scale>
        <p:origin x="3032" y="16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5" Type="http://schemas.openxmlformats.org/officeDocument/2006/relationships/slide" Target="slides/slide38.xml"/><Relationship Id="rId6" Type="http://schemas.openxmlformats.org/officeDocument/2006/relationships/slide" Target="slides/slide37.xml"/><Relationship Id="rId7" Type="http://schemas.openxmlformats.org/officeDocument/2006/relationships/slide" Target="slides/slide1.xml"/><Relationship Id="rId8" Type="http://schemas.openxmlformats.org/officeDocument/2006/relationships/slide" Target="slides/slide36.xml"/><Relationship Id="rId9" Type="http://schemas.openxmlformats.org/officeDocument/2006/relationships/slide" Target="slides/slide5.xml"/><Relationship Id="rId10" Type="http://schemas.openxmlformats.org/officeDocument/2006/relationships/slide" Target="slides/slide35.xml"/><Relationship Id="rId11" Type="http://schemas.openxmlformats.org/officeDocument/2006/relationships/slide" Target="slides/slide43.xml"/><Relationship Id="rId12" Type="http://schemas.openxmlformats.org/officeDocument/2006/relationships/slide" Target="slides/slide19.xml"/><Relationship Id="rId13" Type="http://schemas.openxmlformats.org/officeDocument/2006/relationships/slide" Target="slides/slide17.xml"/><Relationship Id="rId14" Type="http://schemas.openxmlformats.org/officeDocument/2006/relationships/slide" Target="slides/slide16.xml"/><Relationship Id="rId15" Type="http://schemas.openxmlformats.org/officeDocument/2006/relationships/slide" Target="slides/slide3.xml"/><Relationship Id="rId16" Type="http://schemas.openxmlformats.org/officeDocument/2006/relationships/slide" Target="slides/slide23.xml"/><Relationship Id="rId17" Type="http://schemas.openxmlformats.org/officeDocument/2006/relationships/slide" Target="slides/slide20.xml"/><Relationship Id="rId18" Type="http://schemas.openxmlformats.org/officeDocument/2006/relationships/slide" Target="slides/slide22.xml"/><Relationship Id="rId19" Type="http://schemas.openxmlformats.org/officeDocument/2006/relationships/slide" Target="slides/slide24.xml"/><Relationship Id="rId20" Type="http://schemas.openxmlformats.org/officeDocument/2006/relationships/slide" Target="slides/slide26.xml"/><Relationship Id="rId21" Type="http://schemas.openxmlformats.org/officeDocument/2006/relationships/slide" Target="slides/slide27.xml"/><Relationship Id="rId22" Type="http://schemas.openxmlformats.org/officeDocument/2006/relationships/slide" Target="slides/slide18.xml"/><Relationship Id="rId23" Type="http://schemas.openxmlformats.org/officeDocument/2006/relationships/slide" Target="slides/slide28.xml"/><Relationship Id="rId24" Type="http://schemas.openxmlformats.org/officeDocument/2006/relationships/slide" Target="slides/slide30.xml"/><Relationship Id="rId25" Type="http://schemas.openxmlformats.org/officeDocument/2006/relationships/slide" Target="slides/slide42.xml"/><Relationship Id="rId26" Type="http://schemas.openxmlformats.org/officeDocument/2006/relationships/slide" Target="slides/slide44.xml"/><Relationship Id="rId27" Type="http://schemas.openxmlformats.org/officeDocument/2006/relationships/slide" Target="slides/slide45.xml"/><Relationship Id="rId28" Type="http://schemas.openxmlformats.org/officeDocument/2006/relationships/slide" Target="slides/slide32.xml"/><Relationship Id="rId29" Type="http://schemas.openxmlformats.org/officeDocument/2006/relationships/slide" Target="slides/slide33.xml"/><Relationship Id="rId30" Type="http://schemas.openxmlformats.org/officeDocument/2006/relationships/slide" Target="slides/slide34.xml"/><Relationship Id="rId31" Type="http://schemas.openxmlformats.org/officeDocument/2006/relationships/slide" Target="slides/slide39.xml"/><Relationship Id="rId32" Type="http://schemas.openxmlformats.org/officeDocument/2006/relationships/slide" Target="slides/slide40.xml"/><Relationship Id="rId33" Type="http://schemas.openxmlformats.org/officeDocument/2006/relationships/slide" Target="slides/slide46.xml"/><Relationship Id="rId34" Type="http://schemas.openxmlformats.org/officeDocument/2006/relationships/slide" Target="slides/slide4.xml"/><Relationship Id="rId35" Type="http://schemas.openxmlformats.org/officeDocument/2006/relationships/slide" Target="slides/slide7.xml"/><Relationship Id="rId36" Type="http://schemas.openxmlformats.org/officeDocument/2006/relationships/slide" Target="slides/slide8.xml"/><Relationship Id="rId37" Type="http://schemas.openxmlformats.org/officeDocument/2006/relationships/slide" Target="slides/slide9.xml"/><Relationship Id="rId38" Type="http://schemas.openxmlformats.org/officeDocument/2006/relationships/slide" Target="slides/slide10.xml"/><Relationship Id="rId39" Type="http://schemas.openxmlformats.org/officeDocument/2006/relationships/slide" Target="slides/slide11.xml"/><Relationship Id="rId40" Type="http://schemas.openxmlformats.org/officeDocument/2006/relationships/slide" Target="slides/slide13.xml"/><Relationship Id="rId41" Type="http://schemas.openxmlformats.org/officeDocument/2006/relationships/slide" Target="slides/slide14.xml"/><Relationship Id="rId42" Type="http://schemas.openxmlformats.org/officeDocument/2006/relationships/slide" Target="slides/slide15.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 Id="rId48" Type="http://schemas.openxmlformats.org/officeDocument/2006/relationships/slide" Target="slides/slide21.xml"/><Relationship Id="rId49" Type="http://schemas.openxmlformats.org/officeDocument/2006/relationships/slide" Target="slides/slide6.xml"/><Relationship Id="rId50" Type="http://schemas.openxmlformats.org/officeDocument/2006/relationships/slide" Target="slides/slide12.xml"/><Relationship Id="rId51" Type="http://schemas.openxmlformats.org/officeDocument/2006/relationships/slide" Target="slides/slide25.xml"/><Relationship Id="rId52" Type="http://schemas.openxmlformats.org/officeDocument/2006/relationships/slide" Target="slides/slide41.xml"/><Relationship Id="rId53" Type="http://schemas.openxmlformats.org/officeDocument/2006/relationships/slide" Target="slides/slide31.xml"/><Relationship Id="rId54" Type="http://schemas.openxmlformats.org/officeDocument/2006/relationships/slide" Target="slides/slide2.xml"/><Relationship Id="rId55"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9/29/26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a:t>
            </a:r>
          </a:p>
          <a:p>
            <a:r>
              <a:t>- Last time we talked about Modeling: how to make consequential engineering knowledge explicit while leaving irrelevant degrees of freedom open.</a:t>
            </a:r>
          </a:p>
          <a:p>
            <a:r>
              <a:t>- Today we ask the complementary question: once we know something about the work, what should that knowledge control?</a:t>
            </a:r>
          </a:p>
          <a:p>
            <a:r>
              <a:t>- The title question is deliberately broad: "How do you know whether an agent is doing what you want?" We are going to unpack both know and want.</a:t>
            </a:r>
          </a:p>
          <a:p>
            <a:r>
              <a:t>- Start with an agent and essentially no engineered control around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Recall degrees of freedom from Architecture and Design.</a:t>
            </a:r>
          </a:p>
          <a:p>
            <a:r>
              <a:t>- Engineering is not about specifying everything.</a:t>
            </a:r>
          </a:p>
          <a:p>
            <a:r>
              <a:t>- We bind choices whose consequences matter: worktree, scope, forbidden actions, evidence, delivery boundary.</a:t>
            </a:r>
          </a:p>
          <a:p>
            <a:r>
              <a:t>- We deliberately leave other choices free: local decomposition, naming, implementation details, algorithms where no obligation constrains them.</a:t>
            </a:r>
          </a:p>
          <a:p>
            <a:r>
              <a:t>- If we specify all of those too, we have defeated much of the purpose of delegation.</a:t>
            </a:r>
          </a:p>
          <a:p>
            <a:r>
              <a:t>- Good delegation is therefore selective reduction of degrees of freedom.</a:t>
            </a:r>
          </a:p>
          <a:p>
            <a:r>
              <a:t>ANIMATION</a:t>
            </a:r>
          </a:p>
          <a:p>
            <a:r>
              <a:t>- Reveal BOUND first.</a:t>
            </a:r>
          </a:p>
          <a:p>
            <a:r>
              <a:t>- Reveal LEAVE FREE second.</a:t>
            </a:r>
          </a:p>
          <a:p>
            <a:r>
              <a:t>- Reveal the concluding sentence last.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We already have two pieces of the problem.</a:t>
            </a:r>
          </a:p>
          <a:p>
            <a:r>
              <a:t>- Validation asks when evidence justifies a judgment or action.</a:t>
            </a:r>
          </a:p>
          <a:p>
            <a:r>
              <a:t>- Delegation asks what action another actor is permitted to take on our behalf.</a:t>
            </a:r>
          </a:p>
          <a:p>
            <a:r>
              <a:t>- Alignment is where those meet.</a:t>
            </a:r>
          </a:p>
          <a:p>
            <a:r>
              <a:t>- Suppose a test says the implementation is wrong. That is a validation result. What happens now?</a:t>
            </a:r>
          </a:p>
          <a:p>
            <a:r>
              <a:t>- Does the agent merely receive advice? Is the commit rejected? Can the PR merge? Can the artifact deploy?</a:t>
            </a:r>
          </a:p>
          <a:p>
            <a:r>
              <a:t>- Alignment connects the engineering judgment to what the engineered environment permits.</a:t>
            </a:r>
          </a:p>
          <a:p>
            <a:r>
              <a:t>- "Agent or environment" matters. Often the strongest control is not telling the agent what not to do. It is designing the environment so the consequential action is unavailable.</a:t>
            </a:r>
          </a:p>
          <a:p>
            <a:r>
              <a:t>ANIMATION</a:t>
            </a:r>
          </a:p>
          <a:p>
            <a:r>
              <a:t>- Reveal VALIDATION first.</a:t>
            </a:r>
          </a:p>
          <a:p>
            <a:r>
              <a:t>- Reveal DELEGATION second.</a:t>
            </a:r>
          </a:p>
          <a:p>
            <a:r>
              <a:t>- Reveal ALIGNMENT and its question last.</a:t>
            </a:r>
          </a:p>
          <a:p>
            <a:r>
              <a:t>- Finish with the bottom definition.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Here is a much more useful delegation than "add bulk refunds."</a:t>
            </a:r>
          </a:p>
          <a:p>
            <a:r>
              <a:t>- Read the fields through the taxonomy: Goal, Scope, and Preserve bound the TASK — what the result must be. Check, Deliver, and Authority bound the PROCESS — how the result may be produced.</a:t>
            </a:r>
          </a:p>
          <a:p>
            <a:r>
              <a:t>- There is some overlap, and that is pedagogically useful: Scope can constrain both the result and the path, and "Do not" reads either way. Mention the overlap rather than forcing every field into exactly one box.</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In practice, the agent does not receive only natural-language instructions.</a:t>
            </a:r>
          </a:p>
          <a:p>
            <a:r>
              <a:t>- It receives a repository, worktree, branch, tools, tests, CI configuration, issue context, and repository instructions.</a:t>
            </a:r>
          </a:p>
          <a:p>
            <a:r>
              <a:t>- Those things collectively define part of the delegated environment.</a:t>
            </a:r>
          </a:p>
          <a:p>
            <a:r>
              <a:t>- Some are information. Some are capabilities. Some are constraints.</a:t>
            </a:r>
          </a:p>
          <a:p>
            <a:r>
              <a:t>- The output is also structured: not "some code somewhere," but typically a proposed change, commit, or PR.</a:t>
            </a:r>
          </a:p>
          <a:p>
            <a:r>
              <a:t>- This environment is already doing engineering work before we add any sophisticated agent-specific machinery.</a:t>
            </a:r>
          </a:p>
          <a:p>
            <a:r>
              <a:t>ANIMATION</a:t>
            </a:r>
          </a:p>
          <a:p>
            <a:r>
              <a:t>- Reveal WORK ORDER and WORKTREE.</a:t>
            </a:r>
          </a:p>
          <a:p>
            <a:r>
              <a:t>- Reveal AGENT.</a:t>
            </a:r>
          </a:p>
          <a:p>
            <a:r>
              <a:t>- Reveal proposed change / commit / PR.</a:t>
            </a:r>
          </a:p>
          <a:p>
            <a:r>
              <a:t>- Reveal the concrete environment elements last.</a:t>
            </a:r>
          </a:p>
          <a:p>
            <a:r>
              <a:t>- Frame this as an EXAMPLE of the taxonomy: the work environment is how we bound the process — where the agent may work, what it may touch, what tools it has.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Delegation bounds two things: the task and the process.</a:t>
            </a:r>
          </a:p>
          <a:p>
            <a:r>
              <a:t>- Tie this to degrees of freedom: we are not specifying everything. We are deciding which freedoms are consequential in the RESULT and which are consequential in the PROCESS.</a:t>
            </a:r>
          </a:p>
          <a:p>
            <a:r>
              <a:t>- The task column asks what the artifact must satisfy. The process column asks how the work may be performed and when it is done.</a:t>
            </a:r>
          </a:p>
          <a:p>
            <a:r>
              <a:t>- The next two slides are examples of this structure, not four more things to learn.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Fourth failure: "all tests pass" sounds like evidence, but evidence of what? Which tests? Against which obligations? In which environment? What wasn't tested?</a:t>
            </a:r>
          </a:p>
          <a:p>
            <a:r>
              <a:t>- Introduce obligation carefully: a condition against which the work can be wrong.</a:t>
            </a:r>
          </a:p>
          <a:p>
            <a:r>
              <a:t>- Then pose the classroom question explicitly and let them argue: can the result be correct while the process is wrong?</a:t>
            </a:r>
          </a:p>
          <a:p>
            <a:r>
              <a:t>- Suppose the implementation really is correct. Do we care that the agent did not produce the required evidence? Yes. Engineering decisions are made under uncertainty. We cannot condition acceptance on facts we happen, in hindsight, to know were true. We condition acceptance on evidence available at the decision boundary.</a:t>
            </a:r>
          </a:p>
          <a:p>
            <a:r>
              <a:t>- That separates truth from justified engineering judgment — the sharpest conceptual moment in this section.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Stop coding. Open what the agent produced.</a:t>
            </a:r>
          </a:p>
          <a:p>
            <a:r>
              <a:t>- Show of hands: does yours work?</a:t>
            </a:r>
          </a:p>
          <a:p>
            <a:r>
              <a:t>- Now the important question: what did you do before you were willing to say yes?</a:t>
            </a:r>
          </a:p>
          <a:p>
            <a:r>
              <a:t>- Take answers from the room before revealing examples.</a:t>
            </a:r>
          </a:p>
          <a:p>
            <a:r>
              <a:t>- Students will usually test adding, deleting, refresh, perhaps editing. Someone may inspect the console. Someone may notice something nobody else checked.</a:t>
            </a:r>
          </a:p>
          <a:p>
            <a:r>
              <a:t>- The phrase "it works" concealed a collection of claims and a collection of evidence.</a:t>
            </a:r>
          </a:p>
          <a:p>
            <a:r>
              <a:t>- Notice also what you probably did not establish. Did anyone test two tabs? malformed input? browser restart? storage exhaustion?</a:t>
            </a:r>
          </a:p>
          <a:p>
            <a:r>
              <a:t>- This is our Validation problem again: a judgment depends on what claim we are making and what evidence bears on it.</a:t>
            </a:r>
          </a:p>
          <a:p>
            <a:r>
              <a:t>ANIMATION</a:t>
            </a:r>
          </a:p>
          <a:p>
            <a:r>
              <a:t>- Start with only "Does it work?"</a:t>
            </a:r>
          </a:p>
          <a:p>
            <a:r>
              <a:t>- Reveal "What did you check before answering?" after collecting yes/no answers.</a:t>
            </a:r>
          </a:p>
          <a:p>
            <a:r>
              <a:t>- Reveal the example checks only after students supply their own.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 minutes</a:t>
            </a:r>
          </a:p>
          <a:p>
            <a:r>
              <a:t>- This is an experiment, not a programming exercise. Do exactly what the prompt says.</a:t>
            </a:r>
          </a:p>
          <a:p>
            <a:r>
              <a:t>- Give the agent the work. Do not rescue it, redirect it, or improve its choices.</a:t>
            </a:r>
          </a:p>
          <a:p>
            <a:r>
              <a:t>- Notice how much freedom the prompt leaves: language, framework, architecture, persistence mechanism, styling, testing strategy.</a:t>
            </a:r>
          </a:p>
          <a:p>
            <a:r>
              <a:t>- If the agent asks you to choose something that the prompt leaves open, let it choose.</a:t>
            </a:r>
          </a:p>
          <a:p>
            <a:r>
              <a:t>- The interesting part comes after it says it is finished.</a:t>
            </a:r>
          </a:p>
          <a:p>
            <a:r>
              <a:t>ANIMATION</a:t>
            </a:r>
          </a:p>
          <a:p>
            <a:r>
              <a:t>- Reveal the task first.</a:t>
            </a:r>
          </a:p>
          <a:p>
            <a:r>
              <a:t>- Reveal "Examine the result and refine it as needed" only after students have started reading.</a:t>
            </a:r>
          </a:p>
          <a:p>
            <a:r>
              <a:t>- Start the timer after instructions are clear.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Evidence becomes useful when a validator turns it into a verdict.</a:t>
            </a:r>
          </a:p>
          <a:p>
            <a:r>
              <a:t>- But a verdict alone does not control anything.</a:t>
            </a:r>
          </a:p>
          <a:p>
            <a:r>
              <a:t>- A gate connects that verdict to authority.</a:t>
            </a:r>
          </a:p>
          <a:p>
            <a:r>
              <a:t>- The agent can work locally and propose changes. Merge or deployment can require a satisfactory verdict.</a:t>
            </a:r>
          </a:p>
          <a:p>
            <a:r>
              <a:t>- This is stronger than telling the agent "please don't merge broken code."</a:t>
            </a:r>
          </a:p>
          <a:p>
            <a:r>
              <a:t>- The environment itself conditions authority on the engineering judgment.</a:t>
            </a:r>
          </a:p>
          <a:p>
            <a:r>
              <a:t>- A gate therefore makes authority conditional on a verdict.</a:t>
            </a:r>
          </a:p>
          <a:p>
            <a:r>
              <a:t>ANIMATION</a:t>
            </a:r>
          </a:p>
          <a:p>
            <a:r>
              <a:t>- Reveal WORK, evidence, VALIDATOR.</a:t>
            </a:r>
          </a:p>
          <a:p>
            <a:r>
              <a:t>- Reveal verdict.</a:t>
            </a:r>
          </a:p>
          <a:p>
            <a:r>
              <a:t>- Reveal GATE.</a:t>
            </a:r>
          </a:p>
          <a:p>
            <a:r>
              <a:t>- Reveal MERGE / DEPLOY only after explaining the verdict.</a:t>
            </a:r>
          </a:p>
          <a:p>
            <a:r>
              <a:t>- Reveal the final definition last.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We can now name four control roles.</a:t>
            </a:r>
          </a:p>
          <a:p>
            <a:r>
              <a:t>- A constraint narrows what may happen.</a:t>
            </a:r>
          </a:p>
          <a:p>
            <a:r>
              <a:t>- A sensor tells us what happened and produces evidence.</a:t>
            </a:r>
          </a:p>
          <a:p>
            <a:r>
              <a:t>- A validator evaluates that evidence against an obligation.</a:t>
            </a:r>
          </a:p>
          <a:p>
            <a:r>
              <a:t>- A gate controls whether work crosses a boundary.</a:t>
            </a:r>
          </a:p>
          <a:p>
            <a:r>
              <a:t>- These are roles, not an architecture requiring four separate services.</a:t>
            </a:r>
          </a:p>
          <a:p>
            <a:r>
              <a:t>- A single mechanism can perform several roles.</a:t>
            </a:r>
          </a:p>
          <a:p>
            <a:r>
              <a:t>- Keep the two sides distinct: constraints and sensors concern work/state; validators and gates concern judgment/admission.</a:t>
            </a:r>
          </a:p>
          <a:p>
            <a:r>
              <a:t>- This vocabulary gives us a way to design rather than simply say "add checks."</a:t>
            </a:r>
          </a:p>
          <a:p>
            <a:r>
              <a:t>ANIMATION</a:t>
            </a:r>
          </a:p>
          <a:p>
            <a:r>
              <a:t>- Reveal CONSTRAINT and SENSOR first under WORK / STATE.</a:t>
            </a:r>
          </a:p>
          <a:p>
            <a:r>
              <a:t>- Reveal VALIDATOR and GATE under DECISION / ADMISSION.</a:t>
            </a:r>
          </a:p>
          <a:p>
            <a:r>
              <a:t>- Reveal the role definitions with each.</a:t>
            </a:r>
          </a:p>
          <a:p>
            <a:r>
              <a:t>- Reveal the "roles, not four required components" note last.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Given an obligation, first ask whether the unwanted state can be excluded cleanly.</a:t>
            </a:r>
          </a:p>
          <a:p>
            <a:r>
              <a:t>- If yes, prefer prevention. A narrow API, type, permission, or constrained representation can make the invalid state unavailable.</a:t>
            </a:r>
          </a:p>
          <a:p>
            <a:r>
              <a:t>- If not, we need evidence about what happened.</a:t>
            </a:r>
          </a:p>
          <a:p>
            <a:r>
              <a:t>- Why might prevention be impossible? The property may emerge only across several actions, after composition, or at runtime.</a:t>
            </a:r>
          </a:p>
          <a:p>
            <a:r>
              <a:t>- For example, a type can prevent some malformed states locally. It cannot generally prove your end-to-end latency under production load.</a:t>
            </a:r>
          </a:p>
          <a:p>
            <a:r>
              <a:t>- Do not force every obligation into a constraint.</a:t>
            </a:r>
          </a:p>
          <a:p>
            <a:r>
              <a:t>- The rule is deliberately asymmetric: if the wrong state can cheaply and reliably be made impossible, do that. Otherwise, collect evidence and evaluate it.</a:t>
            </a:r>
          </a:p>
          <a:p>
            <a:r>
              <a:t>ANIMATION</a:t>
            </a:r>
          </a:p>
          <a:p>
            <a:r>
              <a:t>- Begin with ENGINEERING OBLIGATION.</a:t>
            </a:r>
          </a:p>
          <a:p>
            <a:r>
              <a:t>- Reveal the decision question.</a:t>
            </a:r>
          </a:p>
          <a:p>
            <a:r>
              <a:t>- Reveal YES to CONSTRAINT.</a:t>
            </a:r>
          </a:p>
          <a:p>
            <a:r>
              <a:t>- Reveal NO to SENSOR.</a:t>
            </a:r>
          </a:p>
          <a:p>
            <a:r>
              <a:t>- Reveal examples under each.</a:t>
            </a:r>
          </a:p>
          <a:p>
            <a:r>
              <a:t>- Reveal the gold rule last.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This is the central distinction for the lecture.</a:t>
            </a:r>
          </a:p>
          <a:p>
            <a:r>
              <a:t>- Validation gets us from claim and evidence to judgment.</a:t>
            </a:r>
          </a:p>
          <a:p>
            <a:r>
              <a:t>- Alignment asks what that judgment should control.</a:t>
            </a:r>
          </a:p>
          <a:p>
            <a:r>
              <a:t>- A failed check might merely produce information. It might block a commit, a merge, a release, or a runtime action.</a:t>
            </a:r>
          </a:p>
          <a:p>
            <a:r>
              <a:t>- Those are different engineering designs even if the validator is identical.</a:t>
            </a:r>
          </a:p>
          <a:p>
            <a:r>
              <a:t>- So Alignment is not "more validation." It is the design of consequences attached to engineering judgments.</a:t>
            </a:r>
          </a:p>
          <a:p>
            <a:r>
              <a:t>ANIMATION</a:t>
            </a:r>
          </a:p>
          <a:p>
            <a:r>
              <a:t>- Reveal VALIDATION row first.</a:t>
            </a:r>
          </a:p>
          <a:p>
            <a:r>
              <a:t>- Reveal ALIGNMENT row second.</a:t>
            </a:r>
          </a:p>
          <a:p>
            <a:r>
              <a:t>- Highlight ACTION versus CONSEQUENCE.</a:t>
            </a:r>
          </a:p>
          <a:p>
            <a:r>
              <a:t>- Reveal the two explanatory questions last.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Think about the boundaries available in ordinary software work: edit, commit, push, merge, deploy, runtime.</a:t>
            </a:r>
          </a:p>
          <a:p>
            <a:r>
              <a:t>- Different obligations become decidable at different points.</a:t>
            </a:r>
          </a:p>
          <a:p>
            <a:r>
              <a:t>- A type property may be decidable during editing or compilation.</a:t>
            </a:r>
          </a:p>
          <a:p>
            <a:r>
              <a:t>- A forbidden dependency may be decidable from a commit or repository state.</a:t>
            </a:r>
          </a:p>
          <a:p>
            <a:r>
              <a:t>- Integration behavior may require assembled work.</a:t>
            </a:r>
          </a:p>
          <a:p>
            <a:r>
              <a:t>- Latency under load may require deployment or runtime evidence.</a:t>
            </a:r>
          </a:p>
          <a:p>
            <a:r>
              <a:t>- There is no universally correct "shift left" answer.</a:t>
            </a:r>
          </a:p>
          <a:p>
            <a:r>
              <a:t>- Check at the earliest boundary where the obligation can actually be decided.</a:t>
            </a:r>
          </a:p>
          <a:p>
            <a:r>
              <a:t>ANIMATION</a:t>
            </a:r>
          </a:p>
          <a:p>
            <a:r>
              <a:t>- Reveal the boundary sequence first.</a:t>
            </a:r>
          </a:p>
          <a:p>
            <a:r>
              <a:t>- Reveal each example property at its appropriate boundary.</a:t>
            </a:r>
          </a:p>
          <a:p>
            <a:r>
              <a:t>- Reveal the rule last.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Why can't we always check earlier?</a:t>
            </a:r>
          </a:p>
          <a:p>
            <a:r>
              <a:t>- Some obligations span a unit of work.</a:t>
            </a:r>
          </a:p>
          <a:p>
            <a:r>
              <a:t>- Imagine several individually valid commits. During intermediate commits, the architecture model and implementation may temporarily disagree because the change is incomplete.</a:t>
            </a:r>
          </a:p>
          <a:p>
            <a:r>
              <a:t>- No individual commit contains enough information to decide the completed-work obligation.</a:t>
            </a:r>
          </a:p>
          <a:p>
            <a:r>
              <a:t>- The correct response is not to weaken the obligation.</a:t>
            </a:r>
          </a:p>
          <a:p>
            <a:r>
              <a:t>- Move the check to the first boundary at which the obligation becomes decidable.</a:t>
            </a:r>
          </a:p>
          <a:p>
            <a:r>
              <a:t>- Earlier detection is usually cheaper, which is why we reach for it first; the constraint is what is decidable, not what is desirable.</a:t>
            </a:r>
          </a:p>
          <a:p>
            <a:r>
              <a:t>ANIMATION</a:t>
            </a:r>
          </a:p>
          <a:p>
            <a:r>
              <a:t>- Reveal individual commits.</a:t>
            </a:r>
          </a:p>
          <a:p>
            <a:r>
              <a:t>- Reveal "obligation not decidable at any individual commit."</a:t>
            </a:r>
          </a:p>
          <a:p>
            <a:r>
              <a:t>- Reveal COMPLETED UNIT OF WORK.</a:t>
            </a:r>
          </a:p>
          <a:p>
            <a:r>
              <a:t>- Reveal "obligation decidable here."</a:t>
            </a:r>
          </a:p>
          <a:p>
            <a:r>
              <a:t>- Reveal the upward movement of the check last.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Enough vocabulary.</a:t>
            </a:r>
          </a:p>
          <a:p>
            <a:r>
              <a:t>- Now use it.</a:t>
            </a:r>
          </a:p>
          <a:p>
            <a:r>
              <a:t>- You are going to receive explicit obligations and a model, and design the delegated process around them.</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Here is the concrete failure mode.</a:t>
            </a:r>
          </a:p>
          <a:p>
            <a:r>
              <a:t>- The obligation is legitimate: when the task is complete, code and architectural model must correspond.</a:t>
            </a:r>
          </a:p>
          <a:p>
            <a:r>
              <a:t>- Enforcing that obligation after every intermediate edit or commit rejects legitimate transitional states.</a:t>
            </a:r>
          </a:p>
          <a:p>
            <a:r>
              <a:t>- At merge, the task's work is assembled and the obligation can be evaluated.</a:t>
            </a:r>
          </a:p>
          <a:p>
            <a:r>
              <a:t>- Notice the distinction: the obligation was not wrong; its placement was wrong.</a:t>
            </a:r>
          </a:p>
          <a:p>
            <a:r>
              <a:t>- This is an Alignment design error, not a reason to abandon the property.</a:t>
            </a:r>
          </a:p>
          <a:p>
            <a:r>
              <a:t>ANIMATION</a:t>
            </a:r>
          </a:p>
          <a:p>
            <a:r>
              <a:t>- Reveal the obligation.</a:t>
            </a:r>
          </a:p>
          <a:p>
            <a:r>
              <a:t>- Reveal per-commit enforcement and the red X.</a:t>
            </a:r>
          </a:p>
          <a:p>
            <a:r>
              <a:t>- Reveal the consequence: legitimate intermediate states rejected.</a:t>
            </a:r>
          </a:p>
          <a:p>
            <a:r>
              <a:t>- Reveal merge and green check.</a:t>
            </a:r>
          </a:p>
          <a:p>
            <a:r>
              <a:t>- Reveal the final sentence last.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a:t>
            </a:r>
          </a:p>
          <a:p>
            <a:r>
              <a:t>- Give them an actual short break.</a:t>
            </a:r>
          </a:p>
          <a:p>
            <a:r>
              <a:t>- Resume by saying: so far, nothing we did required a SysML model, a state machine, or any other explicit engineering model.</a:t>
            </a:r>
          </a:p>
          <a:p>
            <a:r>
              <a:t>- That sets up the next section.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 setup + 8-10 minutes work</a:t>
            </a:r>
          </a:p>
          <a:p>
            <a:r>
              <a:t>- Scenario: an agent modifies an embedded controller — the SAME domain as the lab's sensor node, so read this as a continuation, not a new scenario.</a:t>
            </a:r>
          </a:p>
          <a:p>
            <a:r>
              <a:t>- Four obligations: API preservation, a memory bound, a forbidden dependency, and cycle ordering.</a:t>
            </a:r>
          </a:p>
          <a:p>
            <a:r>
              <a:t>- The model is given on the next slide. Do not spend the activity rediscovering it from implementation.</a:t>
            </a:r>
          </a:p>
          <a:p>
            <a:r>
              <a:t>- Your job is to design the delegated process and its controls.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activity continues</a:t>
            </a:r>
          </a:p>
          <a:p>
            <a:r>
              <a:t>- Leave this slide up while teams work. For each obligation, walk the same sequence, now grouped into three questions.</a:t>
            </a:r>
          </a:p>
          <a:p>
            <a:r>
              <a:t>- WHAT MUST HOLD: name the failure, state the obligation, and — new since the lab — ask what fact the model makes explicit, and whether you would validate it statically or dynamically.</a:t>
            </a:r>
          </a:p>
          <a:p>
            <a:r>
              <a:t>- HOW WILL WE KNOW: prevent or detect, what observation establishes it, and at which boundary enough information exists.</a:t>
            </a:r>
          </a:p>
          <a:p>
            <a:r>
              <a:t>- WHAT WILL IT CONTROL: which mechanism plays the role, and what authority the verdict carries.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4-5 minutes</a:t>
            </a:r>
          </a:p>
          <a:p>
            <a:r>
              <a:t>- Have two or three teams report a control they designed differently.</a:t>
            </a:r>
          </a:p>
          <a:p>
            <a:r>
              <a:t>- Do not search immediately for the one correct design. Compare the engineering tradeoffs.</a:t>
            </a:r>
          </a:p>
          <a:p>
            <a:r>
              <a:t>- If teams chose different boundaries for the same obligation, ask which boundary actually contains enough information.</a:t>
            </a:r>
          </a:p>
          <a:p>
            <a:r>
              <a:t>- If one team chose a constraint and another chose detection, ask whether the invalid state can cleanly be excluded.</a:t>
            </a:r>
          </a:p>
          <a:p>
            <a:r>
              <a:t>- If teams attach different consequences, ask whether this failure warrants blocking commit, PR, merge, deployment, or merely producing evidence.</a:t>
            </a:r>
          </a:p>
          <a:p>
            <a:r>
              <a:t>- Finally ask what work the explicit model saved. What would have had to be reconstructed from implementation otherwise?</a:t>
            </a:r>
          </a:p>
          <a:p>
            <a:r>
              <a:t>- The important thing is that the design is defensible against the failure model and obligation, not that everyone chose identical machinery.</a:t>
            </a:r>
          </a:p>
          <a:p>
            <a:r>
              <a:t>ANIMATION</a:t>
            </a:r>
          </a:p>
          <a:p>
            <a:r>
              <a:t>- Reveal comparison questions one at a time as they become relevant to student answers.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a:t>
            </a:r>
          </a:p>
          <a:p>
            <a:r>
              <a:t>- Everything so far could be done with tests, permissions, CI, repository state, and ordinary process controls.</a:t>
            </a:r>
          </a:p>
          <a:p>
            <a:r>
              <a:t>- We reasoned about obligations, evidence, validators, constraints, gates, and authority.</a:t>
            </a:r>
          </a:p>
          <a:p>
            <a:r>
              <a:t>- No explicit model was logically required.</a:t>
            </a:r>
          </a:p>
          <a:p>
            <a:r>
              <a:t>- So explicit modeling has to earn its cost.</a:t>
            </a:r>
          </a:p>
          <a:p>
            <a:r>
              <a:t>- What does it let us do better?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Ask the room before answering.</a:t>
            </a:r>
          </a:p>
          <a:p>
            <a:r>
              <a:t>- Look for answers about preserving knowledge, making relationships inspectable, enabling analysis, reducing repeated reconstruction, and separating what matters from what does not.</a:t>
            </a:r>
          </a:p>
          <a:p>
            <a:r>
              <a:t>- Push beyond "documentation." If the model is only documentation, it is not yet clear why Alignment cares.</a:t>
            </a:r>
          </a:p>
          <a:p>
            <a:r>
              <a:t>- Ask: what could a control do with a model that is difficult to do with prose or by repeatedly inspecting implementation?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A model preserves distinctions we have decided matter.</a:t>
            </a:r>
          </a:p>
          <a:p>
            <a:r>
              <a:t>- It exposes relationships that would otherwise need to be inferred.</a:t>
            </a:r>
          </a:p>
          <a:p>
            <a:r>
              <a:t>- It can deliberately leave realization choices open.</a:t>
            </a:r>
          </a:p>
          <a:p>
            <a:r>
              <a:t>- And because the information is explicit and structured, analyses can operate over it directly.</a:t>
            </a:r>
          </a:p>
          <a:p>
            <a:r>
              <a:t>- The key point is not that models contain more information than implementation.</a:t>
            </a:r>
          </a:p>
          <a:p>
            <a:r>
              <a:t>- The point is that they can contain the right engineering information in a form suited to the question.</a:t>
            </a:r>
          </a:p>
          <a:p>
            <a:r>
              <a:t>- Multiple analyses can then operate over the same explicit knowledge.</a:t>
            </a:r>
          </a:p>
          <a:p>
            <a:r>
              <a:t>ANIMATION</a:t>
            </a:r>
          </a:p>
          <a:p>
            <a:r>
              <a:t>- Reveal PRESERVE.</a:t>
            </a:r>
          </a:p>
          <a:p>
            <a:r>
              <a:t>- Reveal EXPOSE.</a:t>
            </a:r>
          </a:p>
          <a:p>
            <a:r>
              <a:t>- Reveal LEAVE OPEN.</a:t>
            </a:r>
          </a:p>
          <a:p>
            <a:r>
              <a:t>- Reveal ENABLE.</a:t>
            </a:r>
          </a:p>
          <a:p>
            <a:r>
              <a:t>- Reveal the concluding sentence last.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Once we have models, we need one more distinction — three different kinds of claim.</a:t>
            </a:r>
          </a:p>
          <a:p>
            <a:r>
              <a:t>- Correspondence: do two representations agree?</a:t>
            </a:r>
          </a:p>
          <a:p>
            <a:r>
              <a:t>- Conformance: does an artifact satisfy an independent obligation?</a:t>
            </a:r>
          </a:p>
          <a:p>
            <a:r>
              <a:t>- Acceptance: will the receiving environment accept the artifact?</a:t>
            </a:r>
          </a:p>
          <a:p>
            <a:r>
              <a:t>- A model and implementation can agree and both be wrong against the obligation. Evidence for one claim does not establish the others.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a:t>
            </a:r>
          </a:p>
          <a:p>
            <a:r>
              <a:t>- Specialize that distinction to model-based engineering.</a:t>
            </a:r>
          </a:p>
          <a:p>
            <a:r>
              <a:t>- Transition explicitly: those were three different kinds of engineering claim. Now specialize this to model-based engineering. We have three things that can disagree.</a:t>
            </a:r>
          </a:p>
          <a:p>
            <a:r>
              <a:t>- We now have an obligation, a model, and a realization.</a:t>
            </a:r>
          </a:p>
          <a:p>
            <a:r>
              <a:t>- Ask what claim each edge makes.</a:t>
            </a:r>
          </a:p>
          <a:p>
            <a:r>
              <a:t>- Does the model actually capture the obligation?</a:t>
            </a:r>
          </a:p>
          <a:p>
            <a:r>
              <a:t>- Does the realization satisfy the obligation?</a:t>
            </a:r>
          </a:p>
          <a:p>
            <a:r>
              <a:t>- Do model and realization correspond?</a:t>
            </a:r>
          </a:p>
          <a:p>
            <a:r>
              <a:t>- None of those edges establishes the other two.</a:t>
            </a:r>
          </a:p>
          <a:p>
            <a:r>
              <a:t>- This matters because model-driven development can otherwise create a false sense of assurance: we can become very good at keeping implementation synchronized with a bad model.</a:t>
            </a:r>
          </a:p>
          <a:p>
            <a:r>
              <a:t>- Correspondence is useful, but it is only one edge of the engineering argument.</a:t>
            </a:r>
          </a:p>
          <a:p>
            <a:r>
              <a:t>ANIMATION</a:t>
            </a:r>
          </a:p>
          <a:p>
            <a:r>
              <a:t>- Reveal OBLIGATION, MODEL, REALIZATION without edges if possible.</a:t>
            </a:r>
          </a:p>
          <a:p>
            <a:r>
              <a:t>- Reveal obligation-model question.</a:t>
            </a:r>
          </a:p>
          <a:p>
            <a:r>
              <a:t>- Reveal obligation-realization question.</a:t>
            </a:r>
          </a:p>
          <a:p>
            <a:r>
              <a:t>- Reveal model-realization question.</a:t>
            </a:r>
          </a:p>
          <a:p>
            <a:r>
              <a:t>- Ask "What evidence would establish each?" before revealing the closing sentence.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Return to the question from slide 1.</a:t>
            </a:r>
          </a:p>
          <a:p>
            <a:r>
              <a:t>- Modeling and Alignment solve different parts of the problem.</a:t>
            </a:r>
          </a:p>
          <a:p>
            <a:r>
              <a:t>- Modeling makes consequential engineering knowledge explicit while leaving irrelevant choices free.</a:t>
            </a:r>
          </a:p>
          <a:p>
            <a:r>
              <a:t>- Alignment decides which obligations have consequences in the engineered environment.</a:t>
            </a:r>
          </a:p>
          <a:p>
            <a:r>
              <a:t>- Then walk the reusable questions in order.</a:t>
            </a:r>
          </a:p>
          <a:p>
            <a:r>
              <a:t>- How can delegated work fail? Start with the failure model.</a:t>
            </a:r>
          </a:p>
          <a:p>
            <a:r>
              <a:t>- What must be true? State the obligation.</a:t>
            </a:r>
          </a:p>
          <a:p>
            <a:r>
              <a:t>- What evidence bears on it? Do not confuse activity with evidence.</a:t>
            </a:r>
          </a:p>
          <a:p>
            <a:r>
              <a:t>- Where can it be decided? Put the mechanism at a boundary with sufficient information.</a:t>
            </a:r>
          </a:p>
          <a:p>
            <a:r>
              <a:t>- How will it be evaluated? Identify the validator or equivalent judgment.</a:t>
            </a:r>
          </a:p>
          <a:p>
            <a:r>
              <a:t>- Should failure control what happens next? Decide the authority of the verdict.</a:t>
            </a:r>
          </a:p>
          <a:p>
            <a:r>
              <a:t>- That last question is what turns Validation into Alignment.</a:t>
            </a:r>
          </a:p>
          <a:p>
            <a:r>
              <a:t>- End there. Do not add another summary or slogan.</a:t>
            </a:r>
          </a:p>
          <a:p>
            <a:r>
              <a:t>ANIMATION</a:t>
            </a:r>
          </a:p>
          <a:p>
            <a:r>
              <a:t>- Reveal MODELING.</a:t>
            </a:r>
          </a:p>
          <a:p>
            <a:r>
              <a:t>- Reveal ALIGNMENT.</a:t>
            </a:r>
          </a:p>
          <a:p>
            <a:r>
              <a:t>- Reveal the reusable questions one at a time.</a:t>
            </a:r>
          </a:p>
          <a:p>
            <a:r>
              <a:t>- Leave the final question, "Should failure control what happens next?", as the last reveal and final image of the lecture.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Before we can control delegated work, we need to be precise about what we delegated.</a:t>
            </a:r>
          </a:p>
          <a:p>
            <a:r>
              <a:t>- This section builds one structure: delegation bounds two things — the task and the process.</a:t>
            </a:r>
          </a:p>
          <a:p>
            <a:r>
              <a:t>- Everything else in the section is an example of that structure.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bounded the task and the process. Either bound can be violated.</a:t>
            </a:r>
          </a:p>
          <a:p>
            <a:r>
              <a:t>- A violated task bound is a wrong RESULT. A violated process bound is a wrong PROCESS.</a:t>
            </a:r>
          </a:p>
          <a:p>
            <a:r>
              <a:t>- Different failures will require different kinds of control.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have just built a theory of Alignment without assuming explicit models.</a:t>
            </a:r>
          </a:p>
          <a:p>
            <a:r>
              <a:t>- This section asks what an explicit model contributes: models give validation mechanisms an explicit object to inspect.</a:t>
            </a:r>
          </a:p>
          <a:p>
            <a:r>
              <a:t>- We will use the two models the class built in the Modeling lab — not a new example.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We can now recognize the same move we made in the Modeling lecture.</a:t>
            </a:r>
          </a:p>
          <a:p>
            <a:r>
              <a:t>- The work order and environment define a model of the delegated process.</a:t>
            </a:r>
          </a:p>
          <a:p>
            <a:r>
              <a:t>- It has permitted actions, transitions, stopping conditions, and expected evidence.</a:t>
            </a:r>
          </a:p>
          <a:p>
            <a:r>
              <a:t>- Importantly, this is not a model of the agent's internal chain of thought.</a:t>
            </a:r>
          </a:p>
          <a:p>
            <a:r>
              <a:t>- We generally do not need to prescribe how the agent reasons internally.</a:t>
            </a:r>
          </a:p>
          <a:p>
            <a:r>
              <a:t>- We need enough external structure to reason about consequential behavior.</a:t>
            </a:r>
          </a:p>
          <a:p>
            <a:r>
              <a:t>- That gives us something against which failure can be defined.</a:t>
            </a:r>
          </a:p>
          <a:p>
            <a:r>
              <a:t>ANIMATION</a:t>
            </a:r>
          </a:p>
          <a:p>
            <a:r>
              <a:t>- Reveal the process sequence.</a:t>
            </a:r>
          </a:p>
          <a:p>
            <a:r>
              <a:t>- Reveal the four kinds of modeled information.</a:t>
            </a:r>
          </a:p>
          <a:p>
            <a:r>
              <a:t>- Reveal the final sentence about internal reasoning last.</a:t>
            </a:r>
          </a:p>
          <a:p>
            <a:r>
              <a:t>- This is the first Modeling callback of the lecture: the work order and environment DEFINE a model of the delegated process. We will lean on this in the models section.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now know what kinds of controls exist.</a:t>
            </a:r>
          </a:p>
          <a:p>
            <a:r>
              <a:t>- Next question: where should the control operate?</a:t>
            </a:r>
          </a:p>
          <a:p>
            <a:r>
              <a:t>- The answer depends on where enough information exists to decide the obligation.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90 seconds</a:t>
            </a:r>
          </a:p>
          <a:p>
            <a:r>
              <a:t>- First and most familiar: the artifact itself can violate an obligation.</a:t>
            </a:r>
          </a:p>
          <a:p>
            <a:r>
              <a:t>- We asked for bulk refunds while preserving existing client behavior. The new implementation changes response semantics.</a:t>
            </a:r>
          </a:p>
          <a:p>
            <a:r>
              <a:t>- The agent may have followed the requested process perfectly and still produced the wrong system.</a:t>
            </a:r>
          </a:p>
          <a:p>
            <a:r>
              <a:t>- This is ordinary artifact failure.</a:t>
            </a:r>
          </a:p>
          <a:p>
            <a:r>
              <a:t>- Examples include functional behavior, invariants, resource bounds, and compatibility obligations.</a:t>
            </a:r>
          </a:p>
          <a:p>
            <a:r>
              <a:t>ANIMATION</a:t>
            </a:r>
          </a:p>
          <a:p>
            <a:r>
              <a:t>- Reveal requirement.</a:t>
            </a:r>
          </a:p>
          <a:p>
            <a:r>
              <a:t>- Reveal the implementation change and X.</a:t>
            </a:r>
          </a:p>
          <a:p>
            <a:r>
              <a:t>- Reveal ARTIFACT FAILURE definition last.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90 seconds</a:t>
            </a:r>
          </a:p>
          <a:p>
            <a:r>
              <a:t>- A correct final artifact is not the only thing we care about.</a:t>
            </a:r>
          </a:p>
          <a:p>
            <a:r>
              <a:t>- The agent can modify files outside scope, replace an approved dependency, change the model instead of satisfying it, or weaken the test that exposes the defect.</a:t>
            </a:r>
          </a:p>
          <a:p>
            <a:r>
              <a:t>- Some of these actions might even lead to a final artifact that appears to pass.</a:t>
            </a:r>
          </a:p>
          <a:p>
            <a:r>
              <a:t>- That is why final-state validation is insufficient.</a:t>
            </a:r>
          </a:p>
          <a:p>
            <a:r>
              <a:t>- The path to the result can itself violate the work order.</a:t>
            </a:r>
          </a:p>
          <a:p>
            <a:r>
              <a:t>ANIMATION</a:t>
            </a:r>
          </a:p>
          <a:p>
            <a:r>
              <a:t>- Reveal examples one at a time.</a:t>
            </a:r>
          </a:p>
          <a:p>
            <a:r>
              <a:t>- Reveal SCOPE / PROCESS FAILURE after the examples.</a:t>
            </a:r>
          </a:p>
          <a:p>
            <a:r>
              <a:t>- Finish on "Final-state validation alone does not capture it."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90 seconds</a:t>
            </a:r>
          </a:p>
          <a:p>
            <a:r>
              <a:t>- Third failure: capability and authority are different.</a:t>
            </a:r>
          </a:p>
          <a:p>
            <a:r>
              <a:t>- We saw this distinction in Agents.</a:t>
            </a:r>
          </a:p>
          <a:p>
            <a:r>
              <a:t>- The agent may be technically capable of pushing, merging, or deploying. That does not mean we delegated all of those actions.</a:t>
            </a:r>
          </a:p>
          <a:p>
            <a:r>
              <a:t>- A useful agent often needs broad capability to perform local work.</a:t>
            </a:r>
          </a:p>
          <a:p>
            <a:r>
              <a:t>- Consequential actions can still require separate authority.</a:t>
            </a:r>
          </a:p>
          <a:p>
            <a:r>
              <a:t>- This distinction will become important when we introduce gates.</a:t>
            </a:r>
          </a:p>
          <a:p>
            <a:r>
              <a:t>ANIMATION</a:t>
            </a:r>
          </a:p>
          <a:p>
            <a:r>
              <a:t>- Reveal READ, MODIFY, COMMIT as permitted.</a:t>
            </a:r>
          </a:p>
          <a:p>
            <a:r>
              <a:t>- Reveal PUSH if appropriate to the intended work order.</a:t>
            </a:r>
          </a:p>
          <a:p>
            <a:r>
              <a:t>- Reveal MERGE and DEPLOY as prohibited.</a:t>
            </a:r>
          </a:p>
          <a:p>
            <a:r>
              <a:t>- Reveal "capability is not authority" last.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First content of the section: put the four failures against their engineering responses.</a:t>
            </a:r>
          </a:p>
          <a:p>
            <a:r>
              <a:t>- Wrong result: we need evidence about artifact properties.</a:t>
            </a:r>
          </a:p>
          <a:p>
            <a:r>
              <a:t>- Wrong process: we need to observe or constrain actions, not merely inspect the final state.</a:t>
            </a:r>
          </a:p>
          <a:p>
            <a:r>
              <a:t>- Excess authority and insufficient evidence are SPECIES of process failure. We keep them as separate rows because each leads to a distinct mechanism: authority restriction, and evidence-conditioned acceptance.</a:t>
            </a:r>
          </a:p>
          <a:p>
            <a:r>
              <a:t>- Each response names a control problem; the next slide names the roles that solve them.</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a:t>
            </a:r>
          </a:p>
          <a:p>
            <a:r>
              <a:t>- Same two kinds of model the class built in the lab: structural facts that support static checks, and a behavioral ordering that defines what to observe at runtime.</a:t>
            </a:r>
          </a:p>
          <a:p>
            <a:r>
              <a:t>- The structural side carries the API, the dependency facts (including the forbidden one), and the memory bound. The behavioral side carries the cycle ordering.</a:t>
            </a:r>
          </a:p>
          <a:p>
            <a:r>
              <a:t>- Teams should ask, per obligation, which side of the model makes the relevant fact explicit — that feeds the MODEL USE question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a:t>
            </a:r>
          </a:p>
          <a:p>
            <a:r>
              <a:t>- You saw this equation in Modeling. It describes the production problem: given the task, reasoner, representation, and harness, how likely is delegation to produce an acceptable result?</a:t>
            </a:r>
          </a:p>
          <a:p>
            <a:r>
              <a:t>- Last time we opened R. Modeling changes the representation available to the reasoner.</a:t>
            </a:r>
          </a:p>
          <a:p>
            <a:r>
              <a:t>- Today, notice one word we have mostly taken for granted: acceptable. What does that mean?</a:t>
            </a:r>
          </a:p>
          <a:p>
            <a:r>
              <a:t>- Then immediately: let's run the production system.</a:t>
            </a:r>
          </a:p>
          <a:p>
            <a:r>
              <a:t>- Advance to the vibe-coding exercise. Do not explain Alignment first; the students are about to experience the ambiguity in "acceptable" for themselves.</a:t>
            </a:r>
          </a:p>
          <a:p>
            <a:r>
              <a:t/>
            </a:r>
          </a:p>
          <a:p>
            <a:r>
              <a:t>ANIMATION</a:t>
            </a:r>
          </a:p>
          <a:p>
            <a:r>
              <a:t>- Reveal the equation exactly as remembered from Modeling.</a:t>
            </a:r>
          </a:p>
          <a:p>
            <a:r>
              <a:t>- Reveal the four definitions.</a:t>
            </a:r>
          </a:p>
          <a:p>
            <a:r>
              <a:t>- Reveal "What makes a result acceptable?" last, and leave it up as you advance.</a:t>
            </a:r>
          </a:p>
        </p:txBody>
      </p:sp>
    </p:spTree>
  </p:cSld>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Now return to where we started. The Master Equation asks about production: how likely is this delegation system to produce an acceptable candidate?</a:t>
            </a:r>
          </a:p>
          <a:p>
            <a:r>
              <a:t>- We absolutely care about this. Better models, better representations, better harnesses, and better work orders can raise this probability.</a:t>
            </a:r>
          </a:p>
          <a:p>
            <a:r>
              <a:t>- But reliable engineering cannot mean requiring every production attempt to succeed.</a:t>
            </a:r>
          </a:p>
          <a:p>
            <a:r>
              <a:t>- We need an engineered answer for the other cases too. What obligation applies? What evidence bears on it? Where can that evidence be obtained? What judgment follows? And what is that judgment permitted to control?</a:t>
            </a:r>
          </a:p>
          <a:p>
            <a:r>
              <a:t>- Connect back to the section just finished: even this control system has to respect information availability. We cannot attach a meaningful consequence to a verdict we cannot yet justify. That is why the boundary follows the property.</a:t>
            </a:r>
          </a:p>
          <a:p>
            <a:r>
              <a:t>- The conceptual payoff: production quality and Alignment are related, but they are not the same engineering problem. A better producer raises the probability that we get something acceptable. Alignment governs whether what was produced acquires consequences.</a:t>
            </a:r>
          </a:p>
          <a:p>
            <a:r>
              <a:t>- Callback to Agents: capability and authority are independent. Production asks what the delegation can produce. Alignment asks what produced work may cause.</a:t>
            </a:r>
          </a:p>
          <a:p>
            <a:r>
              <a:t>- Then stretch break. This is a good Act-II-halfway stopping point.</a:t>
            </a:r>
          </a:p>
          <a:p/>
          <a:p>
            <a:r>
              <a:t>ANIMATION</a:t>
            </a:r>
          </a:p>
          <a:p>
            <a:r>
              <a:t>- Reveal p(T,M,R,H) and the PRODUCTION label first.</a:t>
            </a:r>
          </a:p>
          <a:p>
            <a:r>
              <a:t>- Reveal CANDIDATE.</a:t>
            </a:r>
          </a:p>
          <a:p>
            <a:r>
              <a:t>- Reveal OBLIGATION, EVIDENCE, JUDGMENT, CONSEQUENCE one at a time.</a:t>
            </a:r>
          </a:p>
          <a:p>
            <a:r>
              <a:t>- Reveal the footer last.</a:t>
            </a:r>
          </a:p>
          <a:p>
            <a:r>
              <a:t>- The compressed form: production asks whether the agent can produce an acceptable candidate; alignment decides whether that candidate may be accepted, merged, deployed, or otherwise acted upon.</a:t>
            </a:r>
          </a:p>
        </p:txBody>
      </p:sp>
    </p:spTree>
  </p:cSld>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Section 1 bounded the task and the process. This slide says: either bound can be violated.</a:t>
            </a:r>
          </a:p>
          <a:p>
            <a:r>
              <a:t>- Wrong result: the artifact fails an obligation. Validation targets the artifact or system state.</a:t>
            </a:r>
          </a:p>
          <a:p>
            <a:r>
              <a:t>- Wrong process: the work was performed outside the delegated process. Validation targets actions, evidence, and authority.</a:t>
            </a:r>
          </a:p>
          <a:p>
            <a:r>
              <a:t>- The four slides that follow are examples of these two classes, not four new categories.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have a failure model. Now the engineering question: what should the environment do about each failure class?</a:t>
            </a:r>
          </a:p>
          <a:p>
            <a:r>
              <a:t>- This section names the control roles and connects verdicts to authority.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The four roles are not four stations in a fixed architecture, but they do compose into a recognizable pipeline.</a:t>
            </a:r>
          </a:p>
          <a:p>
            <a:r>
              <a:t>- An obligation enters at the top. The constraint narrows what the work may do at all.</a:t>
            </a:r>
          </a:p>
          <a:p>
            <a:r>
              <a:t>- The sensor produces evidence; the validator turns evidence into a verdict against the obligation; the gate turns the verdict into an admission decision.</a:t>
            </a:r>
          </a:p>
          <a:p>
            <a:r>
              <a:t>- Ask the class where a type checker sits in this picture. (It plays several roles — which is the point of the previous slide.)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These are the two models the class built in the Modeling lab: the sensor node with Sense, Analyze, and Transmit threads and a Scheduler.</a:t>
            </a:r>
          </a:p>
          <a:p>
            <a:r>
              <a:t>- Two purposeful reductions over ONE set of entities. The memory view knows what each thread costs and the 48 KB ceiling, and omits who decides that a thread may run. The control view knows who may be awake and who says so, and omits what running costs.</a:t>
            </a:r>
          </a:p>
          <a:p>
            <a:r>
              <a:t>- Neither model answers the budget question alone; the join is entity identity — Sense in one view IS Sense in the other.</a:t>
            </a:r>
          </a:p>
          <a:p>
            <a:r>
              <a:t>- Pose the footer question and DO NOT answer it immediately. Let them discuss.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Static validation: a verdict decided over the model itself, before any execution.</a:t>
            </a:r>
          </a:p>
          <a:p>
            <a:r>
              <a:t>- Ground each question in the lab. 'Can the memory bound be exceeded' is exactly the lab's budget query: peak working memory against the declared 48 KB ceiling — the query that reported 80 KB in Stage 1. 'Does every permitted route cross the required boundary' is the graph query that the Scheduler admits every thread. An illegal transition is one the lifecycle machines do not declare.</a:t>
            </a:r>
          </a:p>
          <a:p>
            <a:r>
              <a:t>- The payoff: once the structure is explicit, these stop being archaeology over code and become decidable queries.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The same model can define what a SENSOR must observe at runtime: the model states expected behavior; the trace is checked against it.</a:t>
            </a:r>
          </a:p>
          <a:p>
            <a:r>
              <a:t>- Ground it in the lab's lifecycle machines: every thread is Asleep or Awake, moved by admit and release events. Did an observed wake correspond to a declared transition? Did the awake count ever exceed two? Did working memory stay within its modeled 48 KB bound?</a:t>
            </a:r>
          </a:p>
          <a:p>
            <a:r>
              <a:t>- This prevents students from hearing 'model-based validation' as synonymous with static analysis.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One model, two validation strategies. Static verdicts are exhaustive over the modeled space and available before execution; dynamic verdicts are evidence about the runs you actually observed.</a:t>
            </a:r>
          </a:p>
          <a:p>
            <a:r>
              <a:t>- Close with the footer question — and notice it lands back in Alignment: a static verdict might gate merge; a runtime verdict might gate deployment or trigger rollback. Where a verdict acquires authority is an Alignment decision, not a modeling one.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2000" i="1" dirty="0"/>
              <a:t>ECE 30861 / CSCI 45000</a:t>
            </a:r>
            <a:endParaRPr lang="en-US" sz="2000" i="1" dirty="0"/>
          </a:p>
        </p:txBody>
      </p:sp>
      <p:sp>
        <p:nvSpPr>
          <p:cNvPr id="6" name="TitleBlock"/>
          <p:cNvSpPr txBox="1"/>
          <p:nvPr/>
        </p:nvSpPr>
        <p:spPr>
          <a:xfrm>
            <a:off x="219456" y="1371600"/>
            <a:ext cx="8695944" cy="2148840"/>
          </a:xfrm>
          <a:prstGeom prst="rect">
            <a:avLst/>
          </a:prstGeom>
          <a:noFill/>
        </p:spPr>
        <p:txBody>
          <a:bodyPr wrap="square" anchor="t">
            <a:spAutoFit/>
          </a:bodyPr>
          <a:lstStyle/>
          <a:p>
            <a:pPr algn="ctr"/>
            <a:r>
              <a:rPr sz="4000" b="1" i="0">
                <a:solidFill>
                  <a:srgbClr val="000000"/>
                </a:solidFill>
              </a:rPr>
              <a:t>Alignment</a:t>
            </a:r>
          </a:p>
          <a:p>
            <a:pPr algn="ctr">
              <a:spcBef>
                <a:spcPts val="1000"/>
              </a:spcBef>
            </a:pPr>
            <a:r>
              <a:rPr sz="2300" b="0" i="1">
                <a:solidFill>
                  <a:srgbClr val="8E6F3E"/>
                </a:solidFill>
              </a:rPr>
              <a:t>How do you know whether an agent</a:t>
            </a:r>
          </a:p>
          <a:p>
            <a:pPr algn="ctr"/>
            <a:r>
              <a:rPr sz="2300" b="0" i="1">
                <a:solidFill>
                  <a:srgbClr val="8E6F3E"/>
                </a:solidFill>
              </a:rPr>
              <a:t>is doing what you want?</a:t>
            </a:r>
          </a:p>
          <a:p>
            <a:pPr algn="ctr">
              <a:spcBef>
                <a:spcPts val="1000"/>
              </a:spcBef>
            </a:pPr>
            <a:r>
              <a:rPr sz="2000" b="0" i="1">
                <a:solidFill>
                  <a:srgbClr val="000000"/>
                </a:solidFill>
              </a:rPr>
              <a:t>Prof. James C. Davis</a:t>
            </a:r>
          </a:p>
          <a:p>
            <a:pPr algn="ctr"/>
            <a:r>
              <a:rPr sz="2000" b="0" i="1">
                <a:solidFill>
                  <a:srgbClr val="000000"/>
                </a:solidFill>
              </a:rPr>
              <a:t>Prof. Steve France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2400" b="0">
                <a:solidFill>
                  <a:srgbClr val="000000"/>
                </a:solidFill>
              </a:rPr>
              <a:t>The Master Equation</a:t>
            </a:r>
          </a:p>
        </p:txBody>
      </p:sp>
      <p:sp>
        <p:nvSpPr>
          <p:cNvPr id="3" name="Slide Number Placeholder 2"/>
          <p:cNvSpPr>
            <a:spLocks noGrp="1"/>
          </p:cNvSpPr>
          <p:nvPr>
            <p:ph type="sldNum" sz="quarter" idx="4"/>
          </p:nvPr>
        </p:nvSpPr>
        <p:spPr/>
        <p:txBody>
          <a:bodyPr/>
          <a:lstStyle/>
          <a:p>
            <a:fld id="{B7EB45DA-9A0D-DC49-8E02-F30A5DDC21C3}" type="slidenum">
              <a:rPr lang="en-US" smtClean="0"/>
              <a:t>2</a:t>
            </a:fld>
            <a:endParaRPr lang="en-US"/>
          </a:p>
        </p:txBody>
      </p:sp>
      <p:sp>
        <p:nvSpPr>
          <p:cNvPr id="11"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2000" b="0" i="1" dirty="0">
                <a:solidFill>
                  <a:srgbClr val="555960"/>
                </a:solidFill>
              </a:rPr>
              <a:t>the probability that delegation produces an acceptable result</a:t>
            </a:r>
          </a:p>
        </p:txBody>
      </p:sp>
      <p:sp>
        <p:nvSpPr>
          <p:cNvPr id="13" name="DefLine"/>
          <p:cNvSpPr txBox="1"/>
          <p:nvPr/>
        </p:nvSpPr>
        <p:spPr>
          <a:xfrm>
            <a:off x="274320" y="4023360"/>
            <a:ext cx="8595360" cy="365760"/>
          </a:xfrm>
          <a:prstGeom prst="rect">
            <a:avLst/>
          </a:prstGeom>
          <a:noFill/>
          <a:ln>
            <a:noFill/>
          </a:ln>
        </p:spPr>
        <p:txBody>
          <a:bodyPr wrap="square" lIns="0" tIns="0" rIns="0" bIns="0" anchor="ctr"/>
          <a:lstStyle/>
          <a:p>
            <a:pPr algn="ctr">
              <a:spcAft>
                <a:spcPts val="0"/>
              </a:spcAft>
              <a:buNone/>
            </a:pPr>
            <a:r>
              <a:rPr lang="en-US" sz="2000" b="1" i="1" dirty="0">
                <a:solidFill>
                  <a:srgbClr val="8E6F3E"/>
                </a:solidFill>
              </a:rPr>
              <a:t>T</a:t>
            </a:r>
            <a:r>
              <a:rPr lang="en-US" sz="2000" b="0" dirty="0">
                <a:solidFill>
                  <a:srgbClr val="555960"/>
                </a:solidFill>
              </a:rPr>
              <a:t xml:space="preserve"> task   ·   </a:t>
            </a:r>
            <a:r>
              <a:rPr lang="en-US" sz="2000" b="1" i="1" dirty="0">
                <a:solidFill>
                  <a:srgbClr val="8E6F3E"/>
                </a:solidFill>
              </a:rPr>
              <a:t>M</a:t>
            </a:r>
            <a:r>
              <a:rPr lang="en-US" sz="2000" b="0" dirty="0">
                <a:solidFill>
                  <a:srgbClr val="555960"/>
                </a:solidFill>
              </a:rPr>
              <a:t xml:space="preserve"> reasoning model   ·   </a:t>
            </a:r>
            <a:r>
              <a:rPr lang="en-US" sz="2000" b="1" i="1" dirty="0">
                <a:solidFill>
                  <a:srgbClr val="8E6F3E"/>
                </a:solidFill>
              </a:rPr>
              <a:t>R</a:t>
            </a:r>
            <a:r>
              <a:rPr lang="en-US" sz="2000" b="0" dirty="0">
                <a:solidFill>
                  <a:srgbClr val="555960"/>
                </a:solidFill>
              </a:rPr>
              <a:t xml:space="preserve"> representation   ·   </a:t>
            </a:r>
            <a:r>
              <a:rPr lang="en-US" sz="2000" b="1" i="1" dirty="0">
                <a:solidFill>
                  <a:srgbClr val="8E6F3E"/>
                </a:solidFill>
              </a:rPr>
              <a:t>H</a:t>
            </a:r>
            <a:r>
              <a:rPr lang="en-US" sz="2000" b="0" dirty="0">
                <a:solidFill>
                  <a:srgbClr val="555960"/>
                </a:solidFill>
              </a:rPr>
              <a:t xml:space="preserve"> harness/process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What makes a result acceptable?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Vibe code a todo list</a:t>
            </a:r>
          </a:p>
        </p:txBody>
      </p:sp>
      <p:sp>
        <p:nvSpPr>
          <p:cNvPr id="4" name="Instruction"/>
          <p:cNvSpPr txBox="1"/>
          <p:nvPr/>
        </p:nvSpPr>
        <p:spPr>
          <a:xfrm>
            <a:off x="274320" y="850000"/>
            <a:ext cx="8595360" cy="411480"/>
          </a:xfrm>
          <a:prstGeom prst="rect">
            <a:avLst/>
          </a:prstGeom>
          <a:noFill/>
        </p:spPr>
        <p:txBody>
          <a:bodyPr wrap="square" anchor="t">
            <a:spAutoFit/>
          </a:bodyPr>
          <a:lstStyle/>
          <a:p>
            <a:pPr algn="l"/>
            <a:r>
              <a:rPr sz="2000" b="1" i="0">
                <a:solidFill>
                  <a:srgbClr val="8E6F3E"/>
                </a:solidFill>
              </a:rPr>
              <a:t>Open Claude Code. Give it the following task.</a:t>
            </a:r>
          </a:p>
        </p:txBody>
      </p:sp>
      <p:sp>
        <p:nvSpPr>
          <p:cNvPr id="5" name="PromptBlock"/>
          <p:cNvSpPr/>
          <p:nvPr/>
        </p:nvSpPr>
        <p:spPr>
          <a:xfrm>
            <a:off x="502920" y="1350000"/>
            <a:ext cx="8138160" cy="35000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91440" bIns="91440"/>
          <a:lstStyle/>
          <a:p>
            <a:pPr algn="l"/>
            <a:r>
              <a:rPr sz="2000" b="0" i="0">
                <a:solidFill>
                  <a:srgbClr val="5C4826"/>
                </a:solidFill>
                <a:latin typeface="Consolas"/>
              </a:rPr>
              <a:t>Create a todo-list web application and make it available at localhost. A user should be able to add a todo item, mark an item complete, edit an existing item, and delete an item. The list should survive a browser refresh. Give the application a clean, usable interface with a text field for adding items and a visible list of current todos. Use whatever implementation approach you think is appropriate. When you are finished, start the application so that I can use it in my browser.</a:t>
            </a:r>
          </a:p>
        </p:txBody>
      </p:sp>
      <p:sp>
        <p:nvSpPr>
          <p:cNvPr id="6" name="Rules"/>
          <p:cNvSpPr txBox="1"/>
          <p:nvPr/>
        </p:nvSpPr>
        <p:spPr>
          <a:xfrm>
            <a:off x="502920" y="4950000"/>
            <a:ext cx="8138160" cy="777240"/>
          </a:xfrm>
          <a:prstGeom prst="rect">
            <a:avLst/>
          </a:prstGeom>
          <a:noFill/>
        </p:spPr>
        <p:txBody>
          <a:bodyPr wrap="square" anchor="t">
            <a:spAutoFit/>
          </a:bodyPr>
          <a:lstStyle/>
          <a:p>
            <a:pPr algn="l"/>
            <a:r>
              <a:rPr sz="2000" b="0" i="0">
                <a:solidFill>
                  <a:srgbClr val="555960"/>
                </a:solidFill>
              </a:rPr>
              <a:t>Examine the result and refine it as needed.</a:t>
            </a:r>
          </a:p>
        </p:txBody>
      </p:sp>
      <p:sp>
        <p:nvSpPr>
          <p:cNvPr id="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You have 5-10 minutes. Give it a whirl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Does it work?</a:t>
            </a:r>
          </a:p>
        </p:txBody>
      </p:sp>
      <p:sp>
        <p:nvSpPr>
          <p:cNvPr id="4" name="OpenIt"/>
          <p:cNvSpPr txBox="1"/>
          <p:nvPr/>
        </p:nvSpPr>
        <p:spPr>
          <a:xfrm>
            <a:off x="274320" y="2103120"/>
            <a:ext cx="8595360" cy="1188720"/>
          </a:xfrm>
          <a:prstGeom prst="rect">
            <a:avLst/>
          </a:prstGeom>
          <a:noFill/>
        </p:spPr>
        <p:txBody>
          <a:bodyPr wrap="square" anchor="t">
            <a:spAutoFit/>
          </a:bodyPr>
          <a:lstStyle/>
          <a:p>
            <a:pPr algn="ctr"/>
            <a:r>
              <a:rPr sz="2800" b="0" i="0">
                <a:solidFill>
                  <a:srgbClr val="5C4826"/>
                </a:solidFill>
              </a:rPr>
              <a:t>Open the application in your browser.</a:t>
            </a:r>
          </a:p>
          <a:p>
            <a:pPr algn="ctr"/>
            <a:r>
              <a:rPr sz="1400" b="0" i="0">
                <a:solidFill>
                  <a:srgbClr val="5C4826"/>
                </a:solidFill>
              </a:rPr>
              <a:t/>
            </a:r>
          </a:p>
          <a:p>
            <a:pPr algn="ctr"/>
            <a:r>
              <a:rPr sz="3200" b="1" i="0">
                <a:solidFill>
                  <a:srgbClr val="5C4826"/>
                </a:solidFill>
              </a:rPr>
              <a:t>Does it work?</a:t>
            </a:r>
          </a:p>
        </p:txBody>
      </p:sp>
      <p:sp>
        <p:nvSpPr>
          <p:cNvPr id="5" name="Reveal"/>
          <p:cNvSpPr txBox="1"/>
          <p:nvPr/>
        </p:nvSpPr>
        <p:spPr>
          <a:xfrm>
            <a:off x="274320" y="4389120"/>
            <a:ext cx="8595360" cy="411480"/>
          </a:xfrm>
          <a:prstGeom prst="rect">
            <a:avLst/>
          </a:prstGeom>
          <a:noFill/>
        </p:spPr>
        <p:txBody>
          <a:bodyPr wrap="square" anchor="t">
            <a:spAutoFit/>
          </a:bodyPr>
          <a:lstStyle/>
          <a:p>
            <a:pPr algn="ctr"/>
            <a:r>
              <a:rPr sz="2000" b="1" i="0">
                <a:solidFill>
                  <a:srgbClr val="8E6F3E"/>
                </a:solidFill>
              </a:rPr>
              <a:t>What did you check before answering?</a:t>
            </a:r>
          </a:p>
        </p:txBody>
      </p:sp>
      <p:sp>
        <p:nvSpPr>
          <p:cNvPr id="6" name="Checks"/>
          <p:cNvSpPr txBox="1"/>
          <p:nvPr/>
        </p:nvSpPr>
        <p:spPr>
          <a:xfrm>
            <a:off x="274320" y="4892040"/>
            <a:ext cx="8595360" cy="731520"/>
          </a:xfrm>
          <a:prstGeom prst="rect">
            <a:avLst/>
          </a:prstGeom>
          <a:noFill/>
        </p:spPr>
        <p:txBody>
          <a:bodyPr wrap="square" anchor="t">
            <a:spAutoFit/>
          </a:bodyPr>
          <a:lstStyle/>
          <a:p>
            <a:pPr algn="ctr"/>
            <a:r>
              <a:rPr sz="2000" b="0" i="1">
                <a:solidFill>
                  <a:srgbClr val="555960"/>
                </a:solidFill>
              </a:rPr>
              <a:t>adding · editing · deleting · persistence · appearance · console errors · refresh · multiple tabs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Validation meets Delegation</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640080" y="1188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VALIDATION</a:t>
            </a:r>
          </a:p>
        </p:txBody>
      </p:sp>
      <p:sp>
        <p:nvSpPr>
          <p:cNvPr id="6" name="TextBox 5"/>
          <p:cNvSpPr txBox="1"/>
          <p:nvPr/>
        </p:nvSpPr>
        <p:spPr>
          <a:xfrm>
            <a:off x="3108960" y="1389888"/>
            <a:ext cx="5760720" cy="822960"/>
          </a:xfrm>
          <a:prstGeom prst="rect">
            <a:avLst/>
          </a:prstGeom>
          <a:noFill/>
        </p:spPr>
        <p:txBody>
          <a:bodyPr wrap="square" anchor="t">
            <a:spAutoFit/>
          </a:bodyPr>
          <a:lstStyle/>
          <a:p>
            <a:pPr algn="l"/>
            <a:r>
              <a:rPr sz="2000" b="0" i="1">
                <a:solidFill>
                  <a:srgbClr val="555960"/>
                </a:solidFill>
              </a:rPr>
              <a:t>When does evidence justify action?</a:t>
            </a:r>
          </a:p>
        </p:txBody>
      </p:sp>
      <p:sp>
        <p:nvSpPr>
          <p:cNvPr id="7" name="Rectangle 6"/>
          <p:cNvSpPr/>
          <p:nvPr/>
        </p:nvSpPr>
        <p:spPr>
          <a:xfrm>
            <a:off x="640080" y="2331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DELEGATION</a:t>
            </a:r>
          </a:p>
        </p:txBody>
      </p:sp>
      <p:sp>
        <p:nvSpPr>
          <p:cNvPr id="8" name="TextBox 7"/>
          <p:cNvSpPr txBox="1"/>
          <p:nvPr/>
        </p:nvSpPr>
        <p:spPr>
          <a:xfrm>
            <a:off x="3108960" y="2532888"/>
            <a:ext cx="5760720" cy="822960"/>
          </a:xfrm>
          <a:prstGeom prst="rect">
            <a:avLst/>
          </a:prstGeom>
          <a:noFill/>
        </p:spPr>
        <p:txBody>
          <a:bodyPr wrap="square" anchor="t">
            <a:spAutoFit/>
          </a:bodyPr>
          <a:lstStyle/>
          <a:p>
            <a:pPr algn="l"/>
            <a:r>
              <a:rPr sz="2000" b="0" i="1">
                <a:solidFill>
                  <a:srgbClr val="555960"/>
                </a:solidFill>
              </a:rPr>
              <a:t>What action may the agent take?</a:t>
            </a:r>
          </a:p>
        </p:txBody>
      </p:sp>
      <p:sp>
        <p:nvSpPr>
          <p:cNvPr id="9" name="Rectangle 8"/>
          <p:cNvSpPr/>
          <p:nvPr/>
        </p:nvSpPr>
        <p:spPr>
          <a:xfrm>
            <a:off x="640080" y="34747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ALIGNMENT</a:t>
            </a:r>
          </a:p>
        </p:txBody>
      </p:sp>
      <p:sp>
        <p:nvSpPr>
          <p:cNvPr id="10" name="TextBox 9"/>
          <p:cNvSpPr txBox="1"/>
          <p:nvPr/>
        </p:nvSpPr>
        <p:spPr>
          <a:xfrm>
            <a:off x="3108960" y="3474720"/>
            <a:ext cx="5760720" cy="822960"/>
          </a:xfrm>
          <a:prstGeom prst="rect">
            <a:avLst/>
          </a:prstGeom>
          <a:noFill/>
        </p:spPr>
        <p:txBody>
          <a:bodyPr wrap="square" anchor="t">
            <a:spAutoFit/>
          </a:bodyPr>
          <a:lstStyle/>
          <a:p>
            <a:pPr algn="l"/>
            <a:r>
              <a:rPr sz="2000" b="0" i="1">
                <a:solidFill>
                  <a:srgbClr val="8E6F3E"/>
                </a:solidFill>
              </a:rPr>
              <a:t>When should an engineering judgment control what the agent — or the environment — is permitted to do?</a:t>
            </a:r>
          </a:p>
        </p:txBody>
      </p:sp>
      <p:sp>
        <p:nvSpPr>
          <p:cNvPr id="12" name="FooterBand"/>
          <p:cNvSpPr/>
          <p:nvPr/>
        </p:nvSpPr>
        <p:spPr>
          <a:xfrm>
            <a:off x="274320" y="5605272"/>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Alignment connects a validation judgment</a:t>
            </a:r>
          </a:p>
          <a:p>
            <a:pPr algn="ctr"/>
            <a:r>
              <a:rPr sz="2000" b="1" i="0">
                <a:solidFill>
                  <a:srgbClr val="FFFFFF"/>
                </a:solidFill>
              </a:rPr>
              <a:t>to what the environment permits.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Bounding delegated work</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about the task and process must the engineer control?</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Delegation bounds the task and the process</a:t>
            </a:r>
          </a:p>
        </p:txBody>
      </p:sp>
      <p:sp>
        <p:nvSpPr>
          <p:cNvPr id="6" name="FooterBand"/>
          <p:cNvSpPr/>
          <p:nvPr/>
        </p:nvSpPr>
        <p:spPr>
          <a:xfrm>
            <a:off x="274320" y="5760720"/>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r>
              <a:rPr sz="2000" b="1" i="0">
                <a:solidFill>
                  <a:srgbClr val="FFFFFF"/>
                </a:solidFill>
              </a:rPr>
              <a:t>The task constrains the result.</a:t>
            </a:r>
          </a:p>
          <a:p>
            <a:r>
              <a:rPr sz="2000" b="1" i="0">
                <a:solidFill>
                  <a:srgbClr val="FFFFFF"/>
                </a:solidFill>
              </a:rPr>
              <a:t>The process constrains how the result may be produced.</a:t>
            </a:r>
          </a:p>
        </p:txBody>
      </p:sp>
      <p:sp>
        <p:nvSpPr>
          <p:cNvPr id="0" name="Taxo-TASK"/>
          <p:cNvSpPr/>
          <p:nvPr/>
        </p:nvSpPr>
        <p:spPr>
          <a:xfrm>
            <a:off x="502920" y="1051560"/>
            <a:ext cx="3977639" cy="432216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BOUND THE TASK</a:t>
            </a:r>
          </a:p>
          <a:p>
            <a:pPr algn="l">
              <a:spcBef>
                <a:spcPts val="900"/>
              </a:spcBef>
              <a:buNone/>
            </a:pPr>
            <a:r>
              <a:rPr lang="en-US" sz="2000" b="0" i="0" dirty="0">
                <a:solidFill>
                  <a:srgbClr val="5C4826"/>
                </a:solidFill>
              </a:rPr>
              <a:t>What outcome is required?</a:t>
            </a:r>
          </a:p>
          <a:p>
            <a:pPr algn="l">
              <a:spcBef>
                <a:spcPts val="900"/>
              </a:spcBef>
              <a:buNone/>
            </a:pPr>
            <a:r>
              <a:rPr lang="en-US" sz="2000" b="0" i="0" dirty="0">
                <a:solidFill>
                  <a:srgbClr val="5C4826"/>
                </a:solidFill>
              </a:rPr>
              <a:t>What must remain true?</a:t>
            </a:r>
          </a:p>
          <a:p>
            <a:pPr algn="l">
              <a:spcBef>
                <a:spcPts val="900"/>
              </a:spcBef>
              <a:buNone/>
            </a:pPr>
            <a:r>
              <a:rPr lang="en-US" sz="2000" b="0" i="0" dirty="0">
                <a:solidFill>
                  <a:srgbClr val="5C4826"/>
                </a:solidFill>
              </a:rPr>
              <a:t>What is out of scope?</a:t>
            </a:r>
          </a:p>
          <a:p>
            <a:pPr algn="l">
              <a:spcBef>
                <a:spcPts val="900"/>
              </a:spcBef>
              <a:buNone/>
            </a:pPr>
            <a:r>
              <a:rPr lang="en-US" sz="2000" b="0" i="0" dirty="0">
                <a:solidFill>
                  <a:srgbClr val="5C4826"/>
                </a:solidFill>
              </a:rPr>
              <a:t>What freedom remains?</a:t>
            </a:r>
          </a:p>
        </p:txBody>
      </p:sp>
      <p:sp>
        <p:nvSpPr>
          <p:cNvPr id="0" name="Taxo-CESS"/>
          <p:cNvSpPr/>
          <p:nvPr/>
        </p:nvSpPr>
        <p:spPr>
          <a:xfrm>
            <a:off x="4663440" y="1051560"/>
            <a:ext cx="3977639" cy="432216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BOUND THE PROCESS</a:t>
            </a:r>
          </a:p>
          <a:p>
            <a:pPr algn="l">
              <a:spcBef>
                <a:spcPts val="900"/>
              </a:spcBef>
              <a:buNone/>
            </a:pPr>
            <a:r>
              <a:rPr lang="en-US" sz="2000" b="0" i="0" dirty="0">
                <a:solidFill>
                  <a:srgbClr val="5C4826"/>
                </a:solidFill>
              </a:rPr>
              <a:t>Where may the agent work?</a:t>
            </a:r>
          </a:p>
          <a:p>
            <a:pPr algn="l">
              <a:spcBef>
                <a:spcPts val="900"/>
              </a:spcBef>
              <a:buNone/>
            </a:pPr>
            <a:r>
              <a:rPr lang="en-US" sz="2000" b="0" i="0" dirty="0">
                <a:solidFill>
                  <a:srgbClr val="5C4826"/>
                </a:solidFill>
              </a:rPr>
              <a:t>What may it change?</a:t>
            </a:r>
          </a:p>
          <a:p>
            <a:pPr algn="l">
              <a:spcBef>
                <a:spcPts val="900"/>
              </a:spcBef>
              <a:buNone/>
            </a:pPr>
            <a:r>
              <a:rPr lang="en-US" sz="2000" b="0" i="0" dirty="0">
                <a:solidFill>
                  <a:srgbClr val="5C4826"/>
                </a:solidFill>
              </a:rPr>
              <a:t>What must it inspect or check?</a:t>
            </a:r>
          </a:p>
          <a:p>
            <a:pPr algn="l">
              <a:spcBef>
                <a:spcPts val="900"/>
              </a:spcBef>
              <a:buNone/>
            </a:pPr>
            <a:r>
              <a:rPr lang="en-US" sz="2000" b="0" i="0" dirty="0">
                <a:solidFill>
                  <a:srgbClr val="5C4826"/>
                </a:solidFill>
              </a:rPr>
              <a:t>When is the work complete?</a:t>
            </a:r>
          </a:p>
          <a:p>
            <a:pPr algn="l">
              <a:spcBef>
                <a:spcPts val="900"/>
              </a:spcBef>
              <a:buNone/>
            </a:pPr>
            <a:r>
              <a:rPr lang="en-US" sz="2000" b="0" i="0" dirty="0">
                <a:solidFill>
                  <a:srgbClr val="5C4826"/>
                </a:solidFill>
              </a:rPr>
              <a:t>What actions require separate authority?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A real agent gets a work environment</a:t>
            </a:r>
          </a:p>
        </p:txBody>
      </p:sp>
      <p:sp>
        <p:nvSpPr>
          <p:cNvPr id="4" name="WorkOrder"/>
          <p:cNvSpPr/>
          <p:nvPr/>
        </p:nvSpPr>
        <p:spPr>
          <a:xfrm>
            <a:off x="3566160" y="914400"/>
            <a:ext cx="201168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WORK ORDER</a:t>
            </a:r>
          </a:p>
        </p:txBody>
      </p:sp>
      <p:cxnSp>
        <p:nvCxnSpPr>
          <p:cNvPr id="5" name="Connector 4"/>
          <p:cNvCxnSpPr/>
          <p:nvPr/>
        </p:nvCxnSpPr>
        <p:spPr>
          <a:xfrm>
            <a:off x="4572000" y="1417320"/>
            <a:ext cx="0" cy="301752"/>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 name="Worktree"/>
          <p:cNvSpPr/>
          <p:nvPr/>
        </p:nvSpPr>
        <p:spPr>
          <a:xfrm>
            <a:off x="1097280" y="1737360"/>
            <a:ext cx="6949440" cy="2240280"/>
          </a:xfrm>
          <a:prstGeom prst="rect">
            <a:avLst/>
          </a:prstGeom>
          <a:noFill/>
          <a:ln w="1905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200" b="0" i="0">
                <a:solidFill>
                  <a:srgbClr val="5C4826"/>
                </a:solidFill>
              </a:rPr>
              <a:t/>
            </a:r>
          </a:p>
        </p:txBody>
      </p:sp>
      <p:sp>
        <p:nvSpPr>
          <p:cNvPr id="7" name="WorktreeLabel"/>
          <p:cNvSpPr txBox="1"/>
          <p:nvPr/>
        </p:nvSpPr>
        <p:spPr>
          <a:xfrm>
            <a:off x="1234440" y="1810512"/>
            <a:ext cx="1828800" cy="365760"/>
          </a:xfrm>
          <a:prstGeom prst="rect">
            <a:avLst/>
          </a:prstGeom>
          <a:noFill/>
        </p:spPr>
        <p:txBody>
          <a:bodyPr wrap="square" anchor="t">
            <a:spAutoFit/>
          </a:bodyPr>
          <a:lstStyle/>
          <a:p>
            <a:pPr algn="l"/>
            <a:r>
              <a:rPr sz="2000" b="1" i="0">
                <a:solidFill>
                  <a:srgbClr val="8E6F3E"/>
                </a:solidFill>
              </a:rPr>
              <a:t>WORKTREE</a:t>
            </a:r>
          </a:p>
        </p:txBody>
      </p:sp>
      <p:sp>
        <p:nvSpPr>
          <p:cNvPr id="8" name="EnvRepo"/>
          <p:cNvSpPr/>
          <p:nvPr/>
        </p:nvSpPr>
        <p:spPr>
          <a:xfrm>
            <a:off x="1463040" y="2212848"/>
            <a:ext cx="1737360" cy="53035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repository</a:t>
            </a:r>
          </a:p>
        </p:txBody>
      </p:sp>
      <p:sp>
        <p:nvSpPr>
          <p:cNvPr id="9" name="EnvTools"/>
          <p:cNvSpPr/>
          <p:nvPr/>
        </p:nvSpPr>
        <p:spPr>
          <a:xfrm>
            <a:off x="3703320" y="2212848"/>
            <a:ext cx="1737360" cy="53035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tools</a:t>
            </a:r>
          </a:p>
        </p:txBody>
      </p:sp>
      <p:sp>
        <p:nvSpPr>
          <p:cNvPr id="10" name="EnvContext"/>
          <p:cNvSpPr/>
          <p:nvPr/>
        </p:nvSpPr>
        <p:spPr>
          <a:xfrm>
            <a:off x="5943600" y="2212848"/>
            <a:ext cx="1737360" cy="53035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context</a:t>
            </a:r>
          </a:p>
        </p:txBody>
      </p:sp>
      <p:sp>
        <p:nvSpPr>
          <p:cNvPr id="11" name="EnvAgent"/>
          <p:cNvSpPr/>
          <p:nvPr/>
        </p:nvSpPr>
        <p:spPr>
          <a:xfrm>
            <a:off x="3703320" y="3218688"/>
            <a:ext cx="1737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AGENT</a:t>
            </a:r>
          </a:p>
        </p:txBody>
      </p:sp>
      <p:cxnSp>
        <p:nvCxnSpPr>
          <p:cNvPr id="12" name="Connector 11"/>
          <p:cNvCxnSpPr/>
          <p:nvPr/>
        </p:nvCxnSpPr>
        <p:spPr>
          <a:xfrm>
            <a:off x="2331720" y="2743200"/>
            <a:ext cx="1554480" cy="512064"/>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572000" y="2743200"/>
            <a:ext cx="0" cy="475488"/>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5257800" y="2743200"/>
            <a:ext cx="1554480" cy="512064"/>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572000" y="3785615"/>
            <a:ext cx="0" cy="420625"/>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Proposed"/>
          <p:cNvSpPr/>
          <p:nvPr/>
        </p:nvSpPr>
        <p:spPr>
          <a:xfrm>
            <a:off x="3566160" y="4224528"/>
            <a:ext cx="2011680" cy="47548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proposed change</a:t>
            </a:r>
          </a:p>
        </p:txBody>
      </p:sp>
      <p:cxnSp>
        <p:nvCxnSpPr>
          <p:cNvPr id="17" name="Connector 16"/>
          <p:cNvCxnSpPr/>
          <p:nvPr/>
        </p:nvCxnSpPr>
        <p:spPr>
          <a:xfrm>
            <a:off x="4572000" y="4700016"/>
            <a:ext cx="0" cy="292608"/>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CommitPR"/>
          <p:cNvSpPr/>
          <p:nvPr/>
        </p:nvSpPr>
        <p:spPr>
          <a:xfrm>
            <a:off x="3566160" y="5010912"/>
            <a:ext cx="2011680" cy="47548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 / PR</a:t>
            </a:r>
          </a:p>
        </p:txBody>
      </p:sp>
      <p:sp>
        <p:nvSpPr>
          <p:cNvPr id="19" name="EnvCaption"/>
          <p:cNvSpPr txBox="1"/>
          <p:nvPr/>
        </p:nvSpPr>
        <p:spPr>
          <a:xfrm>
            <a:off x="274320" y="5559552"/>
            <a:ext cx="8595360" cy="365760"/>
          </a:xfrm>
          <a:prstGeom prst="rect">
            <a:avLst/>
          </a:prstGeom>
          <a:noFill/>
        </p:spPr>
        <p:txBody>
          <a:bodyPr wrap="square" anchor="t">
            <a:spAutoFit/>
          </a:bodyPr>
          <a:lstStyle/>
          <a:p>
            <a:pPr algn="ctr"/>
            <a:r>
              <a:rPr sz="2000" b="0" i="1">
                <a:solidFill>
                  <a:srgbClr val="555960"/>
                </a:solidFill>
              </a:rPr>
              <a:t>Git worktree · branch · issue · repository instructions · tools · tests · CI · PR</a:t>
            </a:r>
          </a:p>
        </p:txBody>
      </p:sp>
      <p:sp>
        <p:nvSpPr>
          <p:cNvPr id="0" name="ExampleKicker"/>
          <p:cNvSpPr/>
          <p:nvPr/>
        </p:nvSpPr>
        <p:spPr>
          <a:xfrm>
            <a:off x="5349240" y="205000"/>
            <a:ext cx="3520440" cy="470000"/>
          </a:xfrm>
          <a:prstGeom prst="roundRect">
            <a:avLst/>
          </a:prstGeom>
          <a:solidFill>
            <a:srgbClr val="FBF8F2"/>
          </a:solidFill>
          <a:ln w="15875">
            <a:solidFill>
              <a:srgbClr val="8E6F3E"/>
            </a:solidFill>
          </a:ln>
          <a:effectLst/>
        </p:spPr>
        <p:txBody>
          <a:bodyPr rtlCol="0" anchor="ctr" wrap="square" lIns="27432" rIns="27432" tIns="22860" bIns="22860"/>
          <a:lstStyle/>
          <a:p>
            <a:pPr algn="ctr">
              <a:buNone/>
            </a:pPr>
            <a:r>
              <a:rPr lang="en-US" sz="2000" b="1" i="0" dirty="0">
                <a:solidFill>
                  <a:srgbClr val="8E6F3E"/>
                </a:solidFill>
              </a:rPr>
              <a:t>EXAMPLE · PROCESS BOUNDS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Give it a work order</a:t>
            </a:r>
          </a:p>
        </p:txBody>
      </p:sp>
      <p:graphicFrame>
        <p:nvGraphicFramePr>
          <p:cNvPr id="4" name="WorkOrderTable"/>
          <p:cNvGraphicFramePr>
            <a:graphicFrameLocks noGrp="1"/>
          </p:cNvGraphicFramePr>
          <p:nvPr/>
        </p:nvGraphicFramePr>
        <p:xfrm>
          <a:off x="502920" y="1005840"/>
          <a:ext cx="6492240" cy="5029200"/>
        </p:xfrm>
        <a:graphic>
          <a:graphicData uri="http://schemas.openxmlformats.org/drawingml/2006/table">
            <a:tbl>
              <a:tblPr>
                <a:tableStyleId>{5C22544A-7EE6-4342-B048-85BDC9FD1C3A}</a:tableStyleId>
              </a:tblPr>
              <a:tblGrid>
                <a:gridCol w="1463040"/>
                <a:gridCol w="5029200"/>
              </a:tblGrid>
              <a:tr h="548640">
                <a:tc gridSpan="2">
                  <a:txBody>
                    <a:bodyPr wrap="square" anchor="ctr"/>
                    <a:lstStyle/>
                    <a:p>
                      <a:pPr algn="ctr"/>
                      <a:r>
                        <a:rPr sz="2000" b="1" i="0">
                          <a:solidFill>
                            <a:srgbClr val="FFFFFF"/>
                          </a:solidFill>
                        </a:rPr>
                        <a:t>WORK ORDER: Bulk refunds</a:t>
                      </a:r>
                    </a:p>
                  </a:txBody>
                  <a:tcPr anchor="ctr" marL="68580" marR="45720" marT="27432" marB="27432">
                    <a:solidFill>
                      <a:srgbClr val="8E6F3E"/>
                    </a:solidFill>
                  </a:tcPr>
                </a:tc>
                <a:tc hMerge="1">
                  <a:txBody>
                    <a:bodyPr/>
                    <a:lstStyle/>
                    <a:p/>
                  </a:txBody>
                  <a:tcPr/>
                </a:tc>
              </a:tr>
              <a:tr h="640080">
                <a:tc>
                  <a:txBody>
                    <a:bodyPr wrap="square" anchor="ctr"/>
                    <a:lstStyle/>
                    <a:p>
                      <a:pPr algn="l"/>
                      <a:r>
                        <a:rPr sz="2000" b="1" i="0">
                          <a:solidFill>
                            <a:srgbClr val="5C4826"/>
                          </a:solidFill>
                        </a:rPr>
                        <a:t>Goal</a:t>
                      </a:r>
                    </a:p>
                  </a:txBody>
                  <a:tcPr anchor="ctr" marL="68580" marR="45720" marT="27432" marB="27432">
                    <a:solidFill>
                      <a:srgbClr val="F5F1E8"/>
                    </a:solidFill>
                  </a:tcPr>
                </a:tc>
                <a:tc>
                  <a:txBody>
                    <a:bodyPr wrap="square" anchor="ctr"/>
                    <a:lstStyle/>
                    <a:p>
                      <a:pPr algn="l"/>
                      <a:r>
                        <a:rPr sz="2000" b="0" i="0">
                          <a:solidFill>
                            <a:srgbClr val="5C4826"/>
                          </a:solidFill>
                        </a:rPr>
                        <a:t>Add POST /refunds/bulk</a:t>
                      </a:r>
                    </a:p>
                  </a:txBody>
                  <a:tcPr anchor="ctr" marL="68580" marR="45720" marT="27432" marB="27432">
                    <a:solidFill>
                      <a:srgbClr val="FBF8F2"/>
                    </a:solidFill>
                  </a:tcPr>
                </a:tc>
              </a:tr>
              <a:tr h="640080">
                <a:tc>
                  <a:txBody>
                    <a:bodyPr wrap="square" anchor="ctr"/>
                    <a:lstStyle/>
                    <a:p>
                      <a:pPr algn="l"/>
                      <a:r>
                        <a:rPr sz="2000" b="1" i="0">
                          <a:solidFill>
                            <a:srgbClr val="5C4826"/>
                          </a:solidFill>
                        </a:rPr>
                        <a:t>Scope</a:t>
                      </a:r>
                    </a:p>
                  </a:txBody>
                  <a:tcPr anchor="ctr" marL="68580" marR="45720" marT="27432" marB="27432">
                    <a:solidFill>
                      <a:srgbClr val="F5F1E8"/>
                    </a:solidFill>
                  </a:tcPr>
                </a:tc>
                <a:tc>
                  <a:txBody>
                    <a:bodyPr wrap="square" anchor="ctr"/>
                    <a:lstStyle/>
                    <a:p>
                      <a:pPr algn="l"/>
                      <a:r>
                        <a:rPr sz="2000" b="0" i="0">
                          <a:solidFill>
                            <a:srgbClr val="5C4826"/>
                          </a:solidFill>
                        </a:rPr>
                        <a:t>Modify the payments service only</a:t>
                      </a:r>
                    </a:p>
                  </a:txBody>
                  <a:tcPr anchor="ctr" marL="68580" marR="45720" marT="27432" marB="27432">
                    <a:solidFill>
                      <a:srgbClr val="FBF8F2"/>
                    </a:solidFill>
                  </a:tcPr>
                </a:tc>
              </a:tr>
              <a:tr h="640080">
                <a:tc>
                  <a:txBody>
                    <a:bodyPr wrap="square" anchor="ctr"/>
                    <a:lstStyle/>
                    <a:p>
                      <a:pPr algn="l"/>
                      <a:r>
                        <a:rPr sz="2000" b="1" i="0">
                          <a:solidFill>
                            <a:srgbClr val="5C4826"/>
                          </a:solidFill>
                        </a:rPr>
                        <a:t>Preserve</a:t>
                      </a:r>
                    </a:p>
                  </a:txBody>
                  <a:tcPr anchor="ctr" marL="68580" marR="45720" marT="27432" marB="27432">
                    <a:solidFill>
                      <a:srgbClr val="F5F1E8"/>
                    </a:solidFill>
                  </a:tcPr>
                </a:tc>
                <a:tc>
                  <a:txBody>
                    <a:bodyPr wrap="square" anchor="ctr"/>
                    <a:lstStyle/>
                    <a:p>
                      <a:pPr algn="l"/>
                      <a:r>
                        <a:rPr sz="2000" b="0" i="0">
                          <a:solidFill>
                            <a:srgbClr val="5C4826"/>
                          </a:solidFill>
                        </a:rPr>
                        <a:t>Existing single-refund API behavior</a:t>
                      </a:r>
                    </a:p>
                  </a:txBody>
                  <a:tcPr anchor="ctr" marL="68580" marR="45720" marT="27432" marB="27432">
                    <a:solidFill>
                      <a:srgbClr val="FBF8F2"/>
                    </a:solidFill>
                  </a:tcPr>
                </a:tc>
              </a:tr>
              <a:tr h="640080">
                <a:tc>
                  <a:txBody>
                    <a:bodyPr wrap="square" anchor="ctr"/>
                    <a:lstStyle/>
                    <a:p>
                      <a:pPr algn="l"/>
                      <a:r>
                        <a:rPr sz="2000" b="1" i="0">
                          <a:solidFill>
                            <a:srgbClr val="5C4826"/>
                          </a:solidFill>
                        </a:rPr>
                        <a:t>Do not</a:t>
                      </a:r>
                    </a:p>
                  </a:txBody>
                  <a:tcPr anchor="ctr" marL="68580" marR="45720" marT="27432" marB="27432">
                    <a:solidFill>
                      <a:srgbClr val="F5F1E8"/>
                    </a:solidFill>
                  </a:tcPr>
                </a:tc>
                <a:tc>
                  <a:txBody>
                    <a:bodyPr wrap="square" anchor="ctr"/>
                    <a:lstStyle/>
                    <a:p>
                      <a:pPr algn="l"/>
                      <a:r>
                        <a:rPr sz="2000" b="0" i="0">
                          <a:solidFill>
                            <a:srgbClr val="5C4826"/>
                          </a:solidFill>
                        </a:rPr>
                        <a:t>Modify authentication or payment-provider adapters</a:t>
                      </a:r>
                    </a:p>
                  </a:txBody>
                  <a:tcPr anchor="ctr" marL="68580" marR="45720" marT="27432" marB="27432">
                    <a:solidFill>
                      <a:srgbClr val="FBF8F2"/>
                    </a:solidFill>
                  </a:tcPr>
                </a:tc>
              </a:tr>
              <a:tr h="640080">
                <a:tc>
                  <a:txBody>
                    <a:bodyPr wrap="square" anchor="ctr"/>
                    <a:lstStyle/>
                    <a:p>
                      <a:pPr algn="l"/>
                      <a:r>
                        <a:rPr sz="2000" b="1" i="0">
                          <a:solidFill>
                            <a:srgbClr val="5C4826"/>
                          </a:solidFill>
                        </a:rPr>
                        <a:t>Check</a:t>
                      </a:r>
                    </a:p>
                  </a:txBody>
                  <a:tcPr anchor="ctr" marL="68580" marR="45720" marT="27432" marB="27432">
                    <a:solidFill>
                      <a:srgbClr val="F5F1E8"/>
                    </a:solidFill>
                  </a:tcPr>
                </a:tc>
                <a:tc>
                  <a:txBody>
                    <a:bodyPr wrap="square" anchor="ctr"/>
                    <a:lstStyle/>
                    <a:p>
                      <a:pPr algn="l"/>
                      <a:r>
                        <a:rPr sz="2000" b="0" i="0">
                          <a:solidFill>
                            <a:srgbClr val="5C4826"/>
                          </a:solidFill>
                        </a:rPr>
                        <a:t>Existing tests + new bulk-refund tests</a:t>
                      </a:r>
                    </a:p>
                  </a:txBody>
                  <a:tcPr anchor="ctr" marL="68580" marR="45720" marT="27432" marB="27432">
                    <a:solidFill>
                      <a:srgbClr val="FBF8F2"/>
                    </a:solidFill>
                  </a:tcPr>
                </a:tc>
              </a:tr>
              <a:tr h="640080">
                <a:tc>
                  <a:txBody>
                    <a:bodyPr wrap="square" anchor="ctr"/>
                    <a:lstStyle/>
                    <a:p>
                      <a:pPr algn="l"/>
                      <a:r>
                        <a:rPr sz="2000" b="1" i="0">
                          <a:solidFill>
                            <a:srgbClr val="5C4826"/>
                          </a:solidFill>
                        </a:rPr>
                        <a:t>Deliver</a:t>
                      </a:r>
                    </a:p>
                  </a:txBody>
                  <a:tcPr anchor="ctr" marL="68580" marR="45720" marT="27432" marB="27432">
                    <a:solidFill>
                      <a:srgbClr val="F5F1E8"/>
                    </a:solidFill>
                  </a:tcPr>
                </a:tc>
                <a:tc>
                  <a:txBody>
                    <a:bodyPr wrap="square" anchor="ctr"/>
                    <a:lstStyle/>
                    <a:p>
                      <a:pPr algn="l"/>
                      <a:r>
                        <a:rPr sz="2000" b="0" i="0">
                          <a:solidFill>
                            <a:srgbClr val="5C4826"/>
                          </a:solidFill>
                        </a:rPr>
                        <a:t>Commit changes on your worktree and open a PR</a:t>
                      </a:r>
                    </a:p>
                  </a:txBody>
                  <a:tcPr anchor="ctr" marL="68580" marR="45720" marT="27432" marB="27432">
                    <a:solidFill>
                      <a:srgbClr val="FBF8F2"/>
                    </a:solidFill>
                  </a:tcPr>
                </a:tc>
              </a:tr>
              <a:tr h="640080">
                <a:tc>
                  <a:txBody>
                    <a:bodyPr wrap="square" anchor="ctr"/>
                    <a:lstStyle/>
                    <a:p>
                      <a:pPr algn="l"/>
                      <a:r>
                        <a:rPr sz="2000" b="1" i="0">
                          <a:solidFill>
                            <a:srgbClr val="5C4826"/>
                          </a:solidFill>
                        </a:rPr>
                        <a:t>Authority</a:t>
                      </a:r>
                    </a:p>
                  </a:txBody>
                  <a:tcPr anchor="ctr" marL="68580" marR="45720" marT="27432" marB="27432">
                    <a:solidFill>
                      <a:srgbClr val="F5F1E8"/>
                    </a:solidFill>
                  </a:tcPr>
                </a:tc>
                <a:tc>
                  <a:txBody>
                    <a:bodyPr wrap="square" anchor="ctr"/>
                    <a:lstStyle/>
                    <a:p>
                      <a:pPr algn="l"/>
                      <a:r>
                        <a:rPr sz="2000" b="0" i="0">
                          <a:solidFill>
                            <a:srgbClr val="5C4826"/>
                          </a:solidFill>
                        </a:rPr>
                        <a:t>Do not merge or deploy</a:t>
                      </a:r>
                    </a:p>
                  </a:txBody>
                  <a:tcPr anchor="ctr" marL="68580" marR="45720" marT="27432" marB="27432">
                    <a:solidFill>
                      <a:srgbClr val="FBF8F2"/>
                    </a:solidFill>
                  </a:tcPr>
                </a:tc>
              </a:tr>
            </a:tbl>
          </a:graphicData>
        </a:graphic>
      </p:graphicFrame>
      <p:sp>
        <p:nvSpPr>
          <p:cNvPr id="0" name="BoundTask"/>
          <p:cNvSpPr/>
          <p:nvPr/>
        </p:nvSpPr>
        <p:spPr>
          <a:xfrm>
            <a:off x="7178040" y="1554480"/>
            <a:ext cx="1691640" cy="1920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TASK</a:t>
            </a:r>
          </a:p>
          <a:p>
            <a:pPr algn="ctr">
              <a:buNone/>
            </a:pPr>
            <a:r>
              <a:rPr lang="en-US" sz="2000" b="0" i="0" dirty="0">
                <a:solidFill>
                  <a:srgbClr val="FFFFFF"/>
                </a:solidFill>
              </a:rPr>
              <a:t>bounds the result</a:t>
            </a:r>
          </a:p>
        </p:txBody>
      </p:sp>
      <p:sp>
        <p:nvSpPr>
          <p:cNvPr id="0" name="BoundProcess"/>
          <p:cNvSpPr/>
          <p:nvPr/>
        </p:nvSpPr>
        <p:spPr>
          <a:xfrm>
            <a:off x="7178040" y="3474720"/>
            <a:ext cx="1691640" cy="256032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PROCESS</a:t>
            </a:r>
          </a:p>
          <a:p>
            <a:pPr algn="ctr">
              <a:buNone/>
            </a:pPr>
            <a:r>
              <a:rPr lang="en-US" sz="2000" b="0" i="0" dirty="0">
                <a:solidFill>
                  <a:srgbClr val="FFFFFF"/>
                </a:solidFill>
              </a:rPr>
              <a:t>bounds the path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More instructions means fewer degrees of freedom</a:t>
            </a:r>
          </a:p>
        </p:txBody>
      </p:sp>
      <p:sp>
        <p:nvSpPr>
          <p:cNvPr id="4" name="BoundPanel"/>
          <p:cNvSpPr/>
          <p:nvPr/>
        </p:nvSpPr>
        <p:spPr>
          <a:xfrm>
            <a:off x="502920" y="1051560"/>
            <a:ext cx="3977639" cy="3291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BOUND</a:t>
            </a:r>
          </a:p>
          <a:p>
            <a:pPr algn="ctr"/>
            <a:r>
              <a:rPr sz="600" b="0" i="0">
                <a:solidFill>
                  <a:srgbClr val="5C4826"/>
                </a:solidFill>
              </a:rPr>
              <a:t/>
            </a:r>
          </a:p>
          <a:p>
            <a:pPr algn="ctr"/>
            <a:r>
              <a:rPr sz="2000" b="0" i="0">
                <a:solidFill>
                  <a:srgbClr val="5C4826"/>
                </a:solidFill>
              </a:rPr>
              <a:t>worktree</a:t>
            </a:r>
          </a:p>
          <a:p>
            <a:pPr algn="ctr"/>
            <a:r>
              <a:rPr sz="2000" b="0" i="0">
                <a:solidFill>
                  <a:srgbClr val="5C4826"/>
                </a:solidFill>
              </a:rPr>
              <a:t>files in scope</a:t>
            </a:r>
          </a:p>
          <a:p>
            <a:pPr algn="ctr"/>
            <a:r>
              <a:rPr sz="2000" b="0" i="0">
                <a:solidFill>
                  <a:srgbClr val="5C4826"/>
                </a:solidFill>
              </a:rPr>
              <a:t>forbidden actions</a:t>
            </a:r>
          </a:p>
          <a:p>
            <a:pPr algn="ctr"/>
            <a:r>
              <a:rPr sz="2000" b="0" i="0">
                <a:solidFill>
                  <a:srgbClr val="5C4826"/>
                </a:solidFill>
              </a:rPr>
              <a:t>required checks</a:t>
            </a:r>
          </a:p>
          <a:p>
            <a:pPr algn="ctr"/>
            <a:r>
              <a:rPr sz="2000" b="0" i="0">
                <a:solidFill>
                  <a:srgbClr val="5C4826"/>
                </a:solidFill>
              </a:rPr>
              <a:t>delivery boundary</a:t>
            </a:r>
          </a:p>
        </p:txBody>
      </p:sp>
      <p:sp>
        <p:nvSpPr>
          <p:cNvPr id="5" name="FreePanel"/>
          <p:cNvSpPr/>
          <p:nvPr/>
        </p:nvSpPr>
        <p:spPr>
          <a:xfrm>
            <a:off x="4663440" y="1051560"/>
            <a:ext cx="3977639" cy="3291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LEAVE FREE</a:t>
            </a:r>
          </a:p>
          <a:p>
            <a:pPr algn="ctr"/>
            <a:r>
              <a:rPr sz="600" b="0" i="0">
                <a:solidFill>
                  <a:srgbClr val="5C4826"/>
                </a:solidFill>
              </a:rPr>
              <a:t/>
            </a:r>
          </a:p>
          <a:p>
            <a:pPr algn="ctr"/>
            <a:r>
              <a:rPr sz="2000" b="0" i="0">
                <a:solidFill>
                  <a:srgbClr val="5C4826"/>
                </a:solidFill>
              </a:rPr>
              <a:t>local implementation</a:t>
            </a:r>
          </a:p>
          <a:p>
            <a:pPr algn="ctr"/>
            <a:r>
              <a:rPr sz="2000" b="0" i="0">
                <a:solidFill>
                  <a:srgbClr val="5C4826"/>
                </a:solidFill>
              </a:rPr>
              <a:t>decomposition</a:t>
            </a:r>
          </a:p>
          <a:p>
            <a:pPr algn="ctr"/>
            <a:r>
              <a:rPr sz="2000" b="0" i="0">
                <a:solidFill>
                  <a:srgbClr val="5C4826"/>
                </a:solidFill>
              </a:rPr>
              <a:t>naming choices</a:t>
            </a:r>
          </a:p>
          <a:p>
            <a:pPr algn="ctr"/>
            <a:r>
              <a:rPr sz="2000" b="0" i="0">
                <a:solidFill>
                  <a:srgbClr val="5C4826"/>
                </a:solidFill>
              </a:rPr>
              <a:t>algorithm, where unconstrained</a:t>
            </a:r>
          </a:p>
          <a:p>
            <a:pPr algn="ctr"/>
            <a:r>
              <a:rPr sz="2000" b="0" i="0">
                <a:solidFill>
                  <a:srgbClr val="5C4826"/>
                </a:solidFill>
              </a:rPr>
              <a:t>order of intermediate edits</a:t>
            </a:r>
          </a:p>
        </p:txBody>
      </p:sp>
      <p:sp>
        <p:nvSpPr>
          <p:cNvPr id="6" name="FooterBand"/>
          <p:cNvSpPr/>
          <p:nvPr/>
        </p:nvSpPr>
        <p:spPr>
          <a:xfrm>
            <a:off x="274320" y="5760720"/>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Good delegation constrains consequential choices</a:t>
            </a:r>
          </a:p>
          <a:p>
            <a:pPr algn="ctr"/>
            <a:r>
              <a:rPr sz="2000" b="1" i="0">
                <a:solidFill>
                  <a:srgbClr val="FFFFFF"/>
                </a:solidFill>
              </a:rPr>
              <a:t>without prescribing every move.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The process is a model</a:t>
            </a:r>
          </a:p>
        </p:txBody>
      </p:sp>
      <p:sp>
        <p:nvSpPr>
          <p:cNvPr id="4" name="PCWorkOrder"/>
          <p:cNvSpPr/>
          <p:nvPr/>
        </p:nvSpPr>
        <p:spPr>
          <a:xfrm>
            <a:off x="502920" y="1005840"/>
            <a:ext cx="173736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WORK ORDER</a:t>
            </a:r>
          </a:p>
        </p:txBody>
      </p:sp>
      <p:cxnSp>
        <p:nvCxnSpPr>
          <p:cNvPr id="5" name="Connector 4"/>
          <p:cNvCxnSpPr/>
          <p:nvPr/>
        </p:nvCxnSpPr>
        <p:spPr>
          <a:xfrm>
            <a:off x="1371600" y="1554480"/>
            <a:ext cx="0" cy="36576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 name="PCINSPECT"/>
          <p:cNvSpPr/>
          <p:nvPr/>
        </p:nvSpPr>
        <p:spPr>
          <a:xfrm>
            <a:off x="5029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INSPECT</a:t>
            </a:r>
          </a:p>
        </p:txBody>
      </p:sp>
      <p:cxnSp>
        <p:nvCxnSpPr>
          <p:cNvPr id="7" name="Connector 6"/>
          <p:cNvCxnSpPr/>
          <p:nvPr/>
        </p:nvCxnSpPr>
        <p:spPr>
          <a:xfrm>
            <a:off x="1920240" y="2217420"/>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PCMODIFY"/>
          <p:cNvSpPr/>
          <p:nvPr/>
        </p:nvSpPr>
        <p:spPr>
          <a:xfrm>
            <a:off x="21031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MODIFY</a:t>
            </a:r>
          </a:p>
        </p:txBody>
      </p:sp>
      <p:cxnSp>
        <p:nvCxnSpPr>
          <p:cNvPr id="9" name="Connector 8"/>
          <p:cNvCxnSpPr/>
          <p:nvPr/>
        </p:nvCxnSpPr>
        <p:spPr>
          <a:xfrm>
            <a:off x="3520439" y="2217420"/>
            <a:ext cx="182881"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PCCHECK"/>
          <p:cNvSpPr/>
          <p:nvPr/>
        </p:nvSpPr>
        <p:spPr>
          <a:xfrm>
            <a:off x="37033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CHECK</a:t>
            </a:r>
          </a:p>
        </p:txBody>
      </p:sp>
      <p:cxnSp>
        <p:nvCxnSpPr>
          <p:cNvPr id="11" name="Connector 10"/>
          <p:cNvCxnSpPr/>
          <p:nvPr/>
        </p:nvCxnSpPr>
        <p:spPr>
          <a:xfrm>
            <a:off x="5120640" y="2217420"/>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PCCOMMIT"/>
          <p:cNvSpPr/>
          <p:nvPr/>
        </p:nvSpPr>
        <p:spPr>
          <a:xfrm>
            <a:off x="53035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COMMIT</a:t>
            </a:r>
          </a:p>
        </p:txBody>
      </p:sp>
      <p:cxnSp>
        <p:nvCxnSpPr>
          <p:cNvPr id="13" name="Connector 12"/>
          <p:cNvCxnSpPr/>
          <p:nvPr/>
        </p:nvCxnSpPr>
        <p:spPr>
          <a:xfrm>
            <a:off x="6720840" y="2217420"/>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PCPROPOSE"/>
          <p:cNvSpPr/>
          <p:nvPr/>
        </p:nvSpPr>
        <p:spPr>
          <a:xfrm>
            <a:off x="69037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PROPOSE</a:t>
            </a:r>
          </a:p>
        </p:txBody>
      </p:sp>
      <p:cxnSp>
        <p:nvCxnSpPr>
          <p:cNvPr id="15" name="Connector 14"/>
          <p:cNvCxnSpPr/>
          <p:nvPr/>
        </p:nvCxnSpPr>
        <p:spPr>
          <a:xfrm>
            <a:off x="4411980" y="2514600"/>
            <a:ext cx="0" cy="274320"/>
          </a:xfrm>
          <a:prstGeom prst="line">
            <a:avLst/>
          </a:prstGeom>
          <a:ln w="19050">
            <a:solidFill>
              <a:srgbClr val="C9B991"/>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2811779" y="2788920"/>
            <a:ext cx="1600201" cy="0"/>
          </a:xfrm>
          <a:prstGeom prst="line">
            <a:avLst/>
          </a:prstGeom>
          <a:ln w="19050">
            <a:solidFill>
              <a:srgbClr val="C9B991"/>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811779" y="2551176"/>
            <a:ext cx="0" cy="237744"/>
          </a:xfrm>
          <a:prstGeom prst="line">
            <a:avLst/>
          </a:prstGeom>
          <a:ln w="19050">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PCAspects"/>
          <p:cNvSpPr txBox="1"/>
          <p:nvPr/>
        </p:nvSpPr>
        <p:spPr>
          <a:xfrm>
            <a:off x="274320" y="3246120"/>
            <a:ext cx="8595360" cy="700000"/>
          </a:xfrm>
          <a:prstGeom prst="rect">
            <a:avLst/>
          </a:prstGeom>
          <a:noFill/>
        </p:spPr>
        <p:txBody>
          <a:bodyPr wrap="square" anchor="t">
            <a:spAutoFit/>
          </a:bodyPr>
          <a:lstStyle/>
          <a:p>
            <a:pPr algn="ctr"/>
            <a:r>
              <a:rPr sz="2000" b="0" i="1">
                <a:solidFill>
                  <a:srgbClr val="555960"/>
                </a:solidFill>
              </a:rPr>
              <a:t>permitted actions · required transitions · stopping criteria · required evidence</a:t>
            </a:r>
          </a:p>
        </p:txBody>
      </p:sp>
      <p:sp>
        <p:nvSpPr>
          <p:cNvPr id="19" name="PCMain"/>
          <p:cNvSpPr txBox="1"/>
          <p:nvPr/>
        </p:nvSpPr>
        <p:spPr>
          <a:xfrm>
            <a:off x="502920" y="3977639"/>
            <a:ext cx="8138160" cy="868680"/>
          </a:xfrm>
          <a:prstGeom prst="rect">
            <a:avLst/>
          </a:prstGeom>
          <a:noFill/>
        </p:spPr>
        <p:txBody>
          <a:bodyPr wrap="square" anchor="t">
            <a:spAutoFit/>
          </a:bodyPr>
          <a:lstStyle/>
          <a:p>
            <a:r>
              <a:rPr sz="2000" b="0" i="0">
                <a:solidFill>
                  <a:srgbClr val="5C4826"/>
                </a:solidFill>
              </a:rPr>
              <a:t>A process model makes consequential actions, transitions, evidence, and stopping conditions explicit.</a:t>
            </a:r>
          </a:p>
        </p:txBody>
      </p:sp>
      <p:sp>
        <p:nvSpPr>
          <p:cNvPr id="20" name="PCCaveat"/>
          <p:cNvSpPr txBox="1"/>
          <p:nvPr/>
        </p:nvSpPr>
        <p:spPr>
          <a:xfrm>
            <a:off x="502920" y="4983480"/>
            <a:ext cx="8138160" cy="457200"/>
          </a:xfrm>
          <a:prstGeom prst="rect">
            <a:avLst/>
          </a:prstGeom>
          <a:noFill/>
        </p:spPr>
        <p:txBody>
          <a:bodyPr wrap="square" anchor="t">
            <a:spAutoFit/>
          </a:bodyPr>
          <a:lstStyle/>
          <a:p>
            <a:pPr algn="ctr"/>
            <a:r>
              <a:rPr sz="2000" b="1" i="0">
                <a:solidFill>
                  <a:srgbClr val="8E6F3E"/>
                </a:solidFill>
              </a:rPr>
              <a:t>It need not prescribe the agent’s internal reasoning.</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2</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How can delegated work fail?</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The result can be wrong. The process can be wrong.</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a:t>Either bound can be violated</a:t>
            </a:r>
          </a:p>
        </p:txBody>
      </p:sp>
      <p:sp>
        <p:nvSpPr>
          <p:cNvPr id="0" name="TaxHead-result"/>
          <p:cNvSpPr/>
          <p:nvPr/>
        </p:nvSpPr>
        <p:spPr>
          <a:xfrm>
            <a:off x="2286000" y="1005840"/>
            <a:ext cx="3200400"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WRONG RESULT</a:t>
            </a:r>
          </a:p>
        </p:txBody>
      </p:sp>
      <p:sp>
        <p:nvSpPr>
          <p:cNvPr id="0" name="TaxHead-process"/>
          <p:cNvSpPr/>
          <p:nvPr/>
        </p:nvSpPr>
        <p:spPr>
          <a:xfrm>
            <a:off x="5577840" y="1005840"/>
            <a:ext cx="3291840"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WRONG PROCESS</a:t>
            </a:r>
          </a:p>
        </p:txBody>
      </p:sp>
      <p:sp>
        <p:nvSpPr>
          <p:cNvPr id="0" name="TaxLbl-QUESTI"/>
          <p:cNvSpPr/>
          <p:nvPr/>
        </p:nvSpPr>
        <p:spPr>
          <a:xfrm>
            <a:off x="274320" y="173736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QUESTION</a:t>
            </a:r>
          </a:p>
        </p:txBody>
      </p:sp>
      <p:sp>
        <p:nvSpPr>
          <p:cNvPr id="0" name="TaxC1-QUESTI"/>
          <p:cNvSpPr/>
          <p:nvPr/>
        </p:nvSpPr>
        <p:spPr>
          <a:xfrm>
            <a:off x="2286000" y="173736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Did the artifact satisfy its obligations?</a:t>
            </a:r>
          </a:p>
        </p:txBody>
      </p:sp>
      <p:sp>
        <p:nvSpPr>
          <p:cNvPr id="0" name="TaxC2-QUESTI"/>
          <p:cNvSpPr/>
          <p:nvPr/>
        </p:nvSpPr>
        <p:spPr>
          <a:xfrm>
            <a:off x="5577840" y="173736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Was the work performed within the delegated process?</a:t>
            </a:r>
          </a:p>
        </p:txBody>
      </p:sp>
      <p:sp>
        <p:nvSpPr>
          <p:cNvPr id="0" name="TaxLbl-EXAMPL"/>
          <p:cNvSpPr/>
          <p:nvPr/>
        </p:nvSpPr>
        <p:spPr>
          <a:xfrm>
            <a:off x="274320" y="292608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EXAMPLE</a:t>
            </a:r>
          </a:p>
        </p:txBody>
      </p:sp>
      <p:sp>
        <p:nvSpPr>
          <p:cNvPr id="0" name="TaxC1-EXAMPL"/>
          <p:cNvSpPr/>
          <p:nvPr/>
        </p:nvSpPr>
        <p:spPr>
          <a:xfrm>
            <a:off x="2286000" y="292608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1" dirty="0">
                <a:solidFill>
                  <a:srgbClr val="555960"/>
                </a:solidFill>
              </a:rPr>
              <a:t>Existing API behavior changes</a:t>
            </a:r>
          </a:p>
        </p:txBody>
      </p:sp>
      <p:sp>
        <p:nvSpPr>
          <p:cNvPr id="0" name="TaxC2-EXAMPL"/>
          <p:cNvSpPr/>
          <p:nvPr/>
        </p:nvSpPr>
        <p:spPr>
          <a:xfrm>
            <a:off x="5577840" y="292608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1" dirty="0">
                <a:solidFill>
                  <a:srgbClr val="555960"/>
                </a:solidFill>
              </a:rPr>
              <a:t>Agent modifies a forbidden dependency</a:t>
            </a:r>
          </a:p>
        </p:txBody>
      </p:sp>
      <p:sp>
        <p:nvSpPr>
          <p:cNvPr id="0" name="TaxLbl-VALIDA"/>
          <p:cNvSpPr/>
          <p:nvPr/>
        </p:nvSpPr>
        <p:spPr>
          <a:xfrm>
            <a:off x="274320" y="411480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VALIDATION TARGET</a:t>
            </a:r>
          </a:p>
        </p:txBody>
      </p:sp>
      <p:sp>
        <p:nvSpPr>
          <p:cNvPr id="0" name="TaxC1-VALIDA"/>
          <p:cNvSpPr/>
          <p:nvPr/>
        </p:nvSpPr>
        <p:spPr>
          <a:xfrm>
            <a:off x="2286000" y="411480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Artifact / system state</a:t>
            </a:r>
          </a:p>
        </p:txBody>
      </p:sp>
      <p:sp>
        <p:nvSpPr>
          <p:cNvPr id="0" name="TaxC2-VALIDA"/>
          <p:cNvSpPr/>
          <p:nvPr/>
        </p:nvSpPr>
        <p:spPr>
          <a:xfrm>
            <a:off x="5577840" y="411480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Actions / evidence / authority</a:t>
            </a:r>
          </a:p>
        </p:txBody>
      </p:sp>
      <p:sp>
        <p:nvSpPr>
          <p:cNvPr id="0" name="FooterBand"/>
          <p:cNvSpPr/>
          <p:nvPr/>
        </p:nvSpPr>
        <p:spPr>
          <a:xfrm>
            <a:off x="274320" y="5852160"/>
            <a:ext cx="8595360" cy="566928"/>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A correct result does not imply an acceptable process.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Wrong result</a:t>
            </a:r>
          </a:p>
        </p:txBody>
      </p:sp>
      <p:sp>
        <p:nvSpPr>
          <p:cNvPr id="4" name="Example"/>
          <p:cNvSpPr txBox="1"/>
          <p:nvPr/>
        </p:nvSpPr>
        <p:spPr>
          <a:xfrm>
            <a:off x="274320" y="932688"/>
            <a:ext cx="8595360" cy="731520"/>
          </a:xfrm>
          <a:prstGeom prst="rect">
            <a:avLst/>
          </a:prstGeom>
          <a:noFill/>
        </p:spPr>
        <p:txBody>
          <a:bodyPr wrap="square" anchor="t">
            <a:spAutoFit/>
          </a:bodyPr>
          <a:lstStyle/>
          <a:p>
            <a:pPr algn="l"/>
            <a:r>
              <a:rPr sz="2000" b="0" i="1">
                <a:solidFill>
                  <a:srgbClr val="555960"/>
                </a:solidFill>
              </a:rPr>
              <a:t>Requirement: existing clients continue to behave identically.</a:t>
            </a:r>
          </a:p>
          <a:p>
            <a:pPr algn="l"/>
            <a:r>
              <a:rPr sz="2000" b="0" i="1">
                <a:solidFill>
                  <a:srgbClr val="555960"/>
                </a:solidFill>
              </a:rPr>
              <a:t>The agent changes response semantics.</a:t>
            </a:r>
          </a:p>
        </p:txBody>
      </p:sp>
      <p:sp>
        <p:nvSpPr>
          <p:cNvPr id="5" name="FRequest"/>
          <p:cNvSpPr/>
          <p:nvPr/>
        </p:nvSpPr>
        <p:spPr>
          <a:xfrm>
            <a:off x="1097280" y="1965960"/>
            <a:ext cx="17373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REQUEST</a:t>
            </a:r>
          </a:p>
        </p:txBody>
      </p:sp>
      <p:cxnSp>
        <p:nvCxnSpPr>
          <p:cNvPr id="6" name="Connector 5"/>
          <p:cNvCxnSpPr/>
          <p:nvPr/>
        </p:nvCxnSpPr>
        <p:spPr>
          <a:xfrm>
            <a:off x="2834640" y="2249424"/>
            <a:ext cx="4114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FImpl"/>
          <p:cNvSpPr/>
          <p:nvPr/>
        </p:nvSpPr>
        <p:spPr>
          <a:xfrm>
            <a:off x="3246120" y="1965960"/>
            <a:ext cx="21945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IMPLEMENTATION</a:t>
            </a:r>
          </a:p>
        </p:txBody>
      </p:sp>
      <p:cxnSp>
        <p:nvCxnSpPr>
          <p:cNvPr id="8" name="Connector 7"/>
          <p:cNvCxnSpPr/>
          <p:nvPr/>
        </p:nvCxnSpPr>
        <p:spPr>
          <a:xfrm>
            <a:off x="4343400" y="2532888"/>
            <a:ext cx="0" cy="484632"/>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9" name="FX"/>
          <p:cNvSpPr txBox="1"/>
          <p:nvPr/>
        </p:nvSpPr>
        <p:spPr>
          <a:xfrm>
            <a:off x="4114800" y="2788920"/>
            <a:ext cx="457200" cy="384048"/>
          </a:xfrm>
          <a:prstGeom prst="rect">
            <a:avLst/>
          </a:prstGeom>
          <a:noFill/>
        </p:spPr>
        <p:txBody>
          <a:bodyPr wrap="square" anchor="t">
            <a:spAutoFit/>
          </a:bodyPr>
          <a:lstStyle/>
          <a:p>
            <a:pPr algn="ctr"/>
            <a:r>
              <a:rPr sz="2400" b="1" i="0">
                <a:solidFill>
                  <a:srgbClr val="5C4826"/>
                </a:solidFill>
              </a:rPr>
              <a:t>✗</a:t>
            </a:r>
          </a:p>
        </p:txBody>
      </p:sp>
      <p:sp>
        <p:nvSpPr>
          <p:cNvPr id="10" name="FReq"/>
          <p:cNvSpPr txBox="1"/>
          <p:nvPr/>
        </p:nvSpPr>
        <p:spPr>
          <a:xfrm>
            <a:off x="3291840" y="3246120"/>
            <a:ext cx="2103120" cy="548640"/>
          </a:xfrm>
          <a:prstGeom prst="rect">
            <a:avLst/>
          </a:prstGeom>
          <a:noFill/>
        </p:spPr>
        <p:txBody>
          <a:bodyPr wrap="square" anchor="t">
            <a:spAutoFit/>
          </a:bodyPr>
          <a:lstStyle/>
          <a:p>
            <a:pPr algn="ctr"/>
            <a:r>
              <a:rPr sz="2000" b="0" i="0">
                <a:solidFill>
                  <a:srgbClr val="555960"/>
                </a:solidFill>
              </a:rPr>
              <a:t>required behavior</a:t>
            </a:r>
          </a:p>
        </p:txBody>
      </p:sp>
      <p:sp>
        <p:nvSpPr>
          <p:cNvPr id="11" name="FailLabel"/>
          <p:cNvSpPr/>
          <p:nvPr/>
        </p:nvSpPr>
        <p:spPr>
          <a:xfrm>
            <a:off x="502920" y="4069080"/>
            <a:ext cx="256032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ARTIFACT FAILURE</a:t>
            </a:r>
          </a:p>
        </p:txBody>
      </p:sp>
      <p:sp>
        <p:nvSpPr>
          <p:cNvPr id="12" name="FailDef"/>
          <p:cNvSpPr txBox="1"/>
          <p:nvPr/>
        </p:nvSpPr>
        <p:spPr>
          <a:xfrm>
            <a:off x="3246120" y="4133087"/>
            <a:ext cx="5394960" cy="502920"/>
          </a:xfrm>
          <a:prstGeom prst="rect">
            <a:avLst/>
          </a:prstGeom>
          <a:noFill/>
        </p:spPr>
        <p:txBody>
          <a:bodyPr wrap="square" anchor="t">
            <a:spAutoFit/>
          </a:bodyPr>
          <a:lstStyle/>
          <a:p>
            <a:pPr algn="l"/>
            <a:r>
              <a:rPr sz="2000" b="0" i="0">
                <a:solidFill>
                  <a:srgbClr val="5C4826"/>
                </a:solidFill>
              </a:rPr>
              <a:t>The resulting system violates an obligation.</a:t>
            </a:r>
          </a:p>
        </p:txBody>
      </p:sp>
      <p:sp>
        <p:nvSpPr>
          <p:cNvPr id="13" name="FailKinds"/>
          <p:cNvSpPr txBox="1"/>
          <p:nvPr/>
        </p:nvSpPr>
        <p:spPr>
          <a:xfrm>
            <a:off x="274320" y="4983480"/>
            <a:ext cx="8595360" cy="731520"/>
          </a:xfrm>
          <a:prstGeom prst="rect">
            <a:avLst/>
          </a:prstGeom>
          <a:noFill/>
        </p:spPr>
        <p:txBody>
          <a:bodyPr wrap="square" anchor="t">
            <a:spAutoFit/>
          </a:bodyPr>
          <a:lstStyle/>
          <a:p>
            <a:pPr algn="ctr"/>
            <a:r>
              <a:rPr sz="2000" b="0" i="1">
                <a:solidFill>
                  <a:srgbClr val="555960"/>
                </a:solidFill>
              </a:rPr>
              <a:t>wrong behavior · violated invariant · excessive memory · incompatible API</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Wrong process: prohibited action</a:t>
            </a:r>
          </a:p>
        </p:txBody>
      </p:sp>
      <p:sp>
        <p:nvSpPr>
          <p:cNvPr id="4" name="WrongWork1"/>
          <p:cNvSpPr/>
          <p:nvPr/>
        </p:nvSpPr>
        <p:spPr>
          <a:xfrm>
            <a:off x="502920" y="1005840"/>
            <a:ext cx="81381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22860" bIns="22860"/>
          <a:lstStyle/>
          <a:p>
            <a:pPr algn="l"/>
            <a:r>
              <a:rPr sz="2000" b="0" i="0">
                <a:solidFill>
                  <a:srgbClr val="5C4826"/>
                </a:solidFill>
              </a:rPr>
              <a:t>Modifies files outside the declared scope</a:t>
            </a:r>
          </a:p>
        </p:txBody>
      </p:sp>
      <p:sp>
        <p:nvSpPr>
          <p:cNvPr id="5" name="WrongWork2"/>
          <p:cNvSpPr/>
          <p:nvPr/>
        </p:nvSpPr>
        <p:spPr>
          <a:xfrm>
            <a:off x="502920" y="1737360"/>
            <a:ext cx="81381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22860" bIns="22860"/>
          <a:lstStyle/>
          <a:p>
            <a:pPr algn="l"/>
            <a:r>
              <a:rPr sz="2000" b="0" i="0">
                <a:solidFill>
                  <a:srgbClr val="5C4826"/>
                </a:solidFill>
              </a:rPr>
              <a:t>Replaces an approved dependency</a:t>
            </a:r>
          </a:p>
        </p:txBody>
      </p:sp>
      <p:sp>
        <p:nvSpPr>
          <p:cNvPr id="6" name="WrongWork3"/>
          <p:cNvSpPr/>
          <p:nvPr/>
        </p:nvSpPr>
        <p:spPr>
          <a:xfrm>
            <a:off x="502920" y="2468880"/>
            <a:ext cx="81381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22860" bIns="22860"/>
          <a:lstStyle/>
          <a:p>
            <a:pPr algn="l"/>
            <a:r>
              <a:rPr sz="2000" b="0" i="0">
                <a:solidFill>
                  <a:srgbClr val="5C4826"/>
                </a:solidFill>
              </a:rPr>
              <a:t>Changes the model instead of satisfying it</a:t>
            </a:r>
          </a:p>
        </p:txBody>
      </p:sp>
      <p:sp>
        <p:nvSpPr>
          <p:cNvPr id="7" name="WrongWork4"/>
          <p:cNvSpPr/>
          <p:nvPr/>
        </p:nvSpPr>
        <p:spPr>
          <a:xfrm>
            <a:off x="502920" y="3200400"/>
            <a:ext cx="81381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22860" bIns="22860"/>
          <a:lstStyle/>
          <a:p>
            <a:pPr algn="l"/>
            <a:r>
              <a:rPr sz="2000" b="0" i="0">
                <a:solidFill>
                  <a:srgbClr val="5C4826"/>
                </a:solidFill>
              </a:rPr>
              <a:t>“Fixes” a test to make the implementation pass</a:t>
            </a:r>
          </a:p>
        </p:txBody>
      </p:sp>
      <p:sp>
        <p:nvSpPr>
          <p:cNvPr id="8" name="ScopeLabel"/>
          <p:cNvSpPr/>
          <p:nvPr/>
        </p:nvSpPr>
        <p:spPr>
          <a:xfrm>
            <a:off x="502920" y="4160520"/>
            <a:ext cx="31089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SCOPE / PROCESS FAILURE</a:t>
            </a:r>
          </a:p>
        </p:txBody>
      </p:sp>
      <p:sp>
        <p:nvSpPr>
          <p:cNvPr id="9" name="ScopeDef"/>
          <p:cNvSpPr txBox="1"/>
          <p:nvPr/>
        </p:nvSpPr>
        <p:spPr>
          <a:xfrm>
            <a:off x="3794760" y="4224528"/>
            <a:ext cx="4846320" cy="502920"/>
          </a:xfrm>
          <a:prstGeom prst="rect">
            <a:avLst/>
          </a:prstGeom>
          <a:noFill/>
        </p:spPr>
        <p:txBody>
          <a:bodyPr wrap="square" anchor="t">
            <a:spAutoFit/>
          </a:bodyPr>
          <a:lstStyle/>
          <a:p>
            <a:pPr algn="l"/>
            <a:r>
              <a:rPr sz="2000" b="0" i="0">
                <a:solidFill>
                  <a:srgbClr val="5C4826"/>
                </a:solidFill>
              </a:rPr>
              <a:t>The path to the result violates the work order.</a:t>
            </a:r>
          </a:p>
        </p:txBody>
      </p:sp>
      <p:sp>
        <p:nvSpPr>
          <p:cNvPr id="10"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Final-state validation alone does not capture 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Wrong process: excess authority</a:t>
            </a:r>
          </a:p>
        </p:txBody>
      </p:sp>
      <p:sp>
        <p:nvSpPr>
          <p:cNvPr id="4" name="AuthREAD"/>
          <p:cNvSpPr/>
          <p:nvPr/>
        </p:nvSpPr>
        <p:spPr>
          <a:xfrm>
            <a:off x="411480"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READ</a:t>
            </a:r>
          </a:p>
        </p:txBody>
      </p:sp>
      <p:sp>
        <p:nvSpPr>
          <p:cNvPr id="5" name="AuthMarkREAD"/>
          <p:cNvSpPr txBox="1"/>
          <p:nvPr/>
        </p:nvSpPr>
        <p:spPr>
          <a:xfrm>
            <a:off x="411480" y="2331720"/>
            <a:ext cx="1188720" cy="457200"/>
          </a:xfrm>
          <a:prstGeom prst="rect">
            <a:avLst/>
          </a:prstGeom>
          <a:noFill/>
        </p:spPr>
        <p:txBody>
          <a:bodyPr wrap="square" anchor="t">
            <a:spAutoFit/>
          </a:bodyPr>
          <a:lstStyle/>
          <a:p>
            <a:pPr algn="ctr"/>
            <a:r>
              <a:rPr sz="2400" b="1" i="0">
                <a:solidFill>
                  <a:srgbClr val="5C4826"/>
                </a:solidFill>
              </a:rPr>
              <a:t>✓</a:t>
            </a:r>
          </a:p>
        </p:txBody>
      </p:sp>
      <p:cxnSp>
        <p:nvCxnSpPr>
          <p:cNvPr id="6" name="Connector 5"/>
          <p:cNvCxnSpPr/>
          <p:nvPr/>
        </p:nvCxnSpPr>
        <p:spPr>
          <a:xfrm>
            <a:off x="1600200" y="19293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AuthMODIFY"/>
          <p:cNvSpPr/>
          <p:nvPr/>
        </p:nvSpPr>
        <p:spPr>
          <a:xfrm>
            <a:off x="1837944"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MODIFY</a:t>
            </a:r>
          </a:p>
        </p:txBody>
      </p:sp>
      <p:sp>
        <p:nvSpPr>
          <p:cNvPr id="8" name="AuthMarkMODIFY"/>
          <p:cNvSpPr txBox="1"/>
          <p:nvPr/>
        </p:nvSpPr>
        <p:spPr>
          <a:xfrm>
            <a:off x="1837944" y="2331720"/>
            <a:ext cx="1188720" cy="457200"/>
          </a:xfrm>
          <a:prstGeom prst="rect">
            <a:avLst/>
          </a:prstGeom>
          <a:noFill/>
        </p:spPr>
        <p:txBody>
          <a:bodyPr wrap="square" anchor="t">
            <a:spAutoFit/>
          </a:bodyPr>
          <a:lstStyle/>
          <a:p>
            <a:pPr algn="ctr"/>
            <a:r>
              <a:rPr sz="2400" b="1" i="0">
                <a:solidFill>
                  <a:srgbClr val="5C4826"/>
                </a:solidFill>
              </a:rPr>
              <a:t>✓</a:t>
            </a:r>
          </a:p>
        </p:txBody>
      </p:sp>
      <p:cxnSp>
        <p:nvCxnSpPr>
          <p:cNvPr id="9" name="Connector 8"/>
          <p:cNvCxnSpPr/>
          <p:nvPr/>
        </p:nvCxnSpPr>
        <p:spPr>
          <a:xfrm>
            <a:off x="3026664" y="19293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AuthCOMMIT"/>
          <p:cNvSpPr/>
          <p:nvPr/>
        </p:nvSpPr>
        <p:spPr>
          <a:xfrm>
            <a:off x="3264408"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COMMIT</a:t>
            </a:r>
          </a:p>
        </p:txBody>
      </p:sp>
      <p:sp>
        <p:nvSpPr>
          <p:cNvPr id="11" name="AuthMarkCOMMIT"/>
          <p:cNvSpPr txBox="1"/>
          <p:nvPr/>
        </p:nvSpPr>
        <p:spPr>
          <a:xfrm>
            <a:off x="3264408" y="2331720"/>
            <a:ext cx="1188720" cy="457200"/>
          </a:xfrm>
          <a:prstGeom prst="rect">
            <a:avLst/>
          </a:prstGeom>
          <a:noFill/>
        </p:spPr>
        <p:txBody>
          <a:bodyPr wrap="square" anchor="t">
            <a:spAutoFit/>
          </a:bodyPr>
          <a:lstStyle/>
          <a:p>
            <a:pPr algn="ctr"/>
            <a:r>
              <a:rPr sz="2400" b="1" i="0">
                <a:solidFill>
                  <a:srgbClr val="5C4826"/>
                </a:solidFill>
              </a:rPr>
              <a:t>✓</a:t>
            </a:r>
          </a:p>
        </p:txBody>
      </p:sp>
      <p:cxnSp>
        <p:nvCxnSpPr>
          <p:cNvPr id="12" name="Connector 11"/>
          <p:cNvCxnSpPr/>
          <p:nvPr/>
        </p:nvCxnSpPr>
        <p:spPr>
          <a:xfrm>
            <a:off x="4453128" y="19293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AuthPUSH"/>
          <p:cNvSpPr/>
          <p:nvPr/>
        </p:nvSpPr>
        <p:spPr>
          <a:xfrm>
            <a:off x="4690872"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PUSH</a:t>
            </a:r>
          </a:p>
        </p:txBody>
      </p:sp>
      <p:sp>
        <p:nvSpPr>
          <p:cNvPr id="14" name="AuthMarkPUSH"/>
          <p:cNvSpPr txBox="1"/>
          <p:nvPr/>
        </p:nvSpPr>
        <p:spPr>
          <a:xfrm>
            <a:off x="4690872" y="2331720"/>
            <a:ext cx="1188720" cy="457200"/>
          </a:xfrm>
          <a:prstGeom prst="rect">
            <a:avLst/>
          </a:prstGeom>
          <a:noFill/>
        </p:spPr>
        <p:txBody>
          <a:bodyPr wrap="square" anchor="t">
            <a:spAutoFit/>
          </a:bodyPr>
          <a:lstStyle/>
          <a:p>
            <a:pPr algn="ctr"/>
            <a:r>
              <a:rPr sz="2400" b="1" i="0">
                <a:solidFill>
                  <a:srgbClr val="5C4826"/>
                </a:solidFill>
              </a:rPr>
              <a:t>✓</a:t>
            </a:r>
          </a:p>
        </p:txBody>
      </p:sp>
      <p:cxnSp>
        <p:nvCxnSpPr>
          <p:cNvPr id="15" name="Connector 14"/>
          <p:cNvCxnSpPr/>
          <p:nvPr/>
        </p:nvCxnSpPr>
        <p:spPr>
          <a:xfrm>
            <a:off x="5879592" y="19293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AuthMERGE"/>
          <p:cNvSpPr/>
          <p:nvPr/>
        </p:nvSpPr>
        <p:spPr>
          <a:xfrm>
            <a:off x="6117336"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MERGE</a:t>
            </a:r>
          </a:p>
        </p:txBody>
      </p:sp>
      <p:sp>
        <p:nvSpPr>
          <p:cNvPr id="17" name="AuthMarkMERGE"/>
          <p:cNvSpPr txBox="1"/>
          <p:nvPr/>
        </p:nvSpPr>
        <p:spPr>
          <a:xfrm>
            <a:off x="6117336" y="2331720"/>
            <a:ext cx="1188720" cy="457200"/>
          </a:xfrm>
          <a:prstGeom prst="rect">
            <a:avLst/>
          </a:prstGeom>
          <a:noFill/>
        </p:spPr>
        <p:txBody>
          <a:bodyPr wrap="square" anchor="t">
            <a:spAutoFit/>
          </a:bodyPr>
          <a:lstStyle/>
          <a:p>
            <a:pPr algn="ctr"/>
            <a:r>
              <a:rPr sz="2400" b="1" i="0">
                <a:solidFill>
                  <a:srgbClr val="555960"/>
                </a:solidFill>
              </a:rPr>
              <a:t>✗</a:t>
            </a:r>
          </a:p>
        </p:txBody>
      </p:sp>
      <p:cxnSp>
        <p:nvCxnSpPr>
          <p:cNvPr id="18" name="Connector 17"/>
          <p:cNvCxnSpPr/>
          <p:nvPr/>
        </p:nvCxnSpPr>
        <p:spPr>
          <a:xfrm>
            <a:off x="7306056" y="19293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AuthDEPLOY"/>
          <p:cNvSpPr/>
          <p:nvPr/>
        </p:nvSpPr>
        <p:spPr>
          <a:xfrm>
            <a:off x="7543800"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DEPLOY</a:t>
            </a:r>
          </a:p>
        </p:txBody>
      </p:sp>
      <p:sp>
        <p:nvSpPr>
          <p:cNvPr id="20" name="AuthMarkDEPLOY"/>
          <p:cNvSpPr txBox="1"/>
          <p:nvPr/>
        </p:nvSpPr>
        <p:spPr>
          <a:xfrm>
            <a:off x="7543800" y="2331720"/>
            <a:ext cx="1188720" cy="457200"/>
          </a:xfrm>
          <a:prstGeom prst="rect">
            <a:avLst/>
          </a:prstGeom>
          <a:noFill/>
        </p:spPr>
        <p:txBody>
          <a:bodyPr wrap="square" anchor="t">
            <a:spAutoFit/>
          </a:bodyPr>
          <a:lstStyle/>
          <a:p>
            <a:pPr algn="ctr"/>
            <a:r>
              <a:rPr sz="2400" b="1" i="0">
                <a:solidFill>
                  <a:srgbClr val="555960"/>
                </a:solidFill>
              </a:rPr>
              <a:t>✗</a:t>
            </a:r>
          </a:p>
        </p:txBody>
      </p:sp>
      <p:sp>
        <p:nvSpPr>
          <p:cNvPr id="21" name="AuthStmt"/>
          <p:cNvSpPr txBox="1"/>
          <p:nvPr/>
        </p:nvSpPr>
        <p:spPr>
          <a:xfrm>
            <a:off x="502920" y="3383280"/>
            <a:ext cx="8138160" cy="548640"/>
          </a:xfrm>
          <a:prstGeom prst="rect">
            <a:avLst/>
          </a:prstGeom>
          <a:noFill/>
        </p:spPr>
        <p:txBody>
          <a:bodyPr wrap="square" anchor="t">
            <a:spAutoFit/>
          </a:bodyPr>
          <a:lstStyle/>
          <a:p>
            <a:pPr algn="ctr"/>
            <a:r>
              <a:rPr sz="2000" b="0" i="0">
                <a:solidFill>
                  <a:srgbClr val="5C4826"/>
                </a:solidFill>
              </a:rPr>
              <a:t>The agent may be capable of an action that it is not authorized to take.</a:t>
            </a:r>
          </a:p>
        </p:txBody>
      </p:sp>
      <p:sp>
        <p:nvSpPr>
          <p:cNvPr id="22" name="AuthCallback"/>
          <p:cNvSpPr txBox="1"/>
          <p:nvPr/>
        </p:nvSpPr>
        <p:spPr>
          <a:xfrm>
            <a:off x="502920" y="4114800"/>
            <a:ext cx="8138160" cy="457200"/>
          </a:xfrm>
          <a:prstGeom prst="rect">
            <a:avLst/>
          </a:prstGeom>
          <a:noFill/>
        </p:spPr>
        <p:txBody>
          <a:bodyPr wrap="square" anchor="t">
            <a:spAutoFit/>
          </a:bodyPr>
          <a:lstStyle/>
          <a:p>
            <a:pPr algn="ctr"/>
            <a:r>
              <a:rPr sz="2000" b="1" i="0">
                <a:solidFill>
                  <a:srgbClr val="8E6F3E"/>
                </a:solidFill>
              </a:rPr>
              <a:t>From Agents: capability is not authority.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Wrong process: insufficient evidence</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extBox 4"/>
          <p:cNvSpPr txBox="1"/>
          <p:nvPr/>
        </p:nvSpPr>
        <p:spPr>
          <a:xfrm>
            <a:off x="274320" y="960120"/>
            <a:ext cx="8595360" cy="731520"/>
          </a:xfrm>
          <a:prstGeom prst="rect">
            <a:avLst/>
          </a:prstGeom>
          <a:noFill/>
        </p:spPr>
        <p:txBody>
          <a:bodyPr wrap="square" anchor="t">
            <a:spAutoFit/>
          </a:bodyPr>
          <a:lstStyle/>
          <a:p>
            <a:pPr algn="ctr"/>
            <a:r>
              <a:rPr sz="2000" b="0" i="1">
                <a:solidFill>
                  <a:srgbClr val="555960"/>
                </a:solidFill>
              </a:rPr>
              <a:t>The agent reports: “All tests pass.”</a:t>
            </a:r>
          </a:p>
        </p:txBody>
      </p:sp>
      <p:sp>
        <p:nvSpPr>
          <p:cNvPr id="6" name="Rectangle 5"/>
          <p:cNvSpPr/>
          <p:nvPr/>
        </p:nvSpPr>
        <p:spPr>
          <a:xfrm>
            <a:off x="640080" y="3154680"/>
            <a:ext cx="2194560" cy="9144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OBLIGATION</a:t>
            </a:r>
          </a:p>
        </p:txBody>
      </p:sp>
      <p:sp>
        <p:nvSpPr>
          <p:cNvPr id="7" name="TextBox 6"/>
          <p:cNvSpPr txBox="1"/>
          <p:nvPr/>
        </p:nvSpPr>
        <p:spPr>
          <a:xfrm>
            <a:off x="3108960" y="3310128"/>
            <a:ext cx="5760720" cy="914400"/>
          </a:xfrm>
          <a:prstGeom prst="rect">
            <a:avLst/>
          </a:prstGeom>
          <a:noFill/>
        </p:spPr>
        <p:txBody>
          <a:bodyPr wrap="square" anchor="t">
            <a:spAutoFit/>
          </a:bodyPr>
          <a:lstStyle/>
          <a:p>
            <a:pPr algn="l"/>
            <a:r>
              <a:rPr sz="2200" b="1" i="0">
                <a:solidFill>
                  <a:srgbClr val="5C4826"/>
                </a:solidFill>
              </a:rPr>
              <a:t>A condition against which the work can be wrong.</a:t>
            </a:r>
          </a:p>
        </p:txBody>
      </p:sp>
      <p:sp>
        <p:nvSpPr>
          <p:cNvPr id="9" name="Rectangle 8"/>
          <p:cNvSpPr/>
          <p:nvPr/>
        </p:nvSpPr>
        <p:spPr>
          <a:xfrm>
            <a:off x="521207" y="1828800"/>
            <a:ext cx="1874519"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Which tests?</a:t>
            </a:r>
          </a:p>
        </p:txBody>
      </p:sp>
      <p:sp>
        <p:nvSpPr>
          <p:cNvPr id="10" name="Rectangle 9"/>
          <p:cNvSpPr/>
          <p:nvPr/>
        </p:nvSpPr>
        <p:spPr>
          <a:xfrm>
            <a:off x="2596896" y="1828800"/>
            <a:ext cx="1874519"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Against which obligations?</a:t>
            </a:r>
          </a:p>
        </p:txBody>
      </p:sp>
      <p:sp>
        <p:nvSpPr>
          <p:cNvPr id="11" name="Rectangle 10"/>
          <p:cNvSpPr/>
          <p:nvPr/>
        </p:nvSpPr>
        <p:spPr>
          <a:xfrm>
            <a:off x="4672584" y="1828800"/>
            <a:ext cx="1874519"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In which environment?</a:t>
            </a:r>
          </a:p>
        </p:txBody>
      </p:sp>
      <p:sp>
        <p:nvSpPr>
          <p:cNvPr id="12" name="Rectangle 11"/>
          <p:cNvSpPr/>
          <p:nvPr/>
        </p:nvSpPr>
        <p:spPr>
          <a:xfrm>
            <a:off x="6748272" y="1828800"/>
            <a:ext cx="1874519"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What wasn’t tested?</a:t>
            </a:r>
          </a:p>
        </p:txBody>
      </p:sp>
      <p:sp>
        <p:nvSpPr>
          <p:cNvPr id="16"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r>
              <a:rPr sz="2000" b="1" i="0">
                <a:solidFill>
                  <a:srgbClr val="FFFFFF"/>
                </a:solidFill>
              </a:rPr>
              <a:t>A correct result is not enough if we cannot justify accepting it.</a:t>
            </a:r>
          </a:p>
        </p:txBody>
      </p:sp>
      <p:sp>
        <p:nvSpPr>
          <p:cNvPr id="0" name="ClassQuestion"/>
          <p:cNvSpPr/>
          <p:nvPr/>
        </p:nvSpPr>
        <p:spPr>
          <a:xfrm>
            <a:off x="274320" y="4663440"/>
            <a:ext cx="8595360" cy="548640"/>
          </a:xfrm>
          <a:prstGeom prst="rect">
            <a:avLst/>
          </a:prstGeom>
          <a:noFill/>
          <a:ln>
            <a:noFill/>
          </a:ln>
          <a:effectLst/>
        </p:spPr>
        <p:txBody>
          <a:bodyPr rtlCol="0" anchor="ctr" wrap="square" lIns="27432" rIns="27432" tIns="22860" bIns="22860"/>
          <a:lstStyle/>
          <a:p>
            <a:pPr algn="ctr">
              <a:buNone/>
            </a:pPr>
            <a:r>
              <a:rPr lang="en-US" sz="2000" b="0" i="1" dirty="0">
                <a:solidFill>
                  <a:srgbClr val="555960"/>
                </a:solidFill>
              </a:rPr>
              <a:t>Can the result be correct while the process is wrong?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3</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From failures to controls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should the engineered environment do about them?</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A failure model suggests controls</a:t>
            </a:r>
          </a:p>
        </p:txBody>
      </p:sp>
      <p:sp>
        <p:nvSpPr>
          <p:cNvPr id="0" name="FCHeadFailure"/>
          <p:cNvSpPr/>
          <p:nvPr/>
        </p:nvSpPr>
        <p:spPr>
          <a:xfrm>
            <a:off x="502920" y="914400"/>
            <a:ext cx="3291840" cy="45720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FAILURE</a:t>
            </a:r>
          </a:p>
        </p:txBody>
      </p:sp>
      <p:sp>
        <p:nvSpPr>
          <p:cNvPr id="0" name="FCHeadResponse"/>
          <p:cNvSpPr/>
          <p:nvPr/>
        </p:nvSpPr>
        <p:spPr>
          <a:xfrm>
            <a:off x="4800600" y="914400"/>
            <a:ext cx="3840480" cy="45720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ENGINEERING RESPONSE</a:t>
            </a:r>
          </a:p>
        </p:txBody>
      </p:sp>
      <p:sp>
        <p:nvSpPr>
          <p:cNvPr id="0" name="FCFail1"/>
          <p:cNvSpPr/>
          <p:nvPr/>
        </p:nvSpPr>
        <p:spPr>
          <a:xfrm>
            <a:off x="502920" y="1508760"/>
            <a:ext cx="3291840" cy="841248"/>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WRONG RESULT</a:t>
            </a:r>
          </a:p>
        </p:txBody>
      </p:sp>
      <p:sp>
        <p:nvSpPr>
          <p:cNvPr id="0" name="FCResp1"/>
          <p:cNvSpPr/>
          <p:nvPr/>
        </p:nvSpPr>
        <p:spPr>
          <a:xfrm>
            <a:off x="4800600" y="1508760"/>
            <a:ext cx="3840480" cy="841248"/>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establish properties of the artifact</a:t>
            </a:r>
          </a:p>
        </p:txBody>
      </p:sp>
      <p:cxnSp>
        <p:nvCxnSpPr>
          <p:cNvPr id="0" name="FCArrow1"/>
          <p:cNvCxnSpPr/>
          <p:nvPr/>
        </p:nvCxnSpPr>
        <p:spPr>
          <a:xfrm>
            <a:off x="3794760" y="1929384"/>
            <a:ext cx="1005840" cy="0"/>
          </a:xfrm>
          <a:prstGeom prst="straightConnector1">
            <a:avLst/>
          </a:prstGeom>
          <a:ln w="19050">
            <a:solidFill>
              <a:srgbClr val="8E6F3E"/>
            </a:solidFill>
            <a:tailEnd type="triangle"/>
          </a:ln>
        </p:spPr>
      </p:cxnSp>
      <p:sp>
        <p:nvSpPr>
          <p:cNvPr id="0" name="FCFail2"/>
          <p:cNvSpPr/>
          <p:nvPr/>
        </p:nvSpPr>
        <p:spPr>
          <a:xfrm>
            <a:off x="502920" y="2487168"/>
            <a:ext cx="3291840" cy="841248"/>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WRONG PROCESS</a:t>
            </a:r>
          </a:p>
        </p:txBody>
      </p:sp>
      <p:sp>
        <p:nvSpPr>
          <p:cNvPr id="0" name="FCResp2"/>
          <p:cNvSpPr/>
          <p:nvPr/>
        </p:nvSpPr>
        <p:spPr>
          <a:xfrm>
            <a:off x="4800600" y="2487168"/>
            <a:ext cx="3840480" cy="841248"/>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observe or constrain actions</a:t>
            </a:r>
          </a:p>
        </p:txBody>
      </p:sp>
      <p:cxnSp>
        <p:nvCxnSpPr>
          <p:cNvPr id="0" name="FCArrow2"/>
          <p:cNvCxnSpPr/>
          <p:nvPr/>
        </p:nvCxnSpPr>
        <p:spPr>
          <a:xfrm>
            <a:off x="3794760" y="2907792"/>
            <a:ext cx="1005840" cy="0"/>
          </a:xfrm>
          <a:prstGeom prst="straightConnector1">
            <a:avLst/>
          </a:prstGeom>
          <a:ln w="19050">
            <a:solidFill>
              <a:srgbClr val="8E6F3E"/>
            </a:solidFill>
            <a:tailEnd type="triangle"/>
          </a:ln>
        </p:spPr>
      </p:cxnSp>
      <p:sp>
        <p:nvSpPr>
          <p:cNvPr id="0" name="FCFail3"/>
          <p:cNvSpPr/>
          <p:nvPr/>
        </p:nvSpPr>
        <p:spPr>
          <a:xfrm>
            <a:off x="502920" y="3465576"/>
            <a:ext cx="3291840" cy="841248"/>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EXCESS AUTHORITY</a:t>
            </a:r>
          </a:p>
        </p:txBody>
      </p:sp>
      <p:sp>
        <p:nvSpPr>
          <p:cNvPr id="0" name="FCResp3"/>
          <p:cNvSpPr/>
          <p:nvPr/>
        </p:nvSpPr>
        <p:spPr>
          <a:xfrm>
            <a:off x="4800600" y="3465576"/>
            <a:ext cx="3840480" cy="841248"/>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restrict consequential actions</a:t>
            </a:r>
          </a:p>
        </p:txBody>
      </p:sp>
      <p:cxnSp>
        <p:nvCxnSpPr>
          <p:cNvPr id="0" name="FCArrow3"/>
          <p:cNvCxnSpPr/>
          <p:nvPr/>
        </p:nvCxnSpPr>
        <p:spPr>
          <a:xfrm>
            <a:off x="3794760" y="3886200"/>
            <a:ext cx="1005840" cy="0"/>
          </a:xfrm>
          <a:prstGeom prst="straightConnector1">
            <a:avLst/>
          </a:prstGeom>
          <a:ln w="19050">
            <a:solidFill>
              <a:srgbClr val="8E6F3E"/>
            </a:solidFill>
            <a:tailEnd type="triangle"/>
          </a:ln>
        </p:spPr>
      </p:cxnSp>
      <p:sp>
        <p:nvSpPr>
          <p:cNvPr id="0" name="FCFail4"/>
          <p:cNvSpPr/>
          <p:nvPr/>
        </p:nvSpPr>
        <p:spPr>
          <a:xfrm>
            <a:off x="502920" y="4443984"/>
            <a:ext cx="3291840" cy="841248"/>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INSUFFICIENT EVIDENCE</a:t>
            </a:r>
          </a:p>
        </p:txBody>
      </p:sp>
      <p:sp>
        <p:nvSpPr>
          <p:cNvPr id="0" name="FCResp4"/>
          <p:cNvSpPr/>
          <p:nvPr/>
        </p:nvSpPr>
        <p:spPr>
          <a:xfrm>
            <a:off x="4800600" y="4443984"/>
            <a:ext cx="3840480" cy="841248"/>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require evidence before acceptance</a:t>
            </a:r>
          </a:p>
        </p:txBody>
      </p:sp>
      <p:cxnSp>
        <p:nvCxnSpPr>
          <p:cNvPr id="0" name="FCArrow4"/>
          <p:cNvCxnSpPr/>
          <p:nvPr/>
        </p:nvCxnSpPr>
        <p:spPr>
          <a:xfrm>
            <a:off x="3794760" y="4864608"/>
            <a:ext cx="1005840" cy="0"/>
          </a:xfrm>
          <a:prstGeom prst="straightConnector1">
            <a:avLst/>
          </a:prstGeom>
          <a:ln w="19050">
            <a:solidFill>
              <a:srgbClr val="8E6F3E"/>
            </a:solidFill>
            <a:tailEnd type="triangle"/>
          </a:ln>
        </p:spPr>
      </p:cxnSp>
      <p:sp>
        <p:nvSpPr>
          <p:cNvPr id="0" name="FCFooter"/>
          <p:cNvSpPr/>
          <p:nvPr/>
        </p:nvSpPr>
        <p:spPr>
          <a:xfrm>
            <a:off x="274320" y="5760720"/>
            <a:ext cx="8595360" cy="777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The bottom two are species of process failure — kept separate because each leads to a distinct mechanism.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Four roles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640080" y="1097280"/>
            <a:ext cx="219456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CONSTRAINT</a:t>
            </a:r>
          </a:p>
        </p:txBody>
      </p:sp>
      <p:sp>
        <p:nvSpPr>
          <p:cNvPr id="6" name="TextBox 5"/>
          <p:cNvSpPr txBox="1"/>
          <p:nvPr/>
        </p:nvSpPr>
        <p:spPr>
          <a:xfrm>
            <a:off x="3108960" y="1124712"/>
            <a:ext cx="4297680" cy="548640"/>
          </a:xfrm>
          <a:prstGeom prst="rect">
            <a:avLst/>
          </a:prstGeom>
          <a:noFill/>
        </p:spPr>
        <p:txBody>
          <a:bodyPr wrap="square" anchor="ctr">
            <a:spAutoFit/>
          </a:bodyPr>
          <a:lstStyle/>
          <a:p>
            <a:pPr algn="l"/>
            <a:r>
              <a:rPr sz="2000" b="0" i="0">
                <a:solidFill>
                  <a:srgbClr val="5C4826"/>
                </a:solidFill>
              </a:rPr>
              <a:t>narrows what may happen</a:t>
            </a:r>
          </a:p>
        </p:txBody>
      </p:sp>
      <p:sp>
        <p:nvSpPr>
          <p:cNvPr id="8" name="Rectangle 7"/>
          <p:cNvSpPr/>
          <p:nvPr/>
        </p:nvSpPr>
        <p:spPr>
          <a:xfrm>
            <a:off x="640080" y="2240280"/>
            <a:ext cx="219456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SENSOR</a:t>
            </a:r>
          </a:p>
        </p:txBody>
      </p:sp>
      <p:sp>
        <p:nvSpPr>
          <p:cNvPr id="9" name="TextBox 8"/>
          <p:cNvSpPr txBox="1"/>
          <p:nvPr/>
        </p:nvSpPr>
        <p:spPr>
          <a:xfrm>
            <a:off x="3108960" y="2267712"/>
            <a:ext cx="4297680" cy="548640"/>
          </a:xfrm>
          <a:prstGeom prst="rect">
            <a:avLst/>
          </a:prstGeom>
          <a:noFill/>
        </p:spPr>
        <p:txBody>
          <a:bodyPr wrap="square" anchor="ctr">
            <a:spAutoFit/>
          </a:bodyPr>
          <a:lstStyle/>
          <a:p>
            <a:pPr algn="l"/>
            <a:r>
              <a:rPr sz="2000" b="0" i="0">
                <a:solidFill>
                  <a:srgbClr val="5C4826"/>
                </a:solidFill>
              </a:rPr>
              <a:t>observes what happened and produces evidence</a:t>
            </a:r>
          </a:p>
        </p:txBody>
      </p:sp>
      <p:sp>
        <p:nvSpPr>
          <p:cNvPr id="11" name="Rectangle 10"/>
          <p:cNvSpPr/>
          <p:nvPr/>
        </p:nvSpPr>
        <p:spPr>
          <a:xfrm>
            <a:off x="640080" y="3383280"/>
            <a:ext cx="219456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VALIDATOR</a:t>
            </a:r>
          </a:p>
        </p:txBody>
      </p:sp>
      <p:sp>
        <p:nvSpPr>
          <p:cNvPr id="12" name="TextBox 11"/>
          <p:cNvSpPr txBox="1"/>
          <p:nvPr/>
        </p:nvSpPr>
        <p:spPr>
          <a:xfrm>
            <a:off x="3108960" y="3410712"/>
            <a:ext cx="4297680" cy="548640"/>
          </a:xfrm>
          <a:prstGeom prst="rect">
            <a:avLst/>
          </a:prstGeom>
          <a:noFill/>
        </p:spPr>
        <p:txBody>
          <a:bodyPr wrap="square" anchor="ctr">
            <a:spAutoFit/>
          </a:bodyPr>
          <a:lstStyle/>
          <a:p>
            <a:pPr algn="l"/>
            <a:r>
              <a:rPr sz="2000" b="0" i="0">
                <a:solidFill>
                  <a:srgbClr val="5C4826"/>
                </a:solidFill>
              </a:rPr>
              <a:t>evaluates evidence against an obligation</a:t>
            </a:r>
          </a:p>
        </p:txBody>
      </p:sp>
      <p:sp>
        <p:nvSpPr>
          <p:cNvPr id="14" name="Rectangle 13"/>
          <p:cNvSpPr/>
          <p:nvPr/>
        </p:nvSpPr>
        <p:spPr>
          <a:xfrm>
            <a:off x="640080" y="4526280"/>
            <a:ext cx="219456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GATE</a:t>
            </a:r>
          </a:p>
        </p:txBody>
      </p:sp>
      <p:sp>
        <p:nvSpPr>
          <p:cNvPr id="15" name="TextBox 14"/>
          <p:cNvSpPr txBox="1"/>
          <p:nvPr/>
        </p:nvSpPr>
        <p:spPr>
          <a:xfrm>
            <a:off x="3108960" y="4553712"/>
            <a:ext cx="4297680" cy="548640"/>
          </a:xfrm>
          <a:prstGeom prst="rect">
            <a:avLst/>
          </a:prstGeom>
          <a:noFill/>
        </p:spPr>
        <p:txBody>
          <a:bodyPr wrap="square" anchor="ctr">
            <a:spAutoFit/>
          </a:bodyPr>
          <a:lstStyle/>
          <a:p>
            <a:pPr algn="l"/>
            <a:r>
              <a:rPr sz="2000" b="0" i="0">
                <a:solidFill>
                  <a:srgbClr val="5C4826"/>
                </a:solidFill>
              </a:rPr>
              <a:t>controls whether work crosses a boundary</a:t>
            </a:r>
          </a:p>
        </p:txBody>
      </p:sp>
      <p:sp>
        <p:nvSpPr>
          <p:cNvPr id="0" name="RolesNote"/>
          <p:cNvSpPr/>
          <p:nvPr/>
        </p:nvSpPr>
        <p:spPr>
          <a:xfrm>
            <a:off x="274320" y="5760720"/>
            <a:ext cx="8595360" cy="548640"/>
          </a:xfrm>
          <a:prstGeom prst="rect">
            <a:avLst/>
          </a:prstGeom>
          <a:noFill/>
          <a:ln>
            <a:noFill/>
          </a:ln>
          <a:effectLst/>
        </p:spPr>
        <p:txBody>
          <a:bodyPr rtlCol="0" anchor="ctr" wrap="square" lIns="27432" rIns="27432" tIns="22860" bIns="22860"/>
          <a:lstStyle/>
          <a:p>
            <a:pPr algn="ctr">
              <a:buNone/>
            </a:pPr>
            <a:r>
              <a:rPr lang="en-US" sz="2000" b="0" i="1" dirty="0">
                <a:solidFill>
                  <a:srgbClr val="555960"/>
                </a:solidFill>
              </a:rPr>
              <a:t>These are roles, not four required components. One mechanism may play several roles.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The four roles compose</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0" name="Pipe-WORK"/>
          <p:cNvSpPr/>
          <p:nvPr/>
        </p:nvSpPr>
        <p:spPr>
          <a:xfrm>
            <a:off x="274320" y="270000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WORK</a:t>
            </a:r>
          </a:p>
        </p:txBody>
      </p:sp>
      <p:sp>
        <p:nvSpPr>
          <p:cNvPr id="0" name="Pipe-SENSOR"/>
          <p:cNvSpPr/>
          <p:nvPr/>
        </p:nvSpPr>
        <p:spPr>
          <a:xfrm>
            <a:off x="204816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SENSOR</a:t>
            </a:r>
          </a:p>
        </p:txBody>
      </p:sp>
      <p:sp>
        <p:nvSpPr>
          <p:cNvPr id="0" name="Pipe-VALIDATOR"/>
          <p:cNvSpPr/>
          <p:nvPr/>
        </p:nvSpPr>
        <p:spPr>
          <a:xfrm>
            <a:off x="382200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VALIDATOR</a:t>
            </a:r>
          </a:p>
        </p:txBody>
      </p:sp>
      <p:sp>
        <p:nvSpPr>
          <p:cNvPr id="0" name="Pipe-GATE"/>
          <p:cNvSpPr/>
          <p:nvPr/>
        </p:nvSpPr>
        <p:spPr>
          <a:xfrm>
            <a:off x="559584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GATE</a:t>
            </a:r>
          </a:p>
        </p:txBody>
      </p:sp>
      <p:sp>
        <p:nvSpPr>
          <p:cNvPr id="0" name="Pipe-ADMISSION"/>
          <p:cNvSpPr/>
          <p:nvPr/>
        </p:nvSpPr>
        <p:spPr>
          <a:xfrm>
            <a:off x="7369680" y="270000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ADMISSION</a:t>
            </a:r>
          </a:p>
        </p:txBody>
      </p:sp>
      <p:cxnSp>
        <p:nvCxnSpPr>
          <p:cNvPr id="0" name="PipeArrow0"/>
          <p:cNvCxnSpPr/>
          <p:nvPr/>
        </p:nvCxnSpPr>
        <p:spPr>
          <a:xfrm>
            <a:off x="1774320" y="3020040"/>
            <a:ext cx="273840" cy="0"/>
          </a:xfrm>
          <a:prstGeom prst="straightConnector1">
            <a:avLst/>
          </a:prstGeom>
          <a:ln w="19050">
            <a:solidFill>
              <a:srgbClr val="8E6F3E"/>
            </a:solidFill>
            <a:tailEnd type="triangle"/>
          </a:ln>
        </p:spPr>
      </p:cxnSp>
      <p:cxnSp>
        <p:nvCxnSpPr>
          <p:cNvPr id="0" name="PipeArrow1"/>
          <p:cNvCxnSpPr/>
          <p:nvPr/>
        </p:nvCxnSpPr>
        <p:spPr>
          <a:xfrm>
            <a:off x="3548160" y="3020040"/>
            <a:ext cx="273840" cy="0"/>
          </a:xfrm>
          <a:prstGeom prst="straightConnector1">
            <a:avLst/>
          </a:prstGeom>
          <a:ln w="19050">
            <a:solidFill>
              <a:srgbClr val="8E6F3E"/>
            </a:solidFill>
            <a:tailEnd type="triangle"/>
          </a:ln>
        </p:spPr>
      </p:cxnSp>
      <p:cxnSp>
        <p:nvCxnSpPr>
          <p:cNvPr id="0" name="PipeArrow2"/>
          <p:cNvCxnSpPr/>
          <p:nvPr/>
        </p:nvCxnSpPr>
        <p:spPr>
          <a:xfrm>
            <a:off x="5322000" y="3020040"/>
            <a:ext cx="273840" cy="0"/>
          </a:xfrm>
          <a:prstGeom prst="straightConnector1">
            <a:avLst/>
          </a:prstGeom>
          <a:ln w="19050">
            <a:solidFill>
              <a:srgbClr val="8E6F3E"/>
            </a:solidFill>
            <a:tailEnd type="triangle"/>
          </a:ln>
        </p:spPr>
      </p:cxnSp>
      <p:cxnSp>
        <p:nvCxnSpPr>
          <p:cNvPr id="0" name="PipeArrow3"/>
          <p:cNvCxnSpPr/>
          <p:nvPr/>
        </p:nvCxnSpPr>
        <p:spPr>
          <a:xfrm>
            <a:off x="7095840" y="3020040"/>
            <a:ext cx="273840" cy="0"/>
          </a:xfrm>
          <a:prstGeom prst="straightConnector1">
            <a:avLst/>
          </a:prstGeom>
          <a:ln w="19050">
            <a:solidFill>
              <a:srgbClr val="8E6F3E"/>
            </a:solidFill>
            <a:tailEnd type="triangle"/>
          </a:ln>
        </p:spPr>
      </p:cxnSp>
      <p:sp>
        <p:nvSpPr>
          <p:cNvPr id="0" name="Pipe-evidence"/>
          <p:cNvSpPr/>
          <p:nvPr/>
        </p:nvSpPr>
        <p:spPr>
          <a:xfrm>
            <a:off x="3136680" y="2151360"/>
            <a:ext cx="1096800" cy="457200"/>
          </a:xfrm>
          <a:prstGeom prst="rect">
            <a:avLst/>
          </a:prstGeom>
          <a:noFill/>
          <a:ln>
            <a:noFill/>
          </a:ln>
          <a:effectLst/>
        </p:spPr>
        <p:txBody>
          <a:bodyPr rtlCol="0" anchor="ctr" wrap="square" lIns="27432" rIns="27432" tIns="22860" bIns="22860"/>
          <a:lstStyle/>
          <a:p>
            <a:pPr algn="ctr">
              <a:buNone/>
            </a:pPr>
            <a:r>
              <a:rPr lang="en-US" sz="2000" b="0" i="0" dirty="0">
                <a:solidFill>
                  <a:srgbClr val="5C4826"/>
                </a:solidFill>
              </a:rPr>
              <a:t>evidence</a:t>
            </a:r>
          </a:p>
        </p:txBody>
      </p:sp>
      <p:sp>
        <p:nvSpPr>
          <p:cNvPr id="0" name="Pipe-verdict"/>
          <p:cNvSpPr/>
          <p:nvPr/>
        </p:nvSpPr>
        <p:spPr>
          <a:xfrm>
            <a:off x="4910520" y="2151360"/>
            <a:ext cx="1096800" cy="457200"/>
          </a:xfrm>
          <a:prstGeom prst="rect">
            <a:avLst/>
          </a:prstGeom>
          <a:noFill/>
          <a:ln>
            <a:noFill/>
          </a:ln>
          <a:effectLst/>
        </p:spPr>
        <p:txBody>
          <a:bodyPr rtlCol="0" anchor="ctr" wrap="square" lIns="27432" rIns="27432" tIns="22860" bIns="22860"/>
          <a:lstStyle/>
          <a:p>
            <a:pPr algn="ctr">
              <a:buNone/>
            </a:pPr>
            <a:r>
              <a:rPr lang="en-US" sz="2000" b="0" i="0" dirty="0">
                <a:solidFill>
                  <a:srgbClr val="5C4826"/>
                </a:solidFill>
              </a:rPr>
              <a:t>verdict</a:t>
            </a:r>
          </a:p>
        </p:txBody>
      </p:sp>
      <p:sp>
        <p:nvSpPr>
          <p:cNvPr id="0" name="Pipe-obligation"/>
          <p:cNvSpPr/>
          <p:nvPr/>
        </p:nvSpPr>
        <p:spPr>
          <a:xfrm>
            <a:off x="274320" y="1325880"/>
            <a:ext cx="1500000" cy="45720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obligation</a:t>
            </a:r>
          </a:p>
        </p:txBody>
      </p:sp>
      <p:cxnSp>
        <p:nvCxnSpPr>
          <p:cNvPr id="0" name="PipeArrowObl"/>
          <p:cNvCxnSpPr/>
          <p:nvPr/>
        </p:nvCxnSpPr>
        <p:spPr>
          <a:xfrm>
            <a:off x="1024320" y="1783080"/>
            <a:ext cx="0" cy="916920"/>
          </a:xfrm>
          <a:prstGeom prst="straightConnector1">
            <a:avLst/>
          </a:prstGeom>
          <a:ln w="19050">
            <a:solidFill>
              <a:srgbClr val="8E6F3E"/>
            </a:solidFill>
            <a:tailEnd type="triangle"/>
          </a:ln>
        </p:spPr>
      </p:cxnSp>
      <p:sp>
        <p:nvSpPr>
          <p:cNvPr id="0" name="Pipe-CONSTRAINT"/>
          <p:cNvSpPr/>
          <p:nvPr/>
        </p:nvSpPr>
        <p:spPr>
          <a:xfrm>
            <a:off x="274320" y="420624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CONSTRAINT</a:t>
            </a:r>
          </a:p>
        </p:txBody>
      </p:sp>
      <p:cxnSp>
        <p:nvCxnSpPr>
          <p:cNvPr id="0" name="PipeArrowCon"/>
          <p:cNvCxnSpPr/>
          <p:nvPr/>
        </p:nvCxnSpPr>
        <p:spPr>
          <a:xfrm flipV="1">
            <a:off x="1024320" y="3340080"/>
            <a:ext cx="0" cy="866160"/>
          </a:xfrm>
          <a:prstGeom prst="straightConnector1">
            <a:avLst/>
          </a:prstGeom>
          <a:ln w="19050">
            <a:solidFill>
              <a:srgbClr val="8E6F3E"/>
            </a:solidFill>
            <a:tailEnd type="triangle"/>
          </a:ln>
        </p:spPr>
      </p:cxnSp>
      <p:sp>
        <p:nvSpPr>
          <p:cNvPr id="0" name="PipeFooter"/>
          <p:cNvSpPr/>
          <p:nvPr/>
        </p:nvSpPr>
        <p:spPr>
          <a:xfrm>
            <a:off x="274320" y="5760720"/>
            <a:ext cx="8595360" cy="777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A constraint narrows the work; a sensor observes it; a validator judges the evidence; a gate decides admission.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Prevent or detect?</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8"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If you can make the wrong state impossible, do. Otherwise: evidence.</a:t>
            </a:r>
          </a:p>
        </p:txBody>
      </p:sp>
      <p:pic>
        <p:nvPicPr>
          <p:cNvPr id="9" name="Fig-3-3-1-constraint-vs-sensor" descr="constraint-vs-sensor-deck.png"/>
          <p:cNvPicPr>
            <a:picLocks noChangeAspect="1"/>
          </p:cNvPicPr>
          <p:nvPr/>
        </p:nvPicPr>
        <p:blipFill>
          <a:blip r:embed="rId3"/>
          <a:stretch>
            <a:fillRect/>
          </a:stretch>
        </p:blipFill>
        <p:spPr>
          <a:xfrm>
            <a:off x="731520" y="1051560"/>
            <a:ext cx="7680960" cy="336042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 verdict can control authority</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7" name="Rectangle 16"/>
          <p:cNvSpPr/>
          <p:nvPr/>
        </p:nvSpPr>
        <p:spPr>
          <a:xfrm>
            <a:off x="502920" y="1801368"/>
            <a:ext cx="173736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WORK</a:t>
            </a:r>
          </a:p>
        </p:txBody>
      </p:sp>
      <p:cxnSp>
        <p:nvCxnSpPr>
          <p:cNvPr id="18" name="Connector 17"/>
          <p:cNvCxnSpPr/>
          <p:nvPr/>
        </p:nvCxnSpPr>
        <p:spPr>
          <a:xfrm>
            <a:off x="2258568" y="2121408"/>
            <a:ext cx="31089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1911095" y="1472184"/>
            <a:ext cx="1005840" cy="292608"/>
          </a:xfrm>
          <a:prstGeom prst="rect">
            <a:avLst/>
          </a:prstGeom>
          <a:noFill/>
        </p:spPr>
        <p:txBody>
          <a:bodyPr wrap="square" anchor="t">
            <a:spAutoFit/>
          </a:bodyPr>
          <a:lstStyle/>
          <a:p>
            <a:pPr algn="ctr"/>
            <a:r>
              <a:rPr sz="2000" b="0" i="1">
                <a:solidFill>
                  <a:srgbClr val="555960"/>
                </a:solidFill>
              </a:rPr>
              <a:t>evidence</a:t>
            </a:r>
          </a:p>
        </p:txBody>
      </p:sp>
      <p:sp>
        <p:nvSpPr>
          <p:cNvPr id="20" name="Rectangle 19"/>
          <p:cNvSpPr/>
          <p:nvPr/>
        </p:nvSpPr>
        <p:spPr>
          <a:xfrm>
            <a:off x="2587752" y="1801368"/>
            <a:ext cx="173736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VALIDATOR</a:t>
            </a:r>
          </a:p>
        </p:txBody>
      </p:sp>
      <p:cxnSp>
        <p:nvCxnSpPr>
          <p:cNvPr id="21" name="Connector 20"/>
          <p:cNvCxnSpPr/>
          <p:nvPr/>
        </p:nvCxnSpPr>
        <p:spPr>
          <a:xfrm>
            <a:off x="4343400" y="2121408"/>
            <a:ext cx="31089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3995928" y="1472184"/>
            <a:ext cx="1005840" cy="292608"/>
          </a:xfrm>
          <a:prstGeom prst="rect">
            <a:avLst/>
          </a:prstGeom>
          <a:noFill/>
        </p:spPr>
        <p:txBody>
          <a:bodyPr wrap="square" anchor="t">
            <a:spAutoFit/>
          </a:bodyPr>
          <a:lstStyle/>
          <a:p>
            <a:pPr algn="ctr"/>
            <a:r>
              <a:rPr sz="2000" b="0" i="1">
                <a:solidFill>
                  <a:srgbClr val="555960"/>
                </a:solidFill>
              </a:rPr>
              <a:t>verdict</a:t>
            </a:r>
          </a:p>
        </p:txBody>
      </p:sp>
      <p:sp>
        <p:nvSpPr>
          <p:cNvPr id="23" name="Rectangle 22"/>
          <p:cNvSpPr/>
          <p:nvPr/>
        </p:nvSpPr>
        <p:spPr>
          <a:xfrm>
            <a:off x="4672583" y="1801368"/>
            <a:ext cx="173736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GATE</a:t>
            </a:r>
          </a:p>
        </p:txBody>
      </p:sp>
      <p:cxnSp>
        <p:nvCxnSpPr>
          <p:cNvPr id="24" name="Connector 23"/>
          <p:cNvCxnSpPr/>
          <p:nvPr/>
        </p:nvCxnSpPr>
        <p:spPr>
          <a:xfrm>
            <a:off x="6428231" y="2121408"/>
            <a:ext cx="310897"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080759" y="1472184"/>
            <a:ext cx="1005840" cy="292608"/>
          </a:xfrm>
          <a:prstGeom prst="rect">
            <a:avLst/>
          </a:prstGeom>
          <a:noFill/>
        </p:spPr>
        <p:txBody>
          <a:bodyPr wrap="square" anchor="t">
            <a:spAutoFit/>
          </a:bodyPr>
          <a:lstStyle/>
          <a:p>
            <a:pPr algn="ctr"/>
            <a:r>
              <a:rPr sz="2000" b="0" i="1">
                <a:solidFill>
                  <a:srgbClr val="555960"/>
                </a:solidFill>
              </a:rPr>
              <a:t>admits</a:t>
            </a:r>
          </a:p>
        </p:txBody>
      </p:sp>
      <p:sp>
        <p:nvSpPr>
          <p:cNvPr id="26" name="Rectangle 25"/>
          <p:cNvSpPr/>
          <p:nvPr/>
        </p:nvSpPr>
        <p:spPr>
          <a:xfrm>
            <a:off x="6757415" y="1801368"/>
            <a:ext cx="173736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MERGE · DEPLOY</a:t>
            </a:r>
          </a:p>
        </p:txBody>
      </p:sp>
      <p:sp>
        <p:nvSpPr>
          <p:cNvPr id="27" name="TextBox 26"/>
          <p:cNvSpPr txBox="1"/>
          <p:nvPr/>
        </p:nvSpPr>
        <p:spPr>
          <a:xfrm>
            <a:off x="274320" y="3017520"/>
            <a:ext cx="8595360" cy="731520"/>
          </a:xfrm>
          <a:prstGeom prst="rect">
            <a:avLst/>
          </a:prstGeom>
          <a:noFill/>
        </p:spPr>
        <p:txBody>
          <a:bodyPr wrap="square" anchor="t">
            <a:spAutoFit/>
          </a:bodyPr>
          <a:lstStyle/>
          <a:p>
            <a:pPr algn="ctr"/>
            <a:r>
              <a:rPr sz="2000" b="0" i="1">
                <a:solidFill>
                  <a:srgbClr val="555960"/>
                </a:solidFill>
              </a:rPr>
              <a:t>The agent may modify and propose freely.</a:t>
            </a:r>
          </a:p>
          <a:p>
            <a:pPr algn="ctr"/>
            <a:r>
              <a:rPr sz="2000" b="0" i="1">
                <a:solidFill>
                  <a:srgbClr val="555960"/>
                </a:solidFill>
              </a:rPr>
              <a:t>Merge and deployment are conditional on verdicts.</a:t>
            </a:r>
          </a:p>
        </p:txBody>
      </p:sp>
      <p:sp>
        <p:nvSpPr>
          <p:cNvPr id="29"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A gate makes authority conditional on a verdict.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Alignment gives validation consequences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extBox 4"/>
          <p:cNvSpPr txBox="1"/>
          <p:nvPr/>
        </p:nvSpPr>
        <p:spPr>
          <a:xfrm>
            <a:off x="137160" y="1572768"/>
            <a:ext cx="1371600" cy="640080"/>
          </a:xfrm>
          <a:prstGeom prst="rect">
            <a:avLst/>
          </a:prstGeom>
          <a:noFill/>
        </p:spPr>
        <p:txBody>
          <a:bodyPr wrap="square" anchor="ctr">
            <a:spAutoFit/>
          </a:bodyPr>
          <a:lstStyle/>
          <a:p>
            <a:pPr algn="l"/>
            <a:r>
              <a:rPr sz="2000" b="1" i="0">
                <a:solidFill>
                  <a:srgbClr val="8E6F3E"/>
                </a:solidFill>
              </a:rPr>
              <a:t>VALIDATION</a:t>
            </a:r>
          </a:p>
        </p:txBody>
      </p:sp>
      <p:sp>
        <p:nvSpPr>
          <p:cNvPr id="6" name="Rectangle 5"/>
          <p:cNvSpPr/>
          <p:nvPr/>
        </p:nvSpPr>
        <p:spPr>
          <a:xfrm>
            <a:off x="1554480"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CLAIM</a:t>
            </a:r>
          </a:p>
        </p:txBody>
      </p:sp>
      <p:cxnSp>
        <p:nvCxnSpPr>
          <p:cNvPr id="7" name="Connector 6"/>
          <p:cNvCxnSpPr/>
          <p:nvPr/>
        </p:nvCxnSpPr>
        <p:spPr>
          <a:xfrm>
            <a:off x="3191256"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3419856"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EVIDENCE</a:t>
            </a:r>
          </a:p>
        </p:txBody>
      </p:sp>
      <p:cxnSp>
        <p:nvCxnSpPr>
          <p:cNvPr id="9" name="Connector 8"/>
          <p:cNvCxnSpPr/>
          <p:nvPr/>
        </p:nvCxnSpPr>
        <p:spPr>
          <a:xfrm>
            <a:off x="5056632"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285232"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JUDGMENT</a:t>
            </a:r>
          </a:p>
        </p:txBody>
      </p:sp>
      <p:cxnSp>
        <p:nvCxnSpPr>
          <p:cNvPr id="11" name="Connector 10"/>
          <p:cNvCxnSpPr/>
          <p:nvPr/>
        </p:nvCxnSpPr>
        <p:spPr>
          <a:xfrm>
            <a:off x="6922008"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7150608"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ACTION</a:t>
            </a:r>
          </a:p>
        </p:txBody>
      </p:sp>
      <p:cxnSp>
        <p:nvCxnSpPr>
          <p:cNvPr id="13" name="Connector 12"/>
          <p:cNvCxnSpPr/>
          <p:nvPr/>
        </p:nvCxnSpPr>
        <p:spPr>
          <a:xfrm>
            <a:off x="2368296"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233672"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099048"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964424"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37160" y="2907792"/>
            <a:ext cx="1371600" cy="640080"/>
          </a:xfrm>
          <a:prstGeom prst="rect">
            <a:avLst/>
          </a:prstGeom>
          <a:noFill/>
        </p:spPr>
        <p:txBody>
          <a:bodyPr wrap="square" anchor="ctr">
            <a:spAutoFit/>
          </a:bodyPr>
          <a:lstStyle/>
          <a:p>
            <a:pPr algn="l"/>
            <a:r>
              <a:rPr sz="2000" b="1" i="0">
                <a:solidFill>
                  <a:srgbClr val="8E6F3E"/>
                </a:solidFill>
              </a:rPr>
              <a:t>ALIGNMENT</a:t>
            </a:r>
          </a:p>
        </p:txBody>
      </p:sp>
      <p:sp>
        <p:nvSpPr>
          <p:cNvPr id="18" name="Rectangle 17"/>
          <p:cNvSpPr/>
          <p:nvPr/>
        </p:nvSpPr>
        <p:spPr>
          <a:xfrm>
            <a:off x="1554480"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OBLIGATION</a:t>
            </a:r>
          </a:p>
        </p:txBody>
      </p:sp>
      <p:cxnSp>
        <p:nvCxnSpPr>
          <p:cNvPr id="19" name="Connector 18"/>
          <p:cNvCxnSpPr/>
          <p:nvPr/>
        </p:nvCxnSpPr>
        <p:spPr>
          <a:xfrm>
            <a:off x="3191256"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3419856"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EVIDENCE</a:t>
            </a:r>
          </a:p>
        </p:txBody>
      </p:sp>
      <p:cxnSp>
        <p:nvCxnSpPr>
          <p:cNvPr id="21" name="Connector 20"/>
          <p:cNvCxnSpPr/>
          <p:nvPr/>
        </p:nvCxnSpPr>
        <p:spPr>
          <a:xfrm>
            <a:off x="5056632"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5285232"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JUDGMENT</a:t>
            </a:r>
          </a:p>
        </p:txBody>
      </p:sp>
      <p:cxnSp>
        <p:nvCxnSpPr>
          <p:cNvPr id="23" name="Connector 22"/>
          <p:cNvCxnSpPr/>
          <p:nvPr/>
        </p:nvCxnSpPr>
        <p:spPr>
          <a:xfrm>
            <a:off x="6922008"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7150608" y="2926080"/>
            <a:ext cx="1627632" cy="60350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CONSEQUENCE</a:t>
            </a:r>
          </a:p>
        </p:txBody>
      </p:sp>
      <p:sp>
        <p:nvSpPr>
          <p:cNvPr id="25" name="TextBox 24"/>
          <p:cNvSpPr txBox="1"/>
          <p:nvPr/>
        </p:nvSpPr>
        <p:spPr>
          <a:xfrm>
            <a:off x="274320" y="4023360"/>
            <a:ext cx="8595360" cy="731520"/>
          </a:xfrm>
          <a:prstGeom prst="rect">
            <a:avLst/>
          </a:prstGeom>
          <a:noFill/>
        </p:spPr>
        <p:txBody>
          <a:bodyPr wrap="square" anchor="t">
            <a:spAutoFit/>
          </a:bodyPr>
          <a:lstStyle/>
          <a:p>
            <a:pPr algn="ctr"/>
            <a:r>
              <a:rPr sz="2000" b="0" i="1">
                <a:solidFill>
                  <a:srgbClr val="555960"/>
                </a:solidFill>
              </a:rPr>
              <a:t>Validation asks whether the evidence supports the claim.</a:t>
            </a:r>
          </a:p>
          <a:p>
            <a:pPr algn="ctr"/>
            <a:r>
              <a:rPr sz="2000" b="0" i="1">
                <a:solidFill>
                  <a:srgbClr val="555960"/>
                </a:solidFill>
              </a:rPr>
              <a:t>Alignment asks what the verdict should control.</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4</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Check it where you can know</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17</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Where can each obligation actually be decided?</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Where can you decide?</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29260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EDIT</a:t>
            </a:r>
          </a:p>
        </p:txBody>
      </p:sp>
      <p:cxnSp>
        <p:nvCxnSpPr>
          <p:cNvPr id="6" name="Connector 5"/>
          <p:cNvCxnSpPr/>
          <p:nvPr/>
        </p:nvCxnSpPr>
        <p:spPr>
          <a:xfrm>
            <a:off x="1490472"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1737360"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COMMIT</a:t>
            </a:r>
          </a:p>
        </p:txBody>
      </p:sp>
      <p:cxnSp>
        <p:nvCxnSpPr>
          <p:cNvPr id="8" name="Connector 7"/>
          <p:cNvCxnSpPr/>
          <p:nvPr/>
        </p:nvCxnSpPr>
        <p:spPr>
          <a:xfrm>
            <a:off x="2935224"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3182112"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PUSH</a:t>
            </a:r>
          </a:p>
        </p:txBody>
      </p:sp>
      <p:cxnSp>
        <p:nvCxnSpPr>
          <p:cNvPr id="10" name="Connector 9"/>
          <p:cNvCxnSpPr/>
          <p:nvPr/>
        </p:nvCxnSpPr>
        <p:spPr>
          <a:xfrm>
            <a:off x="4379976"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4626864"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MERGE</a:t>
            </a:r>
          </a:p>
        </p:txBody>
      </p:sp>
      <p:cxnSp>
        <p:nvCxnSpPr>
          <p:cNvPr id="12" name="Connector 11"/>
          <p:cNvCxnSpPr/>
          <p:nvPr/>
        </p:nvCxnSpPr>
        <p:spPr>
          <a:xfrm>
            <a:off x="5824728"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6071616"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DEPLOY</a:t>
            </a:r>
          </a:p>
        </p:txBody>
      </p:sp>
      <p:cxnSp>
        <p:nvCxnSpPr>
          <p:cNvPr id="14" name="Connector 13"/>
          <p:cNvCxnSpPr/>
          <p:nvPr/>
        </p:nvCxnSpPr>
        <p:spPr>
          <a:xfrm>
            <a:off x="7269480"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51636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RUNTIME</a:t>
            </a:r>
          </a:p>
        </p:txBody>
      </p:sp>
      <p:cxnSp>
        <p:nvCxnSpPr>
          <p:cNvPr id="16" name="Connector 15"/>
          <p:cNvCxnSpPr/>
          <p:nvPr/>
        </p:nvCxnSpPr>
        <p:spPr>
          <a:xfrm flipV="1">
            <a:off x="88696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168656"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type</a:t>
            </a:r>
          </a:p>
          <a:p>
            <a:pPr algn="ctr"/>
            <a:r>
              <a:rPr sz="2000" b="0" i="0">
                <a:solidFill>
                  <a:srgbClr val="5C4826"/>
                </a:solidFill>
              </a:rPr>
              <a:t>property</a:t>
            </a:r>
          </a:p>
        </p:txBody>
      </p:sp>
      <p:cxnSp>
        <p:nvCxnSpPr>
          <p:cNvPr id="18" name="Connector 17"/>
          <p:cNvCxnSpPr/>
          <p:nvPr/>
        </p:nvCxnSpPr>
        <p:spPr>
          <a:xfrm flipV="1">
            <a:off x="2331720"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1613408"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forbidden</a:t>
            </a:r>
          </a:p>
          <a:p>
            <a:pPr algn="ctr"/>
            <a:r>
              <a:rPr sz="2000" b="0" i="0">
                <a:solidFill>
                  <a:srgbClr val="5C4826"/>
                </a:solidFill>
              </a:rPr>
              <a:t>dependency</a:t>
            </a:r>
          </a:p>
        </p:txBody>
      </p:sp>
      <p:cxnSp>
        <p:nvCxnSpPr>
          <p:cNvPr id="20" name="Connector 19"/>
          <p:cNvCxnSpPr/>
          <p:nvPr/>
        </p:nvCxnSpPr>
        <p:spPr>
          <a:xfrm flipV="1">
            <a:off x="5221224"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4502912"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integration</a:t>
            </a:r>
          </a:p>
          <a:p>
            <a:pPr algn="ctr"/>
            <a:r>
              <a:rPr sz="2000" b="0" i="0">
                <a:solidFill>
                  <a:srgbClr val="5C4826"/>
                </a:solidFill>
              </a:rPr>
              <a:t>behavior</a:t>
            </a:r>
          </a:p>
        </p:txBody>
      </p:sp>
      <p:cxnSp>
        <p:nvCxnSpPr>
          <p:cNvPr id="22" name="Connector 21"/>
          <p:cNvCxnSpPr/>
          <p:nvPr/>
        </p:nvCxnSpPr>
        <p:spPr>
          <a:xfrm flipV="1">
            <a:off x="6665976"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5947664"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latency</a:t>
            </a:r>
          </a:p>
          <a:p>
            <a:pPr algn="ctr"/>
            <a:r>
              <a:rPr sz="2000" b="0" i="0">
                <a:solidFill>
                  <a:srgbClr val="5C4826"/>
                </a:solidFill>
              </a:rPr>
              <a:t>under load</a:t>
            </a:r>
          </a:p>
        </p:txBody>
      </p:sp>
      <p:cxnSp>
        <p:nvCxnSpPr>
          <p:cNvPr id="24" name="Connector 23"/>
          <p:cNvCxnSpPr/>
          <p:nvPr/>
        </p:nvCxnSpPr>
        <p:spPr>
          <a:xfrm flipV="1">
            <a:off x="811072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7392416"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deployed</a:t>
            </a:r>
          </a:p>
          <a:p>
            <a:pPr algn="ctr"/>
            <a:r>
              <a:rPr sz="2000" b="0" i="0">
                <a:solidFill>
                  <a:srgbClr val="5C4826"/>
                </a:solidFill>
              </a:rPr>
              <a:t>configuration</a:t>
            </a:r>
          </a:p>
        </p:txBody>
      </p:sp>
      <p:sp>
        <p:nvSpPr>
          <p:cNvPr id="2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Check at the earliest boundary where the obligation can be decided.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Earlier is not always possible</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 name="SemanticGapTakeaway"/>
          <p:cNvSpPr txBox="1"/>
          <p:nvPr/>
        </p:nvSpPr>
        <p:spPr>
          <a:xfrm>
            <a:off x="274320" y="4709160"/>
            <a:ext cx="8595360" cy="822960"/>
          </a:xfrm>
          <a:prstGeom prst="rect">
            <a:avLst/>
          </a:prstGeom>
          <a:noFill/>
        </p:spPr>
        <p:txBody>
          <a:bodyPr wrap="square" anchor="t" lIns="27432" rIns="27432" tIns="22860" bIns="22860">
            <a:spAutoFit/>
          </a:bodyPr>
          <a:lstStyle/>
          <a:p>
            <a:pPr algn="ctr"/>
            <a:r>
              <a:rPr sz="2000" b="0" i="0">
                <a:solidFill>
                  <a:srgbClr val="5C4826"/>
                </a:solidFill>
              </a:rPr>
              <a:t>Lift the check to the first boundary where the obligation becomes decidable.</a:t>
            </a:r>
          </a:p>
        </p:txBody>
      </p:sp>
      <p:sp>
        <p:nvSpPr>
          <p:cNvPr id="19" name="SG-Unit"/>
          <p:cNvSpPr/>
          <p:nvPr/>
        </p:nvSpPr>
        <p:spPr>
          <a:xfrm>
            <a:off x="2103120" y="1051560"/>
            <a:ext cx="4937760" cy="9000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COMPLETED UNIT OF WORK</a:t>
            </a:r>
          </a:p>
          <a:p>
            <a:pPr algn="ctr"/>
            <a:r>
              <a:rPr sz="2000" b="0" i="1">
                <a:solidFill>
                  <a:srgbClr val="FBF8F2"/>
                </a:solidFill>
              </a:rPr>
              <a:t>obligation decidable here</a:t>
            </a:r>
          </a:p>
        </p:txBody>
      </p:sp>
      <p:cxnSp>
        <p:nvCxnSpPr>
          <p:cNvPr id="20" name="SG-Lift"/>
          <p:cNvCxnSpPr/>
          <p:nvPr/>
        </p:nvCxnSpPr>
        <p:spPr>
          <a:xfrm flipV="1">
            <a:off x="4572000" y="2011680"/>
            <a:ext cx="0" cy="1024128"/>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SG-Caption"/>
          <p:cNvSpPr txBox="1"/>
          <p:nvPr/>
        </p:nvSpPr>
        <p:spPr>
          <a:xfrm>
            <a:off x="274320" y="3218688"/>
            <a:ext cx="8595360" cy="457200"/>
          </a:xfrm>
          <a:prstGeom prst="rect">
            <a:avLst/>
          </a:prstGeom>
          <a:noFill/>
        </p:spPr>
        <p:txBody>
          <a:bodyPr wrap="square" anchor="t" lIns="27432" rIns="27432" tIns="22860" bIns="22860">
            <a:spAutoFit/>
          </a:bodyPr>
          <a:lstStyle/>
          <a:p>
            <a:pPr algn="ctr"/>
            <a:r>
              <a:rPr sz="2000" b="0" i="1">
                <a:solidFill>
                  <a:srgbClr val="8E6F3E"/>
                </a:solidFill>
              </a:rPr>
              <a:t>obligation not decidable at any individual commit</a:t>
            </a:r>
          </a:p>
        </p:txBody>
      </p:sp>
      <p:sp>
        <p:nvSpPr>
          <p:cNvPr id="22" name="SG-Commit1"/>
          <p:cNvSpPr/>
          <p:nvPr/>
        </p:nvSpPr>
        <p:spPr>
          <a:xfrm>
            <a:off x="1828800" y="37033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3" name="SG-Commit2"/>
          <p:cNvSpPr/>
          <p:nvPr/>
        </p:nvSpPr>
        <p:spPr>
          <a:xfrm>
            <a:off x="3264408" y="37033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4" name="SG-Commit3"/>
          <p:cNvSpPr/>
          <p:nvPr/>
        </p:nvSpPr>
        <p:spPr>
          <a:xfrm>
            <a:off x="4700016" y="37033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5" name="SG-Commit4"/>
          <p:cNvSpPr/>
          <p:nvPr/>
        </p:nvSpPr>
        <p:spPr>
          <a:xfrm>
            <a:off x="6135624" y="37033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cxnSp>
        <p:nvCxnSpPr>
          <p:cNvPr id="26" name="SG-Arrow1"/>
          <p:cNvCxnSpPr/>
          <p:nvPr/>
        </p:nvCxnSpPr>
        <p:spPr>
          <a:xfrm>
            <a:off x="3026664" y="39867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7" name="SG-Arrow2"/>
          <p:cNvCxnSpPr/>
          <p:nvPr/>
        </p:nvCxnSpPr>
        <p:spPr>
          <a:xfrm>
            <a:off x="4462272" y="39867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8" name="SG-Arrow3"/>
          <p:cNvCxnSpPr/>
          <p:nvPr/>
        </p:nvCxnSpPr>
        <p:spPr>
          <a:xfrm>
            <a:off x="5897880" y="39867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Right obligation, wrong boundary</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274320" y="1005840"/>
            <a:ext cx="8595360" cy="7315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2000" b="1" i="0">
                <a:solidFill>
                  <a:srgbClr val="8E6F3E"/>
                </a:solidFill>
              </a:rPr>
              <a:t xml:space="preserve">OBLIGATION  </a:t>
            </a:r>
            <a:r>
              <a:rPr sz="2000" b="0" i="0">
                <a:solidFill>
                  <a:srgbClr val="5C4826"/>
                </a:solidFill>
              </a:rPr>
              <a:t>The code and its architectural model must agree when the task completes.</a:t>
            </a:r>
          </a:p>
        </p:txBody>
      </p:sp>
      <p:sp>
        <p:nvSpPr>
          <p:cNvPr id="6" name="Rectangle 5"/>
          <p:cNvSpPr/>
          <p:nvPr/>
        </p:nvSpPr>
        <p:spPr>
          <a:xfrm>
            <a:off x="292608"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EDIT</a:t>
            </a:r>
          </a:p>
        </p:txBody>
      </p:sp>
      <p:cxnSp>
        <p:nvCxnSpPr>
          <p:cNvPr id="7" name="Connector 6"/>
          <p:cNvCxnSpPr/>
          <p:nvPr/>
        </p:nvCxnSpPr>
        <p:spPr>
          <a:xfrm>
            <a:off x="1490472"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1737360"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COMMIT</a:t>
            </a:r>
          </a:p>
        </p:txBody>
      </p:sp>
      <p:cxnSp>
        <p:nvCxnSpPr>
          <p:cNvPr id="9" name="Connector 8"/>
          <p:cNvCxnSpPr/>
          <p:nvPr/>
        </p:nvCxnSpPr>
        <p:spPr>
          <a:xfrm>
            <a:off x="2935224"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182112"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PUSH</a:t>
            </a:r>
          </a:p>
        </p:txBody>
      </p:sp>
      <p:cxnSp>
        <p:nvCxnSpPr>
          <p:cNvPr id="11" name="Connector 10"/>
          <p:cNvCxnSpPr/>
          <p:nvPr/>
        </p:nvCxnSpPr>
        <p:spPr>
          <a:xfrm>
            <a:off x="4379976"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4626864"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MERGE</a:t>
            </a:r>
          </a:p>
        </p:txBody>
      </p:sp>
      <p:cxnSp>
        <p:nvCxnSpPr>
          <p:cNvPr id="13" name="Connector 12"/>
          <p:cNvCxnSpPr/>
          <p:nvPr/>
        </p:nvCxnSpPr>
        <p:spPr>
          <a:xfrm>
            <a:off x="5824728"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6071616"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DEPLOY</a:t>
            </a:r>
          </a:p>
        </p:txBody>
      </p:sp>
      <p:cxnSp>
        <p:nvCxnSpPr>
          <p:cNvPr id="15" name="Connector 14"/>
          <p:cNvCxnSpPr/>
          <p:nvPr/>
        </p:nvCxnSpPr>
        <p:spPr>
          <a:xfrm>
            <a:off x="7269480"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Rectangle 15"/>
          <p:cNvSpPr/>
          <p:nvPr/>
        </p:nvSpPr>
        <p:spPr>
          <a:xfrm>
            <a:off x="7516368"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RUNTIME</a:t>
            </a:r>
          </a:p>
        </p:txBody>
      </p:sp>
      <p:cxnSp>
        <p:nvCxnSpPr>
          <p:cNvPr id="17" name="Connector 16"/>
          <p:cNvCxnSpPr/>
          <p:nvPr/>
        </p:nvCxnSpPr>
        <p:spPr>
          <a:xfrm flipV="1">
            <a:off x="2331720" y="2606040"/>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1051560" y="3291840"/>
            <a:ext cx="2560320" cy="105156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  enforced per-commit</a:t>
            </a:r>
          </a:p>
          <a:p>
            <a:pPr algn="ctr"/>
            <a:r>
              <a:rPr sz="2000" b="0" i="1">
                <a:solidFill>
                  <a:srgbClr val="555960"/>
                </a:solidFill>
              </a:rPr>
              <a:t>rejects legitimate</a:t>
            </a:r>
          </a:p>
          <a:p>
            <a:pPr algn="ctr"/>
            <a:r>
              <a:rPr sz="2000" b="0" i="1">
                <a:solidFill>
                  <a:srgbClr val="555960"/>
                </a:solidFill>
              </a:rPr>
              <a:t>intermediate states</a:t>
            </a:r>
          </a:p>
        </p:txBody>
      </p:sp>
      <p:cxnSp>
        <p:nvCxnSpPr>
          <p:cNvPr id="19" name="Connector 18"/>
          <p:cNvCxnSpPr/>
          <p:nvPr/>
        </p:nvCxnSpPr>
        <p:spPr>
          <a:xfrm flipV="1">
            <a:off x="5221224" y="2606040"/>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3941064" y="3291840"/>
            <a:ext cx="2560320" cy="10515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  decided at merge</a:t>
            </a:r>
          </a:p>
          <a:p>
            <a:pPr algn="ctr"/>
            <a:r>
              <a:rPr sz="2000" b="0" i="1">
                <a:solidFill>
                  <a:srgbClr val="555960"/>
                </a:solidFill>
              </a:rPr>
              <a:t>when the task’s work</a:t>
            </a:r>
          </a:p>
          <a:p>
            <a:pPr algn="ctr"/>
            <a:r>
              <a:rPr sz="2000" b="0" i="1">
                <a:solidFill>
                  <a:srgbClr val="555960"/>
                </a:solidFill>
              </a:rPr>
              <a:t>is assembled</a:t>
            </a:r>
          </a:p>
        </p:txBody>
      </p:sp>
      <p:sp>
        <p:nvSpPr>
          <p:cNvPr id="21" name="TextBox 20"/>
          <p:cNvSpPr txBox="1"/>
          <p:nvPr/>
        </p:nvSpPr>
        <p:spPr>
          <a:xfrm>
            <a:off x="274320" y="4572000"/>
            <a:ext cx="8595360" cy="502920"/>
          </a:xfrm>
          <a:prstGeom prst="rect">
            <a:avLst/>
          </a:prstGeom>
          <a:noFill/>
        </p:spPr>
        <p:txBody>
          <a:bodyPr wrap="square" anchor="t">
            <a:spAutoFit/>
          </a:bodyPr>
          <a:lstStyle/>
          <a:p>
            <a:pPr algn="ctr"/>
            <a:r>
              <a:rPr sz="2000" b="0" i="1">
                <a:solidFill>
                  <a:srgbClr val="555960"/>
                </a:solidFill>
              </a:rPr>
              <a:t>The obligation is right. The early boundary simply cannot decide it yet.</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2400" b="0">
                <a:solidFill>
                  <a:srgbClr val="000000"/>
                </a:solidFill>
              </a:rPr>
              <a:t>Production is only part of the system</a:t>
            </a:r>
          </a:p>
        </p:txBody>
      </p:sp>
      <p:sp>
        <p:nvSpPr>
          <p:cNvPr id="3" name="Slide Number Placeholder 2"/>
          <p:cNvSpPr>
            <a:spLocks noGrp="1"/>
          </p:cNvSpPr>
          <p:nvPr>
            <p:ph type="sldNum" sz="quarter" idx="4"/>
          </p:nvPr>
        </p:nvSpPr>
        <p:spPr/>
        <p:txBody>
          <a:bodyPr/>
          <a:lstStyle/>
          <a:p>
            <a:fld id="{B7EB45DA-9A0D-DC49-8E02-F30A5DDC21C3}" type="slidenum">
              <a:rPr lang="en-US" smtClean="0"/>
              <a:t>25</a:t>
            </a:fld>
            <a:endParaRPr lang="en-US"/>
          </a:p>
        </p:txBody>
      </p:sp>
      <p:sp>
        <p:nvSpPr>
          <p:cNvPr id="10" name="ProdLabel"/>
          <p:cNvSpPr txBox="1"/>
          <p:nvPr/>
        </p:nvSpPr>
        <p:spPr>
          <a:xfrm>
            <a:off x="365760" y="1143000"/>
            <a:ext cx="2925024" cy="1143000"/>
          </a:xfrm>
          <a:prstGeom prst="rect">
            <a:avLst/>
          </a:prstGeom>
          <a:noFill/>
          <a:ln>
            <a:noFill/>
          </a:ln>
        </p:spPr>
        <p:txBody>
          <a:bodyPr wrap="square" lIns="0" tIns="0" rIns="0" bIns="0" anchor="ctr"/>
          <a:lstStyle/>
          <a:p>
            <a:pPr algn="l">
              <a:spcAft>
                <a:spcPts val="0"/>
              </a:spcAft>
              <a:buNone/>
            </a:pPr>
            <a:r>
              <a:rPr lang="en-US" sz="2000" b="1" dirty="0">
                <a:solidFill>
                  <a:srgbClr val="8E6F3E"/>
                </a:solidFill>
              </a:rPr>
              <a:t>PRODUCTION</a:t>
            </a:r>
          </a:p>
          <a:p>
            <a:pPr algn="l">
              <a:spcAft>
                <a:spcPts val="0"/>
              </a:spcAft>
              <a:buNone/>
            </a:pPr>
            <a:r>
              <a:rPr lang="en-US" sz="2000" b="0" i="1" dirty="0">
                <a:solidFill>
                  <a:srgbClr val="555960"/>
                </a:solidFill>
              </a:rPr>
              <a:t>probability of an acceptable candidate</a:t>
            </a:r>
          </a:p>
        </p:txBody>
      </p:sp>
      <p:sp>
        <p:nvSpPr>
          <p:cNvPr id="11" name="EqNode"/>
          <p:cNvSpPr txBox="1"/>
          <p:nvPr/>
        </p:nvSpPr>
        <p:spPr>
          <a:xfrm>
            <a:off x="3200400" y="1143000"/>
            <a:ext cx="2743200" cy="457200"/>
          </a:xfrm>
          <a:prstGeom prst="rect">
            <a:avLst/>
          </a:prstGeom>
          <a:noFill/>
          <a:ln>
            <a:noFill/>
          </a:ln>
        </p:spPr>
        <p:txBody>
          <a:bodyPr wrap="square" lIns="0" tIns="0" rIns="0" bIns="0" anchor="ctr"/>
          <a:lstStyle/>
          <a:p>
            <a:pPr algn="ctr">
              <a:spcAft>
                <a:spcPts val="0"/>
              </a:spcAft>
              <a:buNone/>
            </a:pPr>
            <a:r>
              <a:rPr lang="en-US" sz="2800" b="0" i="1" dirty="0">
                <a:solidFill>
                  <a:srgbClr val="5C4826"/>
                </a:solidFill>
              </a:rPr>
              <a:t>p(T,M,R,H)</a:t>
            </a:r>
          </a:p>
        </p:txBody>
      </p:sp>
      <p:cxnSp>
        <p:nvCxnSpPr>
          <p:cNvPr id="20" name="A0"/>
          <p:cNvCxnSpPr/>
          <p:nvPr/>
        </p:nvCxnSpPr>
        <p:spPr>
          <a:xfrm>
            <a:off x="4572000" y="1737360"/>
            <a:ext cx="0" cy="182880"/>
          </a:xfrm>
          <a:prstGeom prst="straightConnector1">
            <a:avLst/>
          </a:prstGeom>
          <a:ln w="19050">
            <a:solidFill>
              <a:srgbClr val="8E6F3E"/>
            </a:solidFill>
            <a:tailEnd type="triangle" w="med" len="med"/>
          </a:ln>
        </p:spPr>
      </p:cxnSp>
      <p:sp>
        <p:nvSpPr>
          <p:cNvPr id="21" name="ChipCandidate"/>
          <p:cNvSpPr/>
          <p:nvPr/>
        </p:nvSpPr>
        <p:spPr>
          <a:xfrm>
            <a:off x="3474720" y="1920240"/>
            <a:ext cx="2194560" cy="457200"/>
          </a:xfrm>
          <a:prstGeom prst="rect">
            <a:avLst/>
          </a:prstGeom>
          <a:solidFill>
            <a:srgbClr val="FBF8F2"/>
          </a:solidFill>
          <a:ln w="12700">
            <a:solidFill>
              <a:srgbClr val="C9B991"/>
            </a:solidFill>
          </a:ln>
          <a:effectLst/>
        </p:spPr>
        <p:txBody>
          <a:bodyPr rtlCol="0" anchor="ctr" wrap="square" lIns="27432" rIns="27432" tIns="22860" bIns="22860"/>
          <a:lstStyle/>
          <a:p>
            <a:pPr algn="ctr"/>
            <a:r>
              <a:rPr sz="2000" b="1" i="0">
                <a:solidFill>
                  <a:srgbClr val="5C4826"/>
                </a:solidFill>
              </a:rPr>
              <a:t>CANDIDATE</a:t>
            </a:r>
          </a:p>
        </p:txBody>
      </p:sp>
      <p:cxnSp>
        <p:nvCxnSpPr>
          <p:cNvPr id="22" name="A1"/>
          <p:cNvCxnSpPr/>
          <p:nvPr/>
        </p:nvCxnSpPr>
        <p:spPr>
          <a:xfrm>
            <a:off x="4572000" y="2377440"/>
            <a:ext cx="0" cy="228600"/>
          </a:xfrm>
          <a:prstGeom prst="straightConnector1">
            <a:avLst/>
          </a:prstGeom>
          <a:ln w="19050">
            <a:solidFill>
              <a:srgbClr val="8E6F3E"/>
            </a:solidFill>
            <a:tailEnd type="triangle" w="med" len="med"/>
          </a:ln>
        </p:spPr>
      </p:cxnSp>
      <p:sp>
        <p:nvSpPr>
          <p:cNvPr id="23" name="ChipObligation"/>
          <p:cNvSpPr/>
          <p:nvPr/>
        </p:nvSpPr>
        <p:spPr>
          <a:xfrm>
            <a:off x="3474720" y="2606040"/>
            <a:ext cx="2194560" cy="457200"/>
          </a:xfrm>
          <a:prstGeom prst="rect">
            <a:avLst/>
          </a:prstGeom>
          <a:solidFill>
            <a:srgbClr val="F5F1E8"/>
          </a:solidFill>
          <a:ln w="12700">
            <a:solidFill>
              <a:srgbClr val="C9B991"/>
            </a:solidFill>
          </a:ln>
          <a:effectLst/>
        </p:spPr>
        <p:txBody>
          <a:bodyPr rtlCol="0" anchor="ctr" wrap="square" lIns="27432" rIns="27432" tIns="22860" bIns="22860"/>
          <a:lstStyle/>
          <a:p>
            <a:pPr algn="ctr"/>
            <a:r>
              <a:rPr sz="2000" b="1" i="0">
                <a:solidFill>
                  <a:srgbClr val="5C4826"/>
                </a:solidFill>
              </a:rPr>
              <a:t>OBLIGATION</a:t>
            </a:r>
          </a:p>
        </p:txBody>
      </p:sp>
      <p:cxnSp>
        <p:nvCxnSpPr>
          <p:cNvPr id="24" name="A2"/>
          <p:cNvCxnSpPr/>
          <p:nvPr/>
        </p:nvCxnSpPr>
        <p:spPr>
          <a:xfrm>
            <a:off x="4572000" y="3063240"/>
            <a:ext cx="0" cy="228600"/>
          </a:xfrm>
          <a:prstGeom prst="straightConnector1">
            <a:avLst/>
          </a:prstGeom>
          <a:ln w="19050">
            <a:solidFill>
              <a:srgbClr val="8E6F3E"/>
            </a:solidFill>
            <a:tailEnd type="triangle" w="med" len="med"/>
          </a:ln>
        </p:spPr>
      </p:cxnSp>
      <p:sp>
        <p:nvSpPr>
          <p:cNvPr id="25" name="ChipEvidence"/>
          <p:cNvSpPr/>
          <p:nvPr/>
        </p:nvSpPr>
        <p:spPr>
          <a:xfrm>
            <a:off x="3474720" y="3291840"/>
            <a:ext cx="2194560" cy="457200"/>
          </a:xfrm>
          <a:prstGeom prst="rect">
            <a:avLst/>
          </a:prstGeom>
          <a:solidFill>
            <a:srgbClr val="F5F1E8"/>
          </a:solidFill>
          <a:ln w="12700">
            <a:solidFill>
              <a:srgbClr val="C9B991"/>
            </a:solidFill>
          </a:ln>
          <a:effectLst/>
        </p:spPr>
        <p:txBody>
          <a:bodyPr rtlCol="0" anchor="ctr" wrap="square" lIns="27432" rIns="27432" tIns="22860" bIns="22860"/>
          <a:lstStyle/>
          <a:p>
            <a:pPr algn="ctr"/>
            <a:r>
              <a:rPr sz="2000" b="1" i="0">
                <a:solidFill>
                  <a:srgbClr val="5C4826"/>
                </a:solidFill>
              </a:rPr>
              <a:t>EVIDENCE</a:t>
            </a:r>
          </a:p>
        </p:txBody>
      </p:sp>
      <p:cxnSp>
        <p:nvCxnSpPr>
          <p:cNvPr id="26" name="A3"/>
          <p:cNvCxnSpPr/>
          <p:nvPr/>
        </p:nvCxnSpPr>
        <p:spPr>
          <a:xfrm>
            <a:off x="4572000" y="3749040"/>
            <a:ext cx="0" cy="228600"/>
          </a:xfrm>
          <a:prstGeom prst="straightConnector1">
            <a:avLst/>
          </a:prstGeom>
          <a:ln w="19050">
            <a:solidFill>
              <a:srgbClr val="8E6F3E"/>
            </a:solidFill>
            <a:tailEnd type="triangle" w="med" len="med"/>
          </a:ln>
        </p:spPr>
      </p:cxnSp>
      <p:sp>
        <p:nvSpPr>
          <p:cNvPr id="27" name="ChipJudgment"/>
          <p:cNvSpPr/>
          <p:nvPr/>
        </p:nvSpPr>
        <p:spPr>
          <a:xfrm>
            <a:off x="3474720" y="3977640"/>
            <a:ext cx="2194560" cy="457200"/>
          </a:xfrm>
          <a:prstGeom prst="rect">
            <a:avLst/>
          </a:prstGeom>
          <a:solidFill>
            <a:srgbClr val="F5F1E8"/>
          </a:solidFill>
          <a:ln w="12700">
            <a:solidFill>
              <a:srgbClr val="C9B991"/>
            </a:solidFill>
          </a:ln>
          <a:effectLst/>
        </p:spPr>
        <p:txBody>
          <a:bodyPr rtlCol="0" anchor="ctr" wrap="square" lIns="27432" rIns="27432" tIns="22860" bIns="22860"/>
          <a:lstStyle/>
          <a:p>
            <a:pPr algn="ctr"/>
            <a:r>
              <a:rPr sz="2000" b="1" i="0">
                <a:solidFill>
                  <a:srgbClr val="5C4826"/>
                </a:solidFill>
              </a:rPr>
              <a:t>JUDGMENT</a:t>
            </a:r>
          </a:p>
        </p:txBody>
      </p:sp>
      <p:cxnSp>
        <p:nvCxnSpPr>
          <p:cNvPr id="28" name="A4"/>
          <p:cNvCxnSpPr/>
          <p:nvPr/>
        </p:nvCxnSpPr>
        <p:spPr>
          <a:xfrm>
            <a:off x="4572000" y="4434840"/>
            <a:ext cx="0" cy="228600"/>
          </a:xfrm>
          <a:prstGeom prst="straightConnector1">
            <a:avLst/>
          </a:prstGeom>
          <a:ln w="19050">
            <a:solidFill>
              <a:srgbClr val="8E6F3E"/>
            </a:solidFill>
            <a:tailEnd type="triangle" w="med" len="med"/>
          </a:ln>
        </p:spPr>
      </p:cxnSp>
      <p:sp>
        <p:nvSpPr>
          <p:cNvPr id="29" name="ChipConsequence"/>
          <p:cNvSpPr/>
          <p:nvPr/>
        </p:nvSpPr>
        <p:spPr>
          <a:xfrm>
            <a:off x="3474720" y="4663440"/>
            <a:ext cx="2194560" cy="457200"/>
          </a:xfrm>
          <a:prstGeom prst="rect">
            <a:avLst/>
          </a:prstGeom>
          <a:solidFill>
            <a:srgbClr val="8E6F3E"/>
          </a:solidFill>
          <a:ln>
            <a:noFill/>
          </a:ln>
          <a:effectLst/>
        </p:spPr>
        <p:txBody>
          <a:bodyPr rtlCol="0" anchor="ctr" wrap="square" lIns="27432" rIns="27432" tIns="22860" bIns="22860"/>
          <a:lstStyle/>
          <a:p>
            <a:pPr algn="ctr"/>
            <a:r>
              <a:rPr sz="2000" b="1" i="0">
                <a:solidFill>
                  <a:srgbClr val="FFFFFF"/>
                </a:solidFill>
              </a:rPr>
              <a:t>CONSEQUENCE</a:t>
            </a:r>
          </a:p>
        </p:txBody>
      </p:sp>
      <p:sp>
        <p:nvSpPr>
          <p:cNvPr id="199" name="FooterBand"/>
          <p:cNvSpPr/>
          <p:nvPr/>
        </p:nvSpPr>
        <p:spPr>
          <a:xfrm>
            <a:off x="274320" y="5486400"/>
            <a:ext cx="8595360" cy="1325880"/>
          </a:xfrm>
          <a:prstGeom prst="rect">
            <a:avLst/>
          </a:prstGeom>
          <a:solidFill>
            <a:srgbClr val="8E6F3E"/>
          </a:solidFill>
          <a:ln>
            <a:noFill/>
          </a:ln>
        </p:spPr>
        <p:txBody>
          <a:bodyPr wrap="square" lIns="27432" tIns="0" rIns="27432" bIns="45720" anchor="ctr"/>
          <a:lstStyle/>
          <a:p>
            <a:r>
              <a:rPr lang="en-US" sz="2000" b="1" i="0" dirty="0">
                <a:solidFill>
                  <a:srgbClr val="FFFFFF"/>
                </a:solidFill>
              </a:rPr>
              <a:t>Production asks whether the agent can produce an acceptable candidate.</a:t>
            </a:r>
          </a:p>
          <a:p>
            <a:r>
              <a:rPr lang="en-US" sz="2000" b="1" i="0" dirty="0">
                <a:solidFill>
                  <a:srgbClr val="FFFFFF"/>
                </a:solidFill>
              </a:rPr>
              <a:t>Alignment decides whether that candidate may be accepted, merged, deployed, or otherwise acted upon.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85800" y="2139696"/>
            <a:ext cx="7772400" cy="1444752"/>
          </a:xfrm>
        </p:spPr>
        <p:txBody>
          <a:bodyPr wrap="square"/>
          <a:lstStyle/>
          <a:p>
            <a:pPr algn="ctr"/>
            <a:r>
              <a:rPr sz="3400">
                <a:solidFill>
                  <a:srgbClr val="000000"/>
                </a:solidFill>
              </a:rPr>
              <a:t>Stretch break</a:t>
            </a:r>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4" name="Rectangle 3"/>
          <p:cNvSpPr/>
          <p:nvPr/>
        </p:nvSpPr>
        <p:spPr>
          <a:xfrm>
            <a:off x="3429000" y="3383280"/>
            <a:ext cx="2286000" cy="5486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5</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Models as validation surfaces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27</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How can explicit models help us establish obligations?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We just did Alignment without models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extBox 4"/>
          <p:cNvSpPr txBox="1"/>
          <p:nvPr/>
        </p:nvSpPr>
        <p:spPr>
          <a:xfrm>
            <a:off x="548640" y="1645920"/>
            <a:ext cx="8046720" cy="1463040"/>
          </a:xfrm>
          <a:prstGeom prst="rect">
            <a:avLst/>
          </a:prstGeom>
          <a:noFill/>
        </p:spPr>
        <p:txBody>
          <a:bodyPr wrap="square" anchor="ctr">
            <a:spAutoFit/>
          </a:bodyPr>
          <a:lstStyle/>
          <a:p>
            <a:pPr algn="ctr"/>
            <a:r>
              <a:rPr sz="2400" b="1" i="0">
                <a:solidFill>
                  <a:srgbClr val="000000"/>
                </a:solidFill>
              </a:rPr>
              <a:t>We just reasoned about constraints, evidence, evaluation, and authority.</a:t>
            </a:r>
          </a:p>
          <a:p>
            <a:pPr algn="ctr"/>
            <a:r>
              <a:rPr sz="2400" b="1" i="0">
                <a:solidFill>
                  <a:srgbClr val="000000"/>
                </a:solidFill>
              </a:rPr>
              <a:t>No explicit model was required.</a:t>
            </a:r>
          </a:p>
        </p:txBody>
      </p:sp>
      <p:sp>
        <p:nvSpPr>
          <p:cNvPr id="6" name="TextBox 5"/>
          <p:cNvSpPr txBox="1"/>
          <p:nvPr/>
        </p:nvSpPr>
        <p:spPr>
          <a:xfrm>
            <a:off x="548640" y="3840480"/>
            <a:ext cx="8046720" cy="548640"/>
          </a:xfrm>
          <a:prstGeom prst="rect">
            <a:avLst/>
          </a:prstGeom>
          <a:noFill/>
        </p:spPr>
        <p:txBody>
          <a:bodyPr wrap="square" anchor="t">
            <a:spAutoFit/>
          </a:bodyPr>
          <a:lstStyle/>
          <a:p>
            <a:pPr algn="ctr"/>
            <a:r>
              <a:rPr sz="2300" b="0" i="1">
                <a:solidFill>
                  <a:srgbClr val="8E6F3E"/>
                </a:solidFill>
              </a:rPr>
              <a:t>So why did we spend the previous lecture on Modeling?</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85800" y="1700784"/>
            <a:ext cx="7772400" cy="1005840"/>
          </a:xfrm>
        </p:spPr>
        <p:txBody>
          <a:bodyPr wrap="square"/>
          <a:lstStyle/>
          <a:p>
            <a:pPr algn="ctr"/>
            <a:r>
              <a:rPr sz="4000">
                <a:solidFill>
                  <a:srgbClr val="000000"/>
                </a:solidFill>
              </a:rPr>
              <a:t>What do models buy us?</a:t>
            </a:r>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4" name="TextBox 3"/>
          <p:cNvSpPr txBox="1"/>
          <p:nvPr/>
        </p:nvSpPr>
        <p:spPr>
          <a:xfrm>
            <a:off x="685800" y="1243584"/>
            <a:ext cx="7772400" cy="365760"/>
          </a:xfrm>
          <a:prstGeom prst="rect">
            <a:avLst/>
          </a:prstGeom>
          <a:noFill/>
        </p:spPr>
        <p:txBody>
          <a:bodyPr wrap="square" anchor="t">
            <a:spAutoFit/>
          </a:bodyPr>
          <a:lstStyle/>
          <a:p>
            <a:pPr algn="ctr"/>
            <a:r>
              <a:rPr sz="2000" b="1" i="0">
                <a:solidFill>
                  <a:srgbClr val="8E6F3E"/>
                </a:solidFill>
              </a:rPr>
              <a:t>DISCUSSION</a:t>
            </a:r>
          </a:p>
        </p:txBody>
      </p:sp>
      <p:sp>
        <p:nvSpPr>
          <p:cNvPr id="5" name="Rectangle 4"/>
          <p:cNvSpPr/>
          <p:nvPr/>
        </p:nvSpPr>
        <p:spPr>
          <a:xfrm>
            <a:off x="3429000" y="3017520"/>
            <a:ext cx="2286000" cy="5486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Models make engineering knowledge explicit</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extBox 4"/>
          <p:cNvSpPr txBox="1"/>
          <p:nvPr/>
        </p:nvSpPr>
        <p:spPr>
          <a:xfrm>
            <a:off x="640080" y="914400"/>
            <a:ext cx="8595360" cy="365760"/>
          </a:xfrm>
          <a:prstGeom prst="rect">
            <a:avLst/>
          </a:prstGeom>
          <a:noFill/>
        </p:spPr>
        <p:txBody>
          <a:bodyPr wrap="square" anchor="t">
            <a:spAutoFit/>
          </a:bodyPr>
          <a:lstStyle/>
          <a:p>
            <a:pPr algn="l"/>
            <a:r>
              <a:rPr sz="2000" b="1" i="0">
                <a:solidFill>
                  <a:srgbClr val="8E6F3E"/>
                </a:solidFill>
              </a:rPr>
              <a:t>A MODEL CAN …</a:t>
            </a:r>
          </a:p>
        </p:txBody>
      </p:sp>
      <p:sp>
        <p:nvSpPr>
          <p:cNvPr id="6" name="Rectangle 5"/>
          <p:cNvSpPr/>
          <p:nvPr/>
        </p:nvSpPr>
        <p:spPr>
          <a:xfrm>
            <a:off x="640080" y="1371600"/>
            <a:ext cx="25603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PRESERVE</a:t>
            </a:r>
          </a:p>
        </p:txBody>
      </p:sp>
      <p:sp>
        <p:nvSpPr>
          <p:cNvPr id="7" name="TextBox 6"/>
          <p:cNvSpPr txBox="1"/>
          <p:nvPr/>
        </p:nvSpPr>
        <p:spPr>
          <a:xfrm>
            <a:off x="3383280" y="1499616"/>
            <a:ext cx="5440680" cy="731520"/>
          </a:xfrm>
          <a:prstGeom prst="rect">
            <a:avLst/>
          </a:prstGeom>
          <a:noFill/>
        </p:spPr>
        <p:txBody>
          <a:bodyPr wrap="square" anchor="t">
            <a:spAutoFit/>
          </a:bodyPr>
          <a:lstStyle/>
          <a:p>
            <a:pPr algn="l"/>
            <a:r>
              <a:rPr sz="2000" b="0" i="0">
                <a:solidFill>
                  <a:srgbClr val="5C4826"/>
                </a:solidFill>
              </a:rPr>
              <a:t>distinctions that matter</a:t>
            </a:r>
          </a:p>
        </p:txBody>
      </p:sp>
      <p:sp>
        <p:nvSpPr>
          <p:cNvPr id="8" name="Rectangle 7"/>
          <p:cNvSpPr/>
          <p:nvPr/>
        </p:nvSpPr>
        <p:spPr>
          <a:xfrm>
            <a:off x="640080" y="2304288"/>
            <a:ext cx="25603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EXPOSE</a:t>
            </a:r>
          </a:p>
        </p:txBody>
      </p:sp>
      <p:sp>
        <p:nvSpPr>
          <p:cNvPr id="9" name="TextBox 8"/>
          <p:cNvSpPr txBox="1"/>
          <p:nvPr/>
        </p:nvSpPr>
        <p:spPr>
          <a:xfrm>
            <a:off x="3383280" y="2432304"/>
            <a:ext cx="5440680" cy="731520"/>
          </a:xfrm>
          <a:prstGeom prst="rect">
            <a:avLst/>
          </a:prstGeom>
          <a:noFill/>
        </p:spPr>
        <p:txBody>
          <a:bodyPr wrap="square" anchor="t">
            <a:spAutoFit/>
          </a:bodyPr>
          <a:lstStyle/>
          <a:p>
            <a:pPr algn="l"/>
            <a:r>
              <a:rPr sz="2000" b="0" i="0">
                <a:solidFill>
                  <a:srgbClr val="5C4826"/>
                </a:solidFill>
              </a:rPr>
              <a:t>relationships that would otherwise have to be inferred</a:t>
            </a:r>
          </a:p>
        </p:txBody>
      </p:sp>
      <p:sp>
        <p:nvSpPr>
          <p:cNvPr id="10" name="Rectangle 9"/>
          <p:cNvSpPr/>
          <p:nvPr/>
        </p:nvSpPr>
        <p:spPr>
          <a:xfrm>
            <a:off x="640080" y="3236976"/>
            <a:ext cx="25603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LEAVE OPEN</a:t>
            </a:r>
          </a:p>
        </p:txBody>
      </p:sp>
      <p:sp>
        <p:nvSpPr>
          <p:cNvPr id="11" name="TextBox 10"/>
          <p:cNvSpPr txBox="1"/>
          <p:nvPr/>
        </p:nvSpPr>
        <p:spPr>
          <a:xfrm>
            <a:off x="3383280" y="3364992"/>
            <a:ext cx="5440680" cy="731520"/>
          </a:xfrm>
          <a:prstGeom prst="rect">
            <a:avLst/>
          </a:prstGeom>
          <a:noFill/>
        </p:spPr>
        <p:txBody>
          <a:bodyPr wrap="square" anchor="t">
            <a:spAutoFit/>
          </a:bodyPr>
          <a:lstStyle/>
          <a:p>
            <a:pPr algn="l"/>
            <a:r>
              <a:rPr sz="2000" b="0" i="0">
                <a:solidFill>
                  <a:srgbClr val="5C4826"/>
                </a:solidFill>
              </a:rPr>
              <a:t>realization choices that do not matter</a:t>
            </a:r>
          </a:p>
        </p:txBody>
      </p:sp>
      <p:sp>
        <p:nvSpPr>
          <p:cNvPr id="12" name="Rectangle 11"/>
          <p:cNvSpPr/>
          <p:nvPr/>
        </p:nvSpPr>
        <p:spPr>
          <a:xfrm>
            <a:off x="640080" y="4169664"/>
            <a:ext cx="25603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ENABLE</a:t>
            </a:r>
          </a:p>
        </p:txBody>
      </p:sp>
      <p:sp>
        <p:nvSpPr>
          <p:cNvPr id="13" name="TextBox 12"/>
          <p:cNvSpPr txBox="1"/>
          <p:nvPr/>
        </p:nvSpPr>
        <p:spPr>
          <a:xfrm>
            <a:off x="3383280" y="4297680"/>
            <a:ext cx="5440680" cy="731520"/>
          </a:xfrm>
          <a:prstGeom prst="rect">
            <a:avLst/>
          </a:prstGeom>
          <a:noFill/>
        </p:spPr>
        <p:txBody>
          <a:bodyPr wrap="square" anchor="t">
            <a:spAutoFit/>
          </a:bodyPr>
          <a:lstStyle/>
          <a:p>
            <a:pPr algn="l"/>
            <a:r>
              <a:rPr sz="2000" b="0" i="0">
                <a:solidFill>
                  <a:srgbClr val="5C4826"/>
                </a:solidFill>
              </a:rPr>
              <a:t>evaluations that otherwise require reconstruction</a:t>
            </a:r>
          </a:p>
        </p:txBody>
      </p:sp>
      <p:sp>
        <p:nvSpPr>
          <p:cNvPr id="14" name="TextBox 13"/>
          <p:cNvSpPr txBox="1"/>
          <p:nvPr/>
        </p:nvSpPr>
        <p:spPr>
          <a:xfrm>
            <a:off x="274320" y="5010912"/>
            <a:ext cx="8595360" cy="411480"/>
          </a:xfrm>
          <a:prstGeom prst="rect">
            <a:avLst/>
          </a:prstGeom>
          <a:noFill/>
        </p:spPr>
        <p:txBody>
          <a:bodyPr wrap="square" anchor="t">
            <a:spAutoFit/>
          </a:bodyPr>
          <a:lstStyle/>
          <a:p>
            <a:r>
              <a:rPr sz="2000" b="1" i="1">
                <a:solidFill>
                  <a:srgbClr val="555960"/>
                </a:solidFill>
              </a:rPr>
              <a:t>Models give validation mechanisms an explicit object to inspect.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You already have two models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0" name="LabKicker"/>
          <p:cNvSpPr/>
          <p:nvPr/>
        </p:nvSpPr>
        <p:spPr>
          <a:xfrm>
            <a:off x="5349240" y="205000"/>
            <a:ext cx="3520440" cy="470000"/>
          </a:xfrm>
          <a:prstGeom prst="roundRect">
            <a:avLst/>
          </a:prstGeom>
          <a:solidFill>
            <a:srgbClr val="FBF8F2"/>
          </a:solidFill>
          <a:ln w="15875">
            <a:solidFill>
              <a:srgbClr val="8E6F3E"/>
            </a:solidFill>
          </a:ln>
          <a:effectLst/>
        </p:spPr>
        <p:txBody>
          <a:bodyPr rtlCol="0" anchor="ctr" wrap="square" lIns="27432" rIns="27432" tIns="22860" bIns="22860"/>
          <a:lstStyle/>
          <a:p>
            <a:pPr algn="ctr">
              <a:buNone/>
            </a:pPr>
            <a:r>
              <a:rPr lang="en-US" sz="2000" b="1" i="0" dirty="0">
                <a:solidFill>
                  <a:srgbClr val="8E6F3E"/>
                </a:solidFill>
              </a:rPr>
              <a:t>FROM THE MODELING LAB</a:t>
            </a:r>
          </a:p>
        </p:txBody>
      </p:sp>
      <p:sp>
        <p:nvSpPr>
          <p:cNvPr id="0" name="Card-memory"/>
          <p:cNvSpPr/>
          <p:nvPr/>
        </p:nvSpPr>
        <p:spPr>
          <a:xfrm>
            <a:off x="502920" y="1051560"/>
            <a:ext cx="3977639" cy="403860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DEVICE FIRMWARE</a:t>
            </a:r>
          </a:p>
          <a:p>
            <a:pPr algn="ctr">
              <a:spcBef>
                <a:spcPts val="900"/>
              </a:spcBef>
              <a:buNone/>
            </a:pPr>
            <a:r>
              <a:rPr lang="en-US" sz="2000" b="0" i="1" dirty="0">
                <a:solidFill>
                  <a:srgbClr val="555960"/>
                </a:solidFill>
              </a:rPr>
              <a:t>working memory view</a:t>
            </a:r>
          </a:p>
          <a:p>
            <a:pPr algn="l">
              <a:spcBef>
                <a:spcPts val="900"/>
              </a:spcBef>
              <a:buNone/>
            </a:pPr>
            <a:r>
              <a:rPr lang="en-US" sz="2000" b="0" i="0" dirty="0">
                <a:solidFill>
                  <a:srgbClr val="5C4826"/>
                </a:solidFill>
              </a:rPr>
              <a:t>Sense · Analyze · Transmit</a:t>
            </a:r>
          </a:p>
          <a:p>
            <a:pPr algn="l">
              <a:spcBef>
                <a:spcPts val="900"/>
              </a:spcBef>
              <a:buNone/>
            </a:pPr>
            <a:r>
              <a:rPr lang="en-US" sz="2000" b="0" i="0" dirty="0">
                <a:solidFill>
                  <a:srgbClr val="5C4826"/>
                </a:solidFill>
              </a:rPr>
              <a:t>max working memory 24 / 32 / 24 KB</a:t>
            </a:r>
          </a:p>
          <a:p>
            <a:pPr algn="l">
              <a:spcBef>
                <a:spcPts val="900"/>
              </a:spcBef>
              <a:buNone/>
            </a:pPr>
            <a:r>
              <a:rPr lang="en-US" sz="2000" b="0" i="0" dirty="0">
                <a:solidFill>
                  <a:srgbClr val="5C4826"/>
                </a:solidFill>
              </a:rPr>
              <a:t>device ceiling 48 KB</a:t>
            </a:r>
          </a:p>
          <a:p>
            <a:pPr algn="l">
              <a:spcBef>
                <a:spcPts val="900"/>
              </a:spcBef>
              <a:buNone/>
            </a:pPr>
            <a:r>
              <a:rPr lang="en-US" sz="2000" b="0" i="1" dirty="0">
                <a:solidFill>
                  <a:srgbClr val="555960"/>
                </a:solidFill>
              </a:rPr>
              <a:t>omits: who decides that a thread may run</a:t>
            </a:r>
          </a:p>
        </p:txBody>
      </p:sp>
      <p:sp>
        <p:nvSpPr>
          <p:cNvPr id="0" name="Card-control"/>
          <p:cNvSpPr/>
          <p:nvPr/>
        </p:nvSpPr>
        <p:spPr>
          <a:xfrm>
            <a:off x="4663440" y="1051560"/>
            <a:ext cx="3977639" cy="403860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THREAD ADMISSION CONTROL</a:t>
            </a:r>
          </a:p>
          <a:p>
            <a:pPr algn="ctr">
              <a:spcBef>
                <a:spcPts val="900"/>
              </a:spcBef>
              <a:buNone/>
            </a:pPr>
            <a:r>
              <a:rPr lang="en-US" sz="2000" b="0" i="1" dirty="0">
                <a:solidFill>
                  <a:srgbClr val="555960"/>
                </a:solidFill>
              </a:rPr>
              <a:t>lifecycle view</a:t>
            </a:r>
          </a:p>
          <a:p>
            <a:pPr algn="l">
              <a:spcBef>
                <a:spcPts val="900"/>
              </a:spcBef>
              <a:buNone/>
            </a:pPr>
            <a:r>
              <a:rPr lang="en-US" sz="2000" b="0" i="0" dirty="0">
                <a:solidFill>
                  <a:srgbClr val="5C4826"/>
                </a:solidFill>
              </a:rPr>
              <a:t>each thread: Asleep ⇄ Awake</a:t>
            </a:r>
          </a:p>
          <a:p>
            <a:pPr algn="l">
              <a:spcBef>
                <a:spcPts val="900"/>
              </a:spcBef>
              <a:buNone/>
            </a:pPr>
            <a:r>
              <a:rPr lang="en-US" sz="2000" b="0" i="0" dirty="0">
                <a:solidFill>
                  <a:srgbClr val="5C4826"/>
                </a:solidFill>
              </a:rPr>
              <a:t>asleep holds no working memory; awake holds up to its maximum</a:t>
            </a:r>
          </a:p>
          <a:p>
            <a:pPr algn="l">
              <a:spcBef>
                <a:spcPts val="900"/>
              </a:spcBef>
              <a:buNone/>
            </a:pPr>
            <a:r>
              <a:rPr lang="en-US" sz="2000" b="0" i="0" dirty="0">
                <a:solidFill>
                  <a:srgbClr val="5C4826"/>
                </a:solidFill>
              </a:rPr>
              <a:t>the Scheduler admits at most two threads awake</a:t>
            </a:r>
          </a:p>
          <a:p>
            <a:pPr algn="l">
              <a:spcBef>
                <a:spcPts val="900"/>
              </a:spcBef>
              <a:buNone/>
            </a:pPr>
            <a:r>
              <a:rPr lang="en-US" sz="2000" b="0" i="1" dirty="0">
                <a:solidFill>
                  <a:srgbClr val="555960"/>
                </a:solidFill>
              </a:rPr>
              <a:t>omits: what any thread costs in working memory</a:t>
            </a:r>
          </a:p>
        </p:txBody>
      </p:sp>
      <p:sp>
        <p:nvSpPr>
          <p:cNvPr id="0" name="FooterBand"/>
          <p:cNvSpPr/>
          <p:nvPr/>
        </p:nvSpPr>
        <p:spPr>
          <a:xfrm>
            <a:off x="274320" y="5760720"/>
            <a:ext cx="8595360" cy="777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How might we use each model in validation?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 model can support static validation</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0" name="St-MODEL"/>
          <p:cNvSpPr/>
          <p:nvPr/>
        </p:nvSpPr>
        <p:spPr>
          <a:xfrm>
            <a:off x="502920" y="1005840"/>
            <a:ext cx="18288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MODEL</a:t>
            </a:r>
          </a:p>
        </p:txBody>
      </p:sp>
      <p:sp>
        <p:nvSpPr>
          <p:cNvPr id="0" name="St-ANALYSIS"/>
          <p:cNvSpPr/>
          <p:nvPr/>
        </p:nvSpPr>
        <p:spPr>
          <a:xfrm>
            <a:off x="3291840" y="1005840"/>
            <a:ext cx="256032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STATIC ANALYSIS</a:t>
            </a:r>
          </a:p>
        </p:txBody>
      </p:sp>
      <p:sp>
        <p:nvSpPr>
          <p:cNvPr id="0" name="St-VERDICT"/>
          <p:cNvSpPr/>
          <p:nvPr/>
        </p:nvSpPr>
        <p:spPr>
          <a:xfrm>
            <a:off x="6812280" y="1005840"/>
            <a:ext cx="18288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VERDICT</a:t>
            </a:r>
          </a:p>
        </p:txBody>
      </p:sp>
      <p:cxnSp>
        <p:nvCxnSpPr>
          <p:cNvPr id="0" name="St-A1"/>
          <p:cNvCxnSpPr/>
          <p:nvPr/>
        </p:nvCxnSpPr>
        <p:spPr>
          <a:xfrm>
            <a:off x="2331720" y="1325880"/>
            <a:ext cx="960120" cy="0"/>
          </a:xfrm>
          <a:prstGeom prst="straightConnector1">
            <a:avLst/>
          </a:prstGeom>
          <a:ln w="19050">
            <a:solidFill>
              <a:srgbClr val="8E6F3E"/>
            </a:solidFill>
            <a:tailEnd type="triangle"/>
          </a:ln>
        </p:spPr>
      </p:cxnSp>
      <p:cxnSp>
        <p:nvCxnSpPr>
          <p:cNvPr id="0" name="St-A2"/>
          <p:cNvCxnSpPr/>
          <p:nvPr/>
        </p:nvCxnSpPr>
        <p:spPr>
          <a:xfrm>
            <a:off x="5852160" y="1325880"/>
            <a:ext cx="960120" cy="0"/>
          </a:xfrm>
          <a:prstGeom prst="straightConnector1">
            <a:avLst/>
          </a:prstGeom>
          <a:ln w="19050">
            <a:solidFill>
              <a:srgbClr val="8E6F3E"/>
            </a:solidFill>
            <a:tailEnd type="triangle"/>
          </a:ln>
        </p:spPr>
      </p:cxnSp>
      <p:sp>
        <p:nvSpPr>
          <p:cNvPr id="0" name="St-Questions"/>
          <p:cNvSpPr/>
          <p:nvPr/>
        </p:nvSpPr>
        <p:spPr>
          <a:xfrm>
            <a:off x="502920" y="2103120"/>
            <a:ext cx="8138160" cy="3291840"/>
          </a:xfrm>
          <a:prstGeom prst="rect">
            <a:avLst/>
          </a:prstGeom>
          <a:solidFill>
            <a:srgbClr val="F5F1E8"/>
          </a:solidFill>
          <a:ln w="12700">
            <a:solidFill>
              <a:srgbClr val="C9B991"/>
            </a:solidFill>
          </a:ln>
          <a:effectLst/>
        </p:spPr>
        <p:txBody>
          <a:bodyPr rtlCol="0" anchor="t" wrap="square" lIns="27432" rIns="27432" tIns="22860" bIns="22860"/>
          <a:lstStyle/>
          <a:p>
            <a:pPr algn="l">
              <a:buNone/>
            </a:pPr>
            <a:r>
              <a:rPr lang="en-US" sz="2000" b="1" i="0" dirty="0">
                <a:solidFill>
                  <a:srgbClr val="5C4826"/>
                </a:solidFill>
              </a:rPr>
              <a:t>Questions the lab model can already decide:</a:t>
            </a:r>
          </a:p>
          <a:p>
            <a:pPr algn="l">
              <a:spcBef>
                <a:spcPts val="900"/>
              </a:spcBef>
              <a:buNone/>
            </a:pPr>
            <a:r>
              <a:rPr lang="en-US" sz="2000" b="0" i="0" dirty="0">
                <a:solidFill>
                  <a:srgbClr val="5C4826"/>
                </a:solidFill>
              </a:rPr>
              <a:t>Is a forbidden dependency reachable?</a:t>
            </a:r>
          </a:p>
          <a:p>
            <a:pPr algn="l">
              <a:spcBef>
                <a:spcPts val="900"/>
              </a:spcBef>
              <a:buNone/>
            </a:pPr>
            <a:r>
              <a:rPr lang="en-US" sz="2000" b="0" i="0" dirty="0">
                <a:solidFill>
                  <a:srgbClr val="5C4826"/>
                </a:solidFill>
              </a:rPr>
              <a:t>Does every permitted route cross the required boundary?</a:t>
            </a:r>
          </a:p>
          <a:p>
            <a:pPr algn="l">
              <a:spcBef>
                <a:spcPts val="900"/>
              </a:spcBef>
              <a:buNone/>
            </a:pPr>
            <a:r>
              <a:rPr lang="en-US" sz="2000" b="0" i="0" dirty="0">
                <a:solidFill>
                  <a:srgbClr val="5C4826"/>
                </a:solidFill>
              </a:rPr>
              <a:t>Can the memory bound be exceeded?</a:t>
            </a:r>
          </a:p>
          <a:p>
            <a:pPr algn="l">
              <a:spcBef>
                <a:spcPts val="900"/>
              </a:spcBef>
              <a:buNone/>
            </a:pPr>
            <a:r>
              <a:rPr lang="en-US" sz="2000" b="0" i="0" dirty="0">
                <a:solidFill>
                  <a:srgbClr val="5C4826"/>
                </a:solidFill>
              </a:rPr>
              <a:t>Is an illegal transition present?</a:t>
            </a:r>
          </a:p>
        </p:txBody>
      </p:sp>
      <p:sp>
        <p:nvSpPr>
          <p:cNvPr id="0" name="FooterBand"/>
          <p:cNvSpPr/>
          <p:nvPr/>
        </p:nvSpPr>
        <p:spPr>
          <a:xfrm>
            <a:off x="274320" y="5760720"/>
            <a:ext cx="8595360" cy="777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Explicit structure can turn repeated reconstruction into a decidable query.</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 model can also define what to observe at runtime</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0" name="Dy-MODEL"/>
          <p:cNvSpPr/>
          <p:nvPr/>
        </p:nvSpPr>
        <p:spPr>
          <a:xfrm>
            <a:off x="5245840" y="1097280"/>
            <a:ext cx="22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MODEL — expected behavior</a:t>
            </a:r>
          </a:p>
        </p:txBody>
      </p:sp>
      <p:cxnSp>
        <p:nvCxnSpPr>
          <p:cNvPr id="0" name="Dy-AM"/>
          <p:cNvCxnSpPr/>
          <p:nvPr/>
        </p:nvCxnSpPr>
        <p:spPr>
          <a:xfrm>
            <a:off x="6345840" y="1737360"/>
            <a:ext cx="0" cy="777240"/>
          </a:xfrm>
          <a:prstGeom prst="straightConnector1">
            <a:avLst/>
          </a:prstGeom>
          <a:ln w="19050">
            <a:solidFill>
              <a:srgbClr val="8E6F3E"/>
            </a:solidFill>
            <a:tailEnd type="triangle"/>
          </a:ln>
        </p:spPr>
      </p:cxnSp>
      <p:sp>
        <p:nvSpPr>
          <p:cNvPr id="0" name="Dy-EXECUTION"/>
          <p:cNvSpPr/>
          <p:nvPr/>
        </p:nvSpPr>
        <p:spPr>
          <a:xfrm>
            <a:off x="274320" y="251460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EXECUTION</a:t>
            </a:r>
          </a:p>
        </p:txBody>
      </p:sp>
      <p:sp>
        <p:nvSpPr>
          <p:cNvPr id="0" name="Dy-SENSOR"/>
          <p:cNvSpPr/>
          <p:nvPr/>
        </p:nvSpPr>
        <p:spPr>
          <a:xfrm>
            <a:off x="2048160" y="25146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SENSOR</a:t>
            </a:r>
          </a:p>
        </p:txBody>
      </p:sp>
      <p:sp>
        <p:nvSpPr>
          <p:cNvPr id="0" name="Dy-TRACE"/>
          <p:cNvSpPr/>
          <p:nvPr/>
        </p:nvSpPr>
        <p:spPr>
          <a:xfrm>
            <a:off x="3822000" y="251460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TRACE</a:t>
            </a:r>
          </a:p>
        </p:txBody>
      </p:sp>
      <p:sp>
        <p:nvSpPr>
          <p:cNvPr id="0" name="Dy-VALIDATOR"/>
          <p:cNvSpPr/>
          <p:nvPr/>
        </p:nvSpPr>
        <p:spPr>
          <a:xfrm>
            <a:off x="5595840" y="25146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VALIDATOR</a:t>
            </a:r>
          </a:p>
        </p:txBody>
      </p:sp>
      <p:sp>
        <p:nvSpPr>
          <p:cNvPr id="0" name="Dy-VERDICT"/>
          <p:cNvSpPr/>
          <p:nvPr/>
        </p:nvSpPr>
        <p:spPr>
          <a:xfrm>
            <a:off x="7369680" y="251460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VERDICT</a:t>
            </a:r>
          </a:p>
        </p:txBody>
      </p:sp>
      <p:cxnSp>
        <p:nvCxnSpPr>
          <p:cNvPr id="0" name="Dy-A0"/>
          <p:cNvCxnSpPr/>
          <p:nvPr/>
        </p:nvCxnSpPr>
        <p:spPr>
          <a:xfrm>
            <a:off x="1774320" y="2834640"/>
            <a:ext cx="273840" cy="0"/>
          </a:xfrm>
          <a:prstGeom prst="straightConnector1">
            <a:avLst/>
          </a:prstGeom>
          <a:ln w="19050">
            <a:solidFill>
              <a:srgbClr val="8E6F3E"/>
            </a:solidFill>
            <a:tailEnd type="triangle"/>
          </a:ln>
        </p:spPr>
      </p:cxnSp>
      <p:cxnSp>
        <p:nvCxnSpPr>
          <p:cNvPr id="0" name="Dy-A1"/>
          <p:cNvCxnSpPr/>
          <p:nvPr/>
        </p:nvCxnSpPr>
        <p:spPr>
          <a:xfrm>
            <a:off x="3548160" y="2834640"/>
            <a:ext cx="273840" cy="0"/>
          </a:xfrm>
          <a:prstGeom prst="straightConnector1">
            <a:avLst/>
          </a:prstGeom>
          <a:ln w="19050">
            <a:solidFill>
              <a:srgbClr val="8E6F3E"/>
            </a:solidFill>
            <a:tailEnd type="triangle"/>
          </a:ln>
        </p:spPr>
      </p:cxnSp>
      <p:cxnSp>
        <p:nvCxnSpPr>
          <p:cNvPr id="0" name="Dy-A2"/>
          <p:cNvCxnSpPr/>
          <p:nvPr/>
        </p:nvCxnSpPr>
        <p:spPr>
          <a:xfrm>
            <a:off x="5322000" y="2834640"/>
            <a:ext cx="273840" cy="0"/>
          </a:xfrm>
          <a:prstGeom prst="straightConnector1">
            <a:avLst/>
          </a:prstGeom>
          <a:ln w="19050">
            <a:solidFill>
              <a:srgbClr val="8E6F3E"/>
            </a:solidFill>
            <a:tailEnd type="triangle"/>
          </a:ln>
        </p:spPr>
      </p:cxnSp>
      <p:cxnSp>
        <p:nvCxnSpPr>
          <p:cNvPr id="0" name="Dy-A3"/>
          <p:cNvCxnSpPr/>
          <p:nvPr/>
        </p:nvCxnSpPr>
        <p:spPr>
          <a:xfrm>
            <a:off x="7095840" y="2834640"/>
            <a:ext cx="273840" cy="0"/>
          </a:xfrm>
          <a:prstGeom prst="straightConnector1">
            <a:avLst/>
          </a:prstGeom>
          <a:ln w="19050">
            <a:solidFill>
              <a:srgbClr val="8E6F3E"/>
            </a:solidFill>
            <a:tailEnd type="triangle"/>
          </a:ln>
        </p:spPr>
      </p:cxnSp>
      <p:sp>
        <p:nvSpPr>
          <p:cNvPr id="0" name="Dy-Questions"/>
          <p:cNvSpPr/>
          <p:nvPr/>
        </p:nvSpPr>
        <p:spPr>
          <a:xfrm>
            <a:off x="502920" y="3566160"/>
            <a:ext cx="8138160" cy="2057400"/>
          </a:xfrm>
          <a:prstGeom prst="rect">
            <a:avLst/>
          </a:prstGeom>
          <a:solidFill>
            <a:srgbClr val="F5F1E8"/>
          </a:solidFill>
          <a:ln w="12700">
            <a:solidFill>
              <a:srgbClr val="C9B991"/>
            </a:solidFill>
          </a:ln>
          <a:effectLst/>
        </p:spPr>
        <p:txBody>
          <a:bodyPr rtlCol="0" anchor="t" wrap="square" lIns="27432" rIns="27432" tIns="22860" bIns="22860"/>
          <a:lstStyle/>
          <a:p>
            <a:pPr algn="l">
              <a:buNone/>
            </a:pPr>
            <a:r>
              <a:rPr lang="en-US" sz="2000" b="0" i="0" dirty="0">
                <a:solidFill>
                  <a:srgbClr val="5C4826"/>
                </a:solidFill>
              </a:rPr>
              <a:t>Did the observed transition exist in the model?</a:t>
            </a:r>
          </a:p>
          <a:p>
            <a:pPr algn="l">
              <a:spcBef>
                <a:spcPts val="900"/>
              </a:spcBef>
              <a:buNone/>
            </a:pPr>
            <a:r>
              <a:rPr lang="en-US" sz="2000" b="0" i="0" dirty="0">
                <a:solidFill>
                  <a:srgbClr val="5C4826"/>
                </a:solidFill>
              </a:rPr>
              <a:t>Did events occur in the required order?</a:t>
            </a:r>
          </a:p>
          <a:p>
            <a:pPr algn="l">
              <a:spcBef>
                <a:spcPts val="900"/>
              </a:spcBef>
              <a:buNone/>
            </a:pPr>
            <a:r>
              <a:rPr lang="en-US" sz="2000" b="0" i="0" dirty="0">
                <a:solidFill>
                  <a:srgbClr val="5C4826"/>
                </a:solidFill>
              </a:rPr>
              <a:t>Did execution enter a forbidden state?</a:t>
            </a:r>
          </a:p>
          <a:p>
            <a:pPr algn="l">
              <a:spcBef>
                <a:spcPts val="900"/>
              </a:spcBef>
              <a:buNone/>
            </a:pPr>
            <a:r>
              <a:rPr lang="en-US" sz="2000" b="0" i="0" dirty="0">
                <a:solidFill>
                  <a:srgbClr val="5C4826"/>
                </a:solidFill>
              </a:rPr>
              <a:t>Did a measured quantity stay within its modeled bound?</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The same model can support different validation strategies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0" name="Cmp-static"/>
          <p:cNvSpPr/>
          <p:nvPr/>
        </p:nvSpPr>
        <p:spPr>
          <a:xfrm>
            <a:off x="502920" y="1051560"/>
            <a:ext cx="3977639" cy="403860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STATIC</a:t>
            </a:r>
          </a:p>
          <a:p>
            <a:pPr algn="l">
              <a:spcBef>
                <a:spcPts val="900"/>
              </a:spcBef>
              <a:buNone/>
            </a:pPr>
            <a:r>
              <a:rPr lang="en-US" sz="2000" b="0" i="0" dirty="0">
                <a:solidFill>
                  <a:srgbClr val="5C4826"/>
                </a:solidFill>
              </a:rPr>
              <a:t>decided over the model itself</a:t>
            </a:r>
          </a:p>
          <a:p>
            <a:pPr algn="l">
              <a:spcBef>
                <a:spcPts val="900"/>
              </a:spcBef>
              <a:buNone/>
            </a:pPr>
            <a:r>
              <a:rPr lang="en-US" sz="2000" b="0" i="0" dirty="0">
                <a:solidFill>
                  <a:srgbClr val="5C4826"/>
                </a:solidFill>
              </a:rPr>
              <a:t>runs before any execution</a:t>
            </a:r>
          </a:p>
          <a:p>
            <a:pPr algn="l">
              <a:spcBef>
                <a:spcPts val="900"/>
              </a:spcBef>
              <a:buNone/>
            </a:pPr>
            <a:r>
              <a:rPr lang="en-US" sz="2000" b="0" i="0" dirty="0">
                <a:solidFill>
                  <a:srgbClr val="5C4826"/>
                </a:solidFill>
              </a:rPr>
              <a:t>exhaustive over the modeled space</a:t>
            </a:r>
          </a:p>
          <a:p>
            <a:pPr algn="l">
              <a:spcBef>
                <a:spcPts val="900"/>
              </a:spcBef>
              <a:buNone/>
            </a:pPr>
            <a:r>
              <a:rPr lang="en-US" sz="2000" b="0" i="1" dirty="0">
                <a:solidFill>
                  <a:srgbClr val="555960"/>
                </a:solidFill>
              </a:rPr>
              <a:t>can the memory bound be exceeded?</a:t>
            </a:r>
          </a:p>
        </p:txBody>
      </p:sp>
      <p:sp>
        <p:nvSpPr>
          <p:cNvPr id="0" name="Cmp-dynamic"/>
          <p:cNvSpPr/>
          <p:nvPr/>
        </p:nvSpPr>
        <p:spPr>
          <a:xfrm>
            <a:off x="4663440" y="1051560"/>
            <a:ext cx="3977639" cy="403860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DYNAMIC</a:t>
            </a:r>
          </a:p>
          <a:p>
            <a:pPr algn="l">
              <a:spcBef>
                <a:spcPts val="900"/>
              </a:spcBef>
              <a:buNone/>
            </a:pPr>
            <a:r>
              <a:rPr lang="en-US" sz="2000" b="0" i="0" dirty="0">
                <a:solidFill>
                  <a:srgbClr val="5C4826"/>
                </a:solidFill>
              </a:rPr>
              <a:t>decided over a trace of execution</a:t>
            </a:r>
          </a:p>
          <a:p>
            <a:pPr algn="l">
              <a:spcBef>
                <a:spcPts val="900"/>
              </a:spcBef>
              <a:buNone/>
            </a:pPr>
            <a:r>
              <a:rPr lang="en-US" sz="2000" b="0" i="0" dirty="0">
                <a:solidFill>
                  <a:srgbClr val="5C4826"/>
                </a:solidFill>
              </a:rPr>
              <a:t>runs while or after the system runs</a:t>
            </a:r>
          </a:p>
          <a:p>
            <a:pPr algn="l">
              <a:spcBef>
                <a:spcPts val="900"/>
              </a:spcBef>
              <a:buNone/>
            </a:pPr>
            <a:r>
              <a:rPr lang="en-US" sz="2000" b="0" i="0" dirty="0">
                <a:solidFill>
                  <a:srgbClr val="5C4826"/>
                </a:solidFill>
              </a:rPr>
              <a:t>evidence about the runs you observed</a:t>
            </a:r>
          </a:p>
          <a:p>
            <a:pPr algn="l">
              <a:spcBef>
                <a:spcPts val="900"/>
              </a:spcBef>
              <a:buNone/>
            </a:pPr>
            <a:r>
              <a:rPr lang="en-US" sz="2000" b="0" i="1" dirty="0">
                <a:solidFill>
                  <a:srgbClr val="555960"/>
                </a:solidFill>
              </a:rPr>
              <a:t>did the awake set ever exceed two?</a:t>
            </a:r>
          </a:p>
        </p:txBody>
      </p:sp>
      <p:sp>
        <p:nvSpPr>
          <p:cNvPr id="0" name="FooterBand"/>
          <p:cNvSpPr/>
          <p:nvPr/>
        </p:nvSpPr>
        <p:spPr>
          <a:xfrm>
            <a:off x="274320" y="5760720"/>
            <a:ext cx="8595360" cy="777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Where should each verdict acquire authority?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Agreement is not correctness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9"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Evidence for one does not establish the others.</a:t>
            </a:r>
          </a:p>
        </p:txBody>
      </p:sp>
      <p:sp>
        <p:nvSpPr>
          <p:cNvPr id="0" name="TR-Head0"/>
          <p:cNvSpPr/>
          <p:nvPr/>
        </p:nvSpPr>
        <p:spPr>
          <a:xfrm>
            <a:off x="274320" y="1188720"/>
            <a:ext cx="2742293"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CORRESPONDENCE</a:t>
            </a:r>
          </a:p>
        </p:txBody>
      </p:sp>
      <p:sp>
        <p:nvSpPr>
          <p:cNvPr id="0" name="TR-Body0"/>
          <p:cNvSpPr/>
          <p:nvPr/>
        </p:nvSpPr>
        <p:spPr>
          <a:xfrm>
            <a:off x="274320" y="1737360"/>
            <a:ext cx="2742293" cy="310896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implementation</a:t>
            </a:r>
          </a:p>
          <a:p>
            <a:pPr algn="ctr">
              <a:buNone/>
            </a:pPr>
            <a:r>
              <a:rPr lang="en-US" sz="2400" b="1" i="0" dirty="0">
                <a:solidFill>
                  <a:srgbClr val="8E6F3E"/>
                </a:solidFill>
              </a:rPr>
              <a:t>↕</a:t>
            </a:r>
          </a:p>
          <a:p>
            <a:pPr algn="ctr">
              <a:buNone/>
            </a:pPr>
            <a:r>
              <a:rPr lang="en-US" sz="2000" b="1" i="0" dirty="0">
                <a:solidFill>
                  <a:srgbClr val="5C4826"/>
                </a:solidFill>
              </a:rPr>
              <a:t>representation</a:t>
            </a:r>
          </a:p>
          <a:p>
            <a:pPr algn="ctr">
              <a:buNone/>
            </a:pPr>
            <a:r>
              <a:rPr lang="en-US" sz="2000" b="0" i="1" dirty="0">
                <a:solidFill>
                  <a:srgbClr val="555960"/>
                </a:solidFill>
              </a:rPr>
              <a:t>do they agree?</a:t>
            </a:r>
          </a:p>
        </p:txBody>
      </p:sp>
      <p:sp>
        <p:nvSpPr>
          <p:cNvPr id="0" name="TR-Head1"/>
          <p:cNvSpPr/>
          <p:nvPr/>
        </p:nvSpPr>
        <p:spPr>
          <a:xfrm>
            <a:off x="3200844" y="1188720"/>
            <a:ext cx="2742293"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CONFORMANCE</a:t>
            </a:r>
          </a:p>
        </p:txBody>
      </p:sp>
      <p:sp>
        <p:nvSpPr>
          <p:cNvPr id="0" name="TR-Body1"/>
          <p:cNvSpPr/>
          <p:nvPr/>
        </p:nvSpPr>
        <p:spPr>
          <a:xfrm>
            <a:off x="3200844" y="1737360"/>
            <a:ext cx="2742293" cy="310896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artifact</a:t>
            </a:r>
          </a:p>
          <a:p>
            <a:pPr algn="ctr">
              <a:buNone/>
            </a:pPr>
            <a:r>
              <a:rPr lang="en-US" sz="2400" b="1" i="0" dirty="0">
                <a:solidFill>
                  <a:srgbClr val="8E6F3E"/>
                </a:solidFill>
              </a:rPr>
              <a:t>↕</a:t>
            </a:r>
          </a:p>
          <a:p>
            <a:pPr algn="ctr">
              <a:buNone/>
            </a:pPr>
            <a:r>
              <a:rPr lang="en-US" sz="2000" b="1" i="0" dirty="0">
                <a:solidFill>
                  <a:srgbClr val="5C4826"/>
                </a:solidFill>
              </a:rPr>
              <a:t>independent obligation</a:t>
            </a:r>
          </a:p>
          <a:p>
            <a:pPr algn="ctr">
              <a:buNone/>
            </a:pPr>
            <a:r>
              <a:rPr lang="en-US" sz="2000" b="0" i="1" dirty="0">
                <a:solidFill>
                  <a:srgbClr val="555960"/>
                </a:solidFill>
              </a:rPr>
              <a:t>does it satisfy?</a:t>
            </a:r>
          </a:p>
        </p:txBody>
      </p:sp>
      <p:sp>
        <p:nvSpPr>
          <p:cNvPr id="0" name="TR-Head2"/>
          <p:cNvSpPr/>
          <p:nvPr/>
        </p:nvSpPr>
        <p:spPr>
          <a:xfrm>
            <a:off x="6127368" y="1188720"/>
            <a:ext cx="2742293"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ACCEPTANCE</a:t>
            </a:r>
          </a:p>
        </p:txBody>
      </p:sp>
      <p:sp>
        <p:nvSpPr>
          <p:cNvPr id="0" name="TR-Body2"/>
          <p:cNvSpPr/>
          <p:nvPr/>
        </p:nvSpPr>
        <p:spPr>
          <a:xfrm>
            <a:off x="6127368" y="1737360"/>
            <a:ext cx="2742293" cy="310896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artifact</a:t>
            </a:r>
          </a:p>
          <a:p>
            <a:pPr algn="ctr">
              <a:buNone/>
            </a:pPr>
            <a:r>
              <a:rPr lang="en-US" sz="2400" b="1" i="0" dirty="0">
                <a:solidFill>
                  <a:srgbClr val="8E6F3E"/>
                </a:solidFill>
              </a:rPr>
              <a:t>↕</a:t>
            </a:r>
          </a:p>
          <a:p>
            <a:pPr algn="ctr">
              <a:buNone/>
            </a:pPr>
            <a:r>
              <a:rPr lang="en-US" sz="2000" b="1" i="0" dirty="0">
                <a:solidFill>
                  <a:srgbClr val="5C4826"/>
                </a:solidFill>
              </a:rPr>
              <a:t>receiving environment</a:t>
            </a:r>
          </a:p>
          <a:p>
            <a:pPr algn="ctr">
              <a:buNone/>
            </a:pPr>
            <a:r>
              <a:rPr lang="en-US" sz="2000" b="0" i="1" dirty="0">
                <a:solidFill>
                  <a:srgbClr val="555960"/>
                </a:solidFill>
              </a:rPr>
              <a:t>will it accept?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Three things can disagree</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3474720" y="1097280"/>
            <a:ext cx="219456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OBLIGATION</a:t>
            </a:r>
          </a:p>
        </p:txBody>
      </p:sp>
      <p:sp>
        <p:nvSpPr>
          <p:cNvPr id="6" name="Rectangle 5"/>
          <p:cNvSpPr/>
          <p:nvPr/>
        </p:nvSpPr>
        <p:spPr>
          <a:xfrm>
            <a:off x="91440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MODEL</a:t>
            </a:r>
          </a:p>
        </p:txBody>
      </p:sp>
      <p:sp>
        <p:nvSpPr>
          <p:cNvPr id="7" name="Rectangle 6"/>
          <p:cNvSpPr/>
          <p:nvPr/>
        </p:nvSpPr>
        <p:spPr>
          <a:xfrm>
            <a:off x="603504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REALIZATION</a:t>
            </a:r>
          </a:p>
        </p:txBody>
      </p:sp>
      <p:cxnSp>
        <p:nvCxnSpPr>
          <p:cNvPr id="8" name="Connector 7"/>
          <p:cNvCxnSpPr/>
          <p:nvPr/>
        </p:nvCxnSpPr>
        <p:spPr>
          <a:xfrm flipH="1">
            <a:off x="20116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1168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6692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13232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108960" y="3909060"/>
            <a:ext cx="292608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121408" y="2331720"/>
            <a:ext cx="2395728" cy="640080"/>
          </a:xfrm>
          <a:prstGeom prst="rect">
            <a:avLst/>
          </a:prstGeom>
          <a:noFill/>
        </p:spPr>
        <p:txBody>
          <a:bodyPr wrap="square" anchor="t">
            <a:spAutoFit/>
          </a:bodyPr>
          <a:lstStyle/>
          <a:p>
            <a:pPr algn="l"/>
            <a:r>
              <a:rPr sz="2000" b="0" i="1">
                <a:solidFill>
                  <a:srgbClr val="555960"/>
                </a:solidFill>
              </a:rPr>
              <a:t>does the model capture</a:t>
            </a:r>
          </a:p>
          <a:p>
            <a:pPr algn="l"/>
            <a:r>
              <a:rPr sz="2000" b="0" i="1">
                <a:solidFill>
                  <a:srgbClr val="555960"/>
                </a:solidFill>
              </a:rPr>
              <a:t>the obligation?</a:t>
            </a:r>
          </a:p>
        </p:txBody>
      </p:sp>
      <p:sp>
        <p:nvSpPr>
          <p:cNvPr id="14" name="TextBox 13"/>
          <p:cNvSpPr txBox="1"/>
          <p:nvPr/>
        </p:nvSpPr>
        <p:spPr>
          <a:xfrm>
            <a:off x="4626864" y="2331720"/>
            <a:ext cx="2395728" cy="640080"/>
          </a:xfrm>
          <a:prstGeom prst="rect">
            <a:avLst/>
          </a:prstGeom>
          <a:noFill/>
        </p:spPr>
        <p:txBody>
          <a:bodyPr wrap="square" anchor="t">
            <a:spAutoFit/>
          </a:bodyPr>
          <a:lstStyle/>
          <a:p>
            <a:pPr algn="r"/>
            <a:r>
              <a:rPr sz="2000" b="0" i="1">
                <a:solidFill>
                  <a:srgbClr val="555960"/>
                </a:solidFill>
              </a:rPr>
              <a:t>does the realization</a:t>
            </a:r>
          </a:p>
          <a:p>
            <a:pPr algn="r"/>
            <a:r>
              <a:rPr sz="2000" b="0" i="1">
                <a:solidFill>
                  <a:srgbClr val="555960"/>
                </a:solidFill>
              </a:rPr>
              <a:t>satisfy it?</a:t>
            </a:r>
          </a:p>
        </p:txBody>
      </p:sp>
      <p:sp>
        <p:nvSpPr>
          <p:cNvPr id="15" name="TextBox 14"/>
          <p:cNvSpPr txBox="1"/>
          <p:nvPr/>
        </p:nvSpPr>
        <p:spPr>
          <a:xfrm>
            <a:off x="3108960" y="4069080"/>
            <a:ext cx="2926080" cy="411480"/>
          </a:xfrm>
          <a:prstGeom prst="rect">
            <a:avLst/>
          </a:prstGeom>
          <a:noFill/>
        </p:spPr>
        <p:txBody>
          <a:bodyPr wrap="square" anchor="t">
            <a:spAutoFit/>
          </a:bodyPr>
          <a:lstStyle/>
          <a:p>
            <a:pPr algn="ctr"/>
            <a:r>
              <a:rPr sz="2000" b="0" i="1">
                <a:solidFill>
                  <a:srgbClr val="555960"/>
                </a:solidFill>
              </a:rPr>
              <a:t>do they correspond?</a:t>
            </a:r>
          </a:p>
        </p:txBody>
      </p:sp>
      <p:sp>
        <p:nvSpPr>
          <p:cNvPr id="16" name="TextBox 15"/>
          <p:cNvSpPr txBox="1"/>
          <p:nvPr/>
        </p:nvSpPr>
        <p:spPr>
          <a:xfrm>
            <a:off x="274320" y="4800600"/>
            <a:ext cx="8595360" cy="457200"/>
          </a:xfrm>
          <a:prstGeom prst="rect">
            <a:avLst/>
          </a:prstGeom>
          <a:noFill/>
        </p:spPr>
        <p:txBody>
          <a:bodyPr wrap="square" anchor="t">
            <a:spAutoFit/>
          </a:bodyPr>
          <a:lstStyle/>
          <a:p>
            <a:pPr algn="ctr"/>
            <a:r>
              <a:rPr sz="2000" b="1" i="0">
                <a:solidFill>
                  <a:srgbClr val="5C4826"/>
                </a:solidFill>
              </a:rPr>
              <a:t>What claim does each edge make? What evidence would establish it?</a:t>
            </a:r>
          </a:p>
        </p:txBody>
      </p:sp>
      <p:sp>
        <p:nvSpPr>
          <p:cNvPr id="1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Correspondence is one edge, not the whole triangle.</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6</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Design the Alignment</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23</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5C4826"/>
                </a:solidFill>
                <a:effectLst/>
                <a:uLnTx/>
                <a:uFillTx/>
                <a:latin typeface="Calibri" panose="020F0502020204030204"/>
                <a:ea typeface="+mn-ea"/>
                <a:cs typeface="+mn-cs"/>
              </a:rPr>
              <a:t>How should the environment control delegated work?</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Activity: govern the agent</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KickerBadge">
            <a:extLst>
              <a:ext uri="{FF2B5EF4-FFF2-40B4-BE49-F238E27FC236}">
                <a16:creationId xmlns:a16="http://schemas.microsoft.com/office/drawing/2014/main" id="{55489336-5766-22EA-2ADC-D9F38F769456}"/>
              </a:ext>
            </a:extLst>
          </p:cNvPr>
          <p:cNvSpPr/>
          <p:nvPr/>
        </p:nvSpPr>
        <p:spPr>
          <a:xfrm>
            <a:off x="4480560" y="205000"/>
            <a:ext cx="438912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b="1" i="0" dirty="0" sz="2000">
                <a:solidFill>
                  <a:srgbClr val="8E6F3E"/>
                </a:solidFill>
              </a:rPr>
              <a:t>TEAM ACTIVITY  ·  10–12 MINUTES</a:t>
            </a:r>
          </a:p>
        </p:txBody>
      </p:sp>
      <p:sp>
        <p:nvSpPr>
          <p:cNvPr id="6" name="Rectangle 5"/>
          <p:cNvSpPr/>
          <p:nvPr/>
        </p:nvSpPr>
        <p:spPr>
          <a:xfrm>
            <a:off x="274320" y="1005840"/>
            <a:ext cx="8595360" cy="7315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2000" b="1" i="0">
                <a:solidFill>
                  <a:srgbClr val="8E6F3E"/>
                </a:solidFill>
              </a:rPr>
              <a:t xml:space="preserve">SCENARIO — </a:t>
            </a:r>
            <a:r>
              <a:rPr sz="2000" b="1" i="0">
                <a:solidFill>
                  <a:srgbClr val="5C4826"/>
                </a:solidFill>
              </a:rPr>
              <a:t>an agent is modifying an embedded controller.</a:t>
            </a:r>
          </a:p>
        </p:txBody>
      </p:sp>
      <p:sp>
        <p:nvSpPr>
          <p:cNvPr id="7" name="Rectangle 6"/>
          <p:cNvSpPr/>
          <p:nvPr/>
        </p:nvSpPr>
        <p:spPr>
          <a:xfrm>
            <a:off x="274320" y="1920240"/>
            <a:ext cx="85953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2000" b="1" i="0">
                <a:solidFill>
                  <a:srgbClr val="8E6F3E"/>
                </a:solidFill>
              </a:rPr>
              <a:t xml:space="preserve">1  ·  </a:t>
            </a:r>
            <a:r>
              <a:rPr sz="2000" b="0" i="0">
                <a:solidFill>
                  <a:srgbClr val="5C4826"/>
                </a:solidFill>
              </a:rPr>
              <a:t>Preserve the external API.</a:t>
            </a:r>
          </a:p>
        </p:txBody>
      </p:sp>
      <p:sp>
        <p:nvSpPr>
          <p:cNvPr id="8" name="Rectangle 7"/>
          <p:cNvSpPr/>
          <p:nvPr/>
        </p:nvSpPr>
        <p:spPr>
          <a:xfrm>
            <a:off x="274320" y="2743200"/>
            <a:ext cx="85953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2000" b="1" i="0">
                <a:solidFill>
                  <a:srgbClr val="8E6F3E"/>
                </a:solidFill>
              </a:rPr>
              <a:t xml:space="preserve">2  ·  </a:t>
            </a:r>
            <a:r>
              <a:rPr sz="2000" b="0" i="0">
                <a:solidFill>
                  <a:srgbClr val="5C4826"/>
                </a:solidFill>
              </a:rPr>
              <a:t>Worst-case memory below 64 MB.</a:t>
            </a:r>
          </a:p>
        </p:txBody>
      </p:sp>
      <p:sp>
        <p:nvSpPr>
          <p:cNvPr id="9" name="Rectangle 8"/>
          <p:cNvSpPr/>
          <p:nvPr/>
        </p:nvSpPr>
        <p:spPr>
          <a:xfrm>
            <a:off x="274320" y="3566160"/>
            <a:ext cx="85953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2000" b="1" i="0">
                <a:solidFill>
                  <a:srgbClr val="8E6F3E"/>
                </a:solidFill>
              </a:rPr>
              <a:t xml:space="preserve">3  ·  </a:t>
            </a:r>
            <a:r>
              <a:rPr sz="2000" b="0" i="0">
                <a:solidFill>
                  <a:srgbClr val="5C4826"/>
                </a:solidFill>
              </a:rPr>
              <a:t>Avoid the forbidden dependency.</a:t>
            </a:r>
          </a:p>
        </p:txBody>
      </p:sp>
      <p:sp>
        <p:nvSpPr>
          <p:cNvPr id="10" name="Rectangle 9"/>
          <p:cNvSpPr/>
          <p:nvPr/>
        </p:nvSpPr>
        <p:spPr>
          <a:xfrm>
            <a:off x="274320" y="4389120"/>
            <a:ext cx="85953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2000" b="1" i="0">
                <a:solidFill>
                  <a:srgbClr val="8E6F3E"/>
                </a:solidFill>
              </a:rPr>
              <a:t xml:space="preserve">4  ·  </a:t>
            </a:r>
            <a:r>
              <a:rPr sz="2000" b="0" i="0">
                <a:solidFill>
                  <a:srgbClr val="5C4826"/>
                </a:solidFill>
              </a:rPr>
              <a:t>Preserve the cycle ordering: Sensor.read → decide → Actuator.act.</a:t>
            </a:r>
          </a:p>
        </p:txBody>
      </p:sp>
      <p:sp>
        <p:nvSpPr>
          <p:cNvPr id="12"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Design the delegated process and its controls.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The given model</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0" name="LabKicker"/>
          <p:cNvSpPr/>
          <p:nvPr/>
        </p:nvSpPr>
        <p:spPr>
          <a:xfrm>
            <a:off x="5349240" y="205000"/>
            <a:ext cx="3520440" cy="470000"/>
          </a:xfrm>
          <a:prstGeom prst="roundRect">
            <a:avLst/>
          </a:prstGeom>
          <a:solidFill>
            <a:srgbClr val="FBF8F2"/>
          </a:solidFill>
          <a:ln w="15875">
            <a:solidFill>
              <a:srgbClr val="8E6F3E"/>
            </a:solidFill>
          </a:ln>
          <a:effectLst/>
        </p:spPr>
        <p:txBody>
          <a:bodyPr rtlCol="0" anchor="ctr" wrap="square" lIns="27432" rIns="27432" tIns="22860" bIns="22860"/>
          <a:lstStyle/>
          <a:p>
            <a:pPr algn="ctr">
              <a:buNone/>
            </a:pPr>
            <a:r>
              <a:rPr lang="en-US" sz="2000" b="1" i="0" dirty="0">
                <a:solidFill>
                  <a:srgbClr val="8E6F3E"/>
                </a:solidFill>
              </a:rPr>
              <a:t>THE LAB'S DOMAIN AGAIN</a:t>
            </a:r>
          </a:p>
        </p:txBody>
      </p:sp>
      <p:sp>
        <p:nvSpPr>
          <p:cNvPr id="0" name="GM-structure"/>
          <p:cNvSpPr/>
          <p:nvPr/>
        </p:nvSpPr>
        <p:spPr>
          <a:xfrm>
            <a:off x="502920" y="1051560"/>
            <a:ext cx="3977639" cy="403860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STRUCTURE</a:t>
            </a:r>
          </a:p>
          <a:p>
            <a:pPr algn="l">
              <a:spcBef>
                <a:spcPts val="900"/>
              </a:spcBef>
              <a:buNone/>
            </a:pPr>
            <a:r>
              <a:rPr lang="en-US" sz="2000" b="0" i="0" dirty="0">
                <a:solidFill>
                  <a:srgbClr val="5C4826"/>
                </a:solidFill>
              </a:rPr>
              <a:t>Controller — API: IController</a:t>
            </a:r>
          </a:p>
          <a:p>
            <a:pPr algn="l">
              <a:spcBef>
                <a:spcPts val="900"/>
              </a:spcBef>
              <a:buNone/>
            </a:pPr>
            <a:r>
              <a:rPr lang="en-US" sz="2000" b="0" i="0" dirty="0">
                <a:solidFill>
                  <a:srgbClr val="5C4826"/>
                </a:solidFill>
              </a:rPr>
              <a:t>uses → Sensor</a:t>
            </a:r>
          </a:p>
          <a:p>
            <a:pPr algn="l">
              <a:spcBef>
                <a:spcPts val="900"/>
              </a:spcBef>
              <a:buNone/>
            </a:pPr>
            <a:r>
              <a:rPr lang="en-US" sz="2000" b="0" i="0" dirty="0">
                <a:solidFill>
                  <a:srgbClr val="5C4826"/>
                </a:solidFill>
              </a:rPr>
              <a:t>uses → Actuator</a:t>
            </a:r>
          </a:p>
          <a:p>
            <a:pPr algn="l">
              <a:spcBef>
                <a:spcPts val="900"/>
              </a:spcBef>
              <a:buNone/>
            </a:pPr>
            <a:r>
              <a:rPr lang="en-US" sz="2000" b="0" i="0" dirty="0">
                <a:solidFill>
                  <a:srgbClr val="5C4826"/>
                </a:solidFill>
              </a:rPr>
              <a:t>forbidden → CloudSDK</a:t>
            </a:r>
          </a:p>
          <a:p>
            <a:pPr algn="l">
              <a:spcBef>
                <a:spcPts val="900"/>
              </a:spcBef>
              <a:buNone/>
            </a:pPr>
            <a:r>
              <a:rPr lang="en-US" sz="2000" b="0" i="0" dirty="0">
                <a:solidFill>
                  <a:srgbClr val="5C4826"/>
                </a:solidFill>
              </a:rPr>
              <a:t>memory ≤ 64 MB</a:t>
            </a:r>
          </a:p>
        </p:txBody>
      </p:sp>
      <p:sp>
        <p:nvSpPr>
          <p:cNvPr id="0" name="GM-behavior"/>
          <p:cNvSpPr/>
          <p:nvPr/>
        </p:nvSpPr>
        <p:spPr>
          <a:xfrm>
            <a:off x="4663440" y="1051560"/>
            <a:ext cx="3977639" cy="403860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BEHAVIOR</a:t>
            </a:r>
          </a:p>
          <a:p>
            <a:pPr algn="l">
              <a:spcBef>
                <a:spcPts val="900"/>
              </a:spcBef>
              <a:buNone/>
            </a:pPr>
            <a:r>
              <a:rPr lang="en-US" sz="2000" b="0" i="0" dirty="0">
                <a:solidFill>
                  <a:srgbClr val="5C4826"/>
                </a:solidFill>
              </a:rPr>
              <a:t>each cycle:</a:t>
            </a:r>
          </a:p>
          <a:p>
            <a:pPr algn="l">
              <a:spcBef>
                <a:spcPts val="900"/>
              </a:spcBef>
              <a:buNone/>
            </a:pPr>
            <a:r>
              <a:rPr lang="en-US" sz="2000" b="1" i="0" dirty="0">
                <a:solidFill>
                  <a:srgbClr val="5C4826"/>
                </a:solidFill>
              </a:rPr>
              <a:t>Sensor.read</a:t>
            </a:r>
          </a:p>
          <a:p>
            <a:pPr algn="l">
              <a:spcBef>
                <a:spcPts val="900"/>
              </a:spcBef>
              <a:buNone/>
            </a:pPr>
            <a:r>
              <a:rPr lang="en-US" sz="2000" b="1" i="0" dirty="0">
                <a:solidFill>
                  <a:srgbClr val="5C4826"/>
                </a:solidFill>
              </a:rPr>
              <a:t>→ decide</a:t>
            </a:r>
          </a:p>
          <a:p>
            <a:pPr algn="l">
              <a:spcBef>
                <a:spcPts val="900"/>
              </a:spcBef>
              <a:buNone/>
            </a:pPr>
            <a:r>
              <a:rPr lang="en-US" sz="2000" b="1" i="0" dirty="0">
                <a:solidFill>
                  <a:srgbClr val="5C4826"/>
                </a:solidFill>
              </a:rPr>
              <a:t>→ Actuator.act</a:t>
            </a:r>
          </a:p>
          <a:p>
            <a:pPr algn="l">
              <a:spcBef>
                <a:spcPts val="900"/>
              </a:spcBef>
              <a:buNone/>
            </a:pPr>
            <a:r>
              <a:rPr lang="en-US" sz="2000" b="0" i="1" dirty="0">
                <a:solidFill>
                  <a:srgbClr val="555960"/>
                </a:solidFill>
              </a:rPr>
              <a:t>an ordering obligation over execution</a:t>
            </a:r>
          </a:p>
        </p:txBody>
      </p:sp>
      <p:sp>
        <p:nvSpPr>
          <p:cNvPr id="0" name="FooterBand"/>
          <p:cNvSpPr/>
          <p:nvPr/>
        </p:nvSpPr>
        <p:spPr>
          <a:xfrm>
            <a:off x="274320" y="5760720"/>
            <a:ext cx="8595360" cy="777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Use the model as given — do not rediscover it from the implementation.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For each obligation</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5"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Be ready to defend your boundary and authority choices.</a:t>
            </a:r>
          </a:p>
        </p:txBody>
      </p:sp>
      <p:sp>
        <p:nvSpPr>
          <p:cNvPr id="0" name="Grp-WHAT MUS"/>
          <p:cNvSpPr/>
          <p:nvPr/>
        </p:nvSpPr>
        <p:spPr>
          <a:xfrm>
            <a:off x="274320" y="1005840"/>
            <a:ext cx="2103120" cy="173736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WHAT MUST HOLD?</a:t>
            </a:r>
          </a:p>
        </p:txBody>
      </p:sp>
      <p:sp>
        <p:nvSpPr>
          <p:cNvPr id="0" name="GrpItems-WHAT MUS"/>
          <p:cNvSpPr/>
          <p:nvPr/>
        </p:nvSpPr>
        <p:spPr>
          <a:xfrm>
            <a:off x="2514600" y="1005840"/>
            <a:ext cx="6355080" cy="1737360"/>
          </a:xfrm>
          <a:prstGeom prst="rect">
            <a:avLst/>
          </a:prstGeom>
          <a:solidFill>
            <a:srgbClr val="F5F1E8"/>
          </a:solidFill>
          <a:ln w="12700">
            <a:solidFill>
              <a:srgbClr val="C9B991"/>
            </a:solidFill>
          </a:ln>
          <a:effectLst/>
        </p:spPr>
        <p:txBody>
          <a:bodyPr rtlCol="0" anchor="ctr" wrap="square" lIns="27432" rIns="27432" tIns="22860" bIns="22860"/>
          <a:lstStyle/>
          <a:p>
            <a:pPr algn="l">
              <a:buNone/>
            </a:pPr>
            <a:r>
              <a:rPr lang="en-US" sz="2000" b="1" i="0" dirty="0">
                <a:solidFill>
                  <a:srgbClr val="5C4826"/>
                </a:solidFill>
              </a:rPr>
              <a:t>FAILURE — </a:t>
            </a:r>
            <a:r>
              <a:rPr lang="en-US" sz="2000" b="0" i="0" dirty="0">
                <a:solidFill>
                  <a:srgbClr val="5C4826"/>
                </a:solidFill>
              </a:rPr>
              <a:t>what can go wrong?</a:t>
            </a:r>
          </a:p>
          <a:p>
            <a:pPr algn="l">
              <a:spcBef>
                <a:spcPts val="600"/>
              </a:spcBef>
              <a:buNone/>
            </a:pPr>
            <a:r>
              <a:rPr lang="en-US" sz="2000" b="1" i="0" dirty="0">
                <a:solidFill>
                  <a:srgbClr val="5C4826"/>
                </a:solidFill>
              </a:rPr>
              <a:t>OBLIGATION — </a:t>
            </a:r>
            <a:r>
              <a:rPr lang="en-US" sz="2000" b="0" i="0" dirty="0">
                <a:solidFill>
                  <a:srgbClr val="5C4826"/>
                </a:solidFill>
              </a:rPr>
              <a:t>what must be true?</a:t>
            </a:r>
          </a:p>
          <a:p>
            <a:pPr algn="l">
              <a:spcBef>
                <a:spcPts val="600"/>
              </a:spcBef>
              <a:buNone/>
            </a:pPr>
            <a:r>
              <a:rPr lang="en-US" sz="2000" b="1" i="0" dirty="0">
                <a:solidFill>
                  <a:srgbClr val="5C4826"/>
                </a:solidFill>
              </a:rPr>
              <a:t>MODEL USE — </a:t>
            </a:r>
            <a:r>
              <a:rPr lang="en-US" sz="2000" b="0" i="0" dirty="0">
                <a:solidFill>
                  <a:srgbClr val="5C4826"/>
                </a:solidFill>
              </a:rPr>
              <a:t>what fact does the model make explicit, and can you validate it statically or dynamically?</a:t>
            </a:r>
          </a:p>
        </p:txBody>
      </p:sp>
      <p:sp>
        <p:nvSpPr>
          <p:cNvPr id="0" name="Grp-HOW WILL"/>
          <p:cNvSpPr/>
          <p:nvPr/>
        </p:nvSpPr>
        <p:spPr>
          <a:xfrm>
            <a:off x="274320" y="2880360"/>
            <a:ext cx="2103120" cy="137160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HOW WILL WE KNOW?</a:t>
            </a:r>
          </a:p>
        </p:txBody>
      </p:sp>
      <p:sp>
        <p:nvSpPr>
          <p:cNvPr id="0" name="GrpItems-HOW WILL"/>
          <p:cNvSpPr/>
          <p:nvPr/>
        </p:nvSpPr>
        <p:spPr>
          <a:xfrm>
            <a:off x="2514600" y="2880360"/>
            <a:ext cx="6355080" cy="1371600"/>
          </a:xfrm>
          <a:prstGeom prst="rect">
            <a:avLst/>
          </a:prstGeom>
          <a:solidFill>
            <a:srgbClr val="F5F1E8"/>
          </a:solidFill>
          <a:ln w="12700">
            <a:solidFill>
              <a:srgbClr val="C9B991"/>
            </a:solidFill>
          </a:ln>
          <a:effectLst/>
        </p:spPr>
        <p:txBody>
          <a:bodyPr rtlCol="0" anchor="ctr" wrap="square" lIns="27432" rIns="27432" tIns="22860" bIns="22860"/>
          <a:lstStyle/>
          <a:p>
            <a:pPr algn="l">
              <a:buNone/>
            </a:pPr>
            <a:r>
              <a:rPr lang="en-US" sz="2000" b="1" i="0" dirty="0">
                <a:solidFill>
                  <a:srgbClr val="5C4826"/>
                </a:solidFill>
              </a:rPr>
              <a:t>CONTROL — </a:t>
            </a:r>
            <a:r>
              <a:rPr lang="en-US" sz="2000" b="0" i="0" dirty="0">
                <a:solidFill>
                  <a:srgbClr val="5C4826"/>
                </a:solidFill>
              </a:rPr>
              <a:t>can we prevent it, or must we detect it?</a:t>
            </a:r>
          </a:p>
          <a:p>
            <a:pPr algn="l">
              <a:spcBef>
                <a:spcPts val="600"/>
              </a:spcBef>
              <a:buNone/>
            </a:pPr>
            <a:r>
              <a:rPr lang="en-US" sz="2000" b="1" i="0" dirty="0">
                <a:solidFill>
                  <a:srgbClr val="5C4826"/>
                </a:solidFill>
              </a:rPr>
              <a:t>EVIDENCE — </a:t>
            </a:r>
            <a:r>
              <a:rPr lang="en-US" sz="2000" b="0" i="0" dirty="0">
                <a:solidFill>
                  <a:srgbClr val="5C4826"/>
                </a:solidFill>
              </a:rPr>
              <a:t>what observation could establish it?</a:t>
            </a:r>
          </a:p>
          <a:p>
            <a:pPr algn="l">
              <a:spcBef>
                <a:spcPts val="600"/>
              </a:spcBef>
              <a:buNone/>
            </a:pPr>
            <a:r>
              <a:rPr lang="en-US" sz="2000" b="1" i="0" dirty="0">
                <a:solidFill>
                  <a:srgbClr val="5C4826"/>
                </a:solidFill>
              </a:rPr>
              <a:t>BOUNDARY — </a:t>
            </a:r>
            <a:r>
              <a:rPr lang="en-US" sz="2000" b="0" i="0" dirty="0">
                <a:solidFill>
                  <a:srgbClr val="5C4826"/>
                </a:solidFill>
              </a:rPr>
              <a:t>where does enough information exist?</a:t>
            </a:r>
          </a:p>
        </p:txBody>
      </p:sp>
      <p:sp>
        <p:nvSpPr>
          <p:cNvPr id="0" name="Grp-WHAT WIL"/>
          <p:cNvSpPr/>
          <p:nvPr/>
        </p:nvSpPr>
        <p:spPr>
          <a:xfrm>
            <a:off x="274320" y="4389120"/>
            <a:ext cx="2103120" cy="10058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WHAT WILL IT CONTROL?</a:t>
            </a:r>
          </a:p>
        </p:txBody>
      </p:sp>
      <p:sp>
        <p:nvSpPr>
          <p:cNvPr id="0" name="GrpItems-WHAT WIL"/>
          <p:cNvSpPr/>
          <p:nvPr/>
        </p:nvSpPr>
        <p:spPr>
          <a:xfrm>
            <a:off x="2514600" y="4389120"/>
            <a:ext cx="6355080" cy="1005840"/>
          </a:xfrm>
          <a:prstGeom prst="rect">
            <a:avLst/>
          </a:prstGeom>
          <a:solidFill>
            <a:srgbClr val="F5F1E8"/>
          </a:solidFill>
          <a:ln w="12700">
            <a:solidFill>
              <a:srgbClr val="C9B991"/>
            </a:solidFill>
          </a:ln>
          <a:effectLst/>
        </p:spPr>
        <p:txBody>
          <a:bodyPr rtlCol="0" anchor="ctr" wrap="square" lIns="27432" rIns="27432" tIns="22860" bIns="22860"/>
          <a:lstStyle/>
          <a:p>
            <a:pPr algn="l">
              <a:buNone/>
            </a:pPr>
            <a:r>
              <a:rPr lang="en-US" sz="2000" b="1" i="0" dirty="0">
                <a:solidFill>
                  <a:srgbClr val="5C4826"/>
                </a:solidFill>
              </a:rPr>
              <a:t>MECHANISM — </a:t>
            </a:r>
            <a:r>
              <a:rPr lang="en-US" sz="2000" b="0" i="0" dirty="0">
                <a:solidFill>
                  <a:srgbClr val="5C4826"/>
                </a:solidFill>
              </a:rPr>
              <a:t>constraint · sensor · validator · gate</a:t>
            </a:r>
          </a:p>
          <a:p>
            <a:pPr algn="l">
              <a:spcBef>
                <a:spcPts val="600"/>
              </a:spcBef>
              <a:buNone/>
            </a:pPr>
            <a:r>
              <a:rPr lang="en-US" sz="2000" b="1" i="0" dirty="0">
                <a:solidFill>
                  <a:srgbClr val="5C4826"/>
                </a:solidFill>
              </a:rPr>
              <a:t>AUTHORITY — </a:t>
            </a:r>
            <a:r>
              <a:rPr lang="en-US" sz="2000" b="0" i="0" dirty="0">
                <a:solidFill>
                  <a:srgbClr val="5C4826"/>
                </a:solidFill>
              </a:rPr>
              <a:t>what happens if it fails?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Compare your designs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 name="Compare1"/>
          <p:cNvSpPr/>
          <p:nvPr/>
        </p:nvSpPr>
        <p:spPr>
          <a:xfrm>
            <a:off x="502920" y="10515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Same obligation, different boundary</a:t>
            </a:r>
          </a:p>
          <a:p>
            <a:pPr algn="l"/>
            <a:r>
              <a:rPr sz="2000" b="0" i="0">
                <a:solidFill>
                  <a:srgbClr val="5C4826"/>
                </a:solidFill>
              </a:rPr>
              <a:t>Which boundary actually has enough information?</a:t>
            </a:r>
          </a:p>
        </p:txBody>
      </p:sp>
      <p:sp>
        <p:nvSpPr>
          <p:cNvPr id="11" name="Compare2"/>
          <p:cNvSpPr/>
          <p:nvPr/>
        </p:nvSpPr>
        <p:spPr>
          <a:xfrm>
            <a:off x="502920" y="19659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Constraint vs. evidence</a:t>
            </a:r>
          </a:p>
          <a:p>
            <a:pPr algn="l"/>
            <a:r>
              <a:rPr sz="2000" b="0" i="0">
                <a:solidFill>
                  <a:srgbClr val="5C4826"/>
                </a:solidFill>
              </a:rPr>
              <a:t>Can the failure be prevented, or must it be observed and evaluated?</a:t>
            </a:r>
          </a:p>
        </p:txBody>
      </p:sp>
      <p:sp>
        <p:nvSpPr>
          <p:cNvPr id="12" name="Compare3"/>
          <p:cNvSpPr/>
          <p:nvPr/>
        </p:nvSpPr>
        <p:spPr>
          <a:xfrm>
            <a:off x="502920" y="2880360"/>
            <a:ext cx="8138160" cy="10972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Different authority</a:t>
            </a:r>
          </a:p>
          <a:p>
            <a:pPr algn="l"/>
            <a:r>
              <a:rPr sz="2000" b="0" i="0">
                <a:solidFill>
                  <a:srgbClr val="5C4826"/>
                </a:solidFill>
              </a:rPr>
              <a:t>Should this failure block the commit, the PR, the merge, the deployment — or merely produce evidence?</a:t>
            </a:r>
          </a:p>
        </p:txBody>
      </p:sp>
      <p:sp>
        <p:nvSpPr>
          <p:cNvPr id="13" name="Compare4"/>
          <p:cNvSpPr/>
          <p:nvPr/>
        </p:nvSpPr>
        <p:spPr>
          <a:xfrm>
            <a:off x="502920" y="3977639"/>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Model vs. reconstruction</a:t>
            </a:r>
          </a:p>
          <a:p>
            <a:pPr algn="l"/>
            <a:r>
              <a:rPr sz="2000" b="0" i="0">
                <a:solidFill>
                  <a:srgbClr val="5C4826"/>
                </a:solidFill>
              </a:rPr>
              <a:t>What becomes easier if the relevant knowledge is explicit?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How do you know?</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640080" y="100584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MODELING</a:t>
            </a:r>
          </a:p>
        </p:txBody>
      </p:sp>
      <p:sp>
        <p:nvSpPr>
          <p:cNvPr id="6" name="TextBox 5"/>
          <p:cNvSpPr txBox="1"/>
          <p:nvPr/>
        </p:nvSpPr>
        <p:spPr>
          <a:xfrm>
            <a:off x="3108960" y="1033272"/>
            <a:ext cx="5715000" cy="1005840"/>
          </a:xfrm>
          <a:prstGeom prst="rect">
            <a:avLst/>
          </a:prstGeom>
          <a:noFill/>
        </p:spPr>
        <p:txBody>
          <a:bodyPr wrap="square" anchor="ctr">
            <a:spAutoFit/>
          </a:bodyPr>
          <a:lstStyle/>
          <a:p>
            <a:pPr algn="l"/>
            <a:r>
              <a:rPr sz="2000" b="0" i="0">
                <a:solidFill>
                  <a:srgbClr val="5C4826"/>
                </a:solidFill>
              </a:rPr>
              <a:t>make consequential engineering knowledge explicit while leaving irrelevant choices free</a:t>
            </a:r>
          </a:p>
        </p:txBody>
      </p:sp>
      <p:sp>
        <p:nvSpPr>
          <p:cNvPr id="7" name="Rectangle 6"/>
          <p:cNvSpPr/>
          <p:nvPr/>
        </p:nvSpPr>
        <p:spPr>
          <a:xfrm>
            <a:off x="640080" y="21031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ALIGNMENT</a:t>
            </a:r>
          </a:p>
        </p:txBody>
      </p:sp>
      <p:sp>
        <p:nvSpPr>
          <p:cNvPr id="8" name="TextBox 7"/>
          <p:cNvSpPr txBox="1"/>
          <p:nvPr/>
        </p:nvSpPr>
        <p:spPr>
          <a:xfrm>
            <a:off x="3108960" y="2130552"/>
            <a:ext cx="5715000" cy="1005840"/>
          </a:xfrm>
          <a:prstGeom prst="rect">
            <a:avLst/>
          </a:prstGeom>
          <a:noFill/>
        </p:spPr>
        <p:txBody>
          <a:bodyPr wrap="square" anchor="ctr">
            <a:spAutoFit/>
          </a:bodyPr>
          <a:lstStyle/>
          <a:p>
            <a:pPr algn="l"/>
            <a:r>
              <a:rPr sz="2000" b="0" i="0">
                <a:solidFill>
                  <a:srgbClr val="5C4826"/>
                </a:solidFill>
              </a:rPr>
              <a:t>decide which obligations have consequences in the engineered environment</a:t>
            </a:r>
          </a:p>
        </p:txBody>
      </p:sp>
      <p:sp>
        <p:nvSpPr>
          <p:cNvPr id="9" name="Rectangle 8"/>
          <p:cNvSpPr/>
          <p:nvPr/>
        </p:nvSpPr>
        <p:spPr>
          <a:xfrm>
            <a:off x="640080" y="3291840"/>
            <a:ext cx="8183879" cy="23317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27432" tIns="73152" bIns="22860"/>
          <a:lstStyle/>
          <a:p>
            <a:pPr algn="l"/>
            <a:r>
              <a:rPr sz="2000" b="1" i="0">
                <a:solidFill>
                  <a:srgbClr val="8E6F3E"/>
                </a:solidFill>
              </a:rPr>
              <a:t>THE REUSABLE QUESTIONS</a:t>
            </a:r>
          </a:p>
          <a:p>
            <a:pPr algn="l">
              <a:spcBef>
                <a:spcPts val="600"/>
              </a:spcBef>
            </a:pPr>
            <a:r>
              <a:rPr sz="2000" b="1" i="0">
                <a:solidFill>
                  <a:srgbClr val="5C4826"/>
                </a:solidFill>
              </a:rPr>
              <a:t>How can the delegated work fail?</a:t>
            </a:r>
          </a:p>
          <a:p>
            <a:pPr algn="l">
              <a:spcBef>
                <a:spcPts val="600"/>
              </a:spcBef>
            </a:pPr>
            <a:r>
              <a:rPr sz="2000" b="0" i="0">
                <a:solidFill>
                  <a:srgbClr val="5C4826"/>
                </a:solidFill>
              </a:rPr>
              <a:t>What must be true?</a:t>
            </a:r>
          </a:p>
          <a:p>
            <a:pPr algn="l"/>
            <a:r>
              <a:rPr sz="2000" b="0" i="0">
                <a:solidFill>
                  <a:srgbClr val="5C4826"/>
                </a:solidFill>
              </a:rPr>
              <a:t>What evidence bears on it?</a:t>
            </a:r>
          </a:p>
          <a:p>
            <a:pPr algn="l"/>
            <a:r>
              <a:rPr sz="2000" b="0" i="0">
                <a:solidFill>
                  <a:srgbClr val="5C4826"/>
                </a:solidFill>
              </a:rPr>
              <a:t>Where can it be decided?</a:t>
            </a:r>
          </a:p>
          <a:p>
            <a:pPr algn="l"/>
            <a:r>
              <a:rPr sz="2000" b="0" i="0">
                <a:solidFill>
                  <a:srgbClr val="5C4826"/>
                </a:solidFill>
              </a:rPr>
              <a:t>How will it be evaluated?</a:t>
            </a:r>
          </a:p>
          <a:p>
            <a:pPr algn="l"/>
            <a:r>
              <a:rPr sz="2000" b="0" i="0">
                <a:solidFill>
                  <a:srgbClr val="5C4826"/>
                </a:solidFill>
              </a:rPr>
              <a:t>Should failure control what happens next?</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8564</TotalTime>
  <Words>5079</Words>
  <Application>Microsoft Macintosh PowerPoint</Application>
  <PresentationFormat>On-screen Show (4:3)</PresentationFormat>
  <Paragraphs>694</Paragraphs>
  <Slides>34</Slides>
  <Notes>34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34</vt:i4>
      </vt:variant>
    </vt:vector>
  </HeadingPairs>
  <TitlesOfParts>
    <vt:vector size="38" baseType="lpstr">
      <vt:lpstr>Arial</vt:lpstr>
      <vt:lpstr>Calibri</vt:lpstr>
      <vt:lpstr>Times</vt:lpstr>
      <vt:lpstr>Purdue1</vt:lpstr>
      <vt:lpstr>PowerPoint Presentation</vt:lpstr>
      <vt:lpstr>Engineers may delegate realization without delegating responsibility for the resulting system.</vt:lpstr>
      <vt:lpstr>Delegation did not begin with agents</vt:lpstr>
      <vt:lpstr>The recipient changes</vt:lpstr>
      <vt:lpstr>The delegation problem remains</vt:lpstr>
      <vt:lpstr>BOUND</vt:lpstr>
      <vt:lpstr>BOUND: design the delegated work</vt:lpstr>
      <vt:lpstr>A delegation boundary is a reasoning boundary</vt:lpstr>
      <vt:lpstr>Reasoning has a horizon</vt:lpstr>
      <vt:lpstr>Delegation leaves degrees of freedom</vt:lpstr>
      <vt:lpstr>EQUIP</vt:lpstr>
      <vt:lpstr>EQUIP: capability lives in a system</vt:lpstr>
      <vt:lpstr>Equip three things</vt:lpstr>
      <vt:lpstr>Choose the reasoner for the work</vt:lpstr>
      <vt:lpstr>Engineer the information available to it</vt:lpstr>
      <vt:lpstr>Representation can change the reasoning problem</vt:lpstr>
      <vt:lpstr>Give the agent means to observe and act</vt:lpstr>
      <vt:lpstr>A real harness engineers the reasoning surface</vt:lpstr>
      <vt:lpstr>Zoom out: the equipped agent</vt:lpstr>
      <vt:lpstr>How will you equip your agents?</vt:lpstr>
      <vt:lpstr>Stretch break</vt:lpstr>
      <vt:lpstr>AUTHORIZE</vt:lpstr>
      <vt:lpstr>Capability is not authority</vt:lpstr>
      <vt:lpstr>Authority follows consequence</vt:lpstr>
      <vt:lpstr>Authority should match the delegated work</vt:lpstr>
      <vt:lpstr>VERIFY</vt:lpstr>
      <vt:lpstr>VERIFY: what evidence closes the work?</vt:lpstr>
      <vt:lpstr>The producer is not independent evidence</vt:lpstr>
      <vt:lpstr>THE DELEGATION SYSTEM</vt:lpstr>
      <vt:lpstr>Engineer the delegation system</vt:lpstr>
      <vt:lpstr>Better agents change the delegation design</vt:lpstr>
      <vt:lpstr>What changes? What stays?</vt:lpstr>
      <vt:lpstr>What must exist outside the agent?</vt:lpstr>
      <vt:lpstr>Phase 2 honest individual status update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398</cp:revision>
  <dcterms:created xsi:type="dcterms:W3CDTF">2020-02-21T23:00:33Z</dcterms:created>
  <dcterms:modified xsi:type="dcterms:W3CDTF">2026-09-29T15:52:00Z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