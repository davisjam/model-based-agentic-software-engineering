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302" r:id="rId54"/>
    <p:sldId id="289" r:id="rId15"/>
    <p:sldId id="290" r:id="rId34"/>
    <p:sldId id="258" r:id="rId9"/>
    <p:sldId id="284" r:id="rId49"/>
    <p:sldId id="291" r:id="rId35"/>
    <p:sldId id="292" r:id="rId36"/>
    <p:sldId id="293" r:id="rId37"/>
    <p:sldId id="294" r:id="rId38"/>
    <p:sldId id="295" r:id="rId39"/>
    <p:sldId id="285" r:id="rId50"/>
    <p:sldId id="304" r:id="rId40"/>
    <p:sldId id="297" r:id="rId41"/>
    <p:sldId id="298" r:id="rId42"/>
    <p:sldId id="299" r:id="rId14"/>
    <p:sldId id="262" r:id="rId13"/>
    <p:sldId id="300" r:id="rId12"/>
    <p:sldId id="266" r:id="rId17"/>
    <p:sldId id="267" r:id="rId18"/>
    <p:sldId id="265" r:id="rId16"/>
    <p:sldId id="268" r:id="rId19"/>
    <p:sldId id="286" r:id="rId51"/>
    <p:sldId id="269" r:id="rId20"/>
    <p:sldId id="270" r:id="rId21"/>
    <p:sldId id="272" r:id="rId23"/>
    <p:sldId id="303" r:id="rId55"/>
    <p:sldId id="273" r:id="rId24"/>
    <p:sldId id="288" r:id="rId53"/>
    <p:sldId id="277" r:id="rId28"/>
    <p:sldId id="278" r:id="rId29"/>
    <p:sldId id="279" r:id="rId30"/>
    <p:sldId id="301" r:id="rId11"/>
    <p:sldId id="280" r:id="rId31"/>
    <p:sldId id="281" r:id="rId32"/>
    <p:sldId id="287" r:id="rId52"/>
    <p:sldId id="274" r:id="rId25"/>
    <p:sldId id="275" r:id="rId26"/>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7" Type="http://schemas.openxmlformats.org/officeDocument/2006/relationships/slide" Target="slides/slide1.xml"/><Relationship Id="rId9" Type="http://schemas.openxmlformats.org/officeDocument/2006/relationships/slide" Target="slides/slide5.xml"/><Relationship Id="rId11" Type="http://schemas.openxmlformats.org/officeDocument/2006/relationships/slide" Target="slides/slide32.xml"/><Relationship Id="rId12" Type="http://schemas.openxmlformats.org/officeDocument/2006/relationships/slide" Target="slides/slide17.xml"/><Relationship Id="rId13" Type="http://schemas.openxmlformats.org/officeDocument/2006/relationships/slide" Target="slides/slide16.xml"/><Relationship Id="rId14" Type="http://schemas.openxmlformats.org/officeDocument/2006/relationships/slide" Target="slides/slide15.xml"/><Relationship Id="rId15" Type="http://schemas.openxmlformats.org/officeDocument/2006/relationships/slide" Target="slides/slide3.xml"/><Relationship Id="rId16" Type="http://schemas.openxmlformats.org/officeDocument/2006/relationships/slide" Target="slides/slide20.xml"/><Relationship Id="rId17" Type="http://schemas.openxmlformats.org/officeDocument/2006/relationships/slide" Target="slides/slide18.xml"/><Relationship Id="rId18" Type="http://schemas.openxmlformats.org/officeDocument/2006/relationships/slide" Target="slides/slide19.xml"/><Relationship Id="rId19" Type="http://schemas.openxmlformats.org/officeDocument/2006/relationships/slide" Target="slides/slide21.xml"/><Relationship Id="rId20" Type="http://schemas.openxmlformats.org/officeDocument/2006/relationships/slide" Target="slides/slide23.xml"/><Relationship Id="rId21" Type="http://schemas.openxmlformats.org/officeDocument/2006/relationships/slide" Target="slides/slide24.xml"/><Relationship Id="rId23" Type="http://schemas.openxmlformats.org/officeDocument/2006/relationships/slide" Target="slides/slide25.xml"/><Relationship Id="rId24" Type="http://schemas.openxmlformats.org/officeDocument/2006/relationships/slide" Target="slides/slide27.xml"/><Relationship Id="rId25" Type="http://schemas.openxmlformats.org/officeDocument/2006/relationships/slide" Target="slides/slide36.xml"/><Relationship Id="rId26" Type="http://schemas.openxmlformats.org/officeDocument/2006/relationships/slide" Target="slides/slide37.xml"/><Relationship Id="rId27" Type="http://schemas.openxmlformats.org/officeDocument/2006/relationships/slide" Target="slides/slide38.xml"/><Relationship Id="rId28" Type="http://schemas.openxmlformats.org/officeDocument/2006/relationships/slide" Target="slides/slide29.xml"/><Relationship Id="rId29" Type="http://schemas.openxmlformats.org/officeDocument/2006/relationships/slide" Target="slides/slide30.xml"/><Relationship Id="rId30" Type="http://schemas.openxmlformats.org/officeDocument/2006/relationships/slide" Target="slides/slide31.xml"/><Relationship Id="rId31" Type="http://schemas.openxmlformats.org/officeDocument/2006/relationships/slide" Target="slides/slide33.xml"/><Relationship Id="rId32" Type="http://schemas.openxmlformats.org/officeDocument/2006/relationships/slide" Target="slides/slide34.xml"/><Relationship Id="rId33" Type="http://schemas.openxmlformats.org/officeDocument/2006/relationships/slide" Target="slides/slide39.xml"/><Relationship Id="rId34" Type="http://schemas.openxmlformats.org/officeDocument/2006/relationships/slide" Target="slides/slide4.xml"/><Relationship Id="rId35" Type="http://schemas.openxmlformats.org/officeDocument/2006/relationships/slide" Target="slides/slide7.xml"/><Relationship Id="rId36" Type="http://schemas.openxmlformats.org/officeDocument/2006/relationships/slide" Target="slides/slide8.xml"/><Relationship Id="rId37" Type="http://schemas.openxmlformats.org/officeDocument/2006/relationships/slide" Target="slides/slide9.xml"/><Relationship Id="rId38" Type="http://schemas.openxmlformats.org/officeDocument/2006/relationships/slide" Target="slides/slide10.xml"/><Relationship Id="rId39" Type="http://schemas.openxmlformats.org/officeDocument/2006/relationships/slide" Target="slides/slide11.xml"/><Relationship Id="rId40" Type="http://schemas.openxmlformats.org/officeDocument/2006/relationships/slide" Target="slides/slide40.xml"/><Relationship Id="rId41" Type="http://schemas.openxmlformats.org/officeDocument/2006/relationships/slide" Target="slides/slide13.xml"/><Relationship Id="rId42" Type="http://schemas.openxmlformats.org/officeDocument/2006/relationships/slide" Target="slides/slide14.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9" Type="http://schemas.openxmlformats.org/officeDocument/2006/relationships/slide" Target="slides/slide6.xml"/><Relationship Id="rId50" Type="http://schemas.openxmlformats.org/officeDocument/2006/relationships/slide" Target="slides/slide12.xml"/><Relationship Id="rId51" Type="http://schemas.openxmlformats.org/officeDocument/2006/relationships/slide" Target="slides/slide22.xml"/><Relationship Id="rId52" Type="http://schemas.openxmlformats.org/officeDocument/2006/relationships/slide" Target="slides/slide35.xml"/><Relationship Id="rId53" Type="http://schemas.openxmlformats.org/officeDocument/2006/relationships/slide" Target="slides/slide28.xml"/><Relationship Id="rId54" Type="http://schemas.openxmlformats.org/officeDocument/2006/relationships/slide" Target="slides/slide2.xml"/><Relationship Id="rId55"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Recall degrees of freedom from Architecture and Design.</a:t>
            </a:r>
          </a:p>
          <a:p>
            <a:r>
              <a:t>- Engineering is not about specifying everything.</a:t>
            </a:r>
          </a:p>
          <a:p>
            <a:r>
              <a:t>- We bind choices whose consequences matter: worktree, scope, forbidden actions, evidence, delivery boundary.</a:t>
            </a:r>
          </a:p>
          <a:p>
            <a:r>
              <a:t>- We deliberately leave other choices free: local decomposition, naming, implementation details, algorithms where no obligation constrains them.</a:t>
            </a:r>
          </a:p>
          <a:p>
            <a:r>
              <a:t>- If we specify all of those too, we have defeated much of the purpose of delegation.</a:t>
            </a:r>
          </a:p>
          <a:p>
            <a:r>
              <a:t>- Good delegation is therefore selective reduction of degrees of freedom.</a:t>
            </a:r>
          </a:p>
          <a:p>
            <a:r>
              <a:t>ANIMATION</a:t>
            </a:r>
          </a:p>
          <a:p>
            <a:r>
              <a:t>- Reveal BOUND first.</a:t>
            </a:r>
          </a:p>
          <a:p>
            <a:r>
              <a:t>- Reveal LEAVE FREE second.</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In practice, the agent does not receive only natural-language instructions.</a:t>
            </a:r>
          </a:p>
          <a:p>
            <a:r>
              <a:t>- It receives a repository, worktree, branch, tools, tests, CI configuration, issue context, and repository instructions.</a:t>
            </a:r>
          </a:p>
          <a:p>
            <a:r>
              <a:t>- Those things collectively define part of the delegated environment.</a:t>
            </a:r>
          </a:p>
          <a:p>
            <a:r>
              <a:t>- Some are information. Some are capabilities. Some are constraints.</a:t>
            </a:r>
          </a:p>
          <a:p>
            <a:r>
              <a:t>- The output is also structured: not "some code somewhere," but typically a proposed change, commit, or PR.</a:t>
            </a:r>
          </a:p>
          <a:p>
            <a:r>
              <a:t>- This environment is already doing engineering work before we add any sophisticated agent-specific machinery.</a:t>
            </a:r>
          </a:p>
          <a:p>
            <a:r>
              <a:t>ANIMATION</a:t>
            </a:r>
          </a:p>
          <a:p>
            <a:r>
              <a:t>- Reveal WORK ORDER and WORKTREE.</a:t>
            </a:r>
          </a:p>
          <a:p>
            <a:r>
              <a:t>- Reveal AGENT.</a:t>
            </a:r>
          </a:p>
          <a:p>
            <a:r>
              <a:t>- Reveal proposed change / commit / PR.</a:t>
            </a:r>
          </a:p>
          <a:p>
            <a:r>
              <a:t>- Reveal the concrete environment elements last.</a:t>
            </a:r>
          </a:p>
          <a:p>
            <a:r>
              <a:t>- Frame this as an EXAMPLE of the taxonomy: the work environment is how we bound the process — where the agent may work, what it may touch, what tools it has.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Fourth failure: "all tests pass" sounds like evidence, but evidence of what? Which tests? Against which obligations? In which environment? What wasn't tested?</a:t>
            </a:r>
          </a:p>
          <a:p>
            <a:r>
              <a:t>- Introduce obligation carefully: a condition against which the work can be wrong.</a:t>
            </a:r>
          </a:p>
          <a:p>
            <a:r>
              <a:t>- Then pose the classroom question explicitly and let them argue: can the result be correct while the process is wrong?</a:t>
            </a:r>
          </a:p>
          <a:p>
            <a:r>
              <a:t>-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a:t>
            </a:r>
          </a:p>
          <a:p>
            <a:r>
              <a:t>- That separates truth from justified engineering judgment — the sharpest conceptual moment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"Do not help the agent" and "If it makes a choice…" only after students have started reading.</a:t>
            </a:r>
          </a:p>
          <a:p>
            <a:r>
              <a:t>- Start the five-minute timer after instructions are clear.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Evidence becomes useful when a validator turns it into a verdict.</a:t>
            </a:r>
          </a:p>
          <a:p>
            <a:r>
              <a:t>- But a verdict alone does not control anything.</a:t>
            </a:r>
          </a:p>
          <a:p>
            <a:r>
              <a:t>- A gate connects that verdict to authority.</a:t>
            </a:r>
          </a:p>
          <a:p>
            <a:r>
              <a:t>- The agent can work locally and propose changes. Merge or deployment can require a satisfactory verdict.</a:t>
            </a:r>
          </a:p>
          <a:p>
            <a:r>
              <a:t>- This is stronger than telling the agent "please don't merge broken code."</a:t>
            </a:r>
          </a:p>
          <a:p>
            <a:r>
              <a:t>- The environment itself conditions authority on the engineering judgment.</a:t>
            </a:r>
          </a:p>
          <a:p>
            <a:r>
              <a:t>- A gate therefore makes authority conditional on a verdict.</a:t>
            </a:r>
          </a:p>
          <a:p>
            <a:r>
              <a:t>ANIMATION</a:t>
            </a:r>
          </a:p>
          <a:p>
            <a:r>
              <a:t>- Reveal WORK, evidence, VALIDATOR.</a:t>
            </a:r>
          </a:p>
          <a:p>
            <a:r>
              <a:t>- Reveal verdict.</a:t>
            </a:r>
          </a:p>
          <a:p>
            <a:r>
              <a:t>- Reveal GATE.</a:t>
            </a:r>
          </a:p>
          <a:p>
            <a:r>
              <a:t>- Reveal MERGE / DEPLOY only after explaining the verdict.</a:t>
            </a:r>
          </a:p>
          <a:p>
            <a:r>
              <a:t>- Reveal the final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can now name four control roles.</a:t>
            </a:r>
          </a:p>
          <a:p>
            <a:r>
              <a:t>- A constraint narrows what may happen.</a:t>
            </a:r>
          </a:p>
          <a:p>
            <a:r>
              <a:t>- A sensor tells us what happened and produces evidence.</a:t>
            </a:r>
          </a:p>
          <a:p>
            <a:r>
              <a:t>- A validator evaluates that evidence against an obligation.</a:t>
            </a:r>
          </a:p>
          <a:p>
            <a:r>
              <a:t>- A gate controls whether work crosses a boundary.</a:t>
            </a:r>
          </a:p>
          <a:p>
            <a:r>
              <a:t>- These are roles, not an architecture requiring four separate services.</a:t>
            </a:r>
          </a:p>
          <a:p>
            <a:r>
              <a:t>- A single mechanism can perform several roles.</a:t>
            </a:r>
          </a:p>
          <a:p>
            <a:r>
              <a:t>- Keep the two sides distinct: constraints and sensors concern work/state; validators and gates concern judgment/admission.</a:t>
            </a:r>
          </a:p>
          <a:p>
            <a:r>
              <a:t>- This vocabulary gives us a way to design rather than simply say "add checks."</a:t>
            </a:r>
          </a:p>
          <a:p>
            <a:r>
              <a:t>ANIMATION</a:t>
            </a:r>
          </a:p>
          <a:p>
            <a:r>
              <a:t>- Reveal CONSTRAINT and SENSOR first under WORK / STATE.</a:t>
            </a:r>
          </a:p>
          <a:p>
            <a:r>
              <a:t>- Reveal VALIDATOR and GATE under DECISION / ADMISSION.</a:t>
            </a:r>
          </a:p>
          <a:p>
            <a:r>
              <a:t>- Reveal the role definitions with each.</a:t>
            </a:r>
          </a:p>
          <a:p>
            <a:r>
              <a:t>- Reveal the "roles, not four required components" note last.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Enough vocabulary.</a:t>
            </a:r>
          </a:p>
          <a:p>
            <a:r>
              <a:t>- Now use it.</a:t>
            </a:r>
          </a:p>
          <a:p>
            <a:r>
              <a:t>- You are going to receive explicit obligations and a model, and design the delegated process around them.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the concrete failure mode.</a:t>
            </a:r>
          </a:p>
          <a:p>
            <a:r>
              <a:t>- The obligation is legitimate: when the task is complete, code and architectural model must correspond.</a:t>
            </a:r>
          </a:p>
          <a:p>
            <a:r>
              <a:t>- Enforcing that obligation after every intermediate edit or commit rejects legitimate transitional states.</a:t>
            </a:r>
          </a:p>
          <a:p>
            <a:r>
              <a:t>- At merge, the task's work is assembled and the obligation can be evaluated.</a:t>
            </a:r>
          </a:p>
          <a:p>
            <a:r>
              <a:t>- Notice the distinction: the obligation was not wrong; its placement was wrong.</a:t>
            </a:r>
          </a:p>
          <a:p>
            <a:r>
              <a:t>- This is an Alignment design error, not a reason to abandon the property.</a:t>
            </a:r>
          </a:p>
          <a:p>
            <a:r>
              <a:t>ANIMATION</a:t>
            </a:r>
          </a:p>
          <a:p>
            <a:r>
              <a:t>- Reveal the obligation.</a:t>
            </a:r>
          </a:p>
          <a:p>
            <a:r>
              <a:t>- Reveal per-commit enforcement and the red X.</a:t>
            </a:r>
          </a:p>
          <a:p>
            <a:r>
              <a:t>- Reveal the consequence: legitimate intermediate states rejected.</a:t>
            </a:r>
          </a:p>
          <a:p>
            <a:r>
              <a:t>- Reveal merge and green check.</a:t>
            </a:r>
          </a:p>
          <a:p>
            <a:r>
              <a:t>- Reveal the final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setup + 8-10 minutes work</a:t>
            </a:r>
          </a:p>
          <a:p>
            <a:r>
              <a:t>- Scenario: an agent modifies an embedded controller.</a:t>
            </a:r>
          </a:p>
          <a:p>
            <a:r>
              <a:t>- You have four obligations: API preservation, a memory bound, forbidden dependency, and cycle ordering.</a:t>
            </a:r>
          </a:p>
          <a:p>
            <a:r>
              <a:t>- The model is given. Do not spend the activity rediscovering it from implementation.</a:t>
            </a:r>
          </a:p>
          <a:p>
            <a:r>
              <a:t>- Your job is to design the delegated process and its controls.</a:t>
            </a:r>
          </a:p>
          <a:p>
            <a:r>
              <a:t>- Different obligations should lead you toward different evidence, mechanisms, and boundaries.</a:t>
            </a:r>
          </a:p>
          <a:p>
            <a:r>
              <a:t>- Do not assume everything should block everything.</a:t>
            </a:r>
          </a:p>
          <a:p>
            <a:r>
              <a:t>- You should be able to defend why each control sits where you put it.</a:t>
            </a:r>
          </a:p>
          <a:p>
            <a:r>
              <a:t>ANIMATION</a:t>
            </a:r>
          </a:p>
          <a:p>
            <a:r>
              <a:t>- Reveal scenario.</a:t>
            </a:r>
          </a:p>
          <a:p>
            <a:r>
              <a:t>- Reveal obligations one at a time.</a:t>
            </a:r>
          </a:p>
          <a:p>
            <a:r>
              <a:t>- Reveal the given model.</a:t>
            </a:r>
          </a:p>
          <a:p>
            <a:r>
              <a:t>- Reveal "Design the delegated process and its controls" as the start signal.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activity continues</a:t>
            </a:r>
          </a:p>
          <a:p>
            <a:r>
              <a:t>- Leave this slide up while teams work.</a:t>
            </a:r>
          </a:p>
          <a:p>
            <a:r>
              <a:t>- For each obligation, walk through the same questions.</a:t>
            </a:r>
          </a:p>
          <a:p>
            <a:r>
              <a:t>- Failure: what specifically can go wrong?</a:t>
            </a:r>
          </a:p>
          <a:p>
            <a:r>
              <a:t>- Obligation: what must actually remain true?</a:t>
            </a:r>
          </a:p>
          <a:p>
            <a:r>
              <a:t>- Control: can the invalid state be prevented, or do you need evidence?</a:t>
            </a:r>
          </a:p>
          <a:p>
            <a:r>
              <a:t>- Evidence: what observation bears on the obligation?</a:t>
            </a:r>
          </a:p>
          <a:p>
            <a:r>
              <a:t>- Boundary: where does enough information exist to decide it?</a:t>
            </a:r>
          </a:p>
          <a:p>
            <a:r>
              <a:t>- Mechanism: which roles are needed?</a:t>
            </a:r>
          </a:p>
          <a:p>
            <a:r>
              <a:t>- Authority: what happens when the verdict is negative?</a:t>
            </a:r>
          </a:p>
          <a:p>
            <a:r>
              <a:t>- Circulate and challenge teams especially on boundary and authority.</a:t>
            </a:r>
          </a:p>
          <a:p>
            <a:r>
              <a:t>- If someone says "run a test," ask what obligation the test establishes.</a:t>
            </a:r>
          </a:p>
          <a:p>
            <a:r>
              <a:t>- If someone says "block the commit," ask whether the obligation is decidable at commit.</a:t>
            </a:r>
          </a:p>
          <a:p>
            <a:r>
              <a:t>- If someone says "tell the agent not to," ask whether the environment can enforce it instead.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Everything so far could be done with tests, permissions, CI, repository state, and ordinary process controls.</a:t>
            </a:r>
          </a:p>
          <a:p>
            <a:r>
              <a:t>- We reasoned about obligations, evidence, validators, constraints, gates, and authority.</a:t>
            </a:r>
          </a:p>
          <a:p>
            <a:r>
              <a:t>- No explicit model was logically required.</a:t>
            </a:r>
          </a:p>
          <a:p>
            <a:r>
              <a:t>- So explicit modeling has to earn its cost.</a:t>
            </a:r>
          </a:p>
          <a:p>
            <a:r>
              <a:t>- What does it let us do better?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Ask the room before answering.</a:t>
            </a:r>
          </a:p>
          <a:p>
            <a:r>
              <a:t>- Look for answers about preserving knowledge, making relationships inspectable, enabling analysis, reducing repeated reconstruction, and separating what matters from what does not.</a:t>
            </a:r>
          </a:p>
          <a:p>
            <a:r>
              <a:t>- Push beyond "documentation." If the model is only documentation, it is not yet clear why Alignment cares.</a:t>
            </a:r>
          </a:p>
          <a:p>
            <a:r>
              <a:t>- Ask: what could a control do with a model that is difficult to do with prose or by repeatedly inspecting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A model preserves distinctions we have decided matter.</a:t>
            </a:r>
          </a:p>
          <a:p>
            <a:r>
              <a:t>- It exposes relationships that would otherwise need to be inferred.</a:t>
            </a:r>
          </a:p>
          <a:p>
            <a:r>
              <a:t>- It can deliberately leave realization choices open.</a:t>
            </a:r>
          </a:p>
          <a:p>
            <a:r>
              <a:t>- And because the information is explicit and structured, analyses can operate over it directly.</a:t>
            </a:r>
          </a:p>
          <a:p>
            <a:r>
              <a:t>- The key point is not that models contain more information than implementation.</a:t>
            </a:r>
          </a:p>
          <a:p>
            <a:r>
              <a:t>- The point is that they can contain the right engineering information in a form suited to the question.</a:t>
            </a:r>
          </a:p>
          <a:p>
            <a:r>
              <a:t>- Multiple analyses can then operate over the same explicit knowledge.</a:t>
            </a:r>
          </a:p>
          <a:p>
            <a:r>
              <a:t>ANIMATION</a:t>
            </a:r>
          </a:p>
          <a:p>
            <a:r>
              <a:t>- Reveal PRESERVE.</a:t>
            </a:r>
          </a:p>
          <a:p>
            <a:r>
              <a:t>- Reveal EXPOSE.</a:t>
            </a:r>
          </a:p>
          <a:p>
            <a:r>
              <a:t>- Reveal LEAVE OPEN.</a:t>
            </a:r>
          </a:p>
          <a:p>
            <a:r>
              <a:t>- Reveal ENABLE.</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Once we have models, we need one more distinction.</a:t>
            </a:r>
          </a:p>
          <a:p>
            <a:r>
              <a:t>- Correspondence: do two representations agree?</a:t>
            </a:r>
          </a:p>
          <a:p>
            <a:r>
              <a:t>- Conformance: does an artifact satisfy an independent obligation?</a:t>
            </a:r>
          </a:p>
          <a:p>
            <a:r>
              <a:t>- Acceptance: will the receiving environment accept the artifact?</a:t>
            </a:r>
          </a:p>
          <a:p>
            <a:r>
              <a:t>- These are different claims.</a:t>
            </a:r>
          </a:p>
          <a:p>
            <a:r>
              <a:t>- A model and implementation can correspond perfectly and both be wrong relative to the requirement.</a:t>
            </a:r>
          </a:p>
          <a:p>
            <a:r>
              <a:t>- An artifact can satisfy its requirement but still be rejected by an incompatible receiving environment.</a:t>
            </a:r>
          </a:p>
          <a:p>
            <a:r>
              <a:t>- Evidence for one relation does not establish the others.</a:t>
            </a:r>
          </a:p>
          <a:p>
            <a:r>
              <a:t>- This is why "the implementation matches the model" is not by itself a correctness argument.</a:t>
            </a:r>
          </a:p>
          <a:p>
            <a:r>
              <a:t>ANIMATION</a:t>
            </a:r>
          </a:p>
          <a:p>
            <a:r>
              <a:t>- Reveal CORRESPONDENCE row.</a:t>
            </a:r>
          </a:p>
          <a:p>
            <a:r>
              <a:t>- Reveal CONFORMANCE row.</a:t>
            </a:r>
          </a:p>
          <a:p>
            <a:r>
              <a:t>- Reveal ACCEPTANCE row.</a:t>
            </a:r>
          </a:p>
          <a:p>
            <a:r>
              <a:t>- Reveal "Evidence for one does not establish the others" last.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Specialize that distinction to model-based engineering.</a:t>
            </a:r>
          </a:p>
          <a:p>
            <a:r>
              <a:t>- Transition explicitly: those were three different kinds of engineering claim. Now specialize this to model-based engineering. We have three things that can disagree.</a:t>
            </a:r>
          </a:p>
          <a:p>
            <a:r>
              <a:t>- We now have an obligation, a model, and a realization.</a:t>
            </a:r>
          </a:p>
          <a:p>
            <a:r>
              <a:t>- Ask what claim each edge makes.</a:t>
            </a:r>
          </a:p>
          <a:p>
            <a:r>
              <a:t>- Does the model actually capture the obligation?</a:t>
            </a:r>
          </a:p>
          <a:p>
            <a:r>
              <a:t>- Does the realization satisfy the obligation?</a:t>
            </a:r>
          </a:p>
          <a:p>
            <a:r>
              <a:t>- Do model and realization correspond?</a:t>
            </a:r>
          </a:p>
          <a:p>
            <a:r>
              <a:t>- None of those edges establishes the other two.</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ANIMATION</a:t>
            </a:r>
          </a:p>
          <a:p>
            <a:r>
              <a:t>- Reveal OBLIGATION, MODEL, REALIZATION without edges if possible.</a:t>
            </a:r>
          </a:p>
          <a:p>
            <a:r>
              <a:t>- Reveal obligation-model question.</a:t>
            </a:r>
          </a:p>
          <a:p>
            <a:r>
              <a:t>- Reveal obligation-realization question.</a:t>
            </a:r>
          </a:p>
          <a:p>
            <a:r>
              <a:t>- Reveal model-realization question.</a:t>
            </a:r>
          </a:p>
          <a:p>
            <a:r>
              <a:t>- Ask "What evidence would establish each?" before revealing the closing sentence.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just built a theory of Alignment without assuming explicit models.</a:t>
            </a:r>
          </a:p>
          <a:p>
            <a:r>
              <a:t>- So the obvious challenge is: why did we spend the previous lecture on Modeling?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We can now recognize the same move we made in the Modeling lecture.</a:t>
            </a:r>
          </a:p>
          <a:p>
            <a:r>
              <a:t>- The work order and environment define a model of the delegated process.</a:t>
            </a:r>
          </a:p>
          <a:p>
            <a:r>
              <a:t>- It has permitted actions, transitions, stopping conditions, and expected evidence.</a:t>
            </a:r>
          </a:p>
          <a:p>
            <a:r>
              <a:t>- Importantly, this is not a model of the agent's internal chain of thought.</a:t>
            </a:r>
          </a:p>
          <a:p>
            <a:r>
              <a:t>- We generally do not need to prescribe how the agent reasons internally.</a:t>
            </a:r>
          </a:p>
          <a:p>
            <a:r>
              <a:t>- We need enough external structure to reason about consequential behavior.</a:t>
            </a:r>
          </a:p>
          <a:p>
            <a:r>
              <a:t>- That gives us something against which failure can be defined.</a:t>
            </a:r>
          </a:p>
          <a:p>
            <a:r>
              <a:t>ANIMATION</a:t>
            </a:r>
          </a:p>
          <a:p>
            <a:r>
              <a:t>- Reveal the process sequence.</a:t>
            </a:r>
          </a:p>
          <a:p>
            <a:r>
              <a:t>- Reveal the four kinds of modeled information.</a:t>
            </a:r>
          </a:p>
          <a:p>
            <a:r>
              <a:t>- Reveal the final sentence about internal reasoning last.</a:t>
            </a:r>
          </a:p>
          <a:p>
            <a:r>
              <a:t>- This is the first Modeling callback of the lecture: the work order and environment DEFINE a model of the delegated process. We will lean on this in the models section.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A correct final artifact is not the only thing we care about.</a:t>
            </a:r>
          </a:p>
          <a:p>
            <a:r>
              <a:t>- The agent can modify files outside scope, replace an approved dependency, change the model instead of satisfying it, or weaken the test that exposes the defect.</a:t>
            </a:r>
          </a:p>
          <a:p>
            <a:r>
              <a:t>- Some of these actions might even lead to a final artifact that appears to pass.</a:t>
            </a:r>
          </a:p>
          <a:p>
            <a:r>
              <a:t>- That is why final-state validation is insufficient.</a:t>
            </a:r>
          </a:p>
          <a:p>
            <a:r>
              <a:t>- The path to the result can itself violate the work order.</a:t>
            </a:r>
          </a:p>
          <a:p>
            <a:r>
              <a:t>ANIMATION</a:t>
            </a:r>
          </a:p>
          <a:p>
            <a:r>
              <a:t>- Reveal examples one at a time.</a:t>
            </a:r>
          </a:p>
          <a:p>
            <a:r>
              <a:t>- Reveal SCOPE / PROCESS FAILURE after the examples.</a:t>
            </a:r>
          </a:p>
          <a:p>
            <a:r>
              <a:t>- Finish on "Final-state validation alone does not capture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Third failure: capability and authority are different.</a:t>
            </a:r>
          </a:p>
          <a:p>
            <a:r>
              <a:t>- We saw this distinction in Agents.</a:t>
            </a:r>
          </a:p>
          <a:p>
            <a:r>
              <a:t>- The agent may be technically capable of pushing, merging, or deploying. That does not mean we delegated all of those actions.</a:t>
            </a:r>
          </a:p>
          <a:p>
            <a:r>
              <a:t>- A useful agent often needs broad capability to perform local work.</a:t>
            </a:r>
          </a:p>
          <a:p>
            <a:r>
              <a:t>- Consequential actions can still require separate authority.</a:t>
            </a:r>
          </a:p>
          <a:p>
            <a:r>
              <a:t>- This distinction will become important when we introduce gates.</a:t>
            </a:r>
          </a:p>
          <a:p>
            <a:r>
              <a:t>ANIMATION</a:t>
            </a:r>
          </a:p>
          <a:p>
            <a:r>
              <a:t>- Reveal READ, MODIFY, COMMIT as permitted.</a:t>
            </a:r>
          </a:p>
          <a:p>
            <a:r>
              <a:t>- Reveal PUSH if appropriate to the intended work order.</a:t>
            </a:r>
          </a:p>
          <a:p>
            <a:r>
              <a:t>- Reveal MERGE and DEPLOY as prohibited.</a:t>
            </a:r>
          </a:p>
          <a:p>
            <a:r>
              <a:t>- Reveal "capability is not authority" last.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Put the four failures together.</a:t>
            </a:r>
          </a:p>
          <a:p>
            <a:r>
              <a:t>- Wrong result means we need evidence about artifact properties.</a:t>
            </a:r>
          </a:p>
          <a:p>
            <a:r>
              <a:t>- Wrong process means we need to observe or constrain actions, not merely inspect the final state.</a:t>
            </a:r>
          </a:p>
          <a:p>
            <a:r>
              <a:t>- Excess authority means consequential actions must be restricted.</a:t>
            </a:r>
          </a:p>
          <a:p>
            <a:r>
              <a:t>- Insufficient evidence means acceptance must depend on evidence appropriate to the obligation.</a:t>
            </a:r>
          </a:p>
          <a:p>
            <a:r>
              <a:t>- This is why we built the failure model first. Controls should answer plausible failures rather than being accumulated as generic "best practices."</a:t>
            </a:r>
          </a:p>
          <a:p>
            <a:r>
              <a:t>ANIMATION</a:t>
            </a:r>
          </a:p>
          <a:p>
            <a:r>
              <a:t>- Reveal one failure/response row at a time.</a:t>
            </a:r>
          </a:p>
          <a:p>
            <a:r>
              <a:t>- Ask students for the response before revealing it where practical.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Make this concrete with one document-processing-service model.</a:t>
            </a:r>
          </a:p>
          <a:p>
            <a:r>
              <a:t>- Suppose the model includes a lifecycle machine and resource graph.</a:t>
            </a:r>
          </a:p>
          <a:p>
            <a:r>
              <a:t>- From the lifecycle model, ask whether a Completed document can re-enter processing.</a:t>
            </a:r>
          </a:p>
          <a:p>
            <a:r>
              <a:t>- From retry structure, establish whether the retry loop is bounded.</a:t>
            </a:r>
          </a:p>
          <a:p>
            <a:r>
              <a:t>- From the resource graph, calculate peak memory demand.</a:t>
            </a:r>
          </a:p>
          <a:p>
            <a:r>
              <a:t>- These are different validators over shared engineering knowledge.</a:t>
            </a:r>
          </a:p>
          <a:p>
            <a:r>
              <a:t>- Their verdicts may simply be reported, or some may feed a gate.</a:t>
            </a:r>
          </a:p>
          <a:p>
            <a:r>
              <a:t>- The gate is optional because not every judgment should automatically block an action.</a:t>
            </a:r>
          </a:p>
          <a:p>
            <a:r>
              <a:t>- This is what models buy Alignment: explicit engineering knowledge can be consumed by multiple controls without reconstructing the relevant structure separately each time.</a:t>
            </a:r>
          </a:p>
          <a:p>
            <a:r>
              <a:t>ANIMATION</a:t>
            </a:r>
          </a:p>
          <a:p>
            <a:r>
              <a:t>- Reveal the explicit model first.</a:t>
            </a:r>
          </a:p>
          <a:p>
            <a:r>
              <a:t>- Reveal LIFECYCLE CHECK and verdict.</a:t>
            </a:r>
          </a:p>
          <a:p>
            <a:r>
              <a:t>- Reveal RETRY BOUND and verdict.</a:t>
            </a:r>
          </a:p>
          <a:p>
            <a:r>
              <a:t>- Reveal MEMORY ANALYSIS and verdict.</a:t>
            </a:r>
          </a:p>
          <a:p>
            <a:r>
              <a:t>- Reveal VERDICTS.</a:t>
            </a:r>
          </a:p>
          <a:p>
            <a:r>
              <a:t>- Reveal optional GATE last.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You saw this equation in Modeling. It describes the production problem: given the task, reasoner, representation, and harness, how likely is delegation to produce an acceptable result?</a:t>
            </a:r>
          </a:p>
          <a:p>
            <a:r>
              <a:t>- Last time we opened R. Modeling changes the representation available to the reasoner.</a:t>
            </a:r>
          </a:p>
          <a:p>
            <a:r>
              <a:t>- Today, notice one word we have mostly taken for granted: acceptable. What does that mean?</a:t>
            </a:r>
          </a:p>
          <a:p>
            <a:r>
              <a:t>- Then immediately: let's run the production system.</a:t>
            </a:r>
          </a:p>
          <a:p>
            <a:r>
              <a:t>- Advance to the vibe-coding exercise. Do not explain Alignment first; the students are about to experience the ambiguity in "acceptable" for themselves.</a:t>
            </a:r>
          </a:p>
          <a:p>
            <a:r>
              <a:t/>
            </a:r>
          </a:p>
          <a:p>
            <a:r>
              <a:t>ANIMATION</a:t>
            </a:r>
          </a:p>
          <a:p>
            <a:r>
              <a:t>- Reveal the equation exactly as remembered from Modeling.</a:t>
            </a:r>
          </a:p>
          <a:p>
            <a:r>
              <a:t>- Reveal the four definitions.</a:t>
            </a:r>
          </a:p>
          <a:p>
            <a:r>
              <a:t>- Reveal "What makes a result acceptable?" last, and leave it up as you advance.</a:t>
            </a: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Now return to where we started. The Master Equation asks about production: how likely is this delegation system to produce an acceptable candidate?</a:t>
            </a:r>
          </a:p>
          <a:p>
            <a:r>
              <a:t>- We absolutely care about this. Better models, better representations, better harnesses, and better work orders can raise this probability.</a:t>
            </a:r>
          </a:p>
          <a:p>
            <a:r>
              <a:t>- But reliable engineering cannot mean requiring every production attempt to succeed.</a:t>
            </a:r>
          </a:p>
          <a:p>
            <a:r>
              <a:t>- We need an engineered answer for the other cases too. What obligation applies? What evidence bears on it? Where can that evidence be obtained? What judgment follows? And what is that judgment permitted to control?</a:t>
            </a:r>
          </a:p>
          <a:p>
            <a:r>
              <a:t>- Connect back to the section just finished: even this control system has to respect information availability. We cannot attach a meaningful consequence to a verdict we cannot yet justify. That is why the boundary follows the property.</a:t>
            </a:r>
          </a:p>
          <a:p>
            <a:r>
              <a:t>- The conceptual payoff: production quality and Alignment are related, but they are not the same engineering problem. A better producer raises the probability that we get something acceptable. Alignment governs whether what was produced acquires consequences.</a:t>
            </a:r>
          </a:p>
          <a:p>
            <a:r>
              <a:t>- Callback to Agents: capability and authority are independent. Production asks what the delegation can produce. Alignment asks what produced work may cause.</a:t>
            </a:r>
          </a:p>
          <a:p>
            <a:r>
              <a:t>- Then stretch break. This is a good Act-II-halfway stopping point.</a:t>
            </a:r>
          </a:p>
          <a:p>
            <a:r>
              <a:t/>
            </a:r>
          </a:p>
          <a:p>
            <a:r>
              <a:t>ANIMATION</a:t>
            </a:r>
          </a:p>
          <a:p>
            <a:r>
              <a:t>- Reveal p(T,M,R,H) and the PRODUCTION label first.</a:t>
            </a:r>
          </a:p>
          <a:p>
            <a:r>
              <a:t>- Reveal CANDIDATE.</a:t>
            </a:r>
          </a:p>
          <a:p>
            <a:r>
              <a:t>- Reveal OBLIGATION, EVIDENCE, JUDGMENT, CONSEQUENCE one at a time.</a:t>
            </a:r>
          </a:p>
          <a:p>
            <a:r>
              <a:t>- Reveal the footer last.</a:t>
            </a: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The Master Equation</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delegation produces an acceptable result</a:t>
            </a:r>
          </a:p>
        </p:txBody>
      </p:sp>
      <p:sp>
        <p:nvSpPr>
          <p:cNvPr id="13" name="DefLine"/>
          <p:cNvSpPr txBox="1"/>
          <p:nvPr/>
        </p:nvSpPr>
        <p:spPr>
          <a:xfrm>
            <a:off x="274320" y="4023360"/>
            <a:ext cx="8595360" cy="365760"/>
          </a:xfrm>
          <a:prstGeom prst="rect">
            <a:avLst/>
          </a:prstGeom>
          <a:noFill/>
          <a:ln>
            <a:noFill/>
          </a:ln>
        </p:spPr>
        <p:txBody>
          <a:bodyPr wrap="square" lIns="0" tIns="0" rIns="0" bIns="0" anchor="ctr"/>
          <a:lstStyle/>
          <a:p>
            <a:pPr algn="ctr">
              <a:spcAft>
                <a:spcPts val="0"/>
              </a:spcAft>
              <a:buNone/>
            </a:pPr>
            <a:r>
              <a:rPr lang="en-US" sz="1600" b="1" i="1" dirty="0">
                <a:solidFill>
                  <a:srgbClr val="8E6F3E"/>
                </a:solidFill>
              </a:rPr>
              <a:t>T</a:t>
            </a:r>
            <a:r>
              <a:rPr lang="en-US" sz="1600" b="0" dirty="0">
                <a:solidFill>
                  <a:srgbClr val="555960"/>
                </a:solidFill>
              </a:rPr>
              <a:t xml:space="preserve"> task   ·   </a:t>
            </a:r>
            <a:r>
              <a:rPr lang="en-US" sz="1600" b="1" i="1" dirty="0">
                <a:solidFill>
                  <a:srgbClr val="8E6F3E"/>
                </a:solidFill>
              </a:rPr>
              <a:t>M</a:t>
            </a:r>
            <a:r>
              <a:rPr lang="en-US" sz="1600" b="0" dirty="0">
                <a:solidFill>
                  <a:srgbClr val="555960"/>
                </a:solidFill>
              </a:rPr>
              <a:t xml:space="preserve"> reasoning model   ·   </a:t>
            </a:r>
            <a:r>
              <a:rPr lang="en-US" sz="1600" b="1" i="1" dirty="0">
                <a:solidFill>
                  <a:srgbClr val="8E6F3E"/>
                </a:solidFill>
              </a:rPr>
              <a:t>R</a:t>
            </a:r>
            <a:r>
              <a:rPr lang="en-US" sz="1600" b="0" dirty="0">
                <a:solidFill>
                  <a:srgbClr val="555960"/>
                </a:solidFill>
              </a:rPr>
              <a:t xml:space="preserve"> representation   ·   </a:t>
            </a:r>
            <a:r>
              <a:rPr lang="en-US" sz="1600" b="1" i="1" dirty="0">
                <a:solidFill>
                  <a:srgbClr val="8E6F3E"/>
                </a:solidFill>
              </a:rPr>
              <a:t>H</a:t>
            </a:r>
            <a:r>
              <a:rPr lang="en-US" sz="1600" b="0" dirty="0">
                <a:solidFill>
                  <a:srgbClr val="555960"/>
                </a:solidFill>
              </a:rPr>
              <a:t xml:space="preserve"> harness/process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What makes a result acceptable?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 code a todo list</a:t>
            </a:r>
          </a:p>
        </p:txBody>
      </p:sp>
      <p:sp>
        <p:nvSpPr>
          <p:cNvPr id="4" name="Instruction"/>
          <p:cNvSpPr txBox="1"/>
          <p:nvPr/>
        </p:nvSpPr>
        <p:spPr>
          <a:xfrm>
            <a:off x="274320" y="896112"/>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417320"/>
            <a:ext cx="8138160" cy="1783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14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3474720"/>
            <a:ext cx="8138160" cy="777240"/>
          </a:xfrm>
          <a:prstGeom prst="rect">
            <a:avLst/>
          </a:prstGeom>
          <a:noFill/>
        </p:spPr>
        <p:txBody>
          <a:bodyPr wrap="square" anchor="t">
            <a:spAutoFit/>
          </a:bodyPr>
          <a:lstStyle/>
          <a:p>
            <a:pPr algn="l"/>
            <a:r>
              <a:rPr sz="1800" b="0" i="0">
                <a:solidFill>
                  <a:srgbClr val="555960"/>
                </a:solidFill>
              </a:rPr>
              <a:t>Do not help the agent.</a:t>
            </a:r>
          </a:p>
          <a:p>
            <a:pPr algn="l"/>
            <a:r>
              <a:rPr sz="1800" b="0" i="0">
                <a:solidFill>
                  <a:srgbClr val="555960"/>
                </a:solidFill>
              </a:rPr>
              <a:t>If it makes a choice you did not specify, let it choose.</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 minutes.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365760"/>
          </a:xfrm>
          <a:prstGeom prst="rect">
            <a:avLst/>
          </a:prstGeom>
          <a:noFill/>
        </p:spPr>
        <p:txBody>
          <a:bodyPr wrap="square" anchor="t">
            <a:spAutoFit/>
          </a:bodyPr>
          <a:lstStyle/>
          <a:p>
            <a:pPr algn="ctr"/>
            <a:r>
              <a:rPr sz="15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When should an engineering judgment control what the agent — or the environment — is permitted to do?</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a validation judgment</a:t>
            </a:r>
          </a:p>
          <a:p>
            <a:pPr algn="ctr"/>
            <a:r>
              <a:rPr sz="2000" b="1" i="0">
                <a:solidFill>
                  <a:srgbClr val="FFFFFF"/>
                </a:solidFill>
              </a:rPr>
              <a:t>to what the environment permits.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0" name="Taxo-TASK"/>
          <p:cNvSpPr/>
          <p:nvPr/>
        </p:nvSpPr>
        <p:spPr>
          <a:xfrm>
            <a:off x="50292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TASK</a:t>
            </a:r>
          </a:p>
          <a:p>
            <a:pPr algn="l">
              <a:buNone/>
              <a:spcBef>
                <a:spcPts val="900"/>
              </a:spcBef>
            </a:pPr>
            <a:r>
              <a:rPr lang="en-US" sz="2000" b="0" i="0" dirty="0">
                <a:solidFill>
                  <a:srgbClr val="5C4826"/>
                </a:solidFill>
              </a:rPr>
              <a:t>What outcome is required?</a:t>
            </a:r>
          </a:p>
          <a:p>
            <a:pPr algn="l">
              <a:buNone/>
              <a:spcBef>
                <a:spcPts val="900"/>
              </a:spcBef>
            </a:pPr>
            <a:r>
              <a:rPr lang="en-US" sz="2000" b="0" i="0" dirty="0">
                <a:solidFill>
                  <a:srgbClr val="5C4826"/>
                </a:solidFill>
              </a:rPr>
              <a:t>What must remain true?</a:t>
            </a:r>
          </a:p>
          <a:p>
            <a:pPr algn="l">
              <a:buNone/>
              <a:spcBef>
                <a:spcPts val="900"/>
              </a:spcBef>
            </a:pPr>
            <a:r>
              <a:rPr lang="en-US" sz="2000" b="0" i="0" dirty="0">
                <a:solidFill>
                  <a:srgbClr val="5C4826"/>
                </a:solidFill>
              </a:rPr>
              <a:t>What is out of scope?</a:t>
            </a:r>
          </a:p>
          <a:p>
            <a:pPr algn="l">
              <a:buNone/>
              <a:spcBef>
                <a:spcPts val="900"/>
              </a:spcBef>
            </a:pPr>
            <a:r>
              <a:rPr lang="en-US" sz="2000" b="0" i="0" dirty="0">
                <a:solidFill>
                  <a:srgbClr val="5C4826"/>
                </a:solidFill>
              </a:rPr>
              <a:t>What freedom remains?</a:t>
            </a:r>
          </a:p>
        </p:txBody>
      </p:sp>
      <p:sp>
        <p:nvSpPr>
          <p:cNvPr id="0" name="Taxo-CESS"/>
          <p:cNvSpPr/>
          <p:nvPr/>
        </p:nvSpPr>
        <p:spPr>
          <a:xfrm>
            <a:off x="466344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PROCESS</a:t>
            </a:r>
          </a:p>
          <a:p>
            <a:pPr algn="l">
              <a:buNone/>
              <a:spcBef>
                <a:spcPts val="900"/>
              </a:spcBef>
            </a:pPr>
            <a:r>
              <a:rPr lang="en-US" sz="2000" b="0" i="0" dirty="0">
                <a:solidFill>
                  <a:srgbClr val="5C4826"/>
                </a:solidFill>
              </a:rPr>
              <a:t>Where may the agent work?</a:t>
            </a:r>
          </a:p>
          <a:p>
            <a:pPr algn="l">
              <a:buNone/>
              <a:spcBef>
                <a:spcPts val="900"/>
              </a:spcBef>
            </a:pPr>
            <a:r>
              <a:rPr lang="en-US" sz="2000" b="0" i="0" dirty="0">
                <a:solidFill>
                  <a:srgbClr val="5C4826"/>
                </a:solidFill>
              </a:rPr>
              <a:t>What may it change?</a:t>
            </a:r>
          </a:p>
          <a:p>
            <a:pPr algn="l">
              <a:buNone/>
              <a:spcBef>
                <a:spcPts val="900"/>
              </a:spcBef>
            </a:pPr>
            <a:r>
              <a:rPr lang="en-US" sz="2000" b="0" i="0" dirty="0">
                <a:solidFill>
                  <a:srgbClr val="5C4826"/>
                </a:solidFill>
              </a:rPr>
              <a:t>What must it inspect or check?</a:t>
            </a:r>
          </a:p>
          <a:p>
            <a:pPr algn="l">
              <a:buNone/>
              <a:spcBef>
                <a:spcPts val="900"/>
              </a:spcBef>
            </a:pPr>
            <a:r>
              <a:rPr lang="en-US" sz="2000" b="0" i="0" dirty="0">
                <a:solidFill>
                  <a:srgbClr val="5C4826"/>
                </a:solidFill>
              </a:rPr>
              <a:t>When is the work complete?</a:t>
            </a:r>
          </a:p>
          <a:p>
            <a:pPr algn="l">
              <a:buNone/>
              <a:spcBef>
                <a:spcPts val="900"/>
              </a:spcBef>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real agent gets a work environment</a:t>
            </a:r>
          </a:p>
        </p:txBody>
      </p:sp>
      <p:sp>
        <p:nvSpPr>
          <p:cNvPr id="4" name="WorkOrder"/>
          <p:cNvSpPr/>
          <p:nvPr/>
        </p:nvSpPr>
        <p:spPr>
          <a:xfrm>
            <a:off x="3566160" y="914400"/>
            <a:ext cx="20116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4572000" y="1417320"/>
            <a:ext cx="0" cy="301752"/>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Worktree"/>
          <p:cNvSpPr/>
          <p:nvPr/>
        </p:nvSpPr>
        <p:spPr>
          <a:xfrm>
            <a:off x="1097280" y="1737360"/>
            <a:ext cx="6949440" cy="2240280"/>
          </a:xfrm>
          <a:prstGeom prst="rect">
            <a:avLst/>
          </a:prstGeom>
          <a:noFill/>
          <a:ln w="1905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0" i="0">
                <a:solidFill>
                  <a:srgbClr val="5C4826"/>
                </a:solidFill>
              </a:rPr>
              <a:t/>
            </a:r>
          </a:p>
        </p:txBody>
      </p:sp>
      <p:sp>
        <p:nvSpPr>
          <p:cNvPr id="7" name="WorktreeLabel"/>
          <p:cNvSpPr txBox="1"/>
          <p:nvPr/>
        </p:nvSpPr>
        <p:spPr>
          <a:xfrm>
            <a:off x="1234440" y="1810512"/>
            <a:ext cx="1828800" cy="365760"/>
          </a:xfrm>
          <a:prstGeom prst="rect">
            <a:avLst/>
          </a:prstGeom>
          <a:noFill/>
        </p:spPr>
        <p:txBody>
          <a:bodyPr wrap="square" anchor="t">
            <a:spAutoFit/>
          </a:bodyPr>
          <a:lstStyle/>
          <a:p>
            <a:pPr algn="l"/>
            <a:r>
              <a:rPr sz="2000" b="1" i="0">
                <a:solidFill>
                  <a:srgbClr val="8E6F3E"/>
                </a:solidFill>
              </a:rPr>
              <a:t>WORKTREE</a:t>
            </a:r>
          </a:p>
        </p:txBody>
      </p:sp>
      <p:sp>
        <p:nvSpPr>
          <p:cNvPr id="8" name="EnvRepo"/>
          <p:cNvSpPr/>
          <p:nvPr/>
        </p:nvSpPr>
        <p:spPr>
          <a:xfrm>
            <a:off x="146304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repository</a:t>
            </a:r>
          </a:p>
        </p:txBody>
      </p:sp>
      <p:sp>
        <p:nvSpPr>
          <p:cNvPr id="9" name="EnvTools"/>
          <p:cNvSpPr/>
          <p:nvPr/>
        </p:nvSpPr>
        <p:spPr>
          <a:xfrm>
            <a:off x="370332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tools</a:t>
            </a:r>
          </a:p>
        </p:txBody>
      </p:sp>
      <p:sp>
        <p:nvSpPr>
          <p:cNvPr id="10" name="EnvContext"/>
          <p:cNvSpPr/>
          <p:nvPr/>
        </p:nvSpPr>
        <p:spPr>
          <a:xfrm>
            <a:off x="594360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context</a:t>
            </a:r>
          </a:p>
        </p:txBody>
      </p:sp>
      <p:sp>
        <p:nvSpPr>
          <p:cNvPr id="11" name="EnvAgent"/>
          <p:cNvSpPr/>
          <p:nvPr/>
        </p:nvSpPr>
        <p:spPr>
          <a:xfrm>
            <a:off x="3703320" y="3218688"/>
            <a:ext cx="1737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AGENT</a:t>
            </a:r>
          </a:p>
        </p:txBody>
      </p:sp>
      <p:cxnSp>
        <p:nvCxnSpPr>
          <p:cNvPr id="12" name="Connector 11"/>
          <p:cNvCxnSpPr/>
          <p:nvPr/>
        </p:nvCxnSpPr>
        <p:spPr>
          <a:xfrm>
            <a:off x="233172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572000" y="2743200"/>
            <a:ext cx="0" cy="47548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25780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572000" y="3785615"/>
            <a:ext cx="0" cy="420625"/>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Proposed"/>
          <p:cNvSpPr/>
          <p:nvPr/>
        </p:nvSpPr>
        <p:spPr>
          <a:xfrm>
            <a:off x="3566160" y="4224528"/>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proposed change</a:t>
            </a:r>
          </a:p>
        </p:txBody>
      </p:sp>
      <p:cxnSp>
        <p:nvCxnSpPr>
          <p:cNvPr id="17" name="Connector 16"/>
          <p:cNvCxnSpPr/>
          <p:nvPr/>
        </p:nvCxnSpPr>
        <p:spPr>
          <a:xfrm>
            <a:off x="4572000" y="4700016"/>
            <a:ext cx="0" cy="29260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ommitPR"/>
          <p:cNvSpPr/>
          <p:nvPr/>
        </p:nvSpPr>
        <p:spPr>
          <a:xfrm>
            <a:off x="3566160" y="5010912"/>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 / PR</a:t>
            </a:r>
          </a:p>
        </p:txBody>
      </p:sp>
      <p:sp>
        <p:nvSpPr>
          <p:cNvPr id="19" name="EnvCaption"/>
          <p:cNvSpPr txBox="1"/>
          <p:nvPr/>
        </p:nvSpPr>
        <p:spPr>
          <a:xfrm>
            <a:off x="274320" y="5559552"/>
            <a:ext cx="8595360" cy="365760"/>
          </a:xfrm>
          <a:prstGeom prst="rect">
            <a:avLst/>
          </a:prstGeom>
          <a:noFill/>
        </p:spPr>
        <p:txBody>
          <a:bodyPr wrap="square" anchor="t">
            <a:spAutoFit/>
          </a:bodyPr>
          <a:lstStyle/>
          <a:p>
            <a:pPr algn="ctr"/>
            <a:r>
              <a:rPr sz="2000" b="0" i="1">
                <a:solidFill>
                  <a:srgbClr val="555960"/>
                </a:solidFill>
              </a:rPr>
              <a:t>Git worktree · branch · issue · repository instructions · tools · tests · CI · PR</a:t>
            </a:r>
          </a:p>
        </p:txBody>
      </p:sp>
      <p:sp>
        <p:nvSpPr>
          <p:cNvPr id="0" name="Example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EXAMPLE · PROCESS BOUNDS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5029200"/>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2000" b="1" i="0">
                          <a:solidFill>
                            <a:srgbClr val="FFFFFF"/>
                          </a:solidFill>
                        </a:rPr>
                        <a:t>WORK ORDER: Bulk refunds</a:t>
                      </a:r>
                    </a:p>
                  </a:txBody>
                  <a:tcPr anchor="ctr" marL="68580" marR="45720" marT="27432" marB="27432">
                    <a:solidFill>
                      <a:srgbClr val="8E6F3E"/>
                    </a:solidFill>
                  </a:tcPr>
                </a:tc>
                <a:tc hMerge="1">
                  <a:txBody>
                    <a:bodyPr/>
                    <a:lstStyle/>
                    <a:p/>
                  </a:txBody>
                  <a:tcPr/>
                </a:tc>
              </a:tr>
              <a:tr h="640080">
                <a:tc>
                  <a:txBody>
                    <a:bodyPr wrap="square" anchor="ctr"/>
                    <a:lstStyle/>
                    <a:p>
                      <a:pPr algn="l"/>
                      <a:r>
                        <a:rPr sz="2000" b="1" i="0">
                          <a:solidFill>
                            <a:srgbClr val="5C4826"/>
                          </a:solidFill>
                        </a:rPr>
                        <a:t>Goal</a:t>
                      </a:r>
                    </a:p>
                  </a:txBody>
                  <a:tcPr anchor="ctr" marL="68580" marR="45720" marT="27432" marB="27432">
                    <a:solidFill>
                      <a:srgbClr val="F5F1E8"/>
                    </a:solidFill>
                  </a:tcPr>
                </a:tc>
                <a:tc>
                  <a:txBody>
                    <a:bodyPr wrap="square" anchor="ctr"/>
                    <a:lstStyle/>
                    <a:p>
                      <a:pPr algn="l"/>
                      <a:r>
                        <a:rPr sz="2000" b="0" i="0">
                          <a:solidFill>
                            <a:srgbClr val="5C4826"/>
                          </a:solidFill>
                        </a:rPr>
                        <a:t>Add POST /refunds/bulk</a:t>
                      </a:r>
                    </a:p>
                  </a:txBody>
                  <a:tcPr anchor="ctr" marL="68580" marR="45720" marT="27432" marB="27432">
                    <a:solidFill>
                      <a:srgbClr val="FBF8F2"/>
                    </a:solidFill>
                  </a:tcPr>
                </a:tc>
              </a:tr>
              <a:tr h="640080">
                <a:tc>
                  <a:txBody>
                    <a:bodyPr wrap="square" anchor="ctr"/>
                    <a:lstStyle/>
                    <a:p>
                      <a:pPr algn="l"/>
                      <a:r>
                        <a:rPr sz="2000" b="1" i="0">
                          <a:solidFill>
                            <a:srgbClr val="5C4826"/>
                          </a:solidFill>
                        </a:rPr>
                        <a:t>Scope</a:t>
                      </a:r>
                    </a:p>
                  </a:txBody>
                  <a:tcPr anchor="ctr" marL="68580" marR="45720" marT="27432" marB="27432">
                    <a:solidFill>
                      <a:srgbClr val="F5F1E8"/>
                    </a:solidFill>
                  </a:tcPr>
                </a:tc>
                <a:tc>
                  <a:txBody>
                    <a:bodyPr wrap="square" anchor="ctr"/>
                    <a:lstStyle/>
                    <a:p>
                      <a:pPr algn="l"/>
                      <a:r>
                        <a:rPr sz="2000" b="0" i="0">
                          <a:solidFill>
                            <a:srgbClr val="5C4826"/>
                          </a:solidFill>
                        </a:rPr>
                        <a:t>Modify the payments service only</a:t>
                      </a:r>
                    </a:p>
                  </a:txBody>
                  <a:tcPr anchor="ctr" marL="68580" marR="45720" marT="27432" marB="27432">
                    <a:solidFill>
                      <a:srgbClr val="FBF8F2"/>
                    </a:solidFill>
                  </a:tcPr>
                </a:tc>
              </a:tr>
              <a:tr h="640080">
                <a:tc>
                  <a:txBody>
                    <a:bodyPr wrap="square" anchor="ctr"/>
                    <a:lstStyle/>
                    <a:p>
                      <a:pPr algn="l"/>
                      <a:r>
                        <a:rPr sz="2000" b="1" i="0">
                          <a:solidFill>
                            <a:srgbClr val="5C4826"/>
                          </a:solidFill>
                        </a:rPr>
                        <a:t>Preserve</a:t>
                      </a:r>
                    </a:p>
                  </a:txBody>
                  <a:tcPr anchor="ctr" marL="68580" marR="45720" marT="27432" marB="27432">
                    <a:solidFill>
                      <a:srgbClr val="F5F1E8"/>
                    </a:solidFill>
                  </a:tcPr>
                </a:tc>
                <a:tc>
                  <a:txBody>
                    <a:bodyPr wrap="square" anchor="ctr"/>
                    <a:lstStyle/>
                    <a:p>
                      <a:pPr algn="l"/>
                      <a:r>
                        <a:rPr sz="2000" b="0" i="0">
                          <a:solidFill>
                            <a:srgbClr val="5C4826"/>
                          </a:solidFill>
                        </a:rPr>
                        <a:t>Existing single-refund API behavior</a:t>
                      </a:r>
                    </a:p>
                  </a:txBody>
                  <a:tcPr anchor="ctr" marL="68580" marR="45720" marT="27432" marB="27432">
                    <a:solidFill>
                      <a:srgbClr val="FBF8F2"/>
                    </a:solidFill>
                  </a:tcPr>
                </a:tc>
              </a:tr>
              <a:tr h="640080">
                <a:tc>
                  <a:txBody>
                    <a:bodyPr wrap="square" anchor="ctr"/>
                    <a:lstStyle/>
                    <a:p>
                      <a:pPr algn="l"/>
                      <a:r>
                        <a:rPr sz="2000" b="1" i="0">
                          <a:solidFill>
                            <a:srgbClr val="5C4826"/>
                          </a:solidFill>
                        </a:rPr>
                        <a:t>Do not</a:t>
                      </a:r>
                    </a:p>
                  </a:txBody>
                  <a:tcPr anchor="ctr" marL="68580" marR="45720" marT="27432" marB="27432">
                    <a:solidFill>
                      <a:srgbClr val="F5F1E8"/>
                    </a:solidFill>
                  </a:tcPr>
                </a:tc>
                <a:tc>
                  <a:txBody>
                    <a:bodyPr wrap="square" anchor="ctr"/>
                    <a:lstStyle/>
                    <a:p>
                      <a:pPr algn="l"/>
                      <a:r>
                        <a:rPr sz="2000" b="0" i="0">
                          <a:solidFill>
                            <a:srgbClr val="5C4826"/>
                          </a:solidFill>
                        </a:rPr>
                        <a:t>Modify authentication or payment-provider adapters</a:t>
                      </a:r>
                    </a:p>
                  </a:txBody>
                  <a:tcPr anchor="ctr" marL="68580" marR="45720" marT="27432" marB="27432">
                    <a:solidFill>
                      <a:srgbClr val="FBF8F2"/>
                    </a:solidFill>
                  </a:tcPr>
                </a:tc>
              </a:tr>
              <a:tr h="640080">
                <a:tc>
                  <a:txBody>
                    <a:bodyPr wrap="square" anchor="ctr"/>
                    <a:lstStyle/>
                    <a:p>
                      <a:pPr algn="l"/>
                      <a:r>
                        <a:rPr sz="2000" b="1" i="0">
                          <a:solidFill>
                            <a:srgbClr val="5C4826"/>
                          </a:solidFill>
                        </a:rPr>
                        <a:t>Check</a:t>
                      </a:r>
                    </a:p>
                  </a:txBody>
                  <a:tcPr anchor="ctr" marL="68580" marR="45720" marT="27432" marB="27432">
                    <a:solidFill>
                      <a:srgbClr val="F5F1E8"/>
                    </a:solidFill>
                  </a:tcPr>
                </a:tc>
                <a:tc>
                  <a:txBody>
                    <a:bodyPr wrap="square" anchor="ctr"/>
                    <a:lstStyle/>
                    <a:p>
                      <a:pPr algn="l"/>
                      <a:r>
                        <a:rPr sz="2000" b="0" i="0">
                          <a:solidFill>
                            <a:srgbClr val="5C4826"/>
                          </a:solidFill>
                        </a:rPr>
                        <a:t>Existing tests + new bulk-refund tests</a:t>
                      </a:r>
                    </a:p>
                  </a:txBody>
                  <a:tcPr anchor="ctr" marL="68580" marR="45720" marT="27432" marB="27432">
                    <a:solidFill>
                      <a:srgbClr val="FBF8F2"/>
                    </a:solidFill>
                  </a:tcPr>
                </a:tc>
              </a:tr>
              <a:tr h="640080">
                <a:tc>
                  <a:txBody>
                    <a:bodyPr wrap="square" anchor="ctr"/>
                    <a:lstStyle/>
                    <a:p>
                      <a:pPr algn="l"/>
                      <a:r>
                        <a:rPr sz="2000" b="1" i="0">
                          <a:solidFill>
                            <a:srgbClr val="5C4826"/>
                          </a:solidFill>
                        </a:rPr>
                        <a:t>Deliver</a:t>
                      </a:r>
                    </a:p>
                  </a:txBody>
                  <a:tcPr anchor="ctr" marL="68580" marR="45720" marT="27432" marB="27432">
                    <a:solidFill>
                      <a:srgbClr val="F5F1E8"/>
                    </a:solidFill>
                  </a:tcPr>
                </a:tc>
                <a:tc>
                  <a:txBody>
                    <a:bodyPr wrap="square" anchor="ctr"/>
                    <a:lstStyle/>
                    <a:p>
                      <a:pPr algn="l"/>
                      <a:r>
                        <a:rPr sz="2000" b="0" i="0">
                          <a:solidFill>
                            <a:srgbClr val="5C4826"/>
                          </a:solidFill>
                        </a:rPr>
                        <a:t>Commit changes on your worktree and open a PR</a:t>
                      </a:r>
                    </a:p>
                  </a:txBody>
                  <a:tcPr anchor="ctr" marL="68580" marR="45720" marT="27432" marB="27432">
                    <a:solidFill>
                      <a:srgbClr val="FBF8F2"/>
                    </a:solidFill>
                  </a:tcPr>
                </a:tc>
              </a:tr>
              <a:tr h="640080">
                <a:tc>
                  <a:txBody>
                    <a:bodyPr wrap="square" anchor="ctr"/>
                    <a:lstStyle/>
                    <a:p>
                      <a:pPr algn="l"/>
                      <a:r>
                        <a:rPr sz="2000" b="1" i="0">
                          <a:solidFill>
                            <a:srgbClr val="5C4826"/>
                          </a:solidFill>
                        </a:rPr>
                        <a:t>Authority</a:t>
                      </a:r>
                    </a:p>
                  </a:txBody>
                  <a:tcPr anchor="ctr" marL="68580" marR="45720" marT="27432" marB="27432">
                    <a:solidFill>
                      <a:srgbClr val="F5F1E8"/>
                    </a:solidFill>
                  </a:tcPr>
                </a:tc>
                <a:tc>
                  <a:txBody>
                    <a:bodyPr wrap="square" anchor="ctr"/>
                    <a:lstStyle/>
                    <a:p>
                      <a:pPr algn="l"/>
                      <a:r>
                        <a:rPr sz="2000" b="0" i="0">
                          <a:solidFill>
                            <a:srgbClr val="5C4826"/>
                          </a:solidFill>
                        </a:rPr>
                        <a:t>Do not merge or deploy</a:t>
                      </a:r>
                    </a:p>
                  </a:txBody>
                  <a:tcPr anchor="ctr" marL="68580" marR="45720" marT="27432" marB="27432">
                    <a:solidFill>
                      <a:srgbClr val="FBF8F2"/>
                    </a:solidFill>
                  </a:tcPr>
                </a:tc>
              </a:tr>
            </a:tbl>
          </a:graphicData>
        </a:graphic>
      </p:graphicFrame>
      <p:sp>
        <p:nvSpPr>
          <p:cNvPr id="0" name="BoundTask"/>
          <p:cNvSpPr/>
          <p:nvPr/>
        </p:nvSpPr>
        <p:spPr>
          <a:xfrm>
            <a:off x="7178040" y="1554480"/>
            <a:ext cx="1691640" cy="1920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0" name="BoundProcess"/>
          <p:cNvSpPr/>
          <p:nvPr/>
        </p:nvSpPr>
        <p:spPr>
          <a:xfrm>
            <a:off x="7178040" y="3474720"/>
            <a:ext cx="1691640" cy="25603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Bound consequential degrees of freedom</a:t>
            </a:r>
          </a:p>
        </p:txBody>
      </p:sp>
      <p:sp>
        <p:nvSpPr>
          <p:cNvPr id="4" name="BoundPanel"/>
          <p:cNvSpPr/>
          <p:nvPr/>
        </p:nvSpPr>
        <p:spPr>
          <a:xfrm>
            <a:off x="50292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2000" b="0" i="0">
                <a:solidFill>
                  <a:srgbClr val="5C4826"/>
                </a:solidFill>
              </a:rPr>
              <a:t>worktree</a:t>
            </a:r>
          </a:p>
          <a:p>
            <a:pPr algn="ctr"/>
            <a:r>
              <a:rPr sz="2000" b="0" i="0">
                <a:solidFill>
                  <a:srgbClr val="5C4826"/>
                </a:solidFill>
              </a:rPr>
              <a:t>files in 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2000" b="0" i="0">
                <a:solidFill>
                  <a:srgbClr val="5C4826"/>
                </a:solidFill>
              </a:rPr>
              <a:t>local implementation</a:t>
            </a:r>
          </a:p>
          <a:p>
            <a:pPr algn="ctr"/>
            <a:r>
              <a:rPr sz="2000" b="0" i="0">
                <a:solidFill>
                  <a:srgbClr val="5C4826"/>
                </a:solidFill>
              </a:rPr>
              <a:t>decomposition</a:t>
            </a:r>
          </a:p>
          <a:p>
            <a:pPr algn="ctr"/>
            <a:r>
              <a:rPr sz="2000" b="0" i="0">
                <a:solidFill>
                  <a:srgbClr val="5C4826"/>
                </a:solidFill>
              </a:rPr>
              <a:t>naming choices</a:t>
            </a:r>
          </a:p>
          <a:p>
            <a:pPr algn="ctr"/>
            <a:r>
              <a:rPr sz="2000" b="0" i="0">
                <a:solidFill>
                  <a:srgbClr val="5C4826"/>
                </a:solidFill>
              </a:rPr>
              <a:t>algorithm, where unconstrained</a:t>
            </a:r>
          </a:p>
          <a:p>
            <a:pPr algn="ctr"/>
            <a:r>
              <a:rPr sz="2000" b="0" i="0">
                <a:solidFill>
                  <a:srgbClr val="5C4826"/>
                </a:solidFill>
              </a:rPr>
              <a:t>order of intermediate edits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Good delegation constrains consequential choices</a:t>
            </a:r>
          </a:p>
          <a:p>
            <a:pPr algn="ctr"/>
            <a:r>
              <a:rPr sz="2000" b="1" i="0">
                <a:solidFill>
                  <a:srgbClr val="FFFFFF"/>
                </a:solidFill>
              </a:rPr>
              <a:t>without prescribing every move.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process is a model</a:t>
            </a:r>
          </a:p>
        </p:txBody>
      </p:sp>
      <p:sp>
        <p:nvSpPr>
          <p:cNvPr id="4" name="PCWorkOrder"/>
          <p:cNvSpPr/>
          <p:nvPr/>
        </p:nvSpPr>
        <p:spPr>
          <a:xfrm>
            <a:off x="502920" y="1005840"/>
            <a:ext cx="17373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1371600" y="1554480"/>
            <a:ext cx="0" cy="36576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PCINSPECT"/>
          <p:cNvSpPr/>
          <p:nvPr/>
        </p:nvSpPr>
        <p:spPr>
          <a:xfrm>
            <a:off x="5029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INSPECT</a:t>
            </a:r>
          </a:p>
        </p:txBody>
      </p:sp>
      <p:cxnSp>
        <p:nvCxnSpPr>
          <p:cNvPr id="7" name="Connector 6"/>
          <p:cNvCxnSpPr/>
          <p:nvPr/>
        </p:nvCxnSpPr>
        <p:spPr>
          <a:xfrm>
            <a:off x="19202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PCMODIFY"/>
          <p:cNvSpPr/>
          <p:nvPr/>
        </p:nvSpPr>
        <p:spPr>
          <a:xfrm>
            <a:off x="21031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cxnSp>
        <p:nvCxnSpPr>
          <p:cNvPr id="9" name="Connector 8"/>
          <p:cNvCxnSpPr/>
          <p:nvPr/>
        </p:nvCxnSpPr>
        <p:spPr>
          <a:xfrm>
            <a:off x="3520439" y="2217420"/>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PCCHECK"/>
          <p:cNvSpPr/>
          <p:nvPr/>
        </p:nvSpPr>
        <p:spPr>
          <a:xfrm>
            <a:off x="37033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CHECK</a:t>
            </a:r>
          </a:p>
        </p:txBody>
      </p:sp>
      <p:cxnSp>
        <p:nvCxnSpPr>
          <p:cNvPr id="11" name="Connector 10"/>
          <p:cNvCxnSpPr/>
          <p:nvPr/>
        </p:nvCxnSpPr>
        <p:spPr>
          <a:xfrm>
            <a:off x="51206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PCCOMMIT"/>
          <p:cNvSpPr/>
          <p:nvPr/>
        </p:nvSpPr>
        <p:spPr>
          <a:xfrm>
            <a:off x="53035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13" name="Connector 12"/>
          <p:cNvCxnSpPr/>
          <p:nvPr/>
        </p:nvCxnSpPr>
        <p:spPr>
          <a:xfrm>
            <a:off x="67208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PCPROPOSE"/>
          <p:cNvSpPr/>
          <p:nvPr/>
        </p:nvSpPr>
        <p:spPr>
          <a:xfrm>
            <a:off x="69037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PROPOSE</a:t>
            </a:r>
          </a:p>
        </p:txBody>
      </p:sp>
      <p:cxnSp>
        <p:nvCxnSpPr>
          <p:cNvPr id="15" name="Connector 14"/>
          <p:cNvCxnSpPr/>
          <p:nvPr/>
        </p:nvCxnSpPr>
        <p:spPr>
          <a:xfrm>
            <a:off x="4411980" y="2514600"/>
            <a:ext cx="0" cy="27432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811779" y="2788920"/>
            <a:ext cx="1600201" cy="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811779" y="2551176"/>
            <a:ext cx="0" cy="237744"/>
          </a:xfrm>
          <a:prstGeom prst="line">
            <a:avLst/>
          </a:prstGeom>
          <a:ln w="19050">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PCAspects"/>
          <p:cNvSpPr txBox="1"/>
          <p:nvPr/>
        </p:nvSpPr>
        <p:spPr>
          <a:xfrm>
            <a:off x="274320" y="3246120"/>
            <a:ext cx="8595360" cy="700000"/>
          </a:xfrm>
          <a:prstGeom prst="rect">
            <a:avLst/>
          </a:prstGeom>
          <a:noFill/>
        </p:spPr>
        <p:txBody>
          <a:bodyPr wrap="square" anchor="t">
            <a:spAutoFit/>
          </a:bodyPr>
          <a:lstStyle/>
          <a:p>
            <a:pPr algn="ctr"/>
            <a:r>
              <a:rPr sz="2000" b="0" i="1">
                <a:solidFill>
                  <a:srgbClr val="555960"/>
                </a:solidFill>
              </a:rPr>
              <a:t>permitted actions · required transitions · stopping criteria · required evidence</a:t>
            </a:r>
          </a:p>
        </p:txBody>
      </p:sp>
      <p:sp>
        <p:nvSpPr>
          <p:cNvPr id="19" name="PCMain"/>
          <p:cNvSpPr txBox="1"/>
          <p:nvPr/>
        </p:nvSpPr>
        <p:spPr>
          <a:xfrm>
            <a:off x="502920" y="3977639"/>
            <a:ext cx="8138160" cy="868680"/>
          </a:xfrm>
          <a:prstGeom prst="rect">
            <a:avLst/>
          </a:prstGeom>
          <a:noFill/>
        </p:spPr>
        <p:txBody>
          <a:bodyPr wrap="square" anchor="t">
            <a:spAutoFit/>
          </a:bodyPr>
          <a:lstStyle/>
          <a:p>
            <a:r>
              <a:rPr sz="2000" b="0" i="0">
                <a:solidFill>
                  <a:srgbClr val="5C4826"/>
                </a:solidFill>
              </a:rPr>
              <a:t>A process model makes consequential actions, transitions, evidence, and stopping conditions explicit.</a:t>
            </a:r>
          </a:p>
        </p:txBody>
      </p:sp>
      <p:sp>
        <p:nvSpPr>
          <p:cNvPr id="20" name="PCCaveat"/>
          <p:cNvSpPr txBox="1"/>
          <p:nvPr/>
        </p:nvSpPr>
        <p:spPr>
          <a:xfrm>
            <a:off x="502920" y="4983480"/>
            <a:ext cx="8138160" cy="457200"/>
          </a:xfrm>
          <a:prstGeom prst="rect">
            <a:avLst/>
          </a:prstGeom>
          <a:noFill/>
        </p:spPr>
        <p:txBody>
          <a:bodyPr wrap="square" anchor="t">
            <a:spAutoFit/>
          </a:bodyPr>
          <a:lstStyle/>
          <a:p>
            <a:pPr algn="ctr"/>
            <a:r>
              <a:rPr sz="2000" b="1" i="0">
                <a:solidFill>
                  <a:srgbClr val="8E6F3E"/>
                </a:solidFill>
              </a:rPr>
              <a:t>It need not prescribe the agent’s internal reasoning.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731520"/>
          </a:xfrm>
          <a:prstGeom prst="rect">
            <a:avLst/>
          </a:prstGeom>
          <a:noFill/>
        </p:spPr>
        <p:txBody>
          <a:bodyPr wrap="square" anchor="t">
            <a:spAutoFit/>
          </a:bodyPr>
          <a:lstStyle/>
          <a:p>
            <a:pPr algn="ctr"/>
            <a:r>
              <a:rPr sz="2000" b="0" i="1">
                <a:solidFill>
                  <a:srgbClr val="555960"/>
                </a:solidFill>
              </a:rPr>
              <a:t>wrong behavior · violated invariant · excessive memory · incompatible API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prohibited action</a:t>
            </a:r>
          </a:p>
        </p:txBody>
      </p:sp>
      <p:sp>
        <p:nvSpPr>
          <p:cNvPr id="4" name="WrongWork1"/>
          <p:cNvSpPr/>
          <p:nvPr/>
        </p:nvSpPr>
        <p:spPr>
          <a:xfrm>
            <a:off x="502920" y="100584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Modifies files outside the declared scope</a:t>
            </a:r>
          </a:p>
        </p:txBody>
      </p:sp>
      <p:sp>
        <p:nvSpPr>
          <p:cNvPr id="5" name="WrongWork2"/>
          <p:cNvSpPr/>
          <p:nvPr/>
        </p:nvSpPr>
        <p:spPr>
          <a:xfrm>
            <a:off x="502920" y="173736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Replaces an approved dependency</a:t>
            </a:r>
          </a:p>
        </p:txBody>
      </p:sp>
      <p:sp>
        <p:nvSpPr>
          <p:cNvPr id="6" name="WrongWork3"/>
          <p:cNvSpPr/>
          <p:nvPr/>
        </p:nvSpPr>
        <p:spPr>
          <a:xfrm>
            <a:off x="502920" y="246888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Changes the model instead of satisfying it</a:t>
            </a:r>
          </a:p>
        </p:txBody>
      </p:sp>
      <p:sp>
        <p:nvSpPr>
          <p:cNvPr id="7" name="WrongWork4"/>
          <p:cNvSpPr/>
          <p:nvPr/>
        </p:nvSpPr>
        <p:spPr>
          <a:xfrm>
            <a:off x="502920" y="320040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“Fixes” a test to make the implementation pass</a:t>
            </a:r>
          </a:p>
        </p:txBody>
      </p:sp>
      <p:sp>
        <p:nvSpPr>
          <p:cNvPr id="8" name="ScopeLabel"/>
          <p:cNvSpPr/>
          <p:nvPr/>
        </p:nvSpPr>
        <p:spPr>
          <a:xfrm>
            <a:off x="502920" y="4160520"/>
            <a:ext cx="31089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SCOPE / PROCESS FAILURE</a:t>
            </a:r>
          </a:p>
        </p:txBody>
      </p:sp>
      <p:sp>
        <p:nvSpPr>
          <p:cNvPr id="9" name="ScopeDef"/>
          <p:cNvSpPr txBox="1"/>
          <p:nvPr/>
        </p:nvSpPr>
        <p:spPr>
          <a:xfrm>
            <a:off x="3794760" y="4224528"/>
            <a:ext cx="4846320" cy="502920"/>
          </a:xfrm>
          <a:prstGeom prst="rect">
            <a:avLst/>
          </a:prstGeom>
          <a:noFill/>
        </p:spPr>
        <p:txBody>
          <a:bodyPr wrap="square" anchor="t">
            <a:spAutoFit/>
          </a:bodyPr>
          <a:lstStyle/>
          <a:p>
            <a:pPr algn="l"/>
            <a:r>
              <a:rPr sz="2000" b="0" i="0">
                <a:solidFill>
                  <a:srgbClr val="5C4826"/>
                </a:solidFill>
              </a:rPr>
              <a:t>The path to the result violates the work order.</a:t>
            </a:r>
          </a:p>
        </p:txBody>
      </p:sp>
      <p:sp>
        <p:nvSpPr>
          <p:cNvPr id="1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Final-state validation alone does not capture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excess authority</a:t>
            </a:r>
          </a:p>
        </p:txBody>
      </p:sp>
      <p:sp>
        <p:nvSpPr>
          <p:cNvPr id="4" name="AuthREAD"/>
          <p:cNvSpPr/>
          <p:nvPr/>
        </p:nvSpPr>
        <p:spPr>
          <a:xfrm>
            <a:off x="411480"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READ</a:t>
            </a:r>
          </a:p>
        </p:txBody>
      </p:sp>
      <p:sp>
        <p:nvSpPr>
          <p:cNvPr id="5" name="AuthMarkREAD"/>
          <p:cNvSpPr txBox="1"/>
          <p:nvPr/>
        </p:nvSpPr>
        <p:spPr>
          <a:xfrm>
            <a:off x="411480"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6" name="Connector 5"/>
          <p:cNvCxnSpPr/>
          <p:nvPr/>
        </p:nvCxnSpPr>
        <p:spPr>
          <a:xfrm>
            <a:off x="1600200"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AuthMODIFY"/>
          <p:cNvSpPr/>
          <p:nvPr/>
        </p:nvSpPr>
        <p:spPr>
          <a:xfrm>
            <a:off x="1837944"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sp>
        <p:nvSpPr>
          <p:cNvPr id="8" name="AuthMarkMODIFY"/>
          <p:cNvSpPr txBox="1"/>
          <p:nvPr/>
        </p:nvSpPr>
        <p:spPr>
          <a:xfrm>
            <a:off x="1837944"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9" name="Connector 8"/>
          <p:cNvCxnSpPr/>
          <p:nvPr/>
        </p:nvCxnSpPr>
        <p:spPr>
          <a:xfrm>
            <a:off x="3026664"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AuthCOMMIT"/>
          <p:cNvSpPr/>
          <p:nvPr/>
        </p:nvSpPr>
        <p:spPr>
          <a:xfrm>
            <a:off x="3264408"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sp>
        <p:nvSpPr>
          <p:cNvPr id="11" name="AuthMarkCOMMIT"/>
          <p:cNvSpPr txBox="1"/>
          <p:nvPr/>
        </p:nvSpPr>
        <p:spPr>
          <a:xfrm>
            <a:off x="3264408"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12" name="Connector 11"/>
          <p:cNvCxnSpPr/>
          <p:nvPr/>
        </p:nvCxnSpPr>
        <p:spPr>
          <a:xfrm>
            <a:off x="4453128"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AuthPUSH"/>
          <p:cNvSpPr/>
          <p:nvPr/>
        </p:nvSpPr>
        <p:spPr>
          <a:xfrm>
            <a:off x="4690872"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sp>
        <p:nvSpPr>
          <p:cNvPr id="14" name="AuthMarkPUSH"/>
          <p:cNvSpPr txBox="1"/>
          <p:nvPr/>
        </p:nvSpPr>
        <p:spPr>
          <a:xfrm>
            <a:off x="4690872"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15" name="Connector 14"/>
          <p:cNvCxnSpPr/>
          <p:nvPr/>
        </p:nvCxnSpPr>
        <p:spPr>
          <a:xfrm>
            <a:off x="5879592"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AuthMERGE"/>
          <p:cNvSpPr/>
          <p:nvPr/>
        </p:nvSpPr>
        <p:spPr>
          <a:xfrm>
            <a:off x="6117336"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sp>
        <p:nvSpPr>
          <p:cNvPr id="17" name="AuthMarkMERGE"/>
          <p:cNvSpPr txBox="1"/>
          <p:nvPr/>
        </p:nvSpPr>
        <p:spPr>
          <a:xfrm>
            <a:off x="6117336" y="2331720"/>
            <a:ext cx="1188720" cy="457200"/>
          </a:xfrm>
          <a:prstGeom prst="rect">
            <a:avLst/>
          </a:prstGeom>
          <a:noFill/>
        </p:spPr>
        <p:txBody>
          <a:bodyPr wrap="square" anchor="t">
            <a:spAutoFit/>
          </a:bodyPr>
          <a:lstStyle/>
          <a:p>
            <a:pPr algn="ctr"/>
            <a:r>
              <a:rPr sz="2400" b="1" i="0">
                <a:solidFill>
                  <a:srgbClr val="555960"/>
                </a:solidFill>
              </a:rPr>
              <a:t>✗</a:t>
            </a:r>
          </a:p>
        </p:txBody>
      </p:sp>
      <p:cxnSp>
        <p:nvCxnSpPr>
          <p:cNvPr id="18" name="Connector 17"/>
          <p:cNvCxnSpPr/>
          <p:nvPr/>
        </p:nvCxnSpPr>
        <p:spPr>
          <a:xfrm>
            <a:off x="7306056"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AuthDEPLOY"/>
          <p:cNvSpPr/>
          <p:nvPr/>
        </p:nvSpPr>
        <p:spPr>
          <a:xfrm>
            <a:off x="7543800"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sp>
        <p:nvSpPr>
          <p:cNvPr id="20" name="AuthMarkDEPLOY"/>
          <p:cNvSpPr txBox="1"/>
          <p:nvPr/>
        </p:nvSpPr>
        <p:spPr>
          <a:xfrm>
            <a:off x="7543800" y="2331720"/>
            <a:ext cx="1188720" cy="457200"/>
          </a:xfrm>
          <a:prstGeom prst="rect">
            <a:avLst/>
          </a:prstGeom>
          <a:noFill/>
        </p:spPr>
        <p:txBody>
          <a:bodyPr wrap="square" anchor="t">
            <a:spAutoFit/>
          </a:bodyPr>
          <a:lstStyle/>
          <a:p>
            <a:pPr algn="ctr"/>
            <a:r>
              <a:rPr sz="2400" b="1" i="0">
                <a:solidFill>
                  <a:srgbClr val="555960"/>
                </a:solidFill>
              </a:rPr>
              <a:t>✗</a:t>
            </a:r>
          </a:p>
        </p:txBody>
      </p:sp>
      <p:sp>
        <p:nvSpPr>
          <p:cNvPr id="21" name="AuthStmt"/>
          <p:cNvSpPr txBox="1"/>
          <p:nvPr/>
        </p:nvSpPr>
        <p:spPr>
          <a:xfrm>
            <a:off x="502920" y="3383280"/>
            <a:ext cx="8138160" cy="548640"/>
          </a:xfrm>
          <a:prstGeom prst="rect">
            <a:avLst/>
          </a:prstGeom>
          <a:noFill/>
        </p:spPr>
        <p:txBody>
          <a:bodyPr wrap="square" anchor="t">
            <a:spAutoFit/>
          </a:bodyPr>
          <a:lstStyle/>
          <a:p>
            <a:pPr algn="ctr"/>
            <a:r>
              <a:rPr sz="2000" b="0" i="0">
                <a:solidFill>
                  <a:srgbClr val="5C4826"/>
                </a:solidFill>
              </a:rPr>
              <a:t>The agent may be capable of an action that it is not authorized to take.</a:t>
            </a:r>
          </a:p>
        </p:txBody>
      </p:sp>
      <p:sp>
        <p:nvSpPr>
          <p:cNvPr id="22" name="AuthCallback"/>
          <p:cNvSpPr txBox="1"/>
          <p:nvPr/>
        </p:nvSpPr>
        <p:spPr>
          <a:xfrm>
            <a:off x="502920" y="4114800"/>
            <a:ext cx="8138160" cy="457200"/>
          </a:xfrm>
          <a:prstGeom prst="rect">
            <a:avLst/>
          </a:prstGeom>
          <a:noFill/>
        </p:spPr>
        <p:txBody>
          <a:bodyPr wrap="square" anchor="t">
            <a:spAutoFit/>
          </a:bodyPr>
          <a:lstStyle/>
          <a:p>
            <a:pPr algn="ctr"/>
            <a:r>
              <a:rPr sz="2000" b="1" i="0">
                <a:solidFill>
                  <a:srgbClr val="8E6F3E"/>
                </a:solidFill>
              </a:rPr>
              <a:t>From Agents: capability is not authority.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Wrong process: insufficient evidence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274320" y="960120"/>
            <a:ext cx="8595360" cy="731520"/>
          </a:xfrm>
          <a:prstGeom prst="rect">
            <a:avLst/>
          </a:prstGeom>
          <a:noFill/>
        </p:spPr>
        <p:txBody>
          <a:bodyPr wrap="square" anchor="t">
            <a:spAutoFit/>
          </a:bodyPr>
          <a:lstStyle/>
          <a:p>
            <a:pPr algn="ctr"/>
            <a:r>
              <a:rPr sz="2000" b="0" i="1">
                <a:solidFill>
                  <a:srgbClr val="555960"/>
                </a:solidFill>
              </a:rPr>
              <a:t>The agent reports: “All tests pass.”</a:t>
            </a:r>
          </a:p>
        </p:txBody>
      </p:sp>
      <p:sp>
        <p:nvSpPr>
          <p:cNvPr id="6" name="Rectangle 5"/>
          <p:cNvSpPr/>
          <p:nvPr/>
        </p:nvSpPr>
        <p:spPr>
          <a:xfrm>
            <a:off x="640080" y="3154680"/>
            <a:ext cx="219456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7" name="TextBox 6"/>
          <p:cNvSpPr txBox="1"/>
          <p:nvPr/>
        </p:nvSpPr>
        <p:spPr>
          <a:xfrm>
            <a:off x="3108960" y="3310128"/>
            <a:ext cx="5760720" cy="914400"/>
          </a:xfrm>
          <a:prstGeom prst="rect">
            <a:avLst/>
          </a:prstGeom>
          <a:noFill/>
        </p:spPr>
        <p:txBody>
          <a:bodyPr wrap="square" anchor="t">
            <a:spAutoFit/>
          </a:bodyPr>
          <a:lstStyle/>
          <a:p>
            <a:pPr algn="l"/>
            <a:r>
              <a:rPr sz="2200" b="1" i="0">
                <a:solidFill>
                  <a:srgbClr val="5C4826"/>
                </a:solidFill>
              </a:rPr>
              <a:t>A condition against which the work can be wrong.</a:t>
            </a:r>
          </a:p>
        </p:txBody>
      </p:sp>
      <p:sp>
        <p:nvSpPr>
          <p:cNvPr id="9" name="Rectangle 8"/>
          <p:cNvSpPr/>
          <p:nvPr/>
        </p:nvSpPr>
        <p:spPr>
          <a:xfrm>
            <a:off x="521207"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Which tests?</a:t>
            </a:r>
          </a:p>
        </p:txBody>
      </p:sp>
      <p:sp>
        <p:nvSpPr>
          <p:cNvPr id="10" name="Rectangle 9"/>
          <p:cNvSpPr/>
          <p:nvPr/>
        </p:nvSpPr>
        <p:spPr>
          <a:xfrm>
            <a:off x="2596896"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Against which obligations?</a:t>
            </a:r>
          </a:p>
        </p:txBody>
      </p:sp>
      <p:sp>
        <p:nvSpPr>
          <p:cNvPr id="11" name="Rectangle 10"/>
          <p:cNvSpPr/>
          <p:nvPr/>
        </p:nvSpPr>
        <p:spPr>
          <a:xfrm>
            <a:off x="4672584"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In which environment?</a:t>
            </a:r>
          </a:p>
        </p:txBody>
      </p:sp>
      <p:sp>
        <p:nvSpPr>
          <p:cNvPr id="12" name="Rectangle 11"/>
          <p:cNvSpPr/>
          <p:nvPr/>
        </p:nvSpPr>
        <p:spPr>
          <a:xfrm>
            <a:off x="6748272"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What wasn’t tested?</a:t>
            </a:r>
          </a:p>
        </p:txBody>
      </p:sp>
      <p:sp>
        <p:nvSpPr>
          <p:cNvPr id="16"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r>
              <a:rPr sz="2000" b="1" i="0">
                <a:solidFill>
                  <a:srgbClr val="FFFFFF"/>
                </a:solidFill>
              </a:rPr>
              <a:t>A correct result is not enough if we cannot justify accepting it.</a:t>
            </a:r>
          </a:p>
        </p:txBody>
      </p:sp>
      <p:sp>
        <p:nvSpPr>
          <p:cNvPr id="0" name="ClassQuestion"/>
          <p:cNvSpPr/>
          <p:nvPr/>
        </p:nvSpPr>
        <p:spPr>
          <a:xfrm>
            <a:off x="274320" y="4663440"/>
            <a:ext cx="8595360" cy="548640"/>
          </a:xfrm>
          <a:prstGeom prst="rect">
            <a:avLst/>
          </a:prstGeom>
          <a:noFill/>
          <a:ln>
            <a:noFill/>
          </a:ln>
          <a:effectLst/>
        </p:spPr>
        <p:txBody>
          <a:bodyPr rtlCol="0" anchor="ctr" wrap="square" lIns="27432" rIns="27432" tIns="22860" bIns="22860"/>
          <a:lstStyle/>
          <a:p>
            <a:pPr algn="ctr">
              <a:buNone/>
            </a:pPr>
            <a:r>
              <a:rPr lang="en-US" sz="2000" b="0" i="1" dirty="0">
                <a:solidFill>
                  <a:srgbClr val="555960"/>
                </a:solidFill>
              </a:rPr>
              <a:t>Can the result be correct while the process is wrong?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failure model suggests controls</a:t>
            </a:r>
          </a:p>
        </p:txBody>
      </p:sp>
      <p:sp>
        <p:nvSpPr>
          <p:cNvPr id="6" name="FCHeadFailure"/>
          <p:cNvSpPr txBox="1"/>
          <p:nvPr/>
        </p:nvSpPr>
        <p:spPr>
          <a:xfrm>
            <a:off x="502920" y="932688"/>
            <a:ext cx="3291840" cy="292608"/>
          </a:xfrm>
          <a:prstGeom prst="rect">
            <a:avLst/>
          </a:prstGeom>
          <a:noFill/>
        </p:spPr>
        <p:txBody>
          <a:bodyPr wrap="square" anchor="t" lIns="27432" rIns="27432" tIns="22860" bIns="22860">
            <a:spAutoFit/>
          </a:bodyPr>
          <a:lstStyle/>
          <a:p>
            <a:pPr algn="ctr"/>
            <a:r>
              <a:rPr sz="1200" b="1" i="0">
                <a:solidFill>
                  <a:srgbClr val="8E6F3E"/>
                </a:solidFill>
              </a:rPr>
              <a:t>FAILURE</a:t>
            </a:r>
          </a:p>
        </p:txBody>
      </p:sp>
      <p:sp>
        <p:nvSpPr>
          <p:cNvPr id="7" name="FCHeadResponse"/>
          <p:cNvSpPr txBox="1"/>
          <p:nvPr/>
        </p:nvSpPr>
        <p:spPr>
          <a:xfrm>
            <a:off x="4800600" y="932688"/>
            <a:ext cx="3840480" cy="292608"/>
          </a:xfrm>
          <a:prstGeom prst="rect">
            <a:avLst/>
          </a:prstGeom>
          <a:noFill/>
        </p:spPr>
        <p:txBody>
          <a:bodyPr wrap="square" anchor="t" lIns="27432" rIns="27432" tIns="22860" bIns="22860">
            <a:spAutoFit/>
          </a:bodyPr>
          <a:lstStyle/>
          <a:p>
            <a:pPr algn="ctr"/>
            <a:r>
              <a:rPr sz="1200" b="1" i="0">
                <a:solidFill>
                  <a:srgbClr val="8E6F3E"/>
                </a:solidFill>
              </a:rPr>
              <a:t>ENGINEERING RESPONSE</a:t>
            </a:r>
          </a:p>
        </p:txBody>
      </p:sp>
      <p:sp>
        <p:nvSpPr>
          <p:cNvPr id="8" name="FCFail1"/>
          <p:cNvSpPr/>
          <p:nvPr/>
        </p:nvSpPr>
        <p:spPr>
          <a:xfrm>
            <a:off x="502920" y="1325880"/>
            <a:ext cx="329184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WRONG RESULT</a:t>
            </a:r>
          </a:p>
        </p:txBody>
      </p:sp>
      <p:sp>
        <p:nvSpPr>
          <p:cNvPr id="9" name="FCResp1"/>
          <p:cNvSpPr/>
          <p:nvPr/>
        </p:nvSpPr>
        <p:spPr>
          <a:xfrm>
            <a:off x="4800600" y="1325880"/>
            <a:ext cx="384048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0" i="0">
                <a:solidFill>
                  <a:srgbClr val="5C4826"/>
                </a:solidFill>
              </a:rPr>
              <a:t>establish properties of the artifact</a:t>
            </a:r>
          </a:p>
        </p:txBody>
      </p:sp>
      <p:cxnSp>
        <p:nvCxnSpPr>
          <p:cNvPr id="10" name="FCArrow1"/>
          <p:cNvCxnSpPr/>
          <p:nvPr/>
        </p:nvCxnSpPr>
        <p:spPr>
          <a:xfrm>
            <a:off x="3794760" y="1746504"/>
            <a:ext cx="1005840" cy="0"/>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FCFail2"/>
          <p:cNvSpPr/>
          <p:nvPr/>
        </p:nvSpPr>
        <p:spPr>
          <a:xfrm>
            <a:off x="502920" y="2304288"/>
            <a:ext cx="329184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WRONG PROCESS</a:t>
            </a:r>
          </a:p>
        </p:txBody>
      </p:sp>
      <p:sp>
        <p:nvSpPr>
          <p:cNvPr id="12" name="FCResp2"/>
          <p:cNvSpPr/>
          <p:nvPr/>
        </p:nvSpPr>
        <p:spPr>
          <a:xfrm>
            <a:off x="4800600" y="2304288"/>
            <a:ext cx="384048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0" i="0">
                <a:solidFill>
                  <a:srgbClr val="5C4826"/>
                </a:solidFill>
              </a:rPr>
              <a:t>observe or constrain actions</a:t>
            </a:r>
          </a:p>
        </p:txBody>
      </p:sp>
      <p:cxnSp>
        <p:nvCxnSpPr>
          <p:cNvPr id="13" name="FCArrow2"/>
          <p:cNvCxnSpPr/>
          <p:nvPr/>
        </p:nvCxnSpPr>
        <p:spPr>
          <a:xfrm>
            <a:off x="3794760" y="2724912"/>
            <a:ext cx="1005840" cy="0"/>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FCFail3"/>
          <p:cNvSpPr/>
          <p:nvPr/>
        </p:nvSpPr>
        <p:spPr>
          <a:xfrm>
            <a:off x="502920" y="3282696"/>
            <a:ext cx="329184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EXCESS AUTHORITY</a:t>
            </a:r>
          </a:p>
        </p:txBody>
      </p:sp>
      <p:sp>
        <p:nvSpPr>
          <p:cNvPr id="15" name="FCResp3"/>
          <p:cNvSpPr/>
          <p:nvPr/>
        </p:nvSpPr>
        <p:spPr>
          <a:xfrm>
            <a:off x="4800600" y="3282696"/>
            <a:ext cx="384048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0" i="0">
                <a:solidFill>
                  <a:srgbClr val="5C4826"/>
                </a:solidFill>
              </a:rPr>
              <a:t>restrict consequential actions</a:t>
            </a:r>
          </a:p>
        </p:txBody>
      </p:sp>
      <p:cxnSp>
        <p:nvCxnSpPr>
          <p:cNvPr id="16" name="FCArrow3"/>
          <p:cNvCxnSpPr/>
          <p:nvPr/>
        </p:nvCxnSpPr>
        <p:spPr>
          <a:xfrm>
            <a:off x="3794760" y="3703320"/>
            <a:ext cx="1005840" cy="0"/>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FCFail4"/>
          <p:cNvSpPr/>
          <p:nvPr/>
        </p:nvSpPr>
        <p:spPr>
          <a:xfrm>
            <a:off x="502920" y="4261104"/>
            <a:ext cx="329184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INSUFFICIENT EVIDENCE</a:t>
            </a:r>
          </a:p>
        </p:txBody>
      </p:sp>
      <p:sp>
        <p:nvSpPr>
          <p:cNvPr id="18" name="FCResp4"/>
          <p:cNvSpPr/>
          <p:nvPr/>
        </p:nvSpPr>
        <p:spPr>
          <a:xfrm>
            <a:off x="4800600" y="4261104"/>
            <a:ext cx="384048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0" i="0">
                <a:solidFill>
                  <a:srgbClr val="5C4826"/>
                </a:solidFill>
              </a:rPr>
              <a:t>require evidence before acceptance</a:t>
            </a:r>
          </a:p>
        </p:txBody>
      </p:sp>
      <p:cxnSp>
        <p:nvCxnSpPr>
          <p:cNvPr id="19" name="FCArrow4"/>
          <p:cNvCxnSpPr/>
          <p:nvPr/>
        </p:nvCxnSpPr>
        <p:spPr>
          <a:xfrm>
            <a:off x="3794760" y="4681728"/>
            <a:ext cx="1005840" cy="0"/>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91440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a:t>
            </a:r>
          </a:p>
        </p:txBody>
      </p:sp>
      <p:sp>
        <p:nvSpPr>
          <p:cNvPr id="6" name="TextBox 5"/>
          <p:cNvSpPr txBox="1"/>
          <p:nvPr/>
        </p:nvSpPr>
        <p:spPr>
          <a:xfrm>
            <a:off x="3108960" y="941832"/>
            <a:ext cx="4297680" cy="548640"/>
          </a:xfrm>
          <a:prstGeom prst="rect">
            <a:avLst/>
          </a:prstGeom>
          <a:noFill/>
        </p:spPr>
        <p:txBody>
          <a:bodyPr wrap="square" anchor="ctr">
            <a:spAutoFit/>
          </a:bodyPr>
          <a:lstStyle/>
          <a:p>
            <a:pPr algn="l"/>
            <a:r>
              <a:rPr sz="2000" b="0" i="0">
                <a:solidFill>
                  <a:srgbClr val="5C4826"/>
                </a:solidFill>
              </a:rPr>
              <a:t>narrows what may happen</a:t>
            </a:r>
          </a:p>
        </p:txBody>
      </p:sp>
      <p:sp>
        <p:nvSpPr>
          <p:cNvPr id="8" name="Rectangle 7"/>
          <p:cNvSpPr/>
          <p:nvPr/>
        </p:nvSpPr>
        <p:spPr>
          <a:xfrm>
            <a:off x="640080" y="1591056"/>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SENSOR</a:t>
            </a:r>
          </a:p>
        </p:txBody>
      </p:sp>
      <p:sp>
        <p:nvSpPr>
          <p:cNvPr id="9" name="TextBox 8"/>
          <p:cNvSpPr txBox="1"/>
          <p:nvPr/>
        </p:nvSpPr>
        <p:spPr>
          <a:xfrm>
            <a:off x="3108960" y="1618488"/>
            <a:ext cx="4297680" cy="548640"/>
          </a:xfrm>
          <a:prstGeom prst="rect">
            <a:avLst/>
          </a:prstGeom>
          <a:noFill/>
        </p:spPr>
        <p:txBody>
          <a:bodyPr wrap="square" anchor="ctr">
            <a:spAutoFit/>
          </a:bodyPr>
          <a:lstStyle/>
          <a:p>
            <a:pPr algn="l"/>
            <a:r>
              <a:rPr sz="2000" b="0" i="0">
                <a:solidFill>
                  <a:srgbClr val="5C4826"/>
                </a:solidFill>
              </a:rPr>
              <a:t>observes what happened and produces evidence</a:t>
            </a:r>
          </a:p>
        </p:txBody>
      </p:sp>
      <p:sp>
        <p:nvSpPr>
          <p:cNvPr id="11" name="Rectangle 10"/>
          <p:cNvSpPr/>
          <p:nvPr/>
        </p:nvSpPr>
        <p:spPr>
          <a:xfrm>
            <a:off x="640080" y="2267712"/>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VALIDATOR</a:t>
            </a:r>
          </a:p>
        </p:txBody>
      </p:sp>
      <p:sp>
        <p:nvSpPr>
          <p:cNvPr id="12" name="TextBox 11"/>
          <p:cNvSpPr txBox="1"/>
          <p:nvPr/>
        </p:nvSpPr>
        <p:spPr>
          <a:xfrm>
            <a:off x="3108960" y="2295144"/>
            <a:ext cx="4297680" cy="548640"/>
          </a:xfrm>
          <a:prstGeom prst="rect">
            <a:avLst/>
          </a:prstGeom>
          <a:noFill/>
        </p:spPr>
        <p:txBody>
          <a:bodyPr wrap="square" anchor="ctr">
            <a:spAutoFit/>
          </a:bodyPr>
          <a:lstStyle/>
          <a:p>
            <a:pPr algn="l"/>
            <a:r>
              <a:rPr sz="2000" b="0" i="0">
                <a:solidFill>
                  <a:srgbClr val="5C4826"/>
                </a:solidFill>
              </a:rPr>
              <a:t>evaluates evidence against an obligation</a:t>
            </a:r>
          </a:p>
        </p:txBody>
      </p:sp>
      <p:sp>
        <p:nvSpPr>
          <p:cNvPr id="14" name="Rectangle 13"/>
          <p:cNvSpPr/>
          <p:nvPr/>
        </p:nvSpPr>
        <p:spPr>
          <a:xfrm>
            <a:off x="640080" y="2944368"/>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sp>
        <p:nvSpPr>
          <p:cNvPr id="15" name="TextBox 14"/>
          <p:cNvSpPr txBox="1"/>
          <p:nvPr/>
        </p:nvSpPr>
        <p:spPr>
          <a:xfrm>
            <a:off x="3108960" y="2971800"/>
            <a:ext cx="4297680" cy="548640"/>
          </a:xfrm>
          <a:prstGeom prst="rect">
            <a:avLst/>
          </a:prstGeom>
          <a:noFill/>
        </p:spPr>
        <p:txBody>
          <a:bodyPr wrap="square" anchor="ctr">
            <a:spAutoFit/>
          </a:bodyPr>
          <a:lstStyle/>
          <a:p>
            <a:pPr algn="l"/>
            <a:r>
              <a:rPr sz="2000" b="0" i="0">
                <a:solidFill>
                  <a:srgbClr val="5C4826"/>
                </a:solidFill>
              </a:rPr>
              <a:t>controls whether work crosses a boundary</a:t>
            </a:r>
          </a:p>
        </p:txBody>
      </p:sp>
      <p:sp>
        <p:nvSpPr>
          <p:cNvPr id="17" name="TextBox 16"/>
          <p:cNvSpPr txBox="1"/>
          <p:nvPr/>
        </p:nvSpPr>
        <p:spPr>
          <a:xfrm>
            <a:off x="274320" y="3639312"/>
            <a:ext cx="8595360" cy="384048"/>
          </a:xfrm>
          <a:prstGeom prst="rect">
            <a:avLst/>
          </a:prstGeom>
          <a:noFill/>
        </p:spPr>
        <p:txBody>
          <a:bodyPr wrap="square" anchor="t">
            <a:spAutoFit/>
          </a:bodyPr>
          <a:lstStyle/>
          <a:p>
            <a:pPr algn="ctr"/>
            <a:r>
              <a:rPr sz="1300" b="0" i="1">
                <a:solidFill>
                  <a:srgbClr val="555960"/>
                </a:solidFill>
              </a:rPr>
              <a:t>These are roles, not four required components. One mechanism may play several roles.</a:t>
            </a:r>
          </a:p>
        </p:txBody>
      </p:sp>
      <p:sp>
        <p:nvSpPr>
          <p:cNvPr id="18" name="PairObligation"/>
          <p:cNvSpPr/>
          <p:nvPr/>
        </p:nvSpPr>
        <p:spPr>
          <a:xfrm>
            <a:off x="3017520" y="4096512"/>
            <a:ext cx="3108960" cy="43891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FFFFFF"/>
                </a:solidFill>
              </a:rPr>
              <a:t>ENGINEERING OBLIGATION</a:t>
            </a:r>
          </a:p>
        </p:txBody>
      </p:sp>
      <p:sp>
        <p:nvSpPr>
          <p:cNvPr id="19" name="PairWorkState"/>
          <p:cNvSpPr/>
          <p:nvPr/>
        </p:nvSpPr>
        <p:spPr>
          <a:xfrm>
            <a:off x="1234440" y="4864608"/>
            <a:ext cx="2286000" cy="411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WORK / STATE</a:t>
            </a:r>
          </a:p>
        </p:txBody>
      </p:sp>
      <p:sp>
        <p:nvSpPr>
          <p:cNvPr id="20" name="PairDecision"/>
          <p:cNvSpPr/>
          <p:nvPr/>
        </p:nvSpPr>
        <p:spPr>
          <a:xfrm>
            <a:off x="5623560" y="4864608"/>
            <a:ext cx="2286000" cy="411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DECISION / ADMISSION</a:t>
            </a:r>
          </a:p>
        </p:txBody>
      </p:sp>
      <p:sp>
        <p:nvSpPr>
          <p:cNvPr id="21" name="PairLeafConstraint"/>
          <p:cNvSpPr/>
          <p:nvPr/>
        </p:nvSpPr>
        <p:spPr>
          <a:xfrm>
            <a:off x="502920" y="5532120"/>
            <a:ext cx="17830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CONSTRAINT</a:t>
            </a:r>
          </a:p>
          <a:p>
            <a:pPr algn="ctr"/>
            <a:r>
              <a:rPr sz="1000" b="0" i="1">
                <a:solidFill>
                  <a:srgbClr val="555960"/>
                </a:solidFill>
              </a:rPr>
              <a:t>what may happen</a:t>
            </a:r>
          </a:p>
        </p:txBody>
      </p:sp>
      <p:sp>
        <p:nvSpPr>
          <p:cNvPr id="22" name="PairLeafSensor"/>
          <p:cNvSpPr/>
          <p:nvPr/>
        </p:nvSpPr>
        <p:spPr>
          <a:xfrm>
            <a:off x="2468880" y="5532120"/>
            <a:ext cx="17830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SENSOR</a:t>
            </a:r>
          </a:p>
          <a:p>
            <a:pPr algn="ctr"/>
            <a:r>
              <a:rPr sz="1000" b="0" i="1">
                <a:solidFill>
                  <a:srgbClr val="555960"/>
                </a:solidFill>
              </a:rPr>
              <a:t>what happened</a:t>
            </a:r>
          </a:p>
        </p:txBody>
      </p:sp>
      <p:sp>
        <p:nvSpPr>
          <p:cNvPr id="23" name="PairLeafValidator"/>
          <p:cNvSpPr/>
          <p:nvPr/>
        </p:nvSpPr>
        <p:spPr>
          <a:xfrm>
            <a:off x="4892040" y="5532120"/>
            <a:ext cx="17830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VALIDATOR</a:t>
            </a:r>
          </a:p>
          <a:p>
            <a:pPr algn="ctr"/>
            <a:r>
              <a:rPr sz="1000" b="0" i="1">
                <a:solidFill>
                  <a:srgbClr val="555960"/>
                </a:solidFill>
              </a:rPr>
              <a:t>is it OK?</a:t>
            </a:r>
          </a:p>
        </p:txBody>
      </p:sp>
      <p:sp>
        <p:nvSpPr>
          <p:cNvPr id="24" name="PairLeafGate"/>
          <p:cNvSpPr/>
          <p:nvPr/>
        </p:nvSpPr>
        <p:spPr>
          <a:xfrm>
            <a:off x="6858000" y="5532120"/>
            <a:ext cx="17830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GATE</a:t>
            </a:r>
          </a:p>
          <a:p>
            <a:pPr algn="ctr"/>
            <a:r>
              <a:rPr sz="1000" b="0" i="1">
                <a:solidFill>
                  <a:srgbClr val="555960"/>
                </a:solidFill>
              </a:rPr>
              <a:t>may it pass?</a:t>
            </a:r>
          </a:p>
        </p:txBody>
      </p:sp>
      <p:cxnSp>
        <p:nvCxnSpPr>
          <p:cNvPr id="25" name="PairConnL"/>
          <p:cNvCxnSpPr/>
          <p:nvPr/>
        </p:nvCxnSpPr>
        <p:spPr>
          <a:xfrm flipH="1">
            <a:off x="2377440" y="4535424"/>
            <a:ext cx="2194560" cy="329184"/>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PairConnR"/>
          <p:cNvCxnSpPr/>
          <p:nvPr/>
        </p:nvCxnSpPr>
        <p:spPr>
          <a:xfrm>
            <a:off x="4572000" y="4535424"/>
            <a:ext cx="2194560" cy="329184"/>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PairConnL1"/>
          <p:cNvCxnSpPr/>
          <p:nvPr/>
        </p:nvCxnSpPr>
        <p:spPr>
          <a:xfrm flipH="1">
            <a:off x="1394460" y="5276088"/>
            <a:ext cx="982980" cy="256032"/>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PairConnL2"/>
          <p:cNvCxnSpPr/>
          <p:nvPr/>
        </p:nvCxnSpPr>
        <p:spPr>
          <a:xfrm>
            <a:off x="2377440" y="5276088"/>
            <a:ext cx="982980" cy="256032"/>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PairConnR1"/>
          <p:cNvCxnSpPr/>
          <p:nvPr/>
        </p:nvCxnSpPr>
        <p:spPr>
          <a:xfrm flipH="1">
            <a:off x="5783580" y="5276088"/>
            <a:ext cx="982980" cy="256032"/>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PairConnR2"/>
          <p:cNvCxnSpPr/>
          <p:nvPr/>
        </p:nvCxnSpPr>
        <p:spPr>
          <a:xfrm>
            <a:off x="6766560" y="5276088"/>
            <a:ext cx="982980" cy="256032"/>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verdict can control authority</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7" name="Rectangle 16"/>
          <p:cNvSpPr/>
          <p:nvPr/>
        </p:nvSpPr>
        <p:spPr>
          <a:xfrm>
            <a:off x="502920" y="1801368"/>
            <a:ext cx="17373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WORK</a:t>
            </a:r>
          </a:p>
        </p:txBody>
      </p:sp>
      <p:cxnSp>
        <p:nvCxnSpPr>
          <p:cNvPr id="18" name="Connector 17"/>
          <p:cNvCxnSpPr/>
          <p:nvPr/>
        </p:nvCxnSpPr>
        <p:spPr>
          <a:xfrm>
            <a:off x="2258568" y="2121408"/>
            <a:ext cx="31089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911095" y="1472184"/>
            <a:ext cx="1005840" cy="292608"/>
          </a:xfrm>
          <a:prstGeom prst="rect">
            <a:avLst/>
          </a:prstGeom>
          <a:noFill/>
        </p:spPr>
        <p:txBody>
          <a:bodyPr wrap="square" anchor="t">
            <a:spAutoFit/>
          </a:bodyPr>
          <a:lstStyle/>
          <a:p>
            <a:pPr algn="ctr"/>
            <a:r>
              <a:rPr sz="1800" b="0" i="1">
                <a:solidFill>
                  <a:srgbClr val="555960"/>
                </a:solidFill>
              </a:rPr>
              <a:t>evidence</a:t>
            </a:r>
          </a:p>
        </p:txBody>
      </p:sp>
      <p:sp>
        <p:nvSpPr>
          <p:cNvPr id="20" name="Rectangle 19"/>
          <p:cNvSpPr/>
          <p:nvPr/>
        </p:nvSpPr>
        <p:spPr>
          <a:xfrm>
            <a:off x="2587752" y="1801368"/>
            <a:ext cx="17373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VALIDATOR</a:t>
            </a:r>
          </a:p>
        </p:txBody>
      </p:sp>
      <p:cxnSp>
        <p:nvCxnSpPr>
          <p:cNvPr id="21" name="Connector 20"/>
          <p:cNvCxnSpPr/>
          <p:nvPr/>
        </p:nvCxnSpPr>
        <p:spPr>
          <a:xfrm>
            <a:off x="4343400" y="2121408"/>
            <a:ext cx="31089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995928" y="1472184"/>
            <a:ext cx="1005840" cy="292608"/>
          </a:xfrm>
          <a:prstGeom prst="rect">
            <a:avLst/>
          </a:prstGeom>
          <a:noFill/>
        </p:spPr>
        <p:txBody>
          <a:bodyPr wrap="square" anchor="t">
            <a:spAutoFit/>
          </a:bodyPr>
          <a:lstStyle/>
          <a:p>
            <a:pPr algn="ctr"/>
            <a:r>
              <a:rPr sz="1800" b="0" i="1">
                <a:solidFill>
                  <a:srgbClr val="555960"/>
                </a:solidFill>
              </a:rPr>
              <a:t>verdict</a:t>
            </a:r>
          </a:p>
        </p:txBody>
      </p:sp>
      <p:sp>
        <p:nvSpPr>
          <p:cNvPr id="23" name="Rectangle 22"/>
          <p:cNvSpPr/>
          <p:nvPr/>
        </p:nvSpPr>
        <p:spPr>
          <a:xfrm>
            <a:off x="4672583" y="1801368"/>
            <a:ext cx="17373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GATE</a:t>
            </a:r>
          </a:p>
        </p:txBody>
      </p:sp>
      <p:cxnSp>
        <p:nvCxnSpPr>
          <p:cNvPr id="24" name="Connector 23"/>
          <p:cNvCxnSpPr/>
          <p:nvPr/>
        </p:nvCxnSpPr>
        <p:spPr>
          <a:xfrm>
            <a:off x="6428231" y="2121408"/>
            <a:ext cx="310897"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080759" y="1472184"/>
            <a:ext cx="1005840" cy="292608"/>
          </a:xfrm>
          <a:prstGeom prst="rect">
            <a:avLst/>
          </a:prstGeom>
          <a:noFill/>
        </p:spPr>
        <p:txBody>
          <a:bodyPr wrap="square" anchor="t">
            <a:spAutoFit/>
          </a:bodyPr>
          <a:lstStyle/>
          <a:p>
            <a:pPr algn="ctr"/>
            <a:r>
              <a:rPr sz="1800" b="0" i="1">
                <a:solidFill>
                  <a:srgbClr val="555960"/>
                </a:solidFill>
              </a:rPr>
              <a:t>admits</a:t>
            </a:r>
          </a:p>
        </p:txBody>
      </p:sp>
      <p:sp>
        <p:nvSpPr>
          <p:cNvPr id="26" name="Rectangle 25"/>
          <p:cNvSpPr/>
          <p:nvPr/>
        </p:nvSpPr>
        <p:spPr>
          <a:xfrm>
            <a:off x="6757415" y="1801368"/>
            <a:ext cx="17373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MERGE · DEPLOY</a:t>
            </a:r>
          </a:p>
        </p:txBody>
      </p:sp>
      <p:sp>
        <p:nvSpPr>
          <p:cNvPr id="27" name="TextBox 26"/>
          <p:cNvSpPr txBox="1"/>
          <p:nvPr/>
        </p:nvSpPr>
        <p:spPr>
          <a:xfrm>
            <a:off x="274320" y="3017520"/>
            <a:ext cx="8595360" cy="731520"/>
          </a:xfrm>
          <a:prstGeom prst="rect">
            <a:avLst/>
          </a:prstGeom>
          <a:noFill/>
        </p:spPr>
        <p:txBody>
          <a:bodyPr wrap="square" anchor="t">
            <a:spAutoFit/>
          </a:bodyPr>
          <a:lstStyle/>
          <a:p>
            <a:pPr algn="ctr"/>
            <a:r>
              <a:rPr sz="1800" b="0" i="1">
                <a:solidFill>
                  <a:srgbClr val="555960"/>
                </a:solidFill>
              </a:rPr>
              <a:t>The agent may modify and propose freely.</a:t>
            </a:r>
          </a:p>
          <a:p>
            <a:pPr algn="ctr"/>
            <a:r>
              <a:rPr sz="1800" b="0" i="1">
                <a:solidFill>
                  <a:srgbClr val="555960"/>
                </a:solidFill>
              </a:rPr>
              <a:t>Merge and deployment are conditional on verdicts.</a:t>
            </a:r>
          </a:p>
        </p:txBody>
      </p:sp>
      <p:sp>
        <p:nvSpPr>
          <p:cNvPr id="2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 gate makes authority conditional on a verdict.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137160" y="1572768"/>
            <a:ext cx="1371600" cy="640080"/>
          </a:xfrm>
          <a:prstGeom prst="rect">
            <a:avLst/>
          </a:prstGeom>
          <a:noFill/>
        </p:spPr>
        <p:txBody>
          <a:bodyPr wrap="square" anchor="ctr">
            <a:spAutoFit/>
          </a:bodyPr>
          <a:lstStyle/>
          <a:p>
            <a:pPr algn="l"/>
            <a:r>
              <a:rPr sz="18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371600" cy="640080"/>
          </a:xfrm>
          <a:prstGeom prst="rect">
            <a:avLst/>
          </a:prstGeom>
          <a:noFill/>
        </p:spPr>
        <p:txBody>
          <a:bodyPr wrap="square" anchor="ctr">
            <a:spAutoFit/>
          </a:bodyPr>
          <a:lstStyle/>
          <a:p>
            <a:pPr algn="l"/>
            <a:r>
              <a:rPr sz="18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62763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the evidence supports the claim.</a:t>
            </a:r>
          </a:p>
          <a:p>
            <a:pPr algn="ctr"/>
            <a:r>
              <a:rPr sz="2000" b="0" i="1">
                <a:solidFill>
                  <a:srgbClr val="555960"/>
                </a:solidFill>
              </a:rPr>
              <a:t>Alignment asks what the verdict should control.</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237744"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type</a:t>
            </a:r>
          </a:p>
          <a:p>
            <a:pPr algn="ctr"/>
            <a:r>
              <a:rPr sz="18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82496"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forbidden</a:t>
            </a:r>
          </a:p>
          <a:p>
            <a:pPr algn="ctr"/>
            <a:r>
              <a:rPr sz="18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72000"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integration</a:t>
            </a:r>
          </a:p>
          <a:p>
            <a:pPr algn="ctr"/>
            <a:r>
              <a:rPr sz="18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6016752"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latency</a:t>
            </a:r>
          </a:p>
          <a:p>
            <a:pPr algn="ctr"/>
            <a:r>
              <a:rPr sz="18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461504"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deployed</a:t>
            </a:r>
          </a:p>
          <a:p>
            <a:pPr algn="ctr"/>
            <a:r>
              <a:rPr sz="18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SemanticGapTakeaway"/>
          <p:cNvSpPr txBox="1"/>
          <p:nvPr/>
        </p:nvSpPr>
        <p:spPr>
          <a:xfrm>
            <a:off x="274320" y="4709160"/>
            <a:ext cx="8595360" cy="822960"/>
          </a:xfrm>
          <a:prstGeom prst="rect">
            <a:avLst/>
          </a:prstGeom>
          <a:noFill/>
        </p:spPr>
        <p:txBody>
          <a:bodyPr wrap="square" anchor="t" lIns="27432" rIns="27432" tIns="22860" bIns="22860">
            <a:spAutoFit/>
          </a:bodyPr>
          <a:lstStyle/>
          <a:p>
            <a:pPr algn="ctr"/>
            <a:r>
              <a:rPr sz="1600" b="0" i="0">
                <a:solidFill>
                  <a:srgbClr val="5C4826"/>
                </a:solidFill>
              </a:rPr>
              <a:t>Lift the check to the first boundary where the obligation becomes decidable.</a:t>
            </a:r>
          </a:p>
        </p:txBody>
      </p:sp>
      <p:sp>
        <p:nvSpPr>
          <p:cNvPr id="19" name="SG-Unit"/>
          <p:cNvSpPr/>
          <p:nvPr/>
        </p:nvSpPr>
        <p:spPr>
          <a:xfrm>
            <a:off x="2103120" y="1051560"/>
            <a:ext cx="4937760" cy="80467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FFFFFF"/>
                </a:solidFill>
              </a:rPr>
              <a:t>COMPLETED UNIT OF WORK</a:t>
            </a:r>
          </a:p>
          <a:p>
            <a:pPr algn="ctr"/>
            <a:r>
              <a:rPr sz="1050" b="0" i="1">
                <a:solidFill>
                  <a:srgbClr val="FBF8F2"/>
                </a:solidFill>
              </a:rPr>
              <a:t>obligation decidable here</a:t>
            </a:r>
          </a:p>
        </p:txBody>
      </p:sp>
      <p:cxnSp>
        <p:nvCxnSpPr>
          <p:cNvPr id="20" name="SG-Lift"/>
          <p:cNvCxnSpPr/>
          <p:nvPr/>
        </p:nvCxnSpPr>
        <p:spPr>
          <a:xfrm flipV="1">
            <a:off x="4572000" y="2011680"/>
            <a:ext cx="0" cy="102412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218688"/>
            <a:ext cx="8595360" cy="347472"/>
          </a:xfrm>
          <a:prstGeom prst="rect">
            <a:avLst/>
          </a:prstGeom>
          <a:noFill/>
        </p:spPr>
        <p:txBody>
          <a:bodyPr wrap="square" anchor="t" lIns="27432" rIns="27432" tIns="22860" bIns="22860">
            <a:spAutoFit/>
          </a:bodyPr>
          <a:lstStyle/>
          <a:p>
            <a:pPr algn="ctr"/>
            <a:r>
              <a:rPr sz="1300" b="0" i="1">
                <a:solidFill>
                  <a:srgbClr val="8E6F3E"/>
                </a:solidFill>
              </a:rPr>
              <a:t>obligation not decidable at any individual commit</a:t>
            </a:r>
          </a:p>
        </p:txBody>
      </p:sp>
      <p:sp>
        <p:nvSpPr>
          <p:cNvPr id="22" name="SG-Commit1"/>
          <p:cNvSpPr/>
          <p:nvPr/>
        </p:nvSpPr>
        <p:spPr>
          <a:xfrm>
            <a:off x="1828800"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commit</a:t>
            </a:r>
          </a:p>
        </p:txBody>
      </p:sp>
      <p:sp>
        <p:nvSpPr>
          <p:cNvPr id="23" name="SG-Commit2"/>
          <p:cNvSpPr/>
          <p:nvPr/>
        </p:nvSpPr>
        <p:spPr>
          <a:xfrm>
            <a:off x="3264408"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commit</a:t>
            </a:r>
          </a:p>
        </p:txBody>
      </p:sp>
      <p:sp>
        <p:nvSpPr>
          <p:cNvPr id="24" name="SG-Commit3"/>
          <p:cNvSpPr/>
          <p:nvPr/>
        </p:nvSpPr>
        <p:spPr>
          <a:xfrm>
            <a:off x="4700016"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commit</a:t>
            </a:r>
          </a:p>
        </p:txBody>
      </p:sp>
      <p:sp>
        <p:nvSpPr>
          <p:cNvPr id="25" name="SG-Commit4"/>
          <p:cNvSpPr/>
          <p:nvPr/>
        </p:nvSpPr>
        <p:spPr>
          <a:xfrm>
            <a:off x="6135624"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commit</a:t>
            </a:r>
          </a:p>
        </p:txBody>
      </p:sp>
      <p:cxnSp>
        <p:nvCxnSpPr>
          <p:cNvPr id="26" name="SG-Arrow1"/>
          <p:cNvCxnSpPr/>
          <p:nvPr/>
        </p:nvCxnSpPr>
        <p:spPr>
          <a:xfrm>
            <a:off x="3026664"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Right obligation, wrong boundary</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74320" y="1005840"/>
            <a:ext cx="8595360" cy="6400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800" b="1" i="0">
                <a:solidFill>
                  <a:srgbClr val="8E6F3E"/>
                </a:solidFill>
              </a:rPr>
              <a:t xml:space="preserve">OBLIGATION  </a:t>
            </a:r>
            <a:r>
              <a:rPr sz="1800" b="0" i="0">
                <a:solidFill>
                  <a:srgbClr val="5C4826"/>
                </a:solidFill>
              </a:rPr>
              <a:t>The code and its architectural model must agree when the task completes.</a:t>
            </a:r>
          </a:p>
        </p:txBody>
      </p:sp>
      <p:sp>
        <p:nvSpPr>
          <p:cNvPr id="6" name="Rectangle 5"/>
          <p:cNvSpPr/>
          <p:nvPr/>
        </p:nvSpPr>
        <p:spPr>
          <a:xfrm>
            <a:off x="29260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EDIT</a:t>
            </a:r>
          </a:p>
        </p:txBody>
      </p:sp>
      <p:cxnSp>
        <p:nvCxnSpPr>
          <p:cNvPr id="7" name="Connector 6"/>
          <p:cNvCxnSpPr/>
          <p:nvPr/>
        </p:nvCxnSpPr>
        <p:spPr>
          <a:xfrm>
            <a:off x="1490472"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737360"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COMMIT</a:t>
            </a:r>
          </a:p>
        </p:txBody>
      </p:sp>
      <p:cxnSp>
        <p:nvCxnSpPr>
          <p:cNvPr id="9" name="Connector 8"/>
          <p:cNvCxnSpPr/>
          <p:nvPr/>
        </p:nvCxnSpPr>
        <p:spPr>
          <a:xfrm>
            <a:off x="2935224"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182112"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PUSH</a:t>
            </a:r>
          </a:p>
        </p:txBody>
      </p:sp>
      <p:cxnSp>
        <p:nvCxnSpPr>
          <p:cNvPr id="11" name="Connector 10"/>
          <p:cNvCxnSpPr/>
          <p:nvPr/>
        </p:nvCxnSpPr>
        <p:spPr>
          <a:xfrm>
            <a:off x="4379976"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4626864"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MERGE</a:t>
            </a:r>
          </a:p>
        </p:txBody>
      </p:sp>
      <p:cxnSp>
        <p:nvCxnSpPr>
          <p:cNvPr id="13" name="Connector 12"/>
          <p:cNvCxnSpPr/>
          <p:nvPr/>
        </p:nvCxnSpPr>
        <p:spPr>
          <a:xfrm>
            <a:off x="5824728"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6071616"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DEPLOY</a:t>
            </a:r>
          </a:p>
        </p:txBody>
      </p:sp>
      <p:cxnSp>
        <p:nvCxnSpPr>
          <p:cNvPr id="15" name="Connector 14"/>
          <p:cNvCxnSpPr/>
          <p:nvPr/>
        </p:nvCxnSpPr>
        <p:spPr>
          <a:xfrm>
            <a:off x="7269480"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751636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RUNTIME</a:t>
            </a:r>
          </a:p>
        </p:txBody>
      </p:sp>
      <p:cxnSp>
        <p:nvCxnSpPr>
          <p:cNvPr id="17" name="Connector 16"/>
          <p:cNvCxnSpPr/>
          <p:nvPr/>
        </p:nvCxnSpPr>
        <p:spPr>
          <a:xfrm flipV="1">
            <a:off x="2331720"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1051560" y="3291840"/>
            <a:ext cx="2560320" cy="10515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  enforced per-commit</a:t>
            </a:r>
          </a:p>
          <a:p>
            <a:pPr algn="ctr"/>
            <a:r>
              <a:rPr sz="1800" b="0" i="1">
                <a:solidFill>
                  <a:srgbClr val="555960"/>
                </a:solidFill>
              </a:rPr>
              <a:t>rejects legitimate</a:t>
            </a:r>
          </a:p>
          <a:p>
            <a:pPr algn="ctr"/>
            <a:r>
              <a:rPr sz="1800" b="0" i="1">
                <a:solidFill>
                  <a:srgbClr val="555960"/>
                </a:solidFill>
              </a:rPr>
              <a:t>intermediate states</a:t>
            </a:r>
          </a:p>
        </p:txBody>
      </p:sp>
      <p:cxnSp>
        <p:nvCxnSpPr>
          <p:cNvPr id="19" name="Connector 18"/>
          <p:cNvCxnSpPr/>
          <p:nvPr/>
        </p:nvCxnSpPr>
        <p:spPr>
          <a:xfrm flipV="1">
            <a:off x="5221224"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941064" y="3291840"/>
            <a:ext cx="2560320" cy="10515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  decided at merge</a:t>
            </a:r>
          </a:p>
          <a:p>
            <a:pPr algn="ctr"/>
            <a:r>
              <a:rPr sz="1800" b="0" i="1">
                <a:solidFill>
                  <a:srgbClr val="555960"/>
                </a:solidFill>
              </a:rPr>
              <a:t>when the task’s work</a:t>
            </a:r>
          </a:p>
          <a:p>
            <a:pPr algn="ctr"/>
            <a:r>
              <a:rPr sz="1800" b="0" i="1">
                <a:solidFill>
                  <a:srgbClr val="555960"/>
                </a:solidFill>
              </a:rPr>
              <a:t>is assembled</a:t>
            </a:r>
          </a:p>
        </p:txBody>
      </p:sp>
      <p:sp>
        <p:nvSpPr>
          <p:cNvPr id="21" name="TextBox 20"/>
          <p:cNvSpPr txBox="1"/>
          <p:nvPr/>
        </p:nvSpPr>
        <p:spPr>
          <a:xfrm>
            <a:off x="274320" y="4572000"/>
            <a:ext cx="8595360" cy="502920"/>
          </a:xfrm>
          <a:prstGeom prst="rect">
            <a:avLst/>
          </a:prstGeom>
          <a:noFill/>
        </p:spPr>
        <p:txBody>
          <a:bodyPr wrap="square" anchor="t">
            <a:spAutoFit/>
          </a:bodyPr>
          <a:lstStyle/>
          <a:p>
            <a:pPr algn="ctr"/>
            <a:r>
              <a:rPr sz="2000" b="0" i="1">
                <a:solidFill>
                  <a:srgbClr val="555960"/>
                </a:solidFill>
              </a:rPr>
              <a:t>The obligation is right. The early boundary simply cannot decide it yet.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Production is only part of the system</a:t>
            </a:r>
          </a:p>
        </p:txBody>
      </p:sp>
      <p:sp>
        <p:nvSpPr>
          <p:cNvPr id="3" name="Slide Number Placeholder 2"/>
          <p:cNvSpPr>
            <a:spLocks noGrp="1"/>
          </p:cNvSpPr>
          <p:nvPr>
            <p:ph type="sldNum" sz="quarter" idx="4"/>
          </p:nvPr>
        </p:nvSpPr>
        <p:spPr/>
        <p:txBody>
          <a:bodyPr/>
          <a:lstStyle/>
          <a:p>
            <a:fld id="{B7EB45DA-9A0D-DC49-8E02-F30A5DDC21C3}" type="slidenum">
              <a:rPr lang="en-US" smtClean="0"/>
              <a:t>25</a:t>
            </a:fld>
            <a:endParaRPr lang="en-US"/>
          </a:p>
        </p:txBody>
      </p:sp>
      <p:sp>
        <p:nvSpPr>
          <p:cNvPr id="10" name="ProdLabel"/>
          <p:cNvSpPr txBox="1"/>
          <p:nvPr/>
        </p:nvSpPr>
        <p:spPr>
          <a:xfrm>
            <a:off x="365760" y="1143000"/>
            <a:ext cx="2925024" cy="822960"/>
          </a:xfrm>
          <a:prstGeom prst="rect">
            <a:avLst/>
          </a:prstGeom>
          <a:noFill/>
          <a:ln>
            <a:noFill/>
          </a:ln>
        </p:spPr>
        <p:txBody>
          <a:bodyPr wrap="square" lIns="0" tIns="0" rIns="0" bIns="0" anchor="ctr"/>
          <a:lstStyle/>
          <a:p>
            <a:pPr algn="l">
              <a:spcAft>
                <a:spcPts val="0"/>
              </a:spcAft>
              <a:buNone/>
            </a:pPr>
            <a:r>
              <a:rPr lang="en-US" sz="1800" b="1" dirty="0">
                <a:solidFill>
                  <a:srgbClr val="8E6F3E"/>
                </a:solidFill>
              </a:rPr>
              <a:t>PRODUCTION</a:t>
            </a:r>
          </a:p>
          <a:p>
            <a:pPr algn="l">
              <a:spcAft>
                <a:spcPts val="0"/>
              </a:spcAft>
              <a:buNone/>
            </a:pPr>
            <a:r>
              <a:rPr lang="en-US" sz="1400" b="0" i="1" dirty="0">
                <a:solidFill>
                  <a:srgbClr val="555960"/>
                </a:solidFill>
              </a:rPr>
              <a:t>probability of an acceptable candidate</a:t>
            </a:r>
          </a:p>
        </p:txBody>
      </p:sp>
      <p:sp>
        <p:nvSpPr>
          <p:cNvPr id="11" name="EqNode"/>
          <p:cNvSpPr txBox="1"/>
          <p:nvPr/>
        </p:nvSpPr>
        <p:spPr>
          <a:xfrm>
            <a:off x="3200400" y="1143000"/>
            <a:ext cx="2743200" cy="457200"/>
          </a:xfrm>
          <a:prstGeom prst="rect">
            <a:avLst/>
          </a:prstGeom>
          <a:noFill/>
          <a:ln>
            <a:noFill/>
          </a:ln>
        </p:spPr>
        <p:txBody>
          <a:bodyPr wrap="square" lIns="0" tIns="0" rIns="0" bIns="0" anchor="ctr"/>
          <a:lstStyle/>
          <a:p>
            <a:pPr algn="ctr">
              <a:spcAft>
                <a:spcPts val="0"/>
              </a:spcAft>
              <a:buNone/>
            </a:pPr>
            <a:r>
              <a:rPr lang="en-US" sz="2800" b="0" i="1" dirty="0">
                <a:solidFill>
                  <a:srgbClr val="5C4826"/>
                </a:solidFill>
              </a:rPr>
              <a:t>p(T,M,R,H)</a:t>
            </a:r>
          </a:p>
        </p:txBody>
      </p:sp>
      <p:cxnSp>
        <p:nvCxnSpPr>
          <p:cNvPr id="20" name="A0"/>
          <p:cNvCxnSpPr/>
          <p:nvPr/>
        </p:nvCxnSpPr>
        <p:spPr>
          <a:xfrm>
            <a:off x="4572000" y="1737360"/>
            <a:ext cx="0" cy="182880"/>
          </a:xfrm>
          <a:prstGeom prst="straightConnector1">
            <a:avLst/>
          </a:prstGeom>
          <a:ln w="19050">
            <a:solidFill>
              <a:srgbClr val="8E6F3E"/>
            </a:solidFill>
            <a:tailEnd type="triangle" w="med" len="med"/>
          </a:ln>
        </p:spPr>
      </p:cxnSp>
      <p:sp>
        <p:nvSpPr>
          <p:cNvPr id="21" name="ChipCandidate"/>
          <p:cNvSpPr/>
          <p:nvPr/>
        </p:nvSpPr>
        <p:spPr>
          <a:xfrm>
            <a:off x="3474720" y="1920240"/>
            <a:ext cx="2194560" cy="457200"/>
          </a:xfrm>
          <a:prstGeom prst="rect">
            <a:avLst/>
          </a:prstGeom>
          <a:solidFill>
            <a:srgbClr val="FBF8F2"/>
          </a:solidFill>
          <a:ln w="12700">
            <a:solidFill>
              <a:srgbClr val="C9B991"/>
            </a:solidFill>
          </a:ln>
          <a:effectLst/>
        </p:spPr>
        <p:txBody>
          <a:bodyPr rtlCol="0" anchor="ctr" wrap="square" lIns="27432" rIns="27432" tIns="22860" bIns="22860"/>
          <a:lstStyle/>
          <a:p>
            <a:pPr algn="ctr"/>
            <a:r>
              <a:rPr sz="1800" b="1" i="0">
                <a:solidFill>
                  <a:srgbClr val="5C4826"/>
                </a:solidFill>
              </a:rPr>
              <a:t>CANDIDATE</a:t>
            </a:r>
          </a:p>
        </p:txBody>
      </p:sp>
      <p:cxnSp>
        <p:nvCxnSpPr>
          <p:cNvPr id="22" name="A1"/>
          <p:cNvCxnSpPr/>
          <p:nvPr/>
        </p:nvCxnSpPr>
        <p:spPr>
          <a:xfrm>
            <a:off x="4572000" y="2377440"/>
            <a:ext cx="0" cy="228600"/>
          </a:xfrm>
          <a:prstGeom prst="straightConnector1">
            <a:avLst/>
          </a:prstGeom>
          <a:ln w="19050">
            <a:solidFill>
              <a:srgbClr val="8E6F3E"/>
            </a:solidFill>
            <a:tailEnd type="triangle" w="med" len="med"/>
          </a:ln>
        </p:spPr>
      </p:cxnSp>
      <p:sp>
        <p:nvSpPr>
          <p:cNvPr id="23" name="ChipObligation"/>
          <p:cNvSpPr/>
          <p:nvPr/>
        </p:nvSpPr>
        <p:spPr>
          <a:xfrm>
            <a:off x="3474720" y="2606040"/>
            <a:ext cx="2194560" cy="457200"/>
          </a:xfrm>
          <a:prstGeom prst="rect">
            <a:avLst/>
          </a:prstGeom>
          <a:solidFill>
            <a:srgbClr val="F5F1E8"/>
          </a:solidFill>
          <a:ln w="12700">
            <a:solidFill>
              <a:srgbClr val="C9B991"/>
            </a:solidFill>
          </a:ln>
          <a:effectLst/>
        </p:spPr>
        <p:txBody>
          <a:bodyPr rtlCol="0" anchor="ctr" wrap="square" lIns="27432" rIns="27432" tIns="22860" bIns="22860"/>
          <a:lstStyle/>
          <a:p>
            <a:pPr algn="ctr"/>
            <a:r>
              <a:rPr sz="1800" b="1" i="0">
                <a:solidFill>
                  <a:srgbClr val="5C4826"/>
                </a:solidFill>
              </a:rPr>
              <a:t>OBLIGATION</a:t>
            </a:r>
          </a:p>
        </p:txBody>
      </p:sp>
      <p:cxnSp>
        <p:nvCxnSpPr>
          <p:cNvPr id="24" name="A2"/>
          <p:cNvCxnSpPr/>
          <p:nvPr/>
        </p:nvCxnSpPr>
        <p:spPr>
          <a:xfrm>
            <a:off x="4572000" y="3063240"/>
            <a:ext cx="0" cy="228600"/>
          </a:xfrm>
          <a:prstGeom prst="straightConnector1">
            <a:avLst/>
          </a:prstGeom>
          <a:ln w="19050">
            <a:solidFill>
              <a:srgbClr val="8E6F3E"/>
            </a:solidFill>
            <a:tailEnd type="triangle" w="med" len="med"/>
          </a:ln>
        </p:spPr>
      </p:cxnSp>
      <p:sp>
        <p:nvSpPr>
          <p:cNvPr id="25" name="ChipEvidence"/>
          <p:cNvSpPr/>
          <p:nvPr/>
        </p:nvSpPr>
        <p:spPr>
          <a:xfrm>
            <a:off x="3474720" y="3291840"/>
            <a:ext cx="2194560" cy="457200"/>
          </a:xfrm>
          <a:prstGeom prst="rect">
            <a:avLst/>
          </a:prstGeom>
          <a:solidFill>
            <a:srgbClr val="F5F1E8"/>
          </a:solidFill>
          <a:ln w="12700">
            <a:solidFill>
              <a:srgbClr val="C9B991"/>
            </a:solidFill>
          </a:ln>
          <a:effectLst/>
        </p:spPr>
        <p:txBody>
          <a:bodyPr rtlCol="0" anchor="ctr" wrap="square" lIns="27432" rIns="27432" tIns="22860" bIns="22860"/>
          <a:lstStyle/>
          <a:p>
            <a:pPr algn="ctr"/>
            <a:r>
              <a:rPr sz="1800" b="1" i="0">
                <a:solidFill>
                  <a:srgbClr val="5C4826"/>
                </a:solidFill>
              </a:rPr>
              <a:t>EVIDENCE</a:t>
            </a:r>
          </a:p>
        </p:txBody>
      </p:sp>
      <p:cxnSp>
        <p:nvCxnSpPr>
          <p:cNvPr id="26" name="A3"/>
          <p:cNvCxnSpPr/>
          <p:nvPr/>
        </p:nvCxnSpPr>
        <p:spPr>
          <a:xfrm>
            <a:off x="4572000" y="3749040"/>
            <a:ext cx="0" cy="228600"/>
          </a:xfrm>
          <a:prstGeom prst="straightConnector1">
            <a:avLst/>
          </a:prstGeom>
          <a:ln w="19050">
            <a:solidFill>
              <a:srgbClr val="8E6F3E"/>
            </a:solidFill>
            <a:tailEnd type="triangle" w="med" len="med"/>
          </a:ln>
        </p:spPr>
      </p:cxnSp>
      <p:sp>
        <p:nvSpPr>
          <p:cNvPr id="27" name="ChipJudgment"/>
          <p:cNvSpPr/>
          <p:nvPr/>
        </p:nvSpPr>
        <p:spPr>
          <a:xfrm>
            <a:off x="3474720" y="3977640"/>
            <a:ext cx="2194560" cy="457200"/>
          </a:xfrm>
          <a:prstGeom prst="rect">
            <a:avLst/>
          </a:prstGeom>
          <a:solidFill>
            <a:srgbClr val="F5F1E8"/>
          </a:solidFill>
          <a:ln w="12700">
            <a:solidFill>
              <a:srgbClr val="C9B991"/>
            </a:solidFill>
          </a:ln>
          <a:effectLst/>
        </p:spPr>
        <p:txBody>
          <a:bodyPr rtlCol="0" anchor="ctr" wrap="square" lIns="27432" rIns="27432" tIns="22860" bIns="22860"/>
          <a:lstStyle/>
          <a:p>
            <a:pPr algn="ctr"/>
            <a:r>
              <a:rPr sz="1800" b="1" i="0">
                <a:solidFill>
                  <a:srgbClr val="5C4826"/>
                </a:solidFill>
              </a:rPr>
              <a:t>JUDGMENT</a:t>
            </a:r>
          </a:p>
        </p:txBody>
      </p:sp>
      <p:cxnSp>
        <p:nvCxnSpPr>
          <p:cNvPr id="28" name="A4"/>
          <p:cNvCxnSpPr/>
          <p:nvPr/>
        </p:nvCxnSpPr>
        <p:spPr>
          <a:xfrm>
            <a:off x="4572000" y="4434840"/>
            <a:ext cx="0" cy="228600"/>
          </a:xfrm>
          <a:prstGeom prst="straightConnector1">
            <a:avLst/>
          </a:prstGeom>
          <a:ln w="19050">
            <a:solidFill>
              <a:srgbClr val="8E6F3E"/>
            </a:solidFill>
            <a:tailEnd type="triangle" w="med" len="med"/>
          </a:ln>
        </p:spPr>
      </p:cxnSp>
      <p:sp>
        <p:nvSpPr>
          <p:cNvPr id="29" name="ChipConsequence"/>
          <p:cNvSpPr/>
          <p:nvPr/>
        </p:nvSpPr>
        <p:spPr>
          <a:xfrm>
            <a:off x="3474720" y="4663440"/>
            <a:ext cx="2194560" cy="457200"/>
          </a:xfrm>
          <a:prstGeom prst="rect">
            <a:avLst/>
          </a:prstGeom>
          <a:solidFill>
            <a:srgbClr val="8E6F3E"/>
          </a:solidFill>
          <a:ln>
            <a:noFill/>
          </a:ln>
          <a:effectLst/>
        </p:spPr>
        <p:txBody>
          <a:bodyPr rtlCol="0" anchor="ctr" wrap="square" lIns="27432" rIns="27432" tIns="22860" bIns="22860"/>
          <a:lstStyle/>
          <a:p>
            <a:pPr algn="ctr"/>
            <a:r>
              <a:rPr sz="1800" b="1" i="0">
                <a:solidFill>
                  <a:srgbClr val="FFFFFF"/>
                </a:solidFill>
              </a:rPr>
              <a:t>CONSEQUENCE</a:t>
            </a:r>
          </a:p>
        </p:txBody>
      </p:sp>
      <p:sp>
        <p:nvSpPr>
          <p:cNvPr id="199" name="FooterBand"/>
          <p:cNvSpPr/>
          <p:nvPr/>
        </p:nvSpPr>
        <p:spPr>
          <a:xfrm>
            <a:off x="274320" y="5641848"/>
            <a:ext cx="8595360" cy="777240"/>
          </a:xfrm>
          <a:prstGeom prst="rect">
            <a:avLst/>
          </a:prstGeom>
          <a:solidFill>
            <a:srgbClr val="8E6F3E"/>
          </a:solidFill>
          <a:ln>
            <a:noFill/>
          </a:ln>
        </p:spPr>
        <p:txBody>
          <a:bodyPr wrap="square" lIns="27432" tIns="0" rIns="27432" bIns="45720" anchor="ctr"/>
          <a:lstStyle/>
          <a:p>
            <a:pPr algn="ctr">
              <a:buNone/>
            </a:pPr>
            <a:r>
              <a:rPr lang="en-US" sz="2000" b="1" i="0" dirty="0">
                <a:solidFill>
                  <a:srgbClr val="FFFFFF"/>
                </a:solidFill>
              </a:rPr>
              <a:t>Production asks what delegation can produce.</a:t>
            </a:r>
          </a:p>
          <a:p>
            <a:pPr algn="ctr">
              <a:buNone/>
            </a:pPr>
            <a:r>
              <a:rPr lang="en-US" sz="2000" b="1" i="0" dirty="0">
                <a:solidFill>
                  <a:srgbClr val="FFFFFF"/>
                </a:solidFill>
              </a:rPr>
              <a:t>Alignment governs what produced work may cause.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What do models buy us?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does an explicit model add?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We just did Alignment without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548640" y="1645920"/>
            <a:ext cx="8046720" cy="1463040"/>
          </a:xfrm>
          <a:prstGeom prst="rect">
            <a:avLst/>
          </a:prstGeom>
          <a:noFill/>
        </p:spPr>
        <p:txBody>
          <a:bodyPr wrap="square" anchor="ctr">
            <a:spAutoFit/>
          </a:bodyPr>
          <a:lstStyle/>
          <a:p>
            <a:pPr algn="ctr"/>
            <a:r>
              <a:rPr sz="2400" b="1" i="0">
                <a:solidFill>
                  <a:srgbClr val="000000"/>
                </a:solidFill>
              </a:rPr>
              <a:t>We just reasoned about constraints, evidence, evaluation, and authority.</a:t>
            </a:r>
          </a:p>
          <a:p>
            <a:pPr algn="ctr"/>
            <a:r>
              <a:rPr sz="2400" b="1" i="0">
                <a:solidFill>
                  <a:srgbClr val="000000"/>
                </a:solidFill>
              </a:rPr>
              <a:t>No explicit model was required.</a:t>
            </a:r>
          </a:p>
        </p:txBody>
      </p:sp>
      <p:sp>
        <p:nvSpPr>
          <p:cNvPr id="6" name="TextBox 5"/>
          <p:cNvSpPr txBox="1"/>
          <p:nvPr/>
        </p:nvSpPr>
        <p:spPr>
          <a:xfrm>
            <a:off x="548640" y="3840480"/>
            <a:ext cx="8046720" cy="548640"/>
          </a:xfrm>
          <a:prstGeom prst="rect">
            <a:avLst/>
          </a:prstGeom>
          <a:noFill/>
        </p:spPr>
        <p:txBody>
          <a:bodyPr wrap="square" anchor="t">
            <a:spAutoFit/>
          </a:bodyPr>
          <a:lstStyle/>
          <a:p>
            <a:pPr algn="ctr"/>
            <a:r>
              <a:rPr sz="2300" b="0" i="1">
                <a:solidFill>
                  <a:srgbClr val="8E6F3E"/>
                </a:solidFill>
              </a:rPr>
              <a:t>So why did we spend the previous lecture on Modeling?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005840"/>
          </a:xfrm>
        </p:spPr>
        <p:txBody>
          <a:bodyPr wrap="square"/>
          <a:lstStyle/>
          <a:p>
            <a:pPr algn="ctr"/>
            <a:r>
              <a:rPr sz="4000">
                <a:solidFill>
                  <a:srgbClr val="000000"/>
                </a:solidFill>
              </a:rPr>
              <a:t>What do models buy us?</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4" name="TextBox 3"/>
          <p:cNvSpPr txBox="1"/>
          <p:nvPr/>
        </p:nvSpPr>
        <p:spPr>
          <a:xfrm>
            <a:off x="685800" y="1243584"/>
            <a:ext cx="7772400" cy="365760"/>
          </a:xfrm>
          <a:prstGeom prst="rect">
            <a:avLst/>
          </a:prstGeom>
          <a:noFill/>
        </p:spPr>
        <p:txBody>
          <a:bodyPr wrap="square" anchor="t">
            <a:spAutoFit/>
          </a:bodyPr>
          <a:lstStyle/>
          <a:p>
            <a:pPr algn="ctr"/>
            <a:r>
              <a:rPr sz="2000" b="1" i="0">
                <a:solidFill>
                  <a:srgbClr val="8E6F3E"/>
                </a:solidFill>
              </a:rPr>
              <a:t>DISCUSSION</a:t>
            </a:r>
          </a:p>
        </p:txBody>
      </p:sp>
      <p:sp>
        <p:nvSpPr>
          <p:cNvPr id="5" name="Rectangle 4"/>
          <p:cNvSpPr/>
          <p:nvPr/>
        </p:nvSpPr>
        <p:spPr>
          <a:xfrm>
            <a:off x="3429000" y="301752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make engineering knowledge explicit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640080" y="914400"/>
            <a:ext cx="8595360" cy="365760"/>
          </a:xfrm>
          <a:prstGeom prst="rect">
            <a:avLst/>
          </a:prstGeom>
          <a:noFill/>
        </p:spPr>
        <p:txBody>
          <a:bodyPr wrap="square" anchor="t">
            <a:spAutoFit/>
          </a:bodyPr>
          <a:lstStyle/>
          <a:p>
            <a:pPr algn="l"/>
            <a:r>
              <a:rPr sz="2000" b="1" i="0">
                <a:solidFill>
                  <a:srgbClr val="8E6F3E"/>
                </a:solidFill>
              </a:rPr>
              <a:t>A MODEL CAN …</a:t>
            </a:r>
          </a:p>
        </p:txBody>
      </p:sp>
      <p:sp>
        <p:nvSpPr>
          <p:cNvPr id="6" name="Rectangle 5"/>
          <p:cNvSpPr/>
          <p:nvPr/>
        </p:nvSpPr>
        <p:spPr>
          <a:xfrm>
            <a:off x="640080" y="1371600"/>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PRESERVE</a:t>
            </a:r>
          </a:p>
        </p:txBody>
      </p:sp>
      <p:sp>
        <p:nvSpPr>
          <p:cNvPr id="7" name="TextBox 6"/>
          <p:cNvSpPr txBox="1"/>
          <p:nvPr/>
        </p:nvSpPr>
        <p:spPr>
          <a:xfrm>
            <a:off x="3383280" y="1499616"/>
            <a:ext cx="5440680" cy="731520"/>
          </a:xfrm>
          <a:prstGeom prst="rect">
            <a:avLst/>
          </a:prstGeom>
          <a:noFill/>
        </p:spPr>
        <p:txBody>
          <a:bodyPr wrap="square" anchor="t">
            <a:spAutoFit/>
          </a:bodyPr>
          <a:lstStyle/>
          <a:p>
            <a:pPr algn="l"/>
            <a:r>
              <a:rPr sz="2000" b="0" i="0">
                <a:solidFill>
                  <a:srgbClr val="5C4826"/>
                </a:solidFill>
              </a:rPr>
              <a:t>distinctions that matter</a:t>
            </a:r>
          </a:p>
        </p:txBody>
      </p:sp>
      <p:sp>
        <p:nvSpPr>
          <p:cNvPr id="8" name="Rectangle 7"/>
          <p:cNvSpPr/>
          <p:nvPr/>
        </p:nvSpPr>
        <p:spPr>
          <a:xfrm>
            <a:off x="640080" y="2304288"/>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EXPOSE</a:t>
            </a:r>
          </a:p>
        </p:txBody>
      </p:sp>
      <p:sp>
        <p:nvSpPr>
          <p:cNvPr id="9" name="TextBox 8"/>
          <p:cNvSpPr txBox="1"/>
          <p:nvPr/>
        </p:nvSpPr>
        <p:spPr>
          <a:xfrm>
            <a:off x="3383280" y="2432304"/>
            <a:ext cx="5440680" cy="731520"/>
          </a:xfrm>
          <a:prstGeom prst="rect">
            <a:avLst/>
          </a:prstGeom>
          <a:noFill/>
        </p:spPr>
        <p:txBody>
          <a:bodyPr wrap="square" anchor="t">
            <a:spAutoFit/>
          </a:bodyPr>
          <a:lstStyle/>
          <a:p>
            <a:pPr algn="l"/>
            <a:r>
              <a:rPr sz="2000" b="0" i="0">
                <a:solidFill>
                  <a:srgbClr val="5C4826"/>
                </a:solidFill>
              </a:rPr>
              <a:t>relationships that would otherwise have to be inferred</a:t>
            </a:r>
          </a:p>
        </p:txBody>
      </p:sp>
      <p:sp>
        <p:nvSpPr>
          <p:cNvPr id="10" name="Rectangle 9"/>
          <p:cNvSpPr/>
          <p:nvPr/>
        </p:nvSpPr>
        <p:spPr>
          <a:xfrm>
            <a:off x="640080" y="3236976"/>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LEAVE OPEN</a:t>
            </a:r>
          </a:p>
        </p:txBody>
      </p:sp>
      <p:sp>
        <p:nvSpPr>
          <p:cNvPr id="11" name="TextBox 10"/>
          <p:cNvSpPr txBox="1"/>
          <p:nvPr/>
        </p:nvSpPr>
        <p:spPr>
          <a:xfrm>
            <a:off x="3383280" y="3364992"/>
            <a:ext cx="5440680" cy="731520"/>
          </a:xfrm>
          <a:prstGeom prst="rect">
            <a:avLst/>
          </a:prstGeom>
          <a:noFill/>
        </p:spPr>
        <p:txBody>
          <a:bodyPr wrap="square" anchor="t">
            <a:spAutoFit/>
          </a:bodyPr>
          <a:lstStyle/>
          <a:p>
            <a:pPr algn="l"/>
            <a:r>
              <a:rPr sz="2000" b="0" i="0">
                <a:solidFill>
                  <a:srgbClr val="5C4826"/>
                </a:solidFill>
              </a:rPr>
              <a:t>realization choices that do not matter</a:t>
            </a:r>
          </a:p>
        </p:txBody>
      </p:sp>
      <p:sp>
        <p:nvSpPr>
          <p:cNvPr id="12" name="Rectangle 11"/>
          <p:cNvSpPr/>
          <p:nvPr/>
        </p:nvSpPr>
        <p:spPr>
          <a:xfrm>
            <a:off x="640080" y="4169664"/>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ENABLE</a:t>
            </a:r>
          </a:p>
        </p:txBody>
      </p:sp>
      <p:sp>
        <p:nvSpPr>
          <p:cNvPr id="13" name="TextBox 12"/>
          <p:cNvSpPr txBox="1"/>
          <p:nvPr/>
        </p:nvSpPr>
        <p:spPr>
          <a:xfrm>
            <a:off x="3383280" y="4297680"/>
            <a:ext cx="5440680" cy="731520"/>
          </a:xfrm>
          <a:prstGeom prst="rect">
            <a:avLst/>
          </a:prstGeom>
          <a:noFill/>
        </p:spPr>
        <p:txBody>
          <a:bodyPr wrap="square" anchor="t">
            <a:spAutoFit/>
          </a:bodyPr>
          <a:lstStyle/>
          <a:p>
            <a:pPr algn="l"/>
            <a:r>
              <a:rPr sz="2000" b="0" i="0">
                <a:solidFill>
                  <a:srgbClr val="5C4826"/>
                </a:solidFill>
              </a:rPr>
              <a:t>evaluations that otherwise require reconstruction</a:t>
            </a:r>
          </a:p>
        </p:txBody>
      </p:sp>
      <p:sp>
        <p:nvSpPr>
          <p:cNvPr id="14" name="TextBox 13"/>
          <p:cNvSpPr txBox="1"/>
          <p:nvPr/>
        </p:nvSpPr>
        <p:spPr>
          <a:xfrm>
            <a:off x="274320" y="5010912"/>
            <a:ext cx="8595360" cy="411480"/>
          </a:xfrm>
          <a:prstGeom prst="rect">
            <a:avLst/>
          </a:prstGeom>
          <a:noFill/>
        </p:spPr>
        <p:txBody>
          <a:bodyPr wrap="square" anchor="t">
            <a:spAutoFit/>
          </a:bodyPr>
          <a:lstStyle/>
          <a:p>
            <a:pPr algn="ctr"/>
            <a:r>
              <a:rPr sz="2000" b="0" i="1">
                <a:solidFill>
                  <a:srgbClr val="555960"/>
                </a:solidFill>
              </a:rPr>
              <a:t>Different analyses can then operate over the same engineering knowledge.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Models can drive controls</a:t>
            </a:r>
          </a:p>
        </p:txBody>
      </p:sp>
      <p:sp>
        <p:nvSpPr>
          <p:cNvPr id="15" name="MCGate"/>
          <p:cNvSpPr/>
          <p:nvPr/>
        </p:nvSpPr>
        <p:spPr>
          <a:xfrm>
            <a:off x="3749039" y="3767328"/>
            <a:ext cx="16459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1" i="0">
                <a:solidFill>
                  <a:srgbClr val="FFFFFF"/>
                </a:solidFill>
              </a:rPr>
              <a:t>VERDICTS</a:t>
            </a:r>
          </a:p>
        </p:txBody>
      </p:sp>
      <p:sp>
        <p:nvSpPr>
          <p:cNvPr id="16" name="MCPoint"/>
          <p:cNvSpPr txBox="1"/>
          <p:nvPr/>
        </p:nvSpPr>
        <p:spPr>
          <a:xfrm>
            <a:off x="502920" y="4572000"/>
            <a:ext cx="8138160" cy="548640"/>
          </a:xfrm>
          <a:prstGeom prst="rect">
            <a:avLst/>
          </a:prstGeom>
          <a:noFill/>
        </p:spPr>
        <p:txBody>
          <a:bodyPr wrap="square" anchor="t">
            <a:spAutoFit/>
          </a:bodyPr>
          <a:lstStyle/>
          <a:p>
            <a:pPr algn="ctr"/>
            <a:r>
              <a:rPr sz="2000" b="0" i="0">
                <a:solidFill>
                  <a:srgbClr val="5C4826"/>
                </a:solidFill>
              </a:rPr>
              <a:t>The same explicit engineering knowledge can support multiple validators and constraints.</a:t>
            </a:r>
          </a:p>
        </p:txBody>
      </p:sp>
      <p:sp>
        <p:nvSpPr>
          <p:cNvPr id="18" name="RealModel"/>
          <p:cNvSpPr/>
          <p:nvPr/>
        </p:nvSpPr>
        <p:spPr>
          <a:xfrm>
            <a:off x="2103120" y="914400"/>
            <a:ext cx="4937760" cy="80467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FFFFFF"/>
                </a:solidFill>
              </a:rPr>
              <a:t>DOCUMENT PROCESSING SERVICE</a:t>
            </a:r>
          </a:p>
          <a:p>
            <a:pPr algn="ctr"/>
            <a:r>
              <a:rPr sz="1050" b="1" i="0">
                <a:solidFill>
                  <a:srgbClr val="FBF8F2"/>
                </a:solidFill>
              </a:rPr>
              <a:t xml:space="preserve">ONE EXPLICIT MODEL  </a:t>
            </a:r>
            <a:r>
              <a:rPr sz="1050" b="0" i="1">
                <a:solidFill>
                  <a:srgbClr val="FBF8F2"/>
                </a:solidFill>
              </a:rPr>
              <a:t>lifecycle machine + resource graph</a:t>
            </a:r>
          </a:p>
        </p:txBody>
      </p:sp>
      <p:sp>
        <p:nvSpPr>
          <p:cNvPr id="19" name="MC-lifecycle"/>
          <p:cNvSpPr/>
          <p:nvPr/>
        </p:nvSpPr>
        <p:spPr>
          <a:xfrm>
            <a:off x="411480" y="2240280"/>
            <a:ext cx="246888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1" i="0">
                <a:solidFill>
                  <a:srgbClr val="5C4826"/>
                </a:solidFill>
              </a:rPr>
              <a:t>LIFECYCLE CHECK</a:t>
            </a:r>
          </a:p>
          <a:p>
            <a:pPr algn="ctr"/>
            <a:r>
              <a:rPr sz="950" b="0" i="0">
                <a:solidFill>
                  <a:srgbClr val="555960"/>
                </a:solidFill>
              </a:rPr>
              <a:t>can a Completed document ever be processed again?  no</a:t>
            </a:r>
          </a:p>
        </p:txBody>
      </p:sp>
      <p:sp>
        <p:nvSpPr>
          <p:cNvPr id="20" name="MC-retry"/>
          <p:cNvSpPr/>
          <p:nvPr/>
        </p:nvSpPr>
        <p:spPr>
          <a:xfrm>
            <a:off x="3337560" y="2240280"/>
            <a:ext cx="246888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1" i="0">
                <a:solidFill>
                  <a:srgbClr val="5C4826"/>
                </a:solidFill>
              </a:rPr>
              <a:t>RETRY BOUND</a:t>
            </a:r>
          </a:p>
          <a:p>
            <a:pPr algn="ctr"/>
            <a:r>
              <a:rPr sz="950" b="0" i="0">
                <a:solidFill>
                  <a:srgbClr val="555960"/>
                </a:solidFill>
              </a:rPr>
              <a:t>can the retry loop run forever?  no, at most 2 retries</a:t>
            </a:r>
          </a:p>
        </p:txBody>
      </p:sp>
      <p:sp>
        <p:nvSpPr>
          <p:cNvPr id="21" name="MC-memory"/>
          <p:cNvSpPr/>
          <p:nvPr/>
        </p:nvSpPr>
        <p:spPr>
          <a:xfrm>
            <a:off x="6263640" y="2240280"/>
            <a:ext cx="246888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1" i="0">
                <a:solidFill>
                  <a:srgbClr val="5C4826"/>
                </a:solidFill>
              </a:rPr>
              <a:t>MEMORY ANALYSIS</a:t>
            </a:r>
          </a:p>
          <a:p>
            <a:pPr algn="ctr"/>
            <a:r>
              <a:rPr sz="950" b="0" i="0">
                <a:solidFill>
                  <a:srgbClr val="555960"/>
                </a:solidFill>
              </a:rPr>
              <a:t>peak demand 2 × 384 MB, within the 1 GB worker ceiling</a:t>
            </a:r>
          </a:p>
        </p:txBody>
      </p:sp>
      <p:cxnSp>
        <p:nvCxnSpPr>
          <p:cNvPr id="22" name="RM-Conn1"/>
          <p:cNvCxnSpPr/>
          <p:nvPr/>
        </p:nvCxnSpPr>
        <p:spPr>
          <a:xfrm flipH="1">
            <a:off x="1645920" y="1719072"/>
            <a:ext cx="2926080" cy="52120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RM-Conn2"/>
          <p:cNvCxnSpPr/>
          <p:nvPr/>
        </p:nvCxnSpPr>
        <p:spPr>
          <a:xfrm>
            <a:off x="4572000" y="1719072"/>
            <a:ext cx="0" cy="52120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RM-Conn3"/>
          <p:cNvCxnSpPr/>
          <p:nvPr/>
        </p:nvCxnSpPr>
        <p:spPr>
          <a:xfrm>
            <a:off x="4572000" y="1719072"/>
            <a:ext cx="2926079" cy="52120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RM-Conn4"/>
          <p:cNvCxnSpPr/>
          <p:nvPr/>
        </p:nvCxnSpPr>
        <p:spPr>
          <a:xfrm>
            <a:off x="1645920" y="3200400"/>
            <a:ext cx="2377440" cy="56692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RM-Conn5"/>
          <p:cNvCxnSpPr/>
          <p:nvPr/>
        </p:nvCxnSpPr>
        <p:spPr>
          <a:xfrm>
            <a:off x="4572000" y="3200400"/>
            <a:ext cx="0" cy="56692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RM-Conn6"/>
          <p:cNvCxnSpPr/>
          <p:nvPr/>
        </p:nvCxnSpPr>
        <p:spPr>
          <a:xfrm flipH="1">
            <a:off x="5120640" y="3200400"/>
            <a:ext cx="2377439" cy="56692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MC-Optional"/>
          <p:cNvSpPr txBox="1"/>
          <p:nvPr/>
        </p:nvSpPr>
        <p:spPr>
          <a:xfrm>
            <a:off x="5989320" y="3438144"/>
            <a:ext cx="1234440" cy="274320"/>
          </a:xfrm>
          <a:prstGeom prst="rect">
            <a:avLst/>
          </a:prstGeom>
          <a:noFill/>
        </p:spPr>
        <p:txBody>
          <a:bodyPr wrap="square" anchor="t">
            <a:spAutoFit/>
          </a:bodyPr>
          <a:lstStyle/>
          <a:p>
            <a:pPr algn="ctr"/>
            <a:r>
              <a:rPr sz="1200" b="0" i="1">
                <a:solidFill>
                  <a:srgbClr val="555960"/>
                </a:solidFill>
              </a:rPr>
              <a:t>optional</a:t>
            </a:r>
          </a:p>
        </p:txBody>
      </p:sp>
      <p:sp>
        <p:nvSpPr>
          <p:cNvPr id="29" name="MC-GateOpt"/>
          <p:cNvSpPr/>
          <p:nvPr/>
        </p:nvSpPr>
        <p:spPr>
          <a:xfrm>
            <a:off x="5989320" y="3767328"/>
            <a:ext cx="123444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1" i="0">
                <a:solidFill>
                  <a:srgbClr val="FFFFFF"/>
                </a:solidFill>
              </a:rPr>
              <a:t>GATE</a:t>
            </a:r>
          </a:p>
        </p:txBody>
      </p:sp>
      <p:cxnSp>
        <p:nvCxnSpPr>
          <p:cNvPr id="30" name="MC-VGArrow"/>
          <p:cNvCxnSpPr/>
          <p:nvPr/>
        </p:nvCxnSpPr>
        <p:spPr>
          <a:xfrm>
            <a:off x="5468112" y="4050791"/>
            <a:ext cx="45720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Evidence for one does not establish the others.</a:t>
            </a:r>
          </a:p>
        </p:txBody>
      </p:sp>
      <p:sp>
        <p:nvSpPr>
          <p:cNvPr id="15" name="TR-Label1"/>
          <p:cNvSpPr txBox="1"/>
          <p:nvPr/>
        </p:nvSpPr>
        <p:spPr>
          <a:xfrm>
            <a:off x="320040" y="1353312"/>
            <a:ext cx="2697480" cy="457200"/>
          </a:xfrm>
          <a:prstGeom prst="rect">
            <a:avLst/>
          </a:prstGeom>
          <a:noFill/>
        </p:spPr>
        <p:txBody>
          <a:bodyPr wrap="square" anchor="t">
            <a:spAutoFit/>
          </a:bodyPr>
          <a:lstStyle/>
          <a:p>
            <a:pPr algn="l"/>
            <a:r>
              <a:rPr sz="2200" b="1" i="0">
                <a:solidFill>
                  <a:srgbClr val="8E6F3E"/>
                </a:solidFill>
              </a:rPr>
              <a:t>CORRESPONDENCE</a:t>
            </a:r>
          </a:p>
        </p:txBody>
      </p:sp>
      <p:sp>
        <p:nvSpPr>
          <p:cNvPr id="16" name="TR-Box1a"/>
          <p:cNvSpPr/>
          <p:nvPr/>
        </p:nvSpPr>
        <p:spPr>
          <a:xfrm>
            <a:off x="3108960" y="1280160"/>
            <a:ext cx="19659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implementation</a:t>
            </a:r>
          </a:p>
        </p:txBody>
      </p:sp>
      <p:sp>
        <p:nvSpPr>
          <p:cNvPr id="17" name="TR-Box1b"/>
          <p:cNvSpPr/>
          <p:nvPr/>
        </p:nvSpPr>
        <p:spPr>
          <a:xfrm>
            <a:off x="5989320" y="1280160"/>
            <a:ext cx="283464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representation</a:t>
            </a:r>
          </a:p>
        </p:txBody>
      </p:sp>
      <p:cxnSp>
        <p:nvCxnSpPr>
          <p:cNvPr id="18" name="TR-Arrow1"/>
          <p:cNvCxnSpPr/>
          <p:nvPr/>
        </p:nvCxnSpPr>
        <p:spPr>
          <a:xfrm>
            <a:off x="5138928" y="1645920"/>
            <a:ext cx="786384" cy="0"/>
          </a:xfrm>
          <a:prstGeom prst="line">
            <a:avLst/>
          </a:prstGeom>
          <a:ln w="28575">
            <a:solidFill>
              <a:srgbClr val="8E6F3E"/>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R-Q1"/>
          <p:cNvSpPr txBox="1"/>
          <p:nvPr/>
        </p:nvSpPr>
        <p:spPr>
          <a:xfrm>
            <a:off x="4617720" y="1097280"/>
            <a:ext cx="1828800" cy="292608"/>
          </a:xfrm>
          <a:prstGeom prst="rect">
            <a:avLst/>
          </a:prstGeom>
          <a:noFill/>
        </p:spPr>
        <p:txBody>
          <a:bodyPr wrap="square" anchor="t">
            <a:spAutoFit/>
          </a:bodyPr>
          <a:lstStyle/>
          <a:p>
            <a:pPr algn="ctr"/>
            <a:r>
              <a:rPr sz="1200" b="0" i="1">
                <a:solidFill>
                  <a:srgbClr val="555960"/>
                </a:solidFill>
              </a:rPr>
              <a:t>do they agree?</a:t>
            </a:r>
          </a:p>
        </p:txBody>
      </p:sp>
      <p:sp>
        <p:nvSpPr>
          <p:cNvPr id="20" name="TR-Label2"/>
          <p:cNvSpPr txBox="1"/>
          <p:nvPr/>
        </p:nvSpPr>
        <p:spPr>
          <a:xfrm>
            <a:off x="320040" y="2953512"/>
            <a:ext cx="2697480" cy="457200"/>
          </a:xfrm>
          <a:prstGeom prst="rect">
            <a:avLst/>
          </a:prstGeom>
          <a:noFill/>
        </p:spPr>
        <p:txBody>
          <a:bodyPr wrap="square" anchor="t">
            <a:spAutoFit/>
          </a:bodyPr>
          <a:lstStyle/>
          <a:p>
            <a:pPr algn="l"/>
            <a:r>
              <a:rPr sz="2200" b="1" i="0">
                <a:solidFill>
                  <a:srgbClr val="8E6F3E"/>
                </a:solidFill>
              </a:rPr>
              <a:t>CONFORMANCE</a:t>
            </a:r>
          </a:p>
        </p:txBody>
      </p:sp>
      <p:sp>
        <p:nvSpPr>
          <p:cNvPr id="21" name="TR-Box2a"/>
          <p:cNvSpPr/>
          <p:nvPr/>
        </p:nvSpPr>
        <p:spPr>
          <a:xfrm>
            <a:off x="3108960" y="2880360"/>
            <a:ext cx="19659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artifact</a:t>
            </a:r>
          </a:p>
        </p:txBody>
      </p:sp>
      <p:sp>
        <p:nvSpPr>
          <p:cNvPr id="22" name="TR-Box2b"/>
          <p:cNvSpPr/>
          <p:nvPr/>
        </p:nvSpPr>
        <p:spPr>
          <a:xfrm>
            <a:off x="5989320" y="2880360"/>
            <a:ext cx="283464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independent obligation</a:t>
            </a:r>
          </a:p>
        </p:txBody>
      </p:sp>
      <p:cxnSp>
        <p:nvCxnSpPr>
          <p:cNvPr id="23" name="TR-Arrow2"/>
          <p:cNvCxnSpPr/>
          <p:nvPr/>
        </p:nvCxnSpPr>
        <p:spPr>
          <a:xfrm>
            <a:off x="5138928" y="3246120"/>
            <a:ext cx="78638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TR-Q2"/>
          <p:cNvSpPr txBox="1"/>
          <p:nvPr/>
        </p:nvSpPr>
        <p:spPr>
          <a:xfrm>
            <a:off x="4617720" y="2697480"/>
            <a:ext cx="1828800" cy="292608"/>
          </a:xfrm>
          <a:prstGeom prst="rect">
            <a:avLst/>
          </a:prstGeom>
          <a:noFill/>
        </p:spPr>
        <p:txBody>
          <a:bodyPr wrap="square" anchor="t">
            <a:spAutoFit/>
          </a:bodyPr>
          <a:lstStyle/>
          <a:p>
            <a:pPr algn="ctr"/>
            <a:r>
              <a:rPr sz="1200" b="0" i="1">
                <a:solidFill>
                  <a:srgbClr val="555960"/>
                </a:solidFill>
              </a:rPr>
              <a:t>does it satisfy?</a:t>
            </a:r>
          </a:p>
        </p:txBody>
      </p:sp>
      <p:sp>
        <p:nvSpPr>
          <p:cNvPr id="25" name="TR-Label3"/>
          <p:cNvSpPr txBox="1"/>
          <p:nvPr/>
        </p:nvSpPr>
        <p:spPr>
          <a:xfrm>
            <a:off x="320040" y="4553712"/>
            <a:ext cx="2697480" cy="457200"/>
          </a:xfrm>
          <a:prstGeom prst="rect">
            <a:avLst/>
          </a:prstGeom>
          <a:noFill/>
        </p:spPr>
        <p:txBody>
          <a:bodyPr wrap="square" anchor="t">
            <a:spAutoFit/>
          </a:bodyPr>
          <a:lstStyle/>
          <a:p>
            <a:pPr algn="l"/>
            <a:r>
              <a:rPr sz="2200" b="1" i="0">
                <a:solidFill>
                  <a:srgbClr val="8E6F3E"/>
                </a:solidFill>
              </a:rPr>
              <a:t>ACCEPTANCE</a:t>
            </a:r>
          </a:p>
        </p:txBody>
      </p:sp>
      <p:sp>
        <p:nvSpPr>
          <p:cNvPr id="26" name="TR-Box3a"/>
          <p:cNvSpPr/>
          <p:nvPr/>
        </p:nvSpPr>
        <p:spPr>
          <a:xfrm>
            <a:off x="3108960" y="4480559"/>
            <a:ext cx="19659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artifact</a:t>
            </a:r>
          </a:p>
        </p:txBody>
      </p:sp>
      <p:sp>
        <p:nvSpPr>
          <p:cNvPr id="27" name="TR-Box3b"/>
          <p:cNvSpPr/>
          <p:nvPr/>
        </p:nvSpPr>
        <p:spPr>
          <a:xfrm>
            <a:off x="5989320" y="4480559"/>
            <a:ext cx="283464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receiving environment</a:t>
            </a:r>
          </a:p>
        </p:txBody>
      </p:sp>
      <p:cxnSp>
        <p:nvCxnSpPr>
          <p:cNvPr id="28" name="TR-Arrow3"/>
          <p:cNvCxnSpPr/>
          <p:nvPr/>
        </p:nvCxnSpPr>
        <p:spPr>
          <a:xfrm>
            <a:off x="5138928" y="4846320"/>
            <a:ext cx="78638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R-Q3"/>
          <p:cNvSpPr txBox="1"/>
          <p:nvPr/>
        </p:nvSpPr>
        <p:spPr>
          <a:xfrm>
            <a:off x="4617720" y="4297679"/>
            <a:ext cx="1828800" cy="292608"/>
          </a:xfrm>
          <a:prstGeom prst="rect">
            <a:avLst/>
          </a:prstGeom>
          <a:noFill/>
        </p:spPr>
        <p:txBody>
          <a:bodyPr wrap="square" anchor="t">
            <a:spAutoFit/>
          </a:bodyPr>
          <a:lstStyle/>
          <a:p>
            <a:pPr algn="ctr"/>
            <a:r>
              <a:rPr sz="1200" b="0" i="1">
                <a:solidFill>
                  <a:srgbClr val="555960"/>
                </a:solidFill>
              </a:rPr>
              <a:t>will it accept?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Three things can disagree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1800" b="0" i="1">
                <a:solidFill>
                  <a:srgbClr val="555960"/>
                </a:solidFill>
              </a:rPr>
              <a:t>does the model capture</a:t>
            </a:r>
          </a:p>
          <a:p>
            <a:pPr algn="l"/>
            <a:r>
              <a:rPr sz="1800" b="0" i="1">
                <a:solidFill>
                  <a:srgbClr val="555960"/>
                </a:solidFill>
              </a:rPr>
              <a:t>the obligation?</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1800" b="0" i="1">
                <a:solidFill>
                  <a:srgbClr val="555960"/>
                </a:solidFill>
              </a:rPr>
              <a:t>does the realization</a:t>
            </a:r>
          </a:p>
          <a:p>
            <a:pPr algn="r"/>
            <a:r>
              <a:rPr sz="1800" b="0" i="1">
                <a:solidFill>
                  <a:srgbClr val="555960"/>
                </a:solidFill>
              </a:rPr>
              <a:t>satisfy it?</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1800" b="0" i="1">
                <a:solidFill>
                  <a:srgbClr val="555960"/>
                </a:solidFill>
              </a:rPr>
              <a:t>do they correspond?</a:t>
            </a:r>
          </a:p>
        </p:txBody>
      </p:sp>
      <p:sp>
        <p:nvSpPr>
          <p:cNvPr id="16" name="TextBox 15"/>
          <p:cNvSpPr txBox="1"/>
          <p:nvPr/>
        </p:nvSpPr>
        <p:spPr>
          <a:xfrm>
            <a:off x="274320" y="4800600"/>
            <a:ext cx="8595360" cy="457200"/>
          </a:xfrm>
          <a:prstGeom prst="rect">
            <a:avLst/>
          </a:prstGeom>
          <a:noFill/>
        </p:spPr>
        <p:txBody>
          <a:bodyPr wrap="square" anchor="t">
            <a:spAutoFit/>
          </a:bodyPr>
          <a:lstStyle/>
          <a:p>
            <a:pPr algn="ctr"/>
            <a:r>
              <a:rPr sz="2000" b="1" i="0">
                <a:solidFill>
                  <a:srgbClr val="5C4826"/>
                </a:solidFill>
              </a:rPr>
              <a:t>What claim does each edge make? What evidence would establish it?</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Design the Alignment</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5C4826"/>
                </a:solidFill>
                <a:effectLst/>
                <a:uLnTx/>
                <a:uFillTx/>
                <a:latin typeface="Calibri" panose="020F0502020204030204"/>
                <a:ea typeface="+mn-ea"/>
                <a:cs typeface="+mn-cs"/>
              </a:rPr>
              <a:t>How should the environment control delegated work?</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Activity: govern the agent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5074920" y="205000"/>
            <a:ext cx="379476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10–12 MINUTES</a:t>
            </a:r>
          </a:p>
        </p:txBody>
      </p:sp>
      <p:sp>
        <p:nvSpPr>
          <p:cNvPr id="6" name="Rectangle 5"/>
          <p:cNvSpPr/>
          <p:nvPr/>
        </p:nvSpPr>
        <p:spPr>
          <a:xfrm>
            <a:off x="274320" y="1005840"/>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SCENARIO — </a:t>
            </a:r>
            <a:r>
              <a:rPr sz="2000" b="1" i="0">
                <a:solidFill>
                  <a:srgbClr val="5C4826"/>
                </a:solidFill>
              </a:rPr>
              <a:t>an agent is modifying an embedded controller.</a:t>
            </a:r>
          </a:p>
        </p:txBody>
      </p:sp>
      <p:sp>
        <p:nvSpPr>
          <p:cNvPr id="7" name="Rectangle 6"/>
          <p:cNvSpPr/>
          <p:nvPr/>
        </p:nvSpPr>
        <p:spPr>
          <a:xfrm>
            <a:off x="274320" y="192024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 xml:space="preserve">1  ·  </a:t>
            </a:r>
            <a:r>
              <a:rPr sz="1400" b="0" i="0">
                <a:solidFill>
                  <a:srgbClr val="5C4826"/>
                </a:solidFill>
              </a:rPr>
              <a:t>Preserve the external API.</a:t>
            </a:r>
          </a:p>
        </p:txBody>
      </p:sp>
      <p:sp>
        <p:nvSpPr>
          <p:cNvPr id="8" name="Rectangle 7"/>
          <p:cNvSpPr/>
          <p:nvPr/>
        </p:nvSpPr>
        <p:spPr>
          <a:xfrm>
            <a:off x="274320" y="274320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 xml:space="preserve">2  ·  </a:t>
            </a:r>
            <a:r>
              <a:rPr sz="1400" b="0" i="0">
                <a:solidFill>
                  <a:srgbClr val="5C4826"/>
                </a:solidFill>
              </a:rPr>
              <a:t>Worst-case memory below 64 MB.</a:t>
            </a:r>
          </a:p>
        </p:txBody>
      </p:sp>
      <p:sp>
        <p:nvSpPr>
          <p:cNvPr id="9" name="Rectangle 8"/>
          <p:cNvSpPr/>
          <p:nvPr/>
        </p:nvSpPr>
        <p:spPr>
          <a:xfrm>
            <a:off x="274320" y="356616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 xml:space="preserve">3  ·  </a:t>
            </a:r>
            <a:r>
              <a:rPr sz="1400" b="0" i="0">
                <a:solidFill>
                  <a:srgbClr val="5C4826"/>
                </a:solidFill>
              </a:rPr>
              <a:t>Avoid the forbidden dependency.</a:t>
            </a:r>
          </a:p>
        </p:txBody>
      </p:sp>
      <p:sp>
        <p:nvSpPr>
          <p:cNvPr id="10" name="Rectangle 9"/>
          <p:cNvSpPr/>
          <p:nvPr/>
        </p:nvSpPr>
        <p:spPr>
          <a:xfrm>
            <a:off x="274320" y="438912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 xml:space="preserve">4  ·  </a:t>
            </a:r>
            <a:r>
              <a:rPr sz="1400" b="0" i="0">
                <a:solidFill>
                  <a:srgbClr val="5C4826"/>
                </a:solidFill>
              </a:rPr>
              <a:t>Preserve the cycle ordering: Sensor.read → decide → Actuator.act.</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a:t>
            </a:r>
          </a:p>
        </p:txBody>
      </p:sp>
      <p:sp>
        <p:nvSpPr>
          <p:cNvPr id="13" name="GivenModel"/>
          <p:cNvSpPr/>
          <p:nvPr/>
        </p:nvSpPr>
        <p:spPr>
          <a:xfrm>
            <a:off x="4617720" y="1920240"/>
            <a:ext cx="4251960" cy="32186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l"/>
            <a:r>
              <a:rPr sz="1150" b="1" i="0">
                <a:solidFill>
                  <a:srgbClr val="8E6F3E"/>
                </a:solidFill>
              </a:rPr>
              <a:t>GIVEN MODEL</a:t>
            </a:r>
          </a:p>
          <a:p>
            <a:pPr algn="l"/>
            <a:r>
              <a:rPr sz="1200" b="0" i="0">
                <a:solidFill>
                  <a:srgbClr val="5C4826"/>
                </a:solidFill>
                <a:latin typeface="Consolas"/>
              </a:rPr>
              <a:t>Controller</a:t>
            </a:r>
          </a:p>
          <a:p>
            <a:pPr algn="l"/>
            <a:r>
              <a:rPr sz="1200" b="0" i="0">
                <a:solidFill>
                  <a:srgbClr val="5C4826"/>
                </a:solidFill>
                <a:latin typeface="Consolas"/>
              </a:rPr>
              <a:t xml:space="preserve"> ├─ API: IController</a:t>
            </a:r>
          </a:p>
          <a:p>
            <a:pPr algn="l"/>
            <a:r>
              <a:rPr sz="1200" b="0" i="0">
                <a:solidFill>
                  <a:srgbClr val="5C4826"/>
                </a:solidFill>
                <a:latin typeface="Consolas"/>
              </a:rPr>
              <a:t xml:space="preserve"> ├─ uses → Sensor</a:t>
            </a:r>
          </a:p>
          <a:p>
            <a:pPr algn="l"/>
            <a:r>
              <a:rPr sz="1200" b="0" i="0">
                <a:solidFill>
                  <a:srgbClr val="5C4826"/>
                </a:solidFill>
                <a:latin typeface="Consolas"/>
              </a:rPr>
              <a:t xml:space="preserve"> ├─ uses → Actuator</a:t>
            </a:r>
          </a:p>
          <a:p>
            <a:pPr algn="l"/>
            <a:r>
              <a:rPr sz="1200" b="0" i="0">
                <a:solidFill>
                  <a:srgbClr val="5C4826"/>
                </a:solidFill>
                <a:latin typeface="Consolas"/>
              </a:rPr>
              <a:t xml:space="preserve"> ├─ forbidden → CloudSDK</a:t>
            </a:r>
          </a:p>
          <a:p>
            <a:pPr algn="l"/>
            <a:r>
              <a:rPr sz="1200" b="0" i="0">
                <a:solidFill>
                  <a:srgbClr val="5C4826"/>
                </a:solidFill>
                <a:latin typeface="Consolas"/>
              </a:rPr>
              <a:t xml:space="preserve"> └─ memory ≤ 64 MB</a:t>
            </a:r>
          </a:p>
          <a:p>
            <a:pPr algn="l"/>
            <a:r>
              <a:rPr sz="1050" b="0" i="1">
                <a:solidFill>
                  <a:srgbClr val="555960"/>
                </a:solidFill>
              </a:rPr>
              <a:t>each cycle: Sensor.read → decide → Actuator.act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For each obligation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5"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Be ready to defend your boundary and authority choices.</a:t>
            </a:r>
          </a:p>
        </p:txBody>
      </p:sp>
      <p:graphicFrame>
        <p:nvGraphicFramePr>
          <p:cNvPr id="16" name="DesignSequence"/>
          <p:cNvGraphicFramePr>
            <a:graphicFrameLocks noGrp="1"/>
          </p:cNvGraphicFramePr>
          <p:nvPr/>
        </p:nvGraphicFramePr>
        <p:xfrm>
          <a:off x="1097280" y="914400"/>
          <a:ext cx="6949440" cy="4480560"/>
        </p:xfrm>
        <a:graphic>
          <a:graphicData uri="http://schemas.openxmlformats.org/drawingml/2006/table">
            <a:tbl>
              <a:tblPr>
                <a:tableStyleId>{5C22544A-7EE6-4342-B048-85BDC9FD1C3A}</a:tableStyleId>
              </a:tblPr>
              <a:tblGrid>
                <a:gridCol w="2011680"/>
                <a:gridCol w="4937760"/>
              </a:tblGrid>
              <a:tr h="640080">
                <a:tc>
                  <a:txBody>
                    <a:bodyPr wrap="square" anchor="ctr"/>
                    <a:lstStyle/>
                    <a:p>
                      <a:pPr algn="ctr"/>
                      <a:r>
                        <a:rPr sz="1600" b="1" i="0">
                          <a:solidFill>
                            <a:srgbClr val="FFFFFF"/>
                          </a:solidFill>
                        </a:rPr>
                        <a:t>FAILURE</a:t>
                      </a:r>
                    </a:p>
                  </a:txBody>
                  <a:tcPr anchor="ctr" marL="68580" marR="45720" marT="27432" marB="27432">
                    <a:solidFill>
                      <a:srgbClr val="8E6F3E"/>
                    </a:solidFill>
                  </a:tcPr>
                </a:tc>
                <a:tc>
                  <a:txBody>
                    <a:bodyPr wrap="square" anchor="ctr"/>
                    <a:lstStyle/>
                    <a:p>
                      <a:pPr algn="l"/>
                      <a:r>
                        <a:rPr sz="1600" b="0" i="0">
                          <a:solidFill>
                            <a:srgbClr val="5C4826"/>
                          </a:solidFill>
                        </a:rPr>
                        <a:t>What can go wrong?</a:t>
                      </a:r>
                    </a:p>
                  </a:txBody>
                  <a:tcPr anchor="ctr" marL="68580" marR="45720" marT="27432" marB="27432">
                    <a:solidFill>
                      <a:srgbClr val="F5F1E8"/>
                    </a:solidFill>
                  </a:tcPr>
                </a:tc>
              </a:tr>
              <a:tr h="640080">
                <a:tc>
                  <a:txBody>
                    <a:bodyPr wrap="square" anchor="ctr"/>
                    <a:lstStyle/>
                    <a:p>
                      <a:pPr algn="ctr"/>
                      <a:r>
                        <a:rPr sz="1600" b="1" i="0">
                          <a:solidFill>
                            <a:srgbClr val="FFFFFF"/>
                          </a:solidFill>
                        </a:rPr>
                        <a:t>OBLIGATION</a:t>
                      </a:r>
                    </a:p>
                  </a:txBody>
                  <a:tcPr anchor="ctr" marL="68580" marR="45720" marT="27432" marB="27432">
                    <a:solidFill>
                      <a:srgbClr val="8E6F3E"/>
                    </a:solidFill>
                  </a:tcPr>
                </a:tc>
                <a:tc>
                  <a:txBody>
                    <a:bodyPr wrap="square" anchor="ctr"/>
                    <a:lstStyle/>
                    <a:p>
                      <a:pPr algn="l"/>
                      <a:r>
                        <a:rPr sz="1600" b="0" i="0">
                          <a:solidFill>
                            <a:srgbClr val="5C4826"/>
                          </a:solidFill>
                        </a:rPr>
                        <a:t>What must be true?</a:t>
                      </a:r>
                    </a:p>
                  </a:txBody>
                  <a:tcPr anchor="ctr" marL="68580" marR="45720" marT="27432" marB="27432">
                    <a:solidFill>
                      <a:srgbClr val="FBF8F2"/>
                    </a:solidFill>
                  </a:tcPr>
                </a:tc>
              </a:tr>
              <a:tr h="640080">
                <a:tc>
                  <a:txBody>
                    <a:bodyPr wrap="square" anchor="ctr"/>
                    <a:lstStyle/>
                    <a:p>
                      <a:pPr algn="ctr"/>
                      <a:r>
                        <a:rPr sz="1600" b="1" i="0">
                          <a:solidFill>
                            <a:srgbClr val="FFFFFF"/>
                          </a:solidFill>
                        </a:rPr>
                        <a:t>CONTROL</a:t>
                      </a:r>
                    </a:p>
                  </a:txBody>
                  <a:tcPr anchor="ctr" marL="68580" marR="45720" marT="27432" marB="27432">
                    <a:solidFill>
                      <a:srgbClr val="8E6F3E"/>
                    </a:solidFill>
                  </a:tcPr>
                </a:tc>
                <a:tc>
                  <a:txBody>
                    <a:bodyPr wrap="square" anchor="ctr"/>
                    <a:lstStyle/>
                    <a:p>
                      <a:pPr algn="l"/>
                      <a:r>
                        <a:rPr sz="1600" b="0" i="0">
                          <a:solidFill>
                            <a:srgbClr val="5C4826"/>
                          </a:solidFill>
                        </a:rPr>
                        <a:t>Can we prevent it, or must we detect it?</a:t>
                      </a:r>
                    </a:p>
                  </a:txBody>
                  <a:tcPr anchor="ctr" marL="68580" marR="45720" marT="27432" marB="27432">
                    <a:solidFill>
                      <a:srgbClr val="F5F1E8"/>
                    </a:solidFill>
                  </a:tcPr>
                </a:tc>
              </a:tr>
              <a:tr h="640080">
                <a:tc>
                  <a:txBody>
                    <a:bodyPr wrap="square" anchor="ctr"/>
                    <a:lstStyle/>
                    <a:p>
                      <a:pPr algn="ctr"/>
                      <a:r>
                        <a:rPr sz="1600" b="1" i="0">
                          <a:solidFill>
                            <a:srgbClr val="FFFFFF"/>
                          </a:solidFill>
                        </a:rPr>
                        <a:t>EVIDENCE</a:t>
                      </a:r>
                    </a:p>
                  </a:txBody>
                  <a:tcPr anchor="ctr" marL="68580" marR="45720" marT="27432" marB="27432">
                    <a:solidFill>
                      <a:srgbClr val="8E6F3E"/>
                    </a:solidFill>
                  </a:tcPr>
                </a:tc>
                <a:tc>
                  <a:txBody>
                    <a:bodyPr wrap="square" anchor="ctr"/>
                    <a:lstStyle/>
                    <a:p>
                      <a:pPr algn="l"/>
                      <a:r>
                        <a:rPr sz="1600" b="0" i="0">
                          <a:solidFill>
                            <a:srgbClr val="5C4826"/>
                          </a:solidFill>
                        </a:rPr>
                        <a:t>What observation could establish it?</a:t>
                      </a:r>
                    </a:p>
                  </a:txBody>
                  <a:tcPr anchor="ctr" marL="68580" marR="45720" marT="27432" marB="27432">
                    <a:solidFill>
                      <a:srgbClr val="FBF8F2"/>
                    </a:solidFill>
                  </a:tcPr>
                </a:tc>
              </a:tr>
              <a:tr h="640080">
                <a:tc>
                  <a:txBody>
                    <a:bodyPr wrap="square" anchor="ctr"/>
                    <a:lstStyle/>
                    <a:p>
                      <a:pPr algn="ctr"/>
                      <a:r>
                        <a:rPr sz="1600" b="1" i="0">
                          <a:solidFill>
                            <a:srgbClr val="FFFFFF"/>
                          </a:solidFill>
                        </a:rPr>
                        <a:t>BOUNDARY</a:t>
                      </a:r>
                    </a:p>
                  </a:txBody>
                  <a:tcPr anchor="ctr" marL="68580" marR="45720" marT="27432" marB="27432">
                    <a:solidFill>
                      <a:srgbClr val="8E6F3E"/>
                    </a:solidFill>
                  </a:tcPr>
                </a:tc>
                <a:tc>
                  <a:txBody>
                    <a:bodyPr wrap="square" anchor="ctr"/>
                    <a:lstStyle/>
                    <a:p>
                      <a:pPr algn="l"/>
                      <a:r>
                        <a:rPr sz="1600" b="0" i="0">
                          <a:solidFill>
                            <a:srgbClr val="5C4826"/>
                          </a:solidFill>
                        </a:rPr>
                        <a:t>Where does enough information exist?</a:t>
                      </a:r>
                    </a:p>
                  </a:txBody>
                  <a:tcPr anchor="ctr" marL="68580" marR="45720" marT="27432" marB="27432">
                    <a:solidFill>
                      <a:srgbClr val="F5F1E8"/>
                    </a:solidFill>
                  </a:tcPr>
                </a:tc>
              </a:tr>
              <a:tr h="640080">
                <a:tc>
                  <a:txBody>
                    <a:bodyPr wrap="square" anchor="ctr"/>
                    <a:lstStyle/>
                    <a:p>
                      <a:pPr algn="ctr"/>
                      <a:r>
                        <a:rPr sz="1600" b="1" i="0">
                          <a:solidFill>
                            <a:srgbClr val="FFFFFF"/>
                          </a:solidFill>
                        </a:rPr>
                        <a:t>MECHANISM</a:t>
                      </a:r>
                    </a:p>
                  </a:txBody>
                  <a:tcPr anchor="ctr" marL="68580" marR="45720" marT="27432" marB="27432">
                    <a:solidFill>
                      <a:srgbClr val="8E6F3E"/>
                    </a:solidFill>
                  </a:tcPr>
                </a:tc>
                <a:tc>
                  <a:txBody>
                    <a:bodyPr wrap="square" anchor="ctr"/>
                    <a:lstStyle/>
                    <a:p>
                      <a:pPr algn="l"/>
                      <a:r>
                        <a:rPr sz="1600" b="0" i="0">
                          <a:solidFill>
                            <a:srgbClr val="5C4826"/>
                          </a:solidFill>
                        </a:rPr>
                        <a:t>Constraint · sensor · validator · gate</a:t>
                      </a:r>
                    </a:p>
                  </a:txBody>
                  <a:tcPr anchor="ctr" marL="68580" marR="45720" marT="27432" marB="27432">
                    <a:solidFill>
                      <a:srgbClr val="FBF8F2"/>
                    </a:solidFill>
                  </a:tcPr>
                </a:tc>
              </a:tr>
              <a:tr h="640080">
                <a:tc>
                  <a:txBody>
                    <a:bodyPr wrap="square" anchor="ctr"/>
                    <a:lstStyle/>
                    <a:p>
                      <a:pPr algn="ctr"/>
                      <a:r>
                        <a:rPr sz="1600" b="1" i="0">
                          <a:solidFill>
                            <a:srgbClr val="FFFFFF"/>
                          </a:solidFill>
                        </a:rPr>
                        <a:t>AUTHORITY</a:t>
                      </a:r>
                    </a:p>
                  </a:txBody>
                  <a:tcPr anchor="ctr" marL="68580" marR="45720" marT="27432" marB="27432">
                    <a:solidFill>
                      <a:srgbClr val="8E6F3E"/>
                    </a:solidFill>
                  </a:tcPr>
                </a:tc>
                <a:tc>
                  <a:txBody>
                    <a:bodyPr wrap="square" anchor="ctr"/>
                    <a:lstStyle/>
                    <a:p>
                      <a:pPr algn="l"/>
                      <a:r>
                        <a:rPr sz="1600" b="0" i="0">
                          <a:solidFill>
                            <a:srgbClr val="5C4826"/>
                          </a:solidFill>
                        </a:rPr>
                        <a:t>What happens if it fails?</a:t>
                      </a:r>
                    </a:p>
                  </a:txBody>
                  <a:tcPr anchor="ctr" marL="68580" marR="45720" marT="27432" marB="27432">
                    <a:solidFill>
                      <a:srgbClr val="F5F1E8"/>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Same obligation, different boundary</a:t>
            </a:r>
          </a:p>
          <a:p>
            <a:pPr algn="l"/>
            <a:r>
              <a:rPr sz="17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Constraint vs. evidence</a:t>
            </a:r>
          </a:p>
          <a:p>
            <a:pPr algn="l"/>
            <a:r>
              <a:rPr sz="1700" b="0" i="0">
                <a:solidFill>
                  <a:srgbClr val="5C4826"/>
                </a:solidFill>
              </a:rPr>
              <a:t>Can the failure be prevented, or must it be observed and evaluated?</a:t>
            </a:r>
          </a:p>
        </p:txBody>
      </p:sp>
      <p:sp>
        <p:nvSpPr>
          <p:cNvPr id="12" name="Compare3"/>
          <p:cNvSpPr/>
          <p:nvPr/>
        </p:nvSpPr>
        <p:spPr>
          <a:xfrm>
            <a:off x="502920" y="2880360"/>
            <a:ext cx="8138160" cy="9326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Different authority</a:t>
            </a:r>
          </a:p>
          <a:p>
            <a:pPr algn="l"/>
            <a:r>
              <a:rPr sz="1700" b="0" i="0">
                <a:solidFill>
                  <a:srgbClr val="5C4826"/>
                </a:solidFill>
              </a:rPr>
              <a:t>Should this failure block the commit, the PR, the merge, the deployment — or merely produce evidence?</a:t>
            </a:r>
          </a:p>
        </p:txBody>
      </p:sp>
      <p:sp>
        <p:nvSpPr>
          <p:cNvPr id="13" name="Compare4"/>
          <p:cNvSpPr/>
          <p:nvPr/>
        </p:nvSpPr>
        <p:spPr>
          <a:xfrm>
            <a:off x="502920" y="39776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Model vs. reconstruction</a:t>
            </a:r>
          </a:p>
          <a:p>
            <a:pPr algn="l"/>
            <a:r>
              <a:rPr sz="1700" b="0" i="0">
                <a:solidFill>
                  <a:srgbClr val="5C4826"/>
                </a:solidFill>
              </a:rPr>
              <a:t>What becomes easier if the relevant knowledge is explicit?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MODELING</a:t>
            </a:r>
          </a:p>
        </p:txBody>
      </p:sp>
      <p:sp>
        <p:nvSpPr>
          <p:cNvPr id="6" name="TextBox 5"/>
          <p:cNvSpPr txBox="1"/>
          <p:nvPr/>
        </p:nvSpPr>
        <p:spPr>
          <a:xfrm>
            <a:off x="3108960" y="1033272"/>
            <a:ext cx="5715000" cy="868680"/>
          </a:xfrm>
          <a:prstGeom prst="rect">
            <a:avLst/>
          </a:prstGeom>
          <a:noFill/>
        </p:spPr>
        <p:txBody>
          <a:bodyPr wrap="square" anchor="ctr">
            <a:spAutoFit/>
          </a:bodyPr>
          <a:lstStyle/>
          <a:p>
            <a:pPr algn="l"/>
            <a:r>
              <a:rPr sz="1800" b="0" i="0">
                <a:solidFill>
                  <a:srgbClr val="5C4826"/>
                </a:solidFill>
              </a:rPr>
              <a:t>make consequential engineering knowledge explicit while leaving irrelevant choices free</a:t>
            </a:r>
          </a:p>
        </p:txBody>
      </p:sp>
      <p:sp>
        <p:nvSpPr>
          <p:cNvPr id="7" name="Rectangle 6"/>
          <p:cNvSpPr/>
          <p:nvPr/>
        </p:nvSpPr>
        <p:spPr>
          <a:xfrm>
            <a:off x="640080" y="196596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ALIGNMENT</a:t>
            </a:r>
          </a:p>
        </p:txBody>
      </p:sp>
      <p:sp>
        <p:nvSpPr>
          <p:cNvPr id="8" name="TextBox 7"/>
          <p:cNvSpPr txBox="1"/>
          <p:nvPr/>
        </p:nvSpPr>
        <p:spPr>
          <a:xfrm>
            <a:off x="3108960" y="1993392"/>
            <a:ext cx="5715000" cy="868680"/>
          </a:xfrm>
          <a:prstGeom prst="rect">
            <a:avLst/>
          </a:prstGeom>
          <a:noFill/>
        </p:spPr>
        <p:txBody>
          <a:bodyPr wrap="square" anchor="ctr">
            <a:spAutoFit/>
          </a:bodyPr>
          <a:lstStyle/>
          <a:p>
            <a:pPr algn="l"/>
            <a:r>
              <a:rPr sz="1800" b="0" i="0">
                <a:solidFill>
                  <a:srgbClr val="5C4826"/>
                </a:solidFill>
              </a:rPr>
              <a:t>decide which obligations have consequences in the engineered environment</a:t>
            </a:r>
          </a:p>
        </p:txBody>
      </p:sp>
      <p:sp>
        <p:nvSpPr>
          <p:cNvPr id="9" name="Rectangle 8"/>
          <p:cNvSpPr/>
          <p:nvPr/>
        </p:nvSpPr>
        <p:spPr>
          <a:xfrm>
            <a:off x="640080" y="3063240"/>
            <a:ext cx="8183879" cy="23317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1800" b="1" i="0">
                <a:solidFill>
                  <a:srgbClr val="8E6F3E"/>
                </a:solidFill>
              </a:rPr>
              <a:t>THE REUSABLE QUESTIONS</a:t>
            </a:r>
          </a:p>
          <a:p>
            <a:pPr algn="l">
              <a:spcBef>
                <a:spcPts val="600"/>
              </a:spcBef>
            </a:pPr>
            <a:r>
              <a:rPr sz="1800" b="1" i="0">
                <a:solidFill>
                  <a:srgbClr val="5C4826"/>
                </a:solidFill>
              </a:rPr>
              <a:t>How can the delegated work fail?</a:t>
            </a:r>
          </a:p>
          <a:p>
            <a:pPr algn="l">
              <a:spcBef>
                <a:spcPts val="600"/>
              </a:spcBef>
            </a:pPr>
            <a:r>
              <a:rPr sz="1800" b="0" i="0">
                <a:solidFill>
                  <a:srgbClr val="5C4826"/>
                </a:solidFill>
              </a:rPr>
              <a:t>What must be true?</a:t>
            </a:r>
          </a:p>
          <a:p>
            <a:pPr algn="l"/>
            <a:r>
              <a:rPr sz="1800" b="0" i="0">
                <a:solidFill>
                  <a:srgbClr val="5C4826"/>
                </a:solidFill>
              </a:rPr>
              <a:t>What evidence bears on it?</a:t>
            </a:r>
          </a:p>
          <a:p>
            <a:pPr algn="l"/>
            <a:r>
              <a:rPr sz="1800" b="0" i="0">
                <a:solidFill>
                  <a:srgbClr val="5C4826"/>
                </a:solidFill>
              </a:rPr>
              <a:t>Where can it be decided?</a:t>
            </a:r>
          </a:p>
          <a:p>
            <a:pPr algn="l"/>
            <a:r>
              <a:rPr sz="1800" b="0" i="0">
                <a:solidFill>
                  <a:srgbClr val="5C4826"/>
                </a:solidFill>
              </a:rPr>
              <a:t>How will it be evaluated?</a:t>
            </a:r>
          </a:p>
          <a:p>
            <a:pPr algn="l"/>
            <a:r>
              <a:rPr sz="1800" b="0" i="0">
                <a:solidFill>
                  <a:srgbClr val="5C4826"/>
                </a:solidFill>
              </a:rPr>
              <a:t>Should failure control what happens next?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a:t>Either bound can be violated</a:t>
            </a:r>
          </a:p>
        </p:txBody>
      </p:sp>
      <p:sp>
        <p:nvSpPr>
          <p:cNvPr id="0" name="TaxHead-result"/>
          <p:cNvSpPr/>
          <p:nvPr/>
        </p:nvSpPr>
        <p:spPr>
          <a:xfrm>
            <a:off x="2286000" y="1005840"/>
            <a:ext cx="320040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TaxHead-process"/>
          <p:cNvSpPr/>
          <p:nvPr/>
        </p:nvSpPr>
        <p:spPr>
          <a:xfrm>
            <a:off x="5577840" y="1005840"/>
            <a:ext cx="329184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TaxLbl-QUESTI"/>
          <p:cNvSpPr/>
          <p:nvPr/>
        </p:nvSpPr>
        <p:spPr>
          <a:xfrm>
            <a:off x="274320" y="173736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QUESTION</a:t>
            </a:r>
          </a:p>
        </p:txBody>
      </p:sp>
      <p:sp>
        <p:nvSpPr>
          <p:cNvPr id="0" name="TaxC1-QUESTI"/>
          <p:cNvSpPr/>
          <p:nvPr/>
        </p:nvSpPr>
        <p:spPr>
          <a:xfrm>
            <a:off x="2286000" y="173736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Did the artifact satisfy its obligations?</a:t>
            </a:r>
          </a:p>
        </p:txBody>
      </p:sp>
      <p:sp>
        <p:nvSpPr>
          <p:cNvPr id="0" name="TaxC2-QUESTI"/>
          <p:cNvSpPr/>
          <p:nvPr/>
        </p:nvSpPr>
        <p:spPr>
          <a:xfrm>
            <a:off x="5577840" y="173736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Was the work performed within the delegated process?</a:t>
            </a:r>
          </a:p>
        </p:txBody>
      </p:sp>
      <p:sp>
        <p:nvSpPr>
          <p:cNvPr id="0" name="TaxLbl-EXAMPL"/>
          <p:cNvSpPr/>
          <p:nvPr/>
        </p:nvSpPr>
        <p:spPr>
          <a:xfrm>
            <a:off x="274320" y="292608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EXAMPLE</a:t>
            </a:r>
          </a:p>
        </p:txBody>
      </p:sp>
      <p:sp>
        <p:nvSpPr>
          <p:cNvPr id="0" name="TaxC1-EXAMPL"/>
          <p:cNvSpPr/>
          <p:nvPr/>
        </p:nvSpPr>
        <p:spPr>
          <a:xfrm>
            <a:off x="2286000" y="292608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Existing API behavior changes</a:t>
            </a:r>
          </a:p>
        </p:txBody>
      </p:sp>
      <p:sp>
        <p:nvSpPr>
          <p:cNvPr id="0" name="TaxC2-EXAMPL"/>
          <p:cNvSpPr/>
          <p:nvPr/>
        </p:nvSpPr>
        <p:spPr>
          <a:xfrm>
            <a:off x="5577840" y="292608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Agent modifies a forbidden dependency</a:t>
            </a:r>
          </a:p>
        </p:txBody>
      </p:sp>
      <p:sp>
        <p:nvSpPr>
          <p:cNvPr id="0" name="TaxLbl-VALIDA"/>
          <p:cNvSpPr/>
          <p:nvPr/>
        </p:nvSpPr>
        <p:spPr>
          <a:xfrm>
            <a:off x="274320" y="411480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VALIDATION TARGET</a:t>
            </a:r>
          </a:p>
        </p:txBody>
      </p:sp>
      <p:sp>
        <p:nvSpPr>
          <p:cNvPr id="0" name="TaxC1-VALIDA"/>
          <p:cNvSpPr/>
          <p:nvPr/>
        </p:nvSpPr>
        <p:spPr>
          <a:xfrm>
            <a:off x="2286000" y="411480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Artifact / system state</a:t>
            </a:r>
          </a:p>
        </p:txBody>
      </p:sp>
      <p:sp>
        <p:nvSpPr>
          <p:cNvPr id="0" name="TaxC2-VALIDA"/>
          <p:cNvSpPr/>
          <p:nvPr/>
        </p:nvSpPr>
        <p:spPr>
          <a:xfrm>
            <a:off x="5577840" y="411480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Actions / evidence / authority</a:t>
            </a:r>
          </a:p>
        </p:txBody>
      </p:sp>
      <p:sp>
        <p:nvSpPr>
          <p:cNvPr id="0"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correct result does not imply an acceptable process.</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