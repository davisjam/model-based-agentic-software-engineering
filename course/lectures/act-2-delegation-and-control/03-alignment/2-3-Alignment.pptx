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26"/>
    <p:sldId id="309" r:id="rId27"/>
    <p:sldId id="312" r:id="rId28"/>
    <p:sldId id="281" r:id="rId29"/>
    <p:sldId id="310" r:id="rId30"/>
    <p:sldId id="274" r:id="rId31"/>
    <p:sldId id="276" r:id="rId32"/>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86" autoAdjust="0"/>
    <p:restoredTop sz="56164"/>
  </p:normalViewPr>
  <p:slideViewPr>
    <p:cSldViewPr snapToGrid="0" snapToObjects="1">
      <p:cViewPr>
        <p:scale>
          <a:sx n="73" d="100"/>
          <a:sy n="73" d="100"/>
        </p:scale>
        <p:origin x="2728" y="-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Name the gap in the lecture explicitly. So far this lecture has mostly discussed passive alignment, because controls are easiest to explain as checks on proposed work. But alignment is not merely rejection. If an existing realization violates a newly explicit obligation, the environment can expose the disagreement and use agents or other engineering work to change the realization until correspondence is established. After that succeeds, the same obligation can be preserved passively.</a:t>
            </a:r>
          </a:p>
          <a:p>
            <a:r>
              <a:t>Brownfield engineering: this is how a model acquires authority over a system that predates the model — one of the most practically important consequences of the active/passive distinction. And active alignment is not necessarily behavior preserving: satisfying a new model may require substantial changes to the realization, so do not assume it is just a refactor.</a:t>
            </a:r>
          </a:p>
          <a:p>
            <a:r>
              <a:t>Bridge forward to Failure-Aware Engineering, the next unit: a failure reveals something that should become explicit; you model the lesson; active alignment repairs the existing realization to satisfy it; passive alignment prevents later work from silently undoing it. Active alignment produces durable engineering structure — failure analysis tells us what the new evidence justifies changing; active alignment explains how a newly discovered obligation can be imposed on an already-existing realization.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relied on different evidence, ask whether the obligation can be decided from the realization itself — statically — or only from observed execution.</a:t>
            </a:r>
          </a:p>
          <a:p>
            <a:r>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19" y="550926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Quick Chat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154680" y="4775517"/>
            <a:ext cx="3017520" cy="47000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Is there any declared correspondence between the model and its realization?</a:t>
            </a:r>
          </a:p>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p:txBody>
      </p:sp>
      <p:sp>
        <p:nvSpPr>
          <p:cNvPr id="14" name="FooterBand"/>
          <p:cNvSpPr/>
          <p:nvPr/>
        </p:nvSpPr>
        <p:spPr>
          <a:xfrm>
            <a:off x="274320" y="562356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show correspondence w/o executing the implementation.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i="1" dirty="0">
                <a:solidFill>
                  <a:srgbClr val="000000"/>
                </a:solidFill>
              </a:rPr>
              <a:t>Active </a:t>
            </a:r>
            <a:r>
              <a:rPr lang="en-US" sz="2400" dirty="0">
                <a:solidFill>
                  <a:srgbClr val="000000"/>
                </a:solidFill>
              </a:rPr>
              <a:t>a</a:t>
            </a:r>
            <a:r>
              <a:rPr sz="2400" b="0" dirty="0">
                <a:solidFill>
                  <a:srgbClr val="000000"/>
                </a:solidFill>
              </a:rPr>
              <a:t>lignment can </a:t>
            </a:r>
            <a:r>
              <a:rPr lang="en-US" sz="2400" b="0" dirty="0">
                <a:solidFill>
                  <a:srgbClr val="000000"/>
                </a:solidFill>
              </a:rPr>
              <a:t>be used to </a:t>
            </a:r>
            <a:r>
              <a:rPr sz="2400" b="0" dirty="0">
                <a:solidFill>
                  <a:srgbClr val="000000"/>
                </a:solidFill>
              </a:rPr>
              <a:t>change the realization</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pic>
        <p:nvPicPr>
          <p:cNvPr id="5" name="Fig-ActiveAlignment" descr="active-passive-alignment-deck.png"/>
          <p:cNvPicPr>
            <a:picLocks noChangeAspect="1"/>
          </p:cNvPicPr>
          <p:nvPr/>
        </p:nvPicPr>
        <p:blipFill>
          <a:blip r:embed="rId3"/>
          <a:stretch>
            <a:fillRect/>
          </a:stretch>
        </p:blipFill>
        <p:spPr>
          <a:xfrm>
            <a:off x="384048" y="914400"/>
            <a:ext cx="3911600" cy="4526280"/>
          </a:xfrm>
          <a:prstGeom prst="rect">
            <a:avLst/>
          </a:prstGeom>
        </p:spPr>
      </p:pic>
      <p:graphicFrame>
        <p:nvGraphicFramePr>
          <p:cNvPr id="6" name="ActivePassiveCompare"/>
          <p:cNvGraphicFramePr>
            <a:graphicFrameLocks noGrp="1"/>
          </p:cNvGraphicFramePr>
          <p:nvPr/>
        </p:nvGraphicFramePr>
        <p:xfrm>
          <a:off x="4663440" y="1874519"/>
          <a:ext cx="4023360" cy="2423160"/>
        </p:xfrm>
        <a:graphic>
          <a:graphicData uri="http://schemas.openxmlformats.org/drawingml/2006/table">
            <a:tbl>
              <a:tblPr>
                <a:tableStyleId>{2D5ABB26-0587-4C30-8999-92F81FD0307C}</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502920">
                <a:tc>
                  <a:txBody>
                    <a:bodyPr/>
                    <a:lstStyle/>
                    <a:p>
                      <a:pPr algn="ctr"/>
                      <a:r>
                        <a:rPr sz="2000" b="1" i="0" dirty="0">
                          <a:solidFill>
                            <a:srgbClr val="FFFFFF"/>
                          </a:solidFill>
                        </a:rPr>
                        <a:t>ACTIVE</a:t>
                      </a:r>
                    </a:p>
                  </a:txBody>
                  <a:tcPr marL="54864" marR="54864" marT="36576" marB="36576" anchor="ctr">
                    <a:solidFill>
                      <a:srgbClr val="8E6F3E"/>
                    </a:solidFill>
                  </a:tcPr>
                </a:tc>
                <a:tc>
                  <a:txBody>
                    <a:bodyPr/>
                    <a:lstStyle/>
                    <a:p>
                      <a:pPr algn="ctr"/>
                      <a:r>
                        <a:rPr sz="2000" b="1" i="0">
                          <a:solidFill>
                            <a:srgbClr val="FFFFFF"/>
                          </a:solidFill>
                        </a:rPr>
                        <a:t>PASSIVE</a:t>
                      </a:r>
                    </a:p>
                  </a:txBody>
                  <a:tcPr marL="54864" marR="54864" marT="36576" marB="36576" anchor="ctr">
                    <a:solidFill>
                      <a:srgbClr val="8E6F3E"/>
                    </a:solidFill>
                  </a:tcPr>
                </a:tc>
                <a:extLst>
                  <a:ext uri="{0D108BD9-81ED-4DB2-BD59-A6C34878D82A}">
                    <a16:rowId xmlns:a16="http://schemas.microsoft.com/office/drawing/2014/main" val="10000"/>
                  </a:ext>
                </a:extLst>
              </a:tr>
              <a:tr h="960120">
                <a:tc>
                  <a:txBody>
                    <a:bodyPr/>
                    <a:lstStyle/>
                    <a:p>
                      <a:pPr algn="ctr"/>
                      <a:r>
                        <a:rPr sz="2000" b="0" i="1">
                          <a:solidFill>
                            <a:srgbClr val="5C4826"/>
                          </a:solidFill>
                        </a:rPr>
                        <a:t>establish correspondence</a:t>
                      </a:r>
                    </a:p>
                  </a:txBody>
                  <a:tcPr marL="54864" marR="54864" marT="36576" marB="36576" anchor="ctr">
                    <a:solidFill>
                      <a:srgbClr val="F5F1E8"/>
                    </a:solidFill>
                  </a:tcPr>
                </a:tc>
                <a:tc>
                  <a:txBody>
                    <a:bodyPr/>
                    <a:lstStyle/>
                    <a:p>
                      <a:pPr algn="ctr"/>
                      <a:r>
                        <a:rPr sz="2000" b="0" i="1">
                          <a:solidFill>
                            <a:srgbClr val="5C4826"/>
                          </a:solidFill>
                        </a:rPr>
                        <a:t>preserve correspondence</a:t>
                      </a:r>
                    </a:p>
                  </a:txBody>
                  <a:tcPr marL="54864" marR="54864" marT="36576" marB="36576" anchor="ctr">
                    <a:solidFill>
                      <a:srgbClr val="F5F1E8"/>
                    </a:solidFill>
                  </a:tcPr>
                </a:tc>
                <a:extLst>
                  <a:ext uri="{0D108BD9-81ED-4DB2-BD59-A6C34878D82A}">
                    <a16:rowId xmlns:a16="http://schemas.microsoft.com/office/drawing/2014/main" val="10001"/>
                  </a:ext>
                </a:extLst>
              </a:tr>
              <a:tr h="960120">
                <a:tc>
                  <a:txBody>
                    <a:bodyPr/>
                    <a:lstStyle/>
                    <a:p>
                      <a:pPr algn="ctr"/>
                      <a:r>
                        <a:rPr sz="2000" b="0" i="0">
                          <a:solidFill>
                            <a:srgbClr val="5C4826"/>
                          </a:solidFill>
                        </a:rPr>
                        <a:t>S → S′ until M agrees</a:t>
                      </a:r>
                    </a:p>
                  </a:txBody>
                  <a:tcPr marL="54864" marR="54864" marT="36576" marB="36576" anchor="ctr">
                    <a:solidFill>
                      <a:srgbClr val="F5F1E8"/>
                    </a:solidFill>
                  </a:tcPr>
                </a:tc>
                <a:tc>
                  <a:txBody>
                    <a:bodyPr/>
                    <a:lstStyle/>
                    <a:p>
                      <a:pPr algn="ctr"/>
                      <a:r>
                        <a:rPr sz="2000" b="0" i="0">
                          <a:solidFill>
                            <a:srgbClr val="5C4826"/>
                          </a:solidFill>
                        </a:rPr>
                        <a:t>ΔS → check → admit/reject</a:t>
                      </a:r>
                    </a:p>
                  </a:txBody>
                  <a:tcPr marL="54864" marR="54864" marT="36576" marB="36576" anchor="ctr">
                    <a:solidFill>
                      <a:srgbClr val="F5F1E8"/>
                    </a:solidFill>
                  </a:tcPr>
                </a:tc>
                <a:extLst>
                  <a:ext uri="{0D108BD9-81ED-4DB2-BD59-A6C34878D82A}">
                    <a16:rowId xmlns:a16="http://schemas.microsoft.com/office/drawing/2014/main" val="10002"/>
                  </a:ext>
                </a:extLst>
              </a:tr>
            </a:tbl>
          </a:graphicData>
        </a:graphic>
      </p:graphicFrame>
      <p:sp>
        <p:nvSpPr>
          <p:cNvPr id="7" name="FooterBand"/>
          <p:cNvSpPr/>
          <p:nvPr/>
        </p:nvSpPr>
        <p:spPr>
          <a:xfrm>
            <a:off x="274320" y="557784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a:solidFill>
                  <a:srgbClr val="FFFFFF"/>
                </a:solidFill>
              </a:rPr>
              <a:t>A model can govern an existing system by first becoming a target for change, then a constraint on later change.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dirty="0">
                <a:solidFill>
                  <a:srgbClr val="000000"/>
                </a:solidFill>
              </a:rPr>
              <a:t>Alignment helps us answer just one of three questions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3232" y="1076643"/>
            <a:ext cx="2395728" cy="461665"/>
          </a:xfrm>
          <a:prstGeom prst="rect">
            <a:avLst/>
          </a:prstGeom>
          <a:noFill/>
        </p:spPr>
        <p:txBody>
          <a:bodyPr wrap="square" anchor="t">
            <a:spAutoFit/>
          </a:bodyPr>
          <a:lstStyle/>
          <a:p>
            <a:pPr algn="l"/>
            <a:r>
              <a:rPr sz="2400" b="0" i="1" dirty="0">
                <a:solidFill>
                  <a:srgbClr val="555960"/>
                </a:solidFill>
              </a:rPr>
              <a:t>captures?</a:t>
            </a:r>
          </a:p>
        </p:txBody>
      </p:sp>
      <p:sp>
        <p:nvSpPr>
          <p:cNvPr id="14" name="TextBox 13"/>
          <p:cNvSpPr txBox="1"/>
          <p:nvPr/>
        </p:nvSpPr>
        <p:spPr>
          <a:xfrm>
            <a:off x="6119622" y="1072187"/>
            <a:ext cx="2395728" cy="461665"/>
          </a:xfrm>
          <a:prstGeom prst="rect">
            <a:avLst/>
          </a:prstGeom>
          <a:noFill/>
        </p:spPr>
        <p:txBody>
          <a:bodyPr wrap="square" anchor="t">
            <a:spAutoFit/>
          </a:bodyPr>
          <a:lstStyle/>
          <a:p>
            <a:pPr algn="r"/>
            <a:r>
              <a:rPr sz="2400" b="0" i="1" dirty="0">
                <a:solidFill>
                  <a:srgbClr val="555960"/>
                </a:solidFill>
              </a:rPr>
              <a:t>satisfies?</a:t>
            </a:r>
          </a:p>
        </p:txBody>
      </p:sp>
      <p:sp>
        <p:nvSpPr>
          <p:cNvPr id="15" name="TextBox 14"/>
          <p:cNvSpPr txBox="1"/>
          <p:nvPr/>
        </p:nvSpPr>
        <p:spPr>
          <a:xfrm>
            <a:off x="3108960" y="4069080"/>
            <a:ext cx="2926080" cy="461665"/>
          </a:xfrm>
          <a:prstGeom prst="rect">
            <a:avLst/>
          </a:prstGeom>
          <a:noFill/>
        </p:spPr>
        <p:txBody>
          <a:bodyPr wrap="square" anchor="t">
            <a:spAutoFit/>
          </a:bodyPr>
          <a:lstStyle/>
          <a:p>
            <a:pPr algn="ctr"/>
            <a:r>
              <a:rPr sz="2400" b="0" dirty="0">
                <a:solidFill>
                  <a:srgbClr val="555960"/>
                </a:solidFill>
              </a:rPr>
              <a:t>corresponds?</a:t>
            </a:r>
          </a:p>
        </p:txBody>
      </p:sp>
      <p:sp>
        <p:nvSpPr>
          <p:cNvPr id="16" name="TextBox 15"/>
          <p:cNvSpPr txBox="1"/>
          <p:nvPr/>
        </p:nvSpPr>
        <p:spPr>
          <a:xfrm>
            <a:off x="274320" y="4774530"/>
            <a:ext cx="8595360" cy="1015663"/>
          </a:xfrm>
          <a:prstGeom prst="rect">
            <a:avLst/>
          </a:prstGeom>
          <a:noFill/>
        </p:spPr>
        <p:txBody>
          <a:bodyPr wrap="square" anchor="t">
            <a:spAutoFit/>
          </a:bodyPr>
          <a:lstStyle/>
          <a:p>
            <a:pPr algn="ctr"/>
            <a:r>
              <a:rPr lang="en-US" sz="2000" b="1" i="1" dirty="0">
                <a:solidFill>
                  <a:srgbClr val="5C4826"/>
                </a:solidFill>
              </a:rPr>
              <a:t>Vocabulary</a:t>
            </a:r>
          </a:p>
          <a:p>
            <a:pPr algn="ctr"/>
            <a:r>
              <a:rPr lang="en-US" sz="2000" dirty="0">
                <a:solidFill>
                  <a:srgbClr val="5C4826"/>
                </a:solidFill>
              </a:rPr>
              <a:t>M</a:t>
            </a:r>
            <a:r>
              <a:rPr sz="2000" b="0" dirty="0">
                <a:solidFill>
                  <a:srgbClr val="5C4826"/>
                </a:solidFill>
              </a:rPr>
              <a:t>odel ↔ realization — </a:t>
            </a:r>
            <a:r>
              <a:rPr sz="2000" b="1" dirty="0">
                <a:solidFill>
                  <a:srgbClr val="8E6F3E"/>
                </a:solidFill>
              </a:rPr>
              <a:t>correspondence</a:t>
            </a:r>
          </a:p>
          <a:p>
            <a:pPr algn="ctr"/>
            <a:r>
              <a:rPr lang="en-US" sz="2000" b="0" dirty="0">
                <a:solidFill>
                  <a:srgbClr val="5C4826"/>
                </a:solidFill>
              </a:rPr>
              <a:t>Model/</a:t>
            </a:r>
            <a:r>
              <a:rPr lang="en-US" sz="2000" dirty="0">
                <a:solidFill>
                  <a:srgbClr val="5C4826"/>
                </a:solidFill>
              </a:rPr>
              <a:t>R</a:t>
            </a:r>
            <a:r>
              <a:rPr sz="2000" b="0" dirty="0">
                <a:solidFill>
                  <a:srgbClr val="5C4826"/>
                </a:solidFill>
              </a:rPr>
              <a:t>ealization ↔ obligation — </a:t>
            </a:r>
            <a:r>
              <a:rPr sz="2000" b="1" dirty="0">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
        <p:nvSpPr>
          <p:cNvPr id="2" name="TextBox 1">
            <a:extLst>
              <a:ext uri="{FF2B5EF4-FFF2-40B4-BE49-F238E27FC236}">
                <a16:creationId xmlns:a16="http://schemas.microsoft.com/office/drawing/2014/main" id="{E51D8973-EDB4-AC8B-A0CE-64034FAE3609}"/>
              </a:ext>
            </a:extLst>
          </p:cNvPr>
          <p:cNvSpPr txBox="1"/>
          <p:nvPr/>
        </p:nvSpPr>
        <p:spPr>
          <a:xfrm>
            <a:off x="3429564" y="3142457"/>
            <a:ext cx="2239716" cy="584775"/>
          </a:xfrm>
          <a:prstGeom prst="rect">
            <a:avLst/>
          </a:prstGeom>
          <a:noFill/>
        </p:spPr>
        <p:txBody>
          <a:bodyPr wrap="none" rtlCol="0">
            <a:spAutoFit/>
          </a:bodyPr>
          <a:lstStyle/>
          <a:p>
            <a:r>
              <a:rPr lang="en-US" sz="3200" dirty="0"/>
              <a:t>ALIGNMENT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Static vs. dynamic evidence</a:t>
            </a:r>
          </a:p>
          <a:p>
            <a:pPr algn="l"/>
            <a:r>
              <a:rPr sz="2000" b="0" i="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Autofit/>
          </a:bodyPr>
          <a:lstStyle/>
          <a:p>
            <a:r>
              <a:rPr lang="en-US" sz="2400" b="1" dirty="0">
                <a:solidFill>
                  <a:srgbClr val="000000"/>
                </a:solidFill>
              </a:rPr>
              <a:t>In closing: </a:t>
            </a:r>
            <a:r>
              <a:rPr sz="2400" b="1" dirty="0">
                <a:solidFill>
                  <a:srgbClr val="000000"/>
                </a:solidFill>
              </a:rPr>
              <a:t>How do you </a:t>
            </a:r>
            <a:r>
              <a:rPr lang="en-US" sz="2400" b="1" dirty="0">
                <a:solidFill>
                  <a:srgbClr val="000000"/>
                </a:solidFill>
              </a:rPr>
              <a:t>supervise your delegation</a:t>
            </a:r>
            <a:r>
              <a:rPr sz="2400" b="1" dirty="0">
                <a:solidFill>
                  <a:srgbClr val="000000"/>
                </a:solidFill>
              </a:rPr>
              <a:t>?</a:t>
            </a:r>
          </a:p>
        </p:txBody>
      </p:sp>
      <p:sp>
        <p:nvSpPr>
          <p:cNvPr id="4" name="Slide Number Placeholder 5"/>
          <p:cNvSpPr>
            <a:spLocks noGrp="1"/>
          </p:cNvSpPr>
          <p:nvPr>
            <p:ph type="sldNum" sz="quarter" idx="4"/>
          </p:nvPr>
        </p:nvSpPr>
        <p:spPr/>
        <p:txBody>
          <a:bodyPr/>
          <a:lstStyle/>
          <a:p>
            <a:fld id="{B7EB45DA-9A0D-DC49-8E02-F30A5DDC21C3}" type="slidenum">
              <a:rPr lang="en-US" smtClean="0"/>
              <a:t>32</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7540</Words>
  <Application>Microsoft Macintosh PowerPoint</Application>
  <PresentationFormat>On-screen Show (4:3)</PresentationFormat>
  <Paragraphs>635</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Active alignment can be used to change the realization</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441</cp:revision>
  <dcterms:created xsi:type="dcterms:W3CDTF">2020-02-21T23:00:33Z</dcterms:created>
  <dcterms:modified xsi:type="dcterms:W3CDTF">2026-10-08T11:43:54Z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