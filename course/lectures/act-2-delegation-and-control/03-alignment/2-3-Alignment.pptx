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302" r:id="rId54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0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14.xml"/><Relationship Id="rId15" Type="http://schemas.openxmlformats.org/officeDocument/2006/relationships/slide" Target="slides/slide2.xml"/><Relationship Id="rId16" Type="http://schemas.openxmlformats.org/officeDocument/2006/relationships/slide" Target="slides/slide19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3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7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1" Type="http://schemas.openxmlformats.org/officeDocument/2006/relationships/slide" Target="slides/slide12.xml"/><Relationship Id="rId42" Type="http://schemas.openxmlformats.org/officeDocument/2006/relationships/slide" Target="slides/slide13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1.xml"/><Relationship Id="rId52" Type="http://schemas.openxmlformats.org/officeDocument/2006/relationships/slide" Target="slides/slide33.xml"/><Relationship Id="rId53" Type="http://schemas.openxmlformats.org/officeDocument/2006/relationships/slide" Target="slides/slide26.xml"/><Relationship Id="rId54" Type="http://schemas.openxmlformats.org/officeDocument/2006/relationships/slide" Target="slides/slide3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- Last time we talked about Modeling: how to make consequential engineering knowledge explicit while leaving irrelevant degrees of freedom open.</a:t>
            </a:r>
          </a:p>
          <a:p>
            <a:r>
              <a:t>- Today we ask the complementary question: once we know something about the work, what should that knowledge control?</a:t>
            </a:r>
          </a:p>
          <a:p>
            <a:r>
              <a:t>- The title question is deliberately broad: "How do you know whether an agent is doing what you want?" We are going to unpack both know and want.</a:t>
            </a:r>
          </a:p>
          <a:p>
            <a:r>
              <a:t>- Start with an agent and essentially no engineered control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Recall degrees of freedom from Architecture and Design.</a:t>
            </a:r>
          </a:p>
          <a:p>
            <a:r>
              <a:t>- Engineering is not about specifying everything.</a:t>
            </a:r>
          </a:p>
          <a:p>
            <a:r>
              <a:t>- We bind choices whose consequences matter: worktree, scope, forbidden actions, evidence, delivery boundary.</a:t>
            </a:r>
          </a:p>
          <a:p>
            <a:r>
              <a:t>- We deliberately leave other choices free: local decomposition, naming, implementation details, algorithms where no obligation constrains them.</a:t>
            </a:r>
          </a:p>
          <a:p>
            <a:r>
              <a:t>- If we specify all of those too, we have defeated much of the purpose of delegation.</a:t>
            </a:r>
          </a:p>
          <a:p>
            <a:r>
              <a:t>- Good delegation is therefore selective reduction of degrees of freedom.</a:t>
            </a:r>
          </a:p>
          <a:p>
            <a:r>
              <a:t>ANIMATION</a:t>
            </a:r>
          </a:p>
          <a:p>
            <a:r>
              <a:t>- Reveal BOUND first.</a:t>
            </a:r>
          </a:p>
          <a:p>
            <a:r>
              <a:t>- Reveal LEAVE FREE second.</a:t>
            </a:r>
          </a:p>
          <a:p>
            <a:r>
              <a:t>- Reveal the concluding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We already have two pieces of the problem.</a:t>
            </a:r>
          </a:p>
          <a:p>
            <a:r>
              <a:t>- Validation asks when evidence justifies a judgment or action.</a:t>
            </a:r>
          </a:p>
          <a:p>
            <a:r>
              <a:t>- Delegation asks what action another actor is permitted to take on our behalf.</a:t>
            </a:r>
          </a:p>
          <a:p>
            <a:r>
              <a:t>- Alignment is where those meet.</a:t>
            </a:r>
          </a:p>
          <a:p>
            <a:r>
              <a:t>- Suppose a test says the implementation is wrong. That is a validation result. What happens now?</a:t>
            </a:r>
          </a:p>
          <a:p>
            <a:r>
              <a:t>- Does the agent merely receive advice? Is the commit rejected? Can the PR merge? Can the artifact deploy?</a:t>
            </a:r>
          </a:p>
          <a:p>
            <a:r>
              <a:t>- Alignment connects the engineering judgment to what the engineered environment permits.</a:t>
            </a:r>
          </a:p>
          <a:p>
            <a:r>
              <a:t>- "Agent or environment" matters. Often the strongest control is not telling the agent what not to do. It is designing the environment so the consequential action is unavailable.</a:t>
            </a:r>
          </a:p>
          <a:p>
            <a:r>
              <a:t>ANIMATION</a:t>
            </a:r>
          </a:p>
          <a:p>
            <a:r>
              <a:t>- Reveal VALIDATION first.</a:t>
            </a:r>
          </a:p>
          <a:p>
            <a:r>
              <a:t>- Reveal DELEGATION second.</a:t>
            </a:r>
          </a:p>
          <a:p>
            <a:r>
              <a:t>- Reveal ALIGNMENT and its question last.</a:t>
            </a:r>
          </a:p>
          <a:p>
            <a:r>
              <a:t>- Finish with the bottom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Here is a much more useful delegation than "add bulk refunds."</a:t>
            </a:r>
          </a:p>
          <a:p>
            <a:r>
              <a:t>- Goal says what we want.</a:t>
            </a:r>
          </a:p>
          <a:p>
            <a:r>
              <a:t>- Scope says where the work belongs.</a:t>
            </a:r>
          </a:p>
          <a:p>
            <a:r>
              <a:t>- Preserve and Do not encode obligations and exclusions.</a:t>
            </a:r>
          </a:p>
          <a:p>
            <a:r>
              <a:t>- Check says what evidence we expect.</a:t>
            </a:r>
          </a:p>
          <a:p>
            <a:r>
              <a:t>- Deliver says when this unit of work terminates.</a:t>
            </a:r>
          </a:p>
          <a:p>
            <a:r>
              <a:t>- Authority says what consequential actions remain outside the delegation.</a:t>
            </a:r>
          </a:p>
          <a:p>
            <a:r>
              <a:t>- Notice that none of this tells the agent exactly how to implement bulk refunds.</a:t>
            </a:r>
          </a:p>
          <a:p>
            <a:r>
              <a:t>- That is deliberate.</a:t>
            </a:r>
          </a:p>
          <a:p>
            <a:r>
              <a:t>ANIMATION</a:t>
            </a:r>
          </a:p>
          <a:p>
            <a:r>
              <a:t>- Reveal the work order row by row.</a:t>
            </a:r>
          </a:p>
          <a:p>
            <a:r>
              <a:t>- Reveal the right-side category labels after each corresponding row, or all together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In practice, the agent does not receive only natural-language instructions.</a:t>
            </a:r>
          </a:p>
          <a:p>
            <a:r>
              <a:t>- It receives a repository, worktree, branch, tools, tests, CI configuration, issue context, and repository instructions.</a:t>
            </a:r>
          </a:p>
          <a:p>
            <a:r>
              <a:t>- Those things collectively define part of the delegated environment.</a:t>
            </a:r>
          </a:p>
          <a:p>
            <a:r>
              <a:t>- Some are information. Some are capabilities. Some are constraints.</a:t>
            </a:r>
          </a:p>
          <a:p>
            <a:r>
              <a:t>- The output is also structured: not "some code somewhere," but typically a proposed change, commit, or PR.</a:t>
            </a:r>
          </a:p>
          <a:p>
            <a:r>
              <a:t>- This environment is already doing engineering work before we add any sophisticated agent-specific machinery.</a:t>
            </a:r>
          </a:p>
          <a:p>
            <a:r>
              <a:t>ANIMATION</a:t>
            </a:r>
          </a:p>
          <a:p>
            <a:r>
              <a:t>- Reveal WORK ORDER and WORKTREE.</a:t>
            </a:r>
          </a:p>
          <a:p>
            <a:r>
              <a:t>- Reveal AGENT.</a:t>
            </a:r>
          </a:p>
          <a:p>
            <a:r>
              <a:t>- Reveal proposed change / commit / PR.</a:t>
            </a:r>
          </a:p>
          <a:p>
            <a:r>
              <a:t>- Reveal the concrete environment elements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"Add bulk refunds" describes an outcome.</a:t>
            </a:r>
          </a:p>
          <a:p>
            <a:r>
              <a:t>- Imagine handing that sentence to a human engineer on their first day. What else would they need to know?</a:t>
            </a:r>
          </a:p>
          <a:p>
            <a:r>
              <a:t>- Where may they work? What existing behavior must survive? What may they not touch? What checks establish success? What are they supposed to hand back?</a:t>
            </a:r>
          </a:p>
          <a:p>
            <a:r>
              <a:t>- Agentic engineering does not make those questions disappear.</a:t>
            </a:r>
          </a:p>
          <a:p>
            <a:r>
              <a:t>- In fact, cheap implementation makes it easier to discover that we never answered them.</a:t>
            </a:r>
          </a:p>
          <a:p>
            <a:r>
              <a:t>- Delegation therefore includes both the desired outcome and a process within which the outcome is produced.</a:t>
            </a:r>
          </a:p>
          <a:p>
            <a:r>
              <a:t>ANIMATION</a:t>
            </a:r>
          </a:p>
          <a:p>
            <a:r>
              <a:t>- Show TASK first.</a:t>
            </a:r>
          </a:p>
          <a:p>
            <a:r>
              <a:t>- Ask "what else do you need?" before revealing PROCESS questions.</a:t>
            </a:r>
          </a:p>
          <a:p>
            <a:r>
              <a:t>- Reveal process questions progressively.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Fourth failure: "all tests pass" sounds like evidence, but evidence of what?</a:t>
            </a:r>
          </a:p>
          <a:p>
            <a:r>
              <a:t>- Which tests? What obligation does each test bear on? In what environment did they run? What remains untested?</a:t>
            </a:r>
          </a:p>
          <a:p>
            <a:r>
              <a:t>- Introduce obligation carefully: a condition against which the work can be wrong.</a:t>
            </a:r>
          </a:p>
          <a:p>
            <a:r>
              <a:t>- Evidence is not useful merely because some measurement or test exists. It must bear on an obligation we care about.</a:t>
            </a:r>
          </a:p>
          <a:p>
            <a:r>
              <a:t>- This is why the opening exercise produced different answers to "does it work?" Students silently chose different obligations and collected different evidence.</a:t>
            </a:r>
          </a:p>
          <a:p>
            <a:r>
              <a:t>ANIMATION</a:t>
            </a:r>
          </a:p>
          <a:p>
            <a:r>
              <a:t>- Reveal the agent's claim first: "All tests pass."</a:t>
            </a:r>
          </a:p>
          <a:p>
            <a:r>
              <a:t>- Reveal OBLIGATION definition.</a:t>
            </a:r>
          </a:p>
          <a:p>
            <a:r>
              <a:t>- Reveal the diagnostic questions.</a:t>
            </a:r>
          </a:p>
          <a:p>
            <a:r>
              <a:t>- Reveal "Evidence bears on an obligation"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Stop coding. Open what the agent produced.</a:t>
            </a:r>
          </a:p>
          <a:p>
            <a:r>
              <a:t>- Show of hands: does yours work?</a:t>
            </a:r>
          </a:p>
          <a:p>
            <a:r>
              <a:t>- Now the important question: what did you do before you were willing to say yes?</a:t>
            </a:r>
          </a:p>
          <a:p>
            <a:r>
              <a:t>- Take answers from the room before revealing examples.</a:t>
            </a:r>
          </a:p>
          <a:p>
            <a:r>
              <a:t>- Students will usually test adding, deleting, refresh, perhaps editing. Someone may inspect the console. Someone may notice something nobody else checked.</a:t>
            </a:r>
          </a:p>
          <a:p>
            <a:r>
              <a:t>- The phrase "it works" concealed a collection of claims and a collection of evidence.</a:t>
            </a:r>
          </a:p>
          <a:p>
            <a:r>
              <a:t>- Notice also what you probably did not establish. Did anyone test two tabs? malformed input? browser restart? storage exhaustion?</a:t>
            </a:r>
          </a:p>
          <a:p>
            <a:r>
              <a:t>- This is our Validation problem again: a judgment depends on what claim we are making and what evidence bears on it.</a:t>
            </a:r>
          </a:p>
          <a:p>
            <a:r>
              <a:t>ANIMATION</a:t>
            </a:r>
          </a:p>
          <a:p>
            <a:r>
              <a:t>- Start with only "Does it work?"</a:t>
            </a:r>
          </a:p>
          <a:p>
            <a:r>
              <a:t>- Reveal "What did you check before answering?" after collecting yes/no answers.</a:t>
            </a:r>
          </a:p>
          <a:p>
            <a:r>
              <a:t>- Reveal the example checks only after students supply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 minutes</a:t>
            </a:r>
          </a:p>
          <a:p>
            <a:r>
              <a:t>- This is an experiment, not a programming exercise. Do exactly what the prompt says.</a:t>
            </a:r>
          </a:p>
          <a:p>
            <a:r>
              <a:t>- Give the agent the work. Do not rescue it, redirect it, or improve its choices.</a:t>
            </a:r>
          </a:p>
          <a:p>
            <a:r>
              <a:t>- Notice how much freedom the prompt leaves: language, framework, architecture, persistence mechanism, styling, testing strategy.</a:t>
            </a:r>
          </a:p>
          <a:p>
            <a:r>
              <a:t>- If the agent asks you to choose something that the prompt leaves open, let it choose.</a:t>
            </a:r>
          </a:p>
          <a:p>
            <a:r>
              <a:t>- The interesting part comes after it says it is finished.</a:t>
            </a:r>
          </a:p>
          <a:p>
            <a:r>
              <a:t>ANIMATION</a:t>
            </a:r>
          </a:p>
          <a:p>
            <a:r>
              <a:t>- Reveal the task first.</a:t>
            </a:r>
          </a:p>
          <a:p>
            <a:r>
              <a:t>- Reveal "Do not help the agent" and "If it makes a choice…" only after students have started reading.</a:t>
            </a:r>
          </a:p>
          <a:p>
            <a:r>
              <a:t>- Start the five-minute timer after instructions are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Evidence becomes useful when a validator turns it into a verdict.</a:t>
            </a:r>
          </a:p>
          <a:p>
            <a:r>
              <a:t>- But a verdict alone does not control anything.</a:t>
            </a:r>
          </a:p>
          <a:p>
            <a:r>
              <a:t>- A gate connects that verdict to authority.</a:t>
            </a:r>
          </a:p>
          <a:p>
            <a:r>
              <a:t>- The agent can work locally and propose changes. Merge or deployment can require a satisfactory verdict.</a:t>
            </a:r>
          </a:p>
          <a:p>
            <a:r>
              <a:t>- This is stronger than telling the agent "please don't merge broken code."</a:t>
            </a:r>
          </a:p>
          <a:p>
            <a:r>
              <a:t>- The environment itself conditions authority on the engineering judgment.</a:t>
            </a:r>
          </a:p>
          <a:p>
            <a:r>
              <a:t>- A gate therefore makes authority conditional on a verdict.</a:t>
            </a:r>
          </a:p>
          <a:p>
            <a:r>
              <a:t>ANIMATION</a:t>
            </a:r>
          </a:p>
          <a:p>
            <a:r>
              <a:t>- Reveal WORK, evidence, VALIDATOR.</a:t>
            </a:r>
          </a:p>
          <a:p>
            <a:r>
              <a:t>- Reveal verdict.</a:t>
            </a:r>
          </a:p>
          <a:p>
            <a:r>
              <a:t>- Reveal GATE.</a:t>
            </a:r>
          </a:p>
          <a:p>
            <a:r>
              <a:t>- Reveal MERGE / DEPLOY only after explaining the verdict.</a:t>
            </a:r>
          </a:p>
          <a:p>
            <a:r>
              <a:t>- Reveal the final definition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We can now name four control roles.</a:t>
            </a:r>
          </a:p>
          <a:p>
            <a:r>
              <a:t>- A constraint narrows what may happen.</a:t>
            </a:r>
          </a:p>
          <a:p>
            <a:r>
              <a:t>- A sensor tells us what happened and produces evidence.</a:t>
            </a:r>
          </a:p>
          <a:p>
            <a:r>
              <a:t>- A validator evaluates that evidence against an obligation.</a:t>
            </a:r>
          </a:p>
          <a:p>
            <a:r>
              <a:t>- A gate controls whether work crosses a boundary.</a:t>
            </a:r>
          </a:p>
          <a:p>
            <a:r>
              <a:t>- These are roles, not an architecture requiring four separate services.</a:t>
            </a:r>
          </a:p>
          <a:p>
            <a:r>
              <a:t>- A single mechanism can perform several roles.</a:t>
            </a:r>
          </a:p>
          <a:p>
            <a:r>
              <a:t>- Keep the two sides distinct: constraints and sensors concern work/state; validators and gates concern judgment/admission.</a:t>
            </a:r>
          </a:p>
          <a:p>
            <a:r>
              <a:t>- This vocabulary gives us a way to design rather than simply say "add checks."</a:t>
            </a:r>
          </a:p>
          <a:p>
            <a:r>
              <a:t>ANIMATION</a:t>
            </a:r>
          </a:p>
          <a:p>
            <a:r>
              <a:t>- Reveal CONSTRAINT and SENSOR first under WORK / STATE.</a:t>
            </a:r>
          </a:p>
          <a:p>
            <a:r>
              <a:t>- Reveal VALIDATOR and GATE under DECISION / ADMISSION.</a:t>
            </a:r>
          </a:p>
          <a:p>
            <a:r>
              <a:t>- Reveal the role definitions with each.</a:t>
            </a:r>
          </a:p>
          <a:p>
            <a:r>
              <a:t>- Reveal the "roles, not four required components" note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Given an obligation, first ask whether the unwanted state can be excluded cleanly.</a:t>
            </a:r>
          </a:p>
          <a:p>
            <a:r>
              <a:t>- If yes, prefer prevention. A narrow API, type, permission, or constrained representation can make the invalid state unavailable.</a:t>
            </a:r>
          </a:p>
          <a:p>
            <a:r>
              <a:t>- If not, we need evidence about what happened.</a:t>
            </a:r>
          </a:p>
          <a:p>
            <a:r>
              <a:t>- Why might prevention be impossible? The property may emerge only across several actions, after composition, or at runtime.</a:t>
            </a:r>
          </a:p>
          <a:p>
            <a:r>
              <a:t>- For example, a type can prevent some malformed states locally. It cannot generally prove your end-to-end latency under production load.</a:t>
            </a:r>
          </a:p>
          <a:p>
            <a:r>
              <a:t>- Do not force every obligation into a constraint.</a:t>
            </a:r>
          </a:p>
          <a:p>
            <a:r>
              <a:t>- The rule is deliberately asymmetric: if the wrong state can cheaply and reliably be made impossible, do that. Otherwise, collect evidence and evaluate it.</a:t>
            </a:r>
          </a:p>
          <a:p>
            <a:r>
              <a:t>ANIMATION</a:t>
            </a:r>
          </a:p>
          <a:p>
            <a:r>
              <a:t>- Begin with ENGINEERING OBLIGATION.</a:t>
            </a:r>
          </a:p>
          <a:p>
            <a:r>
              <a:t>- Reveal the decision question.</a:t>
            </a:r>
          </a:p>
          <a:p>
            <a:r>
              <a:t>- Reveal YES to CONSTRAINT.</a:t>
            </a:r>
          </a:p>
          <a:p>
            <a:r>
              <a:t>- Reveal NO to SENSOR.</a:t>
            </a:r>
          </a:p>
          <a:p>
            <a:r>
              <a:t>- Reveal examples under each.</a:t>
            </a:r>
          </a:p>
          <a:p>
            <a:r>
              <a:t>- Reveal the gold rule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This is the central distinction for the lecture.</a:t>
            </a:r>
          </a:p>
          <a:p>
            <a:r>
              <a:t>- Validation gets us from claim and evidence to judgment.</a:t>
            </a:r>
          </a:p>
          <a:p>
            <a:r>
              <a:t>- Alignment asks what that judgment should control.</a:t>
            </a:r>
          </a:p>
          <a:p>
            <a:r>
              <a:t>- A failed check might merely produce information. It might block a commit, a merge, a release, or a runtime action.</a:t>
            </a:r>
          </a:p>
          <a:p>
            <a:r>
              <a:t>- Those are different engineering designs even if the validator is identical.</a:t>
            </a:r>
          </a:p>
          <a:p>
            <a:r>
              <a:t>- So Alignment is not "more validation." It is the design of consequences attached to engineering judgments.</a:t>
            </a:r>
          </a:p>
          <a:p>
            <a:r>
              <a:t>ANIMATION</a:t>
            </a:r>
          </a:p>
          <a:p>
            <a:r>
              <a:t>- Reveal VALIDATION row first.</a:t>
            </a:r>
          </a:p>
          <a:p>
            <a:r>
              <a:t>- Reveal ALIGNMENT row second.</a:t>
            </a:r>
          </a:p>
          <a:p>
            <a:r>
              <a:t>- Highlight ACTION versus CONSEQUENCE.</a:t>
            </a:r>
          </a:p>
          <a:p>
            <a:r>
              <a:t>- Reveal the two explanatory questions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Think about the boundaries available in ordinary software work: edit, commit, push, merge, deploy, runtime.</a:t>
            </a:r>
          </a:p>
          <a:p>
            <a:r>
              <a:t>- Different obligations become decidable at different points.</a:t>
            </a:r>
          </a:p>
          <a:p>
            <a:r>
              <a:t>- A type property may be decidable during editing or compilation.</a:t>
            </a:r>
          </a:p>
          <a:p>
            <a:r>
              <a:t>- A forbidden dependency may be decidable from a commit or repository state.</a:t>
            </a:r>
          </a:p>
          <a:p>
            <a:r>
              <a:t>- Integration behavior may require assembled work.</a:t>
            </a:r>
          </a:p>
          <a:p>
            <a:r>
              <a:t>- Latency under load may require deployment or runtime evidence.</a:t>
            </a:r>
          </a:p>
          <a:p>
            <a:r>
              <a:t>- There is no universally correct "shift left" answer.</a:t>
            </a:r>
          </a:p>
          <a:p>
            <a:r>
              <a:t>- Check at the earliest boundary where the obligation can actually be decided.</a:t>
            </a:r>
          </a:p>
          <a:p>
            <a:r>
              <a:t>ANIMATION</a:t>
            </a:r>
          </a:p>
          <a:p>
            <a:r>
              <a:t>- Reveal the boundary sequence first.</a:t>
            </a:r>
          </a:p>
          <a:p>
            <a:r>
              <a:t>- Reveal each example property at its appropriate boundary.</a:t>
            </a:r>
          </a:p>
          <a:p>
            <a:r>
              <a:t>- Reveal the rule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Why can't we always check earlier?</a:t>
            </a:r>
          </a:p>
          <a:p>
            <a:r>
              <a:t>- Some obligations span a unit of work.</a:t>
            </a:r>
          </a:p>
          <a:p>
            <a:r>
              <a:t>- Imagine several individually valid commits. During intermediate commits, the architecture model and implementation may temporarily disagree because the change is incomplete.</a:t>
            </a:r>
          </a:p>
          <a:p>
            <a:r>
              <a:t>- No individual commit contains enough information to decide the completed-work obligation.</a:t>
            </a:r>
          </a:p>
          <a:p>
            <a:r>
              <a:t>- The correct response is not to weaken the obligation.</a:t>
            </a:r>
          </a:p>
          <a:p>
            <a:r>
              <a:t>- Move the check to the first boundary at which the obligation becomes decidable.</a:t>
            </a:r>
          </a:p>
          <a:p>
            <a:r>
              <a:t>- Earlier detection is usually cheaper, which is why we reach for it first; the constraint is what is decidable, not what is desirable.</a:t>
            </a:r>
          </a:p>
          <a:p>
            <a:r>
              <a:t>ANIMATION</a:t>
            </a:r>
          </a:p>
          <a:p>
            <a:r>
              <a:t>- Reveal individual commits.</a:t>
            </a:r>
          </a:p>
          <a:p>
            <a:r>
              <a:t>- Reveal "obligation not decidable at any individual commit."</a:t>
            </a:r>
          </a:p>
          <a:p>
            <a:r>
              <a:t>- Reveal COMPLETED UNIT OF WORK.</a:t>
            </a:r>
          </a:p>
          <a:p>
            <a:r>
              <a:t>- Reveal "obligation decidable here."</a:t>
            </a:r>
          </a:p>
          <a:p>
            <a:r>
              <a:t>- Reveal the upward movement of the check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Enough vocabulary.</a:t>
            </a:r>
          </a:p>
          <a:p>
            <a:r>
              <a:t>- Now use it.</a:t>
            </a:r>
          </a:p>
          <a:p>
            <a:r>
              <a:t>- You are going to receive explicit obligations and a model, and design the delegated process around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Here is the concrete failure mode.</a:t>
            </a:r>
          </a:p>
          <a:p>
            <a:r>
              <a:t>- The obligation is legitimate: when the task is complete, code and architectural model must correspond.</a:t>
            </a:r>
          </a:p>
          <a:p>
            <a:r>
              <a:t>- Enforcing that obligation after every intermediate edit or commit rejects legitimate transitional states.</a:t>
            </a:r>
          </a:p>
          <a:p>
            <a:r>
              <a:t>- At merge, the task's work is assembled and the obligation can be evaluated.</a:t>
            </a:r>
          </a:p>
          <a:p>
            <a:r>
              <a:t>- Notice the distinction: the obligation was not wrong; its placement was wrong.</a:t>
            </a:r>
          </a:p>
          <a:p>
            <a:r>
              <a:t>- This is an Alignment design error, not a reason to abandon the property.</a:t>
            </a:r>
          </a:p>
          <a:p>
            <a:r>
              <a:t>ANIMATION</a:t>
            </a:r>
          </a:p>
          <a:p>
            <a:r>
              <a:t>- Reveal the obligation.</a:t>
            </a:r>
          </a:p>
          <a:p>
            <a:r>
              <a:t>- Reveal per-commit enforcement and the red X.</a:t>
            </a:r>
          </a:p>
          <a:p>
            <a:r>
              <a:t>- Reveal the consequence: legitimate intermediate states rejected.</a:t>
            </a:r>
          </a:p>
          <a:p>
            <a:r>
              <a:t>- Reveal merge and green check.</a:t>
            </a:r>
          </a:p>
          <a:p>
            <a:r>
              <a:t>- Reveal the final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Give them an actual short break.</a:t>
            </a:r>
          </a:p>
          <a:p>
            <a:r>
              <a:t>- Resume by saying: so far, nothing we did required a SysML model, a state machine, or any other explicit engineering model.</a:t>
            </a:r>
          </a:p>
          <a:p>
            <a:r>
              <a:t>- That sets up the next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 setup + 8-10 minutes work</a:t>
            </a:r>
          </a:p>
          <a:p>
            <a:r>
              <a:t>- Scenario: an agent modifies an embedded controller.</a:t>
            </a:r>
          </a:p>
          <a:p>
            <a:r>
              <a:t>- You have four obligations: API preservation, a memory bound, forbidden dependency, and cycle ordering.</a:t>
            </a:r>
          </a:p>
          <a:p>
            <a:r>
              <a:t>- The model is given. Do not spend the activity rediscovering it from implementation.</a:t>
            </a:r>
          </a:p>
          <a:p>
            <a:r>
              <a:t>- Your job is to design the delegated process and its controls.</a:t>
            </a:r>
          </a:p>
          <a:p>
            <a:r>
              <a:t>- Different obligations should lead you toward different evidence, mechanisms, and boundaries.</a:t>
            </a:r>
          </a:p>
          <a:p>
            <a:r>
              <a:t>- Do not assume everything should block everything.</a:t>
            </a:r>
          </a:p>
          <a:p>
            <a:r>
              <a:t>- You should be able to defend why each control sits where you put it.</a:t>
            </a:r>
          </a:p>
          <a:p>
            <a:r>
              <a:t>ANIMATION</a:t>
            </a:r>
          </a:p>
          <a:p>
            <a:r>
              <a:t>- Reveal scenario.</a:t>
            </a:r>
          </a:p>
          <a:p>
            <a:r>
              <a:t>- Reveal obligations one at a time.</a:t>
            </a:r>
          </a:p>
          <a:p>
            <a:r>
              <a:t>- Reveal the given model.</a:t>
            </a:r>
          </a:p>
          <a:p>
            <a:r>
              <a:t>- Reveal "Design the delegated process and its controls" as the start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activity continues</a:t>
            </a:r>
          </a:p>
          <a:p>
            <a:r>
              <a:t>- Leave this slide up while teams work.</a:t>
            </a:r>
          </a:p>
          <a:p>
            <a:r>
              <a:t>- For each obligation, walk through the same questions.</a:t>
            </a:r>
          </a:p>
          <a:p>
            <a:r>
              <a:t>- Failure: what specifically can go wrong?</a:t>
            </a:r>
          </a:p>
          <a:p>
            <a:r>
              <a:t>- Obligation: what must actually remain true?</a:t>
            </a:r>
          </a:p>
          <a:p>
            <a:r>
              <a:t>- Control: can the invalid state be prevented, or do you need evidence?</a:t>
            </a:r>
          </a:p>
          <a:p>
            <a:r>
              <a:t>- Evidence: what observation bears on the obligation?</a:t>
            </a:r>
          </a:p>
          <a:p>
            <a:r>
              <a:t>- Boundary: where does enough information exist to decide it?</a:t>
            </a:r>
          </a:p>
          <a:p>
            <a:r>
              <a:t>- Mechanism: which roles are needed?</a:t>
            </a:r>
          </a:p>
          <a:p>
            <a:r>
              <a:t>- Authority: what happens when the verdict is negative?</a:t>
            </a:r>
          </a:p>
          <a:p>
            <a:r>
              <a:t>- Circulate and challenge teams especially on boundary and authority.</a:t>
            </a:r>
          </a:p>
          <a:p>
            <a:r>
              <a:t>- If someone says "run a test," ask what obligation the test establishes.</a:t>
            </a:r>
          </a:p>
          <a:p>
            <a:r>
              <a:t>- If someone says "block the commit," ask whether the obligation is decidable at commit.</a:t>
            </a:r>
          </a:p>
          <a:p>
            <a:r>
              <a:t>- If someone says "tell the agent not to," ask whether the environment can enforce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4-5 minutes</a:t>
            </a:r>
          </a:p>
          <a:p>
            <a:r>
              <a:t>- Have two or three teams report a control they designed differently.</a:t>
            </a:r>
          </a:p>
          <a:p>
            <a:r>
              <a:t>- Do not search immediately for the one correct design. Compare the engineering tradeoffs.</a:t>
            </a:r>
          </a:p>
          <a:p>
            <a:r>
              <a:t>- If teams chose different boundaries for the same obligation, ask which boundary actually contains enough information.</a:t>
            </a:r>
          </a:p>
          <a:p>
            <a:r>
              <a:t>- If one team chose a constraint and another chose detection, ask whether the invalid state can cleanly be excluded.</a:t>
            </a:r>
          </a:p>
          <a:p>
            <a:r>
              <a:t>- If teams attach different consequences, ask whether this failure warrants blocking commit, PR, merge, deployment, or merely producing evidence.</a:t>
            </a:r>
          </a:p>
          <a:p>
            <a:r>
              <a:t>- Finally ask what work the explicit model saved. What would have had to be reconstructed from implementation otherwise?</a:t>
            </a:r>
          </a:p>
          <a:p>
            <a:r>
              <a:t>- The important thing is that the design is defensible against the failure model and obligation, not that everyone chose identical machinery.</a:t>
            </a:r>
          </a:p>
          <a:p>
            <a:r>
              <a:t>ANIMATION</a:t>
            </a:r>
          </a:p>
          <a:p>
            <a:r>
              <a:t>- Reveal comparison questions one at a time as they become relevant to student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- Everything so far could be done with tests, permissions, CI, repository state, and ordinary process controls.</a:t>
            </a:r>
          </a:p>
          <a:p>
            <a:r>
              <a:t>- We reasoned about obligations, evidence, validators, constraints, gates, and authority.</a:t>
            </a:r>
          </a:p>
          <a:p>
            <a:r>
              <a:t>- No explicit model was logically required.</a:t>
            </a:r>
          </a:p>
          <a:p>
            <a:r>
              <a:t>- So explicit modeling has to earn its cost.</a:t>
            </a:r>
          </a:p>
          <a:p>
            <a:r>
              <a:t>- What does it let us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Ask the room before answering.</a:t>
            </a:r>
          </a:p>
          <a:p>
            <a:r>
              <a:t>- Look for answers about preserving knowledge, making relationships inspectable, enabling analysis, reducing repeated reconstruction, and separating what matters from what does not.</a:t>
            </a:r>
          </a:p>
          <a:p>
            <a:r>
              <a:t>- Push beyond "documentation." If the model is only documentation, it is not yet clear why Alignment cares.</a:t>
            </a:r>
          </a:p>
          <a:p>
            <a:r>
              <a:t>- Ask: what could a control do with a model that is difficult to do with prose or by repeatedly inspecting implementation?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 model preserves distinctions we have decided matter.</a:t>
            </a:r>
          </a:p>
          <a:p>
            <a:r>
              <a:t>- It exposes relationships that would otherwise need to be inferred.</a:t>
            </a:r>
          </a:p>
          <a:p>
            <a:r>
              <a:t>- It can deliberately leave realization choices open.</a:t>
            </a:r>
          </a:p>
          <a:p>
            <a:r>
              <a:t>- And because the information is explicit and structured, analyses can operate over it directly.</a:t>
            </a:r>
          </a:p>
          <a:p>
            <a:r>
              <a:t>- The key point is not that models contain more information than implementation.</a:t>
            </a:r>
          </a:p>
          <a:p>
            <a:r>
              <a:t>- The point is that they can contain the right engineering information in a form suited to the question.</a:t>
            </a:r>
          </a:p>
          <a:p>
            <a:r>
              <a:t>- Multiple analyses can then operate over the same explicit knowledge.</a:t>
            </a:r>
          </a:p>
          <a:p>
            <a:r>
              <a:t>ANIMATION</a:t>
            </a:r>
          </a:p>
          <a:p>
            <a:r>
              <a:t>- Reveal PRESERVE.</a:t>
            </a:r>
          </a:p>
          <a:p>
            <a:r>
              <a:t>- Reveal EXPOSE.</a:t>
            </a:r>
          </a:p>
          <a:p>
            <a:r>
              <a:t>- Reveal LEAVE OPEN.</a:t>
            </a:r>
          </a:p>
          <a:p>
            <a:r>
              <a:t>- Reveal ENABLE.</a:t>
            </a:r>
          </a:p>
          <a:p>
            <a:r>
              <a:t>- Reveal the concluding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Once we have models, we need one more distinction.</a:t>
            </a:r>
          </a:p>
          <a:p>
            <a:r>
              <a:t>- Correspondence: do two representations agree?</a:t>
            </a:r>
          </a:p>
          <a:p>
            <a:r>
              <a:t>- Conformance: does an artifact satisfy an independent obligation?</a:t>
            </a:r>
          </a:p>
          <a:p>
            <a:r>
              <a:t>- Acceptance: will the receiving environment accept the artifact?</a:t>
            </a:r>
          </a:p>
          <a:p>
            <a:r>
              <a:t>- These are different claims.</a:t>
            </a:r>
          </a:p>
          <a:p>
            <a:r>
              <a:t>- A model and implementation can correspond perfectly and both be wrong relative to the requirement.</a:t>
            </a:r>
          </a:p>
          <a:p>
            <a:r>
              <a:t>- An artifact can satisfy its requirement but still be rejected by an incompatible receiving environment.</a:t>
            </a:r>
          </a:p>
          <a:p>
            <a:r>
              <a:t>- Evidence for one relation does not establish the others.</a:t>
            </a:r>
          </a:p>
          <a:p>
            <a:r>
              <a:t>- This is why "the implementation matches the model" is not by itself a correctness argument.</a:t>
            </a:r>
          </a:p>
          <a:p>
            <a:r>
              <a:t>ANIMATION</a:t>
            </a:r>
          </a:p>
          <a:p>
            <a:r>
              <a:t>- Reveal CORRESPONDENCE row.</a:t>
            </a:r>
          </a:p>
          <a:p>
            <a:r>
              <a:t>- Reveal CONFORMANCE row.</a:t>
            </a:r>
          </a:p>
          <a:p>
            <a:r>
              <a:t>- Reveal ACCEPTANCE row.</a:t>
            </a:r>
          </a:p>
          <a:p>
            <a:r>
              <a:t>- Reveal "Evidence for one does not establish the others"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Specialize that distinction to model-based engineering.</a:t>
            </a:r>
          </a:p>
          <a:p>
            <a:r>
              <a:t>- Transition explicitly: those were three different kinds of engineering claim. Now specialize this to model-based engineering. We have three things that can disagree.</a:t>
            </a:r>
          </a:p>
          <a:p>
            <a:r>
              <a:t>- We now have an obligation, a model, and a realization.</a:t>
            </a:r>
          </a:p>
          <a:p>
            <a:r>
              <a:t>- Ask what claim each edge makes.</a:t>
            </a:r>
          </a:p>
          <a:p>
            <a:r>
              <a:t>- Does the model actually capture the obligation?</a:t>
            </a:r>
          </a:p>
          <a:p>
            <a:r>
              <a:t>- Does the realization satisfy the obligation?</a:t>
            </a:r>
          </a:p>
          <a:p>
            <a:r>
              <a:t>- Do model and realization correspond?</a:t>
            </a:r>
          </a:p>
          <a:p>
            <a:r>
              <a:t>- None of those edges establishes the other two.</a:t>
            </a:r>
          </a:p>
          <a:p>
            <a:r>
              <a:t>- This matters because model-driven development can otherwise create a false sense of assurance: we can become very good at keeping implementation synchronized with a bad model.</a:t>
            </a:r>
          </a:p>
          <a:p>
            <a:r>
              <a:t>- Correspondence is useful, but it is only one edge of the engineering argument.</a:t>
            </a:r>
          </a:p>
          <a:p>
            <a:r>
              <a:t>ANIMATION</a:t>
            </a:r>
          </a:p>
          <a:p>
            <a:r>
              <a:t>- Reveal OBLIGATION, MODEL, REALIZATION without edges if possible.</a:t>
            </a:r>
          </a:p>
          <a:p>
            <a:r>
              <a:t>- Reveal obligation-model question.</a:t>
            </a:r>
          </a:p>
          <a:p>
            <a:r>
              <a:t>- Reveal obligation-realization question.</a:t>
            </a:r>
          </a:p>
          <a:p>
            <a:r>
              <a:t>- Reveal model-realization question.</a:t>
            </a:r>
          </a:p>
          <a:p>
            <a:r>
              <a:t>- Ask "What evidence would establish each?" before revealing the closing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Return to the question from slide 1.</a:t>
            </a:r>
          </a:p>
          <a:p>
            <a:r>
              <a:t>- Modeling and Alignment solve different parts of the problem.</a:t>
            </a:r>
          </a:p>
          <a:p>
            <a:r>
              <a:t>- Modeling makes consequential engineering knowledge explicit while leaving irrelevant choices free.</a:t>
            </a:r>
          </a:p>
          <a:p>
            <a:r>
              <a:t>- Alignment decides which obligations have consequences in the engineered environment.</a:t>
            </a:r>
          </a:p>
          <a:p>
            <a:r>
              <a:t>- Then walk the reusable questions in order.</a:t>
            </a:r>
          </a:p>
          <a:p>
            <a:r>
              <a:t>- How can delegated work fail? Start with the failure model.</a:t>
            </a:r>
          </a:p>
          <a:p>
            <a:r>
              <a:t>- What must be true? State the obligation.</a:t>
            </a:r>
          </a:p>
          <a:p>
            <a:r>
              <a:t>- What evidence bears on it? Do not confuse activity with evidence.</a:t>
            </a:r>
          </a:p>
          <a:p>
            <a:r>
              <a:t>- Where can it be decided? Put the mechanism at a boundary with sufficient information.</a:t>
            </a:r>
          </a:p>
          <a:p>
            <a:r>
              <a:t>- How will it be evaluated? Identify the validator or equivalent judgment.</a:t>
            </a:r>
          </a:p>
          <a:p>
            <a:r>
              <a:t>- Should failure control what happens next? Decide the authority of the verdict.</a:t>
            </a:r>
          </a:p>
          <a:p>
            <a:r>
              <a:t>- That last question is what turns Validation into Alignment.</a:t>
            </a:r>
          </a:p>
          <a:p>
            <a:r>
              <a:t>- End there. Do not add another summary or slogan.</a:t>
            </a:r>
          </a:p>
          <a:p>
            <a:r>
              <a:t>ANIMATION</a:t>
            </a:r>
          </a:p>
          <a:p>
            <a:r>
              <a:t>- Reveal MODELING.</a:t>
            </a:r>
          </a:p>
          <a:p>
            <a:r>
              <a:t>- Reveal ALIGNMENT.</a:t>
            </a:r>
          </a:p>
          <a:p>
            <a:r>
              <a:t>- Reveal the reusable questions one at a time.</a:t>
            </a:r>
          </a:p>
          <a:p>
            <a:r>
              <a:t>- Leave the final question, "Should failure control what happens next?", as the last reveal and final image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Before we can control delegated work, we need to be precise about what we delegated.</a:t>
            </a:r>
          </a:p>
          <a:p>
            <a:r>
              <a:t>- A prompt that names an outcome is not yet a complete engineering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Now we have a process, ask the engineering question: how can it fail?</a:t>
            </a:r>
          </a:p>
          <a:p>
            <a:r>
              <a:t>- Different failures will require different kinds of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We have just built a theory of Alignment without assuming explicit models.</a:t>
            </a:r>
          </a:p>
          <a:p>
            <a:r>
              <a:t>- So the obvious challenge is: why did we spend the previous lecture on Modeling?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We can now recognize the same move we made in the Modeling lecture.</a:t>
            </a:r>
          </a:p>
          <a:p>
            <a:r>
              <a:t>- The work order and environment define a model of the delegated process.</a:t>
            </a:r>
          </a:p>
          <a:p>
            <a:r>
              <a:t>- It has permitted actions, transitions, stopping conditions, and expected evidence.</a:t>
            </a:r>
          </a:p>
          <a:p>
            <a:r>
              <a:t>- Importantly, this is not a model of the agent's internal chain of thought.</a:t>
            </a:r>
          </a:p>
          <a:p>
            <a:r>
              <a:t>- We generally do not need to prescribe how the agent reasons internally.</a:t>
            </a:r>
          </a:p>
          <a:p>
            <a:r>
              <a:t>- We need enough external structure to reason about consequential behavior.</a:t>
            </a:r>
          </a:p>
          <a:p>
            <a:r>
              <a:t>- That gives us something against which failure can be defined.</a:t>
            </a:r>
          </a:p>
          <a:p>
            <a:r>
              <a:t>ANIMATION</a:t>
            </a:r>
          </a:p>
          <a:p>
            <a:r>
              <a:t>- Reveal the process sequence.</a:t>
            </a:r>
          </a:p>
          <a:p>
            <a:r>
              <a:t>- Reveal the four kinds of modeled information.</a:t>
            </a:r>
          </a:p>
          <a:p>
            <a:r>
              <a:t>- Reveal the final sentence about internal reasoning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We now know what kinds of controls exist.</a:t>
            </a:r>
          </a:p>
          <a:p>
            <a:r>
              <a:t>- Next question: where should the control operate?</a:t>
            </a:r>
          </a:p>
          <a:p>
            <a:r>
              <a:t>- The answer depends on where enough information exists to decide the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First and most familiar: the artifact itself can violate an obligation.</a:t>
            </a:r>
          </a:p>
          <a:p>
            <a:r>
              <a:t>- We asked for bulk refunds while preserving existing client behavior. The new implementation changes response semantics.</a:t>
            </a:r>
          </a:p>
          <a:p>
            <a:r>
              <a:t>- The agent may have followed the requested process perfectly and still produced the wrong system.</a:t>
            </a:r>
          </a:p>
          <a:p>
            <a:r>
              <a:t>- This is ordinary artifact failure.</a:t>
            </a:r>
          </a:p>
          <a:p>
            <a:r>
              <a:t>- Examples include functional behavior, invariants, resource bounds, and compatibility obligations.</a:t>
            </a:r>
          </a:p>
          <a:p>
            <a:r>
              <a:t>ANIMATION</a:t>
            </a:r>
          </a:p>
          <a:p>
            <a:r>
              <a:t>- Reveal requirement.</a:t>
            </a:r>
          </a:p>
          <a:p>
            <a:r>
              <a:t>- Reveal the implementation change and X.</a:t>
            </a:r>
          </a:p>
          <a:p>
            <a:r>
              <a:t>- Reveal ARTIFACT FAILURE definition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A correct final artifact is not the only thing we care about.</a:t>
            </a:r>
          </a:p>
          <a:p>
            <a:r>
              <a:t>- The agent can modify files outside scope, replace an approved dependency, change the model instead of satisfying it, or weaken the test that exposes the defect.</a:t>
            </a:r>
          </a:p>
          <a:p>
            <a:r>
              <a:t>- Some of these actions might even lead to a final artifact that appears to pass.</a:t>
            </a:r>
          </a:p>
          <a:p>
            <a:r>
              <a:t>- That is why final-state validation is insufficient.</a:t>
            </a:r>
          </a:p>
          <a:p>
            <a:r>
              <a:t>- The path to the result can itself violate the work order.</a:t>
            </a:r>
          </a:p>
          <a:p>
            <a:r>
              <a:t>ANIMATION</a:t>
            </a:r>
          </a:p>
          <a:p>
            <a:r>
              <a:t>- Reveal examples one at a time.</a:t>
            </a:r>
          </a:p>
          <a:p>
            <a:r>
              <a:t>- Reveal SCOPE / PROCESS FAILURE after the examples.</a:t>
            </a:r>
          </a:p>
          <a:p>
            <a:r>
              <a:t>- Finish on "Final-state validation alone does not capture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Third failure: capability and authority are different.</a:t>
            </a:r>
          </a:p>
          <a:p>
            <a:r>
              <a:t>- We saw this distinction in Agents.</a:t>
            </a:r>
          </a:p>
          <a:p>
            <a:r>
              <a:t>- The agent may be technically capable of pushing, merging, or deploying. That does not mean we delegated all of those actions.</a:t>
            </a:r>
          </a:p>
          <a:p>
            <a:r>
              <a:t>- A useful agent often needs broad capability to perform local work.</a:t>
            </a:r>
          </a:p>
          <a:p>
            <a:r>
              <a:t>- Consequential actions can still require separate authority.</a:t>
            </a:r>
          </a:p>
          <a:p>
            <a:r>
              <a:t>- This distinction will become important when we introduce gates.</a:t>
            </a:r>
          </a:p>
          <a:p>
            <a:r>
              <a:t>ANIMATION</a:t>
            </a:r>
          </a:p>
          <a:p>
            <a:r>
              <a:t>- Reveal READ, MODIFY, COMMIT as permitted.</a:t>
            </a:r>
          </a:p>
          <a:p>
            <a:r>
              <a:t>- Reveal PUSH if appropriate to the intended work order.</a:t>
            </a:r>
          </a:p>
          <a:p>
            <a:r>
              <a:t>- Reveal MERGE and DEPLOY as prohibited.</a:t>
            </a:r>
          </a:p>
          <a:p>
            <a:r>
              <a:t>- Reveal "capability is not authority"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Put the four failures together.</a:t>
            </a:r>
          </a:p>
          <a:p>
            <a:r>
              <a:t>- Wrong result means we need evidence about artifact properties.</a:t>
            </a:r>
          </a:p>
          <a:p>
            <a:r>
              <a:t>- Wrong process means we need to observe or constrain actions, not merely inspect the final state.</a:t>
            </a:r>
          </a:p>
          <a:p>
            <a:r>
              <a:t>- Excess authority means consequential actions must be restricted.</a:t>
            </a:r>
          </a:p>
          <a:p>
            <a:r>
              <a:t>- Insufficient evidence means acceptance must depend on evidence appropriate to the obligation.</a:t>
            </a:r>
          </a:p>
          <a:p>
            <a:r>
              <a:t>- This is why we built the failure model first. Controls should answer plausible failures rather than being accumulated as generic "best practices."</a:t>
            </a:r>
          </a:p>
          <a:p>
            <a:r>
              <a:t>ANIMATION</a:t>
            </a:r>
          </a:p>
          <a:p>
            <a:r>
              <a:t>- Reveal one failure/response row at a time.</a:t>
            </a:r>
          </a:p>
          <a:p>
            <a:r>
              <a:t>- Ask students for the response before revealing it where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Make this concrete with one document-processing-service model.</a:t>
            </a:r>
          </a:p>
          <a:p>
            <a:r>
              <a:t>- Suppose the model includes a lifecycle machine and resource graph.</a:t>
            </a:r>
          </a:p>
          <a:p>
            <a:r>
              <a:t>- From the lifecycle model, ask whether a Completed document can re-enter processing.</a:t>
            </a:r>
          </a:p>
          <a:p>
            <a:r>
              <a:t>- From retry structure, establish whether the retry loop is bounded.</a:t>
            </a:r>
          </a:p>
          <a:p>
            <a:r>
              <a:t>- From the resource graph, calculate peak memory demand.</a:t>
            </a:r>
          </a:p>
          <a:p>
            <a:r>
              <a:t>- These are different validators over shared engineering knowledge.</a:t>
            </a:r>
          </a:p>
          <a:p>
            <a:r>
              <a:t>- Their verdicts may simply be reported, or some may feed a gate.</a:t>
            </a:r>
          </a:p>
          <a:p>
            <a:r>
              <a:t>- The gate is optional because not every judgment should automatically block an action.</a:t>
            </a:r>
          </a:p>
          <a:p>
            <a:r>
              <a:t>- This is what models buy Alignment: explicit engineering knowledge can be consumed by multiple controls without reconstructing the relevant structure separately each time.</a:t>
            </a:r>
          </a:p>
          <a:p>
            <a:r>
              <a:t>ANIMATION</a:t>
            </a:r>
          </a:p>
          <a:p>
            <a:r>
              <a:t>- Reveal the explicit model first.</a:t>
            </a:r>
          </a:p>
          <a:p>
            <a:r>
              <a:t>- Reveal LIFECYCLE CHECK and verdict.</a:t>
            </a:r>
          </a:p>
          <a:p>
            <a:r>
              <a:t>- Reveal RETRY BOUND and verdict.</a:t>
            </a:r>
          </a:p>
          <a:p>
            <a:r>
              <a:t>- Reveal MEMORY ANALYSIS and verdict.</a:t>
            </a:r>
          </a:p>
          <a:p>
            <a:r>
              <a:t>- Reveal VERDICTS.</a:t>
            </a:r>
          </a:p>
          <a:p>
            <a:r>
              <a:t>- Reveal optional GATE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- You saw this equation in Modeling. It describes the production problem: given the task, reasoner, representation, and harness, how likely is delegation to produce an acceptable result?</a:t>
            </a:r>
          </a:p>
          <a:p>
            <a:r>
              <a:t>- Last time we opened R. Modeling changes the representation available to the reasoner.</a:t>
            </a:r>
          </a:p>
          <a:p>
            <a:r>
              <a:t>- Today, notice one word we have mostly taken for granted: acceptable. What does that mean?</a:t>
            </a:r>
          </a:p>
          <a:p>
            <a:r>
              <a:t>- Then immediately: let's run the production system.</a:t>
            </a:r>
          </a:p>
          <a:p>
            <a:r>
              <a:t>- Advance to the vibe-coding exercise. Do not explain Alignment first; the students are about to experience the ambiguity in "acceptable" for themselves.</a:t>
            </a:r>
          </a:p>
          <a:p>
            <a:r>
              <a:t/>
            </a:r>
          </a:p>
          <a:p>
            <a:r>
              <a:t>ANIMATION</a:t>
            </a:r>
          </a:p>
          <a:p>
            <a:r>
              <a:t>- Reveal the equation exactly as remembered from Modeling.</a:t>
            </a:r>
          </a:p>
          <a:p>
            <a:r>
              <a:t>- Reveal the four definitions.</a:t>
            </a:r>
          </a:p>
          <a:p>
            <a:r>
              <a:t>- Reveal "What makes a result acceptable?" last, and leave it up as you advance.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specifies a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required evidence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bears on an obligation.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modify and propose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Merge and deployment are conditional on verdicts.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at the earliest boundary where the obligation can be decided.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SemanticGapTakeaway"/>
          <p:cNvSpPr txBox="1"/>
          <p:nvPr/>
        </p:nvSpPr>
        <p:spPr>
          <a:xfrm>
            <a:off x="274320" y="470916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Lift the check to the first boundary where the obligation becomes decidable.</a:t>
            </a:r>
          </a:p>
        </p:txBody>
      </p:sp>
      <p:sp>
        <p:nvSpPr>
          <p:cNvPr id="19" name="SG-Unit"/>
          <p:cNvSpPr/>
          <p:nvPr/>
        </p:nvSpPr>
        <p:spPr>
          <a:xfrm>
            <a:off x="2103120" y="105156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COMPLETED UNIT OF WORK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obligation decidable here</a:t>
            </a:r>
          </a:p>
        </p:txBody>
      </p:sp>
      <p:cxnSp>
        <p:nvCxnSpPr>
          <p:cNvPr id="20" name="SG-Lift"/>
          <p:cNvCxnSpPr/>
          <p:nvPr/>
        </p:nvCxnSpPr>
        <p:spPr>
          <a:xfrm flipV="1">
            <a:off x="4572000" y="2011680"/>
            <a:ext cx="0" cy="10241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G-Caption"/>
          <p:cNvSpPr txBox="1"/>
          <p:nvPr/>
        </p:nvSpPr>
        <p:spPr>
          <a:xfrm>
            <a:off x="274320" y="3218688"/>
            <a:ext cx="8595360" cy="347472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300" b="0" i="1">
                <a:solidFill>
                  <a:srgbClr val="8E6F3E"/>
                </a:solidFill>
              </a:rPr>
              <a:t>obligation not decidable at any individual commit</a:t>
            </a:r>
          </a:p>
        </p:txBody>
      </p:sp>
      <p:sp>
        <p:nvSpPr>
          <p:cNvPr id="22" name="SG-Commit1"/>
          <p:cNvSpPr/>
          <p:nvPr/>
        </p:nvSpPr>
        <p:spPr>
          <a:xfrm>
            <a:off x="1828800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3" name="SG-Commit2"/>
          <p:cNvSpPr/>
          <p:nvPr/>
        </p:nvSpPr>
        <p:spPr>
          <a:xfrm>
            <a:off x="3264408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4" name="SG-Commit3"/>
          <p:cNvSpPr/>
          <p:nvPr/>
        </p:nvSpPr>
        <p:spPr>
          <a:xfrm>
            <a:off x="4700016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5" name="SG-Commit4"/>
          <p:cNvSpPr/>
          <p:nvPr/>
        </p:nvSpPr>
        <p:spPr>
          <a:xfrm>
            <a:off x="6135624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26" name="SG-Arrow1"/>
          <p:cNvCxnSpPr/>
          <p:nvPr/>
        </p:nvCxnSpPr>
        <p:spPr>
          <a:xfrm>
            <a:off x="3026664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G-Arrow2"/>
          <p:cNvCxnSpPr/>
          <p:nvPr/>
        </p:nvCxnSpPr>
        <p:spPr>
          <a:xfrm>
            <a:off x="4462272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G-Arrow3"/>
          <p:cNvCxnSpPr/>
          <p:nvPr/>
        </p:nvCxnSpPr>
        <p:spPr>
          <a:xfrm>
            <a:off x="5897880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 xml:space="preserve">OBLIGATION 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have to be inferred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VERDICTS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1" i="0">
                <a:solidFill>
                  <a:srgbClr val="FBF8F2"/>
                </a:solidFill>
              </a:rPr>
              <a:t xml:space="preserve">ONE EXPLICIT MODEL  </a:t>
            </a:r>
            <a:r>
              <a:rPr sz="1050" b="0" i="1">
                <a:solidFill>
                  <a:srgbClr val="FBF8F2"/>
                </a:solidFill>
              </a:rPr>
              <a:t>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no,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MB,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C-Optional"/>
          <p:cNvSpPr txBox="1"/>
          <p:nvPr/>
        </p:nvSpPr>
        <p:spPr>
          <a:xfrm>
            <a:off x="5989320" y="343814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optional</a:t>
            </a:r>
          </a:p>
        </p:txBody>
      </p:sp>
      <p:sp>
        <p:nvSpPr>
          <p:cNvPr id="29" name="MC-GateOpt"/>
          <p:cNvSpPr/>
          <p:nvPr/>
        </p:nvSpPr>
        <p:spPr>
          <a:xfrm>
            <a:off x="5989320" y="3767328"/>
            <a:ext cx="1234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0" name="MC-VGArrow"/>
          <p:cNvCxnSpPr/>
          <p:nvPr/>
        </p:nvCxnSpPr>
        <p:spPr>
          <a:xfrm>
            <a:off x="5468112" y="4050791"/>
            <a:ext cx="4572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sp>
        <p:nvSpPr>
          <p:cNvPr id="15" name="TR-Label1"/>
          <p:cNvSpPr txBox="1"/>
          <p:nvPr/>
        </p:nvSpPr>
        <p:spPr>
          <a:xfrm>
            <a:off x="320040" y="13533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CORRESPONDENCE</a:t>
            </a:r>
          </a:p>
        </p:txBody>
      </p:sp>
      <p:sp>
        <p:nvSpPr>
          <p:cNvPr id="16" name="TR-Box1a"/>
          <p:cNvSpPr/>
          <p:nvPr/>
        </p:nvSpPr>
        <p:spPr>
          <a:xfrm>
            <a:off x="3108960" y="1280160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7" name="TR-Box1b"/>
          <p:cNvSpPr/>
          <p:nvPr/>
        </p:nvSpPr>
        <p:spPr>
          <a:xfrm>
            <a:off x="5989320" y="1280160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representation</a:t>
            </a:r>
          </a:p>
        </p:txBody>
      </p:sp>
      <p:cxnSp>
        <p:nvCxnSpPr>
          <p:cNvPr id="18" name="TR-Arrow1"/>
          <p:cNvCxnSpPr/>
          <p:nvPr/>
        </p:nvCxnSpPr>
        <p:spPr>
          <a:xfrm>
            <a:off x="5138928" y="16459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R-Q1"/>
          <p:cNvSpPr txBox="1"/>
          <p:nvPr/>
        </p:nvSpPr>
        <p:spPr>
          <a:xfrm>
            <a:off x="4617720" y="109728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do they agree?</a:t>
            </a:r>
          </a:p>
        </p:txBody>
      </p:sp>
      <p:sp>
        <p:nvSpPr>
          <p:cNvPr id="20" name="TR-Label2"/>
          <p:cNvSpPr txBox="1"/>
          <p:nvPr/>
        </p:nvSpPr>
        <p:spPr>
          <a:xfrm>
            <a:off x="320040" y="29535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CONFORMANCE</a:t>
            </a:r>
          </a:p>
        </p:txBody>
      </p:sp>
      <p:sp>
        <p:nvSpPr>
          <p:cNvPr id="21" name="TR-Box2a"/>
          <p:cNvSpPr/>
          <p:nvPr/>
        </p:nvSpPr>
        <p:spPr>
          <a:xfrm>
            <a:off x="3108960" y="2880360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artifact</a:t>
            </a:r>
          </a:p>
        </p:txBody>
      </p:sp>
      <p:sp>
        <p:nvSpPr>
          <p:cNvPr id="22" name="TR-Box2b"/>
          <p:cNvSpPr/>
          <p:nvPr/>
        </p:nvSpPr>
        <p:spPr>
          <a:xfrm>
            <a:off x="5989320" y="2880360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independent obligation</a:t>
            </a:r>
          </a:p>
        </p:txBody>
      </p:sp>
      <p:cxnSp>
        <p:nvCxnSpPr>
          <p:cNvPr id="23" name="TR-Arrow2"/>
          <p:cNvCxnSpPr/>
          <p:nvPr/>
        </p:nvCxnSpPr>
        <p:spPr>
          <a:xfrm>
            <a:off x="5138928" y="32461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R-Q2"/>
          <p:cNvSpPr txBox="1"/>
          <p:nvPr/>
        </p:nvSpPr>
        <p:spPr>
          <a:xfrm>
            <a:off x="4617720" y="269748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does it satisfy?</a:t>
            </a:r>
          </a:p>
        </p:txBody>
      </p:sp>
      <p:sp>
        <p:nvSpPr>
          <p:cNvPr id="25" name="TR-Label3"/>
          <p:cNvSpPr txBox="1"/>
          <p:nvPr/>
        </p:nvSpPr>
        <p:spPr>
          <a:xfrm>
            <a:off x="320040" y="45537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ACCEPTANCE</a:t>
            </a:r>
          </a:p>
        </p:txBody>
      </p:sp>
      <p:sp>
        <p:nvSpPr>
          <p:cNvPr id="26" name="TR-Box3a"/>
          <p:cNvSpPr/>
          <p:nvPr/>
        </p:nvSpPr>
        <p:spPr>
          <a:xfrm>
            <a:off x="3108960" y="4480559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artifact</a:t>
            </a:r>
          </a:p>
        </p:txBody>
      </p:sp>
      <p:sp>
        <p:nvSpPr>
          <p:cNvPr id="27" name="TR-Box3b"/>
          <p:cNvSpPr/>
          <p:nvPr/>
        </p:nvSpPr>
        <p:spPr>
          <a:xfrm>
            <a:off x="5989320" y="4480559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receiving environment</a:t>
            </a:r>
          </a:p>
        </p:txBody>
      </p:sp>
      <p:cxnSp>
        <p:nvCxnSpPr>
          <p:cNvPr id="28" name="TR-Arrow3"/>
          <p:cNvCxnSpPr/>
          <p:nvPr/>
        </p:nvCxnSpPr>
        <p:spPr>
          <a:xfrm>
            <a:off x="5138928" y="48463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R-Q3"/>
          <p:cNvSpPr txBox="1"/>
          <p:nvPr/>
        </p:nvSpPr>
        <p:spPr>
          <a:xfrm>
            <a:off x="4617720" y="4297679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will it accept?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should the environment control delegated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 xml:space="preserve"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 xml:space="preserve"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 xml:space="preserve"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 xml:space="preserve"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 xml:space="preserve">4  ·  </a:t>
            </a:r>
            <a:r>
              <a:rPr sz="1400" b="0" i="0">
                <a:solidFill>
                  <a:srgbClr val="5C4826"/>
                </a:solidFill>
              </a:rPr>
              <a:t>Preserve the cycle ordering: Sensor.read → decide → Actuator.act.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GIVEN MODEL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 xml:space="preserve"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 xml:space="preserve"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 xml:space="preserve"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 xml:space="preserve"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 xml:space="preserve"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evidence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Can the failure be prevented, or must it be observed and evaluated?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932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977639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Master Equation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1" name="EqBox"/>
          <p:cNvSpPr txBox="1"/>
          <p:nvPr/>
        </p:nvSpPr>
        <p:spPr>
          <a:xfrm>
            <a:off x="274320" y="1554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5400" b="0" i="1" dirty="0">
                <a:solidFill>
                  <a:srgbClr val="5C4826"/>
                </a:solidFill>
              </a:rPr>
              <a:t>p(T,M,R,H)</a:t>
            </a:r>
          </a:p>
        </p:txBody>
      </p:sp>
      <p:sp>
        <p:nvSpPr>
          <p:cNvPr id="12" name="EqGloss"/>
          <p:cNvSpPr txBox="1"/>
          <p:nvPr/>
        </p:nvSpPr>
        <p:spPr>
          <a:xfrm>
            <a:off x="274320" y="242316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probability that delegation produces an acceptable result</a:t>
            </a:r>
          </a:p>
        </p:txBody>
      </p:sp>
      <p:sp>
        <p:nvSpPr>
          <p:cNvPr id="13" name="DefLine"/>
          <p:cNvSpPr txBox="1"/>
          <p:nvPr/>
        </p:nvSpPr>
        <p:spPr>
          <a:xfrm>
            <a:off x="274320" y="402336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i="1" dirty="0">
                <a:solidFill>
                  <a:srgbClr val="8E6F3E"/>
                </a:solidFill>
              </a:rPr>
              <a:t>T</a:t>
            </a:r>
            <a:r>
              <a:rPr lang="en-US" sz="1600" b="0" dirty="0">
                <a:solidFill>
                  <a:srgbClr val="555960"/>
                </a:solidFill>
              </a:rPr>
              <a:t xml:space="preserve"> task   ·   </a:t>
            </a:r>
            <a:r>
              <a:rPr lang="en-US" sz="1600" b="1" i="1" dirty="0">
                <a:solidFill>
                  <a:srgbClr val="8E6F3E"/>
                </a:solidFill>
              </a:rPr>
              <a:t>M</a:t>
            </a:r>
            <a:r>
              <a:rPr lang="en-US" sz="1600" b="0" dirty="0">
                <a:solidFill>
                  <a:srgbClr val="555960"/>
                </a:solidFill>
              </a:rPr>
              <a:t xml:space="preserve"> reasoning model   ·   </a:t>
            </a:r>
            <a:r>
              <a:rPr lang="en-US" sz="1600" b="1" i="1" dirty="0">
                <a:solidFill>
                  <a:srgbClr val="8E6F3E"/>
                </a:solidFill>
              </a:rPr>
              <a:t>R</a:t>
            </a:r>
            <a:r>
              <a:rPr lang="en-US" sz="1600" b="0" dirty="0">
                <a:solidFill>
                  <a:srgbClr val="555960"/>
                </a:solidFill>
              </a:rPr>
              <a:t xml:space="preserve"> representation   ·   </a:t>
            </a:r>
            <a:r>
              <a:rPr lang="en-US" sz="1600" b="1" i="1" dirty="0">
                <a:solidFill>
                  <a:srgbClr val="8E6F3E"/>
                </a:solidFill>
              </a:rPr>
              <a:t>H</a:t>
            </a:r>
            <a:r>
              <a:rPr lang="en-US" sz="1600" b="0" dirty="0">
                <a:solidFill>
                  <a:srgbClr val="555960"/>
                </a:solidFill>
              </a:rPr>
              <a:t xml:space="preserve"> harness/process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makes a result acceptable?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