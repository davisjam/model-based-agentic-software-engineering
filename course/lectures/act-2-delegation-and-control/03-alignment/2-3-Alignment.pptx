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289" r:id="rId15"/>
    <p:sldId id="290" r:id="rId34"/>
    <p:sldId id="258" r:id="rId9"/>
    <p:sldId id="284" r:id="rId49"/>
    <p:sldId id="291" r:id="rId35"/>
    <p:sldId id="292" r:id="rId36"/>
    <p:sldId id="293" r:id="rId37"/>
    <p:sldId id="294" r:id="rId38"/>
    <p:sldId id="295" r:id="rId39"/>
    <p:sldId id="285" r:id="rId50"/>
    <p:sldId id="297" r:id="rId41"/>
    <p:sldId id="298" r:id="rId42"/>
    <p:sldId id="299" r:id="rId14"/>
    <p:sldId id="262" r:id="rId13"/>
    <p:sldId id="300" r:id="rId12"/>
    <p:sldId id="266" r:id="rId17"/>
    <p:sldId id="267" r:id="rId18"/>
    <p:sldId id="265" r:id="rId16"/>
    <p:sldId id="268" r:id="rId19"/>
    <p:sldId id="286" r:id="rId51"/>
    <p:sldId id="269" r:id="rId20"/>
    <p:sldId id="270" r:id="rId21"/>
    <p:sldId id="272" r:id="rId23"/>
    <p:sldId id="273" r:id="rId24"/>
    <p:sldId id="288" r:id="rId53"/>
    <p:sldId id="277" r:id="rId28"/>
    <p:sldId id="278" r:id="rId29"/>
    <p:sldId id="279" r:id="rId30"/>
    <p:sldId id="301" r:id="rId11"/>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9" Type="http://schemas.openxmlformats.org/officeDocument/2006/relationships/slide" Target="slides/slide4.xml"/><Relationship Id="rId11" Type="http://schemas.openxmlformats.org/officeDocument/2006/relationships/slide" Target="slides/slide31.xml"/><Relationship Id="rId12" Type="http://schemas.openxmlformats.org/officeDocument/2006/relationships/slide" Target="slides/slide16.xml"/><Relationship Id="rId13" Type="http://schemas.openxmlformats.org/officeDocument/2006/relationships/slide" Target="slides/slide15.xml"/><Relationship Id="rId14" Type="http://schemas.openxmlformats.org/officeDocument/2006/relationships/slide" Target="slides/slide14.xml"/><Relationship Id="rId15" Type="http://schemas.openxmlformats.org/officeDocument/2006/relationships/slide" Target="slides/slide2.xml"/><Relationship Id="rId16" Type="http://schemas.openxmlformats.org/officeDocument/2006/relationships/slide" Target="slides/slide19.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35.xml"/><Relationship Id="rId26" Type="http://schemas.openxmlformats.org/officeDocument/2006/relationships/slide" Target="slides/slide36.xml"/><Relationship Id="rId27" Type="http://schemas.openxmlformats.org/officeDocument/2006/relationships/slide" Target="slides/slide3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8.xml"/><Relationship Id="rId34" Type="http://schemas.openxmlformats.org/officeDocument/2006/relationships/slide" Target="slides/slide3.xml"/><Relationship Id="rId35" Type="http://schemas.openxmlformats.org/officeDocument/2006/relationships/slide" Target="slides/slide6.xml"/><Relationship Id="rId36"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39" Type="http://schemas.openxmlformats.org/officeDocument/2006/relationships/slide" Target="slides/slide10.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9" Type="http://schemas.openxmlformats.org/officeDocument/2006/relationships/slide" Target="slides/slide5.xml"/><Relationship Id="rId50" Type="http://schemas.openxmlformats.org/officeDocument/2006/relationships/slide" Target="slides/slide11.xml"/><Relationship Id="rId51" Type="http://schemas.openxmlformats.org/officeDocument/2006/relationships/slide" Target="slides/slide21.xml"/><Relationship Id="rId52" Type="http://schemas.openxmlformats.org/officeDocument/2006/relationships/slide" Target="slides/slide34.xml"/><Relationship Id="rId5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do not answer it yet. Do not preview the model. Transition: "Rather than define Alignment, let's give an agent some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 callback to Architecture/Design — the same degrees-of-freedom visual language. Speaker: "This is the same design problem we have seen before: decide which degrees of freedom matter." We are NOT teaching students to write giant prompts that micromanage agents.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Lands after the todo-app discussion: name the two halves the students just experienced. The footer phrase is the unit framing (it also opens the lander). No Section 0, no recap — straight into Section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PLAUSIBLE work order, not a generic list. Walk the rows; the right-hand annotations name what each row is doing: outcome, scope, obligations, process, stopping condition, authority.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"environment" finally becomes concrete. The agent is not a chat window: it is placed inside a repository, with tools and context, and its work leaves through a commit and a PR.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todo app: "That was fine for a todo list. Now suppose the work matters. What else would we give the agent?" Caution: do NOT claim every delegation requires all of these to be explicitly specified. The point is that some process will occur whether you model it or not.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failure mode. "All tests pass" is a claim, not yet evidence of the right thing. Recover the Section-1 definition: an OBLIGATION is a condition against which the work can be wrong. Evidence is evidence only relative to an obligation — one of the strongest propositions in the deck; let it land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empty on purpose — no list of suggested checks initially; let the room discover the ambiguity. The gold line and the check list are a BUILD revealed after discussion. Collect: adding, editing, deletion, persistence, appearance, console errors, refresh, multiple tabs. Only after they volunteer these, point out that they are implicitly inventing obligations and evidence. Do not resolve anything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low-stakes and independent of the running engineering example. Students should experience "I asked an agent for something; it produced something that looks plausible; now what does WORKS mean?" before consequential delegated work appears. "Use whatever implementation approach you think is appropriate" deliberately creates degrees of freedom to return to later: different frameworks, storage mechanisms, UI choices, command sequences. The prompt paragraph is a single copyable block — students paste it into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pivotal picture: verification governing admission to greater consequence. Demoted build (speaker): a verdict can carry increasing authority — WARN (note it) / RECOMMEND (ask the agent to reconsider) / REJECT (refuse the patch) / PREVENT (make the action impossible). Guidance shapes behavior; enforcement determines what the environment accepts.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roles are two conceptual pairs, not a pipeline: constraint and sensor concern the work and its state (what may happen; what did happen); validator and gate concern judgment and admission (is it OK; may it pass). One mechanism may bundle roles: a CI test senses, validates, and gates at once; a narrow interface constrains while producing evidence of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3.3-1 (constraint vs sensor): the student performs the choice. Can the unwanted state be excluded cleanly and reliably? YES: constraint (typed enum, permission, narrow API). NO: sensor (metric, trace, call scan, log) — then validate the evidence, and gate on the verdict when appropriate. The first engineering preference is prevention, when cheap and reliable.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Closes Section 2: Alignment as Validation with consequences, not a second framework. Validation asks whether evidence supports the claim; Alignment asks what the verdict should control. If this feels abstract, 60-second true story: a merge automation resolved conflicts by taking one side, silently dropping content on overlapping edits. A guard DETECTED when a conflict touched critical files, correctly judged the resolution unsafe — and logged it as a warning only. The operation proceeded, and the tree lost content. The system had evidence; the validator judged correctly; nothing acted on the verdict. The durable fix was not a louder warning — it removed the unsafe capability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(12 min). The lifecycle pipeline is the visual anchor for the whole section. Build: place the candidate checks one at a time, asking the room where each belongs before revealing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3.2-3 (the semantic gap): this explains WHY the rule exists rather than merely stating it. The obligation is legible only at the boundary where the whole unit of work is assembled; below it, no single commit / call / turn carries enough to decide. Ask the room why not everything at edit time before revealing. "Shift left" is not an unconditional maxim — check earlier only when the required evidence exists earlier.</a:t>
            </a:r>
          </a:p>
          <a:p/>
          <a:p>
            <a:r>
              <a:t>Generalization (cut slide "The boundary follows the property" — speak it, do not show it): Validation taught: check at the lowest scope that can establish it, but no lower. Alignment generalizes: check at the earliest boundary where the obligation can be decided, but no earlier. Both place the check at the earliest boundary where the obligation is legible and decidable. Modeling tie: wrong abstraction — the property is not represented; wrong Alignment boundary — the evidence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Enforcing an end-state obligation per-commit produces a bad control: it enforces the right obligation at a boundary that cannot yet decide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the team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(18 min): ~10–12 min team work, ~6 min debrief. Same scenario for every team so the debrief can compare designs. The instruction is deliberately wider than "how will each obligation be checked?" — teams design the delegated process AND its controls. One obligation is structurally preventable, one measured, one static, one integration-only — keep that heterogeneity. The model is GIVEN explicitly — students should not spend the exercise reconstructing it from prose immediately after being told why reconstruction is undesirable. The cycle line is the interaction behavior: obligation 4 is observable only in composition, so it forces a different boundary than the other three.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lecture on one slide — the design sequence each team applies to each obligation. Give them 10–12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disagreements, not merely good answers — each comparison corresponds directly to a lecture choice. The outcome: students can perform Alignment and say what an explicit model bought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explicitly. Deliberate mode change: fewer slides, more discussion, from here 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only the question on screen and stop. ~5 minutes of whole-class discussion; let students recover ideas from Modeling before showing any answer list.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discussion, consolidate: what an explicit representation adds to the Alignment the students just performed.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3.2-1: three distinct relations, drawn separately so they cannot be read as one. Correspondence — do two representations agree? Conformance — does the artifact satisfy an independent obligation? Acceptance — will the receiving environment admit it? Evidence for one does not establish the others: a model and realization can agree completely and still violate an external obligation, and a representation extracted from the implementation corresponds by construction — that is not independent evidence of correctness. Next slide: now look specifically at obligation / model / realization — agreement occupies only one edge.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each edge means before giving the labels. This makes correspondence / conformance concrete rather than vocabulary.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opening. Build: the six questions appear one at a time — the first is the new one. Spoken close, returning to the opening activity: "You told an agent to vibe-code a todo list; later you told one to add bulk refunds. Both times the question was: does it work? We now have a better question: what must be true, what evidence can establish it, and what will the engineered environment permit when it isn’t?" Then the FA-SDLC handoff sentence only.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(12 min). Transition from the todo app: "That was fine for a todo list. Now suppose the work matters. What else would we give the agent?"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(15 min). Build the failure model one mode at a time before any control vocabulary appears.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(12 min). Moved BEFORE the design activity: the Modeling payoff is a design resource the activity should get to use.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explicit process-modeling slide. The distinction matters: we are modeling the engineering process, not pretending we have a faithful cognitive model of an LLM.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failure mode; take them one at a time. The artifact itself is wrong against an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Crucial: each example can leave a final state that LOOKS fine. The failure is in the path, not (only) the artifact — which is why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failure mode. Explicit callback to the Agents lecture. This is what sets up gates later in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from diagnosis to mechanism: each failure from the last four slides maps to a distinct engineering response. The four failures are genuinely different — wrong artifact, wrong process, excess authority, insufficient evidence — which is why the next slide needs four roles rather than one checker. This earns the control vocabulary: the failure model, not a framework, motivates the roles.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between Modeling and Alignment, shown on a REAL shipped model (workbench example: medium-document-processing). One document service, declared once — entities, a bounded-retry lifecycle (submitted/queued/processing/completed/failed, retry_count at most 2), and a working-memory envelope (two 384 MB task slots against a 1 GB worker) — is consumed several ways: a lifecycle reachability check, a retry-bound check, and a memory analysis. Two kinds of question over one system; their verdicts meet at a gate. Nothing here was reconstructed from the code — every figure is a declaration in the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orders we give an agent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are we actually asking an agent to do?</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task is not a process</a:t>
            </a:r>
          </a:p>
        </p:txBody>
      </p:sp>
      <p:sp>
        <p:nvSpPr>
          <p:cNvPr id="4" name="Task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TASK</a:t>
            </a:r>
          </a:p>
          <a:p>
            <a:pPr algn="ctr"/>
            <a:r>
              <a:rPr sz="1000" b="0" i="0">
                <a:solidFill>
                  <a:srgbClr val="5C4826"/>
                </a:solidFill>
              </a:rPr>
              <a:t/>
            </a:r>
          </a:p>
          <a:p>
            <a:pPr algn="ctr"/>
            <a:r>
              <a:rPr sz="1800" b="0" i="0">
                <a:solidFill>
                  <a:srgbClr val="5C4826"/>
                </a:solidFill>
              </a:rPr>
              <a:t>Add bulk refunds to the payments service.</a:t>
            </a:r>
          </a:p>
        </p:txBody>
      </p:sp>
      <p:sp>
        <p:nvSpPr>
          <p:cNvPr id="5" name="Process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PROCESS</a:t>
            </a:r>
          </a:p>
          <a:p>
            <a:pPr algn="ctr"/>
            <a:r>
              <a:rPr sz="600" b="0" i="0">
                <a:solidFill>
                  <a:srgbClr val="5C4826"/>
                </a:solidFill>
              </a:rPr>
              <a:t/>
            </a:r>
          </a:p>
          <a:p>
            <a:pPr algn="ctr"/>
            <a:r>
              <a:rPr sz="1600" b="0" i="0">
                <a:solidFill>
                  <a:srgbClr val="5C4826"/>
                </a:solidFill>
              </a:rPr>
              <a:t>Where do you work?</a:t>
            </a:r>
          </a:p>
          <a:p>
            <a:pPr algn="ctr"/>
            <a:r>
              <a:rPr sz="1600" b="0" i="0">
                <a:solidFill>
                  <a:srgbClr val="5C4826"/>
                </a:solidFill>
              </a:rPr>
              <a:t>What may you change?</a:t>
            </a:r>
          </a:p>
          <a:p>
            <a:pPr algn="ctr"/>
            <a:r>
              <a:rPr sz="1600" b="0" i="0">
                <a:solidFill>
                  <a:srgbClr val="5C4826"/>
                </a:solidFill>
              </a:rPr>
              <a:t>What information should you inspect?</a:t>
            </a:r>
          </a:p>
          <a:p>
            <a:pPr algn="ctr"/>
            <a:r>
              <a:rPr sz="1600" b="0" i="0">
                <a:solidFill>
                  <a:srgbClr val="5C4826"/>
                </a:solidFill>
              </a:rPr>
              <a:t>What checks must you run?</a:t>
            </a:r>
          </a:p>
          <a:p>
            <a:pPr algn="ctr"/>
            <a:r>
              <a:rPr sz="1600" b="0" i="0">
                <a:solidFill>
                  <a:srgbClr val="5C4826"/>
                </a:solidFill>
              </a:rPr>
              <a:t>What artifact should you produce?</a:t>
            </a:r>
          </a:p>
          <a:p>
            <a:pPr algn="ctr"/>
            <a:r>
              <a:rPr sz="1600" b="0" i="0">
                <a:solidFill>
                  <a:srgbClr val="5C4826"/>
                </a:solidFill>
              </a:rPr>
              <a:t>When are you finished?</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 task describes an outcome.</a:t>
            </a:r>
          </a:p>
          <a:p>
            <a:pPr algn="ctr"/>
            <a:r>
              <a:rPr sz="1600" b="1" i="0">
                <a:solidFill>
                  <a:srgbClr val="FFFFFF"/>
                </a:solidFill>
              </a:rPr>
              <a:t>Delegation also requires a process for producing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292608"/>
          </a:xfrm>
          <a:prstGeom prst="rect">
            <a:avLst/>
          </a:prstGeom>
          <a:noFill/>
        </p:spPr>
        <p:txBody>
          <a:bodyPr wrap="square" anchor="t">
            <a:spAutoFit/>
          </a:bodyPr>
          <a:lstStyle/>
          <a:p>
            <a:pPr algn="l"/>
            <a:r>
              <a:rPr sz="14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commit / PR</a:t>
            </a:r>
          </a:p>
        </p:txBody>
      </p:sp>
      <p:sp>
        <p:nvSpPr>
          <p:cNvPr id="19" name="EnvCaption"/>
          <p:cNvSpPr txBox="1"/>
          <p:nvPr/>
        </p:nvSpPr>
        <p:spPr>
          <a:xfrm>
            <a:off x="274320" y="5559552"/>
            <a:ext cx="8595360" cy="256032"/>
          </a:xfrm>
          <a:prstGeom prst="rect">
            <a:avLst/>
          </a:prstGeom>
          <a:noFill/>
        </p:spPr>
        <p:txBody>
          <a:bodyPr wrap="square" anchor="t">
            <a:spAutoFit/>
          </a:bodyPr>
          <a:lstStyle/>
          <a:p>
            <a:pPr algn="ctr"/>
            <a:r>
              <a:rPr sz="1300" b="0" i="1">
                <a:solidFill>
                  <a:srgbClr val="555960"/>
                </a:solidFill>
              </a:rPr>
              <a:t>Git worktree · branch · issue · repository instructions · tools · tests · CI · PR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4517136"/>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1800" b="1" i="0">
                          <a:solidFill>
                            <a:srgbClr val="FFFFFF"/>
                          </a:solidFill>
                        </a:rPr>
                        <a:t>WORK ORDER: Bulk refunds</a:t>
                      </a:r>
                    </a:p>
                  </a:txBody>
                  <a:tcPr anchor="ctr" marL="68580" marR="45720" marT="27432" marB="27432">
                    <a:solidFill>
                      <a:srgbClr val="8E6F3E"/>
                    </a:solidFill>
                  </a:tcPr>
                </a:tc>
                <a:tc hMerge="1">
                  <a:txBody>
                    <a:bodyPr/>
                    <a:lstStyle/>
                    <a:p/>
                  </a:txBody>
                  <a:tcPr/>
                </a:tc>
              </a:tr>
              <a:tr h="566928">
                <a:tc>
                  <a:txBody>
                    <a:bodyPr wrap="square" anchor="ctr"/>
                    <a:lstStyle/>
                    <a:p>
                      <a:pPr algn="l"/>
                      <a:r>
                        <a:rPr sz="1600" b="1" i="0">
                          <a:solidFill>
                            <a:srgbClr val="5C4826"/>
                          </a:solidFill>
                        </a:rPr>
                        <a:t>Goal</a:t>
                      </a:r>
                    </a:p>
                  </a:txBody>
                  <a:tcPr anchor="ctr" marL="68580" marR="45720" marT="27432" marB="27432">
                    <a:solidFill>
                      <a:srgbClr val="F5F1E8"/>
                    </a:solidFill>
                  </a:tcPr>
                </a:tc>
                <a:tc>
                  <a:txBody>
                    <a:bodyPr wrap="square" anchor="ctr"/>
                    <a:lstStyle/>
                    <a:p>
                      <a:pPr algn="l"/>
                      <a:r>
                        <a:rPr sz="1600" b="0" i="0">
                          <a:solidFill>
                            <a:srgbClr val="5C4826"/>
                          </a:solidFill>
                        </a:rPr>
                        <a:t>Add POST /refunds/bulk</a:t>
                      </a:r>
                    </a:p>
                  </a:txBody>
                  <a:tcPr anchor="ctr" marL="68580" marR="45720" marT="27432" marB="27432">
                    <a:solidFill>
                      <a:srgbClr val="FBF8F2"/>
                    </a:solidFill>
                  </a:tcPr>
                </a:tc>
              </a:tr>
              <a:tr h="566928">
                <a:tc>
                  <a:txBody>
                    <a:bodyPr wrap="square" anchor="ctr"/>
                    <a:lstStyle/>
                    <a:p>
                      <a:pPr algn="l"/>
                      <a:r>
                        <a:rPr sz="1600" b="1" i="0">
                          <a:solidFill>
                            <a:srgbClr val="5C4826"/>
                          </a:solidFill>
                        </a:rPr>
                        <a:t>Scope</a:t>
                      </a:r>
                    </a:p>
                  </a:txBody>
                  <a:tcPr anchor="ctr" marL="68580" marR="45720" marT="27432" marB="27432">
                    <a:solidFill>
                      <a:srgbClr val="F5F1E8"/>
                    </a:solidFill>
                  </a:tcPr>
                </a:tc>
                <a:tc>
                  <a:txBody>
                    <a:bodyPr wrap="square" anchor="ctr"/>
                    <a:lstStyle/>
                    <a:p>
                      <a:pPr algn="l"/>
                      <a:r>
                        <a:rPr sz="1600" b="0" i="0">
                          <a:solidFill>
                            <a:srgbClr val="5C4826"/>
                          </a:solidFill>
                        </a:rPr>
                        <a:t>Modify the payments service only</a:t>
                      </a:r>
                    </a:p>
                  </a:txBody>
                  <a:tcPr anchor="ctr" marL="68580" marR="45720" marT="27432" marB="27432">
                    <a:solidFill>
                      <a:srgbClr val="FBF8F2"/>
                    </a:solidFill>
                  </a:tcPr>
                </a:tc>
              </a:tr>
              <a:tr h="566928">
                <a:tc>
                  <a:txBody>
                    <a:bodyPr wrap="square" anchor="ctr"/>
                    <a:lstStyle/>
                    <a:p>
                      <a:pPr algn="l"/>
                      <a:r>
                        <a:rPr sz="1600" b="1" i="0">
                          <a:solidFill>
                            <a:srgbClr val="5C4826"/>
                          </a:solidFill>
                        </a:rPr>
                        <a:t>Preserve</a:t>
                      </a:r>
                    </a:p>
                  </a:txBody>
                  <a:tcPr anchor="ctr" marL="68580" marR="45720" marT="27432" marB="27432">
                    <a:solidFill>
                      <a:srgbClr val="F5F1E8"/>
                    </a:solidFill>
                  </a:tcPr>
                </a:tc>
                <a:tc>
                  <a:txBody>
                    <a:bodyPr wrap="square" anchor="ctr"/>
                    <a:lstStyle/>
                    <a:p>
                      <a:pPr algn="l"/>
                      <a:r>
                        <a:rPr sz="1600" b="0" i="0">
                          <a:solidFill>
                            <a:srgbClr val="5C4826"/>
                          </a:solidFill>
                        </a:rPr>
                        <a:t>Existing single-refund API behavior</a:t>
                      </a:r>
                    </a:p>
                  </a:txBody>
                  <a:tcPr anchor="ctr" marL="68580" marR="45720" marT="27432" marB="27432">
                    <a:solidFill>
                      <a:srgbClr val="FBF8F2"/>
                    </a:solidFill>
                  </a:tcPr>
                </a:tc>
              </a:tr>
              <a:tr h="566928">
                <a:tc>
                  <a:txBody>
                    <a:bodyPr wrap="square" anchor="ctr"/>
                    <a:lstStyle/>
                    <a:p>
                      <a:pPr algn="l"/>
                      <a:r>
                        <a:rPr sz="1600" b="1" i="0">
                          <a:solidFill>
                            <a:srgbClr val="5C4826"/>
                          </a:solidFill>
                        </a:rPr>
                        <a:t>Do not</a:t>
                      </a:r>
                    </a:p>
                  </a:txBody>
                  <a:tcPr anchor="ctr" marL="68580" marR="45720" marT="27432" marB="27432">
                    <a:solidFill>
                      <a:srgbClr val="F5F1E8"/>
                    </a:solidFill>
                  </a:tcPr>
                </a:tc>
                <a:tc>
                  <a:txBody>
                    <a:bodyPr wrap="square" anchor="ctr"/>
                    <a:lstStyle/>
                    <a:p>
                      <a:pPr algn="l"/>
                      <a:r>
                        <a:rPr sz="1600" b="0" i="0">
                          <a:solidFill>
                            <a:srgbClr val="5C4826"/>
                          </a:solidFill>
                        </a:rPr>
                        <a:t>Modify authentication or payment-provider adapters</a:t>
                      </a:r>
                    </a:p>
                  </a:txBody>
                  <a:tcPr anchor="ctr" marL="68580" marR="45720" marT="27432" marB="27432">
                    <a:solidFill>
                      <a:srgbClr val="FBF8F2"/>
                    </a:solidFill>
                  </a:tcPr>
                </a:tc>
              </a:tr>
              <a:tr h="566928">
                <a:tc>
                  <a:txBody>
                    <a:bodyPr wrap="square" anchor="ctr"/>
                    <a:lstStyle/>
                    <a:p>
                      <a:pPr algn="l"/>
                      <a:r>
                        <a:rPr sz="1600" b="1" i="0">
                          <a:solidFill>
                            <a:srgbClr val="5C4826"/>
                          </a:solidFill>
                        </a:rPr>
                        <a:t>Check</a:t>
                      </a:r>
                    </a:p>
                  </a:txBody>
                  <a:tcPr anchor="ctr" marL="68580" marR="45720" marT="27432" marB="27432">
                    <a:solidFill>
                      <a:srgbClr val="F5F1E8"/>
                    </a:solidFill>
                  </a:tcPr>
                </a:tc>
                <a:tc>
                  <a:txBody>
                    <a:bodyPr wrap="square" anchor="ctr"/>
                    <a:lstStyle/>
                    <a:p>
                      <a:pPr algn="l"/>
                      <a:r>
                        <a:rPr sz="1600" b="0" i="0">
                          <a:solidFill>
                            <a:srgbClr val="5C4826"/>
                          </a:solidFill>
                        </a:rPr>
                        <a:t>Existing tests + new bulk-refund tests</a:t>
                      </a:r>
                    </a:p>
                  </a:txBody>
                  <a:tcPr anchor="ctr" marL="68580" marR="45720" marT="27432" marB="27432">
                    <a:solidFill>
                      <a:srgbClr val="FBF8F2"/>
                    </a:solidFill>
                  </a:tcPr>
                </a:tc>
              </a:tr>
              <a:tr h="566928">
                <a:tc>
                  <a:txBody>
                    <a:bodyPr wrap="square" anchor="ctr"/>
                    <a:lstStyle/>
                    <a:p>
                      <a:pPr algn="l"/>
                      <a:r>
                        <a:rPr sz="1600" b="1" i="0">
                          <a:solidFill>
                            <a:srgbClr val="5C4826"/>
                          </a:solidFill>
                        </a:rPr>
                        <a:t>Deliver</a:t>
                      </a:r>
                    </a:p>
                  </a:txBody>
                  <a:tcPr anchor="ctr" marL="68580" marR="45720" marT="27432" marB="27432">
                    <a:solidFill>
                      <a:srgbClr val="F5F1E8"/>
                    </a:solidFill>
                  </a:tcPr>
                </a:tc>
                <a:tc>
                  <a:txBody>
                    <a:bodyPr wrap="square" anchor="ctr"/>
                    <a:lstStyle/>
                    <a:p>
                      <a:pPr algn="l"/>
                      <a:r>
                        <a:rPr sz="1600" b="0" i="0">
                          <a:solidFill>
                            <a:srgbClr val="5C4826"/>
                          </a:solidFill>
                        </a:rPr>
                        <a:t>Commit changes on your worktree and open a PR</a:t>
                      </a:r>
                    </a:p>
                  </a:txBody>
                  <a:tcPr anchor="ctr" marL="68580" marR="45720" marT="27432" marB="27432">
                    <a:solidFill>
                      <a:srgbClr val="FBF8F2"/>
                    </a:solidFill>
                  </a:tcPr>
                </a:tc>
              </a:tr>
              <a:tr h="566928">
                <a:tc>
                  <a:txBody>
                    <a:bodyPr wrap="square" anchor="ctr"/>
                    <a:lstStyle/>
                    <a:p>
                      <a:pPr algn="l"/>
                      <a:r>
                        <a:rPr sz="1600" b="1" i="0">
                          <a:solidFill>
                            <a:srgbClr val="5C4826"/>
                          </a:solidFill>
                        </a:rPr>
                        <a:t>Authority</a:t>
                      </a:r>
                    </a:p>
                  </a:txBody>
                  <a:tcPr anchor="ctr" marL="68580" marR="45720" marT="27432" marB="27432">
                    <a:solidFill>
                      <a:srgbClr val="F5F1E8"/>
                    </a:solidFill>
                  </a:tcPr>
                </a:tc>
                <a:tc>
                  <a:txBody>
                    <a:bodyPr wrap="square" anchor="ctr"/>
                    <a:lstStyle/>
                    <a:p>
                      <a:pPr algn="l"/>
                      <a:r>
                        <a:rPr sz="1600" b="0" i="0">
                          <a:solidFill>
                            <a:srgbClr val="5C4826"/>
                          </a:solidFill>
                        </a:rPr>
                        <a:t>Do not merge or deploy</a:t>
                      </a:r>
                    </a:p>
                  </a:txBody>
                  <a:tcPr anchor="ctr" marL="68580" marR="45720" marT="27432" marB="27432">
                    <a:solidFill>
                      <a:srgbClr val="FBF8F2"/>
                    </a:solidFill>
                  </a:tcPr>
                </a:tc>
              </a:tr>
            </a:tbl>
          </a:graphicData>
        </a:graphic>
      </p:graphicFrame>
      <p:sp>
        <p:nvSpPr>
          <p:cNvPr id="5" name="Annot-outcome"/>
          <p:cNvSpPr txBox="1"/>
          <p:nvPr/>
        </p:nvSpPr>
        <p:spPr>
          <a:xfrm>
            <a:off x="7178040" y="1664207"/>
            <a:ext cx="1874519" cy="347472"/>
          </a:xfrm>
          <a:prstGeom prst="rect">
            <a:avLst/>
          </a:prstGeom>
          <a:noFill/>
        </p:spPr>
        <p:txBody>
          <a:bodyPr wrap="square" anchor="t">
            <a:spAutoFit/>
          </a:bodyPr>
          <a:lstStyle/>
          <a:p>
            <a:pPr algn="l"/>
            <a:r>
              <a:rPr sz="1400" b="0" i="1">
                <a:solidFill>
                  <a:srgbClr val="555960"/>
                </a:solidFill>
              </a:rPr>
              <a:t>outcome</a:t>
            </a:r>
          </a:p>
        </p:txBody>
      </p:sp>
      <p:sp>
        <p:nvSpPr>
          <p:cNvPr id="6" name="Annot-scope"/>
          <p:cNvSpPr txBox="1"/>
          <p:nvPr/>
        </p:nvSpPr>
        <p:spPr>
          <a:xfrm>
            <a:off x="7178040" y="2231136"/>
            <a:ext cx="1874519" cy="347472"/>
          </a:xfrm>
          <a:prstGeom prst="rect">
            <a:avLst/>
          </a:prstGeom>
          <a:noFill/>
        </p:spPr>
        <p:txBody>
          <a:bodyPr wrap="square" anchor="t">
            <a:spAutoFit/>
          </a:bodyPr>
          <a:lstStyle/>
          <a:p>
            <a:pPr algn="l"/>
            <a:r>
              <a:rPr sz="1400" b="0" i="1">
                <a:solidFill>
                  <a:srgbClr val="555960"/>
                </a:solidFill>
              </a:rPr>
              <a:t>scope</a:t>
            </a:r>
          </a:p>
        </p:txBody>
      </p:sp>
      <p:sp>
        <p:nvSpPr>
          <p:cNvPr id="7" name="Annot-obligations"/>
          <p:cNvSpPr txBox="1"/>
          <p:nvPr/>
        </p:nvSpPr>
        <p:spPr>
          <a:xfrm>
            <a:off x="7178040" y="3081528"/>
            <a:ext cx="1874519" cy="347472"/>
          </a:xfrm>
          <a:prstGeom prst="rect">
            <a:avLst/>
          </a:prstGeom>
          <a:noFill/>
        </p:spPr>
        <p:txBody>
          <a:bodyPr wrap="square" anchor="t">
            <a:spAutoFit/>
          </a:bodyPr>
          <a:lstStyle/>
          <a:p>
            <a:pPr algn="l"/>
            <a:r>
              <a:rPr sz="1400" b="0" i="1">
                <a:solidFill>
                  <a:srgbClr val="555960"/>
                </a:solidFill>
              </a:rPr>
              <a:t>obligations</a:t>
            </a:r>
          </a:p>
        </p:txBody>
      </p:sp>
      <p:sp>
        <p:nvSpPr>
          <p:cNvPr id="8" name="Annot-process"/>
          <p:cNvSpPr txBox="1"/>
          <p:nvPr/>
        </p:nvSpPr>
        <p:spPr>
          <a:xfrm>
            <a:off x="7178040" y="3931920"/>
            <a:ext cx="1874519" cy="347472"/>
          </a:xfrm>
          <a:prstGeom prst="rect">
            <a:avLst/>
          </a:prstGeom>
          <a:noFill/>
        </p:spPr>
        <p:txBody>
          <a:bodyPr wrap="square" anchor="t">
            <a:spAutoFit/>
          </a:bodyPr>
          <a:lstStyle/>
          <a:p>
            <a:pPr algn="l"/>
            <a:r>
              <a:rPr sz="1400" b="0" i="1">
                <a:solidFill>
                  <a:srgbClr val="555960"/>
                </a:solidFill>
              </a:rPr>
              <a:t>process</a:t>
            </a:r>
          </a:p>
        </p:txBody>
      </p:sp>
      <p:sp>
        <p:nvSpPr>
          <p:cNvPr id="9" name="Annot-stopping condition"/>
          <p:cNvSpPr txBox="1"/>
          <p:nvPr/>
        </p:nvSpPr>
        <p:spPr>
          <a:xfrm>
            <a:off x="7178040" y="4498848"/>
            <a:ext cx="1874519" cy="347472"/>
          </a:xfrm>
          <a:prstGeom prst="rect">
            <a:avLst/>
          </a:prstGeom>
          <a:noFill/>
        </p:spPr>
        <p:txBody>
          <a:bodyPr wrap="square" anchor="t">
            <a:spAutoFit/>
          </a:bodyPr>
          <a:lstStyle/>
          <a:p>
            <a:pPr algn="l"/>
            <a:r>
              <a:rPr sz="1400" b="0" i="1">
                <a:solidFill>
                  <a:srgbClr val="555960"/>
                </a:solidFill>
              </a:rPr>
              <a:t>stopping condition</a:t>
            </a:r>
          </a:p>
        </p:txBody>
      </p:sp>
      <p:sp>
        <p:nvSpPr>
          <p:cNvPr id="10" name="Annot-authority"/>
          <p:cNvSpPr txBox="1"/>
          <p:nvPr/>
        </p:nvSpPr>
        <p:spPr>
          <a:xfrm>
            <a:off x="7178040" y="5065776"/>
            <a:ext cx="1874519" cy="347472"/>
          </a:xfrm>
          <a:prstGeom prst="rect">
            <a:avLst/>
          </a:prstGeom>
          <a:noFill/>
        </p:spPr>
        <p:txBody>
          <a:bodyPr wrap="square" anchor="t">
            <a:spAutoFit/>
          </a:bodyPr>
          <a:lstStyle/>
          <a:p>
            <a:pPr algn="l"/>
            <a:r>
              <a:rPr sz="1400" b="0" i="1">
                <a:solidFill>
                  <a:srgbClr val="555960"/>
                </a:solidFill>
              </a:rPr>
              <a:t>authority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Orders reduce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1600" b="0" i="0">
                <a:solidFill>
                  <a:srgbClr val="5C4826"/>
                </a:solidFill>
              </a:rPr>
              <a:t>worktree</a:t>
            </a:r>
          </a:p>
          <a:p>
            <a:pPr algn="ctr"/>
            <a:r>
              <a:rPr sz="1600" b="0" i="0">
                <a:solidFill>
                  <a:srgbClr val="5C4826"/>
                </a:solidFill>
              </a:rPr>
              <a:t>files in scope</a:t>
            </a:r>
          </a:p>
          <a:p>
            <a:pPr algn="ctr"/>
            <a:r>
              <a:rPr sz="1600" b="0" i="0">
                <a:solidFill>
                  <a:srgbClr val="5C4826"/>
                </a:solidFill>
              </a:rPr>
              <a:t>forbidden actions</a:t>
            </a:r>
          </a:p>
          <a:p>
            <a:pPr algn="ctr"/>
            <a:r>
              <a:rPr sz="1600" b="0" i="0">
                <a:solidFill>
                  <a:srgbClr val="5C4826"/>
                </a:solidFill>
              </a:rPr>
              <a:t>required checks</a:t>
            </a:r>
          </a:p>
          <a:p>
            <a:pPr algn="ctr"/>
            <a:r>
              <a:rPr sz="16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1600" b="0" i="0">
                <a:solidFill>
                  <a:srgbClr val="5C4826"/>
                </a:solidFill>
              </a:rPr>
              <a:t>local implementation</a:t>
            </a:r>
          </a:p>
          <a:p>
            <a:pPr algn="ctr"/>
            <a:r>
              <a:rPr sz="1600" b="0" i="0">
                <a:solidFill>
                  <a:srgbClr val="5C4826"/>
                </a:solidFill>
              </a:rPr>
              <a:t>decomposition</a:t>
            </a:r>
          </a:p>
          <a:p>
            <a:pPr algn="ctr"/>
            <a:r>
              <a:rPr sz="1600" b="0" i="0">
                <a:solidFill>
                  <a:srgbClr val="5C4826"/>
                </a:solidFill>
              </a:rPr>
              <a:t>naming choices</a:t>
            </a:r>
          </a:p>
          <a:p>
            <a:pPr algn="ctr"/>
            <a:r>
              <a:rPr sz="1600" b="0" i="0">
                <a:solidFill>
                  <a:srgbClr val="5C4826"/>
                </a:solidFill>
              </a:rPr>
              <a:t>algorithm, where unconstrained</a:t>
            </a:r>
          </a:p>
          <a:p>
            <a:pPr algn="ctr"/>
            <a:r>
              <a:rPr sz="1600" b="0" i="0">
                <a:solidFill>
                  <a:srgbClr val="5C4826"/>
                </a:solidFill>
              </a:rPr>
              <a:t>order of intermediate edits</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Good delegation constrains consequential choices</a:t>
            </a:r>
          </a:p>
          <a:p>
            <a:pPr algn="ctr"/>
            <a:r>
              <a:rPr sz="1600" b="1" i="0">
                <a:solidFill>
                  <a:srgbClr val="FFFFFF"/>
                </a:solidFill>
              </a:rPr>
              <a:t>without prescribing every move.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320040"/>
          </a:xfrm>
          <a:prstGeom prst="rect">
            <a:avLst/>
          </a:prstGeom>
          <a:noFill/>
        </p:spPr>
        <p:txBody>
          <a:bodyPr wrap="square" anchor="t">
            <a:spAutoFit/>
          </a:bodyPr>
          <a:lstStyle/>
          <a:p>
            <a:pPr algn="ctr"/>
            <a:r>
              <a:rPr sz="1500" b="0" i="1">
                <a:solidFill>
                  <a:srgbClr val="555960"/>
                </a:solidFill>
              </a:rPr>
              <a:t>permitted actions · required transitions · stopping criteria · evidence produced</a:t>
            </a:r>
          </a:p>
        </p:txBody>
      </p:sp>
      <p:sp>
        <p:nvSpPr>
          <p:cNvPr id="19" name="PCMain"/>
          <p:cNvSpPr txBox="1"/>
          <p:nvPr/>
        </p:nvSpPr>
        <p:spPr>
          <a:xfrm>
            <a:off x="502920" y="3977639"/>
            <a:ext cx="8138160" cy="868680"/>
          </a:xfrm>
          <a:prstGeom prst="rect">
            <a:avLst/>
          </a:prstGeom>
          <a:noFill/>
        </p:spPr>
        <p:txBody>
          <a:bodyPr wrap="square" anchor="t">
            <a:spAutoFit/>
          </a:bodyPr>
          <a:lstStyle/>
          <a:p>
            <a:pPr algn="ctr"/>
            <a:r>
              <a:rPr sz="2000" b="0" i="0">
                <a:solidFill>
                  <a:srgbClr val="5C4826"/>
                </a:solidFill>
              </a:rPr>
              <a:t>A process model says what work may happen, in what environment, and what must be established before work proceeds.</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can go wrong between the work order and the result?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result can be wrong</a:t>
            </a:r>
          </a:p>
        </p:txBody>
      </p:sp>
      <p:sp>
        <p:nvSpPr>
          <p:cNvPr id="4" name="Example"/>
          <p:cNvSpPr txBox="1"/>
          <p:nvPr/>
        </p:nvSpPr>
        <p:spPr>
          <a:xfrm>
            <a:off x="274320" y="932688"/>
            <a:ext cx="8595360" cy="640080"/>
          </a:xfrm>
          <a:prstGeom prst="rect">
            <a:avLst/>
          </a:prstGeom>
          <a:noFill/>
        </p:spPr>
        <p:txBody>
          <a:bodyPr wrap="square" anchor="t">
            <a:spAutoFit/>
          </a:bodyPr>
          <a:lstStyle/>
          <a:p>
            <a:pPr algn="l"/>
            <a:r>
              <a:rPr sz="1700" b="0" i="1">
                <a:solidFill>
                  <a:srgbClr val="555960"/>
                </a:solidFill>
              </a:rPr>
              <a:t>Requirement: existing clients continue to behave identically.</a:t>
            </a:r>
          </a:p>
          <a:p>
            <a:pPr algn="l"/>
            <a:r>
              <a:rPr sz="17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365760"/>
          </a:xfrm>
          <a:prstGeom prst="rect">
            <a:avLst/>
          </a:prstGeom>
          <a:noFill/>
        </p:spPr>
        <p:txBody>
          <a:bodyPr wrap="square" anchor="t">
            <a:spAutoFit/>
          </a:bodyPr>
          <a:lstStyle/>
          <a:p>
            <a:pPr algn="ctr"/>
            <a:r>
              <a:rPr sz="15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365760"/>
          </a:xfrm>
          <a:prstGeom prst="rect">
            <a:avLst/>
          </a:prstGeom>
          <a:noFill/>
        </p:spPr>
        <p:txBody>
          <a:bodyPr wrap="square" anchor="t">
            <a:spAutoFit/>
          </a:bodyPr>
          <a:lstStyle/>
          <a:p>
            <a:pPr algn="ctr"/>
            <a:r>
              <a:rPr sz="15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do the wrong work</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exceed its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evidence can be insufficient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Which tests?</a:t>
            </a:r>
          </a:p>
        </p:txBody>
      </p:sp>
      <p:sp>
        <p:nvSpPr>
          <p:cNvPr id="10" name="Rectangle 9"/>
          <p:cNvSpPr/>
          <p:nvPr/>
        </p:nvSpPr>
        <p:spPr>
          <a:xfrm>
            <a:off x="2596896"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Against which obligations?</a:t>
            </a:r>
          </a:p>
        </p:txBody>
      </p:sp>
      <p:sp>
        <p:nvSpPr>
          <p:cNvPr id="11" name="Rectangle 10"/>
          <p:cNvSpPr/>
          <p:nvPr/>
        </p:nvSpPr>
        <p:spPr>
          <a:xfrm>
            <a:off x="4672584"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In which environment?</a:t>
            </a:r>
          </a:p>
        </p:txBody>
      </p:sp>
      <p:sp>
        <p:nvSpPr>
          <p:cNvPr id="12" name="Rectangle 11"/>
          <p:cNvSpPr/>
          <p:nvPr/>
        </p:nvSpPr>
        <p:spPr>
          <a:xfrm>
            <a:off x="6748272"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bears on an obligation.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5" name="FCTransition"/>
          <p:cNvSpPr txBox="1"/>
          <p:nvPr/>
        </p:nvSpPr>
        <p:spPr>
          <a:xfrm>
            <a:off x="502920" y="5303520"/>
            <a:ext cx="8138160" cy="548640"/>
          </a:xfrm>
          <a:prstGeom prst="rect">
            <a:avLst/>
          </a:prstGeom>
          <a:noFill/>
        </p:spPr>
        <p:txBody>
          <a:bodyPr wrap="square" anchor="t">
            <a:spAutoFit/>
          </a:bodyPr>
          <a:lstStyle/>
          <a:p>
            <a:pPr algn="ctr"/>
            <a:r>
              <a:rPr sz="1800" b="0" i="0">
                <a:solidFill>
                  <a:srgbClr val="5C4826"/>
                </a:solidFill>
              </a:rPr>
              <a:t>We can now ask how to make each failure impossible, observable, detectable, or consequential.</a:t>
            </a:r>
          </a:p>
        </p:txBody>
      </p:sp>
      <p:sp>
        <p:nvSpPr>
          <p:cNvPr id="6" name="FCHeadFailure"/>
          <p:cNvSpPr txBox="1"/>
          <p:nvPr/>
        </p:nvSpPr>
        <p:spPr>
          <a:xfrm>
            <a:off x="502920" y="932688"/>
            <a:ext cx="3291840" cy="292608"/>
          </a:xfrm>
          <a:prstGeom prst="rect">
            <a:avLst/>
          </a:prstGeom>
          <a:noFill/>
        </p:spPr>
        <p:txBody>
          <a:bodyPr wrap="square" anchor="t" lIns="27432" rIns="27432" tIns="22860" bIns="22860">
            <a:spAutoFit/>
          </a:bodyPr>
          <a:lstStyle/>
          <a:p>
            <a:pPr algn="ctr"/>
            <a:r>
              <a:rPr sz="1200" b="1" i="0">
                <a:solidFill>
                  <a:srgbClr val="8E6F3E"/>
                </a:solidFill>
              </a:rPr>
              <a:t>FAILURE</a:t>
            </a:r>
          </a:p>
        </p:txBody>
      </p:sp>
      <p:sp>
        <p:nvSpPr>
          <p:cNvPr id="7" name="FCHeadResponse"/>
          <p:cNvSpPr txBox="1"/>
          <p:nvPr/>
        </p:nvSpPr>
        <p:spPr>
          <a:xfrm>
            <a:off x="4800600" y="932688"/>
            <a:ext cx="3840480" cy="292608"/>
          </a:xfrm>
          <a:prstGeom prst="rect">
            <a:avLst/>
          </a:prstGeom>
          <a:noFill/>
        </p:spPr>
        <p:txBody>
          <a:bodyPr wrap="square" anchor="t" lIns="27432" rIns="27432" tIns="22860" bIns="22860">
            <a:spAutoFit/>
          </a:bodyPr>
          <a:lstStyle/>
          <a:p>
            <a:pPr algn="ctr"/>
            <a:r>
              <a:rPr sz="1200" b="1" i="0">
                <a:solidFill>
                  <a:srgbClr val="8E6F3E"/>
                </a:solidFill>
              </a:rPr>
              <a:t>ENGINEERING RESPONSE</a:t>
            </a:r>
          </a:p>
        </p:txBody>
      </p:sp>
      <p:sp>
        <p:nvSpPr>
          <p:cNvPr id="8" name="FCFail1"/>
          <p:cNvSpPr/>
          <p:nvPr/>
        </p:nvSpPr>
        <p:spPr>
          <a:xfrm>
            <a:off x="502920" y="1325880"/>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RESULT</a:t>
            </a:r>
          </a:p>
        </p:txBody>
      </p:sp>
      <p:sp>
        <p:nvSpPr>
          <p:cNvPr id="9" name="FCResp1"/>
          <p:cNvSpPr/>
          <p:nvPr/>
        </p:nvSpPr>
        <p:spPr>
          <a:xfrm>
            <a:off x="4800600" y="1325880"/>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establish properties of the artifact</a:t>
            </a:r>
          </a:p>
        </p:txBody>
      </p:sp>
      <p:cxnSp>
        <p:nvCxnSpPr>
          <p:cNvPr id="10" name="FCArrow1"/>
          <p:cNvCxnSpPr/>
          <p:nvPr/>
        </p:nvCxnSpPr>
        <p:spPr>
          <a:xfrm>
            <a:off x="3794760" y="1746504"/>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CFail2"/>
          <p:cNvSpPr/>
          <p:nvPr/>
        </p:nvSpPr>
        <p:spPr>
          <a:xfrm>
            <a:off x="502920" y="2304288"/>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PROCESS</a:t>
            </a:r>
          </a:p>
        </p:txBody>
      </p:sp>
      <p:sp>
        <p:nvSpPr>
          <p:cNvPr id="12" name="FCResp2"/>
          <p:cNvSpPr/>
          <p:nvPr/>
        </p:nvSpPr>
        <p:spPr>
          <a:xfrm>
            <a:off x="4800600" y="2304288"/>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observe or constrain actions</a:t>
            </a:r>
          </a:p>
        </p:txBody>
      </p:sp>
      <p:cxnSp>
        <p:nvCxnSpPr>
          <p:cNvPr id="13" name="FCArrow2"/>
          <p:cNvCxnSpPr/>
          <p:nvPr/>
        </p:nvCxnSpPr>
        <p:spPr>
          <a:xfrm>
            <a:off x="3794760" y="2724912"/>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FCFail3"/>
          <p:cNvSpPr/>
          <p:nvPr/>
        </p:nvSpPr>
        <p:spPr>
          <a:xfrm>
            <a:off x="502920" y="3282696"/>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EXCESS AUTHORITY</a:t>
            </a:r>
          </a:p>
        </p:txBody>
      </p:sp>
      <p:sp>
        <p:nvSpPr>
          <p:cNvPr id="15" name="FCResp3"/>
          <p:cNvSpPr/>
          <p:nvPr/>
        </p:nvSpPr>
        <p:spPr>
          <a:xfrm>
            <a:off x="4800600" y="3282696"/>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restrict consequential actions</a:t>
            </a:r>
          </a:p>
        </p:txBody>
      </p:sp>
      <p:cxnSp>
        <p:nvCxnSpPr>
          <p:cNvPr id="16" name="FCArrow3"/>
          <p:cNvCxnSpPr/>
          <p:nvPr/>
        </p:nvCxnSpPr>
        <p:spPr>
          <a:xfrm>
            <a:off x="3794760" y="3703320"/>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FCFail4"/>
          <p:cNvSpPr/>
          <p:nvPr/>
        </p:nvSpPr>
        <p:spPr>
          <a:xfrm>
            <a:off x="502920" y="4261104"/>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INSUFFICIENT EVIDENCE</a:t>
            </a:r>
          </a:p>
        </p:txBody>
      </p:sp>
      <p:sp>
        <p:nvSpPr>
          <p:cNvPr id="18" name="FCResp4"/>
          <p:cNvSpPr/>
          <p:nvPr/>
        </p:nvSpPr>
        <p:spPr>
          <a:xfrm>
            <a:off x="4800600" y="4261104"/>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require evidence before acceptance</a:t>
            </a:r>
          </a:p>
        </p:txBody>
      </p:sp>
      <p:cxnSp>
        <p:nvCxnSpPr>
          <p:cNvPr id="19" name="FCArrow4"/>
          <p:cNvCxnSpPr/>
          <p:nvPr/>
        </p:nvCxnSpPr>
        <p:spPr>
          <a:xfrm>
            <a:off x="3794760" y="4681728"/>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91440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94183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1591056"/>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1618488"/>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2267712"/>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2295144"/>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2944368"/>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2971800"/>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17" name="TextBox 16"/>
          <p:cNvSpPr txBox="1"/>
          <p:nvPr/>
        </p:nvSpPr>
        <p:spPr>
          <a:xfrm>
            <a:off x="274320" y="3639312"/>
            <a:ext cx="8595360" cy="384048"/>
          </a:xfrm>
          <a:prstGeom prst="rect">
            <a:avLst/>
          </a:prstGeom>
          <a:noFill/>
        </p:spPr>
        <p:txBody>
          <a:bodyPr wrap="square" anchor="t">
            <a:spAutoFit/>
          </a:bodyPr>
          <a:lstStyle/>
          <a:p>
            <a:pPr algn="ctr"/>
            <a:r>
              <a:rPr sz="1300" b="0" i="1">
                <a:solidFill>
                  <a:srgbClr val="555960"/>
                </a:solidFill>
              </a:rPr>
              <a:t>These are roles, not four required components. One mechanism may play several roles.</a:t>
            </a:r>
          </a:p>
        </p:txBody>
      </p:sp>
      <p:sp>
        <p:nvSpPr>
          <p:cNvPr id="18" name="PairObligation"/>
          <p:cNvSpPr/>
          <p:nvPr/>
        </p:nvSpPr>
        <p:spPr>
          <a:xfrm>
            <a:off x="3017520" y="4096512"/>
            <a:ext cx="3108960" cy="43891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ENGINEERING OBLIGATION</a:t>
            </a:r>
          </a:p>
        </p:txBody>
      </p:sp>
      <p:sp>
        <p:nvSpPr>
          <p:cNvPr id="19" name="PairWorkState"/>
          <p:cNvSpPr/>
          <p:nvPr/>
        </p:nvSpPr>
        <p:spPr>
          <a:xfrm>
            <a:off x="123444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WORK / STATE</a:t>
            </a:r>
          </a:p>
        </p:txBody>
      </p:sp>
      <p:sp>
        <p:nvSpPr>
          <p:cNvPr id="20" name="PairDecision"/>
          <p:cNvSpPr/>
          <p:nvPr/>
        </p:nvSpPr>
        <p:spPr>
          <a:xfrm>
            <a:off x="562356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DECISION / ADMISSION</a:t>
            </a:r>
          </a:p>
        </p:txBody>
      </p:sp>
      <p:sp>
        <p:nvSpPr>
          <p:cNvPr id="21" name="PairLeafConstraint"/>
          <p:cNvSpPr/>
          <p:nvPr/>
        </p:nvSpPr>
        <p:spPr>
          <a:xfrm>
            <a:off x="50292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CONSTRAINT</a:t>
            </a:r>
          </a:p>
          <a:p>
            <a:pPr algn="ctr"/>
            <a:r>
              <a:rPr sz="1000" b="0" i="1">
                <a:solidFill>
                  <a:srgbClr val="555960"/>
                </a:solidFill>
              </a:rPr>
              <a:t>what may happen</a:t>
            </a:r>
          </a:p>
        </p:txBody>
      </p:sp>
      <p:sp>
        <p:nvSpPr>
          <p:cNvPr id="22" name="PairLeafSensor"/>
          <p:cNvSpPr/>
          <p:nvPr/>
        </p:nvSpPr>
        <p:spPr>
          <a:xfrm>
            <a:off x="246888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SENSOR</a:t>
            </a:r>
          </a:p>
          <a:p>
            <a:pPr algn="ctr"/>
            <a:r>
              <a:rPr sz="1000" b="0" i="1">
                <a:solidFill>
                  <a:srgbClr val="555960"/>
                </a:solidFill>
              </a:rPr>
              <a:t>what happened</a:t>
            </a:r>
          </a:p>
        </p:txBody>
      </p:sp>
      <p:sp>
        <p:nvSpPr>
          <p:cNvPr id="23" name="PairLeafValidator"/>
          <p:cNvSpPr/>
          <p:nvPr/>
        </p:nvSpPr>
        <p:spPr>
          <a:xfrm>
            <a:off x="489204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VALIDATOR</a:t>
            </a:r>
          </a:p>
          <a:p>
            <a:pPr algn="ctr"/>
            <a:r>
              <a:rPr sz="1000" b="0" i="1">
                <a:solidFill>
                  <a:srgbClr val="555960"/>
                </a:solidFill>
              </a:rPr>
              <a:t>is it OK?</a:t>
            </a:r>
          </a:p>
        </p:txBody>
      </p:sp>
      <p:sp>
        <p:nvSpPr>
          <p:cNvPr id="24" name="PairLeafGate"/>
          <p:cNvSpPr/>
          <p:nvPr/>
        </p:nvSpPr>
        <p:spPr>
          <a:xfrm>
            <a:off x="685800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GATE</a:t>
            </a:r>
          </a:p>
          <a:p>
            <a:pPr algn="ctr"/>
            <a:r>
              <a:rPr sz="1000" b="0" i="1">
                <a:solidFill>
                  <a:srgbClr val="555960"/>
                </a:solidFill>
              </a:rPr>
              <a:t>may it pass?</a:t>
            </a:r>
          </a:p>
        </p:txBody>
      </p:sp>
      <p:cxnSp>
        <p:nvCxnSpPr>
          <p:cNvPr id="25" name="PairConnL"/>
          <p:cNvCxnSpPr/>
          <p:nvPr/>
        </p:nvCxnSpPr>
        <p:spPr>
          <a:xfrm flipH="1">
            <a:off x="237744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PairConnR"/>
          <p:cNvCxnSpPr/>
          <p:nvPr/>
        </p:nvCxnSpPr>
        <p:spPr>
          <a:xfrm>
            <a:off x="457200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PairConnL1"/>
          <p:cNvCxnSpPr/>
          <p:nvPr/>
        </p:nvCxnSpPr>
        <p:spPr>
          <a:xfrm flipH="1">
            <a:off x="13944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PairConnL2"/>
          <p:cNvCxnSpPr/>
          <p:nvPr/>
        </p:nvCxnSpPr>
        <p:spPr>
          <a:xfrm>
            <a:off x="237744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PairConnR1"/>
          <p:cNvCxnSpPr/>
          <p:nvPr/>
        </p:nvCxnSpPr>
        <p:spPr>
          <a:xfrm flipH="1">
            <a:off x="578358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PairConnR2"/>
          <p:cNvCxnSpPr/>
          <p:nvPr/>
        </p:nvCxnSpPr>
        <p:spPr>
          <a:xfrm>
            <a:off x="67665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18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18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1800" b="0" i="1">
                <a:solidFill>
                  <a:srgbClr val="555960"/>
                </a:solidFill>
              </a:rPr>
              <a:t>admits</a:t>
            </a:r>
          </a:p>
        </p:txBody>
      </p:sp>
      <p:sp>
        <p:nvSpPr>
          <p:cNvPr id="26" name="Rectangle 25"/>
          <p:cNvSpPr/>
          <p:nvPr/>
        </p:nvSpPr>
        <p:spPr>
          <a:xfrm>
            <a:off x="6757415"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1800" b="0" i="1">
                <a:solidFill>
                  <a:srgbClr val="555960"/>
                </a:solidFill>
              </a:rPr>
              <a:t>The agent may propose freely. It may modify its branch freely.</a:t>
            </a:r>
          </a:p>
          <a:p>
            <a:pPr algn="ctr"/>
            <a:r>
              <a:rPr sz="1800" b="0" i="1">
                <a:solidFill>
                  <a:srgbClr val="555960"/>
                </a:solidFill>
              </a:rPr>
              <a:t>It may merge if the checks pass. It may deploy if the release satisfies admission obligations.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18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18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774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type</a:t>
            </a:r>
          </a:p>
          <a:p>
            <a:pPr algn="ctr"/>
            <a:r>
              <a:rPr sz="18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82496"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forbidden</a:t>
            </a:r>
          </a:p>
          <a:p>
            <a:pPr algn="ctr"/>
            <a:r>
              <a:rPr sz="18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0"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integration</a:t>
            </a:r>
          </a:p>
          <a:p>
            <a:pPr algn="ctr"/>
            <a:r>
              <a:rPr sz="18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016752"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latency</a:t>
            </a:r>
          </a:p>
          <a:p>
            <a:pPr algn="ctr"/>
            <a:r>
              <a:rPr sz="18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6150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deployed</a:t>
            </a:r>
          </a:p>
          <a:p>
            <a:pPr algn="ctr"/>
            <a:r>
              <a:rPr sz="18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cheaper — but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1600" b="0" i="0">
                <a:solidFill>
                  <a:srgbClr val="5C4826"/>
                </a:solidFill>
              </a:rPr>
              <a:t>Lift the check to the first boundary where the obligation becomes decidable.</a:t>
            </a:r>
          </a:p>
        </p:txBody>
      </p:sp>
      <p:sp>
        <p:nvSpPr>
          <p:cNvPr id="19" name="SG-Unit"/>
          <p:cNvSpPr/>
          <p:nvPr/>
        </p:nvSpPr>
        <p:spPr>
          <a:xfrm>
            <a:off x="2103120" y="105156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COMPLETED UNIT OF WORK</a:t>
            </a:r>
          </a:p>
          <a:p>
            <a:pPr algn="ctr"/>
            <a:r>
              <a:rPr sz="105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347472"/>
          </a:xfrm>
          <a:prstGeom prst="rect">
            <a:avLst/>
          </a:prstGeom>
          <a:noFill/>
        </p:spPr>
        <p:txBody>
          <a:bodyPr wrap="square" anchor="t" lIns="27432" rIns="27432" tIns="22860" bIns="22860">
            <a:spAutoFit/>
          </a:bodyPr>
          <a:lstStyle/>
          <a:p>
            <a:pPr algn="ctr"/>
            <a:r>
              <a:rPr sz="13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6400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800" b="1" i="0">
                <a:solidFill>
                  <a:srgbClr val="8E6F3E"/>
                </a:solidFill>
              </a:rPr>
              <a:t>OBLIGATION — </a:t>
            </a:r>
            <a:r>
              <a:rPr sz="18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enforced per-commit</a:t>
            </a:r>
          </a:p>
          <a:p>
            <a:pPr algn="ctr"/>
            <a:r>
              <a:rPr sz="1800" b="0" i="1">
                <a:solidFill>
                  <a:srgbClr val="555960"/>
                </a:solidFill>
              </a:rPr>
              <a:t>rejects legitimate</a:t>
            </a:r>
          </a:p>
          <a:p>
            <a:pPr algn="ctr"/>
            <a:r>
              <a:rPr sz="18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decided at merge</a:t>
            </a:r>
          </a:p>
          <a:p>
            <a:pPr algn="ctr"/>
            <a:r>
              <a:rPr sz="1800" b="0" i="1">
                <a:solidFill>
                  <a:srgbClr val="555960"/>
                </a:solidFill>
              </a:rPr>
              <a:t>when the task’s work</a:t>
            </a:r>
          </a:p>
          <a:p>
            <a:pPr algn="ctr"/>
            <a:r>
              <a:rPr sz="18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What do models buy us?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does an explicit model add?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be reconstructed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pPr algn="ctr"/>
            <a:r>
              <a:rPr sz="2000" b="0" i="1">
                <a:solidFill>
                  <a:srgbClr val="555960"/>
                </a:solidFill>
              </a:rPr>
              <a:t>Different analyses can then operate over the same engineering knowledge.</a:t>
            </a:r>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Explicit structure can turn reconstruction into inspection.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Models can drive controls</a:t>
            </a:r>
          </a:p>
        </p:txBody>
      </p:sp>
      <p:sp>
        <p:nvSpPr>
          <p:cNvPr id="14" name="MCVerdicts"/>
          <p:cNvSpPr txBox="1"/>
          <p:nvPr/>
        </p:nvSpPr>
        <p:spPr>
          <a:xfrm>
            <a:off x="5532120" y="3886200"/>
            <a:ext cx="1097280" cy="320040"/>
          </a:xfrm>
          <a:prstGeom prst="rect">
            <a:avLst/>
          </a:prstGeom>
          <a:noFill/>
        </p:spPr>
        <p:txBody>
          <a:bodyPr wrap="square" anchor="t">
            <a:spAutoFit/>
          </a:bodyPr>
          <a:lstStyle/>
          <a:p>
            <a:pPr algn="l"/>
            <a:r>
              <a:rPr sz="1400" b="0" i="0">
                <a:solidFill>
                  <a:srgbClr val="555960"/>
                </a:solidFill>
              </a:rPr>
              <a:t>verdicts</a:t>
            </a:r>
          </a:p>
        </p:txBody>
      </p:sp>
      <p:sp>
        <p:nvSpPr>
          <p:cNvPr id="15" name="MCGate"/>
          <p:cNvSpPr/>
          <p:nvPr/>
        </p:nvSpPr>
        <p:spPr>
          <a:xfrm>
            <a:off x="3749039" y="3767328"/>
            <a:ext cx="16459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GATE</a:t>
            </a:r>
          </a:p>
        </p:txBody>
      </p:sp>
      <p:sp>
        <p:nvSpPr>
          <p:cNvPr id="16" name="MCPoint"/>
          <p:cNvSpPr txBox="1"/>
          <p:nvPr/>
        </p:nvSpPr>
        <p:spPr>
          <a:xfrm>
            <a:off x="502920" y="4572000"/>
            <a:ext cx="8138160" cy="548640"/>
          </a:xfrm>
          <a:prstGeom prst="rect">
            <a:avLst/>
          </a:prstGeom>
          <a:noFill/>
        </p:spPr>
        <p:txBody>
          <a:bodyPr wrap="square" anchor="t">
            <a:spAutoFit/>
          </a:bodyPr>
          <a:lstStyle/>
          <a:p>
            <a:pPr algn="ctr"/>
            <a:r>
              <a:rPr sz="2000" b="0" i="0">
                <a:solidFill>
                  <a:srgbClr val="5C4826"/>
                </a:solidFill>
              </a:rPr>
              <a:t>The same explicit engineering knowledge can support multiple validators and constraints.</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 model becomes operational when the engineered environment uses it.</a:t>
            </a:r>
          </a:p>
        </p:txBody>
      </p:sp>
      <p:sp>
        <p:nvSpPr>
          <p:cNvPr id="18" name="RealModel"/>
          <p:cNvSpPr/>
          <p:nvPr/>
        </p:nvSpPr>
        <p:spPr>
          <a:xfrm>
            <a:off x="2103120" y="91440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DOCUMENT PROCESSING SERVICE</a:t>
            </a:r>
          </a:p>
          <a:p>
            <a:pPr algn="ctr"/>
            <a:r>
              <a:rPr sz="1050" b="0" i="1">
                <a:solidFill>
                  <a:srgbClr val="FBF8F2"/>
                </a:solidFill>
              </a:rPr>
              <a:t>one explicit model: lifecycle machine + resource graph</a:t>
            </a:r>
          </a:p>
        </p:txBody>
      </p:sp>
      <p:sp>
        <p:nvSpPr>
          <p:cNvPr id="19" name="MC-lifecycle"/>
          <p:cNvSpPr/>
          <p:nvPr/>
        </p:nvSpPr>
        <p:spPr>
          <a:xfrm>
            <a:off x="41148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LIFECYCLE CHECK</a:t>
            </a:r>
          </a:p>
          <a:p>
            <a:pPr algn="ctr"/>
            <a:r>
              <a:rPr sz="950" b="0" i="0">
                <a:solidFill>
                  <a:srgbClr val="555960"/>
                </a:solidFill>
              </a:rPr>
              <a:t>can a Completed document ever be processed again?  no</a:t>
            </a:r>
          </a:p>
        </p:txBody>
      </p:sp>
      <p:sp>
        <p:nvSpPr>
          <p:cNvPr id="20" name="MC-retry"/>
          <p:cNvSpPr/>
          <p:nvPr/>
        </p:nvSpPr>
        <p:spPr>
          <a:xfrm>
            <a:off x="333756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RETRY BOUND</a:t>
            </a:r>
          </a:p>
          <a:p>
            <a:pPr algn="ctr"/>
            <a:r>
              <a:rPr sz="950" b="0" i="0">
                <a:solidFill>
                  <a:srgbClr val="555960"/>
                </a:solidFill>
              </a:rPr>
              <a:t>can the retry loop run forever?  no — at most 2 retries</a:t>
            </a:r>
          </a:p>
        </p:txBody>
      </p:sp>
      <p:sp>
        <p:nvSpPr>
          <p:cNvPr id="21" name="MC-memory"/>
          <p:cNvSpPr/>
          <p:nvPr/>
        </p:nvSpPr>
        <p:spPr>
          <a:xfrm>
            <a:off x="626364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MEMORY ANALYSIS</a:t>
            </a:r>
          </a:p>
          <a:p>
            <a:pPr algn="ctr"/>
            <a:r>
              <a:rPr sz="950" b="0" i="0">
                <a:solidFill>
                  <a:srgbClr val="555960"/>
                </a:solidFill>
              </a:rPr>
              <a:t>peak demand 2 × 384 MB — within the 1 GB worker ceiling</a:t>
            </a:r>
          </a:p>
        </p:txBody>
      </p:sp>
      <p:cxnSp>
        <p:nvCxnSpPr>
          <p:cNvPr id="22" name="RM-Conn1"/>
          <p:cNvCxnSpPr/>
          <p:nvPr/>
        </p:nvCxnSpPr>
        <p:spPr>
          <a:xfrm flipH="1">
            <a:off x="1645920" y="1719072"/>
            <a:ext cx="292608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RM-Conn2"/>
          <p:cNvCxnSpPr/>
          <p:nvPr/>
        </p:nvCxnSpPr>
        <p:spPr>
          <a:xfrm>
            <a:off x="4572000" y="1719072"/>
            <a:ext cx="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RM-Conn3"/>
          <p:cNvCxnSpPr/>
          <p:nvPr/>
        </p:nvCxnSpPr>
        <p:spPr>
          <a:xfrm>
            <a:off x="4572000" y="1719072"/>
            <a:ext cx="2926079"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RM-Conn4"/>
          <p:cNvCxnSpPr/>
          <p:nvPr/>
        </p:nvCxnSpPr>
        <p:spPr>
          <a:xfrm>
            <a:off x="1645920" y="3200400"/>
            <a:ext cx="237744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RM-Conn5"/>
          <p:cNvCxnSpPr/>
          <p:nvPr/>
        </p:nvCxnSpPr>
        <p:spPr>
          <a:xfrm>
            <a:off x="4572000" y="3200400"/>
            <a:ext cx="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RM-Conn6"/>
          <p:cNvCxnSpPr/>
          <p:nvPr/>
        </p:nvCxnSpPr>
        <p:spPr>
          <a:xfrm flipH="1">
            <a:off x="5120640" y="3200400"/>
            <a:ext cx="2377439"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pic>
        <p:nvPicPr>
          <p:cNvPr id="10" name="Fig-3-2-1-three-relations" descr="three-relations-deck.png"/>
          <p:cNvPicPr>
            <a:picLocks noChangeAspect="1"/>
          </p:cNvPicPr>
          <p:nvPr/>
        </p:nvPicPr>
        <p:blipFill>
          <a:blip r:embed="rId3"/>
          <a:stretch>
            <a:fillRect/>
          </a:stretch>
        </p:blipFill>
        <p:spPr>
          <a:xfrm>
            <a:off x="1417320" y="1051560"/>
            <a:ext cx="6309360" cy="3680460"/>
          </a:xfrm>
          <a:prstGeom prst="rect">
            <a:avLst/>
          </a:prstGeom>
        </p:spPr>
      </p:pic>
      <p:sp>
        <p:nvSpPr>
          <p:cNvPr id="11" name="ThreeRelationsTakeaway"/>
          <p:cNvSpPr txBox="1"/>
          <p:nvPr/>
        </p:nvSpPr>
        <p:spPr>
          <a:xfrm>
            <a:off x="274320" y="4937760"/>
            <a:ext cx="8595360" cy="502920"/>
          </a:xfrm>
          <a:prstGeom prst="rect">
            <a:avLst/>
          </a:prstGeom>
          <a:noFill/>
        </p:spPr>
        <p:txBody>
          <a:bodyPr wrap="square" anchor="t" lIns="27432" rIns="27432" tIns="22860" bIns="22860">
            <a:spAutoFit/>
          </a:bodyPr>
          <a:lstStyle/>
          <a:p>
            <a:pPr algn="ctr"/>
            <a:r>
              <a:rPr sz="1600" b="0" i="0">
                <a:solidFill>
                  <a:srgbClr val="5C4826"/>
                </a:solidFill>
              </a:rPr>
              <a:t>Three relations people casually conflate — and their evidence is not interchangeable.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1800" b="0" i="1">
                <a:solidFill>
                  <a:srgbClr val="555960"/>
                </a:solidFill>
              </a:rPr>
              <a:t>does the model capture</a:t>
            </a:r>
          </a:p>
          <a:p>
            <a:pPr algn="l"/>
            <a:r>
              <a:rPr sz="18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1800" b="0" i="1">
                <a:solidFill>
                  <a:srgbClr val="555960"/>
                </a:solidFill>
              </a:rPr>
              <a:t>does the realization</a:t>
            </a:r>
          </a:p>
          <a:p>
            <a:pPr algn="r"/>
            <a:r>
              <a:rPr sz="18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18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Given the failures, obligations, and boundaries, what should control the agent?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4  ·  </a:t>
            </a:r>
            <a:r>
              <a:rPr sz="1400" b="0" i="0">
                <a:solidFill>
                  <a:srgbClr val="5C4826"/>
                </a:solidFill>
              </a:rPr>
              <a:t>Retain a behavior observable only when components interact.</a:t>
            </a:r>
          </a:p>
        </p:txBody>
      </p:sp>
      <p:sp>
        <p:nvSpPr>
          <p:cNvPr id="11" name="TextBox 10"/>
          <p:cNvSpPr txBox="1"/>
          <p:nvPr/>
        </p:nvSpPr>
        <p:spPr>
          <a:xfrm>
            <a:off x="274320" y="5230368"/>
            <a:ext cx="8595360" cy="457200"/>
          </a:xfrm>
          <a:prstGeom prst="rect">
            <a:avLst/>
          </a:prstGeom>
          <a:noFill/>
        </p:spPr>
        <p:txBody>
          <a:bodyPr wrap="square" anchor="t">
            <a:spAutoFit/>
          </a:bodyPr>
          <a:lstStyle/>
          <a:p>
            <a:pPr algn="ctr"/>
            <a:r>
              <a:rPr sz="2000" b="0" i="1">
                <a:solidFill>
                  <a:srgbClr val="555960"/>
                </a:solidFill>
              </a:rPr>
              <a:t>Four obligations of different kinds.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THE MODEL — GIVEN, NOT RECONSTRUCTED</a:t>
            </a:r>
          </a:p>
          <a:p>
            <a:pPr algn="l"/>
            <a:r>
              <a:rPr sz="1200" b="0" i="0">
                <a:solidFill>
                  <a:srgbClr val="5C4826"/>
                </a:solidFill>
                <a:latin typeface="Consolas"/>
              </a:rPr>
              <a:t>Controller</a:t>
            </a:r>
          </a:p>
          <a:p>
            <a:pPr algn="l"/>
            <a:r>
              <a:rPr sz="1200" b="0" i="0">
                <a:solidFill>
                  <a:srgbClr val="5C4826"/>
                </a:solidFill>
                <a:latin typeface="Consolas"/>
              </a:rPr>
              <a:t> ├─ API: IController</a:t>
            </a:r>
          </a:p>
          <a:p>
            <a:pPr algn="l"/>
            <a:r>
              <a:rPr sz="1200" b="0" i="0">
                <a:solidFill>
                  <a:srgbClr val="5C4826"/>
                </a:solidFill>
                <a:latin typeface="Consolas"/>
              </a:rPr>
              <a:t> ├─ uses → Sensor</a:t>
            </a:r>
          </a:p>
          <a:p>
            <a:pPr algn="l"/>
            <a:r>
              <a:rPr sz="1200" b="0" i="0">
                <a:solidFill>
                  <a:srgbClr val="5C4826"/>
                </a:solidFill>
                <a:latin typeface="Consolas"/>
              </a:rPr>
              <a:t> ├─ uses → Actuator</a:t>
            </a:r>
          </a:p>
          <a:p>
            <a:pPr algn="l"/>
            <a:r>
              <a:rPr sz="1200" b="0" i="0">
                <a:solidFill>
                  <a:srgbClr val="5C4826"/>
                </a:solidFill>
                <a:latin typeface="Consolas"/>
              </a:rPr>
              <a:t> ├─ forbidden → CloudSDK</a:t>
            </a:r>
          </a:p>
          <a:p>
            <a:pPr algn="l"/>
            <a:r>
              <a:rPr sz="1200" b="0" i="0">
                <a:solidFill>
                  <a:srgbClr val="5C4826"/>
                </a:solidFill>
                <a:latin typeface="Consolas"/>
              </a:rPr>
              <a:t> └─ memory ≤ 64 MB</a:t>
            </a:r>
          </a:p>
          <a:p>
            <a:pPr algn="l"/>
            <a:r>
              <a:rPr sz="1050" b="0" i="1">
                <a:solidFill>
                  <a:srgbClr val="555960"/>
                </a:solidFill>
              </a:rPr>
              <a:t>each cycle: Sensor.read → decide → Actuator.act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TextBox 7"/>
          <p:cNvSpPr txBox="1"/>
          <p:nvPr/>
        </p:nvSpPr>
        <p:spPr>
          <a:xfrm>
            <a:off x="274320" y="4754880"/>
            <a:ext cx="8595360" cy="457200"/>
          </a:xfrm>
          <a:prstGeom prst="rect">
            <a:avLst/>
          </a:prstGeom>
          <a:noFill/>
        </p:spPr>
        <p:txBody>
          <a:bodyPr wrap="square" anchor="t">
            <a:spAutoFit/>
          </a:bodyPr>
          <a:lstStyle/>
          <a:p>
            <a:pPr algn="ctr"/>
            <a:r>
              <a:rPr sz="2000" b="0" i="1">
                <a:solidFill>
                  <a:srgbClr val="555960"/>
                </a:solidFill>
              </a:rPr>
              <a:t>There may be more than one defensible control design.</a:t>
            </a:r>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The obligation constrains the design. Engineering judgment remains.</a:t>
            </a:r>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 — </a:t>
            </a:r>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validator — </a:t>
            </a:r>
            <a:r>
              <a:rPr sz="1700" b="0" i="0">
                <a:solidFill>
                  <a:srgbClr val="5C4826"/>
                </a:solidFill>
              </a:rPr>
              <a:t>What failure does each prevent or detect?</a:t>
            </a:r>
          </a:p>
        </p:txBody>
      </p:sp>
      <p:sp>
        <p:nvSpPr>
          <p:cNvPr id="12" name="Compare3"/>
          <p:cNvSpPr/>
          <p:nvPr/>
        </p:nvSpPr>
        <p:spPr>
          <a:xfrm>
            <a:off x="502920" y="28803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 — </a:t>
            </a:r>
            <a:r>
              <a:rPr sz="1700" b="0" i="0">
                <a:solidFill>
                  <a:srgbClr val="5C4826"/>
                </a:solidFill>
              </a:rPr>
              <a:t>Should this failure block the commit, the PR, the merge, the deployment — or merely produce evidence?</a:t>
            </a:r>
          </a:p>
        </p:txBody>
      </p:sp>
      <p:sp>
        <p:nvSpPr>
          <p:cNvPr id="13" name="Compare4"/>
          <p:cNvSpPr/>
          <p:nvPr/>
        </p:nvSpPr>
        <p:spPr>
          <a:xfrm>
            <a:off x="502920" y="37947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 — </a:t>
            </a:r>
            <a:r>
              <a:rPr sz="1700" b="0" i="0">
                <a:solidFill>
                  <a:srgbClr val="5C4826"/>
                </a:solidFill>
              </a:rPr>
              <a:t>What becomes easier if the relevant knowledge is explicit?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