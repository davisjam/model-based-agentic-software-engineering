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43"/>
  </p:notesMasterIdLst>
  <p:sldIdLst>
    <p:sldId id="256" r:id="rId7"/>
    <p:sldId id="289" r:id="rId15"/>
    <p:sldId id="290" r:id="rId34"/>
    <p:sldId id="258" r:id="rId9"/>
    <p:sldId id="284" r:id="rId49"/>
    <p:sldId id="291" r:id="rId35"/>
    <p:sldId id="292" r:id="rId36"/>
    <p:sldId id="293" r:id="rId37"/>
    <p:sldId id="294" r:id="rId38"/>
    <p:sldId id="295" r:id="rId39"/>
    <p:sldId id="285" r:id="rId50"/>
    <p:sldId id="296" r:id="rId40"/>
    <p:sldId id="297" r:id="rId41"/>
    <p:sldId id="298" r:id="rId42"/>
    <p:sldId id="299" r:id="rId14"/>
    <p:sldId id="262" r:id="rId13"/>
    <p:sldId id="300" r:id="rId12"/>
    <p:sldId id="266" r:id="rId17"/>
    <p:sldId id="267" r:id="rId18"/>
    <p:sldId id="265" r:id="rId16"/>
    <p:sldId id="268" r:id="rId19"/>
    <p:sldId id="286" r:id="rId51"/>
    <p:sldId id="269" r:id="rId20"/>
    <p:sldId id="270" r:id="rId21"/>
    <p:sldId id="271" r:id="rId22"/>
    <p:sldId id="272" r:id="rId23"/>
    <p:sldId id="273" r:id="rId24"/>
    <p:sldId id="288" r:id="rId53"/>
    <p:sldId id="277" r:id="rId28"/>
    <p:sldId id="278" r:id="rId29"/>
    <p:sldId id="279" r:id="rId30"/>
    <p:sldId id="301" r:id="rId11"/>
    <p:sldId id="280" r:id="rId31"/>
    <p:sldId id="281" r:id="rId32"/>
    <p:sldId id="287" r:id="rId52"/>
    <p:sldId id="274" r:id="rId25"/>
    <p:sldId id="275" r:id="rId26"/>
    <p:sldId id="276" r:id="rId27"/>
    <p:sldId id="282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14" autoAdjust="0"/>
    <p:restoredTop sz="56164"/>
  </p:normalViewPr>
  <p:slideViewPr>
    <p:cSldViewPr snapToGrid="0" snapToObjects="1">
      <p:cViewPr varScale="1">
        <p:scale>
          <a:sx n="64" d="100"/>
          <a:sy n="64" d="100"/>
        </p:scale>
        <p:origin x="30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9" Type="http://schemas.openxmlformats.org/officeDocument/2006/relationships/slide" Target="slides/slide4.xml"/><Relationship Id="rId11" Type="http://schemas.openxmlformats.org/officeDocument/2006/relationships/slide" Target="slides/slide32.xml"/><Relationship Id="rId12" Type="http://schemas.openxmlformats.org/officeDocument/2006/relationships/slide" Target="slides/slide17.xml"/><Relationship Id="rId13" Type="http://schemas.openxmlformats.org/officeDocument/2006/relationships/slide" Target="slides/slide16.xml"/><Relationship Id="rId14" Type="http://schemas.openxmlformats.org/officeDocument/2006/relationships/slide" Target="slides/slide15.xml"/><Relationship Id="rId15" Type="http://schemas.openxmlformats.org/officeDocument/2006/relationships/slide" Target="slides/slide2.xml"/><Relationship Id="rId16" Type="http://schemas.openxmlformats.org/officeDocument/2006/relationships/slide" Target="slides/slide20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19" Type="http://schemas.openxmlformats.org/officeDocument/2006/relationships/slide" Target="slides/slide21.xml"/><Relationship Id="rId20" Type="http://schemas.openxmlformats.org/officeDocument/2006/relationships/slide" Target="slides/slide23.xml"/><Relationship Id="rId21" Type="http://schemas.openxmlformats.org/officeDocument/2006/relationships/slide" Target="slides/slide24.xml"/><Relationship Id="rId22" Type="http://schemas.openxmlformats.org/officeDocument/2006/relationships/slide" Target="slides/slide25.xml"/><Relationship Id="rId23" Type="http://schemas.openxmlformats.org/officeDocument/2006/relationships/slide" Target="slides/slide26.xml"/><Relationship Id="rId24" Type="http://schemas.openxmlformats.org/officeDocument/2006/relationships/slide" Target="slides/slide27.xml"/><Relationship Id="rId25" Type="http://schemas.openxmlformats.org/officeDocument/2006/relationships/slide" Target="slides/slide36.xml"/><Relationship Id="rId26" Type="http://schemas.openxmlformats.org/officeDocument/2006/relationships/slide" Target="slides/slide37.xml"/><Relationship Id="rId27" Type="http://schemas.openxmlformats.org/officeDocument/2006/relationships/slide" Target="slides/slide38.xml"/><Relationship Id="rId28" Type="http://schemas.openxmlformats.org/officeDocument/2006/relationships/slide" Target="slides/slide29.xml"/><Relationship Id="rId29" Type="http://schemas.openxmlformats.org/officeDocument/2006/relationships/slide" Target="slides/slide30.xml"/><Relationship Id="rId30" Type="http://schemas.openxmlformats.org/officeDocument/2006/relationships/slide" Target="slides/slide31.xml"/><Relationship Id="rId31" Type="http://schemas.openxmlformats.org/officeDocument/2006/relationships/slide" Target="slides/slide33.xml"/><Relationship Id="rId32" Type="http://schemas.openxmlformats.org/officeDocument/2006/relationships/slide" Target="slides/slide34.xml"/><Relationship Id="rId33" Type="http://schemas.openxmlformats.org/officeDocument/2006/relationships/slide" Target="slides/slide39.xml"/><Relationship Id="rId34" Type="http://schemas.openxmlformats.org/officeDocument/2006/relationships/slide" Target="slides/slide3.xml"/><Relationship Id="rId35" Type="http://schemas.openxmlformats.org/officeDocument/2006/relationships/slide" Target="slides/slide6.xml"/><Relationship Id="rId36" Type="http://schemas.openxmlformats.org/officeDocument/2006/relationships/slide" Target="slides/slide7.xml"/><Relationship Id="rId37" Type="http://schemas.openxmlformats.org/officeDocument/2006/relationships/slide" Target="slides/slide8.xml"/><Relationship Id="rId38" Type="http://schemas.openxmlformats.org/officeDocument/2006/relationships/slide" Target="slides/slide9.xml"/><Relationship Id="rId39" Type="http://schemas.openxmlformats.org/officeDocument/2006/relationships/slide" Target="slides/slide10.xml"/><Relationship Id="rId40" Type="http://schemas.openxmlformats.org/officeDocument/2006/relationships/slide" Target="slides/slide12.xml"/><Relationship Id="rId41" Type="http://schemas.openxmlformats.org/officeDocument/2006/relationships/slide" Target="slides/slide13.xml"/><Relationship Id="rId42" Type="http://schemas.openxmlformats.org/officeDocument/2006/relationships/slide" Target="slides/slide14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Relationship Id="rId49" Type="http://schemas.openxmlformats.org/officeDocument/2006/relationships/slide" Target="slides/slide5.xml"/><Relationship Id="rId50" Type="http://schemas.openxmlformats.org/officeDocument/2006/relationships/slide" Target="slides/slide11.xml"/><Relationship Id="rId51" Type="http://schemas.openxmlformats.org/officeDocument/2006/relationships/slide" Target="slides/slide22.xml"/><Relationship Id="rId52" Type="http://schemas.openxmlformats.org/officeDocument/2006/relationships/slide" Target="slides/slide35.xml"/><Relationship Id="rId53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9/29/26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question; do not answer it yet. Do not preview the model. Transition: "Rather than define Alignment, let's give an agent some work."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Explicit callback to Architecture/Design — the same degrees-of-freedom visual language. Speaker: "This is the same design problem we have seen before: decide which degrees of freedom matter." We are NOT teaching students to write giant prompts that micromanage agents.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Lands after the todo-app discussion: name the two halves the students just experienced. The footer phrase is the unit framing (it also opens the lander). No Section 0, no recap — straight into 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PLAUSIBLE work order, not a generic list. Walk the rows; the right-hand annotations name what each row is doing: outcome, scope, obligations, process, stopping condition, authority.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where "environment" finally becomes concrete. The agent is not a chat window: it is placed inside a repository, with tools and context, and its work leaves through a commit and a PR.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from the todo app: "That was fine for a todo list. Now suppose the work matters. What else would we give the agent?" Caution: do NOT claim every delegation requires all of these to be explicitly specified. The point is that some process will occur whether you model it or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Fourth failure mode. "All tests pass" is a claim, not yet evidence of the right thing. Recover the Section-1 definition: an OBLIGATION is a condition against which the work can be wrong. Evidence is evidence only relative to an obligation — one of the strongest propositions in the deck; let it land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Almost empty on purpose — no list of suggested checks initially; let the room discover the ambiguity. The gold line and the check list are a BUILD revealed after discussion. Collect: adding, editing, deletion, persistence, appearance, console errors, refresh, multiple tabs. Only after they volunteer these, point out that they are implicitly inventing obligations and evidence. Do not resolve anything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Deliberately low-stakes and independent of the running engineering example. Students should experience "I asked an agent for something; it produced something that looks plausible; now what does WORKS mean?" before consequential delegated work appears. "Use whatever implementation approach you think is appropriate" deliberately creates degrees of freedom to return to later: different frameworks, storage mechanisms, UI choices, command sequences. The prompt paragraph is a single copyable block — students paste it into Claude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pivotal picture: verification governing admission to greater consequence. Demoted build (speaker): a verdict can carry increasing authority — WARN (note it) / RECOMMEND (ask the agent to reconsider) / REJECT (refuse the patch) / PREVENT (make the action impossible). Guidance shapes behavior; enforcement determines what the environment accepts.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roles are two conceptual pairs, not a pipeline: constraint and sensor concern the work and its state (what may happen; what did happen); validator and gate concern judgment and admission (is it OK; may it pass). One mechanism may bundle roles: a CI test senses, validates, and gates at once; a narrow interface constrains while producing evidence of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3.3-1 (constraint vs sensor): the student performs the choice. Can the unwanted state be excluded cleanly and reliably? YES: constraint (typed enum, permission, narrow API). NO: sensor (metric, trace, call scan, log) — then validate the evidence, and gate on the verdict when appropriate. The first engineering preference is prevention, when cheap and reliable.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Closes Section 2: Alignment as Validation with consequences, not a second framework. Validation asks whether evidence supports the claim; Alignment asks what the verdict should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 (12 min). The lifecycle pipeline is the visual anchor for the whole section. Build: place the candidate checks one at a time, asking the room where each belongs before revealing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3.2-3 (the semantic gap): this explains WHY the rule exists rather than merely stating it. The obligation is legible only at the boundary where the whole unit of work is assembled; below it, no single commit / call / turn carries enough to decide. Ask the room why not everything at edit time before revealing. "Shift left" is not an unconditional maxim — check earlier only when the required evidence exists earlier.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central callback of Section 3 — put the two statements side by side and let students recognize the principle. The takeaway uses the chapter vocabulary: the earliest boundary where the obligation is legible and decidable. The last line ties to the Modeling lecture: wrong abstraction means the property is not represented; wrong Alignment boundary means the evidence is unavailable.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Worked example. Enforcing an end-state obligation per-commit produces a bad control: it enforces the right obligation at a boundary that cannot yet decide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minutes, then the team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 (18 min): ~10–12 min team work, ~6 min debrief. Same scenario for every team so the debrief can compare designs. The instruction is deliberately wider than "how will each obligation be checked?" — teams design the delegated process AND its controls. One obligation is structurally preventable, one measured, one static, one integration-only — keep that heterogeneity.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entire lecture on one slide — the design sequence each team applies to each obligation. Give them 10–12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Select disagreements, not merely good answers — each comparison corresponds directly to a lecture choice. The outcome: students can perform Alignment and say what an explicit model bought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 explicitly. Deliberate mode change: fewer slides, more discussion, from here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only the question on screen and stop. ~5 minutes of whole-class discussion; let students recover ideas from Modeling before showing any answer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the discussion, consolidate: what an explicit representation adds to the Alignment the students just performed.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3.2-1: three distinct relations, drawn separately so they cannot be read as one. Correspondence — do two representations agree? Conformance — does the artifact satisfy an independent obligation? Acceptance — will the receiving environment admit it? Evidence for one does not establish the others: a model and realization can agree completely and still violate an external obligation, and a representation extracted from the implementation corresponds by construction — that is not independent evidence of correctness. Next slide: now look specifically at obligation / model / realization — agreement occupies only one edge.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what each edge means before giving the labels. This makes correspondence / conformance concrete rather than vocabulary.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Return to the opening. Build: the six questions appear one at a time — the first is the new one. Spoken close, returning to the opening activity: "You told an agent to vibe-code a todo list; later you told one to add bulk refunds. Both times the question was: does it work? We now have a better question: what must be true, what evidence can establish it, and what will the engineered environment permit when it isn’t?" Then the FA-SDLC handoff sentence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 (12 min). Transition from the todo app: "That was fine for a todo list. Now suppose the work matters. What else would we give the agent?"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 (15 min). Build the failure model one mode at a time before any control vocabulary appears.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 (12 min). Moved BEFORE the design activity: the Modeling payoff is a design resource the activity should get to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explicit process-modeling slide. The distinction matters: we are modeling the engineering process, not pretending we have a faithful cognitive model of an LLM.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Reuse of the Section-1 process diagram, now with the endpoint highlighted: does the chain end in ACCEPTABLE work? The question shifts from "what should happen" to "what can go wrong."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failure mode; take them one at a time. The artifact itself is wrong against an obligation.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Crucial: each example can leave a final state that LOOKS fine. The failure is in the path, not (only) the artifact — which is why final-state validation alone does not capture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Third failure mode. Explicit callback to the Agents lecture. This is what sets up gates later in the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earns the control vocabulary: the failure model, not a framework, motivates the four roles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bridge between Modeling and Alignment, shown on a REAL shipped model (workbench example: medium-document-processing). One document service, declared once — entities, a bounded-retry lifecycle (submitted/queued/processing/completed/failed, retry_count at most 2), and a working-memory envelope (two 384 MB task slots against a 1 GB worker) — is consumed several ways: a lifecycle reachability check, a retry-bound check, and a memory analysis. Two kinds of question over one system; their verdicts meet at a gate. Nothing here was reconstructed from the code — every figure is a declaration in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urdue CoBrand">
            <a:extLst>
              <a:ext uri="{FF2B5EF4-FFF2-40B4-BE49-F238E27FC236}">
                <a16:creationId xmlns:a16="http://schemas.microsoft.com/office/drawing/2014/main" id="{BCBD89D8-43BD-5D41-99C6-91B0B6A519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097131" y="5715964"/>
            <a:ext cx="5091026" cy="54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Relationship Id="rId1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rgbClr val="555960"/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DD7291C3-5AE9-477A-3F39-34A06A62D99C}"/>
              </a:ext>
            </a:extLst>
          </p:cNvPr>
          <p:cNvSpPr txBox="1">
            <a:spLocks/>
          </p:cNvSpPr>
          <p:nvPr/>
        </p:nvSpPr>
        <p:spPr bwMode="black">
          <a:xfrm>
            <a:off x="439339" y="565149"/>
            <a:ext cx="8265319" cy="1195411"/>
          </a:xfrm>
          <a:prstGeom prst="rect">
            <a:avLst/>
          </a:prstGeom>
          <a:solidFill>
            <a:srgbClr val="FFFFFF"/>
          </a:solidFill>
          <a:ln w="31750" cap="sq">
            <a:noFill/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none" spc="200" baseline="0">
                <a:solidFill>
                  <a:srgbClr val="000000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sz="2000" i="1" dirty="0"/>
              <a:t>Software Engineering</a:t>
            </a:r>
            <a:br>
              <a:rPr lang="en-US" sz="2000" i="1" dirty="0"/>
            </a:br>
            <a:br>
              <a:rPr lang="en-US" sz="2000" i="1" dirty="0"/>
            </a:br>
            <a:r>
              <a:rPr lang="en-US" sz="1600" i="1" dirty="0"/>
              <a:t>ECE 30861 / CSCI 45000</a:t>
            </a:r>
            <a:endParaRPr lang="en-US" sz="2000" i="1" dirty="0"/>
          </a:p>
        </p:txBody>
      </p:sp>
      <p:sp>
        <p:nvSpPr>
          <p:cNvPr id="6" name="TitleBlock"/>
          <p:cNvSpPr txBox="1"/>
          <p:nvPr/>
        </p:nvSpPr>
        <p:spPr>
          <a:xfrm>
            <a:off x="219456" y="1371600"/>
            <a:ext cx="8695944" cy="2148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000000"/>
                </a:solidFill>
              </a:rPr>
              <a:t>Alignment</a:t>
            </a:r>
          </a:p>
          <a:p>
            <a:pPr algn="ctr">
              <a:spcBef>
                <a:spcPts val="1000"/>
              </a:spcBef>
            </a:pPr>
            <a:r>
              <a:rPr sz="2300" b="0" i="1">
                <a:solidFill>
                  <a:srgbClr val="8E6F3E"/>
                </a:solidFill>
              </a:rPr>
              <a:t>How do you know whether an agent</a:t>
            </a:r>
          </a:p>
          <a:p>
            <a:pPr algn="ctr"/>
            <a:r>
              <a:rPr sz="2300" b="0" i="1">
                <a:solidFill>
                  <a:srgbClr val="8E6F3E"/>
                </a:solidFill>
              </a:rPr>
              <a:t>is doing what you want?</a:t>
            </a:r>
          </a:p>
          <a:p>
            <a:pPr algn="ctr">
              <a:spcBef>
                <a:spcPts val="1000"/>
              </a:spcBef>
            </a:pPr>
            <a:r>
              <a:rPr sz="2000" b="0" i="1">
                <a:solidFill>
                  <a:srgbClr val="000000"/>
                </a:solidFill>
              </a:rPr>
              <a:t>Prof. James C. Davis</a:t>
            </a:r>
          </a:p>
          <a:p>
            <a:pPr algn="ctr"/>
            <a:r>
              <a:rPr sz="2000" b="0" i="1">
                <a:solidFill>
                  <a:srgbClr val="000000"/>
                </a:solidFill>
              </a:rPr>
              <a:t>Prof. Steve France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Vibe code a todo list</a:t>
            </a:r>
          </a:p>
        </p:txBody>
      </p:sp>
      <p:sp>
        <p:nvSpPr>
          <p:cNvPr id="4" name="Instruction"/>
          <p:cNvSpPr txBox="1"/>
          <p:nvPr/>
        </p:nvSpPr>
        <p:spPr>
          <a:xfrm>
            <a:off x="274320" y="896112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Open Claude Code. Give it the following task.</a:t>
            </a:r>
          </a:p>
        </p:txBody>
      </p:sp>
      <p:sp>
        <p:nvSpPr>
          <p:cNvPr id="5" name="PromptBlock"/>
          <p:cNvSpPr/>
          <p:nvPr/>
        </p:nvSpPr>
        <p:spPr>
          <a:xfrm>
            <a:off x="502920" y="1417320"/>
            <a:ext cx="8138160" cy="1783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91440"/>
          <a:lstStyle/>
          <a:p>
            <a:pPr algn="l"/>
            <a:r>
              <a:rPr sz="1400" b="0" i="0">
                <a:solidFill>
                  <a:srgbClr val="5C4826"/>
                </a:solidFill>
                <a:latin typeface="Consolas"/>
              </a:rPr>
              <a:t>Create a todo-list web application and make it available at localhost. A user should be able to add a todo item, mark an item complete, edit an existing item, and delete an item. The list should survive a browser refresh. Give the application a clean, usable interface with a text field for adding items and a visible list of current todos. Use whatever implementation approach you think is appropriate. When you are finished, start the application so that I can use it in my browser.</a:t>
            </a:r>
          </a:p>
        </p:txBody>
      </p:sp>
      <p:sp>
        <p:nvSpPr>
          <p:cNvPr id="6" name="Rules"/>
          <p:cNvSpPr txBox="1"/>
          <p:nvPr/>
        </p:nvSpPr>
        <p:spPr>
          <a:xfrm>
            <a:off x="502920" y="3474720"/>
            <a:ext cx="81381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555960"/>
                </a:solidFill>
              </a:rPr>
              <a:t>Do not help the agent.</a:t>
            </a:r>
          </a:p>
          <a:p>
            <a:pPr algn="l"/>
            <a:r>
              <a:rPr sz="1800" b="0" i="0">
                <a:solidFill>
                  <a:srgbClr val="555960"/>
                </a:solidFill>
              </a:rPr>
              <a:t>If it makes a choice you did not specify, let it choose.</a:t>
            </a:r>
          </a:p>
        </p:txBody>
      </p:sp>
      <p:sp>
        <p:nvSpPr>
          <p:cNvPr id="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You have 5 minutes.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Does it work?</a:t>
            </a:r>
          </a:p>
        </p:txBody>
      </p:sp>
      <p:sp>
        <p:nvSpPr>
          <p:cNvPr id="4" name="OpenIt"/>
          <p:cNvSpPr txBox="1"/>
          <p:nvPr/>
        </p:nvSpPr>
        <p:spPr>
          <a:xfrm>
            <a:off x="274320" y="2103120"/>
            <a:ext cx="8595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0" i="0">
                <a:solidFill>
                  <a:srgbClr val="5C4826"/>
                </a:solidFill>
              </a:rPr>
              <a:t>Open the application in your browser.</a:t>
            </a:r>
          </a:p>
          <a:p>
            <a:pPr algn="ctr"/>
            <a:r>
              <a:rPr sz="14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3200" b="1" i="0">
                <a:solidFill>
                  <a:srgbClr val="5C4826"/>
                </a:solidFill>
              </a:rPr>
              <a:t>Does it work?</a:t>
            </a:r>
          </a:p>
        </p:txBody>
      </p:sp>
      <p:sp>
        <p:nvSpPr>
          <p:cNvPr id="5" name="Reveal"/>
          <p:cNvSpPr txBox="1"/>
          <p:nvPr/>
        </p:nvSpPr>
        <p:spPr>
          <a:xfrm>
            <a:off x="274320" y="4389120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What did you check before answering?</a:t>
            </a:r>
          </a:p>
        </p:txBody>
      </p:sp>
      <p:sp>
        <p:nvSpPr>
          <p:cNvPr id="6" name="Checks"/>
          <p:cNvSpPr txBox="1"/>
          <p:nvPr/>
        </p:nvSpPr>
        <p:spPr>
          <a:xfrm>
            <a:off x="274320" y="489204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adding · editing · deleting · persistence · appearance · console errors · refresh · multiple tabs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Validation meets Delegation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19456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389888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When does evidence justify action?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31720"/>
            <a:ext cx="219456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DELEGATION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532888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What action may the agent take?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47472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ALIGNMENT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3474720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8E6F3E"/>
                </a:solidFill>
              </a:rPr>
              <a:t>When should an engineering judgment control what the agent — or the environment — is permitted to do?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736592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Not a third framework — the point where the first two meet.</a:t>
            </a:r>
          </a:p>
        </p:txBody>
      </p:sp>
      <p:sp>
        <p:nvSpPr>
          <p:cNvPr id="12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Alignment connects a validation judgment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to what the environment permits.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1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The orders we give an agent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are we actually asking an agent to do?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task is not a process</a:t>
            </a:r>
          </a:p>
        </p:txBody>
      </p:sp>
      <p:sp>
        <p:nvSpPr>
          <p:cNvPr id="4" name="TaskPanel"/>
          <p:cNvSpPr/>
          <p:nvPr/>
        </p:nvSpPr>
        <p:spPr>
          <a:xfrm>
            <a:off x="50292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TASK</a:t>
            </a:r>
          </a:p>
          <a:p>
            <a:pPr algn="ctr"/>
            <a:r>
              <a:rPr sz="10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Add bulk refunds to the payments service.</a:t>
            </a:r>
          </a:p>
        </p:txBody>
      </p:sp>
      <p:sp>
        <p:nvSpPr>
          <p:cNvPr id="5" name="ProcessPanel"/>
          <p:cNvSpPr/>
          <p:nvPr/>
        </p:nvSpPr>
        <p:spPr>
          <a:xfrm>
            <a:off x="466344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PROCESS</a:t>
            </a:r>
          </a:p>
          <a:p>
            <a:pPr algn="ctr"/>
            <a:r>
              <a:rPr sz="6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Where do you work?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may you change?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information should you inspect?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checks must you run?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artifact should you produce?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When are you finished?</a:t>
            </a:r>
          </a:p>
        </p:txBody>
      </p:sp>
      <p:sp>
        <p:nvSpPr>
          <p:cNvPr id="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A task describes an outcome.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Delegation also requires a process for producing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real agent gets a work environment</a:t>
            </a:r>
          </a:p>
        </p:txBody>
      </p:sp>
      <p:sp>
        <p:nvSpPr>
          <p:cNvPr id="4" name="WorkOrder"/>
          <p:cNvSpPr/>
          <p:nvPr/>
        </p:nvSpPr>
        <p:spPr>
          <a:xfrm>
            <a:off x="3566160" y="914400"/>
            <a:ext cx="201168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WORK ORDER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0" y="1417320"/>
            <a:ext cx="0" cy="30175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Worktree"/>
          <p:cNvSpPr/>
          <p:nvPr/>
        </p:nvSpPr>
        <p:spPr>
          <a:xfrm>
            <a:off x="1097280" y="1737360"/>
            <a:ext cx="6949440" cy="2240280"/>
          </a:xfrm>
          <a:prstGeom prst="rect">
            <a:avLst/>
          </a:prstGeom>
          <a:noFill/>
          <a:ln w="190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200" b="0" i="0">
                <a:solidFill>
                  <a:srgbClr val="5C4826"/>
                </a:solidFill>
              </a:rPr>
              <a:t/>
            </a:r>
          </a:p>
        </p:txBody>
      </p:sp>
      <p:sp>
        <p:nvSpPr>
          <p:cNvPr id="7" name="WorktreeLabel"/>
          <p:cNvSpPr txBox="1"/>
          <p:nvPr/>
        </p:nvSpPr>
        <p:spPr>
          <a:xfrm>
            <a:off x="1234440" y="1810512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8E6F3E"/>
                </a:solidFill>
              </a:rPr>
              <a:t>WORKTREE</a:t>
            </a:r>
          </a:p>
        </p:txBody>
      </p:sp>
      <p:sp>
        <p:nvSpPr>
          <p:cNvPr id="8" name="EnvRepo"/>
          <p:cNvSpPr/>
          <p:nvPr/>
        </p:nvSpPr>
        <p:spPr>
          <a:xfrm>
            <a:off x="1463040" y="2212848"/>
            <a:ext cx="173736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repository</a:t>
            </a:r>
          </a:p>
        </p:txBody>
      </p:sp>
      <p:sp>
        <p:nvSpPr>
          <p:cNvPr id="9" name="EnvTools"/>
          <p:cNvSpPr/>
          <p:nvPr/>
        </p:nvSpPr>
        <p:spPr>
          <a:xfrm>
            <a:off x="3703320" y="2212848"/>
            <a:ext cx="173736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tools</a:t>
            </a:r>
          </a:p>
        </p:txBody>
      </p:sp>
      <p:sp>
        <p:nvSpPr>
          <p:cNvPr id="10" name="EnvContext"/>
          <p:cNvSpPr/>
          <p:nvPr/>
        </p:nvSpPr>
        <p:spPr>
          <a:xfrm>
            <a:off x="5943600" y="2212848"/>
            <a:ext cx="173736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context</a:t>
            </a:r>
          </a:p>
        </p:txBody>
      </p:sp>
      <p:sp>
        <p:nvSpPr>
          <p:cNvPr id="11" name="EnvAgent"/>
          <p:cNvSpPr/>
          <p:nvPr/>
        </p:nvSpPr>
        <p:spPr>
          <a:xfrm>
            <a:off x="3703320" y="3218688"/>
            <a:ext cx="1737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AGENT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331720" y="2743200"/>
            <a:ext cx="1554480" cy="51206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572000" y="2743200"/>
            <a:ext cx="0" cy="47548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5257800" y="2743200"/>
            <a:ext cx="1554480" cy="51206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572000" y="3785615"/>
            <a:ext cx="0" cy="420625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Proposed"/>
          <p:cNvSpPr/>
          <p:nvPr/>
        </p:nvSpPr>
        <p:spPr>
          <a:xfrm>
            <a:off x="3566160" y="4224528"/>
            <a:ext cx="201168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proposed change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0" y="4700016"/>
            <a:ext cx="0" cy="2926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ommitPR"/>
          <p:cNvSpPr/>
          <p:nvPr/>
        </p:nvSpPr>
        <p:spPr>
          <a:xfrm>
            <a:off x="3566160" y="5010912"/>
            <a:ext cx="201168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commit / PR</a:t>
            </a:r>
          </a:p>
        </p:txBody>
      </p:sp>
      <p:sp>
        <p:nvSpPr>
          <p:cNvPr id="19" name="EnvCaption"/>
          <p:cNvSpPr txBox="1"/>
          <p:nvPr/>
        </p:nvSpPr>
        <p:spPr>
          <a:xfrm>
            <a:off x="274320" y="5559552"/>
            <a:ext cx="8595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55960"/>
                </a:solidFill>
              </a:rPr>
              <a:t>Git worktree · branch · issue · repository instructions · tools · tests · CI · PR</a:t>
            </a:r>
          </a:p>
        </p:txBody>
      </p:sp>
      <p:sp>
        <p:nvSpPr>
          <p:cNvPr id="2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We do not merely give agents prompts.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We place them inside engineered processes.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Give it a work order</a:t>
            </a:r>
          </a:p>
        </p:txBody>
      </p:sp>
      <p:graphicFrame>
        <p:nvGraphicFramePr>
          <p:cNvPr id="4" name="WorkOrderTable"/>
          <p:cNvGraphicFramePr>
            <a:graphicFrameLocks noGrp="1"/>
          </p:cNvGraphicFramePr>
          <p:nvPr/>
        </p:nvGraphicFramePr>
        <p:xfrm>
          <a:off x="502920" y="1005840"/>
          <a:ext cx="6492240" cy="45171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5029200"/>
              </a:tblGrid>
              <a:tr h="548640">
                <a:tc gridSpan="2">
                  <a:txBody>
                    <a:bodyPr wrap="square" anchor="ctr"/>
                    <a:lstStyle/>
                    <a:p>
                      <a:pPr algn="ctr"/>
                      <a:r>
                        <a:rPr sz="1800" b="1" i="0">
                          <a:solidFill>
                            <a:srgbClr val="FFFFFF"/>
                          </a:solidFill>
                        </a:rPr>
                        <a:t>WORK ORDER: Bulk refunds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Goal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Add POST /refunds/bulk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Scope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Modify the payments service only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Preserve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Existing single-refund API behavior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Do not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Modify authentication or payment-provider adapters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Check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Existing tests + new bulk-refund tests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Deliver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Commit changes on your worktree and open a PR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Authority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Do not merge or deploy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Annot-outcome"/>
          <p:cNvSpPr txBox="1"/>
          <p:nvPr/>
        </p:nvSpPr>
        <p:spPr>
          <a:xfrm>
            <a:off x="7178040" y="1664207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outcome</a:t>
            </a:r>
          </a:p>
        </p:txBody>
      </p:sp>
      <p:sp>
        <p:nvSpPr>
          <p:cNvPr id="6" name="Annot-scope"/>
          <p:cNvSpPr txBox="1"/>
          <p:nvPr/>
        </p:nvSpPr>
        <p:spPr>
          <a:xfrm>
            <a:off x="7178040" y="2231136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scope</a:t>
            </a:r>
          </a:p>
        </p:txBody>
      </p:sp>
      <p:sp>
        <p:nvSpPr>
          <p:cNvPr id="7" name="Annot-obligations"/>
          <p:cNvSpPr txBox="1"/>
          <p:nvPr/>
        </p:nvSpPr>
        <p:spPr>
          <a:xfrm>
            <a:off x="7178040" y="3081528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obligations</a:t>
            </a:r>
          </a:p>
        </p:txBody>
      </p:sp>
      <p:sp>
        <p:nvSpPr>
          <p:cNvPr id="8" name="Annot-process"/>
          <p:cNvSpPr txBox="1"/>
          <p:nvPr/>
        </p:nvSpPr>
        <p:spPr>
          <a:xfrm>
            <a:off x="7178040" y="3931920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process</a:t>
            </a:r>
          </a:p>
        </p:txBody>
      </p:sp>
      <p:sp>
        <p:nvSpPr>
          <p:cNvPr id="9" name="Annot-stopping condition"/>
          <p:cNvSpPr txBox="1"/>
          <p:nvPr/>
        </p:nvSpPr>
        <p:spPr>
          <a:xfrm>
            <a:off x="7178040" y="4498848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stopping condition</a:t>
            </a:r>
          </a:p>
        </p:txBody>
      </p:sp>
      <p:sp>
        <p:nvSpPr>
          <p:cNvPr id="10" name="Annot-authority"/>
          <p:cNvSpPr txBox="1"/>
          <p:nvPr/>
        </p:nvSpPr>
        <p:spPr>
          <a:xfrm>
            <a:off x="7178040" y="5065776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authority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Orders reduce degrees of freedom</a:t>
            </a:r>
          </a:p>
        </p:txBody>
      </p:sp>
      <p:sp>
        <p:nvSpPr>
          <p:cNvPr id="4" name="BoundPanel"/>
          <p:cNvSpPr/>
          <p:nvPr/>
        </p:nvSpPr>
        <p:spPr>
          <a:xfrm>
            <a:off x="50292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BOUND</a:t>
            </a:r>
          </a:p>
          <a:p>
            <a:pPr algn="ctr"/>
            <a:r>
              <a:rPr sz="6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worktree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files in scope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forbidden actions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required checks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delivery boundary</a:t>
            </a:r>
          </a:p>
        </p:txBody>
      </p:sp>
      <p:sp>
        <p:nvSpPr>
          <p:cNvPr id="5" name="FreePanel"/>
          <p:cNvSpPr/>
          <p:nvPr/>
        </p:nvSpPr>
        <p:spPr>
          <a:xfrm>
            <a:off x="466344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LEAVE FREE</a:t>
            </a:r>
          </a:p>
          <a:p>
            <a:pPr algn="ctr"/>
            <a:r>
              <a:rPr sz="6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local implementation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decomposition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naming choices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algorithm, where unconstrained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order of intermediate edits</a:t>
            </a:r>
          </a:p>
        </p:txBody>
      </p:sp>
      <p:sp>
        <p:nvSpPr>
          <p:cNvPr id="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Good delegation constrains consequential choices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without prescribing every move.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process is a model</a:t>
            </a:r>
          </a:p>
        </p:txBody>
      </p:sp>
      <p:sp>
        <p:nvSpPr>
          <p:cNvPr id="4" name="PCWorkOrder"/>
          <p:cNvSpPr/>
          <p:nvPr/>
        </p:nvSpPr>
        <p:spPr>
          <a:xfrm>
            <a:off x="502920" y="1005840"/>
            <a:ext cx="17373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WORK ORDER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371600" y="1554480"/>
            <a:ext cx="0" cy="36576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CINSPECT"/>
          <p:cNvSpPr/>
          <p:nvPr/>
        </p:nvSpPr>
        <p:spPr>
          <a:xfrm>
            <a:off x="5029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INSPECT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202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CMODIFY"/>
          <p:cNvSpPr/>
          <p:nvPr/>
        </p:nvSpPr>
        <p:spPr>
          <a:xfrm>
            <a:off x="21031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MODIFY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20439" y="2217420"/>
            <a:ext cx="182881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PCCHECK"/>
          <p:cNvSpPr/>
          <p:nvPr/>
        </p:nvSpPr>
        <p:spPr>
          <a:xfrm>
            <a:off x="37033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CHECK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1206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CCOMMIT"/>
          <p:cNvSpPr/>
          <p:nvPr/>
        </p:nvSpPr>
        <p:spPr>
          <a:xfrm>
            <a:off x="53035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7208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CPROPOSE"/>
          <p:cNvSpPr/>
          <p:nvPr/>
        </p:nvSpPr>
        <p:spPr>
          <a:xfrm>
            <a:off x="69037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PROPOSE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11980" y="2514600"/>
            <a:ext cx="0" cy="27432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811779" y="2788920"/>
            <a:ext cx="1600201" cy="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811779" y="2551176"/>
            <a:ext cx="0" cy="237744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CAspects"/>
          <p:cNvSpPr txBox="1"/>
          <p:nvPr/>
        </p:nvSpPr>
        <p:spPr>
          <a:xfrm>
            <a:off x="274320" y="3246120"/>
            <a:ext cx="8595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permitted actions · required transitions · stopping criteria · evidence produced</a:t>
            </a:r>
          </a:p>
        </p:txBody>
      </p:sp>
      <p:sp>
        <p:nvSpPr>
          <p:cNvPr id="19" name="PCMain"/>
          <p:cNvSpPr txBox="1"/>
          <p:nvPr/>
        </p:nvSpPr>
        <p:spPr>
          <a:xfrm>
            <a:off x="502920" y="3977639"/>
            <a:ext cx="81381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A process model says what work may happen, in what environment, and what must be established before work proceeds.</a:t>
            </a:r>
          </a:p>
        </p:txBody>
      </p:sp>
      <p:sp>
        <p:nvSpPr>
          <p:cNvPr id="20" name="PCCaveat"/>
          <p:cNvSpPr txBox="1"/>
          <p:nvPr/>
        </p:nvSpPr>
        <p:spPr>
          <a:xfrm>
            <a:off x="502920" y="4983480"/>
            <a:ext cx="8138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It need not prescribe the agent’s internal reasoning.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2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How can delegated work fail?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can go wrong between the work order and the result?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process gives us something to reason about</a:t>
            </a:r>
          </a:p>
        </p:txBody>
      </p:sp>
      <p:sp>
        <p:nvSpPr>
          <p:cNvPr id="4" name="PCWorkOrder"/>
          <p:cNvSpPr/>
          <p:nvPr/>
        </p:nvSpPr>
        <p:spPr>
          <a:xfrm>
            <a:off x="502920" y="1005840"/>
            <a:ext cx="17373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WORK ORDER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371600" y="1554480"/>
            <a:ext cx="0" cy="36576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CINSPECT"/>
          <p:cNvSpPr/>
          <p:nvPr/>
        </p:nvSpPr>
        <p:spPr>
          <a:xfrm>
            <a:off x="5029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INSPECT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202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CMODIFY"/>
          <p:cNvSpPr/>
          <p:nvPr/>
        </p:nvSpPr>
        <p:spPr>
          <a:xfrm>
            <a:off x="21031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MODIFY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20439" y="2217420"/>
            <a:ext cx="182881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PCCHECK"/>
          <p:cNvSpPr/>
          <p:nvPr/>
        </p:nvSpPr>
        <p:spPr>
          <a:xfrm>
            <a:off x="37033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CHECK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1206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CCOMMIT"/>
          <p:cNvSpPr/>
          <p:nvPr/>
        </p:nvSpPr>
        <p:spPr>
          <a:xfrm>
            <a:off x="53035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7208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CPROPOSE"/>
          <p:cNvSpPr/>
          <p:nvPr/>
        </p:nvSpPr>
        <p:spPr>
          <a:xfrm>
            <a:off x="69037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PROPOSE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11980" y="2514600"/>
            <a:ext cx="0" cy="27432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811779" y="2788920"/>
            <a:ext cx="1600201" cy="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811779" y="2551176"/>
            <a:ext cx="0" cy="237744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612379" y="2514600"/>
            <a:ext cx="0" cy="5212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COutcome"/>
          <p:cNvSpPr/>
          <p:nvPr/>
        </p:nvSpPr>
        <p:spPr>
          <a:xfrm>
            <a:off x="6903720" y="3054096"/>
            <a:ext cx="192024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acceptable work?</a:t>
            </a:r>
          </a:p>
        </p:txBody>
      </p:sp>
      <p:sp>
        <p:nvSpPr>
          <p:cNvPr id="2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If we want to control delegated work,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we need a model of how it can fail.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result can be wrong</a:t>
            </a:r>
          </a:p>
        </p:txBody>
      </p:sp>
      <p:sp>
        <p:nvSpPr>
          <p:cNvPr id="4" name="Example"/>
          <p:cNvSpPr txBox="1"/>
          <p:nvPr/>
        </p:nvSpPr>
        <p:spPr>
          <a:xfrm>
            <a:off x="274320" y="932688"/>
            <a:ext cx="8595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>
                <a:solidFill>
                  <a:srgbClr val="555960"/>
                </a:solidFill>
              </a:rPr>
              <a:t>Requirement: existing clients continue to behave identically.</a:t>
            </a:r>
          </a:p>
          <a:p>
            <a:pPr algn="l"/>
            <a:r>
              <a:rPr sz="1700" b="0" i="1">
                <a:solidFill>
                  <a:srgbClr val="555960"/>
                </a:solidFill>
              </a:rPr>
              <a:t>The agent changes response semantics.</a:t>
            </a:r>
          </a:p>
        </p:txBody>
      </p:sp>
      <p:sp>
        <p:nvSpPr>
          <p:cNvPr id="5" name="FRequest"/>
          <p:cNvSpPr/>
          <p:nvPr/>
        </p:nvSpPr>
        <p:spPr>
          <a:xfrm>
            <a:off x="1097280" y="1965960"/>
            <a:ext cx="17373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REQUEST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34640" y="2249424"/>
            <a:ext cx="4114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Impl"/>
          <p:cNvSpPr/>
          <p:nvPr/>
        </p:nvSpPr>
        <p:spPr>
          <a:xfrm>
            <a:off x="3246120" y="1965960"/>
            <a:ext cx="21945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IMPLEMENTATION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43400" y="2532888"/>
            <a:ext cx="0" cy="484632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X"/>
          <p:cNvSpPr txBox="1"/>
          <p:nvPr/>
        </p:nvSpPr>
        <p:spPr>
          <a:xfrm>
            <a:off x="4114800" y="2788920"/>
            <a:ext cx="4572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✗</a:t>
            </a:r>
          </a:p>
        </p:txBody>
      </p:sp>
      <p:sp>
        <p:nvSpPr>
          <p:cNvPr id="10" name="FReq"/>
          <p:cNvSpPr txBox="1"/>
          <p:nvPr/>
        </p:nvSpPr>
        <p:spPr>
          <a:xfrm>
            <a:off x="3291840" y="324612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0">
                <a:solidFill>
                  <a:srgbClr val="555960"/>
                </a:solidFill>
              </a:rPr>
              <a:t>required behavior</a:t>
            </a:r>
          </a:p>
        </p:txBody>
      </p:sp>
      <p:sp>
        <p:nvSpPr>
          <p:cNvPr id="11" name="FailLabel"/>
          <p:cNvSpPr/>
          <p:nvPr/>
        </p:nvSpPr>
        <p:spPr>
          <a:xfrm>
            <a:off x="502920" y="4069080"/>
            <a:ext cx="2560320" cy="5943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ARTIFACT FAILURE</a:t>
            </a:r>
          </a:p>
        </p:txBody>
      </p:sp>
      <p:sp>
        <p:nvSpPr>
          <p:cNvPr id="12" name="FailDef"/>
          <p:cNvSpPr txBox="1"/>
          <p:nvPr/>
        </p:nvSpPr>
        <p:spPr>
          <a:xfrm>
            <a:off x="3246120" y="4133087"/>
            <a:ext cx="5394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The resulting system violates an obligation.</a:t>
            </a:r>
          </a:p>
        </p:txBody>
      </p:sp>
      <p:sp>
        <p:nvSpPr>
          <p:cNvPr id="13" name="FailKinds"/>
          <p:cNvSpPr txBox="1"/>
          <p:nvPr/>
        </p:nvSpPr>
        <p:spPr>
          <a:xfrm>
            <a:off x="274320" y="498348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wrong behavior · violated invariant · excessive memory · incompatible API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agent can do the wrong work</a:t>
            </a:r>
          </a:p>
        </p:txBody>
      </p:sp>
      <p:sp>
        <p:nvSpPr>
          <p:cNvPr id="4" name="WrongWork1"/>
          <p:cNvSpPr/>
          <p:nvPr/>
        </p:nvSpPr>
        <p:spPr>
          <a:xfrm>
            <a:off x="502920" y="100584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Modifies files outside the declared scope</a:t>
            </a:r>
          </a:p>
        </p:txBody>
      </p:sp>
      <p:sp>
        <p:nvSpPr>
          <p:cNvPr id="5" name="WrongWork2"/>
          <p:cNvSpPr/>
          <p:nvPr/>
        </p:nvSpPr>
        <p:spPr>
          <a:xfrm>
            <a:off x="502920" y="173736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Replaces an approved dependency</a:t>
            </a:r>
          </a:p>
        </p:txBody>
      </p:sp>
      <p:sp>
        <p:nvSpPr>
          <p:cNvPr id="6" name="WrongWork3"/>
          <p:cNvSpPr/>
          <p:nvPr/>
        </p:nvSpPr>
        <p:spPr>
          <a:xfrm>
            <a:off x="502920" y="246888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Changes the model instead of satisfying it</a:t>
            </a:r>
          </a:p>
        </p:txBody>
      </p:sp>
      <p:sp>
        <p:nvSpPr>
          <p:cNvPr id="7" name="WrongWork4"/>
          <p:cNvSpPr/>
          <p:nvPr/>
        </p:nvSpPr>
        <p:spPr>
          <a:xfrm>
            <a:off x="502920" y="320040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“Fixes” a test to make the implementation pass</a:t>
            </a:r>
          </a:p>
        </p:txBody>
      </p:sp>
      <p:sp>
        <p:nvSpPr>
          <p:cNvPr id="8" name="ScopeLabel"/>
          <p:cNvSpPr/>
          <p:nvPr/>
        </p:nvSpPr>
        <p:spPr>
          <a:xfrm>
            <a:off x="502920" y="4160520"/>
            <a:ext cx="3108960" cy="5943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SCOPE / PROCESS FAILURE</a:t>
            </a:r>
          </a:p>
        </p:txBody>
      </p:sp>
      <p:sp>
        <p:nvSpPr>
          <p:cNvPr id="9" name="ScopeDef"/>
          <p:cNvSpPr txBox="1"/>
          <p:nvPr/>
        </p:nvSpPr>
        <p:spPr>
          <a:xfrm>
            <a:off x="3794760" y="4224528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The path to the result violates the work order.</a:t>
            </a:r>
          </a:p>
        </p:txBody>
      </p:sp>
      <p:sp>
        <p:nvSpPr>
          <p:cNvPr id="1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Final-state validation alone does not capture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agent can exceed its authority</a:t>
            </a:r>
          </a:p>
        </p:txBody>
      </p:sp>
      <p:sp>
        <p:nvSpPr>
          <p:cNvPr id="4" name="AuthREAD"/>
          <p:cNvSpPr/>
          <p:nvPr/>
        </p:nvSpPr>
        <p:spPr>
          <a:xfrm>
            <a:off x="411480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READ</a:t>
            </a:r>
          </a:p>
        </p:txBody>
      </p:sp>
      <p:sp>
        <p:nvSpPr>
          <p:cNvPr id="5" name="AuthMarkREAD"/>
          <p:cNvSpPr txBox="1"/>
          <p:nvPr/>
        </p:nvSpPr>
        <p:spPr>
          <a:xfrm>
            <a:off x="411480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00200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AuthMODIFY"/>
          <p:cNvSpPr/>
          <p:nvPr/>
        </p:nvSpPr>
        <p:spPr>
          <a:xfrm>
            <a:off x="1837944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MODIFY</a:t>
            </a:r>
          </a:p>
        </p:txBody>
      </p:sp>
      <p:sp>
        <p:nvSpPr>
          <p:cNvPr id="8" name="AuthMarkMODIFY"/>
          <p:cNvSpPr txBox="1"/>
          <p:nvPr/>
        </p:nvSpPr>
        <p:spPr>
          <a:xfrm>
            <a:off x="1837944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26664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AuthCOMMIT"/>
          <p:cNvSpPr/>
          <p:nvPr/>
        </p:nvSpPr>
        <p:spPr>
          <a:xfrm>
            <a:off x="3264408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COMMIT</a:t>
            </a:r>
          </a:p>
        </p:txBody>
      </p:sp>
      <p:sp>
        <p:nvSpPr>
          <p:cNvPr id="11" name="AuthMarkCOMMIT"/>
          <p:cNvSpPr txBox="1"/>
          <p:nvPr/>
        </p:nvSpPr>
        <p:spPr>
          <a:xfrm>
            <a:off x="3264408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53128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AuthPUSH"/>
          <p:cNvSpPr/>
          <p:nvPr/>
        </p:nvSpPr>
        <p:spPr>
          <a:xfrm>
            <a:off x="4690872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PUSH</a:t>
            </a:r>
          </a:p>
        </p:txBody>
      </p:sp>
      <p:sp>
        <p:nvSpPr>
          <p:cNvPr id="14" name="AuthMarkPUSH"/>
          <p:cNvSpPr txBox="1"/>
          <p:nvPr/>
        </p:nvSpPr>
        <p:spPr>
          <a:xfrm>
            <a:off x="4690872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79592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AuthMERGE"/>
          <p:cNvSpPr/>
          <p:nvPr/>
        </p:nvSpPr>
        <p:spPr>
          <a:xfrm>
            <a:off x="6117336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MERGE</a:t>
            </a:r>
          </a:p>
        </p:txBody>
      </p:sp>
      <p:sp>
        <p:nvSpPr>
          <p:cNvPr id="17" name="AuthMarkMERGE"/>
          <p:cNvSpPr txBox="1"/>
          <p:nvPr/>
        </p:nvSpPr>
        <p:spPr>
          <a:xfrm>
            <a:off x="6117336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55960"/>
                </a:solidFill>
              </a:rPr>
              <a:t>✗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06056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AuthDEPLOY"/>
          <p:cNvSpPr/>
          <p:nvPr/>
        </p:nvSpPr>
        <p:spPr>
          <a:xfrm>
            <a:off x="7543800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DEPLOY</a:t>
            </a:r>
          </a:p>
        </p:txBody>
      </p:sp>
      <p:sp>
        <p:nvSpPr>
          <p:cNvPr id="20" name="AuthMarkDEPLOY"/>
          <p:cNvSpPr txBox="1"/>
          <p:nvPr/>
        </p:nvSpPr>
        <p:spPr>
          <a:xfrm>
            <a:off x="7543800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55960"/>
                </a:solidFill>
              </a:rPr>
              <a:t>✗</a:t>
            </a:r>
          </a:p>
        </p:txBody>
      </p:sp>
      <p:sp>
        <p:nvSpPr>
          <p:cNvPr id="21" name="AuthStmt"/>
          <p:cNvSpPr txBox="1"/>
          <p:nvPr/>
        </p:nvSpPr>
        <p:spPr>
          <a:xfrm>
            <a:off x="502920" y="3383280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The agent may be capable of an action that it is not authorized to take.</a:t>
            </a:r>
          </a:p>
        </p:txBody>
      </p:sp>
      <p:sp>
        <p:nvSpPr>
          <p:cNvPr id="22" name="AuthCallback"/>
          <p:cNvSpPr txBox="1"/>
          <p:nvPr/>
        </p:nvSpPr>
        <p:spPr>
          <a:xfrm>
            <a:off x="502920" y="4114800"/>
            <a:ext cx="8138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From Agents: capability is not authority.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The evidence can be insufficient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74320" y="96012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 agent reports: “All tests pass.”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154680"/>
            <a:ext cx="2194560" cy="9144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OBLIGATION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3310128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5C4826"/>
                </a:solidFill>
              </a:rPr>
              <a:t>A condition against which the work can be wrong.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Which tests?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96896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Against which obligations?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72584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In which environment?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48272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What wasn’t tested?</a:t>
            </a:r>
          </a:p>
        </p:txBody>
      </p:sp>
      <p:sp>
        <p:nvSpPr>
          <p:cNvPr id="1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Evidence is evidence only relative to an obligation.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failure model suggests controls</a:t>
            </a:r>
          </a:p>
        </p:txBody>
      </p:sp>
      <p:graphicFrame>
        <p:nvGraphicFramePr>
          <p:cNvPr id="4" name="FailureControlTable"/>
          <p:cNvGraphicFramePr>
            <a:graphicFrameLocks noGrp="1"/>
          </p:cNvGraphicFramePr>
          <p:nvPr/>
        </p:nvGraphicFramePr>
        <p:xfrm>
          <a:off x="914400" y="1188720"/>
          <a:ext cx="7315200" cy="31821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4572000"/>
              </a:tblGrid>
              <a:tr h="548640">
                <a:tc>
                  <a:txBody>
                    <a:bodyPr wrap="square" anchor="ctr"/>
                    <a:lstStyle/>
                    <a:p>
                      <a:pPr algn="l"/>
                      <a:r>
                        <a:rPr sz="1800" b="1" i="0">
                          <a:solidFill>
                            <a:srgbClr val="FFFFFF"/>
                          </a:solidFill>
                        </a:rPr>
                        <a:t>Failure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800" b="1" i="0">
                          <a:solidFill>
                            <a:srgbClr val="FFFFFF"/>
                          </a:solidFill>
                        </a:rPr>
                        <a:t>What we need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</a:tr>
              <a:tr h="658368"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1" i="0">
                          <a:solidFill>
                            <a:srgbClr val="5C4826"/>
                          </a:solidFill>
                        </a:rPr>
                        <a:t>wrong result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0" i="0">
                          <a:solidFill>
                            <a:srgbClr val="5C4826"/>
                          </a:solidFill>
                        </a:rPr>
                        <a:t>establish properties of the artifact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58368"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1" i="0">
                          <a:solidFill>
                            <a:srgbClr val="5C4826"/>
                          </a:solidFill>
                        </a:rPr>
                        <a:t>wrong process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0" i="0">
                          <a:solidFill>
                            <a:srgbClr val="5C4826"/>
                          </a:solidFill>
                        </a:rPr>
                        <a:t>observe or constrain actions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58368"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1" i="0">
                          <a:solidFill>
                            <a:srgbClr val="5C4826"/>
                          </a:solidFill>
                        </a:rPr>
                        <a:t>excess authority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0" i="0">
                          <a:solidFill>
                            <a:srgbClr val="5C4826"/>
                          </a:solidFill>
                        </a:rPr>
                        <a:t>restrict consequential actions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58368"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1" i="0">
                          <a:solidFill>
                            <a:srgbClr val="5C4826"/>
                          </a:solidFill>
                        </a:rPr>
                        <a:t>insufficient evidence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0" i="0">
                          <a:solidFill>
                            <a:srgbClr val="5C4826"/>
                          </a:solidFill>
                        </a:rPr>
                        <a:t>require evidence before acceptance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FCTransition"/>
          <p:cNvSpPr txBox="1"/>
          <p:nvPr/>
        </p:nvSpPr>
        <p:spPr>
          <a:xfrm>
            <a:off x="502920" y="4800600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We can now ask how to make each failure impossible, observable, detectable, or consequential.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Four roles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21945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CONSTRAINT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941832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narrows what may happen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91056"/>
            <a:ext cx="219456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SENSOR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1618488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observes what happened and produces evidence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267712"/>
            <a:ext cx="219456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VALIDATOR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295144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evaluates evidence against an obligation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44368"/>
            <a:ext cx="21945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971800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controls whether work crosses a boundary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3639312"/>
            <a:ext cx="8595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These are roles, not four required components. One mechanism may play several roles.</a:t>
            </a:r>
          </a:p>
        </p:txBody>
      </p:sp>
      <p:sp>
        <p:nvSpPr>
          <p:cNvPr id="18" name="PairObligation"/>
          <p:cNvSpPr/>
          <p:nvPr/>
        </p:nvSpPr>
        <p:spPr>
          <a:xfrm>
            <a:off x="3017520" y="4096512"/>
            <a:ext cx="3108960" cy="438912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ENGINEERING OBLIGATION</a:t>
            </a:r>
          </a:p>
        </p:txBody>
      </p:sp>
      <p:sp>
        <p:nvSpPr>
          <p:cNvPr id="19" name="PairWorkState"/>
          <p:cNvSpPr/>
          <p:nvPr/>
        </p:nvSpPr>
        <p:spPr>
          <a:xfrm>
            <a:off x="1234440" y="4864608"/>
            <a:ext cx="22860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WORK / STATE</a:t>
            </a:r>
          </a:p>
        </p:txBody>
      </p:sp>
      <p:sp>
        <p:nvSpPr>
          <p:cNvPr id="20" name="PairDecision"/>
          <p:cNvSpPr/>
          <p:nvPr/>
        </p:nvSpPr>
        <p:spPr>
          <a:xfrm>
            <a:off x="5623560" y="4864608"/>
            <a:ext cx="22860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DECISION / ADMISSION</a:t>
            </a:r>
          </a:p>
        </p:txBody>
      </p:sp>
      <p:sp>
        <p:nvSpPr>
          <p:cNvPr id="21" name="PairLeafConstraint"/>
          <p:cNvSpPr/>
          <p:nvPr/>
        </p:nvSpPr>
        <p:spPr>
          <a:xfrm>
            <a:off x="502920" y="5532120"/>
            <a:ext cx="17830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CONSTRAINT</a:t>
            </a:r>
          </a:p>
          <a:p>
            <a:pPr algn="ctr"/>
            <a:r>
              <a:rPr sz="1000" b="0" i="1">
                <a:solidFill>
                  <a:srgbClr val="555960"/>
                </a:solidFill>
              </a:rPr>
              <a:t>what may happen</a:t>
            </a:r>
          </a:p>
        </p:txBody>
      </p:sp>
      <p:sp>
        <p:nvSpPr>
          <p:cNvPr id="22" name="PairLeafSensor"/>
          <p:cNvSpPr/>
          <p:nvPr/>
        </p:nvSpPr>
        <p:spPr>
          <a:xfrm>
            <a:off x="2468880" y="5532120"/>
            <a:ext cx="17830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SENSOR</a:t>
            </a:r>
          </a:p>
          <a:p>
            <a:pPr algn="ctr"/>
            <a:r>
              <a:rPr sz="1000" b="0" i="1">
                <a:solidFill>
                  <a:srgbClr val="555960"/>
                </a:solidFill>
              </a:rPr>
              <a:t>what happened</a:t>
            </a:r>
          </a:p>
        </p:txBody>
      </p:sp>
      <p:sp>
        <p:nvSpPr>
          <p:cNvPr id="23" name="PairLeafValidator"/>
          <p:cNvSpPr/>
          <p:nvPr/>
        </p:nvSpPr>
        <p:spPr>
          <a:xfrm>
            <a:off x="4892040" y="5532120"/>
            <a:ext cx="17830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VALIDATOR</a:t>
            </a:r>
          </a:p>
          <a:p>
            <a:pPr algn="ctr"/>
            <a:r>
              <a:rPr sz="1000" b="0" i="1">
                <a:solidFill>
                  <a:srgbClr val="555960"/>
                </a:solidFill>
              </a:rPr>
              <a:t>is it OK?</a:t>
            </a:r>
          </a:p>
        </p:txBody>
      </p:sp>
      <p:sp>
        <p:nvSpPr>
          <p:cNvPr id="24" name="PairLeafGate"/>
          <p:cNvSpPr/>
          <p:nvPr/>
        </p:nvSpPr>
        <p:spPr>
          <a:xfrm>
            <a:off x="6858000" y="5532120"/>
            <a:ext cx="17830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GATE</a:t>
            </a:r>
          </a:p>
          <a:p>
            <a:pPr algn="ctr"/>
            <a:r>
              <a:rPr sz="1000" b="0" i="1">
                <a:solidFill>
                  <a:srgbClr val="555960"/>
                </a:solidFill>
              </a:rPr>
              <a:t>may it pass?</a:t>
            </a:r>
          </a:p>
        </p:txBody>
      </p:sp>
      <p:cxnSp>
        <p:nvCxnSpPr>
          <p:cNvPr id="25" name="PairConnL"/>
          <p:cNvCxnSpPr/>
          <p:nvPr/>
        </p:nvCxnSpPr>
        <p:spPr>
          <a:xfrm flipH="1">
            <a:off x="2377440" y="4535424"/>
            <a:ext cx="2194560" cy="32918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PairConnR"/>
          <p:cNvCxnSpPr/>
          <p:nvPr/>
        </p:nvCxnSpPr>
        <p:spPr>
          <a:xfrm>
            <a:off x="4572000" y="4535424"/>
            <a:ext cx="2194560" cy="32918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PairConnL1"/>
          <p:cNvCxnSpPr/>
          <p:nvPr/>
        </p:nvCxnSpPr>
        <p:spPr>
          <a:xfrm flipH="1">
            <a:off x="1394460" y="5276088"/>
            <a:ext cx="98298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PairConnL2"/>
          <p:cNvCxnSpPr/>
          <p:nvPr/>
        </p:nvCxnSpPr>
        <p:spPr>
          <a:xfrm>
            <a:off x="2377440" y="5276088"/>
            <a:ext cx="98298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PairConnR1"/>
          <p:cNvCxnSpPr/>
          <p:nvPr/>
        </p:nvCxnSpPr>
        <p:spPr>
          <a:xfrm flipH="1">
            <a:off x="5783580" y="5276088"/>
            <a:ext cx="98298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PairConnR2"/>
          <p:cNvCxnSpPr/>
          <p:nvPr/>
        </p:nvCxnSpPr>
        <p:spPr>
          <a:xfrm>
            <a:off x="6766560" y="5276088"/>
            <a:ext cx="98298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Prevent or detect?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274320" y="461772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Not every invalid state can be excluded in advance. Some properties appear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only across a sequence of actions, in the assembled system, or at runtime.</a:t>
            </a:r>
          </a:p>
        </p:txBody>
      </p:sp>
      <p:sp>
        <p:nvSpPr>
          <p:cNvPr id="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If you can make the wrong state impossible, do. Otherwise: evidence.</a:t>
            </a:r>
          </a:p>
        </p:txBody>
      </p:sp>
      <p:pic>
        <p:nvPicPr>
          <p:cNvPr id="9" name="Fig-3-3-1-constraint-vs-sensor" descr="constraint-vs-sensor-d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051560"/>
            <a:ext cx="7680960" cy="336042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 verdict can control authority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502920" y="1801368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WORK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8568" y="2121408"/>
            <a:ext cx="31089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911095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evidence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87752" y="1801368"/>
            <a:ext cx="173736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VALIDATOR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343400" y="2121408"/>
            <a:ext cx="31089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995928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verdict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72583" y="1801368"/>
            <a:ext cx="173736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GATE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28231" y="2121408"/>
            <a:ext cx="310897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080759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admits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57415" y="1801368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 · 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301752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The agent may propose freely. It may modify its branch freely.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It may merge if the checks pass. It may deploy if the release satisfies admission obligations.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3840480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Some actions are permitted only after their obligations are satisfied.</a:t>
            </a:r>
          </a:p>
        </p:txBody>
      </p:sp>
      <p:sp>
        <p:nvSpPr>
          <p:cNvPr id="2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 gate makes authority conditional on a verdict.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Alignment gives validation consequences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37160" y="1572768"/>
            <a:ext cx="1371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554480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CLAIM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91256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419856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56632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5285232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JUDGMENT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922008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150608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ACTION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68296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233672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99048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964424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37160" y="2907792"/>
            <a:ext cx="1371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ALIGNMENT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54480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OBLIGATION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191256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419856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56632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285232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JUDGMENT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922008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7150608" y="2926080"/>
            <a:ext cx="1627632" cy="60350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CONSEQUENCE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02336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Validation asks whether the evidence supports the claim.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Alignment asks what the verdict should control.</a:t>
            </a:r>
          </a:p>
        </p:txBody>
      </p:sp>
      <p:sp>
        <p:nvSpPr>
          <p:cNvPr id="2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The added step is consequence: the verdict can control what happens next.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3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Check it where you can know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Where can each obligation actually be decided?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Where can you decide?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92608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EDIT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490472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737360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35224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182112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PUSH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379976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4626864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24728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071616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DEPLOY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269480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516368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RUNTIME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886968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237744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type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property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2331720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1682496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forbidden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dependency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5221224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572000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integration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behavior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6665976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6016752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latency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under load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8110728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7461504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deployed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configuration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406908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A check can decide a property only where the required information exists.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Different boundaries provide enough information to decide different properties.</a:t>
            </a:r>
          </a:p>
        </p:txBody>
      </p:sp>
      <p:sp>
        <p:nvSpPr>
          <p:cNvPr id="2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Put the check where its question can be answered.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Earlier is cheaper — but not always possible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Check earlier when the required evidence exists earlier.</a:t>
            </a:r>
          </a:p>
        </p:txBody>
      </p:sp>
      <p:pic>
        <p:nvPicPr>
          <p:cNvPr id="9" name="Fig-3-2-3-semantic-gap" descr="semantic-gap-levels-d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8046720" cy="3017520"/>
          </a:xfrm>
          <a:prstGeom prst="rect">
            <a:avLst/>
          </a:prstGeom>
        </p:spPr>
      </p:pic>
      <p:sp>
        <p:nvSpPr>
          <p:cNvPr id="10" name="SemanticGapTakeaway"/>
          <p:cNvSpPr txBox="1"/>
          <p:nvPr/>
        </p:nvSpPr>
        <p:spPr>
          <a:xfrm>
            <a:off x="274320" y="4389120"/>
            <a:ext cx="8595360" cy="82296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A property that spans several commits, calls, or turns cannot be decided from any single event.</a:t>
            </a:r>
          </a:p>
          <a:p>
            <a:pPr algn="ctr"/>
            <a:r>
              <a:rPr sz="1600" b="1" i="0">
                <a:solidFill>
                  <a:srgbClr val="5C4826"/>
                </a:solidFill>
              </a:rPr>
              <a:t>Lift the mechanism to the first boundary where the whole obligation becomes legible.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The boundary follows the property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3977639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VALIDATION TAUGHT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3977639" cy="14630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1">
                <a:solidFill>
                  <a:srgbClr val="5C4826"/>
                </a:solidFill>
              </a:rPr>
              <a:t>Check at the lowest scope that can establish it,</a:t>
            </a:r>
          </a:p>
          <a:p>
            <a:pPr algn="ctr"/>
            <a:r>
              <a:rPr sz="2000" b="1" i="1">
                <a:solidFill>
                  <a:srgbClr val="5C4826"/>
                </a:solidFill>
              </a:rPr>
              <a:t>but no lower.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1188720"/>
            <a:ext cx="3977639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ALIGNMENT GENERALIZES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828800"/>
            <a:ext cx="3977639" cy="14630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1">
                <a:solidFill>
                  <a:srgbClr val="5C4826"/>
                </a:solidFill>
              </a:rPr>
              <a:t>Check at the earliest boundary where the obligation can be decided,</a:t>
            </a:r>
          </a:p>
          <a:p>
            <a:pPr algn="ctr"/>
            <a:r>
              <a:rPr sz="2000" b="1" i="1">
                <a:solidFill>
                  <a:srgbClr val="5C4826"/>
                </a:solidFill>
              </a:rPr>
              <a:t>but no earlier.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3657600"/>
            <a:ext cx="8595360" cy="822960"/>
          </a:xfrm>
          <a:prstGeom prst="rect">
            <a:avLst/>
          </a:prstGeom>
          <a:noFill/>
        </p:spPr>
        <p:txBody>
          <a:bodyPr wrap="square" anchor="ctr" lIns="27432" rIns="27432" tIns="22860" bIns="22860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Both rules place the check at the earliest point</a:t>
            </a:r>
            <a:r>
              <a:rPr sz="1800" b="1" i="0">
                <a:solidFill>
                  <a:srgbClr val="5C4826"/>
                </a:solidFill>
              </a:rPr>
              <a:t>Both place the check at the earliest boundary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with enough information to decide the claim.</a:t>
            </a:r>
          </a:p>
          <a:p>
            <a:pPr algn="ctr"/>
            <a:r>
              <a:rPr sz="1800" b="1" i="0">
                <a:solidFill>
                  <a:srgbClr val="5C4826"/>
                </a:solidFill>
              </a:rPr>
              <a:t>where the obligation is legible and decidable.</a:t>
            </a:r>
          </a:p>
        </p:txBody>
      </p:sp>
      <p:sp>
        <p:nvSpPr>
          <p:cNvPr id="10" name="ModelingTie"/>
          <p:cNvSpPr txBox="1"/>
          <p:nvPr/>
        </p:nvSpPr>
        <p:spPr>
          <a:xfrm>
            <a:off x="274320" y="4709160"/>
            <a:ext cx="8595360" cy="73152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Wrong abstraction: the property is not represented.  Wrong Alignment boundary: the evidence is unavailable.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Right obligation, wrong boundary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859536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OBLIGATION — </a:t>
            </a:r>
            <a:r>
              <a:rPr sz="1800" b="0" i="0">
                <a:solidFill>
                  <a:srgbClr val="5C4826"/>
                </a:solidFill>
              </a:rPr>
              <a:t>the code and its architectural model must agree when the task completes.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EDIT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90472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1737360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935224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182112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PUSH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79976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626864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24728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071616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DEPLOY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69480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516368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RUNTIME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331720" y="2606040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51560" y="3291840"/>
            <a:ext cx="256032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✗  enforced per-commit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rejects legitimate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intermediate states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5221224" y="2606040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941064" y="3291840"/>
            <a:ext cx="2560320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✓  decided at merge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when the task’s work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is assembled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4572000"/>
            <a:ext cx="8595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 obligation is right. The early boundary simply cannot decide it yet.</a:t>
            </a:r>
          </a:p>
        </p:txBody>
      </p:sp>
      <p:sp>
        <p:nvSpPr>
          <p:cNvPr id="22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Enforcing an obligation before it can be decided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gives weaker control, not stronger control.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9696"/>
            <a:ext cx="7772400" cy="1444752"/>
          </a:xfrm>
        </p:spPr>
        <p:txBody>
          <a:bodyPr wrap="square"/>
          <a:lstStyle/>
          <a:p>
            <a:pPr algn="ctr"/>
            <a:r>
              <a:rPr sz="3400">
                <a:solidFill>
                  <a:srgbClr val="000000"/>
                </a:solidFill>
              </a:rPr>
              <a:t>Stretch break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3429000" y="3383280"/>
            <a:ext cx="2286000" cy="5486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4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What do models buy us?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does an explicit model add?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We just did Alignment without models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8046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000000"/>
                </a:solidFill>
              </a:rPr>
              <a:t>We just reasoned about constraints, evidence, evaluation, and authority.</a:t>
            </a:r>
          </a:p>
          <a:p>
            <a:pPr algn="ctr"/>
            <a:r>
              <a:rPr sz="2400" b="1" i="0">
                <a:solidFill>
                  <a:srgbClr val="000000"/>
                </a:solidFill>
              </a:rPr>
              <a:t>No explicit model was required.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0"/>
            <a:ext cx="8046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300" b="0" i="1">
                <a:solidFill>
                  <a:srgbClr val="8E6F3E"/>
                </a:solidFill>
              </a:rPr>
              <a:t>So why did we spend the previous lecture on Modeling?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 wrap="square"/>
          <a:lstStyle/>
          <a:p>
            <a:pPr algn="ctr"/>
            <a:r>
              <a:rPr sz="4000">
                <a:solidFill>
                  <a:srgbClr val="000000"/>
                </a:solidFill>
              </a:rPr>
              <a:t>What do models buy us?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429000" y="3017520"/>
            <a:ext cx="2286000" cy="5486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Models make engineering knowledge explicit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A MODEL CAN …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PRESERVE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499616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distinctions that matter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04288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EXPOSE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432304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relationships that would otherwise be reconstructed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236976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LEAVE OPEN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3364992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realization choices that do not matter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69664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ENABLE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4297680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evaluations that otherwise require reconstruction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5010912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Different analyses can then operate over the same engineering knowledge.</a:t>
            </a:r>
          </a:p>
        </p:txBody>
      </p:sp>
      <p:sp>
        <p:nvSpPr>
          <p:cNvPr id="15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Explicit structure can turn reconstruction into inspection.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Models can drive controls</a:t>
            </a:r>
          </a:p>
        </p:txBody>
      </p:sp>
      <p:sp>
        <p:nvSpPr>
          <p:cNvPr id="14" name="MCVerdicts"/>
          <p:cNvSpPr txBox="1"/>
          <p:nvPr/>
        </p:nvSpPr>
        <p:spPr>
          <a:xfrm>
            <a:off x="5532120" y="388620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555960"/>
                </a:solidFill>
              </a:rPr>
              <a:t>verdicts</a:t>
            </a:r>
          </a:p>
        </p:txBody>
      </p:sp>
      <p:sp>
        <p:nvSpPr>
          <p:cNvPr id="15" name="MCGate"/>
          <p:cNvSpPr/>
          <p:nvPr/>
        </p:nvSpPr>
        <p:spPr>
          <a:xfrm>
            <a:off x="3749039" y="3767328"/>
            <a:ext cx="164592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GATE</a:t>
            </a:r>
          </a:p>
        </p:txBody>
      </p:sp>
      <p:sp>
        <p:nvSpPr>
          <p:cNvPr id="16" name="MCPoint"/>
          <p:cNvSpPr txBox="1"/>
          <p:nvPr/>
        </p:nvSpPr>
        <p:spPr>
          <a:xfrm>
            <a:off x="502920" y="4572000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The same explicit engineering knowledge can support multiple validators and constraints.</a:t>
            </a:r>
          </a:p>
        </p:txBody>
      </p:sp>
      <p:sp>
        <p:nvSpPr>
          <p:cNvPr id="1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 model becomes operational when the engineered environment uses it.</a:t>
            </a:r>
          </a:p>
        </p:txBody>
      </p:sp>
      <p:sp>
        <p:nvSpPr>
          <p:cNvPr id="18" name="RealModel"/>
          <p:cNvSpPr/>
          <p:nvPr/>
        </p:nvSpPr>
        <p:spPr>
          <a:xfrm>
            <a:off x="2103120" y="914400"/>
            <a:ext cx="4937760" cy="804672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DOCUMENT PROCESSING SERVICE</a:t>
            </a:r>
          </a:p>
          <a:p>
            <a:pPr algn="ctr"/>
            <a:r>
              <a:rPr sz="1050" b="0" i="1">
                <a:solidFill>
                  <a:srgbClr val="FBF8F2"/>
                </a:solidFill>
              </a:rPr>
              <a:t>one explicit model: lifecycle machine + resource graph</a:t>
            </a:r>
          </a:p>
        </p:txBody>
      </p:sp>
      <p:sp>
        <p:nvSpPr>
          <p:cNvPr id="19" name="MC-lifecycle"/>
          <p:cNvSpPr/>
          <p:nvPr/>
        </p:nvSpPr>
        <p:spPr>
          <a:xfrm>
            <a:off x="411480" y="2240280"/>
            <a:ext cx="2468880" cy="960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200" b="1" i="0">
                <a:solidFill>
                  <a:srgbClr val="5C4826"/>
                </a:solidFill>
              </a:rPr>
              <a:t>LIFECYCLE CHECK</a:t>
            </a:r>
          </a:p>
          <a:p>
            <a:pPr algn="ctr"/>
            <a:r>
              <a:rPr sz="950" b="0" i="0">
                <a:solidFill>
                  <a:srgbClr val="555960"/>
                </a:solidFill>
              </a:rPr>
              <a:t>can a Completed document ever be processed again?  no</a:t>
            </a:r>
          </a:p>
        </p:txBody>
      </p:sp>
      <p:sp>
        <p:nvSpPr>
          <p:cNvPr id="20" name="MC-retry"/>
          <p:cNvSpPr/>
          <p:nvPr/>
        </p:nvSpPr>
        <p:spPr>
          <a:xfrm>
            <a:off x="3337560" y="2240280"/>
            <a:ext cx="2468880" cy="960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200" b="1" i="0">
                <a:solidFill>
                  <a:srgbClr val="5C4826"/>
                </a:solidFill>
              </a:rPr>
              <a:t>RETRY BOUND</a:t>
            </a:r>
          </a:p>
          <a:p>
            <a:pPr algn="ctr"/>
            <a:r>
              <a:rPr sz="950" b="0" i="0">
                <a:solidFill>
                  <a:srgbClr val="555960"/>
                </a:solidFill>
              </a:rPr>
              <a:t>can the retry loop run forever?  no — at most 2 retries</a:t>
            </a:r>
          </a:p>
        </p:txBody>
      </p:sp>
      <p:sp>
        <p:nvSpPr>
          <p:cNvPr id="21" name="MC-memory"/>
          <p:cNvSpPr/>
          <p:nvPr/>
        </p:nvSpPr>
        <p:spPr>
          <a:xfrm>
            <a:off x="6263640" y="2240280"/>
            <a:ext cx="2468880" cy="960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200" b="1" i="0">
                <a:solidFill>
                  <a:srgbClr val="5C4826"/>
                </a:solidFill>
              </a:rPr>
              <a:t>MEMORY ANALYSIS</a:t>
            </a:r>
          </a:p>
          <a:p>
            <a:pPr algn="ctr"/>
            <a:r>
              <a:rPr sz="950" b="0" i="0">
                <a:solidFill>
                  <a:srgbClr val="555960"/>
                </a:solidFill>
              </a:rPr>
              <a:t>peak demand 2 × 384 MB — within the 1 GB worker ceiling</a:t>
            </a:r>
          </a:p>
        </p:txBody>
      </p:sp>
      <p:cxnSp>
        <p:nvCxnSpPr>
          <p:cNvPr id="22" name="RM-Conn1"/>
          <p:cNvCxnSpPr/>
          <p:nvPr/>
        </p:nvCxnSpPr>
        <p:spPr>
          <a:xfrm flipH="1">
            <a:off x="1645920" y="1719072"/>
            <a:ext cx="2926080" cy="5212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RM-Conn2"/>
          <p:cNvCxnSpPr/>
          <p:nvPr/>
        </p:nvCxnSpPr>
        <p:spPr>
          <a:xfrm>
            <a:off x="4572000" y="1719072"/>
            <a:ext cx="0" cy="5212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RM-Conn3"/>
          <p:cNvCxnSpPr/>
          <p:nvPr/>
        </p:nvCxnSpPr>
        <p:spPr>
          <a:xfrm>
            <a:off x="4572000" y="1719072"/>
            <a:ext cx="2926079" cy="5212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RM-Conn4"/>
          <p:cNvCxnSpPr/>
          <p:nvPr/>
        </p:nvCxnSpPr>
        <p:spPr>
          <a:xfrm>
            <a:off x="1645920" y="3200400"/>
            <a:ext cx="2377440" cy="56692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RM-Conn5"/>
          <p:cNvCxnSpPr/>
          <p:nvPr/>
        </p:nvCxnSpPr>
        <p:spPr>
          <a:xfrm>
            <a:off x="4572000" y="3200400"/>
            <a:ext cx="0" cy="56692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RM-Conn6"/>
          <p:cNvCxnSpPr/>
          <p:nvPr/>
        </p:nvCxnSpPr>
        <p:spPr>
          <a:xfrm flipH="1">
            <a:off x="5120640" y="3200400"/>
            <a:ext cx="2377439" cy="56692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Agreement is not correctness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Evidence for one does not establish the others.</a:t>
            </a:r>
          </a:p>
        </p:txBody>
      </p:sp>
      <p:pic>
        <p:nvPicPr>
          <p:cNvPr id="10" name="Fig-3-2-1-three-relations" descr="three-relations-d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320" y="1051560"/>
            <a:ext cx="6309360" cy="3680460"/>
          </a:xfrm>
          <a:prstGeom prst="rect">
            <a:avLst/>
          </a:prstGeom>
        </p:spPr>
      </p:pic>
      <p:sp>
        <p:nvSpPr>
          <p:cNvPr id="11" name="ThreeRelationsTakeaway"/>
          <p:cNvSpPr txBox="1"/>
          <p:nvPr/>
        </p:nvSpPr>
        <p:spPr>
          <a:xfrm>
            <a:off x="274320" y="4937760"/>
            <a:ext cx="8595360" cy="50292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Three relations people casually conflate — and their evidence is not interchangeable.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Three things can disagree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3474720" y="1097280"/>
            <a:ext cx="219456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OBLIGATION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566160"/>
            <a:ext cx="219456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3566160"/>
            <a:ext cx="219456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REALIZATION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011680" y="1440180"/>
            <a:ext cx="146304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11680" y="1440180"/>
            <a:ext cx="0" cy="212598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1440180"/>
            <a:ext cx="146304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132320" y="1440180"/>
            <a:ext cx="0" cy="212598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108960" y="3909060"/>
            <a:ext cx="292608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121408" y="2331720"/>
            <a:ext cx="23957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</a:rPr>
              <a:t>does the model capture</a:t>
            </a:r>
          </a:p>
          <a:p>
            <a:pPr algn="l"/>
            <a:r>
              <a:rPr sz="1800" b="0" i="1">
                <a:solidFill>
                  <a:srgbClr val="555960"/>
                </a:solidFill>
              </a:rPr>
              <a:t>the obligation?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331720"/>
            <a:ext cx="23957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800" b="0" i="1">
                <a:solidFill>
                  <a:srgbClr val="555960"/>
                </a:solidFill>
              </a:rPr>
              <a:t>does the realization</a:t>
            </a:r>
          </a:p>
          <a:p>
            <a:pPr algn="r"/>
            <a:r>
              <a:rPr sz="1800" b="0" i="1">
                <a:solidFill>
                  <a:srgbClr val="555960"/>
                </a:solidFill>
              </a:rPr>
              <a:t>satisfy it?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4069080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do they correspond?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80060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What claim does each edge make? What evidence would establish it?</a:t>
            </a:r>
          </a:p>
        </p:txBody>
      </p:sp>
      <p:sp>
        <p:nvSpPr>
          <p:cNvPr id="1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Correspondence is one edge, not the whole triangle.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5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Design the Alignment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Given the failures, obligations, and boundaries, what should control the agent?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Activity: govern the agent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KickerBadge">
            <a:extLst>
              <a:ext uri="{FF2B5EF4-FFF2-40B4-BE49-F238E27FC236}">
                <a16:creationId xmlns:a16="http://schemas.microsoft.com/office/drawing/2014/main" id="{55489336-5766-22EA-2ADC-D9F38F769456}"/>
              </a:ext>
            </a:extLst>
          </p:cNvPr>
          <p:cNvSpPr/>
          <p:nvPr/>
        </p:nvSpPr>
        <p:spPr>
          <a:xfrm>
            <a:off x="5074920" y="205000"/>
            <a:ext cx="3794760" cy="47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27432" rIns="91440" bIns="27432" anchor="ctr"/>
          <a:lstStyle/>
          <a:p>
            <a:pPr algn="ctr">
              <a:buNone/>
            </a:pPr>
            <a:r>
              <a:rPr lang="en-US" b="1" i="0" dirty="0">
                <a:solidFill>
                  <a:srgbClr val="8E6F3E"/>
                </a:solidFill>
              </a:rPr>
              <a:t>TEAM ACTIVITY  ·  10–12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05840"/>
            <a:ext cx="859536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SCENARIO — </a:t>
            </a:r>
            <a:r>
              <a:rPr sz="2000" b="1" i="0">
                <a:solidFill>
                  <a:srgbClr val="5C4826"/>
                </a:solidFill>
              </a:rPr>
              <a:t>an agent is modifying an embedded controller.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1  ·  </a:t>
            </a:r>
            <a:r>
              <a:rPr sz="1800" b="0" i="0">
                <a:solidFill>
                  <a:srgbClr val="5C4826"/>
                </a:solidFill>
              </a:rPr>
              <a:t>Preserve the external API.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96596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2  ·  </a:t>
            </a:r>
            <a:r>
              <a:rPr sz="1800" b="0" i="0">
                <a:solidFill>
                  <a:srgbClr val="5C4826"/>
                </a:solidFill>
              </a:rPr>
              <a:t>Worst-case memory below 64 MB.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15468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3  ·  </a:t>
            </a:r>
            <a:r>
              <a:rPr sz="1800" b="0" i="0">
                <a:solidFill>
                  <a:srgbClr val="5C4826"/>
                </a:solidFill>
              </a:rPr>
              <a:t>Avoid the forbidden dependency.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315468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4  ·  </a:t>
            </a:r>
            <a:r>
              <a:rPr sz="1800" b="0" i="0">
                <a:solidFill>
                  <a:srgbClr val="5C4826"/>
                </a:solidFill>
              </a:rPr>
              <a:t>Retain a behavior observable only when components interact.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57200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Four obligations of different kinds.</a:t>
            </a:r>
          </a:p>
        </p:txBody>
      </p:sp>
      <p:sp>
        <p:nvSpPr>
          <p:cNvPr id="12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Design the delegated process and its controls.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For each obligation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5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Be ready to defend your boundary and authority choices.</a:t>
            </a:r>
          </a:p>
        </p:txBody>
      </p:sp>
      <p:graphicFrame>
        <p:nvGraphicFramePr>
          <p:cNvPr id="16" name="DesignSequence"/>
          <p:cNvGraphicFramePr>
            <a:graphicFrameLocks noGrp="1"/>
          </p:cNvGraphicFramePr>
          <p:nvPr/>
        </p:nvGraphicFramePr>
        <p:xfrm>
          <a:off x="1097280" y="914400"/>
          <a:ext cx="6949440" cy="4480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4937760"/>
              </a:tblGrid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FAILURE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can go wrong?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OBLIGATION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must be true?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CONTROL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Can we prevent it, or must we detect it?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EVIDENCE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observation could establish it?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BOUNDARY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Where does enough information exist?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MECHANISM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Constraint · sensor · validator · gate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AUTHORITY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happens if it fails?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Compare your designs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74320" y="475488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There may be more than one defensible control design.</a:t>
            </a:r>
          </a:p>
        </p:txBody>
      </p:sp>
      <p:sp>
        <p:nvSpPr>
          <p:cNvPr id="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The obligation constrains the design. Engineering judgment remains.</a:t>
            </a:r>
          </a:p>
        </p:txBody>
      </p:sp>
      <p:sp>
        <p:nvSpPr>
          <p:cNvPr id="10" name="Compare1"/>
          <p:cNvSpPr/>
          <p:nvPr/>
        </p:nvSpPr>
        <p:spPr>
          <a:xfrm>
            <a:off x="502920" y="10515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Same obligation, different boundary — </a:t>
            </a:r>
            <a:r>
              <a:rPr sz="1700" b="0" i="0">
                <a:solidFill>
                  <a:srgbClr val="5C4826"/>
                </a:solidFill>
              </a:rPr>
              <a:t>Which boundary actually has enough information?</a:t>
            </a:r>
          </a:p>
        </p:txBody>
      </p:sp>
      <p:sp>
        <p:nvSpPr>
          <p:cNvPr id="11" name="Compare2"/>
          <p:cNvSpPr/>
          <p:nvPr/>
        </p:nvSpPr>
        <p:spPr>
          <a:xfrm>
            <a:off x="502920" y="19659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Constraint vs. validator — </a:t>
            </a:r>
            <a:r>
              <a:rPr sz="1700" b="0" i="0">
                <a:solidFill>
                  <a:srgbClr val="5C4826"/>
                </a:solidFill>
              </a:rPr>
              <a:t>What failure does each prevent or detect?</a:t>
            </a:r>
          </a:p>
        </p:txBody>
      </p:sp>
      <p:sp>
        <p:nvSpPr>
          <p:cNvPr id="12" name="Compare3"/>
          <p:cNvSpPr/>
          <p:nvPr/>
        </p:nvSpPr>
        <p:spPr>
          <a:xfrm>
            <a:off x="502920" y="28803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Different authority — </a:t>
            </a:r>
            <a:r>
              <a:rPr sz="1700" b="0" i="0">
                <a:solidFill>
                  <a:srgbClr val="5C4826"/>
                </a:solidFill>
              </a:rPr>
              <a:t>Should this failure block the commit, the PR, the merge, the deployment — or merely produce evidence?</a:t>
            </a:r>
          </a:p>
        </p:txBody>
      </p:sp>
      <p:sp>
        <p:nvSpPr>
          <p:cNvPr id="13" name="Compare4"/>
          <p:cNvSpPr/>
          <p:nvPr/>
        </p:nvSpPr>
        <p:spPr>
          <a:xfrm>
            <a:off x="502920" y="37947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Model vs. reconstruction — </a:t>
            </a:r>
            <a:r>
              <a:rPr sz="1700" b="0" i="0">
                <a:solidFill>
                  <a:srgbClr val="5C4826"/>
                </a:solidFill>
              </a:rPr>
              <a:t>What becomes easier if the relevant knowledge is explicit?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How do you know?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100584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MODELING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033272"/>
            <a:ext cx="5715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5C4826"/>
                </a:solidFill>
              </a:rPr>
              <a:t>make consequential engineering knowledge explicit while leaving irrelevant choices free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ALIGNMENT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993392"/>
            <a:ext cx="5715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5C4826"/>
                </a:solidFill>
              </a:rPr>
              <a:t>decide which obligations have consequences in the engineered environment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063240"/>
            <a:ext cx="8183879" cy="23317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THE REUSABLE QUESTIONS</a:t>
            </a:r>
          </a:p>
          <a:p>
            <a:pPr algn="l">
              <a:spcBef>
                <a:spcPts val="600"/>
              </a:spcBef>
            </a:pPr>
            <a:r>
              <a:rPr sz="1800" b="1" i="0">
                <a:solidFill>
                  <a:srgbClr val="5C4826"/>
                </a:solidFill>
              </a:rPr>
              <a:t>How can the delegated work fail?</a:t>
            </a:r>
          </a:p>
          <a:p>
            <a:pPr algn="l">
              <a:spcBef>
                <a:spcPts val="600"/>
              </a:spcBef>
            </a:pPr>
            <a:r>
              <a:rPr sz="1800" b="0" i="0">
                <a:solidFill>
                  <a:srgbClr val="5C4826"/>
                </a:solidFill>
              </a:rPr>
              <a:t>What must be true?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What evidence bears on it?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Where can it be decided?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How will it be evaluated?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Should failure control what happens next?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8564</TotalTime>
  <Words>5079</Words>
  <Application>Microsoft Macintosh PowerPoint</Application>
  <PresentationFormat>On-screen Show (4:3)</PresentationFormat>
  <Paragraphs>694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Calibri</vt:lpstr>
      <vt:lpstr>Times</vt:lpstr>
      <vt:lpstr>Purdue1</vt:lpstr>
      <vt:lpstr>PowerPoint Presentation</vt:lpstr>
      <vt:lpstr>Engineers may delegate realization without delegating responsibility for the resulting system.</vt:lpstr>
      <vt:lpstr>Delegation did not begin with agents</vt:lpstr>
      <vt:lpstr>The recipient changes</vt:lpstr>
      <vt:lpstr>The delegation problem remains</vt:lpstr>
      <vt:lpstr>BOUND</vt:lpstr>
      <vt:lpstr>BOUND: design the delegated work</vt:lpstr>
      <vt:lpstr>A delegation boundary is a reasoning boundary</vt:lpstr>
      <vt:lpstr>Reasoning has a horizon</vt:lpstr>
      <vt:lpstr>Delegation leaves degrees of freedom</vt:lpstr>
      <vt:lpstr>EQUIP</vt:lpstr>
      <vt:lpstr>EQUIP: capability lives in a system</vt:lpstr>
      <vt:lpstr>Equip three things</vt:lpstr>
      <vt:lpstr>Choose the reasoner for the work</vt:lpstr>
      <vt:lpstr>Engineer the information available to it</vt:lpstr>
      <vt:lpstr>Representation can change the reasoning problem</vt:lpstr>
      <vt:lpstr>Give the agent means to observe and act</vt:lpstr>
      <vt:lpstr>A real harness engineers the reasoning surface</vt:lpstr>
      <vt:lpstr>Zoom out: the equipped agent</vt:lpstr>
      <vt:lpstr>How will you equip your agents?</vt:lpstr>
      <vt:lpstr>Stretch break</vt:lpstr>
      <vt:lpstr>AUTHORIZE</vt:lpstr>
      <vt:lpstr>Capability is not authority</vt:lpstr>
      <vt:lpstr>Authority follows consequence</vt:lpstr>
      <vt:lpstr>Authority should match the delegated work</vt:lpstr>
      <vt:lpstr>VERIFY</vt:lpstr>
      <vt:lpstr>VERIFY: what evidence closes the work?</vt:lpstr>
      <vt:lpstr>The producer is not independent evidence</vt:lpstr>
      <vt:lpstr>THE DELEGATION SYSTEM</vt:lpstr>
      <vt:lpstr>Engineer the delegation system</vt:lpstr>
      <vt:lpstr>Better agents change the delegation design</vt:lpstr>
      <vt:lpstr>What changes? What stays?</vt:lpstr>
      <vt:lpstr>What must exist outside the agent?</vt:lpstr>
      <vt:lpstr>Phase 2 honest individual status update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James C Davis</cp:lastModifiedBy>
  <cp:revision>398</cp:revision>
  <dcterms:created xsi:type="dcterms:W3CDTF">2020-02-21T23:00:33Z</dcterms:created>
  <dcterms:modified xsi:type="dcterms:W3CDTF">2026-09-29T15:52:00Z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