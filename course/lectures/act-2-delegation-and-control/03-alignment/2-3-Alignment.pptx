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3" r:id="rId48"/>
    <p:sldId id="257" r:id="rId8"/>
    <p:sldId id="258" r:id="rId9"/>
    <p:sldId id="284" r:id="rId49"/>
    <p:sldId id="259" r:id="rId10"/>
    <p:sldId id="260" r:id="rId11"/>
    <p:sldId id="261" r:id="rId12"/>
    <p:sldId id="262" r:id="rId13"/>
    <p:sldId id="285" r:id="rId50"/>
    <p:sldId id="263" r:id="rId14"/>
    <p:sldId id="264" r:id="rId15"/>
    <p:sldId id="265" r:id="rId16"/>
    <p:sldId id="266" r:id="rId17"/>
    <p:sldId id="267" r:id="rId18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7" r:id="rId52"/>
    <p:sldId id="274" r:id="rId25"/>
    <p:sldId id="275" r:id="rId26"/>
    <p:sldId id="276" r:id="rId27"/>
    <p:sldId id="288" r:id="rId53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Relationship Id="rId51" Type="http://schemas.openxmlformats.org/officeDocument/2006/relationships/slide" Target="slides/slide31.xml"/><Relationship Id="rId52" Type="http://schemas.openxmlformats.org/officeDocument/2006/relationships/slide" Target="slides/slide32.xml"/><Relationship Id="rId53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0 (5 min). Open with the question; do not answer it yet. The chain is the model this lecture builds, same convention as the Agents and Validation title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JUDGMENT/ACTION and AUTHORIZE/VERIFY — do not re-explain either framework. Build: reveal the Validation chain, then the Agents chain, then the highlights.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footer phrase is the unit framing (it also opens the lander). Five minutes maximum for Section 0, then straight to the concrete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(10 min). State what the agent must accomplish — do not hand students a validation scheme. The payments service is Validation’s running example, reused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question to the room; accumulate answers visibly. Build: the six candidate boxes appear as answers arrive (or write them on the board). No footer band — discussion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minutes total. The transition out of the share-round is the key move: every proposed check implicitly assumes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Section 1. The students proposed evidence; now name the thing the evidence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Deliberately the Validation visual grammar. Flash the familiar three-ways strip — do NOT reteach static analysis, testing, fuzzing, or model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 on one slide: the escalation of authority, then the prompt-vs-gate contrast. Build: escalation row first, panels second. This is where Alignment begins to extend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the Agents authority ladder. The lower diagram is the lecture’s pivotal picture: verification governing admission to greater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CI test can sense, validate, and gate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engineering preference is prevention — when cheap and reliable. Enum/permission/narrow-API versus test/trace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lands here: Alignment as a richer Validation, not a second framework. Build: Validation chain first, then the transformation arrows.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why not everything at edit time before revealing the right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(18 min): ~12 min team work, ~6 min debrief. Same scenario for every team so the debrief can compare designs. Do not mention models yet. One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reasoning chain each team applies to each obligation. This is Sections 1–3 performed, before models are introduced.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answers. The outcome: students can perform Alignment without needing 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(15 min). This sentence matters — 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verbatim to the opening question. Build: the five questions appear one at a time. Close with one spoken sentence only: “We won’t anticipate all of these obligations in advance; next time we ask what happens when the development process learns them through experience.” That is the FA-SDLC handoff — do not preview governance conversion beyond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" y="3639312"/>
            <a:ext cx="8695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THE MODEL THIS LECTURE BUILDS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32304" y="4407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7249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34840" y="4407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727448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37376" y="4407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729983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CONSEQUENCE</a:t>
            </a:r>
          </a:p>
        </p:txBody>
      </p:sp>
      <p:sp>
        <p:nvSpPr>
          <p:cNvPr id="15" name="TwoLines"/>
          <p:cNvSpPr txBox="1"/>
          <p:nvPr/>
        </p:nvSpPr>
        <p:spPr>
          <a:xfrm>
            <a:off x="219456" y="4956048"/>
            <a:ext cx="86959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You know how to evaluate evidence and how to delegate work.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Today: when should a verdict control what is permitted?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You have seen both halves of this problem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3268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31673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32304" y="161848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724912" y="131673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34840" y="161848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727448" y="131673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37376" y="161848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729983" y="131673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993392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What evidence is sufficient to deliver a system into the world?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57860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296265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32304" y="3264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724912" y="296265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34840" y="3264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727448" y="296265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7376" y="3264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29983" y="296265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3639312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What evidence is sufficient to accept delegated work?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The required evidence depends on the claim, not on who produced the work.</a:t>
            </a:r>
          </a:p>
        </p:txBody>
      </p:sp>
      <p:sp>
        <p:nvSpPr>
          <p:cNvPr id="24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We already know how to verify work.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What should the environment do with the verdict?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Give the agent a job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8595360" cy="1417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TASK — </a:t>
            </a:r>
            <a:r>
              <a:rPr sz="2000" b="1" i="0">
                <a:solidFill>
                  <a:srgbClr val="5C4826"/>
                </a:solidFill>
              </a:rPr>
              <a:t>add bulk refunds to the payments service’s public API.</a:t>
            </a:r>
          </a:p>
          <a:p>
            <a:pPr algn="l">
              <a:spcBef>
                <a:spcPts val="800"/>
              </a:spcBef>
            </a:pPr>
            <a:r>
              <a:rPr sz="1800" b="0" i="1">
                <a:solidFill>
                  <a:srgbClr val="555960"/>
                </a:solidFill>
              </a:rPr>
              <a:t>Existing client behavior must be preserved. Refunds move real money.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697480"/>
            <a:ext cx="859536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THE AGENT HAS — </a:t>
            </a:r>
            <a:r>
              <a:rPr sz="2000" b="0" i="0">
                <a:solidFill>
                  <a:srgbClr val="5C4826"/>
                </a:solidFill>
              </a:rPr>
              <a:t>the repository, the test suite, a branch it may modify,</a:t>
            </a:r>
          </a:p>
          <a:p>
            <a:pPr algn="l"/>
            <a:r>
              <a:rPr sz="2000" b="0" i="0">
                <a:solidFill>
                  <a:srgbClr val="5C4826"/>
                </a:solidFill>
              </a:rPr>
              <a:t>and permission to open a merge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2976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You validated this payments system in Act I. Now an agent is changing it.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agent reports: finished.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would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The agent says it is finished.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How do you decide whether it actually did what you wanted?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2316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Run the tests?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242316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Read the diff?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2316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Ask the agent?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Ask another agent?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Run it and see?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Watch production?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What would convince you?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PSbadge"/>
          <p:cNvSpPr/>
          <p:nvPr/>
        </p:nvSpPr>
        <p:spPr>
          <a:xfrm>
            <a:off x="274320" y="914400"/>
            <a:ext cx="3017520" cy="54864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 xml:space="preserve">SHARE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938528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evidence would convince you the task was done correctly?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39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990087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Compare answers. What can each proposed check not establish?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86200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4041648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We’ll collect three or four answers.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Every proposed check assumes something the work must satisfy.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Evidence of what?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Tests are evidence only relative to some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“It works” is not yet an engineering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9385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1546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OBLIGATIONS COME IN MANY FORMS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requirement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invariant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2968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policy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08576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tolerance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44184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permission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79792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schema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Your proposed checks already assumed obligations like these.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agent can be wrong against an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722376" y="1051560"/>
            <a:ext cx="2377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691640"/>
            <a:ext cx="237744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1335024"/>
            <a:ext cx="37490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83864" y="1051560"/>
            <a:ext cx="2377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864" y="1691640"/>
            <a:ext cx="237744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observation bears on it?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0448" y="1335024"/>
            <a:ext cx="37490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245352" y="1051560"/>
            <a:ext cx="2377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JUDGMENT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691640"/>
            <a:ext cx="237744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verdict does it support?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7432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VALIDATION GAVE US THREE WAYS TO ESTABLISH A CLAIM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200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👁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HUMAN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3200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🗺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REASONING OVER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POSSIBLE BEHAVIOR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3200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▶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OBSERVING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EXECUTION</a:t>
            </a:r>
          </a:p>
        </p:txBody>
      </p:sp>
      <p:sp>
        <p:nvSpPr>
          <p:cNvPr id="1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new question is what happens to the verdict.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What happens when the answer is no?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note 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04288" y="1335024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606039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RECOMMEND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ask the agent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to reconsider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407407" y="1335024"/>
            <a:ext cx="283465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709159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refuse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the patch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7" y="1335024"/>
            <a:ext cx="283465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12279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79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make the action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impossible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39572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8E6F3E"/>
                </a:solidFill>
              </a:rPr>
              <a:t>increasing control over what happens next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26080"/>
            <a:ext cx="4206240" cy="18973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GUIDANCE</a:t>
            </a:r>
          </a:p>
          <a:p>
            <a:pPr algn="l">
              <a:spcBef>
                <a:spcPts val="600"/>
              </a:spcBef>
            </a:pPr>
            <a:r>
              <a:rPr sz="1800" b="0" i="1">
                <a:solidFill>
                  <a:srgbClr val="5C4826"/>
                </a:solidFill>
              </a:rPr>
              <a:t>“Do not merge unless the security tests pass.”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55960"/>
                </a:solidFill>
              </a:rPr>
              <a:t>Influences the producer. Can be misread, forgotten, or wrongly judged satisfied.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2926080"/>
            <a:ext cx="4206240" cy="18973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ENFORCEMENT</a:t>
            </a:r>
          </a:p>
          <a:p>
            <a:pPr algn="l">
              <a:spcBef>
                <a:spcPts val="600"/>
              </a:spcBef>
            </a:pPr>
            <a:r>
              <a:rPr sz="1800" b="0" i="1">
                <a:solidFill>
                  <a:srgbClr val="5C4826"/>
                </a:solidFill>
              </a:rPr>
              <a:t>The merge is unavailable unless the tests pass.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55960"/>
                </a:solidFill>
              </a:rPr>
              <a:t>The environment decides whether the work proceeds. The decision does not depend on what the producer remembers.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0114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Same obligation. Different consequences.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Guidance shapes behavior;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enforcement determines what the environment accepts.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Verification can govern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READ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37943" y="1636776"/>
            <a:ext cx="283465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130552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636776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858768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94376" y="1636776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586984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22592" y="1636776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15200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993392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increasing permitted consequence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39572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AUTHORITY CAN DEPEND ON EVIDENCE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2724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344728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279806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312724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344728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279806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312724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344728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279806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312724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489204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2194560" cy="7315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97280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84248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029967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16936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962656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49624"/>
            <a:ext cx="2194560" cy="7315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895344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377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PREVENT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If an invalid state can be excluded cheaply and reliably, constrain it.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closed enumeration · permission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narrow API · typed representation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DETECT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Otherwise, observe the work and evaluate the evidence.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test · trace · measurement · analysis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then validate it — and gate on the verdict when appropriate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with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EARLIER IS CHEAPER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Early detection or prevention reduces wasted work and consequence.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So why not put every check at edit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788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SOME PROPERTIES</a:t>
            </a:r>
          </a:p>
          <a:p>
            <a:pPr algn="l"/>
            <a:r>
              <a:rPr sz="2000" b="1" i="0">
                <a:solidFill>
                  <a:srgbClr val="8E6F3E"/>
                </a:solidFill>
              </a:rPr>
              <a:t>CANNOT BE DECIDED YET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Integration behavior needs composition.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Production behavior needs deployed conditions.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Mid-task, work may legitimately disagree with an end-state obligation.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“Shift left” is not an unconditional maxim.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 Design a control for each.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Decide how each obligation will be checked or constrained — and where.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What must be true?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627631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40080" y="1911095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487168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40080" y="2770632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Where is it decidable?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3346703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40080" y="3630168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mechanism should implement the control?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0" y="4206240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0080" y="4489704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happens if it fails?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874519"/>
            <a:ext cx="3474720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USE THE ROLES WHERE THEY HELP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constraint · sensor · validator · gate</a:t>
            </a:r>
          </a:p>
          <a:p>
            <a:pPr algn="l">
              <a:spcBef>
                <a:spcPts val="800"/>
              </a:spcBef>
            </a:pPr>
            <a:r>
              <a:rPr sz="1800" b="0" i="1">
                <a:solidFill>
                  <a:srgbClr val="555960"/>
                </a:solidFill>
              </a:rPr>
              <a:t>Not all four are required.</a:t>
            </a:r>
          </a:p>
          <a:p>
            <a:pPr algn="l">
              <a:spcBef>
                <a:spcPts val="800"/>
              </a:spcBef>
            </a:pPr>
            <a:r>
              <a:rPr sz="1800" b="0" i="1">
                <a:solidFill>
                  <a:srgbClr val="555960"/>
                </a:solidFill>
              </a:rPr>
              <a:t>And decide: what authority should the verdict have?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your authority choices.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control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138160" cy="960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Team A put this at merge; Team B at runtime. Which claim can each boundary actually establish?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31720"/>
            <a:ext cx="8138160" cy="960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One team used a constraint; another a validator and a gate. What does each buy?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520439"/>
            <a:ext cx="8138160" cy="6858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Should this failed check actually prevent admission?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Compare the disagreements. There may be more than one defensible mechanism.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You just designed constraints, evidence,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evaluation, and authority.</a:t>
            </a:r>
          </a:p>
          <a:p>
            <a:pPr algn="ctr">
              <a:spcBef>
                <a:spcPts val="1400"/>
              </a:spcBef>
            </a:pPr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MODEL AND REALIZATION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AGREE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They can agree completely and still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DERIVED FROM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THE IMPLEMENTATION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extracted from the implementation may correspond by construction. That does not provide independent evidence of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1920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0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When should a verdict govern delegated work?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How do you decide whether it did what you wanted?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From evidence to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When should a failed check have consequences?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must be true, and what should hold it?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