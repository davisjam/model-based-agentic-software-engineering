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7" r:id="rId10"/>
    <p:sldId id="308" r:id="rId8"/>
    <p:sldId id="309" r:id="rId6"/>
    <p:sldId id="310" r:id="rId5"/>
    <p:sldId id="280" r:id="rId31"/>
    <p:sldId id="281" r:id="rId32"/>
    <p:sldId id="287" r:id="rId5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46.xml"/><Relationship Id="rId6" Type="http://schemas.openxmlformats.org/officeDocument/2006/relationships/slide" Target="slides/slide45.xml"/><Relationship Id="rId7" Type="http://schemas.openxmlformats.org/officeDocument/2006/relationships/slide" Target="slides/slide1.xml"/><Relationship Id="rId8" Type="http://schemas.openxmlformats.org/officeDocument/2006/relationships/slide" Target="slides/slide44.xml"/><Relationship Id="rId9" Type="http://schemas.openxmlformats.org/officeDocument/2006/relationships/slide" Target="slides/slide5.xml"/><Relationship Id="rId10" Type="http://schemas.openxmlformats.org/officeDocument/2006/relationships/slide" Target="slides/slide43.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42.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2" Type="http://schemas.openxmlformats.org/officeDocument/2006/relationships/slide" Target="slides/slide38.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a:t>
            </a:r>
          </a:p>
          <a:p>
            <a:r>
              <a:t>- You have four obligations: API preservation, a memory bound, forbidden dependency, and cycle ordering.</a:t>
            </a:r>
          </a:p>
          <a:p>
            <a:r>
              <a:t>- The model is given. Do not spend the activity rediscovering it from implementation.</a:t>
            </a:r>
          </a:p>
          <a:p>
            <a:r>
              <a:t>- Your job is to design the delegated process and its controls.</a:t>
            </a:r>
          </a:p>
          <a:p>
            <a:r>
              <a:t>- Different obligations should lead you toward different evidence, mechanisms, and boundaries.</a:t>
            </a:r>
          </a:p>
          <a:p>
            <a:r>
              <a:t>- Do not assume everything should block everything.</a:t>
            </a:r>
          </a:p>
          <a:p>
            <a:r>
              <a:t>- You should be able to defend why each control sits where you put it.</a:t>
            </a:r>
          </a:p>
          <a:p>
            <a:r>
              <a:t>ANIMATION</a:t>
            </a:r>
          </a:p>
          <a:p>
            <a:r>
              <a:t>- Reveal scenario.</a:t>
            </a:r>
          </a:p>
          <a:p>
            <a:r>
              <a:t>- Reveal obligations one at a time.</a:t>
            </a:r>
          </a:p>
          <a:p>
            <a:r>
              <a:t>- Reveal the given model.</a:t>
            </a:r>
          </a:p>
          <a:p>
            <a:r>
              <a:t>- Reveal "Design the delegated process and its controls" as the start signal.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a:t>
            </a:r>
          </a:p>
          <a:p>
            <a:r>
              <a:t>- For each obligation, walk through the same questions.</a:t>
            </a:r>
          </a:p>
          <a:p>
            <a:r>
              <a:t>- Failure: what specifically can go wrong?</a:t>
            </a:r>
          </a:p>
          <a:p>
            <a:r>
              <a:t>- Obligation: what must actually remain true?</a:t>
            </a:r>
          </a:p>
          <a:p>
            <a:r>
              <a:t>- Control: can the invalid state be prevented, or do you need evidence?</a:t>
            </a:r>
          </a:p>
          <a:p>
            <a:r>
              <a:t>- Evidence: what observation bears on the obligation?</a:t>
            </a:r>
          </a:p>
          <a:p>
            <a:r>
              <a:t>- Boundary: where does enough information exist to decide it?</a:t>
            </a:r>
          </a:p>
          <a:p>
            <a:r>
              <a:t>- Mechanism: which roles are needed?</a:t>
            </a:r>
          </a:p>
          <a:p>
            <a:r>
              <a:t>- Authority: what happens when the verdict is negative?</a:t>
            </a:r>
          </a:p>
          <a:p>
            <a:r>
              <a:t>- Circulate and challenge teams especially on boundary and authority.</a:t>
            </a:r>
          </a:p>
          <a:p>
            <a:r>
              <a:t>- If someone says "run a test," ask what obligation the test establishes.</a:t>
            </a:r>
          </a:p>
          <a:p>
            <a:r>
              <a:t>- If someone says "block the commit," ask whether the obligation is decidable at commit.</a:t>
            </a:r>
          </a:p>
          <a:p>
            <a:r>
              <a:t>- If someone says "tell the agent not to," ask whether the environment can enforce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1600" b="1" i="1" dirty="0">
                <a:solidFill>
                  <a:srgbClr val="8E6F3E"/>
                </a:solidFill>
              </a:rPr>
              <a:t>T</a:t>
            </a:r>
            <a:r>
              <a:rPr lang="en-US" sz="1600" b="0" dirty="0">
                <a:solidFill>
                  <a:srgbClr val="555960"/>
                </a:solidFill>
              </a:rPr>
              <a:t xml:space="preserve"> task   ·   </a:t>
            </a:r>
            <a:r>
              <a:rPr lang="en-US" sz="1600" b="1" i="1" dirty="0">
                <a:solidFill>
                  <a:srgbClr val="8E6F3E"/>
                </a:solidFill>
              </a:rPr>
              <a:t>M</a:t>
            </a:r>
            <a:r>
              <a:rPr lang="en-US" sz="1600" b="0" dirty="0">
                <a:solidFill>
                  <a:srgbClr val="555960"/>
                </a:solidFill>
              </a:rPr>
              <a:t xml:space="preserve"> reasoning model   ·   </a:t>
            </a:r>
            <a:r>
              <a:rPr lang="en-US" sz="1600" b="1" i="1" dirty="0">
                <a:solidFill>
                  <a:srgbClr val="8E6F3E"/>
                </a:solidFill>
              </a:rPr>
              <a:t>R</a:t>
            </a:r>
            <a:r>
              <a:rPr lang="en-US" sz="1600" b="0" dirty="0">
                <a:solidFill>
                  <a:srgbClr val="555960"/>
                </a:solidFill>
              </a:rPr>
              <a:t xml:space="preserve"> representation   ·   </a:t>
            </a:r>
            <a:r>
              <a:rPr lang="en-US" sz="1600" b="1" i="1" dirty="0">
                <a:solidFill>
                  <a:srgbClr val="8E6F3E"/>
                </a:solidFill>
              </a:rPr>
              <a:t>H</a:t>
            </a:r>
            <a:r>
              <a:rPr lang="en-US" sz="16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96112"/>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417320"/>
            <a:ext cx="81381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14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3474720"/>
            <a:ext cx="8138160" cy="777240"/>
          </a:xfrm>
          <a:prstGeom prst="rect">
            <a:avLst/>
          </a:prstGeom>
          <a:noFill/>
        </p:spPr>
        <p:txBody>
          <a:bodyPr wrap="square" anchor="t">
            <a:spAutoFit/>
          </a:bodyPr>
          <a:lstStyle/>
          <a:p>
            <a:pPr algn="l"/>
            <a:r>
              <a:rPr sz="1800" b="0" i="0">
                <a:solidFill>
                  <a:srgbClr val="555960"/>
                </a:solidFill>
              </a:rPr>
              <a:t>Do not help the agent.</a:t>
            </a:r>
          </a:p>
          <a:p>
            <a:pPr algn="l"/>
            <a:r>
              <a:rPr sz="18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365760"/>
          </a:xfrm>
          <a:prstGeom prst="rect">
            <a:avLst/>
          </a:prstGeom>
          <a:noFill/>
        </p:spPr>
        <p:txBody>
          <a:bodyPr wrap="square" anchor="t">
            <a:spAutoFit/>
          </a:bodyPr>
          <a:lstStyle/>
          <a:p>
            <a:pPr algn="ctr"/>
            <a:r>
              <a:rPr sz="15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5074920" y="205000"/>
            <a:ext cx="379476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1  ·  </a:t>
            </a:r>
            <a:r>
              <a:rPr sz="1400" b="0" i="0">
                <a:solidFill>
                  <a:srgbClr val="5C4826"/>
                </a:solidFill>
              </a:rPr>
              <a:t>Preserve the external API.</a:t>
            </a:r>
          </a:p>
        </p:txBody>
      </p:sp>
      <p:sp>
        <p:nvSpPr>
          <p:cNvPr id="8" name="Rectangle 7"/>
          <p:cNvSpPr/>
          <p:nvPr/>
        </p:nvSpPr>
        <p:spPr>
          <a:xfrm>
            <a:off x="274320" y="274320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2  ·  </a:t>
            </a:r>
            <a:r>
              <a:rPr sz="1400" b="0" i="0">
                <a:solidFill>
                  <a:srgbClr val="5C4826"/>
                </a:solidFill>
              </a:rPr>
              <a:t>Worst-case memory below 64 MB.</a:t>
            </a:r>
          </a:p>
        </p:txBody>
      </p:sp>
      <p:sp>
        <p:nvSpPr>
          <p:cNvPr id="9" name="Rectangle 8"/>
          <p:cNvSpPr/>
          <p:nvPr/>
        </p:nvSpPr>
        <p:spPr>
          <a:xfrm>
            <a:off x="274320" y="356616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3  ·  </a:t>
            </a:r>
            <a:r>
              <a:rPr sz="1400" b="0" i="0">
                <a:solidFill>
                  <a:srgbClr val="5C4826"/>
                </a:solidFill>
              </a:rPr>
              <a:t>Avoid the forbidden dependency.</a:t>
            </a:r>
          </a:p>
        </p:txBody>
      </p:sp>
      <p:sp>
        <p:nvSpPr>
          <p:cNvPr id="10" name="Rectangle 9"/>
          <p:cNvSpPr/>
          <p:nvPr/>
        </p:nvSpPr>
        <p:spPr>
          <a:xfrm>
            <a:off x="274320" y="4389120"/>
            <a:ext cx="416052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1400" b="1" i="0">
                <a:solidFill>
                  <a:srgbClr val="8E6F3E"/>
                </a:solidFill>
              </a:rPr>
              <a:t xml:space="preserve">4  ·  </a:t>
            </a:r>
            <a:r>
              <a:rPr sz="14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
        <p:nvSpPr>
          <p:cNvPr id="13" name="GivenModel"/>
          <p:cNvSpPr/>
          <p:nvPr/>
        </p:nvSpPr>
        <p:spPr>
          <a:xfrm>
            <a:off x="4617720" y="1920240"/>
            <a:ext cx="4251960" cy="3218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1150" b="1" i="0">
                <a:solidFill>
                  <a:srgbClr val="8E6F3E"/>
                </a:solidFill>
              </a:rPr>
              <a:t>GIVEN MODEL</a:t>
            </a:r>
          </a:p>
          <a:p>
            <a:pPr algn="l"/>
            <a:r>
              <a:rPr sz="1200" b="0" i="0">
                <a:solidFill>
                  <a:srgbClr val="5C4826"/>
                </a:solidFill>
                <a:latin typeface="Consolas"/>
              </a:rPr>
              <a:t>Controller</a:t>
            </a:r>
          </a:p>
          <a:p>
            <a:pPr algn="l"/>
            <a:r>
              <a:rPr sz="1200" b="0" i="0">
                <a:solidFill>
                  <a:srgbClr val="5C4826"/>
                </a:solidFill>
                <a:latin typeface="Consolas"/>
              </a:rPr>
              <a:t xml:space="preserve"> ├─ API: IController</a:t>
            </a:r>
          </a:p>
          <a:p>
            <a:pPr algn="l"/>
            <a:r>
              <a:rPr sz="1200" b="0" i="0">
                <a:solidFill>
                  <a:srgbClr val="5C4826"/>
                </a:solidFill>
                <a:latin typeface="Consolas"/>
              </a:rPr>
              <a:t xml:space="preserve"> ├─ uses → Sensor</a:t>
            </a:r>
          </a:p>
          <a:p>
            <a:pPr algn="l"/>
            <a:r>
              <a:rPr sz="1200" b="0" i="0">
                <a:solidFill>
                  <a:srgbClr val="5C4826"/>
                </a:solidFill>
                <a:latin typeface="Consolas"/>
              </a:rPr>
              <a:t xml:space="preserve"> ├─ uses → Actuator</a:t>
            </a:r>
          </a:p>
          <a:p>
            <a:pPr algn="l"/>
            <a:r>
              <a:rPr sz="1200" b="0" i="0">
                <a:solidFill>
                  <a:srgbClr val="5C4826"/>
                </a:solidFill>
                <a:latin typeface="Consolas"/>
              </a:rPr>
              <a:t xml:space="preserve"> ├─ forbidden → CloudSDK</a:t>
            </a:r>
          </a:p>
          <a:p>
            <a:pPr algn="l"/>
            <a:r>
              <a:rPr sz="1200" b="0" i="0">
                <a:solidFill>
                  <a:srgbClr val="5C4826"/>
                </a:solidFill>
                <a:latin typeface="Consolas"/>
              </a:rPr>
              <a:t xml:space="preserve"> └─ memory ≤ 64 MB</a:t>
            </a:r>
          </a:p>
          <a:p>
            <a:pPr algn="l"/>
            <a:r>
              <a:rPr sz="1050" b="0" i="1">
                <a:solidFill>
                  <a:srgbClr val="555960"/>
                </a:solidFill>
              </a:rPr>
              <a:t>each cycle: Sensor.read → decide → Actuator.act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graphicFrame>
        <p:nvGraphicFramePr>
          <p:cNvPr id="16" name="DesignSequence"/>
          <p:cNvGraphicFramePr>
            <a:graphicFrameLocks noGrp="1"/>
          </p:cNvGraphicFramePr>
          <p:nvPr/>
        </p:nvGraphicFramePr>
        <p:xfrm>
          <a:off x="1097280" y="914400"/>
          <a:ext cx="6949440" cy="4480560"/>
        </p:xfrm>
        <a:graphic>
          <a:graphicData uri="http://schemas.openxmlformats.org/drawingml/2006/table">
            <a:tbl>
              <a:tblPr>
                <a:tableStyleId>{5C22544A-7EE6-4342-B048-85BDC9FD1C3A}</a:tableStyleId>
              </a:tblPr>
              <a:tblGrid>
                <a:gridCol w="2011680"/>
                <a:gridCol w="4937760"/>
              </a:tblGrid>
              <a:tr h="640080">
                <a:tc>
                  <a:txBody>
                    <a:bodyPr wrap="square" anchor="ctr"/>
                    <a:lstStyle/>
                    <a:p>
                      <a:pPr algn="ctr"/>
                      <a:r>
                        <a:rPr sz="1600" b="1" i="0">
                          <a:solidFill>
                            <a:srgbClr val="FFFFFF"/>
                          </a:solidFill>
                        </a:rPr>
                        <a:t>FAILURE</a:t>
                      </a:r>
                    </a:p>
                  </a:txBody>
                  <a:tcPr anchor="ctr" marL="68580" marR="45720" marT="27432" marB="27432">
                    <a:solidFill>
                      <a:srgbClr val="8E6F3E"/>
                    </a:solidFill>
                  </a:tcPr>
                </a:tc>
                <a:tc>
                  <a:txBody>
                    <a:bodyPr wrap="square" anchor="ctr"/>
                    <a:lstStyle/>
                    <a:p>
                      <a:pPr algn="l"/>
                      <a:r>
                        <a:rPr sz="1600" b="0" i="0">
                          <a:solidFill>
                            <a:srgbClr val="5C4826"/>
                          </a:solidFill>
                        </a:rPr>
                        <a:t>What can go wrong?</a:t>
                      </a:r>
                    </a:p>
                  </a:txBody>
                  <a:tcPr anchor="ctr" marL="68580" marR="45720" marT="27432" marB="27432">
                    <a:solidFill>
                      <a:srgbClr val="F5F1E8"/>
                    </a:solidFill>
                  </a:tcPr>
                </a:tc>
              </a:tr>
              <a:tr h="640080">
                <a:tc>
                  <a:txBody>
                    <a:bodyPr wrap="square" anchor="ctr"/>
                    <a:lstStyle/>
                    <a:p>
                      <a:pPr algn="ctr"/>
                      <a:r>
                        <a:rPr sz="1600" b="1" i="0">
                          <a:solidFill>
                            <a:srgbClr val="FFFFFF"/>
                          </a:solidFill>
                        </a:rPr>
                        <a:t>OBLIGATION</a:t>
                      </a:r>
                    </a:p>
                  </a:txBody>
                  <a:tcPr anchor="ctr" marL="68580" marR="45720" marT="27432" marB="27432">
                    <a:solidFill>
                      <a:srgbClr val="8E6F3E"/>
                    </a:solidFill>
                  </a:tcPr>
                </a:tc>
                <a:tc>
                  <a:txBody>
                    <a:bodyPr wrap="square" anchor="ctr"/>
                    <a:lstStyle/>
                    <a:p>
                      <a:pPr algn="l"/>
                      <a:r>
                        <a:rPr sz="1600" b="0" i="0">
                          <a:solidFill>
                            <a:srgbClr val="5C4826"/>
                          </a:solidFill>
                        </a:rPr>
                        <a:t>What must be true?</a:t>
                      </a:r>
                    </a:p>
                  </a:txBody>
                  <a:tcPr anchor="ctr" marL="68580" marR="45720" marT="27432" marB="27432">
                    <a:solidFill>
                      <a:srgbClr val="FBF8F2"/>
                    </a:solidFill>
                  </a:tcPr>
                </a:tc>
              </a:tr>
              <a:tr h="640080">
                <a:tc>
                  <a:txBody>
                    <a:bodyPr wrap="square" anchor="ctr"/>
                    <a:lstStyle/>
                    <a:p>
                      <a:pPr algn="ctr"/>
                      <a:r>
                        <a:rPr sz="1600" b="1" i="0">
                          <a:solidFill>
                            <a:srgbClr val="FFFFFF"/>
                          </a:solidFill>
                        </a:rPr>
                        <a:t>CONTROL</a:t>
                      </a:r>
                    </a:p>
                  </a:txBody>
                  <a:tcPr anchor="ctr" marL="68580" marR="45720" marT="27432" marB="27432">
                    <a:solidFill>
                      <a:srgbClr val="8E6F3E"/>
                    </a:solidFill>
                  </a:tcPr>
                </a:tc>
                <a:tc>
                  <a:txBody>
                    <a:bodyPr wrap="square" anchor="ctr"/>
                    <a:lstStyle/>
                    <a:p>
                      <a:pPr algn="l"/>
                      <a:r>
                        <a:rPr sz="1600" b="0" i="0">
                          <a:solidFill>
                            <a:srgbClr val="5C4826"/>
                          </a:solidFill>
                        </a:rPr>
                        <a:t>Can we prevent it, or must we detect it?</a:t>
                      </a:r>
                    </a:p>
                  </a:txBody>
                  <a:tcPr anchor="ctr" marL="68580" marR="45720" marT="27432" marB="27432">
                    <a:solidFill>
                      <a:srgbClr val="F5F1E8"/>
                    </a:solidFill>
                  </a:tcPr>
                </a:tc>
              </a:tr>
              <a:tr h="640080">
                <a:tc>
                  <a:txBody>
                    <a:bodyPr wrap="square" anchor="ctr"/>
                    <a:lstStyle/>
                    <a:p>
                      <a:pPr algn="ctr"/>
                      <a:r>
                        <a:rPr sz="1600" b="1" i="0">
                          <a:solidFill>
                            <a:srgbClr val="FFFFFF"/>
                          </a:solidFill>
                        </a:rPr>
                        <a:t>EVIDENCE</a:t>
                      </a:r>
                    </a:p>
                  </a:txBody>
                  <a:tcPr anchor="ctr" marL="68580" marR="45720" marT="27432" marB="27432">
                    <a:solidFill>
                      <a:srgbClr val="8E6F3E"/>
                    </a:solidFill>
                  </a:tcPr>
                </a:tc>
                <a:tc>
                  <a:txBody>
                    <a:bodyPr wrap="square" anchor="ctr"/>
                    <a:lstStyle/>
                    <a:p>
                      <a:pPr algn="l"/>
                      <a:r>
                        <a:rPr sz="1600" b="0" i="0">
                          <a:solidFill>
                            <a:srgbClr val="5C4826"/>
                          </a:solidFill>
                        </a:rPr>
                        <a:t>What observation could establish it?</a:t>
                      </a:r>
                    </a:p>
                  </a:txBody>
                  <a:tcPr anchor="ctr" marL="68580" marR="45720" marT="27432" marB="27432">
                    <a:solidFill>
                      <a:srgbClr val="FBF8F2"/>
                    </a:solidFill>
                  </a:tcPr>
                </a:tc>
              </a:tr>
              <a:tr h="640080">
                <a:tc>
                  <a:txBody>
                    <a:bodyPr wrap="square" anchor="ctr"/>
                    <a:lstStyle/>
                    <a:p>
                      <a:pPr algn="ctr"/>
                      <a:r>
                        <a:rPr sz="1600" b="1" i="0">
                          <a:solidFill>
                            <a:srgbClr val="FFFFFF"/>
                          </a:solidFill>
                        </a:rPr>
                        <a:t>BOUNDARY</a:t>
                      </a:r>
                    </a:p>
                  </a:txBody>
                  <a:tcPr anchor="ctr" marL="68580" marR="45720" marT="27432" marB="27432">
                    <a:solidFill>
                      <a:srgbClr val="8E6F3E"/>
                    </a:solidFill>
                  </a:tcPr>
                </a:tc>
                <a:tc>
                  <a:txBody>
                    <a:bodyPr wrap="square" anchor="ctr"/>
                    <a:lstStyle/>
                    <a:p>
                      <a:pPr algn="l"/>
                      <a:r>
                        <a:rPr sz="1600" b="0" i="0">
                          <a:solidFill>
                            <a:srgbClr val="5C4826"/>
                          </a:solidFill>
                        </a:rPr>
                        <a:t>Where does enough information exist?</a:t>
                      </a:r>
                    </a:p>
                  </a:txBody>
                  <a:tcPr anchor="ctr" marL="68580" marR="45720" marT="27432" marB="27432">
                    <a:solidFill>
                      <a:srgbClr val="F5F1E8"/>
                    </a:solidFill>
                  </a:tcPr>
                </a:tc>
              </a:tr>
              <a:tr h="640080">
                <a:tc>
                  <a:txBody>
                    <a:bodyPr wrap="square" anchor="ctr"/>
                    <a:lstStyle/>
                    <a:p>
                      <a:pPr algn="ctr"/>
                      <a:r>
                        <a:rPr sz="1600" b="1" i="0">
                          <a:solidFill>
                            <a:srgbClr val="FFFFFF"/>
                          </a:solidFill>
                        </a:rPr>
                        <a:t>MECHANISM</a:t>
                      </a:r>
                    </a:p>
                  </a:txBody>
                  <a:tcPr anchor="ctr" marL="68580" marR="45720" marT="27432" marB="27432">
                    <a:solidFill>
                      <a:srgbClr val="8E6F3E"/>
                    </a:solidFill>
                  </a:tcPr>
                </a:tc>
                <a:tc>
                  <a:txBody>
                    <a:bodyPr wrap="square" anchor="ctr"/>
                    <a:lstStyle/>
                    <a:p>
                      <a:pPr algn="l"/>
                      <a:r>
                        <a:rPr sz="1600" b="0" i="0">
                          <a:solidFill>
                            <a:srgbClr val="5C4826"/>
                          </a:solidFill>
                        </a:rPr>
                        <a:t>Constraint · sensor · validator · gate</a:t>
                      </a:r>
                    </a:p>
                  </a:txBody>
                  <a:tcPr anchor="ctr" marL="68580" marR="45720" marT="27432" marB="27432">
                    <a:solidFill>
                      <a:srgbClr val="FBF8F2"/>
                    </a:solidFill>
                  </a:tcPr>
                </a:tc>
              </a:tr>
              <a:tr h="640080">
                <a:tc>
                  <a:txBody>
                    <a:bodyPr wrap="square" anchor="ctr"/>
                    <a:lstStyle/>
                    <a:p>
                      <a:pPr algn="ctr"/>
                      <a:r>
                        <a:rPr sz="1600" b="1" i="0">
                          <a:solidFill>
                            <a:srgbClr val="FFFFFF"/>
                          </a:solidFill>
                        </a:rPr>
                        <a:t>AUTHORITY</a:t>
                      </a:r>
                    </a:p>
                  </a:txBody>
                  <a:tcPr anchor="ctr" marL="68580" marR="45720" marT="27432" marB="27432">
                    <a:solidFill>
                      <a:srgbClr val="8E6F3E"/>
                    </a:solidFill>
                  </a:tcPr>
                </a:tc>
                <a:tc>
                  <a:txBody>
                    <a:bodyPr wrap="square" anchor="ctr"/>
                    <a:lstStyle/>
                    <a:p>
                      <a:pPr algn="l"/>
                      <a:r>
                        <a:rPr sz="1600" b="0" i="0">
                          <a:solidFill>
                            <a:srgbClr val="5C4826"/>
                          </a:solidFill>
                        </a:rPr>
                        <a:t>What happens if it fails?</a:t>
                      </a:r>
                    </a:p>
                  </a:txBody>
                  <a:tcPr anchor="ctr" marL="68580" marR="45720" marT="27432" marB="27432">
                    <a:solidFill>
                      <a:srgbClr val="F5F1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Same obligation, different boundary</a:t>
            </a:r>
          </a:p>
          <a:p>
            <a:pPr algn="l"/>
            <a:r>
              <a:rPr sz="17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Constraint vs. evidence</a:t>
            </a:r>
          </a:p>
          <a:p>
            <a:pPr algn="l"/>
            <a:r>
              <a:rPr sz="1700" b="0" i="0">
                <a:solidFill>
                  <a:srgbClr val="5C4826"/>
                </a:solidFill>
              </a:rPr>
              <a:t>Can the failure be prevented, or must it be observed and evaluated?</a:t>
            </a:r>
          </a:p>
        </p:txBody>
      </p:sp>
      <p:sp>
        <p:nvSpPr>
          <p:cNvPr id="12" name="Compare3"/>
          <p:cNvSpPr/>
          <p:nvPr/>
        </p:nvSpPr>
        <p:spPr>
          <a:xfrm>
            <a:off x="502920" y="2880360"/>
            <a:ext cx="8138160" cy="9326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Different authority</a:t>
            </a:r>
          </a:p>
          <a:p>
            <a:pPr algn="l"/>
            <a:r>
              <a:rPr sz="17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1700" b="1" i="0">
                <a:solidFill>
                  <a:srgbClr val="5C4826"/>
                </a:solidFill>
              </a:rPr>
              <a:t>Model vs. reconstruction</a:t>
            </a:r>
          </a:p>
          <a:p>
            <a:pPr algn="l"/>
            <a:r>
              <a:rPr sz="1700" b="0" i="0">
                <a:solidFill>
                  <a:srgbClr val="5C4826"/>
                </a:solidFill>
              </a:rPr>
              <a:t>What becomes easier if the relevant knowledge is explicit?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MODELING</a:t>
            </a:r>
          </a:p>
        </p:txBody>
      </p:sp>
      <p:sp>
        <p:nvSpPr>
          <p:cNvPr id="6" name="TextBox 5"/>
          <p:cNvSpPr txBox="1"/>
          <p:nvPr/>
        </p:nvSpPr>
        <p:spPr>
          <a:xfrm>
            <a:off x="3108960" y="1033272"/>
            <a:ext cx="5715000" cy="868680"/>
          </a:xfrm>
          <a:prstGeom prst="rect">
            <a:avLst/>
          </a:prstGeom>
          <a:noFill/>
        </p:spPr>
        <p:txBody>
          <a:bodyPr wrap="square" anchor="ctr">
            <a:spAutoFit/>
          </a:bodyPr>
          <a:lstStyle/>
          <a:p>
            <a:pPr algn="l"/>
            <a:r>
              <a:rPr sz="1800" b="0" i="0">
                <a:solidFill>
                  <a:srgbClr val="5C4826"/>
                </a:solidFill>
              </a:rPr>
              <a:t>make consequential engineering knowledge explicit while leaving irrelevant choices free</a:t>
            </a:r>
          </a:p>
        </p:txBody>
      </p:sp>
      <p:sp>
        <p:nvSpPr>
          <p:cNvPr id="7" name="Rectangle 6"/>
          <p:cNvSpPr/>
          <p:nvPr/>
        </p:nvSpPr>
        <p:spPr>
          <a:xfrm>
            <a:off x="640080" y="196596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800" b="1" i="0">
                <a:solidFill>
                  <a:srgbClr val="FFFFFF"/>
                </a:solidFill>
              </a:rPr>
              <a:t>ALIGNMENT</a:t>
            </a:r>
          </a:p>
        </p:txBody>
      </p:sp>
      <p:sp>
        <p:nvSpPr>
          <p:cNvPr id="8" name="TextBox 7"/>
          <p:cNvSpPr txBox="1"/>
          <p:nvPr/>
        </p:nvSpPr>
        <p:spPr>
          <a:xfrm>
            <a:off x="3108960" y="1993392"/>
            <a:ext cx="5715000" cy="868680"/>
          </a:xfrm>
          <a:prstGeom prst="rect">
            <a:avLst/>
          </a:prstGeom>
          <a:noFill/>
        </p:spPr>
        <p:txBody>
          <a:bodyPr wrap="square" anchor="ctr">
            <a:spAutoFit/>
          </a:bodyPr>
          <a:lstStyle/>
          <a:p>
            <a:pPr algn="l"/>
            <a:r>
              <a:rPr sz="1800" b="0" i="0">
                <a:solidFill>
                  <a:srgbClr val="5C4826"/>
                </a:solidFill>
              </a:rPr>
              <a:t>decide which obligations have consequences in the engineered environment</a:t>
            </a:r>
          </a:p>
        </p:txBody>
      </p:sp>
      <p:sp>
        <p:nvSpPr>
          <p:cNvPr id="9" name="Rectangle 8"/>
          <p:cNvSpPr/>
          <p:nvPr/>
        </p:nvSpPr>
        <p:spPr>
          <a:xfrm>
            <a:off x="640080" y="30632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1800" b="1" i="0">
                <a:solidFill>
                  <a:srgbClr val="8E6F3E"/>
                </a:solidFill>
              </a:rPr>
              <a:t>THE REUSABLE QUESTIONS</a:t>
            </a:r>
          </a:p>
          <a:p>
            <a:pPr algn="l">
              <a:spcBef>
                <a:spcPts val="600"/>
              </a:spcBef>
            </a:pPr>
            <a:r>
              <a:rPr sz="1800" b="1" i="0">
                <a:solidFill>
                  <a:srgbClr val="5C4826"/>
                </a:solidFill>
              </a:rPr>
              <a:t>How can the delegated work fail?</a:t>
            </a:r>
          </a:p>
          <a:p>
            <a:pPr algn="l">
              <a:spcBef>
                <a:spcPts val="600"/>
              </a:spcBef>
            </a:pPr>
            <a:r>
              <a:rPr sz="1800" b="0" i="0">
                <a:solidFill>
                  <a:srgbClr val="5C4826"/>
                </a:solidFill>
              </a:rPr>
              <a:t>What must be true?</a:t>
            </a:r>
          </a:p>
          <a:p>
            <a:pPr algn="l"/>
            <a:r>
              <a:rPr sz="1800" b="0" i="0">
                <a:solidFill>
                  <a:srgbClr val="5C4826"/>
                </a:solidFill>
              </a:rPr>
              <a:t>What evidence bears on it?</a:t>
            </a:r>
          </a:p>
          <a:p>
            <a:pPr algn="l"/>
            <a:r>
              <a:rPr sz="1800" b="0" i="0">
                <a:solidFill>
                  <a:srgbClr val="5C4826"/>
                </a:solidFill>
              </a:rPr>
              <a:t>Where can it be decided?</a:t>
            </a:r>
          </a:p>
          <a:p>
            <a:pPr algn="l"/>
            <a:r>
              <a:rPr sz="1800" b="0" i="0">
                <a:solidFill>
                  <a:srgbClr val="5C4826"/>
                </a:solidFill>
              </a:rPr>
              <a:t>How will it be evaluated?</a:t>
            </a:r>
          </a:p>
          <a:p>
            <a:pPr algn="l"/>
            <a:r>
              <a:rPr sz="1800" b="0" i="0">
                <a:solidFill>
                  <a:srgbClr val="5C4826"/>
                </a:solidFill>
              </a:rPr>
              <a:t>Should failure control what happens next?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buNone/>
              <a:spcBef>
                <a:spcPts val="900"/>
              </a:spcBef>
            </a:pPr>
            <a:r>
              <a:rPr lang="en-US" sz="2000" b="0" i="1" dirty="0">
                <a:solidFill>
                  <a:srgbClr val="555960"/>
                </a:solidFill>
              </a:rPr>
              <a:t>working memory view</a:t>
            </a:r>
          </a:p>
          <a:p>
            <a:pPr algn="l">
              <a:buNone/>
              <a:spcBef>
                <a:spcPts val="900"/>
              </a:spcBef>
            </a:pPr>
            <a:r>
              <a:rPr lang="en-US" sz="2000" b="0" i="0" dirty="0">
                <a:solidFill>
                  <a:srgbClr val="5C4826"/>
                </a:solidFill>
              </a:rPr>
              <a:t>Sense · Analyze · Transmit</a:t>
            </a:r>
          </a:p>
          <a:p>
            <a:pPr algn="l">
              <a:buNone/>
              <a:spcBef>
                <a:spcPts val="900"/>
              </a:spcBef>
            </a:pPr>
            <a:r>
              <a:rPr lang="en-US" sz="2000" b="0" i="0" dirty="0">
                <a:solidFill>
                  <a:srgbClr val="5C4826"/>
                </a:solidFill>
              </a:rPr>
              <a:t>max working memory 24 / 32 / 24 KB</a:t>
            </a:r>
          </a:p>
          <a:p>
            <a:pPr algn="l">
              <a:buNone/>
              <a:spcBef>
                <a:spcPts val="900"/>
              </a:spcBef>
            </a:pPr>
            <a:r>
              <a:rPr lang="en-US" sz="2000" b="0" i="0" dirty="0">
                <a:solidFill>
                  <a:srgbClr val="5C4826"/>
                </a:solidFill>
              </a:rPr>
              <a:t>device ceiling 48 KB</a:t>
            </a:r>
          </a:p>
          <a:p>
            <a:pPr algn="l">
              <a:buNone/>
              <a:spcBef>
                <a:spcPts val="900"/>
              </a:spcBef>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buNone/>
              <a:spcBef>
                <a:spcPts val="900"/>
              </a:spcBef>
            </a:pPr>
            <a:r>
              <a:rPr lang="en-US" sz="2000" b="0" i="1" dirty="0">
                <a:solidFill>
                  <a:srgbClr val="555960"/>
                </a:solidFill>
              </a:rPr>
              <a:t>lifecycle view</a:t>
            </a:r>
          </a:p>
          <a:p>
            <a:pPr algn="l">
              <a:buNone/>
              <a:spcBef>
                <a:spcPts val="900"/>
              </a:spcBef>
            </a:pPr>
            <a:r>
              <a:rPr lang="en-US" sz="2000" b="0" i="0" dirty="0">
                <a:solidFill>
                  <a:srgbClr val="5C4826"/>
                </a:solidFill>
              </a:rPr>
              <a:t>each thread: Asleep ⇄ Awake</a:t>
            </a:r>
          </a:p>
          <a:p>
            <a:pPr algn="l">
              <a:buNone/>
              <a:spcBef>
                <a:spcPts val="900"/>
              </a:spcBef>
            </a:pPr>
            <a:r>
              <a:rPr lang="en-US" sz="2000" b="0" i="0" dirty="0">
                <a:solidFill>
                  <a:srgbClr val="5C4826"/>
                </a:solidFill>
              </a:rPr>
              <a:t>asleep holds no working memory; awake holds up to its maximum</a:t>
            </a:r>
          </a:p>
          <a:p>
            <a:pPr algn="l">
              <a:buNone/>
              <a:spcBef>
                <a:spcPts val="900"/>
              </a:spcBef>
            </a:pPr>
            <a:r>
              <a:rPr lang="en-US" sz="2000" b="0" i="0" dirty="0">
                <a:solidFill>
                  <a:srgbClr val="5C4826"/>
                </a:solidFill>
              </a:rPr>
              <a:t>the Scheduler admits at most two threads awake</a:t>
            </a:r>
          </a:p>
          <a:p>
            <a:pPr algn="l">
              <a:buNone/>
              <a:spcBef>
                <a:spcPts val="900"/>
              </a:spcBef>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each model in validation?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buNone/>
              <a:spcBef>
                <a:spcPts val="900"/>
              </a:spcBef>
            </a:pPr>
            <a:r>
              <a:rPr lang="en-US" sz="2000" b="0" i="0" dirty="0">
                <a:solidFill>
                  <a:srgbClr val="5C4826"/>
                </a:solidFill>
              </a:rPr>
              <a:t>Is a forbidden dependency reachable?</a:t>
            </a:r>
          </a:p>
          <a:p>
            <a:pPr algn="l">
              <a:buNone/>
              <a:spcBef>
                <a:spcPts val="900"/>
              </a:spcBef>
            </a:pPr>
            <a:r>
              <a:rPr lang="en-US" sz="2000" b="0" i="0" dirty="0">
                <a:solidFill>
                  <a:srgbClr val="5C4826"/>
                </a:solidFill>
              </a:rPr>
              <a:t>Does every permitted route cross the required boundary?</a:t>
            </a:r>
          </a:p>
          <a:p>
            <a:pPr algn="l">
              <a:buNone/>
              <a:spcBef>
                <a:spcPts val="900"/>
              </a:spcBef>
            </a:pPr>
            <a:r>
              <a:rPr lang="en-US" sz="2000" b="0" i="0" dirty="0">
                <a:solidFill>
                  <a:srgbClr val="5C4826"/>
                </a:solidFill>
              </a:rPr>
              <a:t>Can the memory bound be exceeded?</a:t>
            </a:r>
          </a:p>
          <a:p>
            <a:pPr algn="l">
              <a:buNone/>
              <a:spcBef>
                <a:spcPts val="900"/>
              </a:spcBef>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buNone/>
              <a:spcBef>
                <a:spcPts val="900"/>
              </a:spcBef>
            </a:pPr>
            <a:r>
              <a:rPr lang="en-US" sz="2000" b="0" i="0" dirty="0">
                <a:solidFill>
                  <a:srgbClr val="5C4826"/>
                </a:solidFill>
              </a:rPr>
              <a:t>Did events occur in the required order?</a:t>
            </a:r>
          </a:p>
          <a:p>
            <a:pPr algn="l">
              <a:buNone/>
              <a:spcBef>
                <a:spcPts val="900"/>
              </a:spcBef>
            </a:pPr>
            <a:r>
              <a:rPr lang="en-US" sz="2000" b="0" i="0" dirty="0">
                <a:solidFill>
                  <a:srgbClr val="5C4826"/>
                </a:solidFill>
              </a:rPr>
              <a:t>Did execution enter a forbidden state?</a:t>
            </a:r>
          </a:p>
          <a:p>
            <a:pPr algn="l">
              <a:buNone/>
              <a:spcBef>
                <a:spcPts val="900"/>
              </a:spcBef>
            </a:pPr>
            <a:r>
              <a:rPr lang="en-US" sz="2000" b="0" i="0" dirty="0">
                <a:solidFill>
                  <a:srgbClr val="5C4826"/>
                </a:solidFill>
              </a:rPr>
              <a:t>Did a measured quantity stay within its modeled bound?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buNone/>
              <a:spcBef>
                <a:spcPts val="900"/>
              </a:spcBef>
            </a:pPr>
            <a:r>
              <a:rPr lang="en-US" sz="2000" b="0" i="0" dirty="0">
                <a:solidFill>
                  <a:srgbClr val="5C4826"/>
                </a:solidFill>
              </a:rPr>
              <a:t>decided over the model itself</a:t>
            </a:r>
          </a:p>
          <a:p>
            <a:pPr algn="l">
              <a:buNone/>
              <a:spcBef>
                <a:spcPts val="900"/>
              </a:spcBef>
            </a:pPr>
            <a:r>
              <a:rPr lang="en-US" sz="2000" b="0" i="0" dirty="0">
                <a:solidFill>
                  <a:srgbClr val="5C4826"/>
                </a:solidFill>
              </a:rPr>
              <a:t>runs before any execution</a:t>
            </a:r>
          </a:p>
          <a:p>
            <a:pPr algn="l">
              <a:buNone/>
              <a:spcBef>
                <a:spcPts val="900"/>
              </a:spcBef>
            </a:pPr>
            <a:r>
              <a:rPr lang="en-US" sz="2000" b="0" i="0" dirty="0">
                <a:solidFill>
                  <a:srgbClr val="5C4826"/>
                </a:solidFill>
              </a:rPr>
              <a:t>exhaustive over the modeled space</a:t>
            </a:r>
          </a:p>
          <a:p>
            <a:pPr algn="l">
              <a:buNone/>
              <a:spcBef>
                <a:spcPts val="900"/>
              </a:spcBef>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buNone/>
              <a:spcBef>
                <a:spcPts val="900"/>
              </a:spcBef>
            </a:pPr>
            <a:r>
              <a:rPr lang="en-US" sz="2000" b="0" i="0" dirty="0">
                <a:solidFill>
                  <a:srgbClr val="5C4826"/>
                </a:solidFill>
              </a:rPr>
              <a:t>decided over a trace of execution</a:t>
            </a:r>
          </a:p>
          <a:p>
            <a:pPr algn="l">
              <a:buNone/>
              <a:spcBef>
                <a:spcPts val="900"/>
              </a:spcBef>
            </a:pPr>
            <a:r>
              <a:rPr lang="en-US" sz="2000" b="0" i="0" dirty="0">
                <a:solidFill>
                  <a:srgbClr val="5C4826"/>
                </a:solidFill>
              </a:rPr>
              <a:t>runs while or after the system runs</a:t>
            </a:r>
          </a:p>
          <a:p>
            <a:pPr algn="l">
              <a:buNone/>
              <a:spcBef>
                <a:spcPts val="900"/>
              </a:spcBef>
            </a:pPr>
            <a:r>
              <a:rPr lang="en-US" sz="2000" b="0" i="0" dirty="0">
                <a:solidFill>
                  <a:srgbClr val="5C4826"/>
                </a:solidFill>
              </a:rPr>
              <a:t>evidence about the runs you observed</a:t>
            </a:r>
          </a:p>
          <a:p>
            <a:pPr algn="l">
              <a:buNone/>
              <a:spcBef>
                <a:spcPts val="900"/>
              </a:spcBef>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