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5.xml"/><Relationship Id="rId11" Type="http://schemas.openxmlformats.org/officeDocument/2006/relationships/slide" Target="slides/slide35.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39.xml"/><Relationship Id="rId26" Type="http://schemas.openxmlformats.org/officeDocument/2006/relationships/slide" Target="slides/slide40.xml"/><Relationship Id="rId27" Type="http://schemas.openxmlformats.org/officeDocument/2006/relationships/slide" Target="slides/slide41.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42.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2" Type="http://schemas.openxmlformats.org/officeDocument/2006/relationships/slide" Target="slides/slide38.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a:t>
            </a:r>
          </a:p>
          <a:p>
            <a:r>
              <a:t>- You have four obligations: API preservation, a memory bound, forbidden dependency, and cycle ordering.</a:t>
            </a:r>
          </a:p>
          <a:p>
            <a:r>
              <a:t>- The model is given. Do not spend the activity rediscovering it from implementation.</a:t>
            </a:r>
          </a:p>
          <a:p>
            <a:r>
              <a:t>- Your job is to design the delegated process and its controls.</a:t>
            </a:r>
          </a:p>
          <a:p>
            <a:r>
              <a:t>- Different obligations should lead you toward different evidence, mechanisms, and boundaries.</a:t>
            </a:r>
          </a:p>
          <a:p>
            <a:r>
              <a:t>- Do not assume everything should block everything.</a:t>
            </a:r>
          </a:p>
          <a:p>
            <a:r>
              <a:t>- You should be able to defend why each control sits where you put it.</a:t>
            </a:r>
          </a:p>
          <a:p>
            <a:r>
              <a:t>ANIMATION</a:t>
            </a:r>
          </a:p>
          <a:p>
            <a:r>
              <a:t>- Reveal scenario.</a:t>
            </a:r>
          </a:p>
          <a:p>
            <a:r>
              <a:t>- Reveal obligations one at a time.</a:t>
            </a:r>
          </a:p>
          <a:p>
            <a:r>
              <a:t>- Reveal the given model.</a:t>
            </a:r>
          </a:p>
          <a:p>
            <a:r>
              <a:t>- Reveal "Design the delegated process and its controls" as the start signal.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a:t>
            </a:r>
          </a:p>
          <a:p>
            <a:r>
              <a:t>- For each obligation, walk through the same questions.</a:t>
            </a:r>
          </a:p>
          <a:p>
            <a:r>
              <a:t>- Failure: what specifically can go wrong?</a:t>
            </a:r>
          </a:p>
          <a:p>
            <a:r>
              <a:t>- Obligation: what must actually remain true?</a:t>
            </a:r>
          </a:p>
          <a:p>
            <a:r>
              <a:t>- Control: can the invalid state be prevented, or do you need evidence?</a:t>
            </a:r>
          </a:p>
          <a:p>
            <a:r>
              <a:t>- Evidence: what observation bears on the obligation?</a:t>
            </a:r>
          </a:p>
          <a:p>
            <a:r>
              <a:t>- Boundary: where does enough information exist to decide it?</a:t>
            </a:r>
          </a:p>
          <a:p>
            <a:r>
              <a:t>- Mechanism: which roles are needed?</a:t>
            </a:r>
          </a:p>
          <a:p>
            <a:r>
              <a:t>- Authority: what happens when the verdict is negative?</a:t>
            </a:r>
          </a:p>
          <a:p>
            <a:r>
              <a:t>- Circulate and challenge teams especially on boundary and authority.</a:t>
            </a:r>
          </a:p>
          <a:p>
            <a:r>
              <a:t>- If someone says "run a test," ask what obligation the test establishes.</a:t>
            </a:r>
          </a:p>
          <a:p>
            <a:r>
              <a:t>- If someone says "block the commit," ask whether the obligation is decidable at commit.</a:t>
            </a:r>
          </a:p>
          <a:p>
            <a:r>
              <a:t>- If someone says "tell the agent not to," ask whether the environment can enforce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a:t>
            </a:r>
          </a:p>
          <a:p>
            <a:r>
              <a:t>- Correspondence: do two representations agree?</a:t>
            </a:r>
          </a:p>
          <a:p>
            <a:r>
              <a:t>- Conformance: does an artifact satisfy an independent obligation?</a:t>
            </a:r>
          </a:p>
          <a:p>
            <a:r>
              <a:t>- Acceptance: will the receiving environment accept the artifact?</a:t>
            </a:r>
          </a:p>
          <a:p>
            <a:r>
              <a:t>- These are different claims.</a:t>
            </a:r>
          </a:p>
          <a:p>
            <a:r>
              <a:t>- A model and implementation can correspond perfectly and both be wrong relative to the requirement.</a:t>
            </a:r>
          </a:p>
          <a:p>
            <a:r>
              <a:t>- An artifact can satisfy its requirement but still be rejected by an incompatible receiving environment.</a:t>
            </a:r>
          </a:p>
          <a:p>
            <a:r>
              <a:t>- Evidence for one relation does not establish the others.</a:t>
            </a:r>
          </a:p>
          <a:p>
            <a:r>
              <a:t>- This is why "the implementation matches the model" is not by itself a correctness argument.</a:t>
            </a:r>
          </a:p>
          <a:p>
            <a:r>
              <a:t>ANIMATION</a:t>
            </a:r>
          </a:p>
          <a:p>
            <a:r>
              <a:t>- Reveal CORRESPONDENCE row.</a:t>
            </a:r>
          </a:p>
          <a:p>
            <a:r>
              <a:t>- Reveal CONFORMANCE row.</a:t>
            </a:r>
          </a:p>
          <a:p>
            <a:r>
              <a:t>- Reveal ACCEPTANCE row.</a:t>
            </a:r>
          </a:p>
          <a:p>
            <a:r>
              <a:t>- Reveal "Evidence for one does not establish the others" last.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So the obvious challenge is: why did we spend the previous lecture on Modeling?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Make this concrete with one document-processing-service model.</a:t>
            </a:r>
          </a:p>
          <a:p>
            <a:r>
              <a:t>- Suppose the model includes a lifecycle machine and resource graph.</a:t>
            </a:r>
          </a:p>
          <a:p>
            <a:r>
              <a:t>- From the lifecycle model, ask whether a Completed document can re-enter processing.</a:t>
            </a:r>
          </a:p>
          <a:p>
            <a:r>
              <a:t>- From retry structure, establish whether the retry loop is bounded.</a:t>
            </a:r>
          </a:p>
          <a:p>
            <a:r>
              <a:t>- From the resource graph, calculate peak memory demand.</a:t>
            </a:r>
          </a:p>
          <a:p>
            <a:r>
              <a:t>- These are different validators over shared engineering knowledge.</a:t>
            </a:r>
          </a:p>
          <a:p>
            <a:r>
              <a:t>- Their verdicts may simply be reported, or some may feed a gate.</a:t>
            </a:r>
          </a:p>
          <a:p>
            <a:r>
              <a:t>- The gate is optional because not every judgment should automatically block an action.</a:t>
            </a:r>
          </a:p>
          <a:p>
            <a:r>
              <a:t>- This is what models buy Alignment: explicit engineering knowledge can be consumed by multiple controls without reconstructing the relevant structure separately each time.</a:t>
            </a:r>
          </a:p>
          <a:p>
            <a:r>
              <a:t>ANIMATION</a:t>
            </a:r>
          </a:p>
          <a:p>
            <a:r>
              <a:t>- Reveal the explicit model first.</a:t>
            </a:r>
          </a:p>
          <a:p>
            <a:r>
              <a:t>- Reveal LIFECYCLE CHECK and verdict.</a:t>
            </a:r>
          </a:p>
          <a:p>
            <a:r>
              <a:t>- Reveal RETRY BOUND and verdict.</a:t>
            </a:r>
          </a:p>
          <a:p>
            <a:r>
              <a:t>- Reveal MEMORY ANALYSIS and verdict.</a:t>
            </a:r>
          </a:p>
          <a:p>
            <a:r>
              <a:t>- Reveal VERDICTS.</a:t>
            </a:r>
          </a:p>
          <a:p>
            <a:r>
              <a:t>- Reveal optional GATE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1" i="1" dirty="0">
                <a:solidFill>
                  <a:srgbClr val="8E6F3E"/>
                </a:solidFill>
              </a:rPr>
              <a:t>T</a:t>
            </a:r>
            <a:r>
              <a:rPr lang="en-US" sz="1600" b="0" dirty="0">
                <a:solidFill>
                  <a:srgbClr val="555960"/>
                </a:solidFill>
              </a:rPr>
              <a:t xml:space="preserve"> task   ·   </a:t>
            </a:r>
            <a:r>
              <a:rPr lang="en-US" sz="1600" b="1" i="1" dirty="0">
                <a:solidFill>
                  <a:srgbClr val="8E6F3E"/>
                </a:solidFill>
              </a:rPr>
              <a:t>M</a:t>
            </a:r>
            <a:r>
              <a:rPr lang="en-US" sz="1600" b="0" dirty="0">
                <a:solidFill>
                  <a:srgbClr val="555960"/>
                </a:solidFill>
              </a:rPr>
              <a:t xml:space="preserve"> reasoning model   ·   </a:t>
            </a:r>
            <a:r>
              <a:rPr lang="en-US" sz="1600" b="1" i="1" dirty="0">
                <a:solidFill>
                  <a:srgbClr val="8E6F3E"/>
                </a:solidFill>
              </a:rPr>
              <a:t>R</a:t>
            </a:r>
            <a:r>
              <a:rPr lang="en-US" sz="1600" b="0" dirty="0">
                <a:solidFill>
                  <a:srgbClr val="555960"/>
                </a:solidFill>
              </a:rPr>
              <a:t xml:space="preserve"> representation   ·   </a:t>
            </a:r>
            <a:r>
              <a:rPr lang="en-US" sz="1600" b="1" i="1" dirty="0">
                <a:solidFill>
                  <a:srgbClr val="8E6F3E"/>
                </a:solidFill>
              </a:rPr>
              <a:t>H</a:t>
            </a:r>
            <a:r>
              <a:rPr lang="en-US" sz="16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1" i="0">
                <a:solidFill>
                  <a:srgbClr val="FBF8F2"/>
                </a:solidFill>
              </a:rPr>
              <a:t xml:space="preserve">ONE EXPLICIT MODEL  </a:t>
            </a:r>
            <a:r>
              <a:rPr sz="1050" b="0" i="1">
                <a:solidFill>
                  <a:srgbClr val="FBF8F2"/>
                </a:solidFill>
              </a:rPr>
              <a:t>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xml:space="preserve"> ├─ API: IController</a:t>
            </a:r>
          </a:p>
          <a:p>
            <a:pPr algn="l"/>
            <a:r>
              <a:rPr sz="1200" b="0" i="0">
                <a:solidFill>
                  <a:srgbClr val="5C4826"/>
                </a:solidFill>
                <a:latin typeface="Consolas"/>
              </a:rPr>
              <a:t xml:space="preserve"> ├─ uses → Sensor</a:t>
            </a:r>
          </a:p>
          <a:p>
            <a:pPr algn="l"/>
            <a:r>
              <a:rPr sz="1200" b="0" i="0">
                <a:solidFill>
                  <a:srgbClr val="5C4826"/>
                </a:solidFill>
                <a:latin typeface="Consolas"/>
              </a:rPr>
              <a:t xml:space="preserve"> ├─ uses → Actuator</a:t>
            </a:r>
          </a:p>
          <a:p>
            <a:pPr algn="l"/>
            <a:r>
              <a:rPr sz="1200" b="0" i="0">
                <a:solidFill>
                  <a:srgbClr val="5C4826"/>
                </a:solidFill>
                <a:latin typeface="Consolas"/>
              </a:rPr>
              <a:t xml:space="preserve"> ├─ forbidden → CloudSDK</a:t>
            </a:r>
          </a:p>
          <a:p>
            <a:pPr algn="l"/>
            <a:r>
              <a:rPr sz="1200" b="0" i="0">
                <a:solidFill>
                  <a:srgbClr val="5C4826"/>
                </a:solidFill>
                <a:latin typeface="Consolas"/>
              </a:rPr>
              <a:t xml:space="preserve"> └─ memory ≤ 64 MB</a:t>
            </a:r>
          </a:p>
          <a:p>
            <a:pPr algn="l"/>
            <a:r>
              <a:rPr sz="1050" b="0" i="1">
                <a:solidFill>
                  <a:srgbClr val="555960"/>
                </a:solidFill>
              </a:rPr>
              <a:t>each cycle: Sensor.read → decide → Actuator.act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