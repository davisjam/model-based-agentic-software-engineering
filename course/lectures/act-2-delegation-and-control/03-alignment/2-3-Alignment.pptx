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3" r:id="rId37"/>
    <p:sldId id="294" r:id="rId38"/>
    <p:sldId id="285" r:id="rId50"/>
    <p:sldId id="304" r:id="rId40"/>
    <p:sldId id="297" r:id="rId41"/>
    <p:sldId id="298" r:id="rId42"/>
    <p:sldId id="305" r:id="rId22"/>
    <p:sldId id="267" r:id="rId18"/>
    <p:sldId id="306" r:id="rId48"/>
    <p:sldId id="268" r:id="rId19"/>
    <p:sldId id="286" r:id="rId51"/>
    <p:sldId id="269" r:id="rId20"/>
    <p:sldId id="270" r:id="rId21"/>
    <p:sldId id="273" r:id="rId24"/>
    <p:sldId id="288" r:id="rId53"/>
    <p:sldId id="307" r:id="rId10"/>
    <p:sldId id="308" r:id="rId8"/>
    <p:sldId id="309" r:id="rId6"/>
    <p:sldId id="281" r:id="rId32"/>
    <p:sldId id="274" r:id="rId25"/>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25.xml"/><Relationship Id="rId7" Type="http://schemas.openxmlformats.org/officeDocument/2006/relationships/slide" Target="slides/slide1.xml"/><Relationship Id="rId8" Type="http://schemas.openxmlformats.org/officeDocument/2006/relationships/slide" Target="slides/slide24.xml"/><Relationship Id="rId9" Type="http://schemas.openxmlformats.org/officeDocument/2006/relationships/slide" Target="slides/slide5.xml"/><Relationship Id="rId10" Type="http://schemas.openxmlformats.org/officeDocument/2006/relationships/slide" Target="slides/slide23.xml"/><Relationship Id="rId15" Type="http://schemas.openxmlformats.org/officeDocument/2006/relationships/slide" Target="slides/slide3.xml"/><Relationship Id="rId18" Type="http://schemas.openxmlformats.org/officeDocument/2006/relationships/slide" Target="slides/slide15.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14.xml"/><Relationship Id="rId24" Type="http://schemas.openxmlformats.org/officeDocument/2006/relationships/slide" Target="slides/slide21.xml"/><Relationship Id="rId25" Type="http://schemas.openxmlformats.org/officeDocument/2006/relationships/slide" Target="slides/slide27.xml"/><Relationship Id="rId27" Type="http://schemas.openxmlformats.org/officeDocument/2006/relationships/slide" Target="slides/slide28.xml"/><Relationship Id="rId32" Type="http://schemas.openxmlformats.org/officeDocument/2006/relationships/slide" Target="slides/slide26.xml"/><Relationship Id="rId33" Type="http://schemas.openxmlformats.org/officeDocument/2006/relationships/slide" Target="slides/slide29.xml"/><Relationship Id="rId34" Type="http://schemas.openxmlformats.org/officeDocument/2006/relationships/slide" Target="slides/slide4.xml"/><Relationship Id="rId35" Type="http://schemas.openxmlformats.org/officeDocument/2006/relationships/slide" Target="slides/slide7.xml"/><Relationship Id="rId37" Type="http://schemas.openxmlformats.org/officeDocument/2006/relationships/slide" Target="slides/slide8.xml"/><Relationship Id="rId38" Type="http://schemas.openxmlformats.org/officeDocument/2006/relationships/slide" Target="slides/slide9.xml"/><Relationship Id="rId40" Type="http://schemas.openxmlformats.org/officeDocument/2006/relationships/slide" Target="slides/slide11.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6.xml"/><Relationship Id="rId49" Type="http://schemas.openxmlformats.org/officeDocument/2006/relationships/slide" Target="slides/slide6.xml"/><Relationship Id="rId50" Type="http://schemas.openxmlformats.org/officeDocument/2006/relationships/slide" Target="slides/slide10.xml"/><Relationship Id="rId51" Type="http://schemas.openxmlformats.org/officeDocument/2006/relationships/slide" Target="slides/slide18.xml"/><Relationship Id="rId53" Type="http://schemas.openxmlformats.org/officeDocument/2006/relationships/slide" Target="slides/slide22.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in the worksheet sequence below.</a:t>
            </a:r>
          </a:p>
          <a:p>
            <a:r>
              <a:t>- Your job: design the delegated process and its controls.</a:t>
            </a:r>
          </a:p>
          <a:p>
            <a:r>
              <a:t>WORKSHEET (was its own slide; keep this slide up while teams work and walk it aloud):</a:t>
            </a:r>
          </a:p>
          <a:p>
            <a:r>
              <a:t>- For each obligation, identify what can fail, what evidence establishes it, where it becomes decidable, and what failure should control.</a:t>
            </a:r>
          </a:p>
          <a:p>
            <a:r>
              <a:t>- Grouped as three questions.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(constraint · sensor · validator · gate), and what authority the verdict carries.</a:t>
            </a:r>
          </a:p>
          <a:p>
            <a:r>
              <a:t>- Teams should be ready to defend their boundary and authority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VALIDATION SURFACE strip at the bottom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label: models give validation mechanisms an explicit object to inspect — that is why the strip is labeled VALIDATION SURFACE.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Work exceeds delegated authority</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Evidence does not establish the obligation</a:t>
            </a:r>
          </a:p>
          <a:p>
            <a:pPr algn="l">
              <a:spcBef>
                <a:spcPts val="900"/>
              </a:spcBef>
              <a:buNone/>
            </a:pPr>
            <a:r>
              <a:rPr lang="en-US" sz="20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150608" y="2560320"/>
            <a:ext cx="1719072" cy="914400"/>
          </a:xfrm>
          <a:prstGeom prst="rect">
            <a:avLst/>
          </a:prstGeom>
          <a:solidFill>
            <a:srgbClr val="F5F1E8"/>
          </a:solidFill>
          <a:ln w="12700">
            <a:solidFill>
              <a:srgbClr val="C9B991"/>
            </a:solidFill>
          </a:ln>
          <a:effectLst/>
        </p:spPr>
        <p:txBody>
          <a:bodyPr rtlCol="0" anchor="ctr" wrap="square" lIns="12700" rIns="12700" tIns="22860" bIns="22860"/>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6949440" y="3017520"/>
            <a:ext cx="201168"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3822191"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4572000" y="1783080"/>
            <a:ext cx="0" cy="91440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anchor="ctr" rIns="0">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anchor="ctr" rIns="0">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anchor="t" lIns="27432" rIns="27432" tIns="22860" bIns="22860">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anchor="t" lIns="27432" rIns="27432" tIns="22860" bIns="22860">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What do these models buy us in validation?</a:t>
            </a:r>
          </a:p>
        </p:txBody>
      </p:sp>
      <p:sp>
        <p:nvSpPr>
          <p:cNvPr id="101" name="TextBox 13"/>
          <p:cNvSpPr txBox="1"/>
          <p:nvPr/>
        </p:nvSpPr>
        <p:spPr>
          <a:xfrm>
            <a:off x="274320" y="4526280"/>
            <a:ext cx="8595360" cy="320040"/>
          </a:xfrm>
          <a:prstGeom prst="rect">
            <a:avLst/>
          </a:prstGeom>
          <a:noFill/>
        </p:spPr>
        <p:txBody>
          <a:bodyPr wrap="square" anchor="t">
            <a:spAutoFit/>
          </a:bodyPr>
          <a:lstStyle/>
          <a:p>
            <a:pPr algn="ctr"/>
            <a:r>
              <a:rPr sz="2000" b="1">
                <a:solidFill>
                  <a:srgbClr val="8E6F3E"/>
                </a:solidFill>
              </a:rPr>
              <a:t>VALIDATION SURFACE</a:t>
            </a:r>
          </a:p>
        </p:txBody>
      </p:sp>
      <p:sp>
        <p:nvSpPr>
          <p:cNvPr id="102" name="TextBox 13"/>
          <p:cNvSpPr txBox="1"/>
          <p:nvPr/>
        </p:nvSpPr>
        <p:spPr>
          <a:xfrm>
            <a:off x="274320" y="4864608"/>
            <a:ext cx="8595360" cy="777240"/>
          </a:xfrm>
          <a:prstGeom prst="rect">
            <a:avLst/>
          </a:prstGeom>
          <a:noFill/>
        </p:spPr>
        <p:txBody>
          <a:bodyPr wrap="square" anchor="t">
            <a:spAutoFit/>
          </a:bodyPr>
          <a:lstStyle/>
          <a:p>
            <a:pPr algn="ctr"/>
            <a:r>
              <a:rPr sz="2000" b="0">
                <a:solidFill>
                  <a:srgbClr val="5C4826"/>
                </a:solidFill>
              </a:rPr>
              <a:t>preserve consequential distinctions   ·   expose relationships</a:t>
            </a:r>
          </a:p>
          <a:p>
            <a:pPr algn="ctr"/>
            <a:r>
              <a:rPr sz="2000" b="0">
                <a:solidFill>
                  <a:srgbClr val="5C4826"/>
                </a:solidFill>
              </a:rPr>
              <a:t>leave irrelevant choices open   ·   enable evaluation without reconstruction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23774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0" name="Dy-MODEL"/>
          <p:cNvSpPr/>
          <p:nvPr/>
        </p:nvSpPr>
        <p:spPr>
          <a:xfrm>
            <a:off x="2697480" y="3831336"/>
            <a:ext cx="2203704" cy="7315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flipH="1">
            <a:off x="2240280" y="4197096"/>
            <a:ext cx="402336" cy="0"/>
          </a:xfrm>
          <a:prstGeom prst="straightConnector1">
            <a:avLst/>
          </a:prstGeom>
          <a:ln w="19050">
            <a:solidFill>
              <a:srgbClr val="8E6F3E"/>
            </a:solidFill>
            <a:tailEnd type="triangle"/>
          </a:ln>
        </p:spPr>
      </p:cxnSp>
      <p:sp>
        <p:nvSpPr>
          <p:cNvPr id="0" name="Dy-EXECUTION"/>
          <p:cNvSpPr/>
          <p:nvPr/>
        </p:nvSpPr>
        <p:spPr>
          <a:xfrm>
            <a:off x="685800" y="105156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685800" y="1993392"/>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685800" y="2935224"/>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685800" y="3877056"/>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685800" y="4818888"/>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435608" y="1691639"/>
            <a:ext cx="0" cy="301752"/>
          </a:xfrm>
          <a:prstGeom prst="straightConnector1">
            <a:avLst/>
          </a:prstGeom>
          <a:ln w="19050">
            <a:solidFill>
              <a:srgbClr val="8E6F3E"/>
            </a:solidFill>
            <a:tailEnd type="triangle"/>
          </a:ln>
        </p:spPr>
      </p:cxnSp>
      <p:cxnSp>
        <p:nvCxnSpPr>
          <p:cNvPr id="0" name="Dy-A1"/>
          <p:cNvCxnSpPr/>
          <p:nvPr/>
        </p:nvCxnSpPr>
        <p:spPr>
          <a:xfrm>
            <a:off x="1435608" y="2633472"/>
            <a:ext cx="0" cy="301752"/>
          </a:xfrm>
          <a:prstGeom prst="straightConnector1">
            <a:avLst/>
          </a:prstGeom>
          <a:ln w="19050">
            <a:solidFill>
              <a:srgbClr val="8E6F3E"/>
            </a:solidFill>
            <a:tailEnd type="triangle"/>
          </a:ln>
        </p:spPr>
      </p:cxnSp>
      <p:cxnSp>
        <p:nvCxnSpPr>
          <p:cNvPr id="0" name="Dy-A2"/>
          <p:cNvCxnSpPr/>
          <p:nvPr/>
        </p:nvCxnSpPr>
        <p:spPr>
          <a:xfrm>
            <a:off x="1435608" y="3575304"/>
            <a:ext cx="0" cy="301752"/>
          </a:xfrm>
          <a:prstGeom prst="straightConnector1">
            <a:avLst/>
          </a:prstGeom>
          <a:ln w="19050">
            <a:solidFill>
              <a:srgbClr val="8E6F3E"/>
            </a:solidFill>
            <a:tailEnd type="triangle"/>
          </a:ln>
        </p:spPr>
      </p:cxnSp>
      <p:cxnSp>
        <p:nvCxnSpPr>
          <p:cNvPr id="0"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rtlCol="0" anchor="t" wrap="square" lIns="27432" rIns="27432" tIns="22860" bIns="22860"/>
          <a:lstStyle/>
          <a:p>
            <a:pPr algn="ctr"/>
            <a:r>
              <a:rPr sz="2000" b="1">
                <a:solidFill>
                  <a:srgbClr val="5C4826"/>
                </a:solidFill>
              </a:rPr>
              <a:t>STATIC</a:t>
            </a:r>
          </a:p>
          <a:p>
            <a:pPr algn="ctr"/>
            <a:r>
              <a:rPr sz="2000" b="0">
                <a:solidFill>
                  <a:srgbClr val="5C4826"/>
                </a:solidFill>
              </a:rPr>
              <a:t>verdict over the modeled space</a:t>
            </a:r>
          </a:p>
          <a:p>
            <a:pPr algn="ctr"/>
            <a:r>
              <a:rPr sz="2000" b="0">
                <a:solidFill>
                  <a:srgbClr val="5C4826"/>
                </a:solidFill>
              </a:rPr>
              <a:t/>
            </a: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a:p>
            <a:pPr algn="ctr"/>
            <a:r>
              <a:rPr sz="2000" b="0">
                <a:solidFill>
                  <a:srgbClr val="5C4826"/>
                </a:solidFill>
              </a:rPr>
              <a:t>realization ↔ receiving environment — </a:t>
            </a:r>
            <a:r>
              <a:rPr sz="2000" b="1">
                <a:solidFill>
                  <a:srgbClr val="8E6F3E"/>
                </a:solidFill>
              </a:rPr>
              <a:t>acceptance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41427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