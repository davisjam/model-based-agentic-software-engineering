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2" r:id="rId3"/>
    <p:sldId id="289" r:id="rId4"/>
    <p:sldId id="290" r:id="rId5"/>
    <p:sldId id="258" r:id="rId6"/>
    <p:sldId id="284" r:id="rId7"/>
    <p:sldId id="291" r:id="rId8"/>
    <p:sldId id="293" r:id="rId9"/>
    <p:sldId id="294" r:id="rId10"/>
    <p:sldId id="285" r:id="rId11"/>
    <p:sldId id="304" r:id="rId12"/>
    <p:sldId id="297" r:id="rId13"/>
    <p:sldId id="298" r:id="rId14"/>
    <p:sldId id="305" r:id="rId15"/>
    <p:sldId id="267" r:id="rId16"/>
    <p:sldId id="306" r:id="rId17"/>
    <p:sldId id="268" r:id="rId18"/>
    <p:sldId id="286" r:id="rId19"/>
    <p:sldId id="269" r:id="rId20"/>
    <p:sldId id="270" r:id="rId21"/>
    <p:sldId id="273" r:id="rId22"/>
    <p:sldId id="288" r:id="rId23"/>
    <p:sldId id="307" r:id="rId24"/>
    <p:sldId id="308" r:id="rId25"/>
    <p:sldId id="311" r:id="rId37"/>
    <p:sldId id="309" r:id="rId26"/>
    <p:sldId id="281" r:id="rId27"/>
    <p:sldId id="310" r:id="rId28"/>
    <p:sldId id="274" r:id="rId29"/>
    <p:sldId id="276" r:id="rId30"/>
    <p:sldId id="282"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96" autoAdjust="0"/>
    <p:restoredTop sz="56164"/>
  </p:normalViewPr>
  <p:slideViewPr>
    <p:cSldViewPr snapToGrid="0" snapToObjects="1">
      <p:cViewPr>
        <p:scale>
          <a:sx n="74" d="100"/>
          <a:sy n="74" d="100"/>
        </p:scale>
        <p:origin x="1544" y="-4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7" Type="http://schemas.openxmlformats.org/officeDocument/2006/relationships/slide" Target="slides/slide3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Same equation, same picture as Modeling-1 — say so: you have seen this; nothing in the production band has changed.</a:t>
            </a:r>
          </a:p>
          <a:p>
            <a:r>
              <a:t>- What is new is below the band. The encoded obligation drops down as the MODEL; the realization drops down to the CHECK; the check consults the model; the verdict is PASS or DO NOT PASS.</a:t>
            </a:r>
          </a:p>
          <a:p>
            <a:r>
              <a:t>- The point you must not blur: Alignment does NOT make the fabricator better. P(E | R), P(I | E, R), and P(L | I, E, R) are untouched. Alignment changes the production system by adding SELECTION on the fabricator's output. Modeling works inside production; Alignment acts on its output.</a:t>
            </a:r>
          </a:p>
          <a:p>
            <a:r>
              <a:t>- The quantity that improves is P(L | C). Before Alignment: how likely is the agent to realize the obligation correctly? After Alignment: given that this realization was admitted, how likely is it to be correct?</a:t>
            </a:r>
          </a:p>
          <a:p>
            <a:r>
              <a:t>- Then immediately: let's run the production system. Advance to the vibe-coding exercise; do not belabor the structure — the students are about to experience what happens without the check.</a:t>
            </a:r>
          </a:p>
          <a:p>
            <a:endParaRPr/>
          </a:p>
          <a:p>
            <a:r>
              <a:t>ANIMATION (apply by hand in PowerPoint — python-pptx has no animation API, so this ships as one static composite; the check structure is baked into the figure, so building steps 2-5 as clicks means overlaying native shapes or splitting the picture):</a:t>
            </a:r>
          </a:p>
          <a:p>
            <a:r>
              <a:t>1. equation + production pipeline</a:t>
            </a:r>
          </a:p>
          <a:p>
            <a:r>
              <a:t>2. fade in Realization → CHECK</a:t>
            </a:r>
          </a:p>
          <a:p>
            <a:r>
              <a:t>3. draw the arrow back from CHECK to MODEL</a:t>
            </a:r>
          </a:p>
          <a:p>
            <a:r>
              <a:t>4. reveal PASS / DO NOT PASS</a:t>
            </a:r>
          </a:p>
          <a:p>
            <a:r>
              <a:t>5. reveal P(L | 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Sometimes by preventing invalid states; sometimes by producing evidence, evaluating it, and making subsequent action conditional on the verdict.</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Recall degrees of freedom from Architecture and Design. Engineering is not about specifying everything.</a:t>
            </a:r>
          </a:p>
          <a:p>
            <a:r>
              <a:t>- We bind choices whose consequences matter: worktree, scope, forbidden actions, required checks, delivery boundary.</a:t>
            </a:r>
          </a:p>
          <a:p>
            <a:r>
              <a:t>- We deliberately leave other choices free: implementation, decomposition, naming, algorithms where no obligation constrains them, the order of intermediate edits.</a:t>
            </a:r>
          </a:p>
          <a:p>
            <a:r>
              <a:t>- If we specify all of those too, we have defeated much of the purpose of delegation. Good delegation is therefore selective reduction of degrees of freedom — it constrains consequential choices without prescribing every move (that line was the slide footer; now spoken).</a:t>
            </a:r>
          </a:p>
          <a:p>
            <a:r>
              <a:t>THE PROCESS STRIP (absorbed from the deleted "The process is a model" slide):</a:t>
            </a:r>
          </a:p>
          <a:p>
            <a:r>
              <a:t>- We can recognize the same move we made in the Modeling lecture: the work order and environment define a model of the delegated process — permitted actions, transitions, stopping conditions, expected evidence.</a:t>
            </a:r>
          </a:p>
          <a:p>
            <a:r>
              <a:t>- Importantly, this is not a model of the agent’s internal chain of thought. We do not need to prescribe how the agent reasons internally; we need enough external structure to reason about consequential behavior. That gives us something against which failure can be defined.</a:t>
            </a:r>
          </a:p>
          <a:p>
            <a:r>
              <a:t>- This is the first Modeling callback of the lecture: the work order and environment DEFINE a model of the delegated process. We will lean on this in the models section.</a:t>
            </a:r>
          </a:p>
          <a:p>
            <a:r>
              <a:t>ANIMATION</a:t>
            </a:r>
          </a:p>
          <a:p>
            <a:r>
              <a:t>- Reveal BOUND first, LEAVE FREE second.</a:t>
            </a:r>
          </a:p>
          <a:p>
            <a:r>
              <a:t>- Reveal the process strip, then the concluding sentence last.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One slide, three ways the PROCESS can be wrong: scope, authority, evidence. The comparison is the lesson — Section 2 just simplified the taxonomy; three separate slides made it feel complicated again. Slide "Wrong result" stays as the contrasting artifact failure.</a:t>
            </a:r>
          </a:p>
          <a:p>
            <a:r>
              <a:t>- SCOPE: the path to the result violates the work order. The agent modifies files outside the declared scope, replaces an approved dependency, changes the model instead of satisfying it, or "fixes" a test to make the implementation pass. Some of these can still yield an artifact that appears to pass — final-state validation alone does not capture it.</a:t>
            </a:r>
          </a:p>
          <a:p>
            <a:r>
              <a:t>- AUTHORITY: capability is not authority (from Agents). The agent may be technically capable of pushing, merging, or deploying; that does not mean we delegated those actions. A useful agent often needs broad capability for local work while consequential actions require separate authority. This distinction becomes important when we introduce gates.</a:t>
            </a:r>
          </a:p>
          <a:p>
            <a:r>
              <a:t>- EVIDENCE: "all tests pass" sounds like evidence — evidence of what? Which tests? Against which obligations? In which environment? What wasn't tested? An obligation is a condition against which the work can be wrong; a correct result is not enough if we cannot justify accepting it.</a:t>
            </a:r>
          </a:p>
          <a:p>
            <a:r>
              <a:t>- Then pose the bottom question explicitly and let them argue: can the result be correct while the process is wrong?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 That separates truth from justified engineering judgment — the sharpest conceptual moment in this section.</a:t>
            </a:r>
          </a:p>
          <a:p>
            <a:r>
              <a:t>ANIMATION</a:t>
            </a:r>
          </a:p>
          <a:p>
            <a:r>
              <a:t>- Reveal the three cards one at a time: SCOPE, AUTHORITY, EVIDENCE.</a:t>
            </a:r>
          </a:p>
          <a:p>
            <a:r>
              <a:t>- Reveal the bottom question last.</a:t>
            </a:r>
          </a:p>
          <a:p>
            <a:r>
              <a:t>- Card wording tightened to parallel one-line failure statements; the earlier phrasings ('Agent changes something outside the work order', 'Agent performs a consequential action it may not take') are spoken, not projected.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This now OPENS the section: we know what can fail; the first design decision is whether we can prevent it — and if not, we need evidence. The roles that turn evidence into consequence come next.</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a:t>
            </a:r>
          </a:p>
          <a:p>
            <a:r>
              <a:t>- We can now name four control roles, and they compose into a recognizable pipeline.</a:t>
            </a:r>
          </a:p>
          <a:p>
            <a:r>
              <a:t>- A CONSTRAINT narrows what may happen. A SENSOR observes what happened and produces evidence. A VALIDATOR evaluates that evidence against an obligation. A GATE controls whether work crosses a boundary.</a:t>
            </a:r>
          </a:p>
          <a:p>
            <a:r>
              <a:t>- These are roles, not four required components. One mechanism may play several roles. (This caveat used to be on the slide; it belongs here, spoken once the four roles are visible together.)</a:t>
            </a:r>
          </a:p>
          <a:p>
            <a:r>
              <a:t>- Keep the two sides distinct: constraints and sensors concern work/state; validators and gates concern judgment/admission.</a:t>
            </a:r>
          </a:p>
          <a:p>
            <a:r>
              <a:t>- An obligation enters at the top — it is what the validator judges against.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role vocabulary.)</a:t>
            </a:r>
          </a:p>
          <a:p>
            <a:r>
              <a:t>- The pipeline ends visibly at the gate controlling the CONSEQUENCE — concretely, merge and deploy:</a:t>
            </a:r>
          </a:p>
          <a:p>
            <a:r>
              <a:t>- Evidence becomes useful when a validator turns it into a verdict. But a verdict alone does not control anything; the gate connects it to authority.</a:t>
            </a:r>
          </a:p>
          <a:p>
            <a:r>
              <a:t>- The agent may modify and propose freely. Merge and deployment are conditional on verdicts.</a:t>
            </a:r>
          </a:p>
          <a:p>
            <a:r>
              <a:t>- This is stronger than telling the agent 'please don't merge broken code.' The environment itself conditions authority on the engineering judgment. A gate makes authority conditional on a verdict.</a:t>
            </a:r>
          </a:p>
          <a:p>
            <a:r>
              <a:t>- Spoken summary (was the footer band): a constraint narrows the work; a sensor observes it; a validator judges the evidence; a gate makes merge and deploy conditional on the verdict.</a:t>
            </a:r>
          </a:p>
          <a:p>
            <a:r>
              <a:t>- This vocabulary gives us a way to design rather than simply say "add checks."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a:p>
            <a:r>
              <a:t>THE CONCRETE EXAMPLE (absorbed from the deleted boundary-example slide; the obligation bar carries it):</a:t>
            </a:r>
          </a:p>
          <a:p>
            <a:r>
              <a:t>- The obligation is legitimate: when the task is complete, code and architectural model must correspond.</a:t>
            </a:r>
          </a:p>
          <a:p>
            <a:r>
              <a:t>- Enforcing it after every intermediate edit or commit rejects legitimate transitional states; at merge, the task’s work is assembled and the obligation can be evaluated.</a:t>
            </a:r>
          </a:p>
          <a:p>
            <a:r>
              <a:t>- Notice the distinction: the obligation was not wrong; its placement was wrong. This is an Alignment design error, not a reason to abandon the property.</a:t>
            </a:r>
          </a:p>
          <a:p>
            <a:r>
              <a:t>CLOSING BEAT for the section (folds in the deleted "Production is only part of the system" slide):</a:t>
            </a:r>
          </a:p>
          <a:p>
            <a:r>
              <a:t>- Return to where we started. The Master Equation asks about production: how likely is this delegation system to produce an acceptable candidate? We absolutely care — better models, representations, harnesses, and work orders raise that probability. But reliable engineering cannot mean requiring every production attempt to succeed; we need an engineered answer for the other cases too.</a:t>
            </a:r>
          </a:p>
          <a:p>
            <a:r>
              <a:t>- Production and Alignment are related but not the same engineering problem. A better producer raises the probability that we get something acceptable. Alignment governs whether what was produced acquires consequences: production asks what the delegation can produce; Alignment asks what produced work may cause. Callback to Agents: capability and authority are independent.</a:t>
            </a:r>
          </a:p>
          <a:p>
            <a:r>
              <a:t>- Even this control system has to respect information availability: we cannot attach a meaningful consequence to a verdict we cannot yet justify. That is why the boundary follows the property.</a:t>
            </a:r>
          </a:p>
          <a:p>
            <a:r>
              <a:t>- Then stretch break. This is a good Act-II-halfway stopping point.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a:p>
            <a:r>
              <a:t>- We are no longer asking how to build or analyze a model. We already did that in Modeling. We are asking how an existing model can participate in Alignment.</a:t>
            </a:r>
          </a:p>
          <a:p>
            <a:r>
              <a:t>- That distinction governs the next several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Last time, we asked what questions these models let us answer. Today the model is already here. The question is: how can we use it to decide whether something the agent built or did is acceptable?</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payoff strip under the cards is the answer — reveal it after they talk.</a:t>
            </a:r>
          </a:p>
          <a:p>
            <a:r>
              <a:t>THE REVEAL (absorbs the deleted answer slide; it is the strip under the cards):</a:t>
            </a:r>
          </a:p>
          <a:p>
            <a:r>
              <a:t>- A model preserves consequential distinctions; exposes relationships that would otherwise be inferred; deliberately leaves irrelevant realization choices open; enables evaluation without reconstruction.</a:t>
            </a:r>
          </a:p>
          <a:p>
            <a:r>
              <a:t>- The key point is not that models contain MORE information than the implementation — they contain the right engineering information in a form suited to the question. Multiple analyses can then operate over the same explicit knowledge.</a:t>
            </a:r>
          </a:p>
          <a:p>
            <a:r>
              <a:t>- Spoken gloss for the strip: models give validation mechanisms an explicit object to inspect — that is what makes a model a validation surface.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In Modeling, we could analyze this model and ask whether its own states permit three threads to be Awake. That's useful, but it's not Alignment yet.</a:t>
            </a:r>
          </a:p>
          <a:p>
            <a:r>
              <a:t>- Here we have an implementation or execution produced by delegated work. Now the model gives us an explicit surface against which that realization can be checked.</a:t>
            </a:r>
          </a:p>
          <a:p>
            <a:r>
              <a:t>- Walk the picture. The model says what should be true: the lifecycle, the memory bounds, the admission rule. The realization is what was actually built: source code, configuration, execution. The check asks whether the realization corresponds where the model matters.</a:t>
            </a:r>
          </a:p>
          <a:p>
            <a:r>
              <a:t>- There are at least two broad ways to do that. We can inspect the realization without running it, or we can observe it executing.</a:t>
            </a:r>
          </a:p>
          <a:p>
            <a:r>
              <a:t>- Do not introduce OBLIGATION yet; the triangle two slides ahead complicates this picture deliberately.</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Dynamic validation: the same model defines what a SENSOR must observe at runtime — the model states expected behavior; the trace is checked against it.</a:t>
            </a:r>
          </a:p>
          <a:p>
            <a:r>
              <a:t>- Ground it in the lab's lifecycle machines: every thread is Asleep or Awake, moved by admit and release events. The observation questions (now spoken, no longer projected): Did the observed transition exist in the model? Did events occur in the required order? Did execution enter a forbidden state? Did a measured quantity stay within its modeled bound — did the awake count ever exceed two, and did working memory stay within 48 KB?</a:t>
            </a:r>
          </a:p>
          <a:p>
            <a:r>
              <a:t>- This prevents students from hearing 'model-based validation' as synonymous with static analysis.</a:t>
            </a:r>
          </a:p>
          <a:p>
            <a:r>
              <a:t>- The STATIC / DYNAMIC panel (absorbed from the deleted strategies slide): static — verdict over the modeled space, exhaustive, available before execution; dynamic — verdict over observed execution,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One distinction left: three kinds of judgment. The triangle carries them.</a:t>
            </a:r>
          </a:p>
          <a:p>
            <a:r>
              <a:t>- We have an obligation, a model, and a realization. Ask what claim each edge makes.</a:t>
            </a:r>
          </a:p>
          <a:p>
            <a:r>
              <a:t>- captures? — does the model actually capture the obligation?</a:t>
            </a:r>
          </a:p>
          <a:p>
            <a:r>
              <a:t>- satisfies? — does the realization satisfy the obligation? That judgment is CONFORMANCE: an artifact against an independent obligation.</a:t>
            </a:r>
          </a:p>
          <a:p>
            <a:r>
              <a:t>- corresponds? — do model and realization agree? That judgment is CORRESPONDENCE: two representations against each other.</a:t>
            </a:r>
          </a:p>
          <a:p>
            <a:r>
              <a:t>- ACCEPTANCE brings in a fourth object, the receiving environment: will it accept the artifact? On the slide it is the third legend line, not a fourth node — name the fourth object aloud.</a:t>
            </a:r>
          </a:p>
          <a:p>
            <a:r>
              <a:t>- None of these edges establishes the other two. A model and implementation can agree and both be wrong against the obligation. Evidence for one claim does not establish the others.</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 (Demoted from the slide; ask aloud:) What claim does each edge make? What evidence would establish it?</a:t>
            </a:r>
          </a:p>
          <a:p>
            <a:r>
              <a:t>ANIMATION</a:t>
            </a:r>
          </a:p>
          <a:p>
            <a:r>
              <a:t>- Reveal OBLIGATION, MODEL, REALIZATION without edges if possible.</a:t>
            </a:r>
          </a:p>
          <a:p>
            <a:r>
              <a:t>- Reveal the three edge questions, then the legend naming the three judgments.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F435-EF43-F977-7177-FF1086F60F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7B394D-9E51-BE61-A98F-7C3BB3ADA4D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7B43B97B-E0B1-E14A-60C7-73F6F8D12C62}"/>
              </a:ext>
            </a:extLst>
          </p:cNvPr>
          <p:cNvSpPr>
            <a:spLocks noGrp="1"/>
          </p:cNvSpPr>
          <p:nvPr>
            <p:ph type="body" sz="quarter" idx="3"/>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a:extLst>
              <a:ext uri="{FF2B5EF4-FFF2-40B4-BE49-F238E27FC236}">
                <a16:creationId xmlns:a16="http://schemas.microsoft.com/office/drawing/2014/main" id="{E828341B-8E54-7EF7-758A-4A7BAE69D2C1}"/>
              </a:ext>
            </a:extLst>
          </p:cNvPr>
          <p:cNvSpPr>
            <a:spLocks noGrp="1"/>
          </p:cNvSpPr>
          <p:nvPr>
            <p:ph type="sldNum" sz="quarter" idx="5"/>
          </p:nvPr>
        </p:nvSpPr>
        <p:spPr/>
      </p:sp>
    </p:spTree>
    <p:extLst>
      <p:ext uri="{BB962C8B-B14F-4D97-AF65-F5344CB8AC3E}">
        <p14:creationId xmlns:p14="http://schemas.microsoft.com/office/powerpoint/2010/main" val="1505738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30 seconds transition + 2 minutes setup + 8-10 minutes work</a:t>
            </a:r>
          </a:p>
          <a:p>
            <a:r>
              <a:t>- This slide is the section transition — the activity title itself is the transition. Setup line: enough vocabulary; now use it.</a:t>
            </a:r>
          </a:p>
          <a:p>
            <a:r>
              <a:t>- This is unmistakably a RETURN TO THE LAB, not a new scenario: the two model cards on the left are the two models the class built in the Modeling lab and saw four slides ago (the working-memory view and the lifecycle view of the sensor node). In Modeling, they built and used the model; now they use that same model as an independent validation surface.</a:t>
            </a:r>
          </a:p>
          <a:p>
            <a:r>
              <a:t>- This lands the Modeling deck's own message that models constrain implementation without determining it: we left realization choices free; now we check that the chosen realization still satisfies what the model preserved.</a:t>
            </a:r>
          </a:p>
          <a:p>
            <a:r>
              <a:t>- Teams choose ONE obligation from the lab — the 48 KB device ceiling, the at-most-two-awake admission rule, a per-thread working-memory maximum — and walk the five questions on the right.</a:t>
            </a:r>
          </a:p>
          <a:p>
            <a:r>
              <a:t>WORKSHEET (keep this slide up while teams work and walk it aloud):</a:t>
            </a:r>
          </a:p>
          <a:p>
            <a:r>
              <a:t>- For each obligation, identify what can fail, what evidence establishes it, where it becomes decidable, and what failure should control.</a:t>
            </a:r>
          </a:p>
          <a:p>
            <a:r>
              <a:t>- The five numbered questions walk that sequence: failure mode; prevent or detect; evidence; earliest decidable boundary; consequence of a failed check. Teams should also ask which of the two views makes the relevant fact explicit, and whether they would validate it statically or dynamically.</a:t>
            </a:r>
          </a:p>
          <a:p>
            <a:r>
              <a:t>- Teams should be ready to defend their boundary choices and what authority the verdict carries.</a:t>
            </a:r>
          </a:p>
          <a:p>
            <a:r>
              <a:t>- Takeaway strip: MODEL → CHECK → DECIDE → CONTROL.</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a:t>
            </a:r>
          </a:p>
          <a:p>
            <a:r>
              <a:t>- The first broad way: inspect the realization without executing it.</a:t>
            </a:r>
          </a:p>
          <a:p>
            <a:r>
              <a:t>- Say 'static check', not 'static analysis'. 'Static check' is broader and more accurate: correspondence could be established by AST queries, architectural conformance, type checking, dependency checking, conventional static analysis, and more.</a:t>
            </a:r>
          </a:p>
          <a:p>
            <a:r>
              <a:t>- Ground each question in the lab. 'Can any code path admit a third Awake thread?' checks the code against the admission rule the class modeled — at most two awake. 'Does the implementation permit a lifecycle transition absent from the model?' checks the code's transitions against the modeled lifecycle. 'Do implementation resource bounds agree with the modeled bounds?' checks declared limits against the per-thread working-memory maxima and the 48 KB ceiling.</a:t>
            </a:r>
          </a:p>
          <a:p>
            <a:r>
              <a:t>- Note what each question interrogates: the REALIZATION, against what the model makes explicit. We are not analyzing the model; we are using it.</a:t>
            </a:r>
          </a:p>
          <a:p>
            <a:r>
              <a:t>- Careful claim: a green verdict proves neither the model nor the implementation correct. It establishes the selected correspondence property we checked — nothing more. 'Agreement is not correctness', two slides from now, exposes that limitation deliberately.</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normAutofit fontScale="90000"/>
          </a:bodyPr>
          <a:lstStyle/>
          <a:p>
            <a:r>
              <a:rPr sz="2400" b="0">
                <a:solidFill>
                  <a:srgbClr val="000000"/>
                </a:solidFill>
              </a:rPr>
              <a:t>The Master Equation: Alignment adds a check</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4" name="EqBox"/>
          <p:cNvSpPr txBox="1"/>
          <p:nvPr/>
        </p:nvSpPr>
        <p:spPr>
          <a:xfrm>
            <a:off x="274320" y="804672"/>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P(E | R) · P(I | E, R) · P(L | I, E, R)</a:t>
            </a:r>
          </a:p>
        </p:txBody>
      </p:sp>
      <p:pic>
        <p:nvPicPr>
          <p:cNvPr id="5" name="BandCheckFigure" descr="production-band-with-check-deck.png"/>
          <p:cNvPicPr>
            <a:picLocks noChangeAspect="1"/>
          </p:cNvPicPr>
          <p:nvPr/>
        </p:nvPicPr>
        <p:blipFill>
          <a:blip r:embed="rId3"/>
          <a:stretch>
            <a:fillRect/>
          </a:stretch>
        </p:blipFill>
        <p:spPr>
          <a:xfrm>
            <a:off x="685800" y="1280160"/>
            <a:ext cx="7315200" cy="4216400"/>
          </a:xfrm>
          <a:prstGeom prst="rect">
            <a:avLst/>
          </a:prstGeom>
        </p:spPr>
      </p:pic>
      <p:sp>
        <p:nvSpPr>
          <p:cNvPr id="6" name="ContrastBlock"/>
          <p:cNvSpPr txBox="1"/>
          <p:nvPr/>
        </p:nvSpPr>
        <p:spPr>
          <a:xfrm>
            <a:off x="960120" y="4114800"/>
            <a:ext cx="4983480" cy="1280160"/>
          </a:xfrm>
          <a:prstGeom prst="rect">
            <a:avLst/>
          </a:prstGeom>
          <a:noFill/>
        </p:spPr>
        <p:txBody>
          <a:bodyPr wrap="square" lIns="0" tIns="0" rIns="0" bIns="0">
            <a:spAutoFit/>
          </a:bodyPr>
          <a:lstStyle/>
          <a:p>
            <a:r>
              <a:rPr sz="2000" b="1" i="0" dirty="0">
                <a:solidFill>
                  <a:srgbClr val="5C4826"/>
                </a:solidFill>
              </a:rPr>
              <a:t>Before Alignment: </a:t>
            </a:r>
            <a:r>
              <a:rPr sz="2000" b="0" i="0" dirty="0">
                <a:solidFill>
                  <a:srgbClr val="555960"/>
                </a:solidFill>
              </a:rPr>
              <a:t>How likely is the agent to realize the obligation correctly?</a:t>
            </a:r>
          </a:p>
          <a:p>
            <a:pPr>
              <a:spcBef>
                <a:spcPts val="800"/>
              </a:spcBef>
            </a:pPr>
            <a:r>
              <a:rPr sz="2000" b="1" i="0" dirty="0">
                <a:solidFill>
                  <a:srgbClr val="5C4826"/>
                </a:solidFill>
              </a:rPr>
              <a:t>After Alignment: </a:t>
            </a:r>
            <a:r>
              <a:rPr sz="2000" b="0" i="0" dirty="0">
                <a:solidFill>
                  <a:srgbClr val="555960"/>
                </a:solidFill>
              </a:rPr>
              <a:t>Given that this realization was admitted, how likely is it to be correct?</a:t>
            </a:r>
          </a:p>
        </p:txBody>
      </p:sp>
      <p:sp>
        <p:nvSpPr>
          <p:cNvPr id="7" name="Annotation-modeling"/>
          <p:cNvSpPr txBox="1"/>
          <p:nvPr/>
        </p:nvSpPr>
        <p:spPr>
          <a:xfrm>
            <a:off x="274320" y="5559552"/>
            <a:ext cx="7818120" cy="585216"/>
          </a:xfrm>
          <a:prstGeom prst="rect">
            <a:avLst/>
          </a:prstGeom>
          <a:noFill/>
        </p:spPr>
        <p:txBody>
          <a:bodyPr wrap="square" lIns="0" tIns="0" rIns="0" bIns="0">
            <a:spAutoFit/>
          </a:bodyPr>
          <a:lstStyle/>
          <a:p>
            <a:r>
              <a:rPr sz="2000" b="1" i="0" dirty="0">
                <a:solidFill>
                  <a:srgbClr val="5C4826"/>
                </a:solidFill>
              </a:rPr>
              <a:t>Modeling</a:t>
            </a:r>
            <a:r>
              <a:rPr sz="2000" b="0" i="0" dirty="0">
                <a:solidFill>
                  <a:srgbClr val="5C4826"/>
                </a:solidFill>
              </a:rPr>
              <a:t> raises the probability of a correct realization by improving what is represented and interpreted.</a:t>
            </a:r>
          </a:p>
        </p:txBody>
      </p:sp>
      <p:sp>
        <p:nvSpPr>
          <p:cNvPr id="8" name="Annotation-alignment"/>
          <p:cNvSpPr txBox="1"/>
          <p:nvPr/>
        </p:nvSpPr>
        <p:spPr>
          <a:xfrm>
            <a:off x="274320" y="6181344"/>
            <a:ext cx="7818120" cy="585216"/>
          </a:xfrm>
          <a:prstGeom prst="rect">
            <a:avLst/>
          </a:prstGeom>
          <a:noFill/>
        </p:spPr>
        <p:txBody>
          <a:bodyPr wrap="square" lIns="0" tIns="0" rIns="0" bIns="0">
            <a:spAutoFit/>
          </a:bodyPr>
          <a:lstStyle/>
          <a:p>
            <a:r>
              <a:rPr sz="2000" b="1" i="0">
                <a:solidFill>
                  <a:srgbClr val="9A3F12"/>
                </a:solidFill>
              </a:rPr>
              <a:t>Alignment</a:t>
            </a:r>
            <a:r>
              <a:rPr sz="2000" b="0" i="0">
                <a:solidFill>
                  <a:srgbClr val="5C4826"/>
                </a:solidFill>
              </a:rPr>
              <a:t> raises the probability of an accepted implementation being correct by checking the realization against the obligation.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Vibe-code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09728" tIns="91440" rIns="109728" bIns="91440" rtlCol="0" anchor="t"/>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You have 5–10 minutes.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endParaRPr sz="2800" b="0" i="0">
              <a:solidFill>
                <a:srgbClr val="5C4826"/>
              </a:solidFill>
            </a:endParaRP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5</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How do we enforce what must be true?</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Alignment connects engineering obligations</a:t>
            </a:r>
          </a:p>
          <a:p>
            <a:pPr algn="ctr"/>
            <a:r>
              <a:rPr sz="2000" b="1" i="0">
                <a:solidFill>
                  <a:srgbClr val="FFFFFF"/>
                </a:solidFill>
              </a:rPr>
              <a:t>to controls in the environment.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4" name="Taxo-TASK"/>
          <p:cNvSpPr/>
          <p:nvPr/>
        </p:nvSpPr>
        <p:spPr>
          <a:xfrm>
            <a:off x="50292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5" name="Taxo-CESS"/>
          <p:cNvSpPr/>
          <p:nvPr/>
        </p:nvSpPr>
        <p:spPr>
          <a:xfrm>
            <a:off x="4663440" y="1051560"/>
            <a:ext cx="3977639" cy="432216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Give it a work order</a:t>
            </a:r>
          </a:p>
        </p:txBody>
      </p:sp>
      <p:graphicFrame>
        <p:nvGraphicFramePr>
          <p:cNvPr id="4" name="WorkOrderTable"/>
          <p:cNvGraphicFramePr>
            <a:graphicFrameLocks noGrp="1"/>
          </p:cNvGraphicFramePr>
          <p:nvPr/>
        </p:nvGraphicFramePr>
        <p:xfrm>
          <a:off x="502920" y="1005840"/>
          <a:ext cx="6492240" cy="5077968"/>
        </p:xfrm>
        <a:graphic>
          <a:graphicData uri="http://schemas.openxmlformats.org/drawingml/2006/table">
            <a:tbl>
              <a:tblPr>
                <a:tableStyleId>{5C22544A-7EE6-4342-B048-85BDC9FD1C3A}</a:tableStyleId>
              </a:tblPr>
              <a:tblGrid>
                <a:gridCol w="146304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548640">
                <a:tc gridSpan="2">
                  <a:txBody>
                    <a:bodyPr/>
                    <a:lstStyle/>
                    <a:p>
                      <a:pPr algn="ctr"/>
                      <a:r>
                        <a:rPr sz="2000" b="1" i="0">
                          <a:solidFill>
                            <a:srgbClr val="FFFFFF"/>
                          </a:solidFill>
                        </a:rPr>
                        <a:t>WORK ORDER: Bulk refunds</a:t>
                      </a:r>
                    </a:p>
                  </a:txBody>
                  <a:tcPr marL="68580" marR="45720" marT="27432" marB="27432" anchor="ctr">
                    <a:solidFill>
                      <a:srgbClr val="8E6F3E"/>
                    </a:solidFill>
                  </a:tcPr>
                </a:tc>
                <a:tc hMerge="1">
                  <a:txBody>
                    <a:bodyPr/>
                    <a:lstStyle/>
                    <a:p>
                      <a:endParaRPr/>
                    </a:p>
                  </a:txBody>
                  <a:tcPr/>
                </a:tc>
                <a:extLst>
                  <a:ext uri="{0D108BD9-81ED-4DB2-BD59-A6C34878D82A}">
                    <a16:rowId xmlns:a16="http://schemas.microsoft.com/office/drawing/2014/main" val="10000"/>
                  </a:ext>
                </a:extLst>
              </a:tr>
              <a:tr h="640080">
                <a:tc>
                  <a:txBody>
                    <a:bodyPr/>
                    <a:lstStyle/>
                    <a:p>
                      <a:pPr algn="l"/>
                      <a:r>
                        <a:rPr sz="2000" b="1" i="0">
                          <a:solidFill>
                            <a:srgbClr val="5C4826"/>
                          </a:solidFill>
                        </a:rPr>
                        <a:t>Goal</a:t>
                      </a:r>
                    </a:p>
                  </a:txBody>
                  <a:tcPr marL="68580" marR="45720" marT="27432" marB="27432" anchor="ctr">
                    <a:solidFill>
                      <a:srgbClr val="F5F1E8"/>
                    </a:solidFill>
                  </a:tcPr>
                </a:tc>
                <a:tc>
                  <a:txBody>
                    <a:bodyPr/>
                    <a:lstStyle/>
                    <a:p>
                      <a:pPr algn="l"/>
                      <a:r>
                        <a:rPr sz="2000" b="0" i="0">
                          <a:solidFill>
                            <a:srgbClr val="5C4826"/>
                          </a:solidFill>
                        </a:rPr>
                        <a:t>Add POST /refunds/bulk</a:t>
                      </a:r>
                    </a:p>
                  </a:txBody>
                  <a:tcPr marL="68580" marR="45720" marT="27432" marB="27432" anchor="ctr">
                    <a:solidFill>
                      <a:srgbClr val="FBF8F2"/>
                    </a:solidFill>
                  </a:tcPr>
                </a:tc>
                <a:extLst>
                  <a:ext uri="{0D108BD9-81ED-4DB2-BD59-A6C34878D82A}">
                    <a16:rowId xmlns:a16="http://schemas.microsoft.com/office/drawing/2014/main" val="10001"/>
                  </a:ext>
                </a:extLst>
              </a:tr>
              <a:tr h="640080">
                <a:tc>
                  <a:txBody>
                    <a:bodyPr/>
                    <a:lstStyle/>
                    <a:p>
                      <a:pPr algn="l"/>
                      <a:r>
                        <a:rPr sz="2000" b="1" i="0">
                          <a:solidFill>
                            <a:srgbClr val="5C4826"/>
                          </a:solidFill>
                        </a:rPr>
                        <a:t>Scope</a:t>
                      </a:r>
                    </a:p>
                  </a:txBody>
                  <a:tcPr marL="68580" marR="45720" marT="27432" marB="27432" anchor="ctr">
                    <a:solidFill>
                      <a:srgbClr val="F5F1E8"/>
                    </a:solidFill>
                  </a:tcPr>
                </a:tc>
                <a:tc>
                  <a:txBody>
                    <a:bodyPr/>
                    <a:lstStyle/>
                    <a:p>
                      <a:pPr algn="l"/>
                      <a:r>
                        <a:rPr sz="2000" b="0" i="0">
                          <a:solidFill>
                            <a:srgbClr val="5C4826"/>
                          </a:solidFill>
                        </a:rPr>
                        <a:t>Modify the payments service only</a:t>
                      </a:r>
                    </a:p>
                  </a:txBody>
                  <a:tcPr marL="68580" marR="45720" marT="27432" marB="27432" anchor="ctr">
                    <a:solidFill>
                      <a:srgbClr val="FBF8F2"/>
                    </a:solidFill>
                  </a:tcPr>
                </a:tc>
                <a:extLst>
                  <a:ext uri="{0D108BD9-81ED-4DB2-BD59-A6C34878D82A}">
                    <a16:rowId xmlns:a16="http://schemas.microsoft.com/office/drawing/2014/main" val="10002"/>
                  </a:ext>
                </a:extLst>
              </a:tr>
              <a:tr h="640080">
                <a:tc>
                  <a:txBody>
                    <a:bodyPr/>
                    <a:lstStyle/>
                    <a:p>
                      <a:pPr algn="l"/>
                      <a:r>
                        <a:rPr sz="2000" b="1" i="0">
                          <a:solidFill>
                            <a:srgbClr val="5C4826"/>
                          </a:solidFill>
                        </a:rPr>
                        <a:t>Preserve</a:t>
                      </a:r>
                    </a:p>
                  </a:txBody>
                  <a:tcPr marL="68580" marR="45720" marT="27432" marB="27432" anchor="ctr">
                    <a:solidFill>
                      <a:srgbClr val="F5F1E8"/>
                    </a:solidFill>
                  </a:tcPr>
                </a:tc>
                <a:tc>
                  <a:txBody>
                    <a:bodyPr/>
                    <a:lstStyle/>
                    <a:p>
                      <a:pPr algn="l"/>
                      <a:r>
                        <a:rPr sz="2000" b="0" i="0">
                          <a:solidFill>
                            <a:srgbClr val="5C4826"/>
                          </a:solidFill>
                        </a:rPr>
                        <a:t>Existing single-refund API behavior</a:t>
                      </a:r>
                    </a:p>
                  </a:txBody>
                  <a:tcPr marL="68580" marR="45720" marT="27432" marB="27432" anchor="ctr">
                    <a:solidFill>
                      <a:srgbClr val="FBF8F2"/>
                    </a:solidFill>
                  </a:tcPr>
                </a:tc>
                <a:extLst>
                  <a:ext uri="{0D108BD9-81ED-4DB2-BD59-A6C34878D82A}">
                    <a16:rowId xmlns:a16="http://schemas.microsoft.com/office/drawing/2014/main" val="10003"/>
                  </a:ext>
                </a:extLst>
              </a:tr>
              <a:tr h="640080">
                <a:tc>
                  <a:txBody>
                    <a:bodyPr/>
                    <a:lstStyle/>
                    <a:p>
                      <a:pPr algn="l"/>
                      <a:r>
                        <a:rPr sz="2000" b="1" i="0">
                          <a:solidFill>
                            <a:srgbClr val="5C4826"/>
                          </a:solidFill>
                        </a:rPr>
                        <a:t>Do not</a:t>
                      </a:r>
                    </a:p>
                  </a:txBody>
                  <a:tcPr marL="68580" marR="45720" marT="27432" marB="27432" anchor="ctr">
                    <a:solidFill>
                      <a:srgbClr val="F5F1E8"/>
                    </a:solidFill>
                  </a:tcPr>
                </a:tc>
                <a:tc>
                  <a:txBody>
                    <a:bodyPr/>
                    <a:lstStyle/>
                    <a:p>
                      <a:pPr algn="l"/>
                      <a:r>
                        <a:rPr sz="2000" b="0" i="0">
                          <a:solidFill>
                            <a:srgbClr val="5C4826"/>
                          </a:solidFill>
                        </a:rPr>
                        <a:t>Modify authentication or payment-provider adapters</a:t>
                      </a:r>
                    </a:p>
                  </a:txBody>
                  <a:tcPr marL="68580" marR="45720" marT="27432" marB="27432" anchor="ctr">
                    <a:solidFill>
                      <a:srgbClr val="FBF8F2"/>
                    </a:solidFill>
                  </a:tcPr>
                </a:tc>
                <a:extLst>
                  <a:ext uri="{0D108BD9-81ED-4DB2-BD59-A6C34878D82A}">
                    <a16:rowId xmlns:a16="http://schemas.microsoft.com/office/drawing/2014/main" val="10004"/>
                  </a:ext>
                </a:extLst>
              </a:tr>
              <a:tr h="640080">
                <a:tc>
                  <a:txBody>
                    <a:bodyPr/>
                    <a:lstStyle/>
                    <a:p>
                      <a:pPr algn="l"/>
                      <a:r>
                        <a:rPr sz="2000" b="1" i="0">
                          <a:solidFill>
                            <a:srgbClr val="5C4826"/>
                          </a:solidFill>
                        </a:rPr>
                        <a:t>Check</a:t>
                      </a:r>
                    </a:p>
                  </a:txBody>
                  <a:tcPr marL="68580" marR="45720" marT="27432" marB="27432" anchor="ctr">
                    <a:solidFill>
                      <a:srgbClr val="F5F1E8"/>
                    </a:solidFill>
                  </a:tcPr>
                </a:tc>
                <a:tc>
                  <a:txBody>
                    <a:bodyPr/>
                    <a:lstStyle/>
                    <a:p>
                      <a:pPr algn="l"/>
                      <a:r>
                        <a:rPr sz="2000" b="0" i="0">
                          <a:solidFill>
                            <a:srgbClr val="5C4826"/>
                          </a:solidFill>
                        </a:rPr>
                        <a:t>Existing tests + new bulk-refund tests</a:t>
                      </a:r>
                    </a:p>
                  </a:txBody>
                  <a:tcPr marL="68580" marR="45720" marT="27432" marB="27432" anchor="ctr">
                    <a:solidFill>
                      <a:srgbClr val="FBF8F2"/>
                    </a:solidFill>
                  </a:tcPr>
                </a:tc>
                <a:extLst>
                  <a:ext uri="{0D108BD9-81ED-4DB2-BD59-A6C34878D82A}">
                    <a16:rowId xmlns:a16="http://schemas.microsoft.com/office/drawing/2014/main" val="10005"/>
                  </a:ext>
                </a:extLst>
              </a:tr>
              <a:tr h="640080">
                <a:tc>
                  <a:txBody>
                    <a:bodyPr/>
                    <a:lstStyle/>
                    <a:p>
                      <a:pPr algn="l"/>
                      <a:r>
                        <a:rPr sz="2000" b="1" i="0">
                          <a:solidFill>
                            <a:srgbClr val="5C4826"/>
                          </a:solidFill>
                        </a:rPr>
                        <a:t>Deliver</a:t>
                      </a:r>
                    </a:p>
                  </a:txBody>
                  <a:tcPr marL="68580" marR="45720" marT="27432" marB="27432" anchor="ctr">
                    <a:solidFill>
                      <a:srgbClr val="F5F1E8"/>
                    </a:solidFill>
                  </a:tcPr>
                </a:tc>
                <a:tc>
                  <a:txBody>
                    <a:bodyPr/>
                    <a:lstStyle/>
                    <a:p>
                      <a:pPr algn="l"/>
                      <a:r>
                        <a:rPr sz="2000" b="0" i="0">
                          <a:solidFill>
                            <a:srgbClr val="5C4826"/>
                          </a:solidFill>
                        </a:rPr>
                        <a:t>Commit changes on your worktree and open a PR</a:t>
                      </a:r>
                    </a:p>
                  </a:txBody>
                  <a:tcPr marL="68580" marR="45720" marT="27432" marB="27432" anchor="ctr">
                    <a:solidFill>
                      <a:srgbClr val="FBF8F2"/>
                    </a:solidFill>
                  </a:tcPr>
                </a:tc>
                <a:extLst>
                  <a:ext uri="{0D108BD9-81ED-4DB2-BD59-A6C34878D82A}">
                    <a16:rowId xmlns:a16="http://schemas.microsoft.com/office/drawing/2014/main" val="10006"/>
                  </a:ext>
                </a:extLst>
              </a:tr>
              <a:tr h="640080">
                <a:tc>
                  <a:txBody>
                    <a:bodyPr/>
                    <a:lstStyle/>
                    <a:p>
                      <a:pPr algn="l"/>
                      <a:r>
                        <a:rPr sz="2000" b="1" i="0">
                          <a:solidFill>
                            <a:srgbClr val="5C4826"/>
                          </a:solidFill>
                        </a:rPr>
                        <a:t>Authority</a:t>
                      </a:r>
                    </a:p>
                  </a:txBody>
                  <a:tcPr marL="68580" marR="45720" marT="27432" marB="27432" anchor="ctr">
                    <a:solidFill>
                      <a:srgbClr val="F5F1E8"/>
                    </a:solidFill>
                  </a:tcPr>
                </a:tc>
                <a:tc>
                  <a:txBody>
                    <a:bodyPr/>
                    <a:lstStyle/>
                    <a:p>
                      <a:pPr algn="l"/>
                      <a:r>
                        <a:rPr sz="2000" b="0" i="0">
                          <a:solidFill>
                            <a:srgbClr val="5C4826"/>
                          </a:solidFill>
                        </a:rPr>
                        <a:t>Do not merge or deploy</a:t>
                      </a:r>
                    </a:p>
                  </a:txBody>
                  <a:tcPr marL="68580" marR="45720" marT="27432" marB="27432" anchor="ctr">
                    <a:solidFill>
                      <a:srgbClr val="FBF8F2"/>
                    </a:solidFill>
                  </a:tcPr>
                </a:tc>
                <a:extLst>
                  <a:ext uri="{0D108BD9-81ED-4DB2-BD59-A6C34878D82A}">
                    <a16:rowId xmlns:a16="http://schemas.microsoft.com/office/drawing/2014/main" val="10007"/>
                  </a:ext>
                </a:extLst>
              </a:tr>
            </a:tbl>
          </a:graphicData>
        </a:graphic>
      </p:graphicFrame>
      <p:sp>
        <p:nvSpPr>
          <p:cNvPr id="5" name="BoundTask"/>
          <p:cNvSpPr/>
          <p:nvPr/>
        </p:nvSpPr>
        <p:spPr>
          <a:xfrm>
            <a:off x="7178040" y="1554480"/>
            <a:ext cx="1691640" cy="1920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6" name="BoundProcess"/>
          <p:cNvSpPr/>
          <p:nvPr/>
        </p:nvSpPr>
        <p:spPr>
          <a:xfrm>
            <a:off x="7178040" y="3474720"/>
            <a:ext cx="1691640" cy="25603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Bound the consequential degrees of freedom</a:t>
            </a:r>
          </a:p>
        </p:txBody>
      </p:sp>
      <p:sp>
        <p:nvSpPr>
          <p:cNvPr id="4" name="BoundPanel"/>
          <p:cNvSpPr/>
          <p:nvPr/>
        </p:nvSpPr>
        <p:spPr>
          <a:xfrm>
            <a:off x="50292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BOUND</a:t>
            </a:r>
          </a:p>
          <a:p>
            <a:pPr algn="ctr"/>
            <a:endParaRPr sz="2000" b="1" i="0">
              <a:solidFill>
                <a:srgbClr val="5C4826"/>
              </a:solidFill>
            </a:endParaRPr>
          </a:p>
          <a:p>
            <a:pPr algn="ctr"/>
            <a:r>
              <a:rPr sz="2000" b="0" i="0">
                <a:solidFill>
                  <a:srgbClr val="5C4826"/>
                </a:solidFill>
              </a:rPr>
              <a:t>worktree</a:t>
            </a:r>
          </a:p>
          <a:p>
            <a:pPr algn="ctr"/>
            <a:r>
              <a:rPr sz="2000" b="0" i="0">
                <a:solidFill>
                  <a:srgbClr val="5C4826"/>
                </a:solidFill>
              </a:rPr>
              <a:t>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154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LEAVE FREE</a:t>
            </a:r>
          </a:p>
          <a:p>
            <a:pPr algn="ctr"/>
            <a:endParaRPr sz="2000" b="1" i="0">
              <a:solidFill>
                <a:srgbClr val="5C4826"/>
              </a:solidFill>
            </a:endParaRPr>
          </a:p>
          <a:p>
            <a:pPr algn="ctr"/>
            <a:r>
              <a:rPr sz="2000" b="0" i="0">
                <a:solidFill>
                  <a:srgbClr val="5C4826"/>
                </a:solidFill>
              </a:rPr>
              <a:t>implementation</a:t>
            </a:r>
          </a:p>
          <a:p>
            <a:pPr algn="ctr"/>
            <a:r>
              <a:rPr sz="2000" b="0" i="0">
                <a:solidFill>
                  <a:srgbClr val="5C4826"/>
                </a:solidFill>
              </a:rPr>
              <a:t>decomposition</a:t>
            </a:r>
          </a:p>
          <a:p>
            <a:pPr algn="ctr"/>
            <a:r>
              <a:rPr sz="2000" b="0" i="0">
                <a:solidFill>
                  <a:srgbClr val="5C4826"/>
                </a:solidFill>
              </a:rPr>
              <a:t>naming</a:t>
            </a:r>
          </a:p>
          <a:p>
            <a:pPr algn="ctr"/>
            <a:r>
              <a:rPr sz="2000" b="0" i="0">
                <a:solidFill>
                  <a:srgbClr val="5C4826"/>
                </a:solidFill>
              </a:rPr>
              <a:t>algorithm choice, where unconstrained</a:t>
            </a:r>
          </a:p>
          <a:p>
            <a:pPr algn="ctr"/>
            <a:r>
              <a:rPr sz="2000" b="0" i="0">
                <a:solidFill>
                  <a:srgbClr val="5C4826"/>
                </a:solidFill>
              </a:rPr>
              <a:t>intermediate edits</a:t>
            </a:r>
          </a:p>
        </p:txBody>
      </p:sp>
      <p:sp>
        <p:nvSpPr>
          <p:cNvPr id="101" name="PCINSPECT"/>
          <p:cNvSpPr/>
          <p:nvPr/>
        </p:nvSpPr>
        <p:spPr>
          <a:xfrm>
            <a:off x="5029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INSPECT</a:t>
            </a:r>
          </a:p>
        </p:txBody>
      </p:sp>
      <p:cxnSp>
        <p:nvCxnSpPr>
          <p:cNvPr id="102" name="Connector 6"/>
          <p:cNvCxnSpPr/>
          <p:nvPr/>
        </p:nvCxnSpPr>
        <p:spPr>
          <a:xfrm>
            <a:off x="19202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3" name="PCMODIFY"/>
          <p:cNvSpPr/>
          <p:nvPr/>
        </p:nvSpPr>
        <p:spPr>
          <a:xfrm>
            <a:off x="21031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MODIFY</a:t>
            </a:r>
          </a:p>
        </p:txBody>
      </p:sp>
      <p:cxnSp>
        <p:nvCxnSpPr>
          <p:cNvPr id="104" name="Connector 8"/>
          <p:cNvCxnSpPr/>
          <p:nvPr/>
        </p:nvCxnSpPr>
        <p:spPr>
          <a:xfrm>
            <a:off x="3520439" y="4704588"/>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5" name="PCCHECK"/>
          <p:cNvSpPr/>
          <p:nvPr/>
        </p:nvSpPr>
        <p:spPr>
          <a:xfrm>
            <a:off x="37033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CHECK</a:t>
            </a:r>
          </a:p>
        </p:txBody>
      </p:sp>
      <p:cxnSp>
        <p:nvCxnSpPr>
          <p:cNvPr id="106" name="Connector 10"/>
          <p:cNvCxnSpPr/>
          <p:nvPr/>
        </p:nvCxnSpPr>
        <p:spPr>
          <a:xfrm>
            <a:off x="51206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7" name="PCCOMMIT"/>
          <p:cNvSpPr/>
          <p:nvPr/>
        </p:nvSpPr>
        <p:spPr>
          <a:xfrm>
            <a:off x="53035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108" name="Connector 12"/>
          <p:cNvCxnSpPr/>
          <p:nvPr/>
        </p:nvCxnSpPr>
        <p:spPr>
          <a:xfrm>
            <a:off x="6720840" y="4704588"/>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9" name="PCPROPOSE"/>
          <p:cNvSpPr/>
          <p:nvPr/>
        </p:nvSpPr>
        <p:spPr>
          <a:xfrm>
            <a:off x="6903720" y="4407408"/>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PROPOSE</a:t>
            </a:r>
          </a:p>
        </p:txBody>
      </p:sp>
      <p:sp>
        <p:nvSpPr>
          <p:cNvPr id="110" name="PCMain"/>
          <p:cNvSpPr txBox="1"/>
          <p:nvPr/>
        </p:nvSpPr>
        <p:spPr>
          <a:xfrm>
            <a:off x="274320" y="5212080"/>
            <a:ext cx="8595360" cy="914400"/>
          </a:xfrm>
          <a:prstGeom prst="rect">
            <a:avLst/>
          </a:prstGeom>
          <a:noFill/>
        </p:spPr>
        <p:txBody>
          <a:bodyPr wrap="square" anchor="t">
            <a:spAutoFit/>
          </a:bodyPr>
          <a:lstStyle/>
          <a:p>
            <a:pPr algn="ctr"/>
            <a:r>
              <a:rPr sz="2000" b="0">
                <a:solidFill>
                  <a:srgbClr val="5C4826"/>
                </a:solidFill>
              </a:rPr>
              <a:t>A process model makes consequential actions, transitions, evidence, and stopping conditions explicit without prescribing internal reasoning.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Either bound can be violated</a:t>
            </a:r>
          </a:p>
        </p:txBody>
      </p:sp>
      <p:sp>
        <p:nvSpPr>
          <p:cNvPr id="2" name="TaxHead-result"/>
          <p:cNvSpPr/>
          <p:nvPr/>
        </p:nvSpPr>
        <p:spPr>
          <a:xfrm>
            <a:off x="228600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RESULT</a:t>
            </a:r>
          </a:p>
        </p:txBody>
      </p:sp>
      <p:sp>
        <p:nvSpPr>
          <p:cNvPr id="4" name="TaxHead-process"/>
          <p:cNvSpPr/>
          <p:nvPr/>
        </p:nvSpPr>
        <p:spPr>
          <a:xfrm>
            <a:off x="5577840" y="1005840"/>
            <a:ext cx="329184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WRONG PROCESS</a:t>
            </a:r>
          </a:p>
        </p:txBody>
      </p:sp>
      <p:sp>
        <p:nvSpPr>
          <p:cNvPr id="5" name="TaxLbl-QUESTI"/>
          <p:cNvSpPr/>
          <p:nvPr/>
        </p:nvSpPr>
        <p:spPr>
          <a:xfrm>
            <a:off x="274320" y="173736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QUESTION</a:t>
            </a:r>
          </a:p>
        </p:txBody>
      </p:sp>
      <p:sp>
        <p:nvSpPr>
          <p:cNvPr id="6" name="TaxC1-QUESTI"/>
          <p:cNvSpPr/>
          <p:nvPr/>
        </p:nvSpPr>
        <p:spPr>
          <a:xfrm>
            <a:off x="2286000" y="173736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Did the artifact satisfy its obligations?</a:t>
            </a:r>
          </a:p>
        </p:txBody>
      </p:sp>
      <p:sp>
        <p:nvSpPr>
          <p:cNvPr id="7" name="TaxC2-QUESTI"/>
          <p:cNvSpPr/>
          <p:nvPr/>
        </p:nvSpPr>
        <p:spPr>
          <a:xfrm>
            <a:off x="5577840" y="173736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Was the work performed within the delegated process?</a:t>
            </a:r>
          </a:p>
        </p:txBody>
      </p:sp>
      <p:sp>
        <p:nvSpPr>
          <p:cNvPr id="8" name="TaxLbl-EXAMPL"/>
          <p:cNvSpPr/>
          <p:nvPr/>
        </p:nvSpPr>
        <p:spPr>
          <a:xfrm>
            <a:off x="274320" y="292608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EXAMPLE</a:t>
            </a:r>
          </a:p>
        </p:txBody>
      </p:sp>
      <p:sp>
        <p:nvSpPr>
          <p:cNvPr id="9" name="TaxC1-EXAMPL"/>
          <p:cNvSpPr/>
          <p:nvPr/>
        </p:nvSpPr>
        <p:spPr>
          <a:xfrm>
            <a:off x="2286000" y="292608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Existing API behavior changes</a:t>
            </a:r>
          </a:p>
        </p:txBody>
      </p:sp>
      <p:sp>
        <p:nvSpPr>
          <p:cNvPr id="10" name="TaxC2-EXAMPL"/>
          <p:cNvSpPr/>
          <p:nvPr/>
        </p:nvSpPr>
        <p:spPr>
          <a:xfrm>
            <a:off x="5577840" y="292608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55960"/>
                </a:solidFill>
              </a:rPr>
              <a:t>Agent modifies a forbidden dependency</a:t>
            </a:r>
          </a:p>
        </p:txBody>
      </p:sp>
      <p:sp>
        <p:nvSpPr>
          <p:cNvPr id="11" name="TaxLbl-VALIDA"/>
          <p:cNvSpPr/>
          <p:nvPr/>
        </p:nvSpPr>
        <p:spPr>
          <a:xfrm>
            <a:off x="274320" y="4114800"/>
            <a:ext cx="1920240" cy="109728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VALIDATION TARGET</a:t>
            </a:r>
          </a:p>
        </p:txBody>
      </p:sp>
      <p:sp>
        <p:nvSpPr>
          <p:cNvPr id="12" name="TaxC1-VALIDA"/>
          <p:cNvSpPr/>
          <p:nvPr/>
        </p:nvSpPr>
        <p:spPr>
          <a:xfrm>
            <a:off x="2286000" y="4114800"/>
            <a:ext cx="320040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Artifact / system state</a:t>
            </a:r>
          </a:p>
        </p:txBody>
      </p:sp>
      <p:sp>
        <p:nvSpPr>
          <p:cNvPr id="13" name="TaxC2-VALIDA"/>
          <p:cNvSpPr/>
          <p:nvPr/>
        </p:nvSpPr>
        <p:spPr>
          <a:xfrm>
            <a:off x="5577840" y="4114800"/>
            <a:ext cx="3291840" cy="10972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Actions / evidence / authority</a:t>
            </a:r>
          </a:p>
        </p:txBody>
      </p:sp>
      <p:sp>
        <p:nvSpPr>
          <p:cNvPr id="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dirty="0">
                <a:solidFill>
                  <a:srgbClr val="5C4826"/>
                </a:solidFill>
              </a:rPr>
              <a:t>The resulting system violates an obligation.</a:t>
            </a:r>
          </a:p>
        </p:txBody>
      </p:sp>
      <p:sp>
        <p:nvSpPr>
          <p:cNvPr id="13" name="FailKinds"/>
          <p:cNvSpPr txBox="1"/>
          <p:nvPr/>
        </p:nvSpPr>
        <p:spPr>
          <a:xfrm>
            <a:off x="274320" y="4983480"/>
            <a:ext cx="8595360" cy="1015663"/>
          </a:xfrm>
          <a:prstGeom prst="rect">
            <a:avLst/>
          </a:prstGeom>
          <a:noFill/>
        </p:spPr>
        <p:txBody>
          <a:bodyPr wrap="square" anchor="t">
            <a:spAutoFit/>
          </a:bodyPr>
          <a:lstStyle/>
          <a:p>
            <a:pPr algn="ctr"/>
            <a:r>
              <a:rPr sz="2000" b="0" i="1" dirty="0">
                <a:solidFill>
                  <a:srgbClr val="555960"/>
                </a:solidFill>
              </a:rPr>
              <a:t>wrong behavior · violated invariant · excessive memory · incompatible API</a:t>
            </a:r>
            <a:endParaRPr lang="en-US" sz="2000" b="0" i="1" dirty="0">
              <a:solidFill>
                <a:srgbClr val="555960"/>
              </a:solidFill>
            </a:endParaRPr>
          </a:p>
          <a:p>
            <a:pPr algn="ctr"/>
            <a:endParaRPr lang="en-US" sz="2000" i="1" dirty="0">
              <a:solidFill>
                <a:srgbClr val="555960"/>
              </a:solidFill>
            </a:endParaRPr>
          </a:p>
          <a:p>
            <a:pPr algn="ctr"/>
            <a:r>
              <a:rPr lang="en-US" sz="2000" i="1" dirty="0">
                <a:solidFill>
                  <a:srgbClr val="555960"/>
                </a:solidFill>
              </a:rPr>
              <a:t>(measurable – hopefully you notice before you ship)</a:t>
            </a:r>
            <a:endParaRPr sz="2000" b="0" i="1" dirty="0">
              <a:solidFill>
                <a:srgbClr val="55596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a:t>Wrong process can fail in different ways</a:t>
            </a:r>
          </a:p>
        </p:txBody>
      </p:sp>
      <p:sp>
        <p:nvSpPr>
          <p:cNvPr id="911" name="Card-scope"/>
          <p:cNvSpPr/>
          <p:nvPr/>
        </p:nvSpPr>
        <p:spPr>
          <a:xfrm>
            <a:off x="27432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SCOPE</a:t>
            </a:r>
          </a:p>
          <a:p>
            <a:pPr algn="l">
              <a:spcBef>
                <a:spcPts val="900"/>
              </a:spcBef>
              <a:buNone/>
            </a:pPr>
            <a:r>
              <a:rPr lang="en-US" sz="2000" b="0" i="0" dirty="0">
                <a:solidFill>
                  <a:srgbClr val="5C4826"/>
                </a:solidFill>
              </a:rPr>
              <a:t>Work exceeds the work order</a:t>
            </a:r>
          </a:p>
          <a:p>
            <a:pPr algn="l">
              <a:spcBef>
                <a:spcPts val="900"/>
              </a:spcBef>
              <a:buNone/>
            </a:pPr>
            <a:r>
              <a:rPr lang="en-US" sz="2000" b="0" i="1" dirty="0">
                <a:solidFill>
                  <a:srgbClr val="555960"/>
                </a:solidFill>
              </a:rPr>
              <a:t>forbidden file · altered test</a:t>
            </a:r>
          </a:p>
        </p:txBody>
      </p:sp>
      <p:sp>
        <p:nvSpPr>
          <p:cNvPr id="912" name="Card-authority"/>
          <p:cNvSpPr/>
          <p:nvPr/>
        </p:nvSpPr>
        <p:spPr>
          <a:xfrm>
            <a:off x="320040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AUTHORITY</a:t>
            </a:r>
          </a:p>
          <a:p>
            <a:pPr algn="l">
              <a:spcBef>
                <a:spcPts val="900"/>
              </a:spcBef>
              <a:buNone/>
            </a:pPr>
            <a:r>
              <a:rPr lang="en-US" sz="2000" b="0" i="0" dirty="0">
                <a:solidFill>
                  <a:srgbClr val="5C4826"/>
                </a:solidFill>
              </a:rPr>
              <a:t>Work exceeds delegated authority</a:t>
            </a:r>
          </a:p>
          <a:p>
            <a:pPr algn="l">
              <a:spcBef>
                <a:spcPts val="900"/>
              </a:spcBef>
              <a:buNone/>
            </a:pPr>
            <a:r>
              <a:rPr lang="en-US" sz="2000" b="0" i="1" dirty="0">
                <a:solidFill>
                  <a:srgbClr val="555960"/>
                </a:solidFill>
              </a:rPr>
              <a:t>merge · deploy</a:t>
            </a:r>
          </a:p>
        </p:txBody>
      </p:sp>
      <p:sp>
        <p:nvSpPr>
          <p:cNvPr id="913" name="Card-evidence"/>
          <p:cNvSpPr/>
          <p:nvPr/>
        </p:nvSpPr>
        <p:spPr>
          <a:xfrm>
            <a:off x="6126480" y="1051560"/>
            <a:ext cx="2743200" cy="4206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EVIDENCE</a:t>
            </a:r>
          </a:p>
          <a:p>
            <a:pPr algn="l">
              <a:spcBef>
                <a:spcPts val="900"/>
              </a:spcBef>
              <a:buNone/>
            </a:pPr>
            <a:r>
              <a:rPr lang="en-US" sz="2000" b="0" i="0" dirty="0">
                <a:solidFill>
                  <a:srgbClr val="5C4826"/>
                </a:solidFill>
              </a:rPr>
              <a:t>Evidence does not establish the obligation</a:t>
            </a:r>
          </a:p>
          <a:p>
            <a:pPr algn="l">
              <a:spcBef>
                <a:spcPts val="900"/>
              </a:spcBef>
              <a:buNone/>
            </a:pPr>
            <a:r>
              <a:rPr lang="en-US" sz="2000" b="0" i="1" dirty="0">
                <a:solidFill>
                  <a:srgbClr val="555960"/>
                </a:solidFill>
              </a:rPr>
              <a:t>“all tests pass” without saying what was tested</a:t>
            </a:r>
          </a:p>
        </p:txBody>
      </p:sp>
      <p:sp>
        <p:nvSpPr>
          <p:cNvPr id="914" name="FooterBand"/>
          <p:cNvSpPr/>
          <p:nvPr/>
        </p:nvSpPr>
        <p:spPr>
          <a:xfrm>
            <a:off x="274320" y="5852160"/>
            <a:ext cx="8595360" cy="566928"/>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Can the result be correct while the process is wrong?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15</a:t>
            </a:fld>
            <a:endParaRPr lang="en-US"/>
          </a:p>
        </p:txBody>
      </p:sp>
      <p:sp>
        <p:nvSpPr>
          <p:cNvPr id="8" name="FooterBand"/>
          <p:cNvSpPr/>
          <p:nvPr/>
        </p:nvSpPr>
        <p:spPr>
          <a:xfrm>
            <a:off x="274320" y="5641870"/>
            <a:ext cx="8595360" cy="77721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2000" b="1" i="0" dirty="0">
                <a:solidFill>
                  <a:srgbClr val="FFFFFF"/>
                </a:solidFill>
              </a:rPr>
              <a:t>Constraints: </a:t>
            </a:r>
            <a:r>
              <a:rPr sz="2000" b="1" i="0" dirty="0">
                <a:solidFill>
                  <a:srgbClr val="FFFFFF"/>
                </a:solidFill>
              </a:rPr>
              <a:t>If you can make the wrong state impossible, do</a:t>
            </a:r>
            <a:r>
              <a:rPr lang="en-US" sz="2000" b="1" i="0" dirty="0">
                <a:solidFill>
                  <a:srgbClr val="FFFFFF"/>
                </a:solidFill>
              </a:rPr>
              <a:t> so</a:t>
            </a:r>
            <a:r>
              <a:rPr sz="2000" b="1" i="0" dirty="0">
                <a:solidFill>
                  <a:srgbClr val="FFFFFF"/>
                </a:solidFill>
              </a:rPr>
              <a:t>.</a:t>
            </a:r>
            <a:endParaRPr lang="en-US" sz="2000" b="1" i="0" dirty="0">
              <a:solidFill>
                <a:srgbClr val="FFFFFF"/>
              </a:solidFill>
            </a:endParaRPr>
          </a:p>
          <a:p>
            <a:pPr algn="ctr"/>
            <a:r>
              <a:rPr sz="2000" b="1" i="0" dirty="0">
                <a:solidFill>
                  <a:srgbClr val="FFFFFF"/>
                </a:solidFill>
              </a:rPr>
              <a:t>Otherwise: </a:t>
            </a:r>
            <a:r>
              <a:rPr lang="en-US" sz="2000" b="1" i="0" dirty="0">
                <a:solidFill>
                  <a:srgbClr val="FFFFFF"/>
                </a:solidFill>
              </a:rPr>
              <a:t>Demand </a:t>
            </a:r>
            <a:r>
              <a:rPr lang="en-US" sz="2000" b="1" dirty="0" err="1">
                <a:solidFill>
                  <a:srgbClr val="FFFFFF"/>
                </a:solidFill>
              </a:rPr>
              <a:t>Evidence+Evaluation</a:t>
            </a:r>
            <a:endParaRPr sz="2000" b="1" i="0" dirty="0">
              <a:solidFill>
                <a:srgbClr val="FFFFFF"/>
              </a:solidFill>
            </a:endParaRPr>
          </a:p>
        </p:txBody>
      </p:sp>
      <p:pic>
        <p:nvPicPr>
          <p:cNvPr id="9" name="Fig-3-3-1-constraint-vs-sensor" descr="constraint-vs-sensor-deck.png"/>
          <p:cNvPicPr>
            <a:picLocks noChangeAspect="1"/>
          </p:cNvPicPr>
          <p:nvPr/>
        </p:nvPicPr>
        <p:blipFill>
          <a:blip r:embed="rId3"/>
          <a:stretch>
            <a:fillRect/>
          </a:stretch>
        </p:blipFill>
        <p:spPr>
          <a:xfrm>
            <a:off x="731520" y="1051559"/>
            <a:ext cx="7680960" cy="429535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Four roles in a control system</a:t>
            </a:r>
          </a:p>
        </p:txBody>
      </p:sp>
      <p:sp>
        <p:nvSpPr>
          <p:cNvPr id="4" name="Slide Number Placeholder 5"/>
          <p:cNvSpPr>
            <a:spLocks noGrp="1"/>
          </p:cNvSpPr>
          <p:nvPr>
            <p:ph type="sldNum" sz="quarter" idx="4"/>
          </p:nvPr>
        </p:nvSpPr>
        <p:spPr/>
        <p:txBody>
          <a:bodyPr/>
          <a:lstStyle/>
          <a:p>
            <a:fld id="{B7EB45DA-9A0D-DC49-8E02-F30A5DDC21C3}" type="slidenum">
              <a:rPr lang="en-US" smtClean="0"/>
              <a:t>16</a:t>
            </a:fld>
            <a:endParaRPr lang="en-US"/>
          </a:p>
        </p:txBody>
      </p:sp>
      <p:sp>
        <p:nvSpPr>
          <p:cNvPr id="2" name="Pipe-WORK"/>
          <p:cNvSpPr/>
          <p:nvPr/>
        </p:nvSpPr>
        <p:spPr>
          <a:xfrm>
            <a:off x="274320" y="270000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WORK</a:t>
            </a:r>
          </a:p>
        </p:txBody>
      </p:sp>
      <p:sp>
        <p:nvSpPr>
          <p:cNvPr id="5" name="Pipe-SENSOR"/>
          <p:cNvSpPr/>
          <p:nvPr/>
        </p:nvSpPr>
        <p:spPr>
          <a:xfrm>
            <a:off x="204816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6" name="Pipe-VALIDATOR"/>
          <p:cNvSpPr/>
          <p:nvPr/>
        </p:nvSpPr>
        <p:spPr>
          <a:xfrm>
            <a:off x="382200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7" name="Pipe-GATE"/>
          <p:cNvSpPr/>
          <p:nvPr/>
        </p:nvSpPr>
        <p:spPr>
          <a:xfrm>
            <a:off x="5595840" y="270000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GATE</a:t>
            </a:r>
          </a:p>
        </p:txBody>
      </p:sp>
      <p:sp>
        <p:nvSpPr>
          <p:cNvPr id="8" name="Pipe-MERGE-DEPLOY"/>
          <p:cNvSpPr/>
          <p:nvPr/>
        </p:nvSpPr>
        <p:spPr>
          <a:xfrm>
            <a:off x="7287768" y="2560320"/>
            <a:ext cx="1719072" cy="914400"/>
          </a:xfrm>
          <a:prstGeom prst="rect">
            <a:avLst/>
          </a:prstGeom>
          <a:solidFill>
            <a:srgbClr val="F5F1E8"/>
          </a:solidFill>
          <a:ln w="12700">
            <a:solidFill>
              <a:srgbClr val="C9B991"/>
            </a:solidFill>
          </a:ln>
          <a:effectLst/>
        </p:spPr>
        <p:txBody>
          <a:bodyPr wrap="square" lIns="12700" tIns="22860" rIns="12700" bIns="22860" rtlCol="0" anchor="ctr"/>
          <a:lstStyle/>
          <a:p>
            <a:pPr algn="ctr">
              <a:buNone/>
            </a:pPr>
            <a:r>
              <a:rPr lang="en-US" sz="2000" b="1" i="0" dirty="0">
                <a:solidFill>
                  <a:srgbClr val="5C4826"/>
                </a:solidFill>
              </a:rPr>
              <a:t>CONSEQUENCE</a:t>
            </a:r>
          </a:p>
          <a:p>
            <a:pPr algn="ctr">
              <a:buNone/>
            </a:pPr>
            <a:r>
              <a:rPr lang="en-US" sz="2000" b="0" i="0" dirty="0">
                <a:solidFill>
                  <a:srgbClr val="5C4826"/>
                </a:solidFill>
              </a:rPr>
              <a:t>merge · deploy</a:t>
            </a:r>
          </a:p>
        </p:txBody>
      </p:sp>
      <p:cxnSp>
        <p:nvCxnSpPr>
          <p:cNvPr id="9" name="PipeArrow0"/>
          <p:cNvCxnSpPr/>
          <p:nvPr/>
        </p:nvCxnSpPr>
        <p:spPr>
          <a:xfrm>
            <a:off x="1774320" y="3020040"/>
            <a:ext cx="273840" cy="0"/>
          </a:xfrm>
          <a:prstGeom prst="straightConnector1">
            <a:avLst/>
          </a:prstGeom>
          <a:ln w="19050">
            <a:solidFill>
              <a:srgbClr val="8E6F3E"/>
            </a:solidFill>
            <a:tailEnd type="triangle"/>
          </a:ln>
        </p:spPr>
      </p:cxnSp>
      <p:cxnSp>
        <p:nvCxnSpPr>
          <p:cNvPr id="10" name="PipeArrow1"/>
          <p:cNvCxnSpPr/>
          <p:nvPr/>
        </p:nvCxnSpPr>
        <p:spPr>
          <a:xfrm>
            <a:off x="3548160" y="3020040"/>
            <a:ext cx="273840" cy="0"/>
          </a:xfrm>
          <a:prstGeom prst="straightConnector1">
            <a:avLst/>
          </a:prstGeom>
          <a:ln w="19050">
            <a:solidFill>
              <a:srgbClr val="8E6F3E"/>
            </a:solidFill>
            <a:tailEnd type="triangle"/>
          </a:ln>
        </p:spPr>
      </p:cxnSp>
      <p:cxnSp>
        <p:nvCxnSpPr>
          <p:cNvPr id="11" name="PipeArrow2"/>
          <p:cNvCxnSpPr/>
          <p:nvPr/>
        </p:nvCxnSpPr>
        <p:spPr>
          <a:xfrm>
            <a:off x="5322000" y="3020040"/>
            <a:ext cx="273840" cy="0"/>
          </a:xfrm>
          <a:prstGeom prst="straightConnector1">
            <a:avLst/>
          </a:prstGeom>
          <a:ln w="19050">
            <a:solidFill>
              <a:srgbClr val="8E6F3E"/>
            </a:solidFill>
            <a:tailEnd type="triangle"/>
          </a:ln>
        </p:spPr>
      </p:cxnSp>
      <p:cxnSp>
        <p:nvCxnSpPr>
          <p:cNvPr id="12" name="PipeArrow3"/>
          <p:cNvCxnSpPr>
            <a:cxnSpLocks/>
            <a:stCxn id="7" idx="3"/>
            <a:endCxn id="8" idx="1"/>
          </p:cNvCxnSpPr>
          <p:nvPr/>
        </p:nvCxnSpPr>
        <p:spPr>
          <a:xfrm flipV="1">
            <a:off x="7095840" y="3017520"/>
            <a:ext cx="191928" cy="2520"/>
          </a:xfrm>
          <a:prstGeom prst="straightConnector1">
            <a:avLst/>
          </a:prstGeom>
          <a:ln w="19050">
            <a:solidFill>
              <a:srgbClr val="8E6F3E"/>
            </a:solidFill>
            <a:tailEnd type="triangle"/>
          </a:ln>
        </p:spPr>
      </p:cxnSp>
      <p:sp>
        <p:nvSpPr>
          <p:cNvPr id="13" name="Pipe-evidence"/>
          <p:cNvSpPr/>
          <p:nvPr/>
        </p:nvSpPr>
        <p:spPr>
          <a:xfrm>
            <a:off x="313668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evidence</a:t>
            </a:r>
          </a:p>
        </p:txBody>
      </p:sp>
      <p:sp>
        <p:nvSpPr>
          <p:cNvPr id="14" name="Pipe-verdict"/>
          <p:cNvSpPr/>
          <p:nvPr/>
        </p:nvSpPr>
        <p:spPr>
          <a:xfrm>
            <a:off x="491052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verdict</a:t>
            </a:r>
          </a:p>
        </p:txBody>
      </p:sp>
      <p:sp>
        <p:nvSpPr>
          <p:cNvPr id="15" name="Pipe-obligation"/>
          <p:cNvSpPr/>
          <p:nvPr/>
        </p:nvSpPr>
        <p:spPr>
          <a:xfrm>
            <a:off x="3822191" y="1325880"/>
            <a:ext cx="1500000" cy="457200"/>
          </a:xfrm>
          <a:prstGeom prst="rect">
            <a:avLst/>
          </a:prstGeom>
          <a:noFill/>
          <a:ln>
            <a:noFill/>
          </a:ln>
          <a:effectLst/>
        </p:spPr>
        <p:txBody>
          <a:bodyPr wrap="square" lIns="27432" tIns="22860" rIns="27432" bIns="22860" rtlCol="0" anchor="ctr"/>
          <a:lstStyle/>
          <a:p>
            <a:pPr algn="ctr">
              <a:buNone/>
            </a:pPr>
            <a:r>
              <a:rPr lang="en-US" sz="2000" b="1" i="0" dirty="0">
                <a:solidFill>
                  <a:srgbClr val="5C4826"/>
                </a:solidFill>
              </a:rPr>
              <a:t>obligation</a:t>
            </a:r>
          </a:p>
        </p:txBody>
      </p:sp>
      <p:cxnSp>
        <p:nvCxnSpPr>
          <p:cNvPr id="16" name="PipeArrowObl"/>
          <p:cNvCxnSpPr/>
          <p:nvPr/>
        </p:nvCxnSpPr>
        <p:spPr>
          <a:xfrm>
            <a:off x="4572000" y="1783080"/>
            <a:ext cx="0" cy="914400"/>
          </a:xfrm>
          <a:prstGeom prst="straightConnector1">
            <a:avLst/>
          </a:prstGeom>
          <a:ln w="19050">
            <a:solidFill>
              <a:srgbClr val="8E6F3E"/>
            </a:solidFill>
            <a:tailEnd type="triangle"/>
          </a:ln>
        </p:spPr>
      </p:cxnSp>
      <p:sp>
        <p:nvSpPr>
          <p:cNvPr id="17" name="Pipe-CONSTRAINT"/>
          <p:cNvSpPr/>
          <p:nvPr/>
        </p:nvSpPr>
        <p:spPr>
          <a:xfrm>
            <a:off x="274320" y="4206240"/>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CONSTRAINT</a:t>
            </a:r>
          </a:p>
        </p:txBody>
      </p:sp>
      <p:cxnSp>
        <p:nvCxnSpPr>
          <p:cNvPr id="18" name="PipeArrowCon"/>
          <p:cNvCxnSpPr/>
          <p:nvPr/>
        </p:nvCxnSpPr>
        <p:spPr>
          <a:xfrm flipV="1">
            <a:off x="1024320" y="3340080"/>
            <a:ext cx="0" cy="866160"/>
          </a:xfrm>
          <a:prstGeom prst="straightConnector1">
            <a:avLst/>
          </a:prstGeom>
          <a:ln w="19050">
            <a:solidFill>
              <a:srgbClr val="8E6F3E"/>
            </a:solidFill>
            <a:tailEnd type="triangle"/>
          </a:ln>
        </p:spPr>
      </p:cxnSp>
      <p:sp>
        <p:nvSpPr>
          <p:cNvPr id="903" name="Pipe-admits"/>
          <p:cNvSpPr/>
          <p:nvPr/>
        </p:nvSpPr>
        <p:spPr>
          <a:xfrm>
            <a:off x="6684360" y="2151360"/>
            <a:ext cx="1096800" cy="457200"/>
          </a:xfrm>
          <a:prstGeom prst="rect">
            <a:avLst/>
          </a:prstGeom>
          <a:noFill/>
          <a:ln>
            <a:noFill/>
          </a:ln>
          <a:effectLst/>
        </p:spPr>
        <p:txBody>
          <a:bodyPr wrap="square" lIns="27432" tIns="22860" rIns="27432" bIns="22860" rtlCol="0" anchor="ctr"/>
          <a:lstStyle/>
          <a:p>
            <a:pPr algn="ctr">
              <a:buNone/>
            </a:pPr>
            <a:r>
              <a:rPr lang="en-US" sz="2000" b="0" i="0" dirty="0">
                <a:solidFill>
                  <a:srgbClr val="5C4826"/>
                </a:solidFill>
              </a:rPr>
              <a:t>admits</a:t>
            </a:r>
          </a:p>
        </p:txBody>
      </p:sp>
      <p:sp>
        <p:nvSpPr>
          <p:cNvPr id="904" name="TextBox 5"/>
          <p:cNvSpPr txBox="1"/>
          <p:nvPr/>
        </p:nvSpPr>
        <p:spPr>
          <a:xfrm>
            <a:off x="1911095" y="3474720"/>
            <a:ext cx="1773936" cy="1463040"/>
          </a:xfrm>
          <a:prstGeom prst="rect">
            <a:avLst/>
          </a:prstGeom>
          <a:noFill/>
        </p:spPr>
        <p:txBody>
          <a:bodyPr wrap="square" anchor="ctr">
            <a:spAutoFit/>
          </a:bodyPr>
          <a:lstStyle/>
          <a:p>
            <a:pPr algn="ctr"/>
            <a:r>
              <a:rPr sz="2000" b="0">
                <a:solidFill>
                  <a:srgbClr val="555960"/>
                </a:solidFill>
              </a:rPr>
              <a:t>observes what happened and produces evidence</a:t>
            </a:r>
          </a:p>
        </p:txBody>
      </p:sp>
      <p:sp>
        <p:nvSpPr>
          <p:cNvPr id="905" name="TextBox 5"/>
          <p:cNvSpPr txBox="1"/>
          <p:nvPr/>
        </p:nvSpPr>
        <p:spPr>
          <a:xfrm>
            <a:off x="3685032" y="3474720"/>
            <a:ext cx="1773936" cy="1463040"/>
          </a:xfrm>
          <a:prstGeom prst="rect">
            <a:avLst/>
          </a:prstGeom>
          <a:noFill/>
        </p:spPr>
        <p:txBody>
          <a:bodyPr wrap="square" anchor="ctr">
            <a:spAutoFit/>
          </a:bodyPr>
          <a:lstStyle/>
          <a:p>
            <a:pPr algn="ctr"/>
            <a:r>
              <a:rPr sz="2000" b="0">
                <a:solidFill>
                  <a:srgbClr val="555960"/>
                </a:solidFill>
              </a:rPr>
              <a:t>evaluates evidence against an obligation</a:t>
            </a:r>
          </a:p>
        </p:txBody>
      </p:sp>
      <p:sp>
        <p:nvSpPr>
          <p:cNvPr id="906" name="TextBox 5"/>
          <p:cNvSpPr txBox="1"/>
          <p:nvPr/>
        </p:nvSpPr>
        <p:spPr>
          <a:xfrm>
            <a:off x="5458968" y="3474720"/>
            <a:ext cx="1773936" cy="1463040"/>
          </a:xfrm>
          <a:prstGeom prst="rect">
            <a:avLst/>
          </a:prstGeom>
          <a:noFill/>
        </p:spPr>
        <p:txBody>
          <a:bodyPr wrap="square" anchor="ctr">
            <a:spAutoFit/>
          </a:bodyPr>
          <a:lstStyle/>
          <a:p>
            <a:pPr algn="ctr"/>
            <a:r>
              <a:rPr sz="2000" b="0" dirty="0">
                <a:solidFill>
                  <a:srgbClr val="555960"/>
                </a:solidFill>
              </a:rPr>
              <a:t>controls whether work crosses a boundary</a:t>
            </a:r>
          </a:p>
        </p:txBody>
      </p:sp>
      <p:sp>
        <p:nvSpPr>
          <p:cNvPr id="907" name="TextBox 5"/>
          <p:cNvSpPr txBox="1"/>
          <p:nvPr/>
        </p:nvSpPr>
        <p:spPr>
          <a:xfrm>
            <a:off x="45720" y="4919472"/>
            <a:ext cx="1956816" cy="731520"/>
          </a:xfrm>
          <a:prstGeom prst="rect">
            <a:avLst/>
          </a:prstGeom>
          <a:noFill/>
        </p:spPr>
        <p:txBody>
          <a:bodyPr wrap="square" anchor="ctr">
            <a:spAutoFit/>
          </a:bodyPr>
          <a:lstStyle/>
          <a:p>
            <a:pPr algn="ctr"/>
            <a:r>
              <a:rPr sz="2000" b="0">
                <a:solidFill>
                  <a:srgbClr val="555960"/>
                </a:solidFill>
              </a:rPr>
              <a:t>narrows what may happen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Alignment gives validation judgments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17</a:t>
            </a:fld>
            <a:endParaRPr lang="en-US"/>
          </a:p>
        </p:txBody>
      </p:sp>
      <p:sp>
        <p:nvSpPr>
          <p:cNvPr id="5" name="TextBox 4"/>
          <p:cNvSpPr txBox="1"/>
          <p:nvPr/>
        </p:nvSpPr>
        <p:spPr>
          <a:xfrm>
            <a:off x="137160" y="1572768"/>
            <a:ext cx="1417320" cy="640080"/>
          </a:xfrm>
          <a:prstGeom prst="rect">
            <a:avLst/>
          </a:prstGeom>
          <a:noFill/>
        </p:spPr>
        <p:txBody>
          <a:bodyPr wrap="square" rIns="0"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71907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417320" cy="640080"/>
          </a:xfrm>
          <a:prstGeom prst="rect">
            <a:avLst/>
          </a:prstGeom>
          <a:noFill/>
        </p:spPr>
        <p:txBody>
          <a:bodyPr wrap="square" rIns="0"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71907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evidence supports a judgment.</a:t>
            </a:r>
          </a:p>
          <a:p>
            <a:pPr algn="ctr"/>
            <a:r>
              <a:rPr sz="2000" b="0" i="1">
                <a:solidFill>
                  <a:srgbClr val="555960"/>
                </a:solidFill>
              </a:rPr>
              <a:t>Alignment asks what that judgment controls.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19</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0" tIns="22860" rIns="0" bIns="22860" rtlCol="0" anchor="ctr"/>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Check at the earliest boundary where the obligation can be decided.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20</a:t>
            </a:fld>
            <a:endParaRPr lang="en-US"/>
          </a:p>
        </p:txBody>
      </p:sp>
      <p:sp>
        <p:nvSpPr>
          <p:cNvPr id="10" name="SemanticGapTakeaway"/>
          <p:cNvSpPr txBox="1"/>
          <p:nvPr/>
        </p:nvSpPr>
        <p:spPr>
          <a:xfrm>
            <a:off x="274320" y="5029200"/>
            <a:ext cx="8595360" cy="640080"/>
          </a:xfrm>
          <a:prstGeom prst="rect">
            <a:avLst/>
          </a:prstGeom>
          <a:noFill/>
        </p:spPr>
        <p:txBody>
          <a:bodyPr wrap="square" lIns="27432" tIns="22860" rIns="27432" bIns="22860" anchor="t">
            <a:spAutoFit/>
          </a:bodyPr>
          <a:lstStyle/>
          <a:p>
            <a:pPr algn="ctr"/>
            <a:r>
              <a:rPr sz="2000" b="0" i="0">
                <a:solidFill>
                  <a:srgbClr val="5C4826"/>
                </a:solidFill>
              </a:rPr>
              <a:t>The obligation is right. The earlier boundary cannot decide it yet.</a:t>
            </a:r>
          </a:p>
        </p:txBody>
      </p:sp>
      <p:sp>
        <p:nvSpPr>
          <p:cNvPr id="19" name="SG-Unit"/>
          <p:cNvSpPr/>
          <p:nvPr/>
        </p:nvSpPr>
        <p:spPr>
          <a:xfrm>
            <a:off x="2103120" y="178308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COMPLETED UNIT OF WORK</a:t>
            </a:r>
          </a:p>
          <a:p>
            <a:pPr algn="ctr"/>
            <a:r>
              <a:rPr sz="2000" b="0" i="1">
                <a:solidFill>
                  <a:srgbClr val="FBF8F2"/>
                </a:solidFill>
              </a:rPr>
              <a:t>✓  obligation decidable here</a:t>
            </a:r>
          </a:p>
        </p:txBody>
      </p:sp>
      <p:cxnSp>
        <p:nvCxnSpPr>
          <p:cNvPr id="20" name="SG-Lift"/>
          <p:cNvCxnSpPr/>
          <p:nvPr/>
        </p:nvCxnSpPr>
        <p:spPr>
          <a:xfrm flipV="1">
            <a:off x="4572000" y="2788920"/>
            <a:ext cx="0" cy="8686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657600"/>
            <a:ext cx="8595360" cy="457200"/>
          </a:xfrm>
          <a:prstGeom prst="rect">
            <a:avLst/>
          </a:prstGeom>
          <a:noFill/>
        </p:spPr>
        <p:txBody>
          <a:bodyPr wrap="square" lIns="27432" tIns="22860" rIns="27432" bIns="22860" anchor="t">
            <a:spAutoFit/>
          </a:bodyPr>
          <a:lstStyle/>
          <a:p>
            <a:pPr algn="ctr"/>
            <a:r>
              <a:rPr sz="2000" b="0" i="1">
                <a:solidFill>
                  <a:srgbClr val="8E6F3E"/>
                </a:solidFill>
              </a:rPr>
              <a:t>✗  not decidable at any individual commit</a:t>
            </a:r>
          </a:p>
        </p:txBody>
      </p:sp>
      <p:sp>
        <p:nvSpPr>
          <p:cNvPr id="22" name="SG-Commit1"/>
          <p:cNvSpPr/>
          <p:nvPr/>
        </p:nvSpPr>
        <p:spPr>
          <a:xfrm>
            <a:off x="1828800"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3" name="SG-Commit2"/>
          <p:cNvSpPr/>
          <p:nvPr/>
        </p:nvSpPr>
        <p:spPr>
          <a:xfrm>
            <a:off x="3264408"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4" name="SG-Commit3"/>
          <p:cNvSpPr/>
          <p:nvPr/>
        </p:nvSpPr>
        <p:spPr>
          <a:xfrm>
            <a:off x="4700016"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sp>
        <p:nvSpPr>
          <p:cNvPr id="25" name="SG-Commit4"/>
          <p:cNvSpPr/>
          <p:nvPr/>
        </p:nvSpPr>
        <p:spPr>
          <a:xfrm>
            <a:off x="6135624" y="4206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commit</a:t>
            </a:r>
          </a:p>
        </p:txBody>
      </p:sp>
      <p:cxnSp>
        <p:nvCxnSpPr>
          <p:cNvPr id="26" name="SG-Arrow1"/>
          <p:cNvCxnSpPr/>
          <p:nvPr/>
        </p:nvCxnSpPr>
        <p:spPr>
          <a:xfrm>
            <a:off x="3026664"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4489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1" name="Rectangle 4"/>
          <p:cNvSpPr/>
          <p:nvPr/>
        </p:nvSpPr>
        <p:spPr>
          <a:xfrm>
            <a:off x="274320" y="896112"/>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ctr"/>
          <a:lstStyle/>
          <a:p>
            <a:pPr algn="l"/>
            <a:r>
              <a:rPr sz="2000" b="1" i="0">
                <a:solidFill>
                  <a:srgbClr val="8E6F3E"/>
                </a:solidFill>
              </a:rPr>
              <a:t>OBLIGATION  </a:t>
            </a:r>
            <a:r>
              <a:rPr sz="2000" b="0" i="0">
                <a:solidFill>
                  <a:srgbClr val="5C4826"/>
                </a:solidFill>
              </a:rPr>
              <a:t>Code and architectural model must agree when the task completes.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21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Recall Modeling </a:t>
            </a:r>
            <a:r>
              <a:rPr lang="en-US" sz="2400" dirty="0">
                <a:solidFill>
                  <a:srgbClr val="000000"/>
                </a:solidFill>
              </a:rPr>
              <a:t>L</a:t>
            </a:r>
            <a:r>
              <a:rPr lang="en-US" sz="2400" b="0" dirty="0">
                <a:solidFill>
                  <a:srgbClr val="000000"/>
                </a:solidFill>
              </a:rPr>
              <a:t>ab, Activity 1</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23</a:t>
            </a:fld>
            <a:endParaRPr lang="en-US"/>
          </a:p>
        </p:txBody>
      </p:sp>
      <p:sp>
        <p:nvSpPr>
          <p:cNvPr id="5" name="Card-memory"/>
          <p:cNvSpPr/>
          <p:nvPr/>
        </p:nvSpPr>
        <p:spPr>
          <a:xfrm>
            <a:off x="27432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6" name="Card-control"/>
          <p:cNvSpPr/>
          <p:nvPr/>
        </p:nvSpPr>
        <p:spPr>
          <a:xfrm>
            <a:off x="4663440" y="1051560"/>
            <a:ext cx="4206239" cy="306324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9" name="PayoffBand"/>
          <p:cNvSpPr/>
          <p:nvPr/>
        </p:nvSpPr>
        <p:spPr>
          <a:xfrm>
            <a:off x="274320" y="4206240"/>
            <a:ext cx="8595360" cy="6553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A model becomes a validation surface when a realization can be checked against what the model makes explicit.</a:t>
            </a:r>
          </a:p>
        </p:txBody>
      </p:sp>
      <p:sp>
        <p:nvSpPr>
          <p:cNvPr id="7"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DISCUSS  ·  How can we use these models in validation?</a:t>
            </a:r>
          </a:p>
        </p:txBody>
      </p:sp>
      <p:sp>
        <p:nvSpPr>
          <p:cNvPr id="8" name="TPSbadge">
            <a:extLst>
              <a:ext uri="{FF2B5EF4-FFF2-40B4-BE49-F238E27FC236}">
                <a16:creationId xmlns:a16="http://schemas.microsoft.com/office/drawing/2014/main" id="{A9081514-6DCF-3545-C354-5B7DE00E9A43}"/>
              </a:ext>
            </a:extLst>
          </p:cNvPr>
          <p:cNvSpPr/>
          <p:nvPr/>
        </p:nvSpPr>
        <p:spPr>
          <a:xfrm>
            <a:off x="3063240" y="5013058"/>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Models give us something to check against</a:t>
            </a:r>
          </a:p>
        </p:txBody>
      </p:sp>
      <p:sp>
        <p:nvSpPr>
          <p:cNvPr id="4" name="Slide Number Placeholder 5"/>
          <p:cNvSpPr>
            <a:spLocks noGrp="1"/>
          </p:cNvSpPr>
          <p:nvPr>
            <p:ph type="sldNum" sz="quarter" idx="4"/>
          </p:nvPr>
        </p:nvSpPr>
        <p:spPr/>
        <p:txBody>
          <a:bodyPr/>
          <a:lstStyle/>
          <a:p>
            <a:fld id="{B7EB45DA-9A0D-DC49-8E02-F30A5DDC21C3}" type="slidenum">
              <a:rPr lang="en-US" smtClean="0"/>
              <a:t>24</a:t>
            </a:fld>
            <a:endParaRPr lang="en-US"/>
          </a:p>
        </p:txBody>
      </p:sp>
      <p:sp>
        <p:nvSpPr>
          <p:cNvPr id="2" name="Mr-MODEL"/>
          <p:cNvSpPr/>
          <p:nvPr/>
        </p:nvSpPr>
        <p:spPr>
          <a:xfrm>
            <a:off x="50292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Mr-REALIZATION"/>
          <p:cNvSpPr/>
          <p:nvPr/>
        </p:nvSpPr>
        <p:spPr>
          <a:xfrm>
            <a:off x="5440680" y="1005840"/>
            <a:ext cx="32004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Mr-ModelCap"/>
          <p:cNvSpPr/>
          <p:nvPr/>
        </p:nvSpPr>
        <p:spPr>
          <a:xfrm>
            <a:off x="50292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should be true</a:t>
            </a:r>
          </a:p>
          <a:p>
            <a:pPr algn="ctr">
              <a:spcBef>
                <a:spcPts val="600"/>
              </a:spcBef>
              <a:buNone/>
            </a:pPr>
            <a:r>
              <a:rPr lang="en-US" sz="2000" b="0" i="0" dirty="0">
                <a:solidFill>
                  <a:srgbClr val="5C4826"/>
                </a:solidFill>
              </a:rPr>
              <a:t>lifecycle · memory bounds · admission rule</a:t>
            </a:r>
          </a:p>
        </p:txBody>
      </p:sp>
      <p:sp>
        <p:nvSpPr>
          <p:cNvPr id="7" name="Mr-RealCap"/>
          <p:cNvSpPr/>
          <p:nvPr/>
        </p:nvSpPr>
        <p:spPr>
          <a:xfrm>
            <a:off x="5440680" y="1737360"/>
            <a:ext cx="3200400" cy="105156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1" dirty="0">
                <a:solidFill>
                  <a:srgbClr val="5C4826"/>
                </a:solidFill>
              </a:rPr>
              <a:t>what was actually built</a:t>
            </a:r>
          </a:p>
          <a:p>
            <a:pPr algn="ctr">
              <a:spcBef>
                <a:spcPts val="600"/>
              </a:spcBef>
              <a:buNone/>
            </a:pPr>
            <a:r>
              <a:rPr lang="en-US" sz="2000" b="0" i="0" dirty="0">
                <a:solidFill>
                  <a:srgbClr val="5C4826"/>
                </a:solidFill>
              </a:rPr>
              <a:t>source code · configuration · execution</a:t>
            </a:r>
          </a:p>
        </p:txBody>
      </p:sp>
      <p:cxnSp>
        <p:nvCxnSpPr>
          <p:cNvPr id="8" name="Mr-A1"/>
          <p:cNvCxnSpPr/>
          <p:nvPr/>
        </p:nvCxnSpPr>
        <p:spPr>
          <a:xfrm>
            <a:off x="2103120" y="2788920"/>
            <a:ext cx="0" cy="301752"/>
          </a:xfrm>
          <a:prstGeom prst="straightConnector1">
            <a:avLst/>
          </a:prstGeom>
          <a:ln w="19050">
            <a:solidFill>
              <a:srgbClr val="8E6F3E"/>
            </a:solidFill>
            <a:tailEnd type="triangle"/>
          </a:ln>
        </p:spPr>
      </p:cxnSp>
      <p:cxnSp>
        <p:nvCxnSpPr>
          <p:cNvPr id="9" name="Mr-A2"/>
          <p:cNvCxnSpPr/>
          <p:nvPr/>
        </p:nvCxnSpPr>
        <p:spPr>
          <a:xfrm>
            <a:off x="7040880" y="2788920"/>
            <a:ext cx="0" cy="301752"/>
          </a:xfrm>
          <a:prstGeom prst="straightConnector1">
            <a:avLst/>
          </a:prstGeom>
          <a:ln w="19050">
            <a:solidFill>
              <a:srgbClr val="8E6F3E"/>
            </a:solidFill>
            <a:tailEnd type="triangle"/>
          </a:ln>
        </p:spPr>
      </p:cxnSp>
      <p:sp>
        <p:nvSpPr>
          <p:cNvPr id="10" name="Mr-CHECK"/>
          <p:cNvSpPr/>
          <p:nvPr/>
        </p:nvSpPr>
        <p:spPr>
          <a:xfrm>
            <a:off x="1371600" y="3090672"/>
            <a:ext cx="6400800" cy="8686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CHECK</a:t>
            </a:r>
          </a:p>
          <a:p>
            <a:pPr algn="ctr">
              <a:spcBef>
                <a:spcPts val="600"/>
              </a:spcBef>
              <a:buNone/>
            </a:pPr>
            <a:r>
              <a:rPr lang="en-US" sz="2000" b="0" i="0" dirty="0">
                <a:solidFill>
                  <a:srgbClr val="5C4826"/>
                </a:solidFill>
              </a:rPr>
              <a:t>Does the realization correspond where the model matters?</a:t>
            </a:r>
          </a:p>
        </p:txBody>
      </p:sp>
      <p:cxnSp>
        <p:nvCxnSpPr>
          <p:cNvPr id="11" name="Mr-A3"/>
          <p:cNvCxnSpPr/>
          <p:nvPr/>
        </p:nvCxnSpPr>
        <p:spPr>
          <a:xfrm>
            <a:off x="4572000" y="3959352"/>
            <a:ext cx="0" cy="301752"/>
          </a:xfrm>
          <a:prstGeom prst="straightConnector1">
            <a:avLst/>
          </a:prstGeom>
          <a:ln w="19050">
            <a:solidFill>
              <a:srgbClr val="8E6F3E"/>
            </a:solidFill>
            <a:tailEnd type="triangle"/>
          </a:ln>
        </p:spPr>
      </p:cxnSp>
      <p:sp>
        <p:nvSpPr>
          <p:cNvPr id="12" name="Mr-VERDICT"/>
          <p:cNvSpPr/>
          <p:nvPr/>
        </p:nvSpPr>
        <p:spPr>
          <a:xfrm>
            <a:off x="3657600" y="4261104"/>
            <a:ext cx="18288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The model makes expected structure or behavior explicit so the realization can be checked against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Models support dynamic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Dy-MODEL"/>
          <p:cNvSpPr/>
          <p:nvPr/>
        </p:nvSpPr>
        <p:spPr>
          <a:xfrm>
            <a:off x="2697480" y="3831336"/>
            <a:ext cx="2203704" cy="73152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 — expected behavior</a:t>
            </a:r>
          </a:p>
        </p:txBody>
      </p:sp>
      <p:cxnSp>
        <p:nvCxnSpPr>
          <p:cNvPr id="5" name="Dy-AM"/>
          <p:cNvCxnSpPr/>
          <p:nvPr/>
        </p:nvCxnSpPr>
        <p:spPr>
          <a:xfrm flipH="1">
            <a:off x="2240280" y="4197096"/>
            <a:ext cx="402336" cy="0"/>
          </a:xfrm>
          <a:prstGeom prst="straightConnector1">
            <a:avLst/>
          </a:prstGeom>
          <a:ln w="19050">
            <a:solidFill>
              <a:srgbClr val="8E6F3E"/>
            </a:solidFill>
            <a:tailEnd type="triangle"/>
          </a:ln>
        </p:spPr>
      </p:cxnSp>
      <p:sp>
        <p:nvSpPr>
          <p:cNvPr id="6" name="Dy-EXECUTION"/>
          <p:cNvSpPr/>
          <p:nvPr/>
        </p:nvSpPr>
        <p:spPr>
          <a:xfrm>
            <a:off x="685800" y="1051560"/>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EXECUTION</a:t>
            </a:r>
          </a:p>
        </p:txBody>
      </p:sp>
      <p:sp>
        <p:nvSpPr>
          <p:cNvPr id="7" name="Dy-SENSOR"/>
          <p:cNvSpPr/>
          <p:nvPr/>
        </p:nvSpPr>
        <p:spPr>
          <a:xfrm>
            <a:off x="685800" y="1993392"/>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SENSOR</a:t>
            </a:r>
          </a:p>
        </p:txBody>
      </p:sp>
      <p:sp>
        <p:nvSpPr>
          <p:cNvPr id="8" name="Dy-TRACE"/>
          <p:cNvSpPr/>
          <p:nvPr/>
        </p:nvSpPr>
        <p:spPr>
          <a:xfrm>
            <a:off x="685800" y="2935224"/>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TRACE</a:t>
            </a:r>
          </a:p>
        </p:txBody>
      </p:sp>
      <p:sp>
        <p:nvSpPr>
          <p:cNvPr id="9" name="Dy-VALIDATOR"/>
          <p:cNvSpPr/>
          <p:nvPr/>
        </p:nvSpPr>
        <p:spPr>
          <a:xfrm>
            <a:off x="685800" y="3877056"/>
            <a:ext cx="1500000" cy="64008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VALIDATOR</a:t>
            </a:r>
          </a:p>
        </p:txBody>
      </p:sp>
      <p:sp>
        <p:nvSpPr>
          <p:cNvPr id="10" name="Dy-VERDICT"/>
          <p:cNvSpPr/>
          <p:nvPr/>
        </p:nvSpPr>
        <p:spPr>
          <a:xfrm>
            <a:off x="685800" y="4818888"/>
            <a:ext cx="1500000" cy="64008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VERDICT</a:t>
            </a:r>
          </a:p>
        </p:txBody>
      </p:sp>
      <p:cxnSp>
        <p:nvCxnSpPr>
          <p:cNvPr id="11" name="Dy-A0"/>
          <p:cNvCxnSpPr/>
          <p:nvPr/>
        </p:nvCxnSpPr>
        <p:spPr>
          <a:xfrm>
            <a:off x="1435608" y="1691639"/>
            <a:ext cx="0" cy="301752"/>
          </a:xfrm>
          <a:prstGeom prst="straightConnector1">
            <a:avLst/>
          </a:prstGeom>
          <a:ln w="19050">
            <a:solidFill>
              <a:srgbClr val="8E6F3E"/>
            </a:solidFill>
            <a:tailEnd type="triangle"/>
          </a:ln>
        </p:spPr>
      </p:cxnSp>
      <p:cxnSp>
        <p:nvCxnSpPr>
          <p:cNvPr id="12" name="Dy-A1"/>
          <p:cNvCxnSpPr/>
          <p:nvPr/>
        </p:nvCxnSpPr>
        <p:spPr>
          <a:xfrm>
            <a:off x="1435608" y="2633472"/>
            <a:ext cx="0" cy="301752"/>
          </a:xfrm>
          <a:prstGeom prst="straightConnector1">
            <a:avLst/>
          </a:prstGeom>
          <a:ln w="19050">
            <a:solidFill>
              <a:srgbClr val="8E6F3E"/>
            </a:solidFill>
            <a:tailEnd type="triangle"/>
          </a:ln>
        </p:spPr>
      </p:cxnSp>
      <p:cxnSp>
        <p:nvCxnSpPr>
          <p:cNvPr id="13" name="Dy-A2"/>
          <p:cNvCxnSpPr/>
          <p:nvPr/>
        </p:nvCxnSpPr>
        <p:spPr>
          <a:xfrm>
            <a:off x="1435608" y="3575304"/>
            <a:ext cx="0" cy="301752"/>
          </a:xfrm>
          <a:prstGeom prst="straightConnector1">
            <a:avLst/>
          </a:prstGeom>
          <a:ln w="19050">
            <a:solidFill>
              <a:srgbClr val="8E6F3E"/>
            </a:solidFill>
            <a:tailEnd type="triangle"/>
          </a:ln>
        </p:spPr>
      </p:cxnSp>
      <p:cxnSp>
        <p:nvCxnSpPr>
          <p:cNvPr id="14" name="Dy-A3"/>
          <p:cNvCxnSpPr/>
          <p:nvPr/>
        </p:nvCxnSpPr>
        <p:spPr>
          <a:xfrm>
            <a:off x="1435608" y="4517136"/>
            <a:ext cx="0" cy="301752"/>
          </a:xfrm>
          <a:prstGeom prst="straightConnector1">
            <a:avLst/>
          </a:prstGeom>
          <a:ln w="19050">
            <a:solidFill>
              <a:srgbClr val="8E6F3E"/>
            </a:solidFill>
            <a:tailEnd type="triangle"/>
          </a:ln>
        </p:spPr>
      </p:cxnSp>
      <p:sp>
        <p:nvSpPr>
          <p:cNvPr id="101" name="Cmp-static"/>
          <p:cNvSpPr/>
          <p:nvPr/>
        </p:nvSpPr>
        <p:spPr>
          <a:xfrm>
            <a:off x="5120640" y="1965960"/>
            <a:ext cx="3657600" cy="2560320"/>
          </a:xfrm>
          <a:prstGeom prst="rect">
            <a:avLst/>
          </a:prstGeom>
          <a:solidFill>
            <a:srgbClr val="F5F1E8"/>
          </a:solidFill>
          <a:ln w="12700">
            <a:solidFill>
              <a:srgbClr val="C9B991"/>
            </a:solidFill>
          </a:ln>
          <a:effectLst/>
        </p:spPr>
        <p:txBody>
          <a:bodyPr wrap="square" lIns="27432" tIns="22860" rIns="27432" bIns="22860" rtlCol="0" anchor="t"/>
          <a:lstStyle/>
          <a:p>
            <a:pPr algn="ctr"/>
            <a:r>
              <a:rPr sz="2000" b="1">
                <a:solidFill>
                  <a:srgbClr val="5C4826"/>
                </a:solidFill>
              </a:rPr>
              <a:t>STATIC</a:t>
            </a:r>
          </a:p>
          <a:p>
            <a:pPr algn="ctr"/>
            <a:r>
              <a:rPr sz="2000" b="0">
                <a:solidFill>
                  <a:srgbClr val="5C4826"/>
                </a:solidFill>
              </a:rPr>
              <a:t>verdict over the modeled space</a:t>
            </a:r>
          </a:p>
          <a:p>
            <a:pPr algn="ctr"/>
            <a:endParaRPr sz="2000" b="0">
              <a:solidFill>
                <a:srgbClr val="5C4826"/>
              </a:solidFill>
            </a:endParaRPr>
          </a:p>
          <a:p>
            <a:pPr algn="ctr"/>
            <a:r>
              <a:rPr sz="2000" b="1">
                <a:solidFill>
                  <a:srgbClr val="5C4826"/>
                </a:solidFill>
              </a:rPr>
              <a:t>DYNAMIC</a:t>
            </a:r>
          </a:p>
          <a:p>
            <a:pPr algn="ctr"/>
            <a:r>
              <a:rPr sz="2000" b="0">
                <a:solidFill>
                  <a:srgbClr val="5C4826"/>
                </a:solidFill>
              </a:rPr>
              <a:t>verdict over observed execution</a:t>
            </a:r>
          </a:p>
        </p:txBody>
      </p:sp>
      <p:sp>
        <p:nvSpPr>
          <p:cNvPr id="102" name="FooterBand"/>
          <p:cNvSpPr/>
          <p:nvPr/>
        </p:nvSpPr>
        <p:spPr>
          <a:xfrm>
            <a:off x="274320" y="5760720"/>
            <a:ext cx="8595360" cy="59436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Where should each verdict acquire authority?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26</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a:solidFill>
                  <a:srgbClr val="555960"/>
                </a:solidFill>
              </a:rPr>
              <a:t>captures?</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a:solidFill>
                  <a:srgbClr val="555960"/>
                </a:solidFill>
              </a:rPr>
              <a:t>satisfies?</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a:solidFill>
                  <a:srgbClr val="555960"/>
                </a:solidFill>
              </a:rPr>
              <a:t>corresponds?</a:t>
            </a:r>
          </a:p>
        </p:txBody>
      </p:sp>
      <p:sp>
        <p:nvSpPr>
          <p:cNvPr id="16" name="TextBox 15"/>
          <p:cNvSpPr txBox="1"/>
          <p:nvPr/>
        </p:nvSpPr>
        <p:spPr>
          <a:xfrm>
            <a:off x="274320" y="4572000"/>
            <a:ext cx="8595360" cy="1143000"/>
          </a:xfrm>
          <a:prstGeom prst="rect">
            <a:avLst/>
          </a:prstGeom>
          <a:noFill/>
        </p:spPr>
        <p:txBody>
          <a:bodyPr wrap="square" anchor="t">
            <a:spAutoFit/>
          </a:bodyPr>
          <a:lstStyle/>
          <a:p>
            <a:pPr algn="ctr"/>
            <a:r>
              <a:rPr sz="2000" b="0">
                <a:solidFill>
                  <a:srgbClr val="5C4826"/>
                </a:solidFill>
              </a:rPr>
              <a:t>model ↔ realization — </a:t>
            </a:r>
            <a:r>
              <a:rPr sz="2000" b="1">
                <a:solidFill>
                  <a:srgbClr val="8E6F3E"/>
                </a:solidFill>
              </a:rPr>
              <a:t>correspondence</a:t>
            </a:r>
          </a:p>
          <a:p>
            <a:pPr algn="ctr"/>
            <a:r>
              <a:rPr sz="2000" b="0">
                <a:solidFill>
                  <a:srgbClr val="5C4826"/>
                </a:solidFill>
              </a:rPr>
              <a:t>realization ↔ obligation — </a:t>
            </a:r>
            <a:r>
              <a:rPr sz="2000" b="1">
                <a:solidFill>
                  <a:srgbClr val="8E6F3E"/>
                </a:solidFill>
              </a:rPr>
              <a:t>conformance</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Correspondence is one edge, not the whole triangle.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F7EA4-4D48-89B1-A5E3-88E6BF3F4BB1}"/>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23E25E69-C0D2-60D9-A8E8-65BD0EB228A7}"/>
              </a:ext>
            </a:extLst>
          </p:cNvPr>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6</a:t>
            </a:r>
          </a:p>
        </p:txBody>
      </p:sp>
      <p:sp>
        <p:nvSpPr>
          <p:cNvPr id="2" name="Title 1">
            <a:extLst>
              <a:ext uri="{FF2B5EF4-FFF2-40B4-BE49-F238E27FC236}">
                <a16:creationId xmlns:a16="http://schemas.microsoft.com/office/drawing/2014/main" id="{3D18A01C-4C8B-458E-D305-B9C56F4AE264}"/>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Exercise</a:t>
            </a:r>
          </a:p>
        </p:txBody>
      </p:sp>
      <p:sp>
        <p:nvSpPr>
          <p:cNvPr id="3" name="Slide Number Placeholder 3">
            <a:extLst>
              <a:ext uri="{FF2B5EF4-FFF2-40B4-BE49-F238E27FC236}">
                <a16:creationId xmlns:a16="http://schemas.microsoft.com/office/drawing/2014/main" id="{E08891BE-4CA1-662C-3512-6F92D608BDBD}"/>
              </a:ext>
            </a:extLst>
          </p:cNvPr>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a:extLst>
              <a:ext uri="{FF2B5EF4-FFF2-40B4-BE49-F238E27FC236}">
                <a16:creationId xmlns:a16="http://schemas.microsoft.com/office/drawing/2014/main" id="{D27F6373-DA08-6975-4BBD-73BECC87F026}"/>
              </a:ext>
            </a:extLst>
          </p:cNvPr>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Design Alignment for the Lab-Activity-1 Models</a:t>
            </a:r>
          </a:p>
        </p:txBody>
      </p:sp>
      <p:sp>
        <p:nvSpPr>
          <p:cNvPr id="103" name="Rule">
            <a:extLst>
              <a:ext uri="{FF2B5EF4-FFF2-40B4-BE49-F238E27FC236}">
                <a16:creationId xmlns:a16="http://schemas.microsoft.com/office/drawing/2014/main" id="{74E5029F-67F9-234B-3FCC-9068D14732D2}"/>
              </a:ext>
            </a:extLst>
          </p:cNvPr>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15289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18288"/>
            <a:ext cx="8046720" cy="731520"/>
          </a:xfrm>
        </p:spPr>
        <p:txBody>
          <a:bodyPr wrap="square">
            <a:normAutofit fontScale="90000"/>
          </a:bodyPr>
          <a:lstStyle/>
          <a:p>
            <a:r>
              <a:rPr sz="2400" b="0" dirty="0">
                <a:solidFill>
                  <a:srgbClr val="000000"/>
                </a:solidFill>
              </a:rPr>
              <a:t>Back to the lab:</a:t>
            </a:r>
          </a:p>
          <a:p>
            <a:r>
              <a:rPr lang="en-US" sz="2400" dirty="0">
                <a:solidFill>
                  <a:srgbClr val="000000"/>
                </a:solidFill>
              </a:rPr>
              <a:t>D</a:t>
            </a:r>
            <a:r>
              <a:rPr sz="2400" b="0" dirty="0">
                <a:solidFill>
                  <a:srgbClr val="000000"/>
                </a:solidFill>
              </a:rPr>
              <a:t>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28</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sz="2000" b="1" i="0" dirty="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MODEL  →  CHECK  →  DECIDE  →  CONTROL</a:t>
            </a:r>
          </a:p>
        </p:txBody>
      </p:sp>
      <p:sp>
        <p:nvSpPr>
          <p:cNvPr id="13" name="Card-memory"/>
          <p:cNvSpPr/>
          <p:nvPr/>
        </p:nvSpPr>
        <p:spPr>
          <a:xfrm>
            <a:off x="274320" y="105156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p:txBody>
      </p:sp>
      <p:sp>
        <p:nvSpPr>
          <p:cNvPr id="14" name="Card-control"/>
          <p:cNvSpPr/>
          <p:nvPr/>
        </p:nvSpPr>
        <p:spPr>
          <a:xfrm>
            <a:off x="274320" y="3291840"/>
            <a:ext cx="4069080" cy="2103120"/>
          </a:xfrm>
          <a:prstGeom prst="rect">
            <a:avLst/>
          </a:prstGeom>
          <a:solidFill>
            <a:srgbClr val="F5F1E8"/>
          </a:solidFill>
          <a:ln w="12700">
            <a:solidFill>
              <a:srgbClr val="C9B991"/>
            </a:solidFill>
          </a:ln>
          <a:effectLst/>
        </p:spPr>
        <p:txBody>
          <a:bodyPr wrap="square" lIns="27432" tIns="22860" rIns="27432" bIns="22860" rtlCol="0" anchor="t"/>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the Scheduler admits at most two threads awake</a:t>
            </a:r>
          </a:p>
        </p:txBody>
      </p:sp>
      <p:sp>
        <p:nvSpPr>
          <p:cNvPr id="15" name="Card-prompt"/>
          <p:cNvSpPr/>
          <p:nvPr/>
        </p:nvSpPr>
        <p:spPr>
          <a:xfrm>
            <a:off x="4526280" y="1051560"/>
            <a:ext cx="4343400" cy="4343400"/>
          </a:xfrm>
          <a:prstGeom prst="rect">
            <a:avLst/>
          </a:prstGeom>
          <a:solidFill>
            <a:srgbClr val="F5F1E8"/>
          </a:solidFill>
          <a:ln w="12700">
            <a:solidFill>
              <a:srgbClr val="C9B991"/>
            </a:solidFill>
          </a:ln>
          <a:effectLst/>
        </p:spPr>
        <p:txBody>
          <a:bodyPr wrap="square" lIns="27432" tIns="22860" rIns="27432" bIns="22860" rtlCol="0" anchor="t"/>
          <a:lstStyle/>
          <a:p>
            <a:pPr algn="l">
              <a:buNone/>
            </a:pPr>
            <a:r>
              <a:rPr lang="en-US" sz="2000" b="1" i="0" dirty="0">
                <a:solidFill>
                  <a:srgbClr val="5C4826"/>
                </a:solidFill>
              </a:rPr>
              <a:t>Choose one obligation from the lab.</a:t>
            </a:r>
          </a:p>
          <a:p>
            <a:pPr algn="l">
              <a:spcBef>
                <a:spcPts val="900"/>
              </a:spcBef>
              <a:buNone/>
            </a:pPr>
            <a:r>
              <a:rPr lang="en-US" sz="2000" b="0" i="0" dirty="0">
                <a:solidFill>
                  <a:srgbClr val="5C4826"/>
                </a:solidFill>
              </a:rPr>
              <a:t>1  ·  How could the realization violate it?</a:t>
            </a:r>
          </a:p>
          <a:p>
            <a:pPr algn="l">
              <a:spcBef>
                <a:spcPts val="900"/>
              </a:spcBef>
              <a:buNone/>
            </a:pPr>
            <a:r>
              <a:rPr lang="en-US" sz="2000" b="0" i="0" dirty="0">
                <a:solidFill>
                  <a:srgbClr val="5C4826"/>
                </a:solidFill>
              </a:rPr>
              <a:t>2  ·  Can you prevent that failure, or must you detect it?</a:t>
            </a:r>
          </a:p>
          <a:p>
            <a:pPr algn="l">
              <a:spcBef>
                <a:spcPts val="900"/>
              </a:spcBef>
              <a:buNone/>
            </a:pPr>
            <a:r>
              <a:rPr lang="en-US" sz="2000" b="0" i="0" dirty="0">
                <a:solidFill>
                  <a:srgbClr val="5C4826"/>
                </a:solidFill>
              </a:rPr>
              <a:t>3  ·  What evidence would let you decide?</a:t>
            </a:r>
          </a:p>
          <a:p>
            <a:pPr algn="l">
              <a:spcBef>
                <a:spcPts val="900"/>
              </a:spcBef>
              <a:buNone/>
            </a:pPr>
            <a:r>
              <a:rPr lang="en-US" sz="2000" b="0" i="0" dirty="0">
                <a:solidFill>
                  <a:srgbClr val="5C4826"/>
                </a:solidFill>
              </a:rPr>
              <a:t>4  ·  Where is the earliest boundary at which it is decidable?</a:t>
            </a:r>
          </a:p>
          <a:p>
            <a:pPr algn="l">
              <a:spcBef>
                <a:spcPts val="900"/>
              </a:spcBef>
              <a:buNone/>
            </a:pPr>
            <a:r>
              <a:rPr lang="en-US" sz="2000" b="0" i="0" dirty="0">
                <a:solidFill>
                  <a:srgbClr val="5C4826"/>
                </a:solidFill>
              </a:rPr>
              <a:t>5  ·  What should happen if the check fails?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lang="en-US" sz="2400" b="0" dirty="0">
                <a:solidFill>
                  <a:srgbClr val="000000"/>
                </a:solidFill>
              </a:rPr>
              <a:t>Report-out: </a:t>
            </a:r>
            <a:r>
              <a:rPr sz="2400" b="0" dirty="0">
                <a:solidFill>
                  <a:srgbClr val="000000"/>
                </a:solidFill>
              </a:rPr>
              <a:t>Compare your </a:t>
            </a:r>
            <a:r>
              <a:rPr lang="en-US" sz="2400" dirty="0">
                <a:solidFill>
                  <a:srgbClr val="000000"/>
                </a:solidFill>
              </a:rPr>
              <a:t>A</a:t>
            </a:r>
            <a:r>
              <a:rPr lang="en-US" sz="2400" b="0" dirty="0">
                <a:solidFill>
                  <a:srgbClr val="000000"/>
                </a:solidFill>
              </a:rPr>
              <a:t>lignment approaches</a:t>
            </a:r>
            <a:endParaRPr sz="2400" b="0" dirty="0">
              <a:solidFill>
                <a:srgbClr val="000000"/>
              </a:solidFill>
            </a:endParaRPr>
          </a:p>
        </p:txBody>
      </p:sp>
      <p:sp>
        <p:nvSpPr>
          <p:cNvPr id="4" name="Slide Number Placeholder 5"/>
          <p:cNvSpPr>
            <a:spLocks noGrp="1"/>
          </p:cNvSpPr>
          <p:nvPr>
            <p:ph type="sldNum" sz="quarter" idx="4"/>
          </p:nvPr>
        </p:nvSpPr>
        <p:spPr/>
        <p:txBody>
          <a:bodyPr/>
          <a:lstStyle/>
          <a:p>
            <a:fld id="{B7EB45DA-9A0D-DC49-8E02-F30A5DDC21C3}" type="slidenum">
              <a:rPr lang="en-US" smtClean="0"/>
              <a:t>29</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41427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30</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connect selected obligations to consequences in the engineered environment</a:t>
            </a:r>
          </a:p>
        </p:txBody>
      </p:sp>
      <p:sp>
        <p:nvSpPr>
          <p:cNvPr id="9" name="Rectangle 8"/>
          <p:cNvSpPr/>
          <p:nvPr/>
        </p:nvSpPr>
        <p:spPr>
          <a:xfrm>
            <a:off x="640080" y="3291840"/>
            <a:ext cx="8183879" cy="25146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37160" tIns="73152" rIns="27432" bIns="22860" rtlCol="0" anchor="t"/>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wrap="square">
            <a:normAutofit fontScale="90000"/>
          </a:bodyPr>
          <a:lstStyle/>
          <a:p>
            <a:r>
              <a:rPr sz="2400" b="0" dirty="0">
                <a:solidFill>
                  <a:srgbClr val="000000"/>
                </a:solidFill>
              </a:rPr>
              <a:t>Check correspondence statically</a:t>
            </a:r>
          </a:p>
        </p:txBody>
      </p:sp>
      <p:sp>
        <p:nvSpPr>
          <p:cNvPr id="4" name="Slide Number Placeholder 5"/>
          <p:cNvSpPr>
            <a:spLocks noGrp="1"/>
          </p:cNvSpPr>
          <p:nvPr>
            <p:ph type="sldNum" sz="quarter" idx="4"/>
          </p:nvPr>
        </p:nvSpPr>
        <p:spPr/>
        <p:txBody>
          <a:bodyPr/>
          <a:lstStyle/>
          <a:p>
            <a:fld id="{B7EB45DA-9A0D-DC49-8E02-F30A5DDC21C3}" type="slidenum">
              <a:rPr lang="en-US" smtClean="0"/>
              <a:t>25</a:t>
            </a:fld>
            <a:endParaRPr lang="en-US"/>
          </a:p>
        </p:txBody>
      </p:sp>
      <p:sp>
        <p:nvSpPr>
          <p:cNvPr id="2" name="Sc-MODEL"/>
          <p:cNvSpPr/>
          <p:nvPr/>
        </p:nvSpPr>
        <p:spPr>
          <a:xfrm>
            <a:off x="50292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MODEL</a:t>
            </a:r>
          </a:p>
        </p:txBody>
      </p:sp>
      <p:sp>
        <p:nvSpPr>
          <p:cNvPr id="5" name="Sc-REALIZATION"/>
          <p:cNvSpPr/>
          <p:nvPr/>
        </p:nvSpPr>
        <p:spPr>
          <a:xfrm>
            <a:off x="5440680" y="1005840"/>
            <a:ext cx="32004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REALIZATION</a:t>
            </a:r>
          </a:p>
        </p:txBody>
      </p:sp>
      <p:sp>
        <p:nvSpPr>
          <p:cNvPr id="6" name="Sc-ModelItems"/>
          <p:cNvSpPr/>
          <p:nvPr/>
        </p:nvSpPr>
        <p:spPr>
          <a:xfrm>
            <a:off x="50292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lifecycle / bounds</a:t>
            </a:r>
          </a:p>
          <a:p>
            <a:pPr algn="ctr">
              <a:spcBef>
                <a:spcPts val="300"/>
              </a:spcBef>
              <a:buNone/>
            </a:pPr>
            <a:r>
              <a:rPr lang="en-US" sz="2000" b="0" i="0" dirty="0">
                <a:solidFill>
                  <a:srgbClr val="5C4826"/>
                </a:solidFill>
              </a:rPr>
              <a:t>architectural rules</a:t>
            </a:r>
          </a:p>
        </p:txBody>
      </p:sp>
      <p:sp>
        <p:nvSpPr>
          <p:cNvPr id="7" name="Sc-RealItems"/>
          <p:cNvSpPr/>
          <p:nvPr/>
        </p:nvSpPr>
        <p:spPr>
          <a:xfrm>
            <a:off x="5440680" y="1645920"/>
            <a:ext cx="3200400" cy="73152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0" i="0" dirty="0">
                <a:solidFill>
                  <a:srgbClr val="5C4826"/>
                </a:solidFill>
              </a:rPr>
              <a:t>source code</a:t>
            </a:r>
          </a:p>
          <a:p>
            <a:pPr algn="ctr">
              <a:spcBef>
                <a:spcPts val="300"/>
              </a:spcBef>
              <a:buNone/>
            </a:pPr>
            <a:r>
              <a:rPr lang="en-US" sz="2000" b="0" i="0" dirty="0">
                <a:solidFill>
                  <a:srgbClr val="5C4826"/>
                </a:solidFill>
              </a:rPr>
              <a:t>configuration</a:t>
            </a:r>
          </a:p>
        </p:txBody>
      </p:sp>
      <p:cxnSp>
        <p:nvCxnSpPr>
          <p:cNvPr id="8" name="Sc-A1"/>
          <p:cNvCxnSpPr/>
          <p:nvPr/>
        </p:nvCxnSpPr>
        <p:spPr>
          <a:xfrm>
            <a:off x="2103120" y="2377440"/>
            <a:ext cx="0" cy="274320"/>
          </a:xfrm>
          <a:prstGeom prst="straightConnector1">
            <a:avLst/>
          </a:prstGeom>
          <a:ln w="19050">
            <a:solidFill>
              <a:srgbClr val="8E6F3E"/>
            </a:solidFill>
            <a:tailEnd type="triangle"/>
          </a:ln>
        </p:spPr>
      </p:cxnSp>
      <p:cxnSp>
        <p:nvCxnSpPr>
          <p:cNvPr id="9" name="Sc-A2"/>
          <p:cNvCxnSpPr/>
          <p:nvPr/>
        </p:nvCxnSpPr>
        <p:spPr>
          <a:xfrm>
            <a:off x="7040880" y="2377440"/>
            <a:ext cx="0" cy="274320"/>
          </a:xfrm>
          <a:prstGeom prst="straightConnector1">
            <a:avLst/>
          </a:prstGeom>
          <a:ln w="19050">
            <a:solidFill>
              <a:srgbClr val="8E6F3E"/>
            </a:solidFill>
            <a:tailEnd type="triangle"/>
          </a:ln>
        </p:spPr>
      </p:cxnSp>
      <p:sp>
        <p:nvSpPr>
          <p:cNvPr id="10" name="Sc-CHECK"/>
          <p:cNvSpPr/>
          <p:nvPr/>
        </p:nvSpPr>
        <p:spPr>
          <a:xfrm>
            <a:off x="1828800" y="2651760"/>
            <a:ext cx="5486400" cy="548640"/>
          </a:xfrm>
          <a:prstGeom prst="rect">
            <a:avLst/>
          </a:prstGeom>
          <a:solidFill>
            <a:srgbClr val="F5F1E8"/>
          </a:solidFill>
          <a:ln w="12700">
            <a:solidFill>
              <a:srgbClr val="C9B991"/>
            </a:solidFill>
          </a:ln>
          <a:effectLst/>
        </p:spPr>
        <p:txBody>
          <a:bodyPr wrap="square" lIns="27432" tIns="22860" rIns="27432" bIns="22860" rtlCol="0" anchor="ctr"/>
          <a:lstStyle/>
          <a:p>
            <a:pPr algn="ctr">
              <a:buNone/>
            </a:pPr>
            <a:r>
              <a:rPr lang="en-US" sz="2000" b="1" i="0" dirty="0">
                <a:solidFill>
                  <a:srgbClr val="5C4826"/>
                </a:solidFill>
              </a:rPr>
              <a:t>STATIC CHECK</a:t>
            </a:r>
          </a:p>
        </p:txBody>
      </p:sp>
      <p:cxnSp>
        <p:nvCxnSpPr>
          <p:cNvPr id="11" name="Sc-A3"/>
          <p:cNvCxnSpPr/>
          <p:nvPr/>
        </p:nvCxnSpPr>
        <p:spPr>
          <a:xfrm>
            <a:off x="4572000" y="3200400"/>
            <a:ext cx="0" cy="274320"/>
          </a:xfrm>
          <a:prstGeom prst="straightConnector1">
            <a:avLst/>
          </a:prstGeom>
          <a:ln w="19050">
            <a:solidFill>
              <a:srgbClr val="8E6F3E"/>
            </a:solidFill>
            <a:tailEnd type="triangle"/>
          </a:ln>
        </p:spPr>
      </p:cxnSp>
      <p:sp>
        <p:nvSpPr>
          <p:cNvPr id="12" name="Sc-VERDICT"/>
          <p:cNvSpPr/>
          <p:nvPr/>
        </p:nvSpPr>
        <p:spPr>
          <a:xfrm>
            <a:off x="3657600" y="3474720"/>
            <a:ext cx="1828800" cy="5486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VERDICT</a:t>
            </a:r>
          </a:p>
        </p:txBody>
      </p:sp>
      <p:sp>
        <p:nvSpPr>
          <p:cNvPr id="13" name="Sc-Questions"/>
          <p:cNvSpPr/>
          <p:nvPr/>
        </p:nvSpPr>
        <p:spPr>
          <a:xfrm>
            <a:off x="502920" y="4114800"/>
            <a:ext cx="8138160" cy="1371600"/>
          </a:xfrm>
          <a:prstGeom prst="rect">
            <a:avLst/>
          </a:prstGeom>
          <a:solidFill>
            <a:srgbClr val="F5F1E8"/>
          </a:solidFill>
          <a:ln w="12700">
            <a:solidFill>
              <a:srgbClr val="C9B991"/>
            </a:solidFill>
          </a:ln>
          <a:effectLst/>
        </p:spPr>
        <p:txBody>
          <a:bodyPr wrap="square" lIns="27432" tIns="22860" rIns="27432" bIns="22860" rtlCol="0" anchor="ctr"/>
          <a:lstStyle/>
          <a:p>
            <a:pPr algn="l">
              <a:buNone/>
            </a:pPr>
            <a:r>
              <a:rPr lang="en-US" sz="2000" b="0" i="0" dirty="0">
                <a:solidFill>
                  <a:srgbClr val="5C4826"/>
                </a:solidFill>
              </a:rPr>
              <a:t>Can any code path admit a third Awake thread?</a:t>
            </a:r>
          </a:p>
          <a:p>
            <a:pPr algn="l">
              <a:spcBef>
                <a:spcPts val="300"/>
              </a:spcBef>
              <a:buNone/>
            </a:pPr>
            <a:r>
              <a:rPr lang="en-US" sz="2000" b="0" i="0" dirty="0">
                <a:solidFill>
                  <a:srgbClr val="5C4826"/>
                </a:solidFill>
              </a:rPr>
              <a:t>Does the implementation permit a lifecycle transition absent from the model?</a:t>
            </a:r>
          </a:p>
          <a:p>
            <a:pPr algn="l">
              <a:spcBef>
                <a:spcPts val="300"/>
              </a:spcBef>
              <a:buNone/>
            </a:pPr>
            <a:r>
              <a:rPr lang="en-US" sz="2000" b="0" i="0" dirty="0">
                <a:solidFill>
                  <a:srgbClr val="5C4826"/>
                </a:solidFill>
              </a:rPr>
              <a:t>Do implementation resource bounds agree with the modeled bounds?</a:t>
            </a:r>
          </a:p>
        </p:txBody>
      </p:sp>
      <p:sp>
        <p:nvSpPr>
          <p:cNvPr id="14" name="FooterBand"/>
          <p:cNvSpPr/>
          <p:nvPr/>
        </p:nvSpPr>
        <p:spPr>
          <a:xfrm>
            <a:off x="274320" y="5577840"/>
            <a:ext cx="8595360" cy="777240"/>
          </a:xfrm>
          <a:prstGeom prst="rect">
            <a:avLst/>
          </a:prstGeom>
          <a:solidFill>
            <a:srgbClr val="8E6F3E"/>
          </a:solidFill>
          <a:ln>
            <a:noFill/>
          </a:ln>
          <a:effectLst/>
        </p:spPr>
        <p:txBody>
          <a:bodyPr wrap="square" lIns="27432" tIns="22860" rIns="27432" bIns="22860" rtlCol="0" anchor="ctr"/>
          <a:lstStyle/>
          <a:p>
            <a:pPr algn="ctr">
              <a:buNone/>
            </a:pPr>
            <a:r>
              <a:rPr lang="en-US" sz="2000" b="1" i="0" dirty="0">
                <a:solidFill>
                  <a:srgbClr val="FFFFFF"/>
                </a:solidFill>
              </a:rPr>
              <a:t>Static evidence can establish correspondence without executing the realization.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8571</TotalTime>
  <Words>6676</Words>
  <Application>Microsoft Macintosh PowerPoint</Application>
  <PresentationFormat>On-screen Show (4:3)</PresentationFormat>
  <Paragraphs>593</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support static validation</vt:lpstr>
      <vt:lpstr>Models support dynamic validation</vt:lpstr>
      <vt:lpstr>Agreement is not correctness</vt:lpstr>
      <vt:lpstr>Exercise</vt:lpstr>
      <vt:lpstr>Back to the lab: Design the Alignment</vt:lpstr>
      <vt:lpstr>Report-out: Compare your Alignment approaches</vt:lpstr>
      <vt:lpstr>How do you know?</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420</cp:revision>
  <dcterms:created xsi:type="dcterms:W3CDTF">2020-02-21T23:00:33Z</dcterms:created>
  <dcterms:modified xsi:type="dcterms:W3CDTF">2026-10-08T01:48:55Z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