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2" r:id="rId36"/>
    <p:sldId id="293" r:id="rId37"/>
    <p:sldId id="294" r:id="rId38"/>
    <p:sldId id="295" r:id="rId39"/>
    <p:sldId id="285" r:id="rId50"/>
    <p:sldId id="304" r:id="rId40"/>
    <p:sldId id="297" r:id="rId41"/>
    <p:sldId id="298" r:id="rId42"/>
    <p:sldId id="305" r:id="rId22"/>
    <p:sldId id="267" r:id="rId18"/>
    <p:sldId id="306" r:id="rId48"/>
    <p:sldId id="268" r:id="rId19"/>
    <p:sldId id="286" r:id="rId51"/>
    <p:sldId id="269" r:id="rId20"/>
    <p:sldId id="270" r:id="rId21"/>
    <p:sldId id="273" r:id="rId24"/>
    <p:sldId id="288" r:id="rId53"/>
    <p:sldId id="307" r:id="rId10"/>
    <p:sldId id="308" r:id="rId8"/>
    <p:sldId id="309" r:id="rId6"/>
    <p:sldId id="281" r:id="rId32"/>
    <p:sldId id="274" r:id="rId25"/>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27.xml"/><Relationship Id="rId7" Type="http://schemas.openxmlformats.org/officeDocument/2006/relationships/slide" Target="slides/slide1.xml"/><Relationship Id="rId8" Type="http://schemas.openxmlformats.org/officeDocument/2006/relationships/slide" Target="slides/slide26.xml"/><Relationship Id="rId9" Type="http://schemas.openxmlformats.org/officeDocument/2006/relationships/slide" Target="slides/slide5.xml"/><Relationship Id="rId10" Type="http://schemas.openxmlformats.org/officeDocument/2006/relationships/slide" Target="slides/slide25.xml"/><Relationship Id="rId15" Type="http://schemas.openxmlformats.org/officeDocument/2006/relationships/slide" Target="slides/slide3.xml"/><Relationship Id="rId18" Type="http://schemas.openxmlformats.org/officeDocument/2006/relationships/slide" Target="slides/slide17.xml"/><Relationship Id="rId19" Type="http://schemas.openxmlformats.org/officeDocument/2006/relationships/slide" Target="slides/slide19.xml"/><Relationship Id="rId20" Type="http://schemas.openxmlformats.org/officeDocument/2006/relationships/slide" Target="slides/slide21.xml"/><Relationship Id="rId21" Type="http://schemas.openxmlformats.org/officeDocument/2006/relationships/slide" Target="slides/slide22.xml"/><Relationship Id="rId22" Type="http://schemas.openxmlformats.org/officeDocument/2006/relationships/slide" Target="slides/slide16.xml"/><Relationship Id="rId24" Type="http://schemas.openxmlformats.org/officeDocument/2006/relationships/slide" Target="slides/slide23.xml"/><Relationship Id="rId25" Type="http://schemas.openxmlformats.org/officeDocument/2006/relationships/slide" Target="slides/slide29.xml"/><Relationship Id="rId27" Type="http://schemas.openxmlformats.org/officeDocument/2006/relationships/slide" Target="slides/slide30.xml"/><Relationship Id="rId32" Type="http://schemas.openxmlformats.org/officeDocument/2006/relationships/slide" Target="slides/slide28.xml"/><Relationship Id="rId33" Type="http://schemas.openxmlformats.org/officeDocument/2006/relationships/slide" Target="slides/slide31.xml"/><Relationship Id="rId34" Type="http://schemas.openxmlformats.org/officeDocument/2006/relationships/slide" Target="slides/slide4.xml"/><Relationship Id="rId35" Type="http://schemas.openxmlformats.org/officeDocument/2006/relationships/slide" Target="slides/slide7.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0" Type="http://schemas.openxmlformats.org/officeDocument/2006/relationships/slide" Target="slides/slide13.xml"/><Relationship Id="rId41" Type="http://schemas.openxmlformats.org/officeDocument/2006/relationships/slide" Target="slides/slide14.xml"/><Relationship Id="rId42" Type="http://schemas.openxmlformats.org/officeDocument/2006/relationships/slide" Target="slides/slide15.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18.xml"/><Relationship Id="rId49" Type="http://schemas.openxmlformats.org/officeDocument/2006/relationships/slide" Target="slides/slide6.xml"/><Relationship Id="rId50" Type="http://schemas.openxmlformats.org/officeDocument/2006/relationships/slide" Target="slides/slide12.xml"/><Relationship Id="rId51" Type="http://schemas.openxmlformats.org/officeDocument/2006/relationships/slide" Target="slides/slide20.xml"/><Relationship Id="rId53" Type="http://schemas.openxmlformats.org/officeDocument/2006/relationships/slide" Target="slides/slide24.xml"/><Relationship Id="rId54"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Recall degrees of freedom from Architecture and Design.</a:t>
            </a:r>
          </a:p>
          <a:p>
            <a:r>
              <a:t>- Engineering is not about specifying everything.</a:t>
            </a:r>
          </a:p>
          <a:p>
            <a:r>
              <a:t>- We bind choices whose consequences matter: worktree, scope, forbidden actions, evidence, delivery boundary.</a:t>
            </a:r>
          </a:p>
          <a:p>
            <a:r>
              <a:t>- We deliberately leave other choices free: local decomposition, naming, implementation details, algorithms where no obligation constrains them.</a:t>
            </a:r>
          </a:p>
          <a:p>
            <a:r>
              <a:t>- If we specify all of those too, we have defeated much of the purpose of delegation.</a:t>
            </a:r>
          </a:p>
          <a:p>
            <a:r>
              <a:t>- Good delegation is therefore selective reduction of degrees of freedom.</a:t>
            </a:r>
          </a:p>
          <a:p>
            <a:r>
              <a:t>ANIMATION</a:t>
            </a:r>
          </a:p>
          <a:p>
            <a:r>
              <a:t>- Reveal BOUND first.</a:t>
            </a:r>
          </a:p>
          <a:p>
            <a:r>
              <a:t>- Reveal LEAVE FREE second.</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In practice, the agent does not receive only natural-language instructions.</a:t>
            </a:r>
          </a:p>
          <a:p>
            <a:r>
              <a:t>- It receives a repository, worktree, branch, tools, tests, CI configuration, issue context, and repository instructions.</a:t>
            </a:r>
          </a:p>
          <a:p>
            <a:r>
              <a:t>- Those things collectively define part of the delegated environment.</a:t>
            </a:r>
          </a:p>
          <a:p>
            <a:r>
              <a:t>- Some are information. Some are capabilities. Some are constraints.</a:t>
            </a:r>
          </a:p>
          <a:p>
            <a:r>
              <a:t>- The output is also structured: not "some code somewhere," but typically a proposed change, commit, or PR.</a:t>
            </a:r>
          </a:p>
          <a:p>
            <a:r>
              <a:t>- This environment is already doing engineering work before we add any sophisticated agent-specific machinery.</a:t>
            </a:r>
          </a:p>
          <a:p>
            <a:r>
              <a:t>ANIMATION</a:t>
            </a:r>
          </a:p>
          <a:p>
            <a:r>
              <a:t>- Reveal WORK ORDER and WORKTREE.</a:t>
            </a:r>
          </a:p>
          <a:p>
            <a:r>
              <a:t>- Reveal AGENT.</a:t>
            </a:r>
          </a:p>
          <a:p>
            <a:r>
              <a:t>- Reveal proposed change / commit / PR.</a:t>
            </a:r>
          </a:p>
          <a:p>
            <a:r>
              <a:t>- Reveal the concrete environment elements last.</a:t>
            </a:r>
          </a:p>
          <a:p>
            <a:r>
              <a:t>- Frame this as an EXAMPLE of the taxonomy: the work environment is how we bound the process — where the agent may work, what it may touch, what tools it has.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a:p>
            <a:r>
              <a:t>THE CONCRETE EXAMPLE (absorbed from the deleted boundary-example slide; the obligation bar carries it):</a:t>
            </a:r>
          </a:p>
          <a:p>
            <a:r>
              <a:t>- The obligation is legitimate: when the task is complete, code and architectural model must correspond.</a:t>
            </a:r>
          </a:p>
          <a:p>
            <a:r>
              <a:t>- Enforcing it after every intermediate edit or commit rejects legitimate transitional states; at merge, the task’s work is assembled and the obligation can be evaluated.</a:t>
            </a:r>
          </a:p>
          <a:p>
            <a:r>
              <a:t>- Notice the distinction: the obligation was not wrong; its placement was wrong. This is an Alignment design error, not a reason to abandon the property.</a:t>
            </a:r>
          </a:p>
          <a:p>
            <a:r>
              <a:t>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 transition + 2 minutes setup + 8-10 minutes work</a:t>
            </a:r>
          </a:p>
          <a:p>
            <a:r>
              <a:t>- This slide is now the section transition (the SECTION 6 divider was cut) — the activity title itself is the transition. Setup line: enough vocabulary; now use it.</a:t>
            </a:r>
          </a:p>
          <a:p>
            <a:r>
              <a:t>- Scenario (spoken, no longer on the slide): an agent is modifying an embedded controller — the SAME domain as the lab's sensor node, so read this as a continuation, not a new scenario.</a:t>
            </a:r>
          </a:p>
          <a:p>
            <a:r>
              <a:t>- Four obligations: API preservation, a memory bound, a forbidden dependency, and cycle ordering.</a:t>
            </a:r>
          </a:p>
          <a:p>
            <a:r>
              <a:t>- The model is given on the right — the same two kinds the class built in the lab. Structural facts support static checks: the API, the dependency facts (including the forbidden one), and the memory bound. The behavioral ordering defines what to observe at runtime: the cycle.</a:t>
            </a:r>
          </a:p>
          <a:p>
            <a:r>
              <a:t>- Use the model as given — do not spend the activity rediscovering it from the implementation.</a:t>
            </a:r>
          </a:p>
          <a:p>
            <a:r>
              <a:t>- Teams should ask, per obligation, which side of the model makes the relevant fact explicit — that feeds the MODEL USE question in the worksheet sequence below.</a:t>
            </a:r>
          </a:p>
          <a:p>
            <a:r>
              <a:t>- Your job: design the delegated process and its controls.</a:t>
            </a:r>
          </a:p>
          <a:p>
            <a:r>
              <a:t>WORKSHEET (was its own slide; keep this slide up while teams work and walk it aloud):</a:t>
            </a:r>
          </a:p>
          <a:p>
            <a:r>
              <a:t>- For each obligation, identify what can fail, what evidence establishes it, where it becomes decidable, and what failure should control.</a:t>
            </a:r>
          </a:p>
          <a:p>
            <a:r>
              <a:t>- Grouped as three questions. WHAT MUST HOLD: name the failure, state the obligation, and — new since the lab — ask what fact the model makes explicit, and whether you would validate it statically or dynamically.</a:t>
            </a:r>
          </a:p>
          <a:p>
            <a:r>
              <a:t>- HOW WILL WE KNOW: prevent or detect, what observation establishes it, and at which boundary enough information exists.</a:t>
            </a:r>
          </a:p>
          <a:p>
            <a:r>
              <a:t>- WHAT WILL IT CONTROL: which mechanism plays the role (constraint · sensor · validator · gate), and what authority the verdict carries.</a:t>
            </a:r>
          </a:p>
          <a:p>
            <a:r>
              <a:t>- Teams should be ready to defend their boundary and authority choices.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One distinction left: three kinds of judgment. The triangle carries them.</a:t>
            </a:r>
          </a:p>
          <a:p>
            <a:r>
              <a:t>- We have an obligation, a model, and a realization. Ask what claim each edge makes.</a:t>
            </a:r>
          </a:p>
          <a:p>
            <a:r>
              <a:t>- captures? — does the model actually capture the obligation?</a:t>
            </a:r>
          </a:p>
          <a:p>
            <a:r>
              <a:t>- satisfies? — does the realization satisfy the obligation? That judgment is CONFORMANCE: an artifact against an independent obligation.</a:t>
            </a:r>
          </a:p>
          <a:p>
            <a:r>
              <a:t>- corresponds? — do model and realization agree? That judgment is CORRESPONDENCE: two representations against each other.</a:t>
            </a:r>
          </a:p>
          <a:p>
            <a:r>
              <a:t>- ACCEPTANCE brings in a fourth object, the receiving environment: will it accept the artifact? On the slide it is the third legend line, not a fourth node — name the fourth object aloud.</a:t>
            </a:r>
          </a:p>
          <a:p>
            <a:r>
              <a:t>- None of these edges establishes the other two. A model and implementation can agree and both be wrong against the obligation. Evidence for one claim does not establish the others.</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 (Demoted from the slide; ask aloud:) What claim does each edge make? What evidence would establish it?</a:t>
            </a:r>
          </a:p>
          <a:p>
            <a:r>
              <a:t>ANIMATION</a:t>
            </a:r>
          </a:p>
          <a:p>
            <a:r>
              <a:t>- Reveal OBLIGATION, MODEL, REALIZATION without edges if possible.</a:t>
            </a:r>
          </a:p>
          <a:p>
            <a:r>
              <a:t>- Reveal the three edge questions, then the legend naming the three judgments.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We can now recognize the same move we made in the Modeling lecture.</a:t>
            </a:r>
          </a:p>
          <a:p>
            <a:r>
              <a:t>- The work order and environment define a model of the delegated process.</a:t>
            </a:r>
          </a:p>
          <a:p>
            <a:r>
              <a:t>- It has permitted actions, transitions, stopping conditions, and expected evidence.</a:t>
            </a:r>
          </a:p>
          <a:p>
            <a:r>
              <a:t>- Importantly, this is not a model of the agent's internal chain of thought.</a:t>
            </a:r>
          </a:p>
          <a:p>
            <a:r>
              <a:t>- We generally do not need to prescribe how the agent reasons internally.</a:t>
            </a:r>
          </a:p>
          <a:p>
            <a:r>
              <a:t>- We need enough external structure to reason about consequential behavior.</a:t>
            </a:r>
          </a:p>
          <a:p>
            <a:r>
              <a:t>- That gives us something against which failure can be defined.</a:t>
            </a:r>
          </a:p>
          <a:p>
            <a:r>
              <a:t>ANIMATION</a:t>
            </a:r>
          </a:p>
          <a:p>
            <a:r>
              <a:t>- Reveal the process sequence.</a:t>
            </a:r>
          </a:p>
          <a:p>
            <a:r>
              <a:t>- Reveal the four kinds of modeled information.</a:t>
            </a:r>
          </a:p>
          <a:p>
            <a:r>
              <a:t>- Reveal the final sentence about internal reasoning last.</a:t>
            </a:r>
          </a:p>
          <a:p>
            <a:r>
              <a:t>- This is the first Modeling callback of the lecture: the work order and environment DEFINE a model of the delegated process. We will lean on this in the models section.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a:p>
            <a:r>
              <a:t>- Card wording tightened to parallel one-line failure statements; the earlier phrasings ('Agent changes something outside the work order', 'Agent performs a consequential action it may not take') are spoken, not projected.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You saw this equation in Modeling. It describes the production problem: given the task, reasoner, representation, and harness, how likely is delegation to produce an acceptable result?</a:t>
            </a:r>
          </a:p>
          <a:p>
            <a:r>
              <a:t>- Last time we opened R. Modeling changes the representation available to the reasoner.</a:t>
            </a:r>
          </a:p>
          <a:p>
            <a:r>
              <a:t>- Today, notice one word we have mostly taken for granted: acceptable. What does that mean?</a:t>
            </a:r>
          </a:p>
          <a:p>
            <a:r>
              <a:t>- Then immediately: let's run the production system.</a:t>
            </a:r>
          </a:p>
          <a:p>
            <a:r>
              <a:t>- Advance to the vibe-coding exercise. Do not explain Alignment first; the students are about to experience the ambiguity in "acceptable" for themselves.</a:t>
            </a:r>
          </a:p>
          <a:p>
            <a:r>
              <a:t/>
            </a:r>
          </a:p>
          <a:p>
            <a:r>
              <a:t>ANIMATION</a:t>
            </a:r>
          </a:p>
          <a:p>
            <a:r>
              <a:t>- Reveal the equation exactly as remembered from Modeling.</a:t>
            </a:r>
          </a:p>
          <a:p>
            <a:r>
              <a:t>- Reveal the four definitions.</a:t>
            </a:r>
          </a:p>
          <a:p>
            <a:r>
              <a:t>- Reveal "What makes a result acceptable?" last, and leave it up as you advance.</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We can now name four control roles, and they compose into a recognizable pipeline.</a:t>
            </a:r>
          </a:p>
          <a:p>
            <a:r>
              <a:t>- A CONSTRAINT narrows what may happen. A SENSOR observes what happened and produces evidence. A VALIDATOR evaluates that evidence against an obligation. A GATE controls whether work crosses a boundary.</a:t>
            </a:r>
          </a:p>
          <a:p>
            <a:r>
              <a:t>- These are roles, not four required components. One mechanism may play several roles. (This caveat used to be on the slide; it belongs here, spoken once the four roles are visible together.)</a:t>
            </a:r>
          </a:p>
          <a:p>
            <a:r>
              <a:t>- Keep the two sides distinct: constraints and sensors concern work/state; validators and gates concern judgment/admission.</a:t>
            </a:r>
          </a:p>
          <a:p>
            <a:r>
              <a:t>- An obligation enters at the top — it is what the validator judges against.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role vocabulary.)</a:t>
            </a:r>
          </a:p>
          <a:p>
            <a:r>
              <a:t>- The pipeline ends visibly at the gate controlling the CONSEQUENCE — concretely, merge and deploy:</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 A gate makes authority conditional on a verdict.</a:t>
            </a:r>
          </a:p>
          <a:p>
            <a:r>
              <a:t>- Spoken summary (was the footer band): a constraint narrows the work; a sensor observes it; a validator judges the evidence; a gate makes merge and deploy conditional on the verdict.</a:t>
            </a:r>
          </a:p>
          <a:p>
            <a:r>
              <a:t>- This vocabulary gives us a way to design rather than simply say "add checks."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VALIDATION SURFACE strip at the bottom is the answer — reveal it after they talk.</a:t>
            </a:r>
          </a:p>
          <a:p>
            <a:r>
              <a:t>THE REVEAL (absorbs the deleted answer slide; it is the strip under the cards):</a:t>
            </a:r>
          </a:p>
          <a:p>
            <a:r>
              <a:t>- A model preserves consequential distinctions; exposes relationships that would otherwise be inferred; deliberately leaves irrelevant realization choices open; enables evaluation without reconstruction.</a:t>
            </a:r>
          </a:p>
          <a:p>
            <a:r>
              <a:t>- The key point is not that models contain MORE information than the implementation — they contain the right engineering information in a form suited to the question. Multiple analyses can then operate over the same explicit knowledge.</a:t>
            </a:r>
          </a:p>
          <a:p>
            <a:r>
              <a:t>- Spoken gloss for the strip label: models give validation mechanisms an explicit object to inspect — that is why the strip is labeled VALIDATION SURFACE.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Static validation: a verdict decided over the model itself, before any execution.</a:t>
            </a:r>
          </a:p>
          <a:p>
            <a:r>
              <a:t>- Ground each question in the lab. 'Can admitted threads exceed the memory ceiling?' is the budget query: peak working memory of admitted threads against the declared 48 KB ceiling — the query that reported 80 KB in Stage 1. 'Can three threads be Awake simultaneously?' is decided against the Scheduler's admission rule: at most two awake. 'Is an illegal lifecycle transition reachable?' asks for a transition the lifecycle machines do not declare.</a:t>
            </a:r>
          </a:p>
          <a:p>
            <a:r>
              <a:t>- The payoff: once the structure is explicit, these stop being archaeology over code and become decidable queries.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Dynamic validation: the same model defines what a SENSOR must observe at runtime — the model states expected behavior; the trace is checked against it.</a:t>
            </a:r>
          </a:p>
          <a:p>
            <a:r>
              <a:t>- Ground it in the lab's lifecycle machines: every thread is Asleep or Awake, moved by admit and release events. The observation questions (now spoken, no longer projected): Did the observed transition exist in the model? Did events occur in the required order? Did execution enter a forbidden state? Did a measured quantity stay within its modeled bound — did the awake count ever exceed two, and did working memory stay within 48 KB?</a:t>
            </a:r>
          </a:p>
          <a:p>
            <a:r>
              <a:t>- This prevents students from hearing 'model-based validation' as synonymous with static analysis.</a:t>
            </a:r>
          </a:p>
          <a:p>
            <a:r>
              <a:t>- The STATIC / DYNAMIC panel (absorbed from the deleted strategies slide): static — verdict over the modeled space, exhaustive, available before execution; dynamic — verdict over observed execution,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2000" b="0" i="1" dirty="0">
                <a:solidFill>
                  <a:srgbClr val="555960"/>
                </a:solidFill>
              </a:rPr>
              <a:t>the probability that delegation produces an acceptable result</a:t>
            </a:r>
          </a:p>
        </p:txBody>
      </p:sp>
      <p:sp>
        <p:nvSpPr>
          <p:cNvPr id="13" name="DefLine"/>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2000" b="1" i="1" dirty="0">
                <a:solidFill>
                  <a:srgbClr val="8E6F3E"/>
                </a:solidFill>
              </a:rPr>
              <a:t>T</a:t>
            </a:r>
            <a:r>
              <a:rPr lang="en-US" sz="2000" b="0" dirty="0">
                <a:solidFill>
                  <a:srgbClr val="555960"/>
                </a:solidFill>
              </a:rPr>
              <a:t xml:space="preserve"> task   ·   </a:t>
            </a:r>
            <a:r>
              <a:rPr lang="en-US" sz="2000" b="1" i="1" dirty="0">
                <a:solidFill>
                  <a:srgbClr val="8E6F3E"/>
                </a:solidFill>
              </a:rPr>
              <a:t>M</a:t>
            </a:r>
            <a:r>
              <a:rPr lang="en-US" sz="2000" b="0" dirty="0">
                <a:solidFill>
                  <a:srgbClr val="555960"/>
                </a:solidFill>
              </a:rPr>
              <a:t xml:space="preserve"> reasoning model   ·   </a:t>
            </a:r>
            <a:r>
              <a:rPr lang="en-US" sz="2000" b="1" i="1" dirty="0">
                <a:solidFill>
                  <a:srgbClr val="8E6F3E"/>
                </a:solidFill>
              </a:rPr>
              <a:t>R</a:t>
            </a:r>
            <a:r>
              <a:rPr lang="en-US" sz="2000" b="0" dirty="0">
                <a:solidFill>
                  <a:srgbClr val="555960"/>
                </a:solidFill>
              </a:rPr>
              <a:t xml:space="preserve"> representation   ·   </a:t>
            </a:r>
            <a:r>
              <a:rPr lang="en-US" sz="2000" b="1" i="1" dirty="0">
                <a:solidFill>
                  <a:srgbClr val="8E6F3E"/>
                </a:solidFill>
              </a:rPr>
              <a:t>H</a:t>
            </a:r>
            <a:r>
              <a:rPr lang="en-US" sz="2000" b="0" dirty="0">
                <a:solidFill>
                  <a:srgbClr val="555960"/>
                </a:solidFill>
              </a:rPr>
              <a:t xml:space="preserve"> harness/process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What makes a result acceptable?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 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5-10 minutes. Give it a whirl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When should an engineering judgment control what the agent — or the environment — is permitted to do?</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a validation judgment</a:t>
            </a:r>
          </a:p>
          <a:p>
            <a:pPr algn="ctr"/>
            <a:r>
              <a:rPr sz="2000" b="1" i="0">
                <a:solidFill>
                  <a:srgbClr val="FFFFFF"/>
                </a:solidFill>
              </a:rPr>
              <a:t>to what the environment permits.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0" name="Taxo-TASK"/>
          <p:cNvSpPr/>
          <p:nvPr/>
        </p:nvSpPr>
        <p:spPr>
          <a:xfrm>
            <a:off x="50292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0" name="Taxo-CESS"/>
          <p:cNvSpPr/>
          <p:nvPr/>
        </p:nvSpPr>
        <p:spPr>
          <a:xfrm>
            <a:off x="466344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real agent gets a work environment</a:t>
            </a:r>
          </a:p>
        </p:txBody>
      </p:sp>
      <p:sp>
        <p:nvSpPr>
          <p:cNvPr id="4" name="WorkOrder"/>
          <p:cNvSpPr/>
          <p:nvPr/>
        </p:nvSpPr>
        <p:spPr>
          <a:xfrm>
            <a:off x="3566160" y="914400"/>
            <a:ext cx="20116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4572000" y="1417320"/>
            <a:ext cx="0" cy="301752"/>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Worktree"/>
          <p:cNvSpPr/>
          <p:nvPr/>
        </p:nvSpPr>
        <p:spPr>
          <a:xfrm>
            <a:off x="1097280" y="1737360"/>
            <a:ext cx="6949440" cy="2240280"/>
          </a:xfrm>
          <a:prstGeom prst="rect">
            <a:avLst/>
          </a:prstGeom>
          <a:noFill/>
          <a:ln w="1905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0" i="0">
                <a:solidFill>
                  <a:srgbClr val="5C4826"/>
                </a:solidFill>
              </a:rPr>
              <a:t/>
            </a:r>
          </a:p>
        </p:txBody>
      </p:sp>
      <p:sp>
        <p:nvSpPr>
          <p:cNvPr id="7" name="WorktreeLabel"/>
          <p:cNvSpPr txBox="1"/>
          <p:nvPr/>
        </p:nvSpPr>
        <p:spPr>
          <a:xfrm>
            <a:off x="1234440" y="1810512"/>
            <a:ext cx="1828800" cy="365760"/>
          </a:xfrm>
          <a:prstGeom prst="rect">
            <a:avLst/>
          </a:prstGeom>
          <a:noFill/>
        </p:spPr>
        <p:txBody>
          <a:bodyPr wrap="square" anchor="t">
            <a:spAutoFit/>
          </a:bodyPr>
          <a:lstStyle/>
          <a:p>
            <a:pPr algn="l"/>
            <a:r>
              <a:rPr sz="2000" b="1" i="0">
                <a:solidFill>
                  <a:srgbClr val="8E6F3E"/>
                </a:solidFill>
              </a:rPr>
              <a:t>WORKTREE</a:t>
            </a:r>
          </a:p>
        </p:txBody>
      </p:sp>
      <p:sp>
        <p:nvSpPr>
          <p:cNvPr id="8" name="EnvRepo"/>
          <p:cNvSpPr/>
          <p:nvPr/>
        </p:nvSpPr>
        <p:spPr>
          <a:xfrm>
            <a:off x="146304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repository</a:t>
            </a:r>
          </a:p>
        </p:txBody>
      </p:sp>
      <p:sp>
        <p:nvSpPr>
          <p:cNvPr id="9" name="EnvTools"/>
          <p:cNvSpPr/>
          <p:nvPr/>
        </p:nvSpPr>
        <p:spPr>
          <a:xfrm>
            <a:off x="370332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tools</a:t>
            </a:r>
          </a:p>
        </p:txBody>
      </p:sp>
      <p:sp>
        <p:nvSpPr>
          <p:cNvPr id="10" name="EnvContext"/>
          <p:cNvSpPr/>
          <p:nvPr/>
        </p:nvSpPr>
        <p:spPr>
          <a:xfrm>
            <a:off x="594360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context</a:t>
            </a:r>
          </a:p>
        </p:txBody>
      </p:sp>
      <p:sp>
        <p:nvSpPr>
          <p:cNvPr id="11" name="EnvAgent"/>
          <p:cNvSpPr/>
          <p:nvPr/>
        </p:nvSpPr>
        <p:spPr>
          <a:xfrm>
            <a:off x="3703320" y="3218688"/>
            <a:ext cx="1737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AGENT</a:t>
            </a:r>
          </a:p>
        </p:txBody>
      </p:sp>
      <p:cxnSp>
        <p:nvCxnSpPr>
          <p:cNvPr id="12" name="Connector 11"/>
          <p:cNvCxnSpPr/>
          <p:nvPr/>
        </p:nvCxnSpPr>
        <p:spPr>
          <a:xfrm>
            <a:off x="233172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72000" y="2743200"/>
            <a:ext cx="0" cy="47548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25780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572000" y="3785615"/>
            <a:ext cx="0" cy="420625"/>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Proposed"/>
          <p:cNvSpPr/>
          <p:nvPr/>
        </p:nvSpPr>
        <p:spPr>
          <a:xfrm>
            <a:off x="3566160" y="4224528"/>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proposed change</a:t>
            </a:r>
          </a:p>
        </p:txBody>
      </p:sp>
      <p:cxnSp>
        <p:nvCxnSpPr>
          <p:cNvPr id="17" name="Connector 16"/>
          <p:cNvCxnSpPr/>
          <p:nvPr/>
        </p:nvCxnSpPr>
        <p:spPr>
          <a:xfrm>
            <a:off x="4572000" y="4700016"/>
            <a:ext cx="0" cy="29260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ommitPR"/>
          <p:cNvSpPr/>
          <p:nvPr/>
        </p:nvSpPr>
        <p:spPr>
          <a:xfrm>
            <a:off x="3566160" y="5010912"/>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 / PR</a:t>
            </a:r>
          </a:p>
        </p:txBody>
      </p:sp>
      <p:sp>
        <p:nvSpPr>
          <p:cNvPr id="19" name="EnvCaption"/>
          <p:cNvSpPr txBox="1"/>
          <p:nvPr/>
        </p:nvSpPr>
        <p:spPr>
          <a:xfrm>
            <a:off x="274320" y="5559552"/>
            <a:ext cx="8595360" cy="365760"/>
          </a:xfrm>
          <a:prstGeom prst="rect">
            <a:avLst/>
          </a:prstGeom>
          <a:noFill/>
        </p:spPr>
        <p:txBody>
          <a:bodyPr wrap="square" anchor="t">
            <a:spAutoFit/>
          </a:bodyPr>
          <a:lstStyle/>
          <a:p>
            <a:pPr algn="ctr"/>
            <a:r>
              <a:rPr sz="2000" b="0" i="1">
                <a:solidFill>
                  <a:srgbClr val="555960"/>
                </a:solidFill>
              </a:rPr>
              <a:t>Git worktree · branch · issue · repository instructions · tools · tests · CI · PR</a:t>
            </a:r>
          </a:p>
        </p:txBody>
      </p:sp>
      <p:sp>
        <p:nvSpPr>
          <p:cNvPr id="0" name="Example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EXAMPLE · PROCESS BOUNDS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2000" b="1" i="0">
                          <a:solidFill>
                            <a:srgbClr val="FFFFFF"/>
                          </a:solidFill>
                        </a:rPr>
                        <a:t>WORK ORDER: Bulk refunds</a:t>
                      </a:r>
                    </a:p>
                  </a:txBody>
                  <a:tcPr anchor="ctr" marL="68580" marR="45720" marT="27432" marB="27432">
                    <a:solidFill>
                      <a:srgbClr val="8E6F3E"/>
                    </a:solidFill>
                  </a:tcPr>
                </a:tc>
                <a:tc hMerge="1">
                  <a:txBody>
                    <a:bodyPr/>
                    <a:lstStyle/>
                    <a:p/>
                  </a:txBody>
                  <a:tcPr/>
                </a:tc>
              </a:tr>
              <a:tr h="640080">
                <a:tc>
                  <a:txBody>
                    <a:bodyPr wrap="square" anchor="ctr"/>
                    <a:lstStyle/>
                    <a:p>
                      <a:pPr algn="l"/>
                      <a:r>
                        <a:rPr sz="2000" b="1" i="0">
                          <a:solidFill>
                            <a:srgbClr val="5C4826"/>
                          </a:solidFill>
                        </a:rPr>
                        <a:t>Goal</a:t>
                      </a:r>
                    </a:p>
                  </a:txBody>
                  <a:tcPr anchor="ctr" marL="68580" marR="45720" marT="27432" marB="27432">
                    <a:solidFill>
                      <a:srgbClr val="F5F1E8"/>
                    </a:solidFill>
                  </a:tcPr>
                </a:tc>
                <a:tc>
                  <a:txBody>
                    <a:bodyPr wrap="square" anchor="ctr"/>
                    <a:lstStyle/>
                    <a:p>
                      <a:pPr algn="l"/>
                      <a:r>
                        <a:rPr sz="2000" b="0" i="0">
                          <a:solidFill>
                            <a:srgbClr val="5C4826"/>
                          </a:solidFill>
                        </a:rPr>
                        <a:t>Add POST /refunds/bulk</a:t>
                      </a:r>
                    </a:p>
                  </a:txBody>
                  <a:tcPr anchor="ctr" marL="68580" marR="45720" marT="27432" marB="27432">
                    <a:solidFill>
                      <a:srgbClr val="FBF8F2"/>
                    </a:solidFill>
                  </a:tcPr>
                </a:tc>
              </a:tr>
              <a:tr h="640080">
                <a:tc>
                  <a:txBody>
                    <a:bodyPr wrap="square" anchor="ctr"/>
                    <a:lstStyle/>
                    <a:p>
                      <a:pPr algn="l"/>
                      <a:r>
                        <a:rPr sz="2000" b="1" i="0">
                          <a:solidFill>
                            <a:srgbClr val="5C4826"/>
                          </a:solidFill>
                        </a:rPr>
                        <a:t>Scope</a:t>
                      </a:r>
                    </a:p>
                  </a:txBody>
                  <a:tcPr anchor="ctr" marL="68580" marR="45720" marT="27432" marB="27432">
                    <a:solidFill>
                      <a:srgbClr val="F5F1E8"/>
                    </a:solidFill>
                  </a:tcPr>
                </a:tc>
                <a:tc>
                  <a:txBody>
                    <a:bodyPr wrap="square" anchor="ctr"/>
                    <a:lstStyle/>
                    <a:p>
                      <a:pPr algn="l"/>
                      <a:r>
                        <a:rPr sz="2000" b="0" i="0">
                          <a:solidFill>
                            <a:srgbClr val="5C4826"/>
                          </a:solidFill>
                        </a:rPr>
                        <a:t>Modify the payments service only</a:t>
                      </a:r>
                    </a:p>
                  </a:txBody>
                  <a:tcPr anchor="ctr" marL="68580" marR="45720" marT="27432" marB="27432">
                    <a:solidFill>
                      <a:srgbClr val="FBF8F2"/>
                    </a:solidFill>
                  </a:tcPr>
                </a:tc>
              </a:tr>
              <a:tr h="640080">
                <a:tc>
                  <a:txBody>
                    <a:bodyPr wrap="square" anchor="ctr"/>
                    <a:lstStyle/>
                    <a:p>
                      <a:pPr algn="l"/>
                      <a:r>
                        <a:rPr sz="2000" b="1" i="0">
                          <a:solidFill>
                            <a:srgbClr val="5C4826"/>
                          </a:solidFill>
                        </a:rPr>
                        <a:t>Preserve</a:t>
                      </a:r>
                    </a:p>
                  </a:txBody>
                  <a:tcPr anchor="ctr" marL="68580" marR="45720" marT="27432" marB="27432">
                    <a:solidFill>
                      <a:srgbClr val="F5F1E8"/>
                    </a:solidFill>
                  </a:tcPr>
                </a:tc>
                <a:tc>
                  <a:txBody>
                    <a:bodyPr wrap="square" anchor="ctr"/>
                    <a:lstStyle/>
                    <a:p>
                      <a:pPr algn="l"/>
                      <a:r>
                        <a:rPr sz="2000" b="0" i="0">
                          <a:solidFill>
                            <a:srgbClr val="5C4826"/>
                          </a:solidFill>
                        </a:rPr>
                        <a:t>Existing single-refund API behavior</a:t>
                      </a:r>
                    </a:p>
                  </a:txBody>
                  <a:tcPr anchor="ctr" marL="68580" marR="45720" marT="27432" marB="27432">
                    <a:solidFill>
                      <a:srgbClr val="FBF8F2"/>
                    </a:solidFill>
                  </a:tcPr>
                </a:tc>
              </a:tr>
              <a:tr h="640080">
                <a:tc>
                  <a:txBody>
                    <a:bodyPr wrap="square" anchor="ctr"/>
                    <a:lstStyle/>
                    <a:p>
                      <a:pPr algn="l"/>
                      <a:r>
                        <a:rPr sz="2000" b="1" i="0">
                          <a:solidFill>
                            <a:srgbClr val="5C4826"/>
                          </a:solidFill>
                        </a:rPr>
                        <a:t>Do not</a:t>
                      </a:r>
                    </a:p>
                  </a:txBody>
                  <a:tcPr anchor="ctr" marL="68580" marR="45720" marT="27432" marB="27432">
                    <a:solidFill>
                      <a:srgbClr val="F5F1E8"/>
                    </a:solidFill>
                  </a:tcPr>
                </a:tc>
                <a:tc>
                  <a:txBody>
                    <a:bodyPr wrap="square" anchor="ctr"/>
                    <a:lstStyle/>
                    <a:p>
                      <a:pPr algn="l"/>
                      <a:r>
                        <a:rPr sz="2000" b="0" i="0">
                          <a:solidFill>
                            <a:srgbClr val="5C4826"/>
                          </a:solidFill>
                        </a:rPr>
                        <a:t>Modify authentication or payment-provider adapters</a:t>
                      </a:r>
                    </a:p>
                  </a:txBody>
                  <a:tcPr anchor="ctr" marL="68580" marR="45720" marT="27432" marB="27432">
                    <a:solidFill>
                      <a:srgbClr val="FBF8F2"/>
                    </a:solidFill>
                  </a:tcPr>
                </a:tc>
              </a:tr>
              <a:tr h="640080">
                <a:tc>
                  <a:txBody>
                    <a:bodyPr wrap="square" anchor="ctr"/>
                    <a:lstStyle/>
                    <a:p>
                      <a:pPr algn="l"/>
                      <a:r>
                        <a:rPr sz="2000" b="1" i="0">
                          <a:solidFill>
                            <a:srgbClr val="5C4826"/>
                          </a:solidFill>
                        </a:rPr>
                        <a:t>Check</a:t>
                      </a:r>
                    </a:p>
                  </a:txBody>
                  <a:tcPr anchor="ctr" marL="68580" marR="45720" marT="27432" marB="27432">
                    <a:solidFill>
                      <a:srgbClr val="F5F1E8"/>
                    </a:solidFill>
                  </a:tcPr>
                </a:tc>
                <a:tc>
                  <a:txBody>
                    <a:bodyPr wrap="square" anchor="ctr"/>
                    <a:lstStyle/>
                    <a:p>
                      <a:pPr algn="l"/>
                      <a:r>
                        <a:rPr sz="2000" b="0" i="0">
                          <a:solidFill>
                            <a:srgbClr val="5C4826"/>
                          </a:solidFill>
                        </a:rPr>
                        <a:t>Existing tests + new bulk-refund tests</a:t>
                      </a:r>
                    </a:p>
                  </a:txBody>
                  <a:tcPr anchor="ctr" marL="68580" marR="45720" marT="27432" marB="27432">
                    <a:solidFill>
                      <a:srgbClr val="FBF8F2"/>
                    </a:solidFill>
                  </a:tcPr>
                </a:tc>
              </a:tr>
              <a:tr h="640080">
                <a:tc>
                  <a:txBody>
                    <a:bodyPr wrap="square" anchor="ctr"/>
                    <a:lstStyle/>
                    <a:p>
                      <a:pPr algn="l"/>
                      <a:r>
                        <a:rPr sz="2000" b="1" i="0">
                          <a:solidFill>
                            <a:srgbClr val="5C4826"/>
                          </a:solidFill>
                        </a:rPr>
                        <a:t>Deliver</a:t>
                      </a:r>
                    </a:p>
                  </a:txBody>
                  <a:tcPr anchor="ctr" marL="68580" marR="45720" marT="27432" marB="27432">
                    <a:solidFill>
                      <a:srgbClr val="F5F1E8"/>
                    </a:solidFill>
                  </a:tcPr>
                </a:tc>
                <a:tc>
                  <a:txBody>
                    <a:bodyPr wrap="square" anchor="ctr"/>
                    <a:lstStyle/>
                    <a:p>
                      <a:pPr algn="l"/>
                      <a:r>
                        <a:rPr sz="2000" b="0" i="0">
                          <a:solidFill>
                            <a:srgbClr val="5C4826"/>
                          </a:solidFill>
                        </a:rPr>
                        <a:t>Commit changes on your worktree and open a PR</a:t>
                      </a:r>
                    </a:p>
                  </a:txBody>
                  <a:tcPr anchor="ctr" marL="68580" marR="45720" marT="27432" marB="27432">
                    <a:solidFill>
                      <a:srgbClr val="FBF8F2"/>
                    </a:solidFill>
                  </a:tcPr>
                </a:tc>
              </a:tr>
              <a:tr h="640080">
                <a:tc>
                  <a:txBody>
                    <a:bodyPr wrap="square" anchor="ctr"/>
                    <a:lstStyle/>
                    <a:p>
                      <a:pPr algn="l"/>
                      <a:r>
                        <a:rPr sz="2000" b="1" i="0">
                          <a:solidFill>
                            <a:srgbClr val="5C4826"/>
                          </a:solidFill>
                        </a:rPr>
                        <a:t>Authority</a:t>
                      </a:r>
                    </a:p>
                  </a:txBody>
                  <a:tcPr anchor="ctr" marL="68580" marR="45720" marT="27432" marB="27432">
                    <a:solidFill>
                      <a:srgbClr val="F5F1E8"/>
                    </a:solidFill>
                  </a:tcPr>
                </a:tc>
                <a:tc>
                  <a:txBody>
                    <a:bodyPr wrap="square" anchor="ctr"/>
                    <a:lstStyle/>
                    <a:p>
                      <a:pPr algn="l"/>
                      <a:r>
                        <a:rPr sz="2000" b="0" i="0">
                          <a:solidFill>
                            <a:srgbClr val="5C4826"/>
                          </a:solidFill>
                        </a:rPr>
                        <a:t>Do not merge or deploy</a:t>
                      </a:r>
                    </a:p>
                  </a:txBody>
                  <a:tcPr anchor="ctr" marL="68580" marR="45720" marT="27432" marB="27432">
                    <a:solidFill>
                      <a:srgbClr val="FBF8F2"/>
                    </a:solidFill>
                  </a:tcPr>
                </a:tc>
              </a:tr>
            </a:tbl>
          </a:graphicData>
        </a:graphic>
      </p:graphicFrame>
      <p:sp>
        <p:nvSpPr>
          <p:cNvPr id="0" name="BoundTask"/>
          <p:cNvSpPr/>
          <p:nvPr/>
        </p:nvSpPr>
        <p:spPr>
          <a:xfrm>
            <a:off x="7178040" y="1554480"/>
            <a:ext cx="1691640" cy="1920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0" name="BoundProcess"/>
          <p:cNvSpPr/>
          <p:nvPr/>
        </p:nvSpPr>
        <p:spPr>
          <a:xfrm>
            <a:off x="7178040" y="3474720"/>
            <a:ext cx="1691640" cy="25603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More instructions means fewer degrees of freedom</a:t>
            </a:r>
          </a:p>
        </p:txBody>
      </p:sp>
      <p:sp>
        <p:nvSpPr>
          <p:cNvPr id="4" name="BoundPanel"/>
          <p:cNvSpPr/>
          <p:nvPr/>
        </p:nvSpPr>
        <p:spPr>
          <a:xfrm>
            <a:off x="50292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2000" b="0" i="0">
                <a:solidFill>
                  <a:srgbClr val="5C4826"/>
                </a:solidFill>
              </a:rPr>
              <a:t>worktree</a:t>
            </a:r>
          </a:p>
          <a:p>
            <a:pPr algn="ctr"/>
            <a:r>
              <a:rPr sz="2000" b="0" i="0">
                <a:solidFill>
                  <a:srgbClr val="5C4826"/>
                </a:solidFill>
              </a:rPr>
              <a:t>files in 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2000" b="0" i="0">
                <a:solidFill>
                  <a:srgbClr val="5C4826"/>
                </a:solidFill>
              </a:rPr>
              <a:t>local implementation</a:t>
            </a:r>
          </a:p>
          <a:p>
            <a:pPr algn="ctr"/>
            <a:r>
              <a:rPr sz="2000" b="0" i="0">
                <a:solidFill>
                  <a:srgbClr val="5C4826"/>
                </a:solidFill>
              </a:rPr>
              <a:t>decomposition</a:t>
            </a:r>
          </a:p>
          <a:p>
            <a:pPr algn="ctr"/>
            <a:r>
              <a:rPr sz="2000" b="0" i="0">
                <a:solidFill>
                  <a:srgbClr val="5C4826"/>
                </a:solidFill>
              </a:rPr>
              <a:t>naming choices</a:t>
            </a:r>
          </a:p>
          <a:p>
            <a:pPr algn="ctr"/>
            <a:r>
              <a:rPr sz="2000" b="0" i="0">
                <a:solidFill>
                  <a:srgbClr val="5C4826"/>
                </a:solidFill>
              </a:rPr>
              <a:t>algorithm, where unconstrained</a:t>
            </a:r>
          </a:p>
          <a:p>
            <a:pPr algn="ctr"/>
            <a:r>
              <a:rPr sz="2000" b="0" i="0">
                <a:solidFill>
                  <a:srgbClr val="5C4826"/>
                </a:solidFill>
              </a:rPr>
              <a:t>order of intermediate edits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Good delegation constrains consequential choices</a:t>
            </a:r>
          </a:p>
          <a:p>
            <a:pPr algn="ctr"/>
            <a:r>
              <a:rPr sz="2000" b="1" i="0">
                <a:solidFill>
                  <a:srgbClr val="FFFFFF"/>
                </a:solidFill>
              </a:rPr>
              <a:t>without prescribing every move.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process is a model</a:t>
            </a:r>
          </a:p>
        </p:txBody>
      </p:sp>
      <p:sp>
        <p:nvSpPr>
          <p:cNvPr id="4" name="PCWorkOrder"/>
          <p:cNvSpPr/>
          <p:nvPr/>
        </p:nvSpPr>
        <p:spPr>
          <a:xfrm>
            <a:off x="502920" y="1005840"/>
            <a:ext cx="17373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1371600" y="1554480"/>
            <a:ext cx="0" cy="36576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PCINSPECT"/>
          <p:cNvSpPr/>
          <p:nvPr/>
        </p:nvSpPr>
        <p:spPr>
          <a:xfrm>
            <a:off x="5029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INSPECT</a:t>
            </a:r>
          </a:p>
        </p:txBody>
      </p:sp>
      <p:cxnSp>
        <p:nvCxnSpPr>
          <p:cNvPr id="7" name="Connector 6"/>
          <p:cNvCxnSpPr/>
          <p:nvPr/>
        </p:nvCxnSpPr>
        <p:spPr>
          <a:xfrm>
            <a:off x="19202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PCMODIFY"/>
          <p:cNvSpPr/>
          <p:nvPr/>
        </p:nvSpPr>
        <p:spPr>
          <a:xfrm>
            <a:off x="21031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cxnSp>
        <p:nvCxnSpPr>
          <p:cNvPr id="9" name="Connector 8"/>
          <p:cNvCxnSpPr/>
          <p:nvPr/>
        </p:nvCxnSpPr>
        <p:spPr>
          <a:xfrm>
            <a:off x="3520439" y="2217420"/>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PCCHECK"/>
          <p:cNvSpPr/>
          <p:nvPr/>
        </p:nvSpPr>
        <p:spPr>
          <a:xfrm>
            <a:off x="37033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CHECK</a:t>
            </a:r>
          </a:p>
        </p:txBody>
      </p:sp>
      <p:cxnSp>
        <p:nvCxnSpPr>
          <p:cNvPr id="11" name="Connector 10"/>
          <p:cNvCxnSpPr/>
          <p:nvPr/>
        </p:nvCxnSpPr>
        <p:spPr>
          <a:xfrm>
            <a:off x="51206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PCCOMMIT"/>
          <p:cNvSpPr/>
          <p:nvPr/>
        </p:nvSpPr>
        <p:spPr>
          <a:xfrm>
            <a:off x="53035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13" name="Connector 12"/>
          <p:cNvCxnSpPr/>
          <p:nvPr/>
        </p:nvCxnSpPr>
        <p:spPr>
          <a:xfrm>
            <a:off x="67208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PCPROPOSE"/>
          <p:cNvSpPr/>
          <p:nvPr/>
        </p:nvSpPr>
        <p:spPr>
          <a:xfrm>
            <a:off x="69037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PROPOSE</a:t>
            </a:r>
          </a:p>
        </p:txBody>
      </p:sp>
      <p:cxnSp>
        <p:nvCxnSpPr>
          <p:cNvPr id="15" name="Connector 14"/>
          <p:cNvCxnSpPr/>
          <p:nvPr/>
        </p:nvCxnSpPr>
        <p:spPr>
          <a:xfrm>
            <a:off x="4411980" y="2514600"/>
            <a:ext cx="0" cy="27432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811779" y="2788920"/>
            <a:ext cx="1600201" cy="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811779" y="2551176"/>
            <a:ext cx="0" cy="237744"/>
          </a:xfrm>
          <a:prstGeom prst="line">
            <a:avLst/>
          </a:prstGeom>
          <a:ln w="19050">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PCAspects"/>
          <p:cNvSpPr txBox="1"/>
          <p:nvPr/>
        </p:nvSpPr>
        <p:spPr>
          <a:xfrm>
            <a:off x="274320" y="3246120"/>
            <a:ext cx="8595360" cy="700000"/>
          </a:xfrm>
          <a:prstGeom prst="rect">
            <a:avLst/>
          </a:prstGeom>
          <a:noFill/>
        </p:spPr>
        <p:txBody>
          <a:bodyPr wrap="square" anchor="t">
            <a:spAutoFit/>
          </a:bodyPr>
          <a:lstStyle/>
          <a:p>
            <a:pPr algn="ctr"/>
            <a:r>
              <a:rPr sz="2000" b="0" i="1">
                <a:solidFill>
                  <a:srgbClr val="555960"/>
                </a:solidFill>
              </a:rPr>
              <a:t>permitted actions · required transitions · stopping criteria · required evidence</a:t>
            </a:r>
          </a:p>
        </p:txBody>
      </p:sp>
      <p:sp>
        <p:nvSpPr>
          <p:cNvPr id="19" name="PCMain"/>
          <p:cNvSpPr txBox="1"/>
          <p:nvPr/>
        </p:nvSpPr>
        <p:spPr>
          <a:xfrm>
            <a:off x="502920" y="3977639"/>
            <a:ext cx="8138160" cy="868680"/>
          </a:xfrm>
          <a:prstGeom prst="rect">
            <a:avLst/>
          </a:prstGeom>
          <a:noFill/>
        </p:spPr>
        <p:txBody>
          <a:bodyPr wrap="square" anchor="t">
            <a:spAutoFit/>
          </a:bodyPr>
          <a:lstStyle/>
          <a:p>
            <a:r>
              <a:rPr sz="2000" b="0" i="0">
                <a:solidFill>
                  <a:srgbClr val="5C4826"/>
                </a:solidFill>
              </a:rPr>
              <a:t>A process model makes consequential actions, transitions, evidence, and stopping conditions explicit.</a:t>
            </a:r>
          </a:p>
        </p:txBody>
      </p:sp>
      <p:sp>
        <p:nvSpPr>
          <p:cNvPr id="20" name="PCCaveat"/>
          <p:cNvSpPr txBox="1"/>
          <p:nvPr/>
        </p:nvSpPr>
        <p:spPr>
          <a:xfrm>
            <a:off x="502920" y="4983480"/>
            <a:ext cx="8138160" cy="457200"/>
          </a:xfrm>
          <a:prstGeom prst="rect">
            <a:avLst/>
          </a:prstGeom>
          <a:noFill/>
        </p:spPr>
        <p:txBody>
          <a:bodyPr wrap="square" anchor="t">
            <a:spAutoFit/>
          </a:bodyPr>
          <a:lstStyle/>
          <a:p>
            <a:pPr algn="ctr"/>
            <a:r>
              <a:rPr sz="2000" b="1" i="0">
                <a:solidFill>
                  <a:srgbClr val="8E6F3E"/>
                </a:solidFill>
              </a:rPr>
              <a:t>It need not prescribe the agent’s internal reasoning.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a:t>Either bound can be violated</a:t>
            </a:r>
          </a:p>
        </p:txBody>
      </p:sp>
      <p:sp>
        <p:nvSpPr>
          <p:cNvPr id="0" name="TaxHead-result"/>
          <p:cNvSpPr/>
          <p:nvPr/>
        </p:nvSpPr>
        <p:spPr>
          <a:xfrm>
            <a:off x="2286000" y="1005840"/>
            <a:ext cx="320040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TaxHead-process"/>
          <p:cNvSpPr/>
          <p:nvPr/>
        </p:nvSpPr>
        <p:spPr>
          <a:xfrm>
            <a:off x="5577840" y="1005840"/>
            <a:ext cx="329184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TaxLbl-QUESTI"/>
          <p:cNvSpPr/>
          <p:nvPr/>
        </p:nvSpPr>
        <p:spPr>
          <a:xfrm>
            <a:off x="274320" y="173736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QUESTION</a:t>
            </a:r>
          </a:p>
        </p:txBody>
      </p:sp>
      <p:sp>
        <p:nvSpPr>
          <p:cNvPr id="0" name="TaxC1-QUESTI"/>
          <p:cNvSpPr/>
          <p:nvPr/>
        </p:nvSpPr>
        <p:spPr>
          <a:xfrm>
            <a:off x="2286000" y="173736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Did the artifact satisfy its obligations?</a:t>
            </a:r>
          </a:p>
        </p:txBody>
      </p:sp>
      <p:sp>
        <p:nvSpPr>
          <p:cNvPr id="0" name="TaxC2-QUESTI"/>
          <p:cNvSpPr/>
          <p:nvPr/>
        </p:nvSpPr>
        <p:spPr>
          <a:xfrm>
            <a:off x="5577840" y="173736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Was the work performed within the delegated process?</a:t>
            </a:r>
          </a:p>
        </p:txBody>
      </p:sp>
      <p:sp>
        <p:nvSpPr>
          <p:cNvPr id="0" name="TaxLbl-EXAMPL"/>
          <p:cNvSpPr/>
          <p:nvPr/>
        </p:nvSpPr>
        <p:spPr>
          <a:xfrm>
            <a:off x="274320" y="292608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EXAMPLE</a:t>
            </a:r>
          </a:p>
        </p:txBody>
      </p:sp>
      <p:sp>
        <p:nvSpPr>
          <p:cNvPr id="0" name="TaxC1-EXAMPL"/>
          <p:cNvSpPr/>
          <p:nvPr/>
        </p:nvSpPr>
        <p:spPr>
          <a:xfrm>
            <a:off x="2286000" y="292608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Existing API behavior changes</a:t>
            </a:r>
          </a:p>
        </p:txBody>
      </p:sp>
      <p:sp>
        <p:nvSpPr>
          <p:cNvPr id="0" name="TaxC2-EXAMPL"/>
          <p:cNvSpPr/>
          <p:nvPr/>
        </p:nvSpPr>
        <p:spPr>
          <a:xfrm>
            <a:off x="5577840" y="292608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Agent modifies a forbidden dependency</a:t>
            </a:r>
          </a:p>
        </p:txBody>
      </p:sp>
      <p:sp>
        <p:nvSpPr>
          <p:cNvPr id="0" name="TaxLbl-VALIDA"/>
          <p:cNvSpPr/>
          <p:nvPr/>
        </p:nvSpPr>
        <p:spPr>
          <a:xfrm>
            <a:off x="274320" y="411480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VALIDATION TARGET</a:t>
            </a:r>
          </a:p>
        </p:txBody>
      </p:sp>
      <p:sp>
        <p:nvSpPr>
          <p:cNvPr id="0" name="TaxC1-VALIDA"/>
          <p:cNvSpPr/>
          <p:nvPr/>
        </p:nvSpPr>
        <p:spPr>
          <a:xfrm>
            <a:off x="2286000" y="411480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Artifact / system state</a:t>
            </a:r>
          </a:p>
        </p:txBody>
      </p:sp>
      <p:sp>
        <p:nvSpPr>
          <p:cNvPr id="0" name="TaxC2-VALIDA"/>
          <p:cNvSpPr/>
          <p:nvPr/>
        </p:nvSpPr>
        <p:spPr>
          <a:xfrm>
            <a:off x="5577840" y="411480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Actions / evidence / authority</a:t>
            </a:r>
          </a:p>
        </p:txBody>
      </p:sp>
      <p:sp>
        <p:nvSpPr>
          <p:cNvPr id="0"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731520"/>
          </a:xfrm>
          <a:prstGeom prst="rect">
            <a:avLst/>
          </a:prstGeom>
          <a:noFill/>
        </p:spPr>
        <p:txBody>
          <a:bodyPr wrap="square" anchor="t">
            <a:spAutoFit/>
          </a:bodyPr>
          <a:lstStyle/>
          <a:p>
            <a:pPr algn="ctr"/>
            <a:r>
              <a:rPr sz="2000" b="0" i="1">
                <a:solidFill>
                  <a:srgbClr val="555960"/>
                </a:solidFill>
              </a:rPr>
              <a:t>wrong behavior · violated invariant · excessive memory · incompatible API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Work exceeds the work order</a:t>
            </a:r>
          </a:p>
          <a:p>
            <a:pPr algn="l">
              <a:spcBef>
                <a:spcPts val="900"/>
              </a:spcBef>
              <a:buNone/>
            </a:pPr>
            <a:r>
              <a:rPr lang="en-US" sz="2000" b="0" i="1" dirty="0">
                <a:solidFill>
                  <a:srgbClr val="555960"/>
                </a:solidFill>
              </a:rPr>
              <a:t>modifies forbidden file / changes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Agent takes an unauthorized consequential action</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Required evidence is absent or inadequate</a:t>
            </a:r>
          </a:p>
          <a:p>
            <a:pPr algn="l">
              <a:spcBef>
                <a:spcPts val="900"/>
              </a:spcBef>
              <a:buNone/>
            </a:pPr>
            <a:r>
              <a:rPr lang="en-US" sz="2000" b="0" i="1" dirty="0">
                <a:solidFill>
                  <a:srgbClr val="555960"/>
                </a:solidFill>
              </a:rPr>
              <a:t>“all tests pass” without establishing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17</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 in a control system</a:t>
            </a:r>
          </a:p>
        </p:txBody>
      </p:sp>
      <p:sp>
        <p:nvSpPr>
          <p:cNvPr id="4" name="Slide Number Placeholder 5"/>
          <p:cNvSpPr>
            <a:spLocks noGrp="1"/>
          </p:cNvSpPr>
          <p:nvPr>
            <p:ph type="sldNum" sz="quarter" idx="4"/>
          </p:nvPr>
        </p:nvSpPr>
        <p:spPr/>
        <p:txBody>
          <a:bodyPr/>
          <a:lstStyle/>
          <a:p>
            <a:fld id="{B7EB45DA-9A0D-DC49-8E02-F30A5DDC21C3}" type="slidenum">
              <a:rPr lang="en-US" smtClean="0"/>
              <a:t>19</a:t>
            </a:fld>
            <a:endParaRPr lang="en-US"/>
          </a:p>
        </p:txBody>
      </p:sp>
      <p:sp>
        <p:nvSpPr>
          <p:cNvPr id="0" name="Pipe-WORK"/>
          <p:cNvSpPr/>
          <p:nvPr/>
        </p:nvSpPr>
        <p:spPr>
          <a:xfrm>
            <a:off x="27432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WORK</a:t>
            </a:r>
          </a:p>
        </p:txBody>
      </p:sp>
      <p:sp>
        <p:nvSpPr>
          <p:cNvPr id="0" name="Pipe-SENSOR"/>
          <p:cNvSpPr/>
          <p:nvPr/>
        </p:nvSpPr>
        <p:spPr>
          <a:xfrm>
            <a:off x="204816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Pipe-VALIDATOR"/>
          <p:cNvSpPr/>
          <p:nvPr/>
        </p:nvSpPr>
        <p:spPr>
          <a:xfrm>
            <a:off x="382200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Pipe-GATE"/>
          <p:cNvSpPr/>
          <p:nvPr/>
        </p:nvSpPr>
        <p:spPr>
          <a:xfrm>
            <a:off x="559584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GATE</a:t>
            </a:r>
          </a:p>
        </p:txBody>
      </p:sp>
      <p:sp>
        <p:nvSpPr>
          <p:cNvPr id="0" name="Pipe-MERGE-DEPLOY"/>
          <p:cNvSpPr/>
          <p:nvPr/>
        </p:nvSpPr>
        <p:spPr>
          <a:xfrm>
            <a:off x="7205472" y="2560320"/>
            <a:ext cx="1664208" cy="914400"/>
          </a:xfrm>
          <a:prstGeom prst="rect">
            <a:avLst/>
          </a:prstGeom>
          <a:solidFill>
            <a:srgbClr val="F5F1E8"/>
          </a:solidFill>
          <a:ln w="12700">
            <a:solidFill>
              <a:srgbClr val="C9B991"/>
            </a:solidFill>
          </a:ln>
          <a:effectLst/>
        </p:spPr>
        <p:txBody>
          <a:bodyPr rtlCol="0" anchor="ctr" wrap="square" lIns="12700" rIns="12700" tIns="22860" bIns="22860"/>
          <a:lstStyle/>
          <a:p>
            <a:pPr algn="ctr">
              <a:buNone/>
            </a:pPr>
            <a:r>
              <a:rPr lang="en-US" sz="2000" b="1" i="0" dirty="0">
                <a:solidFill>
                  <a:srgbClr val="5C4826"/>
                </a:solidFill>
              </a:rPr>
              <a:t>CONSEQUENCE</a:t>
            </a:r>
          </a:p>
          <a:p>
            <a:pPr algn="ctr">
              <a:buNone/>
            </a:pPr>
            <a:r>
              <a:rPr lang="en-US" sz="2000" b="0" i="0" dirty="0">
                <a:solidFill>
                  <a:srgbClr val="5C4826"/>
                </a:solidFill>
              </a:rPr>
              <a:t>merge · deploy</a:t>
            </a:r>
          </a:p>
        </p:txBody>
      </p:sp>
      <p:cxnSp>
        <p:nvCxnSpPr>
          <p:cNvPr id="0" name="PipeArrow0"/>
          <p:cNvCxnSpPr/>
          <p:nvPr/>
        </p:nvCxnSpPr>
        <p:spPr>
          <a:xfrm>
            <a:off x="1774320" y="3020040"/>
            <a:ext cx="273840" cy="0"/>
          </a:xfrm>
          <a:prstGeom prst="straightConnector1">
            <a:avLst/>
          </a:prstGeom>
          <a:ln w="19050">
            <a:solidFill>
              <a:srgbClr val="8E6F3E"/>
            </a:solidFill>
            <a:tailEnd type="triangle"/>
          </a:ln>
        </p:spPr>
      </p:cxnSp>
      <p:cxnSp>
        <p:nvCxnSpPr>
          <p:cNvPr id="0" name="PipeArrow1"/>
          <p:cNvCxnSpPr/>
          <p:nvPr/>
        </p:nvCxnSpPr>
        <p:spPr>
          <a:xfrm>
            <a:off x="3548160" y="3020040"/>
            <a:ext cx="273840" cy="0"/>
          </a:xfrm>
          <a:prstGeom prst="straightConnector1">
            <a:avLst/>
          </a:prstGeom>
          <a:ln w="19050">
            <a:solidFill>
              <a:srgbClr val="8E6F3E"/>
            </a:solidFill>
            <a:tailEnd type="triangle"/>
          </a:ln>
        </p:spPr>
      </p:cxnSp>
      <p:cxnSp>
        <p:nvCxnSpPr>
          <p:cNvPr id="0" name="PipeArrow2"/>
          <p:cNvCxnSpPr/>
          <p:nvPr/>
        </p:nvCxnSpPr>
        <p:spPr>
          <a:xfrm>
            <a:off x="5322000" y="3020040"/>
            <a:ext cx="273840" cy="0"/>
          </a:xfrm>
          <a:prstGeom prst="straightConnector1">
            <a:avLst/>
          </a:prstGeom>
          <a:ln w="19050">
            <a:solidFill>
              <a:srgbClr val="8E6F3E"/>
            </a:solidFill>
            <a:tailEnd type="triangle"/>
          </a:ln>
        </p:spPr>
      </p:cxnSp>
      <p:cxnSp>
        <p:nvCxnSpPr>
          <p:cNvPr id="0" name="PipeArrow3"/>
          <p:cNvCxnSpPr/>
          <p:nvPr/>
        </p:nvCxnSpPr>
        <p:spPr>
          <a:xfrm>
            <a:off x="7095744" y="3017520"/>
            <a:ext cx="155448" cy="0"/>
          </a:xfrm>
          <a:prstGeom prst="straightConnector1">
            <a:avLst/>
          </a:prstGeom>
          <a:ln w="19050">
            <a:solidFill>
              <a:srgbClr val="8E6F3E"/>
            </a:solidFill>
            <a:tailEnd type="triangle"/>
          </a:ln>
        </p:spPr>
      </p:cxnSp>
      <p:sp>
        <p:nvSpPr>
          <p:cNvPr id="0" name="Pipe-evidence"/>
          <p:cNvSpPr/>
          <p:nvPr/>
        </p:nvSpPr>
        <p:spPr>
          <a:xfrm>
            <a:off x="313668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evidence</a:t>
            </a:r>
          </a:p>
        </p:txBody>
      </p:sp>
      <p:sp>
        <p:nvSpPr>
          <p:cNvPr id="0" name="Pipe-verdict"/>
          <p:cNvSpPr/>
          <p:nvPr/>
        </p:nvSpPr>
        <p:spPr>
          <a:xfrm>
            <a:off x="491052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verdict</a:t>
            </a:r>
          </a:p>
        </p:txBody>
      </p:sp>
      <p:sp>
        <p:nvSpPr>
          <p:cNvPr id="0" name="Pipe-obligation"/>
          <p:cNvSpPr/>
          <p:nvPr/>
        </p:nvSpPr>
        <p:spPr>
          <a:xfrm>
            <a:off x="3822191" y="1325880"/>
            <a:ext cx="150000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obligation</a:t>
            </a:r>
          </a:p>
        </p:txBody>
      </p:sp>
      <p:cxnSp>
        <p:nvCxnSpPr>
          <p:cNvPr id="0" name="PipeArrowObl"/>
          <p:cNvCxnSpPr/>
          <p:nvPr/>
        </p:nvCxnSpPr>
        <p:spPr>
          <a:xfrm>
            <a:off x="4572000" y="1783080"/>
            <a:ext cx="0" cy="914400"/>
          </a:xfrm>
          <a:prstGeom prst="straightConnector1">
            <a:avLst/>
          </a:prstGeom>
          <a:ln w="19050">
            <a:solidFill>
              <a:srgbClr val="8E6F3E"/>
            </a:solidFill>
            <a:tailEnd type="triangle"/>
          </a:ln>
        </p:spPr>
      </p:cxnSp>
      <p:sp>
        <p:nvSpPr>
          <p:cNvPr id="0" name="Pipe-CONSTRAINT"/>
          <p:cNvSpPr/>
          <p:nvPr/>
        </p:nvSpPr>
        <p:spPr>
          <a:xfrm>
            <a:off x="274320" y="420624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CONSTRAINT</a:t>
            </a:r>
          </a:p>
        </p:txBody>
      </p:sp>
      <p:cxnSp>
        <p:nvCxnSpPr>
          <p:cNvPr id="0" name="PipeArrowCon"/>
          <p:cNvCxnSpPr/>
          <p:nvPr/>
        </p:nvCxnSpPr>
        <p:spPr>
          <a:xfrm flipV="1">
            <a:off x="1024320" y="3340080"/>
            <a:ext cx="0" cy="866160"/>
          </a:xfrm>
          <a:prstGeom prst="straightConnector1">
            <a:avLst/>
          </a:prstGeom>
          <a:ln w="19050">
            <a:solidFill>
              <a:srgbClr val="8E6F3E"/>
            </a:solidFill>
            <a:tailEnd type="triangle"/>
          </a:ln>
        </p:spPr>
      </p:cxnSp>
      <p:sp>
        <p:nvSpPr>
          <p:cNvPr id="903" name="Pipe-admits"/>
          <p:cNvSpPr/>
          <p:nvPr/>
        </p:nvSpPr>
        <p:spPr>
          <a:xfrm>
            <a:off x="668436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admits</a:t>
            </a:r>
          </a:p>
        </p:txBody>
      </p:sp>
      <p:sp>
        <p:nvSpPr>
          <p:cNvPr id="904" name="TextBox 5"/>
          <p:cNvSpPr txBox="1"/>
          <p:nvPr/>
        </p:nvSpPr>
        <p:spPr>
          <a:xfrm>
            <a:off x="1911095" y="3474720"/>
            <a:ext cx="1773936" cy="1463040"/>
          </a:xfrm>
          <a:prstGeom prst="rect">
            <a:avLst/>
          </a:prstGeom>
          <a:noFill/>
        </p:spPr>
        <p:txBody>
          <a:bodyPr wrap="square" anchor="ctr">
            <a:spAutoFit/>
          </a:bodyPr>
          <a:lstStyle/>
          <a:p>
            <a:pPr algn="ctr"/>
            <a:r>
              <a:rPr sz="2000" b="0">
                <a:solidFill>
                  <a:srgbClr val="555960"/>
                </a:solidFill>
              </a:rPr>
              <a:t>observes what happened and produces evidence</a:t>
            </a:r>
          </a:p>
        </p:txBody>
      </p:sp>
      <p:sp>
        <p:nvSpPr>
          <p:cNvPr id="905" name="TextBox 5"/>
          <p:cNvSpPr txBox="1"/>
          <p:nvPr/>
        </p:nvSpPr>
        <p:spPr>
          <a:xfrm>
            <a:off x="3685032" y="3474720"/>
            <a:ext cx="1773936" cy="1463040"/>
          </a:xfrm>
          <a:prstGeom prst="rect">
            <a:avLst/>
          </a:prstGeom>
          <a:noFill/>
        </p:spPr>
        <p:txBody>
          <a:bodyPr wrap="square" anchor="ctr">
            <a:spAutoFit/>
          </a:bodyPr>
          <a:lstStyle/>
          <a:p>
            <a:pPr algn="ctr"/>
            <a:r>
              <a:rPr sz="2000" b="0">
                <a:solidFill>
                  <a:srgbClr val="555960"/>
                </a:solidFill>
              </a:rPr>
              <a:t>evaluates evidence against an obligation</a:t>
            </a:r>
          </a:p>
        </p:txBody>
      </p:sp>
      <p:sp>
        <p:nvSpPr>
          <p:cNvPr id="906" name="TextBox 5"/>
          <p:cNvSpPr txBox="1"/>
          <p:nvPr/>
        </p:nvSpPr>
        <p:spPr>
          <a:xfrm>
            <a:off x="5458968" y="3474720"/>
            <a:ext cx="1773936" cy="1463040"/>
          </a:xfrm>
          <a:prstGeom prst="rect">
            <a:avLst/>
          </a:prstGeom>
          <a:noFill/>
        </p:spPr>
        <p:txBody>
          <a:bodyPr wrap="square" anchor="ctr">
            <a:spAutoFit/>
          </a:bodyPr>
          <a:lstStyle/>
          <a:p>
            <a:pPr algn="ctr"/>
            <a:r>
              <a:rPr sz="2000" b="0">
                <a:solidFill>
                  <a:srgbClr val="555960"/>
                </a:solidFill>
              </a:rPr>
              <a:t>controls whether work crosses a boundary</a:t>
            </a:r>
          </a:p>
        </p:txBody>
      </p:sp>
      <p:sp>
        <p:nvSpPr>
          <p:cNvPr id="907" name="TextBox 5"/>
          <p:cNvSpPr txBox="1"/>
          <p:nvPr/>
        </p:nvSpPr>
        <p:spPr>
          <a:xfrm>
            <a:off x="45720" y="4919472"/>
            <a:ext cx="1956816" cy="731520"/>
          </a:xfrm>
          <a:prstGeom prst="rect">
            <a:avLst/>
          </a:prstGeom>
          <a:noFill/>
        </p:spPr>
        <p:txBody>
          <a:bodyPr wrap="square" anchor="ctr">
            <a:spAutoFit/>
          </a:bodyPr>
          <a:lstStyle/>
          <a:p>
            <a:pPr algn="ctr"/>
            <a:r>
              <a:rPr sz="2000" b="0">
                <a:solidFill>
                  <a:srgbClr val="555960"/>
                </a:solidFill>
              </a:rPr>
              <a:t>narrows what may happen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20</a:t>
            </a:fld>
            <a:endParaRPr lang="en-US"/>
          </a:p>
        </p:txBody>
      </p:sp>
      <p:sp>
        <p:nvSpPr>
          <p:cNvPr id="5" name="TextBox 4"/>
          <p:cNvSpPr txBox="1"/>
          <p:nvPr/>
        </p:nvSpPr>
        <p:spPr>
          <a:xfrm>
            <a:off x="137160" y="1572768"/>
            <a:ext cx="1371600" cy="640080"/>
          </a:xfrm>
          <a:prstGeom prst="rect">
            <a:avLst/>
          </a:prstGeom>
          <a:noFill/>
        </p:spPr>
        <p:txBody>
          <a:bodyPr wrap="square" anchor="ctr">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371600" cy="640080"/>
          </a:xfrm>
          <a:prstGeom prst="rect">
            <a:avLst/>
          </a:prstGeom>
          <a:noFill/>
        </p:spPr>
        <p:txBody>
          <a:bodyPr wrap="square" anchor="ctr">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62763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evidence supports a judgment.</a:t>
            </a:r>
          </a:p>
          <a:p>
            <a:pPr algn="ctr"/>
            <a:r>
              <a:rPr sz="2000" b="0" i="1">
                <a:solidFill>
                  <a:srgbClr val="555960"/>
                </a:solidFill>
              </a:rPr>
              <a:t>Alignment asks what that judgment controls.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22</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23</a:t>
            </a:fld>
            <a:endParaRPr lang="en-US"/>
          </a:p>
        </p:txBody>
      </p:sp>
      <p:sp>
        <p:nvSpPr>
          <p:cNvPr id="10" name="SemanticGapTakeaway"/>
          <p:cNvSpPr txBox="1"/>
          <p:nvPr/>
        </p:nvSpPr>
        <p:spPr>
          <a:xfrm>
            <a:off x="274320" y="5029200"/>
            <a:ext cx="8595360" cy="640080"/>
          </a:xfrm>
          <a:prstGeom prst="rect">
            <a:avLst/>
          </a:prstGeom>
          <a:noFill/>
        </p:spPr>
        <p:txBody>
          <a:bodyPr wrap="square" anchor="t" lIns="27432" rIns="27432" tIns="22860" bIns="22860">
            <a:spAutoFit/>
          </a:bodyPr>
          <a:lstStyle/>
          <a:p>
            <a:pPr algn="ctr"/>
            <a:r>
              <a:rPr sz="2000" b="0" i="0">
                <a:solidFill>
                  <a:srgbClr val="5C4826"/>
                </a:solidFill>
              </a:rPr>
              <a:t>The obligation is right. The earlier boundary cannot decide it yet.</a:t>
            </a:r>
          </a:p>
        </p:txBody>
      </p:sp>
      <p:sp>
        <p:nvSpPr>
          <p:cNvPr id="19" name="SG-Unit"/>
          <p:cNvSpPr/>
          <p:nvPr/>
        </p:nvSpPr>
        <p:spPr>
          <a:xfrm>
            <a:off x="2103120" y="178308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COMPLETED UNIT OF WORK</a:t>
            </a:r>
          </a:p>
          <a:p>
            <a:pPr algn="ctr"/>
            <a:r>
              <a:rPr sz="2000" b="0" i="1">
                <a:solidFill>
                  <a:srgbClr val="FBF8F2"/>
                </a:solidFill>
              </a:rPr>
              <a:t>✓  obligation decidable here</a:t>
            </a:r>
          </a:p>
        </p:txBody>
      </p:sp>
      <p:cxnSp>
        <p:nvCxnSpPr>
          <p:cNvPr id="20" name="SG-Lift"/>
          <p:cNvCxnSpPr/>
          <p:nvPr/>
        </p:nvCxnSpPr>
        <p:spPr>
          <a:xfrm flipV="1">
            <a:off x="4572000" y="2788920"/>
            <a:ext cx="0" cy="8686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657600"/>
            <a:ext cx="8595360" cy="457200"/>
          </a:xfrm>
          <a:prstGeom prst="rect">
            <a:avLst/>
          </a:prstGeom>
          <a:noFill/>
        </p:spPr>
        <p:txBody>
          <a:bodyPr wrap="square" anchor="t" lIns="27432" rIns="27432" tIns="22860" bIns="22860">
            <a:spAutoFit/>
          </a:bodyPr>
          <a:lstStyle/>
          <a:p>
            <a:pPr algn="ctr"/>
            <a:r>
              <a:rPr sz="2000" b="0" i="1">
                <a:solidFill>
                  <a:srgbClr val="8E6F3E"/>
                </a:solidFill>
              </a:rPr>
              <a:t>✗  not decidable at any individual commit</a:t>
            </a:r>
          </a:p>
        </p:txBody>
      </p:sp>
      <p:sp>
        <p:nvSpPr>
          <p:cNvPr id="22" name="SG-Commit1"/>
          <p:cNvSpPr/>
          <p:nvPr/>
        </p:nvSpPr>
        <p:spPr>
          <a:xfrm>
            <a:off x="1828800"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3" name="SG-Commit2"/>
          <p:cNvSpPr/>
          <p:nvPr/>
        </p:nvSpPr>
        <p:spPr>
          <a:xfrm>
            <a:off x="3264408"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4" name="SG-Commit3"/>
          <p:cNvSpPr/>
          <p:nvPr/>
        </p:nvSpPr>
        <p:spPr>
          <a:xfrm>
            <a:off x="4700016"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5" name="SG-Commit4"/>
          <p:cNvSpPr/>
          <p:nvPr/>
        </p:nvSpPr>
        <p:spPr>
          <a:xfrm>
            <a:off x="6135624"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cxnSp>
        <p:nvCxnSpPr>
          <p:cNvPr id="26" name="SG-Arrow1"/>
          <p:cNvCxnSpPr/>
          <p:nvPr/>
        </p:nvCxnSpPr>
        <p:spPr>
          <a:xfrm>
            <a:off x="3026664"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1" name="Rectangle 4"/>
          <p:cNvSpPr/>
          <p:nvPr/>
        </p:nvSpPr>
        <p:spPr>
          <a:xfrm>
            <a:off x="274320" y="896112"/>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OBLIGATION  </a:t>
            </a:r>
            <a:r>
              <a:rPr sz="2000" b="0" i="0">
                <a:solidFill>
                  <a:srgbClr val="5C4826"/>
                </a:solidFill>
              </a:rPr>
              <a:t>Code and architectural model must agree when the task completes.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25</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You already have two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27</a:t>
            </a:fld>
            <a:endParaRPr lang="en-US"/>
          </a:p>
        </p:txBody>
      </p:sp>
      <p:sp>
        <p:nvSpPr>
          <p:cNvPr id="0" name="Lab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FROM THE MODELING LAB</a:t>
            </a:r>
          </a:p>
        </p:txBody>
      </p:sp>
      <p:sp>
        <p:nvSpPr>
          <p:cNvPr id="0" name="Card-memory"/>
          <p:cNvSpPr/>
          <p:nvPr/>
        </p:nvSpPr>
        <p:spPr>
          <a:xfrm>
            <a:off x="50292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0" name="Card-control"/>
          <p:cNvSpPr/>
          <p:nvPr/>
        </p:nvSpPr>
        <p:spPr>
          <a:xfrm>
            <a:off x="466344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DISCUSSION  ·  What do these models buy us in validation?</a:t>
            </a:r>
          </a:p>
        </p:txBody>
      </p:sp>
      <p:sp>
        <p:nvSpPr>
          <p:cNvPr id="101" name="TextBox 13"/>
          <p:cNvSpPr txBox="1"/>
          <p:nvPr/>
        </p:nvSpPr>
        <p:spPr>
          <a:xfrm>
            <a:off x="274320" y="4526280"/>
            <a:ext cx="8595360" cy="320040"/>
          </a:xfrm>
          <a:prstGeom prst="rect">
            <a:avLst/>
          </a:prstGeom>
          <a:noFill/>
        </p:spPr>
        <p:txBody>
          <a:bodyPr wrap="square" anchor="t">
            <a:spAutoFit/>
          </a:bodyPr>
          <a:lstStyle/>
          <a:p>
            <a:pPr algn="ctr"/>
            <a:r>
              <a:rPr sz="2000" b="1">
                <a:solidFill>
                  <a:srgbClr val="8E6F3E"/>
                </a:solidFill>
              </a:rPr>
              <a:t>VALIDATION SURFACE</a:t>
            </a:r>
          </a:p>
        </p:txBody>
      </p:sp>
      <p:sp>
        <p:nvSpPr>
          <p:cNvPr id="102" name="TextBox 13"/>
          <p:cNvSpPr txBox="1"/>
          <p:nvPr/>
        </p:nvSpPr>
        <p:spPr>
          <a:xfrm>
            <a:off x="274320" y="4864608"/>
            <a:ext cx="8595360" cy="777240"/>
          </a:xfrm>
          <a:prstGeom prst="rect">
            <a:avLst/>
          </a:prstGeom>
          <a:noFill/>
        </p:spPr>
        <p:txBody>
          <a:bodyPr wrap="square" anchor="t">
            <a:spAutoFit/>
          </a:bodyPr>
          <a:lstStyle/>
          <a:p>
            <a:pPr algn="ctr"/>
            <a:r>
              <a:rPr sz="2000" b="0">
                <a:solidFill>
                  <a:srgbClr val="5C4826"/>
                </a:solidFill>
              </a:rPr>
              <a:t>preserve consequential distinctions   ·   expose relationships</a:t>
            </a:r>
          </a:p>
          <a:p>
            <a:pPr algn="ctr"/>
            <a:r>
              <a:rPr sz="2000" b="0">
                <a:solidFill>
                  <a:srgbClr val="5C4826"/>
                </a:solidFill>
              </a:rPr>
              <a:t>leave irrelevant choices open   ·   enable evaluation without reconstruction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static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29</a:t>
            </a:fld>
            <a:endParaRPr lang="en-US"/>
          </a:p>
        </p:txBody>
      </p:sp>
      <p:sp>
        <p:nvSpPr>
          <p:cNvPr id="0" name="St-MODEL"/>
          <p:cNvSpPr/>
          <p:nvPr/>
        </p:nvSpPr>
        <p:spPr>
          <a:xfrm>
            <a:off x="50292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a:t>
            </a:r>
          </a:p>
        </p:txBody>
      </p:sp>
      <p:sp>
        <p:nvSpPr>
          <p:cNvPr id="0" name="St-ANALYSIS"/>
          <p:cNvSpPr/>
          <p:nvPr/>
        </p:nvSpPr>
        <p:spPr>
          <a:xfrm>
            <a:off x="3291840" y="1005840"/>
            <a:ext cx="256032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STATIC ANALYSIS</a:t>
            </a:r>
          </a:p>
        </p:txBody>
      </p:sp>
      <p:sp>
        <p:nvSpPr>
          <p:cNvPr id="0" name="St-VERDICT"/>
          <p:cNvSpPr/>
          <p:nvPr/>
        </p:nvSpPr>
        <p:spPr>
          <a:xfrm>
            <a:off x="681228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VERDICT</a:t>
            </a:r>
          </a:p>
        </p:txBody>
      </p:sp>
      <p:cxnSp>
        <p:nvCxnSpPr>
          <p:cNvPr id="0" name="St-A1"/>
          <p:cNvCxnSpPr/>
          <p:nvPr/>
        </p:nvCxnSpPr>
        <p:spPr>
          <a:xfrm>
            <a:off x="2331720" y="1325880"/>
            <a:ext cx="960120" cy="0"/>
          </a:xfrm>
          <a:prstGeom prst="straightConnector1">
            <a:avLst/>
          </a:prstGeom>
          <a:ln w="19050">
            <a:solidFill>
              <a:srgbClr val="8E6F3E"/>
            </a:solidFill>
            <a:tailEnd type="triangle"/>
          </a:ln>
        </p:spPr>
      </p:cxnSp>
      <p:cxnSp>
        <p:nvCxnSpPr>
          <p:cNvPr id="0" name="St-A2"/>
          <p:cNvCxnSpPr/>
          <p:nvPr/>
        </p:nvCxnSpPr>
        <p:spPr>
          <a:xfrm>
            <a:off x="5852160" y="1325880"/>
            <a:ext cx="960120" cy="0"/>
          </a:xfrm>
          <a:prstGeom prst="straightConnector1">
            <a:avLst/>
          </a:prstGeom>
          <a:ln w="19050">
            <a:solidFill>
              <a:srgbClr val="8E6F3E"/>
            </a:solidFill>
            <a:tailEnd type="triangle"/>
          </a:ln>
        </p:spPr>
      </p:cxnSp>
      <p:sp>
        <p:nvSpPr>
          <p:cNvPr id="0" name="St-Questions"/>
          <p:cNvSpPr/>
          <p:nvPr/>
        </p:nvSpPr>
        <p:spPr>
          <a:xfrm>
            <a:off x="502920" y="2103120"/>
            <a:ext cx="8138160" cy="329184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1" i="0" dirty="0">
                <a:solidFill>
                  <a:srgbClr val="5C4826"/>
                </a:solidFill>
              </a:rPr>
              <a:t>Questions the lab model can already decide:</a:t>
            </a:r>
          </a:p>
          <a:p>
            <a:pPr algn="l">
              <a:spcBef>
                <a:spcPts val="900"/>
              </a:spcBef>
              <a:buNone/>
            </a:pPr>
            <a:r>
              <a:rPr lang="en-US" sz="2000" b="0" i="0" dirty="0">
                <a:solidFill>
                  <a:srgbClr val="5C4826"/>
                </a:solidFill>
              </a:rPr>
              <a:t>Can admitted threads exceed the memory ceiling?</a:t>
            </a:r>
          </a:p>
          <a:p>
            <a:pPr algn="l">
              <a:spcBef>
                <a:spcPts val="900"/>
              </a:spcBef>
              <a:buNone/>
            </a:pPr>
            <a:r>
              <a:rPr lang="en-US" sz="2000" b="0" i="0" dirty="0">
                <a:solidFill>
                  <a:srgbClr val="5C4826"/>
                </a:solidFill>
              </a:rPr>
              <a:t>Can three threads be Awake simultaneously?</a:t>
            </a:r>
          </a:p>
          <a:p>
            <a:pPr algn="l">
              <a:spcBef>
                <a:spcPts val="900"/>
              </a:spcBef>
              <a:buNone/>
            </a:pPr>
            <a:r>
              <a:rPr lang="en-US" sz="2000" b="0" i="0" dirty="0">
                <a:solidFill>
                  <a:srgbClr val="5C4826"/>
                </a:solidFill>
              </a:rPr>
              <a:t>Is an illegal lifecycle transition reachable?</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Explicit structure can turn repeated reconstruction into a decidable query.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dynamic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30</a:t>
            </a:fld>
            <a:endParaRPr lang="en-US"/>
          </a:p>
        </p:txBody>
      </p:sp>
      <p:sp>
        <p:nvSpPr>
          <p:cNvPr id="0" name="Dy-MODEL"/>
          <p:cNvSpPr/>
          <p:nvPr/>
        </p:nvSpPr>
        <p:spPr>
          <a:xfrm>
            <a:off x="2697480" y="3831336"/>
            <a:ext cx="2203704" cy="7315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 — expected behavior</a:t>
            </a:r>
          </a:p>
        </p:txBody>
      </p:sp>
      <p:cxnSp>
        <p:nvCxnSpPr>
          <p:cNvPr id="0" name="Dy-AM"/>
          <p:cNvCxnSpPr/>
          <p:nvPr/>
        </p:nvCxnSpPr>
        <p:spPr>
          <a:xfrm flipH="1">
            <a:off x="2240280" y="4197096"/>
            <a:ext cx="402336" cy="0"/>
          </a:xfrm>
          <a:prstGeom prst="straightConnector1">
            <a:avLst/>
          </a:prstGeom>
          <a:ln w="19050">
            <a:solidFill>
              <a:srgbClr val="8E6F3E"/>
            </a:solidFill>
            <a:tailEnd type="triangle"/>
          </a:ln>
        </p:spPr>
      </p:cxnSp>
      <p:sp>
        <p:nvSpPr>
          <p:cNvPr id="0" name="Dy-EXECUTION"/>
          <p:cNvSpPr/>
          <p:nvPr/>
        </p:nvSpPr>
        <p:spPr>
          <a:xfrm>
            <a:off x="685800" y="105156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EXECUTION</a:t>
            </a:r>
          </a:p>
        </p:txBody>
      </p:sp>
      <p:sp>
        <p:nvSpPr>
          <p:cNvPr id="0" name="Dy-SENSOR"/>
          <p:cNvSpPr/>
          <p:nvPr/>
        </p:nvSpPr>
        <p:spPr>
          <a:xfrm>
            <a:off x="685800" y="1993392"/>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Dy-TRACE"/>
          <p:cNvSpPr/>
          <p:nvPr/>
        </p:nvSpPr>
        <p:spPr>
          <a:xfrm>
            <a:off x="685800" y="2935224"/>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TRACE</a:t>
            </a:r>
          </a:p>
        </p:txBody>
      </p:sp>
      <p:sp>
        <p:nvSpPr>
          <p:cNvPr id="0" name="Dy-VALIDATOR"/>
          <p:cNvSpPr/>
          <p:nvPr/>
        </p:nvSpPr>
        <p:spPr>
          <a:xfrm>
            <a:off x="685800" y="3877056"/>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Dy-VERDICT"/>
          <p:cNvSpPr/>
          <p:nvPr/>
        </p:nvSpPr>
        <p:spPr>
          <a:xfrm>
            <a:off x="685800" y="4818888"/>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VERDICT</a:t>
            </a:r>
          </a:p>
        </p:txBody>
      </p:sp>
      <p:cxnSp>
        <p:nvCxnSpPr>
          <p:cNvPr id="0" name="Dy-A0"/>
          <p:cNvCxnSpPr/>
          <p:nvPr/>
        </p:nvCxnSpPr>
        <p:spPr>
          <a:xfrm>
            <a:off x="1435608" y="1691639"/>
            <a:ext cx="0" cy="301752"/>
          </a:xfrm>
          <a:prstGeom prst="straightConnector1">
            <a:avLst/>
          </a:prstGeom>
          <a:ln w="19050">
            <a:solidFill>
              <a:srgbClr val="8E6F3E"/>
            </a:solidFill>
            <a:tailEnd type="triangle"/>
          </a:ln>
        </p:spPr>
      </p:cxnSp>
      <p:cxnSp>
        <p:nvCxnSpPr>
          <p:cNvPr id="0" name="Dy-A1"/>
          <p:cNvCxnSpPr/>
          <p:nvPr/>
        </p:nvCxnSpPr>
        <p:spPr>
          <a:xfrm>
            <a:off x="1435608" y="2633472"/>
            <a:ext cx="0" cy="301752"/>
          </a:xfrm>
          <a:prstGeom prst="straightConnector1">
            <a:avLst/>
          </a:prstGeom>
          <a:ln w="19050">
            <a:solidFill>
              <a:srgbClr val="8E6F3E"/>
            </a:solidFill>
            <a:tailEnd type="triangle"/>
          </a:ln>
        </p:spPr>
      </p:cxnSp>
      <p:cxnSp>
        <p:nvCxnSpPr>
          <p:cNvPr id="0" name="Dy-A2"/>
          <p:cNvCxnSpPr/>
          <p:nvPr/>
        </p:nvCxnSpPr>
        <p:spPr>
          <a:xfrm>
            <a:off x="1435608" y="3575304"/>
            <a:ext cx="0" cy="301752"/>
          </a:xfrm>
          <a:prstGeom prst="straightConnector1">
            <a:avLst/>
          </a:prstGeom>
          <a:ln w="19050">
            <a:solidFill>
              <a:srgbClr val="8E6F3E"/>
            </a:solidFill>
            <a:tailEnd type="triangle"/>
          </a:ln>
        </p:spPr>
      </p:cxnSp>
      <p:cxnSp>
        <p:nvCxnSpPr>
          <p:cNvPr id="0" name="Dy-A3"/>
          <p:cNvCxnSpPr/>
          <p:nvPr/>
        </p:nvCxnSpPr>
        <p:spPr>
          <a:xfrm>
            <a:off x="1435608" y="4517136"/>
            <a:ext cx="0" cy="301752"/>
          </a:xfrm>
          <a:prstGeom prst="straightConnector1">
            <a:avLst/>
          </a:prstGeom>
          <a:ln w="19050">
            <a:solidFill>
              <a:srgbClr val="8E6F3E"/>
            </a:solidFill>
            <a:tailEnd type="triangle"/>
          </a:ln>
        </p:spPr>
      </p:cxnSp>
      <p:sp>
        <p:nvSpPr>
          <p:cNvPr id="101" name="Cmp-static"/>
          <p:cNvSpPr/>
          <p:nvPr/>
        </p:nvSpPr>
        <p:spPr>
          <a:xfrm>
            <a:off x="5120640" y="1965960"/>
            <a:ext cx="3657600" cy="2560320"/>
          </a:xfrm>
          <a:prstGeom prst="rect">
            <a:avLst/>
          </a:prstGeom>
          <a:solidFill>
            <a:srgbClr val="F5F1E8"/>
          </a:solidFill>
          <a:ln w="12700">
            <a:solidFill>
              <a:srgbClr val="C9B991"/>
            </a:solidFill>
          </a:ln>
          <a:effectLst/>
        </p:spPr>
        <p:txBody>
          <a:bodyPr rtlCol="0" anchor="t" wrap="square" lIns="27432" rIns="27432" tIns="22860" bIns="22860"/>
          <a:lstStyle/>
          <a:p>
            <a:pPr algn="ctr"/>
            <a:r>
              <a:rPr sz="2000" b="1">
                <a:solidFill>
                  <a:srgbClr val="5C4826"/>
                </a:solidFill>
              </a:rPr>
              <a:t>STATIC</a:t>
            </a:r>
          </a:p>
          <a:p>
            <a:pPr algn="ctr"/>
            <a:r>
              <a:rPr sz="2000" b="0">
                <a:solidFill>
                  <a:srgbClr val="5C4826"/>
                </a:solidFill>
              </a:rPr>
              <a:t>verdict over the modeled space</a:t>
            </a:r>
          </a:p>
          <a:p>
            <a:pPr algn="ctr"/>
            <a:r>
              <a:rPr sz="2000" b="0">
                <a:solidFill>
                  <a:srgbClr val="5C4826"/>
                </a:solidFill>
              </a:rPr>
              <a:t/>
            </a:r>
          </a:p>
          <a:p>
            <a:pPr algn="ctr"/>
            <a:r>
              <a:rPr sz="2000" b="1">
                <a:solidFill>
                  <a:srgbClr val="5C4826"/>
                </a:solidFill>
              </a:rPr>
              <a:t>DYNAMIC</a:t>
            </a:r>
          </a:p>
          <a:p>
            <a:pPr algn="ctr"/>
            <a:r>
              <a:rPr sz="2000" b="0">
                <a:solidFill>
                  <a:srgbClr val="5C4826"/>
                </a:solidFill>
              </a:rPr>
              <a:t>verdict over observed execution</a:t>
            </a:r>
          </a:p>
        </p:txBody>
      </p:sp>
      <p:sp>
        <p:nvSpPr>
          <p:cNvPr id="102"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Where should each verdict acquire authority?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33</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a:solidFill>
                  <a:srgbClr val="555960"/>
                </a:solidFill>
              </a:rPr>
              <a:t>captures?</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a:solidFill>
                  <a:srgbClr val="555960"/>
                </a:solidFill>
              </a:rPr>
              <a:t>satisfies?</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a:solidFill>
                  <a:srgbClr val="555960"/>
                </a:solidFill>
              </a:rPr>
              <a:t>corresponds?</a:t>
            </a:r>
          </a:p>
        </p:txBody>
      </p:sp>
      <p:sp>
        <p:nvSpPr>
          <p:cNvPr id="16" name="TextBox 15"/>
          <p:cNvSpPr txBox="1"/>
          <p:nvPr/>
        </p:nvSpPr>
        <p:spPr>
          <a:xfrm>
            <a:off x="274320" y="4572000"/>
            <a:ext cx="8595360" cy="1143000"/>
          </a:xfrm>
          <a:prstGeom prst="rect">
            <a:avLst/>
          </a:prstGeom>
          <a:noFill/>
        </p:spPr>
        <p:txBody>
          <a:bodyPr wrap="square" anchor="t">
            <a:spAutoFit/>
          </a:bodyPr>
          <a:lstStyle/>
          <a:p>
            <a:pPr algn="ctr"/>
            <a:r>
              <a:rPr sz="2000" b="0">
                <a:solidFill>
                  <a:srgbClr val="5C4826"/>
                </a:solidFill>
              </a:rPr>
              <a:t>model ↔ realization — </a:t>
            </a:r>
            <a:r>
              <a:rPr sz="2000" b="1">
                <a:solidFill>
                  <a:srgbClr val="8E6F3E"/>
                </a:solidFill>
              </a:rPr>
              <a:t>correspondence</a:t>
            </a:r>
          </a:p>
          <a:p>
            <a:pPr algn="ctr"/>
            <a:r>
              <a:rPr sz="2000" b="0">
                <a:solidFill>
                  <a:srgbClr val="5C4826"/>
                </a:solidFill>
              </a:rPr>
              <a:t>realization ↔ obligation — </a:t>
            </a:r>
            <a:r>
              <a:rPr sz="2000" b="1">
                <a:solidFill>
                  <a:srgbClr val="8E6F3E"/>
                </a:solidFill>
              </a:rPr>
              <a:t>conformance</a:t>
            </a:r>
          </a:p>
          <a:p>
            <a:pPr algn="ctr"/>
            <a:r>
              <a:rPr sz="2000" b="0">
                <a:solidFill>
                  <a:srgbClr val="5C4826"/>
                </a:solidFill>
              </a:rPr>
              <a:t>realization ↔ receiving environment — </a:t>
            </a:r>
            <a:r>
              <a:rPr sz="2000" b="1">
                <a:solidFill>
                  <a:srgbClr val="8E6F3E"/>
                </a:solidFill>
              </a:rPr>
              <a:t>acceptance</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Design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34</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sz="200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 Use the model as given.</a:t>
            </a:r>
          </a:p>
        </p:txBody>
      </p:sp>
      <p:sp>
        <p:nvSpPr>
          <p:cNvPr id="901" name="Card-obligations"/>
          <p:cNvSpPr/>
          <p:nvPr/>
        </p:nvSpPr>
        <p:spPr>
          <a:xfrm>
            <a:off x="274320" y="1051560"/>
            <a:ext cx="416052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OBLIGATIONS</a:t>
            </a:r>
          </a:p>
          <a:p>
            <a:pPr algn="l">
              <a:spcBef>
                <a:spcPts val="900"/>
              </a:spcBef>
              <a:buNone/>
            </a:pPr>
            <a:r>
              <a:rPr lang="en-US" sz="2000" b="1" i="0" dirty="0">
                <a:solidFill>
                  <a:srgbClr val="8E6F3E"/>
                </a:solidFill>
              </a:rPr>
              <a:t xml:space="preserve">1  ·  </a:t>
            </a:r>
            <a:r>
              <a:rPr lang="en-US" sz="2000" b="0" i="0" dirty="0">
                <a:solidFill>
                  <a:srgbClr val="5C4826"/>
                </a:solidFill>
              </a:rPr>
              <a:t>Preserve the external API.</a:t>
            </a:r>
          </a:p>
          <a:p>
            <a:pPr algn="l">
              <a:spcBef>
                <a:spcPts val="900"/>
              </a:spcBef>
              <a:buNone/>
            </a:pPr>
            <a:r>
              <a:rPr lang="en-US" sz="2000" b="1" i="0" dirty="0">
                <a:solidFill>
                  <a:srgbClr val="8E6F3E"/>
                </a:solidFill>
              </a:rPr>
              <a:t xml:space="preserve">2  ·  </a:t>
            </a:r>
            <a:r>
              <a:rPr lang="en-US" sz="2000" b="0" i="0" dirty="0">
                <a:solidFill>
                  <a:srgbClr val="5C4826"/>
                </a:solidFill>
              </a:rPr>
              <a:t>Worst-case memory below 64 MB.</a:t>
            </a:r>
          </a:p>
          <a:p>
            <a:pPr algn="l">
              <a:spcBef>
                <a:spcPts val="900"/>
              </a:spcBef>
              <a:buNone/>
            </a:pPr>
            <a:r>
              <a:rPr lang="en-US" sz="2000" b="1" i="0" dirty="0">
                <a:solidFill>
                  <a:srgbClr val="8E6F3E"/>
                </a:solidFill>
              </a:rPr>
              <a:t xml:space="preserve">3  ·  </a:t>
            </a:r>
            <a:r>
              <a:rPr lang="en-US" sz="2000" b="0" i="0" dirty="0">
                <a:solidFill>
                  <a:srgbClr val="5C4826"/>
                </a:solidFill>
              </a:rPr>
              <a:t>Avoid the forbidden dependency.</a:t>
            </a:r>
          </a:p>
          <a:p>
            <a:pPr algn="l">
              <a:spcBef>
                <a:spcPts val="900"/>
              </a:spcBef>
              <a:buNone/>
            </a:pPr>
            <a:r>
              <a:rPr lang="en-US" sz="2000" b="1" i="0" dirty="0">
                <a:solidFill>
                  <a:srgbClr val="8E6F3E"/>
                </a:solidFill>
              </a:rPr>
              <a:t xml:space="preserve">4  ·  </a:t>
            </a:r>
            <a:r>
              <a:rPr lang="en-US" sz="2000" b="0" i="0" dirty="0">
                <a:solidFill>
                  <a:srgbClr val="5C4826"/>
                </a:solidFill>
              </a:rPr>
              <a:t>Preserve the cycle ordering: Sensor.read → decide → Actuator.act.</a:t>
            </a:r>
          </a:p>
        </p:txBody>
      </p:sp>
      <p:sp>
        <p:nvSpPr>
          <p:cNvPr id="902" name="Card-given-model"/>
          <p:cNvSpPr/>
          <p:nvPr/>
        </p:nvSpPr>
        <p:spPr>
          <a:xfrm>
            <a:off x="4617720" y="1051560"/>
            <a:ext cx="425196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THE GIVEN MODEL</a:t>
            </a:r>
          </a:p>
          <a:p>
            <a:pPr algn="l">
              <a:spcBef>
                <a:spcPts val="900"/>
              </a:spcBef>
              <a:buNone/>
            </a:pPr>
            <a:r>
              <a:rPr lang="en-US" sz="2000" b="1" i="0" dirty="0">
                <a:solidFill>
                  <a:srgbClr val="8E6F3E"/>
                </a:solidFill>
              </a:rPr>
              <a:t>STRUCTURE</a:t>
            </a:r>
          </a:p>
          <a:p>
            <a:pPr algn="l">
              <a:spcBef>
                <a:spcPts val="900"/>
              </a:spcBef>
              <a:buNone/>
            </a:pPr>
            <a:r>
              <a:rPr lang="en-US" sz="2000" b="0" i="0" dirty="0">
                <a:solidFill>
                  <a:srgbClr val="5C4826"/>
                </a:solidFill>
              </a:rPr>
              <a:t>Controller — API: IController</a:t>
            </a:r>
          </a:p>
          <a:p>
            <a:pPr algn="l">
              <a:spcBef>
                <a:spcPts val="900"/>
              </a:spcBef>
              <a:buNone/>
            </a:pPr>
            <a:r>
              <a:rPr lang="en-US" sz="2000" b="0" i="0" dirty="0">
                <a:solidFill>
                  <a:srgbClr val="5C4826"/>
                </a:solidFill>
              </a:rPr>
              <a:t>uses → Sensor · Actuator</a:t>
            </a:r>
          </a:p>
          <a:p>
            <a:pPr algn="l">
              <a:spcBef>
                <a:spcPts val="900"/>
              </a:spcBef>
              <a:buNone/>
            </a:pPr>
            <a:r>
              <a:rPr lang="en-US" sz="2000" b="0" i="0" dirty="0">
                <a:solidFill>
                  <a:srgbClr val="5C4826"/>
                </a:solidFill>
              </a:rPr>
              <a:t>forbidden → CloudSDK</a:t>
            </a:r>
          </a:p>
          <a:p>
            <a:pPr algn="l">
              <a:spcBef>
                <a:spcPts val="900"/>
              </a:spcBef>
              <a:buNone/>
            </a:pPr>
            <a:r>
              <a:rPr lang="en-US" sz="2000" b="0" i="0" dirty="0">
                <a:solidFill>
                  <a:srgbClr val="5C4826"/>
                </a:solidFill>
              </a:rPr>
              <a:t>memory ≤ 64 MB</a:t>
            </a:r>
          </a:p>
          <a:p>
            <a:pPr algn="l">
              <a:spcBef>
                <a:spcPts val="900"/>
              </a:spcBef>
              <a:buNone/>
            </a:pPr>
            <a:r>
              <a:rPr lang="en-US" sz="2000" b="1" i="0" dirty="0">
                <a:solidFill>
                  <a:srgbClr val="8E6F3E"/>
                </a:solidFill>
              </a:rPr>
              <a:t>BEHAVIOR</a:t>
            </a:r>
          </a:p>
          <a:p>
            <a:pPr algn="l">
              <a:spcBef>
                <a:spcPts val="900"/>
              </a:spcBef>
              <a:buNone/>
            </a:pPr>
            <a:r>
              <a:rPr lang="en-US" sz="2000" b="0" i="0" dirty="0">
                <a:solidFill>
                  <a:srgbClr val="5C4826"/>
                </a:solidFill>
              </a:rPr>
              <a:t>each cycle: Sensor.read → decide → Actuator.act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36</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39776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37</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decide which obligations have consequences in the engineered environment</a:t>
            </a:r>
          </a:p>
        </p:txBody>
      </p:sp>
      <p:sp>
        <p:nvSpPr>
          <p:cNvPr id="9" name="Rectangle 8"/>
          <p:cNvSpPr/>
          <p:nvPr/>
        </p:nvSpPr>
        <p:spPr>
          <a:xfrm>
            <a:off x="640080" y="3291840"/>
            <a:ext cx="8183879" cy="23317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