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26"/>
    <p:sldId id="309" r:id="rId27"/>
    <p:sldId id="281" r:id="rId28"/>
    <p:sldId id="310" r:id="rId29"/>
    <p:sldId id="274" r:id="rId30"/>
    <p:sldId id="276" r:id="rId31"/>
    <p:sldId id="282"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second broad way: observe the realization executing.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(two projected on the slide, the rest spoken):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takeaway is deliberately narrower than 'the implementation corresponds to the model': a trace cannot establish universal correspondence. Dynamic evidence establishes correspondence over the execution you actually observed — nothing beyond it.</a:t>
            </a:r>
          </a:p>
          <a:p>
            <a:r>
              <a:t>- Close by asking aloud: where should each verdict acquire authority?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The previous two slides gave us ways to establish this bottom edge: correspondence between model and realization. But don't confuse agreement with correctness.</a:t>
            </a:r>
          </a:p>
          <a:p>
            <a:r>
              <a:t>- Walk the triangle: 1. Model and realization: does the realization correspond to the model? 2. Model and obligation: did the model capture the thing we actually care about? 3. Realization and obligation: does the resulting system actually satisfy the obligation?</a:t>
            </a:r>
          </a:p>
          <a:p>
            <a:r>
              <a:t>- A perfectly implemented bad model is still wrong.</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OBLIGATION → MODEL → CHECK → DECIDE → CONTROL — the triangle has just made the point that the model is not the source of truth; the engineering obligation is.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relied on different evidence, ask whether the obligation can be decided from the realization itself — statically — or only from observed execution.</a:t>
            </a:r>
          </a:p>
          <a:p>
            <a:r>
              <a:t>- Finally, if teams attach different consequences, ask whether this failure warrants blocking commit, PR, merge, deployment, or merely producing evidence. This dimension goes last because it returns to the central Alignment question: where does the verdict acquire authority?</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42900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7" name="FooterBand"/>
          <p:cNvSpPr/>
          <p:nvPr/>
        </p:nvSpPr>
        <p:spPr>
          <a:xfrm>
            <a:off x="274319" y="550926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Quick Chat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154680" y="4775517"/>
            <a:ext cx="3017520" cy="47000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Is there any declared correspondence between the model and its realization?</a:t>
            </a:r>
          </a:p>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p:txBody>
      </p:sp>
      <p:sp>
        <p:nvSpPr>
          <p:cNvPr id="14" name="FooterBand"/>
          <p:cNvSpPr/>
          <p:nvPr/>
        </p:nvSpPr>
        <p:spPr>
          <a:xfrm>
            <a:off x="274320" y="562356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show correspondence w/o executing the implementation.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dynamically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2" name="Dy-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Dy-ModelCap"/>
          <p:cNvSpPr/>
          <p:nvPr/>
        </p:nvSpPr>
        <p:spPr>
          <a:xfrm>
            <a:off x="502920" y="164592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expected behavior</a:t>
            </a:r>
          </a:p>
        </p:txBody>
      </p:sp>
      <p:sp>
        <p:nvSpPr>
          <p:cNvPr id="6" name="Dy-EXECU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EXECUTION</a:t>
            </a:r>
          </a:p>
        </p:txBody>
      </p:sp>
      <p:cxnSp>
        <p:nvCxnSpPr>
          <p:cNvPr id="7" name="Dy-A0"/>
          <p:cNvCxnSpPr/>
          <p:nvPr/>
        </p:nvCxnSpPr>
        <p:spPr>
          <a:xfrm>
            <a:off x="7040880" y="1554480"/>
            <a:ext cx="0" cy="228600"/>
          </a:xfrm>
          <a:prstGeom prst="straightConnector1">
            <a:avLst/>
          </a:prstGeom>
          <a:ln w="19050">
            <a:solidFill>
              <a:srgbClr val="8E6F3E"/>
            </a:solidFill>
            <a:tailEnd type="triangle"/>
          </a:ln>
        </p:spPr>
      </p:cxnSp>
      <p:sp>
        <p:nvSpPr>
          <p:cNvPr id="8" name="Dy-SENSOR"/>
          <p:cNvSpPr/>
          <p:nvPr/>
        </p:nvSpPr>
        <p:spPr>
          <a:xfrm>
            <a:off x="5440680" y="17830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SENSOR</a:t>
            </a:r>
          </a:p>
        </p:txBody>
      </p:sp>
      <p:cxnSp>
        <p:nvCxnSpPr>
          <p:cNvPr id="9" name="Dy-A1"/>
          <p:cNvCxnSpPr/>
          <p:nvPr/>
        </p:nvCxnSpPr>
        <p:spPr>
          <a:xfrm>
            <a:off x="7040880" y="2240280"/>
            <a:ext cx="0" cy="228600"/>
          </a:xfrm>
          <a:prstGeom prst="straightConnector1">
            <a:avLst/>
          </a:prstGeom>
          <a:ln w="19050">
            <a:solidFill>
              <a:srgbClr val="8E6F3E"/>
            </a:solidFill>
            <a:tailEnd type="triangle"/>
          </a:ln>
        </p:spPr>
      </p:cxnSp>
      <p:sp>
        <p:nvSpPr>
          <p:cNvPr id="10" name="Dy-TRACE"/>
          <p:cNvSpPr/>
          <p:nvPr/>
        </p:nvSpPr>
        <p:spPr>
          <a:xfrm>
            <a:off x="5440680" y="2468880"/>
            <a:ext cx="3200400" cy="45720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cxnSp>
        <p:nvCxnSpPr>
          <p:cNvPr id="11" name="Dy-A2"/>
          <p:cNvCxnSpPr/>
          <p:nvPr/>
        </p:nvCxnSpPr>
        <p:spPr>
          <a:xfrm>
            <a:off x="7040880" y="2926080"/>
            <a:ext cx="0" cy="365760"/>
          </a:xfrm>
          <a:prstGeom prst="straightConnector1">
            <a:avLst/>
          </a:prstGeom>
          <a:ln w="19050">
            <a:solidFill>
              <a:srgbClr val="8E6F3E"/>
            </a:solidFill>
            <a:tailEnd type="triangle"/>
          </a:ln>
        </p:spPr>
      </p:cxnSp>
      <p:cxnSp>
        <p:nvCxnSpPr>
          <p:cNvPr id="12" name="Dy-A3"/>
          <p:cNvCxnSpPr/>
          <p:nvPr/>
        </p:nvCxnSpPr>
        <p:spPr>
          <a:xfrm>
            <a:off x="2103120" y="2103120"/>
            <a:ext cx="0" cy="1188720"/>
          </a:xfrm>
          <a:prstGeom prst="straightConnector1">
            <a:avLst/>
          </a:prstGeom>
          <a:ln w="19050">
            <a:solidFill>
              <a:srgbClr val="8E6F3E"/>
            </a:solidFill>
            <a:tailEnd type="triangle"/>
          </a:ln>
        </p:spPr>
      </p:cxnSp>
      <p:sp>
        <p:nvSpPr>
          <p:cNvPr id="13" name="Dy-VALIDATOR"/>
          <p:cNvSpPr/>
          <p:nvPr/>
        </p:nvSpPr>
        <p:spPr>
          <a:xfrm>
            <a:off x="1828800" y="329184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VALIDATOR</a:t>
            </a:r>
          </a:p>
        </p:txBody>
      </p:sp>
      <p:cxnSp>
        <p:nvCxnSpPr>
          <p:cNvPr id="14" name="Dy-A4"/>
          <p:cNvCxnSpPr/>
          <p:nvPr/>
        </p:nvCxnSpPr>
        <p:spPr>
          <a:xfrm>
            <a:off x="4572000" y="3840480"/>
            <a:ext cx="0" cy="274320"/>
          </a:xfrm>
          <a:prstGeom prst="straightConnector1">
            <a:avLst/>
          </a:prstGeom>
          <a:ln w="19050">
            <a:solidFill>
              <a:srgbClr val="8E6F3E"/>
            </a:solidFill>
            <a:tailEnd type="triangle"/>
          </a:ln>
        </p:spPr>
      </p:cxnSp>
      <p:sp>
        <p:nvSpPr>
          <p:cNvPr id="15" name="Dy-VERDICT"/>
          <p:cNvSpPr/>
          <p:nvPr/>
        </p:nvSpPr>
        <p:spPr>
          <a:xfrm>
            <a:off x="3657600" y="411480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6" name="Dy-Questions"/>
          <p:cNvSpPr/>
          <p:nvPr/>
        </p:nvSpPr>
        <p:spPr>
          <a:xfrm>
            <a:off x="502920" y="4785360"/>
            <a:ext cx="8138160" cy="65532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Did the Scheduler ever admit three Awake threads?</a:t>
            </a:r>
          </a:p>
          <a:p>
            <a:pPr algn="l">
              <a:spcBef>
                <a:spcPts val="300"/>
              </a:spcBef>
              <a:buNone/>
            </a:pPr>
            <a:r>
              <a:rPr lang="en-US" sz="2000" b="0" i="0" dirty="0">
                <a:solidFill>
                  <a:srgbClr val="5C4826"/>
                </a:solidFill>
              </a:rPr>
              <a:t>Did an observed lifecycle transition violate the modeled lifecycle?</a:t>
            </a:r>
          </a:p>
        </p:txBody>
      </p:sp>
      <p:sp>
        <p:nvSpPr>
          <p:cNvPr id="1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Dynamic evidence establishes correspondence over observed execution.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dirty="0">
                <a:solidFill>
                  <a:srgbClr val="000000"/>
                </a:solidFill>
              </a:rPr>
              <a:t>Alignment helps us answer just one of three questions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prstDash val="sysDot"/>
            <a:headEnd type="arrow" w="med" len="med"/>
            <a:tailEnd type="non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prstDash val="sysDot"/>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13232" y="1076643"/>
            <a:ext cx="2395728" cy="461665"/>
          </a:xfrm>
          <a:prstGeom prst="rect">
            <a:avLst/>
          </a:prstGeom>
          <a:noFill/>
        </p:spPr>
        <p:txBody>
          <a:bodyPr wrap="square" anchor="t">
            <a:spAutoFit/>
          </a:bodyPr>
          <a:lstStyle/>
          <a:p>
            <a:pPr algn="l"/>
            <a:r>
              <a:rPr sz="2400" b="0" i="1" dirty="0">
                <a:solidFill>
                  <a:srgbClr val="555960"/>
                </a:solidFill>
              </a:rPr>
              <a:t>captures?</a:t>
            </a:r>
          </a:p>
        </p:txBody>
      </p:sp>
      <p:sp>
        <p:nvSpPr>
          <p:cNvPr id="14" name="TextBox 13"/>
          <p:cNvSpPr txBox="1"/>
          <p:nvPr/>
        </p:nvSpPr>
        <p:spPr>
          <a:xfrm>
            <a:off x="6119622" y="1072187"/>
            <a:ext cx="2395728" cy="461665"/>
          </a:xfrm>
          <a:prstGeom prst="rect">
            <a:avLst/>
          </a:prstGeom>
          <a:noFill/>
        </p:spPr>
        <p:txBody>
          <a:bodyPr wrap="square" anchor="t">
            <a:spAutoFit/>
          </a:bodyPr>
          <a:lstStyle/>
          <a:p>
            <a:pPr algn="r"/>
            <a:r>
              <a:rPr sz="2400" b="0" i="1" dirty="0">
                <a:solidFill>
                  <a:srgbClr val="555960"/>
                </a:solidFill>
              </a:rPr>
              <a:t>satisfies?</a:t>
            </a:r>
          </a:p>
        </p:txBody>
      </p:sp>
      <p:sp>
        <p:nvSpPr>
          <p:cNvPr id="15" name="TextBox 14"/>
          <p:cNvSpPr txBox="1"/>
          <p:nvPr/>
        </p:nvSpPr>
        <p:spPr>
          <a:xfrm>
            <a:off x="3108960" y="4069080"/>
            <a:ext cx="2926080" cy="461665"/>
          </a:xfrm>
          <a:prstGeom prst="rect">
            <a:avLst/>
          </a:prstGeom>
          <a:noFill/>
        </p:spPr>
        <p:txBody>
          <a:bodyPr wrap="square" anchor="t">
            <a:spAutoFit/>
          </a:bodyPr>
          <a:lstStyle/>
          <a:p>
            <a:pPr algn="ctr"/>
            <a:r>
              <a:rPr sz="2400" b="0" dirty="0">
                <a:solidFill>
                  <a:srgbClr val="555960"/>
                </a:solidFill>
              </a:rPr>
              <a:t>corresponds?</a:t>
            </a:r>
          </a:p>
        </p:txBody>
      </p:sp>
      <p:sp>
        <p:nvSpPr>
          <p:cNvPr id="16" name="TextBox 15"/>
          <p:cNvSpPr txBox="1"/>
          <p:nvPr/>
        </p:nvSpPr>
        <p:spPr>
          <a:xfrm>
            <a:off x="274320" y="4774530"/>
            <a:ext cx="8595360" cy="1015663"/>
          </a:xfrm>
          <a:prstGeom prst="rect">
            <a:avLst/>
          </a:prstGeom>
          <a:noFill/>
        </p:spPr>
        <p:txBody>
          <a:bodyPr wrap="square" anchor="t">
            <a:spAutoFit/>
          </a:bodyPr>
          <a:lstStyle/>
          <a:p>
            <a:pPr algn="ctr"/>
            <a:r>
              <a:rPr lang="en-US" sz="2000" b="1" i="1" dirty="0">
                <a:solidFill>
                  <a:srgbClr val="5C4826"/>
                </a:solidFill>
              </a:rPr>
              <a:t>Vocabulary</a:t>
            </a:r>
          </a:p>
          <a:p>
            <a:pPr algn="ctr"/>
            <a:r>
              <a:rPr lang="en-US" sz="2000" dirty="0">
                <a:solidFill>
                  <a:srgbClr val="5C4826"/>
                </a:solidFill>
              </a:rPr>
              <a:t>M</a:t>
            </a:r>
            <a:r>
              <a:rPr sz="2000" b="0" dirty="0">
                <a:solidFill>
                  <a:srgbClr val="5C4826"/>
                </a:solidFill>
              </a:rPr>
              <a:t>odel ↔ realization — </a:t>
            </a:r>
            <a:r>
              <a:rPr sz="2000" b="1" dirty="0">
                <a:solidFill>
                  <a:srgbClr val="8E6F3E"/>
                </a:solidFill>
              </a:rPr>
              <a:t>correspondence</a:t>
            </a:r>
          </a:p>
          <a:p>
            <a:pPr algn="ctr"/>
            <a:r>
              <a:rPr lang="en-US" sz="2000" b="0" dirty="0">
                <a:solidFill>
                  <a:srgbClr val="5C4826"/>
                </a:solidFill>
              </a:rPr>
              <a:t>Model/</a:t>
            </a:r>
            <a:r>
              <a:rPr lang="en-US" sz="2000" dirty="0">
                <a:solidFill>
                  <a:srgbClr val="5C4826"/>
                </a:solidFill>
              </a:rPr>
              <a:t>R</a:t>
            </a:r>
            <a:r>
              <a:rPr sz="2000" b="0" dirty="0">
                <a:solidFill>
                  <a:srgbClr val="5C4826"/>
                </a:solidFill>
              </a:rPr>
              <a:t>ealization ↔ obligation — </a:t>
            </a:r>
            <a:r>
              <a:rPr sz="2000" b="1" dirty="0">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
        <p:nvSpPr>
          <p:cNvPr id="2" name="TextBox 1">
            <a:extLst>
              <a:ext uri="{FF2B5EF4-FFF2-40B4-BE49-F238E27FC236}">
                <a16:creationId xmlns:a16="http://schemas.microsoft.com/office/drawing/2014/main" id="{E51D8973-EDB4-AC8B-A0CE-64034FAE3609}"/>
              </a:ext>
            </a:extLst>
          </p:cNvPr>
          <p:cNvSpPr txBox="1"/>
          <p:nvPr/>
        </p:nvSpPr>
        <p:spPr>
          <a:xfrm>
            <a:off x="3429564" y="3142457"/>
            <a:ext cx="2239716" cy="584775"/>
          </a:xfrm>
          <a:prstGeom prst="rect">
            <a:avLst/>
          </a:prstGeom>
          <a:noFill/>
        </p:spPr>
        <p:txBody>
          <a:bodyPr wrap="none" rtlCol="0">
            <a:spAutoFit/>
          </a:bodyPr>
          <a:lstStyle/>
          <a:p>
            <a:r>
              <a:rPr lang="en-US" sz="3200" dirty="0"/>
              <a:t>ALIGNMENT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OBLIGATION  →  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would you check, and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Static vs. dynamic evidence</a:t>
            </a:r>
          </a:p>
          <a:p>
            <a:pPr algn="l"/>
            <a:r>
              <a:rPr sz="2000" b="0" i="0">
                <a:solidFill>
                  <a:srgbClr val="5C4826"/>
                </a:solidFill>
              </a:rPr>
              <a:t>Can the obligation be decided from the realization itself, or only from observed execution?</a:t>
            </a:r>
          </a:p>
        </p:txBody>
      </p:sp>
      <p:sp>
        <p:nvSpPr>
          <p:cNvPr id="13" name="Compare4"/>
          <p:cNvSpPr/>
          <p:nvPr/>
        </p:nvSpPr>
        <p:spPr>
          <a:xfrm>
            <a:off x="502920" y="4142739"/>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Autofit/>
          </a:bodyPr>
          <a:lstStyle/>
          <a:p>
            <a:r>
              <a:rPr lang="en-US" sz="2400" b="1" dirty="0">
                <a:solidFill>
                  <a:srgbClr val="000000"/>
                </a:solidFill>
              </a:rPr>
              <a:t>In closing: </a:t>
            </a:r>
            <a:r>
              <a:rPr sz="2400" b="1" dirty="0">
                <a:solidFill>
                  <a:srgbClr val="000000"/>
                </a:solidFill>
              </a:rPr>
              <a:t>How do you </a:t>
            </a:r>
            <a:r>
              <a:rPr lang="en-US" sz="2400" b="1" dirty="0">
                <a:solidFill>
                  <a:srgbClr val="000000"/>
                </a:solidFill>
              </a:rPr>
              <a:t>supervise your delegation</a:t>
            </a:r>
            <a:r>
              <a:rPr sz="2400" b="1" dirty="0">
                <a:solidFill>
                  <a:srgbClr val="000000"/>
                </a:solidFill>
              </a:rPr>
              <a:t>?</a:t>
            </a:r>
          </a:p>
        </p:txBody>
      </p:sp>
      <p:sp>
        <p:nvSpPr>
          <p:cNvPr id="4" name="Slide Number Placeholder 5"/>
          <p:cNvSpPr>
            <a:spLocks noGrp="1"/>
          </p:cNvSpPr>
          <p:nvPr>
            <p:ph type="sldNum" sz="quarter" idx="4"/>
          </p:nvPr>
        </p:nvSpPr>
        <p:spPr/>
        <p:txBody>
          <a:bodyPr/>
          <a:lstStyle/>
          <a:p>
            <a:fld id="{B7EB45DA-9A0D-DC49-8E02-F30A5DDC21C3}" type="slidenum">
              <a:rPr lang="en-US" smtClean="0"/>
              <a:t>31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