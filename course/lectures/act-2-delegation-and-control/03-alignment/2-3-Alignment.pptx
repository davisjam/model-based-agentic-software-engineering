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6" r:id="rId4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2.xml"/><Relationship Id="rId12" Type="http://schemas.openxmlformats.org/officeDocument/2006/relationships/slide" Target="slides/slide17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2.xml"/><Relationship Id="rId16" Type="http://schemas.openxmlformats.org/officeDocument/2006/relationships/slide" Target="slides/slide20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36.xml"/><Relationship Id="rId26" Type="http://schemas.openxmlformats.org/officeDocument/2006/relationships/slide" Target="slides/slide37.xml"/><Relationship Id="rId27" Type="http://schemas.openxmlformats.org/officeDocument/2006/relationships/slide" Target="slides/slide38.xml"/><Relationship Id="rId28" Type="http://schemas.openxmlformats.org/officeDocument/2006/relationships/slide" Target="slides/slide29.xml"/><Relationship Id="rId29" Type="http://schemas.openxmlformats.org/officeDocument/2006/relationships/slide" Target="slides/slide30.xml"/><Relationship Id="rId30" Type="http://schemas.openxmlformats.org/officeDocument/2006/relationships/slide" Target="slides/slide31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9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2.xml"/><Relationship Id="rId52" Type="http://schemas.openxmlformats.org/officeDocument/2006/relationships/slide" Target="slides/slide35.xml"/><Relationship Id="rId5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roles are two conceptual pairs, not a pipeline: constraint and sensor concern the work and its state (what may happen; what did happen); validator and gate concern judgment and admission (is it OK; may it pass). One mechanism may bundle roles: a CI test senses, validates, and gates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3.3-1 (constraint vs sensor): the student performs the choice. Can the unwanted state be excluded cleanly and reliably? YES: constraint (typed enum, permission, narrow API). NO: sensor (metric, trace, call scan, log) — then validate the evidence, and gate on the verdict when appropriate. The first engineering preference is prevention, when cheap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3.2-3 (the semantic gap): this explains WHY the rule exists rather than merely stating it. The obligation is legible only at the boundary where the whole unit of work is assembled; below it, no single commit / call / turn carries enough to decide. Ask the room why not everything at edit time before revealing. "Shift left" is not an unconditional maxim — check earlier only when the required evidence exists earlier.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 The takeaway uses the chapter vocabulary: the earliest boundary where the obligation is legible and decidable. The last line ties to the Modeling lecture: wrong abstraction means the property is not represented; wrong Alignment boundary means the evidence is unavailable.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 of the Section-1 process diagram, now with the endpoint highlighted: does the chain end in ACCEPTABLE work? The question shifts from "what should happen" to "what can go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failure mode; take them one at a time. The artifact itself is wrong against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Crucial: each example can leave a final state that LOOKS fine. The failure is in the path, not (only) the artifact — which is why final-state validation alone does not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failure mode. Explicit callback to the Agents lecture. This is what sets up gates later in the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earns the control vocabulary: the failure model, not a framework, motivates the four roles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missing bridge between Modeling and Alignment: one explicit model, several controls derived from it, their verdicts meeting at a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process gives us something to reason about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12379" y="2514600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COutcome"/>
          <p:cNvSpPr/>
          <p:nvPr/>
        </p:nvSpPr>
        <p:spPr>
          <a:xfrm>
            <a:off x="6903720" y="3054096"/>
            <a:ext cx="192024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acceptable work?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If we want to control delegated work,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need a model of how it can fail.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graphicFrame>
        <p:nvGraphicFramePr>
          <p:cNvPr id="4" name="FailureControlTable"/>
          <p:cNvGraphicFramePr>
            <a:graphicFrameLocks noGrp="1"/>
          </p:cNvGraphicFramePr>
          <p:nvPr/>
        </p:nvGraphicFramePr>
        <p:xfrm>
          <a:off x="914400" y="1188720"/>
          <a:ext cx="7315200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572000"/>
              </a:tblGrid>
              <a:tr h="548640"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What we need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result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establish properties of the artifact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wrong process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observe or constrain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excess 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restrict consequential actions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58368"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1" i="0">
                          <a:solidFill>
                            <a:srgbClr val="5C4826"/>
                          </a:solidFill>
                        </a:rPr>
                        <a:t>insufficient evidence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700" b="0" i="0">
                          <a:solidFill>
                            <a:srgbClr val="5C4826"/>
                          </a:solidFill>
                        </a:rPr>
                        <a:t>require evidence before acceptance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FCTransition"/>
          <p:cNvSpPr txBox="1"/>
          <p:nvPr/>
        </p:nvSpPr>
        <p:spPr>
          <a:xfrm>
            <a:off x="502920" y="48006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We can now ask how to make each failure impossible, observable, detectable, or consequential.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74320" y="46177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  <p:pic>
        <p:nvPicPr>
          <p:cNvPr id="9" name="Fig-3-2-3-semantic-gap" descr="semantic-gap-levels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8046720" cy="3017520"/>
          </a:xfrm>
          <a:prstGeom prst="rect">
            <a:avLst/>
          </a:prstGeom>
        </p:spPr>
      </p:pic>
      <p:sp>
        <p:nvSpPr>
          <p:cNvPr id="10" name="SemanticGapTakeaway"/>
          <p:cNvSpPr txBox="1"/>
          <p:nvPr/>
        </p:nvSpPr>
        <p:spPr>
          <a:xfrm>
            <a:off x="274320" y="4389120"/>
            <a:ext cx="8595360" cy="8229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 property that spans several commits, calls, or turns cannot be decided from any single event.</a:t>
            </a:r>
          </a:p>
          <a:p>
            <a:pPr algn="ctr"/>
            <a:r>
              <a:rPr sz="1600" b="1" i="0">
                <a:solidFill>
                  <a:srgbClr val="5C4826"/>
                </a:solidFill>
              </a:rPr>
              <a:t>Lift the mechanism to the first boundary where the whole obligation becomes legible.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ctr" lIns="27432" rIns="27432" tIns="22860" bIns="22860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  <a:r>
              <a:rPr sz="1800" b="1" i="0">
                <a:solidFill>
                  <a:srgbClr val="5C4826"/>
                </a:solidFill>
              </a:rPr>
              <a:t>Both place the check at the earliest boundary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where the obligation is legible and decidable.</a:t>
            </a:r>
          </a:p>
        </p:txBody>
      </p:sp>
      <p:sp>
        <p:nvSpPr>
          <p:cNvPr id="10" name="ModelingTie"/>
          <p:cNvSpPr txBox="1"/>
          <p:nvPr/>
        </p:nvSpPr>
        <p:spPr>
          <a:xfrm>
            <a:off x="274320" y="4709160"/>
            <a:ext cx="8595360" cy="73152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abstraction: the property is not represented.  Wrong Alignment boundary: the evidence is unavailable.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4" name="ArchModel"/>
          <p:cNvSpPr/>
          <p:nvPr/>
        </p:nvSpPr>
        <p:spPr>
          <a:xfrm>
            <a:off x="3291840" y="100584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ARCHITECTURE MODEL</a:t>
            </a:r>
          </a:p>
        </p:txBody>
      </p:sp>
      <p:sp>
        <p:nvSpPr>
          <p:cNvPr id="5" name="MC-dependency check"/>
          <p:cNvSpPr/>
          <p:nvPr/>
        </p:nvSpPr>
        <p:spPr>
          <a:xfrm>
            <a:off x="118872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dependency check</a:t>
            </a:r>
          </a:p>
        </p:txBody>
      </p:sp>
      <p:sp>
        <p:nvSpPr>
          <p:cNvPr id="6" name="MC-memory analysis"/>
          <p:cNvSpPr/>
          <p:nvPr/>
        </p:nvSpPr>
        <p:spPr>
          <a:xfrm>
            <a:off x="365760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memory analysis</a:t>
            </a:r>
          </a:p>
        </p:txBody>
      </p:sp>
      <p:sp>
        <p:nvSpPr>
          <p:cNvPr id="7" name="MC-interface check"/>
          <p:cNvSpPr/>
          <p:nvPr/>
        </p:nvSpPr>
        <p:spPr>
          <a:xfrm>
            <a:off x="6126480" y="2240280"/>
            <a:ext cx="182880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interface check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10312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160020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0" y="1600200"/>
            <a:ext cx="246888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10312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2880360"/>
            <a:ext cx="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4572000" y="2880360"/>
            <a:ext cx="2468880" cy="73152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CVerdicts"/>
          <p:cNvSpPr txBox="1"/>
          <p:nvPr/>
        </p:nvSpPr>
        <p:spPr>
          <a:xfrm>
            <a:off x="5532120" y="3749039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960"/>
                </a:solidFill>
              </a:rPr>
              <a:t>verdicts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63016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model becomes operational when the engineered environment uses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MODEL AND REALIZATION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AGREE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They can agree completely and still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DERIVED FROM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THE IMPLEMENTATION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extracted from the implementation may correspond by construction. That does not provide independent evidence of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