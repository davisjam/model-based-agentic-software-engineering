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43"/>
  </p:notesMasterIdLst>
  <p:sldIdLst>
    <p:sldId id="256" r:id="rId7"/>
    <p:sldId id="283" r:id="rId48"/>
    <p:sldId id="257" r:id="rId8"/>
    <p:sldId id="258" r:id="rId9"/>
    <p:sldId id="284" r:id="rId49"/>
    <p:sldId id="259" r:id="rId10"/>
    <p:sldId id="260" r:id="rId11"/>
    <p:sldId id="261" r:id="rId12"/>
    <p:sldId id="262" r:id="rId13"/>
    <p:sldId id="285" r:id="rId50"/>
    <p:sldId id="263" r:id="rId14"/>
    <p:sldId id="264" r:id="rId15"/>
    <p:sldId id="265" r:id="rId16"/>
    <p:sldId id="266" r:id="rId17"/>
    <p:sldId id="267" r:id="rId18"/>
    <p:sldId id="268" r:id="rId19"/>
    <p:sldId id="286" r:id="rId51"/>
    <p:sldId id="269" r:id="rId20"/>
    <p:sldId id="270" r:id="rId21"/>
    <p:sldId id="271" r:id="rId22"/>
    <p:sldId id="272" r:id="rId23"/>
    <p:sldId id="273" r:id="rId24"/>
    <p:sldId id="287" r:id="rId52"/>
    <p:sldId id="274" r:id="rId25"/>
    <p:sldId id="275" r:id="rId26"/>
    <p:sldId id="276" r:id="rId27"/>
    <p:sldId id="288" r:id="rId53"/>
    <p:sldId id="277" r:id="rId28"/>
    <p:sldId id="278" r:id="rId29"/>
    <p:sldId id="279" r:id="rId30"/>
    <p:sldId id="280" r:id="rId31"/>
    <p:sldId id="281" r:id="rId32"/>
    <p:sldId id="282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14" autoAdjust="0"/>
    <p:restoredTop sz="56164"/>
  </p:normalViewPr>
  <p:slideViewPr>
    <p:cSldViewPr snapToGrid="0" snapToObjects="1">
      <p:cViewPr varScale="1">
        <p:scale>
          <a:sx n="64" d="100"/>
          <a:sy n="64" d="100"/>
        </p:scale>
        <p:origin x="30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slide" Target="slides/slide33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Relationship Id="rId48" Type="http://schemas.openxmlformats.org/officeDocument/2006/relationships/slide" Target="slides/slide2.xml"/><Relationship Id="rId49" Type="http://schemas.openxmlformats.org/officeDocument/2006/relationships/slide" Target="slides/slide5.xml"/><Relationship Id="rId50" Type="http://schemas.openxmlformats.org/officeDocument/2006/relationships/slide" Target="slides/slide10.xml"/><Relationship Id="rId51" Type="http://schemas.openxmlformats.org/officeDocument/2006/relationships/slide" Target="slides/slide17.xml"/><Relationship Id="rId52" Type="http://schemas.openxmlformats.org/officeDocument/2006/relationships/slide" Target="slides/slide23.xml"/><Relationship Id="rId53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9/29/26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0 (5 min). Open with the question; do not answer it yet. The chain is the model this lecture builds, same convention as the Agents and Validation title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Highlight JUDGMENT/ACTION and AUTHORIZE/VERIFY — do not re-explain either framework. Build: reveal the Validation chain, then the Agents chain, then the highlights.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footer phrase is the unit framing (it also opens the lander). Five minutes maximum for Section 0, then straight to the concrete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 (10 min). State what the agent must accomplish — do not hand students a validation scheme. The payments service is Validation’s running example, reused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question to the room; accumulate answers visibly. Build: the six candidate boxes appear as answers arrive (or write them on the board). No footer band — discussion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~5 minutes total. The transition out of the share-round is the key move: every proposed check implicitly assumes an obligation.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Lands Section 1. The students proposed evidence; now name the thing the evidence is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 (15 min). Deliberately the Validation visual grammar. Flash the familiar three-ways strip — do NOT reteach static analysis, testing, fuzzing, or model checking.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beats on one slide: the escalation of authority, then the prompt-vs-gate contrast. Build: escalation row first, panels second. This is where Alignment begins to extend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Explicit callback to the Agents authority ladder. The lower diagram is the lecture’s pivotal picture: verification governing admission to greater consequence.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CI test can sense, validate, and gate at once; a narrow interface constrains while producing evidence of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first engineering preference is prevention — when cheap and reliable. Enum/permission/narrow-API versus test/trace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 lands here: Alignment as a richer Validation, not a second framework. Build: Validation chain first, then the transformation arrows.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 (12 min). The lifecycle pipeline is the visual anchor for the whole section. Build: place the candidate checks one at a time, asking the room where each belongs before revealing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 why not everything at edit time before revealing the right panel.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central callback of Section 3 — put the two statements side by side and let students recognize the principle.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Worked example. Enforcing an end-state obligation per-commit produces a bad control: it enforces the right obligation at a boundary that cannot yet decide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minutes, then the team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 (18 min): ~12 min team work, ~6 min debrief. Same scenario for every team so the debrief can compare designs. Do not mention models yet. One is structurally preventable, one measured, one static, one integration-only — keep that heterogeneity.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reasoning chain each team applies to each obligation. This is Sections 1–3 performed, before models are introduced.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Select disagreements, not merely good answers. The outcome: students can perform Alignment without needing Modeling.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 (15 min). This sentence matters — say it explicitly. Deliberate mode change: fewer slides, more discussion, from here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only the question on screen and stop. ~5 minutes of whole-class discussion; let students recover ideas from Modeling before showing any answer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the discussion, consolidate: what an explicit representation adds to the Alignment the students just performed.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Correspondence / conformance earns its appearance here, now that the students have designed real checks.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what each edge means before giving the labels. This makes correspondence / conformance concrete rather than vocabulary.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Return verbatim to the opening question. Build: the five questions appear one at a time. Close with one spoken sentence only: “We won’t anticipate all of these obligations in advance; next time we ask what happens when the development process learns them through experience.” That is the FA-SDLC handoff — do not preview governance conversion beyond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urdue CoBrand">
            <a:extLst>
              <a:ext uri="{FF2B5EF4-FFF2-40B4-BE49-F238E27FC236}">
                <a16:creationId xmlns:a16="http://schemas.microsoft.com/office/drawing/2014/main" id="{BCBD89D8-43BD-5D41-99C6-91B0B6A519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097131" y="5715964"/>
            <a:ext cx="5091026" cy="54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Relationship Id="rId1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rgbClr val="555960"/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DD7291C3-5AE9-477A-3F39-34A06A62D99C}"/>
              </a:ext>
            </a:extLst>
          </p:cNvPr>
          <p:cNvSpPr txBox="1">
            <a:spLocks/>
          </p:cNvSpPr>
          <p:nvPr/>
        </p:nvSpPr>
        <p:spPr bwMode="black">
          <a:xfrm>
            <a:off x="439339" y="565149"/>
            <a:ext cx="8265319" cy="1195411"/>
          </a:xfrm>
          <a:prstGeom prst="rect">
            <a:avLst/>
          </a:prstGeom>
          <a:solidFill>
            <a:srgbClr val="FFFFFF"/>
          </a:solidFill>
          <a:ln w="31750" cap="sq">
            <a:noFill/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none" spc="200" baseline="0">
                <a:solidFill>
                  <a:srgbClr val="000000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sz="2000" i="1" dirty="0"/>
              <a:t>Software Engineering</a:t>
            </a:r>
            <a:br>
              <a:rPr lang="en-US" sz="2000" i="1" dirty="0"/>
            </a:br>
            <a:br>
              <a:rPr lang="en-US" sz="2000" i="1" dirty="0"/>
            </a:br>
            <a:r>
              <a:rPr lang="en-US" sz="1600" i="1" dirty="0"/>
              <a:t>ECE 30861 / CSCI 45000</a:t>
            </a:r>
            <a:endParaRPr lang="en-US" sz="2000" i="1" dirty="0"/>
          </a:p>
        </p:txBody>
      </p:sp>
      <p:sp>
        <p:nvSpPr>
          <p:cNvPr id="6" name="TitleBlock"/>
          <p:cNvSpPr txBox="1"/>
          <p:nvPr/>
        </p:nvSpPr>
        <p:spPr>
          <a:xfrm>
            <a:off x="219456" y="1371600"/>
            <a:ext cx="8695944" cy="2148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000000"/>
                </a:solidFill>
              </a:rPr>
              <a:t>Alignment</a:t>
            </a:r>
          </a:p>
          <a:p>
            <a:pPr algn="ctr">
              <a:spcBef>
                <a:spcPts val="1000"/>
              </a:spcBef>
            </a:pPr>
            <a:r>
              <a:rPr sz="2300" b="0" i="1">
                <a:solidFill>
                  <a:srgbClr val="8E6F3E"/>
                </a:solidFill>
              </a:rPr>
              <a:t>How do you know whether an agent</a:t>
            </a:r>
          </a:p>
          <a:p>
            <a:pPr algn="ctr"/>
            <a:r>
              <a:rPr sz="2300" b="0" i="1">
                <a:solidFill>
                  <a:srgbClr val="8E6F3E"/>
                </a:solidFill>
              </a:rPr>
              <a:t>is doing what you want?</a:t>
            </a:r>
          </a:p>
          <a:p>
            <a:pPr algn="ctr">
              <a:spcBef>
                <a:spcPts val="1000"/>
              </a:spcBef>
            </a:pPr>
            <a:r>
              <a:rPr sz="2000" b="0" i="1">
                <a:solidFill>
                  <a:srgbClr val="000000"/>
                </a:solidFill>
              </a:rPr>
              <a:t>Prof. James C. Davis</a:t>
            </a:r>
          </a:p>
          <a:p>
            <a:pPr algn="ctr"/>
            <a:r>
              <a:rPr sz="2000" b="0" i="1">
                <a:solidFill>
                  <a:srgbClr val="000000"/>
                </a:solidFill>
              </a:rPr>
              <a:t>Prof. Steve France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" y="3639312"/>
            <a:ext cx="86959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THE MODEL THIS LECTURE BUILDS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OBLIGATION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32304" y="4407408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2724912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434840" y="4407408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727448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37376" y="4407408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729983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CONSEQUENCE</a:t>
            </a:r>
          </a:p>
        </p:txBody>
      </p:sp>
      <p:sp>
        <p:nvSpPr>
          <p:cNvPr id="15" name="TwoLines"/>
          <p:cNvSpPr txBox="1"/>
          <p:nvPr/>
        </p:nvSpPr>
        <p:spPr>
          <a:xfrm>
            <a:off x="219456" y="4956048"/>
            <a:ext cx="869594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You know how to evaluate evidence and how to delegate work.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Today: when should a verdict control what is permitted?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0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Validation meets Delegation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When should a verdict govern delegated work?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You have seen both halves of this problem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74320" y="932688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22376" y="1316736"/>
            <a:ext cx="1700784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CLAIM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32304" y="1618488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2724912" y="1316736"/>
            <a:ext cx="1700784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34840" y="1618488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4727448" y="1316736"/>
            <a:ext cx="1700784" cy="60350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JUDGMENT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37376" y="1618488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6729983" y="1316736"/>
            <a:ext cx="1700784" cy="60350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1993392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What evidence is sufficient to deliver a system into the world?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2578608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AGENTS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2376" y="2962656"/>
            <a:ext cx="1700784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BOUND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432304" y="3264408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2724912" y="2962656"/>
            <a:ext cx="1700784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EQUIP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434840" y="3264408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4727448" y="2962656"/>
            <a:ext cx="1700784" cy="60350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AUTHORIZE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37376" y="3264408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729983" y="2962656"/>
            <a:ext cx="1700784" cy="60350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VERIFY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3639312"/>
            <a:ext cx="8595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What evidence is sufficient to accept delegated work?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The required evidence depends on the claim, not on who produced the work.</a:t>
            </a:r>
          </a:p>
        </p:txBody>
      </p:sp>
      <p:sp>
        <p:nvSpPr>
          <p:cNvPr id="24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We already know how to verify work.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What should the environment do with the verdict?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Validation meets Delegation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19456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389888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When does evidence justify action?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31720"/>
            <a:ext cx="219456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DELEGATION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532888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What action may the agent take?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47472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3474720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8E6F3E"/>
                </a:solidFill>
              </a:rPr>
              <a:t>When should an engineering judgment control what the agent — or the environment — is permitted to do?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736592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Not a third framework — the point where the first two meet.</a:t>
            </a:r>
          </a:p>
        </p:txBody>
      </p:sp>
      <p:sp>
        <p:nvSpPr>
          <p:cNvPr id="12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Alignment connects a validation judgment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to what the environment permits.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1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How do you know?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How do you decide whether it did what you wanted?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Give the agent a job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74320" y="1051560"/>
            <a:ext cx="8595360" cy="1417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TASK — </a:t>
            </a:r>
            <a:r>
              <a:rPr sz="2000" b="1" i="0">
                <a:solidFill>
                  <a:srgbClr val="5C4826"/>
                </a:solidFill>
              </a:rPr>
              <a:t>add bulk refunds to the payments service’s public API.</a:t>
            </a:r>
          </a:p>
          <a:p>
            <a:pPr algn="l">
              <a:spcBef>
                <a:spcPts val="800"/>
              </a:spcBef>
            </a:pPr>
            <a:r>
              <a:rPr sz="1800" b="0" i="1">
                <a:solidFill>
                  <a:srgbClr val="555960"/>
                </a:solidFill>
              </a:rPr>
              <a:t>Existing client behavior must be preserved. Refunds move real money.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2697480"/>
            <a:ext cx="8595360" cy="1143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THE AGENT HAS — </a:t>
            </a:r>
            <a:r>
              <a:rPr sz="2000" b="0" i="0">
                <a:solidFill>
                  <a:srgbClr val="5C4826"/>
                </a:solidFill>
              </a:rPr>
              <a:t>the repository, the test suite, a branch it may modify,</a:t>
            </a:r>
          </a:p>
          <a:p>
            <a:pPr algn="l"/>
            <a:r>
              <a:rPr sz="2000" b="0" i="0">
                <a:solidFill>
                  <a:srgbClr val="5C4826"/>
                </a:solidFill>
              </a:rPr>
              <a:t>and permission to open a merge request.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429768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You validated this payments system in Act I. Now an agent is changing it.</a:t>
            </a:r>
          </a:p>
        </p:txBody>
      </p:sp>
      <p:sp>
        <p:nvSpPr>
          <p:cNvPr id="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The agent reports: finished.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How would you know?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The agent says it is finished.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8595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000000"/>
                </a:solidFill>
              </a:rPr>
              <a:t>How do you decide whether it actually did what you wanted?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423160"/>
            <a:ext cx="256032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Run the tests?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2423160"/>
            <a:ext cx="256032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Read the diff?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423160"/>
            <a:ext cx="256032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Ask the agent?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383280"/>
            <a:ext cx="256032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Ask another agent?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3383280"/>
            <a:ext cx="256032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Run it and see?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3383280"/>
            <a:ext cx="256032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Watch production?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What would convince you?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PSbadge"/>
          <p:cNvSpPr/>
          <p:nvPr/>
        </p:nvSpPr>
        <p:spPr>
          <a:xfrm>
            <a:off x="274320" y="914400"/>
            <a:ext cx="3017520" cy="54864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6B3FA0"/>
                </a:solidFill>
              </a:rPr>
              <a:t xml:space="preserve">THINK</a:t>
            </a:r>
            <a:r>
              <a:rPr lang="en-US" sz="2000" b="1" i="0" dirty="0">
                <a:solidFill>
                  <a:srgbClr val="9A9A9A"/>
                </a:solidFill>
              </a:rPr>
              <a:t xml:space="preserve">  ·  </a:t>
            </a:r>
            <a:r>
              <a:rPr lang="en-US" sz="2000" b="1" i="0" dirty="0">
                <a:solidFill>
                  <a:srgbClr val="2E74B5"/>
                </a:solidFill>
              </a:rPr>
              <a:t xml:space="preserve">PAIR</a:t>
            </a:r>
            <a:r>
              <a:rPr lang="en-US" sz="2000" b="1" i="0" dirty="0">
                <a:solidFill>
                  <a:srgbClr val="9A9A9A"/>
                </a:solidFill>
              </a:rPr>
              <a:t xml:space="preserve">  ·  </a:t>
            </a:r>
            <a:r>
              <a:rPr lang="en-US" sz="2000" b="1" i="0" dirty="0">
                <a:solidFill>
                  <a:srgbClr val="B8860B"/>
                </a:solidFill>
              </a:rPr>
              <a:t xml:space="preserve">SHARE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219456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INDIVIDUAL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938528"/>
            <a:ext cx="5760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What evidence would convince you the task was done correctly?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34639"/>
            <a:ext cx="219456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PAIR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2990087"/>
            <a:ext cx="5760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Compare answers. What can each proposed check not establish?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86200"/>
            <a:ext cx="219456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4041648"/>
            <a:ext cx="5760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We’ll collect three or four answers.</a:t>
            </a:r>
          </a:p>
        </p:txBody>
      </p:sp>
      <p:sp>
        <p:nvSpPr>
          <p:cNvPr id="12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Every proposed check assumes something the work must satisfy.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Evidence of what?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74320" y="96012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Tests are evidence only relative to some claim.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“It works” is not yet an engineering obligation.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2194560" cy="9144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OBLIGATION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938528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5C4826"/>
                </a:solidFill>
              </a:rPr>
              <a:t>A condition against which the work can be wrong.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315468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OBLIGATIONS COME IN MANY FORMS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3611880"/>
            <a:ext cx="13716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requirement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37360" y="3611880"/>
            <a:ext cx="13716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invariant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72968" y="3611880"/>
            <a:ext cx="13716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policy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08576" y="3611880"/>
            <a:ext cx="13716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tolerance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44184" y="3611880"/>
            <a:ext cx="13716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permission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79792" y="3611880"/>
            <a:ext cx="13716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schema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452628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Your proposed checks already assumed obligations like these.</a:t>
            </a:r>
          </a:p>
        </p:txBody>
      </p:sp>
      <p:sp>
        <p:nvSpPr>
          <p:cNvPr id="1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Evidence is evidence only relative to an obligation.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2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From evidence to authority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When should a failed check have consequences?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The agent can be wrong against an obligation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722376" y="1051560"/>
            <a:ext cx="237744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OBLIGATION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22376" y="1691640"/>
            <a:ext cx="237744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What must be true?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08960" y="1335024"/>
            <a:ext cx="37490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483864" y="1051560"/>
            <a:ext cx="237744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EVIDENCE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3483864" y="1691640"/>
            <a:ext cx="237744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What observation bears on it?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870448" y="1335024"/>
            <a:ext cx="37490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6245352" y="1051560"/>
            <a:ext cx="237744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JUDGMENT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5352" y="1691640"/>
            <a:ext cx="237744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What verdict does it support?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274320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VALIDATION GAVE US THREE WAYS TO ESTABLISH A CLAIM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200400"/>
            <a:ext cx="23774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👁</a:t>
            </a:r>
          </a:p>
          <a:p>
            <a:pPr algn="ctr"/>
            <a:r>
              <a:rPr sz="1800" b="1" i="0">
                <a:solidFill>
                  <a:srgbClr val="5C4826"/>
                </a:solidFill>
              </a:rPr>
              <a:t>HUMAN</a:t>
            </a:r>
          </a:p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83864" y="3200400"/>
            <a:ext cx="23774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🗺</a:t>
            </a:r>
          </a:p>
          <a:p>
            <a:pPr algn="ctr"/>
            <a:r>
              <a:rPr sz="1800" b="1" i="0">
                <a:solidFill>
                  <a:srgbClr val="5C4826"/>
                </a:solidFill>
              </a:rPr>
              <a:t>REASONING OVER</a:t>
            </a:r>
          </a:p>
          <a:p>
            <a:pPr algn="ctr"/>
            <a:r>
              <a:rPr sz="1800" b="1" i="0">
                <a:solidFill>
                  <a:srgbClr val="5C4826"/>
                </a:solidFill>
              </a:rPr>
              <a:t>POSSIBLE BEHAVIOR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45352" y="3200400"/>
            <a:ext cx="23774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▶</a:t>
            </a:r>
          </a:p>
          <a:p>
            <a:pPr algn="ctr"/>
            <a:r>
              <a:rPr sz="1800" b="1" i="0">
                <a:solidFill>
                  <a:srgbClr val="5C4826"/>
                </a:solidFill>
              </a:rPr>
              <a:t>OBSERVING</a:t>
            </a:r>
          </a:p>
          <a:p>
            <a:pPr algn="ctr"/>
            <a:r>
              <a:rPr sz="1800" b="1" i="0">
                <a:solidFill>
                  <a:srgbClr val="5C4826"/>
                </a:solidFill>
              </a:rPr>
              <a:t>EXECUTION</a:t>
            </a:r>
          </a:p>
        </p:txBody>
      </p:sp>
      <p:sp>
        <p:nvSpPr>
          <p:cNvPr id="1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The new question is what happens to the verdict.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What happens when the answer is no?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178308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WARN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64208"/>
            <a:ext cx="1783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note it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04288" y="1335024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2606039" y="1051560"/>
            <a:ext cx="178308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RECOMMEND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39" y="1664208"/>
            <a:ext cx="1783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ask the agent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to reconsider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407407" y="1335024"/>
            <a:ext cx="283465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709159" y="1051560"/>
            <a:ext cx="178308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REJECT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59" y="1664208"/>
            <a:ext cx="1783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refuse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the patch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10527" y="1335024"/>
            <a:ext cx="283465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812279" y="1051560"/>
            <a:ext cx="178308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PREVENT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79" y="1664208"/>
            <a:ext cx="1783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make the action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impossible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2395728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8E6F3E"/>
                </a:solidFill>
              </a:rPr>
              <a:t>increasing control over what happens next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926080"/>
            <a:ext cx="4206240" cy="18973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GUIDANCE</a:t>
            </a:r>
          </a:p>
          <a:p>
            <a:pPr algn="l">
              <a:spcBef>
                <a:spcPts val="600"/>
              </a:spcBef>
            </a:pPr>
            <a:r>
              <a:rPr sz="1800" b="0" i="1">
                <a:solidFill>
                  <a:srgbClr val="5C4826"/>
                </a:solidFill>
              </a:rPr>
              <a:t>“Do not merge unless the security tests pass.”</a:t>
            </a:r>
          </a:p>
          <a:p>
            <a:pPr algn="l">
              <a:spcBef>
                <a:spcPts val="600"/>
              </a:spcBef>
            </a:pPr>
            <a:r>
              <a:rPr sz="1800" b="0" i="0">
                <a:solidFill>
                  <a:srgbClr val="555960"/>
                </a:solidFill>
              </a:rPr>
              <a:t>Influences the producer. Can be misread, forgotten, or wrongly judged satisfied.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63440" y="2926080"/>
            <a:ext cx="4206240" cy="18973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ENFORCEMENT</a:t>
            </a:r>
          </a:p>
          <a:p>
            <a:pPr algn="l">
              <a:spcBef>
                <a:spcPts val="600"/>
              </a:spcBef>
            </a:pPr>
            <a:r>
              <a:rPr sz="1800" b="0" i="1">
                <a:solidFill>
                  <a:srgbClr val="5C4826"/>
                </a:solidFill>
              </a:rPr>
              <a:t>The merge is unavailable unless the tests pass.</a:t>
            </a:r>
          </a:p>
          <a:p>
            <a:pPr algn="l">
              <a:spcBef>
                <a:spcPts val="600"/>
              </a:spcBef>
            </a:pPr>
            <a:r>
              <a:rPr sz="1800" b="0" i="0">
                <a:solidFill>
                  <a:srgbClr val="555960"/>
                </a:solidFill>
              </a:rPr>
              <a:t>The environment decides whether the work proceeds. The decision does not depend on what the producer remembers.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4993132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Same obligation. Different consequences.</a:t>
            </a:r>
          </a:p>
        </p:txBody>
      </p:sp>
      <p:sp>
        <p:nvSpPr>
          <p:cNvPr id="20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Guidance shapes behavior;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enforcement determines what the environment accepts.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Verification can govern authority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74320" y="91440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From Agents: capability is not authority.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353312"/>
            <a:ext cx="142646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READ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837943" y="1636776"/>
            <a:ext cx="283465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2130552" y="1353312"/>
            <a:ext cx="142646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PROPOSE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1636776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858768" y="1353312"/>
            <a:ext cx="142646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MODIFY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94376" y="1636776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5586984" y="1353312"/>
            <a:ext cx="142646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22592" y="1636776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7315200" y="1353312"/>
            <a:ext cx="142646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DEPLOY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1993392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increasing permitted consequence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2395728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AUTHORITY CAN DEPEND ON EVIDENCE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127248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WORK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8568" y="3447288"/>
            <a:ext cx="31089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911095" y="279806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evidence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87752" y="3127248"/>
            <a:ext cx="173736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VALIDATOR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343400" y="3447288"/>
            <a:ext cx="31089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995928" y="279806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verdict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72583" y="3127248"/>
            <a:ext cx="173736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GATE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28231" y="3447288"/>
            <a:ext cx="310897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080759" y="279806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admits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57415" y="3127248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 · 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406908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The agent may propose freely. It may modify its branch freely.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It may merge if the checks pass. It may deploy if the release satisfies admission obligations.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4892040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Some actions are permitted only after their obligations are satisfied.</a:t>
            </a:r>
          </a:p>
        </p:txBody>
      </p:sp>
      <p:sp>
        <p:nvSpPr>
          <p:cNvPr id="2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 gate makes authority conditional on a verdict.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Four roles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051560"/>
            <a:ext cx="2194560" cy="7315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CONSTRAINT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097280"/>
            <a:ext cx="4297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narrows what may happen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84248"/>
            <a:ext cx="219456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SENSOR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2029967"/>
            <a:ext cx="4297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observes what happened and produces evidence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916936"/>
            <a:ext cx="219456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VALIDATOR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962656"/>
            <a:ext cx="4297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evaluates evidence against an obligation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849624"/>
            <a:ext cx="2194560" cy="7315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3895344"/>
            <a:ext cx="4297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controls whether work crosses a boundary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846320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These are roles, not four required components. One mechanism may play several roles.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Prevent or detect?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3977639" cy="23774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PREVENT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If an invalid state can be excluded cheaply and reliably, constrain it.</a:t>
            </a:r>
          </a:p>
          <a:p>
            <a:pPr algn="l">
              <a:spcBef>
                <a:spcPts val="1000"/>
              </a:spcBef>
            </a:pPr>
            <a:r>
              <a:rPr sz="1800" b="0" i="1">
                <a:solidFill>
                  <a:srgbClr val="555960"/>
                </a:solidFill>
              </a:rPr>
              <a:t>closed enumeration · permission</a:t>
            </a:r>
          </a:p>
          <a:p>
            <a:pPr algn="l"/>
            <a:r>
              <a:rPr sz="1800" b="0" i="1">
                <a:solidFill>
                  <a:srgbClr val="555960"/>
                </a:solidFill>
              </a:rPr>
              <a:t>narrow API · typed representation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663440" y="1051560"/>
            <a:ext cx="3977639" cy="23774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DETECT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Otherwise, observe the work and evaluate the evidence.</a:t>
            </a:r>
          </a:p>
          <a:p>
            <a:pPr algn="l">
              <a:spcBef>
                <a:spcPts val="1000"/>
              </a:spcBef>
            </a:pPr>
            <a:r>
              <a:rPr sz="1800" b="0" i="1">
                <a:solidFill>
                  <a:srgbClr val="555960"/>
                </a:solidFill>
              </a:rPr>
              <a:t>test · trace · measurement · analysis</a:t>
            </a:r>
          </a:p>
          <a:p>
            <a:pPr algn="l"/>
            <a:r>
              <a:rPr sz="1800" b="0" i="1">
                <a:solidFill>
                  <a:srgbClr val="555960"/>
                </a:solidFill>
              </a:rPr>
              <a:t>then validate it — and gate on the verdict when appropriate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402336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Not every invalid state can be excluded in advance. Some properties appear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only across a sequence of actions, in the assembled system, or at runtime.</a:t>
            </a:r>
          </a:p>
        </p:txBody>
      </p:sp>
      <p:sp>
        <p:nvSpPr>
          <p:cNvPr id="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If you can make the wrong state impossible, do. Otherwise: evidence.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Validation with consequences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37160" y="1572768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554480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CLAIM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91256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419856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56632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285232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922008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150608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ACTION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68296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233672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99048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64424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37160" y="2907792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ALIGNMENT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54480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OBLIGATION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191256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419856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56632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285232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922008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7150608" y="2926080"/>
            <a:ext cx="1627632" cy="60350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CONSEQUENCE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02336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Validation asks whether the evidence supports the claim.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Alignment asks what the verdict should control.</a:t>
            </a:r>
          </a:p>
        </p:txBody>
      </p:sp>
      <p:sp>
        <p:nvSpPr>
          <p:cNvPr id="2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The added step is consequence: the verdict can control what happens next.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3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Check it where you can know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Where can each obligation actually be decided?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Where can you decide?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92608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EDIT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490472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737360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35224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182112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PUSH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379976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626864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24728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071616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DEPLOY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269480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516368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RUNTIME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886968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237744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type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property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2331720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1682496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forbidden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dependency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5221224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572000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integration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behavior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6665976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6016752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latency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under load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8110728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7461504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deployed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configuration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406908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A check can decide a property only where the required information exists.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Different boundaries provide enough information to decide different properties.</a:t>
            </a:r>
          </a:p>
        </p:txBody>
      </p:sp>
      <p:sp>
        <p:nvSpPr>
          <p:cNvPr id="2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Put the check where its question can be answered.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Earlier is cheaper — but not always possible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3977639" cy="2788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EARLIER IS CHEAPER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Early detection or prevention reduces wasted work and consequence.</a:t>
            </a:r>
          </a:p>
          <a:p>
            <a:pPr algn="l">
              <a:spcBef>
                <a:spcPts val="1000"/>
              </a:spcBef>
            </a:pPr>
            <a:r>
              <a:rPr sz="1800" b="0" i="1">
                <a:solidFill>
                  <a:srgbClr val="555960"/>
                </a:solidFill>
              </a:rPr>
              <a:t>So why not put every check at edit time?</a:t>
            </a:r>
          </a:p>
        </p:txBody>
      </p:sp>
      <p:sp>
        <p:nvSpPr>
          <p:cNvPr id="6" name="Rectangle 5"/>
          <p:cNvSpPr/>
          <p:nvPr/>
        </p:nvSpPr>
        <p:spPr>
          <a:xfrm>
            <a:off x="4663440" y="1051560"/>
            <a:ext cx="3977639" cy="2788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SOME PROPERTIES</a:t>
            </a:r>
          </a:p>
          <a:p>
            <a:pPr algn="l"/>
            <a:r>
              <a:rPr sz="2000" b="1" i="0">
                <a:solidFill>
                  <a:srgbClr val="8E6F3E"/>
                </a:solidFill>
              </a:rPr>
              <a:t>CANNOT BE DECIDED YET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Integration behavior needs composition.</a:t>
            </a:r>
          </a:p>
          <a:p>
            <a:pPr algn="l">
              <a:spcBef>
                <a:spcPts val="400"/>
              </a:spcBef>
            </a:pPr>
            <a:r>
              <a:rPr sz="1800" b="0" i="0">
                <a:solidFill>
                  <a:srgbClr val="5C4826"/>
                </a:solidFill>
              </a:rPr>
              <a:t>Production behavior needs deployed conditions.</a:t>
            </a:r>
          </a:p>
          <a:p>
            <a:pPr algn="l">
              <a:spcBef>
                <a:spcPts val="400"/>
              </a:spcBef>
            </a:pPr>
            <a:r>
              <a:rPr sz="1800" b="0" i="0">
                <a:solidFill>
                  <a:srgbClr val="5C4826"/>
                </a:solidFill>
              </a:rPr>
              <a:t>Mid-task, work may legitimately disagree with an end-state obligation.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411480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“Shift left” is not an unconditional maxim.</a:t>
            </a:r>
          </a:p>
        </p:txBody>
      </p:sp>
      <p:sp>
        <p:nvSpPr>
          <p:cNvPr id="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Check earlier when the required evidence exists earlier.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The boundary follows the property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3977639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VALIDATION TAUGHT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3977639" cy="14630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1">
                <a:solidFill>
                  <a:srgbClr val="5C4826"/>
                </a:solidFill>
              </a:rPr>
              <a:t>Check at the lowest scope that can establish it,</a:t>
            </a:r>
          </a:p>
          <a:p>
            <a:pPr algn="ctr"/>
            <a:r>
              <a:rPr sz="2000" b="1" i="1">
                <a:solidFill>
                  <a:srgbClr val="5C4826"/>
                </a:solidFill>
              </a:rPr>
              <a:t>but no lower.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1188720"/>
            <a:ext cx="3977639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ALIGNMENT GENERALIZES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828800"/>
            <a:ext cx="3977639" cy="14630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1">
                <a:solidFill>
                  <a:srgbClr val="5C4826"/>
                </a:solidFill>
              </a:rPr>
              <a:t>Check at the earliest boundary where the obligation can be decided,</a:t>
            </a:r>
          </a:p>
          <a:p>
            <a:pPr algn="ctr"/>
            <a:r>
              <a:rPr sz="2000" b="1" i="1">
                <a:solidFill>
                  <a:srgbClr val="5C4826"/>
                </a:solidFill>
              </a:rPr>
              <a:t>but no earlier.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3657600"/>
            <a:ext cx="8595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Both rules place the check at the earliest point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with enough information to decide the claim.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Right obligation, wrong boundary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859536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OBLIGATION — </a:t>
            </a:r>
            <a:r>
              <a:rPr sz="1800" b="0" i="0">
                <a:solidFill>
                  <a:srgbClr val="5C4826"/>
                </a:solidFill>
              </a:rPr>
              <a:t>the code and its architectural model must agree when the task completes.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EDIT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90472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1737360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935224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182112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PUSH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79976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626864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24728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071616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DEPLOY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69480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516368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RUNTIME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331720" y="2606040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51560" y="3291840"/>
            <a:ext cx="256032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✗  enforced per-commit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rejects legitimate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intermediate states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5221224" y="2606040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941064" y="3291840"/>
            <a:ext cx="2560320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✓  decided at merge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when the task’s work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is assembled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4572000"/>
            <a:ext cx="8595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 obligation is right. The early boundary simply cannot decide it yet.</a:t>
            </a:r>
          </a:p>
        </p:txBody>
      </p:sp>
      <p:sp>
        <p:nvSpPr>
          <p:cNvPr id="22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Enforcing an obligation before it can be decided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gives weaker control, not stronger control.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9696"/>
            <a:ext cx="7772400" cy="1444752"/>
          </a:xfrm>
        </p:spPr>
        <p:txBody>
          <a:bodyPr wrap="square"/>
          <a:lstStyle/>
          <a:p>
            <a:pPr algn="ctr"/>
            <a:r>
              <a:rPr sz="3400">
                <a:solidFill>
                  <a:srgbClr val="000000"/>
                </a:solidFill>
              </a:rPr>
              <a:t>Stretch break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3429000" y="3383280"/>
            <a:ext cx="2286000" cy="5486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4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Design the Alignment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must be true, and what should hold it?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Activity: govern the agent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KickerBadge">
            <a:extLst>
              <a:ext uri="{FF2B5EF4-FFF2-40B4-BE49-F238E27FC236}">
                <a16:creationId xmlns:a16="http://schemas.microsoft.com/office/drawing/2014/main" id="{55489336-5766-22EA-2ADC-D9F38F769456}"/>
              </a:ext>
            </a:extLst>
          </p:cNvPr>
          <p:cNvSpPr/>
          <p:nvPr/>
        </p:nvSpPr>
        <p:spPr>
          <a:xfrm>
            <a:off x="5620000" y="205000"/>
            <a:ext cx="3249680" cy="47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27432" rIns="91440" bIns="27432" anchor="ctr"/>
          <a:lstStyle/>
          <a:p>
            <a:pPr algn="ctr">
              <a:buNone/>
            </a:pPr>
            <a:r>
              <a:rPr lang="en-US" b="1" i="0" dirty="0">
                <a:solidFill>
                  <a:srgbClr val="8E6F3E"/>
                </a:solidFill>
              </a:rPr>
              <a:t>TEAM ACTIVITY  ·  12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05840"/>
            <a:ext cx="859536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SCENARIO — </a:t>
            </a:r>
            <a:r>
              <a:rPr sz="2000" b="1" i="0">
                <a:solidFill>
                  <a:srgbClr val="5C4826"/>
                </a:solidFill>
              </a:rPr>
              <a:t>an agent is modifying an embedded controller.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1  ·  </a:t>
            </a:r>
            <a:r>
              <a:rPr sz="1800" b="0" i="0">
                <a:solidFill>
                  <a:srgbClr val="5C4826"/>
                </a:solidFill>
              </a:rPr>
              <a:t>Preserve the external API.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96596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2  ·  </a:t>
            </a:r>
            <a:r>
              <a:rPr sz="1800" b="0" i="0">
                <a:solidFill>
                  <a:srgbClr val="5C4826"/>
                </a:solidFill>
              </a:rPr>
              <a:t>Worst-case memory below 64 MB.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15468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3  ·  </a:t>
            </a:r>
            <a:r>
              <a:rPr sz="1800" b="0" i="0">
                <a:solidFill>
                  <a:srgbClr val="5C4826"/>
                </a:solidFill>
              </a:rPr>
              <a:t>Avoid the forbidden dependency.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315468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4  ·  </a:t>
            </a:r>
            <a:r>
              <a:rPr sz="1800" b="0" i="0">
                <a:solidFill>
                  <a:srgbClr val="5C4826"/>
                </a:solidFill>
              </a:rPr>
              <a:t>Retain a behavior observable only when components interact.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57200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Four obligations of different kinds. Design a control for each.</a:t>
            </a:r>
          </a:p>
        </p:txBody>
      </p:sp>
      <p:sp>
        <p:nvSpPr>
          <p:cNvPr id="12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Decide how each obligation will be checked or constrained — and where.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For each obligation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051560"/>
            <a:ext cx="420624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What must be true?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1627631"/>
            <a:ext cx="0" cy="265176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640080" y="1911095"/>
            <a:ext cx="420624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What evidence bears on it?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743200" y="2487168"/>
            <a:ext cx="0" cy="265176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640080" y="2770632"/>
            <a:ext cx="420624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Where is it decidable?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743200" y="3346703"/>
            <a:ext cx="0" cy="265176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640080" y="3630168"/>
            <a:ext cx="420624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What mechanism should implement the control?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743200" y="4206240"/>
            <a:ext cx="0" cy="265176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40080" y="4489704"/>
            <a:ext cx="420624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What happens if it fails?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0" y="1874519"/>
            <a:ext cx="3474720" cy="23774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USE THE ROLES WHERE THEY HELP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constraint · sensor · validator · gate</a:t>
            </a:r>
          </a:p>
          <a:p>
            <a:pPr algn="l">
              <a:spcBef>
                <a:spcPts val="800"/>
              </a:spcBef>
            </a:pPr>
            <a:r>
              <a:rPr sz="1800" b="0" i="1">
                <a:solidFill>
                  <a:srgbClr val="555960"/>
                </a:solidFill>
              </a:rPr>
              <a:t>Not all four are required.</a:t>
            </a:r>
          </a:p>
          <a:p>
            <a:pPr algn="l">
              <a:spcBef>
                <a:spcPts val="800"/>
              </a:spcBef>
            </a:pPr>
            <a:r>
              <a:rPr sz="1800" b="0" i="1">
                <a:solidFill>
                  <a:srgbClr val="555960"/>
                </a:solidFill>
              </a:rPr>
              <a:t>And decide: what authority should the verdict have?</a:t>
            </a:r>
          </a:p>
        </p:txBody>
      </p:sp>
      <p:sp>
        <p:nvSpPr>
          <p:cNvPr id="15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Be ready to defend your boundary and your authority choices.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Compare your control designs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8138160" cy="9601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Team A put this at merge; Team B at runtime. Which claim can each boundary actually establish?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331720"/>
            <a:ext cx="8138160" cy="9601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One team used a constraint; another a validator and a gate. What does each buy?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3520439"/>
            <a:ext cx="8138160" cy="6858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Should this failed check actually prevent admission?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475488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Compare the disagreements. There may be more than one defensible mechanism.</a:t>
            </a:r>
          </a:p>
        </p:txBody>
      </p:sp>
      <p:sp>
        <p:nvSpPr>
          <p:cNvPr id="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The obligation constrains the design. Engineering judgment remains.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5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What do models buy us?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does an explicit model add?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We just did Alignment without models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8046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000000"/>
                </a:solidFill>
              </a:rPr>
              <a:t>You just designed constraints, evidence,</a:t>
            </a:r>
          </a:p>
          <a:p>
            <a:pPr algn="ctr"/>
            <a:r>
              <a:rPr sz="2400" b="1" i="0">
                <a:solidFill>
                  <a:srgbClr val="000000"/>
                </a:solidFill>
              </a:rPr>
              <a:t>evaluation, and authority.</a:t>
            </a:r>
          </a:p>
          <a:p>
            <a:pPr algn="ctr">
              <a:spcBef>
                <a:spcPts val="1400"/>
              </a:spcBef>
            </a:pPr>
            <a:r>
              <a:rPr sz="2400" b="1" i="0">
                <a:solidFill>
                  <a:srgbClr val="000000"/>
                </a:solidFill>
              </a:rPr>
              <a:t>No explicit model was required.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0"/>
            <a:ext cx="8046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300" b="0" i="1">
                <a:solidFill>
                  <a:srgbClr val="8E6F3E"/>
                </a:solidFill>
              </a:rPr>
              <a:t>So why did we spend the previous lecture on Modeling?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 wrap="square"/>
          <a:lstStyle/>
          <a:p>
            <a:pPr algn="ctr"/>
            <a:r>
              <a:rPr sz="4000">
                <a:solidFill>
                  <a:srgbClr val="000000"/>
                </a:solidFill>
              </a:rPr>
              <a:t>What do models buy us?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429000" y="3017520"/>
            <a:ext cx="2286000" cy="5486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Models make engineering knowledge explicit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A MODEL CAN …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PRESERVE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499616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distinctions that matter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04288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EXPOSE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432304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relationships that would otherwise be reconstructed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236976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LEAVE OPEN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3364992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realization choices that do not matter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69664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ENABLE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4297680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evaluations that otherwise require reconstruction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5010912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Different analyses can then operate over the same engineering knowledge.</a:t>
            </a:r>
          </a:p>
        </p:txBody>
      </p:sp>
      <p:sp>
        <p:nvSpPr>
          <p:cNvPr id="15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Explicit structure can turn reconstruction into inspection.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Agreement is not correctness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097280"/>
            <a:ext cx="3977639" cy="2103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MODEL AND REALIZATION</a:t>
            </a:r>
          </a:p>
          <a:p>
            <a:pPr algn="l"/>
            <a:r>
              <a:rPr sz="1800" b="1" i="0">
                <a:solidFill>
                  <a:srgbClr val="8E6F3E"/>
                </a:solidFill>
              </a:rPr>
              <a:t>AGREE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They can agree completely and still violate an external obligation.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663440" y="1097280"/>
            <a:ext cx="3977639" cy="21031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DERIVED FROM</a:t>
            </a:r>
          </a:p>
          <a:p>
            <a:pPr algn="l"/>
            <a:r>
              <a:rPr sz="1800" b="1" i="0">
                <a:solidFill>
                  <a:srgbClr val="8E6F3E"/>
                </a:solidFill>
              </a:rPr>
              <a:t>THE IMPLEMENTATION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A representation extracted from the implementation may correspond by construction. That does not provide independent evidence of correctness.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29000"/>
            <a:ext cx="7772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Correspondence</a:t>
            </a:r>
            <a:r>
              <a:rPr sz="2000" b="0" i="0">
                <a:solidFill>
                  <a:srgbClr val="5C4826"/>
                </a:solidFill>
              </a:rPr>
              <a:t> — do two representations agree?</a:t>
            </a:r>
          </a:p>
          <a:p>
            <a:pPr algn="l"/>
            <a:r>
              <a:rPr sz="2000" b="1" i="0">
                <a:solidFill>
                  <a:srgbClr val="5C4826"/>
                </a:solidFill>
              </a:rPr>
              <a:t>Conformance</a:t>
            </a:r>
            <a:r>
              <a:rPr sz="2000" b="0" i="0">
                <a:solidFill>
                  <a:srgbClr val="5C4826"/>
                </a:solidFill>
              </a:rPr>
              <a:t> — does the artifact satisfy an independent obligation?</a:t>
            </a:r>
          </a:p>
          <a:p>
            <a:pPr algn="l"/>
            <a:r>
              <a:rPr sz="2000" b="1" i="0">
                <a:solidFill>
                  <a:srgbClr val="5C4826"/>
                </a:solidFill>
              </a:rPr>
              <a:t>Acceptance</a:t>
            </a:r>
            <a:r>
              <a:rPr sz="2000" b="0" i="0">
                <a:solidFill>
                  <a:srgbClr val="5C4826"/>
                </a:solidFill>
              </a:rPr>
              <a:t> — will the environment admit it?</a:t>
            </a:r>
          </a:p>
        </p:txBody>
      </p:sp>
      <p:sp>
        <p:nvSpPr>
          <p:cNvPr id="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Evidence for one does not establish the others.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Three things can disagree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3474720" y="1097280"/>
            <a:ext cx="219456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OBLIGATION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566160"/>
            <a:ext cx="219456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3566160"/>
            <a:ext cx="219456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REALIZATION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011680" y="1440180"/>
            <a:ext cx="146304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11680" y="1440180"/>
            <a:ext cx="0" cy="212598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1440180"/>
            <a:ext cx="146304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132320" y="1440180"/>
            <a:ext cx="0" cy="212598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08960" y="3909060"/>
            <a:ext cx="292608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121408" y="2331720"/>
            <a:ext cx="23957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</a:rPr>
              <a:t>does the model capture</a:t>
            </a:r>
          </a:p>
          <a:p>
            <a:pPr algn="l"/>
            <a:r>
              <a:rPr sz="1800" b="0" i="1">
                <a:solidFill>
                  <a:srgbClr val="555960"/>
                </a:solidFill>
              </a:rPr>
              <a:t>the obligation?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331720"/>
            <a:ext cx="23957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800" b="0" i="1">
                <a:solidFill>
                  <a:srgbClr val="555960"/>
                </a:solidFill>
              </a:rPr>
              <a:t>does the realization</a:t>
            </a:r>
          </a:p>
          <a:p>
            <a:pPr algn="r"/>
            <a:r>
              <a:rPr sz="1800" b="0" i="1">
                <a:solidFill>
                  <a:srgbClr val="555960"/>
                </a:solidFill>
              </a:rPr>
              <a:t>satisfy it?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4069080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do they correspond?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80060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What claim does each edge make? What evidence would establish it?</a:t>
            </a:r>
          </a:p>
        </p:txBody>
      </p:sp>
      <p:sp>
        <p:nvSpPr>
          <p:cNvPr id="1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Correspondence is one edge, not the whole triangle.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How do you know?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00584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MODELING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033272"/>
            <a:ext cx="5715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5C4826"/>
                </a:solidFill>
              </a:rPr>
              <a:t>make consequential engineering knowledge explicit while leaving irrelevant choices free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993392"/>
            <a:ext cx="5715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5C4826"/>
                </a:solidFill>
              </a:rPr>
              <a:t>decide which obligations have consequences in the engineered environment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063240"/>
            <a:ext cx="8183879" cy="19202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THE REUSABLE QUESTIONS</a:t>
            </a:r>
          </a:p>
          <a:p>
            <a:pPr algn="l">
              <a:spcBef>
                <a:spcPts val="600"/>
              </a:spcBef>
            </a:pPr>
            <a:r>
              <a:rPr sz="1800" b="0" i="0">
                <a:solidFill>
                  <a:srgbClr val="5C4826"/>
                </a:solidFill>
              </a:rPr>
              <a:t>What must be true?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What evidence bears on it?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Where can it be decided?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How will it be evaluated?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Should failure control what happens next?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8564</TotalTime>
  <Words>5079</Words>
  <Application>Microsoft Macintosh PowerPoint</Application>
  <PresentationFormat>On-screen Show (4:3)</PresentationFormat>
  <Paragraphs>694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Calibri</vt:lpstr>
      <vt:lpstr>Times</vt:lpstr>
      <vt:lpstr>Purdue1</vt:lpstr>
      <vt:lpstr>PowerPoint Presentation</vt:lpstr>
      <vt:lpstr>Engineers may delegate realization without delegating responsibility for the resulting system.</vt:lpstr>
      <vt:lpstr>Delegation did not begin with agents</vt:lpstr>
      <vt:lpstr>The recipient changes</vt:lpstr>
      <vt:lpstr>The delegation problem remains</vt:lpstr>
      <vt:lpstr>BOUND</vt:lpstr>
      <vt:lpstr>BOUND: design the delegated work</vt:lpstr>
      <vt:lpstr>A delegation boundary is a reasoning boundary</vt:lpstr>
      <vt:lpstr>Reasoning has a horizon</vt:lpstr>
      <vt:lpstr>Delegation leaves degrees of freedom</vt:lpstr>
      <vt:lpstr>EQUIP</vt:lpstr>
      <vt:lpstr>EQUIP: capability lives in a system</vt:lpstr>
      <vt:lpstr>Equip three things</vt:lpstr>
      <vt:lpstr>Choose the reasoner for the work</vt:lpstr>
      <vt:lpstr>Engineer the information available to it</vt:lpstr>
      <vt:lpstr>Representation can change the reasoning problem</vt:lpstr>
      <vt:lpstr>Give the agent means to observe and act</vt:lpstr>
      <vt:lpstr>A real harness engineers the reasoning surface</vt:lpstr>
      <vt:lpstr>Zoom out: the equipped agent</vt:lpstr>
      <vt:lpstr>How will you equip your agents?</vt:lpstr>
      <vt:lpstr>Stretch break</vt:lpstr>
      <vt:lpstr>AUTHORIZE</vt:lpstr>
      <vt:lpstr>Capability is not authority</vt:lpstr>
      <vt:lpstr>Authority follows consequence</vt:lpstr>
      <vt:lpstr>Authority should match the delegated work</vt:lpstr>
      <vt:lpstr>VERIFY</vt:lpstr>
      <vt:lpstr>VERIFY: what evidence closes the work?</vt:lpstr>
      <vt:lpstr>The producer is not independent evidence</vt:lpstr>
      <vt:lpstr>THE DELEGATION SYSTEM</vt:lpstr>
      <vt:lpstr>Engineer the delegation system</vt:lpstr>
      <vt:lpstr>Better agents change the delegation design</vt:lpstr>
      <vt:lpstr>What changes? What stays?</vt:lpstr>
      <vt:lpstr>What must exist outside the agent?</vt:lpstr>
      <vt:lpstr>Phase 2 honest individual status update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398</cp:revision>
  <dcterms:created xsi:type="dcterms:W3CDTF">2020-02-21T23:00:33Z</dcterms:created>
  <dcterms:modified xsi:type="dcterms:W3CDTF">2026-09-29T15:52:00Z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