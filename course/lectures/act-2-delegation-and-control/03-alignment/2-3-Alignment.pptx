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8" r:id="rId1"/>
  </p:sldMasterIdLst>
  <p:notesMasterIdLst>
    <p:notesMasterId r:id="rId43"/>
  </p:notesMasterIdLst>
  <p:sldIdLst>
    <p:sldId id="256" r:id="rId7"/>
    <p:sldId id="302" r:id="rId54"/>
    <p:sldId id="289" r:id="rId15"/>
    <p:sldId id="290" r:id="rId34"/>
    <p:sldId id="258" r:id="rId9"/>
    <p:sldId id="284" r:id="rId49"/>
    <p:sldId id="291" r:id="rId35"/>
    <p:sldId id="293" r:id="rId37"/>
    <p:sldId id="294" r:id="rId38"/>
    <p:sldId id="285" r:id="rId50"/>
    <p:sldId id="304" r:id="rId40"/>
    <p:sldId id="297" r:id="rId41"/>
    <p:sldId id="298" r:id="rId42"/>
    <p:sldId id="305" r:id="rId22"/>
    <p:sldId id="267" r:id="rId18"/>
    <p:sldId id="306" r:id="rId48"/>
    <p:sldId id="268" r:id="rId19"/>
    <p:sldId id="286" r:id="rId51"/>
    <p:sldId id="269" r:id="rId20"/>
    <p:sldId id="270" r:id="rId21"/>
    <p:sldId id="273" r:id="rId24"/>
    <p:sldId id="288" r:id="rId53"/>
    <p:sldId id="307" r:id="rId10"/>
    <p:sldId id="308" r:id="rId8"/>
    <p:sldId id="309" r:id="rId6"/>
    <p:sldId id="281" r:id="rId32"/>
    <p:sldId id="274" r:id="rId25"/>
    <p:sldId id="276" r:id="rId27"/>
    <p:sldId id="282"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14" autoAdjust="0"/>
    <p:restoredTop sz="56164"/>
  </p:normalViewPr>
  <p:slideViewPr>
    <p:cSldViewPr snapToGrid="0" snapToObjects="1">
      <p:cViewPr varScale="1">
        <p:scale>
          <a:sx n="64" d="100"/>
          <a:sy n="64" d="100"/>
        </p:scale>
        <p:origin x="3032" y="16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25.xml"/><Relationship Id="rId7" Type="http://schemas.openxmlformats.org/officeDocument/2006/relationships/slide" Target="slides/slide1.xml"/><Relationship Id="rId8" Type="http://schemas.openxmlformats.org/officeDocument/2006/relationships/slide" Target="slides/slide24.xml"/><Relationship Id="rId9" Type="http://schemas.openxmlformats.org/officeDocument/2006/relationships/slide" Target="slides/slide5.xml"/><Relationship Id="rId10" Type="http://schemas.openxmlformats.org/officeDocument/2006/relationships/slide" Target="slides/slide23.xml"/><Relationship Id="rId15" Type="http://schemas.openxmlformats.org/officeDocument/2006/relationships/slide" Target="slides/slide3.xml"/><Relationship Id="rId18" Type="http://schemas.openxmlformats.org/officeDocument/2006/relationships/slide" Target="slides/slide15.xml"/><Relationship Id="rId19" Type="http://schemas.openxmlformats.org/officeDocument/2006/relationships/slide" Target="slides/slide17.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14.xml"/><Relationship Id="rId24" Type="http://schemas.openxmlformats.org/officeDocument/2006/relationships/slide" Target="slides/slide21.xml"/><Relationship Id="rId25" Type="http://schemas.openxmlformats.org/officeDocument/2006/relationships/slide" Target="slides/slide27.xml"/><Relationship Id="rId27" Type="http://schemas.openxmlformats.org/officeDocument/2006/relationships/slide" Target="slides/slide28.xml"/><Relationship Id="rId32" Type="http://schemas.openxmlformats.org/officeDocument/2006/relationships/slide" Target="slides/slide26.xml"/><Relationship Id="rId33" Type="http://schemas.openxmlformats.org/officeDocument/2006/relationships/slide" Target="slides/slide29.xml"/><Relationship Id="rId34" Type="http://schemas.openxmlformats.org/officeDocument/2006/relationships/slide" Target="slides/slide4.xml"/><Relationship Id="rId35"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9.xml"/><Relationship Id="rId40" Type="http://schemas.openxmlformats.org/officeDocument/2006/relationships/slide" Target="slides/slide11.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openxmlformats.org/officeDocument/2006/relationships/slide" Target="slides/slide16.xml"/><Relationship Id="rId49" Type="http://schemas.openxmlformats.org/officeDocument/2006/relationships/slide" Target="slides/slide6.xml"/><Relationship Id="rId50" Type="http://schemas.openxmlformats.org/officeDocument/2006/relationships/slide" Target="slides/slide10.xml"/><Relationship Id="rId51" Type="http://schemas.openxmlformats.org/officeDocument/2006/relationships/slide" Target="slides/slide18.xml"/><Relationship Id="rId53" Type="http://schemas.openxmlformats.org/officeDocument/2006/relationships/slide" Target="slides/slide22.xml"/><Relationship Id="rId5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E8B4C4-0720-F64E-9EEE-9472CF165DC6}" type="datetimeFigureOut">
              <a:t>9/29/26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209F92-05EE-6F4A-AD9C-ED35F0F76927}" type="slidenum">
              <a:t>‹#›</a:t>
            </a:fld>
            <a:endParaRPr lang="en-US"/>
          </a:p>
        </p:txBody>
      </p:sp>
    </p:spTree>
    <p:extLst>
      <p:ext uri="{BB962C8B-B14F-4D97-AF65-F5344CB8AC3E}">
        <p14:creationId xmlns:p14="http://schemas.microsoft.com/office/powerpoint/2010/main" val="524556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a:t>
            </a:r>
          </a:p>
          <a:p>
            <a:r>
              <a:t>- Last time we talked about Modeling: how to make consequential engineering knowledge explicit while leaving irrelevant degrees of freedom open.</a:t>
            </a:r>
          </a:p>
          <a:p>
            <a:r>
              <a:t>- Today we ask the complementary question: once we know something about the work, what should that knowledge control?</a:t>
            </a:r>
          </a:p>
          <a:p>
            <a:r>
              <a:t>- The title question is deliberately broad: "How do you know whether an agent is doing what you want?" We are going to unpack both know and want.</a:t>
            </a:r>
          </a:p>
          <a:p>
            <a:r>
              <a:t>- Start with an agent and essentially no engineered control around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Recall degrees of freedom from Architecture and Design. Engineering is not about specifying everything.</a:t>
            </a:r>
          </a:p>
          <a:p>
            <a:r>
              <a:t>- We bind choices whose consequences matter: worktree, scope, forbidden actions, required checks, delivery boundary.</a:t>
            </a:r>
          </a:p>
          <a:p>
            <a:r>
              <a:t>- We deliberately leave other choices free: implementation, decomposition, naming, algorithms where no obligation constrains them, the order of intermediate edits.</a:t>
            </a:r>
          </a:p>
          <a:p>
            <a:r>
              <a:t>- If we specify all of those too, we have defeated much of the purpose of delegation. Good delegation is therefore selective reduction of degrees of freedom — it constrains consequential choices without prescribing every move (that line was the slide footer; now spoken).</a:t>
            </a:r>
          </a:p>
          <a:p>
            <a:r>
              <a:t>THE PROCESS STRIP (absorbed from the deleted "The process is a model" slide):</a:t>
            </a:r>
          </a:p>
          <a:p>
            <a:r>
              <a:t>- We can recognize the same move we made in the Modeling lecture: the work order and environment define a model of the delegated process — permitted actions, transitions, stopping conditions, expected evidence.</a:t>
            </a:r>
          </a:p>
          <a:p>
            <a:r>
              <a:t>- Importantly, this is not a model of the agent’s internal chain of thought. We do not need to prescribe how the agent reasons internally; we need enough external structure to reason about consequential behavior. That gives us something against which failure can be defined.</a:t>
            </a:r>
          </a:p>
          <a:p>
            <a:r>
              <a:t>- This is the first Modeling callback of the lecture: the work order and environment DEFINE a model of the delegated process. We will lean on this in the models section.</a:t>
            </a:r>
          </a:p>
          <a:p>
            <a:r>
              <a:t>ANIMATION</a:t>
            </a:r>
          </a:p>
          <a:p>
            <a:r>
              <a:t>- Reveal BOUND first, LEAVE FREE second.</a:t>
            </a:r>
          </a:p>
          <a:p>
            <a:r>
              <a:t>- Reveal the process strip, then the concluding sentence last.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We already have two pieces of the problem.</a:t>
            </a:r>
          </a:p>
          <a:p>
            <a:r>
              <a:t>- Validation asks when evidence justifies a judgment or action.</a:t>
            </a:r>
          </a:p>
          <a:p>
            <a:r>
              <a:t>- Delegation asks what action another actor is permitted to take on our behalf.</a:t>
            </a:r>
          </a:p>
          <a:p>
            <a:r>
              <a:t>- Alignment is where those meet.</a:t>
            </a:r>
          </a:p>
          <a:p>
            <a:r>
              <a:t>- Suppose a test says the implementation is wrong. That is a validation result. What happens now?</a:t>
            </a:r>
          </a:p>
          <a:p>
            <a:r>
              <a:t>- Does the agent merely receive advice? Is the commit rejected? Can the PR merge? Can the artifact deploy?</a:t>
            </a:r>
          </a:p>
          <a:p>
            <a:r>
              <a:t>- Alignment connects the engineering judgment to what the engineered environment permits.</a:t>
            </a:r>
          </a:p>
          <a:p>
            <a:r>
              <a:t>- "Agent or environment" matters. Often the strongest control is not telling the agent what not to do. It is designing the environment so the consequential action is unavailable.</a:t>
            </a:r>
          </a:p>
          <a:p>
            <a:r>
              <a:t>ANIMATION</a:t>
            </a:r>
          </a:p>
          <a:p>
            <a:r>
              <a:t>- Reveal VALIDATION first.</a:t>
            </a:r>
          </a:p>
          <a:p>
            <a:r>
              <a:t>- Reveal DELEGATION second.</a:t>
            </a:r>
          </a:p>
          <a:p>
            <a:r>
              <a:t>- Reveal ALIGNMENT and its question last.</a:t>
            </a:r>
          </a:p>
          <a:p>
            <a:r>
              <a:t>- Finish with the bottom definition.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 Here is a much more useful delegation than "add bulk refunds."</a:t>
            </a:r>
          </a:p>
          <a:p>
            <a:r>
              <a:t>- Read the fields through the taxonomy: Goal, Scope, and Preserve bound the TASK — what the result must be. Check, Deliver, and Authority bound the PROCESS — how the result may be produced.</a:t>
            </a:r>
          </a:p>
          <a:p>
            <a:r>
              <a:t>- There is some overlap, and that is pedagogically useful: Scope can constrain both the result and the path, and "Do not" reads either way. Mention the overlap rather than forcing every field into exactly one 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 Delegation bounds two things: the task and the process.</a:t>
            </a:r>
          </a:p>
          <a:p>
            <a:r>
              <a:t>- Tie this to degrees of freedom: we are not specifying everything. We are deciding which freedoms are consequential in the RESULT and which are consequential in the PROCESS.</a:t>
            </a:r>
          </a:p>
          <a:p>
            <a:r>
              <a:t>- The task column asks what the artifact must satisfy. The process column asks how the work may be performed and when it is done.</a:t>
            </a:r>
          </a:p>
          <a:p>
            <a:r>
              <a:t>- The next two slides are examples of this structure, not four more things to learn.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Stop coding. Open what the agent produced.</a:t>
            </a:r>
          </a:p>
          <a:p>
            <a:r>
              <a:t>- Show of hands: does yours work?</a:t>
            </a:r>
          </a:p>
          <a:p>
            <a:r>
              <a:t>- Now the important question: what did you do before you were willing to say yes?</a:t>
            </a:r>
          </a:p>
          <a:p>
            <a:r>
              <a:t>- Take answers from the room before revealing examples.</a:t>
            </a:r>
          </a:p>
          <a:p>
            <a:r>
              <a:t>- Students will usually test adding, deleting, refresh, perhaps editing. Someone may inspect the console. Someone may notice something nobody else checked.</a:t>
            </a:r>
          </a:p>
          <a:p>
            <a:r>
              <a:t>- The phrase "it works" concealed a collection of claims and a collection of evidence.</a:t>
            </a:r>
          </a:p>
          <a:p>
            <a:r>
              <a:t>- Notice also what you probably did not establish. Did anyone test two tabs? malformed input? browser restart? storage exhaustion?</a:t>
            </a:r>
          </a:p>
          <a:p>
            <a:r>
              <a:t>- This is our Validation problem again: a judgment depends on what claim we are making and what evidence bears on it.</a:t>
            </a:r>
          </a:p>
          <a:p>
            <a:r>
              <a:t>ANIMATION</a:t>
            </a:r>
          </a:p>
          <a:p>
            <a:r>
              <a:t>- Start with only "Does it work?"</a:t>
            </a:r>
          </a:p>
          <a:p>
            <a:r>
              <a:t>- Reveal "What did you check before answering?" after collecting yes/no answers.</a:t>
            </a:r>
          </a:p>
          <a:p>
            <a:r>
              <a:t>- Reveal the example checks only after students supply their 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 minutes</a:t>
            </a:r>
          </a:p>
          <a:p>
            <a:r>
              <a:t>- This is an experiment, not a programming exercise. Do exactly what the prompt says.</a:t>
            </a:r>
          </a:p>
          <a:p>
            <a:r>
              <a:t>- Give the agent the work. Do not rescue it, redirect it, or improve its choices.</a:t>
            </a:r>
          </a:p>
          <a:p>
            <a:r>
              <a:t>- Notice how much freedom the prompt leaves: language, framework, architecture, persistence mechanism, styling, testing strategy.</a:t>
            </a:r>
          </a:p>
          <a:p>
            <a:r>
              <a:t>- If the agent asks you to choose something that the prompt leaves open, let it choose.</a:t>
            </a:r>
          </a:p>
          <a:p>
            <a:r>
              <a:t>- The interesting part comes after it says it is finished.</a:t>
            </a:r>
          </a:p>
          <a:p>
            <a:r>
              <a:t>ANIMATION</a:t>
            </a:r>
          </a:p>
          <a:p>
            <a:r>
              <a:t>- Reveal the task first.</a:t>
            </a:r>
          </a:p>
          <a:p>
            <a:r>
              <a:t>- Reveal "Examine the result and refine it as needed" only after students have started reading.</a:t>
            </a:r>
          </a:p>
          <a:p>
            <a:r>
              <a:t>- Start the timer after instructions are clear.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This now OPENS the section: we know what can fail; the first design decision is whether we can prevent it — and if not, we need evidence. The roles that turn evidence into consequence come next.</a:t>
            </a:r>
          </a:p>
          <a:p>
            <a:r>
              <a:t>- Given an obligation, first ask whether the unwanted state can be excluded cleanly.</a:t>
            </a:r>
          </a:p>
          <a:p>
            <a:r>
              <a:t>- If yes, prefer prevention. A narrow API, type, permission, or constrained representation can make the invalid state unavailable.</a:t>
            </a:r>
          </a:p>
          <a:p>
            <a:r>
              <a:t>- If not, we need evidence about what happened.</a:t>
            </a:r>
          </a:p>
          <a:p>
            <a:r>
              <a:t>- Why might prevention be impossible? The property may emerge only across several actions, after composition, or at runtime.</a:t>
            </a:r>
          </a:p>
          <a:p>
            <a:r>
              <a:t>- For example, a type can prevent some malformed states locally. It cannot generally prove your end-to-end latency under production load.</a:t>
            </a:r>
          </a:p>
          <a:p>
            <a:r>
              <a:t>- Do not force every obligation into a constraint.</a:t>
            </a:r>
          </a:p>
          <a:p>
            <a:r>
              <a:t>- The rule is deliberately asymmetric: if the wrong state can cheaply and reliably be made impossible, do that. Otherwise, collect evidence and evaluate it.</a:t>
            </a:r>
          </a:p>
          <a:p>
            <a:r>
              <a:t>ANIMATION</a:t>
            </a:r>
          </a:p>
          <a:p>
            <a:r>
              <a:t>- Begin with ENGINEERING OBLIGATION.</a:t>
            </a:r>
          </a:p>
          <a:p>
            <a:r>
              <a:t>- Reveal the decision question.</a:t>
            </a:r>
          </a:p>
          <a:p>
            <a:r>
              <a:t>- Reveal YES to CONSTRAINT.</a:t>
            </a:r>
          </a:p>
          <a:p>
            <a:r>
              <a:t>- Reveal NO to SENSOR.</a:t>
            </a:r>
          </a:p>
          <a:p>
            <a:r>
              <a:t>- Reveal examples under each.</a:t>
            </a:r>
          </a:p>
          <a:p>
            <a:r>
              <a:t>- Reveal the gold rule last.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 This is the central distinction for the lecture.</a:t>
            </a:r>
          </a:p>
          <a:p>
            <a:r>
              <a:t>- Validation gets us from claim and evidence to judgment.</a:t>
            </a:r>
          </a:p>
          <a:p>
            <a:r>
              <a:t>- Alignment asks what that judgment should control.</a:t>
            </a:r>
          </a:p>
          <a:p>
            <a:r>
              <a:t>- A failed check might merely produce information. It might block a commit, a merge, a release, or a runtime action.</a:t>
            </a:r>
          </a:p>
          <a:p>
            <a:r>
              <a:t>- Those are different engineering designs even if the validator is identical.</a:t>
            </a:r>
          </a:p>
          <a:p>
            <a:r>
              <a:t>- So Alignment is not "more validation." It is the design of consequences attached to engineering judgments.</a:t>
            </a:r>
          </a:p>
          <a:p>
            <a:r>
              <a:t>ANIMATION</a:t>
            </a:r>
          </a:p>
          <a:p>
            <a:r>
              <a:t>- Reveal VALIDATION row first.</a:t>
            </a:r>
          </a:p>
          <a:p>
            <a:r>
              <a:t>- Reveal ALIGNMENT row second.</a:t>
            </a:r>
          </a:p>
          <a:p>
            <a:r>
              <a:t>- Highlight ACTION versus CONSEQUENCE.</a:t>
            </a:r>
          </a:p>
          <a:p>
            <a:r>
              <a:t>- Reveal the two explanatory questions last.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 Think about the boundaries available in ordinary software work: edit, commit, push, merge, deploy, runtime.</a:t>
            </a:r>
          </a:p>
          <a:p>
            <a:r>
              <a:t>- Different obligations become decidable at different points.</a:t>
            </a:r>
          </a:p>
          <a:p>
            <a:r>
              <a:t>- A type property may be decidable during editing or compilation.</a:t>
            </a:r>
          </a:p>
          <a:p>
            <a:r>
              <a:t>- A forbidden dependency may be decidable from a commit or repository state.</a:t>
            </a:r>
          </a:p>
          <a:p>
            <a:r>
              <a:t>- Integration behavior may require assembled work.</a:t>
            </a:r>
          </a:p>
          <a:p>
            <a:r>
              <a:t>- Latency under load may require deployment or runtime evidence.</a:t>
            </a:r>
          </a:p>
          <a:p>
            <a:r>
              <a:t>- There is no universally correct "shift left" answer.</a:t>
            </a:r>
          </a:p>
          <a:p>
            <a:r>
              <a:t>- Check at the earliest boundary where the obligation can actually be decided.</a:t>
            </a:r>
          </a:p>
          <a:p>
            <a:r>
              <a:t>ANIMATION</a:t>
            </a:r>
          </a:p>
          <a:p>
            <a:r>
              <a:t>- Reveal the boundary sequence first.</a:t>
            </a:r>
          </a:p>
          <a:p>
            <a:r>
              <a:t>- Reveal each example property at its appropriate boundary.</a:t>
            </a:r>
          </a:p>
          <a:p>
            <a:r>
              <a:t>- Reveal the rule last.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 Why can't we always check earlier?</a:t>
            </a:r>
          </a:p>
          <a:p>
            <a:r>
              <a:t>- Some obligations span a unit of work.</a:t>
            </a:r>
          </a:p>
          <a:p>
            <a:r>
              <a:t>- Imagine several individually valid commits. During intermediate commits, the architecture model and implementation may temporarily disagree because the change is incomplete.</a:t>
            </a:r>
          </a:p>
          <a:p>
            <a:r>
              <a:t>- No individual commit contains enough information to decide the completed-work obligation.</a:t>
            </a:r>
          </a:p>
          <a:p>
            <a:r>
              <a:t>- The correct response is not to weaken the obligation.</a:t>
            </a:r>
          </a:p>
          <a:p>
            <a:r>
              <a:t>- Move the check to the first boundary at which the obligation becomes decidable.</a:t>
            </a:r>
          </a:p>
          <a:p>
            <a:r>
              <a:t>- Earlier detection is usually cheaper, which is why we reach for it first; the constraint is what is decidable, not what is desirable.</a:t>
            </a:r>
          </a:p>
          <a:p>
            <a:r>
              <a:t>ANIMATION</a:t>
            </a:r>
          </a:p>
          <a:p>
            <a:r>
              <a:t>- Reveal individual commits.</a:t>
            </a:r>
          </a:p>
          <a:p>
            <a:r>
              <a:t>- Reveal "obligation not decidable at any individual commit."</a:t>
            </a:r>
          </a:p>
          <a:p>
            <a:r>
              <a:t>- Reveal COMPLETED UNIT OF WORK.</a:t>
            </a:r>
          </a:p>
          <a:p>
            <a:r>
              <a:t>- Reveal "obligation decidable here."</a:t>
            </a:r>
          </a:p>
          <a:p>
            <a:r>
              <a:t>- Reveal the upward movement of the check last.</a:t>
            </a:r>
          </a:p>
          <a:p>
            <a:r>
              <a:t>THE CONCRETE EXAMPLE (absorbed from the deleted boundary-example slide; the obligation bar carries it):</a:t>
            </a:r>
          </a:p>
          <a:p>
            <a:r>
              <a:t>- The obligation is legitimate: when the task is complete, code and architectural model must correspond.</a:t>
            </a:r>
          </a:p>
          <a:p>
            <a:r>
              <a:t>- Enforcing it after every intermediate edit or commit rejects legitimate transitional states; at merge, the task’s work is assembled and the obligation can be evaluated.</a:t>
            </a:r>
          </a:p>
          <a:p>
            <a:r>
              <a:t>- Notice the distinction: the obligation was not wrong; its placement was wrong. This is an Alignment design error, not a reason to abandon the property.</a:t>
            </a:r>
          </a:p>
          <a:p>
            <a:r>
              <a:t>CLOSING BEAT for the section (folds in the deleted "Production is only part of the system" slide):</a:t>
            </a:r>
          </a:p>
          <a:p>
            <a:r>
              <a:t>- Return to where we started. The Master Equation asks about production: how likely is this delegation system to produce an acceptable candidate? We absolutely care — better models, representations, harnesses, and work orders raise that probability. But reliable engineering cannot mean requiring every production attempt to succeed; we need an engineered answer for the other cases too.</a:t>
            </a:r>
          </a:p>
          <a:p>
            <a:r>
              <a:t>- Production and Alignment are related but not the same engineering problem. A better producer raises the probability that we get something acceptable. Alignment governs whether what was produced acquires consequences: production asks what the delegation can produce; Alignment asks what produced work may cause. Callback to Agents: capability and authority are independent.</a:t>
            </a:r>
          </a:p>
          <a:p>
            <a:r>
              <a:t>- Even this control system has to respect information availability: we cannot attach a meaningful consequence to a verdict we cannot yet justify. That is why the boundary follows the property.</a:t>
            </a:r>
          </a:p>
          <a:p>
            <a:r>
              <a:t>- Then stretch break. This is a good Act-II-halfway stopping 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2-3 minutes</a:t>
            </a:r>
          </a:p>
          <a:p>
            <a:r>
              <a:t>- Give them an actual short break.</a:t>
            </a:r>
          </a:p>
          <a:p>
            <a:r>
              <a:t>- Resume by saying: so far, nothing we did required a SysML model, a state machine, or any other explicit engineering model.</a:t>
            </a:r>
          </a:p>
          <a:p>
            <a:r>
              <a:t>- That sets up the next section.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 transition + 2 minutes setup + 8-10 minutes work</a:t>
            </a:r>
          </a:p>
          <a:p>
            <a:r>
              <a:t>- This slide is now the section transition (the SECTION 6 divider was cut) — the activity title itself is the transition. Setup line: enough vocabulary; now use it.</a:t>
            </a:r>
          </a:p>
          <a:p>
            <a:r>
              <a:t>- Scenario (spoken, no longer on the slide): an agent is modifying an embedded controller — the SAME domain as the lab's sensor node, so read this as a continuation, not a new scenario.</a:t>
            </a:r>
          </a:p>
          <a:p>
            <a:r>
              <a:t>- Four obligations: API preservation, a memory bound, a forbidden dependency, and cycle ordering.</a:t>
            </a:r>
          </a:p>
          <a:p>
            <a:r>
              <a:t>- The model is given on the right — the same two kinds the class built in the lab. Structural facts support static checks: the API, the dependency facts (including the forbidden one), and the memory bound. The behavioral ordering defines what to observe at runtime: the cycle.</a:t>
            </a:r>
          </a:p>
          <a:p>
            <a:r>
              <a:t>- Use the model as given — do not spend the activity rediscovering it from the implementation.</a:t>
            </a:r>
          </a:p>
          <a:p>
            <a:r>
              <a:t>- Teams should ask, per obligation, which side of the model makes the relevant fact explicit — that feeds the MODEL USE question in the worksheet sequence below.</a:t>
            </a:r>
          </a:p>
          <a:p>
            <a:r>
              <a:t>- Your job: design the delegated process and its controls.</a:t>
            </a:r>
          </a:p>
          <a:p>
            <a:r>
              <a:t>WORKSHEET (was its own slide; keep this slide up while teams work and walk it aloud):</a:t>
            </a:r>
          </a:p>
          <a:p>
            <a:r>
              <a:t>- For each obligation, identify what can fail, what evidence establishes it, where it becomes decidable, and what failure should control.</a:t>
            </a:r>
          </a:p>
          <a:p>
            <a:r>
              <a:t>- Grouped as three questions. WHAT MUST HOLD: name the failure, state the obligation, and — new since the lab — ask what fact the model makes explicit, and whether you would validate it statically or dynamically.</a:t>
            </a:r>
          </a:p>
          <a:p>
            <a:r>
              <a:t>- HOW WILL WE KNOW: prevent or detect, what observation establishes it, and at which boundary enough information exists.</a:t>
            </a:r>
          </a:p>
          <a:p>
            <a:r>
              <a:t>- WHAT WILL IT CONTROL: which mechanism plays the role (constraint · sensor · validator · gate), and what authority the verdict carries.</a:t>
            </a:r>
          </a:p>
          <a:p>
            <a:r>
              <a:t>- Teams should be ready to defend their boundary and authority choices.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minutes</a:t>
            </a:r>
          </a:p>
          <a:p>
            <a:r>
              <a:t>- Have two or three teams report a control they designed differently.</a:t>
            </a:r>
          </a:p>
          <a:p>
            <a:r>
              <a:t>- Do not search immediately for the one correct design. Compare the engineering tradeoffs.</a:t>
            </a:r>
          </a:p>
          <a:p>
            <a:r>
              <a:t>- If teams chose different boundaries for the same obligation, ask which boundary actually contains enough information.</a:t>
            </a:r>
          </a:p>
          <a:p>
            <a:r>
              <a:t>- If one team chose a constraint and another chose detection, ask whether the invalid state can cleanly be excluded.</a:t>
            </a:r>
          </a:p>
          <a:p>
            <a:r>
              <a:t>- If teams attach different consequences, ask whether this failure warrants blocking commit, PR, merge, deployment, or merely producing evidence.</a:t>
            </a:r>
          </a:p>
          <a:p>
            <a:r>
              <a:t>- Finally ask what work the explicit model saved. What would have had to be reconstructed from implementation otherwise?</a:t>
            </a:r>
          </a:p>
          <a:p>
            <a:r>
              <a:t>- The important thing is that the design is defensible against the failure model and obligation, not that everyone chose identical machinery.</a:t>
            </a:r>
          </a:p>
          <a:p>
            <a:r>
              <a:t>ANIMATION</a:t>
            </a:r>
          </a:p>
          <a:p>
            <a:r>
              <a:t>- Reveal comparison questions one at a time as they become relevant to student answers.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One distinction left: three kinds of judgment. The triangle carries them.</a:t>
            </a:r>
          </a:p>
          <a:p>
            <a:r>
              <a:t>- We have an obligation, a model, and a realization. Ask what claim each edge makes.</a:t>
            </a:r>
          </a:p>
          <a:p>
            <a:r>
              <a:t>- captures? — does the model actually capture the obligation?</a:t>
            </a:r>
          </a:p>
          <a:p>
            <a:r>
              <a:t>- satisfies? — does the realization satisfy the obligation? That judgment is CONFORMANCE: an artifact against an independent obligation.</a:t>
            </a:r>
          </a:p>
          <a:p>
            <a:r>
              <a:t>- corresponds? — do model and realization agree? That judgment is CORRESPONDENCE: two representations against each other.</a:t>
            </a:r>
          </a:p>
          <a:p>
            <a:r>
              <a:t>- ACCEPTANCE brings in a fourth object, the receiving environment: will it accept the artifact? On the slide it is the third legend line, not a fourth node — name the fourth object aloud.</a:t>
            </a:r>
          </a:p>
          <a:p>
            <a:r>
              <a:t>- None of these edges establishes the other two. A model and implementation can agree and both be wrong against the obligation. Evidence for one claim does not establish the others.</a:t>
            </a:r>
          </a:p>
          <a:p>
            <a:r>
              <a:t>- This matters because model-driven development can otherwise create a false sense of assurance: we can become very good at keeping implementation synchronized with a bad model.</a:t>
            </a:r>
          </a:p>
          <a:p>
            <a:r>
              <a:t>- Correspondence is useful, but it is only one edge of the engineering argument.</a:t>
            </a:r>
          </a:p>
          <a:p>
            <a:r>
              <a:t>- (Demoted from the slide; ask aloud:) What claim does each edge make? What evidence would establish it?</a:t>
            </a:r>
          </a:p>
          <a:p>
            <a:r>
              <a:t>ANIMATION</a:t>
            </a:r>
          </a:p>
          <a:p>
            <a:r>
              <a:t>- Reveal OBLIGATION, MODEL, REALIZATION without edges if possible.</a:t>
            </a:r>
          </a:p>
          <a:p>
            <a:r>
              <a:t>- Reveal the three edge questions, then the legend naming the three judgments.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Return to the question from slide 1.</a:t>
            </a:r>
          </a:p>
          <a:p>
            <a:r>
              <a:t>- Modeling and Alignment solve different parts of the problem.</a:t>
            </a:r>
          </a:p>
          <a:p>
            <a:r>
              <a:t>- Modeling makes consequential engineering knowledge explicit while leaving irrelevant choices free.</a:t>
            </a:r>
          </a:p>
          <a:p>
            <a:r>
              <a:t>- Alignment decides which obligations have consequences in the engineered environment.</a:t>
            </a:r>
          </a:p>
          <a:p>
            <a:r>
              <a:t>- Then walk the reusable questions in order.</a:t>
            </a:r>
          </a:p>
          <a:p>
            <a:r>
              <a:t>- How can delegated work fail? Start with the failure model.</a:t>
            </a:r>
          </a:p>
          <a:p>
            <a:r>
              <a:t>- What must be true? State the obligation.</a:t>
            </a:r>
          </a:p>
          <a:p>
            <a:r>
              <a:t>- What evidence bears on it? Do not confuse activity with evidence.</a:t>
            </a:r>
          </a:p>
          <a:p>
            <a:r>
              <a:t>- Where can it be decided? Put the mechanism at a boundary with sufficient information.</a:t>
            </a:r>
          </a:p>
          <a:p>
            <a:r>
              <a:t>- How will it be evaluated? Identify the validator or equivalent judgment.</a:t>
            </a:r>
          </a:p>
          <a:p>
            <a:r>
              <a:t>- Should failure control what happens next? Decide the authority of the verdict.</a:t>
            </a:r>
          </a:p>
          <a:p>
            <a:r>
              <a:t>- That last question is what turns Validation into Alignment.</a:t>
            </a:r>
          </a:p>
          <a:p>
            <a:r>
              <a:t>- End there. Do not add another summary or slogan.</a:t>
            </a:r>
          </a:p>
          <a:p>
            <a:r>
              <a:t>ANIMATION</a:t>
            </a:r>
          </a:p>
          <a:p>
            <a:r>
              <a:t>- Reveal MODELING.</a:t>
            </a:r>
          </a:p>
          <a:p>
            <a:r>
              <a:t>- Reveal ALIGNMENT.</a:t>
            </a:r>
          </a:p>
          <a:p>
            <a:r>
              <a:t>- Reveal the reusable questions one at a time.</a:t>
            </a:r>
          </a:p>
          <a:p>
            <a:r>
              <a:t>- Leave the final question, "Should failure control what happens next?", as the last reveal and final image of the lecture.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r>
              <a:t>- Before we can control delegated work, we need to be precise about what we delegated.</a:t>
            </a:r>
          </a:p>
          <a:p>
            <a:r>
              <a:t>- This section builds one structure: delegation bounds two things — the task and the process.</a:t>
            </a:r>
          </a:p>
          <a:p>
            <a:r>
              <a:t>- Everything else in the section is an example of that structure.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r>
              <a:t>- We bounded the task and the process. Either bound can be violated.</a:t>
            </a:r>
          </a:p>
          <a:p>
            <a:r>
              <a:t>- A violated task bound is a wrong RESULT. A violated process bound is a wrong PROCESS.</a:t>
            </a:r>
          </a:p>
          <a:p>
            <a:r>
              <a:t>- Different failures will require different kinds of control.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r>
              <a:t>- We have just built a theory of Alignment without assuming explicit models.</a:t>
            </a:r>
          </a:p>
          <a:p>
            <a:r>
              <a:t>- This section asks what an explicit model contributes: models give validation mechanisms an explicit object to inspect.</a:t>
            </a:r>
          </a:p>
          <a:p>
            <a:r>
              <a:t>- We will use the two models the class built in the Modeling lab — not a new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r>
              <a:t>- We now know what kinds of controls exist.</a:t>
            </a:r>
          </a:p>
          <a:p>
            <a:r>
              <a:t>- Next question: where should the control operate?</a:t>
            </a:r>
          </a:p>
          <a:p>
            <a:r>
              <a:t>- The answer depends on where enough information exists to decide the obligation.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r>
              <a:t>- First and most familiar: the artifact itself can violate an obligation.</a:t>
            </a:r>
          </a:p>
          <a:p>
            <a:r>
              <a:t>- We asked for bulk refunds while preserving existing client behavior. The new implementation changes response semantics.</a:t>
            </a:r>
          </a:p>
          <a:p>
            <a:r>
              <a:t>- The agent may have followed the requested process perfectly and still produced the wrong system.</a:t>
            </a:r>
          </a:p>
          <a:p>
            <a:r>
              <a:t>- This is ordinary artifact failure.</a:t>
            </a:r>
          </a:p>
          <a:p>
            <a:r>
              <a:t>- Examples include functional behavior, invariants, resource bounds, and compatibility obligations.</a:t>
            </a:r>
          </a:p>
          <a:p>
            <a:r>
              <a:t>ANIMATION</a:t>
            </a:r>
          </a:p>
          <a:p>
            <a:r>
              <a:t>- Reveal requirement.</a:t>
            </a:r>
          </a:p>
          <a:p>
            <a:r>
              <a:t>- Reveal the implementation change and X.</a:t>
            </a:r>
          </a:p>
          <a:p>
            <a:r>
              <a:t>- Reveal ARTIFACT FAILURE definition last.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a:t>
            </a:r>
          </a:p>
          <a:p>
            <a:r>
              <a:t>- One slide, three ways the PROCESS can be wrong: scope, authority, evidence. The comparison is the lesson — Section 2 just simplified the taxonomy; three separate slides made it feel complicated again. Slide "Wrong result" stays as the contrasting artifact failure.</a:t>
            </a:r>
          </a:p>
          <a:p>
            <a:r>
              <a:t>- SCOPE: the path to the result violates the work order. The agent modifies files outside the declared scope, replaces an approved dependency, changes the model instead of satisfying it, or "fixes" a test to make the implementation pass. Some of these can still yield an artifact that appears to pass — final-state validation alone does not capture it.</a:t>
            </a:r>
          </a:p>
          <a:p>
            <a:r>
              <a:t>- AUTHORITY: capability is not authority (from Agents). The agent may be technically capable of pushing, merging, or deploying; that does not mean we delegated those actions. A useful agent often needs broad capability for local work while consequential actions require separate authority. This distinction becomes important when we introduce gates.</a:t>
            </a:r>
          </a:p>
          <a:p>
            <a:r>
              <a:t>- EVIDENCE: "all tests pass" sounds like evidence — evidence of what? Which tests? Against which obligations? In which environment? What wasn't tested? An obligation is a condition against which the work can be wrong; a correct result is not enough if we cannot justify accepting it.</a:t>
            </a:r>
          </a:p>
          <a:p>
            <a:r>
              <a:t>- Then pose the bottom question explicitly and let them argue: can the result be correct while the process is wrong? Suppose the implementation really is correct. Do we care that the agent did not produce the required evidence? Yes. Engineering decisions are made under uncertainty; we cannot condition acceptance on facts we happen, in hindsight, to know were true. We condition acceptance on evidence available at the decision boundary. That separates truth from justified engineering judgment — the sharpest conceptual moment in this section.</a:t>
            </a:r>
          </a:p>
          <a:p>
            <a:r>
              <a:t>ANIMATION</a:t>
            </a:r>
          </a:p>
          <a:p>
            <a:r>
              <a:t>- Reveal the three cards one at a time: SCOPE, AUTHORITY, EVIDENCE.</a:t>
            </a:r>
          </a:p>
          <a:p>
            <a:r>
              <a:t>- Reveal the bottom question last.</a:t>
            </a:r>
          </a:p>
          <a:p>
            <a:r>
              <a:t>- Card wording tightened to parallel one-line failure statements; the earlier phrasings ('Agent changes something outside the work order', 'Agent performs a consequential action it may not take') are spoken, not projected.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 minute</a:t>
            </a:r>
          </a:p>
          <a:p>
            <a:r>
              <a:t>- You saw this equation in Modeling. It describes the production problem: given the task, reasoner, representation, and harness, how likely is delegation to produce an acceptable result?</a:t>
            </a:r>
          </a:p>
          <a:p>
            <a:r>
              <a:t>- Last time we opened R. Modeling changes the representation available to the reasoner.</a:t>
            </a:r>
          </a:p>
          <a:p>
            <a:r>
              <a:t>- Today, notice one word we have mostly taken for granted: acceptable. What does that mean?</a:t>
            </a:r>
          </a:p>
          <a:p>
            <a:r>
              <a:t>- Then immediately: let's run the production system.</a:t>
            </a:r>
          </a:p>
          <a:p>
            <a:r>
              <a:t>- Advance to the vibe-coding exercise. Do not explain Alignment first; the students are about to experience the ambiguity in "acceptable" for themselves.</a:t>
            </a:r>
          </a:p>
          <a:p>
            <a:r>
              <a:t/>
            </a:r>
          </a:p>
          <a:p>
            <a:r>
              <a:t>ANIMATION</a:t>
            </a:r>
          </a:p>
          <a:p>
            <a:r>
              <a:t>- Reveal the equation exactly as remembered from Modeling.</a:t>
            </a:r>
          </a:p>
          <a:p>
            <a:r>
              <a:t>- Reveal the four definitions.</a:t>
            </a:r>
          </a:p>
          <a:p>
            <a:r>
              <a:t>- Reveal "What makes a result acceptable?" last, and leave it up as you advance.</a:t>
            </a: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 minutes</a:t>
            </a:r>
          </a:p>
          <a:p>
            <a:r>
              <a:t>- Section 1 bounded the task and the process. This slide says: either bound can be violated.</a:t>
            </a:r>
          </a:p>
          <a:p>
            <a:r>
              <a:t>- Wrong result: the artifact fails an obligation. Validation targets the artifact or system state.</a:t>
            </a:r>
          </a:p>
          <a:p>
            <a:r>
              <a:t>- Wrong process: the work was performed outside the delegated process. Validation targets actions, evidence, and authority.</a:t>
            </a:r>
          </a:p>
          <a:p>
            <a:r>
              <a:t>- The four slides that follow are examples of these two classes, not four new categories.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r>
              <a:t>- We have a failure model. Now the engineering question: what should the environment do about each failure class?</a:t>
            </a:r>
          </a:p>
          <a:p>
            <a:r>
              <a:t>- This section names the control roles and connects verdicts to authority.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 minutes</a:t>
            </a:r>
          </a:p>
          <a:p>
            <a:r>
              <a:t>- We can now name four control roles, and they compose into a recognizable pipeline.</a:t>
            </a:r>
          </a:p>
          <a:p>
            <a:r>
              <a:t>- A CONSTRAINT narrows what may happen. A SENSOR observes what happened and produces evidence. A VALIDATOR evaluates that evidence against an obligation. A GATE controls whether work crosses a boundary.</a:t>
            </a:r>
          </a:p>
          <a:p>
            <a:r>
              <a:t>- These are roles, not four required components. One mechanism may play several roles. (This caveat used to be on the slide; it belongs here, spoken once the four roles are visible together.)</a:t>
            </a:r>
          </a:p>
          <a:p>
            <a:r>
              <a:t>- Keep the two sides distinct: constraints and sensors concern work/state; validators and gates concern judgment/admission.</a:t>
            </a:r>
          </a:p>
          <a:p>
            <a:r>
              <a:t>- An obligation enters at the top — it is what the validator judges against. The constraint narrows what the work may do at all.</a:t>
            </a:r>
          </a:p>
          <a:p>
            <a:r>
              <a:t>- The sensor produces evidence; the validator turns evidence into a verdict against the obligation; the gate turns the verdict into an admission decision.</a:t>
            </a:r>
          </a:p>
          <a:p>
            <a:r>
              <a:t>- Ask the class where a type checker sits in this picture. (It plays several roles — which is the point of the role vocabulary.)</a:t>
            </a:r>
          </a:p>
          <a:p>
            <a:r>
              <a:t>- The pipeline ends visibly at the gate controlling the CONSEQUENCE — concretely, merge and deploy:</a:t>
            </a:r>
          </a:p>
          <a:p>
            <a:r>
              <a:t>- Evidence becomes useful when a validator turns it into a verdict. But a verdict alone does not control anything; the gate connects it to authority.</a:t>
            </a:r>
          </a:p>
          <a:p>
            <a:r>
              <a:t>- The agent may modify and propose freely. Merge and deployment are conditional on verdicts.</a:t>
            </a:r>
          </a:p>
          <a:p>
            <a:r>
              <a:t>- This is stronger than telling the agent 'please don't merge broken code.' The environment itself conditions authority on the engineering judgment. A gate makes authority conditional on a verdict.</a:t>
            </a:r>
          </a:p>
          <a:p>
            <a:r>
              <a:t>- Spoken summary (was the footer band): a constraint narrows the work; a sensor observes it; a validator judges the evidence; a gate makes merge and deploy conditional on the verdict.</a:t>
            </a:r>
          </a:p>
          <a:p>
            <a:r>
              <a:t>- This vocabulary gives us a way to design rather than simply say "add checks."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These are the two models the class built in the Modeling lab: the sensor node with Sense, Analyze, and Transmit threads and a Scheduler.</a:t>
            </a:r>
          </a:p>
          <a:p>
            <a:r>
              <a:t>- Two purposeful reductions over ONE set of entities. The memory view knows what each thread costs and the 48 KB ceiling, and omits who decides that a thread may run. The control view knows who may be awake and who says so, and omits what running costs.</a:t>
            </a:r>
          </a:p>
          <a:p>
            <a:r>
              <a:t>- Neither model answers the budget question alone; the join is entity identity — Sense in one view IS Sense in the other.</a:t>
            </a:r>
          </a:p>
          <a:p>
            <a:r>
              <a:t>- This is now the section's opening DISCUSSION (it absorbs the deleted "We just did Alignment without models" and "What do models buy us?" beats). Frame it: everything in Sections 1-4 used tests, permissions, CI, and ordinary process controls — no explicit model was logically required, so explicit modeling has to earn its cost.</a:t>
            </a:r>
          </a:p>
          <a:p>
            <a:r>
              <a:t>- Pose the footer question and DO NOT answer it immediately. Let them discuss.</a:t>
            </a:r>
          </a:p>
          <a:p>
            <a:r>
              <a:t>- Look for answers about preserving knowledge, making relationships inspectable, enabling analysis, and reducing repeated reconstruction. Push beyond "documentation": what could a control do with a model that is difficult to do with prose or by repeatedly inspecting the implementation?</a:t>
            </a:r>
          </a:p>
          <a:p>
            <a:r>
              <a:t>- The VALIDATION SURFACE strip at the bottom is the answer — reveal it after they talk.</a:t>
            </a:r>
          </a:p>
          <a:p>
            <a:r>
              <a:t>THE REVEAL (absorbs the deleted answer slide; it is the strip under the cards):</a:t>
            </a:r>
          </a:p>
          <a:p>
            <a:r>
              <a:t>- A model preserves consequential distinctions; exposes relationships that would otherwise be inferred; deliberately leaves irrelevant realization choices open; enables evaluation without reconstruction.</a:t>
            </a:r>
          </a:p>
          <a:p>
            <a:r>
              <a:t>- The key point is not that models contain MORE information than the implementation — they contain the right engineering information in a form suited to the question. Multiple analyses can then operate over the same explicit knowledge.</a:t>
            </a:r>
          </a:p>
          <a:p>
            <a:r>
              <a:t>- Spoken gloss for the strip label: models give validation mechanisms an explicit object to inspect — that is why the strip is labeled VALIDATION SURFACE.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Static validation: a verdict decided over the model itself, before any execution.</a:t>
            </a:r>
          </a:p>
          <a:p>
            <a:r>
              <a:t>- Ground each question in the lab. 'Can admitted threads exceed the memory ceiling?' is the budget query: peak working memory of admitted threads against the declared 48 KB ceiling — the query that reported 80 KB in Stage 1. 'Can three threads be Awake simultaneously?' is decided against the Scheduler's admission rule: at most two awake. 'Is an illegal lifecycle transition reachable?' asks for a transition the lifecycle machines do not declare.</a:t>
            </a:r>
          </a:p>
          <a:p>
            <a:r>
              <a:t>- The payoff: once the structure is explicit, these stop being archaeology over code and become decidable queries.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 minutes</a:t>
            </a:r>
          </a:p>
          <a:p>
            <a:r>
              <a:t>- Dynamic validation: the same model defines what a SENSOR must observe at runtime — the model states expected behavior; the trace is checked against it.</a:t>
            </a:r>
          </a:p>
          <a:p>
            <a:r>
              <a:t>- Ground it in the lab's lifecycle machines: every thread is Asleep or Awake, moved by admit and release events. The observation questions (now spoken, no longer projected): Did the observed transition exist in the model? Did events occur in the required order? Did execution enter a forbidden state? Did a measured quantity stay within its modeled bound — did the awake count ever exceed two, and did working memory stay within 48 KB?</a:t>
            </a:r>
          </a:p>
          <a:p>
            <a:r>
              <a:t>- This prevents students from hearing 'model-based validation' as synonymous with static analysis.</a:t>
            </a:r>
          </a:p>
          <a:p>
            <a:r>
              <a:t>- The STATIC / DYNAMIC panel (absorbed from the deleted strategies slide): static — verdict over the modeled space, exhaustive, available before execution; dynamic — verdict over observed execution, evidence about the runs you actually observed.</a:t>
            </a:r>
          </a:p>
          <a:p>
            <a:r>
              <a:t>- Close with the footer question — and notice it lands back in Alignment: a static verdict might gate merge; a runtime verdict might gate deployment or trigger rollback. Where a verdict acquires authority is an Alignment decision, not a modeling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simple">
    <p:spTree>
      <p:nvGrpSpPr>
        <p:cNvPr id="1" name=""/>
        <p:cNvGrpSpPr/>
        <p:nvPr/>
      </p:nvGrpSpPr>
      <p:grpSpPr>
        <a:xfrm>
          <a:off x="0" y="0"/>
          <a:ext cx="0" cy="0"/>
          <a:chOff x="0" y="0"/>
          <a:chExt cx="0" cy="0"/>
        </a:xfrm>
      </p:grpSpPr>
      <p:sp>
        <p:nvSpPr>
          <p:cNvPr id="251918" name="Rectangle 14"/>
          <p:cNvSpPr>
            <a:spLocks noGrp="1" noChangeArrowheads="1"/>
          </p:cNvSpPr>
          <p:nvPr>
            <p:ph type="subTitle" idx="1"/>
          </p:nvPr>
        </p:nvSpPr>
        <p:spPr>
          <a:xfrm>
            <a:off x="1308100" y="3235325"/>
            <a:ext cx="6400800" cy="1881188"/>
          </a:xfrm>
        </p:spPr>
        <p:txBody>
          <a:bodyPr/>
          <a:lstStyle>
            <a:lvl1pPr marL="0" indent="0" algn="ctr">
              <a:buFont typeface="Times" pitchFamily="18" charset="0"/>
              <a:buNone/>
              <a:defRPr>
                <a:solidFill>
                  <a:srgbClr val="000000"/>
                </a:solidFill>
                <a:latin typeface="Calibri" panose="020F0502020204030204" pitchFamily="34" charset="0"/>
                <a:cs typeface="Calibri" panose="020F0502020204030204" pitchFamily="34" charset="0"/>
              </a:defRPr>
            </a:lvl1pPr>
          </a:lstStyle>
          <a:p>
            <a:r>
              <a:rPr lang="en-US" altLang="ko-KR" dirty="0"/>
              <a:t>Click to edit Master subtitle style</a:t>
            </a:r>
          </a:p>
        </p:txBody>
      </p:sp>
      <p:sp>
        <p:nvSpPr>
          <p:cNvPr id="251914" name="Rectangle 10"/>
          <p:cNvSpPr>
            <a:spLocks noGrp="1" noChangeArrowheads="1"/>
          </p:cNvSpPr>
          <p:nvPr>
            <p:ph type="ctrTitle" hasCustomPrompt="1"/>
          </p:nvPr>
        </p:nvSpPr>
        <p:spPr>
          <a:xfrm>
            <a:off x="1127125" y="2078038"/>
            <a:ext cx="7031038" cy="874712"/>
          </a:xfrm>
          <a:ln>
            <a:noFill/>
          </a:ln>
        </p:spPr>
        <p:txBody>
          <a:bodyPr/>
          <a:lstStyle>
            <a:lvl1pPr algn="ctr">
              <a:defRPr sz="3600" cap="none">
                <a:solidFill>
                  <a:srgbClr val="000000"/>
                </a:solidFill>
                <a:latin typeface="Calibri" panose="020F0502020204030204" pitchFamily="34" charset="0"/>
                <a:cs typeface="Calibri" panose="020F0502020204030204" pitchFamily="34" charset="0"/>
              </a:defRPr>
            </a:lvl1pPr>
          </a:lstStyle>
          <a:p>
            <a:r>
              <a:rPr lang="en-US" altLang="ko-KR" dirty="0"/>
              <a:t>Click to edit master title style</a:t>
            </a:r>
          </a:p>
        </p:txBody>
      </p:sp>
      <p:sp>
        <p:nvSpPr>
          <p:cNvPr id="8" name="Line 66">
            <a:extLst>
              <a:ext uri="{FF2B5EF4-FFF2-40B4-BE49-F238E27FC236}">
                <a16:creationId xmlns:a16="http://schemas.microsoft.com/office/drawing/2014/main" id="{9629C0A1-FA46-974B-8B59-DAFA34D587F5}"/>
              </a:ext>
            </a:extLst>
          </p:cNvPr>
          <p:cNvSpPr>
            <a:spLocks noChangeShapeType="1"/>
          </p:cNvSpPr>
          <p:nvPr userDrawn="1"/>
        </p:nvSpPr>
        <p:spPr bwMode="auto">
          <a:xfrm flipV="1">
            <a:off x="-16760" y="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1" name="Line 66">
            <a:extLst>
              <a:ext uri="{FF2B5EF4-FFF2-40B4-BE49-F238E27FC236}">
                <a16:creationId xmlns:a16="http://schemas.microsoft.com/office/drawing/2014/main" id="{F21F285B-3B58-4149-B959-9010CE636448}"/>
              </a:ext>
            </a:extLst>
          </p:cNvPr>
          <p:cNvSpPr>
            <a:spLocks noChangeShapeType="1"/>
          </p:cNvSpPr>
          <p:nvPr userDrawn="1"/>
        </p:nvSpPr>
        <p:spPr bwMode="auto">
          <a:xfrm flipV="1">
            <a:off x="0" y="6858000"/>
            <a:ext cx="9144000" cy="0"/>
          </a:xfrm>
          <a:prstGeom prst="line">
            <a:avLst/>
          </a:prstGeom>
          <a:noFill/>
          <a:ln w="38100">
            <a:solidFill>
              <a:schemeClr val="accent1"/>
            </a:solidFill>
            <a:miter lim="800000"/>
            <a:headEnd/>
            <a:tailEnd/>
          </a:ln>
          <a:effectLst/>
        </p:spPr>
        <p:txBody>
          <a:bodyPr wrap="none"/>
          <a:lstStyle/>
          <a:p>
            <a:endParaRPr lang="ko-KR" altLang="en-US"/>
          </a:p>
        </p:txBody>
      </p:sp>
      <p:sp>
        <p:nvSpPr>
          <p:cNvPr id="10" name="Slide Number Placeholder 4">
            <a:extLst>
              <a:ext uri="{FF2B5EF4-FFF2-40B4-BE49-F238E27FC236}">
                <a16:creationId xmlns:a16="http://schemas.microsoft.com/office/drawing/2014/main" id="{5F3C42A2-A875-7F49-9930-886B64F2621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pic>
        <p:nvPicPr>
          <p:cNvPr id="1026" name="Purdue CoBrand">
            <a:extLst>
              <a:ext uri="{FF2B5EF4-FFF2-40B4-BE49-F238E27FC236}">
                <a16:creationId xmlns:a16="http://schemas.microsoft.com/office/drawing/2014/main" id="{BCBD89D8-43BD-5D41-99C6-91B0B6A51904}"/>
              </a:ext>
            </a:extLst>
          </p:cNvPr>
          <p:cNvPicPr>
            <a:picLocks noChangeAspect="1"/>
          </p:cNvPicPr>
          <p:nvPr userDrawn="1"/>
        </p:nvPicPr>
        <p:blipFill>
          <a:blip r:embed="rId2"/>
          <a:stretch>
            <a:fillRect/>
          </a:stretch>
        </p:blipFill>
        <p:spPr>
          <a:xfrm>
            <a:off x="2097131" y="5715964"/>
            <a:ext cx="5091026" cy="542584"/>
          </a:xfrm>
          <a:prstGeom prst="rect">
            <a:avLst/>
          </a:prstGeom>
        </p:spPr>
      </p:pic>
    </p:spTree>
    <p:extLst>
      <p:ext uri="{BB962C8B-B14F-4D97-AF65-F5344CB8AC3E}">
        <p14:creationId xmlns:p14="http://schemas.microsoft.com/office/powerpoint/2010/main" val="42326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내용 개체 틀 2"/>
          <p:cNvSpPr>
            <a:spLocks noGrp="1"/>
          </p:cNvSpPr>
          <p:nvPr>
            <p:ph idx="1" hasCustomPrompt="1"/>
          </p:nvPr>
        </p:nvSpPr>
        <p:spPr>
          <a:xfrm>
            <a:off x="277148" y="1305004"/>
            <a:ext cx="8557768" cy="5166916"/>
          </a:xfrm>
        </p:spPr>
        <p:txBody>
          <a:bodyPr/>
          <a:lstStyle>
            <a:lvl2pPr>
              <a:defRPr/>
            </a:lvl2pPr>
            <a:lvl3pPr>
              <a:defRPr/>
            </a:lvl3pPr>
          </a:lstStyle>
          <a:p>
            <a:pPr lvl="0"/>
            <a:r>
              <a:rPr lang="en-US" altLang="ko-KR" dirty="0"/>
              <a:t>Words</a:t>
            </a:r>
            <a:endParaRPr lang="ko-KR" altLang="en-US" dirty="0"/>
          </a:p>
          <a:p>
            <a:pPr lvl="1"/>
            <a:r>
              <a:rPr lang="en-US" altLang="ko-KR" dirty="0"/>
              <a:t>Words</a:t>
            </a:r>
            <a:endParaRPr lang="ko-KR" altLang="en-US" dirty="0"/>
          </a:p>
          <a:p>
            <a:pPr lvl="2"/>
            <a:r>
              <a:rPr lang="en-US" altLang="ko-KR" dirty="0"/>
              <a:t>Words</a:t>
            </a:r>
          </a:p>
          <a:p>
            <a:pPr lvl="3"/>
            <a:r>
              <a:rPr lang="en-US" altLang="ko-KR" dirty="0"/>
              <a:t>Words</a:t>
            </a:r>
          </a:p>
          <a:p>
            <a:pPr lvl="4"/>
            <a:r>
              <a:rPr lang="en-US" altLang="ko-KR" dirty="0"/>
              <a:t>Words</a:t>
            </a:r>
            <a:endParaRPr lang="ko-KR" altLang="en-US" dirty="0"/>
          </a:p>
        </p:txBody>
      </p:sp>
      <p:sp>
        <p:nvSpPr>
          <p:cNvPr id="5" name="제목 1"/>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4" name="Line 66">
            <a:extLst>
              <a:ext uri="{FF2B5EF4-FFF2-40B4-BE49-F238E27FC236}">
                <a16:creationId xmlns:a16="http://schemas.microsoft.com/office/drawing/2014/main" id="{67B3E873-1394-3543-8BD2-2C910090ECBD}"/>
              </a:ext>
            </a:extLst>
          </p:cNvPr>
          <p:cNvSpPr>
            <a:spLocks noChangeShapeType="1"/>
          </p:cNvSpPr>
          <p:nvPr userDrawn="1"/>
        </p:nvSpPr>
        <p:spPr bwMode="auto">
          <a:xfrm flipV="1">
            <a:off x="277148" y="756603"/>
            <a:ext cx="8557769" cy="0"/>
          </a:xfrm>
          <a:prstGeom prst="line">
            <a:avLst/>
          </a:prstGeom>
          <a:noFill/>
          <a:ln w="381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010635A2-0953-8C4C-807B-9F1EE80A1BF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33287181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ouble content">
    <p:spTree>
      <p:nvGrpSpPr>
        <p:cNvPr id="1" name=""/>
        <p:cNvGrpSpPr/>
        <p:nvPr/>
      </p:nvGrpSpPr>
      <p:grpSpPr>
        <a:xfrm>
          <a:off x="0" y="0"/>
          <a:ext cx="0" cy="0"/>
          <a:chOff x="0" y="0"/>
          <a:chExt cx="0" cy="0"/>
        </a:xfrm>
      </p:grpSpPr>
      <p:sp>
        <p:nvSpPr>
          <p:cNvPr id="3" name="내용 개체 틀 2"/>
          <p:cNvSpPr>
            <a:spLocks noGrp="1"/>
          </p:cNvSpPr>
          <p:nvPr>
            <p:ph sz="half" idx="1" hasCustomPrompt="1"/>
          </p:nvPr>
        </p:nvSpPr>
        <p:spPr>
          <a:xfrm>
            <a:off x="484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4" name="내용 개체 틀 3"/>
          <p:cNvSpPr>
            <a:spLocks noGrp="1"/>
          </p:cNvSpPr>
          <p:nvPr>
            <p:ph sz="half" idx="2" hasCustomPrompt="1"/>
          </p:nvPr>
        </p:nvSpPr>
        <p:spPr>
          <a:xfrm>
            <a:off x="4675369" y="1250205"/>
            <a:ext cx="4038600" cy="4525963"/>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ltLang="ko-KR" dirty="0"/>
              <a:t>Words</a:t>
            </a:r>
          </a:p>
          <a:p>
            <a:pPr lvl="1"/>
            <a:r>
              <a:rPr lang="en-US" altLang="ko-KR" dirty="0"/>
              <a:t>Words</a:t>
            </a:r>
          </a:p>
          <a:p>
            <a:pPr lvl="2"/>
            <a:r>
              <a:rPr lang="en-US" altLang="ko-KR" dirty="0"/>
              <a:t>Words</a:t>
            </a:r>
          </a:p>
          <a:p>
            <a:pPr lvl="3"/>
            <a:r>
              <a:rPr lang="en-US" altLang="ko-KR" dirty="0"/>
              <a:t>Words</a:t>
            </a:r>
          </a:p>
          <a:p>
            <a:pPr lvl="4"/>
            <a:r>
              <a:rPr lang="en-US" altLang="ko-KR" dirty="0"/>
              <a:t>Words</a:t>
            </a:r>
            <a:endParaRPr lang="ko-KR" altLang="en-US" dirty="0"/>
          </a:p>
        </p:txBody>
      </p:sp>
      <p:sp>
        <p:nvSpPr>
          <p:cNvPr id="7" name="Line 66">
            <a:extLst>
              <a:ext uri="{FF2B5EF4-FFF2-40B4-BE49-F238E27FC236}">
                <a16:creationId xmlns:a16="http://schemas.microsoft.com/office/drawing/2014/main" id="{43238AEC-E676-EF48-A1EE-CE1856C5DB8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2" name="제목 1">
            <a:extLst>
              <a:ext uri="{FF2B5EF4-FFF2-40B4-BE49-F238E27FC236}">
                <a16:creationId xmlns:a16="http://schemas.microsoft.com/office/drawing/2014/main" id="{4EEA1B3E-FF6B-734D-830E-C9FC203C0A8A}"/>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9" name="Slide Number Placeholder 4">
            <a:extLst>
              <a:ext uri="{FF2B5EF4-FFF2-40B4-BE49-F238E27FC236}">
                <a16:creationId xmlns:a16="http://schemas.microsoft.com/office/drawing/2014/main" id="{3596EAF3-2266-1C40-896A-50BCE8F3A592}"/>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94698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685800" y="2747963"/>
            <a:ext cx="7772400" cy="1362075"/>
          </a:xfrm>
          <a:ln>
            <a:noFill/>
          </a:ln>
        </p:spPr>
        <p:txBody>
          <a:bodyPr anchor="t"/>
          <a:lstStyle>
            <a:lvl1pPr algn="ctr">
              <a:defRPr sz="4000" b="0" cap="none"/>
            </a:lvl1pPr>
          </a:lstStyle>
          <a:p>
            <a:r>
              <a:rPr lang="en-US" altLang="ko-KR" dirty="0"/>
              <a:t>Section heading</a:t>
            </a:r>
            <a:endParaRPr lang="ko-KR" altLang="en-US" dirty="0"/>
          </a:p>
        </p:txBody>
      </p:sp>
      <p:sp>
        <p:nvSpPr>
          <p:cNvPr id="5" name="Line 66">
            <a:extLst>
              <a:ext uri="{FF2B5EF4-FFF2-40B4-BE49-F238E27FC236}">
                <a16:creationId xmlns:a16="http://schemas.microsoft.com/office/drawing/2014/main" id="{5A7CBECB-F891-1E49-A038-D12E9EBD544E}"/>
              </a:ext>
            </a:extLst>
          </p:cNvPr>
          <p:cNvSpPr>
            <a:spLocks noChangeShapeType="1"/>
          </p:cNvSpPr>
          <p:nvPr userDrawn="1"/>
        </p:nvSpPr>
        <p:spPr bwMode="auto">
          <a:xfrm flipV="1">
            <a:off x="-57794"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6" name="Line 66">
            <a:extLst>
              <a:ext uri="{FF2B5EF4-FFF2-40B4-BE49-F238E27FC236}">
                <a16:creationId xmlns:a16="http://schemas.microsoft.com/office/drawing/2014/main" id="{A0F4931F-670B-5345-A445-E4A05AED83C7}"/>
              </a:ext>
            </a:extLst>
          </p:cNvPr>
          <p:cNvSpPr>
            <a:spLocks noChangeShapeType="1"/>
          </p:cNvSpPr>
          <p:nvPr userDrawn="1"/>
        </p:nvSpPr>
        <p:spPr bwMode="auto">
          <a:xfrm flipV="1">
            <a:off x="-78517"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Slide Number Placeholder 4">
            <a:extLst>
              <a:ext uri="{FF2B5EF4-FFF2-40B4-BE49-F238E27FC236}">
                <a16:creationId xmlns:a16="http://schemas.microsoft.com/office/drawing/2014/main" id="{8B85C08C-FD8D-C643-B13D-155D9A63D59A}"/>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909255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ouble content - titled">
    <p:spTree>
      <p:nvGrpSpPr>
        <p:cNvPr id="1" name=""/>
        <p:cNvGrpSpPr/>
        <p:nvPr/>
      </p:nvGrpSpPr>
      <p:grpSpPr>
        <a:xfrm>
          <a:off x="0" y="0"/>
          <a:ext cx="0" cy="0"/>
          <a:chOff x="0" y="0"/>
          <a:chExt cx="0" cy="0"/>
        </a:xfrm>
      </p:grpSpPr>
      <p:sp>
        <p:nvSpPr>
          <p:cNvPr id="3" name="텍스트 개체 틀 2"/>
          <p:cNvSpPr>
            <a:spLocks noGrp="1"/>
          </p:cNvSpPr>
          <p:nvPr>
            <p:ph type="body" idx="1" hasCustomPrompt="1"/>
          </p:nvPr>
        </p:nvSpPr>
        <p:spPr>
          <a:xfrm>
            <a:off x="457200" y="1258655"/>
            <a:ext cx="4040188"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Left title</a:t>
            </a:r>
            <a:endParaRPr lang="ko-KR" altLang="en-US" dirty="0"/>
          </a:p>
        </p:txBody>
      </p:sp>
      <p:sp>
        <p:nvSpPr>
          <p:cNvPr id="4" name="내용 개체 틀 3"/>
          <p:cNvSpPr>
            <a:spLocks noGrp="1"/>
          </p:cNvSpPr>
          <p:nvPr>
            <p:ph sz="half" idx="2" hasCustomPrompt="1"/>
          </p:nvPr>
        </p:nvSpPr>
        <p:spPr>
          <a:xfrm>
            <a:off x="457200" y="1898417"/>
            <a:ext cx="4040188"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5" name="텍스트 개체 틀 4"/>
          <p:cNvSpPr>
            <a:spLocks noGrp="1"/>
          </p:cNvSpPr>
          <p:nvPr>
            <p:ph type="body" sz="quarter" idx="3" hasCustomPrompt="1"/>
          </p:nvPr>
        </p:nvSpPr>
        <p:spPr>
          <a:xfrm>
            <a:off x="4645025" y="1258655"/>
            <a:ext cx="4041775" cy="639762"/>
          </a:xfrm>
        </p:spPr>
        <p:txBody>
          <a:bodyPr anchor="b"/>
          <a:lstStyle>
            <a:lvl1pPr marL="0" indent="0">
              <a:buNone/>
              <a:defRPr sz="32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ko-KR" dirty="0"/>
              <a:t>Right title</a:t>
            </a:r>
            <a:endParaRPr lang="ko-KR" altLang="en-US" dirty="0"/>
          </a:p>
        </p:txBody>
      </p:sp>
      <p:sp>
        <p:nvSpPr>
          <p:cNvPr id="6" name="내용 개체 틀 5"/>
          <p:cNvSpPr>
            <a:spLocks noGrp="1"/>
          </p:cNvSpPr>
          <p:nvPr>
            <p:ph sz="quarter" idx="4" hasCustomPrompt="1"/>
          </p:nvPr>
        </p:nvSpPr>
        <p:spPr>
          <a:xfrm>
            <a:off x="4645025" y="1898417"/>
            <a:ext cx="4041775" cy="3951288"/>
          </a:xfrm>
        </p:spPr>
        <p:txBody>
          <a:bodyPr/>
          <a:lstStyle>
            <a:lvl1pPr>
              <a:defRPr sz="3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ko-KR" dirty="0"/>
              <a:t>Words</a:t>
            </a:r>
            <a:endParaRPr lang="ko-KR" altLang="en-US" dirty="0"/>
          </a:p>
        </p:txBody>
      </p:sp>
      <p:sp>
        <p:nvSpPr>
          <p:cNvPr id="9" name="Line 66">
            <a:extLst>
              <a:ext uri="{FF2B5EF4-FFF2-40B4-BE49-F238E27FC236}">
                <a16:creationId xmlns:a16="http://schemas.microsoft.com/office/drawing/2014/main" id="{2473502F-33E0-294C-B0A7-D634CB781736}"/>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13" name="제목 1">
            <a:extLst>
              <a:ext uri="{FF2B5EF4-FFF2-40B4-BE49-F238E27FC236}">
                <a16:creationId xmlns:a16="http://schemas.microsoft.com/office/drawing/2014/main" id="{AA231EA3-1A2F-1844-B410-74339C343F3B}"/>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Title</a:t>
            </a:r>
            <a:endParaRPr lang="ko-KR" altLang="en-US" dirty="0"/>
          </a:p>
        </p:txBody>
      </p:sp>
      <p:sp>
        <p:nvSpPr>
          <p:cNvPr id="11" name="Slide Number Placeholder 4">
            <a:extLst>
              <a:ext uri="{FF2B5EF4-FFF2-40B4-BE49-F238E27FC236}">
                <a16:creationId xmlns:a16="http://schemas.microsoft.com/office/drawing/2014/main" id="{9B355AFC-141A-4E45-A581-13630ADD3A56}"/>
              </a:ext>
            </a:extLst>
          </p:cNvPr>
          <p:cNvSpPr>
            <a:spLocks noGrp="1"/>
          </p:cNvSpPr>
          <p:nvPr>
            <p:ph type="sldNum" sz="quarter" idx="11"/>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72169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Just border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7" name="Slide Number Placeholder 4">
            <a:extLst>
              <a:ext uri="{FF2B5EF4-FFF2-40B4-BE49-F238E27FC236}">
                <a16:creationId xmlns:a16="http://schemas.microsoft.com/office/drawing/2014/main" id="{6ABDBE64-F9E8-B742-A7A4-414B9EF73E5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1735298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adrants">
    <p:spTree>
      <p:nvGrpSpPr>
        <p:cNvPr id="1" name=""/>
        <p:cNvGrpSpPr/>
        <p:nvPr/>
      </p:nvGrpSpPr>
      <p:grpSpPr>
        <a:xfrm>
          <a:off x="0" y="0"/>
          <a:ext cx="0" cy="0"/>
          <a:chOff x="0" y="0"/>
          <a:chExt cx="0" cy="0"/>
        </a:xfrm>
      </p:grpSpPr>
      <p:sp>
        <p:nvSpPr>
          <p:cNvPr id="6" name="Line 66">
            <a:extLst>
              <a:ext uri="{FF2B5EF4-FFF2-40B4-BE49-F238E27FC236}">
                <a16:creationId xmlns:a16="http://schemas.microsoft.com/office/drawing/2014/main" id="{5FBB5167-3962-F644-A1B0-164B48533467}"/>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4" name="Line 66">
            <a:extLst>
              <a:ext uri="{FF2B5EF4-FFF2-40B4-BE49-F238E27FC236}">
                <a16:creationId xmlns:a16="http://schemas.microsoft.com/office/drawing/2014/main" id="{E355375E-B5F3-774A-87F7-3A95BA8BDF7B}"/>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5" name="그림 개체 틀 2">
            <a:extLst>
              <a:ext uri="{FF2B5EF4-FFF2-40B4-BE49-F238E27FC236}">
                <a16:creationId xmlns:a16="http://schemas.microsoft.com/office/drawing/2014/main" id="{672F7B82-6823-A344-B297-9A5CC48E1F13}"/>
              </a:ext>
            </a:extLst>
          </p:cNvPr>
          <p:cNvSpPr>
            <a:spLocks noGrp="1"/>
          </p:cNvSpPr>
          <p:nvPr>
            <p:ph type="pic" idx="1"/>
          </p:nvPr>
        </p:nvSpPr>
        <p:spPr>
          <a:xfrm>
            <a:off x="877888"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7" name="그림 개체 틀 2">
            <a:extLst>
              <a:ext uri="{FF2B5EF4-FFF2-40B4-BE49-F238E27FC236}">
                <a16:creationId xmlns:a16="http://schemas.microsoft.com/office/drawing/2014/main" id="{07CA502D-41E1-4240-B817-57AFD70BC6F0}"/>
              </a:ext>
            </a:extLst>
          </p:cNvPr>
          <p:cNvSpPr>
            <a:spLocks noGrp="1"/>
          </p:cNvSpPr>
          <p:nvPr>
            <p:ph type="pic" idx="10"/>
          </p:nvPr>
        </p:nvSpPr>
        <p:spPr>
          <a:xfrm>
            <a:off x="5204723" y="765140"/>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2" name="그림 개체 틀 2">
            <a:extLst>
              <a:ext uri="{FF2B5EF4-FFF2-40B4-BE49-F238E27FC236}">
                <a16:creationId xmlns:a16="http://schemas.microsoft.com/office/drawing/2014/main" id="{D1C72364-3DC9-604F-9514-883DF7EEBE18}"/>
              </a:ext>
            </a:extLst>
          </p:cNvPr>
          <p:cNvSpPr>
            <a:spLocks noGrp="1"/>
          </p:cNvSpPr>
          <p:nvPr>
            <p:ph type="pic" idx="11"/>
          </p:nvPr>
        </p:nvSpPr>
        <p:spPr>
          <a:xfrm>
            <a:off x="877887" y="3596647"/>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16" name="그림 개체 틀 2">
            <a:extLst>
              <a:ext uri="{FF2B5EF4-FFF2-40B4-BE49-F238E27FC236}">
                <a16:creationId xmlns:a16="http://schemas.microsoft.com/office/drawing/2014/main" id="{4193784B-AAFC-0447-AC84-915471C69183}"/>
              </a:ext>
            </a:extLst>
          </p:cNvPr>
          <p:cNvSpPr>
            <a:spLocks noGrp="1"/>
          </p:cNvSpPr>
          <p:nvPr>
            <p:ph type="pic" idx="12"/>
          </p:nvPr>
        </p:nvSpPr>
        <p:spPr>
          <a:xfrm>
            <a:off x="5204723" y="3616525"/>
            <a:ext cx="3137521" cy="24683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32" name="Text Placeholder 31">
            <a:extLst>
              <a:ext uri="{FF2B5EF4-FFF2-40B4-BE49-F238E27FC236}">
                <a16:creationId xmlns:a16="http://schemas.microsoft.com/office/drawing/2014/main" id="{4036BF46-3CC3-FB43-A785-15DF5595B707}"/>
              </a:ext>
            </a:extLst>
          </p:cNvPr>
          <p:cNvSpPr>
            <a:spLocks noGrp="1"/>
          </p:cNvSpPr>
          <p:nvPr>
            <p:ph type="body" sz="quarter" idx="13" hasCustomPrompt="1"/>
          </p:nvPr>
        </p:nvSpPr>
        <p:spPr>
          <a:xfrm>
            <a:off x="877819" y="213987"/>
            <a:ext cx="3136900" cy="550603"/>
          </a:xfrm>
        </p:spPr>
        <p:txBody>
          <a:bodyPr/>
          <a:lstStyle>
            <a:lvl1pPr marL="0" indent="0" algn="ctr">
              <a:buNone/>
              <a:defRPr sz="3200"/>
            </a:lvl1pPr>
          </a:lstStyle>
          <a:p>
            <a:pPr lvl="0"/>
            <a:r>
              <a:rPr lang="en-US" dirty="0"/>
              <a:t>Title</a:t>
            </a:r>
          </a:p>
        </p:txBody>
      </p:sp>
      <p:sp>
        <p:nvSpPr>
          <p:cNvPr id="36" name="Text Placeholder 31">
            <a:extLst>
              <a:ext uri="{FF2B5EF4-FFF2-40B4-BE49-F238E27FC236}">
                <a16:creationId xmlns:a16="http://schemas.microsoft.com/office/drawing/2014/main" id="{8484378F-A4EB-7845-937E-05F967178942}"/>
              </a:ext>
            </a:extLst>
          </p:cNvPr>
          <p:cNvSpPr>
            <a:spLocks noGrp="1"/>
          </p:cNvSpPr>
          <p:nvPr>
            <p:ph type="body" sz="quarter" idx="14" hasCustomPrompt="1"/>
          </p:nvPr>
        </p:nvSpPr>
        <p:spPr>
          <a:xfrm>
            <a:off x="5205344" y="213987"/>
            <a:ext cx="3136900" cy="550603"/>
          </a:xfrm>
        </p:spPr>
        <p:txBody>
          <a:bodyPr/>
          <a:lstStyle>
            <a:lvl1pPr marL="0" indent="0" algn="ctr">
              <a:buNone/>
              <a:defRPr sz="3200"/>
            </a:lvl1pPr>
          </a:lstStyle>
          <a:p>
            <a:pPr lvl="0"/>
            <a:r>
              <a:rPr lang="en-US" dirty="0"/>
              <a:t>Title</a:t>
            </a:r>
          </a:p>
        </p:txBody>
      </p:sp>
      <p:sp>
        <p:nvSpPr>
          <p:cNvPr id="37" name="Text Placeholder 31">
            <a:extLst>
              <a:ext uri="{FF2B5EF4-FFF2-40B4-BE49-F238E27FC236}">
                <a16:creationId xmlns:a16="http://schemas.microsoft.com/office/drawing/2014/main" id="{1EB6C479-EE50-B041-BED8-613EFA5D95F7}"/>
              </a:ext>
            </a:extLst>
          </p:cNvPr>
          <p:cNvSpPr>
            <a:spLocks noGrp="1"/>
          </p:cNvSpPr>
          <p:nvPr>
            <p:ph type="body" sz="quarter" idx="15" hasCustomPrompt="1"/>
          </p:nvPr>
        </p:nvSpPr>
        <p:spPr>
          <a:xfrm>
            <a:off x="877819" y="6093410"/>
            <a:ext cx="3136900" cy="550603"/>
          </a:xfrm>
        </p:spPr>
        <p:txBody>
          <a:bodyPr/>
          <a:lstStyle>
            <a:lvl1pPr marL="0" indent="0" algn="ctr">
              <a:buNone/>
              <a:defRPr sz="3200"/>
            </a:lvl1pPr>
          </a:lstStyle>
          <a:p>
            <a:pPr lvl="0"/>
            <a:r>
              <a:rPr lang="en-US" dirty="0"/>
              <a:t>Title</a:t>
            </a:r>
          </a:p>
        </p:txBody>
      </p:sp>
      <p:sp>
        <p:nvSpPr>
          <p:cNvPr id="38" name="Text Placeholder 31">
            <a:extLst>
              <a:ext uri="{FF2B5EF4-FFF2-40B4-BE49-F238E27FC236}">
                <a16:creationId xmlns:a16="http://schemas.microsoft.com/office/drawing/2014/main" id="{7D0CA80B-F16F-FF48-80A3-27652129D326}"/>
              </a:ext>
            </a:extLst>
          </p:cNvPr>
          <p:cNvSpPr>
            <a:spLocks noGrp="1"/>
          </p:cNvSpPr>
          <p:nvPr>
            <p:ph type="body" sz="quarter" idx="16" hasCustomPrompt="1"/>
          </p:nvPr>
        </p:nvSpPr>
        <p:spPr>
          <a:xfrm>
            <a:off x="5205344" y="6093410"/>
            <a:ext cx="3136900" cy="550603"/>
          </a:xfrm>
        </p:spPr>
        <p:txBody>
          <a:bodyPr/>
          <a:lstStyle>
            <a:lvl1pPr marL="0" indent="0" algn="ctr">
              <a:buNone/>
              <a:defRPr sz="3200"/>
            </a:lvl1pPr>
          </a:lstStyle>
          <a:p>
            <a:pPr lvl="0"/>
            <a:r>
              <a:rPr lang="en-US" dirty="0"/>
              <a:t>Title</a:t>
            </a:r>
          </a:p>
        </p:txBody>
      </p:sp>
      <p:sp>
        <p:nvSpPr>
          <p:cNvPr id="14" name="Slide Number Placeholder 4">
            <a:extLst>
              <a:ext uri="{FF2B5EF4-FFF2-40B4-BE49-F238E27FC236}">
                <a16:creationId xmlns:a16="http://schemas.microsoft.com/office/drawing/2014/main" id="{A66D64DC-EDD3-FD46-B93B-F8B818A43FD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822395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p:spTree>
      <p:nvGrpSpPr>
        <p:cNvPr id="1" name=""/>
        <p:cNvGrpSpPr/>
        <p:nvPr/>
      </p:nvGrpSpPr>
      <p:grpSpPr>
        <a:xfrm>
          <a:off x="0" y="0"/>
          <a:ext cx="0" cy="0"/>
          <a:chOff x="0" y="0"/>
          <a:chExt cx="0" cy="0"/>
        </a:xfrm>
      </p:grpSpPr>
      <p:sp>
        <p:nvSpPr>
          <p:cNvPr id="2" name="제목 1"/>
          <p:cNvSpPr>
            <a:spLocks noGrp="1"/>
          </p:cNvSpPr>
          <p:nvPr>
            <p:ph type="title" hasCustomPrompt="1"/>
          </p:nvPr>
        </p:nvSpPr>
        <p:spPr>
          <a:xfrm>
            <a:off x="1792288" y="4800600"/>
            <a:ext cx="5486400" cy="566738"/>
          </a:xfrm>
        </p:spPr>
        <p:txBody>
          <a:bodyPr/>
          <a:lstStyle>
            <a:lvl1pPr algn="l">
              <a:defRPr sz="2000" b="1">
                <a:latin typeface="Calibri" panose="020F0502020204030204" pitchFamily="34" charset="0"/>
                <a:cs typeface="Calibri" panose="020F0502020204030204" pitchFamily="34" charset="0"/>
              </a:defRPr>
            </a:lvl1pPr>
          </a:lstStyle>
          <a:p>
            <a:r>
              <a:rPr lang="en-US" altLang="ko-KR" dirty="0"/>
              <a:t>Title</a:t>
            </a:r>
            <a:endParaRPr lang="ko-KR" altLang="en-US" dirty="0"/>
          </a:p>
        </p:txBody>
      </p:sp>
      <p:sp>
        <p:nvSpPr>
          <p:cNvPr id="3" name="그림 개체 틀 2"/>
          <p:cNvSpPr>
            <a:spLocks noGrp="1"/>
          </p:cNvSpPr>
          <p:nvPr>
            <p:ph type="pic" idx="1"/>
          </p:nvPr>
        </p:nvSpPr>
        <p:spPr>
          <a:xfrm>
            <a:off x="1792288" y="612775"/>
            <a:ext cx="5486400" cy="4114800"/>
          </a:xfrm>
        </p:spPr>
        <p:txBody>
          <a:bodyPr/>
          <a:lstStyle>
            <a:lvl1pPr marL="0" indent="0">
              <a:buNone/>
              <a:defRPr sz="3200">
                <a:latin typeface="Calibri" panose="020F0502020204030204" pitchFamily="34" charset="0"/>
                <a:cs typeface="Calibri" panose="020F05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ko-KR" dirty="0"/>
              <a:t>Remarks</a:t>
            </a:r>
            <a:endParaRPr lang="ko-KR" altLang="en-US" dirty="0"/>
          </a:p>
        </p:txBody>
      </p:sp>
      <p:sp>
        <p:nvSpPr>
          <p:cNvPr id="7" name="Line 66">
            <a:extLst>
              <a:ext uri="{FF2B5EF4-FFF2-40B4-BE49-F238E27FC236}">
                <a16:creationId xmlns:a16="http://schemas.microsoft.com/office/drawing/2014/main" id="{00379C94-9660-514E-8573-54286DE89411}"/>
              </a:ext>
            </a:extLst>
          </p:cNvPr>
          <p:cNvSpPr>
            <a:spLocks noChangeShapeType="1"/>
          </p:cNvSpPr>
          <p:nvPr userDrawn="1"/>
        </p:nvSpPr>
        <p:spPr bwMode="auto">
          <a:xfrm flipV="1">
            <a:off x="-37071" y="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8" name="Line 66">
            <a:extLst>
              <a:ext uri="{FF2B5EF4-FFF2-40B4-BE49-F238E27FC236}">
                <a16:creationId xmlns:a16="http://schemas.microsoft.com/office/drawing/2014/main" id="{D15DDF22-1F41-F644-A1F1-7ADD56BDE3A3}"/>
              </a:ext>
            </a:extLst>
          </p:cNvPr>
          <p:cNvSpPr>
            <a:spLocks noChangeShapeType="1"/>
          </p:cNvSpPr>
          <p:nvPr userDrawn="1"/>
        </p:nvSpPr>
        <p:spPr bwMode="auto">
          <a:xfrm flipV="1">
            <a:off x="-57794" y="6858000"/>
            <a:ext cx="9259587" cy="0"/>
          </a:xfrm>
          <a:prstGeom prst="line">
            <a:avLst/>
          </a:prstGeom>
          <a:noFill/>
          <a:ln w="76200">
            <a:solidFill>
              <a:schemeClr val="accent1"/>
            </a:solidFill>
            <a:miter lim="800000"/>
            <a:headEnd/>
            <a:tailEnd/>
          </a:ln>
          <a:effectLst/>
        </p:spPr>
        <p:txBody>
          <a:bodyPr wrap="none"/>
          <a:lstStyle/>
          <a:p>
            <a:endParaRPr lang="ko-KR" altLang="en-US"/>
          </a:p>
        </p:txBody>
      </p:sp>
      <p:sp>
        <p:nvSpPr>
          <p:cNvPr id="11" name="Slide Number Placeholder 4">
            <a:extLst>
              <a:ext uri="{FF2B5EF4-FFF2-40B4-BE49-F238E27FC236}">
                <a16:creationId xmlns:a16="http://schemas.microsoft.com/office/drawing/2014/main" id="{68A78BD7-835C-4B42-B0A0-24D4E1AA390B}"/>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669961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ribu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93A8F23-A2CA-264E-8907-B0144A7D91AF}"/>
              </a:ext>
            </a:extLst>
          </p:cNvPr>
          <p:cNvSpPr>
            <a:spLocks noGrp="1"/>
          </p:cNvSpPr>
          <p:nvPr>
            <p:ph type="body" sz="quarter" idx="10" hasCustomPrompt="1"/>
          </p:nvPr>
        </p:nvSpPr>
        <p:spPr>
          <a:xfrm>
            <a:off x="595200" y="106023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1</a:t>
            </a:r>
            <a:r>
              <a:rPr lang="en-US" b="1" u="none" dirty="0"/>
              <a:t xml:space="preserve">		Details</a:t>
            </a:r>
          </a:p>
          <a:p>
            <a:pPr lvl="0"/>
            <a:endParaRPr lang="en-US" b="1" u="none" dirty="0"/>
          </a:p>
          <a:p>
            <a:pPr lvl="0"/>
            <a:endParaRPr lang="en-US" b="1" u="none" dirty="0"/>
          </a:p>
          <a:p>
            <a:pPr lvl="0"/>
            <a:endParaRPr lang="en-US" b="1" u="none" dirty="0"/>
          </a:p>
          <a:p>
            <a:pPr lvl="0"/>
            <a:endParaRPr lang="en-US" dirty="0"/>
          </a:p>
        </p:txBody>
      </p:sp>
      <p:sp>
        <p:nvSpPr>
          <p:cNvPr id="5" name="Line 66">
            <a:extLst>
              <a:ext uri="{FF2B5EF4-FFF2-40B4-BE49-F238E27FC236}">
                <a16:creationId xmlns:a16="http://schemas.microsoft.com/office/drawing/2014/main" id="{86516E46-FEB4-8747-ABDB-067B42ABF68D}"/>
              </a:ext>
            </a:extLst>
          </p:cNvPr>
          <p:cNvSpPr>
            <a:spLocks noChangeShapeType="1"/>
          </p:cNvSpPr>
          <p:nvPr userDrawn="1"/>
        </p:nvSpPr>
        <p:spPr bwMode="auto">
          <a:xfrm flipV="1">
            <a:off x="277148" y="756603"/>
            <a:ext cx="8577217" cy="0"/>
          </a:xfrm>
          <a:prstGeom prst="line">
            <a:avLst/>
          </a:prstGeom>
          <a:noFill/>
          <a:ln w="38100">
            <a:solidFill>
              <a:schemeClr val="accent1"/>
            </a:solidFill>
            <a:miter lim="800000"/>
            <a:headEnd/>
            <a:tailEnd/>
          </a:ln>
          <a:effectLst/>
        </p:spPr>
        <p:txBody>
          <a:bodyPr wrap="none"/>
          <a:lstStyle/>
          <a:p>
            <a:endParaRPr lang="ko-KR" altLang="en-US"/>
          </a:p>
        </p:txBody>
      </p:sp>
      <p:sp>
        <p:nvSpPr>
          <p:cNvPr id="8" name="Picture Placeholder 7">
            <a:extLst>
              <a:ext uri="{FF2B5EF4-FFF2-40B4-BE49-F238E27FC236}">
                <a16:creationId xmlns:a16="http://schemas.microsoft.com/office/drawing/2014/main" id="{21898EFD-2916-7E45-875E-EDC4A17C4091}"/>
              </a:ext>
            </a:extLst>
          </p:cNvPr>
          <p:cNvSpPr>
            <a:spLocks noGrp="1"/>
          </p:cNvSpPr>
          <p:nvPr>
            <p:ph type="pic" sz="quarter" idx="11"/>
          </p:nvPr>
        </p:nvSpPr>
        <p:spPr>
          <a:xfrm>
            <a:off x="1761066" y="1749288"/>
            <a:ext cx="1456267" cy="914400"/>
          </a:xfrm>
        </p:spPr>
        <p:txBody>
          <a:bodyPr/>
          <a:lstStyle/>
          <a:p>
            <a:endParaRPr lang="en-US"/>
          </a:p>
        </p:txBody>
      </p:sp>
      <p:sp>
        <p:nvSpPr>
          <p:cNvPr id="9" name="Picture Placeholder 7">
            <a:extLst>
              <a:ext uri="{FF2B5EF4-FFF2-40B4-BE49-F238E27FC236}">
                <a16:creationId xmlns:a16="http://schemas.microsoft.com/office/drawing/2014/main" id="{1F72ABDE-5179-AD48-8D9D-B12289E15BEC}"/>
              </a:ext>
            </a:extLst>
          </p:cNvPr>
          <p:cNvSpPr>
            <a:spLocks noGrp="1"/>
          </p:cNvSpPr>
          <p:nvPr>
            <p:ph type="pic" sz="quarter" idx="12"/>
          </p:nvPr>
        </p:nvSpPr>
        <p:spPr>
          <a:xfrm>
            <a:off x="3843866" y="1749288"/>
            <a:ext cx="1456267" cy="914400"/>
          </a:xfrm>
        </p:spPr>
        <p:txBody>
          <a:bodyPr/>
          <a:lstStyle/>
          <a:p>
            <a:endParaRPr lang="en-US"/>
          </a:p>
        </p:txBody>
      </p:sp>
      <p:sp>
        <p:nvSpPr>
          <p:cNvPr id="22" name="Text Placeholder 3">
            <a:extLst>
              <a:ext uri="{FF2B5EF4-FFF2-40B4-BE49-F238E27FC236}">
                <a16:creationId xmlns:a16="http://schemas.microsoft.com/office/drawing/2014/main" id="{B91A572F-A890-4245-9D69-1E7986ADF746}"/>
              </a:ext>
            </a:extLst>
          </p:cNvPr>
          <p:cNvSpPr>
            <a:spLocks noGrp="1"/>
          </p:cNvSpPr>
          <p:nvPr>
            <p:ph type="body" sz="quarter" idx="13" hasCustomPrompt="1"/>
          </p:nvPr>
        </p:nvSpPr>
        <p:spPr>
          <a:xfrm>
            <a:off x="595200" y="3129880"/>
            <a:ext cx="6064017" cy="1838037"/>
          </a:xfrm>
        </p:spPr>
        <p:txBody>
          <a:bodyPr/>
          <a:lstStyle>
            <a:lvl1pPr marL="0" marR="0" indent="0" algn="l" defTabSz="914400" rtl="0" eaLnBrk="1" fontAlgn="base" latinLnBrk="0" hangingPunct="1">
              <a:lnSpc>
                <a:spcPct val="100000"/>
              </a:lnSpc>
              <a:spcBef>
                <a:spcPct val="20000"/>
              </a:spcBef>
              <a:spcAft>
                <a:spcPct val="0"/>
              </a:spcAft>
              <a:buClr>
                <a:srgbClr val="000000"/>
              </a:buClr>
              <a:buSzPct val="120000"/>
              <a:buFont typeface="+mj-lt"/>
              <a:buNone/>
              <a:tabLst/>
              <a:defRPr sz="2600" b="0" u="sng">
                <a:effectLst/>
              </a:defRPr>
            </a:lvl1pPr>
          </a:lstStyle>
          <a:p>
            <a:pPr lvl="0"/>
            <a:r>
              <a:rPr lang="en-US" dirty="0"/>
              <a:t>Contribution 2</a:t>
            </a:r>
            <a:r>
              <a:rPr lang="en-US" b="1" u="none" dirty="0"/>
              <a:t xml:space="preserve">		Details</a:t>
            </a:r>
          </a:p>
          <a:p>
            <a:pPr lvl="0"/>
            <a:endParaRPr lang="en-US" b="1" u="none" dirty="0"/>
          </a:p>
          <a:p>
            <a:pPr lvl="0"/>
            <a:endParaRPr lang="en-US" b="1" u="none" dirty="0"/>
          </a:p>
          <a:p>
            <a:pPr lvl="0"/>
            <a:endParaRPr lang="en-US" b="1" u="none" dirty="0"/>
          </a:p>
          <a:p>
            <a:pPr lvl="0"/>
            <a:endParaRPr lang="en-US" dirty="0"/>
          </a:p>
        </p:txBody>
      </p:sp>
      <p:sp>
        <p:nvSpPr>
          <p:cNvPr id="23" name="Picture Placeholder 7">
            <a:extLst>
              <a:ext uri="{FF2B5EF4-FFF2-40B4-BE49-F238E27FC236}">
                <a16:creationId xmlns:a16="http://schemas.microsoft.com/office/drawing/2014/main" id="{15D737B2-4D4D-4242-8E23-8DE607338BCE}"/>
              </a:ext>
            </a:extLst>
          </p:cNvPr>
          <p:cNvSpPr>
            <a:spLocks noGrp="1"/>
          </p:cNvSpPr>
          <p:nvPr>
            <p:ph type="pic" sz="quarter" idx="14"/>
          </p:nvPr>
        </p:nvSpPr>
        <p:spPr>
          <a:xfrm>
            <a:off x="1761066" y="3818938"/>
            <a:ext cx="1456267" cy="914400"/>
          </a:xfrm>
        </p:spPr>
        <p:txBody>
          <a:bodyPr/>
          <a:lstStyle/>
          <a:p>
            <a:endParaRPr lang="en-US"/>
          </a:p>
        </p:txBody>
      </p:sp>
      <p:sp>
        <p:nvSpPr>
          <p:cNvPr id="24" name="Picture Placeholder 7">
            <a:extLst>
              <a:ext uri="{FF2B5EF4-FFF2-40B4-BE49-F238E27FC236}">
                <a16:creationId xmlns:a16="http://schemas.microsoft.com/office/drawing/2014/main" id="{96C1B088-3A02-5945-975E-54F1F9D0E5EF}"/>
              </a:ext>
            </a:extLst>
          </p:cNvPr>
          <p:cNvSpPr>
            <a:spLocks noGrp="1"/>
          </p:cNvSpPr>
          <p:nvPr>
            <p:ph type="pic" sz="quarter" idx="15"/>
          </p:nvPr>
        </p:nvSpPr>
        <p:spPr>
          <a:xfrm>
            <a:off x="3843866" y="3818938"/>
            <a:ext cx="1456267" cy="914400"/>
          </a:xfrm>
        </p:spPr>
        <p:txBody>
          <a:bodyPr/>
          <a:lstStyle/>
          <a:p>
            <a:endParaRPr lang="en-US"/>
          </a:p>
        </p:txBody>
      </p:sp>
      <p:sp>
        <p:nvSpPr>
          <p:cNvPr id="11" name="제목 1">
            <a:extLst>
              <a:ext uri="{FF2B5EF4-FFF2-40B4-BE49-F238E27FC236}">
                <a16:creationId xmlns:a16="http://schemas.microsoft.com/office/drawing/2014/main" id="{763F7E14-41AB-9449-929A-4F43668AF032}"/>
              </a:ext>
            </a:extLst>
          </p:cNvPr>
          <p:cNvSpPr>
            <a:spLocks noGrp="1"/>
          </p:cNvSpPr>
          <p:nvPr>
            <p:ph type="title" hasCustomPrompt="1"/>
          </p:nvPr>
        </p:nvSpPr>
        <p:spPr>
          <a:xfrm>
            <a:off x="277148" y="118428"/>
            <a:ext cx="8043862" cy="638175"/>
          </a:xfrm>
          <a:noFill/>
          <a:ln>
            <a:noFill/>
          </a:ln>
        </p:spPr>
        <p:txBody>
          <a:bodyPr/>
          <a:lstStyle>
            <a:lvl1pPr algn="l">
              <a:defRPr b="0"/>
            </a:lvl1pPr>
          </a:lstStyle>
          <a:p>
            <a:r>
              <a:rPr lang="en-US" altLang="ko-KR" dirty="0"/>
              <a:t>Summary of contributions</a:t>
            </a:r>
            <a:endParaRPr lang="ko-KR" altLang="en-US" dirty="0"/>
          </a:p>
        </p:txBody>
      </p:sp>
      <p:sp>
        <p:nvSpPr>
          <p:cNvPr id="13" name="Slide Number Placeholder 4">
            <a:extLst>
              <a:ext uri="{FF2B5EF4-FFF2-40B4-BE49-F238E27FC236}">
                <a16:creationId xmlns:a16="http://schemas.microsoft.com/office/drawing/2014/main" id="{218A7F7C-A154-3640-88AE-9E855B94CC38}"/>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B45DA-9A0D-DC49-8E02-F30A5DDC21C3}" type="slidenum">
              <a:t>‹#›</a:t>
            </a:fld>
            <a:endParaRPr lang="en-US"/>
          </a:p>
        </p:txBody>
      </p:sp>
    </p:spTree>
    <p:extLst>
      <p:ext uri="{BB962C8B-B14F-4D97-AF65-F5344CB8AC3E}">
        <p14:creationId xmlns:p14="http://schemas.microsoft.com/office/powerpoint/2010/main" val="26259591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close up of a sign&#10;&#10;Description automatically generated">
            <a:extLst>
              <a:ext uri="{FF2B5EF4-FFF2-40B4-BE49-F238E27FC236}">
                <a16:creationId xmlns:a16="http://schemas.microsoft.com/office/drawing/2014/main" id="{C6965342-B6F4-4E4D-AE27-465DB42B2B52}"/>
              </a:ext>
            </a:extLst>
          </p:cNvPr>
          <p:cNvPicPr>
            <a:picLocks noChangeAspect="1"/>
          </p:cNvPicPr>
          <p:nvPr userDrawn="1"/>
        </p:nvPicPr>
        <p:blipFill>
          <a:blip r:embed="rId11"/>
          <a:stretch>
            <a:fillRect/>
          </a:stretch>
        </p:blipFill>
        <p:spPr>
          <a:xfrm>
            <a:off x="8746670" y="6562249"/>
            <a:ext cx="292555" cy="156273"/>
          </a:xfrm>
          <a:prstGeom prst="rect">
            <a:avLst/>
          </a:prstGeom>
        </p:spPr>
      </p:pic>
      <p:sp>
        <p:nvSpPr>
          <p:cNvPr id="5" name="Slide Number Placeholder 4">
            <a:extLst>
              <a:ext uri="{FF2B5EF4-FFF2-40B4-BE49-F238E27FC236}">
                <a16:creationId xmlns:a16="http://schemas.microsoft.com/office/drawing/2014/main" id="{00ABD288-7B20-F443-BAE8-CBAAD13A4649}"/>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400">
                <a:solidFill>
                  <a:srgbClr val="555960"/>
                </a:solidFill>
              </a:defRPr>
            </a:lvl1pPr>
          </a:lstStyle>
          <a:p>
            <a:fld id="{B7EB45DA-9A0D-DC49-8E02-F30A5DDC21C3}" type="slidenum">
              <a:t>‹#›</a:t>
            </a:fld>
            <a:endParaRPr lang="en-US"/>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6"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Lst>
  <p:hf hdr="0" dt="0"/>
  <p:txStyles>
    <p:titleStyle>
      <a:lvl1pPr algn="ctr" defTabSz="914400" rtl="0" eaLnBrk="1" latinLnBrk="0" hangingPunct="1">
        <a:lnSpc>
          <a:spcPct val="90000"/>
        </a:lnSpc>
        <a:spcBef>
          <a:spcPct val="0"/>
        </a:spcBef>
        <a:buNone/>
        <a:defRPr sz="2600" kern="1200" cap="none" spc="200" baseline="0">
          <a:solidFill>
            <a:srgbClr val="262626"/>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Calibri" panose="020F0502020204030204" pitchFamily="34" charset="0"/>
          <a:ea typeface="+mn-ea"/>
          <a:cs typeface="Calibri" panose="020F0502020204030204" pitchFamily="34" charset="0"/>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Calibri" panose="020F0502020204030204" pitchFamily="34" charset="0"/>
          <a:ea typeface="+mn-ea"/>
          <a:cs typeface="Calibri" panose="020F0502020204030204" pitchFamily="34" charset="0"/>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orient="horz" pos="4056">
          <p15:clr>
            <a:srgbClr val="F26B43"/>
          </p15:clr>
        </p15:guide>
        <p15:guide id="4" orient="horz" pos="3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Slide Number Placeholder 5"/>
          <p:cNvSpPr>
            <a:spLocks noGrp="1"/>
          </p:cNvSpPr>
          <p:nvPr>
            <p:ph type="sldNum" sz="quarter" idx="4"/>
          </p:nvPr>
        </p:nvSpPr>
        <p:spPr/>
        <p:txBody>
          <a:bodyPr/>
          <a:lstStyle/>
          <a:p>
            <a:fld id="{B7EB45DA-9A0D-DC49-8E02-F30A5DDC21C3}" type="slidenum">
              <a:rPr lang="en-US" smtClean="0"/>
              <a:t>1</a:t>
            </a:fld>
            <a:endParaRPr lang="en-US"/>
          </a:p>
        </p:txBody>
      </p:sp>
      <p:sp>
        <p:nvSpPr>
          <p:cNvPr id="5" name="Title 2">
            <a:extLst>
              <a:ext uri="{FF2B5EF4-FFF2-40B4-BE49-F238E27FC236}">
                <a16:creationId xmlns:a16="http://schemas.microsoft.com/office/drawing/2014/main" id="{DD7291C3-5AE9-477A-3F39-34A06A62D99C}"/>
              </a:ext>
            </a:extLst>
          </p:cNvPr>
          <p:cNvSpPr txBox="1">
            <a:spLocks/>
          </p:cNvSpPr>
          <p:nvPr/>
        </p:nvSpPr>
        <p:spPr bwMode="black">
          <a:xfrm>
            <a:off x="439339" y="565149"/>
            <a:ext cx="8265319" cy="1195411"/>
          </a:xfrm>
          <a:prstGeom prst="rect">
            <a:avLst/>
          </a:prstGeom>
          <a:solidFill>
            <a:srgbClr val="FFFFFF"/>
          </a:solidFill>
          <a:ln w="31750" cap="sq">
            <a:no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3600" kern="1200" cap="none" spc="200" baseline="0">
                <a:solidFill>
                  <a:srgbClr val="000000"/>
                </a:solidFill>
                <a:latin typeface="Calibri" panose="020F0502020204030204" pitchFamily="34" charset="0"/>
                <a:ea typeface="+mj-ea"/>
                <a:cs typeface="Calibri" panose="020F0502020204030204" pitchFamily="34" charset="0"/>
              </a:defRPr>
            </a:lvl1pPr>
          </a:lstStyle>
          <a:p>
            <a:r>
              <a:rPr lang="en-US" sz="2000" i="1" dirty="0"/>
              <a:t>Software Engineering</a:t>
            </a:r>
            <a:br>
              <a:rPr lang="en-US" sz="2000" i="1" dirty="0"/>
            </a:br>
            <a:br>
              <a:rPr lang="en-US" sz="2000" i="1" dirty="0"/>
            </a:br>
            <a:r>
              <a:rPr lang="en-US" sz="2000" i="1" dirty="0"/>
              <a:t>ECE 30861 / CSCI 45000</a:t>
            </a:r>
            <a:endParaRPr lang="en-US" sz="2000" i="1" dirty="0"/>
          </a:p>
        </p:txBody>
      </p:sp>
      <p:sp>
        <p:nvSpPr>
          <p:cNvPr id="6" name="TitleBlock"/>
          <p:cNvSpPr txBox="1"/>
          <p:nvPr/>
        </p:nvSpPr>
        <p:spPr>
          <a:xfrm>
            <a:off x="219456" y="1371600"/>
            <a:ext cx="8695944" cy="2148840"/>
          </a:xfrm>
          <a:prstGeom prst="rect">
            <a:avLst/>
          </a:prstGeom>
          <a:noFill/>
        </p:spPr>
        <p:txBody>
          <a:bodyPr wrap="square" anchor="t">
            <a:spAutoFit/>
          </a:bodyPr>
          <a:lstStyle/>
          <a:p>
            <a:pPr algn="ctr"/>
            <a:r>
              <a:rPr sz="4000" b="1" i="0">
                <a:solidFill>
                  <a:srgbClr val="000000"/>
                </a:solidFill>
              </a:rPr>
              <a:t>Alignment</a:t>
            </a:r>
          </a:p>
          <a:p>
            <a:pPr algn="ctr">
              <a:spcBef>
                <a:spcPts val="1000"/>
              </a:spcBef>
            </a:pPr>
            <a:r>
              <a:rPr sz="2300" b="0" i="1">
                <a:solidFill>
                  <a:srgbClr val="8E6F3E"/>
                </a:solidFill>
              </a:rPr>
              <a:t>How do you know whether an agent</a:t>
            </a:r>
          </a:p>
          <a:p>
            <a:pPr algn="ctr"/>
            <a:r>
              <a:rPr sz="2300" b="0" i="1">
                <a:solidFill>
                  <a:srgbClr val="8E6F3E"/>
                </a:solidFill>
              </a:rPr>
              <a:t>is doing what you want?</a:t>
            </a:r>
          </a:p>
          <a:p>
            <a:pPr algn="ctr">
              <a:spcBef>
                <a:spcPts val="1000"/>
              </a:spcBef>
            </a:pPr>
            <a:r>
              <a:rPr sz="2000" b="0" i="1">
                <a:solidFill>
                  <a:srgbClr val="000000"/>
                </a:solidFill>
              </a:rPr>
              <a:t>Prof. James C. Davis</a:t>
            </a:r>
          </a:p>
          <a:p>
            <a:pPr algn="ctr"/>
            <a:r>
              <a:rPr sz="2000" b="0" i="1">
                <a:solidFill>
                  <a:srgbClr val="000000"/>
                </a:solidFill>
              </a:rPr>
              <a:t>Prof. Steve France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2400" b="0">
                <a:solidFill>
                  <a:srgbClr val="000000"/>
                </a:solidFill>
              </a:rPr>
              <a:t>The Master Equation</a:t>
            </a:r>
          </a:p>
        </p:txBody>
      </p:sp>
      <p:sp>
        <p:nvSpPr>
          <p:cNvPr id="3" name="Slide Number Placeholder 2"/>
          <p:cNvSpPr>
            <a:spLocks noGrp="1"/>
          </p:cNvSpPr>
          <p:nvPr>
            <p:ph type="sldNum" sz="quarter" idx="4"/>
          </p:nvPr>
        </p:nvSpPr>
        <p:spPr/>
        <p:txBody>
          <a:bodyPr/>
          <a:lstStyle/>
          <a:p>
            <a:fld id="{B7EB45DA-9A0D-DC49-8E02-F30A5DDC21C3}" type="slidenum">
              <a:rPr lang="en-US" smtClean="0"/>
              <a:t>2</a:t>
            </a:fld>
            <a:endParaRPr lang="en-US"/>
          </a:p>
        </p:txBody>
      </p:sp>
      <p:sp>
        <p:nvSpPr>
          <p:cNvPr id="11" name="EqBox"/>
          <p:cNvSpPr txBox="1"/>
          <p:nvPr/>
        </p:nvSpPr>
        <p:spPr>
          <a:xfrm>
            <a:off x="274320" y="1554480"/>
            <a:ext cx="8595360" cy="822960"/>
          </a:xfrm>
          <a:prstGeom prst="rect">
            <a:avLst/>
          </a:prstGeom>
          <a:noFill/>
          <a:ln>
            <a:noFill/>
          </a:ln>
        </p:spPr>
        <p:txBody>
          <a:bodyPr wrap="square" lIns="0" tIns="0" rIns="0" bIns="0" anchor="ctr"/>
          <a:lstStyle/>
          <a:p>
            <a:pPr algn="ctr">
              <a:spcAft>
                <a:spcPts val="0"/>
              </a:spcAft>
              <a:buNone/>
            </a:pPr>
            <a:r>
              <a:rPr lang="en-US" sz="5400" b="0" i="1" dirty="0">
                <a:solidFill>
                  <a:srgbClr val="5C4826"/>
                </a:solidFill>
              </a:rPr>
              <a:t>p(T,M,R,H)</a:t>
            </a:r>
          </a:p>
        </p:txBody>
      </p:sp>
      <p:sp>
        <p:nvSpPr>
          <p:cNvPr id="12" name="EqGloss"/>
          <p:cNvSpPr txBox="1"/>
          <p:nvPr/>
        </p:nvSpPr>
        <p:spPr>
          <a:xfrm>
            <a:off x="274320" y="2423160"/>
            <a:ext cx="8595360" cy="365760"/>
          </a:xfrm>
          <a:prstGeom prst="rect">
            <a:avLst/>
          </a:prstGeom>
          <a:noFill/>
          <a:ln>
            <a:noFill/>
          </a:ln>
        </p:spPr>
        <p:txBody>
          <a:bodyPr wrap="square" lIns="0" tIns="0" rIns="0" bIns="0" anchor="t"/>
          <a:lstStyle/>
          <a:p>
            <a:pPr algn="ctr">
              <a:spcAft>
                <a:spcPts val="0"/>
              </a:spcAft>
              <a:buNone/>
            </a:pPr>
            <a:r>
              <a:rPr lang="en-US" sz="2000" b="0" i="1" dirty="0">
                <a:solidFill>
                  <a:srgbClr val="555960"/>
                </a:solidFill>
              </a:rPr>
              <a:t>the probability that delegation produces an acceptable result</a:t>
            </a:r>
          </a:p>
        </p:txBody>
      </p:sp>
      <p:sp>
        <p:nvSpPr>
          <p:cNvPr id="13" name="DefLine"/>
          <p:cNvSpPr txBox="1"/>
          <p:nvPr/>
        </p:nvSpPr>
        <p:spPr>
          <a:xfrm>
            <a:off x="274320" y="4023360"/>
            <a:ext cx="8595360" cy="365760"/>
          </a:xfrm>
          <a:prstGeom prst="rect">
            <a:avLst/>
          </a:prstGeom>
          <a:noFill/>
          <a:ln>
            <a:noFill/>
          </a:ln>
        </p:spPr>
        <p:txBody>
          <a:bodyPr wrap="square" lIns="0" tIns="0" rIns="0" bIns="0" anchor="ctr"/>
          <a:lstStyle/>
          <a:p>
            <a:pPr algn="ctr">
              <a:spcAft>
                <a:spcPts val="0"/>
              </a:spcAft>
              <a:buNone/>
            </a:pPr>
            <a:r>
              <a:rPr lang="en-US" sz="2000" b="1" i="1" dirty="0">
                <a:solidFill>
                  <a:srgbClr val="8E6F3E"/>
                </a:solidFill>
              </a:rPr>
              <a:t>T</a:t>
            </a:r>
            <a:r>
              <a:rPr lang="en-US" sz="2000" b="0" dirty="0">
                <a:solidFill>
                  <a:srgbClr val="555960"/>
                </a:solidFill>
              </a:rPr>
              <a:t xml:space="preserve"> task   ·   </a:t>
            </a:r>
            <a:r>
              <a:rPr lang="en-US" sz="2000" b="1" i="1" dirty="0">
                <a:solidFill>
                  <a:srgbClr val="8E6F3E"/>
                </a:solidFill>
              </a:rPr>
              <a:t>M</a:t>
            </a:r>
            <a:r>
              <a:rPr lang="en-US" sz="2000" b="0" dirty="0">
                <a:solidFill>
                  <a:srgbClr val="555960"/>
                </a:solidFill>
              </a:rPr>
              <a:t xml:space="preserve"> reasoning model   ·   </a:t>
            </a:r>
            <a:r>
              <a:rPr lang="en-US" sz="2000" b="1" i="1" dirty="0">
                <a:solidFill>
                  <a:srgbClr val="8E6F3E"/>
                </a:solidFill>
              </a:rPr>
              <a:t>R</a:t>
            </a:r>
            <a:r>
              <a:rPr lang="en-US" sz="2000" b="0" dirty="0">
                <a:solidFill>
                  <a:srgbClr val="555960"/>
                </a:solidFill>
              </a:rPr>
              <a:t xml:space="preserve"> representation   ·   </a:t>
            </a:r>
            <a:r>
              <a:rPr lang="en-US" sz="2000" b="1" i="1" dirty="0">
                <a:solidFill>
                  <a:srgbClr val="8E6F3E"/>
                </a:solidFill>
              </a:rPr>
              <a:t>H</a:t>
            </a:r>
            <a:r>
              <a:rPr lang="en-US" sz="2000" b="0" dirty="0">
                <a:solidFill>
                  <a:srgbClr val="555960"/>
                </a:solidFill>
              </a:rPr>
              <a:t xml:space="preserve"> harness/process</a:t>
            </a:r>
          </a:p>
        </p:txBody>
      </p:sp>
      <p:sp>
        <p:nvSpPr>
          <p:cNvPr id="199" name="FooterBand"/>
          <p:cNvSpPr/>
          <p:nvPr/>
        </p:nvSpPr>
        <p:spPr>
          <a:xfrm>
            <a:off x="274320" y="5852160"/>
            <a:ext cx="8595360" cy="566928"/>
          </a:xfrm>
          <a:prstGeom prst="rect">
            <a:avLst/>
          </a:prstGeom>
          <a:solidFill>
            <a:srgbClr val="8E6F3E"/>
          </a:solidFill>
          <a:ln>
            <a:noFill/>
          </a:ln>
        </p:spPr>
        <p:txBody>
          <a:bodyPr wrap="square" lIns="27432" tIns="22860" rIns="27432" bIns="22860" anchor="ctr"/>
          <a:lstStyle/>
          <a:p>
            <a:pPr algn="ctr">
              <a:buNone/>
            </a:pPr>
            <a:r>
              <a:rPr lang="en-US" sz="2000" b="1" i="0" dirty="0">
                <a:solidFill>
                  <a:srgbClr val="FFFFFF"/>
                </a:solidFill>
              </a:rPr>
              <a:t>What makes a result acceptable?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Vibe code a todo list</a:t>
            </a:r>
          </a:p>
        </p:txBody>
      </p:sp>
      <p:sp>
        <p:nvSpPr>
          <p:cNvPr id="4" name="Instruction"/>
          <p:cNvSpPr txBox="1"/>
          <p:nvPr/>
        </p:nvSpPr>
        <p:spPr>
          <a:xfrm>
            <a:off x="274320" y="850000"/>
            <a:ext cx="8595360" cy="411480"/>
          </a:xfrm>
          <a:prstGeom prst="rect">
            <a:avLst/>
          </a:prstGeom>
          <a:noFill/>
        </p:spPr>
        <p:txBody>
          <a:bodyPr wrap="square" anchor="t">
            <a:spAutoFit/>
          </a:bodyPr>
          <a:lstStyle/>
          <a:p>
            <a:pPr algn="l"/>
            <a:r>
              <a:rPr sz="2000" b="1" i="0">
                <a:solidFill>
                  <a:srgbClr val="8E6F3E"/>
                </a:solidFill>
              </a:rPr>
              <a:t>Open Claude Code. Give it the following task.</a:t>
            </a:r>
          </a:p>
        </p:txBody>
      </p:sp>
      <p:sp>
        <p:nvSpPr>
          <p:cNvPr id="5" name="PromptBlock"/>
          <p:cNvSpPr/>
          <p:nvPr/>
        </p:nvSpPr>
        <p:spPr>
          <a:xfrm>
            <a:off x="502920" y="1350000"/>
            <a:ext cx="8138160" cy="35000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91440" bIns="91440"/>
          <a:lstStyle/>
          <a:p>
            <a:pPr algn="l"/>
            <a:r>
              <a:rPr sz="2000" b="0" i="0">
                <a:solidFill>
                  <a:srgbClr val="5C4826"/>
                </a:solidFill>
                <a:latin typeface="Consolas"/>
              </a:rPr>
              <a:t>Create a todo-list web application and make it available at localhost. A user should be able to add a todo item, mark an item complete, edit an existing item, and delete an item. The list should survive a browser refresh. Give the application a clean, usable interface with a text field for adding items and a visible list of current todos. Use whatever implementation approach you think is appropriate. When you are finished, start the application so that I can use it in my browser.</a:t>
            </a:r>
          </a:p>
        </p:txBody>
      </p:sp>
      <p:sp>
        <p:nvSpPr>
          <p:cNvPr id="6" name="Rules"/>
          <p:cNvSpPr txBox="1"/>
          <p:nvPr/>
        </p:nvSpPr>
        <p:spPr>
          <a:xfrm>
            <a:off x="502920" y="4950000"/>
            <a:ext cx="8138160" cy="777240"/>
          </a:xfrm>
          <a:prstGeom prst="rect">
            <a:avLst/>
          </a:prstGeom>
          <a:noFill/>
        </p:spPr>
        <p:txBody>
          <a:bodyPr wrap="square" anchor="t">
            <a:spAutoFit/>
          </a:bodyPr>
          <a:lstStyle/>
          <a:p>
            <a:pPr algn="l"/>
            <a:r>
              <a:rPr sz="2000" b="0" i="0">
                <a:solidFill>
                  <a:srgbClr val="555960"/>
                </a:solidFill>
              </a:rPr>
              <a:t>Examine the result and refine it as needed.</a:t>
            </a:r>
          </a:p>
        </p:txBody>
      </p:sp>
      <p:sp>
        <p:nvSpPr>
          <p:cNvPr id="7"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You have 5-10 minutes. Give it a whirl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Does it work?</a:t>
            </a:r>
          </a:p>
        </p:txBody>
      </p:sp>
      <p:sp>
        <p:nvSpPr>
          <p:cNvPr id="4" name="OpenIt"/>
          <p:cNvSpPr txBox="1"/>
          <p:nvPr/>
        </p:nvSpPr>
        <p:spPr>
          <a:xfrm>
            <a:off x="274320" y="2103120"/>
            <a:ext cx="8595360" cy="1188720"/>
          </a:xfrm>
          <a:prstGeom prst="rect">
            <a:avLst/>
          </a:prstGeom>
          <a:noFill/>
        </p:spPr>
        <p:txBody>
          <a:bodyPr wrap="square" anchor="t">
            <a:spAutoFit/>
          </a:bodyPr>
          <a:lstStyle/>
          <a:p>
            <a:pPr algn="ctr"/>
            <a:r>
              <a:rPr sz="2800" b="0" i="0">
                <a:solidFill>
                  <a:srgbClr val="5C4826"/>
                </a:solidFill>
              </a:rPr>
              <a:t>Open the application in your browser.</a:t>
            </a:r>
          </a:p>
          <a:p>
            <a:pPr algn="ctr"/>
            <a:r>
              <a:rPr sz="1400" b="0" i="0">
                <a:solidFill>
                  <a:srgbClr val="5C4826"/>
                </a:solidFill>
              </a:rPr>
              <a:t/>
            </a:r>
          </a:p>
          <a:p>
            <a:pPr algn="ctr"/>
            <a:r>
              <a:rPr sz="3200" b="1" i="0">
                <a:solidFill>
                  <a:srgbClr val="5C4826"/>
                </a:solidFill>
              </a:rPr>
              <a:t>Does it work?</a:t>
            </a:r>
          </a:p>
        </p:txBody>
      </p:sp>
      <p:sp>
        <p:nvSpPr>
          <p:cNvPr id="5" name="Reveal"/>
          <p:cNvSpPr txBox="1"/>
          <p:nvPr/>
        </p:nvSpPr>
        <p:spPr>
          <a:xfrm>
            <a:off x="274320" y="4389120"/>
            <a:ext cx="8595360" cy="411480"/>
          </a:xfrm>
          <a:prstGeom prst="rect">
            <a:avLst/>
          </a:prstGeom>
          <a:noFill/>
        </p:spPr>
        <p:txBody>
          <a:bodyPr wrap="square" anchor="t">
            <a:spAutoFit/>
          </a:bodyPr>
          <a:lstStyle/>
          <a:p>
            <a:pPr algn="ctr"/>
            <a:r>
              <a:rPr sz="2000" b="1" i="0">
                <a:solidFill>
                  <a:srgbClr val="8E6F3E"/>
                </a:solidFill>
              </a:rPr>
              <a:t>What did you check before answering?</a:t>
            </a:r>
          </a:p>
        </p:txBody>
      </p:sp>
      <p:sp>
        <p:nvSpPr>
          <p:cNvPr id="6" name="Checks"/>
          <p:cNvSpPr txBox="1"/>
          <p:nvPr/>
        </p:nvSpPr>
        <p:spPr>
          <a:xfrm>
            <a:off x="274320" y="4892040"/>
            <a:ext cx="8595360" cy="731520"/>
          </a:xfrm>
          <a:prstGeom prst="rect">
            <a:avLst/>
          </a:prstGeom>
          <a:noFill/>
        </p:spPr>
        <p:txBody>
          <a:bodyPr wrap="square" anchor="t">
            <a:spAutoFit/>
          </a:bodyPr>
          <a:lstStyle/>
          <a:p>
            <a:pPr algn="ctr"/>
            <a:r>
              <a:rPr sz="2000" b="0" i="1">
                <a:solidFill>
                  <a:srgbClr val="555960"/>
                </a:solidFill>
              </a:rPr>
              <a:t>adding · editing · deleting · persistence · appearance · console errors · refresh · multiple tabs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Validation meets Delegation</a:t>
            </a:r>
          </a:p>
        </p:txBody>
      </p:sp>
      <p:sp>
        <p:nvSpPr>
          <p:cNvPr id="4" name="Slide Number Placeholder 5"/>
          <p:cNvSpPr>
            <a:spLocks noGrp="1"/>
          </p:cNvSpPr>
          <p:nvPr>
            <p:ph type="sldNum" sz="quarter" idx="4"/>
          </p:nvPr>
        </p:nvSpPr>
        <p:spPr/>
        <p:txBody>
          <a:bodyPr/>
          <a:lstStyle/>
          <a:p>
            <a:fld id="{B7EB45DA-9A0D-DC49-8E02-F30A5DDC21C3}" type="slidenum">
              <a:rPr lang="en-US" smtClean="0"/>
              <a:t>5</a:t>
            </a:fld>
            <a:endParaRPr lang="en-US"/>
          </a:p>
        </p:txBody>
      </p:sp>
      <p:sp>
        <p:nvSpPr>
          <p:cNvPr id="5" name="Rectangle 4"/>
          <p:cNvSpPr/>
          <p:nvPr/>
        </p:nvSpPr>
        <p:spPr>
          <a:xfrm>
            <a:off x="640080" y="1188720"/>
            <a:ext cx="219456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VALIDATION</a:t>
            </a:r>
          </a:p>
        </p:txBody>
      </p:sp>
      <p:sp>
        <p:nvSpPr>
          <p:cNvPr id="6" name="TextBox 5"/>
          <p:cNvSpPr txBox="1"/>
          <p:nvPr/>
        </p:nvSpPr>
        <p:spPr>
          <a:xfrm>
            <a:off x="3108960" y="1389888"/>
            <a:ext cx="5760720" cy="822960"/>
          </a:xfrm>
          <a:prstGeom prst="rect">
            <a:avLst/>
          </a:prstGeom>
          <a:noFill/>
        </p:spPr>
        <p:txBody>
          <a:bodyPr wrap="square" anchor="t">
            <a:spAutoFit/>
          </a:bodyPr>
          <a:lstStyle/>
          <a:p>
            <a:pPr algn="l"/>
            <a:r>
              <a:rPr sz="2000" b="0" i="1">
                <a:solidFill>
                  <a:srgbClr val="555960"/>
                </a:solidFill>
              </a:rPr>
              <a:t>When does evidence justify action?</a:t>
            </a:r>
          </a:p>
        </p:txBody>
      </p:sp>
      <p:sp>
        <p:nvSpPr>
          <p:cNvPr id="7" name="Rectangle 6"/>
          <p:cNvSpPr/>
          <p:nvPr/>
        </p:nvSpPr>
        <p:spPr>
          <a:xfrm>
            <a:off x="640080" y="2331720"/>
            <a:ext cx="2194560" cy="8229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DELEGATION</a:t>
            </a:r>
          </a:p>
        </p:txBody>
      </p:sp>
      <p:sp>
        <p:nvSpPr>
          <p:cNvPr id="8" name="TextBox 7"/>
          <p:cNvSpPr txBox="1"/>
          <p:nvPr/>
        </p:nvSpPr>
        <p:spPr>
          <a:xfrm>
            <a:off x="3108960" y="2532888"/>
            <a:ext cx="5760720" cy="822960"/>
          </a:xfrm>
          <a:prstGeom prst="rect">
            <a:avLst/>
          </a:prstGeom>
          <a:noFill/>
        </p:spPr>
        <p:txBody>
          <a:bodyPr wrap="square" anchor="t">
            <a:spAutoFit/>
          </a:bodyPr>
          <a:lstStyle/>
          <a:p>
            <a:pPr algn="l"/>
            <a:r>
              <a:rPr sz="2000" b="0" i="1">
                <a:solidFill>
                  <a:srgbClr val="555960"/>
                </a:solidFill>
              </a:rPr>
              <a:t>What action may the agent take?</a:t>
            </a:r>
          </a:p>
        </p:txBody>
      </p:sp>
      <p:sp>
        <p:nvSpPr>
          <p:cNvPr id="9" name="Rectangle 8"/>
          <p:cNvSpPr/>
          <p:nvPr/>
        </p:nvSpPr>
        <p:spPr>
          <a:xfrm>
            <a:off x="640080" y="3474720"/>
            <a:ext cx="21945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ALIGNMENT</a:t>
            </a:r>
          </a:p>
        </p:txBody>
      </p:sp>
      <p:sp>
        <p:nvSpPr>
          <p:cNvPr id="10" name="TextBox 9"/>
          <p:cNvSpPr txBox="1"/>
          <p:nvPr/>
        </p:nvSpPr>
        <p:spPr>
          <a:xfrm>
            <a:off x="3108960" y="3474720"/>
            <a:ext cx="5760720" cy="822960"/>
          </a:xfrm>
          <a:prstGeom prst="rect">
            <a:avLst/>
          </a:prstGeom>
          <a:noFill/>
        </p:spPr>
        <p:txBody>
          <a:bodyPr wrap="square" anchor="t">
            <a:spAutoFit/>
          </a:bodyPr>
          <a:lstStyle/>
          <a:p>
            <a:pPr algn="l"/>
            <a:r>
              <a:rPr sz="2000" b="0" i="1">
                <a:solidFill>
                  <a:srgbClr val="8E6F3E"/>
                </a:solidFill>
              </a:rPr>
              <a:t>When should an engineering judgment control what the agent — or the environment — is permitted to do?</a:t>
            </a:r>
          </a:p>
        </p:txBody>
      </p:sp>
      <p:sp>
        <p:nvSpPr>
          <p:cNvPr id="12" name="FooterBand"/>
          <p:cNvSpPr/>
          <p:nvPr/>
        </p:nvSpPr>
        <p:spPr>
          <a:xfrm>
            <a:off x="274320" y="5605272"/>
            <a:ext cx="859536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rPr>
              <a:t>Alignment connects a validation judgment</a:t>
            </a:r>
          </a:p>
          <a:p>
            <a:pPr algn="ctr"/>
            <a:r>
              <a:rPr sz="2000" b="1" i="0">
                <a:solidFill>
                  <a:srgbClr val="FFFFFF"/>
                </a:solidFill>
              </a:rPr>
              <a:t>to what the environment permits.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8E6F3E"/>
                </a:solidFill>
                <a:effectLst/>
                <a:uLnTx/>
                <a:uFillTx/>
                <a:latin typeface="Calibri" panose="020F0502020204030204"/>
                <a:ea typeface="+mn-ea"/>
                <a:cs typeface="+mn-cs"/>
              </a:rPr>
              <a:t>SECTION 1</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Bounding delegated work</a:t>
            </a:r>
          </a:p>
        </p:txBody>
      </p:sp>
      <p:sp>
        <p:nvSpPr>
          <p:cNvPr id="3" name="Slide Number Placeholder 3"/>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EB45DA-9A0D-DC49-8E02-F30A5DDC21C3}"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C4826"/>
                </a:solidFill>
                <a:effectLst/>
                <a:uLnTx/>
                <a:uFillTx/>
                <a:latin typeface="Calibri" panose="020F0502020204030204"/>
                <a:ea typeface="+mn-ea"/>
                <a:cs typeface="+mn-cs"/>
              </a:rPr>
              <a:t>What about the task and process must the engineer control?</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Delegation bounds the task and the process</a:t>
            </a:r>
          </a:p>
        </p:txBody>
      </p:sp>
      <p:sp>
        <p:nvSpPr>
          <p:cNvPr id="6" name="FooterBand"/>
          <p:cNvSpPr/>
          <p:nvPr/>
        </p:nvSpPr>
        <p:spPr>
          <a:xfrm>
            <a:off x="274320" y="5760720"/>
            <a:ext cx="8595360" cy="77724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r>
              <a:rPr sz="2000" b="1" i="0">
                <a:solidFill>
                  <a:srgbClr val="FFFFFF"/>
                </a:solidFill>
              </a:rPr>
              <a:t>The task constrains the result.</a:t>
            </a:r>
          </a:p>
          <a:p>
            <a:r>
              <a:rPr sz="2000" b="1" i="0">
                <a:solidFill>
                  <a:srgbClr val="FFFFFF"/>
                </a:solidFill>
              </a:rPr>
              <a:t>The process constrains how the result may be produced.</a:t>
            </a:r>
          </a:p>
        </p:txBody>
      </p:sp>
      <p:sp>
        <p:nvSpPr>
          <p:cNvPr id="0" name="Taxo-TASK"/>
          <p:cNvSpPr/>
          <p:nvPr/>
        </p:nvSpPr>
        <p:spPr>
          <a:xfrm>
            <a:off x="502920" y="1051560"/>
            <a:ext cx="3977639" cy="432216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BOUND THE TASK</a:t>
            </a:r>
          </a:p>
          <a:p>
            <a:pPr algn="l">
              <a:spcBef>
                <a:spcPts val="900"/>
              </a:spcBef>
              <a:buNone/>
            </a:pPr>
            <a:r>
              <a:rPr lang="en-US" sz="2000" b="0" i="0" dirty="0">
                <a:solidFill>
                  <a:srgbClr val="5C4826"/>
                </a:solidFill>
              </a:rPr>
              <a:t>What outcome is required?</a:t>
            </a:r>
          </a:p>
          <a:p>
            <a:pPr algn="l">
              <a:spcBef>
                <a:spcPts val="900"/>
              </a:spcBef>
              <a:buNone/>
            </a:pPr>
            <a:r>
              <a:rPr lang="en-US" sz="2000" b="0" i="0" dirty="0">
                <a:solidFill>
                  <a:srgbClr val="5C4826"/>
                </a:solidFill>
              </a:rPr>
              <a:t>What must remain true?</a:t>
            </a:r>
          </a:p>
          <a:p>
            <a:pPr algn="l">
              <a:spcBef>
                <a:spcPts val="900"/>
              </a:spcBef>
              <a:buNone/>
            </a:pPr>
            <a:r>
              <a:rPr lang="en-US" sz="2000" b="0" i="0" dirty="0">
                <a:solidFill>
                  <a:srgbClr val="5C4826"/>
                </a:solidFill>
              </a:rPr>
              <a:t>What is out of scope?</a:t>
            </a:r>
          </a:p>
          <a:p>
            <a:pPr algn="l">
              <a:spcBef>
                <a:spcPts val="900"/>
              </a:spcBef>
              <a:buNone/>
            </a:pPr>
            <a:r>
              <a:rPr lang="en-US" sz="2000" b="0" i="0" dirty="0">
                <a:solidFill>
                  <a:srgbClr val="5C4826"/>
                </a:solidFill>
              </a:rPr>
              <a:t>What freedom remains?</a:t>
            </a:r>
          </a:p>
        </p:txBody>
      </p:sp>
      <p:sp>
        <p:nvSpPr>
          <p:cNvPr id="0" name="Taxo-CESS"/>
          <p:cNvSpPr/>
          <p:nvPr/>
        </p:nvSpPr>
        <p:spPr>
          <a:xfrm>
            <a:off x="4663440" y="1051560"/>
            <a:ext cx="3977639" cy="432216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BOUND THE PROCESS</a:t>
            </a:r>
          </a:p>
          <a:p>
            <a:pPr algn="l">
              <a:spcBef>
                <a:spcPts val="900"/>
              </a:spcBef>
              <a:buNone/>
            </a:pPr>
            <a:r>
              <a:rPr lang="en-US" sz="2000" b="0" i="0" dirty="0">
                <a:solidFill>
                  <a:srgbClr val="5C4826"/>
                </a:solidFill>
              </a:rPr>
              <a:t>Where may the agent work?</a:t>
            </a:r>
          </a:p>
          <a:p>
            <a:pPr algn="l">
              <a:spcBef>
                <a:spcPts val="900"/>
              </a:spcBef>
              <a:buNone/>
            </a:pPr>
            <a:r>
              <a:rPr lang="en-US" sz="2000" b="0" i="0" dirty="0">
                <a:solidFill>
                  <a:srgbClr val="5C4826"/>
                </a:solidFill>
              </a:rPr>
              <a:t>What may it change?</a:t>
            </a:r>
          </a:p>
          <a:p>
            <a:pPr algn="l">
              <a:spcBef>
                <a:spcPts val="900"/>
              </a:spcBef>
              <a:buNone/>
            </a:pPr>
            <a:r>
              <a:rPr lang="en-US" sz="2000" b="0" i="0" dirty="0">
                <a:solidFill>
                  <a:srgbClr val="5C4826"/>
                </a:solidFill>
              </a:rPr>
              <a:t>What must it inspect or check?</a:t>
            </a:r>
          </a:p>
          <a:p>
            <a:pPr algn="l">
              <a:spcBef>
                <a:spcPts val="900"/>
              </a:spcBef>
              <a:buNone/>
            </a:pPr>
            <a:r>
              <a:rPr lang="en-US" sz="2000" b="0" i="0" dirty="0">
                <a:solidFill>
                  <a:srgbClr val="5C4826"/>
                </a:solidFill>
              </a:rPr>
              <a:t>When is the work complete?</a:t>
            </a:r>
          </a:p>
          <a:p>
            <a:pPr algn="l">
              <a:spcBef>
                <a:spcPts val="900"/>
              </a:spcBef>
              <a:buNone/>
            </a:pPr>
            <a:r>
              <a:rPr lang="en-US" sz="2000" b="0" i="0" dirty="0">
                <a:solidFill>
                  <a:srgbClr val="5C4826"/>
                </a:solidFill>
              </a:rPr>
              <a:t>What actions require separate authority?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Give it a work order</a:t>
            </a:r>
          </a:p>
        </p:txBody>
      </p:sp>
      <p:graphicFrame>
        <p:nvGraphicFramePr>
          <p:cNvPr id="4" name="WorkOrderTable"/>
          <p:cNvGraphicFramePr>
            <a:graphicFrameLocks noGrp="1"/>
          </p:cNvGraphicFramePr>
          <p:nvPr/>
        </p:nvGraphicFramePr>
        <p:xfrm>
          <a:off x="502920" y="1005840"/>
          <a:ext cx="6492240" cy="5029200"/>
        </p:xfrm>
        <a:graphic>
          <a:graphicData uri="http://schemas.openxmlformats.org/drawingml/2006/table">
            <a:tbl>
              <a:tblPr>
                <a:tableStyleId>{5C22544A-7EE6-4342-B048-85BDC9FD1C3A}</a:tableStyleId>
              </a:tblPr>
              <a:tblGrid>
                <a:gridCol w="1463040"/>
                <a:gridCol w="5029200"/>
              </a:tblGrid>
              <a:tr h="548640">
                <a:tc gridSpan="2">
                  <a:txBody>
                    <a:bodyPr wrap="square" anchor="ctr"/>
                    <a:lstStyle/>
                    <a:p>
                      <a:pPr algn="ctr"/>
                      <a:r>
                        <a:rPr sz="2000" b="1" i="0">
                          <a:solidFill>
                            <a:srgbClr val="FFFFFF"/>
                          </a:solidFill>
                        </a:rPr>
                        <a:t>WORK ORDER: Bulk refunds</a:t>
                      </a:r>
                    </a:p>
                  </a:txBody>
                  <a:tcPr anchor="ctr" marL="68580" marR="45720" marT="27432" marB="27432">
                    <a:solidFill>
                      <a:srgbClr val="8E6F3E"/>
                    </a:solidFill>
                  </a:tcPr>
                </a:tc>
                <a:tc hMerge="1">
                  <a:txBody>
                    <a:bodyPr/>
                    <a:lstStyle/>
                    <a:p/>
                  </a:txBody>
                  <a:tcPr/>
                </a:tc>
              </a:tr>
              <a:tr h="640080">
                <a:tc>
                  <a:txBody>
                    <a:bodyPr wrap="square" anchor="ctr"/>
                    <a:lstStyle/>
                    <a:p>
                      <a:pPr algn="l"/>
                      <a:r>
                        <a:rPr sz="2000" b="1" i="0">
                          <a:solidFill>
                            <a:srgbClr val="5C4826"/>
                          </a:solidFill>
                        </a:rPr>
                        <a:t>Goal</a:t>
                      </a:r>
                    </a:p>
                  </a:txBody>
                  <a:tcPr anchor="ctr" marL="68580" marR="45720" marT="27432" marB="27432">
                    <a:solidFill>
                      <a:srgbClr val="F5F1E8"/>
                    </a:solidFill>
                  </a:tcPr>
                </a:tc>
                <a:tc>
                  <a:txBody>
                    <a:bodyPr wrap="square" anchor="ctr"/>
                    <a:lstStyle/>
                    <a:p>
                      <a:pPr algn="l"/>
                      <a:r>
                        <a:rPr sz="2000" b="0" i="0">
                          <a:solidFill>
                            <a:srgbClr val="5C4826"/>
                          </a:solidFill>
                        </a:rPr>
                        <a:t>Add POST /refunds/bulk</a:t>
                      </a:r>
                    </a:p>
                  </a:txBody>
                  <a:tcPr anchor="ctr" marL="68580" marR="45720" marT="27432" marB="27432">
                    <a:solidFill>
                      <a:srgbClr val="FBF8F2"/>
                    </a:solidFill>
                  </a:tcPr>
                </a:tc>
              </a:tr>
              <a:tr h="640080">
                <a:tc>
                  <a:txBody>
                    <a:bodyPr wrap="square" anchor="ctr"/>
                    <a:lstStyle/>
                    <a:p>
                      <a:pPr algn="l"/>
                      <a:r>
                        <a:rPr sz="2000" b="1" i="0">
                          <a:solidFill>
                            <a:srgbClr val="5C4826"/>
                          </a:solidFill>
                        </a:rPr>
                        <a:t>Scope</a:t>
                      </a:r>
                    </a:p>
                  </a:txBody>
                  <a:tcPr anchor="ctr" marL="68580" marR="45720" marT="27432" marB="27432">
                    <a:solidFill>
                      <a:srgbClr val="F5F1E8"/>
                    </a:solidFill>
                  </a:tcPr>
                </a:tc>
                <a:tc>
                  <a:txBody>
                    <a:bodyPr wrap="square" anchor="ctr"/>
                    <a:lstStyle/>
                    <a:p>
                      <a:pPr algn="l"/>
                      <a:r>
                        <a:rPr sz="2000" b="0" i="0">
                          <a:solidFill>
                            <a:srgbClr val="5C4826"/>
                          </a:solidFill>
                        </a:rPr>
                        <a:t>Modify the payments service only</a:t>
                      </a:r>
                    </a:p>
                  </a:txBody>
                  <a:tcPr anchor="ctr" marL="68580" marR="45720" marT="27432" marB="27432">
                    <a:solidFill>
                      <a:srgbClr val="FBF8F2"/>
                    </a:solidFill>
                  </a:tcPr>
                </a:tc>
              </a:tr>
              <a:tr h="640080">
                <a:tc>
                  <a:txBody>
                    <a:bodyPr wrap="square" anchor="ctr"/>
                    <a:lstStyle/>
                    <a:p>
                      <a:pPr algn="l"/>
                      <a:r>
                        <a:rPr sz="2000" b="1" i="0">
                          <a:solidFill>
                            <a:srgbClr val="5C4826"/>
                          </a:solidFill>
                        </a:rPr>
                        <a:t>Preserve</a:t>
                      </a:r>
                    </a:p>
                  </a:txBody>
                  <a:tcPr anchor="ctr" marL="68580" marR="45720" marT="27432" marB="27432">
                    <a:solidFill>
                      <a:srgbClr val="F5F1E8"/>
                    </a:solidFill>
                  </a:tcPr>
                </a:tc>
                <a:tc>
                  <a:txBody>
                    <a:bodyPr wrap="square" anchor="ctr"/>
                    <a:lstStyle/>
                    <a:p>
                      <a:pPr algn="l"/>
                      <a:r>
                        <a:rPr sz="2000" b="0" i="0">
                          <a:solidFill>
                            <a:srgbClr val="5C4826"/>
                          </a:solidFill>
                        </a:rPr>
                        <a:t>Existing single-refund API behavior</a:t>
                      </a:r>
                    </a:p>
                  </a:txBody>
                  <a:tcPr anchor="ctr" marL="68580" marR="45720" marT="27432" marB="27432">
                    <a:solidFill>
                      <a:srgbClr val="FBF8F2"/>
                    </a:solidFill>
                  </a:tcPr>
                </a:tc>
              </a:tr>
              <a:tr h="640080">
                <a:tc>
                  <a:txBody>
                    <a:bodyPr wrap="square" anchor="ctr"/>
                    <a:lstStyle/>
                    <a:p>
                      <a:pPr algn="l"/>
                      <a:r>
                        <a:rPr sz="2000" b="1" i="0">
                          <a:solidFill>
                            <a:srgbClr val="5C4826"/>
                          </a:solidFill>
                        </a:rPr>
                        <a:t>Do not</a:t>
                      </a:r>
                    </a:p>
                  </a:txBody>
                  <a:tcPr anchor="ctr" marL="68580" marR="45720" marT="27432" marB="27432">
                    <a:solidFill>
                      <a:srgbClr val="F5F1E8"/>
                    </a:solidFill>
                  </a:tcPr>
                </a:tc>
                <a:tc>
                  <a:txBody>
                    <a:bodyPr wrap="square" anchor="ctr"/>
                    <a:lstStyle/>
                    <a:p>
                      <a:pPr algn="l"/>
                      <a:r>
                        <a:rPr sz="2000" b="0" i="0">
                          <a:solidFill>
                            <a:srgbClr val="5C4826"/>
                          </a:solidFill>
                        </a:rPr>
                        <a:t>Modify authentication or payment-provider adapters</a:t>
                      </a:r>
                    </a:p>
                  </a:txBody>
                  <a:tcPr anchor="ctr" marL="68580" marR="45720" marT="27432" marB="27432">
                    <a:solidFill>
                      <a:srgbClr val="FBF8F2"/>
                    </a:solidFill>
                  </a:tcPr>
                </a:tc>
              </a:tr>
              <a:tr h="640080">
                <a:tc>
                  <a:txBody>
                    <a:bodyPr wrap="square" anchor="ctr"/>
                    <a:lstStyle/>
                    <a:p>
                      <a:pPr algn="l"/>
                      <a:r>
                        <a:rPr sz="2000" b="1" i="0">
                          <a:solidFill>
                            <a:srgbClr val="5C4826"/>
                          </a:solidFill>
                        </a:rPr>
                        <a:t>Check</a:t>
                      </a:r>
                    </a:p>
                  </a:txBody>
                  <a:tcPr anchor="ctr" marL="68580" marR="45720" marT="27432" marB="27432">
                    <a:solidFill>
                      <a:srgbClr val="F5F1E8"/>
                    </a:solidFill>
                  </a:tcPr>
                </a:tc>
                <a:tc>
                  <a:txBody>
                    <a:bodyPr wrap="square" anchor="ctr"/>
                    <a:lstStyle/>
                    <a:p>
                      <a:pPr algn="l"/>
                      <a:r>
                        <a:rPr sz="2000" b="0" i="0">
                          <a:solidFill>
                            <a:srgbClr val="5C4826"/>
                          </a:solidFill>
                        </a:rPr>
                        <a:t>Existing tests + new bulk-refund tests</a:t>
                      </a:r>
                    </a:p>
                  </a:txBody>
                  <a:tcPr anchor="ctr" marL="68580" marR="45720" marT="27432" marB="27432">
                    <a:solidFill>
                      <a:srgbClr val="FBF8F2"/>
                    </a:solidFill>
                  </a:tcPr>
                </a:tc>
              </a:tr>
              <a:tr h="640080">
                <a:tc>
                  <a:txBody>
                    <a:bodyPr wrap="square" anchor="ctr"/>
                    <a:lstStyle/>
                    <a:p>
                      <a:pPr algn="l"/>
                      <a:r>
                        <a:rPr sz="2000" b="1" i="0">
                          <a:solidFill>
                            <a:srgbClr val="5C4826"/>
                          </a:solidFill>
                        </a:rPr>
                        <a:t>Deliver</a:t>
                      </a:r>
                    </a:p>
                  </a:txBody>
                  <a:tcPr anchor="ctr" marL="68580" marR="45720" marT="27432" marB="27432">
                    <a:solidFill>
                      <a:srgbClr val="F5F1E8"/>
                    </a:solidFill>
                  </a:tcPr>
                </a:tc>
                <a:tc>
                  <a:txBody>
                    <a:bodyPr wrap="square" anchor="ctr"/>
                    <a:lstStyle/>
                    <a:p>
                      <a:pPr algn="l"/>
                      <a:r>
                        <a:rPr sz="2000" b="0" i="0">
                          <a:solidFill>
                            <a:srgbClr val="5C4826"/>
                          </a:solidFill>
                        </a:rPr>
                        <a:t>Commit changes on your worktree and open a PR</a:t>
                      </a:r>
                    </a:p>
                  </a:txBody>
                  <a:tcPr anchor="ctr" marL="68580" marR="45720" marT="27432" marB="27432">
                    <a:solidFill>
                      <a:srgbClr val="FBF8F2"/>
                    </a:solidFill>
                  </a:tcPr>
                </a:tc>
              </a:tr>
              <a:tr h="640080">
                <a:tc>
                  <a:txBody>
                    <a:bodyPr wrap="square" anchor="ctr"/>
                    <a:lstStyle/>
                    <a:p>
                      <a:pPr algn="l"/>
                      <a:r>
                        <a:rPr sz="2000" b="1" i="0">
                          <a:solidFill>
                            <a:srgbClr val="5C4826"/>
                          </a:solidFill>
                        </a:rPr>
                        <a:t>Authority</a:t>
                      </a:r>
                    </a:p>
                  </a:txBody>
                  <a:tcPr anchor="ctr" marL="68580" marR="45720" marT="27432" marB="27432">
                    <a:solidFill>
                      <a:srgbClr val="F5F1E8"/>
                    </a:solidFill>
                  </a:tcPr>
                </a:tc>
                <a:tc>
                  <a:txBody>
                    <a:bodyPr wrap="square" anchor="ctr"/>
                    <a:lstStyle/>
                    <a:p>
                      <a:pPr algn="l"/>
                      <a:r>
                        <a:rPr sz="2000" b="0" i="0">
                          <a:solidFill>
                            <a:srgbClr val="5C4826"/>
                          </a:solidFill>
                        </a:rPr>
                        <a:t>Do not merge or deploy</a:t>
                      </a:r>
                    </a:p>
                  </a:txBody>
                  <a:tcPr anchor="ctr" marL="68580" marR="45720" marT="27432" marB="27432">
                    <a:solidFill>
                      <a:srgbClr val="FBF8F2"/>
                    </a:solidFill>
                  </a:tcPr>
                </a:tc>
              </a:tr>
            </a:tbl>
          </a:graphicData>
        </a:graphic>
      </p:graphicFrame>
      <p:sp>
        <p:nvSpPr>
          <p:cNvPr id="0" name="BoundTask"/>
          <p:cNvSpPr/>
          <p:nvPr/>
        </p:nvSpPr>
        <p:spPr>
          <a:xfrm>
            <a:off x="7178040" y="1554480"/>
            <a:ext cx="1691640" cy="192024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TASK</a:t>
            </a:r>
          </a:p>
          <a:p>
            <a:pPr algn="ctr">
              <a:buNone/>
            </a:pPr>
            <a:r>
              <a:rPr lang="en-US" sz="2000" b="0" i="0" dirty="0">
                <a:solidFill>
                  <a:srgbClr val="FFFFFF"/>
                </a:solidFill>
              </a:rPr>
              <a:t>bounds the result</a:t>
            </a:r>
          </a:p>
        </p:txBody>
      </p:sp>
      <p:sp>
        <p:nvSpPr>
          <p:cNvPr id="0" name="BoundProcess"/>
          <p:cNvSpPr/>
          <p:nvPr/>
        </p:nvSpPr>
        <p:spPr>
          <a:xfrm>
            <a:off x="7178040" y="3474720"/>
            <a:ext cx="1691640" cy="256032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PROCESS</a:t>
            </a:r>
          </a:p>
          <a:p>
            <a:pPr algn="ctr">
              <a:buNone/>
            </a:pPr>
            <a:r>
              <a:rPr lang="en-US" sz="2000" b="0" i="0" dirty="0">
                <a:solidFill>
                  <a:srgbClr val="FFFFFF"/>
                </a:solidFill>
              </a:rPr>
              <a:t>bounds the path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Bound consequential degrees of freedom</a:t>
            </a:r>
          </a:p>
        </p:txBody>
      </p:sp>
      <p:sp>
        <p:nvSpPr>
          <p:cNvPr id="4" name="BoundPanel"/>
          <p:cNvSpPr/>
          <p:nvPr/>
        </p:nvSpPr>
        <p:spPr>
          <a:xfrm>
            <a:off x="502920" y="1051560"/>
            <a:ext cx="3977639" cy="3154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22860" bIns="22860"/>
          <a:lstStyle/>
          <a:p>
            <a:pPr algn="ctr"/>
            <a:r>
              <a:rPr sz="2000" b="1" i="0">
                <a:solidFill>
                  <a:srgbClr val="5C4826"/>
                </a:solidFill>
              </a:rPr>
              <a:t>BOUND</a:t>
            </a:r>
          </a:p>
          <a:p>
            <a:pPr algn="ctr"/>
            <a:r>
              <a:rPr sz="600" b="0" i="0">
                <a:solidFill>
                  <a:srgbClr val="5C4826"/>
                </a:solidFill>
              </a:rPr>
              <a:t/>
            </a:r>
          </a:p>
          <a:p>
            <a:pPr algn="ctr"/>
            <a:r>
              <a:rPr sz="2000" b="0" i="0">
                <a:solidFill>
                  <a:srgbClr val="5C4826"/>
                </a:solidFill>
              </a:rPr>
              <a:t>worktree</a:t>
            </a:r>
          </a:p>
          <a:p>
            <a:pPr algn="ctr"/>
            <a:r>
              <a:rPr sz="2000" b="0" i="0">
                <a:solidFill>
                  <a:srgbClr val="5C4826"/>
                </a:solidFill>
              </a:rPr>
              <a:t>scope</a:t>
            </a:r>
          </a:p>
          <a:p>
            <a:pPr algn="ctr"/>
            <a:r>
              <a:rPr sz="2000" b="0" i="0">
                <a:solidFill>
                  <a:srgbClr val="5C4826"/>
                </a:solidFill>
              </a:rPr>
              <a:t>forbidden actions</a:t>
            </a:r>
          </a:p>
          <a:p>
            <a:pPr algn="ctr"/>
            <a:r>
              <a:rPr sz="2000" b="0" i="0">
                <a:solidFill>
                  <a:srgbClr val="5C4826"/>
                </a:solidFill>
              </a:rPr>
              <a:t>required checks</a:t>
            </a:r>
          </a:p>
          <a:p>
            <a:pPr algn="ctr"/>
            <a:r>
              <a:rPr sz="2000" b="0" i="0">
                <a:solidFill>
                  <a:srgbClr val="5C4826"/>
                </a:solidFill>
              </a:rPr>
              <a:t>delivery boundary</a:t>
            </a:r>
          </a:p>
        </p:txBody>
      </p:sp>
      <p:sp>
        <p:nvSpPr>
          <p:cNvPr id="5" name="FreePanel"/>
          <p:cNvSpPr/>
          <p:nvPr/>
        </p:nvSpPr>
        <p:spPr>
          <a:xfrm>
            <a:off x="4663440" y="1051560"/>
            <a:ext cx="3977639" cy="31546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t" wrap="square" lIns="27432" rIns="27432" tIns="22860" bIns="22860"/>
          <a:lstStyle/>
          <a:p>
            <a:pPr algn="ctr"/>
            <a:r>
              <a:rPr sz="2000" b="1" i="0">
                <a:solidFill>
                  <a:srgbClr val="5C4826"/>
                </a:solidFill>
              </a:rPr>
              <a:t>LEAVE FREE</a:t>
            </a:r>
          </a:p>
          <a:p>
            <a:pPr algn="ctr"/>
            <a:r>
              <a:rPr sz="600" b="0" i="0">
                <a:solidFill>
                  <a:srgbClr val="5C4826"/>
                </a:solidFill>
              </a:rPr>
              <a:t/>
            </a:r>
          </a:p>
          <a:p>
            <a:pPr algn="ctr"/>
            <a:r>
              <a:rPr sz="2000" b="0" i="0">
                <a:solidFill>
                  <a:srgbClr val="5C4826"/>
                </a:solidFill>
              </a:rPr>
              <a:t>implementation</a:t>
            </a:r>
          </a:p>
          <a:p>
            <a:pPr algn="ctr"/>
            <a:r>
              <a:rPr sz="2000" b="0" i="0">
                <a:solidFill>
                  <a:srgbClr val="5C4826"/>
                </a:solidFill>
              </a:rPr>
              <a:t>decomposition</a:t>
            </a:r>
          </a:p>
          <a:p>
            <a:pPr algn="ctr"/>
            <a:r>
              <a:rPr sz="2000" b="0" i="0">
                <a:solidFill>
                  <a:srgbClr val="5C4826"/>
                </a:solidFill>
              </a:rPr>
              <a:t>naming</a:t>
            </a:r>
          </a:p>
          <a:p>
            <a:pPr algn="ctr"/>
            <a:r>
              <a:rPr sz="2000" b="0" i="0">
                <a:solidFill>
                  <a:srgbClr val="5C4826"/>
                </a:solidFill>
              </a:rPr>
              <a:t>unconstrained algorithms</a:t>
            </a:r>
          </a:p>
          <a:p>
            <a:pPr algn="ctr"/>
            <a:r>
              <a:rPr sz="2000" b="0" i="0">
                <a:solidFill>
                  <a:srgbClr val="5C4826"/>
                </a:solidFill>
              </a:rPr>
              <a:t>intermediate edits</a:t>
            </a:r>
          </a:p>
        </p:txBody>
      </p:sp>
      <p:sp>
        <p:nvSpPr>
          <p:cNvPr id="101" name="PCINSPECT"/>
          <p:cNvSpPr/>
          <p:nvPr/>
        </p:nvSpPr>
        <p:spPr>
          <a:xfrm>
            <a:off x="502920" y="4407408"/>
            <a:ext cx="1417320" cy="594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INSPECT</a:t>
            </a:r>
          </a:p>
        </p:txBody>
      </p:sp>
      <p:cxnSp>
        <p:nvCxnSpPr>
          <p:cNvPr id="102" name="Connector 6"/>
          <p:cNvCxnSpPr/>
          <p:nvPr/>
        </p:nvCxnSpPr>
        <p:spPr>
          <a:xfrm>
            <a:off x="1920240" y="4704588"/>
            <a:ext cx="182880"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3" name="PCMODIFY"/>
          <p:cNvSpPr/>
          <p:nvPr/>
        </p:nvSpPr>
        <p:spPr>
          <a:xfrm>
            <a:off x="2103120" y="4407408"/>
            <a:ext cx="1417320" cy="594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MODIFY</a:t>
            </a:r>
          </a:p>
        </p:txBody>
      </p:sp>
      <p:cxnSp>
        <p:nvCxnSpPr>
          <p:cNvPr id="104" name="Connector 8"/>
          <p:cNvCxnSpPr/>
          <p:nvPr/>
        </p:nvCxnSpPr>
        <p:spPr>
          <a:xfrm>
            <a:off x="3520439" y="4704588"/>
            <a:ext cx="182881"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5" name="PCCHECK"/>
          <p:cNvSpPr/>
          <p:nvPr/>
        </p:nvSpPr>
        <p:spPr>
          <a:xfrm>
            <a:off x="3703320" y="4407408"/>
            <a:ext cx="1417320" cy="594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CHECK</a:t>
            </a:r>
          </a:p>
        </p:txBody>
      </p:sp>
      <p:cxnSp>
        <p:nvCxnSpPr>
          <p:cNvPr id="106" name="Connector 10"/>
          <p:cNvCxnSpPr/>
          <p:nvPr/>
        </p:nvCxnSpPr>
        <p:spPr>
          <a:xfrm>
            <a:off x="5120640" y="4704588"/>
            <a:ext cx="182880"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7" name="PCCOMMIT"/>
          <p:cNvSpPr/>
          <p:nvPr/>
        </p:nvSpPr>
        <p:spPr>
          <a:xfrm>
            <a:off x="5303520" y="4407408"/>
            <a:ext cx="1417320" cy="594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COMMIT</a:t>
            </a:r>
          </a:p>
        </p:txBody>
      </p:sp>
      <p:cxnSp>
        <p:nvCxnSpPr>
          <p:cNvPr id="108" name="Connector 12"/>
          <p:cNvCxnSpPr/>
          <p:nvPr/>
        </p:nvCxnSpPr>
        <p:spPr>
          <a:xfrm>
            <a:off x="6720840" y="4704588"/>
            <a:ext cx="182880"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9" name="PCPROPOSE"/>
          <p:cNvSpPr/>
          <p:nvPr/>
        </p:nvSpPr>
        <p:spPr>
          <a:xfrm>
            <a:off x="6903720" y="4407408"/>
            <a:ext cx="1417320" cy="59436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PROPOSE</a:t>
            </a:r>
          </a:p>
        </p:txBody>
      </p:sp>
      <p:sp>
        <p:nvSpPr>
          <p:cNvPr id="110" name="PCMain"/>
          <p:cNvSpPr txBox="1"/>
          <p:nvPr/>
        </p:nvSpPr>
        <p:spPr>
          <a:xfrm>
            <a:off x="274320" y="5212080"/>
            <a:ext cx="8595360" cy="914400"/>
          </a:xfrm>
          <a:prstGeom prst="rect">
            <a:avLst/>
          </a:prstGeom>
          <a:noFill/>
        </p:spPr>
        <p:txBody>
          <a:bodyPr wrap="square" anchor="t">
            <a:spAutoFit/>
          </a:bodyPr>
          <a:lstStyle/>
          <a:p>
            <a:pPr algn="ctr"/>
            <a:r>
              <a:rPr sz="2000" b="0">
                <a:solidFill>
                  <a:srgbClr val="5C4826"/>
                </a:solidFill>
              </a:rPr>
              <a:t>A process model makes consequential actions, transitions, evidence, and stopping conditions explicit without prescribing internal reasoning.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8E6F3E"/>
                </a:solidFill>
                <a:effectLst/>
                <a:uLnTx/>
                <a:uFillTx/>
                <a:latin typeface="Calibri" panose="020F0502020204030204"/>
                <a:ea typeface="+mn-ea"/>
                <a:cs typeface="+mn-cs"/>
              </a:rPr>
              <a:t>SECTION 2</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How can delegated work fail?</a:t>
            </a:r>
          </a:p>
        </p:txBody>
      </p:sp>
      <p:sp>
        <p:nvSpPr>
          <p:cNvPr id="3" name="Slide Number Placeholder 3"/>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EB45DA-9A0D-DC49-8E02-F30A5DDC21C3}"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C4826"/>
                </a:solidFill>
                <a:effectLst/>
                <a:uLnTx/>
                <a:uFillTx/>
                <a:latin typeface="Calibri" panose="020F0502020204030204"/>
                <a:ea typeface="+mn-ea"/>
                <a:cs typeface="+mn-cs"/>
              </a:rPr>
              <a:t>The result can be wrong. The process can be wrong.</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400"/>
              <a:t>Either bound can be violated</a:t>
            </a:r>
          </a:p>
        </p:txBody>
      </p:sp>
      <p:sp>
        <p:nvSpPr>
          <p:cNvPr id="0" name="TaxHead-result"/>
          <p:cNvSpPr/>
          <p:nvPr/>
        </p:nvSpPr>
        <p:spPr>
          <a:xfrm>
            <a:off x="2286000" y="1005840"/>
            <a:ext cx="3200400" cy="54864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WRONG RESULT</a:t>
            </a:r>
          </a:p>
        </p:txBody>
      </p:sp>
      <p:sp>
        <p:nvSpPr>
          <p:cNvPr id="0" name="TaxHead-process"/>
          <p:cNvSpPr/>
          <p:nvPr/>
        </p:nvSpPr>
        <p:spPr>
          <a:xfrm>
            <a:off x="5577840" y="1005840"/>
            <a:ext cx="3291840" cy="54864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WRONG PROCESS</a:t>
            </a:r>
          </a:p>
        </p:txBody>
      </p:sp>
      <p:sp>
        <p:nvSpPr>
          <p:cNvPr id="0" name="TaxLbl-QUESTI"/>
          <p:cNvSpPr/>
          <p:nvPr/>
        </p:nvSpPr>
        <p:spPr>
          <a:xfrm>
            <a:off x="274320" y="1737360"/>
            <a:ext cx="1920240" cy="1097280"/>
          </a:xfrm>
          <a:prstGeom prst="rect">
            <a:avLst/>
          </a:prstGeom>
          <a:noFill/>
          <a:ln>
            <a:noFill/>
          </a:ln>
          <a:effectLst/>
        </p:spPr>
        <p:txBody>
          <a:bodyPr rtlCol="0" anchor="ctr" wrap="square" lIns="27432" rIns="27432" tIns="22860" bIns="22860"/>
          <a:lstStyle/>
          <a:p>
            <a:pPr algn="ctr">
              <a:buNone/>
            </a:pPr>
            <a:r>
              <a:rPr lang="en-US" sz="2000" b="1" i="0" dirty="0">
                <a:solidFill>
                  <a:srgbClr val="5C4826"/>
                </a:solidFill>
              </a:rPr>
              <a:t>QUESTION</a:t>
            </a:r>
          </a:p>
        </p:txBody>
      </p:sp>
      <p:sp>
        <p:nvSpPr>
          <p:cNvPr id="0" name="TaxC1-QUESTI"/>
          <p:cNvSpPr/>
          <p:nvPr/>
        </p:nvSpPr>
        <p:spPr>
          <a:xfrm>
            <a:off x="2286000" y="1737360"/>
            <a:ext cx="3200400" cy="10972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0" i="0" dirty="0">
                <a:solidFill>
                  <a:srgbClr val="5C4826"/>
                </a:solidFill>
              </a:rPr>
              <a:t>Did the artifact satisfy its obligations?</a:t>
            </a:r>
          </a:p>
        </p:txBody>
      </p:sp>
      <p:sp>
        <p:nvSpPr>
          <p:cNvPr id="0" name="TaxC2-QUESTI"/>
          <p:cNvSpPr/>
          <p:nvPr/>
        </p:nvSpPr>
        <p:spPr>
          <a:xfrm>
            <a:off x="5577840" y="1737360"/>
            <a:ext cx="3291840" cy="10972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0" i="0" dirty="0">
                <a:solidFill>
                  <a:srgbClr val="5C4826"/>
                </a:solidFill>
              </a:rPr>
              <a:t>Was the work performed within the delegated process?</a:t>
            </a:r>
          </a:p>
        </p:txBody>
      </p:sp>
      <p:sp>
        <p:nvSpPr>
          <p:cNvPr id="0" name="TaxLbl-EXAMPL"/>
          <p:cNvSpPr/>
          <p:nvPr/>
        </p:nvSpPr>
        <p:spPr>
          <a:xfrm>
            <a:off x="274320" y="2926080"/>
            <a:ext cx="1920240" cy="1097280"/>
          </a:xfrm>
          <a:prstGeom prst="rect">
            <a:avLst/>
          </a:prstGeom>
          <a:noFill/>
          <a:ln>
            <a:noFill/>
          </a:ln>
          <a:effectLst/>
        </p:spPr>
        <p:txBody>
          <a:bodyPr rtlCol="0" anchor="ctr" wrap="square" lIns="27432" rIns="27432" tIns="22860" bIns="22860"/>
          <a:lstStyle/>
          <a:p>
            <a:pPr algn="ctr">
              <a:buNone/>
            </a:pPr>
            <a:r>
              <a:rPr lang="en-US" sz="2000" b="1" i="0" dirty="0">
                <a:solidFill>
                  <a:srgbClr val="5C4826"/>
                </a:solidFill>
              </a:rPr>
              <a:t>EXAMPLE</a:t>
            </a:r>
          </a:p>
        </p:txBody>
      </p:sp>
      <p:sp>
        <p:nvSpPr>
          <p:cNvPr id="0" name="TaxC1-EXAMPL"/>
          <p:cNvSpPr/>
          <p:nvPr/>
        </p:nvSpPr>
        <p:spPr>
          <a:xfrm>
            <a:off x="2286000" y="2926080"/>
            <a:ext cx="3200400" cy="10972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0" i="1" dirty="0">
                <a:solidFill>
                  <a:srgbClr val="555960"/>
                </a:solidFill>
              </a:rPr>
              <a:t>Existing API behavior changes</a:t>
            </a:r>
          </a:p>
        </p:txBody>
      </p:sp>
      <p:sp>
        <p:nvSpPr>
          <p:cNvPr id="0" name="TaxC2-EXAMPL"/>
          <p:cNvSpPr/>
          <p:nvPr/>
        </p:nvSpPr>
        <p:spPr>
          <a:xfrm>
            <a:off x="5577840" y="2926080"/>
            <a:ext cx="3291840" cy="10972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0" i="1" dirty="0">
                <a:solidFill>
                  <a:srgbClr val="555960"/>
                </a:solidFill>
              </a:rPr>
              <a:t>Agent modifies a forbidden dependency</a:t>
            </a:r>
          </a:p>
        </p:txBody>
      </p:sp>
      <p:sp>
        <p:nvSpPr>
          <p:cNvPr id="0" name="TaxLbl-VALIDA"/>
          <p:cNvSpPr/>
          <p:nvPr/>
        </p:nvSpPr>
        <p:spPr>
          <a:xfrm>
            <a:off x="274320" y="4114800"/>
            <a:ext cx="1920240" cy="1097280"/>
          </a:xfrm>
          <a:prstGeom prst="rect">
            <a:avLst/>
          </a:prstGeom>
          <a:noFill/>
          <a:ln>
            <a:noFill/>
          </a:ln>
          <a:effectLst/>
        </p:spPr>
        <p:txBody>
          <a:bodyPr rtlCol="0" anchor="ctr" wrap="square" lIns="27432" rIns="27432" tIns="22860" bIns="22860"/>
          <a:lstStyle/>
          <a:p>
            <a:pPr algn="ctr">
              <a:buNone/>
            </a:pPr>
            <a:r>
              <a:rPr lang="en-US" sz="2000" b="1" i="0" dirty="0">
                <a:solidFill>
                  <a:srgbClr val="5C4826"/>
                </a:solidFill>
              </a:rPr>
              <a:t>VALIDATION TARGET</a:t>
            </a:r>
          </a:p>
        </p:txBody>
      </p:sp>
      <p:sp>
        <p:nvSpPr>
          <p:cNvPr id="0" name="TaxC1-VALIDA"/>
          <p:cNvSpPr/>
          <p:nvPr/>
        </p:nvSpPr>
        <p:spPr>
          <a:xfrm>
            <a:off x="2286000" y="4114800"/>
            <a:ext cx="3200400" cy="10972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0" i="0" dirty="0">
                <a:solidFill>
                  <a:srgbClr val="5C4826"/>
                </a:solidFill>
              </a:rPr>
              <a:t>Artifact / system state</a:t>
            </a:r>
          </a:p>
        </p:txBody>
      </p:sp>
      <p:sp>
        <p:nvSpPr>
          <p:cNvPr id="0" name="TaxC2-VALIDA"/>
          <p:cNvSpPr/>
          <p:nvPr/>
        </p:nvSpPr>
        <p:spPr>
          <a:xfrm>
            <a:off x="5577840" y="4114800"/>
            <a:ext cx="3291840" cy="10972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0" i="0" dirty="0">
                <a:solidFill>
                  <a:srgbClr val="5C4826"/>
                </a:solidFill>
              </a:rPr>
              <a:t>Actions / evidence / authority</a:t>
            </a:r>
          </a:p>
        </p:txBody>
      </p:sp>
      <p:sp>
        <p:nvSpPr>
          <p:cNvPr id="0" name="FooterBand"/>
          <p:cNvSpPr/>
          <p:nvPr/>
        </p:nvSpPr>
        <p:spPr>
          <a:xfrm>
            <a:off x="274320" y="5852160"/>
            <a:ext cx="8595360" cy="566928"/>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A correct result does not imply an acceptable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Wrong result</a:t>
            </a:r>
          </a:p>
        </p:txBody>
      </p:sp>
      <p:sp>
        <p:nvSpPr>
          <p:cNvPr id="4" name="Example"/>
          <p:cNvSpPr txBox="1"/>
          <p:nvPr/>
        </p:nvSpPr>
        <p:spPr>
          <a:xfrm>
            <a:off x="274320" y="932688"/>
            <a:ext cx="8595360" cy="731520"/>
          </a:xfrm>
          <a:prstGeom prst="rect">
            <a:avLst/>
          </a:prstGeom>
          <a:noFill/>
        </p:spPr>
        <p:txBody>
          <a:bodyPr wrap="square" anchor="t">
            <a:spAutoFit/>
          </a:bodyPr>
          <a:lstStyle/>
          <a:p>
            <a:pPr algn="l"/>
            <a:r>
              <a:rPr sz="2000" b="0" i="1">
                <a:solidFill>
                  <a:srgbClr val="555960"/>
                </a:solidFill>
              </a:rPr>
              <a:t>Requirement: existing clients continue to behave identically.</a:t>
            </a:r>
          </a:p>
          <a:p>
            <a:pPr algn="l"/>
            <a:r>
              <a:rPr sz="2000" b="0" i="1">
                <a:solidFill>
                  <a:srgbClr val="555960"/>
                </a:solidFill>
              </a:rPr>
              <a:t>The agent changes response semantics.</a:t>
            </a:r>
          </a:p>
        </p:txBody>
      </p:sp>
      <p:sp>
        <p:nvSpPr>
          <p:cNvPr id="5" name="FRequest"/>
          <p:cNvSpPr/>
          <p:nvPr/>
        </p:nvSpPr>
        <p:spPr>
          <a:xfrm>
            <a:off x="1097280" y="1965960"/>
            <a:ext cx="17373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REQUEST</a:t>
            </a:r>
          </a:p>
        </p:txBody>
      </p:sp>
      <p:cxnSp>
        <p:nvCxnSpPr>
          <p:cNvPr id="6" name="Connector 5"/>
          <p:cNvCxnSpPr/>
          <p:nvPr/>
        </p:nvCxnSpPr>
        <p:spPr>
          <a:xfrm>
            <a:off x="2834640" y="2249424"/>
            <a:ext cx="411480"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FImpl"/>
          <p:cNvSpPr/>
          <p:nvPr/>
        </p:nvSpPr>
        <p:spPr>
          <a:xfrm>
            <a:off x="3246120" y="1965960"/>
            <a:ext cx="219456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IMPLEMENTATION</a:t>
            </a:r>
          </a:p>
        </p:txBody>
      </p:sp>
      <p:cxnSp>
        <p:nvCxnSpPr>
          <p:cNvPr id="8" name="Connector 7"/>
          <p:cNvCxnSpPr/>
          <p:nvPr/>
        </p:nvCxnSpPr>
        <p:spPr>
          <a:xfrm>
            <a:off x="4343400" y="2532888"/>
            <a:ext cx="0" cy="484632"/>
          </a:xfrm>
          <a:prstGeom prst="line">
            <a:avLst/>
          </a:prstGeom>
          <a:ln w="28575">
            <a:solidFill>
              <a:srgbClr val="8E6F3E"/>
            </a:solidFill>
          </a:ln>
          <a:effectLst/>
        </p:spPr>
        <p:style>
          <a:lnRef idx="2">
            <a:schemeClr val="accent1"/>
          </a:lnRef>
          <a:fillRef idx="0">
            <a:schemeClr val="accent1"/>
          </a:fillRef>
          <a:effectRef idx="1">
            <a:schemeClr val="accent1"/>
          </a:effectRef>
          <a:fontRef idx="minor">
            <a:schemeClr val="tx1"/>
          </a:fontRef>
        </p:style>
      </p:cxnSp>
      <p:sp>
        <p:nvSpPr>
          <p:cNvPr id="9" name="FX"/>
          <p:cNvSpPr txBox="1"/>
          <p:nvPr/>
        </p:nvSpPr>
        <p:spPr>
          <a:xfrm>
            <a:off x="4114800" y="2788920"/>
            <a:ext cx="457200" cy="384048"/>
          </a:xfrm>
          <a:prstGeom prst="rect">
            <a:avLst/>
          </a:prstGeom>
          <a:noFill/>
        </p:spPr>
        <p:txBody>
          <a:bodyPr wrap="square" anchor="t">
            <a:spAutoFit/>
          </a:bodyPr>
          <a:lstStyle/>
          <a:p>
            <a:pPr algn="ctr"/>
            <a:r>
              <a:rPr sz="2400" b="1" i="0">
                <a:solidFill>
                  <a:srgbClr val="5C4826"/>
                </a:solidFill>
              </a:rPr>
              <a:t>✗</a:t>
            </a:r>
          </a:p>
        </p:txBody>
      </p:sp>
      <p:sp>
        <p:nvSpPr>
          <p:cNvPr id="10" name="FReq"/>
          <p:cNvSpPr txBox="1"/>
          <p:nvPr/>
        </p:nvSpPr>
        <p:spPr>
          <a:xfrm>
            <a:off x="3291840" y="3246120"/>
            <a:ext cx="2103120" cy="548640"/>
          </a:xfrm>
          <a:prstGeom prst="rect">
            <a:avLst/>
          </a:prstGeom>
          <a:noFill/>
        </p:spPr>
        <p:txBody>
          <a:bodyPr wrap="square" anchor="t">
            <a:spAutoFit/>
          </a:bodyPr>
          <a:lstStyle/>
          <a:p>
            <a:pPr algn="ctr"/>
            <a:r>
              <a:rPr sz="2000" b="0" i="0">
                <a:solidFill>
                  <a:srgbClr val="555960"/>
                </a:solidFill>
              </a:rPr>
              <a:t>required behavior</a:t>
            </a:r>
          </a:p>
        </p:txBody>
      </p:sp>
      <p:sp>
        <p:nvSpPr>
          <p:cNvPr id="11" name="FailLabel"/>
          <p:cNvSpPr/>
          <p:nvPr/>
        </p:nvSpPr>
        <p:spPr>
          <a:xfrm>
            <a:off x="502920" y="4069080"/>
            <a:ext cx="2560320" cy="5943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ARTIFACT FAILURE</a:t>
            </a:r>
          </a:p>
        </p:txBody>
      </p:sp>
      <p:sp>
        <p:nvSpPr>
          <p:cNvPr id="12" name="FailDef"/>
          <p:cNvSpPr txBox="1"/>
          <p:nvPr/>
        </p:nvSpPr>
        <p:spPr>
          <a:xfrm>
            <a:off x="3246120" y="4133087"/>
            <a:ext cx="5394960" cy="502920"/>
          </a:xfrm>
          <a:prstGeom prst="rect">
            <a:avLst/>
          </a:prstGeom>
          <a:noFill/>
        </p:spPr>
        <p:txBody>
          <a:bodyPr wrap="square" anchor="t">
            <a:spAutoFit/>
          </a:bodyPr>
          <a:lstStyle/>
          <a:p>
            <a:pPr algn="l"/>
            <a:r>
              <a:rPr sz="2000" b="0" i="0">
                <a:solidFill>
                  <a:srgbClr val="5C4826"/>
                </a:solidFill>
              </a:rPr>
              <a:t>The resulting system violates an obligation.</a:t>
            </a:r>
          </a:p>
        </p:txBody>
      </p:sp>
      <p:sp>
        <p:nvSpPr>
          <p:cNvPr id="13" name="FailKinds"/>
          <p:cNvSpPr txBox="1"/>
          <p:nvPr/>
        </p:nvSpPr>
        <p:spPr>
          <a:xfrm>
            <a:off x="274320" y="4983480"/>
            <a:ext cx="8595360" cy="731520"/>
          </a:xfrm>
          <a:prstGeom prst="rect">
            <a:avLst/>
          </a:prstGeom>
          <a:noFill/>
        </p:spPr>
        <p:txBody>
          <a:bodyPr wrap="square" anchor="t">
            <a:spAutoFit/>
          </a:bodyPr>
          <a:lstStyle/>
          <a:p>
            <a:pPr algn="ctr"/>
            <a:r>
              <a:rPr sz="2000" b="0" i="1">
                <a:solidFill>
                  <a:srgbClr val="555960"/>
                </a:solidFill>
              </a:rPr>
              <a:t>wrong behavior · violated invariant · excessive memory · incompatible API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Title 2"/>
          <p:cNvSpPr>
            <a:spLocks noGrp="1"/>
          </p:cNvSpPr>
          <p:nvPr>
            <p:ph type="title"/>
          </p:nvPr>
        </p:nvSpPr>
        <p:spPr/>
        <p:txBody>
          <a:bodyPr/>
          <a:lstStyle/>
          <a:p>
            <a:r>
              <a:rPr sz="2400"/>
              <a:t>Wrong process can fail in different ways</a:t>
            </a:r>
          </a:p>
        </p:txBody>
      </p:sp>
      <p:sp>
        <p:nvSpPr>
          <p:cNvPr id="911" name="Card-scope"/>
          <p:cNvSpPr/>
          <p:nvPr/>
        </p:nvSpPr>
        <p:spPr>
          <a:xfrm>
            <a:off x="274320" y="1051560"/>
            <a:ext cx="2743200" cy="420624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SCOPE</a:t>
            </a:r>
          </a:p>
          <a:p>
            <a:pPr algn="l">
              <a:spcBef>
                <a:spcPts val="900"/>
              </a:spcBef>
              <a:buNone/>
            </a:pPr>
            <a:r>
              <a:rPr lang="en-US" sz="2000" b="0" i="0" dirty="0">
                <a:solidFill>
                  <a:srgbClr val="5C4826"/>
                </a:solidFill>
              </a:rPr>
              <a:t>Work exceeds the work order</a:t>
            </a:r>
          </a:p>
          <a:p>
            <a:pPr algn="l">
              <a:spcBef>
                <a:spcPts val="900"/>
              </a:spcBef>
              <a:buNone/>
            </a:pPr>
            <a:r>
              <a:rPr lang="en-US" sz="2000" b="0" i="1" dirty="0">
                <a:solidFill>
                  <a:srgbClr val="555960"/>
                </a:solidFill>
              </a:rPr>
              <a:t>modifies forbidden file / changes test</a:t>
            </a:r>
          </a:p>
        </p:txBody>
      </p:sp>
      <p:sp>
        <p:nvSpPr>
          <p:cNvPr id="912" name="Card-authority"/>
          <p:cNvSpPr/>
          <p:nvPr/>
        </p:nvSpPr>
        <p:spPr>
          <a:xfrm>
            <a:off x="3200400" y="1051560"/>
            <a:ext cx="2743200" cy="420624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AUTHORITY</a:t>
            </a:r>
          </a:p>
          <a:p>
            <a:pPr algn="l">
              <a:spcBef>
                <a:spcPts val="900"/>
              </a:spcBef>
              <a:buNone/>
            </a:pPr>
            <a:r>
              <a:rPr lang="en-US" sz="2000" b="0" i="0" dirty="0">
                <a:solidFill>
                  <a:srgbClr val="5C4826"/>
                </a:solidFill>
              </a:rPr>
              <a:t>Agent takes an unauthorized consequential action</a:t>
            </a:r>
          </a:p>
          <a:p>
            <a:pPr algn="l">
              <a:spcBef>
                <a:spcPts val="900"/>
              </a:spcBef>
              <a:buNone/>
            </a:pPr>
            <a:r>
              <a:rPr lang="en-US" sz="2000" b="0" i="1" dirty="0">
                <a:solidFill>
                  <a:srgbClr val="555960"/>
                </a:solidFill>
              </a:rPr>
              <a:t>merge / deploy</a:t>
            </a:r>
          </a:p>
        </p:txBody>
      </p:sp>
      <p:sp>
        <p:nvSpPr>
          <p:cNvPr id="913" name="Card-evidence"/>
          <p:cNvSpPr/>
          <p:nvPr/>
        </p:nvSpPr>
        <p:spPr>
          <a:xfrm>
            <a:off x="6126480" y="1051560"/>
            <a:ext cx="2743200" cy="420624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EVIDENCE</a:t>
            </a:r>
          </a:p>
          <a:p>
            <a:pPr algn="l">
              <a:spcBef>
                <a:spcPts val="900"/>
              </a:spcBef>
              <a:buNone/>
            </a:pPr>
            <a:r>
              <a:rPr lang="en-US" sz="2000" b="0" i="0" dirty="0">
                <a:solidFill>
                  <a:srgbClr val="5C4826"/>
                </a:solidFill>
              </a:rPr>
              <a:t>Required evidence is absent or inadequate</a:t>
            </a:r>
          </a:p>
          <a:p>
            <a:pPr algn="l">
              <a:spcBef>
                <a:spcPts val="900"/>
              </a:spcBef>
              <a:buNone/>
            </a:pPr>
            <a:r>
              <a:rPr lang="en-US" sz="2000" b="0" i="1" dirty="0">
                <a:solidFill>
                  <a:srgbClr val="555960"/>
                </a:solidFill>
              </a:rPr>
              <a:t>“all tests pass” without establishing what was tested</a:t>
            </a:r>
          </a:p>
        </p:txBody>
      </p:sp>
      <p:sp>
        <p:nvSpPr>
          <p:cNvPr id="914" name="FooterBand"/>
          <p:cNvSpPr/>
          <p:nvPr/>
        </p:nvSpPr>
        <p:spPr>
          <a:xfrm>
            <a:off x="274320" y="5852160"/>
            <a:ext cx="8595360" cy="566928"/>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Can the result be correct while the process is wrong?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8E6F3E"/>
                </a:solidFill>
                <a:effectLst/>
                <a:uLnTx/>
                <a:uFillTx/>
                <a:latin typeface="Calibri" panose="020F0502020204030204"/>
                <a:ea typeface="+mn-ea"/>
                <a:cs typeface="+mn-cs"/>
              </a:rPr>
              <a:t>SECTION 3</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From failures to controls</a:t>
            </a:r>
          </a:p>
        </p:txBody>
      </p:sp>
      <p:sp>
        <p:nvSpPr>
          <p:cNvPr id="3" name="Slide Number Placeholder 3"/>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EB45DA-9A0D-DC49-8E02-F30A5DDC21C3}"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C4826"/>
                </a:solidFill>
                <a:effectLst/>
                <a:uLnTx/>
                <a:uFillTx/>
                <a:latin typeface="Calibri" panose="020F0502020204030204"/>
                <a:ea typeface="+mn-ea"/>
                <a:cs typeface="+mn-cs"/>
              </a:rPr>
              <a:t>What should the engineered environment do about them?</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Prevent or detect?</a:t>
            </a:r>
          </a:p>
        </p:txBody>
      </p:sp>
      <p:sp>
        <p:nvSpPr>
          <p:cNvPr id="4" name="Slide Number Placeholder 5"/>
          <p:cNvSpPr>
            <a:spLocks noGrp="1"/>
          </p:cNvSpPr>
          <p:nvPr>
            <p:ph type="sldNum" sz="quarter" idx="4"/>
          </p:nvPr>
        </p:nvSpPr>
        <p:spPr/>
        <p:txBody>
          <a:bodyPr/>
          <a:lstStyle/>
          <a:p>
            <a:fld id="{B7EB45DA-9A0D-DC49-8E02-F30A5DDC21C3}" type="slidenum">
              <a:rPr lang="en-US" smtClean="0"/>
              <a:t>15</a:t>
            </a:fld>
            <a:endParaRPr lang="en-US"/>
          </a:p>
        </p:txBody>
      </p:sp>
      <p:sp>
        <p:nvSpPr>
          <p:cNvPr id="8"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rPr>
              <a:t>If you can make the wrong state impossible, do. Otherwise: evidence.</a:t>
            </a:r>
          </a:p>
        </p:txBody>
      </p:sp>
      <p:pic>
        <p:nvPicPr>
          <p:cNvPr id="9" name="Fig-3-3-1-constraint-vs-sensor" descr="constraint-vs-sensor-deck.png"/>
          <p:cNvPicPr>
            <a:picLocks noChangeAspect="1"/>
          </p:cNvPicPr>
          <p:nvPr/>
        </p:nvPicPr>
        <p:blipFill>
          <a:blip r:embed="rId3"/>
          <a:stretch>
            <a:fillRect/>
          </a:stretch>
        </p:blipFill>
        <p:spPr>
          <a:xfrm>
            <a:off x="731520" y="1051560"/>
            <a:ext cx="7680960" cy="33604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Four roles in a control system</a:t>
            </a:r>
          </a:p>
        </p:txBody>
      </p:sp>
      <p:sp>
        <p:nvSpPr>
          <p:cNvPr id="4" name="Slide Number Placeholder 5"/>
          <p:cNvSpPr>
            <a:spLocks noGrp="1"/>
          </p:cNvSpPr>
          <p:nvPr>
            <p:ph type="sldNum" sz="quarter" idx="4"/>
          </p:nvPr>
        </p:nvSpPr>
        <p:spPr/>
        <p:txBody>
          <a:bodyPr/>
          <a:lstStyle/>
          <a:p>
            <a:fld id="{B7EB45DA-9A0D-DC49-8E02-F30A5DDC21C3}" type="slidenum">
              <a:rPr lang="en-US" smtClean="0"/>
              <a:t>16</a:t>
            </a:fld>
            <a:endParaRPr lang="en-US"/>
          </a:p>
        </p:txBody>
      </p:sp>
      <p:sp>
        <p:nvSpPr>
          <p:cNvPr id="0" name="Pipe-WORK"/>
          <p:cNvSpPr/>
          <p:nvPr/>
        </p:nvSpPr>
        <p:spPr>
          <a:xfrm>
            <a:off x="274320" y="2700000"/>
            <a:ext cx="1500000" cy="6400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1" i="0" dirty="0">
                <a:solidFill>
                  <a:srgbClr val="5C4826"/>
                </a:solidFill>
              </a:rPr>
              <a:t>WORK</a:t>
            </a:r>
          </a:p>
        </p:txBody>
      </p:sp>
      <p:sp>
        <p:nvSpPr>
          <p:cNvPr id="0" name="Pipe-SENSOR"/>
          <p:cNvSpPr/>
          <p:nvPr/>
        </p:nvSpPr>
        <p:spPr>
          <a:xfrm>
            <a:off x="2048160" y="2700000"/>
            <a:ext cx="15000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SENSOR</a:t>
            </a:r>
          </a:p>
        </p:txBody>
      </p:sp>
      <p:sp>
        <p:nvSpPr>
          <p:cNvPr id="0" name="Pipe-VALIDATOR"/>
          <p:cNvSpPr/>
          <p:nvPr/>
        </p:nvSpPr>
        <p:spPr>
          <a:xfrm>
            <a:off x="3822000" y="2700000"/>
            <a:ext cx="15000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VALIDATOR</a:t>
            </a:r>
          </a:p>
        </p:txBody>
      </p:sp>
      <p:sp>
        <p:nvSpPr>
          <p:cNvPr id="0" name="Pipe-GATE"/>
          <p:cNvSpPr/>
          <p:nvPr/>
        </p:nvSpPr>
        <p:spPr>
          <a:xfrm>
            <a:off x="5595840" y="2700000"/>
            <a:ext cx="15000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GATE</a:t>
            </a:r>
          </a:p>
        </p:txBody>
      </p:sp>
      <p:sp>
        <p:nvSpPr>
          <p:cNvPr id="0" name="Pipe-MERGE-DEPLOY"/>
          <p:cNvSpPr/>
          <p:nvPr/>
        </p:nvSpPr>
        <p:spPr>
          <a:xfrm>
            <a:off x="7150608" y="2560320"/>
            <a:ext cx="1719072" cy="914400"/>
          </a:xfrm>
          <a:prstGeom prst="rect">
            <a:avLst/>
          </a:prstGeom>
          <a:solidFill>
            <a:srgbClr val="F5F1E8"/>
          </a:solidFill>
          <a:ln w="12700">
            <a:solidFill>
              <a:srgbClr val="C9B991"/>
            </a:solidFill>
          </a:ln>
          <a:effectLst/>
        </p:spPr>
        <p:txBody>
          <a:bodyPr rtlCol="0" anchor="ctr" wrap="square" lIns="12700" rIns="12700" tIns="22860" bIns="22860"/>
          <a:lstStyle/>
          <a:p>
            <a:pPr algn="ctr">
              <a:buNone/>
            </a:pPr>
            <a:r>
              <a:rPr lang="en-US" sz="2000" b="1" i="0" dirty="0">
                <a:solidFill>
                  <a:srgbClr val="5C4826"/>
                </a:solidFill>
              </a:rPr>
              <a:t>CONSEQUENCE</a:t>
            </a:r>
          </a:p>
          <a:p>
            <a:pPr algn="ctr">
              <a:buNone/>
            </a:pPr>
            <a:r>
              <a:rPr lang="en-US" sz="2000" b="0" i="0" dirty="0">
                <a:solidFill>
                  <a:srgbClr val="5C4826"/>
                </a:solidFill>
              </a:rPr>
              <a:t>merge · deploy</a:t>
            </a:r>
          </a:p>
        </p:txBody>
      </p:sp>
      <p:cxnSp>
        <p:nvCxnSpPr>
          <p:cNvPr id="0" name="PipeArrow0"/>
          <p:cNvCxnSpPr/>
          <p:nvPr/>
        </p:nvCxnSpPr>
        <p:spPr>
          <a:xfrm>
            <a:off x="1774320" y="3020040"/>
            <a:ext cx="273840" cy="0"/>
          </a:xfrm>
          <a:prstGeom prst="straightConnector1">
            <a:avLst/>
          </a:prstGeom>
          <a:ln w="19050">
            <a:solidFill>
              <a:srgbClr val="8E6F3E"/>
            </a:solidFill>
            <a:tailEnd type="triangle"/>
          </a:ln>
        </p:spPr>
      </p:cxnSp>
      <p:cxnSp>
        <p:nvCxnSpPr>
          <p:cNvPr id="0" name="PipeArrow1"/>
          <p:cNvCxnSpPr/>
          <p:nvPr/>
        </p:nvCxnSpPr>
        <p:spPr>
          <a:xfrm>
            <a:off x="3548160" y="3020040"/>
            <a:ext cx="273840" cy="0"/>
          </a:xfrm>
          <a:prstGeom prst="straightConnector1">
            <a:avLst/>
          </a:prstGeom>
          <a:ln w="19050">
            <a:solidFill>
              <a:srgbClr val="8E6F3E"/>
            </a:solidFill>
            <a:tailEnd type="triangle"/>
          </a:ln>
        </p:spPr>
      </p:cxnSp>
      <p:cxnSp>
        <p:nvCxnSpPr>
          <p:cNvPr id="0" name="PipeArrow2"/>
          <p:cNvCxnSpPr/>
          <p:nvPr/>
        </p:nvCxnSpPr>
        <p:spPr>
          <a:xfrm>
            <a:off x="5322000" y="3020040"/>
            <a:ext cx="273840" cy="0"/>
          </a:xfrm>
          <a:prstGeom prst="straightConnector1">
            <a:avLst/>
          </a:prstGeom>
          <a:ln w="19050">
            <a:solidFill>
              <a:srgbClr val="8E6F3E"/>
            </a:solidFill>
            <a:tailEnd type="triangle"/>
          </a:ln>
        </p:spPr>
      </p:cxnSp>
      <p:cxnSp>
        <p:nvCxnSpPr>
          <p:cNvPr id="0" name="PipeArrow3"/>
          <p:cNvCxnSpPr/>
          <p:nvPr/>
        </p:nvCxnSpPr>
        <p:spPr>
          <a:xfrm>
            <a:off x="6949440" y="3017520"/>
            <a:ext cx="201168" cy="0"/>
          </a:xfrm>
          <a:prstGeom prst="straightConnector1">
            <a:avLst/>
          </a:prstGeom>
          <a:ln w="19050">
            <a:solidFill>
              <a:srgbClr val="8E6F3E"/>
            </a:solidFill>
            <a:tailEnd type="triangle"/>
          </a:ln>
        </p:spPr>
      </p:cxnSp>
      <p:sp>
        <p:nvSpPr>
          <p:cNvPr id="0" name="Pipe-evidence"/>
          <p:cNvSpPr/>
          <p:nvPr/>
        </p:nvSpPr>
        <p:spPr>
          <a:xfrm>
            <a:off x="3136680" y="2151360"/>
            <a:ext cx="1096800" cy="457200"/>
          </a:xfrm>
          <a:prstGeom prst="rect">
            <a:avLst/>
          </a:prstGeom>
          <a:noFill/>
          <a:ln>
            <a:noFill/>
          </a:ln>
          <a:effectLst/>
        </p:spPr>
        <p:txBody>
          <a:bodyPr rtlCol="0" anchor="ctr" wrap="square" lIns="27432" rIns="27432" tIns="22860" bIns="22860"/>
          <a:lstStyle/>
          <a:p>
            <a:pPr algn="ctr">
              <a:buNone/>
            </a:pPr>
            <a:r>
              <a:rPr lang="en-US" sz="2000" b="0" i="0" dirty="0">
                <a:solidFill>
                  <a:srgbClr val="5C4826"/>
                </a:solidFill>
              </a:rPr>
              <a:t>evidence</a:t>
            </a:r>
          </a:p>
        </p:txBody>
      </p:sp>
      <p:sp>
        <p:nvSpPr>
          <p:cNvPr id="0" name="Pipe-verdict"/>
          <p:cNvSpPr/>
          <p:nvPr/>
        </p:nvSpPr>
        <p:spPr>
          <a:xfrm>
            <a:off x="4910520" y="2151360"/>
            <a:ext cx="1096800" cy="457200"/>
          </a:xfrm>
          <a:prstGeom prst="rect">
            <a:avLst/>
          </a:prstGeom>
          <a:noFill/>
          <a:ln>
            <a:noFill/>
          </a:ln>
          <a:effectLst/>
        </p:spPr>
        <p:txBody>
          <a:bodyPr rtlCol="0" anchor="ctr" wrap="square" lIns="27432" rIns="27432" tIns="22860" bIns="22860"/>
          <a:lstStyle/>
          <a:p>
            <a:pPr algn="ctr">
              <a:buNone/>
            </a:pPr>
            <a:r>
              <a:rPr lang="en-US" sz="2000" b="0" i="0" dirty="0">
                <a:solidFill>
                  <a:srgbClr val="5C4826"/>
                </a:solidFill>
              </a:rPr>
              <a:t>verdict</a:t>
            </a:r>
          </a:p>
        </p:txBody>
      </p:sp>
      <p:sp>
        <p:nvSpPr>
          <p:cNvPr id="0" name="Pipe-obligation"/>
          <p:cNvSpPr/>
          <p:nvPr/>
        </p:nvSpPr>
        <p:spPr>
          <a:xfrm>
            <a:off x="3822191" y="1325880"/>
            <a:ext cx="1500000" cy="457200"/>
          </a:xfrm>
          <a:prstGeom prst="rect">
            <a:avLst/>
          </a:prstGeom>
          <a:noFill/>
          <a:ln>
            <a:noFill/>
          </a:ln>
          <a:effectLst/>
        </p:spPr>
        <p:txBody>
          <a:bodyPr rtlCol="0" anchor="ctr" wrap="square" lIns="27432" rIns="27432" tIns="22860" bIns="22860"/>
          <a:lstStyle/>
          <a:p>
            <a:pPr algn="ctr">
              <a:buNone/>
            </a:pPr>
            <a:r>
              <a:rPr lang="en-US" sz="2000" b="1" i="0" dirty="0">
                <a:solidFill>
                  <a:srgbClr val="5C4826"/>
                </a:solidFill>
              </a:rPr>
              <a:t>obligation</a:t>
            </a:r>
          </a:p>
        </p:txBody>
      </p:sp>
      <p:cxnSp>
        <p:nvCxnSpPr>
          <p:cNvPr id="0" name="PipeArrowObl"/>
          <p:cNvCxnSpPr/>
          <p:nvPr/>
        </p:nvCxnSpPr>
        <p:spPr>
          <a:xfrm>
            <a:off x="4572000" y="1783080"/>
            <a:ext cx="0" cy="914400"/>
          </a:xfrm>
          <a:prstGeom prst="straightConnector1">
            <a:avLst/>
          </a:prstGeom>
          <a:ln w="19050">
            <a:solidFill>
              <a:srgbClr val="8E6F3E"/>
            </a:solidFill>
            <a:tailEnd type="triangle"/>
          </a:ln>
        </p:spPr>
      </p:cxnSp>
      <p:sp>
        <p:nvSpPr>
          <p:cNvPr id="0" name="Pipe-CONSTRAINT"/>
          <p:cNvSpPr/>
          <p:nvPr/>
        </p:nvSpPr>
        <p:spPr>
          <a:xfrm>
            <a:off x="274320" y="4206240"/>
            <a:ext cx="15000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CONSTRAINT</a:t>
            </a:r>
          </a:p>
        </p:txBody>
      </p:sp>
      <p:cxnSp>
        <p:nvCxnSpPr>
          <p:cNvPr id="0" name="PipeArrowCon"/>
          <p:cNvCxnSpPr/>
          <p:nvPr/>
        </p:nvCxnSpPr>
        <p:spPr>
          <a:xfrm flipV="1">
            <a:off x="1024320" y="3340080"/>
            <a:ext cx="0" cy="866160"/>
          </a:xfrm>
          <a:prstGeom prst="straightConnector1">
            <a:avLst/>
          </a:prstGeom>
          <a:ln w="19050">
            <a:solidFill>
              <a:srgbClr val="8E6F3E"/>
            </a:solidFill>
            <a:tailEnd type="triangle"/>
          </a:ln>
        </p:spPr>
      </p:cxnSp>
      <p:sp>
        <p:nvSpPr>
          <p:cNvPr id="903" name="Pipe-admits"/>
          <p:cNvSpPr/>
          <p:nvPr/>
        </p:nvSpPr>
        <p:spPr>
          <a:xfrm>
            <a:off x="6684360" y="2151360"/>
            <a:ext cx="1096800" cy="457200"/>
          </a:xfrm>
          <a:prstGeom prst="rect">
            <a:avLst/>
          </a:prstGeom>
          <a:noFill/>
          <a:ln>
            <a:noFill/>
          </a:ln>
          <a:effectLst/>
        </p:spPr>
        <p:txBody>
          <a:bodyPr rtlCol="0" anchor="ctr" wrap="square" lIns="27432" rIns="27432" tIns="22860" bIns="22860"/>
          <a:lstStyle/>
          <a:p>
            <a:pPr algn="ctr">
              <a:buNone/>
            </a:pPr>
            <a:r>
              <a:rPr lang="en-US" sz="2000" b="0" i="0" dirty="0">
                <a:solidFill>
                  <a:srgbClr val="5C4826"/>
                </a:solidFill>
              </a:rPr>
              <a:t>admits</a:t>
            </a:r>
          </a:p>
        </p:txBody>
      </p:sp>
      <p:sp>
        <p:nvSpPr>
          <p:cNvPr id="904" name="TextBox 5"/>
          <p:cNvSpPr txBox="1"/>
          <p:nvPr/>
        </p:nvSpPr>
        <p:spPr>
          <a:xfrm>
            <a:off x="1911095" y="3474720"/>
            <a:ext cx="1773936" cy="1463040"/>
          </a:xfrm>
          <a:prstGeom prst="rect">
            <a:avLst/>
          </a:prstGeom>
          <a:noFill/>
        </p:spPr>
        <p:txBody>
          <a:bodyPr wrap="square" anchor="ctr">
            <a:spAutoFit/>
          </a:bodyPr>
          <a:lstStyle/>
          <a:p>
            <a:pPr algn="ctr"/>
            <a:r>
              <a:rPr sz="2000" b="0">
                <a:solidFill>
                  <a:srgbClr val="555960"/>
                </a:solidFill>
              </a:rPr>
              <a:t>observes what happened and produces evidence</a:t>
            </a:r>
          </a:p>
        </p:txBody>
      </p:sp>
      <p:sp>
        <p:nvSpPr>
          <p:cNvPr id="905" name="TextBox 5"/>
          <p:cNvSpPr txBox="1"/>
          <p:nvPr/>
        </p:nvSpPr>
        <p:spPr>
          <a:xfrm>
            <a:off x="3685032" y="3474720"/>
            <a:ext cx="1773936" cy="1463040"/>
          </a:xfrm>
          <a:prstGeom prst="rect">
            <a:avLst/>
          </a:prstGeom>
          <a:noFill/>
        </p:spPr>
        <p:txBody>
          <a:bodyPr wrap="square" anchor="ctr">
            <a:spAutoFit/>
          </a:bodyPr>
          <a:lstStyle/>
          <a:p>
            <a:pPr algn="ctr"/>
            <a:r>
              <a:rPr sz="2000" b="0">
                <a:solidFill>
                  <a:srgbClr val="555960"/>
                </a:solidFill>
              </a:rPr>
              <a:t>evaluates evidence against an obligation</a:t>
            </a:r>
          </a:p>
        </p:txBody>
      </p:sp>
      <p:sp>
        <p:nvSpPr>
          <p:cNvPr id="906" name="TextBox 5"/>
          <p:cNvSpPr txBox="1"/>
          <p:nvPr/>
        </p:nvSpPr>
        <p:spPr>
          <a:xfrm>
            <a:off x="5458968" y="3474720"/>
            <a:ext cx="1773936" cy="1463040"/>
          </a:xfrm>
          <a:prstGeom prst="rect">
            <a:avLst/>
          </a:prstGeom>
          <a:noFill/>
        </p:spPr>
        <p:txBody>
          <a:bodyPr wrap="square" anchor="ctr">
            <a:spAutoFit/>
          </a:bodyPr>
          <a:lstStyle/>
          <a:p>
            <a:pPr algn="ctr"/>
            <a:r>
              <a:rPr sz="2000" b="0">
                <a:solidFill>
                  <a:srgbClr val="555960"/>
                </a:solidFill>
              </a:rPr>
              <a:t>controls whether work crosses a boundary</a:t>
            </a:r>
          </a:p>
        </p:txBody>
      </p:sp>
      <p:sp>
        <p:nvSpPr>
          <p:cNvPr id="907" name="TextBox 5"/>
          <p:cNvSpPr txBox="1"/>
          <p:nvPr/>
        </p:nvSpPr>
        <p:spPr>
          <a:xfrm>
            <a:off x="45720" y="4919472"/>
            <a:ext cx="1956816" cy="731520"/>
          </a:xfrm>
          <a:prstGeom prst="rect">
            <a:avLst/>
          </a:prstGeom>
          <a:noFill/>
        </p:spPr>
        <p:txBody>
          <a:bodyPr wrap="square" anchor="ctr">
            <a:spAutoFit/>
          </a:bodyPr>
          <a:lstStyle/>
          <a:p>
            <a:pPr algn="ctr"/>
            <a:r>
              <a:rPr sz="2000" b="0">
                <a:solidFill>
                  <a:srgbClr val="555960"/>
                </a:solidFill>
              </a:rPr>
              <a:t>narrows what may happen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Alignment gives validation consequences</a:t>
            </a:r>
          </a:p>
        </p:txBody>
      </p:sp>
      <p:sp>
        <p:nvSpPr>
          <p:cNvPr id="4" name="Slide Number Placeholder 5"/>
          <p:cNvSpPr>
            <a:spLocks noGrp="1"/>
          </p:cNvSpPr>
          <p:nvPr>
            <p:ph type="sldNum" sz="quarter" idx="4"/>
          </p:nvPr>
        </p:nvSpPr>
        <p:spPr/>
        <p:txBody>
          <a:bodyPr/>
          <a:lstStyle/>
          <a:p>
            <a:fld id="{B7EB45DA-9A0D-DC49-8E02-F30A5DDC21C3}" type="slidenum">
              <a:rPr lang="en-US" smtClean="0"/>
              <a:t>17</a:t>
            </a:fld>
            <a:endParaRPr lang="en-US"/>
          </a:p>
        </p:txBody>
      </p:sp>
      <p:sp>
        <p:nvSpPr>
          <p:cNvPr id="5" name="TextBox 4"/>
          <p:cNvSpPr txBox="1"/>
          <p:nvPr/>
        </p:nvSpPr>
        <p:spPr>
          <a:xfrm>
            <a:off x="137160" y="1572768"/>
            <a:ext cx="1371600" cy="640080"/>
          </a:xfrm>
          <a:prstGeom prst="rect">
            <a:avLst/>
          </a:prstGeom>
          <a:noFill/>
        </p:spPr>
        <p:txBody>
          <a:bodyPr wrap="square" anchor="ctr">
            <a:spAutoFit/>
          </a:bodyPr>
          <a:lstStyle/>
          <a:p>
            <a:pPr algn="l"/>
            <a:r>
              <a:rPr sz="2000" b="1" i="0">
                <a:solidFill>
                  <a:srgbClr val="8E6F3E"/>
                </a:solidFill>
              </a:rPr>
              <a:t>VALIDATION</a:t>
            </a:r>
          </a:p>
        </p:txBody>
      </p:sp>
      <p:sp>
        <p:nvSpPr>
          <p:cNvPr id="6" name="Rectangle 5"/>
          <p:cNvSpPr/>
          <p:nvPr/>
        </p:nvSpPr>
        <p:spPr>
          <a:xfrm>
            <a:off x="1554480" y="1591056"/>
            <a:ext cx="1627632" cy="603504"/>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CLAIM</a:t>
            </a:r>
          </a:p>
        </p:txBody>
      </p:sp>
      <p:cxnSp>
        <p:nvCxnSpPr>
          <p:cNvPr id="7" name="Connector 6"/>
          <p:cNvCxnSpPr/>
          <p:nvPr/>
        </p:nvCxnSpPr>
        <p:spPr>
          <a:xfrm>
            <a:off x="3191256" y="1892807"/>
            <a:ext cx="219456" cy="0"/>
          </a:xfrm>
          <a:prstGeom prst="line">
            <a:avLst/>
          </a:prstGeom>
          <a:ln w="28575">
            <a:solidFill>
              <a:srgbClr val="C9B99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3419856" y="1591056"/>
            <a:ext cx="1627632" cy="603504"/>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EVIDENCE</a:t>
            </a:r>
          </a:p>
        </p:txBody>
      </p:sp>
      <p:cxnSp>
        <p:nvCxnSpPr>
          <p:cNvPr id="9" name="Connector 8"/>
          <p:cNvCxnSpPr/>
          <p:nvPr/>
        </p:nvCxnSpPr>
        <p:spPr>
          <a:xfrm>
            <a:off x="5056632" y="1892807"/>
            <a:ext cx="219456" cy="0"/>
          </a:xfrm>
          <a:prstGeom prst="line">
            <a:avLst/>
          </a:prstGeom>
          <a:ln w="28575">
            <a:solidFill>
              <a:srgbClr val="C9B99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285232" y="1591056"/>
            <a:ext cx="1627632" cy="603504"/>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JUDGMENT</a:t>
            </a:r>
          </a:p>
        </p:txBody>
      </p:sp>
      <p:cxnSp>
        <p:nvCxnSpPr>
          <p:cNvPr id="11" name="Connector 10"/>
          <p:cNvCxnSpPr/>
          <p:nvPr/>
        </p:nvCxnSpPr>
        <p:spPr>
          <a:xfrm>
            <a:off x="6922008" y="1892807"/>
            <a:ext cx="219456" cy="0"/>
          </a:xfrm>
          <a:prstGeom prst="line">
            <a:avLst/>
          </a:prstGeom>
          <a:ln w="28575">
            <a:solidFill>
              <a:srgbClr val="C9B99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150608" y="1591056"/>
            <a:ext cx="1627632" cy="603504"/>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ACTION</a:t>
            </a:r>
          </a:p>
        </p:txBody>
      </p:sp>
      <p:cxnSp>
        <p:nvCxnSpPr>
          <p:cNvPr id="13" name="Connector 12"/>
          <p:cNvCxnSpPr/>
          <p:nvPr/>
        </p:nvCxnSpPr>
        <p:spPr>
          <a:xfrm>
            <a:off x="2368296" y="2231136"/>
            <a:ext cx="0" cy="64008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33672" y="2231136"/>
            <a:ext cx="0" cy="64008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099048" y="2231136"/>
            <a:ext cx="0" cy="64008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64424" y="2231136"/>
            <a:ext cx="0" cy="64008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37160" y="2907792"/>
            <a:ext cx="1371600" cy="640080"/>
          </a:xfrm>
          <a:prstGeom prst="rect">
            <a:avLst/>
          </a:prstGeom>
          <a:noFill/>
        </p:spPr>
        <p:txBody>
          <a:bodyPr wrap="square" anchor="ctr">
            <a:spAutoFit/>
          </a:bodyPr>
          <a:lstStyle/>
          <a:p>
            <a:pPr algn="l"/>
            <a:r>
              <a:rPr sz="2000" b="1" i="0">
                <a:solidFill>
                  <a:srgbClr val="8E6F3E"/>
                </a:solidFill>
              </a:rPr>
              <a:t>ALIGNMENT</a:t>
            </a:r>
          </a:p>
        </p:txBody>
      </p:sp>
      <p:sp>
        <p:nvSpPr>
          <p:cNvPr id="18" name="Rectangle 17"/>
          <p:cNvSpPr/>
          <p:nvPr/>
        </p:nvSpPr>
        <p:spPr>
          <a:xfrm>
            <a:off x="1554480" y="2926080"/>
            <a:ext cx="1627632"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OBLIGATION</a:t>
            </a:r>
          </a:p>
        </p:txBody>
      </p:sp>
      <p:cxnSp>
        <p:nvCxnSpPr>
          <p:cNvPr id="19" name="Connector 18"/>
          <p:cNvCxnSpPr/>
          <p:nvPr/>
        </p:nvCxnSpPr>
        <p:spPr>
          <a:xfrm>
            <a:off x="3191256" y="3227832"/>
            <a:ext cx="219456"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419856" y="2926080"/>
            <a:ext cx="1627632"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EVIDENCE</a:t>
            </a:r>
          </a:p>
        </p:txBody>
      </p:sp>
      <p:cxnSp>
        <p:nvCxnSpPr>
          <p:cNvPr id="21" name="Connector 20"/>
          <p:cNvCxnSpPr/>
          <p:nvPr/>
        </p:nvCxnSpPr>
        <p:spPr>
          <a:xfrm>
            <a:off x="5056632" y="3227832"/>
            <a:ext cx="219456"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285232" y="2926080"/>
            <a:ext cx="1627632" cy="603504"/>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JUDGMENT</a:t>
            </a:r>
          </a:p>
        </p:txBody>
      </p:sp>
      <p:cxnSp>
        <p:nvCxnSpPr>
          <p:cNvPr id="23" name="Connector 22"/>
          <p:cNvCxnSpPr/>
          <p:nvPr/>
        </p:nvCxnSpPr>
        <p:spPr>
          <a:xfrm>
            <a:off x="6922008" y="3227832"/>
            <a:ext cx="219456"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7150608" y="2926080"/>
            <a:ext cx="1627632" cy="603504"/>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CONSEQUENCE</a:t>
            </a:r>
          </a:p>
        </p:txBody>
      </p:sp>
      <p:sp>
        <p:nvSpPr>
          <p:cNvPr id="25" name="TextBox 24"/>
          <p:cNvSpPr txBox="1"/>
          <p:nvPr/>
        </p:nvSpPr>
        <p:spPr>
          <a:xfrm>
            <a:off x="274320" y="4023360"/>
            <a:ext cx="8595360" cy="731520"/>
          </a:xfrm>
          <a:prstGeom prst="rect">
            <a:avLst/>
          </a:prstGeom>
          <a:noFill/>
        </p:spPr>
        <p:txBody>
          <a:bodyPr wrap="square" anchor="t">
            <a:spAutoFit/>
          </a:bodyPr>
          <a:lstStyle/>
          <a:p>
            <a:pPr algn="ctr"/>
            <a:r>
              <a:rPr sz="2000" b="0" i="1">
                <a:solidFill>
                  <a:srgbClr val="555960"/>
                </a:solidFill>
              </a:rPr>
              <a:t>Validation asks whether evidence supports a judgment.</a:t>
            </a:r>
          </a:p>
          <a:p>
            <a:pPr algn="ctr"/>
            <a:r>
              <a:rPr sz="2000" b="0" i="1">
                <a:solidFill>
                  <a:srgbClr val="555960"/>
                </a:solidFill>
              </a:rPr>
              <a:t>Alignment asks what that judgment controls.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8E6F3E"/>
                </a:solidFill>
                <a:effectLst/>
                <a:uLnTx/>
                <a:uFillTx/>
                <a:latin typeface="Calibri" panose="020F0502020204030204"/>
                <a:ea typeface="+mn-ea"/>
                <a:cs typeface="+mn-cs"/>
              </a:rPr>
              <a:t>SECTION 4</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Check it where you can know</a:t>
            </a:r>
          </a:p>
        </p:txBody>
      </p:sp>
      <p:sp>
        <p:nvSpPr>
          <p:cNvPr id="3" name="Slide Number Placeholder 3"/>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EB45DA-9A0D-DC49-8E02-F30A5DDC21C3}"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C4826"/>
                </a:solidFill>
                <a:effectLst/>
                <a:uLnTx/>
                <a:uFillTx/>
                <a:latin typeface="Calibri" panose="020F0502020204030204"/>
                <a:ea typeface="+mn-ea"/>
                <a:cs typeface="+mn-cs"/>
              </a:rPr>
              <a:t>Where can each obligation actually be decided?</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Where can you decide?</a:t>
            </a:r>
          </a:p>
        </p:txBody>
      </p:sp>
      <p:sp>
        <p:nvSpPr>
          <p:cNvPr id="4" name="Slide Number Placeholder 5"/>
          <p:cNvSpPr>
            <a:spLocks noGrp="1"/>
          </p:cNvSpPr>
          <p:nvPr>
            <p:ph type="sldNum" sz="quarter" idx="4"/>
          </p:nvPr>
        </p:nvSpPr>
        <p:spPr/>
        <p:txBody>
          <a:bodyPr/>
          <a:lstStyle/>
          <a:p>
            <a:fld id="{B7EB45DA-9A0D-DC49-8E02-F30A5DDC21C3}" type="slidenum">
              <a:rPr lang="en-US" smtClean="0"/>
              <a:t>19</a:t>
            </a:fld>
            <a:endParaRPr lang="en-US"/>
          </a:p>
        </p:txBody>
      </p:sp>
      <p:sp>
        <p:nvSpPr>
          <p:cNvPr id="5" name="Rectangle 4"/>
          <p:cNvSpPr/>
          <p:nvPr/>
        </p:nvSpPr>
        <p:spPr>
          <a:xfrm>
            <a:off x="292608" y="118872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EDIT</a:t>
            </a:r>
          </a:p>
        </p:txBody>
      </p:sp>
      <p:cxnSp>
        <p:nvCxnSpPr>
          <p:cNvPr id="6" name="Connector 5"/>
          <p:cNvCxnSpPr/>
          <p:nvPr/>
        </p:nvCxnSpPr>
        <p:spPr>
          <a:xfrm>
            <a:off x="1490472" y="147218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737360" y="118872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COMMIT</a:t>
            </a:r>
          </a:p>
        </p:txBody>
      </p:sp>
      <p:cxnSp>
        <p:nvCxnSpPr>
          <p:cNvPr id="8" name="Connector 7"/>
          <p:cNvCxnSpPr/>
          <p:nvPr/>
        </p:nvCxnSpPr>
        <p:spPr>
          <a:xfrm>
            <a:off x="2935224" y="147218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182112" y="118872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PUSH</a:t>
            </a:r>
          </a:p>
        </p:txBody>
      </p:sp>
      <p:cxnSp>
        <p:nvCxnSpPr>
          <p:cNvPr id="10" name="Connector 9"/>
          <p:cNvCxnSpPr/>
          <p:nvPr/>
        </p:nvCxnSpPr>
        <p:spPr>
          <a:xfrm>
            <a:off x="4379976" y="147218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626864" y="118872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MERGE</a:t>
            </a:r>
          </a:p>
        </p:txBody>
      </p:sp>
      <p:cxnSp>
        <p:nvCxnSpPr>
          <p:cNvPr id="12" name="Connector 11"/>
          <p:cNvCxnSpPr/>
          <p:nvPr/>
        </p:nvCxnSpPr>
        <p:spPr>
          <a:xfrm>
            <a:off x="5824728" y="147218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071616" y="118872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DEPLOY</a:t>
            </a:r>
          </a:p>
        </p:txBody>
      </p:sp>
      <p:cxnSp>
        <p:nvCxnSpPr>
          <p:cNvPr id="14" name="Connector 13"/>
          <p:cNvCxnSpPr/>
          <p:nvPr/>
        </p:nvCxnSpPr>
        <p:spPr>
          <a:xfrm>
            <a:off x="7269480" y="147218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516368" y="118872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RUNTIME</a:t>
            </a:r>
          </a:p>
        </p:txBody>
      </p:sp>
      <p:cxnSp>
        <p:nvCxnSpPr>
          <p:cNvPr id="16" name="Connector 15"/>
          <p:cNvCxnSpPr/>
          <p:nvPr/>
        </p:nvCxnSpPr>
        <p:spPr>
          <a:xfrm flipV="1">
            <a:off x="886968" y="1783080"/>
            <a:ext cx="0" cy="100584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168656" y="2834640"/>
            <a:ext cx="1436624" cy="86868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2860" bIns="22860"/>
          <a:lstStyle/>
          <a:p>
            <a:pPr algn="ctr"/>
            <a:r>
              <a:rPr sz="2000" b="0" i="0">
                <a:solidFill>
                  <a:srgbClr val="5C4826"/>
                </a:solidFill>
              </a:rPr>
              <a:t>type</a:t>
            </a:r>
          </a:p>
          <a:p>
            <a:pPr algn="ctr"/>
            <a:r>
              <a:rPr sz="2000" b="0" i="0">
                <a:solidFill>
                  <a:srgbClr val="5C4826"/>
                </a:solidFill>
              </a:rPr>
              <a:t>property</a:t>
            </a:r>
          </a:p>
        </p:txBody>
      </p:sp>
      <p:cxnSp>
        <p:nvCxnSpPr>
          <p:cNvPr id="18" name="Connector 17"/>
          <p:cNvCxnSpPr/>
          <p:nvPr/>
        </p:nvCxnSpPr>
        <p:spPr>
          <a:xfrm flipV="1">
            <a:off x="2331720" y="1783080"/>
            <a:ext cx="0" cy="100584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1613408" y="2834640"/>
            <a:ext cx="1436624" cy="86868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2860" bIns="22860"/>
          <a:lstStyle/>
          <a:p>
            <a:pPr algn="ctr"/>
            <a:r>
              <a:rPr sz="2000" b="0" i="0">
                <a:solidFill>
                  <a:srgbClr val="5C4826"/>
                </a:solidFill>
              </a:rPr>
              <a:t>forbidden</a:t>
            </a:r>
          </a:p>
          <a:p>
            <a:pPr algn="ctr"/>
            <a:r>
              <a:rPr sz="2000" b="0" i="0">
                <a:solidFill>
                  <a:srgbClr val="5C4826"/>
                </a:solidFill>
              </a:rPr>
              <a:t>dependency</a:t>
            </a:r>
          </a:p>
        </p:txBody>
      </p:sp>
      <p:cxnSp>
        <p:nvCxnSpPr>
          <p:cNvPr id="20" name="Connector 19"/>
          <p:cNvCxnSpPr/>
          <p:nvPr/>
        </p:nvCxnSpPr>
        <p:spPr>
          <a:xfrm flipV="1">
            <a:off x="5221224" y="1783080"/>
            <a:ext cx="0" cy="100584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4502912" y="2834640"/>
            <a:ext cx="1436624" cy="86868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2860" bIns="22860"/>
          <a:lstStyle/>
          <a:p>
            <a:pPr algn="ctr"/>
            <a:r>
              <a:rPr sz="2000" b="0" i="0">
                <a:solidFill>
                  <a:srgbClr val="5C4826"/>
                </a:solidFill>
              </a:rPr>
              <a:t>integration</a:t>
            </a:r>
          </a:p>
          <a:p>
            <a:pPr algn="ctr"/>
            <a:r>
              <a:rPr sz="2000" b="0" i="0">
                <a:solidFill>
                  <a:srgbClr val="5C4826"/>
                </a:solidFill>
              </a:rPr>
              <a:t>behavior</a:t>
            </a:r>
          </a:p>
        </p:txBody>
      </p:sp>
      <p:cxnSp>
        <p:nvCxnSpPr>
          <p:cNvPr id="22" name="Connector 21"/>
          <p:cNvCxnSpPr/>
          <p:nvPr/>
        </p:nvCxnSpPr>
        <p:spPr>
          <a:xfrm flipV="1">
            <a:off x="6665976" y="1783080"/>
            <a:ext cx="0" cy="100584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947664" y="2834640"/>
            <a:ext cx="1436624" cy="86868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2860" bIns="22860"/>
          <a:lstStyle/>
          <a:p>
            <a:pPr algn="ctr"/>
            <a:r>
              <a:rPr sz="2000" b="0" i="0">
                <a:solidFill>
                  <a:srgbClr val="5C4826"/>
                </a:solidFill>
              </a:rPr>
              <a:t>latency</a:t>
            </a:r>
          </a:p>
          <a:p>
            <a:pPr algn="ctr"/>
            <a:r>
              <a:rPr sz="2000" b="0" i="0">
                <a:solidFill>
                  <a:srgbClr val="5C4826"/>
                </a:solidFill>
              </a:rPr>
              <a:t>under load</a:t>
            </a:r>
          </a:p>
        </p:txBody>
      </p:sp>
      <p:cxnSp>
        <p:nvCxnSpPr>
          <p:cNvPr id="24" name="Connector 23"/>
          <p:cNvCxnSpPr/>
          <p:nvPr/>
        </p:nvCxnSpPr>
        <p:spPr>
          <a:xfrm flipV="1">
            <a:off x="8110728" y="1783080"/>
            <a:ext cx="0" cy="100584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392416" y="2834640"/>
            <a:ext cx="1436624" cy="86868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2860" bIns="22860"/>
          <a:lstStyle/>
          <a:p>
            <a:pPr algn="ctr"/>
            <a:r>
              <a:rPr sz="2000" b="0" i="0">
                <a:solidFill>
                  <a:srgbClr val="5C4826"/>
                </a:solidFill>
              </a:rPr>
              <a:t>deployed</a:t>
            </a:r>
          </a:p>
          <a:p>
            <a:pPr algn="ctr"/>
            <a:r>
              <a:rPr sz="2000" b="0" i="0">
                <a:solidFill>
                  <a:srgbClr val="5C4826"/>
                </a:solidFill>
              </a:rPr>
              <a:t>configuration</a:t>
            </a:r>
          </a:p>
        </p:txBody>
      </p:sp>
      <p:sp>
        <p:nvSpPr>
          <p:cNvPr id="27"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rPr>
              <a:t>Check at the earliest boundary where the obligation can be decided.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Earlier is not always possible</a:t>
            </a:r>
          </a:p>
        </p:txBody>
      </p:sp>
      <p:sp>
        <p:nvSpPr>
          <p:cNvPr id="4" name="Slide Number Placeholder 5"/>
          <p:cNvSpPr>
            <a:spLocks noGrp="1"/>
          </p:cNvSpPr>
          <p:nvPr>
            <p:ph type="sldNum" sz="quarter" idx="4"/>
          </p:nvPr>
        </p:nvSpPr>
        <p:spPr/>
        <p:txBody>
          <a:bodyPr/>
          <a:lstStyle/>
          <a:p>
            <a:fld id="{B7EB45DA-9A0D-DC49-8E02-F30A5DDC21C3}" type="slidenum">
              <a:rPr lang="en-US" smtClean="0"/>
              <a:t>20</a:t>
            </a:fld>
            <a:endParaRPr lang="en-US"/>
          </a:p>
        </p:txBody>
      </p:sp>
      <p:sp>
        <p:nvSpPr>
          <p:cNvPr id="10" name="SemanticGapTakeaway"/>
          <p:cNvSpPr txBox="1"/>
          <p:nvPr/>
        </p:nvSpPr>
        <p:spPr>
          <a:xfrm>
            <a:off x="274320" y="5029200"/>
            <a:ext cx="8595360" cy="640080"/>
          </a:xfrm>
          <a:prstGeom prst="rect">
            <a:avLst/>
          </a:prstGeom>
          <a:noFill/>
        </p:spPr>
        <p:txBody>
          <a:bodyPr wrap="square" anchor="t" lIns="27432" rIns="27432" tIns="22860" bIns="22860">
            <a:spAutoFit/>
          </a:bodyPr>
          <a:lstStyle/>
          <a:p>
            <a:pPr algn="ctr"/>
            <a:r>
              <a:rPr sz="2000" b="0" i="0">
                <a:solidFill>
                  <a:srgbClr val="5C4826"/>
                </a:solidFill>
              </a:rPr>
              <a:t>The obligation is right. The earlier boundary cannot decide it yet.</a:t>
            </a:r>
          </a:p>
        </p:txBody>
      </p:sp>
      <p:sp>
        <p:nvSpPr>
          <p:cNvPr id="19" name="SG-Unit"/>
          <p:cNvSpPr/>
          <p:nvPr/>
        </p:nvSpPr>
        <p:spPr>
          <a:xfrm>
            <a:off x="2103120" y="1783080"/>
            <a:ext cx="4937760" cy="9000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COMPLETED UNIT OF WORK</a:t>
            </a:r>
          </a:p>
          <a:p>
            <a:pPr algn="ctr"/>
            <a:r>
              <a:rPr sz="2000" b="0" i="1">
                <a:solidFill>
                  <a:srgbClr val="FBF8F2"/>
                </a:solidFill>
              </a:rPr>
              <a:t>✓  obligation decidable here</a:t>
            </a:r>
          </a:p>
        </p:txBody>
      </p:sp>
      <p:cxnSp>
        <p:nvCxnSpPr>
          <p:cNvPr id="20" name="SG-Lift"/>
          <p:cNvCxnSpPr/>
          <p:nvPr/>
        </p:nvCxnSpPr>
        <p:spPr>
          <a:xfrm flipV="1">
            <a:off x="4572000" y="2788920"/>
            <a:ext cx="0" cy="86868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SG-Caption"/>
          <p:cNvSpPr txBox="1"/>
          <p:nvPr/>
        </p:nvSpPr>
        <p:spPr>
          <a:xfrm>
            <a:off x="274320" y="3657600"/>
            <a:ext cx="8595360" cy="457200"/>
          </a:xfrm>
          <a:prstGeom prst="rect">
            <a:avLst/>
          </a:prstGeom>
          <a:noFill/>
        </p:spPr>
        <p:txBody>
          <a:bodyPr wrap="square" anchor="t" lIns="27432" rIns="27432" tIns="22860" bIns="22860">
            <a:spAutoFit/>
          </a:bodyPr>
          <a:lstStyle/>
          <a:p>
            <a:pPr algn="ctr"/>
            <a:r>
              <a:rPr sz="2000" b="0" i="1">
                <a:solidFill>
                  <a:srgbClr val="8E6F3E"/>
                </a:solidFill>
              </a:rPr>
              <a:t>✗  not decidable at any individual commit</a:t>
            </a:r>
          </a:p>
        </p:txBody>
      </p:sp>
      <p:sp>
        <p:nvSpPr>
          <p:cNvPr id="22" name="SG-Commit1"/>
          <p:cNvSpPr/>
          <p:nvPr/>
        </p:nvSpPr>
        <p:spPr>
          <a:xfrm>
            <a:off x="1828800" y="420624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0" i="0">
                <a:solidFill>
                  <a:srgbClr val="5C4826"/>
                </a:solidFill>
              </a:rPr>
              <a:t>commit</a:t>
            </a:r>
          </a:p>
        </p:txBody>
      </p:sp>
      <p:sp>
        <p:nvSpPr>
          <p:cNvPr id="23" name="SG-Commit2"/>
          <p:cNvSpPr/>
          <p:nvPr/>
        </p:nvSpPr>
        <p:spPr>
          <a:xfrm>
            <a:off x="3264408" y="420624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0" i="0">
                <a:solidFill>
                  <a:srgbClr val="5C4826"/>
                </a:solidFill>
              </a:rPr>
              <a:t>commit</a:t>
            </a:r>
          </a:p>
        </p:txBody>
      </p:sp>
      <p:sp>
        <p:nvSpPr>
          <p:cNvPr id="24" name="SG-Commit3"/>
          <p:cNvSpPr/>
          <p:nvPr/>
        </p:nvSpPr>
        <p:spPr>
          <a:xfrm>
            <a:off x="4700016" y="420624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0" i="0">
                <a:solidFill>
                  <a:srgbClr val="5C4826"/>
                </a:solidFill>
              </a:rPr>
              <a:t>commit</a:t>
            </a:r>
          </a:p>
        </p:txBody>
      </p:sp>
      <p:sp>
        <p:nvSpPr>
          <p:cNvPr id="25" name="SG-Commit4"/>
          <p:cNvSpPr/>
          <p:nvPr/>
        </p:nvSpPr>
        <p:spPr>
          <a:xfrm>
            <a:off x="6135624" y="4206240"/>
            <a:ext cx="1188720" cy="56692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0" i="0">
                <a:solidFill>
                  <a:srgbClr val="5C4826"/>
                </a:solidFill>
              </a:rPr>
              <a:t>commit</a:t>
            </a:r>
          </a:p>
        </p:txBody>
      </p:sp>
      <p:cxnSp>
        <p:nvCxnSpPr>
          <p:cNvPr id="26" name="SG-Arrow1"/>
          <p:cNvCxnSpPr/>
          <p:nvPr/>
        </p:nvCxnSpPr>
        <p:spPr>
          <a:xfrm>
            <a:off x="3026664" y="448970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7" name="SG-Arrow2"/>
          <p:cNvCxnSpPr/>
          <p:nvPr/>
        </p:nvCxnSpPr>
        <p:spPr>
          <a:xfrm>
            <a:off x="4462272" y="448970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8" name="SG-Arrow3"/>
          <p:cNvCxnSpPr/>
          <p:nvPr/>
        </p:nvCxnSpPr>
        <p:spPr>
          <a:xfrm>
            <a:off x="5897880" y="4489704"/>
            <a:ext cx="237744" cy="0"/>
          </a:xfrm>
          <a:prstGeom prst="line">
            <a:avLst/>
          </a:prstGeom>
          <a:ln w="28575">
            <a:solidFill>
              <a:srgbClr val="8E6F3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1" name="Rectangle 4"/>
          <p:cNvSpPr/>
          <p:nvPr/>
        </p:nvSpPr>
        <p:spPr>
          <a:xfrm>
            <a:off x="274320" y="896112"/>
            <a:ext cx="8595360" cy="73152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27432" tIns="73152" bIns="22860"/>
          <a:lstStyle/>
          <a:p>
            <a:pPr algn="l"/>
            <a:r>
              <a:rPr sz="2000" b="1" i="0">
                <a:solidFill>
                  <a:srgbClr val="8E6F3E"/>
                </a:solidFill>
              </a:rPr>
              <a:t xml:space="preserve">OBLIGATION  </a:t>
            </a:r>
            <a:r>
              <a:rPr sz="2000" b="0" i="0">
                <a:solidFill>
                  <a:srgbClr val="5C4826"/>
                </a:solidFill>
              </a:rPr>
              <a:t>Code and architectural model must agree when the task completes.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685800" y="2139696"/>
            <a:ext cx="7772400" cy="1444752"/>
          </a:xfrm>
        </p:spPr>
        <p:txBody>
          <a:bodyPr wrap="square"/>
          <a:lstStyle/>
          <a:p>
            <a:pPr algn="ctr"/>
            <a:r>
              <a:rPr sz="3400">
                <a:solidFill>
                  <a:srgbClr val="000000"/>
                </a:solidFill>
              </a:rPr>
              <a:t>Stretch break</a:t>
            </a:r>
          </a:p>
        </p:txBody>
      </p:sp>
      <p:sp>
        <p:nvSpPr>
          <p:cNvPr id="3" name="Slide Number Placeholder 5"/>
          <p:cNvSpPr>
            <a:spLocks noGrp="1"/>
          </p:cNvSpPr>
          <p:nvPr>
            <p:ph type="sldNum" sz="quarter" idx="4"/>
          </p:nvPr>
        </p:nvSpPr>
        <p:spPr/>
        <p:txBody>
          <a:bodyPr/>
          <a:lstStyle/>
          <a:p>
            <a:fld id="{B7EB45DA-9A0D-DC49-8E02-F30A5DDC21C3}" type="slidenum">
              <a:rPr lang="en-US" smtClean="0"/>
              <a:t>21</a:t>
            </a:fld>
            <a:endParaRPr lang="en-US"/>
          </a:p>
        </p:txBody>
      </p:sp>
      <p:sp>
        <p:nvSpPr>
          <p:cNvPr id="4" name="Rectangle 3"/>
          <p:cNvSpPr/>
          <p:nvPr/>
        </p:nvSpPr>
        <p:spPr>
          <a:xfrm>
            <a:off x="3429000" y="3383280"/>
            <a:ext cx="2286000" cy="54864"/>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ectionLabel"/>
          <p:cNvSpPr txBox="1"/>
          <p:nvPr/>
        </p:nvSpPr>
        <p:spPr>
          <a:xfrm>
            <a:off x="685800" y="1243584"/>
            <a:ext cx="7772400" cy="365760"/>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8E6F3E"/>
                </a:solidFill>
                <a:effectLst/>
                <a:uLnTx/>
                <a:uFillTx/>
                <a:latin typeface="Calibri" panose="020F0502020204030204"/>
                <a:ea typeface="+mn-ea"/>
                <a:cs typeface="+mn-cs"/>
              </a:rPr>
              <a:t>SECTION 5</a:t>
            </a:r>
          </a:p>
        </p:txBody>
      </p:sp>
      <p:sp>
        <p:nvSpPr>
          <p:cNvPr id="2" name="Title 1"/>
          <p:cNvSpPr>
            <a:spLocks noGrp="1"/>
          </p:cNvSpPr>
          <p:nvPr>
            <p:ph type="title"/>
          </p:nvPr>
        </p:nvSpPr>
        <p:spPr>
          <a:xfrm>
            <a:off x="685800" y="1700784"/>
            <a:ext cx="7772400" cy="1005840"/>
          </a:xfrm>
        </p:spPr>
        <p:txBody>
          <a:bodyPr>
            <a:normAutofit/>
          </a:bodyPr>
          <a:lstStyle/>
          <a:p>
            <a:pPr algn="ctr">
              <a:buNone/>
              <a:defRPr b="0"/>
            </a:pPr>
            <a:r>
              <a:rPr lang="en-US" sz="4000" b="0" i="0" dirty="0">
                <a:solidFill>
                  <a:srgbClr val="000000"/>
                </a:solidFill>
              </a:rPr>
              <a:t>Models as validation surfaces</a:t>
            </a:r>
          </a:p>
        </p:txBody>
      </p:sp>
      <p:sp>
        <p:nvSpPr>
          <p:cNvPr id="3" name="Slide Number Placeholder 3"/>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7EB45DA-9A0D-DC49-8E02-F30A5DDC21C3}" type="slidenum">
              <a:rPr kumimoji="0" lang="en-US" sz="1200" b="0" i="0" u="none" strike="noStrike" kern="1200" cap="none" spc="0" normalizeH="0" baseline="0" noProof="0" smtClean="0">
                <a:ln>
                  <a:noFill/>
                </a:ln>
                <a:solidFill>
                  <a:srgbClr val="000000">
                    <a:tint val="75000"/>
                  </a:srgb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srgbClr val="000000">
                  <a:tint val="75000"/>
                </a:srgbClr>
              </a:solidFill>
              <a:effectLst/>
              <a:uLnTx/>
              <a:uFillTx/>
              <a:latin typeface="Calibri" panose="020F0502020204030204"/>
              <a:ea typeface="+mn-ea"/>
              <a:cs typeface="+mn-cs"/>
            </a:endParaRPr>
          </a:p>
        </p:txBody>
      </p:sp>
      <p:sp>
        <p:nvSpPr>
          <p:cNvPr id="101" name="Question"/>
          <p:cNvSpPr txBox="1"/>
          <p:nvPr/>
        </p:nvSpPr>
        <p:spPr>
          <a:xfrm>
            <a:off x="685800" y="2798064"/>
            <a:ext cx="7772400" cy="475488"/>
          </a:xfrm>
          <a:prstGeom prst="rect">
            <a:avLst/>
          </a:prstGeom>
          <a:noFill/>
          <a:ln>
            <a:noFill/>
          </a:ln>
        </p:spPr>
        <p:txBody>
          <a:bodyPr wrap="square" lIns="0" tIns="0" rIns="0" bIns="0"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C4826"/>
                </a:solidFill>
                <a:effectLst/>
                <a:uLnTx/>
                <a:uFillTx/>
                <a:latin typeface="Calibri" panose="020F0502020204030204"/>
                <a:ea typeface="+mn-ea"/>
                <a:cs typeface="+mn-cs"/>
              </a:rPr>
              <a:t>How can explicit models help us establish obligations?</a:t>
            </a:r>
          </a:p>
        </p:txBody>
      </p:sp>
      <p:sp>
        <p:nvSpPr>
          <p:cNvPr id="103" name="Rule"/>
          <p:cNvSpPr/>
          <p:nvPr/>
        </p:nvSpPr>
        <p:spPr>
          <a:xfrm>
            <a:off x="3429000" y="3584448"/>
            <a:ext cx="2286000" cy="51206"/>
          </a:xfrm>
          <a:prstGeom prst="rect">
            <a:avLst/>
          </a:prstGeom>
          <a:solidFill>
            <a:srgbClr val="8E6F3E"/>
          </a:solidFill>
          <a:ln>
            <a:noFill/>
          </a:ln>
        </p:spPr>
        <p:txBody>
          <a:bodyPr wrap="square" lIns="27432" tIns="22860" rIns="27432" bIns="2286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You already have two models</a:t>
            </a:r>
          </a:p>
        </p:txBody>
      </p:sp>
      <p:sp>
        <p:nvSpPr>
          <p:cNvPr id="4" name="Slide Number Placeholder 5"/>
          <p:cNvSpPr>
            <a:spLocks noGrp="1"/>
          </p:cNvSpPr>
          <p:nvPr>
            <p:ph type="sldNum" sz="quarter" idx="4"/>
          </p:nvPr>
        </p:nvSpPr>
        <p:spPr/>
        <p:txBody>
          <a:bodyPr/>
          <a:lstStyle/>
          <a:p>
            <a:fld id="{B7EB45DA-9A0D-DC49-8E02-F30A5DDC21C3}" type="slidenum">
              <a:rPr lang="en-US" smtClean="0"/>
              <a:t>23</a:t>
            </a:fld>
            <a:endParaRPr lang="en-US"/>
          </a:p>
        </p:txBody>
      </p:sp>
      <p:sp>
        <p:nvSpPr>
          <p:cNvPr id="0" name="LabKicker"/>
          <p:cNvSpPr/>
          <p:nvPr/>
        </p:nvSpPr>
        <p:spPr>
          <a:xfrm>
            <a:off x="5349240" y="205000"/>
            <a:ext cx="3520440" cy="470000"/>
          </a:xfrm>
          <a:prstGeom prst="roundRect">
            <a:avLst/>
          </a:prstGeom>
          <a:solidFill>
            <a:srgbClr val="FBF8F2"/>
          </a:solidFill>
          <a:ln w="15875">
            <a:solidFill>
              <a:srgbClr val="8E6F3E"/>
            </a:solidFill>
          </a:ln>
          <a:effectLst/>
        </p:spPr>
        <p:txBody>
          <a:bodyPr rtlCol="0" anchor="ctr" wrap="square" lIns="27432" rIns="27432" tIns="22860" bIns="22860"/>
          <a:lstStyle/>
          <a:p>
            <a:pPr algn="ctr">
              <a:buNone/>
            </a:pPr>
            <a:r>
              <a:rPr lang="en-US" sz="2000" b="1" i="0" dirty="0">
                <a:solidFill>
                  <a:srgbClr val="8E6F3E"/>
                </a:solidFill>
              </a:rPr>
              <a:t>FROM THE MODELING LAB</a:t>
            </a:r>
          </a:p>
        </p:txBody>
      </p:sp>
      <p:sp>
        <p:nvSpPr>
          <p:cNvPr id="0" name="Card-memory"/>
          <p:cNvSpPr/>
          <p:nvPr/>
        </p:nvSpPr>
        <p:spPr>
          <a:xfrm>
            <a:off x="502920" y="1051560"/>
            <a:ext cx="3977639" cy="342900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DEVICE FIRMWARE</a:t>
            </a:r>
          </a:p>
          <a:p>
            <a:pPr algn="ctr">
              <a:spcBef>
                <a:spcPts val="900"/>
              </a:spcBef>
              <a:buNone/>
            </a:pPr>
            <a:r>
              <a:rPr lang="en-US" sz="2000" b="0" i="1" dirty="0">
                <a:solidFill>
                  <a:srgbClr val="555960"/>
                </a:solidFill>
              </a:rPr>
              <a:t>working memory view</a:t>
            </a:r>
          </a:p>
          <a:p>
            <a:pPr algn="l">
              <a:spcBef>
                <a:spcPts val="900"/>
              </a:spcBef>
              <a:buNone/>
            </a:pPr>
            <a:r>
              <a:rPr lang="en-US" sz="2000" b="0" i="0" dirty="0">
                <a:solidFill>
                  <a:srgbClr val="5C4826"/>
                </a:solidFill>
              </a:rPr>
              <a:t>Sense · Analyze · Transmit</a:t>
            </a:r>
          </a:p>
          <a:p>
            <a:pPr algn="l">
              <a:spcBef>
                <a:spcPts val="900"/>
              </a:spcBef>
              <a:buNone/>
            </a:pPr>
            <a:r>
              <a:rPr lang="en-US" sz="2000" b="0" i="0" dirty="0">
                <a:solidFill>
                  <a:srgbClr val="5C4826"/>
                </a:solidFill>
              </a:rPr>
              <a:t>max working memory 24 / 32 / 24 KB</a:t>
            </a:r>
          </a:p>
          <a:p>
            <a:pPr algn="l">
              <a:spcBef>
                <a:spcPts val="900"/>
              </a:spcBef>
              <a:buNone/>
            </a:pPr>
            <a:r>
              <a:rPr lang="en-US" sz="2000" b="0" i="0" dirty="0">
                <a:solidFill>
                  <a:srgbClr val="5C4826"/>
                </a:solidFill>
              </a:rPr>
              <a:t>device ceiling 48 KB</a:t>
            </a:r>
          </a:p>
          <a:p>
            <a:pPr algn="l">
              <a:spcBef>
                <a:spcPts val="900"/>
              </a:spcBef>
              <a:buNone/>
            </a:pPr>
            <a:r>
              <a:rPr lang="en-US" sz="2000" b="0" i="1" dirty="0">
                <a:solidFill>
                  <a:srgbClr val="555960"/>
                </a:solidFill>
              </a:rPr>
              <a:t>omits: who decides that a thread may run</a:t>
            </a:r>
          </a:p>
        </p:txBody>
      </p:sp>
      <p:sp>
        <p:nvSpPr>
          <p:cNvPr id="0" name="Card-control"/>
          <p:cNvSpPr/>
          <p:nvPr/>
        </p:nvSpPr>
        <p:spPr>
          <a:xfrm>
            <a:off x="4663440" y="1051560"/>
            <a:ext cx="3977639" cy="342900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THREAD ADMISSION CONTROL</a:t>
            </a:r>
          </a:p>
          <a:p>
            <a:pPr algn="ctr">
              <a:spcBef>
                <a:spcPts val="900"/>
              </a:spcBef>
              <a:buNone/>
            </a:pPr>
            <a:r>
              <a:rPr lang="en-US" sz="2000" b="0" i="1" dirty="0">
                <a:solidFill>
                  <a:srgbClr val="555960"/>
                </a:solidFill>
              </a:rPr>
              <a:t>lifecycle view</a:t>
            </a:r>
          </a:p>
          <a:p>
            <a:pPr algn="l">
              <a:spcBef>
                <a:spcPts val="900"/>
              </a:spcBef>
              <a:buNone/>
            </a:pPr>
            <a:r>
              <a:rPr lang="en-US" sz="2000" b="0" i="0" dirty="0">
                <a:solidFill>
                  <a:srgbClr val="5C4826"/>
                </a:solidFill>
              </a:rPr>
              <a:t>each thread: Asleep ⇄ Awake</a:t>
            </a:r>
          </a:p>
          <a:p>
            <a:pPr algn="l">
              <a:spcBef>
                <a:spcPts val="900"/>
              </a:spcBef>
              <a:buNone/>
            </a:pPr>
            <a:r>
              <a:rPr lang="en-US" sz="2000" b="0" i="0" dirty="0">
                <a:solidFill>
                  <a:srgbClr val="5C4826"/>
                </a:solidFill>
              </a:rPr>
              <a:t>asleep holds no working memory; awake holds up to its maximum</a:t>
            </a:r>
          </a:p>
          <a:p>
            <a:pPr algn="l">
              <a:spcBef>
                <a:spcPts val="900"/>
              </a:spcBef>
              <a:buNone/>
            </a:pPr>
            <a:r>
              <a:rPr lang="en-US" sz="2000" b="0" i="0" dirty="0">
                <a:solidFill>
                  <a:srgbClr val="5C4826"/>
                </a:solidFill>
              </a:rPr>
              <a:t>the Scheduler admits at most two threads awake</a:t>
            </a:r>
          </a:p>
          <a:p>
            <a:pPr algn="l">
              <a:spcBef>
                <a:spcPts val="900"/>
              </a:spcBef>
              <a:buNone/>
            </a:pPr>
            <a:r>
              <a:rPr lang="en-US" sz="2000" b="0" i="1" dirty="0">
                <a:solidFill>
                  <a:srgbClr val="555960"/>
                </a:solidFill>
              </a:rPr>
              <a:t>omits: what any thread costs in working memory</a:t>
            </a:r>
          </a:p>
        </p:txBody>
      </p:sp>
      <p:sp>
        <p:nvSpPr>
          <p:cNvPr id="0" name="FooterBand"/>
          <p:cNvSpPr/>
          <p:nvPr/>
        </p:nvSpPr>
        <p:spPr>
          <a:xfrm>
            <a:off x="274320" y="5760720"/>
            <a:ext cx="8595360" cy="77724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DISCUSSION  ·  What do these models buy us in validation?</a:t>
            </a:r>
          </a:p>
        </p:txBody>
      </p:sp>
      <p:sp>
        <p:nvSpPr>
          <p:cNvPr id="101" name="TextBox 13"/>
          <p:cNvSpPr txBox="1"/>
          <p:nvPr/>
        </p:nvSpPr>
        <p:spPr>
          <a:xfrm>
            <a:off x="274320" y="4526280"/>
            <a:ext cx="8595360" cy="320040"/>
          </a:xfrm>
          <a:prstGeom prst="rect">
            <a:avLst/>
          </a:prstGeom>
          <a:noFill/>
        </p:spPr>
        <p:txBody>
          <a:bodyPr wrap="square" anchor="t">
            <a:spAutoFit/>
          </a:bodyPr>
          <a:lstStyle/>
          <a:p>
            <a:pPr algn="ctr"/>
            <a:r>
              <a:rPr sz="2000" b="1">
                <a:solidFill>
                  <a:srgbClr val="8E6F3E"/>
                </a:solidFill>
              </a:rPr>
              <a:t>VALIDATION SURFACE</a:t>
            </a:r>
          </a:p>
        </p:txBody>
      </p:sp>
      <p:sp>
        <p:nvSpPr>
          <p:cNvPr id="102" name="TextBox 13"/>
          <p:cNvSpPr txBox="1"/>
          <p:nvPr/>
        </p:nvSpPr>
        <p:spPr>
          <a:xfrm>
            <a:off x="274320" y="4864608"/>
            <a:ext cx="8595360" cy="777240"/>
          </a:xfrm>
          <a:prstGeom prst="rect">
            <a:avLst/>
          </a:prstGeom>
          <a:noFill/>
        </p:spPr>
        <p:txBody>
          <a:bodyPr wrap="square" anchor="t">
            <a:spAutoFit/>
          </a:bodyPr>
          <a:lstStyle/>
          <a:p>
            <a:pPr algn="ctr"/>
            <a:r>
              <a:rPr sz="2000" b="0">
                <a:solidFill>
                  <a:srgbClr val="5C4826"/>
                </a:solidFill>
              </a:rPr>
              <a:t>preserve consequential distinctions   ·   expose relationships</a:t>
            </a:r>
          </a:p>
          <a:p>
            <a:pPr algn="ctr"/>
            <a:r>
              <a:rPr sz="2000" b="0">
                <a:solidFill>
                  <a:srgbClr val="5C4826"/>
                </a:solidFill>
              </a:rPr>
              <a:t>leave irrelevant choices open   ·   enable evaluation without reconstruction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Models support static validation</a:t>
            </a:r>
          </a:p>
        </p:txBody>
      </p:sp>
      <p:sp>
        <p:nvSpPr>
          <p:cNvPr id="4" name="Slide Number Placeholder 5"/>
          <p:cNvSpPr>
            <a:spLocks noGrp="1"/>
          </p:cNvSpPr>
          <p:nvPr>
            <p:ph type="sldNum" sz="quarter" idx="4"/>
          </p:nvPr>
        </p:nvSpPr>
        <p:spPr/>
        <p:txBody>
          <a:bodyPr/>
          <a:lstStyle/>
          <a:p>
            <a:fld id="{B7EB45DA-9A0D-DC49-8E02-F30A5DDC21C3}" type="slidenum">
              <a:rPr lang="en-US" smtClean="0"/>
              <a:t>24</a:t>
            </a:fld>
            <a:endParaRPr lang="en-US"/>
          </a:p>
        </p:txBody>
      </p:sp>
      <p:sp>
        <p:nvSpPr>
          <p:cNvPr id="0" name="St-MODEL"/>
          <p:cNvSpPr/>
          <p:nvPr/>
        </p:nvSpPr>
        <p:spPr>
          <a:xfrm>
            <a:off x="502920" y="1005840"/>
            <a:ext cx="18288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MODEL</a:t>
            </a:r>
          </a:p>
        </p:txBody>
      </p:sp>
      <p:sp>
        <p:nvSpPr>
          <p:cNvPr id="0" name="St-ANALYSIS"/>
          <p:cNvSpPr/>
          <p:nvPr/>
        </p:nvSpPr>
        <p:spPr>
          <a:xfrm>
            <a:off x="3291840" y="1005840"/>
            <a:ext cx="2560320" cy="6400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1" i="0" dirty="0">
                <a:solidFill>
                  <a:srgbClr val="5C4826"/>
                </a:solidFill>
              </a:rPr>
              <a:t>STATIC ANALYSIS</a:t>
            </a:r>
          </a:p>
        </p:txBody>
      </p:sp>
      <p:sp>
        <p:nvSpPr>
          <p:cNvPr id="0" name="St-VERDICT"/>
          <p:cNvSpPr/>
          <p:nvPr/>
        </p:nvSpPr>
        <p:spPr>
          <a:xfrm>
            <a:off x="6812280" y="1005840"/>
            <a:ext cx="18288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VERDICT</a:t>
            </a:r>
          </a:p>
        </p:txBody>
      </p:sp>
      <p:cxnSp>
        <p:nvCxnSpPr>
          <p:cNvPr id="0" name="St-A1"/>
          <p:cNvCxnSpPr/>
          <p:nvPr/>
        </p:nvCxnSpPr>
        <p:spPr>
          <a:xfrm>
            <a:off x="2331720" y="1325880"/>
            <a:ext cx="960120" cy="0"/>
          </a:xfrm>
          <a:prstGeom prst="straightConnector1">
            <a:avLst/>
          </a:prstGeom>
          <a:ln w="19050">
            <a:solidFill>
              <a:srgbClr val="8E6F3E"/>
            </a:solidFill>
            <a:tailEnd type="triangle"/>
          </a:ln>
        </p:spPr>
      </p:cxnSp>
      <p:cxnSp>
        <p:nvCxnSpPr>
          <p:cNvPr id="0" name="St-A2"/>
          <p:cNvCxnSpPr/>
          <p:nvPr/>
        </p:nvCxnSpPr>
        <p:spPr>
          <a:xfrm>
            <a:off x="5852160" y="1325880"/>
            <a:ext cx="960120" cy="0"/>
          </a:xfrm>
          <a:prstGeom prst="straightConnector1">
            <a:avLst/>
          </a:prstGeom>
          <a:ln w="19050">
            <a:solidFill>
              <a:srgbClr val="8E6F3E"/>
            </a:solidFill>
            <a:tailEnd type="triangle"/>
          </a:ln>
        </p:spPr>
      </p:cxnSp>
      <p:sp>
        <p:nvSpPr>
          <p:cNvPr id="0" name="St-Questions"/>
          <p:cNvSpPr/>
          <p:nvPr/>
        </p:nvSpPr>
        <p:spPr>
          <a:xfrm>
            <a:off x="502920" y="2103120"/>
            <a:ext cx="8138160" cy="2377440"/>
          </a:xfrm>
          <a:prstGeom prst="rect">
            <a:avLst/>
          </a:prstGeom>
          <a:solidFill>
            <a:srgbClr val="F5F1E8"/>
          </a:solidFill>
          <a:ln w="12700">
            <a:solidFill>
              <a:srgbClr val="C9B991"/>
            </a:solidFill>
          </a:ln>
          <a:effectLst/>
        </p:spPr>
        <p:txBody>
          <a:bodyPr rtlCol="0" anchor="t" wrap="square" lIns="27432" rIns="27432" tIns="22860" bIns="22860"/>
          <a:lstStyle/>
          <a:p>
            <a:pPr algn="l">
              <a:buNone/>
            </a:pPr>
            <a:r>
              <a:rPr lang="en-US" sz="2000" b="1" i="0" dirty="0">
                <a:solidFill>
                  <a:srgbClr val="5C4826"/>
                </a:solidFill>
              </a:rPr>
              <a:t>Questions the lab model can already decide:</a:t>
            </a:r>
          </a:p>
          <a:p>
            <a:pPr algn="l">
              <a:spcBef>
                <a:spcPts val="900"/>
              </a:spcBef>
              <a:buNone/>
            </a:pPr>
            <a:r>
              <a:rPr lang="en-US" sz="2000" b="0" i="0" dirty="0">
                <a:solidFill>
                  <a:srgbClr val="5C4826"/>
                </a:solidFill>
              </a:rPr>
              <a:t>Can admitted threads exceed the memory ceiling?</a:t>
            </a:r>
          </a:p>
          <a:p>
            <a:pPr algn="l">
              <a:spcBef>
                <a:spcPts val="900"/>
              </a:spcBef>
              <a:buNone/>
            </a:pPr>
            <a:r>
              <a:rPr lang="en-US" sz="2000" b="0" i="0" dirty="0">
                <a:solidFill>
                  <a:srgbClr val="5C4826"/>
                </a:solidFill>
              </a:rPr>
              <a:t>Can three threads be Awake simultaneously?</a:t>
            </a:r>
          </a:p>
          <a:p>
            <a:pPr algn="l">
              <a:spcBef>
                <a:spcPts val="900"/>
              </a:spcBef>
              <a:buNone/>
            </a:pPr>
            <a:r>
              <a:rPr lang="en-US" sz="2000" b="0" i="0" dirty="0">
                <a:solidFill>
                  <a:srgbClr val="5C4826"/>
                </a:solidFill>
              </a:rPr>
              <a:t>Is an illegal lifecycle transition reachable?</a:t>
            </a:r>
          </a:p>
        </p:txBody>
      </p:sp>
      <p:sp>
        <p:nvSpPr>
          <p:cNvPr id="0" name="FooterBand"/>
          <p:cNvSpPr/>
          <p:nvPr/>
        </p:nvSpPr>
        <p:spPr>
          <a:xfrm>
            <a:off x="274320" y="5760720"/>
            <a:ext cx="8595360" cy="77724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Explicit structure can turn repeated reconstruction into a decidable query.</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Models support dynamic validation</a:t>
            </a:r>
          </a:p>
        </p:txBody>
      </p:sp>
      <p:sp>
        <p:nvSpPr>
          <p:cNvPr id="4" name="Slide Number Placeholder 5"/>
          <p:cNvSpPr>
            <a:spLocks noGrp="1"/>
          </p:cNvSpPr>
          <p:nvPr>
            <p:ph type="sldNum" sz="quarter" idx="4"/>
          </p:nvPr>
        </p:nvSpPr>
        <p:spPr/>
        <p:txBody>
          <a:bodyPr/>
          <a:lstStyle/>
          <a:p>
            <a:fld id="{B7EB45DA-9A0D-DC49-8E02-F30A5DDC21C3}" type="slidenum">
              <a:rPr lang="en-US" smtClean="0"/>
              <a:t>25</a:t>
            </a:fld>
            <a:endParaRPr lang="en-US"/>
          </a:p>
        </p:txBody>
      </p:sp>
      <p:sp>
        <p:nvSpPr>
          <p:cNvPr id="0" name="Dy-MODEL"/>
          <p:cNvSpPr/>
          <p:nvPr/>
        </p:nvSpPr>
        <p:spPr>
          <a:xfrm>
            <a:off x="2697480" y="3831336"/>
            <a:ext cx="2203704" cy="73152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MODEL — expected behavior</a:t>
            </a:r>
          </a:p>
        </p:txBody>
      </p:sp>
      <p:cxnSp>
        <p:nvCxnSpPr>
          <p:cNvPr id="0" name="Dy-AM"/>
          <p:cNvCxnSpPr/>
          <p:nvPr/>
        </p:nvCxnSpPr>
        <p:spPr>
          <a:xfrm flipH="1">
            <a:off x="2240280" y="4197096"/>
            <a:ext cx="402336" cy="0"/>
          </a:xfrm>
          <a:prstGeom prst="straightConnector1">
            <a:avLst/>
          </a:prstGeom>
          <a:ln w="19050">
            <a:solidFill>
              <a:srgbClr val="8E6F3E"/>
            </a:solidFill>
            <a:tailEnd type="triangle"/>
          </a:ln>
        </p:spPr>
      </p:cxnSp>
      <p:sp>
        <p:nvSpPr>
          <p:cNvPr id="0" name="Dy-EXECUTION"/>
          <p:cNvSpPr/>
          <p:nvPr/>
        </p:nvSpPr>
        <p:spPr>
          <a:xfrm>
            <a:off x="685800" y="1051560"/>
            <a:ext cx="1500000" cy="6400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1" i="0" dirty="0">
                <a:solidFill>
                  <a:srgbClr val="5C4826"/>
                </a:solidFill>
              </a:rPr>
              <a:t>EXECUTION</a:t>
            </a:r>
          </a:p>
        </p:txBody>
      </p:sp>
      <p:sp>
        <p:nvSpPr>
          <p:cNvPr id="0" name="Dy-SENSOR"/>
          <p:cNvSpPr/>
          <p:nvPr/>
        </p:nvSpPr>
        <p:spPr>
          <a:xfrm>
            <a:off x="685800" y="1993392"/>
            <a:ext cx="15000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SENSOR</a:t>
            </a:r>
          </a:p>
        </p:txBody>
      </p:sp>
      <p:sp>
        <p:nvSpPr>
          <p:cNvPr id="0" name="Dy-TRACE"/>
          <p:cNvSpPr/>
          <p:nvPr/>
        </p:nvSpPr>
        <p:spPr>
          <a:xfrm>
            <a:off x="685800" y="2935224"/>
            <a:ext cx="1500000" cy="6400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1" i="0" dirty="0">
                <a:solidFill>
                  <a:srgbClr val="5C4826"/>
                </a:solidFill>
              </a:rPr>
              <a:t>TRACE</a:t>
            </a:r>
          </a:p>
        </p:txBody>
      </p:sp>
      <p:sp>
        <p:nvSpPr>
          <p:cNvPr id="0" name="Dy-VALIDATOR"/>
          <p:cNvSpPr/>
          <p:nvPr/>
        </p:nvSpPr>
        <p:spPr>
          <a:xfrm>
            <a:off x="685800" y="3877056"/>
            <a:ext cx="1500000" cy="64008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VALIDATOR</a:t>
            </a:r>
          </a:p>
        </p:txBody>
      </p:sp>
      <p:sp>
        <p:nvSpPr>
          <p:cNvPr id="0" name="Dy-VERDICT"/>
          <p:cNvSpPr/>
          <p:nvPr/>
        </p:nvSpPr>
        <p:spPr>
          <a:xfrm>
            <a:off x="685800" y="4818888"/>
            <a:ext cx="1500000" cy="640080"/>
          </a:xfrm>
          <a:prstGeom prst="rect">
            <a:avLst/>
          </a:prstGeom>
          <a:solidFill>
            <a:srgbClr val="F5F1E8"/>
          </a:solidFill>
          <a:ln w="12700">
            <a:solidFill>
              <a:srgbClr val="C9B991"/>
            </a:solidFill>
          </a:ln>
          <a:effectLst/>
        </p:spPr>
        <p:txBody>
          <a:bodyPr rtlCol="0" anchor="ctr" wrap="square" lIns="27432" rIns="27432" tIns="22860" bIns="22860"/>
          <a:lstStyle/>
          <a:p>
            <a:pPr algn="ctr">
              <a:buNone/>
            </a:pPr>
            <a:r>
              <a:rPr lang="en-US" sz="2000" b="1" i="0" dirty="0">
                <a:solidFill>
                  <a:srgbClr val="5C4826"/>
                </a:solidFill>
              </a:rPr>
              <a:t>VERDICT</a:t>
            </a:r>
          </a:p>
        </p:txBody>
      </p:sp>
      <p:cxnSp>
        <p:nvCxnSpPr>
          <p:cNvPr id="0" name="Dy-A0"/>
          <p:cNvCxnSpPr/>
          <p:nvPr/>
        </p:nvCxnSpPr>
        <p:spPr>
          <a:xfrm>
            <a:off x="1435608" y="1691639"/>
            <a:ext cx="0" cy="301752"/>
          </a:xfrm>
          <a:prstGeom prst="straightConnector1">
            <a:avLst/>
          </a:prstGeom>
          <a:ln w="19050">
            <a:solidFill>
              <a:srgbClr val="8E6F3E"/>
            </a:solidFill>
            <a:tailEnd type="triangle"/>
          </a:ln>
        </p:spPr>
      </p:cxnSp>
      <p:cxnSp>
        <p:nvCxnSpPr>
          <p:cNvPr id="0" name="Dy-A1"/>
          <p:cNvCxnSpPr/>
          <p:nvPr/>
        </p:nvCxnSpPr>
        <p:spPr>
          <a:xfrm>
            <a:off x="1435608" y="2633472"/>
            <a:ext cx="0" cy="301752"/>
          </a:xfrm>
          <a:prstGeom prst="straightConnector1">
            <a:avLst/>
          </a:prstGeom>
          <a:ln w="19050">
            <a:solidFill>
              <a:srgbClr val="8E6F3E"/>
            </a:solidFill>
            <a:tailEnd type="triangle"/>
          </a:ln>
        </p:spPr>
      </p:cxnSp>
      <p:cxnSp>
        <p:nvCxnSpPr>
          <p:cNvPr id="0" name="Dy-A2"/>
          <p:cNvCxnSpPr/>
          <p:nvPr/>
        </p:nvCxnSpPr>
        <p:spPr>
          <a:xfrm>
            <a:off x="1435608" y="3575304"/>
            <a:ext cx="0" cy="301752"/>
          </a:xfrm>
          <a:prstGeom prst="straightConnector1">
            <a:avLst/>
          </a:prstGeom>
          <a:ln w="19050">
            <a:solidFill>
              <a:srgbClr val="8E6F3E"/>
            </a:solidFill>
            <a:tailEnd type="triangle"/>
          </a:ln>
        </p:spPr>
      </p:cxnSp>
      <p:cxnSp>
        <p:nvCxnSpPr>
          <p:cNvPr id="0" name="Dy-A3"/>
          <p:cNvCxnSpPr/>
          <p:nvPr/>
        </p:nvCxnSpPr>
        <p:spPr>
          <a:xfrm>
            <a:off x="1435608" y="4517136"/>
            <a:ext cx="0" cy="301752"/>
          </a:xfrm>
          <a:prstGeom prst="straightConnector1">
            <a:avLst/>
          </a:prstGeom>
          <a:ln w="19050">
            <a:solidFill>
              <a:srgbClr val="8E6F3E"/>
            </a:solidFill>
            <a:tailEnd type="triangle"/>
          </a:ln>
        </p:spPr>
      </p:cxnSp>
      <p:sp>
        <p:nvSpPr>
          <p:cNvPr id="101" name="Cmp-static"/>
          <p:cNvSpPr/>
          <p:nvPr/>
        </p:nvSpPr>
        <p:spPr>
          <a:xfrm>
            <a:off x="5120640" y="1965960"/>
            <a:ext cx="3657600" cy="2560320"/>
          </a:xfrm>
          <a:prstGeom prst="rect">
            <a:avLst/>
          </a:prstGeom>
          <a:solidFill>
            <a:srgbClr val="F5F1E8"/>
          </a:solidFill>
          <a:ln w="12700">
            <a:solidFill>
              <a:srgbClr val="C9B991"/>
            </a:solidFill>
          </a:ln>
          <a:effectLst/>
        </p:spPr>
        <p:txBody>
          <a:bodyPr rtlCol="0" anchor="t" wrap="square" lIns="27432" rIns="27432" tIns="22860" bIns="22860"/>
          <a:lstStyle/>
          <a:p>
            <a:pPr algn="ctr"/>
            <a:r>
              <a:rPr sz="2000" b="1">
                <a:solidFill>
                  <a:srgbClr val="5C4826"/>
                </a:solidFill>
              </a:rPr>
              <a:t>STATIC</a:t>
            </a:r>
          </a:p>
          <a:p>
            <a:pPr algn="ctr"/>
            <a:r>
              <a:rPr sz="2000" b="0">
                <a:solidFill>
                  <a:srgbClr val="5C4826"/>
                </a:solidFill>
              </a:rPr>
              <a:t>verdict over the modeled space</a:t>
            </a:r>
          </a:p>
          <a:p>
            <a:pPr algn="ctr"/>
            <a:r>
              <a:rPr sz="2000" b="0">
                <a:solidFill>
                  <a:srgbClr val="5C4826"/>
                </a:solidFill>
              </a:rPr>
              <a:t/>
            </a:r>
          </a:p>
          <a:p>
            <a:pPr algn="ctr"/>
            <a:r>
              <a:rPr sz="2000" b="1">
                <a:solidFill>
                  <a:srgbClr val="5C4826"/>
                </a:solidFill>
              </a:rPr>
              <a:t>DYNAMIC</a:t>
            </a:r>
          </a:p>
          <a:p>
            <a:pPr algn="ctr"/>
            <a:r>
              <a:rPr sz="2000" b="0">
                <a:solidFill>
                  <a:srgbClr val="5C4826"/>
                </a:solidFill>
              </a:rPr>
              <a:t>verdict over observed execution</a:t>
            </a:r>
          </a:p>
        </p:txBody>
      </p:sp>
      <p:sp>
        <p:nvSpPr>
          <p:cNvPr id="102" name="FooterBand"/>
          <p:cNvSpPr/>
          <p:nvPr/>
        </p:nvSpPr>
        <p:spPr>
          <a:xfrm>
            <a:off x="274320" y="5760720"/>
            <a:ext cx="8595360" cy="777240"/>
          </a:xfrm>
          <a:prstGeom prst="rect">
            <a:avLst/>
          </a:prstGeom>
          <a:solidFill>
            <a:srgbClr val="8E6F3E"/>
          </a:solidFill>
          <a:ln>
            <a:noFill/>
          </a:ln>
          <a:effectLst/>
        </p:spPr>
        <p:txBody>
          <a:bodyPr rtlCol="0" anchor="ctr" wrap="square" lIns="27432" rIns="27432" tIns="22860" bIns="22860"/>
          <a:lstStyle/>
          <a:p>
            <a:pPr algn="ctr">
              <a:buNone/>
            </a:pPr>
            <a:r>
              <a:rPr lang="en-US" sz="2000" b="1" i="0" dirty="0">
                <a:solidFill>
                  <a:srgbClr val="FFFFFF"/>
                </a:solidFill>
              </a:rPr>
              <a:t>Where should each verdict acquire authority?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Agreement is not correctness</a:t>
            </a:r>
          </a:p>
        </p:txBody>
      </p:sp>
      <p:sp>
        <p:nvSpPr>
          <p:cNvPr id="4" name="Slide Number Placeholder 5"/>
          <p:cNvSpPr>
            <a:spLocks noGrp="1"/>
          </p:cNvSpPr>
          <p:nvPr>
            <p:ph type="sldNum" sz="quarter" idx="4"/>
          </p:nvPr>
        </p:nvSpPr>
        <p:spPr/>
        <p:txBody>
          <a:bodyPr/>
          <a:lstStyle/>
          <a:p>
            <a:fld id="{B7EB45DA-9A0D-DC49-8E02-F30A5DDC21C3}" type="slidenum">
              <a:rPr lang="en-US" smtClean="0"/>
              <a:t>26</a:t>
            </a:fld>
            <a:endParaRPr lang="en-US"/>
          </a:p>
        </p:txBody>
      </p:sp>
      <p:sp>
        <p:nvSpPr>
          <p:cNvPr id="5" name="Rectangle 4"/>
          <p:cNvSpPr/>
          <p:nvPr/>
        </p:nvSpPr>
        <p:spPr>
          <a:xfrm>
            <a:off x="3474720" y="1097280"/>
            <a:ext cx="2194560" cy="68580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OBLIGATION</a:t>
            </a:r>
          </a:p>
        </p:txBody>
      </p:sp>
      <p:sp>
        <p:nvSpPr>
          <p:cNvPr id="6" name="Rectangle 5"/>
          <p:cNvSpPr/>
          <p:nvPr/>
        </p:nvSpPr>
        <p:spPr>
          <a:xfrm>
            <a:off x="914400" y="3566160"/>
            <a:ext cx="2194560" cy="6858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MODEL</a:t>
            </a:r>
          </a:p>
        </p:txBody>
      </p:sp>
      <p:sp>
        <p:nvSpPr>
          <p:cNvPr id="7" name="Rectangle 6"/>
          <p:cNvSpPr/>
          <p:nvPr/>
        </p:nvSpPr>
        <p:spPr>
          <a:xfrm>
            <a:off x="6035040" y="3566160"/>
            <a:ext cx="2194560" cy="68580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5C4826"/>
                </a:solidFill>
              </a:rPr>
              <a:t>REALIZATION</a:t>
            </a:r>
          </a:p>
        </p:txBody>
      </p:sp>
      <p:cxnSp>
        <p:nvCxnSpPr>
          <p:cNvPr id="8" name="Connector 7"/>
          <p:cNvCxnSpPr/>
          <p:nvPr/>
        </p:nvCxnSpPr>
        <p:spPr>
          <a:xfrm flipH="1">
            <a:off x="2011680" y="1440180"/>
            <a:ext cx="1463040" cy="0"/>
          </a:xfrm>
          <a:prstGeom prst="line">
            <a:avLst/>
          </a:prstGeom>
          <a:ln w="28575">
            <a:solidFill>
              <a:srgbClr val="8E6F3E"/>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11680" y="1440180"/>
            <a:ext cx="0" cy="2125980"/>
          </a:xfrm>
          <a:prstGeom prst="line">
            <a:avLst/>
          </a:prstGeom>
          <a:ln w="28575">
            <a:solidFill>
              <a:srgbClr val="8E6F3E"/>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669280" y="1440180"/>
            <a:ext cx="1463040" cy="0"/>
          </a:xfrm>
          <a:prstGeom prst="line">
            <a:avLst/>
          </a:prstGeom>
          <a:ln w="28575">
            <a:solidFill>
              <a:srgbClr val="8E6F3E"/>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132320" y="1440180"/>
            <a:ext cx="0" cy="2125980"/>
          </a:xfrm>
          <a:prstGeom prst="line">
            <a:avLst/>
          </a:prstGeom>
          <a:ln w="28575">
            <a:solidFill>
              <a:srgbClr val="8E6F3E"/>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08960" y="3909060"/>
            <a:ext cx="2926080" cy="0"/>
          </a:xfrm>
          <a:prstGeom prst="line">
            <a:avLst/>
          </a:prstGeom>
          <a:ln w="28575">
            <a:solidFill>
              <a:srgbClr val="8E6F3E"/>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121408" y="2331720"/>
            <a:ext cx="2395728" cy="640080"/>
          </a:xfrm>
          <a:prstGeom prst="rect">
            <a:avLst/>
          </a:prstGeom>
          <a:noFill/>
        </p:spPr>
        <p:txBody>
          <a:bodyPr wrap="square" anchor="t">
            <a:spAutoFit/>
          </a:bodyPr>
          <a:lstStyle/>
          <a:p>
            <a:pPr algn="l"/>
            <a:r>
              <a:rPr sz="2000" b="0">
                <a:solidFill>
                  <a:srgbClr val="555960"/>
                </a:solidFill>
              </a:rPr>
              <a:t>captures?</a:t>
            </a:r>
          </a:p>
        </p:txBody>
      </p:sp>
      <p:sp>
        <p:nvSpPr>
          <p:cNvPr id="14" name="TextBox 13"/>
          <p:cNvSpPr txBox="1"/>
          <p:nvPr/>
        </p:nvSpPr>
        <p:spPr>
          <a:xfrm>
            <a:off x="4626864" y="2331720"/>
            <a:ext cx="2395728" cy="640080"/>
          </a:xfrm>
          <a:prstGeom prst="rect">
            <a:avLst/>
          </a:prstGeom>
          <a:noFill/>
        </p:spPr>
        <p:txBody>
          <a:bodyPr wrap="square" anchor="t">
            <a:spAutoFit/>
          </a:bodyPr>
          <a:lstStyle/>
          <a:p>
            <a:pPr algn="r"/>
            <a:r>
              <a:rPr sz="2000" b="0">
                <a:solidFill>
                  <a:srgbClr val="555960"/>
                </a:solidFill>
              </a:rPr>
              <a:t>satisfies?</a:t>
            </a:r>
          </a:p>
        </p:txBody>
      </p:sp>
      <p:sp>
        <p:nvSpPr>
          <p:cNvPr id="15" name="TextBox 14"/>
          <p:cNvSpPr txBox="1"/>
          <p:nvPr/>
        </p:nvSpPr>
        <p:spPr>
          <a:xfrm>
            <a:off x="3108960" y="4069080"/>
            <a:ext cx="2926080" cy="411480"/>
          </a:xfrm>
          <a:prstGeom prst="rect">
            <a:avLst/>
          </a:prstGeom>
          <a:noFill/>
        </p:spPr>
        <p:txBody>
          <a:bodyPr wrap="square" anchor="t">
            <a:spAutoFit/>
          </a:bodyPr>
          <a:lstStyle/>
          <a:p>
            <a:pPr algn="ctr"/>
            <a:r>
              <a:rPr sz="2000" b="0">
                <a:solidFill>
                  <a:srgbClr val="555960"/>
                </a:solidFill>
              </a:rPr>
              <a:t>corresponds?</a:t>
            </a:r>
          </a:p>
        </p:txBody>
      </p:sp>
      <p:sp>
        <p:nvSpPr>
          <p:cNvPr id="16" name="TextBox 15"/>
          <p:cNvSpPr txBox="1"/>
          <p:nvPr/>
        </p:nvSpPr>
        <p:spPr>
          <a:xfrm>
            <a:off x="274320" y="4572000"/>
            <a:ext cx="8595360" cy="1143000"/>
          </a:xfrm>
          <a:prstGeom prst="rect">
            <a:avLst/>
          </a:prstGeom>
          <a:noFill/>
        </p:spPr>
        <p:txBody>
          <a:bodyPr wrap="square" anchor="t">
            <a:spAutoFit/>
          </a:bodyPr>
          <a:lstStyle/>
          <a:p>
            <a:pPr algn="ctr"/>
            <a:r>
              <a:rPr sz="2000" b="0">
                <a:solidFill>
                  <a:srgbClr val="5C4826"/>
                </a:solidFill>
              </a:rPr>
              <a:t>model ↔ realization — </a:t>
            </a:r>
            <a:r>
              <a:rPr sz="2000" b="1">
                <a:solidFill>
                  <a:srgbClr val="8E6F3E"/>
                </a:solidFill>
              </a:rPr>
              <a:t>correspondence</a:t>
            </a:r>
          </a:p>
          <a:p>
            <a:pPr algn="ctr"/>
            <a:r>
              <a:rPr sz="2000" b="0">
                <a:solidFill>
                  <a:srgbClr val="5C4826"/>
                </a:solidFill>
              </a:rPr>
              <a:t>realization ↔ obligation — </a:t>
            </a:r>
            <a:r>
              <a:rPr sz="2000" b="1">
                <a:solidFill>
                  <a:srgbClr val="8E6F3E"/>
                </a:solidFill>
              </a:rPr>
              <a:t>conformance</a:t>
            </a:r>
          </a:p>
          <a:p>
            <a:pPr algn="ctr"/>
            <a:r>
              <a:rPr sz="2000" b="0">
                <a:solidFill>
                  <a:srgbClr val="5C4826"/>
                </a:solidFill>
              </a:rPr>
              <a:t>realization ↔ receiving environment — </a:t>
            </a:r>
            <a:r>
              <a:rPr sz="2000" b="1">
                <a:solidFill>
                  <a:srgbClr val="8E6F3E"/>
                </a:solidFill>
              </a:rPr>
              <a:t>acceptance</a:t>
            </a:r>
          </a:p>
        </p:txBody>
      </p:sp>
      <p:sp>
        <p:nvSpPr>
          <p:cNvPr id="17"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rPr>
              <a:t>Correspondence is one edge, not the whole triangle.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Design the Alignment</a:t>
            </a:r>
          </a:p>
        </p:txBody>
      </p:sp>
      <p:sp>
        <p:nvSpPr>
          <p:cNvPr id="4" name="Slide Number Placeholder 5"/>
          <p:cNvSpPr>
            <a:spLocks noGrp="1"/>
          </p:cNvSpPr>
          <p:nvPr>
            <p:ph type="sldNum" sz="quarter" idx="4"/>
          </p:nvPr>
        </p:nvSpPr>
        <p:spPr/>
        <p:txBody>
          <a:bodyPr/>
          <a:lstStyle/>
          <a:p>
            <a:fld id="{B7EB45DA-9A0D-DC49-8E02-F30A5DDC21C3}" type="slidenum">
              <a:rPr lang="en-US" smtClean="0"/>
              <a:t>27</a:t>
            </a:fld>
            <a:endParaRPr lang="en-US"/>
          </a:p>
        </p:txBody>
      </p:sp>
      <p:sp>
        <p:nvSpPr>
          <p:cNvPr id="5" name="KickerBadge">
            <a:extLst>
              <a:ext uri="{FF2B5EF4-FFF2-40B4-BE49-F238E27FC236}">
                <a16:creationId xmlns:a16="http://schemas.microsoft.com/office/drawing/2014/main" id="{55489336-5766-22EA-2ADC-D9F38F769456}"/>
              </a:ext>
            </a:extLst>
          </p:cNvPr>
          <p:cNvSpPr/>
          <p:nvPr/>
        </p:nvSpPr>
        <p:spPr>
          <a:xfrm>
            <a:off x="4480560" y="205000"/>
            <a:ext cx="4389120" cy="470000"/>
          </a:xfrm>
          <a:prstGeom prst="roundRect">
            <a:avLst/>
          </a:prstGeom>
          <a:solidFill>
            <a:srgbClr val="FBF8F2"/>
          </a:solidFill>
          <a:ln w="15875">
            <a:solidFill>
              <a:srgbClr val="8E6F3E"/>
            </a:solidFill>
          </a:ln>
        </p:spPr>
        <p:txBody>
          <a:bodyPr wrap="square" lIns="91440" tIns="27432" rIns="91440" bIns="27432" anchor="ctr"/>
          <a:lstStyle/>
          <a:p>
            <a:pPr algn="ctr">
              <a:buNone/>
            </a:pPr>
            <a:r>
              <a:rPr lang="en-US" b="1" i="0" dirty="0" sz="2000">
                <a:solidFill>
                  <a:srgbClr val="8E6F3E"/>
                </a:solidFill>
              </a:rPr>
              <a:t>TEAM ACTIVITY  ·  10–12 MINUTES</a:t>
            </a:r>
          </a:p>
        </p:txBody>
      </p:sp>
      <p:sp>
        <p:nvSpPr>
          <p:cNvPr id="12" name="FooterBand"/>
          <p:cNvSpPr/>
          <p:nvPr/>
        </p:nvSpPr>
        <p:spPr>
          <a:xfrm>
            <a:off x="274320" y="5852160"/>
            <a:ext cx="8595360" cy="566928"/>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i="0">
                <a:solidFill>
                  <a:srgbClr val="FFFFFF"/>
                </a:solidFill>
              </a:rPr>
              <a:t>Design the delegated process and its controls. Use the model as given.</a:t>
            </a:r>
          </a:p>
        </p:txBody>
      </p:sp>
      <p:sp>
        <p:nvSpPr>
          <p:cNvPr id="901" name="Card-obligations"/>
          <p:cNvSpPr/>
          <p:nvPr/>
        </p:nvSpPr>
        <p:spPr>
          <a:xfrm>
            <a:off x="274320" y="1051560"/>
            <a:ext cx="4160520" cy="452628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OBLIGATIONS</a:t>
            </a:r>
          </a:p>
          <a:p>
            <a:pPr algn="l">
              <a:spcBef>
                <a:spcPts val="900"/>
              </a:spcBef>
              <a:buNone/>
            </a:pPr>
            <a:r>
              <a:rPr lang="en-US" sz="2000" b="1" i="0" dirty="0">
                <a:solidFill>
                  <a:srgbClr val="8E6F3E"/>
                </a:solidFill>
              </a:rPr>
              <a:t xml:space="preserve">1  ·  </a:t>
            </a:r>
            <a:r>
              <a:rPr lang="en-US" sz="2000" b="0" i="0" dirty="0">
                <a:solidFill>
                  <a:srgbClr val="5C4826"/>
                </a:solidFill>
              </a:rPr>
              <a:t>Preserve the external API.</a:t>
            </a:r>
          </a:p>
          <a:p>
            <a:pPr algn="l">
              <a:spcBef>
                <a:spcPts val="900"/>
              </a:spcBef>
              <a:buNone/>
            </a:pPr>
            <a:r>
              <a:rPr lang="en-US" sz="2000" b="1" i="0" dirty="0">
                <a:solidFill>
                  <a:srgbClr val="8E6F3E"/>
                </a:solidFill>
              </a:rPr>
              <a:t xml:space="preserve">2  ·  </a:t>
            </a:r>
            <a:r>
              <a:rPr lang="en-US" sz="2000" b="0" i="0" dirty="0">
                <a:solidFill>
                  <a:srgbClr val="5C4826"/>
                </a:solidFill>
              </a:rPr>
              <a:t>Worst-case memory below 64 MB.</a:t>
            </a:r>
          </a:p>
          <a:p>
            <a:pPr algn="l">
              <a:spcBef>
                <a:spcPts val="900"/>
              </a:spcBef>
              <a:buNone/>
            </a:pPr>
            <a:r>
              <a:rPr lang="en-US" sz="2000" b="1" i="0" dirty="0">
                <a:solidFill>
                  <a:srgbClr val="8E6F3E"/>
                </a:solidFill>
              </a:rPr>
              <a:t xml:space="preserve">3  ·  </a:t>
            </a:r>
            <a:r>
              <a:rPr lang="en-US" sz="2000" b="0" i="0" dirty="0">
                <a:solidFill>
                  <a:srgbClr val="5C4826"/>
                </a:solidFill>
              </a:rPr>
              <a:t>Avoid the forbidden dependency.</a:t>
            </a:r>
          </a:p>
          <a:p>
            <a:pPr algn="l">
              <a:spcBef>
                <a:spcPts val="900"/>
              </a:spcBef>
              <a:buNone/>
            </a:pPr>
            <a:r>
              <a:rPr lang="en-US" sz="2000" b="1" i="0" dirty="0">
                <a:solidFill>
                  <a:srgbClr val="8E6F3E"/>
                </a:solidFill>
              </a:rPr>
              <a:t xml:space="preserve">4  ·  </a:t>
            </a:r>
            <a:r>
              <a:rPr lang="en-US" sz="2000" b="0" i="0" dirty="0">
                <a:solidFill>
                  <a:srgbClr val="5C4826"/>
                </a:solidFill>
              </a:rPr>
              <a:t>Preserve the cycle ordering: Sensor.read → decide → Actuator.act.</a:t>
            </a:r>
          </a:p>
        </p:txBody>
      </p:sp>
      <p:sp>
        <p:nvSpPr>
          <p:cNvPr id="902" name="Card-given-model"/>
          <p:cNvSpPr/>
          <p:nvPr/>
        </p:nvSpPr>
        <p:spPr>
          <a:xfrm>
            <a:off x="4617720" y="1051560"/>
            <a:ext cx="4251960" cy="4526280"/>
          </a:xfrm>
          <a:prstGeom prst="rect">
            <a:avLst/>
          </a:prstGeom>
          <a:solidFill>
            <a:srgbClr val="F5F1E8"/>
          </a:solidFill>
          <a:ln w="12700">
            <a:solidFill>
              <a:srgbClr val="C9B991"/>
            </a:solidFill>
          </a:ln>
          <a:effectLst/>
        </p:spPr>
        <p:txBody>
          <a:bodyPr rtlCol="0" anchor="t" wrap="square" lIns="27432" rIns="27432" tIns="22860" bIns="22860"/>
          <a:lstStyle/>
          <a:p>
            <a:pPr algn="ctr">
              <a:buNone/>
            </a:pPr>
            <a:r>
              <a:rPr lang="en-US" sz="2000" b="1" i="0" dirty="0">
                <a:solidFill>
                  <a:srgbClr val="5C4826"/>
                </a:solidFill>
              </a:rPr>
              <a:t>THE GIVEN MODEL</a:t>
            </a:r>
          </a:p>
          <a:p>
            <a:pPr algn="l">
              <a:spcBef>
                <a:spcPts val="900"/>
              </a:spcBef>
              <a:buNone/>
            </a:pPr>
            <a:r>
              <a:rPr lang="en-US" sz="2000" b="1" i="0" dirty="0">
                <a:solidFill>
                  <a:srgbClr val="8E6F3E"/>
                </a:solidFill>
              </a:rPr>
              <a:t>STRUCTURE</a:t>
            </a:r>
          </a:p>
          <a:p>
            <a:pPr algn="l">
              <a:spcBef>
                <a:spcPts val="900"/>
              </a:spcBef>
              <a:buNone/>
            </a:pPr>
            <a:r>
              <a:rPr lang="en-US" sz="2000" b="0" i="0" dirty="0">
                <a:solidFill>
                  <a:srgbClr val="5C4826"/>
                </a:solidFill>
              </a:rPr>
              <a:t>Controller — API: IController</a:t>
            </a:r>
          </a:p>
          <a:p>
            <a:pPr algn="l">
              <a:spcBef>
                <a:spcPts val="900"/>
              </a:spcBef>
              <a:buNone/>
            </a:pPr>
            <a:r>
              <a:rPr lang="en-US" sz="2000" b="0" i="0" dirty="0">
                <a:solidFill>
                  <a:srgbClr val="5C4826"/>
                </a:solidFill>
              </a:rPr>
              <a:t>uses → Sensor · Actuator</a:t>
            </a:r>
          </a:p>
          <a:p>
            <a:pPr algn="l">
              <a:spcBef>
                <a:spcPts val="900"/>
              </a:spcBef>
              <a:buNone/>
            </a:pPr>
            <a:r>
              <a:rPr lang="en-US" sz="2000" b="0" i="0" dirty="0">
                <a:solidFill>
                  <a:srgbClr val="5C4826"/>
                </a:solidFill>
              </a:rPr>
              <a:t>forbidden → CloudSDK</a:t>
            </a:r>
          </a:p>
          <a:p>
            <a:pPr algn="l">
              <a:spcBef>
                <a:spcPts val="900"/>
              </a:spcBef>
              <a:buNone/>
            </a:pPr>
            <a:r>
              <a:rPr lang="en-US" sz="2000" b="0" i="0" dirty="0">
                <a:solidFill>
                  <a:srgbClr val="5C4826"/>
                </a:solidFill>
              </a:rPr>
              <a:t>memory ≤ 64 MB</a:t>
            </a:r>
          </a:p>
          <a:p>
            <a:pPr algn="l">
              <a:spcBef>
                <a:spcPts val="900"/>
              </a:spcBef>
              <a:buNone/>
            </a:pPr>
            <a:r>
              <a:rPr lang="en-US" sz="2000" b="1" i="0" dirty="0">
                <a:solidFill>
                  <a:srgbClr val="8E6F3E"/>
                </a:solidFill>
              </a:rPr>
              <a:t>BEHAVIOR</a:t>
            </a:r>
          </a:p>
          <a:p>
            <a:pPr algn="l">
              <a:spcBef>
                <a:spcPts val="900"/>
              </a:spcBef>
              <a:buNone/>
            </a:pPr>
            <a:r>
              <a:rPr lang="en-US" sz="2000" b="0" i="0" dirty="0">
                <a:solidFill>
                  <a:srgbClr val="5C4826"/>
                </a:solidFill>
              </a:rPr>
              <a:t>each cycle: Sensor.read → decide → Actuator.act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Compare your designs</a:t>
            </a:r>
          </a:p>
        </p:txBody>
      </p:sp>
      <p:sp>
        <p:nvSpPr>
          <p:cNvPr id="4" name="Slide Number Placeholder 5"/>
          <p:cNvSpPr>
            <a:spLocks noGrp="1"/>
          </p:cNvSpPr>
          <p:nvPr>
            <p:ph type="sldNum" sz="quarter" idx="4"/>
          </p:nvPr>
        </p:nvSpPr>
        <p:spPr/>
        <p:txBody>
          <a:bodyPr/>
          <a:lstStyle/>
          <a:p>
            <a:fld id="{B7EB45DA-9A0D-DC49-8E02-F30A5DDC21C3}" type="slidenum">
              <a:rPr lang="en-US" smtClean="0"/>
              <a:t>28</a:t>
            </a:fld>
            <a:endParaRPr lang="en-US"/>
          </a:p>
        </p:txBody>
      </p:sp>
      <p:sp>
        <p:nvSpPr>
          <p:cNvPr id="10" name="Compare1"/>
          <p:cNvSpPr/>
          <p:nvPr/>
        </p:nvSpPr>
        <p:spPr>
          <a:xfrm>
            <a:off x="502920" y="1051560"/>
            <a:ext cx="8138160" cy="74980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l"/>
            <a:r>
              <a:rPr sz="2000" b="1" i="0">
                <a:solidFill>
                  <a:srgbClr val="5C4826"/>
                </a:solidFill>
              </a:rPr>
              <a:t>Same obligation, different boundary</a:t>
            </a:r>
          </a:p>
          <a:p>
            <a:pPr algn="l"/>
            <a:r>
              <a:rPr sz="2000" b="0" i="0">
                <a:solidFill>
                  <a:srgbClr val="5C4826"/>
                </a:solidFill>
              </a:rPr>
              <a:t>Which boundary actually has enough information?</a:t>
            </a:r>
          </a:p>
        </p:txBody>
      </p:sp>
      <p:sp>
        <p:nvSpPr>
          <p:cNvPr id="11" name="Compare2"/>
          <p:cNvSpPr/>
          <p:nvPr/>
        </p:nvSpPr>
        <p:spPr>
          <a:xfrm>
            <a:off x="502920" y="1965960"/>
            <a:ext cx="8138160" cy="74980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l"/>
            <a:r>
              <a:rPr sz="2000" b="1" i="0">
                <a:solidFill>
                  <a:srgbClr val="5C4826"/>
                </a:solidFill>
              </a:rPr>
              <a:t>Constraint vs. evidence</a:t>
            </a:r>
          </a:p>
          <a:p>
            <a:pPr algn="l"/>
            <a:r>
              <a:rPr sz="2000" b="0" i="0">
                <a:solidFill>
                  <a:srgbClr val="5C4826"/>
                </a:solidFill>
              </a:rPr>
              <a:t>Can the failure be prevented, or must it be observed and evaluated?</a:t>
            </a:r>
          </a:p>
        </p:txBody>
      </p:sp>
      <p:sp>
        <p:nvSpPr>
          <p:cNvPr id="12" name="Compare3"/>
          <p:cNvSpPr/>
          <p:nvPr/>
        </p:nvSpPr>
        <p:spPr>
          <a:xfrm>
            <a:off x="502920" y="2880360"/>
            <a:ext cx="8138160" cy="1097280"/>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l"/>
            <a:r>
              <a:rPr sz="2000" b="1" i="0">
                <a:solidFill>
                  <a:srgbClr val="5C4826"/>
                </a:solidFill>
              </a:rPr>
              <a:t>Different authority</a:t>
            </a:r>
          </a:p>
          <a:p>
            <a:pPr algn="l"/>
            <a:r>
              <a:rPr sz="2000" b="0" i="0">
                <a:solidFill>
                  <a:srgbClr val="5C4826"/>
                </a:solidFill>
              </a:rPr>
              <a:t>Should this failure block the commit, the PR, the merge, the deployment — or merely produce evidence?</a:t>
            </a:r>
          </a:p>
        </p:txBody>
      </p:sp>
      <p:sp>
        <p:nvSpPr>
          <p:cNvPr id="13" name="Compare4"/>
          <p:cNvSpPr/>
          <p:nvPr/>
        </p:nvSpPr>
        <p:spPr>
          <a:xfrm>
            <a:off x="502920" y="3977639"/>
            <a:ext cx="8138160" cy="749808"/>
          </a:xfrm>
          <a:prstGeom prst="rect">
            <a:avLst/>
          </a:prstGeom>
          <a:solidFill>
            <a:srgbClr val="F5F1E8"/>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l"/>
            <a:r>
              <a:rPr sz="2000" b="1" i="0">
                <a:solidFill>
                  <a:srgbClr val="5C4826"/>
                </a:solidFill>
              </a:rPr>
              <a:t>Model vs. reconstruction</a:t>
            </a:r>
          </a:p>
          <a:p>
            <a:pPr algn="l"/>
            <a:r>
              <a:rPr sz="2000" b="0" i="0">
                <a:solidFill>
                  <a:srgbClr val="5C4826"/>
                </a:solidFill>
              </a:rPr>
              <a:t>What becomes easier if the relevant knowledge is explicit?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wrap="square"/>
          <a:lstStyle/>
          <a:p>
            <a:r>
              <a:rPr sz="2400" b="0">
                <a:solidFill>
                  <a:srgbClr val="000000"/>
                </a:solidFill>
              </a:rPr>
              <a:t>How do you know?</a:t>
            </a:r>
          </a:p>
        </p:txBody>
      </p:sp>
      <p:sp>
        <p:nvSpPr>
          <p:cNvPr id="4" name="Slide Number Placeholder 5"/>
          <p:cNvSpPr>
            <a:spLocks noGrp="1"/>
          </p:cNvSpPr>
          <p:nvPr>
            <p:ph type="sldNum" sz="quarter" idx="4"/>
          </p:nvPr>
        </p:nvSpPr>
        <p:spPr/>
        <p:txBody>
          <a:bodyPr/>
          <a:lstStyle/>
          <a:p>
            <a:fld id="{B7EB45DA-9A0D-DC49-8E02-F30A5DDC21C3}" type="slidenum">
              <a:rPr lang="en-US" smtClean="0"/>
              <a:t>29</a:t>
            </a:fld>
            <a:endParaRPr lang="en-US"/>
          </a:p>
        </p:txBody>
      </p:sp>
      <p:sp>
        <p:nvSpPr>
          <p:cNvPr id="5" name="Rectangle 4"/>
          <p:cNvSpPr/>
          <p:nvPr/>
        </p:nvSpPr>
        <p:spPr>
          <a:xfrm>
            <a:off x="640080" y="1005840"/>
            <a:ext cx="21945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MODELING</a:t>
            </a:r>
          </a:p>
        </p:txBody>
      </p:sp>
      <p:sp>
        <p:nvSpPr>
          <p:cNvPr id="6" name="TextBox 5"/>
          <p:cNvSpPr txBox="1"/>
          <p:nvPr/>
        </p:nvSpPr>
        <p:spPr>
          <a:xfrm>
            <a:off x="3108960" y="1033272"/>
            <a:ext cx="5715000" cy="1005840"/>
          </a:xfrm>
          <a:prstGeom prst="rect">
            <a:avLst/>
          </a:prstGeom>
          <a:noFill/>
        </p:spPr>
        <p:txBody>
          <a:bodyPr wrap="square" anchor="ctr">
            <a:spAutoFit/>
          </a:bodyPr>
          <a:lstStyle/>
          <a:p>
            <a:pPr algn="l"/>
            <a:r>
              <a:rPr sz="2000" b="0" i="0">
                <a:solidFill>
                  <a:srgbClr val="5C4826"/>
                </a:solidFill>
              </a:rPr>
              <a:t>make consequential engineering knowledge explicit while leaving irrelevant choices free</a:t>
            </a:r>
          </a:p>
        </p:txBody>
      </p:sp>
      <p:sp>
        <p:nvSpPr>
          <p:cNvPr id="7" name="Rectangle 6"/>
          <p:cNvSpPr/>
          <p:nvPr/>
        </p:nvSpPr>
        <p:spPr>
          <a:xfrm>
            <a:off x="640080" y="2103120"/>
            <a:ext cx="2194560" cy="822960"/>
          </a:xfrm>
          <a:prstGeom prst="rect">
            <a:avLst/>
          </a:prstGeom>
          <a:solidFill>
            <a:srgbClr val="8E6F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2860" bIns="22860"/>
          <a:lstStyle/>
          <a:p>
            <a:pPr algn="ctr"/>
            <a:r>
              <a:rPr sz="2000" b="1" i="0">
                <a:solidFill>
                  <a:srgbClr val="FFFFFF"/>
                </a:solidFill>
              </a:rPr>
              <a:t>ALIGNMENT</a:t>
            </a:r>
          </a:p>
        </p:txBody>
      </p:sp>
      <p:sp>
        <p:nvSpPr>
          <p:cNvPr id="8" name="TextBox 7"/>
          <p:cNvSpPr txBox="1"/>
          <p:nvPr/>
        </p:nvSpPr>
        <p:spPr>
          <a:xfrm>
            <a:off x="3108960" y="2130552"/>
            <a:ext cx="5715000" cy="1005840"/>
          </a:xfrm>
          <a:prstGeom prst="rect">
            <a:avLst/>
          </a:prstGeom>
          <a:noFill/>
        </p:spPr>
        <p:txBody>
          <a:bodyPr wrap="square" anchor="ctr">
            <a:spAutoFit/>
          </a:bodyPr>
          <a:lstStyle/>
          <a:p>
            <a:pPr algn="l"/>
            <a:r>
              <a:rPr sz="2000" b="0" i="0">
                <a:solidFill>
                  <a:srgbClr val="5C4826"/>
                </a:solidFill>
              </a:rPr>
              <a:t>decide which obligations have consequences in the engineered environment</a:t>
            </a:r>
          </a:p>
        </p:txBody>
      </p:sp>
      <p:sp>
        <p:nvSpPr>
          <p:cNvPr id="9" name="Rectangle 8"/>
          <p:cNvSpPr/>
          <p:nvPr/>
        </p:nvSpPr>
        <p:spPr>
          <a:xfrm>
            <a:off x="640080" y="3291840"/>
            <a:ext cx="8183879" cy="2331720"/>
          </a:xfrm>
          <a:prstGeom prst="rect">
            <a:avLst/>
          </a:prstGeom>
          <a:solidFill>
            <a:srgbClr val="FBF8F2"/>
          </a:solidFill>
          <a:ln w="12700">
            <a:solidFill>
              <a:srgbClr val="C9B991"/>
            </a:solidFill>
          </a:ln>
          <a:effectLst/>
        </p:spPr>
        <p:style>
          <a:lnRef idx="1">
            <a:schemeClr val="accent1"/>
          </a:lnRef>
          <a:fillRef idx="3">
            <a:schemeClr val="accent1"/>
          </a:fillRef>
          <a:effectRef idx="2">
            <a:schemeClr val="accent1"/>
          </a:effectRef>
          <a:fontRef idx="minor">
            <a:schemeClr val="lt1"/>
          </a:fontRef>
        </p:style>
        <p:txBody>
          <a:bodyPr rtlCol="0" anchor="t" wrap="square" lIns="137160" rIns="27432" tIns="73152" bIns="22860"/>
          <a:lstStyle/>
          <a:p>
            <a:pPr algn="l"/>
            <a:r>
              <a:rPr sz="2000" b="1" i="0">
                <a:solidFill>
                  <a:srgbClr val="8E6F3E"/>
                </a:solidFill>
              </a:rPr>
              <a:t>THE REUSABLE QUESTIONS</a:t>
            </a:r>
          </a:p>
          <a:p>
            <a:pPr algn="l">
              <a:spcBef>
                <a:spcPts val="600"/>
              </a:spcBef>
            </a:pPr>
            <a:r>
              <a:rPr sz="2000" b="1" i="0">
                <a:solidFill>
                  <a:srgbClr val="5C4826"/>
                </a:solidFill>
              </a:rPr>
              <a:t>How can the delegated work fail?</a:t>
            </a:r>
          </a:p>
          <a:p>
            <a:pPr algn="l">
              <a:spcBef>
                <a:spcPts val="600"/>
              </a:spcBef>
            </a:pPr>
            <a:r>
              <a:rPr sz="2000" b="0" i="0">
                <a:solidFill>
                  <a:srgbClr val="5C4826"/>
                </a:solidFill>
              </a:rPr>
              <a:t>What must be true?</a:t>
            </a:r>
          </a:p>
          <a:p>
            <a:pPr algn="l"/>
            <a:r>
              <a:rPr sz="2000" b="0" i="0">
                <a:solidFill>
                  <a:srgbClr val="5C4826"/>
                </a:solidFill>
              </a:rPr>
              <a:t>What evidence bears on it?</a:t>
            </a:r>
          </a:p>
          <a:p>
            <a:pPr algn="l"/>
            <a:r>
              <a:rPr sz="2000" b="0" i="0">
                <a:solidFill>
                  <a:srgbClr val="5C4826"/>
                </a:solidFill>
              </a:rPr>
              <a:t>Where can it be decided?</a:t>
            </a:r>
          </a:p>
          <a:p>
            <a:pPr algn="l"/>
            <a:r>
              <a:rPr sz="2000" b="0" i="0">
                <a:solidFill>
                  <a:srgbClr val="5C4826"/>
                </a:solidFill>
              </a:rPr>
              <a:t>How will it be evaluated?</a:t>
            </a:r>
          </a:p>
          <a:p>
            <a:pPr algn="l"/>
            <a:r>
              <a:rPr sz="2000" b="0" i="0">
                <a:solidFill>
                  <a:srgbClr val="5C4826"/>
                </a:solidFill>
              </a:rPr>
              <a:t>Should failure control what happens next?</a:t>
            </a:r>
          </a:p>
        </p:txBody>
      </p:sp>
    </p:spTree>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U-CoBrand_Template_Gold_Theme_Std_Screen_2.pptx" id="{33130098-72E9-B14B-8D33-14895F32E203}" vid="{24A02D5D-460C-B047-B557-67731F776B7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02577843-0252-164E-9900-50E04AC84376}">
  <we:reference id="wa104381063" version="1.0.0.1" store="en-001"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2F6451B-05D5-964F-AC61-763C973265E8}">
  <we:reference id="WA200010001" version="1.0.0.1" store="Omex" storeType="OMEX"/>
  <we:alternateReferences>
    <we:reference id="WA200010001" version="1.0.0.1" store="WA200010001" storeType="OMEX"/>
  </we:alternateReferences>
  <we:properties>
    <we:property name="claude.fileId" value="&quot;1299b91e-8e0b-4b63-ab37-4fd482b3179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PU-CoBrand_Template_Gold_Theme_Std_Screen_2</Template>
  <TotalTime>8564</TotalTime>
  <Words>5079</Words>
  <Application>Microsoft Macintosh PowerPoint</Application>
  <PresentationFormat>On-screen Show (4:3)</PresentationFormat>
  <Paragraphs>694</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Times</vt:lpstr>
      <vt:lpstr>Purdue1</vt:lpstr>
      <vt:lpstr>PowerPoint Presentation</vt:lpstr>
      <vt:lpstr>Engineers may delegate realization without delegating responsibility for the resulting system.</vt:lpstr>
      <vt:lpstr>Delegation did not begin with agents</vt:lpstr>
      <vt:lpstr>The recipient changes</vt:lpstr>
      <vt:lpstr>The delegation problem remains</vt:lpstr>
      <vt:lpstr>BOUND</vt:lpstr>
      <vt:lpstr>BOUND: design the delegated work</vt:lpstr>
      <vt:lpstr>A delegation boundary is a reasoning boundary</vt:lpstr>
      <vt:lpstr>Reasoning has a horizon</vt:lpstr>
      <vt:lpstr>Delegation leaves degrees of freedom</vt:lpstr>
      <vt:lpstr>EQUIP</vt:lpstr>
      <vt:lpstr>EQUIP: capability lives in a system</vt:lpstr>
      <vt:lpstr>Equip three things</vt:lpstr>
      <vt:lpstr>Choose the reasoner for the work</vt:lpstr>
      <vt:lpstr>Engineer the information available to it</vt:lpstr>
      <vt:lpstr>Representation can change the reasoning problem</vt:lpstr>
      <vt:lpstr>Give the agent means to observe and act</vt:lpstr>
      <vt:lpstr>A real harness engineers the reasoning surface</vt:lpstr>
      <vt:lpstr>Zoom out: the equipped agent</vt:lpstr>
      <vt:lpstr>How will you equip your agents?</vt:lpstr>
      <vt:lpstr>Stretch break</vt:lpstr>
      <vt:lpstr>AUTHORIZE</vt:lpstr>
      <vt:lpstr>Capability is not authority</vt:lpstr>
      <vt:lpstr>Authority follows consequence</vt:lpstr>
      <vt:lpstr>Authority should match the delegated work</vt:lpstr>
      <vt:lpstr>VERIFY</vt:lpstr>
      <vt:lpstr>VERIFY: what evidence closes the work?</vt:lpstr>
      <vt:lpstr>The producer is not independent evidence</vt:lpstr>
      <vt:lpstr>THE DELEGATION SYSTEM</vt:lpstr>
      <vt:lpstr>Engineer the delegation system</vt:lpstr>
      <vt:lpstr>Better agents change the delegation design</vt:lpstr>
      <vt:lpstr>What changes? What stays?</vt:lpstr>
      <vt:lpstr>What must exist outside the agent?</vt:lpstr>
      <vt:lpstr>Phase 2 honest individual status update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Bowers, Anna K</dc:creator>
  <cp:keywords/>
  <dc:description/>
  <cp:lastModifiedBy>James C Davis</cp:lastModifiedBy>
  <cp:revision>398</cp:revision>
  <dcterms:created xsi:type="dcterms:W3CDTF">2020-02-21T23:00:33Z</dcterms:created>
  <dcterms:modified xsi:type="dcterms:W3CDTF">2026-09-29T15:52:00Z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2024-09-05T02:27:24Z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e1ff3097-c009-4f67-8781-6e468e7749d4</vt:lpwstr>
  </property>
  <property fmtid="{D5CDD505-2E9C-101B-9397-08002B2CF9AE}" pid="8" name="MSIP_Label_4044bd30-2ed7-4c9d-9d12-46200872a97b_ContentBits">
    <vt:lpwstr>0</vt:lpwstr>
  </property>
</Properties>
</file>