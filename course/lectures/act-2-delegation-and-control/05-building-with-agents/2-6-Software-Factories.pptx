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85" r:id="rId2"/>
    <p:sldId id="306" r:id="rId3"/>
    <p:sldId id="287" r:id="rId4"/>
    <p:sldId id="307" r:id="rId5"/>
    <p:sldId id="308" r:id="rId6"/>
    <p:sldId id="324" r:id="rId7"/>
    <p:sldId id="309" r:id="rId8"/>
    <p:sldId id="323" r:id="rId9"/>
    <p:sldId id="290" r:id="rId10"/>
    <p:sldId id="312" r:id="rId11"/>
    <p:sldId id="313" r:id="rId12"/>
    <p:sldId id="314" r:id="rId13"/>
    <p:sldId id="310" r:id="rId14"/>
    <p:sldId id="298" r:id="rId15"/>
    <p:sldId id="292" r:id="rId16"/>
    <p:sldId id="293" r:id="rId17"/>
    <p:sldId id="294" r:id="rId18"/>
    <p:sldId id="295" r:id="rId19"/>
    <p:sldId id="297" r:id="rId20"/>
    <p:sldId id="316" r:id="rId21"/>
    <p:sldId id="317" r:id="rId22"/>
    <p:sldId id="318" r:id="rId23"/>
    <p:sldId id="319" r:id="rId24"/>
    <p:sldId id="300" r:id="rId25"/>
    <p:sldId id="320" r:id="rId26"/>
    <p:sldId id="304" r:id="rId27"/>
    <p:sldId id="321" r:id="rId28"/>
    <p:sldId id="305" r:id="rId2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80913"/>
  </p:normalViewPr>
  <p:slideViewPr>
    <p:cSldViewPr snapToGrid="0">
      <p:cViewPr varScale="1">
        <p:scale>
          <a:sx n="100" d="100"/>
          <a:sy n="100" d="100"/>
        </p:scale>
        <p:origin x="1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dirty="0"/>
              <a:t>Yesterday's workshop built one agent workstation (AGENTS.md, GitHub MCP, SKILL.md, pytest). Today zooms out to the system around it. This closes Act II and stops short of Act III.</a:t>
            </a:r>
          </a:p>
          <a:p>
            <a:endParaRPr dirty="0"/>
          </a:p>
          <a:p>
            <a:r>
              <a:rPr dirty="0"/>
              <a:t>Prof. Davis is first author of the "Open Source Software, Closed Software Factory" tech report used later in the session.</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Animation: hide the bottom bar until the vote is done, then reveal it.</a:t>
            </a:r>
          </a:p>
          <a:p>
            <a:endParaRPr/>
          </a:p>
          <a:p>
            <a:r>
              <a:t>There is no single right answer; every option is a real constraint, and each maps to a factory resource later in the class (A to engineering knowledge, B to validation, C to agent guidance, D to production infrastructure). Many 2026 practitioner writeups point to B; Osmani writes that verification, not generation, is the real constraint on a factory.</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Larson traces the term to a February 2026 piece by Justin McCarthy, but notes its origin is hard to pin down. There is no settled definition yet.</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a:t>Sources: Aaen, Bøtcher, and Mathiassen, "The Software Factory: Contributions and Illusions" (1997), surveying of software factories (Bemer, Hitachi, SDC, the Japanese firms, and the European Eureka Software Factory program, 1987 to 1996); Cusumano's MIT working papers and his 1991 book Japan's Software Factories; Greenfield and Short, Software Factories (Wiley, 2004).</a:t>
            </a:r>
          </a:p>
          <a:p>
            <a:endParaRPr dirty="0"/>
          </a:p>
          <a:p>
            <a:r>
              <a:rPr dirty="0"/>
              <a:t>The 1968 NATO conference that popularized the term "software engineering" framed the same software crisis the first factories answered. Cusumano credits the Japanese factories with gains in quality and reuse; his account of SDC describes a factory that faded within a few years, in part because projects varied too much for one standard process.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Bratman and Court's definition is quoted in Cusumano's MIT working paper on SDC. The DoD row paraphrases common descriptions of Platform One; there is no single official DoD definition. Shapiro's quote is from his January 2026 post, as quoted by Simon Willison. Osmani's is from "Software Factories, Light and Dark" (July 2026).</a:t>
            </a:r>
          </a:p>
          <a:p>
            <a:endParaRPr/>
          </a:p>
          <a:p>
            <a:r>
              <a:t>The common thread is a commitment above the level of a single project; the disagreement is over what the factory is made of: process, models, pipelines, or agent loops.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Animation: if useful, reveal each software box after its physical counterpart, row by row.</a:t>
            </a:r>
          </a:p>
          <a:p>
            <a:endParaRPr/>
          </a:p>
          <a:p>
            <a:r>
              <a:t>The left column follows Osmani's list. The pairings on the right are drawn from nearby sections of his post; he argues that until verification catches up, human review is the safety system, and that flaky environments become systemic blockers for agents.</a:t>
            </a:r>
          </a:p>
          <a:p>
            <a:endParaRPr/>
          </a:p>
          <a:p>
            <a:r>
              <a:t>Where the analogy breaks: a physical factory makes many copies of one design, while each software change is a new design. Early critics of the 1970s Japanese software factories raised the same objection.</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six characteristics are a synthesis of Cusumano's account of SDC and the Japanese factories (standards, tools, reuse, measurement, transfer of expertise) and Aaen et al., who define the factory as a long term, integrated effort above individual projects.</a:t>
            </a:r>
          </a:p>
          <a:p>
            <a:endParaRPr/>
          </a:p>
          <a:p>
            <a:r>
              <a:t>Early critics objected that "factory" implied mass production of identical products. Software is closer to a flexible design shop, which is why every era stresses reuse and process rather than identical output.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8CB4D-18CB-E1CF-BAEE-89755C3C9E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8F893-9302-DF7C-563F-21E53E932F2C}"/>
              </a:ext>
            </a:extLst>
          </p:cNvPr>
          <p:cNvSpPr>
            <a:spLocks noGrp="1" noRot="1" noChangeAspect="1"/>
          </p:cNvSpPr>
          <p:nvPr>
            <p:ph type="sldImg" idx="3"/>
          </p:nvPr>
        </p:nvSpPr>
        <p:spPr/>
        <p:txBody>
          <a:bodyPr/>
          <a:lstStyle/>
          <a:p>
            <a:endParaRPr lang="en-US"/>
          </a:p>
        </p:txBody>
      </p:sp>
      <p:sp>
        <p:nvSpPr>
          <p:cNvPr id="3" name="Notes Placeholder 2">
            <a:extLst>
              <a:ext uri="{FF2B5EF4-FFF2-40B4-BE49-F238E27FC236}">
                <a16:creationId xmlns:a16="http://schemas.microsoft.com/office/drawing/2014/main" id="{C60505F8-19F5-446E-8E97-3BDA2610A756}"/>
              </a:ext>
            </a:extLst>
          </p:cNvPr>
          <p:cNvSpPr>
            <a:spLocks noGrp="1"/>
          </p:cNvSpPr>
          <p:nvPr>
            <p:ph type="body" idx="1"/>
          </p:nvPr>
        </p:nvSpPr>
        <p:spPr/>
        <p:txBody>
          <a:bodyPr/>
          <a:lstStyle/>
          <a:p>
            <a:r>
              <a:t>The paper treats these as candidate sources of advantage to be tested, not proven ones. It proposes ablation experiments: remove one family of artifacts and measure the cost.</a:t>
            </a:r>
          </a:p>
          <a:p>
            <a:endParaRPr/>
          </a:p>
          <a:p>
            <a:r>
              <a:t>Category 1 overlaps with the first Act III lecture, Engineering Knowledge. Name it here; leave depth for that lecture.</a:t>
            </a:r>
          </a:p>
        </p:txBody>
      </p:sp>
      <p:sp>
        <p:nvSpPr>
          <p:cNvPr id="4" name="Slide Number Placeholder 3">
            <a:extLst>
              <a:ext uri="{FF2B5EF4-FFF2-40B4-BE49-F238E27FC236}">
                <a16:creationId xmlns:a16="http://schemas.microsoft.com/office/drawing/2014/main" id="{6F9D348C-4F71-3C3B-2E7C-2F70DBB66A49}"/>
              </a:ext>
            </a:extLst>
          </p:cNvPr>
          <p:cNvSpPr>
            <a:spLocks noGrp="1"/>
          </p:cNvSpPr>
          <p:nvPr>
            <p:ph type="sldNum" idx="12"/>
          </p:nvPr>
        </p:nvSpPr>
        <p:spPr/>
        <p:txBody>
          <a:bodyPr/>
          <a:lstStyle/>
          <a:p>
            <a:endParaRPr lang="en-US"/>
          </a:p>
        </p:txBody>
      </p:sp>
    </p:spTree>
    <p:extLst>
      <p:ext uri="{BB962C8B-B14F-4D97-AF65-F5344CB8AC3E}">
        <p14:creationId xmlns:p14="http://schemas.microsoft.com/office/powerpoint/2010/main" val="4225801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rPr dirty="0"/>
              <a:t>Animation: reveal the bottom bar only when sharing starts.</a:t>
            </a:r>
            <a:endParaRPr lang="en-US" dirty="0"/>
          </a:p>
          <a:p>
            <a:endParaRPr lang="en-US" dirty="0"/>
          </a:p>
          <a:p>
            <a:r>
              <a:rPr lang="en-US" dirty="0"/>
              <a:t>Likely placements: AGENTS.md and SKILL.md in category 2; </a:t>
            </a:r>
          </a:p>
          <a:p>
            <a:r>
              <a:rPr lang="en-US" dirty="0"/>
              <a:t>GitHub MCP in category 2 (tool access); </a:t>
            </a:r>
          </a:p>
          <a:p>
            <a:r>
              <a:rPr lang="en-US" dirty="0"/>
              <a:t>pytest in category 3. </a:t>
            </a:r>
          </a:p>
          <a:p>
            <a:r>
              <a:rPr lang="en-US" dirty="0"/>
              <a:t>docs/</a:t>
            </a:r>
            <a:r>
              <a:rPr lang="en-US" dirty="0" err="1"/>
              <a:t>api-spec.md</a:t>
            </a:r>
            <a:r>
              <a:rPr lang="en-US" dirty="0"/>
              <a:t> was the only category 1 artifact. Nothing in the workshop repo covered category 4, and nothing tracked goals or progress across sessions.</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This section answers why the idea returned in 2026 and what job a factory does inside an engineering organization, before the case studies show concrete factories.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first card summarizes the PostHog newsletter "Can software factories actually work?" (August 2026); PostHog reports agents write about 70 percent of its pull requests while humans still review at least 80 percent. Osmani's quote is exact. The Anthropic card refers to the harness reading; it previews the first case study.</a:t>
            </a:r>
          </a:p>
          <a:p>
            <a:endParaRPr/>
          </a:p>
          <a:p>
            <a:r>
              <a:t>Link to Act I Validation: the validation model is now the throughput limit of the whole organization, not a final phase.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first role is Davis et al.'s definition; the second is Larson's finding that he had kept goal context in his head; the third is the classic factory aim of consistent quality; the fourth answers the accountability concern raised by Stanford CodeX about StrongDM: when no human reads the code, buyers and auditors need some other record of how it was built.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These dimensions are a teaching synthesis, not a published taxonomy. Autonomy follows Shapiro's levels; unit of work contrasts Anthropic's one feature per session with Larson's goal loop; definition of done contrasts LaunchDarkly's legacy parity with StrongDM's hidden scenarios; scope echoes Greenfield and Short's product lines; feedback follows Larson's post release mode and Osmani's queue fed by production signals.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Some teams will have only one or two members present. They still fill their own canvas; a student alone can work solo or join another small team and note both projects.</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All three cases are recent practitioner reports. Only the Anthropic post comes from a model vendor; the LaunchDarkly and Larson results are reported by the organizations themselves.</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Source: Anthropic engineering post on harnesses for long running agents. As described there, the feature list is kept in a structured file with each feature marked failing until verified, and the agent is told not to delete or edit tests to make them pass. Sessions also used browser automation for end to end checks, which caught bugs that unit tests missed.</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Results are reported by LaunchDarkly in a company blog post, not independently measured. The rewrite was still not fully complete at six weeks.</a:t>
            </a:r>
          </a:p>
          <a:p>
            <a:endParaRPr/>
          </a:p>
          <a:p>
            <a:r>
              <a:t>The team spent the prior year preparing the codebase: faster builds, linting, and type checks, agent context, guardrails, and visual regression testing. They argue that what makes humans effective makes agents effective. They named the failure the "autonomy trap" and said the goal is not a dark factory.</a:t>
            </a:r>
          </a:p>
          <a:p>
            <a:endParaRPr/>
          </a:p>
          <a:p>
            <a:r>
              <a:t>Final size was about 39K lines of TypeScript and CSS.</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Will Larson is CTO at Imprint. The loop is a Claude Code skill (/linear-project-loop) over a Linear project, with goals in a Notion RFC and progress in Datadog or Snowflake. It runs locally today; he plans to move it to Imprint's orchestrated harness, "Agent Fleet," modeled loosely on Stripe's Minions.</a:t>
            </a:r>
          </a:p>
          <a:p>
            <a:endParaRPr/>
          </a:p>
          <a:p>
            <a:r>
              <a:t>He also describes a post release mode that checks shipped work less often, for example catching rising error rates after a passkeys launch.</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Map back to earlier lectures: explicit state and goals connect to Specification and Modeling; fast validation to Validation; placed checkpoints to Delegation and Failure Aware Engineering (defense in depth, governance conversion of lessons into gates).</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"Lessons turned into new gates" is the governance conversion idea from the Act II Failure Aware Engineering lecture. HumanLayer's failure shows the architecture row is the weakest: tests give feedback in seconds, but poor architecture surfaces weeks later, so models get little signal about it.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Teams may have only one or two members present. They still fill their own canvas; a student alone can work solo or join another small team and note both projects.</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Dates and deliverables are from the MAGE Phases 3 to 5 page. The payoff for teams: a deliberate factory lets agents take on more of Phase 5 while the service stays deployable and testable, and the models and documentation they must keep anyway become inputs the agents can use.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canvas works on paper or as a shared doc. No grading; a photo of each canvas can serve as formative assessment.</a:t>
            </a:r>
          </a:p>
          <a:p>
            <a:endParaRPr/>
          </a:p>
          <a:p>
            <a:r>
              <a:t>Listen for teams that put everything under agent guidance (ask how they would know a change is good) and teams with a person at every step (ask where review becomes the bottleneck). Strong upgrades name a measurable signal, such as fewer regressions caught late or less time from issue to deployed change.</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Keep this slide up during the activity. Row 5 was the weakest part of the workshop setup, so expect most teams to leave it nearly empty.</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columns are meant to be filled in live. Expect goal and progress tracking and production infrastructure to be the most common gaps, since few teams record goals or progress in a form an agent can read. Upgrades that only add more agent instructions, without a way to check results, are worth questioning.</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The second takeaway replaces the earlier "rival" framing: the main payoff of a factory is reliable change for the team that owns it. The competitive argument from Davis et al. is in the backup slides.</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first Act III lecture, Engineering Knowledge, distinguishes tacit, social, represented, and operationalized knowledge. Factory artifacts are the operationalized form; leave the framework itself for that lecture.</a:t>
            </a:r>
          </a:p>
          <a:p>
            <a:endParaRPr/>
          </a:p>
          <a:p>
            <a:r>
              <a:t>The bottom line connects to the hook: once production is cheap, the quality of what the organization knows and writes down sets the quality of what it ships.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txBody>
          <a:bodyPr/>
          <a:lstStyle/>
          <a:p>
            <a:endParaRPr lang="en-US"/>
          </a:p>
        </p:txBody>
      </p:sp>
      <p:sp>
        <p:nvSpPr>
          <p:cNvPr id="3" name="Notes Placeholder 2"/>
          <p:cNvSpPr>
            <a:spLocks noGrp="1"/>
          </p:cNvSpPr>
          <p:nvPr>
            <p:ph type="body" idx="1"/>
          </p:nvPr>
        </p:nvSpPr>
        <p:spPr/>
        <p:txBody>
          <a:bodyPr/>
          <a:lstStyle/>
          <a:p>
            <a:r>
              <a:t>Add a form link or QR code here if collecting answers online.</a:t>
            </a:r>
          </a:p>
          <a:p>
            <a:endParaRPr/>
          </a:p>
          <a:p>
            <a:r>
              <a:t>This question sets up the Act III lecture on Engineering Knowledge without teaching it; answers make good opening examples for that lecture.</a:t>
            </a:r>
          </a:p>
        </p:txBody>
      </p:sp>
      <p:sp>
        <p:nvSpPr>
          <p:cNvPr id="4" name="Slide Number Placeholder 3"/>
          <p:cNvSpPr>
            <a:spLocks noGrp="1"/>
          </p:cNvSpPr>
          <p:nvPr>
            <p:ph type="sldNum" idx="12"/>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simple">
  <p:cSld name="Title slide - simp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08100" y="3235325"/>
            <a:ext cx="6400800" cy="1881188"/>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a:endParaRPr/>
          </a:p>
        </p:txBody>
      </p:sp>
      <p:sp>
        <p:nvSpPr>
          <p:cNvPr id="16" name="Google Shape;16;p2"/>
          <p:cNvSpPr txBox="1">
            <a:spLocks noGrp="1"/>
          </p:cNvSpPr>
          <p:nvPr>
            <p:ph type="ctrTitle"/>
          </p:nvPr>
        </p:nvSpPr>
        <p:spPr>
          <a:xfrm>
            <a:off x="1127125" y="2078038"/>
            <a:ext cx="7031038" cy="874712"/>
          </a:xfrm>
          <a:prstGeom prst="rect">
            <a:avLst/>
          </a:prstGeom>
          <a:solidFill>
            <a:srgbClr val="FFFFFF"/>
          </a:solidFill>
          <a:ln>
            <a:noFill/>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7" name="Google Shape;17;p2"/>
          <p:cNvCxnSpPr/>
          <p:nvPr/>
        </p:nvCxnSpPr>
        <p:spPr>
          <a:xfrm>
            <a:off x="-16760" y="0"/>
            <a:ext cx="9144000" cy="0"/>
          </a:xfrm>
          <a:prstGeom prst="straightConnector1">
            <a:avLst/>
          </a:prstGeom>
          <a:noFill/>
          <a:ln w="38100" cap="flat" cmpd="sng">
            <a:solidFill>
              <a:schemeClr val="accent1"/>
            </a:solidFill>
            <a:prstDash val="solid"/>
            <a:miter lim="8000"/>
            <a:headEnd type="none" w="med" len="med"/>
            <a:tailEnd type="none" w="med" len="med"/>
          </a:ln>
        </p:spPr>
      </p:cxnSp>
      <p:cxnSp>
        <p:nvCxnSpPr>
          <p:cNvPr id="18" name="Google Shape;18;p2"/>
          <p:cNvCxnSpPr/>
          <p:nvPr/>
        </p:nvCxnSpPr>
        <p:spPr>
          <a:xfrm>
            <a:off x="0" y="6858000"/>
            <a:ext cx="9144000" cy="0"/>
          </a:xfrm>
          <a:prstGeom prst="straightConnector1">
            <a:avLst/>
          </a:prstGeom>
          <a:noFill/>
          <a:ln w="38100" cap="flat" cmpd="sng">
            <a:solidFill>
              <a:schemeClr val="accent1"/>
            </a:solidFill>
            <a:prstDash val="solid"/>
            <a:miter lim="8000"/>
            <a:headEnd type="none" w="med" len="med"/>
            <a:tailEnd type="none" w="med" len="med"/>
          </a:ln>
        </p:spPr>
      </p:cxnSp>
      <p:sp>
        <p:nvSpPr>
          <p:cNvPr id="19" name="Google Shape;19;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277148" y="1305004"/>
            <a:ext cx="8557768" cy="51669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30200" algn="l">
              <a:lnSpc>
                <a:spcPct val="100000"/>
              </a:lnSpc>
              <a:spcBef>
                <a:spcPts val="1000"/>
              </a:spcBef>
              <a:spcAft>
                <a:spcPts val="0"/>
              </a:spcAft>
              <a:buSzPts val="1600"/>
              <a:buChar char="•"/>
              <a:defRPr/>
            </a:lvl2pPr>
            <a:lvl3pPr marL="1371600" lvl="2" indent="-330200" algn="l">
              <a:lnSpc>
                <a:spcPct val="100000"/>
              </a:lnSpc>
              <a:spcBef>
                <a:spcPts val="1000"/>
              </a:spcBef>
              <a:spcAft>
                <a:spcPts val="0"/>
              </a:spcAft>
              <a:buSzPts val="16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3" name="Google Shape;23;p3"/>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 name="Google Shape;24;p3"/>
          <p:cNvCxnSpPr/>
          <p:nvPr/>
        </p:nvCxnSpPr>
        <p:spPr>
          <a:xfrm>
            <a:off x="277148" y="756603"/>
            <a:ext cx="8557769" cy="0"/>
          </a:xfrm>
          <a:prstGeom prst="straightConnector1">
            <a:avLst/>
          </a:prstGeom>
          <a:noFill/>
          <a:ln w="38100" cap="flat" cmpd="sng">
            <a:solidFill>
              <a:schemeClr val="accent1"/>
            </a:solidFill>
            <a:prstDash val="solid"/>
            <a:miter lim="8000"/>
            <a:headEnd type="none" w="med" len="med"/>
            <a:tailEnd type="none" w="med" len="med"/>
          </a:ln>
        </p:spPr>
      </p:cxnSp>
      <p:sp>
        <p:nvSpPr>
          <p:cNvPr id="25" name="Google Shape;25;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685800" y="2747963"/>
            <a:ext cx="7772400" cy="1362075"/>
          </a:xfrm>
          <a:prstGeom prst="rect">
            <a:avLst/>
          </a:prstGeom>
          <a:solidFill>
            <a:srgbClr val="FFFFFF"/>
          </a:solidFill>
          <a:ln>
            <a:noFill/>
          </a:ln>
        </p:spPr>
        <p:txBody>
          <a:bodyPr spcFirstLastPara="1" wrap="square" lIns="182875" tIns="182875" rIns="182875" bIns="182875" anchor="t" anchorCtr="0">
            <a:normAutofit/>
          </a:bodyPr>
          <a:lstStyle>
            <a:lvl1pPr lvl="0" algn="ctr">
              <a:lnSpc>
                <a:spcPct val="90000"/>
              </a:lnSpc>
              <a:spcBef>
                <a:spcPts val="0"/>
              </a:spcBef>
              <a:spcAft>
                <a:spcPts val="0"/>
              </a:spcAft>
              <a:buClr>
                <a:srgbClr val="262626"/>
              </a:buClr>
              <a:buSzPts val="4000"/>
              <a:buFont typeface="Calibri"/>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 name="Google Shape;28;p4"/>
          <p:cNvCxnSpPr/>
          <p:nvPr/>
        </p:nvCxnSpPr>
        <p:spPr>
          <a:xfrm>
            <a:off x="-57794"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29" name="Google Shape;29;p4"/>
          <p:cNvCxnSpPr/>
          <p:nvPr/>
        </p:nvCxnSpPr>
        <p:spPr>
          <a:xfrm>
            <a:off x="-78517"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30" name="Google Shape;30;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ntent">
  <p:cSld name="Double content">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84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sp>
        <p:nvSpPr>
          <p:cNvPr id="33" name="Google Shape;33;p5"/>
          <p:cNvSpPr txBox="1">
            <a:spLocks noGrp="1"/>
          </p:cNvSpPr>
          <p:nvPr>
            <p:ph type="body" idx="2"/>
          </p:nvPr>
        </p:nvSpPr>
        <p:spPr>
          <a:xfrm>
            <a:off x="4675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cxnSp>
        <p:nvCxnSpPr>
          <p:cNvPr id="34" name="Google Shape;34;p5"/>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35" name="Google Shape;35;p5"/>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uble content - titled">
  <p:cSld name="Double content - titled">
    <p:spTree>
      <p:nvGrpSpPr>
        <p:cNvPr id="1" name="Shape 37"/>
        <p:cNvGrpSpPr/>
        <p:nvPr/>
      </p:nvGrpSpPr>
      <p:grpSpPr>
        <a:xfrm>
          <a:off x="0" y="0"/>
          <a:ext cx="0" cy="0"/>
          <a:chOff x="0" y="0"/>
          <a:chExt cx="0" cy="0"/>
        </a:xfrm>
      </p:grpSpPr>
      <p:sp>
        <p:nvSpPr>
          <p:cNvPr id="38" name="Google Shape;38;p6"/>
          <p:cNvSpPr txBox="1">
            <a:spLocks noGrp="1"/>
          </p:cNvSpPr>
          <p:nvPr>
            <p:ph type="body" idx="1"/>
          </p:nvPr>
        </p:nvSpPr>
        <p:spPr>
          <a:xfrm>
            <a:off x="457200" y="1258655"/>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39" name="Google Shape;39;p6"/>
          <p:cNvSpPr txBox="1">
            <a:spLocks noGrp="1"/>
          </p:cNvSpPr>
          <p:nvPr>
            <p:ph type="body" idx="2"/>
          </p:nvPr>
        </p:nvSpPr>
        <p:spPr>
          <a:xfrm>
            <a:off x="457200" y="1898417"/>
            <a:ext cx="4040188"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40" name="Google Shape;40;p6"/>
          <p:cNvSpPr txBox="1">
            <a:spLocks noGrp="1"/>
          </p:cNvSpPr>
          <p:nvPr>
            <p:ph type="body" idx="3"/>
          </p:nvPr>
        </p:nvSpPr>
        <p:spPr>
          <a:xfrm>
            <a:off x="4645025" y="1258655"/>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1" name="Google Shape;41;p6"/>
          <p:cNvSpPr txBox="1">
            <a:spLocks noGrp="1"/>
          </p:cNvSpPr>
          <p:nvPr>
            <p:ph type="body" idx="4"/>
          </p:nvPr>
        </p:nvSpPr>
        <p:spPr>
          <a:xfrm>
            <a:off x="4645025" y="1898417"/>
            <a:ext cx="4041775"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cxnSp>
        <p:nvCxnSpPr>
          <p:cNvPr id="42" name="Google Shape;42;p6"/>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43" name="Google Shape;43;p6"/>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Just borders">
  <p:cSld name="Just borders">
    <p:spTree>
      <p:nvGrpSpPr>
        <p:cNvPr id="1"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47" name="Google Shape;47;p7"/>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48" name="Google Shape;48;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adrants">
  <p:cSld name="Quadrants">
    <p:spTree>
      <p:nvGrpSpPr>
        <p:cNvPr id="1"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51" name="Google Shape;51;p8"/>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52" name="Google Shape;52;p8"/>
          <p:cNvSpPr>
            <a:spLocks noGrp="1"/>
          </p:cNvSpPr>
          <p:nvPr>
            <p:ph type="pic" idx="2"/>
          </p:nvPr>
        </p:nvSpPr>
        <p:spPr>
          <a:xfrm>
            <a:off x="877888" y="765140"/>
            <a:ext cx="3137521" cy="2468339"/>
          </a:xfrm>
          <a:prstGeom prst="rect">
            <a:avLst/>
          </a:prstGeom>
          <a:noFill/>
          <a:ln>
            <a:noFill/>
          </a:ln>
        </p:spPr>
        <p:txBody>
          <a:bodyPr/>
          <a:lstStyle/>
          <a:p>
            <a:endParaRPr lang="en-US"/>
          </a:p>
        </p:txBody>
      </p:sp>
      <p:sp>
        <p:nvSpPr>
          <p:cNvPr id="53" name="Google Shape;53;p8"/>
          <p:cNvSpPr>
            <a:spLocks noGrp="1"/>
          </p:cNvSpPr>
          <p:nvPr>
            <p:ph type="pic" idx="3"/>
          </p:nvPr>
        </p:nvSpPr>
        <p:spPr>
          <a:xfrm>
            <a:off x="5204723" y="765140"/>
            <a:ext cx="3137521" cy="2468339"/>
          </a:xfrm>
          <a:prstGeom prst="rect">
            <a:avLst/>
          </a:prstGeom>
          <a:noFill/>
          <a:ln>
            <a:noFill/>
          </a:ln>
        </p:spPr>
        <p:txBody>
          <a:bodyPr/>
          <a:lstStyle/>
          <a:p>
            <a:endParaRPr lang="en-US"/>
          </a:p>
        </p:txBody>
      </p:sp>
      <p:sp>
        <p:nvSpPr>
          <p:cNvPr id="54" name="Google Shape;54;p8"/>
          <p:cNvSpPr>
            <a:spLocks noGrp="1"/>
          </p:cNvSpPr>
          <p:nvPr>
            <p:ph type="pic" idx="4"/>
          </p:nvPr>
        </p:nvSpPr>
        <p:spPr>
          <a:xfrm>
            <a:off x="877887" y="3596647"/>
            <a:ext cx="3137521" cy="2468339"/>
          </a:xfrm>
          <a:prstGeom prst="rect">
            <a:avLst/>
          </a:prstGeom>
          <a:noFill/>
          <a:ln>
            <a:noFill/>
          </a:ln>
        </p:spPr>
        <p:txBody>
          <a:bodyPr/>
          <a:lstStyle/>
          <a:p>
            <a:endParaRPr lang="en-US"/>
          </a:p>
        </p:txBody>
      </p:sp>
      <p:sp>
        <p:nvSpPr>
          <p:cNvPr id="55" name="Google Shape;55;p8"/>
          <p:cNvSpPr>
            <a:spLocks noGrp="1"/>
          </p:cNvSpPr>
          <p:nvPr>
            <p:ph type="pic" idx="5"/>
          </p:nvPr>
        </p:nvSpPr>
        <p:spPr>
          <a:xfrm>
            <a:off x="5204723" y="3616525"/>
            <a:ext cx="3137521" cy="2468339"/>
          </a:xfrm>
          <a:prstGeom prst="rect">
            <a:avLst/>
          </a:prstGeom>
          <a:noFill/>
          <a:ln>
            <a:noFill/>
          </a:ln>
        </p:spPr>
        <p:txBody>
          <a:bodyPr/>
          <a:lstStyle/>
          <a:p>
            <a:endParaRPr lang="en-US"/>
          </a:p>
        </p:txBody>
      </p:sp>
      <p:sp>
        <p:nvSpPr>
          <p:cNvPr id="56" name="Google Shape;56;p8"/>
          <p:cNvSpPr txBox="1">
            <a:spLocks noGrp="1"/>
          </p:cNvSpPr>
          <p:nvPr>
            <p:ph type="body" idx="1"/>
          </p:nvPr>
        </p:nvSpPr>
        <p:spPr>
          <a:xfrm>
            <a:off x="877819"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8"/>
          <p:cNvSpPr txBox="1">
            <a:spLocks noGrp="1"/>
          </p:cNvSpPr>
          <p:nvPr>
            <p:ph type="body" idx="6"/>
          </p:nvPr>
        </p:nvSpPr>
        <p:spPr>
          <a:xfrm>
            <a:off x="5205344"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8"/>
          <p:cNvSpPr txBox="1">
            <a:spLocks noGrp="1"/>
          </p:cNvSpPr>
          <p:nvPr>
            <p:ph type="body" idx="7"/>
          </p:nvPr>
        </p:nvSpPr>
        <p:spPr>
          <a:xfrm>
            <a:off x="877819"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9" name="Google Shape;59;p8"/>
          <p:cNvSpPr txBox="1">
            <a:spLocks noGrp="1"/>
          </p:cNvSpPr>
          <p:nvPr>
            <p:ph type="body" idx="8"/>
          </p:nvPr>
        </p:nvSpPr>
        <p:spPr>
          <a:xfrm>
            <a:off x="5205344"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type="picTx">
  <p:cSld name="PICTURE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792288" y="4800600"/>
            <a:ext cx="5486400" cy="566738"/>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000"/>
              <a:buFont typeface="Calibri"/>
              <a:buNone/>
              <a:defRPr sz="20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cxnSp>
        <p:nvCxnSpPr>
          <p:cNvPr id="65" name="Google Shape;65;p9"/>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66" name="Google Shape;66;p9"/>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67" name="Google Shape;67;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ributions">
  <p:cSld name="Contribu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95200" y="106023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cxnSp>
        <p:nvCxnSpPr>
          <p:cNvPr id="70" name="Google Shape;70;p10"/>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71" name="Google Shape;71;p10"/>
          <p:cNvSpPr>
            <a:spLocks noGrp="1"/>
          </p:cNvSpPr>
          <p:nvPr>
            <p:ph type="pic" idx="2"/>
          </p:nvPr>
        </p:nvSpPr>
        <p:spPr>
          <a:xfrm>
            <a:off x="1761066" y="1749288"/>
            <a:ext cx="1456267" cy="914400"/>
          </a:xfrm>
          <a:prstGeom prst="rect">
            <a:avLst/>
          </a:prstGeom>
          <a:noFill/>
          <a:ln>
            <a:noFill/>
          </a:ln>
        </p:spPr>
        <p:txBody>
          <a:bodyPr/>
          <a:lstStyle/>
          <a:p>
            <a:endParaRPr lang="en-US"/>
          </a:p>
        </p:txBody>
      </p:sp>
      <p:sp>
        <p:nvSpPr>
          <p:cNvPr id="72" name="Google Shape;72;p10"/>
          <p:cNvSpPr>
            <a:spLocks noGrp="1"/>
          </p:cNvSpPr>
          <p:nvPr>
            <p:ph type="pic" idx="3"/>
          </p:nvPr>
        </p:nvSpPr>
        <p:spPr>
          <a:xfrm>
            <a:off x="3843866" y="1749288"/>
            <a:ext cx="1456267" cy="914400"/>
          </a:xfrm>
          <a:prstGeom prst="rect">
            <a:avLst/>
          </a:prstGeom>
          <a:noFill/>
          <a:ln>
            <a:noFill/>
          </a:ln>
        </p:spPr>
        <p:txBody>
          <a:bodyPr/>
          <a:lstStyle/>
          <a:p>
            <a:endParaRPr lang="en-US"/>
          </a:p>
        </p:txBody>
      </p:sp>
      <p:sp>
        <p:nvSpPr>
          <p:cNvPr id="73" name="Google Shape;73;p10"/>
          <p:cNvSpPr txBox="1">
            <a:spLocks noGrp="1"/>
          </p:cNvSpPr>
          <p:nvPr>
            <p:ph type="body" idx="4"/>
          </p:nvPr>
        </p:nvSpPr>
        <p:spPr>
          <a:xfrm>
            <a:off x="595200" y="312988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4" name="Google Shape;74;p10"/>
          <p:cNvSpPr>
            <a:spLocks noGrp="1"/>
          </p:cNvSpPr>
          <p:nvPr>
            <p:ph type="pic" idx="5"/>
          </p:nvPr>
        </p:nvSpPr>
        <p:spPr>
          <a:xfrm>
            <a:off x="1761066" y="3818938"/>
            <a:ext cx="1456267" cy="914400"/>
          </a:xfrm>
          <a:prstGeom prst="rect">
            <a:avLst/>
          </a:prstGeom>
          <a:noFill/>
          <a:ln>
            <a:noFill/>
          </a:ln>
        </p:spPr>
        <p:txBody>
          <a:bodyPr/>
          <a:lstStyle/>
          <a:p>
            <a:endParaRPr lang="en-US"/>
          </a:p>
        </p:txBody>
      </p:sp>
      <p:sp>
        <p:nvSpPr>
          <p:cNvPr id="75" name="Google Shape;75;p10"/>
          <p:cNvSpPr>
            <a:spLocks noGrp="1"/>
          </p:cNvSpPr>
          <p:nvPr>
            <p:ph type="pic" idx="6"/>
          </p:nvPr>
        </p:nvSpPr>
        <p:spPr>
          <a:xfrm>
            <a:off x="3843866" y="3818938"/>
            <a:ext cx="1456267" cy="914400"/>
          </a:xfrm>
          <a:prstGeom prst="rect">
            <a:avLst/>
          </a:prstGeom>
          <a:noFill/>
          <a:ln>
            <a:noFill/>
          </a:ln>
        </p:spPr>
        <p:txBody>
          <a:bodyPr/>
          <a:lstStyle/>
          <a:p>
            <a:endParaRPr lang="en-US"/>
          </a:p>
        </p:txBody>
      </p:sp>
      <p:sp>
        <p:nvSpPr>
          <p:cNvPr id="76" name="Google Shape;76;p10"/>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06045" y="964692"/>
            <a:ext cx="5937755" cy="118872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600"/>
              <a:buFont typeface="Calibri"/>
              <a:buNone/>
              <a:defRPr sz="2600" b="0" i="0" u="none" strike="noStrike" cap="non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06045" y="2638045"/>
            <a:ext cx="5937755"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11">
            <a:alphaModFix/>
          </a:blip>
          <a:srcRect/>
          <a:stretch/>
        </p:blipFill>
        <p:spPr>
          <a:xfrm>
            <a:off x="8746670" y="6562249"/>
            <a:ext cx="292555" cy="156273"/>
          </a:xfrm>
          <a:prstGeom prst="rect">
            <a:avLst/>
          </a:prstGeom>
          <a:noFill/>
          <a:ln>
            <a:noFill/>
          </a:ln>
        </p:spPr>
      </p:pic>
      <p:sp>
        <p:nvSpPr>
          <p:cNvPr id="13" name="Google Shape;13;p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555960"/>
                </a:solidFill>
                <a:latin typeface="Calibri"/>
                <a:ea typeface="Calibri"/>
                <a:cs typeface="Calibri"/>
                <a:sym typeface="Calibri"/>
              </a:defRPr>
            </a:lvl1pPr>
            <a:lvl2pPr marL="0" marR="0" lvl="1" indent="0" algn="r" rtl="0">
              <a:spcBef>
                <a:spcPts val="0"/>
              </a:spcBef>
              <a:buNone/>
              <a:defRPr sz="1400" b="0" i="0" u="none" strike="noStrike" cap="none">
                <a:solidFill>
                  <a:srgbClr val="555960"/>
                </a:solidFill>
                <a:latin typeface="Calibri"/>
                <a:ea typeface="Calibri"/>
                <a:cs typeface="Calibri"/>
                <a:sym typeface="Calibri"/>
              </a:defRPr>
            </a:lvl2pPr>
            <a:lvl3pPr marL="0" marR="0" lvl="2" indent="0" algn="r" rtl="0">
              <a:spcBef>
                <a:spcPts val="0"/>
              </a:spcBef>
              <a:buNone/>
              <a:defRPr sz="1400" b="0" i="0" u="none" strike="noStrike" cap="none">
                <a:solidFill>
                  <a:srgbClr val="555960"/>
                </a:solidFill>
                <a:latin typeface="Calibri"/>
                <a:ea typeface="Calibri"/>
                <a:cs typeface="Calibri"/>
                <a:sym typeface="Calibri"/>
              </a:defRPr>
            </a:lvl3pPr>
            <a:lvl4pPr marL="0" marR="0" lvl="3" indent="0" algn="r" rtl="0">
              <a:spcBef>
                <a:spcPts val="0"/>
              </a:spcBef>
              <a:buNone/>
              <a:defRPr sz="1400" b="0" i="0" u="none" strike="noStrike" cap="none">
                <a:solidFill>
                  <a:srgbClr val="555960"/>
                </a:solidFill>
                <a:latin typeface="Calibri"/>
                <a:ea typeface="Calibri"/>
                <a:cs typeface="Calibri"/>
                <a:sym typeface="Calibri"/>
              </a:defRPr>
            </a:lvl4pPr>
            <a:lvl5pPr marL="0" marR="0" lvl="4" indent="0" algn="r" rtl="0">
              <a:spcBef>
                <a:spcPts val="0"/>
              </a:spcBef>
              <a:buNone/>
              <a:defRPr sz="1400" b="0" i="0" u="none" strike="noStrike" cap="none">
                <a:solidFill>
                  <a:srgbClr val="555960"/>
                </a:solidFill>
                <a:latin typeface="Calibri"/>
                <a:ea typeface="Calibri"/>
                <a:cs typeface="Calibri"/>
                <a:sym typeface="Calibri"/>
              </a:defRPr>
            </a:lvl5pPr>
            <a:lvl6pPr marL="0" marR="0" lvl="5" indent="0" algn="r" rtl="0">
              <a:spcBef>
                <a:spcPts val="0"/>
              </a:spcBef>
              <a:buNone/>
              <a:defRPr sz="1400" b="0" i="0" u="none" strike="noStrike" cap="none">
                <a:solidFill>
                  <a:srgbClr val="555960"/>
                </a:solidFill>
                <a:latin typeface="Calibri"/>
                <a:ea typeface="Calibri"/>
                <a:cs typeface="Calibri"/>
                <a:sym typeface="Calibri"/>
              </a:defRPr>
            </a:lvl6pPr>
            <a:lvl7pPr marL="0" marR="0" lvl="6" indent="0" algn="r" rtl="0">
              <a:spcBef>
                <a:spcPts val="0"/>
              </a:spcBef>
              <a:buNone/>
              <a:defRPr sz="1400" b="0" i="0" u="none" strike="noStrike" cap="none">
                <a:solidFill>
                  <a:srgbClr val="555960"/>
                </a:solidFill>
                <a:latin typeface="Calibri"/>
                <a:ea typeface="Calibri"/>
                <a:cs typeface="Calibri"/>
                <a:sym typeface="Calibri"/>
              </a:defRPr>
            </a:lvl7pPr>
            <a:lvl8pPr marL="0" marR="0" lvl="7" indent="0" algn="r" rtl="0">
              <a:spcBef>
                <a:spcPts val="0"/>
              </a:spcBef>
              <a:buNone/>
              <a:defRPr sz="1400" b="0" i="0" u="none" strike="noStrike" cap="none">
                <a:solidFill>
                  <a:srgbClr val="555960"/>
                </a:solidFill>
                <a:latin typeface="Calibri"/>
                <a:ea typeface="Calibri"/>
                <a:cs typeface="Calibri"/>
                <a:sym typeface="Calibri"/>
              </a:defRPr>
            </a:lvl8pPr>
            <a:lvl9pPr marL="0" marR="0" lvl="8" indent="0" algn="r" rtl="0">
              <a:spcBef>
                <a:spcPts val="0"/>
              </a:spcBef>
              <a:buNone/>
              <a:defRPr sz="1400" b="0" i="0" u="none" strike="noStrike" cap="none">
                <a:solidFill>
                  <a:srgbClr val="55596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Google Shape;83;p11">
            <a:extLst>
              <a:ext uri="{FF2B5EF4-FFF2-40B4-BE49-F238E27FC236}">
                <a16:creationId xmlns:a16="http://schemas.microsoft.com/office/drawing/2014/main" id="{C5F0F197-A3DF-98A4-9C96-79B7418E0F0D}"/>
              </a:ext>
            </a:extLst>
          </p:cNvPr>
          <p:cNvSpPr txBox="1"/>
          <p:nvPr/>
        </p:nvSpPr>
        <p:spPr>
          <a:xfrm>
            <a:off x="658368" y="576072"/>
            <a:ext cx="7818120" cy="457200"/>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2000" b="0" i="1" u="none" strike="noStrike" cap="none">
                <a:solidFill>
                  <a:srgbClr val="5C4826"/>
                </a:solidFill>
                <a:latin typeface="Calibri"/>
                <a:ea typeface="Calibri"/>
                <a:cs typeface="Calibri"/>
                <a:sym typeface="Calibri"/>
              </a:rPr>
              <a:t>S o f t w a r e   E n g i n e e r i n g</a:t>
            </a:r>
            <a:endParaRPr/>
          </a:p>
        </p:txBody>
      </p:sp>
      <p:sp>
        <p:nvSpPr>
          <p:cNvPr id="84" name="Google Shape;84;p11">
            <a:extLst>
              <a:ext uri="{FF2B5EF4-FFF2-40B4-BE49-F238E27FC236}">
                <a16:creationId xmlns:a16="http://schemas.microsoft.com/office/drawing/2014/main" id="{1977E283-381D-DFED-D6AF-9D311DBB4891}"/>
              </a:ext>
            </a:extLst>
          </p:cNvPr>
          <p:cNvSpPr txBox="1"/>
          <p:nvPr/>
        </p:nvSpPr>
        <p:spPr>
          <a:xfrm>
            <a:off x="658368" y="1014984"/>
            <a:ext cx="7818120" cy="274320"/>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1600" b="0" i="0" u="none" strike="noStrike" cap="none">
                <a:solidFill>
                  <a:srgbClr val="555960"/>
                </a:solidFill>
                <a:latin typeface="Calibri"/>
                <a:ea typeface="Calibri"/>
                <a:cs typeface="Calibri"/>
                <a:sym typeface="Calibri"/>
              </a:rPr>
              <a:t>ECE 30861 / CSCI 45000</a:t>
            </a:r>
            <a:endParaRPr/>
          </a:p>
        </p:txBody>
      </p:sp>
      <p:sp>
        <p:nvSpPr>
          <p:cNvPr id="85" name="Google Shape;85;p11">
            <a:extLst>
              <a:ext uri="{FF2B5EF4-FFF2-40B4-BE49-F238E27FC236}">
                <a16:creationId xmlns:a16="http://schemas.microsoft.com/office/drawing/2014/main" id="{97F31B55-9A3C-C31D-25C7-11BB465485C4}"/>
              </a:ext>
            </a:extLst>
          </p:cNvPr>
          <p:cNvSpPr txBox="1"/>
          <p:nvPr/>
        </p:nvSpPr>
        <p:spPr>
          <a:xfrm>
            <a:off x="384048" y="1837943"/>
            <a:ext cx="8412480" cy="731520"/>
          </a:xfrm>
          <a:prstGeom prst="rect">
            <a:avLst/>
          </a:prstGeom>
          <a:noFill/>
          <a:ln>
            <a:noFill/>
          </a:ln>
        </p:spPr>
        <p:txBody>
          <a:bodyPr spcFirstLastPara="1" wrap="square" lIns="27425" tIns="22850" rIns="27425" bIns="22850" anchor="ctr" anchorCtr="0">
            <a:noAutofit/>
          </a:bodyPr>
          <a:lstStyle/>
          <a:p>
            <a:pPr marL="0" marR="0" lvl="0" indent="0" algn="ctr" rtl="0">
              <a:lnSpc>
                <a:spcPct val="104000"/>
              </a:lnSpc>
              <a:spcBef>
                <a:spcPts val="0"/>
              </a:spcBef>
              <a:spcAft>
                <a:spcPts val="0"/>
              </a:spcAft>
              <a:buNone/>
            </a:pPr>
            <a:r>
              <a:rPr lang="en-US" sz="3200" b="0" i="0" u="none" strike="noStrike" cap="none">
                <a:solidFill>
                  <a:srgbClr val="2D2D2D"/>
                </a:solidFill>
                <a:latin typeface="Calibri"/>
                <a:ea typeface="Calibri"/>
                <a:cs typeface="Calibri"/>
                <a:sym typeface="Calibri"/>
              </a:rPr>
              <a:t>From </a:t>
            </a:r>
            <a:r>
              <a:rPr lang="en-US" sz="3200" b="0" i="1" u="none" strike="noStrike" cap="none">
                <a:solidFill>
                  <a:srgbClr val="2D2D2D"/>
                </a:solidFill>
                <a:latin typeface="Calibri"/>
                <a:ea typeface="Calibri"/>
                <a:cs typeface="Calibri"/>
                <a:sym typeface="Calibri"/>
              </a:rPr>
              <a:t>Workstation</a:t>
            </a:r>
            <a:r>
              <a:rPr lang="en-US" sz="3200" b="0" i="0" u="none" strike="noStrike" cap="none">
                <a:solidFill>
                  <a:srgbClr val="2D2D2D"/>
                </a:solidFill>
                <a:latin typeface="Calibri"/>
                <a:ea typeface="Calibri"/>
                <a:cs typeface="Calibri"/>
                <a:sym typeface="Calibri"/>
              </a:rPr>
              <a:t> to </a:t>
            </a:r>
            <a:r>
              <a:rPr lang="en-US" sz="3200" b="0" i="1" u="none" strike="noStrike" cap="none">
                <a:solidFill>
                  <a:srgbClr val="2D2D2D"/>
                </a:solidFill>
                <a:latin typeface="Calibri"/>
                <a:ea typeface="Calibri"/>
                <a:cs typeface="Calibri"/>
                <a:sym typeface="Calibri"/>
              </a:rPr>
              <a:t>Factory</a:t>
            </a:r>
            <a:endParaRPr/>
          </a:p>
        </p:txBody>
      </p:sp>
      <p:sp>
        <p:nvSpPr>
          <p:cNvPr id="86" name="Google Shape;86;p11">
            <a:extLst>
              <a:ext uri="{FF2B5EF4-FFF2-40B4-BE49-F238E27FC236}">
                <a16:creationId xmlns:a16="http://schemas.microsoft.com/office/drawing/2014/main" id="{ED00D416-6D6D-C3C1-E03B-2E69238F6245}"/>
              </a:ext>
            </a:extLst>
          </p:cNvPr>
          <p:cNvSpPr txBox="1"/>
          <p:nvPr/>
        </p:nvSpPr>
        <p:spPr>
          <a:xfrm>
            <a:off x="429768" y="2679192"/>
            <a:ext cx="8284464" cy="475488"/>
          </a:xfrm>
          <a:prstGeom prst="rect">
            <a:avLst/>
          </a:prstGeom>
          <a:noFill/>
          <a:ln>
            <a:noFill/>
          </a:ln>
        </p:spPr>
        <p:txBody>
          <a:bodyPr spcFirstLastPara="1" wrap="square" lIns="27425" tIns="22850" rIns="27425" bIns="22850" anchor="ctr" anchorCtr="0">
            <a:noAutofit/>
          </a:bodyPr>
          <a:lstStyle/>
          <a:p>
            <a:pPr marL="0" marR="0" lvl="0" indent="0" algn="ctr" rtl="0">
              <a:lnSpc>
                <a:spcPct val="104000"/>
              </a:lnSpc>
              <a:spcBef>
                <a:spcPts val="0"/>
              </a:spcBef>
              <a:spcAft>
                <a:spcPts val="0"/>
              </a:spcAft>
              <a:buNone/>
            </a:pPr>
            <a:r>
              <a:rPr lang="en-US" sz="2200" i="1">
                <a:solidFill>
                  <a:srgbClr val="8E6F3E"/>
                </a:solidFill>
                <a:latin typeface="Calibri"/>
                <a:ea typeface="Calibri"/>
                <a:cs typeface="Calibri"/>
                <a:sym typeface="Calibri"/>
              </a:rPr>
              <a:t>Engineering the system that builds the software</a:t>
            </a:r>
            <a:endParaRPr/>
          </a:p>
        </p:txBody>
      </p:sp>
      <p:sp>
        <p:nvSpPr>
          <p:cNvPr id="87" name="Google Shape;87;p11">
            <a:extLst>
              <a:ext uri="{FF2B5EF4-FFF2-40B4-BE49-F238E27FC236}">
                <a16:creationId xmlns:a16="http://schemas.microsoft.com/office/drawing/2014/main" id="{8654B7A5-6D06-1279-65F8-B3B912380AEB}"/>
              </a:ext>
            </a:extLst>
          </p:cNvPr>
          <p:cNvSpPr txBox="1"/>
          <p:nvPr/>
        </p:nvSpPr>
        <p:spPr>
          <a:xfrm>
            <a:off x="736600" y="3098800"/>
            <a:ext cx="7680000" cy="1320000"/>
          </a:xfrm>
          <a:prstGeom prst="rect">
            <a:avLst/>
          </a:prstGeom>
          <a:noFill/>
          <a:ln>
            <a:noFill/>
          </a:ln>
        </p:spPr>
        <p:txBody>
          <a:bodyPr spcFirstLastPara="1" wrap="square" lIns="27425" tIns="22850" rIns="27425" bIns="22850" anchor="ctr" anchorCtr="0">
            <a:noAutofit/>
          </a:bodyPr>
          <a:lstStyle/>
          <a:p>
            <a:pPr marL="0" marR="0" lvl="0" indent="0" algn="ctr" rtl="0">
              <a:lnSpc>
                <a:spcPct val="104000"/>
              </a:lnSpc>
              <a:spcBef>
                <a:spcPts val="0"/>
              </a:spcBef>
              <a:spcAft>
                <a:spcPts val="0"/>
              </a:spcAft>
              <a:buNone/>
            </a:pPr>
            <a:r>
              <a:rPr lang="en-US" sz="1800" i="1">
                <a:solidFill>
                  <a:srgbClr val="2D2D2D"/>
                </a:solidFill>
                <a:latin typeface="Calibri"/>
                <a:ea typeface="Calibri"/>
                <a:cs typeface="Calibri"/>
                <a:sym typeface="Calibri"/>
              </a:rPr>
              <a:t>Prof. James C. Davis</a:t>
            </a:r>
            <a:endParaRPr sz="1800" i="1">
              <a:solidFill>
                <a:srgbClr val="2D2D2D"/>
              </a:solidFill>
              <a:latin typeface="Calibri"/>
              <a:ea typeface="Calibri"/>
              <a:cs typeface="Calibri"/>
              <a:sym typeface="Calibri"/>
            </a:endParaRPr>
          </a:p>
          <a:p>
            <a:pPr marL="0" marR="0" lvl="0" indent="0" algn="ctr" rtl="0">
              <a:lnSpc>
                <a:spcPct val="104000"/>
              </a:lnSpc>
              <a:spcBef>
                <a:spcPts val="0"/>
              </a:spcBef>
              <a:spcAft>
                <a:spcPts val="0"/>
              </a:spcAft>
              <a:buNone/>
            </a:pPr>
            <a:r>
              <a:rPr lang="en-US" sz="1800" i="1">
                <a:solidFill>
                  <a:srgbClr val="2D2D2D"/>
                </a:solidFill>
                <a:latin typeface="Calibri"/>
                <a:ea typeface="Calibri"/>
                <a:cs typeface="Calibri"/>
                <a:sym typeface="Calibri"/>
              </a:rPr>
              <a:t>Prof. Steve France</a:t>
            </a:r>
            <a:endParaRPr sz="1800" i="1">
              <a:solidFill>
                <a:srgbClr val="2D2D2D"/>
              </a:solidFill>
              <a:latin typeface="Calibri"/>
              <a:ea typeface="Calibri"/>
              <a:cs typeface="Calibri"/>
              <a:sym typeface="Calibri"/>
            </a:endParaRPr>
          </a:p>
        </p:txBody>
      </p:sp>
      <p:sp>
        <p:nvSpPr>
          <p:cNvPr id="88" name="Google Shape;88;p11">
            <a:extLst>
              <a:ext uri="{FF2B5EF4-FFF2-40B4-BE49-F238E27FC236}">
                <a16:creationId xmlns:a16="http://schemas.microsoft.com/office/drawing/2014/main" id="{7CB95BD7-F58D-FAFF-14D7-E634AD7C8D20}"/>
              </a:ext>
            </a:extLst>
          </p:cNvPr>
          <p:cNvSpPr txBox="1"/>
          <p:nvPr/>
        </p:nvSpPr>
        <p:spPr>
          <a:xfrm>
            <a:off x="1143000" y="4737100"/>
            <a:ext cx="6858000" cy="30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700">
                <a:solidFill>
                  <a:srgbClr val="555960"/>
                </a:solidFill>
                <a:latin typeface="Calibri"/>
                <a:ea typeface="Calibri"/>
                <a:cs typeface="Calibri"/>
                <a:sym typeface="Calibri"/>
              </a:rPr>
              <a:t>Thursday, October 29, 2026</a:t>
            </a:r>
            <a:endParaRPr sz="1700">
              <a:solidFill>
                <a:srgbClr val="55596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Tomorrow your team gets ten agents that never sleep</a:t>
            </a:r>
          </a:p>
        </p:txBody>
      </p:sp>
      <p:sp>
        <p:nvSpPr>
          <p:cNvPr id="3" name="TextBox 2"/>
          <p:cNvSpPr txBox="1"/>
          <p:nvPr/>
        </p:nvSpPr>
        <p:spPr>
          <a:xfrm>
            <a:off x="411480" y="1005840"/>
            <a:ext cx="8321040" cy="502920"/>
          </a:xfrm>
          <a:prstGeom prst="rect">
            <a:avLst/>
          </a:prstGeom>
          <a:noFill/>
        </p:spPr>
        <p:txBody>
          <a:bodyPr wrap="square" lIns="27425" tIns="22850" rIns="27425" bIns="22850" anchor="t"/>
          <a:lstStyle/>
          <a:p>
            <a:pPr algn="l"/>
            <a:r>
              <a:rPr sz="2100" b="1" i="0">
                <a:solidFill>
                  <a:srgbClr val="5C4826"/>
                </a:solidFill>
                <a:latin typeface="Calibri"/>
              </a:rPr>
              <a:t>Vote: what breaks first?</a:t>
            </a:r>
          </a:p>
        </p:txBody>
      </p:sp>
      <p:sp>
        <p:nvSpPr>
          <p:cNvPr id="4" name="Rectangle 3"/>
          <p:cNvSpPr/>
          <p:nvPr/>
        </p:nvSpPr>
        <p:spPr>
          <a:xfrm>
            <a:off x="411480" y="1645920"/>
            <a:ext cx="4069080" cy="1783080"/>
          </a:xfrm>
          <a:prstGeom prst="rect">
            <a:avLst/>
          </a:prstGeom>
          <a:solidFill>
            <a:srgbClr val="F5F1E8"/>
          </a:solidFill>
          <a:ln w="12700">
            <a:solidFill>
              <a:srgbClr val="CBB590"/>
            </a:solidFill>
          </a:ln>
        </p:spPr>
        <p:txBody>
          <a:bodyPr rtlCol="0" anchor="ctr"/>
          <a:lstStyle/>
          <a:p>
            <a:endParaRPr/>
          </a:p>
        </p:txBody>
      </p:sp>
      <p:sp>
        <p:nvSpPr>
          <p:cNvPr id="5" name="TextBox 4"/>
          <p:cNvSpPr txBox="1"/>
          <p:nvPr/>
        </p:nvSpPr>
        <p:spPr>
          <a:xfrm>
            <a:off x="557784" y="1737360"/>
            <a:ext cx="3776472" cy="274320"/>
          </a:xfrm>
          <a:prstGeom prst="rect">
            <a:avLst/>
          </a:prstGeom>
          <a:noFill/>
        </p:spPr>
        <p:txBody>
          <a:bodyPr wrap="square" lIns="27425" tIns="22850" rIns="27425" bIns="22850" anchor="ctr"/>
          <a:lstStyle/>
          <a:p>
            <a:pPr algn="l"/>
            <a:r>
              <a:rPr sz="1300" b="1" i="0">
                <a:solidFill>
                  <a:srgbClr val="8E6F3E"/>
                </a:solidFill>
                <a:latin typeface="Calibri"/>
              </a:rPr>
              <a:t>OPTION A</a:t>
            </a:r>
          </a:p>
        </p:txBody>
      </p:sp>
      <p:sp>
        <p:nvSpPr>
          <p:cNvPr id="6" name="TextBox 5"/>
          <p:cNvSpPr txBox="1"/>
          <p:nvPr/>
        </p:nvSpPr>
        <p:spPr>
          <a:xfrm>
            <a:off x="557784" y="2029968"/>
            <a:ext cx="3776472" cy="411480"/>
          </a:xfrm>
          <a:prstGeom prst="rect">
            <a:avLst/>
          </a:prstGeom>
          <a:noFill/>
        </p:spPr>
        <p:txBody>
          <a:bodyPr wrap="square" lIns="27425" tIns="22850" rIns="27425" bIns="22850" anchor="ctr"/>
          <a:lstStyle/>
          <a:p>
            <a:pPr algn="l"/>
            <a:r>
              <a:rPr sz="1800" b="1" i="0">
                <a:solidFill>
                  <a:srgbClr val="5C4826"/>
                </a:solidFill>
                <a:latin typeface="Calibri"/>
              </a:rPr>
              <a:t>Knowing what to build next</a:t>
            </a:r>
          </a:p>
        </p:txBody>
      </p:sp>
      <p:sp>
        <p:nvSpPr>
          <p:cNvPr id="7" name="TextBox 6"/>
          <p:cNvSpPr txBox="1"/>
          <p:nvPr/>
        </p:nvSpPr>
        <p:spPr>
          <a:xfrm>
            <a:off x="557784" y="2487168"/>
            <a:ext cx="3776472" cy="868679"/>
          </a:xfrm>
          <a:prstGeom prst="rect">
            <a:avLst/>
          </a:prstGeom>
          <a:noFill/>
        </p:spPr>
        <p:txBody>
          <a:bodyPr wrap="square" lIns="27425" tIns="22850" rIns="27425" bIns="22850" anchor="t"/>
          <a:lstStyle/>
          <a:p>
            <a:pPr algn="l"/>
            <a:r>
              <a:rPr sz="1600" b="0" i="0">
                <a:solidFill>
                  <a:srgbClr val="555960"/>
                </a:solidFill>
                <a:latin typeface="Calibri"/>
              </a:rPr>
              <a:t>Specs and priorities run out before the agents do.</a:t>
            </a:r>
          </a:p>
        </p:txBody>
      </p:sp>
      <p:sp>
        <p:nvSpPr>
          <p:cNvPr id="8" name="Rectangle 7"/>
          <p:cNvSpPr/>
          <p:nvPr/>
        </p:nvSpPr>
        <p:spPr>
          <a:xfrm>
            <a:off x="4663440" y="1645920"/>
            <a:ext cx="4069080" cy="1783080"/>
          </a:xfrm>
          <a:prstGeom prst="rect">
            <a:avLst/>
          </a:prstGeom>
          <a:solidFill>
            <a:srgbClr val="FCFAF6"/>
          </a:solidFill>
          <a:ln w="12700">
            <a:solidFill>
              <a:srgbClr val="CBB590"/>
            </a:solidFill>
          </a:ln>
        </p:spPr>
        <p:txBody>
          <a:bodyPr rtlCol="0" anchor="ctr"/>
          <a:lstStyle/>
          <a:p>
            <a:endParaRPr/>
          </a:p>
        </p:txBody>
      </p:sp>
      <p:sp>
        <p:nvSpPr>
          <p:cNvPr id="9" name="TextBox 8"/>
          <p:cNvSpPr txBox="1"/>
          <p:nvPr/>
        </p:nvSpPr>
        <p:spPr>
          <a:xfrm>
            <a:off x="4809744" y="1737360"/>
            <a:ext cx="3776472" cy="274320"/>
          </a:xfrm>
          <a:prstGeom prst="rect">
            <a:avLst/>
          </a:prstGeom>
          <a:noFill/>
        </p:spPr>
        <p:txBody>
          <a:bodyPr wrap="square" lIns="27425" tIns="22850" rIns="27425" bIns="22850" anchor="ctr"/>
          <a:lstStyle/>
          <a:p>
            <a:pPr algn="l"/>
            <a:r>
              <a:rPr sz="1300" b="1" i="0">
                <a:solidFill>
                  <a:srgbClr val="8E6F3E"/>
                </a:solidFill>
                <a:latin typeface="Calibri"/>
              </a:rPr>
              <a:t>OPTION B</a:t>
            </a:r>
          </a:p>
        </p:txBody>
      </p:sp>
      <p:sp>
        <p:nvSpPr>
          <p:cNvPr id="10" name="TextBox 9"/>
          <p:cNvSpPr txBox="1"/>
          <p:nvPr/>
        </p:nvSpPr>
        <p:spPr>
          <a:xfrm>
            <a:off x="4809744" y="2029968"/>
            <a:ext cx="3776472" cy="411480"/>
          </a:xfrm>
          <a:prstGeom prst="rect">
            <a:avLst/>
          </a:prstGeom>
          <a:noFill/>
        </p:spPr>
        <p:txBody>
          <a:bodyPr wrap="square" lIns="27425" tIns="22850" rIns="27425" bIns="22850" anchor="ctr"/>
          <a:lstStyle/>
          <a:p>
            <a:pPr algn="l"/>
            <a:r>
              <a:rPr sz="1800" b="1" i="0">
                <a:solidFill>
                  <a:srgbClr val="5C4826"/>
                </a:solidFill>
                <a:latin typeface="Calibri"/>
              </a:rPr>
              <a:t>Checking that the work is right</a:t>
            </a:r>
          </a:p>
        </p:txBody>
      </p:sp>
      <p:sp>
        <p:nvSpPr>
          <p:cNvPr id="11" name="TextBox 10"/>
          <p:cNvSpPr txBox="1"/>
          <p:nvPr/>
        </p:nvSpPr>
        <p:spPr>
          <a:xfrm>
            <a:off x="4809744" y="2487168"/>
            <a:ext cx="3776472" cy="868679"/>
          </a:xfrm>
          <a:prstGeom prst="rect">
            <a:avLst/>
          </a:prstGeom>
          <a:noFill/>
        </p:spPr>
        <p:txBody>
          <a:bodyPr wrap="square" lIns="27425" tIns="22850" rIns="27425" bIns="22850" anchor="t"/>
          <a:lstStyle/>
          <a:p>
            <a:pPr algn="l"/>
            <a:r>
              <a:rPr sz="1600" b="0" i="0">
                <a:solidFill>
                  <a:srgbClr val="555960"/>
                </a:solidFill>
                <a:latin typeface="Calibri"/>
              </a:rPr>
              <a:t>Changes arrive faster than anyone can review them.</a:t>
            </a:r>
          </a:p>
        </p:txBody>
      </p:sp>
      <p:sp>
        <p:nvSpPr>
          <p:cNvPr id="12" name="Rectangle 11"/>
          <p:cNvSpPr/>
          <p:nvPr/>
        </p:nvSpPr>
        <p:spPr>
          <a:xfrm>
            <a:off x="411480" y="3611880"/>
            <a:ext cx="4069080" cy="1783080"/>
          </a:xfrm>
          <a:prstGeom prst="rect">
            <a:avLst/>
          </a:prstGeom>
          <a:solidFill>
            <a:srgbClr val="FCFAF6"/>
          </a:solidFill>
          <a:ln w="12700">
            <a:solidFill>
              <a:srgbClr val="CBB590"/>
            </a:solidFill>
          </a:ln>
        </p:spPr>
        <p:txBody>
          <a:bodyPr rtlCol="0" anchor="ctr"/>
          <a:lstStyle/>
          <a:p>
            <a:endParaRPr/>
          </a:p>
        </p:txBody>
      </p:sp>
      <p:sp>
        <p:nvSpPr>
          <p:cNvPr id="13" name="TextBox 12"/>
          <p:cNvSpPr txBox="1"/>
          <p:nvPr/>
        </p:nvSpPr>
        <p:spPr>
          <a:xfrm>
            <a:off x="557784" y="3703320"/>
            <a:ext cx="3776472" cy="274320"/>
          </a:xfrm>
          <a:prstGeom prst="rect">
            <a:avLst/>
          </a:prstGeom>
          <a:noFill/>
        </p:spPr>
        <p:txBody>
          <a:bodyPr wrap="square" lIns="27425" tIns="22850" rIns="27425" bIns="22850" anchor="ctr"/>
          <a:lstStyle/>
          <a:p>
            <a:pPr algn="l"/>
            <a:r>
              <a:rPr sz="1300" b="1" i="0">
                <a:solidFill>
                  <a:srgbClr val="8E6F3E"/>
                </a:solidFill>
                <a:latin typeface="Calibri"/>
              </a:rPr>
              <a:t>OPTION C</a:t>
            </a:r>
          </a:p>
        </p:txBody>
      </p:sp>
      <p:sp>
        <p:nvSpPr>
          <p:cNvPr id="14" name="TextBox 13"/>
          <p:cNvSpPr txBox="1"/>
          <p:nvPr/>
        </p:nvSpPr>
        <p:spPr>
          <a:xfrm>
            <a:off x="557784" y="3995928"/>
            <a:ext cx="3776472" cy="411480"/>
          </a:xfrm>
          <a:prstGeom prst="rect">
            <a:avLst/>
          </a:prstGeom>
          <a:noFill/>
        </p:spPr>
        <p:txBody>
          <a:bodyPr wrap="square" lIns="27425" tIns="22850" rIns="27425" bIns="22850" anchor="ctr"/>
          <a:lstStyle/>
          <a:p>
            <a:pPr algn="l"/>
            <a:r>
              <a:rPr sz="1800" b="1" i="0">
                <a:solidFill>
                  <a:srgbClr val="5C4826"/>
                </a:solidFill>
                <a:latin typeface="Calibri"/>
              </a:rPr>
              <a:t>Keeping the pieces consistent</a:t>
            </a:r>
          </a:p>
        </p:txBody>
      </p:sp>
      <p:sp>
        <p:nvSpPr>
          <p:cNvPr id="15" name="TextBox 14"/>
          <p:cNvSpPr txBox="1"/>
          <p:nvPr/>
        </p:nvSpPr>
        <p:spPr>
          <a:xfrm>
            <a:off x="557784" y="4453128"/>
            <a:ext cx="3776472" cy="868680"/>
          </a:xfrm>
          <a:prstGeom prst="rect">
            <a:avLst/>
          </a:prstGeom>
          <a:noFill/>
        </p:spPr>
        <p:txBody>
          <a:bodyPr wrap="square" lIns="27425" tIns="22850" rIns="27425" bIns="22850" anchor="t"/>
          <a:lstStyle/>
          <a:p>
            <a:pPr algn="l"/>
            <a:r>
              <a:rPr sz="1600" b="0" i="0">
                <a:solidFill>
                  <a:srgbClr val="555960"/>
                </a:solidFill>
                <a:latin typeface="Calibri"/>
              </a:rPr>
              <a:t>Ten agents make ten different design choices.</a:t>
            </a:r>
          </a:p>
        </p:txBody>
      </p:sp>
      <p:sp>
        <p:nvSpPr>
          <p:cNvPr id="16" name="Rectangle 15"/>
          <p:cNvSpPr/>
          <p:nvPr/>
        </p:nvSpPr>
        <p:spPr>
          <a:xfrm>
            <a:off x="4663440" y="3611880"/>
            <a:ext cx="4069080" cy="1783080"/>
          </a:xfrm>
          <a:prstGeom prst="rect">
            <a:avLst/>
          </a:prstGeom>
          <a:solidFill>
            <a:srgbClr val="F5F1E8"/>
          </a:solidFill>
          <a:ln w="12700">
            <a:solidFill>
              <a:srgbClr val="CBB590"/>
            </a:solidFill>
          </a:ln>
        </p:spPr>
        <p:txBody>
          <a:bodyPr rtlCol="0" anchor="ctr"/>
          <a:lstStyle/>
          <a:p>
            <a:endParaRPr/>
          </a:p>
        </p:txBody>
      </p:sp>
      <p:sp>
        <p:nvSpPr>
          <p:cNvPr id="17" name="TextBox 16"/>
          <p:cNvSpPr txBox="1"/>
          <p:nvPr/>
        </p:nvSpPr>
        <p:spPr>
          <a:xfrm>
            <a:off x="4809744" y="3703320"/>
            <a:ext cx="3776472" cy="274320"/>
          </a:xfrm>
          <a:prstGeom prst="rect">
            <a:avLst/>
          </a:prstGeom>
          <a:noFill/>
        </p:spPr>
        <p:txBody>
          <a:bodyPr wrap="square" lIns="27425" tIns="22850" rIns="27425" bIns="22850" anchor="ctr"/>
          <a:lstStyle/>
          <a:p>
            <a:pPr algn="l"/>
            <a:r>
              <a:rPr sz="1300" b="1" i="0">
                <a:solidFill>
                  <a:srgbClr val="8E6F3E"/>
                </a:solidFill>
                <a:latin typeface="Calibri"/>
              </a:rPr>
              <a:t>OPTION D</a:t>
            </a:r>
          </a:p>
        </p:txBody>
      </p:sp>
      <p:sp>
        <p:nvSpPr>
          <p:cNvPr id="18" name="TextBox 17"/>
          <p:cNvSpPr txBox="1"/>
          <p:nvPr/>
        </p:nvSpPr>
        <p:spPr>
          <a:xfrm>
            <a:off x="4809744" y="3995928"/>
            <a:ext cx="3776472" cy="411480"/>
          </a:xfrm>
          <a:prstGeom prst="rect">
            <a:avLst/>
          </a:prstGeom>
          <a:noFill/>
        </p:spPr>
        <p:txBody>
          <a:bodyPr wrap="square" lIns="27425" tIns="22850" rIns="27425" bIns="22850" anchor="ctr"/>
          <a:lstStyle/>
          <a:p>
            <a:pPr algn="l"/>
            <a:r>
              <a:rPr sz="1800" b="1" i="0">
                <a:solidFill>
                  <a:srgbClr val="5C4826"/>
                </a:solidFill>
                <a:latin typeface="Calibri"/>
              </a:rPr>
              <a:t>Keeping the system running</a:t>
            </a:r>
          </a:p>
        </p:txBody>
      </p:sp>
      <p:sp>
        <p:nvSpPr>
          <p:cNvPr id="19" name="TextBox 18"/>
          <p:cNvSpPr txBox="1"/>
          <p:nvPr/>
        </p:nvSpPr>
        <p:spPr>
          <a:xfrm>
            <a:off x="4809744" y="4453128"/>
            <a:ext cx="3776472" cy="868680"/>
          </a:xfrm>
          <a:prstGeom prst="rect">
            <a:avLst/>
          </a:prstGeom>
          <a:noFill/>
        </p:spPr>
        <p:txBody>
          <a:bodyPr wrap="square" lIns="27425" tIns="22850" rIns="27425" bIns="22850" anchor="t"/>
          <a:lstStyle/>
          <a:p>
            <a:pPr algn="l"/>
            <a:r>
              <a:rPr sz="1600" b="0" i="0">
                <a:solidFill>
                  <a:srgbClr val="555960"/>
                </a:solidFill>
                <a:latin typeface="Calibri"/>
              </a:rPr>
              <a:t>Deploys, rollbacks, and incidents multiply.</a:t>
            </a:r>
          </a:p>
        </p:txBody>
      </p:sp>
      <p:sp>
        <p:nvSpPr>
          <p:cNvPr id="20" name="Rectangle 19"/>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21" name="TextBox 20"/>
          <p:cNvSpPr txBox="1"/>
          <p:nvPr/>
        </p:nvSpPr>
        <p:spPr>
          <a:xfrm>
            <a:off x="384048" y="5897880"/>
            <a:ext cx="8375904" cy="466344"/>
          </a:xfrm>
          <a:prstGeom prst="rect">
            <a:avLst/>
          </a:prstGeom>
          <a:noFill/>
        </p:spPr>
        <p:txBody>
          <a:bodyPr wrap="square" lIns="27425" tIns="22850" rIns="27425" bIns="22850" anchor="ctr"/>
          <a:lstStyle/>
          <a:p>
            <a:pPr algn="ctr"/>
            <a:r>
              <a:rPr sz="1800" b="1" i="0" dirty="0">
                <a:solidFill>
                  <a:srgbClr val="FFFFFF"/>
                </a:solidFill>
                <a:latin typeface="Calibri"/>
              </a:rPr>
              <a:t>When </a:t>
            </a:r>
            <a:r>
              <a:rPr lang="en-US" sz="1800" b="1" dirty="0">
                <a:solidFill>
                  <a:srgbClr val="FFFFFF"/>
                </a:solidFill>
                <a:latin typeface="Calibri"/>
              </a:rPr>
              <a:t>implementation</a:t>
            </a:r>
            <a:r>
              <a:rPr sz="1800" b="1" i="0" dirty="0">
                <a:solidFill>
                  <a:srgbClr val="FFFFFF"/>
                </a:solidFill>
                <a:latin typeface="Calibri"/>
              </a:rPr>
              <a:t> gets cheap</a:t>
            </a:r>
            <a:r>
              <a:rPr lang="en-US" sz="1800" b="1" dirty="0">
                <a:solidFill>
                  <a:srgbClr val="FFFFFF"/>
                </a:solidFill>
                <a:latin typeface="Calibri"/>
              </a:rPr>
              <a:t> t</a:t>
            </a:r>
            <a:r>
              <a:rPr sz="1800" b="1" i="0" dirty="0">
                <a:solidFill>
                  <a:srgbClr val="FFFFFF"/>
                </a:solidFill>
                <a:latin typeface="Calibri"/>
              </a:rPr>
              <a:t>he </a:t>
            </a:r>
            <a:r>
              <a:rPr lang="en-US" sz="1800" b="1" i="0" dirty="0">
                <a:solidFill>
                  <a:srgbClr val="FFFFFF"/>
                </a:solidFill>
                <a:latin typeface="Calibri"/>
              </a:rPr>
              <a:t>constraint</a:t>
            </a:r>
            <a:r>
              <a:rPr sz="1800" b="1" i="0" dirty="0">
                <a:solidFill>
                  <a:srgbClr val="FFFFFF"/>
                </a:solidFill>
                <a:latin typeface="Calibri"/>
              </a:rPr>
              <a:t> moves.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Google Shape;128;p14"/>
          <p:cNvSpPr txBox="1"/>
          <p:nvPr/>
        </p:nvSpPr>
        <p:spPr>
          <a:xfrm>
            <a:off x="685800" y="2066543"/>
            <a:ext cx="7772400" cy="411480"/>
          </a:xfrm>
          <a:prstGeom prst="rect">
            <a:avLst/>
          </a:prstGeom>
          <a:noFill/>
          <a:ln>
            <a:noFill/>
          </a:ln>
        </p:spPr>
        <p:txBody>
          <a:bodyPr spcFirstLastPara="1" wrap="square" lIns="27425" tIns="22850" rIns="27425" bIns="22850" anchor="ctr" anchorCtr="0">
            <a:noAutofit/>
          </a:bodyPr>
          <a:lstStyle/>
          <a:p>
            <a:pPr marL="0" marR="0" lvl="0" indent="0" algn="ctr" rtl="0">
              <a:lnSpc>
                <a:spcPct val="104000"/>
              </a:lnSpc>
              <a:spcBef>
                <a:spcPts val="0"/>
              </a:spcBef>
              <a:spcAft>
                <a:spcPts val="0"/>
              </a:spcAft>
              <a:buNone/>
            </a:pPr>
            <a:r>
              <a:rPr lang="en-US" sz="1800" b="1" dirty="0">
                <a:solidFill>
                  <a:srgbClr val="8E6F3E"/>
                </a:solidFill>
                <a:latin typeface="Calibri"/>
                <a:ea typeface="Calibri"/>
                <a:cs typeface="Calibri"/>
                <a:sym typeface="Calibri"/>
              </a:rPr>
              <a:t>PART 1</a:t>
            </a:r>
            <a:endParaRPr sz="1600" dirty="0"/>
          </a:p>
        </p:txBody>
      </p:sp>
      <p:sp>
        <p:nvSpPr>
          <p:cNvPr id="129" name="Google Shape;129;p14"/>
          <p:cNvSpPr txBox="1"/>
          <p:nvPr/>
        </p:nvSpPr>
        <p:spPr>
          <a:xfrm>
            <a:off x="512064" y="2606040"/>
            <a:ext cx="8119872" cy="905256"/>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3800" b="0" i="0" u="none" strike="noStrike" cap="none">
                <a:solidFill>
                  <a:srgbClr val="2D2D2D"/>
                </a:solidFill>
                <a:latin typeface="Calibri"/>
                <a:ea typeface="Calibri"/>
                <a:cs typeface="Calibri"/>
                <a:sym typeface="Calibri"/>
              </a:rPr>
              <a:t>WHAT IS A SOFTWARE FACTORY?</a:t>
            </a:r>
            <a:endParaRPr/>
          </a:p>
        </p:txBody>
      </p:sp>
      <p:sp>
        <p:nvSpPr>
          <p:cNvPr id="130" name="Google Shape;130;p14"/>
          <p:cNvSpPr txBox="1"/>
          <p:nvPr/>
        </p:nvSpPr>
        <p:spPr>
          <a:xfrm>
            <a:off x="685800" y="3801385"/>
            <a:ext cx="7772400" cy="398230"/>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2200" b="0" i="0" u="none" strike="noStrike" cap="none" dirty="0">
                <a:solidFill>
                  <a:srgbClr val="5C4826"/>
                </a:solidFill>
                <a:latin typeface="Calibri"/>
                <a:ea typeface="Calibri"/>
                <a:cs typeface="Calibri"/>
                <a:sym typeface="Calibri"/>
              </a:rPr>
              <a:t>Definitions and Characteristics</a:t>
            </a:r>
            <a:endParaRPr dirty="0"/>
          </a:p>
        </p:txBody>
      </p:sp>
      <p:cxnSp>
        <p:nvCxnSpPr>
          <p:cNvPr id="131" name="Google Shape;131;p14"/>
          <p:cNvCxnSpPr/>
          <p:nvPr/>
        </p:nvCxnSpPr>
        <p:spPr>
          <a:xfrm>
            <a:off x="3657600" y="4663440"/>
            <a:ext cx="1828800" cy="0"/>
          </a:xfrm>
          <a:prstGeom prst="straightConnector1">
            <a:avLst/>
          </a:prstGeom>
          <a:noFill/>
          <a:ln w="38100" cap="flat" cmpd="sng">
            <a:solidFill>
              <a:srgbClr val="8E6F3E"/>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The idea is older than coding agents</a:t>
            </a:r>
          </a:p>
        </p:txBody>
      </p:sp>
      <p:sp>
        <p:nvSpPr>
          <p:cNvPr id="3" name="Rectangle 2"/>
          <p:cNvSpPr/>
          <p:nvPr/>
        </p:nvSpPr>
        <p:spPr>
          <a:xfrm>
            <a:off x="411480" y="1051560"/>
            <a:ext cx="4069080" cy="2194560"/>
          </a:xfrm>
          <a:prstGeom prst="rect">
            <a:avLst/>
          </a:prstGeom>
          <a:solidFill>
            <a:srgbClr val="F5F1E8"/>
          </a:solidFill>
          <a:ln w="12700">
            <a:solidFill>
              <a:srgbClr val="CBB590"/>
            </a:solidFill>
          </a:ln>
        </p:spPr>
        <p:txBody>
          <a:bodyPr rtlCol="0" anchor="ctr"/>
          <a:lstStyle/>
          <a:p>
            <a:endParaRPr sz="1600"/>
          </a:p>
        </p:txBody>
      </p:sp>
      <p:sp>
        <p:nvSpPr>
          <p:cNvPr id="4" name="Rectangle 3"/>
          <p:cNvSpPr/>
          <p:nvPr/>
        </p:nvSpPr>
        <p:spPr>
          <a:xfrm>
            <a:off x="557784" y="1179576"/>
            <a:ext cx="1600200" cy="329184"/>
          </a:xfrm>
          <a:prstGeom prst="rect">
            <a:avLst/>
          </a:prstGeom>
          <a:solidFill>
            <a:srgbClr val="8E6F3E"/>
          </a:solidFill>
          <a:ln>
            <a:noFill/>
          </a:ln>
        </p:spPr>
        <p:txBody>
          <a:bodyPr rtlCol="0" anchor="ctr"/>
          <a:lstStyle/>
          <a:p>
            <a:endParaRPr sz="1600"/>
          </a:p>
        </p:txBody>
      </p:sp>
      <p:sp>
        <p:nvSpPr>
          <p:cNvPr id="5" name="TextBox 4"/>
          <p:cNvSpPr txBox="1"/>
          <p:nvPr/>
        </p:nvSpPr>
        <p:spPr>
          <a:xfrm>
            <a:off x="557784" y="1179576"/>
            <a:ext cx="1600200" cy="329184"/>
          </a:xfrm>
          <a:prstGeom prst="rect">
            <a:avLst/>
          </a:prstGeom>
          <a:noFill/>
        </p:spPr>
        <p:txBody>
          <a:bodyPr wrap="square" lIns="27425" tIns="22850" rIns="27425" bIns="22850" anchor="ctr"/>
          <a:lstStyle/>
          <a:p>
            <a:pPr algn="ctr"/>
            <a:r>
              <a:rPr b="1" i="0">
                <a:solidFill>
                  <a:srgbClr val="FFFFFF"/>
                </a:solidFill>
                <a:latin typeface="Calibri"/>
              </a:rPr>
              <a:t>1968 TO 1990</a:t>
            </a:r>
          </a:p>
        </p:txBody>
      </p:sp>
      <p:sp>
        <p:nvSpPr>
          <p:cNvPr id="6" name="TextBox 5"/>
          <p:cNvSpPr txBox="1"/>
          <p:nvPr/>
        </p:nvSpPr>
        <p:spPr>
          <a:xfrm>
            <a:off x="2258568" y="1161288"/>
            <a:ext cx="2148840" cy="365760"/>
          </a:xfrm>
          <a:prstGeom prst="rect">
            <a:avLst/>
          </a:prstGeom>
          <a:noFill/>
        </p:spPr>
        <p:txBody>
          <a:bodyPr wrap="square" lIns="27425" tIns="22850" rIns="27425" bIns="22850" anchor="ctr"/>
          <a:lstStyle/>
          <a:p>
            <a:pPr algn="l"/>
            <a:r>
              <a:rPr sz="1800" b="1" i="0" dirty="0">
                <a:solidFill>
                  <a:srgbClr val="5C4826"/>
                </a:solidFill>
                <a:latin typeface="Calibri"/>
              </a:rPr>
              <a:t>Industrial factories</a:t>
            </a:r>
          </a:p>
        </p:txBody>
      </p:sp>
      <p:sp>
        <p:nvSpPr>
          <p:cNvPr id="7" name="TextBox 6"/>
          <p:cNvSpPr txBox="1"/>
          <p:nvPr/>
        </p:nvSpPr>
        <p:spPr>
          <a:xfrm>
            <a:off x="557784" y="1618488"/>
            <a:ext cx="3776472" cy="1051560"/>
          </a:xfrm>
          <a:prstGeom prst="rect">
            <a:avLst/>
          </a:prstGeom>
          <a:noFill/>
        </p:spPr>
        <p:txBody>
          <a:bodyPr wrap="square" lIns="27425" tIns="22850" rIns="27425" bIns="22850" anchor="t"/>
          <a:lstStyle/>
          <a:p>
            <a:pPr algn="l"/>
            <a:r>
              <a:rPr sz="1800" b="0" i="0" dirty="0">
                <a:solidFill>
                  <a:srgbClr val="555960"/>
                </a:solidFill>
                <a:latin typeface="Calibri"/>
              </a:rPr>
              <a:t>Bemer proposes a software factory at GE (1968). Hitachi names one (1969). SDC, Toshiba, NEC, and Fujitsu follow.</a:t>
            </a:r>
          </a:p>
        </p:txBody>
      </p:sp>
      <p:sp>
        <p:nvSpPr>
          <p:cNvPr id="8" name="TextBox 7"/>
          <p:cNvSpPr txBox="1"/>
          <p:nvPr/>
        </p:nvSpPr>
        <p:spPr>
          <a:xfrm>
            <a:off x="557784" y="2679191"/>
            <a:ext cx="3776472" cy="502920"/>
          </a:xfrm>
          <a:prstGeom prst="rect">
            <a:avLst/>
          </a:prstGeom>
          <a:noFill/>
        </p:spPr>
        <p:txBody>
          <a:bodyPr wrap="square" lIns="27425" tIns="22850" rIns="27425" bIns="22850" anchor="t"/>
          <a:lstStyle/>
          <a:p>
            <a:pPr algn="l"/>
            <a:r>
              <a:rPr sz="1600" b="0" i="1">
                <a:solidFill>
                  <a:srgbClr val="5C4826"/>
                </a:solidFill>
                <a:latin typeface="Calibri"/>
              </a:rPr>
              <a:t>Answering: the software crisis of late, unreliable projects</a:t>
            </a:r>
          </a:p>
        </p:txBody>
      </p:sp>
      <p:sp>
        <p:nvSpPr>
          <p:cNvPr id="9" name="Rectangle 8"/>
          <p:cNvSpPr/>
          <p:nvPr/>
        </p:nvSpPr>
        <p:spPr>
          <a:xfrm>
            <a:off x="4663440" y="1051560"/>
            <a:ext cx="4069080" cy="2194560"/>
          </a:xfrm>
          <a:prstGeom prst="rect">
            <a:avLst/>
          </a:prstGeom>
          <a:solidFill>
            <a:srgbClr val="FCFAF6"/>
          </a:solidFill>
          <a:ln w="12700">
            <a:solidFill>
              <a:srgbClr val="CBB590"/>
            </a:solidFill>
          </a:ln>
        </p:spPr>
        <p:txBody>
          <a:bodyPr rtlCol="0" anchor="ctr"/>
          <a:lstStyle/>
          <a:p>
            <a:endParaRPr sz="1600"/>
          </a:p>
        </p:txBody>
      </p:sp>
      <p:sp>
        <p:nvSpPr>
          <p:cNvPr id="10" name="Rectangle 9"/>
          <p:cNvSpPr/>
          <p:nvPr/>
        </p:nvSpPr>
        <p:spPr>
          <a:xfrm>
            <a:off x="4809744" y="1179576"/>
            <a:ext cx="1600200" cy="329184"/>
          </a:xfrm>
          <a:prstGeom prst="rect">
            <a:avLst/>
          </a:prstGeom>
          <a:solidFill>
            <a:srgbClr val="8E6F3E"/>
          </a:solidFill>
          <a:ln>
            <a:noFill/>
          </a:ln>
        </p:spPr>
        <p:txBody>
          <a:bodyPr rtlCol="0" anchor="ctr"/>
          <a:lstStyle/>
          <a:p>
            <a:endParaRPr sz="1600"/>
          </a:p>
        </p:txBody>
      </p:sp>
      <p:sp>
        <p:nvSpPr>
          <p:cNvPr id="11" name="TextBox 10"/>
          <p:cNvSpPr txBox="1"/>
          <p:nvPr/>
        </p:nvSpPr>
        <p:spPr>
          <a:xfrm>
            <a:off x="4809744" y="1179576"/>
            <a:ext cx="1600200" cy="329184"/>
          </a:xfrm>
          <a:prstGeom prst="rect">
            <a:avLst/>
          </a:prstGeom>
          <a:noFill/>
        </p:spPr>
        <p:txBody>
          <a:bodyPr wrap="square" lIns="27425" tIns="22850" rIns="27425" bIns="22850" anchor="ctr"/>
          <a:lstStyle/>
          <a:p>
            <a:pPr algn="ctr"/>
            <a:r>
              <a:rPr b="1" i="0">
                <a:solidFill>
                  <a:srgbClr val="FFFFFF"/>
                </a:solidFill>
                <a:latin typeface="Calibri"/>
              </a:rPr>
              <a:t>2004</a:t>
            </a:r>
          </a:p>
        </p:txBody>
      </p:sp>
      <p:sp>
        <p:nvSpPr>
          <p:cNvPr id="12" name="TextBox 11"/>
          <p:cNvSpPr txBox="1"/>
          <p:nvPr/>
        </p:nvSpPr>
        <p:spPr>
          <a:xfrm>
            <a:off x="6510527" y="1161288"/>
            <a:ext cx="2148840" cy="365760"/>
          </a:xfrm>
          <a:prstGeom prst="rect">
            <a:avLst/>
          </a:prstGeom>
          <a:noFill/>
        </p:spPr>
        <p:txBody>
          <a:bodyPr wrap="square" lIns="27425" tIns="22850" rIns="27425" bIns="22850" anchor="ctr"/>
          <a:lstStyle/>
          <a:p>
            <a:pPr algn="l"/>
            <a:r>
              <a:rPr sz="1800" b="1" i="0">
                <a:solidFill>
                  <a:srgbClr val="5C4826"/>
                </a:solidFill>
                <a:latin typeface="Calibri"/>
              </a:rPr>
              <a:t>Model driven factories</a:t>
            </a:r>
          </a:p>
        </p:txBody>
      </p:sp>
      <p:sp>
        <p:nvSpPr>
          <p:cNvPr id="13" name="TextBox 12"/>
          <p:cNvSpPr txBox="1"/>
          <p:nvPr/>
        </p:nvSpPr>
        <p:spPr>
          <a:xfrm>
            <a:off x="4809744" y="1618488"/>
            <a:ext cx="3776472" cy="1051560"/>
          </a:xfrm>
          <a:prstGeom prst="rect">
            <a:avLst/>
          </a:prstGeom>
          <a:noFill/>
        </p:spPr>
        <p:txBody>
          <a:bodyPr wrap="square" lIns="27425" tIns="22850" rIns="27425" bIns="22850" anchor="t"/>
          <a:lstStyle/>
          <a:p>
            <a:pPr algn="l"/>
            <a:r>
              <a:rPr sz="1800" b="0" i="0" dirty="0">
                <a:solidFill>
                  <a:srgbClr val="555960"/>
                </a:solidFill>
                <a:latin typeface="Calibri"/>
              </a:rPr>
              <a:t>Greenfield and Short at Microsoft: product lines assembled from patterns, models, frameworks.</a:t>
            </a:r>
          </a:p>
        </p:txBody>
      </p:sp>
      <p:sp>
        <p:nvSpPr>
          <p:cNvPr id="14" name="TextBox 13"/>
          <p:cNvSpPr txBox="1"/>
          <p:nvPr/>
        </p:nvSpPr>
        <p:spPr>
          <a:xfrm>
            <a:off x="4809744" y="2679191"/>
            <a:ext cx="3776472" cy="502920"/>
          </a:xfrm>
          <a:prstGeom prst="rect">
            <a:avLst/>
          </a:prstGeom>
          <a:noFill/>
        </p:spPr>
        <p:txBody>
          <a:bodyPr wrap="square" lIns="27425" tIns="22850" rIns="27425" bIns="22850" anchor="t"/>
          <a:lstStyle/>
          <a:p>
            <a:pPr algn="l"/>
            <a:r>
              <a:rPr sz="1600" b="0" i="1">
                <a:solidFill>
                  <a:srgbClr val="5C4826"/>
                </a:solidFill>
                <a:latin typeface="Calibri"/>
              </a:rPr>
              <a:t>Answering: demand growing faster than developers</a:t>
            </a:r>
          </a:p>
        </p:txBody>
      </p:sp>
      <p:sp>
        <p:nvSpPr>
          <p:cNvPr id="15" name="Rectangle 14"/>
          <p:cNvSpPr/>
          <p:nvPr/>
        </p:nvSpPr>
        <p:spPr>
          <a:xfrm>
            <a:off x="411480" y="3383280"/>
            <a:ext cx="4069080" cy="2194560"/>
          </a:xfrm>
          <a:prstGeom prst="rect">
            <a:avLst/>
          </a:prstGeom>
          <a:solidFill>
            <a:srgbClr val="FCFAF6"/>
          </a:solidFill>
          <a:ln w="12700">
            <a:solidFill>
              <a:srgbClr val="CBB590"/>
            </a:solidFill>
          </a:ln>
        </p:spPr>
        <p:txBody>
          <a:bodyPr rtlCol="0" anchor="ctr"/>
          <a:lstStyle/>
          <a:p>
            <a:endParaRPr sz="1600"/>
          </a:p>
        </p:txBody>
      </p:sp>
      <p:sp>
        <p:nvSpPr>
          <p:cNvPr id="16" name="Rectangle 15"/>
          <p:cNvSpPr/>
          <p:nvPr/>
        </p:nvSpPr>
        <p:spPr>
          <a:xfrm>
            <a:off x="557784" y="3511296"/>
            <a:ext cx="1600200" cy="329184"/>
          </a:xfrm>
          <a:prstGeom prst="rect">
            <a:avLst/>
          </a:prstGeom>
          <a:solidFill>
            <a:srgbClr val="8E6F3E"/>
          </a:solidFill>
          <a:ln>
            <a:noFill/>
          </a:ln>
        </p:spPr>
        <p:txBody>
          <a:bodyPr rtlCol="0" anchor="ctr"/>
          <a:lstStyle/>
          <a:p>
            <a:endParaRPr sz="1600"/>
          </a:p>
        </p:txBody>
      </p:sp>
      <p:sp>
        <p:nvSpPr>
          <p:cNvPr id="17" name="TextBox 16"/>
          <p:cNvSpPr txBox="1"/>
          <p:nvPr/>
        </p:nvSpPr>
        <p:spPr>
          <a:xfrm>
            <a:off x="557784" y="3511296"/>
            <a:ext cx="1600200" cy="329184"/>
          </a:xfrm>
          <a:prstGeom prst="rect">
            <a:avLst/>
          </a:prstGeom>
          <a:noFill/>
        </p:spPr>
        <p:txBody>
          <a:bodyPr wrap="square" lIns="27425" tIns="22850" rIns="27425" bIns="22850" anchor="ctr"/>
          <a:lstStyle/>
          <a:p>
            <a:pPr algn="ctr"/>
            <a:r>
              <a:rPr b="1" i="0">
                <a:solidFill>
                  <a:srgbClr val="FFFFFF"/>
                </a:solidFill>
                <a:latin typeface="Calibri"/>
              </a:rPr>
              <a:t>2017 ONWARD</a:t>
            </a:r>
          </a:p>
        </p:txBody>
      </p:sp>
      <p:sp>
        <p:nvSpPr>
          <p:cNvPr id="18" name="TextBox 17"/>
          <p:cNvSpPr txBox="1"/>
          <p:nvPr/>
        </p:nvSpPr>
        <p:spPr>
          <a:xfrm>
            <a:off x="2258568" y="3493008"/>
            <a:ext cx="2148840" cy="365760"/>
          </a:xfrm>
          <a:prstGeom prst="rect">
            <a:avLst/>
          </a:prstGeom>
          <a:noFill/>
        </p:spPr>
        <p:txBody>
          <a:bodyPr wrap="square" lIns="27425" tIns="22850" rIns="27425" bIns="22850" anchor="ctr"/>
          <a:lstStyle/>
          <a:p>
            <a:pPr algn="l"/>
            <a:r>
              <a:rPr sz="1800" b="1" i="0">
                <a:solidFill>
                  <a:srgbClr val="5C4826"/>
                </a:solidFill>
                <a:latin typeface="Calibri"/>
              </a:rPr>
              <a:t>DevSecOps factories</a:t>
            </a:r>
          </a:p>
        </p:txBody>
      </p:sp>
      <p:sp>
        <p:nvSpPr>
          <p:cNvPr id="19" name="TextBox 18"/>
          <p:cNvSpPr txBox="1"/>
          <p:nvPr/>
        </p:nvSpPr>
        <p:spPr>
          <a:xfrm>
            <a:off x="557784" y="3950208"/>
            <a:ext cx="3776472" cy="1051560"/>
          </a:xfrm>
          <a:prstGeom prst="rect">
            <a:avLst/>
          </a:prstGeom>
          <a:noFill/>
        </p:spPr>
        <p:txBody>
          <a:bodyPr wrap="square" lIns="27425" tIns="22850" rIns="27425" bIns="22850" anchor="t"/>
          <a:lstStyle/>
          <a:p>
            <a:pPr algn="l"/>
            <a:r>
              <a:rPr sz="1800" b="0" i="0" dirty="0">
                <a:solidFill>
                  <a:srgbClr val="555960"/>
                </a:solidFill>
                <a:latin typeface="Calibri"/>
              </a:rPr>
              <a:t>US Air Force Kessel Run and DoD Platform One: shared pipelines, hardened tools, and continuous accreditation.</a:t>
            </a:r>
          </a:p>
        </p:txBody>
      </p:sp>
      <p:sp>
        <p:nvSpPr>
          <p:cNvPr id="20" name="TextBox 19"/>
          <p:cNvSpPr txBox="1"/>
          <p:nvPr/>
        </p:nvSpPr>
        <p:spPr>
          <a:xfrm>
            <a:off x="557784" y="5162804"/>
            <a:ext cx="3776472" cy="502920"/>
          </a:xfrm>
          <a:prstGeom prst="rect">
            <a:avLst/>
          </a:prstGeom>
          <a:noFill/>
        </p:spPr>
        <p:txBody>
          <a:bodyPr wrap="square" lIns="27425" tIns="22850" rIns="27425" bIns="22850" anchor="t"/>
          <a:lstStyle/>
          <a:p>
            <a:pPr algn="l"/>
            <a:r>
              <a:rPr sz="1600" b="0" i="1" dirty="0">
                <a:solidFill>
                  <a:srgbClr val="5C4826"/>
                </a:solidFill>
                <a:latin typeface="Calibri"/>
              </a:rPr>
              <a:t>Answering: delivery cycles measured in years</a:t>
            </a:r>
          </a:p>
        </p:txBody>
      </p:sp>
      <p:sp>
        <p:nvSpPr>
          <p:cNvPr id="21" name="Rectangle 20"/>
          <p:cNvSpPr/>
          <p:nvPr/>
        </p:nvSpPr>
        <p:spPr>
          <a:xfrm>
            <a:off x="4663440" y="3383280"/>
            <a:ext cx="4069080" cy="2194560"/>
          </a:xfrm>
          <a:prstGeom prst="rect">
            <a:avLst/>
          </a:prstGeom>
          <a:solidFill>
            <a:srgbClr val="F5F1E8"/>
          </a:solidFill>
          <a:ln w="12700">
            <a:solidFill>
              <a:srgbClr val="CBB590"/>
            </a:solidFill>
          </a:ln>
        </p:spPr>
        <p:txBody>
          <a:bodyPr rtlCol="0" anchor="ctr"/>
          <a:lstStyle/>
          <a:p>
            <a:endParaRPr sz="1600"/>
          </a:p>
        </p:txBody>
      </p:sp>
      <p:sp>
        <p:nvSpPr>
          <p:cNvPr id="22" name="Rectangle 21"/>
          <p:cNvSpPr/>
          <p:nvPr/>
        </p:nvSpPr>
        <p:spPr>
          <a:xfrm>
            <a:off x="4809744" y="3511296"/>
            <a:ext cx="1600200" cy="329184"/>
          </a:xfrm>
          <a:prstGeom prst="rect">
            <a:avLst/>
          </a:prstGeom>
          <a:solidFill>
            <a:srgbClr val="8E6F3E"/>
          </a:solidFill>
          <a:ln>
            <a:noFill/>
          </a:ln>
        </p:spPr>
        <p:txBody>
          <a:bodyPr rtlCol="0" anchor="ctr"/>
          <a:lstStyle/>
          <a:p>
            <a:endParaRPr sz="1600"/>
          </a:p>
        </p:txBody>
      </p:sp>
      <p:sp>
        <p:nvSpPr>
          <p:cNvPr id="23" name="TextBox 22"/>
          <p:cNvSpPr txBox="1"/>
          <p:nvPr/>
        </p:nvSpPr>
        <p:spPr>
          <a:xfrm>
            <a:off x="4809744" y="3511296"/>
            <a:ext cx="1600200" cy="329184"/>
          </a:xfrm>
          <a:prstGeom prst="rect">
            <a:avLst/>
          </a:prstGeom>
          <a:noFill/>
        </p:spPr>
        <p:txBody>
          <a:bodyPr wrap="square" lIns="27425" tIns="22850" rIns="27425" bIns="22850" anchor="ctr"/>
          <a:lstStyle/>
          <a:p>
            <a:pPr algn="ctr"/>
            <a:r>
              <a:rPr b="1" i="0">
                <a:solidFill>
                  <a:srgbClr val="FFFFFF"/>
                </a:solidFill>
                <a:latin typeface="Calibri"/>
              </a:rPr>
              <a:t>2026</a:t>
            </a:r>
          </a:p>
        </p:txBody>
      </p:sp>
      <p:sp>
        <p:nvSpPr>
          <p:cNvPr id="24" name="TextBox 23"/>
          <p:cNvSpPr txBox="1"/>
          <p:nvPr/>
        </p:nvSpPr>
        <p:spPr>
          <a:xfrm>
            <a:off x="6510527" y="3493008"/>
            <a:ext cx="2148840" cy="365760"/>
          </a:xfrm>
          <a:prstGeom prst="rect">
            <a:avLst/>
          </a:prstGeom>
          <a:noFill/>
        </p:spPr>
        <p:txBody>
          <a:bodyPr wrap="square" lIns="27425" tIns="22850" rIns="27425" bIns="22850" anchor="ctr"/>
          <a:lstStyle/>
          <a:p>
            <a:pPr algn="l"/>
            <a:r>
              <a:rPr sz="1800" b="1" i="0">
                <a:solidFill>
                  <a:srgbClr val="5C4826"/>
                </a:solidFill>
                <a:latin typeface="Calibri"/>
              </a:rPr>
              <a:t>Agentic factories</a:t>
            </a:r>
          </a:p>
        </p:txBody>
      </p:sp>
      <p:sp>
        <p:nvSpPr>
          <p:cNvPr id="25" name="TextBox 24"/>
          <p:cNvSpPr txBox="1"/>
          <p:nvPr/>
        </p:nvSpPr>
        <p:spPr>
          <a:xfrm>
            <a:off x="4809744" y="3950208"/>
            <a:ext cx="3776472" cy="1051560"/>
          </a:xfrm>
          <a:prstGeom prst="rect">
            <a:avLst/>
          </a:prstGeom>
          <a:noFill/>
        </p:spPr>
        <p:txBody>
          <a:bodyPr wrap="square" lIns="27425" tIns="22850" rIns="27425" bIns="22850" anchor="t"/>
          <a:lstStyle/>
          <a:p>
            <a:pPr algn="l"/>
            <a:r>
              <a:rPr sz="1800" b="0" i="0">
                <a:solidFill>
                  <a:srgbClr val="555960"/>
                </a:solidFill>
                <a:latin typeface="Calibri"/>
              </a:rPr>
              <a:t>Shapiro's five levels, StrongDM, Larson, Osmani: loops of coding agents behind verification gates.</a:t>
            </a:r>
          </a:p>
        </p:txBody>
      </p:sp>
      <p:sp>
        <p:nvSpPr>
          <p:cNvPr id="26" name="TextBox 25"/>
          <p:cNvSpPr txBox="1"/>
          <p:nvPr/>
        </p:nvSpPr>
        <p:spPr>
          <a:xfrm>
            <a:off x="4809744" y="5010912"/>
            <a:ext cx="3776472" cy="502920"/>
          </a:xfrm>
          <a:prstGeom prst="rect">
            <a:avLst/>
          </a:prstGeom>
          <a:noFill/>
        </p:spPr>
        <p:txBody>
          <a:bodyPr wrap="square" lIns="27425" tIns="22850" rIns="27425" bIns="22850" anchor="t"/>
          <a:lstStyle/>
          <a:p>
            <a:pPr algn="l"/>
            <a:r>
              <a:rPr sz="1600" b="0" i="1">
                <a:solidFill>
                  <a:srgbClr val="5C4826"/>
                </a:solidFill>
                <a:latin typeface="Calibri"/>
              </a:rPr>
              <a:t>Answering: code generated faster than people can check it</a:t>
            </a:r>
          </a:p>
        </p:txBody>
      </p:sp>
      <p:sp>
        <p:nvSpPr>
          <p:cNvPr id="27" name="Rectangle 26"/>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28" name="TextBox 27"/>
          <p:cNvSpPr txBox="1"/>
          <p:nvPr/>
        </p:nvSpPr>
        <p:spPr>
          <a:xfrm>
            <a:off x="384048" y="5897880"/>
            <a:ext cx="8375904" cy="466344"/>
          </a:xfrm>
          <a:prstGeom prst="rect">
            <a:avLst/>
          </a:prstGeom>
          <a:noFill/>
        </p:spPr>
        <p:txBody>
          <a:bodyPr wrap="square" lIns="27425" tIns="22850" rIns="27425" bIns="22850" anchor="ctr"/>
          <a:lstStyle/>
          <a:p>
            <a:pPr algn="ctr"/>
            <a:r>
              <a:rPr sz="1800" b="1" i="0" dirty="0">
                <a:solidFill>
                  <a:srgbClr val="FFFFFF"/>
                </a:solidFill>
                <a:latin typeface="Calibri"/>
              </a:rPr>
              <a:t>Every era aimed to make production repeatable.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p:bldP spid="13" grpId="0"/>
      <p:bldP spid="14" grpId="0"/>
      <p:bldP spid="15" grpId="0" animBg="1"/>
      <p:bldP spid="16" grpId="0" animBg="1"/>
      <p:bldP spid="17" grpId="0"/>
      <p:bldP spid="18" grpId="0"/>
      <p:bldP spid="19" grpId="0"/>
      <p:bldP spid="20" grpId="0"/>
      <p:bldP spid="21" grpId="0" animBg="1"/>
      <p:bldP spid="22" grpId="0" animBg="1"/>
      <p:bldP spid="23" grpId="0"/>
      <p:bldP spid="24" grpId="0"/>
      <p:bldP spid="25"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Definitions across five decades</a:t>
            </a:r>
          </a:p>
        </p:txBody>
      </p:sp>
      <p:graphicFrame>
        <p:nvGraphicFramePr>
          <p:cNvPr id="3" name="Table 2"/>
          <p:cNvGraphicFramePr>
            <a:graphicFrameLocks noGrp="1"/>
          </p:cNvGraphicFramePr>
          <p:nvPr>
            <p:extLst>
              <p:ext uri="{D42A27DB-BD31-4B8C-83A1-F6EECF244321}">
                <p14:modId xmlns:p14="http://schemas.microsoft.com/office/powerpoint/2010/main" val="1429587486"/>
              </p:ext>
            </p:extLst>
          </p:nvPr>
        </p:nvGraphicFramePr>
        <p:xfrm>
          <a:off x="365760" y="1005840"/>
          <a:ext cx="8412480" cy="4956048"/>
        </p:xfrm>
        <a:graphic>
          <a:graphicData uri="http://schemas.openxmlformats.org/drawingml/2006/table">
            <a:tbl>
              <a:tblPr/>
              <a:tblGrid>
                <a:gridCol w="19659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566928">
                <a:tc>
                  <a:txBody>
                    <a:bodyPr/>
                    <a:lstStyle/>
                    <a:p>
                      <a:r>
                        <a:rPr sz="1800" b="1">
                          <a:solidFill>
                            <a:srgbClr val="FFFFFF"/>
                          </a:solidFill>
                          <a:latin typeface="Calibri"/>
                        </a:rPr>
                        <a:t>Source</a:t>
                      </a:r>
                    </a:p>
                  </a:txBody>
                  <a:tcPr marL="73152" marR="73152" anchor="ctr">
                    <a:solidFill>
                      <a:srgbClr val="8E6F3E"/>
                    </a:solidFill>
                  </a:tcPr>
                </a:tc>
                <a:tc>
                  <a:txBody>
                    <a:bodyPr/>
                    <a:lstStyle/>
                    <a:p>
                      <a:r>
                        <a:rPr sz="1800" b="1">
                          <a:solidFill>
                            <a:srgbClr val="FFFFFF"/>
                          </a:solidFill>
                          <a:latin typeface="Calibri"/>
                        </a:rPr>
                        <a:t>Definition</a:t>
                      </a:r>
                    </a:p>
                  </a:txBody>
                  <a:tcPr marL="73152" marR="73152" anchor="ctr">
                    <a:solidFill>
                      <a:srgbClr val="8E6F3E"/>
                    </a:solidFill>
                  </a:tcPr>
                </a:tc>
                <a:tc>
                  <a:txBody>
                    <a:bodyPr/>
                    <a:lstStyle/>
                    <a:p>
                      <a:r>
                        <a:rPr sz="1800" b="1">
                          <a:solidFill>
                            <a:srgbClr val="FFFFFF"/>
                          </a:solidFill>
                          <a:latin typeface="Calibri"/>
                        </a:rPr>
                        <a:t>Emphasis</a:t>
                      </a:r>
                    </a:p>
                  </a:txBody>
                  <a:tcPr marL="73152" marR="73152" anchor="ctr">
                    <a:solidFill>
                      <a:srgbClr val="8E6F3E"/>
                    </a:solidFill>
                  </a:tcPr>
                </a:tc>
                <a:extLst>
                  <a:ext uri="{0D108BD9-81ED-4DB2-BD59-A6C34878D82A}">
                    <a16:rowId xmlns:a16="http://schemas.microsoft.com/office/drawing/2014/main" val="10000"/>
                  </a:ext>
                </a:extLst>
              </a:tr>
              <a:tr h="566928">
                <a:tc>
                  <a:txBody>
                    <a:bodyPr/>
                    <a:lstStyle/>
                    <a:p>
                      <a:r>
                        <a:rPr sz="1800" b="1" dirty="0">
                          <a:solidFill>
                            <a:srgbClr val="5C4826"/>
                          </a:solidFill>
                          <a:latin typeface="Calibri"/>
                        </a:rPr>
                        <a:t>Bratman and Court, 1977</a:t>
                      </a:r>
                    </a:p>
                  </a:txBody>
                  <a:tcPr marL="73152" marR="73152" anchor="ctr">
                    <a:solidFill>
                      <a:srgbClr val="FCFAF6"/>
                    </a:solidFill>
                  </a:tcPr>
                </a:tc>
                <a:tc>
                  <a:txBody>
                    <a:bodyPr/>
                    <a:lstStyle/>
                    <a:p>
                      <a:r>
                        <a:rPr sz="1800" b="0">
                          <a:solidFill>
                            <a:srgbClr val="555960"/>
                          </a:solidFill>
                          <a:latin typeface="Calibri"/>
                        </a:rPr>
                        <a:t>“a software development facility consisting of an integrated set of standards, procedures, and tools”</a:t>
                      </a:r>
                    </a:p>
                  </a:txBody>
                  <a:tcPr marL="73152" marR="73152" anchor="ctr">
                    <a:solidFill>
                      <a:srgbClr val="FCFAF6"/>
                    </a:solidFill>
                  </a:tcPr>
                </a:tc>
                <a:tc>
                  <a:txBody>
                    <a:bodyPr/>
                    <a:lstStyle/>
                    <a:p>
                      <a:r>
                        <a:rPr sz="1800" b="0">
                          <a:solidFill>
                            <a:srgbClr val="555960"/>
                          </a:solidFill>
                          <a:latin typeface="Calibri"/>
                        </a:rPr>
                        <a:t>Process</a:t>
                      </a:r>
                    </a:p>
                  </a:txBody>
                  <a:tcPr marL="73152" marR="73152" anchor="ctr">
                    <a:solidFill>
                      <a:srgbClr val="FCFAF6"/>
                    </a:solidFill>
                  </a:tcPr>
                </a:tc>
                <a:extLst>
                  <a:ext uri="{0D108BD9-81ED-4DB2-BD59-A6C34878D82A}">
                    <a16:rowId xmlns:a16="http://schemas.microsoft.com/office/drawing/2014/main" val="10001"/>
                  </a:ext>
                </a:extLst>
              </a:tr>
              <a:tr h="566928">
                <a:tc>
                  <a:txBody>
                    <a:bodyPr/>
                    <a:lstStyle/>
                    <a:p>
                      <a:r>
                        <a:rPr sz="1800" b="1">
                          <a:solidFill>
                            <a:srgbClr val="5C4826"/>
                          </a:solidFill>
                          <a:latin typeface="Calibri"/>
                        </a:rPr>
                        <a:t>Greenfield and Short, 2004</a:t>
                      </a:r>
                    </a:p>
                  </a:txBody>
                  <a:tcPr marL="73152" marR="73152" anchor="ctr">
                    <a:solidFill>
                      <a:srgbClr val="F5F1E8"/>
                    </a:solidFill>
                  </a:tcPr>
                </a:tc>
                <a:tc>
                  <a:txBody>
                    <a:bodyPr/>
                    <a:lstStyle/>
                    <a:p>
                      <a:r>
                        <a:rPr sz="1800" b="0">
                          <a:solidFill>
                            <a:srgbClr val="555960"/>
                          </a:solidFill>
                          <a:latin typeface="Calibri"/>
                        </a:rPr>
                        <a:t>“a product line that configures extensible development tools … with packaged content and guidance”</a:t>
                      </a:r>
                    </a:p>
                  </a:txBody>
                  <a:tcPr marL="73152" marR="73152" anchor="ctr">
                    <a:solidFill>
                      <a:srgbClr val="F5F1E8"/>
                    </a:solidFill>
                  </a:tcPr>
                </a:tc>
                <a:tc>
                  <a:txBody>
                    <a:bodyPr/>
                    <a:lstStyle/>
                    <a:p>
                      <a:r>
                        <a:rPr sz="1800" b="0" dirty="0">
                          <a:solidFill>
                            <a:srgbClr val="555960"/>
                          </a:solidFill>
                          <a:latin typeface="Calibri"/>
                        </a:rPr>
                        <a:t>Models</a:t>
                      </a:r>
                      <a:r>
                        <a:rPr lang="en-US" sz="1800" b="0" dirty="0">
                          <a:solidFill>
                            <a:srgbClr val="555960"/>
                          </a:solidFill>
                          <a:latin typeface="Calibri"/>
                        </a:rPr>
                        <a:t>, R</a:t>
                      </a:r>
                      <a:r>
                        <a:rPr sz="1800" b="0" dirty="0">
                          <a:solidFill>
                            <a:srgbClr val="555960"/>
                          </a:solidFill>
                          <a:latin typeface="Calibri"/>
                        </a:rPr>
                        <a:t>euse</a:t>
                      </a:r>
                    </a:p>
                  </a:txBody>
                  <a:tcPr marL="73152" marR="73152" anchor="ctr">
                    <a:solidFill>
                      <a:srgbClr val="F5F1E8"/>
                    </a:solidFill>
                  </a:tcPr>
                </a:tc>
                <a:extLst>
                  <a:ext uri="{0D108BD9-81ED-4DB2-BD59-A6C34878D82A}">
                    <a16:rowId xmlns:a16="http://schemas.microsoft.com/office/drawing/2014/main" val="10002"/>
                  </a:ext>
                </a:extLst>
              </a:tr>
              <a:tr h="566928">
                <a:tc>
                  <a:txBody>
                    <a:bodyPr/>
                    <a:lstStyle/>
                    <a:p>
                      <a:r>
                        <a:rPr sz="1800" b="1" dirty="0">
                          <a:solidFill>
                            <a:srgbClr val="5C4826"/>
                          </a:solidFill>
                          <a:latin typeface="Calibri"/>
                        </a:rPr>
                        <a:t>US DoD, </a:t>
                      </a:r>
                      <a:r>
                        <a:rPr lang="en-US" sz="1800" b="1" dirty="0">
                          <a:solidFill>
                            <a:srgbClr val="5C4826"/>
                          </a:solidFill>
                          <a:latin typeface="Calibri"/>
                        </a:rPr>
                        <a:t>~</a:t>
                      </a:r>
                      <a:r>
                        <a:rPr sz="1800" b="1" dirty="0">
                          <a:solidFill>
                            <a:srgbClr val="5C4826"/>
                          </a:solidFill>
                          <a:latin typeface="Calibri"/>
                        </a:rPr>
                        <a:t>2019</a:t>
                      </a:r>
                    </a:p>
                  </a:txBody>
                  <a:tcPr marL="73152" marR="73152" anchor="ctr">
                    <a:solidFill>
                      <a:srgbClr val="FCFAF6"/>
                    </a:solidFill>
                  </a:tcPr>
                </a:tc>
                <a:tc>
                  <a:txBody>
                    <a:bodyPr/>
                    <a:lstStyle/>
                    <a:p>
                      <a:r>
                        <a:rPr sz="1800" b="0" dirty="0">
                          <a:solidFill>
                            <a:srgbClr val="555960"/>
                          </a:solidFill>
                          <a:latin typeface="Calibri"/>
                        </a:rPr>
                        <a:t>A shared DevSecOps pipeline: repositories, build pipelines, hardened artifacts, runtime platforms</a:t>
                      </a:r>
                    </a:p>
                  </a:txBody>
                  <a:tcPr marL="73152" marR="73152" anchor="ctr">
                    <a:solidFill>
                      <a:srgbClr val="FCFAF6"/>
                    </a:solidFill>
                  </a:tcPr>
                </a:tc>
                <a:tc>
                  <a:txBody>
                    <a:bodyPr/>
                    <a:lstStyle/>
                    <a:p>
                      <a:r>
                        <a:rPr sz="1800" b="0">
                          <a:solidFill>
                            <a:srgbClr val="555960"/>
                          </a:solidFill>
                          <a:latin typeface="Calibri"/>
                        </a:rPr>
                        <a:t>Delivery</a:t>
                      </a:r>
                    </a:p>
                  </a:txBody>
                  <a:tcPr marL="73152" marR="73152" anchor="ctr">
                    <a:solidFill>
                      <a:srgbClr val="FCFAF6"/>
                    </a:solidFill>
                  </a:tcPr>
                </a:tc>
                <a:extLst>
                  <a:ext uri="{0D108BD9-81ED-4DB2-BD59-A6C34878D82A}">
                    <a16:rowId xmlns:a16="http://schemas.microsoft.com/office/drawing/2014/main" val="10003"/>
                  </a:ext>
                </a:extLst>
              </a:tr>
              <a:tr h="566928">
                <a:tc>
                  <a:txBody>
                    <a:bodyPr/>
                    <a:lstStyle/>
                    <a:p>
                      <a:r>
                        <a:rPr sz="1800" b="1">
                          <a:solidFill>
                            <a:srgbClr val="5C4826"/>
                          </a:solidFill>
                          <a:latin typeface="Calibri"/>
                        </a:rPr>
                        <a:t>Larson, 2026</a:t>
                      </a:r>
                    </a:p>
                  </a:txBody>
                  <a:tcPr marL="73152" marR="73152" anchor="ctr">
                    <a:solidFill>
                      <a:srgbClr val="FCFAF6"/>
                    </a:solidFill>
                  </a:tcPr>
                </a:tc>
                <a:tc>
                  <a:txBody>
                    <a:bodyPr/>
                    <a:lstStyle/>
                    <a:p>
                      <a:r>
                        <a:rPr sz="1800" b="0" dirty="0">
                          <a:solidFill>
                            <a:srgbClr val="555960"/>
                          </a:solidFill>
                          <a:latin typeface="Calibri"/>
                        </a:rPr>
                        <a:t>Loop on a broad goal and let a harness drive progress toward it</a:t>
                      </a:r>
                    </a:p>
                  </a:txBody>
                  <a:tcPr marL="73152" marR="73152" anchor="ctr">
                    <a:solidFill>
                      <a:srgbClr val="FCFAF6"/>
                    </a:solidFill>
                  </a:tcPr>
                </a:tc>
                <a:tc>
                  <a:txBody>
                    <a:bodyPr/>
                    <a:lstStyle/>
                    <a:p>
                      <a:r>
                        <a:rPr sz="1800" b="0" dirty="0">
                          <a:solidFill>
                            <a:srgbClr val="555960"/>
                          </a:solidFill>
                          <a:latin typeface="Calibri"/>
                        </a:rPr>
                        <a:t>Goals</a:t>
                      </a:r>
                    </a:p>
                  </a:txBody>
                  <a:tcPr marL="73152" marR="73152" anchor="ctr">
                    <a:solidFill>
                      <a:srgbClr val="FCFAF6"/>
                    </a:solidFill>
                  </a:tcPr>
                </a:tc>
                <a:extLst>
                  <a:ext uri="{0D108BD9-81ED-4DB2-BD59-A6C34878D82A}">
                    <a16:rowId xmlns:a16="http://schemas.microsoft.com/office/drawing/2014/main" val="10005"/>
                  </a:ext>
                </a:extLst>
              </a:tr>
              <a:tr h="566928">
                <a:tc>
                  <a:txBody>
                    <a:bodyPr/>
                    <a:lstStyle/>
                    <a:p>
                      <a:r>
                        <a:rPr sz="1800" b="1">
                          <a:solidFill>
                            <a:srgbClr val="5C4826"/>
                          </a:solidFill>
                          <a:latin typeface="Calibri"/>
                        </a:rPr>
                        <a:t>Osmani, 2026</a:t>
                      </a:r>
                    </a:p>
                  </a:txBody>
                  <a:tcPr marL="73152" marR="73152" anchor="ctr">
                    <a:solidFill>
                      <a:srgbClr val="F5F1E8"/>
                    </a:solidFill>
                  </a:tcPr>
                </a:tc>
                <a:tc>
                  <a:txBody>
                    <a:bodyPr/>
                    <a:lstStyle/>
                    <a:p>
                      <a:r>
                        <a:rPr sz="1800" b="0" dirty="0">
                          <a:solidFill>
                            <a:srgbClr val="555960"/>
                          </a:solidFill>
                          <a:latin typeface="Calibri"/>
                        </a:rPr>
                        <a:t>“harnessing loops at scale”: many agent loops fed by a work queue, drained through a review gate</a:t>
                      </a:r>
                    </a:p>
                  </a:txBody>
                  <a:tcPr marL="73152" marR="73152" anchor="ctr">
                    <a:solidFill>
                      <a:srgbClr val="F5F1E8"/>
                    </a:solidFill>
                  </a:tcPr>
                </a:tc>
                <a:tc>
                  <a:txBody>
                    <a:bodyPr/>
                    <a:lstStyle/>
                    <a:p>
                      <a:r>
                        <a:rPr sz="1800" b="0">
                          <a:solidFill>
                            <a:srgbClr val="555960"/>
                          </a:solidFill>
                          <a:latin typeface="Calibri"/>
                        </a:rPr>
                        <a:t>Verification</a:t>
                      </a:r>
                    </a:p>
                  </a:txBody>
                  <a:tcPr marL="73152" marR="73152" anchor="ctr">
                    <a:solidFill>
                      <a:srgbClr val="F5F1E8"/>
                    </a:solidFill>
                  </a:tcPr>
                </a:tc>
                <a:extLst>
                  <a:ext uri="{0D108BD9-81ED-4DB2-BD59-A6C34878D82A}">
                    <a16:rowId xmlns:a16="http://schemas.microsoft.com/office/drawing/2014/main" val="10006"/>
                  </a:ext>
                </a:extLst>
              </a:tr>
              <a:tr h="566928">
                <a:tc>
                  <a:txBody>
                    <a:bodyPr/>
                    <a:lstStyle/>
                    <a:p>
                      <a:r>
                        <a:rPr sz="1800" b="1">
                          <a:solidFill>
                            <a:srgbClr val="5C4826"/>
                          </a:solidFill>
                          <a:latin typeface="Calibri"/>
                        </a:rPr>
                        <a:t>Davis et al., 2026</a:t>
                      </a:r>
                    </a:p>
                  </a:txBody>
                  <a:tcPr marL="73152" marR="73152" anchor="ctr">
                    <a:solidFill>
                      <a:srgbClr val="FCFAF6"/>
                    </a:solidFill>
                  </a:tcPr>
                </a:tc>
                <a:tc>
                  <a:txBody>
                    <a:bodyPr/>
                    <a:lstStyle/>
                    <a:p>
                      <a:r>
                        <a:rPr sz="1800" b="0" dirty="0">
                          <a:solidFill>
                            <a:srgbClr val="555960"/>
                          </a:solidFill>
                          <a:latin typeface="Calibri"/>
                        </a:rPr>
                        <a:t>The knowledge, tools, validation, and workflows that turn changing requirements into reliable updates</a:t>
                      </a:r>
                    </a:p>
                  </a:txBody>
                  <a:tcPr marL="73152" marR="73152" anchor="ctr">
                    <a:solidFill>
                      <a:srgbClr val="FCFAF6"/>
                    </a:solidFill>
                  </a:tcPr>
                </a:tc>
                <a:tc>
                  <a:txBody>
                    <a:bodyPr/>
                    <a:lstStyle/>
                    <a:p>
                      <a:r>
                        <a:rPr lang="en-US" sz="1800" b="0" dirty="0">
                          <a:solidFill>
                            <a:srgbClr val="555960"/>
                          </a:solidFill>
                          <a:latin typeface="Calibri"/>
                        </a:rPr>
                        <a:t>Assets</a:t>
                      </a:r>
                      <a:endParaRPr sz="1800" b="0" dirty="0">
                        <a:solidFill>
                          <a:srgbClr val="555960"/>
                        </a:solidFill>
                        <a:latin typeface="Calibri"/>
                      </a:endParaRPr>
                    </a:p>
                  </a:txBody>
                  <a:tcPr marL="73152" marR="73152" anchor="ctr">
                    <a:solidFill>
                      <a:srgbClr val="FCFAF6"/>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5DA214BF-A7C2-3ED9-B944-6B6905125076}"/>
              </a:ext>
            </a:extLst>
          </p:cNvPr>
          <p:cNvSpPr/>
          <p:nvPr/>
        </p:nvSpPr>
        <p:spPr>
          <a:xfrm>
            <a:off x="274320" y="3733800"/>
            <a:ext cx="8595360" cy="124510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93F1720-E26C-9AC1-EBBA-07324F949CD7}"/>
              </a:ext>
            </a:extLst>
          </p:cNvPr>
          <p:cNvSpPr/>
          <p:nvPr/>
        </p:nvSpPr>
        <p:spPr>
          <a:xfrm>
            <a:off x="274320" y="2250948"/>
            <a:ext cx="8686800" cy="14828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748B710-45A9-3A37-0E09-AE3397803DBB}"/>
              </a:ext>
            </a:extLst>
          </p:cNvPr>
          <p:cNvSpPr/>
          <p:nvPr/>
        </p:nvSpPr>
        <p:spPr>
          <a:xfrm>
            <a:off x="365760" y="4978908"/>
            <a:ext cx="8595360" cy="124510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animBg="1"/>
      <p:bldP spid="6" grpId="1"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The analogy is important to consider</a:t>
            </a:r>
          </a:p>
        </p:txBody>
      </p:sp>
      <p:sp>
        <p:nvSpPr>
          <p:cNvPr id="3" name="TextBox 2"/>
          <p:cNvSpPr txBox="1"/>
          <p:nvPr/>
        </p:nvSpPr>
        <p:spPr>
          <a:xfrm>
            <a:off x="438912" y="932688"/>
            <a:ext cx="3474720" cy="365760"/>
          </a:xfrm>
          <a:prstGeom prst="rect">
            <a:avLst/>
          </a:prstGeom>
          <a:noFill/>
        </p:spPr>
        <p:txBody>
          <a:bodyPr wrap="square" lIns="27425" tIns="22850" rIns="27425" bIns="22850" anchor="ctr"/>
          <a:lstStyle/>
          <a:p>
            <a:pPr algn="l"/>
            <a:r>
              <a:rPr sz="2000" b="1" i="0">
                <a:solidFill>
                  <a:srgbClr val="5C4826"/>
                </a:solidFill>
                <a:latin typeface="Calibri"/>
              </a:rPr>
              <a:t>A factory has…</a:t>
            </a:r>
          </a:p>
        </p:txBody>
      </p:sp>
      <p:sp>
        <p:nvSpPr>
          <p:cNvPr id="4" name="TextBox 3"/>
          <p:cNvSpPr txBox="1"/>
          <p:nvPr/>
        </p:nvSpPr>
        <p:spPr>
          <a:xfrm>
            <a:off x="4754880" y="932688"/>
            <a:ext cx="4023360" cy="365760"/>
          </a:xfrm>
          <a:prstGeom prst="rect">
            <a:avLst/>
          </a:prstGeom>
          <a:noFill/>
        </p:spPr>
        <p:txBody>
          <a:bodyPr wrap="square" lIns="27425" tIns="22850" rIns="27425" bIns="22850" anchor="ctr"/>
          <a:lstStyle/>
          <a:p>
            <a:pPr algn="l"/>
            <a:r>
              <a:rPr sz="2000" b="1" i="0">
                <a:solidFill>
                  <a:srgbClr val="5C4826"/>
                </a:solidFill>
                <a:latin typeface="Calibri"/>
              </a:rPr>
              <a:t>A software factory has…</a:t>
            </a:r>
          </a:p>
        </p:txBody>
      </p:sp>
      <p:sp>
        <p:nvSpPr>
          <p:cNvPr id="5" name="Rectangle 4"/>
          <p:cNvSpPr/>
          <p:nvPr/>
        </p:nvSpPr>
        <p:spPr>
          <a:xfrm>
            <a:off x="621792" y="1371600"/>
            <a:ext cx="3200400" cy="411480"/>
          </a:xfrm>
          <a:prstGeom prst="rect">
            <a:avLst/>
          </a:prstGeom>
          <a:solidFill>
            <a:srgbClr val="FCFAF6"/>
          </a:solidFill>
          <a:ln w="12700">
            <a:solidFill>
              <a:srgbClr val="CBB590"/>
            </a:solidFill>
          </a:ln>
        </p:spPr>
        <p:txBody>
          <a:bodyPr rtlCol="0" anchor="ctr"/>
          <a:lstStyle/>
          <a:p>
            <a:endParaRPr/>
          </a:p>
        </p:txBody>
      </p:sp>
      <p:sp>
        <p:nvSpPr>
          <p:cNvPr id="6" name="TextBox 5"/>
          <p:cNvSpPr txBox="1"/>
          <p:nvPr/>
        </p:nvSpPr>
        <p:spPr>
          <a:xfrm>
            <a:off x="713232" y="1371600"/>
            <a:ext cx="3063240" cy="411480"/>
          </a:xfrm>
          <a:prstGeom prst="rect">
            <a:avLst/>
          </a:prstGeom>
          <a:noFill/>
        </p:spPr>
        <p:txBody>
          <a:bodyPr wrap="square" lIns="27425" tIns="22850" rIns="27425" bIns="22850" anchor="ctr"/>
          <a:lstStyle/>
          <a:p>
            <a:pPr algn="l"/>
            <a:r>
              <a:rPr sz="1800" b="1" i="0">
                <a:solidFill>
                  <a:srgbClr val="8E6F3E"/>
                </a:solidFill>
                <a:latin typeface="Calibri"/>
              </a:rPr>
              <a:t>Machines doing work</a:t>
            </a:r>
          </a:p>
        </p:txBody>
      </p:sp>
      <p:sp>
        <p:nvSpPr>
          <p:cNvPr id="7" name="Right Arrow 6"/>
          <p:cNvSpPr/>
          <p:nvPr/>
        </p:nvSpPr>
        <p:spPr>
          <a:xfrm>
            <a:off x="4023360" y="1463040"/>
            <a:ext cx="502920" cy="237744"/>
          </a:xfrm>
          <a:prstGeom prst="rightArrow">
            <a:avLst/>
          </a:prstGeom>
          <a:solidFill>
            <a:srgbClr val="8E6F3E"/>
          </a:solidFill>
          <a:ln>
            <a:noFill/>
          </a:ln>
        </p:spPr>
        <p:txBody>
          <a:bodyPr rtlCol="0" anchor="ctr"/>
          <a:lstStyle/>
          <a:p>
            <a:endParaRPr/>
          </a:p>
        </p:txBody>
      </p:sp>
      <p:sp>
        <p:nvSpPr>
          <p:cNvPr id="8" name="Rectangle 7"/>
          <p:cNvSpPr/>
          <p:nvPr/>
        </p:nvSpPr>
        <p:spPr>
          <a:xfrm>
            <a:off x="4754880" y="1371600"/>
            <a:ext cx="3931920" cy="411480"/>
          </a:xfrm>
          <a:prstGeom prst="rect">
            <a:avLst/>
          </a:prstGeom>
          <a:solidFill>
            <a:srgbClr val="8E6F3E"/>
          </a:solidFill>
          <a:ln>
            <a:noFill/>
          </a:ln>
        </p:spPr>
        <p:txBody>
          <a:bodyPr rtlCol="0" anchor="ctr"/>
          <a:lstStyle/>
          <a:p>
            <a:endParaRPr sz="1600"/>
          </a:p>
        </p:txBody>
      </p:sp>
      <p:sp>
        <p:nvSpPr>
          <p:cNvPr id="9" name="TextBox 8"/>
          <p:cNvSpPr txBox="1"/>
          <p:nvPr/>
        </p:nvSpPr>
        <p:spPr>
          <a:xfrm>
            <a:off x="4846320" y="1371600"/>
            <a:ext cx="3794760" cy="411480"/>
          </a:xfrm>
          <a:prstGeom prst="rect">
            <a:avLst/>
          </a:prstGeom>
          <a:noFill/>
        </p:spPr>
        <p:txBody>
          <a:bodyPr wrap="square" lIns="27425" tIns="22850" rIns="27425" bIns="22850" anchor="ctr"/>
          <a:lstStyle/>
          <a:p>
            <a:pPr algn="l"/>
            <a:r>
              <a:rPr sz="1800" b="1" i="0" dirty="0">
                <a:solidFill>
                  <a:srgbClr val="FFFFFF"/>
                </a:solidFill>
                <a:latin typeface="Calibri"/>
              </a:rPr>
              <a:t>Coding agents doing the work</a:t>
            </a:r>
          </a:p>
        </p:txBody>
      </p:sp>
      <p:sp>
        <p:nvSpPr>
          <p:cNvPr id="10" name="Rectangle 9"/>
          <p:cNvSpPr/>
          <p:nvPr/>
        </p:nvSpPr>
        <p:spPr>
          <a:xfrm>
            <a:off x="621792" y="2029967"/>
            <a:ext cx="3200400" cy="411480"/>
          </a:xfrm>
          <a:prstGeom prst="rect">
            <a:avLst/>
          </a:prstGeom>
          <a:solidFill>
            <a:srgbClr val="FCFAF6"/>
          </a:solidFill>
          <a:ln w="12700">
            <a:solidFill>
              <a:srgbClr val="CBB590"/>
            </a:solidFill>
          </a:ln>
        </p:spPr>
        <p:txBody>
          <a:bodyPr rtlCol="0" anchor="ctr"/>
          <a:lstStyle/>
          <a:p>
            <a:endParaRPr/>
          </a:p>
        </p:txBody>
      </p:sp>
      <p:sp>
        <p:nvSpPr>
          <p:cNvPr id="11" name="TextBox 10"/>
          <p:cNvSpPr txBox="1"/>
          <p:nvPr/>
        </p:nvSpPr>
        <p:spPr>
          <a:xfrm>
            <a:off x="713232" y="2029967"/>
            <a:ext cx="3063240" cy="411480"/>
          </a:xfrm>
          <a:prstGeom prst="rect">
            <a:avLst/>
          </a:prstGeom>
          <a:noFill/>
        </p:spPr>
        <p:txBody>
          <a:bodyPr wrap="square" lIns="27425" tIns="22850" rIns="27425" bIns="22850" anchor="ctr"/>
          <a:lstStyle/>
          <a:p>
            <a:pPr algn="l"/>
            <a:r>
              <a:rPr sz="1800" b="1" i="0">
                <a:solidFill>
                  <a:srgbClr val="8E6F3E"/>
                </a:solidFill>
                <a:latin typeface="Calibri"/>
              </a:rPr>
              <a:t>Quality control</a:t>
            </a:r>
          </a:p>
        </p:txBody>
      </p:sp>
      <p:sp>
        <p:nvSpPr>
          <p:cNvPr id="12" name="Right Arrow 11"/>
          <p:cNvSpPr/>
          <p:nvPr/>
        </p:nvSpPr>
        <p:spPr>
          <a:xfrm>
            <a:off x="4023360" y="2121408"/>
            <a:ext cx="502920" cy="237744"/>
          </a:xfrm>
          <a:prstGeom prst="rightArrow">
            <a:avLst/>
          </a:prstGeom>
          <a:solidFill>
            <a:srgbClr val="8E6F3E"/>
          </a:solidFill>
          <a:ln>
            <a:noFill/>
          </a:ln>
        </p:spPr>
        <p:txBody>
          <a:bodyPr rtlCol="0" anchor="ctr"/>
          <a:lstStyle/>
          <a:p>
            <a:endParaRPr/>
          </a:p>
        </p:txBody>
      </p:sp>
      <p:sp>
        <p:nvSpPr>
          <p:cNvPr id="13" name="Rectangle 12"/>
          <p:cNvSpPr/>
          <p:nvPr/>
        </p:nvSpPr>
        <p:spPr>
          <a:xfrm>
            <a:off x="4754880" y="2029967"/>
            <a:ext cx="3931920" cy="411480"/>
          </a:xfrm>
          <a:prstGeom prst="rect">
            <a:avLst/>
          </a:prstGeom>
          <a:solidFill>
            <a:srgbClr val="8E6F3E"/>
          </a:solidFill>
          <a:ln>
            <a:noFill/>
          </a:ln>
        </p:spPr>
        <p:txBody>
          <a:bodyPr rtlCol="0" anchor="ctr"/>
          <a:lstStyle/>
          <a:p>
            <a:endParaRPr sz="1600"/>
          </a:p>
        </p:txBody>
      </p:sp>
      <p:sp>
        <p:nvSpPr>
          <p:cNvPr id="14" name="TextBox 13"/>
          <p:cNvSpPr txBox="1"/>
          <p:nvPr/>
        </p:nvSpPr>
        <p:spPr>
          <a:xfrm>
            <a:off x="4846320" y="2029967"/>
            <a:ext cx="3794760" cy="411480"/>
          </a:xfrm>
          <a:prstGeom prst="rect">
            <a:avLst/>
          </a:prstGeom>
          <a:noFill/>
        </p:spPr>
        <p:txBody>
          <a:bodyPr wrap="square" lIns="27425" tIns="22850" rIns="27425" bIns="22850" anchor="ctr"/>
          <a:lstStyle/>
          <a:p>
            <a:pPr algn="l"/>
            <a:r>
              <a:rPr sz="1800" b="1" i="0" dirty="0">
                <a:solidFill>
                  <a:srgbClr val="FFFFFF"/>
                </a:solidFill>
                <a:latin typeface="Calibri"/>
              </a:rPr>
              <a:t>Tests, verification, and review</a:t>
            </a:r>
          </a:p>
        </p:txBody>
      </p:sp>
      <p:sp>
        <p:nvSpPr>
          <p:cNvPr id="15" name="Rectangle 14"/>
          <p:cNvSpPr/>
          <p:nvPr/>
        </p:nvSpPr>
        <p:spPr>
          <a:xfrm>
            <a:off x="621792" y="2688335"/>
            <a:ext cx="3200400" cy="411480"/>
          </a:xfrm>
          <a:prstGeom prst="rect">
            <a:avLst/>
          </a:prstGeom>
          <a:solidFill>
            <a:srgbClr val="FCFAF6"/>
          </a:solidFill>
          <a:ln w="12700">
            <a:solidFill>
              <a:srgbClr val="CBB590"/>
            </a:solidFill>
          </a:ln>
        </p:spPr>
        <p:txBody>
          <a:bodyPr rtlCol="0" anchor="ctr"/>
          <a:lstStyle/>
          <a:p>
            <a:endParaRPr/>
          </a:p>
        </p:txBody>
      </p:sp>
      <p:sp>
        <p:nvSpPr>
          <p:cNvPr id="16" name="TextBox 15"/>
          <p:cNvSpPr txBox="1"/>
          <p:nvPr/>
        </p:nvSpPr>
        <p:spPr>
          <a:xfrm>
            <a:off x="713232" y="2688335"/>
            <a:ext cx="3063240" cy="411480"/>
          </a:xfrm>
          <a:prstGeom prst="rect">
            <a:avLst/>
          </a:prstGeom>
          <a:noFill/>
        </p:spPr>
        <p:txBody>
          <a:bodyPr wrap="square" lIns="27425" tIns="22850" rIns="27425" bIns="22850" anchor="ctr"/>
          <a:lstStyle/>
          <a:p>
            <a:pPr algn="l"/>
            <a:r>
              <a:rPr sz="1800" b="1" i="0">
                <a:solidFill>
                  <a:srgbClr val="8E6F3E"/>
                </a:solidFill>
                <a:latin typeface="Calibri"/>
              </a:rPr>
              <a:t>Process documentation</a:t>
            </a:r>
          </a:p>
        </p:txBody>
      </p:sp>
      <p:sp>
        <p:nvSpPr>
          <p:cNvPr id="17" name="Right Arrow 16"/>
          <p:cNvSpPr/>
          <p:nvPr/>
        </p:nvSpPr>
        <p:spPr>
          <a:xfrm>
            <a:off x="4023360" y="2779775"/>
            <a:ext cx="502920" cy="237744"/>
          </a:xfrm>
          <a:prstGeom prst="rightArrow">
            <a:avLst/>
          </a:prstGeom>
          <a:solidFill>
            <a:srgbClr val="8E6F3E"/>
          </a:solidFill>
          <a:ln>
            <a:noFill/>
          </a:ln>
        </p:spPr>
        <p:txBody>
          <a:bodyPr rtlCol="0" anchor="ctr"/>
          <a:lstStyle/>
          <a:p>
            <a:endParaRPr/>
          </a:p>
        </p:txBody>
      </p:sp>
      <p:sp>
        <p:nvSpPr>
          <p:cNvPr id="18" name="Rectangle 17"/>
          <p:cNvSpPr/>
          <p:nvPr/>
        </p:nvSpPr>
        <p:spPr>
          <a:xfrm>
            <a:off x="4754880" y="2688335"/>
            <a:ext cx="3931920" cy="411480"/>
          </a:xfrm>
          <a:prstGeom prst="rect">
            <a:avLst/>
          </a:prstGeom>
          <a:solidFill>
            <a:srgbClr val="8E6F3E"/>
          </a:solidFill>
          <a:ln>
            <a:noFill/>
          </a:ln>
        </p:spPr>
        <p:txBody>
          <a:bodyPr rtlCol="0" anchor="ctr"/>
          <a:lstStyle/>
          <a:p>
            <a:endParaRPr sz="1600"/>
          </a:p>
        </p:txBody>
      </p:sp>
      <p:sp>
        <p:nvSpPr>
          <p:cNvPr id="19" name="TextBox 18"/>
          <p:cNvSpPr txBox="1"/>
          <p:nvPr/>
        </p:nvSpPr>
        <p:spPr>
          <a:xfrm>
            <a:off x="4846320" y="2688335"/>
            <a:ext cx="3794760" cy="411480"/>
          </a:xfrm>
          <a:prstGeom prst="rect">
            <a:avLst/>
          </a:prstGeom>
          <a:noFill/>
        </p:spPr>
        <p:txBody>
          <a:bodyPr wrap="square" lIns="27425" tIns="22850" rIns="27425" bIns="22850" anchor="ctr"/>
          <a:lstStyle/>
          <a:p>
            <a:pPr algn="l"/>
            <a:r>
              <a:rPr sz="1800" b="1" i="0">
                <a:solidFill>
                  <a:srgbClr val="FFFFFF"/>
                </a:solidFill>
                <a:latin typeface="Calibri"/>
              </a:rPr>
              <a:t>AGENTS.md, skills, commit history</a:t>
            </a:r>
          </a:p>
        </p:txBody>
      </p:sp>
      <p:sp>
        <p:nvSpPr>
          <p:cNvPr id="20" name="Rectangle 19"/>
          <p:cNvSpPr/>
          <p:nvPr/>
        </p:nvSpPr>
        <p:spPr>
          <a:xfrm>
            <a:off x="621792" y="3346703"/>
            <a:ext cx="3200400" cy="411480"/>
          </a:xfrm>
          <a:prstGeom prst="rect">
            <a:avLst/>
          </a:prstGeom>
          <a:solidFill>
            <a:srgbClr val="FCFAF6"/>
          </a:solidFill>
          <a:ln w="12700">
            <a:solidFill>
              <a:srgbClr val="CBB590"/>
            </a:solidFill>
          </a:ln>
        </p:spPr>
        <p:txBody>
          <a:bodyPr rtlCol="0" anchor="ctr"/>
          <a:lstStyle/>
          <a:p>
            <a:endParaRPr/>
          </a:p>
        </p:txBody>
      </p:sp>
      <p:sp>
        <p:nvSpPr>
          <p:cNvPr id="21" name="TextBox 20"/>
          <p:cNvSpPr txBox="1"/>
          <p:nvPr/>
        </p:nvSpPr>
        <p:spPr>
          <a:xfrm>
            <a:off x="713232" y="3346703"/>
            <a:ext cx="3063240" cy="411480"/>
          </a:xfrm>
          <a:prstGeom prst="rect">
            <a:avLst/>
          </a:prstGeom>
          <a:noFill/>
        </p:spPr>
        <p:txBody>
          <a:bodyPr wrap="square" lIns="27425" tIns="22850" rIns="27425" bIns="22850" anchor="ctr"/>
          <a:lstStyle/>
          <a:p>
            <a:pPr algn="l"/>
            <a:r>
              <a:rPr sz="1800" b="1" i="0">
                <a:solidFill>
                  <a:srgbClr val="8E6F3E"/>
                </a:solidFill>
                <a:latin typeface="Calibri"/>
              </a:rPr>
              <a:t>Precisely specified inputs</a:t>
            </a:r>
          </a:p>
        </p:txBody>
      </p:sp>
      <p:sp>
        <p:nvSpPr>
          <p:cNvPr id="22" name="Right Arrow 21"/>
          <p:cNvSpPr/>
          <p:nvPr/>
        </p:nvSpPr>
        <p:spPr>
          <a:xfrm>
            <a:off x="4023360" y="3438143"/>
            <a:ext cx="502920" cy="237744"/>
          </a:xfrm>
          <a:prstGeom prst="rightArrow">
            <a:avLst/>
          </a:prstGeom>
          <a:solidFill>
            <a:srgbClr val="8E6F3E"/>
          </a:solidFill>
          <a:ln>
            <a:noFill/>
          </a:ln>
        </p:spPr>
        <p:txBody>
          <a:bodyPr rtlCol="0" anchor="ctr"/>
          <a:lstStyle/>
          <a:p>
            <a:endParaRPr/>
          </a:p>
        </p:txBody>
      </p:sp>
      <p:sp>
        <p:nvSpPr>
          <p:cNvPr id="23" name="Rectangle 22"/>
          <p:cNvSpPr/>
          <p:nvPr/>
        </p:nvSpPr>
        <p:spPr>
          <a:xfrm>
            <a:off x="4754880" y="3346703"/>
            <a:ext cx="3931920" cy="411480"/>
          </a:xfrm>
          <a:prstGeom prst="rect">
            <a:avLst/>
          </a:prstGeom>
          <a:solidFill>
            <a:srgbClr val="8E6F3E"/>
          </a:solidFill>
          <a:ln>
            <a:noFill/>
          </a:ln>
        </p:spPr>
        <p:txBody>
          <a:bodyPr rtlCol="0" anchor="ctr"/>
          <a:lstStyle/>
          <a:p>
            <a:endParaRPr sz="1600"/>
          </a:p>
        </p:txBody>
      </p:sp>
      <p:sp>
        <p:nvSpPr>
          <p:cNvPr id="24" name="TextBox 23"/>
          <p:cNvSpPr txBox="1"/>
          <p:nvPr/>
        </p:nvSpPr>
        <p:spPr>
          <a:xfrm>
            <a:off x="4846320" y="3346703"/>
            <a:ext cx="3794760" cy="411480"/>
          </a:xfrm>
          <a:prstGeom prst="rect">
            <a:avLst/>
          </a:prstGeom>
          <a:noFill/>
        </p:spPr>
        <p:txBody>
          <a:bodyPr wrap="square" lIns="27425" tIns="22850" rIns="27425" bIns="22850" anchor="ctr"/>
          <a:lstStyle/>
          <a:p>
            <a:pPr algn="l"/>
            <a:r>
              <a:rPr sz="1800" b="1" i="0">
                <a:solidFill>
                  <a:srgbClr val="FFFFFF"/>
                </a:solidFill>
                <a:latin typeface="Calibri"/>
              </a:rPr>
              <a:t>Specs and acceptance criteria</a:t>
            </a:r>
          </a:p>
        </p:txBody>
      </p:sp>
      <p:sp>
        <p:nvSpPr>
          <p:cNvPr id="25" name="Rectangle 24"/>
          <p:cNvSpPr/>
          <p:nvPr/>
        </p:nvSpPr>
        <p:spPr>
          <a:xfrm>
            <a:off x="621792" y="4005071"/>
            <a:ext cx="3200400" cy="411480"/>
          </a:xfrm>
          <a:prstGeom prst="rect">
            <a:avLst/>
          </a:prstGeom>
          <a:solidFill>
            <a:srgbClr val="FCFAF6"/>
          </a:solidFill>
          <a:ln w="12700">
            <a:solidFill>
              <a:srgbClr val="CBB590"/>
            </a:solidFill>
          </a:ln>
        </p:spPr>
        <p:txBody>
          <a:bodyPr rtlCol="0" anchor="ctr"/>
          <a:lstStyle/>
          <a:p>
            <a:endParaRPr/>
          </a:p>
        </p:txBody>
      </p:sp>
      <p:sp>
        <p:nvSpPr>
          <p:cNvPr id="26" name="TextBox 25"/>
          <p:cNvSpPr txBox="1"/>
          <p:nvPr/>
        </p:nvSpPr>
        <p:spPr>
          <a:xfrm>
            <a:off x="713232" y="4005071"/>
            <a:ext cx="3063240" cy="411480"/>
          </a:xfrm>
          <a:prstGeom prst="rect">
            <a:avLst/>
          </a:prstGeom>
          <a:noFill/>
        </p:spPr>
        <p:txBody>
          <a:bodyPr wrap="square" lIns="27425" tIns="22850" rIns="27425" bIns="22850" anchor="ctr"/>
          <a:lstStyle/>
          <a:p>
            <a:pPr algn="l"/>
            <a:r>
              <a:rPr sz="1800" b="1" i="0">
                <a:solidFill>
                  <a:srgbClr val="8E6F3E"/>
                </a:solidFill>
                <a:latin typeface="Calibri"/>
              </a:rPr>
              <a:t>A reliable environment</a:t>
            </a:r>
          </a:p>
        </p:txBody>
      </p:sp>
      <p:sp>
        <p:nvSpPr>
          <p:cNvPr id="27" name="Right Arrow 26"/>
          <p:cNvSpPr/>
          <p:nvPr/>
        </p:nvSpPr>
        <p:spPr>
          <a:xfrm>
            <a:off x="4023360" y="4096511"/>
            <a:ext cx="502920" cy="237744"/>
          </a:xfrm>
          <a:prstGeom prst="rightArrow">
            <a:avLst/>
          </a:prstGeom>
          <a:solidFill>
            <a:srgbClr val="8E6F3E"/>
          </a:solidFill>
          <a:ln>
            <a:noFill/>
          </a:ln>
        </p:spPr>
        <p:txBody>
          <a:bodyPr rtlCol="0" anchor="ctr"/>
          <a:lstStyle/>
          <a:p>
            <a:endParaRPr/>
          </a:p>
        </p:txBody>
      </p:sp>
      <p:sp>
        <p:nvSpPr>
          <p:cNvPr id="28" name="Rectangle 27"/>
          <p:cNvSpPr/>
          <p:nvPr/>
        </p:nvSpPr>
        <p:spPr>
          <a:xfrm>
            <a:off x="4754880" y="4005071"/>
            <a:ext cx="3931920" cy="411480"/>
          </a:xfrm>
          <a:prstGeom prst="rect">
            <a:avLst/>
          </a:prstGeom>
          <a:solidFill>
            <a:srgbClr val="8E6F3E"/>
          </a:solidFill>
          <a:ln>
            <a:noFill/>
          </a:ln>
        </p:spPr>
        <p:txBody>
          <a:bodyPr rtlCol="0" anchor="ctr"/>
          <a:lstStyle/>
          <a:p>
            <a:endParaRPr sz="1600"/>
          </a:p>
        </p:txBody>
      </p:sp>
      <p:sp>
        <p:nvSpPr>
          <p:cNvPr id="29" name="TextBox 28"/>
          <p:cNvSpPr txBox="1"/>
          <p:nvPr/>
        </p:nvSpPr>
        <p:spPr>
          <a:xfrm>
            <a:off x="4846320" y="4005071"/>
            <a:ext cx="3794760" cy="411480"/>
          </a:xfrm>
          <a:prstGeom prst="rect">
            <a:avLst/>
          </a:prstGeom>
          <a:noFill/>
        </p:spPr>
        <p:txBody>
          <a:bodyPr wrap="square" lIns="27425" tIns="22850" rIns="27425" bIns="22850" anchor="ctr"/>
          <a:lstStyle/>
          <a:p>
            <a:pPr algn="l"/>
            <a:r>
              <a:rPr sz="1800" b="1" i="0">
                <a:solidFill>
                  <a:srgbClr val="FFFFFF"/>
                </a:solidFill>
                <a:latin typeface="Calibri"/>
              </a:rPr>
              <a:t>Fast, stable environments and CI</a:t>
            </a:r>
          </a:p>
        </p:txBody>
      </p:sp>
      <p:sp>
        <p:nvSpPr>
          <p:cNvPr id="30" name="TextBox 29"/>
          <p:cNvSpPr txBox="1"/>
          <p:nvPr/>
        </p:nvSpPr>
        <p:spPr>
          <a:xfrm>
            <a:off x="438912" y="6129020"/>
            <a:ext cx="5847588" cy="365760"/>
          </a:xfrm>
          <a:prstGeom prst="rect">
            <a:avLst/>
          </a:prstGeom>
          <a:noFill/>
        </p:spPr>
        <p:txBody>
          <a:bodyPr wrap="square" lIns="27425" tIns="22850" rIns="27425" bIns="22850" anchor="t"/>
          <a:lstStyle/>
          <a:p>
            <a:pPr algn="l"/>
            <a:r>
              <a:rPr lang="en-US" b="0" i="1" dirty="0">
                <a:solidFill>
                  <a:srgbClr val="555960"/>
                </a:solidFill>
                <a:latin typeface="Calibri"/>
              </a:rPr>
              <a:t>Adapted from</a:t>
            </a:r>
            <a:r>
              <a:rPr b="0" i="1" dirty="0">
                <a:solidFill>
                  <a:srgbClr val="555960"/>
                </a:solidFill>
                <a:latin typeface="Calibri"/>
              </a:rPr>
              <a:t>: Addy Osmani, “The Factory Model,” February 2026.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animBg="1"/>
      <p:bldP spid="14" grpId="0"/>
      <p:bldP spid="15" grpId="0" animBg="1"/>
      <p:bldP spid="16" grpId="0"/>
      <p:bldP spid="17" grpId="0" animBg="1"/>
      <p:bldP spid="18" grpId="0" animBg="1"/>
      <p:bldP spid="19" grpId="0"/>
      <p:bldP spid="20" grpId="0" animBg="1"/>
      <p:bldP spid="21" grpId="0"/>
      <p:bldP spid="22" grpId="0" animBg="1"/>
      <p:bldP spid="23" grpId="0" animBg="1"/>
      <p:bldP spid="24" grpId="0"/>
      <p:bldP spid="25" grpId="0" animBg="1"/>
      <p:bldP spid="26" grpId="0"/>
      <p:bldP spid="27" grpId="0" animBg="1"/>
      <p:bldP spid="28" grpId="0" animBg="1"/>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dirty="0">
                <a:solidFill>
                  <a:srgbClr val="2D2D2D"/>
                </a:solidFill>
                <a:latin typeface="Calibri"/>
              </a:rPr>
              <a:t>Defining </a:t>
            </a:r>
            <a:r>
              <a:rPr lang="en-US" sz="2400" b="0" i="0" dirty="0">
                <a:solidFill>
                  <a:srgbClr val="2D2D2D"/>
                </a:solidFill>
                <a:latin typeface="Calibri"/>
              </a:rPr>
              <a:t>factory </a:t>
            </a:r>
            <a:r>
              <a:rPr sz="2400" b="0" i="0" dirty="0">
                <a:solidFill>
                  <a:srgbClr val="2D2D2D"/>
                </a:solidFill>
                <a:latin typeface="Calibri"/>
              </a:rPr>
              <a:t>characteristics that every era shares</a:t>
            </a:r>
          </a:p>
        </p:txBody>
      </p:sp>
      <p:sp>
        <p:nvSpPr>
          <p:cNvPr id="3" name="Rectangle 2"/>
          <p:cNvSpPr/>
          <p:nvPr/>
        </p:nvSpPr>
        <p:spPr>
          <a:xfrm>
            <a:off x="411480" y="1143000"/>
            <a:ext cx="2670048" cy="1737360"/>
          </a:xfrm>
          <a:prstGeom prst="rect">
            <a:avLst/>
          </a:prstGeom>
          <a:solidFill>
            <a:srgbClr val="F5F1E8"/>
          </a:solidFill>
          <a:ln w="12700">
            <a:solidFill>
              <a:srgbClr val="CBB590"/>
            </a:solidFill>
          </a:ln>
        </p:spPr>
        <p:txBody>
          <a:bodyPr rtlCol="0" anchor="ctr"/>
          <a:lstStyle/>
          <a:p>
            <a:endParaRPr sz="1600"/>
          </a:p>
        </p:txBody>
      </p:sp>
      <p:sp>
        <p:nvSpPr>
          <p:cNvPr id="4" name="TextBox 3"/>
          <p:cNvSpPr txBox="1"/>
          <p:nvPr/>
        </p:nvSpPr>
        <p:spPr>
          <a:xfrm>
            <a:off x="557784" y="1234440"/>
            <a:ext cx="2377440" cy="274320"/>
          </a:xfrm>
          <a:prstGeom prst="rect">
            <a:avLst/>
          </a:prstGeom>
          <a:noFill/>
        </p:spPr>
        <p:txBody>
          <a:bodyPr wrap="square" lIns="27425" tIns="22850" rIns="27425" bIns="22850" anchor="ctr"/>
          <a:lstStyle/>
          <a:p>
            <a:pPr algn="l"/>
            <a:r>
              <a:rPr b="1" i="0">
                <a:solidFill>
                  <a:srgbClr val="8E6F3E"/>
                </a:solidFill>
                <a:latin typeface="Calibri"/>
              </a:rPr>
              <a:t>STANDARD PROCESS</a:t>
            </a:r>
          </a:p>
        </p:txBody>
      </p:sp>
      <p:sp>
        <p:nvSpPr>
          <p:cNvPr id="5" name="TextBox 4"/>
          <p:cNvSpPr txBox="1"/>
          <p:nvPr/>
        </p:nvSpPr>
        <p:spPr>
          <a:xfrm>
            <a:off x="557784" y="1527048"/>
            <a:ext cx="2377440" cy="1280159"/>
          </a:xfrm>
          <a:prstGeom prst="rect">
            <a:avLst/>
          </a:prstGeom>
          <a:noFill/>
        </p:spPr>
        <p:txBody>
          <a:bodyPr wrap="square" lIns="27425" tIns="22850" rIns="27425" bIns="22850" anchor="t"/>
          <a:lstStyle/>
          <a:p>
            <a:pPr algn="l"/>
            <a:r>
              <a:rPr sz="1800" b="0" i="0">
                <a:solidFill>
                  <a:srgbClr val="555960"/>
                </a:solidFill>
                <a:latin typeface="Calibri"/>
              </a:rPr>
              <a:t>Work follows defined steps, not individual habit.</a:t>
            </a:r>
          </a:p>
        </p:txBody>
      </p:sp>
      <p:sp>
        <p:nvSpPr>
          <p:cNvPr id="6" name="Rectangle 5"/>
          <p:cNvSpPr/>
          <p:nvPr/>
        </p:nvSpPr>
        <p:spPr>
          <a:xfrm>
            <a:off x="3209544" y="1143000"/>
            <a:ext cx="2670048" cy="1737360"/>
          </a:xfrm>
          <a:prstGeom prst="rect">
            <a:avLst/>
          </a:prstGeom>
          <a:solidFill>
            <a:srgbClr val="FCFAF6"/>
          </a:solidFill>
          <a:ln w="12700">
            <a:solidFill>
              <a:srgbClr val="CBB590"/>
            </a:solidFill>
          </a:ln>
        </p:spPr>
        <p:txBody>
          <a:bodyPr rtlCol="0" anchor="ctr"/>
          <a:lstStyle/>
          <a:p>
            <a:endParaRPr sz="1600"/>
          </a:p>
        </p:txBody>
      </p:sp>
      <p:sp>
        <p:nvSpPr>
          <p:cNvPr id="7" name="TextBox 6"/>
          <p:cNvSpPr txBox="1"/>
          <p:nvPr/>
        </p:nvSpPr>
        <p:spPr>
          <a:xfrm>
            <a:off x="3355848" y="1234440"/>
            <a:ext cx="2377440" cy="274320"/>
          </a:xfrm>
          <a:prstGeom prst="rect">
            <a:avLst/>
          </a:prstGeom>
          <a:noFill/>
        </p:spPr>
        <p:txBody>
          <a:bodyPr wrap="square" lIns="27425" tIns="22850" rIns="27425" bIns="22850" anchor="ctr"/>
          <a:lstStyle/>
          <a:p>
            <a:pPr algn="l"/>
            <a:r>
              <a:rPr b="1" i="0">
                <a:solidFill>
                  <a:srgbClr val="8E6F3E"/>
                </a:solidFill>
                <a:latin typeface="Calibri"/>
              </a:rPr>
              <a:t>REUSABLE ASSETS</a:t>
            </a:r>
          </a:p>
        </p:txBody>
      </p:sp>
      <p:sp>
        <p:nvSpPr>
          <p:cNvPr id="8" name="TextBox 7"/>
          <p:cNvSpPr txBox="1"/>
          <p:nvPr/>
        </p:nvSpPr>
        <p:spPr>
          <a:xfrm>
            <a:off x="3355848" y="1527048"/>
            <a:ext cx="2377440" cy="1280159"/>
          </a:xfrm>
          <a:prstGeom prst="rect">
            <a:avLst/>
          </a:prstGeom>
          <a:noFill/>
        </p:spPr>
        <p:txBody>
          <a:bodyPr wrap="square" lIns="27425" tIns="22850" rIns="27425" bIns="22850" anchor="t"/>
          <a:lstStyle/>
          <a:p>
            <a:pPr algn="l"/>
            <a:r>
              <a:rPr sz="1800" b="0" i="0" dirty="0">
                <a:solidFill>
                  <a:srgbClr val="555960"/>
                </a:solidFill>
                <a:latin typeface="Calibri"/>
              </a:rPr>
              <a:t>Components, templates, models, and skills are built once and used many times.</a:t>
            </a:r>
          </a:p>
        </p:txBody>
      </p:sp>
      <p:sp>
        <p:nvSpPr>
          <p:cNvPr id="9" name="Rectangle 8"/>
          <p:cNvSpPr/>
          <p:nvPr/>
        </p:nvSpPr>
        <p:spPr>
          <a:xfrm>
            <a:off x="6007608" y="1143000"/>
            <a:ext cx="2670048" cy="1737360"/>
          </a:xfrm>
          <a:prstGeom prst="rect">
            <a:avLst/>
          </a:prstGeom>
          <a:solidFill>
            <a:srgbClr val="F5F1E8"/>
          </a:solidFill>
          <a:ln w="12700">
            <a:solidFill>
              <a:srgbClr val="CBB590"/>
            </a:solidFill>
          </a:ln>
        </p:spPr>
        <p:txBody>
          <a:bodyPr rtlCol="0" anchor="ctr"/>
          <a:lstStyle/>
          <a:p>
            <a:endParaRPr sz="1600"/>
          </a:p>
        </p:txBody>
      </p:sp>
      <p:sp>
        <p:nvSpPr>
          <p:cNvPr id="10" name="TextBox 9"/>
          <p:cNvSpPr txBox="1"/>
          <p:nvPr/>
        </p:nvSpPr>
        <p:spPr>
          <a:xfrm>
            <a:off x="6153912" y="1234440"/>
            <a:ext cx="2377440" cy="274320"/>
          </a:xfrm>
          <a:prstGeom prst="rect">
            <a:avLst/>
          </a:prstGeom>
          <a:noFill/>
        </p:spPr>
        <p:txBody>
          <a:bodyPr wrap="square" lIns="27425" tIns="22850" rIns="27425" bIns="22850" anchor="ctr"/>
          <a:lstStyle/>
          <a:p>
            <a:pPr algn="l"/>
            <a:r>
              <a:rPr b="1" i="0">
                <a:solidFill>
                  <a:srgbClr val="8E6F3E"/>
                </a:solidFill>
                <a:latin typeface="Calibri"/>
              </a:rPr>
              <a:t>INTEGRATED TOOLING</a:t>
            </a:r>
          </a:p>
        </p:txBody>
      </p:sp>
      <p:sp>
        <p:nvSpPr>
          <p:cNvPr id="11" name="TextBox 10"/>
          <p:cNvSpPr txBox="1"/>
          <p:nvPr/>
        </p:nvSpPr>
        <p:spPr>
          <a:xfrm>
            <a:off x="6153912" y="1527048"/>
            <a:ext cx="2377440" cy="1280159"/>
          </a:xfrm>
          <a:prstGeom prst="rect">
            <a:avLst/>
          </a:prstGeom>
          <a:noFill/>
        </p:spPr>
        <p:txBody>
          <a:bodyPr wrap="square" lIns="27425" tIns="22850" rIns="27425" bIns="22850" anchor="t"/>
          <a:lstStyle/>
          <a:p>
            <a:pPr algn="l"/>
            <a:r>
              <a:rPr sz="1800" b="0" i="0">
                <a:solidFill>
                  <a:srgbClr val="555960"/>
                </a:solidFill>
                <a:latin typeface="Calibri"/>
              </a:rPr>
              <a:t>A workbench or harness connects the tools each step needs.</a:t>
            </a:r>
          </a:p>
        </p:txBody>
      </p:sp>
      <p:sp>
        <p:nvSpPr>
          <p:cNvPr id="12" name="Rectangle 11"/>
          <p:cNvSpPr/>
          <p:nvPr/>
        </p:nvSpPr>
        <p:spPr>
          <a:xfrm>
            <a:off x="411480" y="3108960"/>
            <a:ext cx="2670048" cy="1737360"/>
          </a:xfrm>
          <a:prstGeom prst="rect">
            <a:avLst/>
          </a:prstGeom>
          <a:solidFill>
            <a:srgbClr val="FCFAF6"/>
          </a:solidFill>
          <a:ln w="12700">
            <a:solidFill>
              <a:srgbClr val="CBB590"/>
            </a:solidFill>
          </a:ln>
        </p:spPr>
        <p:txBody>
          <a:bodyPr rtlCol="0" anchor="ctr"/>
          <a:lstStyle/>
          <a:p>
            <a:endParaRPr sz="1600"/>
          </a:p>
        </p:txBody>
      </p:sp>
      <p:sp>
        <p:nvSpPr>
          <p:cNvPr id="13" name="TextBox 12"/>
          <p:cNvSpPr txBox="1"/>
          <p:nvPr/>
        </p:nvSpPr>
        <p:spPr>
          <a:xfrm>
            <a:off x="557784" y="3200400"/>
            <a:ext cx="2377440" cy="274320"/>
          </a:xfrm>
          <a:prstGeom prst="rect">
            <a:avLst/>
          </a:prstGeom>
          <a:noFill/>
        </p:spPr>
        <p:txBody>
          <a:bodyPr wrap="square" lIns="27425" tIns="22850" rIns="27425" bIns="22850" anchor="ctr"/>
          <a:lstStyle/>
          <a:p>
            <a:pPr algn="l"/>
            <a:r>
              <a:rPr b="1" i="0">
                <a:solidFill>
                  <a:srgbClr val="8E6F3E"/>
                </a:solidFill>
                <a:latin typeface="Calibri"/>
              </a:rPr>
              <a:t>CHECKS AT EVERY STAGE</a:t>
            </a:r>
          </a:p>
        </p:txBody>
      </p:sp>
      <p:sp>
        <p:nvSpPr>
          <p:cNvPr id="14" name="TextBox 13"/>
          <p:cNvSpPr txBox="1"/>
          <p:nvPr/>
        </p:nvSpPr>
        <p:spPr>
          <a:xfrm>
            <a:off x="557784" y="3493008"/>
            <a:ext cx="2377440" cy="1280160"/>
          </a:xfrm>
          <a:prstGeom prst="rect">
            <a:avLst/>
          </a:prstGeom>
          <a:noFill/>
        </p:spPr>
        <p:txBody>
          <a:bodyPr wrap="square" lIns="27425" tIns="22850" rIns="27425" bIns="22850" anchor="t"/>
          <a:lstStyle/>
          <a:p>
            <a:pPr algn="l"/>
            <a:r>
              <a:rPr sz="1800" b="0" i="0">
                <a:solidFill>
                  <a:srgbClr val="555960"/>
                </a:solidFill>
                <a:latin typeface="Calibri"/>
              </a:rPr>
              <a:t>Verification decides what may move forward.</a:t>
            </a:r>
          </a:p>
        </p:txBody>
      </p:sp>
      <p:sp>
        <p:nvSpPr>
          <p:cNvPr id="15" name="Rectangle 14"/>
          <p:cNvSpPr/>
          <p:nvPr/>
        </p:nvSpPr>
        <p:spPr>
          <a:xfrm>
            <a:off x="3209544" y="3108960"/>
            <a:ext cx="2670048" cy="1737360"/>
          </a:xfrm>
          <a:prstGeom prst="rect">
            <a:avLst/>
          </a:prstGeom>
          <a:solidFill>
            <a:srgbClr val="F5F1E8"/>
          </a:solidFill>
          <a:ln w="12700">
            <a:solidFill>
              <a:srgbClr val="CBB590"/>
            </a:solidFill>
          </a:ln>
        </p:spPr>
        <p:txBody>
          <a:bodyPr rtlCol="0" anchor="ctr"/>
          <a:lstStyle/>
          <a:p>
            <a:endParaRPr sz="1600"/>
          </a:p>
        </p:txBody>
      </p:sp>
      <p:sp>
        <p:nvSpPr>
          <p:cNvPr id="16" name="TextBox 15"/>
          <p:cNvSpPr txBox="1"/>
          <p:nvPr/>
        </p:nvSpPr>
        <p:spPr>
          <a:xfrm>
            <a:off x="3355848" y="3200400"/>
            <a:ext cx="2505456" cy="292608"/>
          </a:xfrm>
          <a:prstGeom prst="rect">
            <a:avLst/>
          </a:prstGeom>
          <a:noFill/>
        </p:spPr>
        <p:txBody>
          <a:bodyPr wrap="square" lIns="27425" tIns="22850" rIns="27425" bIns="22850" anchor="ctr"/>
          <a:lstStyle/>
          <a:p>
            <a:pPr algn="l"/>
            <a:r>
              <a:rPr b="1" i="0" dirty="0">
                <a:solidFill>
                  <a:srgbClr val="8E6F3E"/>
                </a:solidFill>
                <a:latin typeface="Calibri"/>
              </a:rPr>
              <a:t>MEASUREMENT AND FEEDBACK</a:t>
            </a:r>
          </a:p>
        </p:txBody>
      </p:sp>
      <p:sp>
        <p:nvSpPr>
          <p:cNvPr id="17" name="TextBox 16"/>
          <p:cNvSpPr txBox="1"/>
          <p:nvPr/>
        </p:nvSpPr>
        <p:spPr>
          <a:xfrm>
            <a:off x="3355848" y="3511296"/>
            <a:ext cx="2377440" cy="1280160"/>
          </a:xfrm>
          <a:prstGeom prst="rect">
            <a:avLst/>
          </a:prstGeom>
          <a:noFill/>
        </p:spPr>
        <p:txBody>
          <a:bodyPr wrap="square" lIns="27425" tIns="22850" rIns="27425" bIns="22850" anchor="t"/>
          <a:lstStyle/>
          <a:p>
            <a:pPr algn="l"/>
            <a:r>
              <a:rPr sz="1800" b="0" i="0" dirty="0">
                <a:solidFill>
                  <a:srgbClr val="555960"/>
                </a:solidFill>
                <a:latin typeface="Calibri"/>
              </a:rPr>
              <a:t>Progress and outcomes are tracked and fed back into the work.</a:t>
            </a:r>
          </a:p>
        </p:txBody>
      </p:sp>
      <p:sp>
        <p:nvSpPr>
          <p:cNvPr id="18" name="Rectangle 17"/>
          <p:cNvSpPr/>
          <p:nvPr/>
        </p:nvSpPr>
        <p:spPr>
          <a:xfrm>
            <a:off x="6007608" y="3108960"/>
            <a:ext cx="2670048" cy="1737360"/>
          </a:xfrm>
          <a:prstGeom prst="rect">
            <a:avLst/>
          </a:prstGeom>
          <a:solidFill>
            <a:srgbClr val="FCFAF6"/>
          </a:solidFill>
          <a:ln w="12700">
            <a:solidFill>
              <a:srgbClr val="CBB590"/>
            </a:solidFill>
          </a:ln>
        </p:spPr>
        <p:txBody>
          <a:bodyPr rtlCol="0" anchor="ctr"/>
          <a:lstStyle/>
          <a:p>
            <a:endParaRPr sz="1600"/>
          </a:p>
        </p:txBody>
      </p:sp>
      <p:sp>
        <p:nvSpPr>
          <p:cNvPr id="19" name="TextBox 18"/>
          <p:cNvSpPr txBox="1"/>
          <p:nvPr/>
        </p:nvSpPr>
        <p:spPr>
          <a:xfrm>
            <a:off x="6153912" y="3200400"/>
            <a:ext cx="2377440" cy="274320"/>
          </a:xfrm>
          <a:prstGeom prst="rect">
            <a:avLst/>
          </a:prstGeom>
          <a:noFill/>
        </p:spPr>
        <p:txBody>
          <a:bodyPr wrap="square" lIns="27425" tIns="22850" rIns="27425" bIns="22850" anchor="ctr"/>
          <a:lstStyle/>
          <a:p>
            <a:pPr algn="l"/>
            <a:r>
              <a:rPr b="1" i="0">
                <a:solidFill>
                  <a:srgbClr val="8E6F3E"/>
                </a:solidFill>
                <a:latin typeface="Calibri"/>
              </a:rPr>
              <a:t>BUILT TO OUTLAST PROJECTS</a:t>
            </a:r>
          </a:p>
        </p:txBody>
      </p:sp>
      <p:sp>
        <p:nvSpPr>
          <p:cNvPr id="20" name="TextBox 19"/>
          <p:cNvSpPr txBox="1"/>
          <p:nvPr/>
        </p:nvSpPr>
        <p:spPr>
          <a:xfrm>
            <a:off x="6153912" y="3493008"/>
            <a:ext cx="2377440" cy="1280160"/>
          </a:xfrm>
          <a:prstGeom prst="rect">
            <a:avLst/>
          </a:prstGeom>
          <a:noFill/>
        </p:spPr>
        <p:txBody>
          <a:bodyPr wrap="square" lIns="27425" tIns="22850" rIns="27425" bIns="22850" anchor="t"/>
          <a:lstStyle/>
          <a:p>
            <a:pPr algn="l"/>
            <a:r>
              <a:rPr sz="1800" b="0" i="0">
                <a:solidFill>
                  <a:srgbClr val="555960"/>
                </a:solidFill>
                <a:latin typeface="Calibri"/>
              </a:rPr>
              <a:t>The factory improves across projects instead of being rebuilt each time.</a:t>
            </a:r>
          </a:p>
        </p:txBody>
      </p:sp>
      <p:sp>
        <p:nvSpPr>
          <p:cNvPr id="21" name="Rectangle 20"/>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22" name="TextBox 21"/>
          <p:cNvSpPr txBox="1"/>
          <p:nvPr/>
        </p:nvSpPr>
        <p:spPr>
          <a:xfrm>
            <a:off x="384048" y="5897880"/>
            <a:ext cx="8375904" cy="466344"/>
          </a:xfrm>
          <a:prstGeom prst="rect">
            <a:avLst/>
          </a:prstGeom>
          <a:noFill/>
        </p:spPr>
        <p:txBody>
          <a:bodyPr wrap="square" lIns="27425" tIns="22850" rIns="27425" bIns="22850" anchor="ctr"/>
          <a:lstStyle/>
          <a:p>
            <a:pPr algn="ctr"/>
            <a:r>
              <a:rPr lang="en-US" sz="1800" b="1" i="0" dirty="0">
                <a:solidFill>
                  <a:srgbClr val="FFFFFF"/>
                </a:solidFill>
                <a:latin typeface="Calibri"/>
              </a:rPr>
              <a:t>In 2026, fleets of autonomous agents are changing the landscape</a:t>
            </a:r>
            <a:r>
              <a:rPr sz="1800" b="1" i="0" dirty="0">
                <a:solidFill>
                  <a:srgbClr val="FFFFFF"/>
                </a:solidFill>
                <a:latin typeface="Calibri"/>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p:bldP spid="14" grpId="0"/>
      <p:bldP spid="15" grpId="0" animBg="1"/>
      <p:bldP spid="16" grpId="0"/>
      <p:bldP spid="17" grpId="0"/>
      <p:bldP spid="18" grpId="0" animBg="1"/>
      <p:bldP spid="19" grpId="0"/>
      <p:bldP spid="20" grpId="0"/>
      <p:bldP spid="21" grpId="0" animBg="1"/>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ED458-82DD-F41F-A63D-1B2C75A13A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79559F-20AE-876D-9499-488FC0CFFB81}"/>
              </a:ext>
            </a:extLst>
          </p:cNvPr>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Four kinds of factory resources</a:t>
            </a:r>
          </a:p>
        </p:txBody>
      </p:sp>
      <p:sp>
        <p:nvSpPr>
          <p:cNvPr id="3" name="Rectangle 2">
            <a:extLst>
              <a:ext uri="{FF2B5EF4-FFF2-40B4-BE49-F238E27FC236}">
                <a16:creationId xmlns:a16="http://schemas.microsoft.com/office/drawing/2014/main" id="{F1DE4E50-78A6-74C4-CE23-92E90681EC4E}"/>
              </a:ext>
            </a:extLst>
          </p:cNvPr>
          <p:cNvSpPr/>
          <p:nvPr/>
        </p:nvSpPr>
        <p:spPr>
          <a:xfrm>
            <a:off x="411480" y="1097280"/>
            <a:ext cx="4069080" cy="2057400"/>
          </a:xfrm>
          <a:prstGeom prst="rect">
            <a:avLst/>
          </a:prstGeom>
          <a:solidFill>
            <a:srgbClr val="FCFAF6"/>
          </a:solidFill>
          <a:ln w="12700">
            <a:solidFill>
              <a:srgbClr val="CBB590"/>
            </a:solidFill>
          </a:ln>
        </p:spPr>
        <p:txBody>
          <a:bodyPr rtlCol="0" anchor="ctr"/>
          <a:lstStyle/>
          <a:p>
            <a:endParaRPr/>
          </a:p>
        </p:txBody>
      </p:sp>
      <p:sp>
        <p:nvSpPr>
          <p:cNvPr id="4" name="TextBox 3">
            <a:extLst>
              <a:ext uri="{FF2B5EF4-FFF2-40B4-BE49-F238E27FC236}">
                <a16:creationId xmlns:a16="http://schemas.microsoft.com/office/drawing/2014/main" id="{6FDADA8B-4485-FD5A-871C-D19BA4B42D1C}"/>
              </a:ext>
            </a:extLst>
          </p:cNvPr>
          <p:cNvSpPr txBox="1"/>
          <p:nvPr/>
        </p:nvSpPr>
        <p:spPr>
          <a:xfrm>
            <a:off x="557784" y="1188720"/>
            <a:ext cx="3776472" cy="274320"/>
          </a:xfrm>
          <a:prstGeom prst="rect">
            <a:avLst/>
          </a:prstGeom>
          <a:noFill/>
        </p:spPr>
        <p:txBody>
          <a:bodyPr wrap="square" lIns="27425" tIns="22850" rIns="27425" bIns="22850" anchor="ctr"/>
          <a:lstStyle/>
          <a:p>
            <a:pPr algn="l"/>
            <a:r>
              <a:rPr sz="1300" b="1" i="0" dirty="0">
                <a:solidFill>
                  <a:srgbClr val="8E6F3E"/>
                </a:solidFill>
                <a:latin typeface="Calibri"/>
              </a:rPr>
              <a:t>CATEGORY 1</a:t>
            </a:r>
          </a:p>
        </p:txBody>
      </p:sp>
      <p:sp>
        <p:nvSpPr>
          <p:cNvPr id="5" name="TextBox 4">
            <a:extLst>
              <a:ext uri="{FF2B5EF4-FFF2-40B4-BE49-F238E27FC236}">
                <a16:creationId xmlns:a16="http://schemas.microsoft.com/office/drawing/2014/main" id="{56FB48BD-CC1F-E4EE-5199-7FBD122EE17A}"/>
              </a:ext>
            </a:extLst>
          </p:cNvPr>
          <p:cNvSpPr txBox="1"/>
          <p:nvPr/>
        </p:nvSpPr>
        <p:spPr>
          <a:xfrm>
            <a:off x="557784" y="1481328"/>
            <a:ext cx="3776472" cy="411480"/>
          </a:xfrm>
          <a:prstGeom prst="rect">
            <a:avLst/>
          </a:prstGeom>
          <a:noFill/>
        </p:spPr>
        <p:txBody>
          <a:bodyPr wrap="square" lIns="27425" tIns="22850" rIns="27425" bIns="22850" anchor="ctr"/>
          <a:lstStyle/>
          <a:p>
            <a:pPr algn="l"/>
            <a:r>
              <a:rPr sz="1800" b="1" i="0" dirty="0">
                <a:solidFill>
                  <a:srgbClr val="5C4826"/>
                </a:solidFill>
                <a:latin typeface="Calibri"/>
              </a:rPr>
              <a:t>Engineering knowledge</a:t>
            </a:r>
          </a:p>
        </p:txBody>
      </p:sp>
      <p:sp>
        <p:nvSpPr>
          <p:cNvPr id="6" name="TextBox 5">
            <a:extLst>
              <a:ext uri="{FF2B5EF4-FFF2-40B4-BE49-F238E27FC236}">
                <a16:creationId xmlns:a16="http://schemas.microsoft.com/office/drawing/2014/main" id="{DCC1B9F4-495D-252D-602D-F3CC9459F83F}"/>
              </a:ext>
            </a:extLst>
          </p:cNvPr>
          <p:cNvSpPr txBox="1"/>
          <p:nvPr/>
        </p:nvSpPr>
        <p:spPr>
          <a:xfrm>
            <a:off x="557784" y="1938528"/>
            <a:ext cx="3776472" cy="1143000"/>
          </a:xfrm>
          <a:prstGeom prst="rect">
            <a:avLst/>
          </a:prstGeom>
          <a:noFill/>
        </p:spPr>
        <p:txBody>
          <a:bodyPr wrap="square" lIns="27425" tIns="22850" rIns="27425" bIns="22850" anchor="t"/>
          <a:lstStyle/>
          <a:p>
            <a:pPr algn="l"/>
            <a:r>
              <a:rPr sz="1600" b="0" i="0">
                <a:solidFill>
                  <a:srgbClr val="555960"/>
                </a:solidFill>
                <a:latin typeface="Calibri"/>
              </a:rPr>
              <a:t>Requirements, documentation, architectural models, dependency graphs, and the reasons behind design decisions</a:t>
            </a:r>
          </a:p>
        </p:txBody>
      </p:sp>
      <p:sp>
        <p:nvSpPr>
          <p:cNvPr id="7" name="Rectangle 6">
            <a:extLst>
              <a:ext uri="{FF2B5EF4-FFF2-40B4-BE49-F238E27FC236}">
                <a16:creationId xmlns:a16="http://schemas.microsoft.com/office/drawing/2014/main" id="{296FDCEB-1B4C-C14C-23DC-3613DD93992B}"/>
              </a:ext>
            </a:extLst>
          </p:cNvPr>
          <p:cNvSpPr/>
          <p:nvPr/>
        </p:nvSpPr>
        <p:spPr>
          <a:xfrm>
            <a:off x="4663440" y="1097280"/>
            <a:ext cx="4069080" cy="2057400"/>
          </a:xfrm>
          <a:prstGeom prst="rect">
            <a:avLst/>
          </a:prstGeom>
          <a:solidFill>
            <a:srgbClr val="F5F1E8"/>
          </a:solidFill>
          <a:ln w="12700">
            <a:solidFill>
              <a:srgbClr val="CBB590"/>
            </a:solidFill>
          </a:ln>
        </p:spPr>
        <p:txBody>
          <a:bodyPr rtlCol="0" anchor="ctr"/>
          <a:lstStyle/>
          <a:p>
            <a:endParaRPr/>
          </a:p>
        </p:txBody>
      </p:sp>
      <p:sp>
        <p:nvSpPr>
          <p:cNvPr id="8" name="TextBox 7">
            <a:extLst>
              <a:ext uri="{FF2B5EF4-FFF2-40B4-BE49-F238E27FC236}">
                <a16:creationId xmlns:a16="http://schemas.microsoft.com/office/drawing/2014/main" id="{0FEFA198-1B6C-1D32-4171-556CD548E91E}"/>
              </a:ext>
            </a:extLst>
          </p:cNvPr>
          <p:cNvSpPr txBox="1"/>
          <p:nvPr/>
        </p:nvSpPr>
        <p:spPr>
          <a:xfrm>
            <a:off x="4809744" y="1188720"/>
            <a:ext cx="3776472" cy="274320"/>
          </a:xfrm>
          <a:prstGeom prst="rect">
            <a:avLst/>
          </a:prstGeom>
          <a:noFill/>
        </p:spPr>
        <p:txBody>
          <a:bodyPr wrap="square" lIns="27425" tIns="22850" rIns="27425" bIns="22850" anchor="ctr"/>
          <a:lstStyle/>
          <a:p>
            <a:pPr algn="l"/>
            <a:r>
              <a:rPr sz="1300" b="1" i="0" dirty="0">
                <a:solidFill>
                  <a:srgbClr val="8E6F3E"/>
                </a:solidFill>
                <a:latin typeface="Calibri"/>
              </a:rPr>
              <a:t>CATEGORY 2</a:t>
            </a:r>
          </a:p>
        </p:txBody>
      </p:sp>
      <p:sp>
        <p:nvSpPr>
          <p:cNvPr id="9" name="TextBox 8">
            <a:extLst>
              <a:ext uri="{FF2B5EF4-FFF2-40B4-BE49-F238E27FC236}">
                <a16:creationId xmlns:a16="http://schemas.microsoft.com/office/drawing/2014/main" id="{B8706043-D03B-FA2B-5166-BB099CCA114B}"/>
              </a:ext>
            </a:extLst>
          </p:cNvPr>
          <p:cNvSpPr txBox="1"/>
          <p:nvPr/>
        </p:nvSpPr>
        <p:spPr>
          <a:xfrm>
            <a:off x="4809744" y="1481328"/>
            <a:ext cx="3776472" cy="411480"/>
          </a:xfrm>
          <a:prstGeom prst="rect">
            <a:avLst/>
          </a:prstGeom>
          <a:noFill/>
        </p:spPr>
        <p:txBody>
          <a:bodyPr wrap="square" lIns="27425" tIns="22850" rIns="27425" bIns="22850" anchor="ctr"/>
          <a:lstStyle/>
          <a:p>
            <a:pPr algn="l"/>
            <a:r>
              <a:rPr sz="1800" b="1" i="0">
                <a:solidFill>
                  <a:srgbClr val="5C4826"/>
                </a:solidFill>
                <a:latin typeface="Calibri"/>
              </a:rPr>
              <a:t>Agent guidance and tools</a:t>
            </a:r>
          </a:p>
        </p:txBody>
      </p:sp>
      <p:sp>
        <p:nvSpPr>
          <p:cNvPr id="10" name="TextBox 9">
            <a:extLst>
              <a:ext uri="{FF2B5EF4-FFF2-40B4-BE49-F238E27FC236}">
                <a16:creationId xmlns:a16="http://schemas.microsoft.com/office/drawing/2014/main" id="{216C0FC8-DCD3-1A64-0460-47937941CF65}"/>
              </a:ext>
            </a:extLst>
          </p:cNvPr>
          <p:cNvSpPr txBox="1"/>
          <p:nvPr/>
        </p:nvSpPr>
        <p:spPr>
          <a:xfrm>
            <a:off x="4809744" y="1938528"/>
            <a:ext cx="3776472" cy="1143000"/>
          </a:xfrm>
          <a:prstGeom prst="rect">
            <a:avLst/>
          </a:prstGeom>
          <a:noFill/>
        </p:spPr>
        <p:txBody>
          <a:bodyPr wrap="square" lIns="27425" tIns="22850" rIns="27425" bIns="22850" anchor="t"/>
          <a:lstStyle/>
          <a:p>
            <a:pPr algn="l"/>
            <a:r>
              <a:rPr sz="1600" b="0" i="0">
                <a:solidFill>
                  <a:srgbClr val="555960"/>
                </a:solidFill>
                <a:latin typeface="Calibri"/>
              </a:rPr>
              <a:t>Repository instructions, skills, retrieval mechanisms, and interfaces that help agents navigate, edit, and run code</a:t>
            </a:r>
          </a:p>
        </p:txBody>
      </p:sp>
      <p:sp>
        <p:nvSpPr>
          <p:cNvPr id="11" name="Rectangle 10">
            <a:extLst>
              <a:ext uri="{FF2B5EF4-FFF2-40B4-BE49-F238E27FC236}">
                <a16:creationId xmlns:a16="http://schemas.microsoft.com/office/drawing/2014/main" id="{2640E6CB-719F-3945-46C1-039C0FC094C5}"/>
              </a:ext>
            </a:extLst>
          </p:cNvPr>
          <p:cNvSpPr/>
          <p:nvPr/>
        </p:nvSpPr>
        <p:spPr>
          <a:xfrm>
            <a:off x="411480" y="3337560"/>
            <a:ext cx="4069080" cy="2057400"/>
          </a:xfrm>
          <a:prstGeom prst="rect">
            <a:avLst/>
          </a:prstGeom>
          <a:solidFill>
            <a:srgbClr val="F5F1E8"/>
          </a:solidFill>
          <a:ln w="12700">
            <a:solidFill>
              <a:srgbClr val="CBB590"/>
            </a:solidFill>
          </a:ln>
        </p:spPr>
        <p:txBody>
          <a:bodyPr rtlCol="0" anchor="ctr"/>
          <a:lstStyle/>
          <a:p>
            <a:endParaRPr/>
          </a:p>
        </p:txBody>
      </p:sp>
      <p:sp>
        <p:nvSpPr>
          <p:cNvPr id="12" name="TextBox 11">
            <a:extLst>
              <a:ext uri="{FF2B5EF4-FFF2-40B4-BE49-F238E27FC236}">
                <a16:creationId xmlns:a16="http://schemas.microsoft.com/office/drawing/2014/main" id="{7D5AC7A8-FFBF-9D75-A984-D18F846DD690}"/>
              </a:ext>
            </a:extLst>
          </p:cNvPr>
          <p:cNvSpPr txBox="1"/>
          <p:nvPr/>
        </p:nvSpPr>
        <p:spPr>
          <a:xfrm>
            <a:off x="557784" y="3429000"/>
            <a:ext cx="3776472" cy="274320"/>
          </a:xfrm>
          <a:prstGeom prst="rect">
            <a:avLst/>
          </a:prstGeom>
          <a:noFill/>
        </p:spPr>
        <p:txBody>
          <a:bodyPr wrap="square" lIns="27425" tIns="22850" rIns="27425" bIns="22850" anchor="ctr"/>
          <a:lstStyle/>
          <a:p>
            <a:pPr algn="l"/>
            <a:r>
              <a:rPr sz="1300" b="1" i="0" dirty="0">
                <a:solidFill>
                  <a:srgbClr val="8E6F3E"/>
                </a:solidFill>
                <a:latin typeface="Calibri"/>
              </a:rPr>
              <a:t>CATEGORY 3</a:t>
            </a:r>
          </a:p>
        </p:txBody>
      </p:sp>
      <p:sp>
        <p:nvSpPr>
          <p:cNvPr id="13" name="TextBox 12">
            <a:extLst>
              <a:ext uri="{FF2B5EF4-FFF2-40B4-BE49-F238E27FC236}">
                <a16:creationId xmlns:a16="http://schemas.microsoft.com/office/drawing/2014/main" id="{CBDFF1A8-4041-23C8-7408-824563F5F0B1}"/>
              </a:ext>
            </a:extLst>
          </p:cNvPr>
          <p:cNvSpPr txBox="1"/>
          <p:nvPr/>
        </p:nvSpPr>
        <p:spPr>
          <a:xfrm>
            <a:off x="557784" y="3721608"/>
            <a:ext cx="3776472" cy="411480"/>
          </a:xfrm>
          <a:prstGeom prst="rect">
            <a:avLst/>
          </a:prstGeom>
          <a:noFill/>
        </p:spPr>
        <p:txBody>
          <a:bodyPr wrap="square" lIns="27425" tIns="22850" rIns="27425" bIns="22850" anchor="ctr"/>
          <a:lstStyle/>
          <a:p>
            <a:pPr algn="l"/>
            <a:r>
              <a:rPr sz="1800" b="1" i="0">
                <a:solidFill>
                  <a:srgbClr val="5C4826"/>
                </a:solidFill>
                <a:latin typeface="Calibri"/>
              </a:rPr>
              <a:t>Validation and enforcement</a:t>
            </a:r>
          </a:p>
        </p:txBody>
      </p:sp>
      <p:sp>
        <p:nvSpPr>
          <p:cNvPr id="14" name="TextBox 13">
            <a:extLst>
              <a:ext uri="{FF2B5EF4-FFF2-40B4-BE49-F238E27FC236}">
                <a16:creationId xmlns:a16="http://schemas.microsoft.com/office/drawing/2014/main" id="{212EB270-497F-100E-7FBF-9E01BB2E2BC7}"/>
              </a:ext>
            </a:extLst>
          </p:cNvPr>
          <p:cNvSpPr txBox="1"/>
          <p:nvPr/>
        </p:nvSpPr>
        <p:spPr>
          <a:xfrm>
            <a:off x="557784" y="4178808"/>
            <a:ext cx="3776472" cy="1143000"/>
          </a:xfrm>
          <a:prstGeom prst="rect">
            <a:avLst/>
          </a:prstGeom>
          <a:noFill/>
        </p:spPr>
        <p:txBody>
          <a:bodyPr wrap="square" lIns="27425" tIns="22850" rIns="27425" bIns="22850" anchor="t"/>
          <a:lstStyle/>
          <a:p>
            <a:pPr algn="l"/>
            <a:r>
              <a:rPr sz="1600" b="0" i="0">
                <a:solidFill>
                  <a:srgbClr val="555960"/>
                </a:solidFill>
                <a:latin typeface="Calibri"/>
              </a:rPr>
              <a:t>Tests, static analysis, conformance checks, policy validators, and admission gates</a:t>
            </a:r>
          </a:p>
        </p:txBody>
      </p:sp>
      <p:sp>
        <p:nvSpPr>
          <p:cNvPr id="15" name="Rectangle 14">
            <a:extLst>
              <a:ext uri="{FF2B5EF4-FFF2-40B4-BE49-F238E27FC236}">
                <a16:creationId xmlns:a16="http://schemas.microsoft.com/office/drawing/2014/main" id="{7ABBF6AB-9663-F723-5DD7-8D2442DE396F}"/>
              </a:ext>
            </a:extLst>
          </p:cNvPr>
          <p:cNvSpPr/>
          <p:nvPr/>
        </p:nvSpPr>
        <p:spPr>
          <a:xfrm>
            <a:off x="4663440" y="3337560"/>
            <a:ext cx="4069080" cy="2057400"/>
          </a:xfrm>
          <a:prstGeom prst="rect">
            <a:avLst/>
          </a:prstGeom>
          <a:solidFill>
            <a:srgbClr val="FCFAF6"/>
          </a:solidFill>
          <a:ln w="12700">
            <a:solidFill>
              <a:srgbClr val="CBB590"/>
            </a:solidFill>
          </a:ln>
        </p:spPr>
        <p:txBody>
          <a:bodyPr rtlCol="0" anchor="ctr"/>
          <a:lstStyle/>
          <a:p>
            <a:endParaRPr/>
          </a:p>
        </p:txBody>
      </p:sp>
      <p:sp>
        <p:nvSpPr>
          <p:cNvPr id="16" name="TextBox 15">
            <a:extLst>
              <a:ext uri="{FF2B5EF4-FFF2-40B4-BE49-F238E27FC236}">
                <a16:creationId xmlns:a16="http://schemas.microsoft.com/office/drawing/2014/main" id="{9F353CDB-8845-4E8B-F090-E2D0F2C932D5}"/>
              </a:ext>
            </a:extLst>
          </p:cNvPr>
          <p:cNvSpPr txBox="1"/>
          <p:nvPr/>
        </p:nvSpPr>
        <p:spPr>
          <a:xfrm>
            <a:off x="4809744" y="3429000"/>
            <a:ext cx="3776472" cy="274320"/>
          </a:xfrm>
          <a:prstGeom prst="rect">
            <a:avLst/>
          </a:prstGeom>
          <a:noFill/>
        </p:spPr>
        <p:txBody>
          <a:bodyPr wrap="square" lIns="27425" tIns="22850" rIns="27425" bIns="22850" anchor="ctr"/>
          <a:lstStyle/>
          <a:p>
            <a:pPr algn="l"/>
            <a:r>
              <a:rPr sz="1300" b="1" i="0" dirty="0">
                <a:solidFill>
                  <a:srgbClr val="8E6F3E"/>
                </a:solidFill>
                <a:latin typeface="Calibri"/>
              </a:rPr>
              <a:t>CATEGORY 4</a:t>
            </a:r>
          </a:p>
        </p:txBody>
      </p:sp>
      <p:sp>
        <p:nvSpPr>
          <p:cNvPr id="17" name="TextBox 16">
            <a:extLst>
              <a:ext uri="{FF2B5EF4-FFF2-40B4-BE49-F238E27FC236}">
                <a16:creationId xmlns:a16="http://schemas.microsoft.com/office/drawing/2014/main" id="{CD1F56A3-395A-6F08-F5D0-7788BB9E6908}"/>
              </a:ext>
            </a:extLst>
          </p:cNvPr>
          <p:cNvSpPr txBox="1"/>
          <p:nvPr/>
        </p:nvSpPr>
        <p:spPr>
          <a:xfrm>
            <a:off x="4809744" y="3721608"/>
            <a:ext cx="3776472" cy="411480"/>
          </a:xfrm>
          <a:prstGeom prst="rect">
            <a:avLst/>
          </a:prstGeom>
          <a:noFill/>
        </p:spPr>
        <p:txBody>
          <a:bodyPr wrap="square" lIns="27425" tIns="22850" rIns="27425" bIns="22850" anchor="ctr"/>
          <a:lstStyle/>
          <a:p>
            <a:pPr algn="l"/>
            <a:r>
              <a:rPr sz="1800" b="1" i="0">
                <a:solidFill>
                  <a:srgbClr val="5C4826"/>
                </a:solidFill>
                <a:latin typeface="Calibri"/>
              </a:rPr>
              <a:t>Production infrastructure</a:t>
            </a:r>
          </a:p>
        </p:txBody>
      </p:sp>
      <p:sp>
        <p:nvSpPr>
          <p:cNvPr id="18" name="TextBox 17">
            <a:extLst>
              <a:ext uri="{FF2B5EF4-FFF2-40B4-BE49-F238E27FC236}">
                <a16:creationId xmlns:a16="http://schemas.microsoft.com/office/drawing/2014/main" id="{9BA11D66-E481-D6BF-22D7-55A09CB56FC6}"/>
              </a:ext>
            </a:extLst>
          </p:cNvPr>
          <p:cNvSpPr txBox="1"/>
          <p:nvPr/>
        </p:nvSpPr>
        <p:spPr>
          <a:xfrm>
            <a:off x="4809744" y="4178808"/>
            <a:ext cx="3776472" cy="1143000"/>
          </a:xfrm>
          <a:prstGeom prst="rect">
            <a:avLst/>
          </a:prstGeom>
          <a:noFill/>
        </p:spPr>
        <p:txBody>
          <a:bodyPr wrap="square" lIns="27425" tIns="22850" rIns="27425" bIns="22850" anchor="t"/>
          <a:lstStyle/>
          <a:p>
            <a:pPr algn="l"/>
            <a:r>
              <a:rPr sz="1600" b="0" i="0">
                <a:solidFill>
                  <a:srgbClr val="555960"/>
                </a:solidFill>
                <a:latin typeface="Calibri"/>
              </a:rPr>
              <a:t>Build and deployment pipelines, orchestration, execution environments, and workflows</a:t>
            </a:r>
          </a:p>
        </p:txBody>
      </p:sp>
      <p:sp>
        <p:nvSpPr>
          <p:cNvPr id="19" name="TextBox 18">
            <a:extLst>
              <a:ext uri="{FF2B5EF4-FFF2-40B4-BE49-F238E27FC236}">
                <a16:creationId xmlns:a16="http://schemas.microsoft.com/office/drawing/2014/main" id="{21E7431E-6996-3DDF-8BE7-036306F4AA7C}"/>
              </a:ext>
            </a:extLst>
          </p:cNvPr>
          <p:cNvSpPr txBox="1"/>
          <p:nvPr/>
        </p:nvSpPr>
        <p:spPr>
          <a:xfrm>
            <a:off x="411480" y="6364224"/>
            <a:ext cx="8321040" cy="365760"/>
          </a:xfrm>
          <a:prstGeom prst="rect">
            <a:avLst/>
          </a:prstGeom>
          <a:noFill/>
        </p:spPr>
        <p:txBody>
          <a:bodyPr wrap="square" lIns="27425" tIns="22850" rIns="27425" bIns="22850" anchor="t"/>
          <a:lstStyle/>
          <a:p>
            <a:pPr algn="l"/>
            <a:r>
              <a:rPr i="1" dirty="0">
                <a:solidFill>
                  <a:srgbClr val="555960"/>
                </a:solidFill>
                <a:latin typeface="Calibri"/>
              </a:rPr>
              <a:t>Source: Davis, Jiang, Synovic, and Thiruvathukal, 2026.</a:t>
            </a:r>
          </a:p>
        </p:txBody>
      </p:sp>
    </p:spTree>
    <p:extLst>
      <p:ext uri="{BB962C8B-B14F-4D97-AF65-F5344CB8AC3E}">
        <p14:creationId xmlns:p14="http://schemas.microsoft.com/office/powerpoint/2010/main" val="695976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animBg="1"/>
      <p:bldP spid="12" grpId="0"/>
      <p:bldP spid="13" grpId="0"/>
      <p:bldP spid="14" grpId="0"/>
      <p:bldP spid="15" grpId="0" animBg="1"/>
      <p:bldP spid="16" grpId="0"/>
      <p:bldP spid="17"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lang="en-US" sz="2400" b="0" i="0" dirty="0">
                <a:solidFill>
                  <a:srgbClr val="2D2D2D"/>
                </a:solidFill>
                <a:latin typeface="Calibri"/>
              </a:rPr>
              <a:t>Where does Tuesday’s</a:t>
            </a:r>
            <a:r>
              <a:rPr sz="2400" b="0" i="0" dirty="0">
                <a:solidFill>
                  <a:srgbClr val="2D2D2D"/>
                </a:solidFill>
                <a:latin typeface="Calibri"/>
              </a:rPr>
              <a:t> work fit?</a:t>
            </a:r>
          </a:p>
        </p:txBody>
      </p:sp>
      <p:sp>
        <p:nvSpPr>
          <p:cNvPr id="3" name="Rectangle 2"/>
          <p:cNvSpPr/>
          <p:nvPr/>
        </p:nvSpPr>
        <p:spPr>
          <a:xfrm>
            <a:off x="457200" y="1078992"/>
            <a:ext cx="3789680" cy="384048"/>
          </a:xfrm>
          <a:prstGeom prst="rect">
            <a:avLst/>
          </a:prstGeom>
          <a:solidFill>
            <a:srgbClr val="8E6F3E"/>
          </a:solidFill>
          <a:ln>
            <a:noFill/>
          </a:ln>
        </p:spPr>
        <p:txBody>
          <a:bodyPr rtlCol="0" anchor="ctr"/>
          <a:lstStyle/>
          <a:p>
            <a:endParaRPr/>
          </a:p>
        </p:txBody>
      </p:sp>
      <p:sp>
        <p:nvSpPr>
          <p:cNvPr id="4" name="TextBox 3"/>
          <p:cNvSpPr txBox="1"/>
          <p:nvPr/>
        </p:nvSpPr>
        <p:spPr>
          <a:xfrm>
            <a:off x="581660" y="1078230"/>
            <a:ext cx="3581400" cy="384048"/>
          </a:xfrm>
          <a:prstGeom prst="rect">
            <a:avLst/>
          </a:prstGeom>
          <a:noFill/>
        </p:spPr>
        <p:txBody>
          <a:bodyPr wrap="square" lIns="27425" tIns="22850" rIns="27425" bIns="22850" anchor="ctr"/>
          <a:lstStyle/>
          <a:p>
            <a:pPr algn="ctr"/>
            <a:r>
              <a:rPr sz="1800" b="1" i="0" dirty="0">
                <a:solidFill>
                  <a:srgbClr val="FFFFFF"/>
                </a:solidFill>
                <a:latin typeface="Calibri"/>
              </a:rPr>
              <a:t>5 MINUTES · THINK, PAIR, SHARE</a:t>
            </a:r>
          </a:p>
        </p:txBody>
      </p:sp>
      <p:sp>
        <p:nvSpPr>
          <p:cNvPr id="5" name="Rectangle 4"/>
          <p:cNvSpPr/>
          <p:nvPr/>
        </p:nvSpPr>
        <p:spPr>
          <a:xfrm>
            <a:off x="502920" y="1828800"/>
            <a:ext cx="548640" cy="384048"/>
          </a:xfrm>
          <a:prstGeom prst="rect">
            <a:avLst/>
          </a:prstGeom>
          <a:solidFill>
            <a:srgbClr val="8E6F3E"/>
          </a:solidFill>
          <a:ln>
            <a:noFill/>
          </a:ln>
        </p:spPr>
        <p:txBody>
          <a:bodyPr rtlCol="0" anchor="ctr"/>
          <a:lstStyle/>
          <a:p>
            <a:endParaRPr/>
          </a:p>
        </p:txBody>
      </p:sp>
      <p:sp>
        <p:nvSpPr>
          <p:cNvPr id="6" name="TextBox 5"/>
          <p:cNvSpPr txBox="1"/>
          <p:nvPr/>
        </p:nvSpPr>
        <p:spPr>
          <a:xfrm>
            <a:off x="502920" y="1828800"/>
            <a:ext cx="548640" cy="384048"/>
          </a:xfrm>
          <a:prstGeom prst="rect">
            <a:avLst/>
          </a:prstGeom>
          <a:noFill/>
        </p:spPr>
        <p:txBody>
          <a:bodyPr wrap="square" lIns="27425" tIns="22850" rIns="27425" bIns="22850" anchor="ctr"/>
          <a:lstStyle/>
          <a:p>
            <a:pPr algn="ctr"/>
            <a:r>
              <a:rPr sz="1600" b="1" i="0">
                <a:solidFill>
                  <a:srgbClr val="FFFFFF"/>
                </a:solidFill>
                <a:latin typeface="Calibri"/>
              </a:rPr>
              <a:t>1</a:t>
            </a:r>
          </a:p>
        </p:txBody>
      </p:sp>
      <p:sp>
        <p:nvSpPr>
          <p:cNvPr id="7" name="TextBox 6"/>
          <p:cNvSpPr txBox="1"/>
          <p:nvPr/>
        </p:nvSpPr>
        <p:spPr>
          <a:xfrm>
            <a:off x="1188720" y="1810512"/>
            <a:ext cx="7223760" cy="310896"/>
          </a:xfrm>
          <a:prstGeom prst="rect">
            <a:avLst/>
          </a:prstGeom>
          <a:noFill/>
        </p:spPr>
        <p:txBody>
          <a:bodyPr wrap="square" lIns="27425" tIns="22850" rIns="27425" bIns="22850" anchor="t"/>
          <a:lstStyle/>
          <a:p>
            <a:pPr algn="l"/>
            <a:r>
              <a:rPr sz="2000" b="1" i="0" dirty="0">
                <a:solidFill>
                  <a:srgbClr val="5C4826"/>
                </a:solidFill>
                <a:latin typeface="Calibri"/>
              </a:rPr>
              <a:t>Think on your own (</a:t>
            </a:r>
            <a:r>
              <a:rPr lang="en-US" sz="2000" b="1" dirty="0">
                <a:solidFill>
                  <a:srgbClr val="5C4826"/>
                </a:solidFill>
                <a:latin typeface="Calibri"/>
              </a:rPr>
              <a:t>30 sec</a:t>
            </a:r>
            <a:r>
              <a:rPr sz="2000" b="1" i="0" dirty="0">
                <a:solidFill>
                  <a:srgbClr val="5C4826"/>
                </a:solidFill>
                <a:latin typeface="Calibri"/>
              </a:rPr>
              <a:t>)</a:t>
            </a:r>
          </a:p>
        </p:txBody>
      </p:sp>
      <p:sp>
        <p:nvSpPr>
          <p:cNvPr id="8" name="TextBox 7"/>
          <p:cNvSpPr txBox="1"/>
          <p:nvPr/>
        </p:nvSpPr>
        <p:spPr>
          <a:xfrm>
            <a:off x="1188720" y="2130552"/>
            <a:ext cx="4450080" cy="1038606"/>
          </a:xfrm>
          <a:prstGeom prst="rect">
            <a:avLst/>
          </a:prstGeom>
          <a:noFill/>
        </p:spPr>
        <p:txBody>
          <a:bodyPr wrap="square" lIns="27425" tIns="22850" rIns="27425" bIns="22850" anchor="t"/>
          <a:lstStyle/>
          <a:p>
            <a:pPr algn="l"/>
            <a:r>
              <a:rPr sz="1800" b="0" i="0" dirty="0">
                <a:solidFill>
                  <a:srgbClr val="555960"/>
                </a:solidFill>
                <a:latin typeface="Calibri"/>
              </a:rPr>
              <a:t>Place </a:t>
            </a:r>
            <a:r>
              <a:rPr lang="en-US" sz="1800" b="0" i="0" dirty="0">
                <a:solidFill>
                  <a:srgbClr val="555960"/>
                </a:solidFill>
                <a:latin typeface="Calibri"/>
              </a:rPr>
              <a:t>the following into the 4 categories:</a:t>
            </a:r>
          </a:p>
          <a:p>
            <a:r>
              <a:rPr lang="en-US" sz="1800" b="1" dirty="0">
                <a:solidFill>
                  <a:srgbClr val="555960"/>
                </a:solidFill>
                <a:latin typeface="Calibri"/>
                <a:ea typeface="Calibri"/>
                <a:cs typeface="Calibri"/>
                <a:sym typeface="Calibri"/>
              </a:rPr>
              <a:t>docs/</a:t>
            </a:r>
            <a:r>
              <a:rPr lang="en-US" sz="1800" b="1" dirty="0" err="1">
                <a:solidFill>
                  <a:srgbClr val="555960"/>
                </a:solidFill>
                <a:latin typeface="Calibri"/>
                <a:ea typeface="Calibri"/>
                <a:cs typeface="Calibri"/>
                <a:sym typeface="Calibri"/>
              </a:rPr>
              <a:t>api-spec.md</a:t>
            </a:r>
            <a:r>
              <a:rPr lang="en-US" sz="1800" b="1" dirty="0">
                <a:solidFill>
                  <a:srgbClr val="555960"/>
                </a:solidFill>
                <a:latin typeface="Calibri"/>
                <a:ea typeface="Calibri"/>
                <a:cs typeface="Calibri"/>
                <a:sym typeface="Calibri"/>
              </a:rPr>
              <a:t>, </a:t>
            </a:r>
            <a:r>
              <a:rPr sz="1800" b="1" i="0" dirty="0">
                <a:solidFill>
                  <a:srgbClr val="555960"/>
                </a:solidFill>
                <a:latin typeface="Calibri"/>
              </a:rPr>
              <a:t>AGENTS.md</a:t>
            </a:r>
            <a:r>
              <a:rPr sz="1800" b="0" i="0" dirty="0">
                <a:solidFill>
                  <a:srgbClr val="555960"/>
                </a:solidFill>
                <a:latin typeface="Calibri"/>
              </a:rPr>
              <a:t>, </a:t>
            </a:r>
            <a:endParaRPr lang="en-US" sz="1800" b="0" i="0" dirty="0">
              <a:solidFill>
                <a:srgbClr val="555960"/>
              </a:solidFill>
              <a:latin typeface="Calibri"/>
            </a:endParaRPr>
          </a:p>
          <a:p>
            <a:r>
              <a:rPr sz="1800" b="1" i="0" dirty="0">
                <a:solidFill>
                  <a:srgbClr val="555960"/>
                </a:solidFill>
                <a:latin typeface="Calibri"/>
              </a:rPr>
              <a:t>GitHub MCP, SKILL.md, </a:t>
            </a:r>
            <a:r>
              <a:rPr lang="en-US" sz="1800" b="1" i="0" dirty="0" err="1">
                <a:solidFill>
                  <a:srgbClr val="555960"/>
                </a:solidFill>
                <a:latin typeface="Calibri"/>
              </a:rPr>
              <a:t>test_availability.py</a:t>
            </a:r>
            <a:endParaRPr sz="1800" b="1" i="0" dirty="0">
              <a:solidFill>
                <a:srgbClr val="555960"/>
              </a:solidFill>
              <a:latin typeface="Calibri"/>
            </a:endParaRPr>
          </a:p>
        </p:txBody>
      </p:sp>
      <p:sp>
        <p:nvSpPr>
          <p:cNvPr id="9" name="Rectangle 8"/>
          <p:cNvSpPr/>
          <p:nvPr/>
        </p:nvSpPr>
        <p:spPr>
          <a:xfrm>
            <a:off x="502920" y="3432810"/>
            <a:ext cx="548640" cy="384048"/>
          </a:xfrm>
          <a:prstGeom prst="rect">
            <a:avLst/>
          </a:prstGeom>
          <a:solidFill>
            <a:srgbClr val="8E6F3E"/>
          </a:solidFill>
          <a:ln>
            <a:noFill/>
          </a:ln>
        </p:spPr>
        <p:txBody>
          <a:bodyPr rtlCol="0" anchor="ctr"/>
          <a:lstStyle/>
          <a:p>
            <a:endParaRPr/>
          </a:p>
        </p:txBody>
      </p:sp>
      <p:sp>
        <p:nvSpPr>
          <p:cNvPr id="10" name="TextBox 9"/>
          <p:cNvSpPr txBox="1"/>
          <p:nvPr/>
        </p:nvSpPr>
        <p:spPr>
          <a:xfrm>
            <a:off x="502920" y="3432810"/>
            <a:ext cx="548640" cy="384048"/>
          </a:xfrm>
          <a:prstGeom prst="rect">
            <a:avLst/>
          </a:prstGeom>
          <a:noFill/>
        </p:spPr>
        <p:txBody>
          <a:bodyPr wrap="square" lIns="27425" tIns="22850" rIns="27425" bIns="22850" anchor="ctr"/>
          <a:lstStyle/>
          <a:p>
            <a:pPr algn="ctr"/>
            <a:r>
              <a:rPr sz="1600" b="1" i="0" dirty="0">
                <a:solidFill>
                  <a:srgbClr val="FFFFFF"/>
                </a:solidFill>
                <a:latin typeface="Calibri"/>
              </a:rPr>
              <a:t>2</a:t>
            </a:r>
          </a:p>
        </p:txBody>
      </p:sp>
      <p:sp>
        <p:nvSpPr>
          <p:cNvPr id="11" name="TextBox 10"/>
          <p:cNvSpPr txBox="1"/>
          <p:nvPr/>
        </p:nvSpPr>
        <p:spPr>
          <a:xfrm>
            <a:off x="1188720" y="3414522"/>
            <a:ext cx="3789680" cy="310896"/>
          </a:xfrm>
          <a:prstGeom prst="rect">
            <a:avLst/>
          </a:prstGeom>
          <a:noFill/>
        </p:spPr>
        <p:txBody>
          <a:bodyPr wrap="square" lIns="27425" tIns="22850" rIns="27425" bIns="22850" anchor="t"/>
          <a:lstStyle/>
          <a:p>
            <a:pPr algn="l"/>
            <a:r>
              <a:rPr sz="2000" b="1" i="0" dirty="0">
                <a:solidFill>
                  <a:srgbClr val="5C4826"/>
                </a:solidFill>
                <a:latin typeface="Calibri"/>
              </a:rPr>
              <a:t>Pair with a neighbor (2 min)</a:t>
            </a:r>
          </a:p>
        </p:txBody>
      </p:sp>
      <p:sp>
        <p:nvSpPr>
          <p:cNvPr id="12" name="TextBox 11"/>
          <p:cNvSpPr txBox="1"/>
          <p:nvPr/>
        </p:nvSpPr>
        <p:spPr>
          <a:xfrm>
            <a:off x="1188720" y="3734562"/>
            <a:ext cx="5948680" cy="841248"/>
          </a:xfrm>
          <a:prstGeom prst="rect">
            <a:avLst/>
          </a:prstGeom>
          <a:noFill/>
        </p:spPr>
        <p:txBody>
          <a:bodyPr wrap="square" lIns="27425" tIns="22850" rIns="27425" bIns="22850" anchor="t"/>
          <a:lstStyle/>
          <a:p>
            <a:pPr algn="l"/>
            <a:r>
              <a:rPr lang="en-US" sz="1800" dirty="0">
                <a:solidFill>
                  <a:srgbClr val="555960"/>
                </a:solidFill>
                <a:latin typeface="Calibri"/>
              </a:rPr>
              <a:t>W</a:t>
            </a:r>
            <a:r>
              <a:rPr sz="1800" b="0" i="0" dirty="0">
                <a:solidFill>
                  <a:srgbClr val="555960"/>
                </a:solidFill>
                <a:latin typeface="Calibri"/>
              </a:rPr>
              <a:t>hich category is empties</a:t>
            </a:r>
            <a:r>
              <a:rPr lang="en-US" sz="1800" b="0" i="0" dirty="0">
                <a:solidFill>
                  <a:srgbClr val="555960"/>
                </a:solidFill>
                <a:latin typeface="Calibri"/>
              </a:rPr>
              <a:t>t?</a:t>
            </a:r>
          </a:p>
          <a:p>
            <a:pPr algn="l"/>
            <a:r>
              <a:rPr lang="en-US" sz="1800" b="0" i="0" dirty="0">
                <a:solidFill>
                  <a:srgbClr val="555960"/>
                </a:solidFill>
                <a:latin typeface="Calibri"/>
              </a:rPr>
              <a:t>Could an agent work on this repo for a week without you? </a:t>
            </a:r>
          </a:p>
          <a:p>
            <a:pPr algn="l"/>
            <a:r>
              <a:rPr lang="en-US" sz="1800" b="0" i="0" dirty="0">
                <a:solidFill>
                  <a:srgbClr val="555960"/>
                </a:solidFill>
                <a:latin typeface="Calibri"/>
              </a:rPr>
              <a:t>What is missing?</a:t>
            </a:r>
          </a:p>
          <a:p>
            <a:pPr algn="l"/>
            <a:endParaRPr lang="en-US" sz="1800" b="0" i="0" dirty="0">
              <a:solidFill>
                <a:srgbClr val="555960"/>
              </a:solidFill>
              <a:latin typeface="Calibri"/>
            </a:endParaRPr>
          </a:p>
          <a:p>
            <a:pPr algn="l"/>
            <a:endParaRPr sz="1800" b="0" i="0" dirty="0">
              <a:solidFill>
                <a:srgbClr val="555960"/>
              </a:solidFill>
              <a:latin typeface="Calibri"/>
            </a:endParaRPr>
          </a:p>
        </p:txBody>
      </p:sp>
      <p:sp>
        <p:nvSpPr>
          <p:cNvPr id="13" name="Rectangle 12"/>
          <p:cNvSpPr/>
          <p:nvPr/>
        </p:nvSpPr>
        <p:spPr>
          <a:xfrm>
            <a:off x="502920" y="4791456"/>
            <a:ext cx="548640" cy="384048"/>
          </a:xfrm>
          <a:prstGeom prst="rect">
            <a:avLst/>
          </a:prstGeom>
          <a:solidFill>
            <a:srgbClr val="8E6F3E"/>
          </a:solidFill>
          <a:ln>
            <a:noFill/>
          </a:ln>
        </p:spPr>
        <p:txBody>
          <a:bodyPr rtlCol="0" anchor="ctr"/>
          <a:lstStyle/>
          <a:p>
            <a:endParaRPr/>
          </a:p>
        </p:txBody>
      </p:sp>
      <p:sp>
        <p:nvSpPr>
          <p:cNvPr id="14" name="TextBox 13"/>
          <p:cNvSpPr txBox="1"/>
          <p:nvPr/>
        </p:nvSpPr>
        <p:spPr>
          <a:xfrm>
            <a:off x="502920" y="4791456"/>
            <a:ext cx="548640" cy="384048"/>
          </a:xfrm>
          <a:prstGeom prst="rect">
            <a:avLst/>
          </a:prstGeom>
          <a:noFill/>
        </p:spPr>
        <p:txBody>
          <a:bodyPr wrap="square" lIns="27425" tIns="22850" rIns="27425" bIns="22850" anchor="ctr"/>
          <a:lstStyle/>
          <a:p>
            <a:pPr algn="ctr"/>
            <a:r>
              <a:rPr sz="1600" b="1" i="0">
                <a:solidFill>
                  <a:srgbClr val="FFFFFF"/>
                </a:solidFill>
                <a:latin typeface="Calibri"/>
              </a:rPr>
              <a:t>3</a:t>
            </a:r>
          </a:p>
        </p:txBody>
      </p:sp>
      <p:sp>
        <p:nvSpPr>
          <p:cNvPr id="15" name="TextBox 14"/>
          <p:cNvSpPr txBox="1"/>
          <p:nvPr/>
        </p:nvSpPr>
        <p:spPr>
          <a:xfrm>
            <a:off x="1188720" y="4773168"/>
            <a:ext cx="7223760" cy="310896"/>
          </a:xfrm>
          <a:prstGeom prst="rect">
            <a:avLst/>
          </a:prstGeom>
          <a:noFill/>
        </p:spPr>
        <p:txBody>
          <a:bodyPr wrap="square" lIns="27425" tIns="22850" rIns="27425" bIns="22850" anchor="t"/>
          <a:lstStyle/>
          <a:p>
            <a:pPr algn="l"/>
            <a:r>
              <a:rPr sz="2000" b="1" i="0" dirty="0">
                <a:solidFill>
                  <a:srgbClr val="5C4826"/>
                </a:solidFill>
                <a:latin typeface="Calibri"/>
              </a:rPr>
              <a:t>Share with the class</a:t>
            </a:r>
          </a:p>
        </p:txBody>
      </p:sp>
      <p:sp>
        <p:nvSpPr>
          <p:cNvPr id="16" name="TextBox 15"/>
          <p:cNvSpPr txBox="1"/>
          <p:nvPr/>
        </p:nvSpPr>
        <p:spPr>
          <a:xfrm>
            <a:off x="1188720" y="5093208"/>
            <a:ext cx="7223760" cy="566928"/>
          </a:xfrm>
          <a:prstGeom prst="rect">
            <a:avLst/>
          </a:prstGeom>
          <a:noFill/>
        </p:spPr>
        <p:txBody>
          <a:bodyPr wrap="square" lIns="27425" tIns="22850" rIns="27425" bIns="22850" anchor="t"/>
          <a:lstStyle/>
          <a:p>
            <a:pPr algn="l"/>
            <a:r>
              <a:rPr lang="en-US" sz="1800" b="0" i="0" dirty="0">
                <a:solidFill>
                  <a:srgbClr val="555960"/>
                </a:solidFill>
                <a:latin typeface="Calibri"/>
              </a:rPr>
              <a:t>Report out</a:t>
            </a:r>
            <a:endParaRPr sz="1800" b="0" i="0" dirty="0">
              <a:solidFill>
                <a:srgbClr val="555960"/>
              </a:solidFill>
              <a:latin typeface="Calibri"/>
            </a:endParaRPr>
          </a:p>
        </p:txBody>
      </p:sp>
      <p:sp>
        <p:nvSpPr>
          <p:cNvPr id="19" name="TextBox 18">
            <a:extLst>
              <a:ext uri="{FF2B5EF4-FFF2-40B4-BE49-F238E27FC236}">
                <a16:creationId xmlns:a16="http://schemas.microsoft.com/office/drawing/2014/main" id="{5B83A101-BC5D-6460-226D-A4B686F1E3D5}"/>
              </a:ext>
            </a:extLst>
          </p:cNvPr>
          <p:cNvSpPr txBox="1"/>
          <p:nvPr/>
        </p:nvSpPr>
        <p:spPr>
          <a:xfrm>
            <a:off x="5987542" y="919734"/>
            <a:ext cx="2299716" cy="216154"/>
          </a:xfrm>
          <a:prstGeom prst="rect">
            <a:avLst/>
          </a:prstGeom>
          <a:noFill/>
        </p:spPr>
        <p:txBody>
          <a:bodyPr wrap="square" lIns="27425" tIns="22850" rIns="27425" bIns="22850" anchor="ctr"/>
          <a:lstStyle/>
          <a:p>
            <a:pPr algn="l"/>
            <a:r>
              <a:rPr sz="1300" b="1" i="0" dirty="0">
                <a:solidFill>
                  <a:srgbClr val="8E6F3E"/>
                </a:solidFill>
                <a:latin typeface="Calibri"/>
              </a:rPr>
              <a:t>CATEGORY 1</a:t>
            </a:r>
          </a:p>
        </p:txBody>
      </p:sp>
      <p:sp>
        <p:nvSpPr>
          <p:cNvPr id="20" name="TextBox 19">
            <a:extLst>
              <a:ext uri="{FF2B5EF4-FFF2-40B4-BE49-F238E27FC236}">
                <a16:creationId xmlns:a16="http://schemas.microsoft.com/office/drawing/2014/main" id="{3F80EF35-5095-4DC8-AE61-D159082B60E6}"/>
              </a:ext>
            </a:extLst>
          </p:cNvPr>
          <p:cNvSpPr txBox="1"/>
          <p:nvPr/>
        </p:nvSpPr>
        <p:spPr>
          <a:xfrm>
            <a:off x="5987542" y="1061466"/>
            <a:ext cx="2693416" cy="411480"/>
          </a:xfrm>
          <a:prstGeom prst="rect">
            <a:avLst/>
          </a:prstGeom>
          <a:noFill/>
        </p:spPr>
        <p:txBody>
          <a:bodyPr wrap="square" lIns="27425" tIns="22850" rIns="27425" bIns="22850" anchor="ctr"/>
          <a:lstStyle/>
          <a:p>
            <a:pPr algn="l"/>
            <a:r>
              <a:rPr sz="1800" b="1" i="0" dirty="0">
                <a:solidFill>
                  <a:srgbClr val="5C4826"/>
                </a:solidFill>
                <a:latin typeface="Calibri"/>
              </a:rPr>
              <a:t>Engineering knowledge</a:t>
            </a:r>
          </a:p>
        </p:txBody>
      </p:sp>
      <p:sp>
        <p:nvSpPr>
          <p:cNvPr id="25" name="TextBox 24">
            <a:extLst>
              <a:ext uri="{FF2B5EF4-FFF2-40B4-BE49-F238E27FC236}">
                <a16:creationId xmlns:a16="http://schemas.microsoft.com/office/drawing/2014/main" id="{295BC32E-FC35-241B-FDD2-B42B5A84D5BA}"/>
              </a:ext>
            </a:extLst>
          </p:cNvPr>
          <p:cNvSpPr txBox="1"/>
          <p:nvPr/>
        </p:nvSpPr>
        <p:spPr>
          <a:xfrm>
            <a:off x="5987542" y="1532382"/>
            <a:ext cx="1182116" cy="256032"/>
          </a:xfrm>
          <a:prstGeom prst="rect">
            <a:avLst/>
          </a:prstGeom>
          <a:noFill/>
        </p:spPr>
        <p:txBody>
          <a:bodyPr wrap="square" lIns="27425" tIns="22850" rIns="27425" bIns="22850" anchor="ctr"/>
          <a:lstStyle/>
          <a:p>
            <a:pPr algn="l"/>
            <a:r>
              <a:rPr sz="1300" b="1" i="0" dirty="0">
                <a:solidFill>
                  <a:srgbClr val="8E6F3E"/>
                </a:solidFill>
                <a:latin typeface="Calibri"/>
              </a:rPr>
              <a:t>CATEGORY 2</a:t>
            </a:r>
          </a:p>
        </p:txBody>
      </p:sp>
      <p:sp>
        <p:nvSpPr>
          <p:cNvPr id="26" name="TextBox 25">
            <a:extLst>
              <a:ext uri="{FF2B5EF4-FFF2-40B4-BE49-F238E27FC236}">
                <a16:creationId xmlns:a16="http://schemas.microsoft.com/office/drawing/2014/main" id="{51511291-BAEC-5818-8AF0-0714B8DA9D57}"/>
              </a:ext>
            </a:extLst>
          </p:cNvPr>
          <p:cNvSpPr txBox="1"/>
          <p:nvPr/>
        </p:nvSpPr>
        <p:spPr>
          <a:xfrm>
            <a:off x="5987542" y="1710690"/>
            <a:ext cx="2693416" cy="411480"/>
          </a:xfrm>
          <a:prstGeom prst="rect">
            <a:avLst/>
          </a:prstGeom>
          <a:noFill/>
        </p:spPr>
        <p:txBody>
          <a:bodyPr wrap="square" lIns="27425" tIns="22850" rIns="27425" bIns="22850" anchor="ctr"/>
          <a:lstStyle/>
          <a:p>
            <a:pPr algn="l"/>
            <a:r>
              <a:rPr sz="1800" b="1" i="0" dirty="0">
                <a:solidFill>
                  <a:srgbClr val="5C4826"/>
                </a:solidFill>
                <a:latin typeface="Calibri"/>
              </a:rPr>
              <a:t>Agent guidance and tools</a:t>
            </a:r>
          </a:p>
        </p:txBody>
      </p:sp>
      <p:sp>
        <p:nvSpPr>
          <p:cNvPr id="27" name="TextBox 26">
            <a:extLst>
              <a:ext uri="{FF2B5EF4-FFF2-40B4-BE49-F238E27FC236}">
                <a16:creationId xmlns:a16="http://schemas.microsoft.com/office/drawing/2014/main" id="{2F011D4B-C6BE-14AC-3E08-25B3D8D2EE56}"/>
              </a:ext>
            </a:extLst>
          </p:cNvPr>
          <p:cNvSpPr txBox="1"/>
          <p:nvPr/>
        </p:nvSpPr>
        <p:spPr>
          <a:xfrm>
            <a:off x="5987542" y="2242312"/>
            <a:ext cx="1182116" cy="227330"/>
          </a:xfrm>
          <a:prstGeom prst="rect">
            <a:avLst/>
          </a:prstGeom>
          <a:noFill/>
        </p:spPr>
        <p:txBody>
          <a:bodyPr wrap="square" lIns="27425" tIns="22850" rIns="27425" bIns="22850" anchor="ctr"/>
          <a:lstStyle/>
          <a:p>
            <a:pPr algn="l"/>
            <a:r>
              <a:rPr sz="1300" b="1" i="0" dirty="0">
                <a:solidFill>
                  <a:srgbClr val="8E6F3E"/>
                </a:solidFill>
                <a:latin typeface="Calibri"/>
              </a:rPr>
              <a:t>CATEGORY 3</a:t>
            </a:r>
          </a:p>
        </p:txBody>
      </p:sp>
      <p:sp>
        <p:nvSpPr>
          <p:cNvPr id="28" name="TextBox 27">
            <a:extLst>
              <a:ext uri="{FF2B5EF4-FFF2-40B4-BE49-F238E27FC236}">
                <a16:creationId xmlns:a16="http://schemas.microsoft.com/office/drawing/2014/main" id="{2A6F8086-B733-3C94-2E79-D24233408AA1}"/>
              </a:ext>
            </a:extLst>
          </p:cNvPr>
          <p:cNvSpPr txBox="1"/>
          <p:nvPr/>
        </p:nvSpPr>
        <p:spPr>
          <a:xfrm>
            <a:off x="5987542" y="2420620"/>
            <a:ext cx="2960116" cy="411480"/>
          </a:xfrm>
          <a:prstGeom prst="rect">
            <a:avLst/>
          </a:prstGeom>
          <a:noFill/>
        </p:spPr>
        <p:txBody>
          <a:bodyPr wrap="square" lIns="27425" tIns="22850" rIns="27425" bIns="22850" anchor="ctr"/>
          <a:lstStyle/>
          <a:p>
            <a:pPr algn="l"/>
            <a:r>
              <a:rPr sz="1800" b="1" i="0" dirty="0">
                <a:solidFill>
                  <a:srgbClr val="5C4826"/>
                </a:solidFill>
                <a:latin typeface="Calibri"/>
              </a:rPr>
              <a:t>Validation and enforcement</a:t>
            </a:r>
          </a:p>
        </p:txBody>
      </p:sp>
      <p:sp>
        <p:nvSpPr>
          <p:cNvPr id="29" name="TextBox 28">
            <a:extLst>
              <a:ext uri="{FF2B5EF4-FFF2-40B4-BE49-F238E27FC236}">
                <a16:creationId xmlns:a16="http://schemas.microsoft.com/office/drawing/2014/main" id="{B4F45D2D-2076-CF3F-72CF-8171B71C4D06}"/>
              </a:ext>
            </a:extLst>
          </p:cNvPr>
          <p:cNvSpPr txBox="1"/>
          <p:nvPr/>
        </p:nvSpPr>
        <p:spPr>
          <a:xfrm>
            <a:off x="5987542" y="2872740"/>
            <a:ext cx="1055116" cy="257810"/>
          </a:xfrm>
          <a:prstGeom prst="rect">
            <a:avLst/>
          </a:prstGeom>
          <a:noFill/>
        </p:spPr>
        <p:txBody>
          <a:bodyPr wrap="square" lIns="27425" tIns="22850" rIns="27425" bIns="22850" anchor="ctr"/>
          <a:lstStyle/>
          <a:p>
            <a:pPr algn="l"/>
            <a:r>
              <a:rPr sz="1300" b="1" i="0" dirty="0">
                <a:solidFill>
                  <a:srgbClr val="8E6F3E"/>
                </a:solidFill>
                <a:latin typeface="Calibri"/>
              </a:rPr>
              <a:t>CATEGORY 4</a:t>
            </a:r>
          </a:p>
        </p:txBody>
      </p:sp>
      <p:sp>
        <p:nvSpPr>
          <p:cNvPr id="30" name="TextBox 29">
            <a:extLst>
              <a:ext uri="{FF2B5EF4-FFF2-40B4-BE49-F238E27FC236}">
                <a16:creationId xmlns:a16="http://schemas.microsoft.com/office/drawing/2014/main" id="{494E4899-1695-60C6-4DD0-E7667A1BA189}"/>
              </a:ext>
            </a:extLst>
          </p:cNvPr>
          <p:cNvSpPr txBox="1"/>
          <p:nvPr/>
        </p:nvSpPr>
        <p:spPr>
          <a:xfrm>
            <a:off x="5987542" y="3016504"/>
            <a:ext cx="2693416" cy="411480"/>
          </a:xfrm>
          <a:prstGeom prst="rect">
            <a:avLst/>
          </a:prstGeom>
          <a:noFill/>
        </p:spPr>
        <p:txBody>
          <a:bodyPr wrap="square" lIns="27425" tIns="22850" rIns="27425" bIns="22850" anchor="ctr"/>
          <a:lstStyle/>
          <a:p>
            <a:pPr algn="l"/>
            <a:r>
              <a:rPr sz="1800" b="1" i="0" dirty="0">
                <a:solidFill>
                  <a:srgbClr val="5C4826"/>
                </a:solidFill>
                <a:latin typeface="Calibri"/>
              </a:rPr>
              <a:t>Production infrastructure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Google Shape;128;p14"/>
          <p:cNvSpPr txBox="1"/>
          <p:nvPr/>
        </p:nvSpPr>
        <p:spPr>
          <a:xfrm>
            <a:off x="685800" y="2066543"/>
            <a:ext cx="7772400" cy="411480"/>
          </a:xfrm>
          <a:prstGeom prst="rect">
            <a:avLst/>
          </a:prstGeom>
          <a:noFill/>
          <a:ln>
            <a:noFill/>
          </a:ln>
        </p:spPr>
        <p:txBody>
          <a:bodyPr spcFirstLastPara="1" wrap="square" lIns="27425" tIns="22850" rIns="27425" bIns="22850" anchor="ctr" anchorCtr="0">
            <a:noAutofit/>
          </a:bodyPr>
          <a:lstStyle/>
          <a:p>
            <a:pPr marL="0" marR="0" lvl="0" indent="0" algn="ctr" rtl="0">
              <a:lnSpc>
                <a:spcPct val="104000"/>
              </a:lnSpc>
              <a:spcBef>
                <a:spcPts val="0"/>
              </a:spcBef>
              <a:spcAft>
                <a:spcPts val="0"/>
              </a:spcAft>
              <a:buNone/>
            </a:pPr>
            <a:r>
              <a:rPr lang="en-US" sz="1800" b="1" dirty="0">
                <a:solidFill>
                  <a:srgbClr val="8E6F3E"/>
                </a:solidFill>
                <a:latin typeface="Calibri"/>
                <a:ea typeface="Calibri"/>
                <a:cs typeface="Calibri"/>
                <a:sym typeface="Calibri"/>
              </a:rPr>
              <a:t>PART 2</a:t>
            </a:r>
            <a:endParaRPr sz="1600" dirty="0"/>
          </a:p>
        </p:txBody>
      </p:sp>
      <p:sp>
        <p:nvSpPr>
          <p:cNvPr id="129" name="Google Shape;129;p14"/>
          <p:cNvSpPr txBox="1"/>
          <p:nvPr/>
        </p:nvSpPr>
        <p:spPr>
          <a:xfrm>
            <a:off x="512064" y="2606040"/>
            <a:ext cx="8119872" cy="905256"/>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3800" b="0" i="0" u="none" strike="noStrike" cap="none">
                <a:solidFill>
                  <a:srgbClr val="2D2D2D"/>
                </a:solidFill>
                <a:latin typeface="Calibri"/>
                <a:ea typeface="Calibri"/>
                <a:cs typeface="Calibri"/>
                <a:sym typeface="Calibri"/>
              </a:rPr>
              <a:t>WHY DOES SOFTWARE ENGINEERING NEED FACTORIES?</a:t>
            </a:r>
            <a:endParaRPr/>
          </a:p>
        </p:txBody>
      </p:sp>
      <p:sp>
        <p:nvSpPr>
          <p:cNvPr id="130" name="Google Shape;130;p14"/>
          <p:cNvSpPr txBox="1"/>
          <p:nvPr/>
        </p:nvSpPr>
        <p:spPr>
          <a:xfrm>
            <a:off x="685800" y="3721608"/>
            <a:ext cx="7772400" cy="557784"/>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2200" b="0" i="0" u="none" strike="noStrike" cap="none">
                <a:solidFill>
                  <a:srgbClr val="5C4826"/>
                </a:solidFill>
                <a:latin typeface="Calibri"/>
                <a:ea typeface="Calibri"/>
                <a:cs typeface="Calibri"/>
                <a:sym typeface="Calibri"/>
              </a:rPr>
              <a:t>The role a factory plays</a:t>
            </a:r>
            <a:endParaRPr/>
          </a:p>
        </p:txBody>
      </p:sp>
      <p:cxnSp>
        <p:nvCxnSpPr>
          <p:cNvPr id="131" name="Google Shape;131;p14"/>
          <p:cNvCxnSpPr/>
          <p:nvPr/>
        </p:nvCxnSpPr>
        <p:spPr>
          <a:xfrm>
            <a:off x="3657600" y="4663440"/>
            <a:ext cx="1828800" cy="0"/>
          </a:xfrm>
          <a:prstGeom prst="straightConnector1">
            <a:avLst/>
          </a:prstGeom>
          <a:noFill/>
          <a:ln w="38100" cap="flat" cmpd="sng">
            <a:solidFill>
              <a:srgbClr val="8E6F3E"/>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When code is cheap, the constraint moves</a:t>
            </a:r>
          </a:p>
        </p:txBody>
      </p:sp>
      <p:sp>
        <p:nvSpPr>
          <p:cNvPr id="3" name="Rectangle 2"/>
          <p:cNvSpPr/>
          <p:nvPr/>
        </p:nvSpPr>
        <p:spPr>
          <a:xfrm>
            <a:off x="365760" y="1143000"/>
            <a:ext cx="1481328" cy="1417320"/>
          </a:xfrm>
          <a:prstGeom prst="rect">
            <a:avLst/>
          </a:prstGeom>
          <a:solidFill>
            <a:srgbClr val="F5F1E8"/>
          </a:solidFill>
          <a:ln w="12700">
            <a:solidFill>
              <a:srgbClr val="CBB590"/>
            </a:solidFill>
          </a:ln>
        </p:spPr>
        <p:txBody>
          <a:bodyPr rtlCol="0" anchor="ctr"/>
          <a:lstStyle/>
          <a:p>
            <a:endParaRPr/>
          </a:p>
        </p:txBody>
      </p:sp>
      <p:sp>
        <p:nvSpPr>
          <p:cNvPr id="4" name="TextBox 3"/>
          <p:cNvSpPr txBox="1"/>
          <p:nvPr/>
        </p:nvSpPr>
        <p:spPr>
          <a:xfrm>
            <a:off x="420624" y="1216152"/>
            <a:ext cx="1371600" cy="411480"/>
          </a:xfrm>
          <a:prstGeom prst="rect">
            <a:avLst/>
          </a:prstGeom>
          <a:noFill/>
        </p:spPr>
        <p:txBody>
          <a:bodyPr wrap="square" lIns="27425" tIns="22850" rIns="27425" bIns="22850" anchor="ctr"/>
          <a:lstStyle/>
          <a:p>
            <a:pPr algn="ctr"/>
            <a:r>
              <a:rPr sz="1600" b="1" i="0">
                <a:solidFill>
                  <a:srgbClr val="5C4826"/>
                </a:solidFill>
                <a:latin typeface="Calibri"/>
              </a:rPr>
              <a:t>Intent</a:t>
            </a:r>
          </a:p>
        </p:txBody>
      </p:sp>
      <p:sp>
        <p:nvSpPr>
          <p:cNvPr id="5" name="TextBox 4"/>
          <p:cNvSpPr txBox="1"/>
          <p:nvPr/>
        </p:nvSpPr>
        <p:spPr>
          <a:xfrm>
            <a:off x="420624" y="1664208"/>
            <a:ext cx="1371600" cy="822960"/>
          </a:xfrm>
          <a:prstGeom prst="rect">
            <a:avLst/>
          </a:prstGeom>
          <a:noFill/>
        </p:spPr>
        <p:txBody>
          <a:bodyPr wrap="square" lIns="27425" tIns="22850" rIns="27425" bIns="22850" anchor="t"/>
          <a:lstStyle/>
          <a:p>
            <a:pPr algn="ctr"/>
            <a:r>
              <a:rPr sz="1400" b="0" i="0">
                <a:solidFill>
                  <a:srgbClr val="555960"/>
                </a:solidFill>
                <a:latin typeface="Calibri"/>
              </a:rPr>
              <a:t>Specs, goals, priorities</a:t>
            </a:r>
          </a:p>
        </p:txBody>
      </p:sp>
      <p:sp>
        <p:nvSpPr>
          <p:cNvPr id="6" name="Right Arrow 5"/>
          <p:cNvSpPr/>
          <p:nvPr/>
        </p:nvSpPr>
        <p:spPr>
          <a:xfrm>
            <a:off x="1865376" y="1737360"/>
            <a:ext cx="182880" cy="201168"/>
          </a:xfrm>
          <a:prstGeom prst="rightArrow">
            <a:avLst/>
          </a:prstGeom>
          <a:solidFill>
            <a:srgbClr val="8E6F3E"/>
          </a:solidFill>
          <a:ln>
            <a:noFill/>
          </a:ln>
        </p:spPr>
        <p:txBody>
          <a:bodyPr rtlCol="0" anchor="ctr"/>
          <a:lstStyle/>
          <a:p>
            <a:endParaRPr/>
          </a:p>
        </p:txBody>
      </p:sp>
      <p:sp>
        <p:nvSpPr>
          <p:cNvPr id="7" name="Rectangle 6"/>
          <p:cNvSpPr/>
          <p:nvPr/>
        </p:nvSpPr>
        <p:spPr>
          <a:xfrm>
            <a:off x="2066544" y="1143000"/>
            <a:ext cx="1481328" cy="1417320"/>
          </a:xfrm>
          <a:prstGeom prst="rect">
            <a:avLst/>
          </a:prstGeom>
          <a:solidFill>
            <a:srgbClr val="FCFAF6"/>
          </a:solidFill>
          <a:ln w="12700">
            <a:solidFill>
              <a:srgbClr val="CBB590"/>
            </a:solidFill>
          </a:ln>
        </p:spPr>
        <p:txBody>
          <a:bodyPr rtlCol="0" anchor="ctr"/>
          <a:lstStyle/>
          <a:p>
            <a:endParaRPr/>
          </a:p>
        </p:txBody>
      </p:sp>
      <p:sp>
        <p:nvSpPr>
          <p:cNvPr id="8" name="TextBox 7"/>
          <p:cNvSpPr txBox="1"/>
          <p:nvPr/>
        </p:nvSpPr>
        <p:spPr>
          <a:xfrm>
            <a:off x="2121408" y="1216152"/>
            <a:ext cx="1371600" cy="411480"/>
          </a:xfrm>
          <a:prstGeom prst="rect">
            <a:avLst/>
          </a:prstGeom>
          <a:noFill/>
        </p:spPr>
        <p:txBody>
          <a:bodyPr wrap="square" lIns="27425" tIns="22850" rIns="27425" bIns="22850" anchor="ctr"/>
          <a:lstStyle/>
          <a:p>
            <a:pPr algn="ctr"/>
            <a:r>
              <a:rPr sz="1600" b="1" i="0">
                <a:solidFill>
                  <a:srgbClr val="5C4826"/>
                </a:solidFill>
                <a:latin typeface="Calibri"/>
              </a:rPr>
              <a:t>Generation</a:t>
            </a:r>
          </a:p>
        </p:txBody>
      </p:sp>
      <p:sp>
        <p:nvSpPr>
          <p:cNvPr id="9" name="TextBox 8"/>
          <p:cNvSpPr txBox="1"/>
          <p:nvPr/>
        </p:nvSpPr>
        <p:spPr>
          <a:xfrm>
            <a:off x="2121408" y="1664208"/>
            <a:ext cx="1371600" cy="822960"/>
          </a:xfrm>
          <a:prstGeom prst="rect">
            <a:avLst/>
          </a:prstGeom>
          <a:noFill/>
        </p:spPr>
        <p:txBody>
          <a:bodyPr wrap="square" lIns="27425" tIns="22850" rIns="27425" bIns="22850" anchor="t"/>
          <a:lstStyle/>
          <a:p>
            <a:pPr algn="ctr"/>
            <a:r>
              <a:rPr sz="1400" b="0" i="0">
                <a:solidFill>
                  <a:srgbClr val="555960"/>
                </a:solidFill>
                <a:latin typeface="Calibri"/>
              </a:rPr>
              <a:t>Cheap and fast</a:t>
            </a:r>
          </a:p>
        </p:txBody>
      </p:sp>
      <p:sp>
        <p:nvSpPr>
          <p:cNvPr id="10" name="Right Arrow 9"/>
          <p:cNvSpPr/>
          <p:nvPr/>
        </p:nvSpPr>
        <p:spPr>
          <a:xfrm>
            <a:off x="3566160" y="1737360"/>
            <a:ext cx="182880" cy="201168"/>
          </a:xfrm>
          <a:prstGeom prst="rightArrow">
            <a:avLst/>
          </a:prstGeom>
          <a:solidFill>
            <a:srgbClr val="8E6F3E"/>
          </a:solidFill>
          <a:ln>
            <a:noFill/>
          </a:ln>
        </p:spPr>
        <p:txBody>
          <a:bodyPr rtlCol="0" anchor="ctr"/>
          <a:lstStyle/>
          <a:p>
            <a:endParaRPr/>
          </a:p>
        </p:txBody>
      </p:sp>
      <p:sp>
        <p:nvSpPr>
          <p:cNvPr id="11" name="Rectangle 10"/>
          <p:cNvSpPr/>
          <p:nvPr/>
        </p:nvSpPr>
        <p:spPr>
          <a:xfrm>
            <a:off x="3767328" y="1143000"/>
            <a:ext cx="1481328" cy="1417320"/>
          </a:xfrm>
          <a:prstGeom prst="rect">
            <a:avLst/>
          </a:prstGeom>
          <a:solidFill>
            <a:srgbClr val="8E6F3E"/>
          </a:solidFill>
          <a:ln>
            <a:noFill/>
          </a:ln>
        </p:spPr>
        <p:txBody>
          <a:bodyPr rtlCol="0" anchor="ctr"/>
          <a:lstStyle/>
          <a:p>
            <a:endParaRPr/>
          </a:p>
        </p:txBody>
      </p:sp>
      <p:sp>
        <p:nvSpPr>
          <p:cNvPr id="12" name="TextBox 11"/>
          <p:cNvSpPr txBox="1"/>
          <p:nvPr/>
        </p:nvSpPr>
        <p:spPr>
          <a:xfrm>
            <a:off x="3822191" y="1216152"/>
            <a:ext cx="1371600" cy="411480"/>
          </a:xfrm>
          <a:prstGeom prst="rect">
            <a:avLst/>
          </a:prstGeom>
          <a:noFill/>
        </p:spPr>
        <p:txBody>
          <a:bodyPr wrap="square" lIns="27425" tIns="22850" rIns="27425" bIns="22850" anchor="ctr"/>
          <a:lstStyle/>
          <a:p>
            <a:pPr algn="ctr"/>
            <a:r>
              <a:rPr sz="1600" b="1" i="0">
                <a:solidFill>
                  <a:srgbClr val="FFFFFF"/>
                </a:solidFill>
                <a:latin typeface="Calibri"/>
              </a:rPr>
              <a:t>Verification</a:t>
            </a:r>
          </a:p>
        </p:txBody>
      </p:sp>
      <p:sp>
        <p:nvSpPr>
          <p:cNvPr id="13" name="TextBox 12"/>
          <p:cNvSpPr txBox="1"/>
          <p:nvPr/>
        </p:nvSpPr>
        <p:spPr>
          <a:xfrm>
            <a:off x="3822191" y="1664208"/>
            <a:ext cx="1371600" cy="822960"/>
          </a:xfrm>
          <a:prstGeom prst="rect">
            <a:avLst/>
          </a:prstGeom>
          <a:noFill/>
        </p:spPr>
        <p:txBody>
          <a:bodyPr wrap="square" lIns="27425" tIns="22850" rIns="27425" bIns="22850" anchor="t"/>
          <a:lstStyle/>
          <a:p>
            <a:pPr algn="ctr"/>
            <a:r>
              <a:rPr sz="1400" b="0" i="0">
                <a:solidFill>
                  <a:srgbClr val="FFFFFF"/>
                </a:solidFill>
                <a:latin typeface="Calibri"/>
              </a:rPr>
              <a:t>Scarce</a:t>
            </a:r>
          </a:p>
        </p:txBody>
      </p:sp>
      <p:sp>
        <p:nvSpPr>
          <p:cNvPr id="14" name="Right Arrow 13"/>
          <p:cNvSpPr/>
          <p:nvPr/>
        </p:nvSpPr>
        <p:spPr>
          <a:xfrm>
            <a:off x="5266944" y="1737360"/>
            <a:ext cx="182880" cy="201168"/>
          </a:xfrm>
          <a:prstGeom prst="rightArrow">
            <a:avLst/>
          </a:prstGeom>
          <a:solidFill>
            <a:srgbClr val="8E6F3E"/>
          </a:solidFill>
          <a:ln>
            <a:noFill/>
          </a:ln>
        </p:spPr>
        <p:txBody>
          <a:bodyPr rtlCol="0" anchor="ctr"/>
          <a:lstStyle/>
          <a:p>
            <a:endParaRPr/>
          </a:p>
        </p:txBody>
      </p:sp>
      <p:sp>
        <p:nvSpPr>
          <p:cNvPr id="15" name="Rectangle 14"/>
          <p:cNvSpPr/>
          <p:nvPr/>
        </p:nvSpPr>
        <p:spPr>
          <a:xfrm>
            <a:off x="5468112" y="1143000"/>
            <a:ext cx="1481328" cy="1417320"/>
          </a:xfrm>
          <a:prstGeom prst="rect">
            <a:avLst/>
          </a:prstGeom>
          <a:solidFill>
            <a:srgbClr val="FCFAF6"/>
          </a:solidFill>
          <a:ln w="12700">
            <a:solidFill>
              <a:srgbClr val="CBB590"/>
            </a:solidFill>
          </a:ln>
        </p:spPr>
        <p:txBody>
          <a:bodyPr rtlCol="0" anchor="ctr"/>
          <a:lstStyle/>
          <a:p>
            <a:endParaRPr/>
          </a:p>
        </p:txBody>
      </p:sp>
      <p:sp>
        <p:nvSpPr>
          <p:cNvPr id="16" name="TextBox 15"/>
          <p:cNvSpPr txBox="1"/>
          <p:nvPr/>
        </p:nvSpPr>
        <p:spPr>
          <a:xfrm>
            <a:off x="5522976" y="1216152"/>
            <a:ext cx="1371600" cy="411480"/>
          </a:xfrm>
          <a:prstGeom prst="rect">
            <a:avLst/>
          </a:prstGeom>
          <a:noFill/>
        </p:spPr>
        <p:txBody>
          <a:bodyPr wrap="square" lIns="27425" tIns="22850" rIns="27425" bIns="22850" anchor="ctr"/>
          <a:lstStyle/>
          <a:p>
            <a:pPr algn="ctr"/>
            <a:r>
              <a:rPr sz="1600" b="1" i="0">
                <a:solidFill>
                  <a:srgbClr val="5C4826"/>
                </a:solidFill>
                <a:latin typeface="Calibri"/>
              </a:rPr>
              <a:t>Integration</a:t>
            </a:r>
          </a:p>
        </p:txBody>
      </p:sp>
      <p:sp>
        <p:nvSpPr>
          <p:cNvPr id="17" name="TextBox 16"/>
          <p:cNvSpPr txBox="1"/>
          <p:nvPr/>
        </p:nvSpPr>
        <p:spPr>
          <a:xfrm>
            <a:off x="5522976" y="1664208"/>
            <a:ext cx="1371600" cy="822960"/>
          </a:xfrm>
          <a:prstGeom prst="rect">
            <a:avLst/>
          </a:prstGeom>
          <a:noFill/>
        </p:spPr>
        <p:txBody>
          <a:bodyPr wrap="square" lIns="27425" tIns="22850" rIns="27425" bIns="22850" anchor="t"/>
          <a:lstStyle/>
          <a:p>
            <a:pPr algn="ctr"/>
            <a:r>
              <a:rPr sz="1400" b="0" i="0">
                <a:solidFill>
                  <a:srgbClr val="555960"/>
                </a:solidFill>
                <a:latin typeface="Calibri"/>
              </a:rPr>
              <a:t>Consistency across changes</a:t>
            </a:r>
          </a:p>
        </p:txBody>
      </p:sp>
      <p:sp>
        <p:nvSpPr>
          <p:cNvPr id="18" name="Right Arrow 17"/>
          <p:cNvSpPr/>
          <p:nvPr/>
        </p:nvSpPr>
        <p:spPr>
          <a:xfrm>
            <a:off x="6967728" y="1737360"/>
            <a:ext cx="182880" cy="201168"/>
          </a:xfrm>
          <a:prstGeom prst="rightArrow">
            <a:avLst/>
          </a:prstGeom>
          <a:solidFill>
            <a:srgbClr val="8E6F3E"/>
          </a:solidFill>
          <a:ln>
            <a:noFill/>
          </a:ln>
        </p:spPr>
        <p:txBody>
          <a:bodyPr rtlCol="0" anchor="ctr"/>
          <a:lstStyle/>
          <a:p>
            <a:endParaRPr/>
          </a:p>
        </p:txBody>
      </p:sp>
      <p:sp>
        <p:nvSpPr>
          <p:cNvPr id="19" name="Rectangle 18"/>
          <p:cNvSpPr/>
          <p:nvPr/>
        </p:nvSpPr>
        <p:spPr>
          <a:xfrm>
            <a:off x="7168896" y="1143000"/>
            <a:ext cx="1481328" cy="1417320"/>
          </a:xfrm>
          <a:prstGeom prst="rect">
            <a:avLst/>
          </a:prstGeom>
          <a:solidFill>
            <a:srgbClr val="F5F1E8"/>
          </a:solidFill>
          <a:ln w="12700">
            <a:solidFill>
              <a:srgbClr val="CBB590"/>
            </a:solidFill>
          </a:ln>
        </p:spPr>
        <p:txBody>
          <a:bodyPr rtlCol="0" anchor="ctr"/>
          <a:lstStyle/>
          <a:p>
            <a:endParaRPr/>
          </a:p>
        </p:txBody>
      </p:sp>
      <p:sp>
        <p:nvSpPr>
          <p:cNvPr id="20" name="TextBox 19"/>
          <p:cNvSpPr txBox="1"/>
          <p:nvPr/>
        </p:nvSpPr>
        <p:spPr>
          <a:xfrm>
            <a:off x="7223760" y="1216152"/>
            <a:ext cx="1371600" cy="411480"/>
          </a:xfrm>
          <a:prstGeom prst="rect">
            <a:avLst/>
          </a:prstGeom>
          <a:noFill/>
        </p:spPr>
        <p:txBody>
          <a:bodyPr wrap="square" lIns="27425" tIns="22850" rIns="27425" bIns="22850" anchor="ctr"/>
          <a:lstStyle/>
          <a:p>
            <a:pPr algn="ctr"/>
            <a:r>
              <a:rPr sz="1600" b="1" i="0">
                <a:solidFill>
                  <a:srgbClr val="5C4826"/>
                </a:solidFill>
                <a:latin typeface="Calibri"/>
              </a:rPr>
              <a:t>Operation</a:t>
            </a:r>
          </a:p>
        </p:txBody>
      </p:sp>
      <p:sp>
        <p:nvSpPr>
          <p:cNvPr id="21" name="TextBox 20"/>
          <p:cNvSpPr txBox="1"/>
          <p:nvPr/>
        </p:nvSpPr>
        <p:spPr>
          <a:xfrm>
            <a:off x="7223760" y="1664208"/>
            <a:ext cx="1371600" cy="822960"/>
          </a:xfrm>
          <a:prstGeom prst="rect">
            <a:avLst/>
          </a:prstGeom>
          <a:noFill/>
        </p:spPr>
        <p:txBody>
          <a:bodyPr wrap="square" lIns="27425" tIns="22850" rIns="27425" bIns="22850" anchor="t"/>
          <a:lstStyle/>
          <a:p>
            <a:pPr algn="ctr"/>
            <a:r>
              <a:rPr sz="1400" b="0" i="0">
                <a:solidFill>
                  <a:srgbClr val="555960"/>
                </a:solidFill>
                <a:latin typeface="Calibri"/>
              </a:rPr>
              <a:t>Deploy, monitor, roll back</a:t>
            </a:r>
          </a:p>
        </p:txBody>
      </p:sp>
      <p:sp>
        <p:nvSpPr>
          <p:cNvPr id="22" name="Rectangle 21"/>
          <p:cNvSpPr/>
          <p:nvPr/>
        </p:nvSpPr>
        <p:spPr>
          <a:xfrm>
            <a:off x="411480" y="2971800"/>
            <a:ext cx="2679192" cy="1874519"/>
          </a:xfrm>
          <a:prstGeom prst="rect">
            <a:avLst/>
          </a:prstGeom>
          <a:solidFill>
            <a:srgbClr val="FCFAF6"/>
          </a:solidFill>
          <a:ln w="12700">
            <a:solidFill>
              <a:srgbClr val="CBB590"/>
            </a:solidFill>
          </a:ln>
        </p:spPr>
        <p:txBody>
          <a:bodyPr rtlCol="0" anchor="ctr"/>
          <a:lstStyle/>
          <a:p>
            <a:endParaRPr/>
          </a:p>
        </p:txBody>
      </p:sp>
      <p:sp>
        <p:nvSpPr>
          <p:cNvPr id="23" name="TextBox 22"/>
          <p:cNvSpPr txBox="1"/>
          <p:nvPr/>
        </p:nvSpPr>
        <p:spPr>
          <a:xfrm>
            <a:off x="557784" y="3063240"/>
            <a:ext cx="2386584" cy="274320"/>
          </a:xfrm>
          <a:prstGeom prst="rect">
            <a:avLst/>
          </a:prstGeom>
          <a:noFill/>
        </p:spPr>
        <p:txBody>
          <a:bodyPr wrap="square" lIns="27425" tIns="22850" rIns="27425" bIns="22850" anchor="ctr"/>
          <a:lstStyle/>
          <a:p>
            <a:pPr algn="l"/>
            <a:r>
              <a:rPr sz="1300" b="1" i="0">
                <a:solidFill>
                  <a:srgbClr val="8E6F3E"/>
                </a:solidFill>
                <a:latin typeface="Calibri"/>
              </a:rPr>
              <a:t>PRACTITIONERS, 2026</a:t>
            </a:r>
          </a:p>
        </p:txBody>
      </p:sp>
      <p:sp>
        <p:nvSpPr>
          <p:cNvPr id="24" name="TextBox 23"/>
          <p:cNvSpPr txBox="1"/>
          <p:nvPr/>
        </p:nvSpPr>
        <p:spPr>
          <a:xfrm>
            <a:off x="557784" y="3355848"/>
            <a:ext cx="2386584" cy="1417319"/>
          </a:xfrm>
          <a:prstGeom prst="rect">
            <a:avLst/>
          </a:prstGeom>
          <a:noFill/>
        </p:spPr>
        <p:txBody>
          <a:bodyPr wrap="square" lIns="27425" tIns="22850" rIns="27425" bIns="22850" anchor="t"/>
          <a:lstStyle/>
          <a:p>
            <a:pPr algn="l"/>
            <a:r>
              <a:rPr sz="1700" b="0" i="0">
                <a:solidFill>
                  <a:srgbClr val="555960"/>
                </a:solidFill>
                <a:latin typeface="Calibri"/>
              </a:rPr>
              <a:t>Agents now write code faster than people can review it.</a:t>
            </a:r>
          </a:p>
        </p:txBody>
      </p:sp>
      <p:sp>
        <p:nvSpPr>
          <p:cNvPr id="25" name="Rectangle 24"/>
          <p:cNvSpPr/>
          <p:nvPr/>
        </p:nvSpPr>
        <p:spPr>
          <a:xfrm>
            <a:off x="3232404" y="2971800"/>
            <a:ext cx="2679192" cy="1874519"/>
          </a:xfrm>
          <a:prstGeom prst="rect">
            <a:avLst/>
          </a:prstGeom>
          <a:solidFill>
            <a:srgbClr val="F5F1E8"/>
          </a:solidFill>
          <a:ln w="12700">
            <a:solidFill>
              <a:srgbClr val="CBB590"/>
            </a:solidFill>
          </a:ln>
        </p:spPr>
        <p:txBody>
          <a:bodyPr rtlCol="0" anchor="ctr"/>
          <a:lstStyle/>
          <a:p>
            <a:endParaRPr/>
          </a:p>
        </p:txBody>
      </p:sp>
      <p:sp>
        <p:nvSpPr>
          <p:cNvPr id="26" name="TextBox 25"/>
          <p:cNvSpPr txBox="1"/>
          <p:nvPr/>
        </p:nvSpPr>
        <p:spPr>
          <a:xfrm>
            <a:off x="3378708" y="3063240"/>
            <a:ext cx="2386584" cy="274320"/>
          </a:xfrm>
          <a:prstGeom prst="rect">
            <a:avLst/>
          </a:prstGeom>
          <a:noFill/>
        </p:spPr>
        <p:txBody>
          <a:bodyPr wrap="square" lIns="27425" tIns="22850" rIns="27425" bIns="22850" anchor="ctr"/>
          <a:lstStyle/>
          <a:p>
            <a:pPr algn="l"/>
            <a:r>
              <a:rPr sz="1300" b="1" i="0">
                <a:solidFill>
                  <a:srgbClr val="8E6F3E"/>
                </a:solidFill>
                <a:latin typeface="Calibri"/>
              </a:rPr>
              <a:t>OSMANI, 2026</a:t>
            </a:r>
          </a:p>
        </p:txBody>
      </p:sp>
      <p:sp>
        <p:nvSpPr>
          <p:cNvPr id="27" name="TextBox 26"/>
          <p:cNvSpPr txBox="1"/>
          <p:nvPr/>
        </p:nvSpPr>
        <p:spPr>
          <a:xfrm>
            <a:off x="3378708" y="3355848"/>
            <a:ext cx="2386584" cy="1417319"/>
          </a:xfrm>
          <a:prstGeom prst="rect">
            <a:avLst/>
          </a:prstGeom>
          <a:noFill/>
        </p:spPr>
        <p:txBody>
          <a:bodyPr wrap="square" lIns="27425" tIns="22850" rIns="27425" bIns="22850" anchor="t"/>
          <a:lstStyle/>
          <a:p>
            <a:pPr algn="l"/>
            <a:r>
              <a:rPr sz="1700" b="0" i="0">
                <a:solidFill>
                  <a:srgbClr val="555960"/>
                </a:solidFill>
                <a:latin typeface="Calibri"/>
              </a:rPr>
              <a:t>“Verification, not generation, is the real constraint on a factory.”</a:t>
            </a:r>
          </a:p>
        </p:txBody>
      </p:sp>
      <p:sp>
        <p:nvSpPr>
          <p:cNvPr id="28" name="Rectangle 27"/>
          <p:cNvSpPr/>
          <p:nvPr/>
        </p:nvSpPr>
        <p:spPr>
          <a:xfrm>
            <a:off x="6053328" y="2971800"/>
            <a:ext cx="2679192" cy="1874519"/>
          </a:xfrm>
          <a:prstGeom prst="rect">
            <a:avLst/>
          </a:prstGeom>
          <a:solidFill>
            <a:srgbClr val="FCFAF6"/>
          </a:solidFill>
          <a:ln w="12700">
            <a:solidFill>
              <a:srgbClr val="CBB590"/>
            </a:solidFill>
          </a:ln>
        </p:spPr>
        <p:txBody>
          <a:bodyPr rtlCol="0" anchor="ctr"/>
          <a:lstStyle/>
          <a:p>
            <a:endParaRPr/>
          </a:p>
        </p:txBody>
      </p:sp>
      <p:sp>
        <p:nvSpPr>
          <p:cNvPr id="29" name="TextBox 28"/>
          <p:cNvSpPr txBox="1"/>
          <p:nvPr/>
        </p:nvSpPr>
        <p:spPr>
          <a:xfrm>
            <a:off x="6199632" y="3063240"/>
            <a:ext cx="2386584" cy="274320"/>
          </a:xfrm>
          <a:prstGeom prst="rect">
            <a:avLst/>
          </a:prstGeom>
          <a:noFill/>
        </p:spPr>
        <p:txBody>
          <a:bodyPr wrap="square" lIns="27425" tIns="22850" rIns="27425" bIns="22850" anchor="ctr"/>
          <a:lstStyle/>
          <a:p>
            <a:pPr algn="l"/>
            <a:r>
              <a:rPr sz="1300" b="1" i="0">
                <a:solidFill>
                  <a:srgbClr val="8E6F3E"/>
                </a:solidFill>
                <a:latin typeface="Calibri"/>
              </a:rPr>
              <a:t>ANTHROPIC</a:t>
            </a:r>
          </a:p>
        </p:txBody>
      </p:sp>
      <p:sp>
        <p:nvSpPr>
          <p:cNvPr id="30" name="TextBox 29"/>
          <p:cNvSpPr txBox="1"/>
          <p:nvPr/>
        </p:nvSpPr>
        <p:spPr>
          <a:xfrm>
            <a:off x="6199632" y="3355848"/>
            <a:ext cx="2144268" cy="1417319"/>
          </a:xfrm>
          <a:prstGeom prst="rect">
            <a:avLst/>
          </a:prstGeom>
          <a:noFill/>
        </p:spPr>
        <p:txBody>
          <a:bodyPr wrap="square" lIns="27425" tIns="22850" rIns="27425" bIns="22850" anchor="t"/>
          <a:lstStyle/>
          <a:p>
            <a:pPr algn="l"/>
            <a:r>
              <a:rPr sz="1700" b="0" i="0">
                <a:solidFill>
                  <a:srgbClr val="555960"/>
                </a:solidFill>
                <a:latin typeface="Calibri"/>
              </a:rPr>
              <a:t>Without explicit state, long tasks drift or stop too early.</a:t>
            </a:r>
          </a:p>
        </p:txBody>
      </p:sp>
      <p:sp>
        <p:nvSpPr>
          <p:cNvPr id="31" name="Rectangle 30"/>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32" name="TextBox 31"/>
          <p:cNvSpPr txBox="1"/>
          <p:nvPr/>
        </p:nvSpPr>
        <p:spPr>
          <a:xfrm>
            <a:off x="384048" y="5897880"/>
            <a:ext cx="8375904" cy="466344"/>
          </a:xfrm>
          <a:prstGeom prst="rect">
            <a:avLst/>
          </a:prstGeom>
          <a:noFill/>
        </p:spPr>
        <p:txBody>
          <a:bodyPr wrap="square" lIns="27425" tIns="22850" rIns="27425" bIns="22850" anchor="ctr"/>
          <a:lstStyle/>
          <a:p>
            <a:pPr algn="ctr"/>
            <a:r>
              <a:rPr sz="1800" b="1" i="0" dirty="0">
                <a:solidFill>
                  <a:srgbClr val="FFFFFF"/>
                </a:solidFill>
                <a:latin typeface="Calibri"/>
              </a:rPr>
              <a:t>A factory exists to scale verification and judgment, not just 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p:bldP spid="25" grpId="0" animBg="1"/>
      <p:bldP spid="26" grpId="0"/>
      <p:bldP spid="27" grpId="0"/>
      <p:bldP spid="28" grpId="0" animBg="1"/>
      <p:bldP spid="29" grpId="0"/>
      <p:bldP spid="30" grpId="0"/>
      <p:bldP spid="31" grpId="0" animBg="1"/>
      <p:bldP spid="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lang="en-US" sz="2400" b="0" i="0" dirty="0">
                <a:solidFill>
                  <a:srgbClr val="2D2D2D"/>
                </a:solidFill>
                <a:latin typeface="Calibri"/>
              </a:rPr>
              <a:t>How does a software factory help organizations</a:t>
            </a:r>
            <a:r>
              <a:rPr sz="2400" b="0" i="0" dirty="0">
                <a:solidFill>
                  <a:srgbClr val="2D2D2D"/>
                </a:solidFill>
                <a:latin typeface="Calibri"/>
              </a:rPr>
              <a:t>?</a:t>
            </a:r>
          </a:p>
        </p:txBody>
      </p:sp>
      <p:sp>
        <p:nvSpPr>
          <p:cNvPr id="3" name="Rectangle 2"/>
          <p:cNvSpPr/>
          <p:nvPr/>
        </p:nvSpPr>
        <p:spPr>
          <a:xfrm>
            <a:off x="411480" y="1143000"/>
            <a:ext cx="4069080" cy="1783080"/>
          </a:xfrm>
          <a:prstGeom prst="rect">
            <a:avLst/>
          </a:prstGeom>
          <a:solidFill>
            <a:srgbClr val="F5F1E8"/>
          </a:solidFill>
          <a:ln w="12700">
            <a:solidFill>
              <a:srgbClr val="CBB590"/>
            </a:solidFill>
          </a:ln>
        </p:spPr>
        <p:txBody>
          <a:bodyPr rtlCol="0" anchor="ctr"/>
          <a:lstStyle/>
          <a:p>
            <a:endParaRPr sz="1800"/>
          </a:p>
        </p:txBody>
      </p:sp>
      <p:sp>
        <p:nvSpPr>
          <p:cNvPr id="4" name="TextBox 3"/>
          <p:cNvSpPr txBox="1"/>
          <p:nvPr/>
        </p:nvSpPr>
        <p:spPr>
          <a:xfrm>
            <a:off x="557784" y="1234440"/>
            <a:ext cx="3776472" cy="274320"/>
          </a:xfrm>
          <a:prstGeom prst="rect">
            <a:avLst/>
          </a:prstGeom>
          <a:noFill/>
        </p:spPr>
        <p:txBody>
          <a:bodyPr wrap="square" lIns="27425" tIns="22850" rIns="27425" bIns="22850" anchor="ctr"/>
          <a:lstStyle/>
          <a:p>
            <a:pPr algn="l"/>
            <a:r>
              <a:rPr sz="1600" b="1" i="0">
                <a:solidFill>
                  <a:srgbClr val="8E6F3E"/>
                </a:solidFill>
                <a:latin typeface="Calibri"/>
              </a:rPr>
              <a:t>TURNS INTENT INTO RELIABLE CHANGE</a:t>
            </a:r>
          </a:p>
        </p:txBody>
      </p:sp>
      <p:sp>
        <p:nvSpPr>
          <p:cNvPr id="5" name="TextBox 4"/>
          <p:cNvSpPr txBox="1"/>
          <p:nvPr/>
        </p:nvSpPr>
        <p:spPr>
          <a:xfrm>
            <a:off x="557784" y="1527048"/>
            <a:ext cx="3776472" cy="1325880"/>
          </a:xfrm>
          <a:prstGeom prst="rect">
            <a:avLst/>
          </a:prstGeom>
          <a:noFill/>
        </p:spPr>
        <p:txBody>
          <a:bodyPr wrap="square" lIns="27425" tIns="22850" rIns="27425" bIns="22850" anchor="t"/>
          <a:lstStyle/>
          <a:p>
            <a:pPr algn="l"/>
            <a:r>
              <a:rPr sz="2000" b="0" i="0">
                <a:solidFill>
                  <a:srgbClr val="555960"/>
                </a:solidFill>
                <a:latin typeface="Calibri"/>
              </a:rPr>
              <a:t>Requirements keep changing; the factory converts each change into a tested, deployable update.</a:t>
            </a:r>
          </a:p>
        </p:txBody>
      </p:sp>
      <p:sp>
        <p:nvSpPr>
          <p:cNvPr id="6" name="Rectangle 5"/>
          <p:cNvSpPr/>
          <p:nvPr/>
        </p:nvSpPr>
        <p:spPr>
          <a:xfrm>
            <a:off x="4663440" y="1143000"/>
            <a:ext cx="4069080" cy="1783080"/>
          </a:xfrm>
          <a:prstGeom prst="rect">
            <a:avLst/>
          </a:prstGeom>
          <a:solidFill>
            <a:srgbClr val="FCFAF6"/>
          </a:solidFill>
          <a:ln w="12700">
            <a:solidFill>
              <a:srgbClr val="CBB590"/>
            </a:solidFill>
          </a:ln>
        </p:spPr>
        <p:txBody>
          <a:bodyPr rtlCol="0" anchor="ctr"/>
          <a:lstStyle/>
          <a:p>
            <a:endParaRPr sz="1800"/>
          </a:p>
        </p:txBody>
      </p:sp>
      <p:sp>
        <p:nvSpPr>
          <p:cNvPr id="7" name="TextBox 6"/>
          <p:cNvSpPr txBox="1"/>
          <p:nvPr/>
        </p:nvSpPr>
        <p:spPr>
          <a:xfrm>
            <a:off x="4809744" y="1234440"/>
            <a:ext cx="3776472" cy="274320"/>
          </a:xfrm>
          <a:prstGeom prst="rect">
            <a:avLst/>
          </a:prstGeom>
          <a:noFill/>
        </p:spPr>
        <p:txBody>
          <a:bodyPr wrap="square" lIns="27425" tIns="22850" rIns="27425" bIns="22850" anchor="ctr"/>
          <a:lstStyle/>
          <a:p>
            <a:pPr algn="l"/>
            <a:r>
              <a:rPr sz="1600" b="1" i="0">
                <a:solidFill>
                  <a:srgbClr val="8E6F3E"/>
                </a:solidFill>
                <a:latin typeface="Calibri"/>
              </a:rPr>
              <a:t>CARRIES KNOWLEDGE FORWARD</a:t>
            </a:r>
          </a:p>
        </p:txBody>
      </p:sp>
      <p:sp>
        <p:nvSpPr>
          <p:cNvPr id="8" name="TextBox 7"/>
          <p:cNvSpPr txBox="1"/>
          <p:nvPr/>
        </p:nvSpPr>
        <p:spPr>
          <a:xfrm>
            <a:off x="4809744" y="1527048"/>
            <a:ext cx="3776472" cy="1325880"/>
          </a:xfrm>
          <a:prstGeom prst="rect">
            <a:avLst/>
          </a:prstGeom>
          <a:noFill/>
        </p:spPr>
        <p:txBody>
          <a:bodyPr wrap="square" lIns="27425" tIns="22850" rIns="27425" bIns="22850" anchor="t"/>
          <a:lstStyle/>
          <a:p>
            <a:pPr algn="l"/>
            <a:r>
              <a:rPr sz="2000" b="0" i="0">
                <a:solidFill>
                  <a:srgbClr val="555960"/>
                </a:solidFill>
                <a:latin typeface="Calibri"/>
              </a:rPr>
              <a:t>Goals, decisions, and progress live in artifacts, not in one person's head or one session's context.</a:t>
            </a:r>
          </a:p>
        </p:txBody>
      </p:sp>
      <p:sp>
        <p:nvSpPr>
          <p:cNvPr id="9" name="Rectangle 8"/>
          <p:cNvSpPr/>
          <p:nvPr/>
        </p:nvSpPr>
        <p:spPr>
          <a:xfrm>
            <a:off x="411480" y="3154680"/>
            <a:ext cx="4069080" cy="1783080"/>
          </a:xfrm>
          <a:prstGeom prst="rect">
            <a:avLst/>
          </a:prstGeom>
          <a:solidFill>
            <a:srgbClr val="FCFAF6"/>
          </a:solidFill>
          <a:ln w="12700">
            <a:solidFill>
              <a:srgbClr val="CBB590"/>
            </a:solidFill>
          </a:ln>
        </p:spPr>
        <p:txBody>
          <a:bodyPr rtlCol="0" anchor="ctr"/>
          <a:lstStyle/>
          <a:p>
            <a:endParaRPr sz="1800"/>
          </a:p>
        </p:txBody>
      </p:sp>
      <p:sp>
        <p:nvSpPr>
          <p:cNvPr id="10" name="TextBox 9"/>
          <p:cNvSpPr txBox="1"/>
          <p:nvPr/>
        </p:nvSpPr>
        <p:spPr>
          <a:xfrm>
            <a:off x="557784" y="3246120"/>
            <a:ext cx="3776472" cy="274320"/>
          </a:xfrm>
          <a:prstGeom prst="rect">
            <a:avLst/>
          </a:prstGeom>
          <a:noFill/>
        </p:spPr>
        <p:txBody>
          <a:bodyPr wrap="square" lIns="27425" tIns="22850" rIns="27425" bIns="22850" anchor="ctr"/>
          <a:lstStyle/>
          <a:p>
            <a:pPr algn="l"/>
            <a:r>
              <a:rPr sz="1600" b="1" i="0" dirty="0">
                <a:solidFill>
                  <a:srgbClr val="8E6F3E"/>
                </a:solidFill>
                <a:latin typeface="Calibri"/>
              </a:rPr>
              <a:t>HOLDS QUALITY AS VOLUME GROWS</a:t>
            </a:r>
          </a:p>
        </p:txBody>
      </p:sp>
      <p:sp>
        <p:nvSpPr>
          <p:cNvPr id="11" name="TextBox 10"/>
          <p:cNvSpPr txBox="1"/>
          <p:nvPr/>
        </p:nvSpPr>
        <p:spPr>
          <a:xfrm>
            <a:off x="557784" y="3538728"/>
            <a:ext cx="3776472" cy="1325880"/>
          </a:xfrm>
          <a:prstGeom prst="rect">
            <a:avLst/>
          </a:prstGeom>
          <a:noFill/>
        </p:spPr>
        <p:txBody>
          <a:bodyPr wrap="square" lIns="27425" tIns="22850" rIns="27425" bIns="22850" anchor="t"/>
          <a:lstStyle/>
          <a:p>
            <a:pPr algn="l"/>
            <a:r>
              <a:rPr sz="2000" b="0" i="0" dirty="0">
                <a:solidFill>
                  <a:srgbClr val="555960"/>
                </a:solidFill>
                <a:latin typeface="Calibri"/>
              </a:rPr>
              <a:t>Gates apply the same standard to the hundredth change as to the first.</a:t>
            </a:r>
          </a:p>
        </p:txBody>
      </p:sp>
      <p:sp>
        <p:nvSpPr>
          <p:cNvPr id="12" name="Rectangle 11"/>
          <p:cNvSpPr/>
          <p:nvPr/>
        </p:nvSpPr>
        <p:spPr>
          <a:xfrm>
            <a:off x="4663440" y="3154680"/>
            <a:ext cx="4069080" cy="1783080"/>
          </a:xfrm>
          <a:prstGeom prst="rect">
            <a:avLst/>
          </a:prstGeom>
          <a:solidFill>
            <a:srgbClr val="F5F1E8"/>
          </a:solidFill>
          <a:ln w="12700">
            <a:solidFill>
              <a:srgbClr val="CBB590"/>
            </a:solidFill>
          </a:ln>
        </p:spPr>
        <p:txBody>
          <a:bodyPr rtlCol="0" anchor="ctr"/>
          <a:lstStyle/>
          <a:p>
            <a:endParaRPr sz="1800"/>
          </a:p>
        </p:txBody>
      </p:sp>
      <p:sp>
        <p:nvSpPr>
          <p:cNvPr id="13" name="TextBox 12"/>
          <p:cNvSpPr txBox="1"/>
          <p:nvPr/>
        </p:nvSpPr>
        <p:spPr>
          <a:xfrm>
            <a:off x="4809744" y="3246120"/>
            <a:ext cx="3776472" cy="274320"/>
          </a:xfrm>
          <a:prstGeom prst="rect">
            <a:avLst/>
          </a:prstGeom>
          <a:noFill/>
        </p:spPr>
        <p:txBody>
          <a:bodyPr wrap="square" lIns="27425" tIns="22850" rIns="27425" bIns="22850" anchor="ctr"/>
          <a:lstStyle/>
          <a:p>
            <a:pPr algn="l"/>
            <a:r>
              <a:rPr sz="1600" b="1" i="0">
                <a:solidFill>
                  <a:srgbClr val="8E6F3E"/>
                </a:solidFill>
                <a:latin typeface="Calibri"/>
              </a:rPr>
              <a:t>MAKES DELEGATION ACCOUNTABLE</a:t>
            </a:r>
          </a:p>
        </p:txBody>
      </p:sp>
      <p:sp>
        <p:nvSpPr>
          <p:cNvPr id="14" name="TextBox 13"/>
          <p:cNvSpPr txBox="1"/>
          <p:nvPr/>
        </p:nvSpPr>
        <p:spPr>
          <a:xfrm>
            <a:off x="4809744" y="3538728"/>
            <a:ext cx="3776472" cy="1325880"/>
          </a:xfrm>
          <a:prstGeom prst="rect">
            <a:avLst/>
          </a:prstGeom>
          <a:noFill/>
        </p:spPr>
        <p:txBody>
          <a:bodyPr wrap="square" lIns="27425" tIns="22850" rIns="27425" bIns="22850" anchor="t"/>
          <a:lstStyle/>
          <a:p>
            <a:pPr algn="l"/>
            <a:r>
              <a:rPr sz="2000" b="0" i="0">
                <a:solidFill>
                  <a:srgbClr val="555960"/>
                </a:solidFill>
                <a:latin typeface="Calibri"/>
              </a:rPr>
              <a:t>Each change leaves evidence: which spec, which checks, and which person approved it.</a:t>
            </a:r>
          </a:p>
        </p:txBody>
      </p:sp>
      <p:sp>
        <p:nvSpPr>
          <p:cNvPr id="15" name="Rectangle 14"/>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16" name="TextBox 15"/>
          <p:cNvSpPr txBox="1"/>
          <p:nvPr/>
        </p:nvSpPr>
        <p:spPr>
          <a:xfrm>
            <a:off x="384048" y="5897880"/>
            <a:ext cx="8375904" cy="466344"/>
          </a:xfrm>
          <a:prstGeom prst="rect">
            <a:avLst/>
          </a:prstGeom>
          <a:noFill/>
        </p:spPr>
        <p:txBody>
          <a:bodyPr wrap="square" lIns="27425" tIns="22850" rIns="27425" bIns="22850" anchor="ctr"/>
          <a:lstStyle/>
          <a:p>
            <a:pPr algn="ctr"/>
            <a:r>
              <a:rPr sz="1800" b="1" i="0" dirty="0">
                <a:solidFill>
                  <a:srgbClr val="FFFFFF"/>
                </a:solidFill>
                <a:latin typeface="Calibri"/>
              </a:rPr>
              <a:t>None of these is new to </a:t>
            </a:r>
            <a:r>
              <a:rPr lang="en-US" sz="1800" b="1" i="0" dirty="0">
                <a:solidFill>
                  <a:srgbClr val="FFFFFF"/>
                </a:solidFill>
                <a:latin typeface="Calibri"/>
              </a:rPr>
              <a:t>SE</a:t>
            </a:r>
            <a:r>
              <a:rPr sz="1800" b="1" i="0" dirty="0">
                <a:solidFill>
                  <a:srgbClr val="FFFFFF"/>
                </a:solidFill>
                <a:latin typeface="Calibri"/>
              </a:rPr>
              <a:t>. The factory makes them executable.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p:bldP spid="11" grpId="0"/>
      <p:bldP spid="12" grpId="0" animBg="1"/>
      <p:bldP spid="13" grpId="0"/>
      <p:bldP spid="14" grpId="0"/>
      <p:bldP spid="15" grpId="0" animBg="1"/>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lang="en-US" sz="2400" b="0" i="0" dirty="0">
                <a:solidFill>
                  <a:srgbClr val="2D2D2D"/>
                </a:solidFill>
                <a:latin typeface="Calibri"/>
              </a:rPr>
              <a:t>Dimensions </a:t>
            </a:r>
            <a:r>
              <a:rPr sz="2400" b="0" i="0" dirty="0">
                <a:solidFill>
                  <a:srgbClr val="2D2D2D"/>
                </a:solidFill>
                <a:latin typeface="Calibri"/>
              </a:rPr>
              <a:t>on which factories </a:t>
            </a:r>
            <a:r>
              <a:rPr lang="en-US" sz="2400" b="0" i="0" dirty="0">
                <a:solidFill>
                  <a:srgbClr val="2D2D2D"/>
                </a:solidFill>
                <a:latin typeface="Calibri"/>
              </a:rPr>
              <a:t>may </a:t>
            </a:r>
            <a:r>
              <a:rPr sz="2400" b="0" i="0" dirty="0">
                <a:solidFill>
                  <a:srgbClr val="2D2D2D"/>
                </a:solidFill>
                <a:latin typeface="Calibri"/>
              </a:rPr>
              <a:t>differ</a:t>
            </a:r>
          </a:p>
        </p:txBody>
      </p:sp>
      <p:graphicFrame>
        <p:nvGraphicFramePr>
          <p:cNvPr id="3" name="Table 2"/>
          <p:cNvGraphicFramePr>
            <a:graphicFrameLocks noGrp="1"/>
          </p:cNvGraphicFramePr>
          <p:nvPr>
            <p:extLst>
              <p:ext uri="{D42A27DB-BD31-4B8C-83A1-F6EECF244321}">
                <p14:modId xmlns:p14="http://schemas.microsoft.com/office/powerpoint/2010/main" val="2541788389"/>
              </p:ext>
            </p:extLst>
          </p:nvPr>
        </p:nvGraphicFramePr>
        <p:xfrm>
          <a:off x="365760" y="1051560"/>
          <a:ext cx="8412480" cy="4370832"/>
        </p:xfrm>
        <a:graphic>
          <a:graphicData uri="http://schemas.openxmlformats.org/drawingml/2006/table">
            <a:tbl>
              <a:tblPr/>
              <a:tblGrid>
                <a:gridCol w="19202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603504">
                <a:tc>
                  <a:txBody>
                    <a:bodyPr/>
                    <a:lstStyle/>
                    <a:p>
                      <a:r>
                        <a:rPr sz="2000" b="1" dirty="0">
                          <a:solidFill>
                            <a:srgbClr val="FFFFFF"/>
                          </a:solidFill>
                          <a:latin typeface="Calibri"/>
                        </a:rPr>
                        <a:t>Dimension</a:t>
                      </a:r>
                    </a:p>
                  </a:txBody>
                  <a:tcPr marL="73152" marR="73152" anchor="ctr">
                    <a:solidFill>
                      <a:srgbClr val="8E6F3E"/>
                    </a:solidFill>
                  </a:tcPr>
                </a:tc>
                <a:tc>
                  <a:txBody>
                    <a:bodyPr/>
                    <a:lstStyle/>
                    <a:p>
                      <a:r>
                        <a:rPr sz="2000" b="1" dirty="0">
                          <a:solidFill>
                            <a:srgbClr val="FFFFFF"/>
                          </a:solidFill>
                          <a:latin typeface="Calibri"/>
                        </a:rPr>
                        <a:t>Question</a:t>
                      </a:r>
                    </a:p>
                  </a:txBody>
                  <a:tcPr marL="73152" marR="73152" anchor="ctr">
                    <a:solidFill>
                      <a:srgbClr val="8E6F3E"/>
                    </a:solidFill>
                  </a:tcPr>
                </a:tc>
                <a:tc>
                  <a:txBody>
                    <a:bodyPr/>
                    <a:lstStyle/>
                    <a:p>
                      <a:r>
                        <a:rPr sz="2000" b="1" dirty="0">
                          <a:solidFill>
                            <a:srgbClr val="FFFFFF"/>
                          </a:solidFill>
                          <a:latin typeface="Calibri"/>
                        </a:rPr>
                        <a:t>Range</a:t>
                      </a:r>
                    </a:p>
                  </a:txBody>
                  <a:tcPr marL="73152" marR="73152" anchor="ctr">
                    <a:solidFill>
                      <a:srgbClr val="8E6F3E"/>
                    </a:solidFill>
                  </a:tcPr>
                </a:tc>
                <a:extLst>
                  <a:ext uri="{0D108BD9-81ED-4DB2-BD59-A6C34878D82A}">
                    <a16:rowId xmlns:a16="http://schemas.microsoft.com/office/drawing/2014/main" val="10000"/>
                  </a:ext>
                </a:extLst>
              </a:tr>
              <a:tr h="603504">
                <a:tc>
                  <a:txBody>
                    <a:bodyPr/>
                    <a:lstStyle/>
                    <a:p>
                      <a:r>
                        <a:rPr sz="1800" b="1">
                          <a:solidFill>
                            <a:srgbClr val="5C4826"/>
                          </a:solidFill>
                          <a:latin typeface="Calibri"/>
                        </a:rPr>
                        <a:t>Autonomy</a:t>
                      </a:r>
                    </a:p>
                  </a:txBody>
                  <a:tcPr marL="73152" marR="73152" anchor="ctr">
                    <a:solidFill>
                      <a:srgbClr val="FCFAF6"/>
                    </a:solidFill>
                  </a:tcPr>
                </a:tc>
                <a:tc>
                  <a:txBody>
                    <a:bodyPr/>
                    <a:lstStyle/>
                    <a:p>
                      <a:r>
                        <a:rPr sz="1800" b="0">
                          <a:solidFill>
                            <a:srgbClr val="555960"/>
                          </a:solidFill>
                          <a:latin typeface="Calibri"/>
                        </a:rPr>
                        <a:t>Who performs the production step?</a:t>
                      </a:r>
                    </a:p>
                  </a:txBody>
                  <a:tcPr marL="73152" marR="73152" anchor="ctr">
                    <a:solidFill>
                      <a:srgbClr val="FCFAF6"/>
                    </a:solidFill>
                  </a:tcPr>
                </a:tc>
                <a:tc>
                  <a:txBody>
                    <a:bodyPr/>
                    <a:lstStyle/>
                    <a:p>
                      <a:r>
                        <a:rPr lang="en-US" sz="1800" b="0" dirty="0">
                          <a:solidFill>
                            <a:srgbClr val="555960"/>
                          </a:solidFill>
                          <a:latin typeface="Calibri"/>
                        </a:rPr>
                        <a:t>Autocomplete </a:t>
                      </a:r>
                      <a:r>
                        <a:rPr lang="en-US" sz="1800" b="0" dirty="0">
                          <a:solidFill>
                            <a:srgbClr val="555960"/>
                          </a:solidFill>
                          <a:latin typeface="Calibri"/>
                          <a:sym typeface="Wingdings" pitchFamily="2" charset="2"/>
                        </a:rPr>
                        <a:t></a:t>
                      </a:r>
                      <a:r>
                        <a:rPr sz="1800" b="0" dirty="0">
                          <a:solidFill>
                            <a:srgbClr val="555960"/>
                          </a:solidFill>
                          <a:latin typeface="Calibri"/>
                        </a:rPr>
                        <a:t> agents only</a:t>
                      </a:r>
                    </a:p>
                  </a:txBody>
                  <a:tcPr marL="73152" marR="73152" anchor="ctr">
                    <a:solidFill>
                      <a:srgbClr val="FCFAF6"/>
                    </a:solidFill>
                  </a:tcPr>
                </a:tc>
                <a:extLst>
                  <a:ext uri="{0D108BD9-81ED-4DB2-BD59-A6C34878D82A}">
                    <a16:rowId xmlns:a16="http://schemas.microsoft.com/office/drawing/2014/main" val="10001"/>
                  </a:ext>
                </a:extLst>
              </a:tr>
              <a:tr h="603504">
                <a:tc>
                  <a:txBody>
                    <a:bodyPr/>
                    <a:lstStyle/>
                    <a:p>
                      <a:r>
                        <a:rPr sz="1800" b="1">
                          <a:solidFill>
                            <a:srgbClr val="5C4826"/>
                          </a:solidFill>
                          <a:latin typeface="Calibri"/>
                        </a:rPr>
                        <a:t>Unit of work</a:t>
                      </a:r>
                    </a:p>
                  </a:txBody>
                  <a:tcPr marL="73152" marR="73152" anchor="ctr">
                    <a:solidFill>
                      <a:srgbClr val="F5F1E8"/>
                    </a:solidFill>
                  </a:tcPr>
                </a:tc>
                <a:tc>
                  <a:txBody>
                    <a:bodyPr/>
                    <a:lstStyle/>
                    <a:p>
                      <a:r>
                        <a:rPr sz="1800" b="0">
                          <a:solidFill>
                            <a:srgbClr val="555960"/>
                          </a:solidFill>
                          <a:latin typeface="Calibri"/>
                        </a:rPr>
                        <a:t>What does one loop take on?</a:t>
                      </a:r>
                    </a:p>
                  </a:txBody>
                  <a:tcPr marL="73152" marR="73152" anchor="ctr">
                    <a:solidFill>
                      <a:srgbClr val="F5F1E8"/>
                    </a:solidFill>
                  </a:tcPr>
                </a:tc>
                <a:tc>
                  <a:txBody>
                    <a:bodyPr/>
                    <a:lstStyle/>
                    <a:p>
                      <a:r>
                        <a:rPr lang="en-US" sz="1800" b="0" dirty="0">
                          <a:solidFill>
                            <a:srgbClr val="555960"/>
                          </a:solidFill>
                          <a:latin typeface="Calibri"/>
                        </a:rPr>
                        <a:t>T</a:t>
                      </a:r>
                      <a:r>
                        <a:rPr sz="1800" b="0" dirty="0">
                          <a:solidFill>
                            <a:srgbClr val="555960"/>
                          </a:solidFill>
                          <a:latin typeface="Calibri"/>
                        </a:rPr>
                        <a:t>ask</a:t>
                      </a:r>
                      <a:r>
                        <a:rPr lang="en-US" sz="1800" b="0" dirty="0">
                          <a:solidFill>
                            <a:srgbClr val="555960"/>
                          </a:solidFill>
                          <a:latin typeface="Calibri"/>
                        </a:rPr>
                        <a:t> </a:t>
                      </a:r>
                      <a:r>
                        <a:rPr lang="en-US" sz="1800" b="0" dirty="0">
                          <a:solidFill>
                            <a:srgbClr val="555960"/>
                          </a:solidFill>
                          <a:latin typeface="Calibri"/>
                          <a:sym typeface="Wingdings" pitchFamily="2" charset="2"/>
                        </a:rPr>
                        <a:t></a:t>
                      </a:r>
                      <a:r>
                        <a:rPr sz="1800" b="0" dirty="0">
                          <a:solidFill>
                            <a:srgbClr val="555960"/>
                          </a:solidFill>
                          <a:latin typeface="Calibri"/>
                        </a:rPr>
                        <a:t> feature</a:t>
                      </a:r>
                      <a:r>
                        <a:rPr lang="en-US" sz="1800" b="0" dirty="0">
                          <a:solidFill>
                            <a:srgbClr val="555960"/>
                          </a:solidFill>
                          <a:latin typeface="Calibri"/>
                        </a:rPr>
                        <a:t> </a:t>
                      </a:r>
                      <a:r>
                        <a:rPr lang="en-US" sz="1800" b="0" dirty="0">
                          <a:solidFill>
                            <a:srgbClr val="555960"/>
                          </a:solidFill>
                          <a:latin typeface="Calibri"/>
                          <a:sym typeface="Wingdings" pitchFamily="2" charset="2"/>
                        </a:rPr>
                        <a:t> </a:t>
                      </a:r>
                      <a:r>
                        <a:rPr sz="1800" b="0" dirty="0">
                          <a:solidFill>
                            <a:srgbClr val="555960"/>
                          </a:solidFill>
                          <a:latin typeface="Calibri"/>
                        </a:rPr>
                        <a:t>goal</a:t>
                      </a:r>
                    </a:p>
                  </a:txBody>
                  <a:tcPr marL="73152" marR="73152" anchor="ctr">
                    <a:solidFill>
                      <a:srgbClr val="F5F1E8"/>
                    </a:solidFill>
                  </a:tcPr>
                </a:tc>
                <a:extLst>
                  <a:ext uri="{0D108BD9-81ED-4DB2-BD59-A6C34878D82A}">
                    <a16:rowId xmlns:a16="http://schemas.microsoft.com/office/drawing/2014/main" val="10002"/>
                  </a:ext>
                </a:extLst>
              </a:tr>
              <a:tr h="603504">
                <a:tc>
                  <a:txBody>
                    <a:bodyPr/>
                    <a:lstStyle/>
                    <a:p>
                      <a:r>
                        <a:rPr sz="1800" b="1">
                          <a:solidFill>
                            <a:srgbClr val="5C4826"/>
                          </a:solidFill>
                          <a:latin typeface="Calibri"/>
                        </a:rPr>
                        <a:t>Definition of done</a:t>
                      </a:r>
                    </a:p>
                  </a:txBody>
                  <a:tcPr marL="73152" marR="73152" anchor="ctr">
                    <a:solidFill>
                      <a:srgbClr val="FCFAF6"/>
                    </a:solidFill>
                  </a:tcPr>
                </a:tc>
                <a:tc>
                  <a:txBody>
                    <a:bodyPr/>
                    <a:lstStyle/>
                    <a:p>
                      <a:r>
                        <a:rPr sz="1800" b="0">
                          <a:solidFill>
                            <a:srgbClr val="555960"/>
                          </a:solidFill>
                          <a:latin typeface="Calibri"/>
                        </a:rPr>
                        <a:t>Who or what accepts a change?</a:t>
                      </a:r>
                    </a:p>
                  </a:txBody>
                  <a:tcPr marL="73152" marR="73152" anchor="ctr">
                    <a:solidFill>
                      <a:srgbClr val="FCFAF6"/>
                    </a:solidFill>
                  </a:tcPr>
                </a:tc>
                <a:tc>
                  <a:txBody>
                    <a:bodyPr/>
                    <a:lstStyle/>
                    <a:p>
                      <a:r>
                        <a:rPr lang="en-US" sz="1800" b="0" dirty="0">
                          <a:solidFill>
                            <a:srgbClr val="555960"/>
                          </a:solidFill>
                          <a:latin typeface="Calibri"/>
                        </a:rPr>
                        <a:t>Human</a:t>
                      </a:r>
                      <a:r>
                        <a:rPr sz="1800" b="0" dirty="0">
                          <a:solidFill>
                            <a:srgbClr val="555960"/>
                          </a:solidFill>
                          <a:latin typeface="Calibri"/>
                        </a:rPr>
                        <a:t> review</a:t>
                      </a:r>
                      <a:r>
                        <a:rPr lang="en-US" sz="1800" b="0" dirty="0">
                          <a:solidFill>
                            <a:srgbClr val="555960"/>
                          </a:solidFill>
                          <a:latin typeface="Calibri"/>
                        </a:rPr>
                        <a:t> </a:t>
                      </a:r>
                      <a:r>
                        <a:rPr lang="en-US" sz="1800" b="0" dirty="0">
                          <a:solidFill>
                            <a:srgbClr val="555960"/>
                          </a:solidFill>
                          <a:latin typeface="Calibri"/>
                          <a:sym typeface="Wingdings" pitchFamily="2" charset="2"/>
                        </a:rPr>
                        <a:t> automated test</a:t>
                      </a:r>
                      <a:endParaRPr sz="1800" b="0" dirty="0">
                        <a:solidFill>
                          <a:srgbClr val="555960"/>
                        </a:solidFill>
                        <a:latin typeface="Calibri"/>
                      </a:endParaRPr>
                    </a:p>
                  </a:txBody>
                  <a:tcPr marL="73152" marR="73152" anchor="ctr">
                    <a:solidFill>
                      <a:srgbClr val="FCFAF6"/>
                    </a:solidFill>
                  </a:tcPr>
                </a:tc>
                <a:extLst>
                  <a:ext uri="{0D108BD9-81ED-4DB2-BD59-A6C34878D82A}">
                    <a16:rowId xmlns:a16="http://schemas.microsoft.com/office/drawing/2014/main" val="10003"/>
                  </a:ext>
                </a:extLst>
              </a:tr>
              <a:tr h="603504">
                <a:tc>
                  <a:txBody>
                    <a:bodyPr/>
                    <a:lstStyle/>
                    <a:p>
                      <a:r>
                        <a:rPr sz="1800" b="1">
                          <a:solidFill>
                            <a:srgbClr val="5C4826"/>
                          </a:solidFill>
                          <a:latin typeface="Calibri"/>
                        </a:rPr>
                        <a:t>Human placement</a:t>
                      </a:r>
                    </a:p>
                  </a:txBody>
                  <a:tcPr marL="73152" marR="73152" anchor="ctr">
                    <a:solidFill>
                      <a:srgbClr val="F5F1E8"/>
                    </a:solidFill>
                  </a:tcPr>
                </a:tc>
                <a:tc>
                  <a:txBody>
                    <a:bodyPr/>
                    <a:lstStyle/>
                    <a:p>
                      <a:r>
                        <a:rPr sz="1800" b="0">
                          <a:solidFill>
                            <a:srgbClr val="555960"/>
                          </a:solidFill>
                          <a:latin typeface="Calibri"/>
                        </a:rPr>
                        <a:t>Where does judgment sit?</a:t>
                      </a:r>
                    </a:p>
                  </a:txBody>
                  <a:tcPr marL="73152" marR="73152" anchor="ctr">
                    <a:solidFill>
                      <a:srgbClr val="F5F1E8"/>
                    </a:solidFill>
                  </a:tcPr>
                </a:tc>
                <a:tc>
                  <a:txBody>
                    <a:bodyPr/>
                    <a:lstStyle/>
                    <a:p>
                      <a:r>
                        <a:rPr sz="1800" b="0" dirty="0">
                          <a:solidFill>
                            <a:srgbClr val="555960"/>
                          </a:solidFill>
                          <a:latin typeface="Calibri"/>
                        </a:rPr>
                        <a:t>Every step</a:t>
                      </a:r>
                      <a:r>
                        <a:rPr lang="en-US" sz="1800" b="0" dirty="0">
                          <a:solidFill>
                            <a:srgbClr val="555960"/>
                          </a:solidFill>
                          <a:latin typeface="Calibri"/>
                        </a:rPr>
                        <a:t> </a:t>
                      </a:r>
                      <a:r>
                        <a:rPr lang="en-US" sz="1800" b="0" dirty="0">
                          <a:solidFill>
                            <a:srgbClr val="555960"/>
                          </a:solidFill>
                          <a:latin typeface="Calibri"/>
                          <a:sym typeface="Wingdings" pitchFamily="2" charset="2"/>
                        </a:rPr>
                        <a:t> </a:t>
                      </a:r>
                      <a:r>
                        <a:rPr sz="1800" b="0" dirty="0">
                          <a:solidFill>
                            <a:srgbClr val="555960"/>
                          </a:solidFill>
                          <a:latin typeface="Calibri"/>
                        </a:rPr>
                        <a:t>gates</a:t>
                      </a:r>
                      <a:r>
                        <a:rPr lang="en-US" sz="1800" b="0" dirty="0">
                          <a:solidFill>
                            <a:srgbClr val="555960"/>
                          </a:solidFill>
                          <a:latin typeface="Calibri"/>
                        </a:rPr>
                        <a:t> </a:t>
                      </a:r>
                      <a:r>
                        <a:rPr lang="en-US" sz="1800" b="0" dirty="0">
                          <a:solidFill>
                            <a:srgbClr val="555960"/>
                          </a:solidFill>
                          <a:latin typeface="Calibri"/>
                          <a:sym typeface="Wingdings" pitchFamily="2" charset="2"/>
                        </a:rPr>
                        <a:t> </a:t>
                      </a:r>
                      <a:r>
                        <a:rPr sz="1800" b="0" dirty="0">
                          <a:solidFill>
                            <a:srgbClr val="555960"/>
                          </a:solidFill>
                          <a:latin typeface="Calibri"/>
                        </a:rPr>
                        <a:t>intent only</a:t>
                      </a:r>
                    </a:p>
                  </a:txBody>
                  <a:tcPr marL="73152" marR="73152" anchor="ctr">
                    <a:solidFill>
                      <a:srgbClr val="F5F1E8"/>
                    </a:solidFill>
                  </a:tcPr>
                </a:tc>
                <a:extLst>
                  <a:ext uri="{0D108BD9-81ED-4DB2-BD59-A6C34878D82A}">
                    <a16:rowId xmlns:a16="http://schemas.microsoft.com/office/drawing/2014/main" val="10004"/>
                  </a:ext>
                </a:extLst>
              </a:tr>
              <a:tr h="603504">
                <a:tc>
                  <a:txBody>
                    <a:bodyPr/>
                    <a:lstStyle/>
                    <a:p>
                      <a:r>
                        <a:rPr sz="1800" b="1">
                          <a:solidFill>
                            <a:srgbClr val="5C4826"/>
                          </a:solidFill>
                          <a:latin typeface="Calibri"/>
                        </a:rPr>
                        <a:t>Scope</a:t>
                      </a:r>
                    </a:p>
                  </a:txBody>
                  <a:tcPr marL="73152" marR="73152" anchor="ctr">
                    <a:solidFill>
                      <a:srgbClr val="FCFAF6"/>
                    </a:solidFill>
                  </a:tcPr>
                </a:tc>
                <a:tc>
                  <a:txBody>
                    <a:bodyPr/>
                    <a:lstStyle/>
                    <a:p>
                      <a:r>
                        <a:rPr sz="1800" b="0">
                          <a:solidFill>
                            <a:srgbClr val="555960"/>
                          </a:solidFill>
                          <a:latin typeface="Calibri"/>
                        </a:rPr>
                        <a:t>What does it produce?</a:t>
                      </a:r>
                    </a:p>
                  </a:txBody>
                  <a:tcPr marL="73152" marR="73152" anchor="ctr">
                    <a:solidFill>
                      <a:srgbClr val="FCFAF6"/>
                    </a:solidFill>
                  </a:tcPr>
                </a:tc>
                <a:tc>
                  <a:txBody>
                    <a:bodyPr/>
                    <a:lstStyle/>
                    <a:p>
                      <a:r>
                        <a:rPr lang="en-US" sz="1800" b="0" dirty="0">
                          <a:solidFill>
                            <a:srgbClr val="555960"/>
                          </a:solidFill>
                          <a:latin typeface="Calibri"/>
                        </a:rPr>
                        <a:t>Product </a:t>
                      </a:r>
                      <a:r>
                        <a:rPr lang="en-US" sz="1800" b="0" dirty="0">
                          <a:solidFill>
                            <a:srgbClr val="555960"/>
                          </a:solidFill>
                          <a:latin typeface="Calibri"/>
                          <a:sym typeface="Wingdings" pitchFamily="2" charset="2"/>
                        </a:rPr>
                        <a:t> </a:t>
                      </a:r>
                      <a:r>
                        <a:rPr sz="1800" b="0" dirty="0">
                          <a:solidFill>
                            <a:srgbClr val="555960"/>
                          </a:solidFill>
                          <a:latin typeface="Calibri"/>
                        </a:rPr>
                        <a:t>software</a:t>
                      </a:r>
                      <a:r>
                        <a:rPr lang="en-US" sz="1800" b="0" dirty="0">
                          <a:solidFill>
                            <a:srgbClr val="555960"/>
                          </a:solidFill>
                          <a:latin typeface="Calibri"/>
                        </a:rPr>
                        <a:t> suite</a:t>
                      </a:r>
                      <a:endParaRPr sz="1800" b="0" dirty="0">
                        <a:solidFill>
                          <a:srgbClr val="555960"/>
                        </a:solidFill>
                        <a:latin typeface="Calibri"/>
                      </a:endParaRPr>
                    </a:p>
                  </a:txBody>
                  <a:tcPr marL="73152" marR="73152" anchor="ctr">
                    <a:solidFill>
                      <a:srgbClr val="FCFAF6"/>
                    </a:solidFill>
                  </a:tcPr>
                </a:tc>
                <a:extLst>
                  <a:ext uri="{0D108BD9-81ED-4DB2-BD59-A6C34878D82A}">
                    <a16:rowId xmlns:a16="http://schemas.microsoft.com/office/drawing/2014/main" val="10005"/>
                  </a:ext>
                </a:extLst>
              </a:tr>
              <a:tr h="603504">
                <a:tc>
                  <a:txBody>
                    <a:bodyPr/>
                    <a:lstStyle/>
                    <a:p>
                      <a:r>
                        <a:rPr sz="1800" b="1">
                          <a:solidFill>
                            <a:srgbClr val="5C4826"/>
                          </a:solidFill>
                          <a:latin typeface="Calibri"/>
                        </a:rPr>
                        <a:t>Feedback</a:t>
                      </a:r>
                    </a:p>
                  </a:txBody>
                  <a:tcPr marL="73152" marR="73152" anchor="ctr">
                    <a:solidFill>
                      <a:srgbClr val="F5F1E8"/>
                    </a:solidFill>
                  </a:tcPr>
                </a:tc>
                <a:tc>
                  <a:txBody>
                    <a:bodyPr/>
                    <a:lstStyle/>
                    <a:p>
                      <a:r>
                        <a:rPr sz="1800" b="0" dirty="0">
                          <a:solidFill>
                            <a:srgbClr val="555960"/>
                          </a:solidFill>
                          <a:latin typeface="Calibri"/>
                        </a:rPr>
                        <a:t>Do production signals return to the work queue?</a:t>
                      </a:r>
                    </a:p>
                  </a:txBody>
                  <a:tcPr marL="73152" marR="73152" anchor="ctr">
                    <a:solidFill>
                      <a:srgbClr val="F5F1E8"/>
                    </a:solidFill>
                  </a:tcPr>
                </a:tc>
                <a:tc>
                  <a:txBody>
                    <a:bodyPr/>
                    <a:lstStyle/>
                    <a:p>
                      <a:r>
                        <a:rPr sz="1800" b="0" dirty="0">
                          <a:solidFill>
                            <a:srgbClr val="555960"/>
                          </a:solidFill>
                          <a:latin typeface="Calibri"/>
                        </a:rPr>
                        <a:t>Never</a:t>
                      </a:r>
                      <a:r>
                        <a:rPr lang="en-US" sz="1800" b="0" dirty="0">
                          <a:solidFill>
                            <a:srgbClr val="555960"/>
                          </a:solidFill>
                          <a:latin typeface="Calibri"/>
                        </a:rPr>
                        <a:t> </a:t>
                      </a:r>
                      <a:r>
                        <a:rPr lang="en-US" sz="1800" b="0" dirty="0">
                          <a:solidFill>
                            <a:srgbClr val="555960"/>
                          </a:solidFill>
                          <a:latin typeface="Calibri"/>
                          <a:sym typeface="Wingdings" pitchFamily="2" charset="2"/>
                        </a:rPr>
                        <a:t> </a:t>
                      </a:r>
                      <a:r>
                        <a:rPr lang="en-US" sz="1800" b="0" dirty="0">
                          <a:solidFill>
                            <a:srgbClr val="555960"/>
                          </a:solidFill>
                          <a:latin typeface="Calibri"/>
                        </a:rPr>
                        <a:t>post</a:t>
                      </a:r>
                      <a:r>
                        <a:rPr sz="1800" b="0" dirty="0">
                          <a:solidFill>
                            <a:srgbClr val="555960"/>
                          </a:solidFill>
                          <a:latin typeface="Calibri"/>
                        </a:rPr>
                        <a:t> release</a:t>
                      </a:r>
                      <a:r>
                        <a:rPr lang="en-US" sz="1800" b="0" dirty="0">
                          <a:solidFill>
                            <a:srgbClr val="555960"/>
                          </a:solidFill>
                          <a:latin typeface="Calibri"/>
                        </a:rPr>
                        <a:t> </a:t>
                      </a:r>
                      <a:r>
                        <a:rPr lang="en-US" sz="1800" b="0" dirty="0">
                          <a:solidFill>
                            <a:srgbClr val="555960"/>
                          </a:solidFill>
                          <a:latin typeface="Calibri"/>
                          <a:sym typeface="Wingdings" pitchFamily="2" charset="2"/>
                        </a:rPr>
                        <a:t> </a:t>
                      </a:r>
                      <a:r>
                        <a:rPr sz="1800" b="0" dirty="0">
                          <a:solidFill>
                            <a:srgbClr val="555960"/>
                          </a:solidFill>
                          <a:latin typeface="Calibri"/>
                        </a:rPr>
                        <a:t> continuously</a:t>
                      </a:r>
                    </a:p>
                  </a:txBody>
                  <a:tcPr marL="73152" marR="73152" anchor="ctr">
                    <a:solidFill>
                      <a:srgbClr val="F5F1E8"/>
                    </a:solidFill>
                  </a:tcPr>
                </a:tc>
                <a:extLst>
                  <a:ext uri="{0D108BD9-81ED-4DB2-BD59-A6C34878D82A}">
                    <a16:rowId xmlns:a16="http://schemas.microsoft.com/office/drawing/2014/main" val="10006"/>
                  </a:ext>
                </a:extLst>
              </a:tr>
            </a:tbl>
          </a:graphicData>
        </a:graphic>
      </p:graphicFrame>
      <p:sp>
        <p:nvSpPr>
          <p:cNvPr id="4" name="Rectangle 3"/>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5" name="TextBox 4"/>
          <p:cNvSpPr txBox="1"/>
          <p:nvPr/>
        </p:nvSpPr>
        <p:spPr>
          <a:xfrm>
            <a:off x="384048" y="5897880"/>
            <a:ext cx="8375904" cy="466344"/>
          </a:xfrm>
          <a:prstGeom prst="rect">
            <a:avLst/>
          </a:prstGeom>
          <a:noFill/>
        </p:spPr>
        <p:txBody>
          <a:bodyPr wrap="square" lIns="27425" tIns="22850" rIns="27425" bIns="22850" anchor="ctr"/>
          <a:lstStyle/>
          <a:p>
            <a:pPr algn="ctr"/>
            <a:r>
              <a:rPr lang="en-US" sz="1800" b="1" dirty="0">
                <a:solidFill>
                  <a:srgbClr val="FFFFFF"/>
                </a:solidFill>
                <a:latin typeface="Calibri"/>
              </a:rPr>
              <a:t>Choices by software organizations in 2026 are still evolving.</a:t>
            </a:r>
            <a:endParaRPr sz="1800" b="1" i="0" dirty="0">
              <a:solidFill>
                <a:srgbClr val="FFFFFF"/>
              </a:solidFill>
              <a:latin typeface="Calibri"/>
            </a:endParaRPr>
          </a:p>
        </p:txBody>
      </p:sp>
      <p:sp>
        <p:nvSpPr>
          <p:cNvPr id="6" name="Rectangle 5">
            <a:extLst>
              <a:ext uri="{FF2B5EF4-FFF2-40B4-BE49-F238E27FC236}">
                <a16:creationId xmlns:a16="http://schemas.microsoft.com/office/drawing/2014/main" id="{6E3660FF-AB3D-9ACE-CC32-E998065AA958}"/>
              </a:ext>
            </a:extLst>
          </p:cNvPr>
          <p:cNvSpPr/>
          <p:nvPr/>
        </p:nvSpPr>
        <p:spPr>
          <a:xfrm>
            <a:off x="167640" y="4232910"/>
            <a:ext cx="8808720" cy="119862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D6F9733-D3F3-CA89-2C83-6B6CE4C1E000}"/>
              </a:ext>
            </a:extLst>
          </p:cNvPr>
          <p:cNvSpPr/>
          <p:nvPr/>
        </p:nvSpPr>
        <p:spPr>
          <a:xfrm>
            <a:off x="167640" y="2954274"/>
            <a:ext cx="8808720" cy="248640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Google Shape;129;p14"/>
          <p:cNvSpPr txBox="1"/>
          <p:nvPr/>
        </p:nvSpPr>
        <p:spPr>
          <a:xfrm>
            <a:off x="512064" y="2606040"/>
            <a:ext cx="8119872" cy="905256"/>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3800" b="0" i="0" u="none" strike="noStrike" cap="none" dirty="0">
                <a:solidFill>
                  <a:srgbClr val="2D2D2D"/>
                </a:solidFill>
                <a:latin typeface="Calibri"/>
                <a:ea typeface="Calibri"/>
                <a:cs typeface="Calibri"/>
                <a:sym typeface="Calibri"/>
              </a:rPr>
              <a:t>STRETCH BREAK</a:t>
            </a:r>
            <a:endParaRPr dirty="0"/>
          </a:p>
        </p:txBody>
      </p:sp>
      <p:cxnSp>
        <p:nvCxnSpPr>
          <p:cNvPr id="131" name="Google Shape;131;p14"/>
          <p:cNvCxnSpPr/>
          <p:nvPr/>
        </p:nvCxnSpPr>
        <p:spPr>
          <a:xfrm>
            <a:off x="3657600" y="3774440"/>
            <a:ext cx="1828800" cy="0"/>
          </a:xfrm>
          <a:prstGeom prst="straightConnector1">
            <a:avLst/>
          </a:prstGeom>
          <a:noFill/>
          <a:ln w="38100" cap="flat" cmpd="sng">
            <a:solidFill>
              <a:srgbClr val="8E6F3E"/>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Google Shape;128;p14"/>
          <p:cNvSpPr txBox="1"/>
          <p:nvPr/>
        </p:nvSpPr>
        <p:spPr>
          <a:xfrm>
            <a:off x="685800" y="2066543"/>
            <a:ext cx="7772400" cy="411480"/>
          </a:xfrm>
          <a:prstGeom prst="rect">
            <a:avLst/>
          </a:prstGeom>
          <a:noFill/>
          <a:ln>
            <a:noFill/>
          </a:ln>
        </p:spPr>
        <p:txBody>
          <a:bodyPr spcFirstLastPara="1" wrap="square" lIns="27425" tIns="22850" rIns="27425" bIns="22850" anchor="ctr" anchorCtr="0">
            <a:noAutofit/>
          </a:bodyPr>
          <a:lstStyle/>
          <a:p>
            <a:pPr marL="0" marR="0" lvl="0" indent="0" algn="ctr" rtl="0">
              <a:lnSpc>
                <a:spcPct val="104000"/>
              </a:lnSpc>
              <a:spcBef>
                <a:spcPts val="0"/>
              </a:spcBef>
              <a:spcAft>
                <a:spcPts val="0"/>
              </a:spcAft>
              <a:buNone/>
            </a:pPr>
            <a:r>
              <a:rPr lang="en-US" sz="1800" b="1">
                <a:solidFill>
                  <a:srgbClr val="8E6F3E"/>
                </a:solidFill>
                <a:latin typeface="Calibri"/>
                <a:ea typeface="Calibri"/>
                <a:cs typeface="Calibri"/>
                <a:sym typeface="Calibri"/>
              </a:rPr>
              <a:t>PART 3</a:t>
            </a:r>
            <a:endParaRPr sz="1600"/>
          </a:p>
        </p:txBody>
      </p:sp>
      <p:sp>
        <p:nvSpPr>
          <p:cNvPr id="129" name="Google Shape;129;p14"/>
          <p:cNvSpPr txBox="1"/>
          <p:nvPr/>
        </p:nvSpPr>
        <p:spPr>
          <a:xfrm>
            <a:off x="512064" y="2606040"/>
            <a:ext cx="8119872" cy="905256"/>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3800" b="0" i="0" u="none" strike="noStrike" cap="none">
                <a:solidFill>
                  <a:srgbClr val="2D2D2D"/>
                </a:solidFill>
                <a:latin typeface="Calibri"/>
                <a:ea typeface="Calibri"/>
                <a:cs typeface="Calibri"/>
                <a:sym typeface="Calibri"/>
              </a:rPr>
              <a:t>THREE FACTORIES</a:t>
            </a:r>
            <a:endParaRPr/>
          </a:p>
        </p:txBody>
      </p:sp>
      <p:sp>
        <p:nvSpPr>
          <p:cNvPr id="130" name="Google Shape;130;p14"/>
          <p:cNvSpPr txBox="1"/>
          <p:nvPr/>
        </p:nvSpPr>
        <p:spPr>
          <a:xfrm>
            <a:off x="685800" y="3625344"/>
            <a:ext cx="7772400" cy="750313"/>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2200" b="0" i="0" u="none" strike="noStrike" cap="none" dirty="0">
                <a:solidFill>
                  <a:srgbClr val="5C4826"/>
                </a:solidFill>
                <a:latin typeface="Calibri"/>
                <a:ea typeface="Calibri"/>
                <a:cs typeface="Calibri"/>
                <a:sym typeface="Calibri"/>
              </a:rPr>
              <a:t>Each case through one lens of </a:t>
            </a:r>
          </a:p>
          <a:p>
            <a:pPr marL="0" marR="0" lvl="0" indent="0" algn="ctr" rtl="0">
              <a:lnSpc>
                <a:spcPct val="104000"/>
              </a:lnSpc>
              <a:spcBef>
                <a:spcPts val="0"/>
              </a:spcBef>
              <a:spcAft>
                <a:spcPts val="0"/>
              </a:spcAft>
              <a:buNone/>
            </a:pPr>
            <a:r>
              <a:rPr lang="en-US" sz="2200" b="0" i="0" u="none" strike="noStrike" cap="none" dirty="0">
                <a:solidFill>
                  <a:srgbClr val="5C4826"/>
                </a:solidFill>
                <a:latin typeface="Calibri"/>
                <a:ea typeface="Calibri"/>
                <a:cs typeface="Calibri"/>
                <a:sym typeface="Calibri"/>
              </a:rPr>
              <a:t>Act II (Delegation and Control)</a:t>
            </a:r>
            <a:endParaRPr dirty="0"/>
          </a:p>
        </p:txBody>
      </p:sp>
      <p:cxnSp>
        <p:nvCxnSpPr>
          <p:cNvPr id="131" name="Google Shape;131;p14"/>
          <p:cNvCxnSpPr/>
          <p:nvPr/>
        </p:nvCxnSpPr>
        <p:spPr>
          <a:xfrm>
            <a:off x="3657600" y="4663440"/>
            <a:ext cx="1828800" cy="0"/>
          </a:xfrm>
          <a:prstGeom prst="straightConnector1">
            <a:avLst/>
          </a:prstGeom>
          <a:noFill/>
          <a:ln w="38100" cap="flat" cmpd="sng">
            <a:solidFill>
              <a:srgbClr val="8E6F3E"/>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Anthropic: a harness for work that spans sessions</a:t>
            </a:r>
          </a:p>
        </p:txBody>
      </p:sp>
      <p:sp>
        <p:nvSpPr>
          <p:cNvPr id="3" name="TextBox 2"/>
          <p:cNvSpPr txBox="1"/>
          <p:nvPr/>
        </p:nvSpPr>
        <p:spPr>
          <a:xfrm>
            <a:off x="411480" y="960120"/>
            <a:ext cx="5486400" cy="274320"/>
          </a:xfrm>
          <a:prstGeom prst="rect">
            <a:avLst/>
          </a:prstGeom>
          <a:noFill/>
        </p:spPr>
        <p:txBody>
          <a:bodyPr wrap="square" lIns="27425" tIns="22850" rIns="27425" bIns="22850" anchor="ctr"/>
          <a:lstStyle/>
          <a:p>
            <a:pPr algn="l"/>
            <a:r>
              <a:rPr sz="1300" b="1" i="0">
                <a:solidFill>
                  <a:srgbClr val="8E6F3E"/>
                </a:solidFill>
                <a:latin typeface="Calibri"/>
              </a:rPr>
              <a:t>ACT II LENS: MODELING</a:t>
            </a:r>
          </a:p>
        </p:txBody>
      </p:sp>
      <p:sp>
        <p:nvSpPr>
          <p:cNvPr id="4" name="Rectangle 3"/>
          <p:cNvSpPr/>
          <p:nvPr/>
        </p:nvSpPr>
        <p:spPr>
          <a:xfrm>
            <a:off x="411480" y="1325880"/>
            <a:ext cx="3017520" cy="3108960"/>
          </a:xfrm>
          <a:prstGeom prst="rect">
            <a:avLst/>
          </a:prstGeom>
          <a:solidFill>
            <a:srgbClr val="F5F1E8"/>
          </a:solidFill>
          <a:ln w="12700">
            <a:solidFill>
              <a:srgbClr val="CBB590"/>
            </a:solidFill>
          </a:ln>
        </p:spPr>
        <p:txBody>
          <a:bodyPr rtlCol="0" anchor="ctr"/>
          <a:lstStyle/>
          <a:p>
            <a:endParaRPr/>
          </a:p>
        </p:txBody>
      </p:sp>
      <p:sp>
        <p:nvSpPr>
          <p:cNvPr id="5" name="TextBox 4"/>
          <p:cNvSpPr txBox="1"/>
          <p:nvPr/>
        </p:nvSpPr>
        <p:spPr>
          <a:xfrm>
            <a:off x="557784" y="1417320"/>
            <a:ext cx="2724912" cy="274320"/>
          </a:xfrm>
          <a:prstGeom prst="rect">
            <a:avLst/>
          </a:prstGeom>
          <a:noFill/>
        </p:spPr>
        <p:txBody>
          <a:bodyPr wrap="square" lIns="27425" tIns="22850" rIns="27425" bIns="22850" anchor="ctr"/>
          <a:lstStyle/>
          <a:p>
            <a:pPr algn="l"/>
            <a:r>
              <a:rPr sz="1300" b="1" i="0">
                <a:solidFill>
                  <a:srgbClr val="8E6F3E"/>
                </a:solidFill>
                <a:latin typeface="Calibri"/>
              </a:rPr>
              <a:t>FAILURE MODES</a:t>
            </a:r>
          </a:p>
        </p:txBody>
      </p:sp>
      <p:sp>
        <p:nvSpPr>
          <p:cNvPr id="6" name="TextBox 5"/>
          <p:cNvSpPr txBox="1"/>
          <p:nvPr/>
        </p:nvSpPr>
        <p:spPr>
          <a:xfrm>
            <a:off x="557784" y="1709928"/>
            <a:ext cx="2724912" cy="411480"/>
          </a:xfrm>
          <a:prstGeom prst="rect">
            <a:avLst/>
          </a:prstGeom>
          <a:noFill/>
        </p:spPr>
        <p:txBody>
          <a:bodyPr wrap="square" lIns="27425" tIns="22850" rIns="27425" bIns="22850" anchor="ctr"/>
          <a:lstStyle/>
          <a:p>
            <a:pPr algn="l"/>
            <a:r>
              <a:rPr sz="1900" b="1" i="0">
                <a:solidFill>
                  <a:srgbClr val="5C4826"/>
                </a:solidFill>
                <a:latin typeface="Calibri"/>
              </a:rPr>
              <a:t>Without a harness</a:t>
            </a:r>
          </a:p>
        </p:txBody>
      </p:sp>
      <p:sp>
        <p:nvSpPr>
          <p:cNvPr id="7" name="TextBox 6"/>
          <p:cNvSpPr txBox="1"/>
          <p:nvPr/>
        </p:nvSpPr>
        <p:spPr>
          <a:xfrm>
            <a:off x="557784" y="2167128"/>
            <a:ext cx="2337816" cy="2194559"/>
          </a:xfrm>
          <a:prstGeom prst="rect">
            <a:avLst/>
          </a:prstGeom>
          <a:noFill/>
        </p:spPr>
        <p:txBody>
          <a:bodyPr wrap="square" lIns="27425" tIns="22850" rIns="27425" bIns="22850" anchor="t"/>
          <a:lstStyle/>
          <a:p>
            <a:pPr algn="l">
              <a:spcAft>
                <a:spcPts val="400"/>
              </a:spcAft>
            </a:pPr>
            <a:r>
              <a:rPr sz="1600" b="0" i="0" dirty="0">
                <a:solidFill>
                  <a:srgbClr val="555960"/>
                </a:solidFill>
                <a:latin typeface="Calibri"/>
              </a:rPr>
              <a:t>Tries to build too much in one session</a:t>
            </a:r>
          </a:p>
          <a:p>
            <a:pPr algn="l">
              <a:spcAft>
                <a:spcPts val="400"/>
              </a:spcAft>
            </a:pPr>
            <a:r>
              <a:rPr sz="1600" b="0" i="0" dirty="0">
                <a:solidFill>
                  <a:srgbClr val="555960"/>
                </a:solidFill>
                <a:latin typeface="Calibri"/>
              </a:rPr>
              <a:t>Declares the work finished too early</a:t>
            </a:r>
          </a:p>
          <a:p>
            <a:pPr algn="l"/>
            <a:r>
              <a:rPr sz="1600" b="0" i="0" dirty="0">
                <a:solidFill>
                  <a:srgbClr val="555960"/>
                </a:solidFill>
                <a:latin typeface="Calibri"/>
              </a:rPr>
              <a:t>Starts every session with no memory of the last</a:t>
            </a:r>
          </a:p>
        </p:txBody>
      </p:sp>
      <p:sp>
        <p:nvSpPr>
          <p:cNvPr id="8" name="Rectangle 7"/>
          <p:cNvSpPr/>
          <p:nvPr/>
        </p:nvSpPr>
        <p:spPr>
          <a:xfrm>
            <a:off x="3703320" y="1325880"/>
            <a:ext cx="5029200" cy="3108960"/>
          </a:xfrm>
          <a:prstGeom prst="rect">
            <a:avLst/>
          </a:prstGeom>
          <a:solidFill>
            <a:srgbClr val="FCFAF6"/>
          </a:solidFill>
          <a:ln w="12700">
            <a:solidFill>
              <a:srgbClr val="CBB590"/>
            </a:solidFill>
          </a:ln>
        </p:spPr>
        <p:txBody>
          <a:bodyPr rtlCol="0" anchor="ctr"/>
          <a:lstStyle/>
          <a:p>
            <a:endParaRPr/>
          </a:p>
        </p:txBody>
      </p:sp>
      <p:sp>
        <p:nvSpPr>
          <p:cNvPr id="9" name="TextBox 8"/>
          <p:cNvSpPr txBox="1"/>
          <p:nvPr/>
        </p:nvSpPr>
        <p:spPr>
          <a:xfrm>
            <a:off x="3849624" y="1417320"/>
            <a:ext cx="4754880" cy="274320"/>
          </a:xfrm>
          <a:prstGeom prst="rect">
            <a:avLst/>
          </a:prstGeom>
          <a:noFill/>
        </p:spPr>
        <p:txBody>
          <a:bodyPr wrap="square" lIns="27425" tIns="22850" rIns="27425" bIns="22850" anchor="ctr"/>
          <a:lstStyle/>
          <a:p>
            <a:pPr algn="l"/>
            <a:r>
              <a:rPr sz="1300" b="1" i="0">
                <a:solidFill>
                  <a:srgbClr val="8E6F3E"/>
                </a:solidFill>
                <a:latin typeface="Calibri"/>
              </a:rPr>
              <a:t>THE FIX</a:t>
            </a:r>
          </a:p>
        </p:txBody>
      </p:sp>
      <p:sp>
        <p:nvSpPr>
          <p:cNvPr id="10" name="Rectangle 9"/>
          <p:cNvSpPr/>
          <p:nvPr/>
        </p:nvSpPr>
        <p:spPr>
          <a:xfrm>
            <a:off x="3886200" y="1783080"/>
            <a:ext cx="4663440" cy="731520"/>
          </a:xfrm>
          <a:prstGeom prst="rect">
            <a:avLst/>
          </a:prstGeom>
          <a:solidFill>
            <a:srgbClr val="F5F1E8"/>
          </a:solidFill>
          <a:ln>
            <a:noFill/>
          </a:ln>
        </p:spPr>
        <p:txBody>
          <a:bodyPr rtlCol="0" anchor="ctr"/>
          <a:lstStyle/>
          <a:p>
            <a:endParaRPr sz="1800"/>
          </a:p>
        </p:txBody>
      </p:sp>
      <p:sp>
        <p:nvSpPr>
          <p:cNvPr id="11" name="TextBox 10"/>
          <p:cNvSpPr txBox="1"/>
          <p:nvPr/>
        </p:nvSpPr>
        <p:spPr>
          <a:xfrm>
            <a:off x="3977639" y="1828800"/>
            <a:ext cx="4480560" cy="685800"/>
          </a:xfrm>
          <a:prstGeom prst="rect">
            <a:avLst/>
          </a:prstGeom>
          <a:noFill/>
        </p:spPr>
        <p:txBody>
          <a:bodyPr wrap="square" lIns="27425" tIns="22850" rIns="27425" bIns="22850" anchor="t"/>
          <a:lstStyle/>
          <a:p>
            <a:pPr algn="l"/>
            <a:r>
              <a:rPr sz="1800" b="1" i="0" dirty="0">
                <a:solidFill>
                  <a:srgbClr val="5C4826"/>
                </a:solidFill>
                <a:latin typeface="Calibri"/>
              </a:rPr>
              <a:t>Initializer agent: </a:t>
            </a:r>
            <a:r>
              <a:rPr sz="1800" b="0" i="0" dirty="0">
                <a:solidFill>
                  <a:srgbClr val="555960"/>
                </a:solidFill>
                <a:latin typeface="Calibri"/>
              </a:rPr>
              <a:t>writes a feature list, a progress log, and an initial git commit.</a:t>
            </a:r>
          </a:p>
        </p:txBody>
      </p:sp>
      <p:sp>
        <p:nvSpPr>
          <p:cNvPr id="12" name="TextBox 11"/>
          <p:cNvSpPr txBox="1"/>
          <p:nvPr/>
        </p:nvSpPr>
        <p:spPr>
          <a:xfrm>
            <a:off x="5989320" y="2606040"/>
            <a:ext cx="548640" cy="457200"/>
          </a:xfrm>
          <a:prstGeom prst="rect">
            <a:avLst/>
          </a:prstGeom>
          <a:noFill/>
        </p:spPr>
        <p:txBody>
          <a:bodyPr wrap="square" lIns="27425" tIns="22850" rIns="27425" bIns="22850" anchor="t"/>
          <a:lstStyle/>
          <a:p>
            <a:pPr algn="ctr"/>
            <a:r>
              <a:rPr sz="2400" b="1" i="0" dirty="0">
                <a:solidFill>
                  <a:srgbClr val="8E6F3E"/>
                </a:solidFill>
                <a:latin typeface="Calibri"/>
              </a:rPr>
              <a:t>↓</a:t>
            </a:r>
          </a:p>
        </p:txBody>
      </p:sp>
      <p:sp>
        <p:nvSpPr>
          <p:cNvPr id="13" name="Rectangle 12"/>
          <p:cNvSpPr/>
          <p:nvPr/>
        </p:nvSpPr>
        <p:spPr>
          <a:xfrm>
            <a:off x="3886200" y="3108960"/>
            <a:ext cx="4663440" cy="731520"/>
          </a:xfrm>
          <a:prstGeom prst="rect">
            <a:avLst/>
          </a:prstGeom>
          <a:solidFill>
            <a:srgbClr val="F5F1E8"/>
          </a:solidFill>
          <a:ln>
            <a:noFill/>
          </a:ln>
        </p:spPr>
        <p:txBody>
          <a:bodyPr rtlCol="0" anchor="ctr"/>
          <a:lstStyle/>
          <a:p>
            <a:endParaRPr/>
          </a:p>
        </p:txBody>
      </p:sp>
      <p:sp>
        <p:nvSpPr>
          <p:cNvPr id="14" name="TextBox 13"/>
          <p:cNvSpPr txBox="1"/>
          <p:nvPr/>
        </p:nvSpPr>
        <p:spPr>
          <a:xfrm>
            <a:off x="3977639" y="3154680"/>
            <a:ext cx="4480560" cy="655320"/>
          </a:xfrm>
          <a:prstGeom prst="rect">
            <a:avLst/>
          </a:prstGeom>
          <a:noFill/>
        </p:spPr>
        <p:txBody>
          <a:bodyPr wrap="square" lIns="27425" tIns="22850" rIns="27425" bIns="22850" anchor="t"/>
          <a:lstStyle/>
          <a:p>
            <a:pPr algn="l"/>
            <a:r>
              <a:rPr sz="1800" b="1" i="0" dirty="0">
                <a:solidFill>
                  <a:srgbClr val="5C4826"/>
                </a:solidFill>
                <a:latin typeface="Calibri"/>
              </a:rPr>
              <a:t>Every later session: </a:t>
            </a:r>
            <a:r>
              <a:rPr sz="1800" b="0" i="0" dirty="0">
                <a:solidFill>
                  <a:srgbClr val="555960"/>
                </a:solidFill>
                <a:latin typeface="Calibri"/>
              </a:rPr>
              <a:t>builds one feature, tests it end to end, commits, and updates the log.</a:t>
            </a:r>
          </a:p>
        </p:txBody>
      </p:sp>
      <p:sp>
        <p:nvSpPr>
          <p:cNvPr id="15" name="TextBox 14"/>
          <p:cNvSpPr txBox="1"/>
          <p:nvPr/>
        </p:nvSpPr>
        <p:spPr>
          <a:xfrm>
            <a:off x="411480" y="4663440"/>
            <a:ext cx="8321040" cy="591312"/>
          </a:xfrm>
          <a:prstGeom prst="rect">
            <a:avLst/>
          </a:prstGeom>
          <a:noFill/>
        </p:spPr>
        <p:txBody>
          <a:bodyPr wrap="square" lIns="27425" tIns="22850" rIns="27425" bIns="22850" anchor="t"/>
          <a:lstStyle/>
          <a:p>
            <a:pPr algn="ctr"/>
            <a:r>
              <a:rPr sz="1700" b="1" i="0" dirty="0">
                <a:solidFill>
                  <a:srgbClr val="5C4826"/>
                </a:solidFill>
                <a:latin typeface="Calibri"/>
              </a:rPr>
              <a:t>The feature list and log are an explicit model of the work </a:t>
            </a:r>
            <a:endParaRPr lang="en-US" sz="1700" b="1" i="0" dirty="0">
              <a:solidFill>
                <a:srgbClr val="5C4826"/>
              </a:solidFill>
              <a:latin typeface="Calibri"/>
            </a:endParaRPr>
          </a:p>
          <a:p>
            <a:pPr algn="ctr"/>
            <a:r>
              <a:rPr sz="1700" b="1" i="0" dirty="0">
                <a:solidFill>
                  <a:srgbClr val="5C4826"/>
                </a:solidFill>
                <a:latin typeface="Calibri"/>
              </a:rPr>
              <a:t>that the agent reads at the start of each session.</a:t>
            </a:r>
          </a:p>
        </p:txBody>
      </p:sp>
      <p:sp>
        <p:nvSpPr>
          <p:cNvPr id="16" name="Rectangle 15"/>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17" name="TextBox 16"/>
          <p:cNvSpPr txBox="1"/>
          <p:nvPr/>
        </p:nvSpPr>
        <p:spPr>
          <a:xfrm>
            <a:off x="384048" y="5897880"/>
            <a:ext cx="8375904" cy="466344"/>
          </a:xfrm>
          <a:prstGeom prst="rect">
            <a:avLst/>
          </a:prstGeom>
          <a:noFill/>
        </p:spPr>
        <p:txBody>
          <a:bodyPr wrap="square" lIns="27425" tIns="22850" rIns="27425" bIns="22850" anchor="ctr"/>
          <a:lstStyle/>
          <a:p>
            <a:pPr algn="ctr"/>
            <a:r>
              <a:rPr sz="1600" b="1" i="0" dirty="0">
                <a:solidFill>
                  <a:srgbClr val="FFFFFF"/>
                </a:solidFill>
                <a:latin typeface="Calibri"/>
              </a:rPr>
              <a:t>AGENTS.md </a:t>
            </a:r>
            <a:r>
              <a:rPr lang="en-US" sz="1600" b="1" dirty="0">
                <a:solidFill>
                  <a:srgbClr val="FFFFFF"/>
                </a:solidFill>
                <a:latin typeface="Calibri"/>
              </a:rPr>
              <a:t>preserves</a:t>
            </a:r>
            <a:r>
              <a:rPr sz="1600" b="1" i="0" dirty="0">
                <a:solidFill>
                  <a:srgbClr val="FFFFFF"/>
                </a:solidFill>
                <a:latin typeface="Calibri"/>
              </a:rPr>
              <a:t> rules between sessions</a:t>
            </a:r>
            <a:r>
              <a:rPr lang="en-US" sz="1600" b="1" dirty="0">
                <a:solidFill>
                  <a:srgbClr val="FFFFFF"/>
                </a:solidFill>
                <a:latin typeface="Calibri"/>
              </a:rPr>
              <a:t> but not </a:t>
            </a:r>
            <a:r>
              <a:rPr sz="1600" b="1" i="0" dirty="0">
                <a:solidFill>
                  <a:srgbClr val="FFFFFF"/>
                </a:solidFill>
                <a:latin typeface="Calibri"/>
              </a:rPr>
              <a:t>progress.</a:t>
            </a:r>
          </a:p>
        </p:txBody>
      </p:sp>
      <p:sp>
        <p:nvSpPr>
          <p:cNvPr id="18" name="TextBox 17">
            <a:extLst>
              <a:ext uri="{FF2B5EF4-FFF2-40B4-BE49-F238E27FC236}">
                <a16:creationId xmlns:a16="http://schemas.microsoft.com/office/drawing/2014/main" id="{E0CD9D72-E0A1-DEC8-80DA-DAAD3D17FB29}"/>
              </a:ext>
            </a:extLst>
          </p:cNvPr>
          <p:cNvSpPr txBox="1"/>
          <p:nvPr/>
        </p:nvSpPr>
        <p:spPr>
          <a:xfrm>
            <a:off x="226314" y="6452985"/>
            <a:ext cx="6187186" cy="276999"/>
          </a:xfrm>
          <a:prstGeom prst="rect">
            <a:avLst/>
          </a:prstGeom>
          <a:noFill/>
        </p:spPr>
        <p:txBody>
          <a:bodyPr wrap="square">
            <a:spAutoFit/>
          </a:bodyPr>
          <a:lstStyle/>
          <a:p>
            <a:r>
              <a:rPr lang="en-US" sz="1200" i="1" dirty="0"/>
              <a:t>Source: https://</a:t>
            </a:r>
            <a:r>
              <a:rPr lang="en-US" sz="1200" i="1" dirty="0" err="1"/>
              <a:t>launchdarkly.com</a:t>
            </a:r>
            <a:r>
              <a:rPr lang="en-US" sz="1200" i="1" dirty="0"/>
              <a:t>/blog/building-a-software-factory-on-our-scariest-code/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2" grpId="0"/>
      <p:bldP spid="13" grpId="0" animBg="1"/>
      <p:bldP spid="14" grpId="0"/>
      <p:bldP spid="15" grpId="0"/>
      <p:bldP spid="16" grpId="0" animBg="1"/>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LaunchDarkly: rewriting the scariest code</a:t>
            </a:r>
          </a:p>
        </p:txBody>
      </p:sp>
      <p:sp>
        <p:nvSpPr>
          <p:cNvPr id="3" name="TextBox 2"/>
          <p:cNvSpPr txBox="1"/>
          <p:nvPr/>
        </p:nvSpPr>
        <p:spPr>
          <a:xfrm>
            <a:off x="411480" y="960120"/>
            <a:ext cx="5486400" cy="274320"/>
          </a:xfrm>
          <a:prstGeom prst="rect">
            <a:avLst/>
          </a:prstGeom>
          <a:noFill/>
        </p:spPr>
        <p:txBody>
          <a:bodyPr wrap="square" lIns="27425" tIns="22850" rIns="27425" bIns="22850" anchor="ctr"/>
          <a:lstStyle/>
          <a:p>
            <a:pPr algn="l"/>
            <a:r>
              <a:rPr sz="1300" b="1" i="0">
                <a:solidFill>
                  <a:srgbClr val="8E6F3E"/>
                </a:solidFill>
                <a:latin typeface="Calibri"/>
              </a:rPr>
              <a:t>ACT II LENS: FAILURE AWARENESS</a:t>
            </a:r>
          </a:p>
        </p:txBody>
      </p:sp>
      <p:sp>
        <p:nvSpPr>
          <p:cNvPr id="4" name="Rectangle 3"/>
          <p:cNvSpPr/>
          <p:nvPr/>
        </p:nvSpPr>
        <p:spPr>
          <a:xfrm>
            <a:off x="411480" y="1325880"/>
            <a:ext cx="1938528" cy="1234440"/>
          </a:xfrm>
          <a:prstGeom prst="rect">
            <a:avLst/>
          </a:prstGeom>
          <a:solidFill>
            <a:srgbClr val="F5F1E8"/>
          </a:solidFill>
          <a:ln>
            <a:noFill/>
          </a:ln>
        </p:spPr>
        <p:txBody>
          <a:bodyPr rtlCol="0" anchor="ctr"/>
          <a:lstStyle/>
          <a:p>
            <a:endParaRPr/>
          </a:p>
        </p:txBody>
      </p:sp>
      <p:sp>
        <p:nvSpPr>
          <p:cNvPr id="5" name="TextBox 4"/>
          <p:cNvSpPr txBox="1"/>
          <p:nvPr/>
        </p:nvSpPr>
        <p:spPr>
          <a:xfrm>
            <a:off x="411480" y="1371600"/>
            <a:ext cx="1938528" cy="640080"/>
          </a:xfrm>
          <a:prstGeom prst="rect">
            <a:avLst/>
          </a:prstGeom>
          <a:noFill/>
        </p:spPr>
        <p:txBody>
          <a:bodyPr wrap="square" lIns="27425" tIns="22850" rIns="27425" bIns="22850" anchor="ctr"/>
          <a:lstStyle/>
          <a:p>
            <a:pPr algn="ctr"/>
            <a:r>
              <a:rPr sz="3000" b="1" i="0">
                <a:solidFill>
                  <a:srgbClr val="8E6F3E"/>
                </a:solidFill>
                <a:latin typeface="Calibri"/>
              </a:rPr>
              <a:t>66K</a:t>
            </a:r>
          </a:p>
        </p:txBody>
      </p:sp>
      <p:sp>
        <p:nvSpPr>
          <p:cNvPr id="6" name="TextBox 5"/>
          <p:cNvSpPr txBox="1"/>
          <p:nvPr/>
        </p:nvSpPr>
        <p:spPr>
          <a:xfrm>
            <a:off x="484632" y="1993392"/>
            <a:ext cx="1792224" cy="502920"/>
          </a:xfrm>
          <a:prstGeom prst="rect">
            <a:avLst/>
          </a:prstGeom>
          <a:noFill/>
        </p:spPr>
        <p:txBody>
          <a:bodyPr wrap="square" lIns="27425" tIns="22850" rIns="27425" bIns="22850" anchor="t"/>
          <a:lstStyle/>
          <a:p>
            <a:pPr algn="ctr"/>
            <a:r>
              <a:rPr sz="1600" b="0" i="0" dirty="0">
                <a:solidFill>
                  <a:srgbClr val="555960"/>
                </a:solidFill>
                <a:latin typeface="Calibri"/>
              </a:rPr>
              <a:t>lines of legacy React</a:t>
            </a:r>
          </a:p>
        </p:txBody>
      </p:sp>
      <p:sp>
        <p:nvSpPr>
          <p:cNvPr id="7" name="Rectangle 6"/>
          <p:cNvSpPr/>
          <p:nvPr/>
        </p:nvSpPr>
        <p:spPr>
          <a:xfrm>
            <a:off x="2542032" y="1325880"/>
            <a:ext cx="1938528" cy="1234440"/>
          </a:xfrm>
          <a:prstGeom prst="rect">
            <a:avLst/>
          </a:prstGeom>
          <a:solidFill>
            <a:srgbClr val="F5F1E8"/>
          </a:solidFill>
          <a:ln>
            <a:noFill/>
          </a:ln>
        </p:spPr>
        <p:txBody>
          <a:bodyPr rtlCol="0" anchor="ctr"/>
          <a:lstStyle/>
          <a:p>
            <a:endParaRPr/>
          </a:p>
        </p:txBody>
      </p:sp>
      <p:sp>
        <p:nvSpPr>
          <p:cNvPr id="8" name="TextBox 7"/>
          <p:cNvSpPr txBox="1"/>
          <p:nvPr/>
        </p:nvSpPr>
        <p:spPr>
          <a:xfrm>
            <a:off x="2542032" y="1371600"/>
            <a:ext cx="1938528" cy="640080"/>
          </a:xfrm>
          <a:prstGeom prst="rect">
            <a:avLst/>
          </a:prstGeom>
          <a:noFill/>
        </p:spPr>
        <p:txBody>
          <a:bodyPr wrap="square" lIns="27425" tIns="22850" rIns="27425" bIns="22850" anchor="ctr"/>
          <a:lstStyle/>
          <a:p>
            <a:pPr algn="ctr"/>
            <a:r>
              <a:rPr sz="3000" b="1" i="0">
                <a:solidFill>
                  <a:srgbClr val="8E6F3E"/>
                </a:solidFill>
                <a:latin typeface="Calibri"/>
              </a:rPr>
              <a:t>6</a:t>
            </a:r>
          </a:p>
        </p:txBody>
      </p:sp>
      <p:sp>
        <p:nvSpPr>
          <p:cNvPr id="9" name="TextBox 8"/>
          <p:cNvSpPr txBox="1"/>
          <p:nvPr/>
        </p:nvSpPr>
        <p:spPr>
          <a:xfrm>
            <a:off x="2615184" y="1993392"/>
            <a:ext cx="1792224" cy="502920"/>
          </a:xfrm>
          <a:prstGeom prst="rect">
            <a:avLst/>
          </a:prstGeom>
          <a:noFill/>
        </p:spPr>
        <p:txBody>
          <a:bodyPr wrap="square" lIns="27425" tIns="22850" rIns="27425" bIns="22850" anchor="t"/>
          <a:lstStyle/>
          <a:p>
            <a:pPr algn="ctr"/>
            <a:r>
              <a:rPr sz="1600" b="0" i="0">
                <a:solidFill>
                  <a:srgbClr val="555960"/>
                </a:solidFill>
                <a:latin typeface="Calibri"/>
              </a:rPr>
              <a:t>weeks, two engineers</a:t>
            </a:r>
          </a:p>
        </p:txBody>
      </p:sp>
      <p:sp>
        <p:nvSpPr>
          <p:cNvPr id="10" name="Rectangle 9"/>
          <p:cNvSpPr/>
          <p:nvPr/>
        </p:nvSpPr>
        <p:spPr>
          <a:xfrm>
            <a:off x="4672584" y="1325880"/>
            <a:ext cx="1938528" cy="1234440"/>
          </a:xfrm>
          <a:prstGeom prst="rect">
            <a:avLst/>
          </a:prstGeom>
          <a:solidFill>
            <a:srgbClr val="F5F1E8"/>
          </a:solidFill>
          <a:ln>
            <a:noFill/>
          </a:ln>
        </p:spPr>
        <p:txBody>
          <a:bodyPr rtlCol="0" anchor="ctr"/>
          <a:lstStyle/>
          <a:p>
            <a:endParaRPr/>
          </a:p>
        </p:txBody>
      </p:sp>
      <p:sp>
        <p:nvSpPr>
          <p:cNvPr id="11" name="TextBox 10"/>
          <p:cNvSpPr txBox="1"/>
          <p:nvPr/>
        </p:nvSpPr>
        <p:spPr>
          <a:xfrm>
            <a:off x="4672584" y="1371600"/>
            <a:ext cx="1938528" cy="640080"/>
          </a:xfrm>
          <a:prstGeom prst="rect">
            <a:avLst/>
          </a:prstGeom>
          <a:noFill/>
        </p:spPr>
        <p:txBody>
          <a:bodyPr wrap="square" lIns="27425" tIns="22850" rIns="27425" bIns="22850" anchor="ctr"/>
          <a:lstStyle/>
          <a:p>
            <a:pPr algn="ctr"/>
            <a:r>
              <a:rPr sz="3000" b="1" i="0">
                <a:solidFill>
                  <a:srgbClr val="8E6F3E"/>
                </a:solidFill>
                <a:latin typeface="Calibri"/>
              </a:rPr>
              <a:t>$7K</a:t>
            </a:r>
          </a:p>
        </p:txBody>
      </p:sp>
      <p:sp>
        <p:nvSpPr>
          <p:cNvPr id="12" name="TextBox 11"/>
          <p:cNvSpPr txBox="1"/>
          <p:nvPr/>
        </p:nvSpPr>
        <p:spPr>
          <a:xfrm>
            <a:off x="4745736" y="1993392"/>
            <a:ext cx="1792224" cy="502920"/>
          </a:xfrm>
          <a:prstGeom prst="rect">
            <a:avLst/>
          </a:prstGeom>
          <a:noFill/>
        </p:spPr>
        <p:txBody>
          <a:bodyPr wrap="square" lIns="27425" tIns="22850" rIns="27425" bIns="22850" anchor="t"/>
          <a:lstStyle/>
          <a:p>
            <a:pPr algn="ctr"/>
            <a:r>
              <a:rPr sz="1600" b="0" i="0" dirty="0">
                <a:solidFill>
                  <a:srgbClr val="555960"/>
                </a:solidFill>
                <a:latin typeface="Calibri"/>
              </a:rPr>
              <a:t>of a $10K budget</a:t>
            </a:r>
          </a:p>
        </p:txBody>
      </p:sp>
      <p:sp>
        <p:nvSpPr>
          <p:cNvPr id="13" name="Rectangle 12"/>
          <p:cNvSpPr/>
          <p:nvPr/>
        </p:nvSpPr>
        <p:spPr>
          <a:xfrm>
            <a:off x="6803136" y="1325880"/>
            <a:ext cx="1938528" cy="1234440"/>
          </a:xfrm>
          <a:prstGeom prst="rect">
            <a:avLst/>
          </a:prstGeom>
          <a:solidFill>
            <a:srgbClr val="F5F1E8"/>
          </a:solidFill>
          <a:ln>
            <a:noFill/>
          </a:ln>
        </p:spPr>
        <p:txBody>
          <a:bodyPr rtlCol="0" anchor="ctr"/>
          <a:lstStyle/>
          <a:p>
            <a:endParaRPr/>
          </a:p>
        </p:txBody>
      </p:sp>
      <p:sp>
        <p:nvSpPr>
          <p:cNvPr id="14" name="TextBox 13"/>
          <p:cNvSpPr txBox="1"/>
          <p:nvPr/>
        </p:nvSpPr>
        <p:spPr>
          <a:xfrm>
            <a:off x="6803136" y="1371600"/>
            <a:ext cx="1938528" cy="640080"/>
          </a:xfrm>
          <a:prstGeom prst="rect">
            <a:avLst/>
          </a:prstGeom>
          <a:noFill/>
        </p:spPr>
        <p:txBody>
          <a:bodyPr wrap="square" lIns="27425" tIns="22850" rIns="27425" bIns="22850" anchor="ctr"/>
          <a:lstStyle/>
          <a:p>
            <a:pPr algn="ctr"/>
            <a:r>
              <a:rPr sz="3000" b="1" i="0">
                <a:solidFill>
                  <a:srgbClr val="8E6F3E"/>
                </a:solidFill>
                <a:latin typeface="Calibri"/>
              </a:rPr>
              <a:t>22 → 34</a:t>
            </a:r>
          </a:p>
        </p:txBody>
      </p:sp>
      <p:sp>
        <p:nvSpPr>
          <p:cNvPr id="15" name="TextBox 14"/>
          <p:cNvSpPr txBox="1"/>
          <p:nvPr/>
        </p:nvSpPr>
        <p:spPr>
          <a:xfrm>
            <a:off x="6876288" y="1993392"/>
            <a:ext cx="1792224" cy="502920"/>
          </a:xfrm>
          <a:prstGeom prst="rect">
            <a:avLst/>
          </a:prstGeom>
          <a:noFill/>
        </p:spPr>
        <p:txBody>
          <a:bodyPr wrap="square" lIns="27425" tIns="22850" rIns="27425" bIns="22850" anchor="t"/>
          <a:lstStyle/>
          <a:p>
            <a:pPr algn="ctr"/>
            <a:r>
              <a:rPr sz="1600" b="0" i="0">
                <a:solidFill>
                  <a:srgbClr val="555960"/>
                </a:solidFill>
                <a:latin typeface="Calibri"/>
              </a:rPr>
              <a:t>phases as gaps appeared</a:t>
            </a:r>
          </a:p>
        </p:txBody>
      </p:sp>
      <p:sp>
        <p:nvSpPr>
          <p:cNvPr id="16" name="Rectangle 15"/>
          <p:cNvSpPr/>
          <p:nvPr/>
        </p:nvSpPr>
        <p:spPr>
          <a:xfrm>
            <a:off x="411480" y="2788920"/>
            <a:ext cx="4023360" cy="2743200"/>
          </a:xfrm>
          <a:prstGeom prst="rect">
            <a:avLst/>
          </a:prstGeom>
          <a:solidFill>
            <a:srgbClr val="FCFAF6"/>
          </a:solidFill>
          <a:ln w="12700">
            <a:solidFill>
              <a:srgbClr val="CBB590"/>
            </a:solidFill>
          </a:ln>
        </p:spPr>
        <p:txBody>
          <a:bodyPr rtlCol="0" anchor="ctr"/>
          <a:lstStyle/>
          <a:p>
            <a:endParaRPr/>
          </a:p>
        </p:txBody>
      </p:sp>
      <p:sp>
        <p:nvSpPr>
          <p:cNvPr id="17" name="TextBox 16"/>
          <p:cNvSpPr txBox="1"/>
          <p:nvPr/>
        </p:nvSpPr>
        <p:spPr>
          <a:xfrm>
            <a:off x="557784" y="2880360"/>
            <a:ext cx="3730752" cy="274320"/>
          </a:xfrm>
          <a:prstGeom prst="rect">
            <a:avLst/>
          </a:prstGeom>
          <a:noFill/>
        </p:spPr>
        <p:txBody>
          <a:bodyPr wrap="square" lIns="27425" tIns="22850" rIns="27425" bIns="22850" anchor="ctr"/>
          <a:lstStyle/>
          <a:p>
            <a:pPr algn="l"/>
            <a:r>
              <a:rPr sz="1300" b="1" i="0">
                <a:solidFill>
                  <a:srgbClr val="8E6F3E"/>
                </a:solidFill>
                <a:latin typeface="Calibri"/>
              </a:rPr>
              <a:t>WHAT FAILED</a:t>
            </a:r>
          </a:p>
        </p:txBody>
      </p:sp>
      <p:sp>
        <p:nvSpPr>
          <p:cNvPr id="18" name="TextBox 17"/>
          <p:cNvSpPr txBox="1"/>
          <p:nvPr/>
        </p:nvSpPr>
        <p:spPr>
          <a:xfrm>
            <a:off x="557784" y="3172968"/>
            <a:ext cx="3730752" cy="411480"/>
          </a:xfrm>
          <a:prstGeom prst="rect">
            <a:avLst/>
          </a:prstGeom>
          <a:noFill/>
        </p:spPr>
        <p:txBody>
          <a:bodyPr wrap="square" lIns="27425" tIns="22850" rIns="27425" bIns="22850" anchor="ctr"/>
          <a:lstStyle/>
          <a:p>
            <a:pPr algn="l"/>
            <a:r>
              <a:rPr sz="1900" b="1" i="0">
                <a:solidFill>
                  <a:srgbClr val="5C4826"/>
                </a:solidFill>
                <a:latin typeface="Calibri"/>
              </a:rPr>
              <a:t>Full autonomy</a:t>
            </a:r>
          </a:p>
        </p:txBody>
      </p:sp>
      <p:sp>
        <p:nvSpPr>
          <p:cNvPr id="19" name="TextBox 18"/>
          <p:cNvSpPr txBox="1"/>
          <p:nvPr/>
        </p:nvSpPr>
        <p:spPr>
          <a:xfrm>
            <a:off x="557784" y="3630168"/>
            <a:ext cx="3730752" cy="1828800"/>
          </a:xfrm>
          <a:prstGeom prst="rect">
            <a:avLst/>
          </a:prstGeom>
          <a:noFill/>
        </p:spPr>
        <p:txBody>
          <a:bodyPr wrap="square" lIns="27425" tIns="22850" rIns="27425" bIns="22850" anchor="t"/>
          <a:lstStyle/>
          <a:p>
            <a:pPr algn="l">
              <a:spcAft>
                <a:spcPts val="400"/>
              </a:spcAft>
            </a:pPr>
            <a:r>
              <a:rPr sz="1600" b="0" i="0">
                <a:solidFill>
                  <a:srgbClr val="555960"/>
                </a:solidFill>
                <a:latin typeface="Calibri"/>
              </a:rPr>
              <a:t>Parallel agents produced 36K lines fast, far from done.</a:t>
            </a:r>
          </a:p>
          <a:p>
            <a:pPr algn="l"/>
            <a:r>
              <a:rPr sz="1600" b="0" i="0">
                <a:solidFill>
                  <a:srgbClr val="555960"/>
                </a:solidFill>
                <a:latin typeface="Calibri"/>
              </a:rPr>
              <a:t>Effort went into orchestrating agents, not into the goal.</a:t>
            </a:r>
          </a:p>
        </p:txBody>
      </p:sp>
      <p:sp>
        <p:nvSpPr>
          <p:cNvPr id="20" name="Rectangle 19"/>
          <p:cNvSpPr/>
          <p:nvPr/>
        </p:nvSpPr>
        <p:spPr>
          <a:xfrm>
            <a:off x="4709160" y="2788920"/>
            <a:ext cx="4023360" cy="2743200"/>
          </a:xfrm>
          <a:prstGeom prst="rect">
            <a:avLst/>
          </a:prstGeom>
          <a:solidFill>
            <a:srgbClr val="F5F1E8"/>
          </a:solidFill>
          <a:ln w="12700">
            <a:solidFill>
              <a:srgbClr val="CBB590"/>
            </a:solidFill>
          </a:ln>
        </p:spPr>
        <p:txBody>
          <a:bodyPr rtlCol="0" anchor="ctr"/>
          <a:lstStyle/>
          <a:p>
            <a:endParaRPr/>
          </a:p>
        </p:txBody>
      </p:sp>
      <p:sp>
        <p:nvSpPr>
          <p:cNvPr id="21" name="TextBox 20"/>
          <p:cNvSpPr txBox="1"/>
          <p:nvPr/>
        </p:nvSpPr>
        <p:spPr>
          <a:xfrm>
            <a:off x="4855464" y="2880360"/>
            <a:ext cx="3730752" cy="274320"/>
          </a:xfrm>
          <a:prstGeom prst="rect">
            <a:avLst/>
          </a:prstGeom>
          <a:noFill/>
        </p:spPr>
        <p:txBody>
          <a:bodyPr wrap="square" lIns="27425" tIns="22850" rIns="27425" bIns="22850" anchor="ctr"/>
          <a:lstStyle/>
          <a:p>
            <a:pPr algn="l"/>
            <a:r>
              <a:rPr sz="1300" b="1" i="0">
                <a:solidFill>
                  <a:srgbClr val="8E6F3E"/>
                </a:solidFill>
                <a:latin typeface="Calibri"/>
              </a:rPr>
              <a:t>WHAT WORKED</a:t>
            </a:r>
          </a:p>
        </p:txBody>
      </p:sp>
      <p:sp>
        <p:nvSpPr>
          <p:cNvPr id="22" name="TextBox 21"/>
          <p:cNvSpPr txBox="1"/>
          <p:nvPr/>
        </p:nvSpPr>
        <p:spPr>
          <a:xfrm>
            <a:off x="4855464" y="3172968"/>
            <a:ext cx="3730752" cy="411480"/>
          </a:xfrm>
          <a:prstGeom prst="rect">
            <a:avLst/>
          </a:prstGeom>
          <a:noFill/>
        </p:spPr>
        <p:txBody>
          <a:bodyPr wrap="square" lIns="27425" tIns="22850" rIns="27425" bIns="22850" anchor="ctr"/>
          <a:lstStyle/>
          <a:p>
            <a:pPr algn="l"/>
            <a:r>
              <a:rPr sz="1900" b="1" i="0">
                <a:solidFill>
                  <a:srgbClr val="5C4826"/>
                </a:solidFill>
                <a:latin typeface="Calibri"/>
              </a:rPr>
              <a:t>Phases with a human steering</a:t>
            </a:r>
          </a:p>
        </p:txBody>
      </p:sp>
      <p:sp>
        <p:nvSpPr>
          <p:cNvPr id="23" name="TextBox 22"/>
          <p:cNvSpPr txBox="1"/>
          <p:nvPr/>
        </p:nvSpPr>
        <p:spPr>
          <a:xfrm>
            <a:off x="4855464" y="3630168"/>
            <a:ext cx="3730752" cy="1828800"/>
          </a:xfrm>
          <a:prstGeom prst="rect">
            <a:avLst/>
          </a:prstGeom>
          <a:noFill/>
        </p:spPr>
        <p:txBody>
          <a:bodyPr wrap="square" lIns="27425" tIns="22850" rIns="27425" bIns="22850" anchor="t"/>
          <a:lstStyle/>
          <a:p>
            <a:pPr algn="l">
              <a:spcAft>
                <a:spcPts val="400"/>
              </a:spcAft>
            </a:pPr>
            <a:r>
              <a:rPr sz="1600" b="0" i="0">
                <a:solidFill>
                  <a:srgbClr val="555960"/>
                </a:solidFill>
                <a:latin typeface="Calibri"/>
              </a:rPr>
              <a:t>The old code served as the spec.</a:t>
            </a:r>
          </a:p>
          <a:p>
            <a:pPr algn="l">
              <a:spcAft>
                <a:spcPts val="400"/>
              </a:spcAft>
            </a:pPr>
            <a:r>
              <a:rPr sz="1600" b="0" i="0">
                <a:solidFill>
                  <a:srgbClr val="555960"/>
                </a:solidFill>
                <a:latin typeface="Calibri"/>
              </a:rPr>
              <a:t>Visual regression tests checked parity.</a:t>
            </a:r>
          </a:p>
          <a:p>
            <a:pPr algn="l"/>
            <a:r>
              <a:rPr sz="1600" b="0" i="0">
                <a:solidFill>
                  <a:srgbClr val="555960"/>
                </a:solidFill>
                <a:latin typeface="Calibri"/>
              </a:rPr>
              <a:t>Feature flags limited who saw new code.</a:t>
            </a:r>
          </a:p>
        </p:txBody>
      </p:sp>
      <p:sp>
        <p:nvSpPr>
          <p:cNvPr id="24" name="Rectangle 23"/>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25" name="TextBox 24"/>
          <p:cNvSpPr txBox="1"/>
          <p:nvPr/>
        </p:nvSpPr>
        <p:spPr>
          <a:xfrm>
            <a:off x="384048" y="5897880"/>
            <a:ext cx="8375904" cy="466344"/>
          </a:xfrm>
          <a:prstGeom prst="rect">
            <a:avLst/>
          </a:prstGeom>
          <a:noFill/>
        </p:spPr>
        <p:txBody>
          <a:bodyPr wrap="square" lIns="27425" tIns="22850" rIns="27425" bIns="22850" anchor="ctr"/>
          <a:lstStyle/>
          <a:p>
            <a:pPr algn="ctr"/>
            <a:r>
              <a:rPr sz="1800" b="1" i="0" dirty="0">
                <a:solidFill>
                  <a:srgbClr val="FFFFFF"/>
                </a:solidFill>
                <a:latin typeface="Calibri"/>
              </a:rPr>
              <a:t>A year of building the factory</a:t>
            </a:r>
            <a:r>
              <a:rPr lang="en-US" sz="1800" b="1" i="0" dirty="0">
                <a:solidFill>
                  <a:srgbClr val="FFFFFF"/>
                </a:solidFill>
                <a:latin typeface="Calibri"/>
              </a:rPr>
              <a:t> first, then the experiment.</a:t>
            </a:r>
            <a:endParaRPr sz="1800" b="1" i="0" dirty="0">
              <a:solidFill>
                <a:srgbClr val="FFFFFF"/>
              </a:solidFill>
              <a:latin typeface="Calibri"/>
            </a:endParaRPr>
          </a:p>
        </p:txBody>
      </p:sp>
      <p:sp>
        <p:nvSpPr>
          <p:cNvPr id="26" name="TextBox 25">
            <a:extLst>
              <a:ext uri="{FF2B5EF4-FFF2-40B4-BE49-F238E27FC236}">
                <a16:creationId xmlns:a16="http://schemas.microsoft.com/office/drawing/2014/main" id="{FDE0BD66-1B1C-2669-8058-346CB99A9317}"/>
              </a:ext>
            </a:extLst>
          </p:cNvPr>
          <p:cNvSpPr txBox="1"/>
          <p:nvPr/>
        </p:nvSpPr>
        <p:spPr>
          <a:xfrm>
            <a:off x="226314" y="6452985"/>
            <a:ext cx="6187186" cy="276999"/>
          </a:xfrm>
          <a:prstGeom prst="rect">
            <a:avLst/>
          </a:prstGeom>
          <a:noFill/>
        </p:spPr>
        <p:txBody>
          <a:bodyPr wrap="square">
            <a:spAutoFit/>
          </a:bodyPr>
          <a:lstStyle/>
          <a:p>
            <a:r>
              <a:rPr lang="en-US" sz="1200" i="1" dirty="0"/>
              <a:t>Source: https://</a:t>
            </a:r>
            <a:r>
              <a:rPr lang="en-US" sz="1200" i="1" dirty="0" err="1"/>
              <a:t>www.anthropic.com</a:t>
            </a:r>
            <a:r>
              <a:rPr lang="en-US" sz="1200" i="1" dirty="0"/>
              <a:t>/research/effective-harnesses-for-long-running-agents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p:bldP spid="19" grpId="0"/>
      <p:bldP spid="20" grpId="0" animBg="1"/>
      <p:bldP spid="21" grpId="0"/>
      <p:bldP spid="22" grpId="0"/>
      <p:bldP spid="23" grpId="0"/>
      <p:bldP spid="24" grpId="0" animBg="1"/>
      <p:bldP spid="2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Imprint: a loop that starts with the goal</a:t>
            </a:r>
          </a:p>
        </p:txBody>
      </p:sp>
      <p:sp>
        <p:nvSpPr>
          <p:cNvPr id="3" name="TextBox 2"/>
          <p:cNvSpPr txBox="1"/>
          <p:nvPr/>
        </p:nvSpPr>
        <p:spPr>
          <a:xfrm>
            <a:off x="411480" y="960120"/>
            <a:ext cx="5486400" cy="274320"/>
          </a:xfrm>
          <a:prstGeom prst="rect">
            <a:avLst/>
          </a:prstGeom>
          <a:noFill/>
        </p:spPr>
        <p:txBody>
          <a:bodyPr wrap="square" lIns="27425" tIns="22850" rIns="27425" bIns="22850" anchor="ctr"/>
          <a:lstStyle/>
          <a:p>
            <a:pPr algn="l"/>
            <a:r>
              <a:rPr sz="1300" b="1" i="0">
                <a:solidFill>
                  <a:srgbClr val="8E6F3E"/>
                </a:solidFill>
                <a:latin typeface="Calibri"/>
              </a:rPr>
              <a:t>ACT II LENS: ALIGNMENT</a:t>
            </a:r>
          </a:p>
        </p:txBody>
      </p:sp>
      <p:sp>
        <p:nvSpPr>
          <p:cNvPr id="4" name="Rectangle 3"/>
          <p:cNvSpPr/>
          <p:nvPr/>
        </p:nvSpPr>
        <p:spPr>
          <a:xfrm>
            <a:off x="411480" y="1325880"/>
            <a:ext cx="4023360" cy="1554480"/>
          </a:xfrm>
          <a:prstGeom prst="rect">
            <a:avLst/>
          </a:prstGeom>
          <a:solidFill>
            <a:srgbClr val="F5F1E8"/>
          </a:solidFill>
          <a:ln w="12700">
            <a:solidFill>
              <a:srgbClr val="CBB590"/>
            </a:solidFill>
          </a:ln>
        </p:spPr>
        <p:txBody>
          <a:bodyPr rtlCol="0" anchor="ctr"/>
          <a:lstStyle/>
          <a:p>
            <a:endParaRPr/>
          </a:p>
        </p:txBody>
      </p:sp>
      <p:sp>
        <p:nvSpPr>
          <p:cNvPr id="5" name="TextBox 4"/>
          <p:cNvSpPr txBox="1"/>
          <p:nvPr/>
        </p:nvSpPr>
        <p:spPr>
          <a:xfrm>
            <a:off x="557784" y="1417320"/>
            <a:ext cx="3730752" cy="411480"/>
          </a:xfrm>
          <a:prstGeom prst="rect">
            <a:avLst/>
          </a:prstGeom>
          <a:noFill/>
        </p:spPr>
        <p:txBody>
          <a:bodyPr wrap="square" lIns="27425" tIns="22850" rIns="27425" bIns="22850" anchor="ctr"/>
          <a:lstStyle/>
          <a:p>
            <a:pPr algn="l"/>
            <a:r>
              <a:rPr sz="2000" b="1" i="0" dirty="0">
                <a:solidFill>
                  <a:srgbClr val="5C4826"/>
                </a:solidFill>
                <a:latin typeface="Calibri"/>
              </a:rPr>
              <a:t>1  Goal audit</a:t>
            </a:r>
          </a:p>
        </p:txBody>
      </p:sp>
      <p:sp>
        <p:nvSpPr>
          <p:cNvPr id="6" name="TextBox 5"/>
          <p:cNvSpPr txBox="1"/>
          <p:nvPr/>
        </p:nvSpPr>
        <p:spPr>
          <a:xfrm>
            <a:off x="557784" y="1874519"/>
            <a:ext cx="3730752" cy="932688"/>
          </a:xfrm>
          <a:prstGeom prst="rect">
            <a:avLst/>
          </a:prstGeom>
          <a:noFill/>
        </p:spPr>
        <p:txBody>
          <a:bodyPr wrap="square" lIns="27425" tIns="22850" rIns="27425" bIns="22850" anchor="t"/>
          <a:lstStyle/>
          <a:p>
            <a:pPr algn="l"/>
            <a:r>
              <a:rPr sz="1800" b="0" i="0">
                <a:solidFill>
                  <a:srgbClr val="555960"/>
                </a:solidFill>
                <a:latin typeface="Calibri"/>
              </a:rPr>
              <a:t>Is there a goals RFC? A metrics dashboard? If not, create them with the user.</a:t>
            </a:r>
          </a:p>
        </p:txBody>
      </p:sp>
      <p:sp>
        <p:nvSpPr>
          <p:cNvPr id="7" name="Rectangle 6"/>
          <p:cNvSpPr/>
          <p:nvPr/>
        </p:nvSpPr>
        <p:spPr>
          <a:xfrm>
            <a:off x="4709160" y="1325880"/>
            <a:ext cx="4023360" cy="1554480"/>
          </a:xfrm>
          <a:prstGeom prst="rect">
            <a:avLst/>
          </a:prstGeom>
          <a:solidFill>
            <a:srgbClr val="FCFAF6"/>
          </a:solidFill>
          <a:ln w="12700">
            <a:solidFill>
              <a:srgbClr val="CBB590"/>
            </a:solidFill>
          </a:ln>
        </p:spPr>
        <p:txBody>
          <a:bodyPr rtlCol="0" anchor="ctr"/>
          <a:lstStyle/>
          <a:p>
            <a:endParaRPr/>
          </a:p>
        </p:txBody>
      </p:sp>
      <p:sp>
        <p:nvSpPr>
          <p:cNvPr id="8" name="TextBox 7"/>
          <p:cNvSpPr txBox="1"/>
          <p:nvPr/>
        </p:nvSpPr>
        <p:spPr>
          <a:xfrm>
            <a:off x="4855464" y="1417320"/>
            <a:ext cx="3730752" cy="411480"/>
          </a:xfrm>
          <a:prstGeom prst="rect">
            <a:avLst/>
          </a:prstGeom>
          <a:noFill/>
        </p:spPr>
        <p:txBody>
          <a:bodyPr wrap="square" lIns="27425" tIns="22850" rIns="27425" bIns="22850" anchor="ctr"/>
          <a:lstStyle/>
          <a:p>
            <a:pPr algn="l"/>
            <a:r>
              <a:rPr sz="2000" b="1" i="0" dirty="0">
                <a:solidFill>
                  <a:srgbClr val="5C4826"/>
                </a:solidFill>
                <a:latin typeface="Calibri"/>
              </a:rPr>
              <a:t>2  Review</a:t>
            </a:r>
          </a:p>
        </p:txBody>
      </p:sp>
      <p:sp>
        <p:nvSpPr>
          <p:cNvPr id="9" name="TextBox 8"/>
          <p:cNvSpPr txBox="1"/>
          <p:nvPr/>
        </p:nvSpPr>
        <p:spPr>
          <a:xfrm>
            <a:off x="4855464" y="1874519"/>
            <a:ext cx="3730752" cy="932688"/>
          </a:xfrm>
          <a:prstGeom prst="rect">
            <a:avLst/>
          </a:prstGeom>
          <a:noFill/>
        </p:spPr>
        <p:txBody>
          <a:bodyPr wrap="square" lIns="27425" tIns="22850" rIns="27425" bIns="22850" anchor="t"/>
          <a:lstStyle/>
          <a:p>
            <a:pPr algn="l"/>
            <a:r>
              <a:rPr sz="1800" b="0" i="0" dirty="0">
                <a:solidFill>
                  <a:srgbClr val="555960"/>
                </a:solidFill>
                <a:latin typeface="Calibri"/>
              </a:rPr>
              <a:t>Read current metrics and open issues. </a:t>
            </a:r>
            <a:endParaRPr lang="en-US" sz="1800" b="0" i="0" dirty="0">
              <a:solidFill>
                <a:srgbClr val="555960"/>
              </a:solidFill>
              <a:latin typeface="Calibri"/>
            </a:endParaRPr>
          </a:p>
          <a:p>
            <a:pPr algn="l"/>
            <a:r>
              <a:rPr sz="1800" b="0" i="0" dirty="0">
                <a:solidFill>
                  <a:srgbClr val="555960"/>
                </a:solidFill>
                <a:latin typeface="Calibri"/>
              </a:rPr>
              <a:t>Add or update issues.</a:t>
            </a:r>
          </a:p>
        </p:txBody>
      </p:sp>
      <p:sp>
        <p:nvSpPr>
          <p:cNvPr id="10" name="Rectangle 9"/>
          <p:cNvSpPr/>
          <p:nvPr/>
        </p:nvSpPr>
        <p:spPr>
          <a:xfrm>
            <a:off x="4709160" y="3154680"/>
            <a:ext cx="4023360" cy="1554480"/>
          </a:xfrm>
          <a:prstGeom prst="rect">
            <a:avLst/>
          </a:prstGeom>
          <a:solidFill>
            <a:srgbClr val="F5F1E8"/>
          </a:solidFill>
          <a:ln w="12700">
            <a:solidFill>
              <a:srgbClr val="CBB590"/>
            </a:solidFill>
          </a:ln>
        </p:spPr>
        <p:txBody>
          <a:bodyPr rtlCol="0" anchor="ctr"/>
          <a:lstStyle/>
          <a:p>
            <a:endParaRPr/>
          </a:p>
        </p:txBody>
      </p:sp>
      <p:sp>
        <p:nvSpPr>
          <p:cNvPr id="11" name="TextBox 10"/>
          <p:cNvSpPr txBox="1"/>
          <p:nvPr/>
        </p:nvSpPr>
        <p:spPr>
          <a:xfrm>
            <a:off x="4855464" y="3246120"/>
            <a:ext cx="3730752" cy="411480"/>
          </a:xfrm>
          <a:prstGeom prst="rect">
            <a:avLst/>
          </a:prstGeom>
          <a:noFill/>
        </p:spPr>
        <p:txBody>
          <a:bodyPr wrap="square" lIns="27425" tIns="22850" rIns="27425" bIns="22850" anchor="ctr"/>
          <a:lstStyle/>
          <a:p>
            <a:pPr algn="l"/>
            <a:r>
              <a:rPr sz="2000" b="1" i="0">
                <a:solidFill>
                  <a:srgbClr val="5C4826"/>
                </a:solidFill>
                <a:latin typeface="Calibri"/>
              </a:rPr>
              <a:t>3  Work</a:t>
            </a:r>
          </a:p>
        </p:txBody>
      </p:sp>
      <p:sp>
        <p:nvSpPr>
          <p:cNvPr id="12" name="TextBox 11"/>
          <p:cNvSpPr txBox="1"/>
          <p:nvPr/>
        </p:nvSpPr>
        <p:spPr>
          <a:xfrm>
            <a:off x="4855464" y="3703320"/>
            <a:ext cx="3730752" cy="932687"/>
          </a:xfrm>
          <a:prstGeom prst="rect">
            <a:avLst/>
          </a:prstGeom>
          <a:noFill/>
        </p:spPr>
        <p:txBody>
          <a:bodyPr wrap="square" lIns="27425" tIns="22850" rIns="27425" bIns="22850" anchor="t"/>
          <a:lstStyle/>
          <a:p>
            <a:pPr algn="l"/>
            <a:r>
              <a:rPr sz="1800" b="0" i="0" dirty="0">
                <a:solidFill>
                  <a:srgbClr val="555960"/>
                </a:solidFill>
                <a:latin typeface="Calibri"/>
              </a:rPr>
              <a:t>Take an unblocked task: open a pull request, request review, or ask a question.</a:t>
            </a:r>
          </a:p>
        </p:txBody>
      </p:sp>
      <p:sp>
        <p:nvSpPr>
          <p:cNvPr id="13" name="Rectangle 12"/>
          <p:cNvSpPr/>
          <p:nvPr/>
        </p:nvSpPr>
        <p:spPr>
          <a:xfrm>
            <a:off x="411480" y="3154680"/>
            <a:ext cx="4023360" cy="1554480"/>
          </a:xfrm>
          <a:prstGeom prst="rect">
            <a:avLst/>
          </a:prstGeom>
          <a:solidFill>
            <a:srgbClr val="FCFAF6"/>
          </a:solidFill>
          <a:ln w="12700">
            <a:solidFill>
              <a:srgbClr val="CBB590"/>
            </a:solidFill>
          </a:ln>
        </p:spPr>
        <p:txBody>
          <a:bodyPr rtlCol="0" anchor="ctr"/>
          <a:lstStyle/>
          <a:p>
            <a:endParaRPr/>
          </a:p>
        </p:txBody>
      </p:sp>
      <p:sp>
        <p:nvSpPr>
          <p:cNvPr id="14" name="TextBox 13"/>
          <p:cNvSpPr txBox="1"/>
          <p:nvPr/>
        </p:nvSpPr>
        <p:spPr>
          <a:xfrm>
            <a:off x="557784" y="3246120"/>
            <a:ext cx="3730752" cy="411480"/>
          </a:xfrm>
          <a:prstGeom prst="rect">
            <a:avLst/>
          </a:prstGeom>
          <a:noFill/>
        </p:spPr>
        <p:txBody>
          <a:bodyPr wrap="square" lIns="27425" tIns="22850" rIns="27425" bIns="22850" anchor="ctr"/>
          <a:lstStyle/>
          <a:p>
            <a:pPr algn="l"/>
            <a:r>
              <a:rPr sz="2000" b="1" i="0">
                <a:solidFill>
                  <a:srgbClr val="5C4826"/>
                </a:solidFill>
                <a:latin typeface="Calibri"/>
              </a:rPr>
              <a:t>4  Check freshness</a:t>
            </a:r>
          </a:p>
        </p:txBody>
      </p:sp>
      <p:sp>
        <p:nvSpPr>
          <p:cNvPr id="15" name="TextBox 14"/>
          <p:cNvSpPr txBox="1"/>
          <p:nvPr/>
        </p:nvSpPr>
        <p:spPr>
          <a:xfrm>
            <a:off x="557784" y="3703320"/>
            <a:ext cx="3730752" cy="932687"/>
          </a:xfrm>
          <a:prstGeom prst="rect">
            <a:avLst/>
          </a:prstGeom>
          <a:noFill/>
        </p:spPr>
        <p:txBody>
          <a:bodyPr wrap="square" lIns="27425" tIns="22850" rIns="27425" bIns="22850" anchor="t"/>
          <a:lstStyle/>
          <a:p>
            <a:pPr algn="l"/>
            <a:r>
              <a:rPr sz="1800" b="0" i="0">
                <a:solidFill>
                  <a:srgbClr val="555960"/>
                </a:solidFill>
                <a:latin typeface="Calibri"/>
              </a:rPr>
              <a:t>Goal description stale? Return to step 1. Otherwise take the next task.</a:t>
            </a:r>
          </a:p>
        </p:txBody>
      </p:sp>
      <p:sp>
        <p:nvSpPr>
          <p:cNvPr id="16" name="Right Arrow 15"/>
          <p:cNvSpPr/>
          <p:nvPr/>
        </p:nvSpPr>
        <p:spPr>
          <a:xfrm>
            <a:off x="4471416" y="1984248"/>
            <a:ext cx="201168" cy="219456"/>
          </a:xfrm>
          <a:prstGeom prst="rightArrow">
            <a:avLst/>
          </a:prstGeom>
          <a:solidFill>
            <a:srgbClr val="8E6F3E"/>
          </a:solidFill>
          <a:ln>
            <a:noFill/>
          </a:ln>
        </p:spPr>
        <p:txBody>
          <a:bodyPr rtlCol="0" anchor="ctr"/>
          <a:lstStyle/>
          <a:p>
            <a:endParaRPr/>
          </a:p>
        </p:txBody>
      </p:sp>
      <p:sp>
        <p:nvSpPr>
          <p:cNvPr id="20" name="TextBox 19"/>
          <p:cNvSpPr txBox="1"/>
          <p:nvPr/>
        </p:nvSpPr>
        <p:spPr>
          <a:xfrm>
            <a:off x="411480" y="4892040"/>
            <a:ext cx="8321040" cy="502920"/>
          </a:xfrm>
          <a:prstGeom prst="rect">
            <a:avLst/>
          </a:prstGeom>
          <a:noFill/>
        </p:spPr>
        <p:txBody>
          <a:bodyPr wrap="square" lIns="27425" tIns="22850" rIns="27425" bIns="22850" anchor="t"/>
          <a:lstStyle/>
          <a:p>
            <a:pPr algn="ctr"/>
            <a:r>
              <a:rPr sz="1800" b="1" i="0" dirty="0">
                <a:solidFill>
                  <a:srgbClr val="5C4826"/>
                </a:solidFill>
                <a:latin typeface="Calibri"/>
              </a:rPr>
              <a:t>The audit refuses to run until the goal and its measure are written down.</a:t>
            </a:r>
          </a:p>
        </p:txBody>
      </p:sp>
      <p:sp>
        <p:nvSpPr>
          <p:cNvPr id="21" name="Rectangle 20"/>
          <p:cNvSpPr/>
          <p:nvPr/>
        </p:nvSpPr>
        <p:spPr>
          <a:xfrm>
            <a:off x="274320" y="5879592"/>
            <a:ext cx="8595360" cy="502920"/>
          </a:xfrm>
          <a:prstGeom prst="rect">
            <a:avLst/>
          </a:prstGeom>
          <a:solidFill>
            <a:srgbClr val="8E6F3E"/>
          </a:solidFill>
          <a:ln>
            <a:noFill/>
          </a:ln>
        </p:spPr>
        <p:txBody>
          <a:bodyPr rtlCol="0" anchor="ctr"/>
          <a:lstStyle/>
          <a:p>
            <a:endParaRPr sz="1600" dirty="0"/>
          </a:p>
        </p:txBody>
      </p:sp>
      <p:sp>
        <p:nvSpPr>
          <p:cNvPr id="22" name="TextBox 21"/>
          <p:cNvSpPr txBox="1"/>
          <p:nvPr/>
        </p:nvSpPr>
        <p:spPr>
          <a:xfrm>
            <a:off x="384048" y="5897880"/>
            <a:ext cx="8375904" cy="466344"/>
          </a:xfrm>
          <a:prstGeom prst="rect">
            <a:avLst/>
          </a:prstGeom>
          <a:noFill/>
        </p:spPr>
        <p:txBody>
          <a:bodyPr wrap="square" lIns="27425" tIns="22850" rIns="27425" bIns="22850" anchor="ctr"/>
          <a:lstStyle/>
          <a:p>
            <a:pPr algn="ctr"/>
            <a:r>
              <a:rPr sz="1800" b="1" i="0">
                <a:solidFill>
                  <a:srgbClr val="FFFFFF"/>
                </a:solidFill>
                <a:latin typeface="Calibri"/>
              </a:rPr>
              <a:t>Agents can align only with goals that are written down and measured.</a:t>
            </a:r>
          </a:p>
        </p:txBody>
      </p:sp>
      <p:sp>
        <p:nvSpPr>
          <p:cNvPr id="23" name="Right Arrow 22">
            <a:extLst>
              <a:ext uri="{FF2B5EF4-FFF2-40B4-BE49-F238E27FC236}">
                <a16:creationId xmlns:a16="http://schemas.microsoft.com/office/drawing/2014/main" id="{D37E20D9-B713-A3E2-2096-2D0705F0566A}"/>
              </a:ext>
            </a:extLst>
          </p:cNvPr>
          <p:cNvSpPr/>
          <p:nvPr/>
        </p:nvSpPr>
        <p:spPr>
          <a:xfrm rot="5400000">
            <a:off x="6564378" y="2920397"/>
            <a:ext cx="201168" cy="219456"/>
          </a:xfrm>
          <a:prstGeom prst="rightArrow">
            <a:avLst/>
          </a:prstGeom>
          <a:solidFill>
            <a:srgbClr val="8E6F3E"/>
          </a:solidFill>
          <a:ln>
            <a:noFill/>
          </a:ln>
        </p:spPr>
        <p:txBody>
          <a:bodyPr rtlCol="0" anchor="ctr"/>
          <a:lstStyle/>
          <a:p>
            <a:endParaRPr/>
          </a:p>
        </p:txBody>
      </p:sp>
      <p:sp>
        <p:nvSpPr>
          <p:cNvPr id="24" name="Right Arrow 23">
            <a:extLst>
              <a:ext uri="{FF2B5EF4-FFF2-40B4-BE49-F238E27FC236}">
                <a16:creationId xmlns:a16="http://schemas.microsoft.com/office/drawing/2014/main" id="{992E6CAE-A84B-FE0B-E052-1141F6E5EF8A}"/>
              </a:ext>
            </a:extLst>
          </p:cNvPr>
          <p:cNvSpPr/>
          <p:nvPr/>
        </p:nvSpPr>
        <p:spPr>
          <a:xfrm rot="10800000">
            <a:off x="4462272" y="3893312"/>
            <a:ext cx="201168" cy="219456"/>
          </a:xfrm>
          <a:prstGeom prst="rightArrow">
            <a:avLst/>
          </a:prstGeom>
          <a:solidFill>
            <a:srgbClr val="8E6F3E"/>
          </a:solidFill>
          <a:ln>
            <a:noFill/>
          </a:ln>
        </p:spPr>
        <p:txBody>
          <a:bodyPr rtlCol="0" anchor="ctr"/>
          <a:lstStyle/>
          <a:p>
            <a:endParaRPr/>
          </a:p>
        </p:txBody>
      </p:sp>
      <p:sp>
        <p:nvSpPr>
          <p:cNvPr id="25" name="Right Arrow 24">
            <a:extLst>
              <a:ext uri="{FF2B5EF4-FFF2-40B4-BE49-F238E27FC236}">
                <a16:creationId xmlns:a16="http://schemas.microsoft.com/office/drawing/2014/main" id="{1D9838CE-1D73-278F-9D43-C664DD5C8286}"/>
              </a:ext>
            </a:extLst>
          </p:cNvPr>
          <p:cNvSpPr/>
          <p:nvPr/>
        </p:nvSpPr>
        <p:spPr>
          <a:xfrm rot="16200000">
            <a:off x="2212848" y="2898648"/>
            <a:ext cx="201168" cy="219456"/>
          </a:xfrm>
          <a:prstGeom prst="rightArrow">
            <a:avLst/>
          </a:prstGeom>
          <a:solidFill>
            <a:srgbClr val="8E6F3E"/>
          </a:solidFill>
          <a:ln>
            <a:noFill/>
          </a:ln>
        </p:spPr>
        <p:txBody>
          <a:bodyPr rtlCol="0" anchor="ctr"/>
          <a:lstStyle/>
          <a:p>
            <a:endParaRPr/>
          </a:p>
        </p:txBody>
      </p:sp>
      <p:sp>
        <p:nvSpPr>
          <p:cNvPr id="27" name="TextBox 26">
            <a:extLst>
              <a:ext uri="{FF2B5EF4-FFF2-40B4-BE49-F238E27FC236}">
                <a16:creationId xmlns:a16="http://schemas.microsoft.com/office/drawing/2014/main" id="{60AFE63F-78E8-A258-494F-F458783890EC}"/>
              </a:ext>
            </a:extLst>
          </p:cNvPr>
          <p:cNvSpPr txBox="1"/>
          <p:nvPr/>
        </p:nvSpPr>
        <p:spPr>
          <a:xfrm>
            <a:off x="226314" y="6452985"/>
            <a:ext cx="4629150" cy="276999"/>
          </a:xfrm>
          <a:prstGeom prst="rect">
            <a:avLst/>
          </a:prstGeom>
          <a:noFill/>
        </p:spPr>
        <p:txBody>
          <a:bodyPr wrap="square">
            <a:spAutoFit/>
          </a:bodyPr>
          <a:lstStyle/>
          <a:p>
            <a:r>
              <a:rPr lang="en-US" sz="1200" i="1" dirty="0"/>
              <a:t>Source: https://</a:t>
            </a:r>
            <a:r>
              <a:rPr lang="en-US" sz="1200" i="1" dirty="0" err="1"/>
              <a:t>lethain.com</a:t>
            </a:r>
            <a:r>
              <a:rPr lang="en-US" sz="1200" i="1" dirty="0"/>
              <a:t>/software-factory-experiment/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What the three factories have in common</a:t>
            </a:r>
          </a:p>
        </p:txBody>
      </p:sp>
      <p:sp>
        <p:nvSpPr>
          <p:cNvPr id="3" name="Rectangle 2"/>
          <p:cNvSpPr/>
          <p:nvPr/>
        </p:nvSpPr>
        <p:spPr>
          <a:xfrm>
            <a:off x="411480" y="1143000"/>
            <a:ext cx="8321040" cy="896112"/>
          </a:xfrm>
          <a:prstGeom prst="rect">
            <a:avLst/>
          </a:prstGeom>
          <a:solidFill>
            <a:srgbClr val="F5F1E8"/>
          </a:solidFill>
          <a:ln w="12700">
            <a:solidFill>
              <a:srgbClr val="CBB590"/>
            </a:solidFill>
          </a:ln>
        </p:spPr>
        <p:txBody>
          <a:bodyPr rtlCol="0" anchor="ctr"/>
          <a:lstStyle/>
          <a:p>
            <a:endParaRPr/>
          </a:p>
        </p:txBody>
      </p:sp>
      <p:sp>
        <p:nvSpPr>
          <p:cNvPr id="4" name="Rectangle 3"/>
          <p:cNvSpPr/>
          <p:nvPr/>
        </p:nvSpPr>
        <p:spPr>
          <a:xfrm>
            <a:off x="566928" y="1389888"/>
            <a:ext cx="2377440" cy="384048"/>
          </a:xfrm>
          <a:prstGeom prst="rect">
            <a:avLst/>
          </a:prstGeom>
          <a:solidFill>
            <a:srgbClr val="8E6F3E"/>
          </a:solidFill>
          <a:ln>
            <a:noFill/>
          </a:ln>
        </p:spPr>
        <p:txBody>
          <a:bodyPr rtlCol="0" anchor="ctr"/>
          <a:lstStyle/>
          <a:p>
            <a:endParaRPr/>
          </a:p>
        </p:txBody>
      </p:sp>
      <p:sp>
        <p:nvSpPr>
          <p:cNvPr id="5" name="TextBox 4"/>
          <p:cNvSpPr txBox="1"/>
          <p:nvPr/>
        </p:nvSpPr>
        <p:spPr>
          <a:xfrm>
            <a:off x="566928" y="1389888"/>
            <a:ext cx="2377440" cy="384048"/>
          </a:xfrm>
          <a:prstGeom prst="rect">
            <a:avLst/>
          </a:prstGeom>
          <a:noFill/>
        </p:spPr>
        <p:txBody>
          <a:bodyPr wrap="square" lIns="27425" tIns="22850" rIns="27425" bIns="22850" anchor="ctr"/>
          <a:lstStyle/>
          <a:p>
            <a:pPr algn="ctr"/>
            <a:r>
              <a:rPr sz="1400" b="1" i="0">
                <a:solidFill>
                  <a:srgbClr val="FFFFFF"/>
                </a:solidFill>
                <a:latin typeface="Calibri"/>
              </a:rPr>
              <a:t>EXPLICIT STATE</a:t>
            </a:r>
          </a:p>
        </p:txBody>
      </p:sp>
      <p:sp>
        <p:nvSpPr>
          <p:cNvPr id="6" name="TextBox 5"/>
          <p:cNvSpPr txBox="1"/>
          <p:nvPr/>
        </p:nvSpPr>
        <p:spPr>
          <a:xfrm>
            <a:off x="3154680" y="1234440"/>
            <a:ext cx="4668520" cy="713232"/>
          </a:xfrm>
          <a:prstGeom prst="rect">
            <a:avLst/>
          </a:prstGeom>
          <a:noFill/>
        </p:spPr>
        <p:txBody>
          <a:bodyPr wrap="square" lIns="27425" tIns="22850" rIns="27425" bIns="22850" anchor="ctr"/>
          <a:lstStyle/>
          <a:p>
            <a:pPr algn="l"/>
            <a:r>
              <a:rPr sz="1700" b="0" i="0" dirty="0">
                <a:solidFill>
                  <a:srgbClr val="555960"/>
                </a:solidFill>
                <a:latin typeface="Calibri"/>
              </a:rPr>
              <a:t>Feature lists, progress logs, and issue trackers that outlive a session</a:t>
            </a:r>
          </a:p>
        </p:txBody>
      </p:sp>
      <p:sp>
        <p:nvSpPr>
          <p:cNvPr id="7" name="Rectangle 6"/>
          <p:cNvSpPr/>
          <p:nvPr/>
        </p:nvSpPr>
        <p:spPr>
          <a:xfrm>
            <a:off x="411480" y="2194560"/>
            <a:ext cx="8321040" cy="896112"/>
          </a:xfrm>
          <a:prstGeom prst="rect">
            <a:avLst/>
          </a:prstGeom>
          <a:solidFill>
            <a:srgbClr val="FCFAF6"/>
          </a:solidFill>
          <a:ln w="12700">
            <a:solidFill>
              <a:srgbClr val="CBB590"/>
            </a:solidFill>
          </a:ln>
        </p:spPr>
        <p:txBody>
          <a:bodyPr rtlCol="0" anchor="ctr"/>
          <a:lstStyle/>
          <a:p>
            <a:endParaRPr/>
          </a:p>
        </p:txBody>
      </p:sp>
      <p:sp>
        <p:nvSpPr>
          <p:cNvPr id="8" name="Rectangle 7"/>
          <p:cNvSpPr/>
          <p:nvPr/>
        </p:nvSpPr>
        <p:spPr>
          <a:xfrm>
            <a:off x="566928" y="2441448"/>
            <a:ext cx="2377440" cy="384048"/>
          </a:xfrm>
          <a:prstGeom prst="rect">
            <a:avLst/>
          </a:prstGeom>
          <a:solidFill>
            <a:srgbClr val="8E6F3E"/>
          </a:solidFill>
          <a:ln>
            <a:noFill/>
          </a:ln>
        </p:spPr>
        <p:txBody>
          <a:bodyPr rtlCol="0" anchor="ctr"/>
          <a:lstStyle/>
          <a:p>
            <a:endParaRPr/>
          </a:p>
        </p:txBody>
      </p:sp>
      <p:sp>
        <p:nvSpPr>
          <p:cNvPr id="9" name="TextBox 8"/>
          <p:cNvSpPr txBox="1"/>
          <p:nvPr/>
        </p:nvSpPr>
        <p:spPr>
          <a:xfrm>
            <a:off x="566928" y="2441448"/>
            <a:ext cx="2377440" cy="384048"/>
          </a:xfrm>
          <a:prstGeom prst="rect">
            <a:avLst/>
          </a:prstGeom>
          <a:noFill/>
        </p:spPr>
        <p:txBody>
          <a:bodyPr wrap="square" lIns="27425" tIns="22850" rIns="27425" bIns="22850" anchor="ctr"/>
          <a:lstStyle/>
          <a:p>
            <a:pPr algn="ctr"/>
            <a:r>
              <a:rPr sz="1400" b="1" i="0">
                <a:solidFill>
                  <a:srgbClr val="FFFFFF"/>
                </a:solidFill>
                <a:latin typeface="Calibri"/>
              </a:rPr>
              <a:t>EXPLICIT GOALS</a:t>
            </a:r>
          </a:p>
        </p:txBody>
      </p:sp>
      <p:sp>
        <p:nvSpPr>
          <p:cNvPr id="10" name="TextBox 9"/>
          <p:cNvSpPr txBox="1"/>
          <p:nvPr/>
        </p:nvSpPr>
        <p:spPr>
          <a:xfrm>
            <a:off x="3154680" y="2286000"/>
            <a:ext cx="4566920" cy="713232"/>
          </a:xfrm>
          <a:prstGeom prst="rect">
            <a:avLst/>
          </a:prstGeom>
          <a:noFill/>
        </p:spPr>
        <p:txBody>
          <a:bodyPr wrap="square" lIns="27425" tIns="22850" rIns="27425" bIns="22850" anchor="ctr"/>
          <a:lstStyle/>
          <a:p>
            <a:pPr algn="l"/>
            <a:r>
              <a:rPr sz="1700" b="0" i="0" dirty="0">
                <a:solidFill>
                  <a:srgbClr val="555960"/>
                </a:solidFill>
                <a:latin typeface="Calibri"/>
              </a:rPr>
              <a:t>A spec, legacy behavior, or a metric the agent can check against</a:t>
            </a:r>
          </a:p>
        </p:txBody>
      </p:sp>
      <p:sp>
        <p:nvSpPr>
          <p:cNvPr id="11" name="Rectangle 10"/>
          <p:cNvSpPr/>
          <p:nvPr/>
        </p:nvSpPr>
        <p:spPr>
          <a:xfrm>
            <a:off x="411480" y="3246120"/>
            <a:ext cx="8321040" cy="896112"/>
          </a:xfrm>
          <a:prstGeom prst="rect">
            <a:avLst/>
          </a:prstGeom>
          <a:solidFill>
            <a:srgbClr val="F5F1E8"/>
          </a:solidFill>
          <a:ln w="12700">
            <a:solidFill>
              <a:srgbClr val="CBB590"/>
            </a:solidFill>
          </a:ln>
        </p:spPr>
        <p:txBody>
          <a:bodyPr rtlCol="0" anchor="ctr"/>
          <a:lstStyle/>
          <a:p>
            <a:endParaRPr/>
          </a:p>
        </p:txBody>
      </p:sp>
      <p:sp>
        <p:nvSpPr>
          <p:cNvPr id="12" name="Rectangle 11"/>
          <p:cNvSpPr/>
          <p:nvPr/>
        </p:nvSpPr>
        <p:spPr>
          <a:xfrm>
            <a:off x="566928" y="3493008"/>
            <a:ext cx="2377440" cy="384048"/>
          </a:xfrm>
          <a:prstGeom prst="rect">
            <a:avLst/>
          </a:prstGeom>
          <a:solidFill>
            <a:srgbClr val="8E6F3E"/>
          </a:solidFill>
          <a:ln>
            <a:noFill/>
          </a:ln>
        </p:spPr>
        <p:txBody>
          <a:bodyPr rtlCol="0" anchor="ctr"/>
          <a:lstStyle/>
          <a:p>
            <a:endParaRPr/>
          </a:p>
        </p:txBody>
      </p:sp>
      <p:sp>
        <p:nvSpPr>
          <p:cNvPr id="13" name="TextBox 12"/>
          <p:cNvSpPr txBox="1"/>
          <p:nvPr/>
        </p:nvSpPr>
        <p:spPr>
          <a:xfrm>
            <a:off x="566928" y="3493008"/>
            <a:ext cx="2377440" cy="384048"/>
          </a:xfrm>
          <a:prstGeom prst="rect">
            <a:avLst/>
          </a:prstGeom>
          <a:noFill/>
        </p:spPr>
        <p:txBody>
          <a:bodyPr wrap="square" lIns="27425" tIns="22850" rIns="27425" bIns="22850" anchor="ctr"/>
          <a:lstStyle/>
          <a:p>
            <a:pPr algn="ctr"/>
            <a:r>
              <a:rPr sz="1400" b="1" i="0">
                <a:solidFill>
                  <a:srgbClr val="FFFFFF"/>
                </a:solidFill>
                <a:latin typeface="Calibri"/>
              </a:rPr>
              <a:t>FAST VALIDATION</a:t>
            </a:r>
          </a:p>
        </p:txBody>
      </p:sp>
      <p:sp>
        <p:nvSpPr>
          <p:cNvPr id="14" name="TextBox 13"/>
          <p:cNvSpPr txBox="1"/>
          <p:nvPr/>
        </p:nvSpPr>
        <p:spPr>
          <a:xfrm>
            <a:off x="3154680" y="3337560"/>
            <a:ext cx="5440680" cy="713232"/>
          </a:xfrm>
          <a:prstGeom prst="rect">
            <a:avLst/>
          </a:prstGeom>
          <a:noFill/>
        </p:spPr>
        <p:txBody>
          <a:bodyPr wrap="square" lIns="27425" tIns="22850" rIns="27425" bIns="22850" anchor="ctr"/>
          <a:lstStyle/>
          <a:p>
            <a:pPr algn="l"/>
            <a:r>
              <a:rPr sz="1700" b="0" i="0" dirty="0">
                <a:solidFill>
                  <a:srgbClr val="555960"/>
                </a:solidFill>
                <a:latin typeface="Calibri"/>
              </a:rPr>
              <a:t>Tests, visual diffs, and flags that catch bad changes quickly</a:t>
            </a:r>
          </a:p>
        </p:txBody>
      </p:sp>
      <p:sp>
        <p:nvSpPr>
          <p:cNvPr id="15" name="Rectangle 14"/>
          <p:cNvSpPr/>
          <p:nvPr/>
        </p:nvSpPr>
        <p:spPr>
          <a:xfrm>
            <a:off x="411480" y="4297679"/>
            <a:ext cx="8321040" cy="896112"/>
          </a:xfrm>
          <a:prstGeom prst="rect">
            <a:avLst/>
          </a:prstGeom>
          <a:solidFill>
            <a:srgbClr val="FCFAF6"/>
          </a:solidFill>
          <a:ln w="12700">
            <a:solidFill>
              <a:srgbClr val="CBB590"/>
            </a:solidFill>
          </a:ln>
        </p:spPr>
        <p:txBody>
          <a:bodyPr rtlCol="0" anchor="ctr"/>
          <a:lstStyle/>
          <a:p>
            <a:endParaRPr/>
          </a:p>
        </p:txBody>
      </p:sp>
      <p:sp>
        <p:nvSpPr>
          <p:cNvPr id="16" name="Rectangle 15"/>
          <p:cNvSpPr/>
          <p:nvPr/>
        </p:nvSpPr>
        <p:spPr>
          <a:xfrm>
            <a:off x="566928" y="4544567"/>
            <a:ext cx="2377440" cy="384048"/>
          </a:xfrm>
          <a:prstGeom prst="rect">
            <a:avLst/>
          </a:prstGeom>
          <a:solidFill>
            <a:srgbClr val="8E6F3E"/>
          </a:solidFill>
          <a:ln>
            <a:noFill/>
          </a:ln>
        </p:spPr>
        <p:txBody>
          <a:bodyPr rtlCol="0" anchor="ctr"/>
          <a:lstStyle/>
          <a:p>
            <a:endParaRPr/>
          </a:p>
        </p:txBody>
      </p:sp>
      <p:sp>
        <p:nvSpPr>
          <p:cNvPr id="17" name="TextBox 16"/>
          <p:cNvSpPr txBox="1"/>
          <p:nvPr/>
        </p:nvSpPr>
        <p:spPr>
          <a:xfrm>
            <a:off x="566928" y="4544567"/>
            <a:ext cx="2377440" cy="384048"/>
          </a:xfrm>
          <a:prstGeom prst="rect">
            <a:avLst/>
          </a:prstGeom>
          <a:noFill/>
        </p:spPr>
        <p:txBody>
          <a:bodyPr wrap="square" lIns="27425" tIns="22850" rIns="27425" bIns="22850" anchor="ctr"/>
          <a:lstStyle/>
          <a:p>
            <a:pPr algn="ctr"/>
            <a:r>
              <a:rPr sz="1400" b="1" i="0">
                <a:solidFill>
                  <a:srgbClr val="FFFFFF"/>
                </a:solidFill>
                <a:latin typeface="Calibri"/>
              </a:rPr>
              <a:t>PLACED CHECKPOINTS</a:t>
            </a:r>
          </a:p>
        </p:txBody>
      </p:sp>
      <p:sp>
        <p:nvSpPr>
          <p:cNvPr id="18" name="TextBox 17"/>
          <p:cNvSpPr txBox="1"/>
          <p:nvPr/>
        </p:nvSpPr>
        <p:spPr>
          <a:xfrm>
            <a:off x="3154680" y="4389119"/>
            <a:ext cx="5440680" cy="713232"/>
          </a:xfrm>
          <a:prstGeom prst="rect">
            <a:avLst/>
          </a:prstGeom>
          <a:noFill/>
        </p:spPr>
        <p:txBody>
          <a:bodyPr wrap="square" lIns="27425" tIns="22850" rIns="27425" bIns="22850" anchor="ctr"/>
          <a:lstStyle/>
          <a:p>
            <a:pPr algn="l"/>
            <a:r>
              <a:rPr sz="1700" b="0" i="0">
                <a:solidFill>
                  <a:srgbClr val="555960"/>
                </a:solidFill>
                <a:latin typeface="Calibri"/>
              </a:rPr>
              <a:t>Humans at the points where judgment matters most</a:t>
            </a:r>
          </a:p>
        </p:txBody>
      </p:sp>
      <p:sp>
        <p:nvSpPr>
          <p:cNvPr id="19" name="Rectangle 18"/>
          <p:cNvSpPr/>
          <p:nvPr/>
        </p:nvSpPr>
        <p:spPr>
          <a:xfrm>
            <a:off x="274320" y="5879592"/>
            <a:ext cx="8595360" cy="502920"/>
          </a:xfrm>
          <a:prstGeom prst="rect">
            <a:avLst/>
          </a:prstGeom>
          <a:solidFill>
            <a:srgbClr val="8E6F3E"/>
          </a:solidFill>
          <a:ln>
            <a:noFill/>
          </a:ln>
        </p:spPr>
        <p:txBody>
          <a:bodyPr rtlCol="0" anchor="ctr"/>
          <a:lstStyle/>
          <a:p>
            <a:endParaRPr/>
          </a:p>
        </p:txBody>
      </p:sp>
      <p:sp>
        <p:nvSpPr>
          <p:cNvPr id="20" name="TextBox 19"/>
          <p:cNvSpPr txBox="1"/>
          <p:nvPr/>
        </p:nvSpPr>
        <p:spPr>
          <a:xfrm>
            <a:off x="384048" y="5897880"/>
            <a:ext cx="8375904" cy="466344"/>
          </a:xfrm>
          <a:prstGeom prst="rect">
            <a:avLst/>
          </a:prstGeom>
          <a:noFill/>
        </p:spPr>
        <p:txBody>
          <a:bodyPr wrap="square" lIns="27425" tIns="22850" rIns="27425" bIns="22850" anchor="ctr"/>
          <a:lstStyle/>
          <a:p>
            <a:pPr algn="ctr"/>
            <a:r>
              <a:rPr sz="1800" b="1" i="0" dirty="0">
                <a:solidFill>
                  <a:srgbClr val="FFFFFF"/>
                </a:solidFill>
                <a:latin typeface="Calibri"/>
              </a:rPr>
              <a:t>Each one is an Act I or Act II practice, written down so an agent can act on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P spid="7" grpId="0" animBg="1"/>
      <p:bldP spid="8" grpId="0" animBg="1"/>
      <p:bldP spid="9" grpId="0"/>
      <p:bldP spid="10" grpId="0"/>
      <p:bldP spid="11" grpId="0" animBg="1"/>
      <p:bldP spid="12" grpId="0" animBg="1"/>
      <p:bldP spid="13" grpId="0"/>
      <p:bldP spid="14" grpId="0"/>
      <p:bldP spid="15" grpId="0" animBg="1"/>
      <p:bldP spid="16" grpId="0" animBg="1"/>
      <p:bldP spid="17" grpId="0"/>
      <p:bldP spid="18" grpId="0"/>
      <p:bldP spid="19" grpId="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Which Act I and Act II practices do factories encode?</a:t>
            </a:r>
          </a:p>
        </p:txBody>
      </p:sp>
      <p:graphicFrame>
        <p:nvGraphicFramePr>
          <p:cNvPr id="3" name="Table 2"/>
          <p:cNvGraphicFramePr>
            <a:graphicFrameLocks noGrp="1"/>
          </p:cNvGraphicFramePr>
          <p:nvPr>
            <p:extLst>
              <p:ext uri="{D42A27DB-BD31-4B8C-83A1-F6EECF244321}">
                <p14:modId xmlns:p14="http://schemas.microsoft.com/office/powerpoint/2010/main" val="2786493955"/>
              </p:ext>
            </p:extLst>
          </p:nvPr>
        </p:nvGraphicFramePr>
        <p:xfrm>
          <a:off x="365760" y="1051560"/>
          <a:ext cx="8257540" cy="4535424"/>
        </p:xfrm>
        <a:graphic>
          <a:graphicData uri="http://schemas.openxmlformats.org/drawingml/2006/table">
            <a:tbl>
              <a:tblPr/>
              <a:tblGrid>
                <a:gridCol w="3596640">
                  <a:extLst>
                    <a:ext uri="{9D8B030D-6E8A-4147-A177-3AD203B41FA5}">
                      <a16:colId xmlns:a16="http://schemas.microsoft.com/office/drawing/2014/main" val="20000"/>
                    </a:ext>
                  </a:extLst>
                </a:gridCol>
                <a:gridCol w="4660900">
                  <a:extLst>
                    <a:ext uri="{9D8B030D-6E8A-4147-A177-3AD203B41FA5}">
                      <a16:colId xmlns:a16="http://schemas.microsoft.com/office/drawing/2014/main" val="20001"/>
                    </a:ext>
                  </a:extLst>
                </a:gridCol>
              </a:tblGrid>
              <a:tr h="566928">
                <a:tc>
                  <a:txBody>
                    <a:bodyPr/>
                    <a:lstStyle/>
                    <a:p>
                      <a:r>
                        <a:rPr lang="en-US" sz="2000" b="1" dirty="0">
                          <a:solidFill>
                            <a:srgbClr val="FFFFFF"/>
                          </a:solidFill>
                          <a:latin typeface="Calibri"/>
                        </a:rPr>
                        <a:t>Practice</a:t>
                      </a:r>
                      <a:endParaRPr sz="2000" b="1" dirty="0">
                        <a:solidFill>
                          <a:srgbClr val="FFFFFF"/>
                        </a:solidFill>
                        <a:latin typeface="Calibri"/>
                      </a:endParaRPr>
                    </a:p>
                  </a:txBody>
                  <a:tcPr marL="73152" marR="73152" anchor="ctr">
                    <a:solidFill>
                      <a:srgbClr val="8E6F3E"/>
                    </a:solidFill>
                  </a:tcPr>
                </a:tc>
                <a:tc>
                  <a:txBody>
                    <a:bodyPr/>
                    <a:lstStyle/>
                    <a:p>
                      <a:r>
                        <a:rPr sz="2000" b="1" dirty="0">
                          <a:solidFill>
                            <a:srgbClr val="FFFFFF"/>
                          </a:solidFill>
                          <a:latin typeface="Calibri"/>
                        </a:rPr>
                        <a:t>Factory </a:t>
                      </a:r>
                      <a:r>
                        <a:rPr lang="en-US" sz="2000" b="1" dirty="0">
                          <a:solidFill>
                            <a:srgbClr val="FFFFFF"/>
                          </a:solidFill>
                          <a:latin typeface="Calibri"/>
                        </a:rPr>
                        <a:t>F</a:t>
                      </a:r>
                      <a:r>
                        <a:rPr sz="2000" b="1" dirty="0">
                          <a:solidFill>
                            <a:srgbClr val="FFFFFF"/>
                          </a:solidFill>
                          <a:latin typeface="Calibri"/>
                        </a:rPr>
                        <a:t>orm</a:t>
                      </a:r>
                    </a:p>
                  </a:txBody>
                  <a:tcPr marL="73152" marR="73152" anchor="ctr">
                    <a:solidFill>
                      <a:srgbClr val="8E6F3E"/>
                    </a:solidFill>
                  </a:tcPr>
                </a:tc>
                <a:extLst>
                  <a:ext uri="{0D108BD9-81ED-4DB2-BD59-A6C34878D82A}">
                    <a16:rowId xmlns:a16="http://schemas.microsoft.com/office/drawing/2014/main" val="10000"/>
                  </a:ext>
                </a:extLst>
              </a:tr>
              <a:tr h="566928">
                <a:tc>
                  <a:txBody>
                    <a:bodyPr/>
                    <a:lstStyle/>
                    <a:p>
                      <a:r>
                        <a:rPr sz="2000" b="1" dirty="0">
                          <a:solidFill>
                            <a:srgbClr val="5C4826"/>
                          </a:solidFill>
                          <a:latin typeface="Calibri"/>
                        </a:rPr>
                        <a:t>Requirement</a:t>
                      </a:r>
                      <a:r>
                        <a:rPr lang="en-US" sz="2000" b="1" dirty="0">
                          <a:solidFill>
                            <a:srgbClr val="5C4826"/>
                          </a:solidFill>
                          <a:latin typeface="Calibri"/>
                        </a:rPr>
                        <a:t>s; S</a:t>
                      </a:r>
                      <a:r>
                        <a:rPr sz="2000" b="1" dirty="0">
                          <a:solidFill>
                            <a:srgbClr val="5C4826"/>
                          </a:solidFill>
                          <a:latin typeface="Calibri"/>
                        </a:rPr>
                        <a:t>pecification</a:t>
                      </a:r>
                    </a:p>
                  </a:txBody>
                  <a:tcPr marL="73152" marR="73152" anchor="ctr">
                    <a:solidFill>
                      <a:srgbClr val="FCFAF6"/>
                    </a:solidFill>
                  </a:tcPr>
                </a:tc>
                <a:tc>
                  <a:txBody>
                    <a:bodyPr/>
                    <a:lstStyle/>
                    <a:p>
                      <a:r>
                        <a:rPr sz="2000" b="0" dirty="0">
                          <a:solidFill>
                            <a:srgbClr val="555960"/>
                          </a:solidFill>
                          <a:latin typeface="Calibri"/>
                        </a:rPr>
                        <a:t>Feature lists, acceptance criteria</a:t>
                      </a:r>
                    </a:p>
                  </a:txBody>
                  <a:tcPr marL="73152" marR="73152" anchor="ctr">
                    <a:solidFill>
                      <a:srgbClr val="FCFAF6"/>
                    </a:solidFill>
                  </a:tcPr>
                </a:tc>
                <a:extLst>
                  <a:ext uri="{0D108BD9-81ED-4DB2-BD59-A6C34878D82A}">
                    <a16:rowId xmlns:a16="http://schemas.microsoft.com/office/drawing/2014/main" val="10001"/>
                  </a:ext>
                </a:extLst>
              </a:tr>
              <a:tr h="566928">
                <a:tc>
                  <a:txBody>
                    <a:bodyPr/>
                    <a:lstStyle/>
                    <a:p>
                      <a:r>
                        <a:rPr sz="2000" b="1" dirty="0">
                          <a:solidFill>
                            <a:srgbClr val="5C4826"/>
                          </a:solidFill>
                          <a:latin typeface="Calibri"/>
                        </a:rPr>
                        <a:t>Architecture</a:t>
                      </a:r>
                      <a:r>
                        <a:rPr lang="en-US" sz="2000" b="1" dirty="0">
                          <a:solidFill>
                            <a:srgbClr val="5C4826"/>
                          </a:solidFill>
                          <a:latin typeface="Calibri"/>
                        </a:rPr>
                        <a:t>; </a:t>
                      </a:r>
                      <a:r>
                        <a:rPr sz="2000" b="1" dirty="0">
                          <a:solidFill>
                            <a:srgbClr val="5C4826"/>
                          </a:solidFill>
                          <a:latin typeface="Calibri"/>
                        </a:rPr>
                        <a:t>Design</a:t>
                      </a:r>
                    </a:p>
                  </a:txBody>
                  <a:tcPr marL="73152" marR="73152" anchor="ctr">
                    <a:solidFill>
                      <a:srgbClr val="F5F1E8"/>
                    </a:solidFill>
                  </a:tcPr>
                </a:tc>
                <a:tc>
                  <a:txBody>
                    <a:bodyPr/>
                    <a:lstStyle/>
                    <a:p>
                      <a:r>
                        <a:rPr lang="en-US" sz="2000" b="0" dirty="0">
                          <a:solidFill>
                            <a:srgbClr val="555960"/>
                          </a:solidFill>
                          <a:latin typeface="Calibri"/>
                        </a:rPr>
                        <a:t>Instructions</a:t>
                      </a:r>
                      <a:r>
                        <a:rPr sz="2000" b="0" dirty="0">
                          <a:solidFill>
                            <a:srgbClr val="555960"/>
                          </a:solidFill>
                          <a:latin typeface="Calibri"/>
                        </a:rPr>
                        <a:t> </a:t>
                      </a:r>
                      <a:r>
                        <a:rPr lang="en-US" sz="2000" b="0" dirty="0">
                          <a:solidFill>
                            <a:srgbClr val="555960"/>
                          </a:solidFill>
                          <a:latin typeface="Calibri"/>
                        </a:rPr>
                        <a:t>for </a:t>
                      </a:r>
                      <a:r>
                        <a:rPr sz="2000" b="0" dirty="0">
                          <a:solidFill>
                            <a:srgbClr val="555960"/>
                          </a:solidFill>
                          <a:latin typeface="Calibri"/>
                        </a:rPr>
                        <a:t>agents </a:t>
                      </a:r>
                      <a:r>
                        <a:rPr lang="en-US" sz="2000" b="0" dirty="0">
                          <a:solidFill>
                            <a:srgbClr val="555960"/>
                          </a:solidFill>
                          <a:latin typeface="Calibri"/>
                        </a:rPr>
                        <a:t>to</a:t>
                      </a:r>
                      <a:r>
                        <a:rPr sz="2000" b="0" dirty="0">
                          <a:solidFill>
                            <a:srgbClr val="555960"/>
                          </a:solidFill>
                          <a:latin typeface="Calibri"/>
                        </a:rPr>
                        <a:t> follow</a:t>
                      </a:r>
                    </a:p>
                  </a:txBody>
                  <a:tcPr marL="73152" marR="73152" anchor="ctr">
                    <a:solidFill>
                      <a:srgbClr val="F5F1E8"/>
                    </a:solidFill>
                  </a:tcPr>
                </a:tc>
                <a:extLst>
                  <a:ext uri="{0D108BD9-81ED-4DB2-BD59-A6C34878D82A}">
                    <a16:rowId xmlns:a16="http://schemas.microsoft.com/office/drawing/2014/main" val="10002"/>
                  </a:ext>
                </a:extLst>
              </a:tr>
              <a:tr h="566928">
                <a:tc>
                  <a:txBody>
                    <a:bodyPr/>
                    <a:lstStyle/>
                    <a:p>
                      <a:r>
                        <a:rPr sz="2000" b="1" dirty="0">
                          <a:solidFill>
                            <a:srgbClr val="5C4826"/>
                          </a:solidFill>
                          <a:latin typeface="Calibri"/>
                        </a:rPr>
                        <a:t>Validation</a:t>
                      </a:r>
                    </a:p>
                  </a:txBody>
                  <a:tcPr marL="73152" marR="73152" anchor="ctr">
                    <a:solidFill>
                      <a:srgbClr val="FCFAF6"/>
                    </a:solidFill>
                  </a:tcPr>
                </a:tc>
                <a:tc>
                  <a:txBody>
                    <a:bodyPr/>
                    <a:lstStyle/>
                    <a:p>
                      <a:r>
                        <a:rPr sz="2000" b="0" dirty="0">
                          <a:solidFill>
                            <a:srgbClr val="555960"/>
                          </a:solidFill>
                          <a:latin typeface="Calibri"/>
                        </a:rPr>
                        <a:t>Tests, visual regression, admission gates</a:t>
                      </a:r>
                    </a:p>
                  </a:txBody>
                  <a:tcPr marL="73152" marR="73152" anchor="ctr">
                    <a:solidFill>
                      <a:srgbClr val="FCFAF6"/>
                    </a:solidFill>
                  </a:tcPr>
                </a:tc>
                <a:extLst>
                  <a:ext uri="{0D108BD9-81ED-4DB2-BD59-A6C34878D82A}">
                    <a16:rowId xmlns:a16="http://schemas.microsoft.com/office/drawing/2014/main" val="10003"/>
                  </a:ext>
                </a:extLst>
              </a:tr>
              <a:tr h="566928">
                <a:tc>
                  <a:txBody>
                    <a:bodyPr/>
                    <a:lstStyle/>
                    <a:p>
                      <a:r>
                        <a:rPr sz="2000" b="1">
                          <a:solidFill>
                            <a:srgbClr val="5C4826"/>
                          </a:solidFill>
                          <a:latin typeface="Calibri"/>
                        </a:rPr>
                        <a:t>Metrics</a:t>
                      </a:r>
                    </a:p>
                  </a:txBody>
                  <a:tcPr marL="73152" marR="73152" anchor="ctr">
                    <a:solidFill>
                      <a:srgbClr val="F5F1E8"/>
                    </a:solidFill>
                  </a:tcPr>
                </a:tc>
                <a:tc>
                  <a:txBody>
                    <a:bodyPr/>
                    <a:lstStyle/>
                    <a:p>
                      <a:r>
                        <a:rPr sz="2000" b="0" dirty="0">
                          <a:solidFill>
                            <a:srgbClr val="555960"/>
                          </a:solidFill>
                          <a:latin typeface="Calibri"/>
                        </a:rPr>
                        <a:t>Goal dashboards</a:t>
                      </a:r>
                    </a:p>
                  </a:txBody>
                  <a:tcPr marL="73152" marR="73152" anchor="ctr">
                    <a:solidFill>
                      <a:srgbClr val="F5F1E8"/>
                    </a:solidFill>
                  </a:tcPr>
                </a:tc>
                <a:extLst>
                  <a:ext uri="{0D108BD9-81ED-4DB2-BD59-A6C34878D82A}">
                    <a16:rowId xmlns:a16="http://schemas.microsoft.com/office/drawing/2014/main" val="10004"/>
                  </a:ext>
                </a:extLst>
              </a:tr>
              <a:tr h="566928">
                <a:tc>
                  <a:txBody>
                    <a:bodyPr/>
                    <a:lstStyle/>
                    <a:p>
                      <a:r>
                        <a:rPr sz="2000" b="1" dirty="0">
                          <a:solidFill>
                            <a:srgbClr val="5C4826"/>
                          </a:solidFill>
                          <a:latin typeface="Calibri"/>
                        </a:rPr>
                        <a:t>Delegation</a:t>
                      </a:r>
                      <a:r>
                        <a:rPr lang="en-US" sz="2000" b="1" dirty="0">
                          <a:solidFill>
                            <a:srgbClr val="5C4826"/>
                          </a:solidFill>
                          <a:latin typeface="Calibri"/>
                        </a:rPr>
                        <a:t>; </a:t>
                      </a:r>
                      <a:r>
                        <a:rPr sz="2000" b="1" dirty="0">
                          <a:solidFill>
                            <a:srgbClr val="5C4826"/>
                          </a:solidFill>
                          <a:latin typeface="Calibri"/>
                        </a:rPr>
                        <a:t>Modeling</a:t>
                      </a:r>
                    </a:p>
                  </a:txBody>
                  <a:tcPr marL="73152" marR="73152" anchor="ctr">
                    <a:solidFill>
                      <a:srgbClr val="FCFAF6"/>
                    </a:solidFill>
                  </a:tcPr>
                </a:tc>
                <a:tc>
                  <a:txBody>
                    <a:bodyPr/>
                    <a:lstStyle/>
                    <a:p>
                      <a:r>
                        <a:rPr sz="2000" b="0" dirty="0">
                          <a:solidFill>
                            <a:srgbClr val="555960"/>
                          </a:solidFill>
                          <a:latin typeface="Calibri"/>
                        </a:rPr>
                        <a:t>Progress logs and scoped permissions</a:t>
                      </a:r>
                    </a:p>
                  </a:txBody>
                  <a:tcPr marL="73152" marR="73152" anchor="ctr">
                    <a:solidFill>
                      <a:srgbClr val="FCFAF6"/>
                    </a:solidFill>
                  </a:tcPr>
                </a:tc>
                <a:extLst>
                  <a:ext uri="{0D108BD9-81ED-4DB2-BD59-A6C34878D82A}">
                    <a16:rowId xmlns:a16="http://schemas.microsoft.com/office/drawing/2014/main" val="10005"/>
                  </a:ext>
                </a:extLst>
              </a:tr>
              <a:tr h="566928">
                <a:tc>
                  <a:txBody>
                    <a:bodyPr/>
                    <a:lstStyle/>
                    <a:p>
                      <a:r>
                        <a:rPr sz="2000" b="1">
                          <a:solidFill>
                            <a:srgbClr val="5C4826"/>
                          </a:solidFill>
                          <a:latin typeface="Calibri"/>
                        </a:rPr>
                        <a:t>Alignment</a:t>
                      </a:r>
                    </a:p>
                  </a:txBody>
                  <a:tcPr marL="73152" marR="73152" anchor="ctr">
                    <a:solidFill>
                      <a:srgbClr val="F5F1E8"/>
                    </a:solidFill>
                  </a:tcPr>
                </a:tc>
                <a:tc>
                  <a:txBody>
                    <a:bodyPr/>
                    <a:lstStyle/>
                    <a:p>
                      <a:r>
                        <a:rPr sz="2000" b="0" dirty="0">
                          <a:solidFill>
                            <a:srgbClr val="555960"/>
                          </a:solidFill>
                          <a:latin typeface="Calibri"/>
                        </a:rPr>
                        <a:t>A goal audit before any work begins</a:t>
                      </a:r>
                    </a:p>
                  </a:txBody>
                  <a:tcPr marL="73152" marR="73152" anchor="ctr">
                    <a:solidFill>
                      <a:srgbClr val="F5F1E8"/>
                    </a:solidFill>
                  </a:tcPr>
                </a:tc>
                <a:extLst>
                  <a:ext uri="{0D108BD9-81ED-4DB2-BD59-A6C34878D82A}">
                    <a16:rowId xmlns:a16="http://schemas.microsoft.com/office/drawing/2014/main" val="10006"/>
                  </a:ext>
                </a:extLst>
              </a:tr>
              <a:tr h="566928">
                <a:tc>
                  <a:txBody>
                    <a:bodyPr/>
                    <a:lstStyle/>
                    <a:p>
                      <a:r>
                        <a:rPr sz="2000" b="1" dirty="0">
                          <a:solidFill>
                            <a:srgbClr val="5C4826"/>
                          </a:solidFill>
                          <a:latin typeface="Calibri"/>
                        </a:rPr>
                        <a:t>Failure </a:t>
                      </a:r>
                      <a:r>
                        <a:rPr lang="en-US" sz="2000" b="1" dirty="0">
                          <a:solidFill>
                            <a:srgbClr val="5C4826"/>
                          </a:solidFill>
                          <a:latin typeface="Calibri"/>
                        </a:rPr>
                        <a:t>A</a:t>
                      </a:r>
                      <a:r>
                        <a:rPr sz="2000" b="1" dirty="0">
                          <a:solidFill>
                            <a:srgbClr val="5C4826"/>
                          </a:solidFill>
                          <a:latin typeface="Calibri"/>
                        </a:rPr>
                        <a:t>wareness</a:t>
                      </a:r>
                    </a:p>
                  </a:txBody>
                  <a:tcPr marL="73152" marR="73152" anchor="ctr">
                    <a:solidFill>
                      <a:srgbClr val="FCFAF6"/>
                    </a:solidFill>
                  </a:tcPr>
                </a:tc>
                <a:tc>
                  <a:txBody>
                    <a:bodyPr/>
                    <a:lstStyle/>
                    <a:p>
                      <a:r>
                        <a:rPr sz="2000" b="0" dirty="0">
                          <a:solidFill>
                            <a:srgbClr val="555960"/>
                          </a:solidFill>
                          <a:latin typeface="Calibri"/>
                        </a:rPr>
                        <a:t>Feature flags, rollback</a:t>
                      </a:r>
                    </a:p>
                  </a:txBody>
                  <a:tcPr marL="73152" marR="73152" anchor="ctr">
                    <a:solidFill>
                      <a:srgbClr val="FCFAF6"/>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Google Shape;128;p14"/>
          <p:cNvSpPr txBox="1"/>
          <p:nvPr/>
        </p:nvSpPr>
        <p:spPr>
          <a:xfrm>
            <a:off x="685800" y="2066543"/>
            <a:ext cx="7772400" cy="411480"/>
          </a:xfrm>
          <a:prstGeom prst="rect">
            <a:avLst/>
          </a:prstGeom>
          <a:noFill/>
          <a:ln>
            <a:noFill/>
          </a:ln>
        </p:spPr>
        <p:txBody>
          <a:bodyPr spcFirstLastPara="1" wrap="square" lIns="27425" tIns="22850" rIns="27425" bIns="22850" anchor="ctr" anchorCtr="0">
            <a:noAutofit/>
          </a:bodyPr>
          <a:lstStyle/>
          <a:p>
            <a:pPr marL="0" marR="0" lvl="0" indent="0" algn="ctr" rtl="0">
              <a:lnSpc>
                <a:spcPct val="104000"/>
              </a:lnSpc>
              <a:spcBef>
                <a:spcPts val="0"/>
              </a:spcBef>
              <a:spcAft>
                <a:spcPts val="0"/>
              </a:spcAft>
              <a:buNone/>
            </a:pPr>
            <a:r>
              <a:rPr lang="en-US" sz="1800" b="1">
                <a:solidFill>
                  <a:srgbClr val="8E6F3E"/>
                </a:solidFill>
                <a:latin typeface="Calibri"/>
                <a:ea typeface="Calibri"/>
                <a:cs typeface="Calibri"/>
                <a:sym typeface="Calibri"/>
              </a:rPr>
              <a:t>PART 4</a:t>
            </a:r>
            <a:endParaRPr sz="1600"/>
          </a:p>
        </p:txBody>
      </p:sp>
      <p:sp>
        <p:nvSpPr>
          <p:cNvPr id="129" name="Google Shape;129;p14"/>
          <p:cNvSpPr txBox="1"/>
          <p:nvPr/>
        </p:nvSpPr>
        <p:spPr>
          <a:xfrm>
            <a:off x="512064" y="2606040"/>
            <a:ext cx="8119872" cy="905256"/>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3800" b="0" i="0" u="none" strike="noStrike" cap="none">
                <a:solidFill>
                  <a:srgbClr val="2D2D2D"/>
                </a:solidFill>
                <a:latin typeface="Calibri"/>
                <a:ea typeface="Calibri"/>
                <a:cs typeface="Calibri"/>
                <a:sym typeface="Calibri"/>
              </a:rPr>
              <a:t>APPLY IT</a:t>
            </a:r>
            <a:endParaRPr/>
          </a:p>
        </p:txBody>
      </p:sp>
      <p:sp>
        <p:nvSpPr>
          <p:cNvPr id="130" name="Google Shape;130;p14"/>
          <p:cNvSpPr txBox="1"/>
          <p:nvPr/>
        </p:nvSpPr>
        <p:spPr>
          <a:xfrm>
            <a:off x="685800" y="3721608"/>
            <a:ext cx="7772400" cy="557784"/>
          </a:xfrm>
          <a:prstGeom prst="rect">
            <a:avLst/>
          </a:prstGeom>
          <a:noFill/>
          <a:ln>
            <a:noFill/>
          </a:ln>
        </p:spPr>
        <p:txBody>
          <a:bodyPr spcFirstLastPara="1" wrap="square" lIns="27425" tIns="22850" rIns="27425" bIns="22850" anchor="ctr" anchorCtr="0">
            <a:spAutoFit/>
          </a:bodyPr>
          <a:lstStyle/>
          <a:p>
            <a:pPr marL="0" marR="0" lvl="0" indent="0" algn="ctr" rtl="0">
              <a:lnSpc>
                <a:spcPct val="104000"/>
              </a:lnSpc>
              <a:spcBef>
                <a:spcPts val="0"/>
              </a:spcBef>
              <a:spcAft>
                <a:spcPts val="0"/>
              </a:spcAft>
              <a:buNone/>
            </a:pPr>
            <a:r>
              <a:rPr lang="en-US" sz="2200" b="0" i="0" u="none" strike="noStrike" cap="none">
                <a:solidFill>
                  <a:srgbClr val="5C4826"/>
                </a:solidFill>
                <a:latin typeface="Calibri"/>
                <a:ea typeface="Calibri"/>
                <a:cs typeface="Calibri"/>
                <a:sym typeface="Calibri"/>
              </a:rPr>
              <a:t>A factory for your semester project</a:t>
            </a:r>
            <a:endParaRPr/>
          </a:p>
        </p:txBody>
      </p:sp>
      <p:cxnSp>
        <p:nvCxnSpPr>
          <p:cNvPr id="131" name="Google Shape;131;p14"/>
          <p:cNvCxnSpPr/>
          <p:nvPr/>
        </p:nvCxnSpPr>
        <p:spPr>
          <a:xfrm>
            <a:off x="3657600" y="4663440"/>
            <a:ext cx="1828800" cy="0"/>
          </a:xfrm>
          <a:prstGeom prst="straightConnector1">
            <a:avLst/>
          </a:prstGeom>
          <a:noFill/>
          <a:ln w="38100" cap="flat" cmpd="sng">
            <a:solidFill>
              <a:srgbClr val="8E6F3E"/>
            </a:solidFill>
            <a:prstDash val="solid"/>
            <a:round/>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lang="en-US" sz="2400" dirty="0">
                <a:solidFill>
                  <a:srgbClr val="2D2D2D"/>
                </a:solidFill>
                <a:latin typeface="Calibri"/>
              </a:rPr>
              <a:t>How is this relevant to the team project?</a:t>
            </a:r>
            <a:endParaRPr sz="2400" b="0" i="0" dirty="0">
              <a:solidFill>
                <a:srgbClr val="2D2D2D"/>
              </a:solidFill>
              <a:latin typeface="Calibri"/>
            </a:endParaRPr>
          </a:p>
        </p:txBody>
      </p:sp>
      <p:sp>
        <p:nvSpPr>
          <p:cNvPr id="3" name="Rectangle 2"/>
          <p:cNvSpPr/>
          <p:nvPr/>
        </p:nvSpPr>
        <p:spPr>
          <a:xfrm>
            <a:off x="411480" y="1097280"/>
            <a:ext cx="4069080" cy="2606040"/>
          </a:xfrm>
          <a:prstGeom prst="rect">
            <a:avLst/>
          </a:prstGeom>
          <a:solidFill>
            <a:srgbClr val="F5F1E8"/>
          </a:solidFill>
          <a:ln w="12700">
            <a:solidFill>
              <a:srgbClr val="CBB590"/>
            </a:solidFill>
          </a:ln>
        </p:spPr>
        <p:txBody>
          <a:bodyPr rtlCol="0" anchor="ctr"/>
          <a:lstStyle/>
          <a:p>
            <a:endParaRPr sz="1600"/>
          </a:p>
        </p:txBody>
      </p:sp>
      <p:sp>
        <p:nvSpPr>
          <p:cNvPr id="4" name="TextBox 3"/>
          <p:cNvSpPr txBox="1"/>
          <p:nvPr/>
        </p:nvSpPr>
        <p:spPr>
          <a:xfrm>
            <a:off x="557784" y="1188720"/>
            <a:ext cx="3776472" cy="274320"/>
          </a:xfrm>
          <a:prstGeom prst="rect">
            <a:avLst/>
          </a:prstGeom>
          <a:noFill/>
        </p:spPr>
        <p:txBody>
          <a:bodyPr wrap="square" lIns="27425" tIns="22850" rIns="27425" bIns="22850" anchor="ctr"/>
          <a:lstStyle/>
          <a:p>
            <a:pPr algn="l"/>
            <a:r>
              <a:rPr sz="1600" b="1" i="0">
                <a:solidFill>
                  <a:srgbClr val="8E6F3E"/>
                </a:solidFill>
                <a:latin typeface="Calibri"/>
              </a:rPr>
              <a:t>WHERE YOU ARE</a:t>
            </a:r>
          </a:p>
        </p:txBody>
      </p:sp>
      <p:sp>
        <p:nvSpPr>
          <p:cNvPr id="5" name="TextBox 4"/>
          <p:cNvSpPr txBox="1"/>
          <p:nvPr/>
        </p:nvSpPr>
        <p:spPr>
          <a:xfrm>
            <a:off x="557784" y="1481328"/>
            <a:ext cx="3776472" cy="411480"/>
          </a:xfrm>
          <a:prstGeom prst="rect">
            <a:avLst/>
          </a:prstGeom>
          <a:noFill/>
        </p:spPr>
        <p:txBody>
          <a:bodyPr wrap="square" lIns="27425" tIns="22850" rIns="27425" bIns="22850" anchor="ctr"/>
          <a:lstStyle/>
          <a:p>
            <a:pPr algn="l"/>
            <a:r>
              <a:rPr sz="2000" b="1" i="0" dirty="0">
                <a:solidFill>
                  <a:srgbClr val="5C4826"/>
                </a:solidFill>
                <a:latin typeface="Calibri"/>
              </a:rPr>
              <a:t>Phase 4 now, Phase 5 next</a:t>
            </a:r>
          </a:p>
        </p:txBody>
      </p:sp>
      <p:sp>
        <p:nvSpPr>
          <p:cNvPr id="6" name="TextBox 5"/>
          <p:cNvSpPr txBox="1"/>
          <p:nvPr/>
        </p:nvSpPr>
        <p:spPr>
          <a:xfrm>
            <a:off x="557784" y="1938528"/>
            <a:ext cx="3776472" cy="1691639"/>
          </a:xfrm>
          <a:prstGeom prst="rect">
            <a:avLst/>
          </a:prstGeom>
          <a:noFill/>
        </p:spPr>
        <p:txBody>
          <a:bodyPr wrap="square" lIns="27425" tIns="22850" rIns="27425" bIns="22850" anchor="t"/>
          <a:lstStyle/>
          <a:p>
            <a:pPr algn="l"/>
            <a:r>
              <a:rPr sz="1800" b="0" i="0" dirty="0">
                <a:solidFill>
                  <a:srgbClr val="555960"/>
                </a:solidFill>
                <a:latin typeface="Calibri"/>
              </a:rPr>
              <a:t>Phase 5</a:t>
            </a:r>
            <a:r>
              <a:rPr lang="en-US" sz="1800" dirty="0">
                <a:solidFill>
                  <a:srgbClr val="555960"/>
                </a:solidFill>
                <a:latin typeface="Calibri"/>
              </a:rPr>
              <a:t> begins next week </a:t>
            </a:r>
            <a:r>
              <a:rPr sz="1800" b="0" i="0" dirty="0">
                <a:solidFill>
                  <a:srgbClr val="555960"/>
                </a:solidFill>
                <a:latin typeface="Calibri"/>
              </a:rPr>
              <a:t>and must include automated testing and validation.</a:t>
            </a:r>
          </a:p>
        </p:txBody>
      </p:sp>
      <p:sp>
        <p:nvSpPr>
          <p:cNvPr id="7" name="Rectangle 6"/>
          <p:cNvSpPr/>
          <p:nvPr/>
        </p:nvSpPr>
        <p:spPr>
          <a:xfrm>
            <a:off x="4663440" y="1097280"/>
            <a:ext cx="4069080" cy="2606040"/>
          </a:xfrm>
          <a:prstGeom prst="rect">
            <a:avLst/>
          </a:prstGeom>
          <a:solidFill>
            <a:srgbClr val="FCFAF6"/>
          </a:solidFill>
          <a:ln w="12700">
            <a:solidFill>
              <a:srgbClr val="CBB590"/>
            </a:solidFill>
          </a:ln>
        </p:spPr>
        <p:txBody>
          <a:bodyPr rtlCol="0" anchor="ctr"/>
          <a:lstStyle/>
          <a:p>
            <a:endParaRPr sz="1600"/>
          </a:p>
        </p:txBody>
      </p:sp>
      <p:sp>
        <p:nvSpPr>
          <p:cNvPr id="8" name="TextBox 7"/>
          <p:cNvSpPr txBox="1"/>
          <p:nvPr/>
        </p:nvSpPr>
        <p:spPr>
          <a:xfrm>
            <a:off x="4809744" y="1188720"/>
            <a:ext cx="3776472" cy="274320"/>
          </a:xfrm>
          <a:prstGeom prst="rect">
            <a:avLst/>
          </a:prstGeom>
          <a:noFill/>
        </p:spPr>
        <p:txBody>
          <a:bodyPr wrap="square" lIns="27425" tIns="22850" rIns="27425" bIns="22850" anchor="ctr"/>
          <a:lstStyle/>
          <a:p>
            <a:pPr algn="l"/>
            <a:r>
              <a:rPr sz="1600" b="1" i="0">
                <a:solidFill>
                  <a:srgbClr val="8E6F3E"/>
                </a:solidFill>
                <a:latin typeface="Calibri"/>
              </a:rPr>
              <a:t>WHAT EVERY PHASE DELIVERS</a:t>
            </a:r>
          </a:p>
        </p:txBody>
      </p:sp>
      <p:sp>
        <p:nvSpPr>
          <p:cNvPr id="9" name="TextBox 8"/>
          <p:cNvSpPr txBox="1"/>
          <p:nvPr/>
        </p:nvSpPr>
        <p:spPr>
          <a:xfrm>
            <a:off x="4809744" y="1481328"/>
            <a:ext cx="3776472" cy="2148839"/>
          </a:xfrm>
          <a:prstGeom prst="rect">
            <a:avLst/>
          </a:prstGeom>
          <a:noFill/>
        </p:spPr>
        <p:txBody>
          <a:bodyPr wrap="square" lIns="27425" tIns="22850" rIns="27425" bIns="22850" anchor="t"/>
          <a:lstStyle/>
          <a:p>
            <a:pPr algn="l">
              <a:spcAft>
                <a:spcPts val="400"/>
              </a:spcAft>
            </a:pPr>
            <a:r>
              <a:rPr sz="1800" b="0" i="0" dirty="0">
                <a:solidFill>
                  <a:srgbClr val="555960"/>
                </a:solidFill>
                <a:latin typeface="Calibri"/>
              </a:rPr>
              <a:t>A deployed web service</a:t>
            </a:r>
          </a:p>
          <a:p>
            <a:pPr algn="l">
              <a:spcAft>
                <a:spcPts val="400"/>
              </a:spcAft>
            </a:pPr>
            <a:r>
              <a:rPr sz="1800" b="0" i="0" dirty="0">
                <a:solidFill>
                  <a:srgbClr val="555960"/>
                </a:solidFill>
                <a:latin typeface="Calibri"/>
              </a:rPr>
              <a:t>An automated test runner</a:t>
            </a:r>
          </a:p>
          <a:p>
            <a:pPr algn="l">
              <a:spcAft>
                <a:spcPts val="400"/>
              </a:spcAft>
            </a:pPr>
            <a:r>
              <a:rPr sz="1800" b="0" i="0" dirty="0">
                <a:solidFill>
                  <a:srgbClr val="555960"/>
                </a:solidFill>
                <a:latin typeface="Calibri"/>
              </a:rPr>
              <a:t>Regression tests</a:t>
            </a:r>
          </a:p>
          <a:p>
            <a:pPr algn="l">
              <a:spcAft>
                <a:spcPts val="400"/>
              </a:spcAft>
            </a:pPr>
            <a:r>
              <a:rPr sz="1800" b="0" i="0" dirty="0">
                <a:solidFill>
                  <a:srgbClr val="555960"/>
                </a:solidFill>
                <a:latin typeface="Calibri"/>
              </a:rPr>
              <a:t>Updated system models</a:t>
            </a:r>
          </a:p>
          <a:p>
            <a:pPr algn="l"/>
            <a:r>
              <a:rPr sz="1800" b="0" i="0" dirty="0">
                <a:solidFill>
                  <a:srgbClr val="555960"/>
                </a:solidFill>
                <a:latin typeface="Calibri"/>
              </a:rPr>
              <a:t>Known limitations</a:t>
            </a:r>
          </a:p>
        </p:txBody>
      </p:sp>
      <p:sp>
        <p:nvSpPr>
          <p:cNvPr id="10" name="Rectangle 9"/>
          <p:cNvSpPr/>
          <p:nvPr/>
        </p:nvSpPr>
        <p:spPr>
          <a:xfrm>
            <a:off x="411480" y="3998975"/>
            <a:ext cx="8321040" cy="1261873"/>
          </a:xfrm>
          <a:prstGeom prst="rect">
            <a:avLst/>
          </a:prstGeom>
          <a:solidFill>
            <a:srgbClr val="FCFAF6"/>
          </a:solidFill>
          <a:ln>
            <a:noFill/>
          </a:ln>
        </p:spPr>
        <p:txBody>
          <a:bodyPr rtlCol="0" anchor="ctr"/>
          <a:lstStyle/>
          <a:p>
            <a:endParaRPr/>
          </a:p>
        </p:txBody>
      </p:sp>
      <p:sp>
        <p:nvSpPr>
          <p:cNvPr id="11" name="TextBox 10"/>
          <p:cNvSpPr txBox="1"/>
          <p:nvPr/>
        </p:nvSpPr>
        <p:spPr>
          <a:xfrm>
            <a:off x="594360" y="4069080"/>
            <a:ext cx="7955279" cy="274320"/>
          </a:xfrm>
          <a:prstGeom prst="rect">
            <a:avLst/>
          </a:prstGeom>
          <a:noFill/>
        </p:spPr>
        <p:txBody>
          <a:bodyPr wrap="square" lIns="27425" tIns="22850" rIns="27425" bIns="22850" anchor="ctr"/>
          <a:lstStyle/>
          <a:p>
            <a:pPr algn="l"/>
            <a:r>
              <a:rPr sz="1600" b="1" i="0">
                <a:solidFill>
                  <a:srgbClr val="8E6F3E"/>
                </a:solidFill>
                <a:latin typeface="Calibri"/>
              </a:rPr>
              <a:t>FROM THE PROJECT DESCRIPTION</a:t>
            </a:r>
          </a:p>
        </p:txBody>
      </p:sp>
      <p:sp>
        <p:nvSpPr>
          <p:cNvPr id="12" name="TextBox 11"/>
          <p:cNvSpPr txBox="1"/>
          <p:nvPr/>
        </p:nvSpPr>
        <p:spPr>
          <a:xfrm>
            <a:off x="594360" y="4434840"/>
            <a:ext cx="7955279" cy="543560"/>
          </a:xfrm>
          <a:prstGeom prst="rect">
            <a:avLst/>
          </a:prstGeom>
          <a:noFill/>
        </p:spPr>
        <p:txBody>
          <a:bodyPr wrap="square" lIns="27425" tIns="22850" rIns="27425" bIns="22850" anchor="ctr"/>
          <a:lstStyle/>
          <a:p>
            <a:pPr algn="l"/>
            <a:r>
              <a:rPr sz="2100" b="1" i="0" dirty="0">
                <a:solidFill>
                  <a:srgbClr val="5C4826"/>
                </a:solidFill>
                <a:latin typeface="Calibri"/>
              </a:rPr>
              <a:t>“The expectation is not simply that more code exists.”</a:t>
            </a:r>
          </a:p>
        </p:txBody>
      </p:sp>
      <p:sp>
        <p:nvSpPr>
          <p:cNvPr id="13" name="Rectangle 12"/>
          <p:cNvSpPr/>
          <p:nvPr/>
        </p:nvSpPr>
        <p:spPr>
          <a:xfrm>
            <a:off x="274320" y="5669280"/>
            <a:ext cx="8595360" cy="713232"/>
          </a:xfrm>
          <a:prstGeom prst="rect">
            <a:avLst/>
          </a:prstGeom>
          <a:solidFill>
            <a:srgbClr val="8E6F3E"/>
          </a:solidFill>
          <a:ln>
            <a:noFill/>
          </a:ln>
        </p:spPr>
        <p:txBody>
          <a:bodyPr rtlCol="0" anchor="ctr"/>
          <a:lstStyle/>
          <a:p>
            <a:endParaRPr/>
          </a:p>
        </p:txBody>
      </p:sp>
      <p:sp>
        <p:nvSpPr>
          <p:cNvPr id="14" name="TextBox 13"/>
          <p:cNvSpPr txBox="1"/>
          <p:nvPr/>
        </p:nvSpPr>
        <p:spPr>
          <a:xfrm>
            <a:off x="384048" y="5669280"/>
            <a:ext cx="8375904" cy="694944"/>
          </a:xfrm>
          <a:prstGeom prst="rect">
            <a:avLst/>
          </a:prstGeom>
          <a:noFill/>
        </p:spPr>
        <p:txBody>
          <a:bodyPr wrap="square" lIns="27425" tIns="22850" rIns="27425" bIns="22850" anchor="ctr"/>
          <a:lstStyle/>
          <a:p>
            <a:pPr algn="ctr"/>
            <a:r>
              <a:rPr sz="1800" b="1" i="0" dirty="0">
                <a:solidFill>
                  <a:srgbClr val="FFFFFF"/>
                </a:solidFill>
                <a:latin typeface="Calibri"/>
              </a:rPr>
              <a:t>Those deliverables already describe a small factory. </a:t>
            </a:r>
            <a:endParaRPr lang="en-US" sz="1800" b="1" i="0" dirty="0">
              <a:solidFill>
                <a:srgbClr val="FFFFFF"/>
              </a:solidFill>
              <a:latin typeface="Calibri"/>
            </a:endParaRPr>
          </a:p>
          <a:p>
            <a:pPr algn="ctr"/>
            <a:r>
              <a:rPr sz="1800" b="1" i="0" dirty="0">
                <a:solidFill>
                  <a:srgbClr val="FFFFFF"/>
                </a:solidFill>
                <a:latin typeface="Calibri"/>
              </a:rPr>
              <a:t>Today you design yours on purpose.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animBg="1"/>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Activity: build a Factory Canvas for your project</a:t>
            </a:r>
          </a:p>
        </p:txBody>
      </p:sp>
      <p:sp>
        <p:nvSpPr>
          <p:cNvPr id="3" name="Rectangle 2"/>
          <p:cNvSpPr/>
          <p:nvPr/>
        </p:nvSpPr>
        <p:spPr>
          <a:xfrm>
            <a:off x="457200" y="1078992"/>
            <a:ext cx="2468880" cy="384048"/>
          </a:xfrm>
          <a:prstGeom prst="rect">
            <a:avLst/>
          </a:prstGeom>
          <a:solidFill>
            <a:srgbClr val="8E6F3E"/>
          </a:solidFill>
          <a:ln>
            <a:noFill/>
          </a:ln>
        </p:spPr>
        <p:txBody>
          <a:bodyPr rtlCol="0" anchor="ctr"/>
          <a:lstStyle/>
          <a:p>
            <a:endParaRPr/>
          </a:p>
        </p:txBody>
      </p:sp>
      <p:sp>
        <p:nvSpPr>
          <p:cNvPr id="4" name="TextBox 3"/>
          <p:cNvSpPr txBox="1"/>
          <p:nvPr/>
        </p:nvSpPr>
        <p:spPr>
          <a:xfrm>
            <a:off x="457200" y="1078992"/>
            <a:ext cx="2468880" cy="384048"/>
          </a:xfrm>
          <a:prstGeom prst="rect">
            <a:avLst/>
          </a:prstGeom>
          <a:noFill/>
        </p:spPr>
        <p:txBody>
          <a:bodyPr wrap="square" lIns="27425" tIns="22850" rIns="27425" bIns="22850" anchor="ctr"/>
          <a:lstStyle/>
          <a:p>
            <a:pPr algn="ctr"/>
            <a:r>
              <a:rPr sz="1800" b="1" i="0" dirty="0">
                <a:solidFill>
                  <a:srgbClr val="FFFFFF"/>
                </a:solidFill>
                <a:latin typeface="Calibri"/>
              </a:rPr>
              <a:t>1</a:t>
            </a:r>
            <a:r>
              <a:rPr lang="en-US" sz="1800" b="1" i="0" dirty="0">
                <a:solidFill>
                  <a:srgbClr val="FFFFFF"/>
                </a:solidFill>
                <a:latin typeface="Calibri"/>
              </a:rPr>
              <a:t>5</a:t>
            </a:r>
            <a:r>
              <a:rPr sz="1800" b="1" i="0" dirty="0">
                <a:solidFill>
                  <a:srgbClr val="FFFFFF"/>
                </a:solidFill>
                <a:latin typeface="Calibri"/>
              </a:rPr>
              <a:t> MINUTES · TEAMS</a:t>
            </a:r>
          </a:p>
        </p:txBody>
      </p:sp>
      <p:sp>
        <p:nvSpPr>
          <p:cNvPr id="5" name="Rectangle 4"/>
          <p:cNvSpPr/>
          <p:nvPr/>
        </p:nvSpPr>
        <p:spPr>
          <a:xfrm>
            <a:off x="502920" y="1879092"/>
            <a:ext cx="548640" cy="384048"/>
          </a:xfrm>
          <a:prstGeom prst="rect">
            <a:avLst/>
          </a:prstGeom>
          <a:solidFill>
            <a:srgbClr val="8E6F3E"/>
          </a:solidFill>
          <a:ln>
            <a:noFill/>
          </a:ln>
        </p:spPr>
        <p:txBody>
          <a:bodyPr rtlCol="0" anchor="ctr"/>
          <a:lstStyle/>
          <a:p>
            <a:endParaRPr sz="1800"/>
          </a:p>
        </p:txBody>
      </p:sp>
      <p:sp>
        <p:nvSpPr>
          <p:cNvPr id="6" name="TextBox 5"/>
          <p:cNvSpPr txBox="1"/>
          <p:nvPr/>
        </p:nvSpPr>
        <p:spPr>
          <a:xfrm>
            <a:off x="502920" y="1879092"/>
            <a:ext cx="548640" cy="384048"/>
          </a:xfrm>
          <a:prstGeom prst="rect">
            <a:avLst/>
          </a:prstGeom>
          <a:noFill/>
        </p:spPr>
        <p:txBody>
          <a:bodyPr wrap="square" lIns="27425" tIns="22850" rIns="27425" bIns="22850" anchor="ctr"/>
          <a:lstStyle/>
          <a:p>
            <a:pPr algn="ctr"/>
            <a:r>
              <a:rPr sz="2000" b="1" i="0">
                <a:solidFill>
                  <a:srgbClr val="FFFFFF"/>
                </a:solidFill>
                <a:latin typeface="Calibri"/>
              </a:rPr>
              <a:t>1</a:t>
            </a:r>
          </a:p>
        </p:txBody>
      </p:sp>
      <p:sp>
        <p:nvSpPr>
          <p:cNvPr id="7" name="TextBox 6"/>
          <p:cNvSpPr txBox="1"/>
          <p:nvPr/>
        </p:nvSpPr>
        <p:spPr>
          <a:xfrm>
            <a:off x="1188720" y="1810512"/>
            <a:ext cx="7223760" cy="310896"/>
          </a:xfrm>
          <a:prstGeom prst="rect">
            <a:avLst/>
          </a:prstGeom>
          <a:noFill/>
        </p:spPr>
        <p:txBody>
          <a:bodyPr wrap="square" lIns="27425" tIns="22850" rIns="27425" bIns="22850" anchor="t"/>
          <a:lstStyle/>
          <a:p>
            <a:pPr algn="l"/>
            <a:r>
              <a:rPr sz="2400" b="1" i="0" dirty="0">
                <a:solidFill>
                  <a:srgbClr val="5C4826"/>
                </a:solidFill>
                <a:latin typeface="Calibri"/>
              </a:rPr>
              <a:t>Fill the canvas (</a:t>
            </a:r>
            <a:r>
              <a:rPr lang="en-US" sz="2400" b="1" i="0" dirty="0">
                <a:solidFill>
                  <a:srgbClr val="5C4826"/>
                </a:solidFill>
                <a:latin typeface="Calibri"/>
              </a:rPr>
              <a:t>8</a:t>
            </a:r>
            <a:r>
              <a:rPr sz="2400" b="1" i="0" dirty="0">
                <a:solidFill>
                  <a:srgbClr val="5C4826"/>
                </a:solidFill>
                <a:latin typeface="Calibri"/>
              </a:rPr>
              <a:t> min)</a:t>
            </a:r>
          </a:p>
        </p:txBody>
      </p:sp>
      <p:sp>
        <p:nvSpPr>
          <p:cNvPr id="8" name="TextBox 7"/>
          <p:cNvSpPr txBox="1"/>
          <p:nvPr/>
        </p:nvSpPr>
        <p:spPr>
          <a:xfrm>
            <a:off x="1188720" y="2185416"/>
            <a:ext cx="6253480" cy="694944"/>
          </a:xfrm>
          <a:prstGeom prst="rect">
            <a:avLst/>
          </a:prstGeom>
          <a:noFill/>
        </p:spPr>
        <p:txBody>
          <a:bodyPr wrap="square" lIns="27425" tIns="22850" rIns="27425" bIns="22850" anchor="t"/>
          <a:lstStyle/>
          <a:p>
            <a:pPr algn="l"/>
            <a:r>
              <a:rPr sz="2000" b="0" i="0" dirty="0">
                <a:solidFill>
                  <a:srgbClr val="555960"/>
                </a:solidFill>
                <a:latin typeface="Calibri"/>
              </a:rPr>
              <a:t>For each row: </a:t>
            </a:r>
            <a:r>
              <a:rPr lang="en-US" sz="2000" b="0" i="0" dirty="0">
                <a:solidFill>
                  <a:srgbClr val="555960"/>
                </a:solidFill>
                <a:latin typeface="Calibri"/>
              </a:rPr>
              <a:t>w</a:t>
            </a:r>
            <a:r>
              <a:rPr sz="2000" b="0" i="0" dirty="0">
                <a:solidFill>
                  <a:srgbClr val="555960"/>
                </a:solidFill>
                <a:latin typeface="Calibri"/>
              </a:rPr>
              <a:t>hat you have today</a:t>
            </a:r>
            <a:r>
              <a:rPr lang="en-US" sz="2000" dirty="0">
                <a:solidFill>
                  <a:srgbClr val="555960"/>
                </a:solidFill>
                <a:latin typeface="Calibri"/>
              </a:rPr>
              <a:t> and </a:t>
            </a:r>
            <a:r>
              <a:rPr sz="2000" b="0" i="0" dirty="0">
                <a:solidFill>
                  <a:srgbClr val="555960"/>
                </a:solidFill>
                <a:latin typeface="Calibri"/>
              </a:rPr>
              <a:t>the biggest gap</a:t>
            </a:r>
            <a:r>
              <a:rPr lang="en-US" sz="2000" dirty="0">
                <a:solidFill>
                  <a:srgbClr val="555960"/>
                </a:solidFill>
                <a:latin typeface="Calibri"/>
              </a:rPr>
              <a:t>.</a:t>
            </a:r>
            <a:endParaRPr sz="2000" b="0" i="0" dirty="0">
              <a:solidFill>
                <a:srgbClr val="555960"/>
              </a:solidFill>
              <a:latin typeface="Calibri"/>
            </a:endParaRPr>
          </a:p>
        </p:txBody>
      </p:sp>
      <p:sp>
        <p:nvSpPr>
          <p:cNvPr id="9" name="Rectangle 8"/>
          <p:cNvSpPr/>
          <p:nvPr/>
        </p:nvSpPr>
        <p:spPr>
          <a:xfrm>
            <a:off x="502920" y="3094229"/>
            <a:ext cx="548640" cy="384048"/>
          </a:xfrm>
          <a:prstGeom prst="rect">
            <a:avLst/>
          </a:prstGeom>
          <a:solidFill>
            <a:srgbClr val="8E6F3E"/>
          </a:solidFill>
          <a:ln>
            <a:noFill/>
          </a:ln>
        </p:spPr>
        <p:txBody>
          <a:bodyPr rtlCol="0" anchor="ctr"/>
          <a:lstStyle/>
          <a:p>
            <a:endParaRPr sz="1800"/>
          </a:p>
        </p:txBody>
      </p:sp>
      <p:sp>
        <p:nvSpPr>
          <p:cNvPr id="10" name="TextBox 9"/>
          <p:cNvSpPr txBox="1"/>
          <p:nvPr/>
        </p:nvSpPr>
        <p:spPr>
          <a:xfrm>
            <a:off x="502920" y="3112517"/>
            <a:ext cx="548640" cy="384048"/>
          </a:xfrm>
          <a:prstGeom prst="rect">
            <a:avLst/>
          </a:prstGeom>
          <a:noFill/>
        </p:spPr>
        <p:txBody>
          <a:bodyPr wrap="square" lIns="27425" tIns="22850" rIns="27425" bIns="22850" anchor="ctr"/>
          <a:lstStyle/>
          <a:p>
            <a:pPr algn="ctr"/>
            <a:r>
              <a:rPr sz="2000" b="1" i="0">
                <a:solidFill>
                  <a:srgbClr val="FFFFFF"/>
                </a:solidFill>
                <a:latin typeface="Calibri"/>
              </a:rPr>
              <a:t>2</a:t>
            </a:r>
          </a:p>
        </p:txBody>
      </p:sp>
      <p:sp>
        <p:nvSpPr>
          <p:cNvPr id="11" name="TextBox 10"/>
          <p:cNvSpPr txBox="1"/>
          <p:nvPr/>
        </p:nvSpPr>
        <p:spPr>
          <a:xfrm>
            <a:off x="1188720" y="2993645"/>
            <a:ext cx="7223760" cy="310896"/>
          </a:xfrm>
          <a:prstGeom prst="rect">
            <a:avLst/>
          </a:prstGeom>
          <a:noFill/>
        </p:spPr>
        <p:txBody>
          <a:bodyPr wrap="square" lIns="27425" tIns="22850" rIns="27425" bIns="22850" anchor="t"/>
          <a:lstStyle/>
          <a:p>
            <a:pPr algn="l"/>
            <a:r>
              <a:rPr sz="2400" b="1" i="0">
                <a:solidFill>
                  <a:srgbClr val="5C4826"/>
                </a:solidFill>
                <a:latin typeface="Calibri"/>
              </a:rPr>
              <a:t>Choose one upgrade (4 min)</a:t>
            </a:r>
          </a:p>
        </p:txBody>
      </p:sp>
      <p:sp>
        <p:nvSpPr>
          <p:cNvPr id="12" name="TextBox 11"/>
          <p:cNvSpPr txBox="1"/>
          <p:nvPr/>
        </p:nvSpPr>
        <p:spPr>
          <a:xfrm>
            <a:off x="1188720" y="3423413"/>
            <a:ext cx="7223760" cy="680212"/>
          </a:xfrm>
          <a:prstGeom prst="rect">
            <a:avLst/>
          </a:prstGeom>
          <a:noFill/>
        </p:spPr>
        <p:txBody>
          <a:bodyPr wrap="square" lIns="27425" tIns="22850" rIns="27425" bIns="22850" anchor="t"/>
          <a:lstStyle/>
          <a:p>
            <a:pPr algn="l"/>
            <a:r>
              <a:rPr sz="2000" b="0" i="0" dirty="0">
                <a:solidFill>
                  <a:srgbClr val="555960"/>
                </a:solidFill>
                <a:latin typeface="Calibri"/>
              </a:rPr>
              <a:t>Which gap, if closed, would let agents safely deliver more of Phase 5? What evidence would show it worked?</a:t>
            </a:r>
          </a:p>
        </p:txBody>
      </p:sp>
      <p:sp>
        <p:nvSpPr>
          <p:cNvPr id="13" name="Rectangle 12"/>
          <p:cNvSpPr/>
          <p:nvPr/>
        </p:nvSpPr>
        <p:spPr>
          <a:xfrm>
            <a:off x="502920" y="4558285"/>
            <a:ext cx="548640" cy="384048"/>
          </a:xfrm>
          <a:prstGeom prst="rect">
            <a:avLst/>
          </a:prstGeom>
          <a:solidFill>
            <a:srgbClr val="8E6F3E"/>
          </a:solidFill>
          <a:ln>
            <a:noFill/>
          </a:ln>
        </p:spPr>
        <p:txBody>
          <a:bodyPr rtlCol="0" anchor="ctr"/>
          <a:lstStyle/>
          <a:p>
            <a:endParaRPr sz="1800"/>
          </a:p>
        </p:txBody>
      </p:sp>
      <p:sp>
        <p:nvSpPr>
          <p:cNvPr id="14" name="TextBox 13"/>
          <p:cNvSpPr txBox="1"/>
          <p:nvPr/>
        </p:nvSpPr>
        <p:spPr>
          <a:xfrm>
            <a:off x="502920" y="4558285"/>
            <a:ext cx="548640" cy="384048"/>
          </a:xfrm>
          <a:prstGeom prst="rect">
            <a:avLst/>
          </a:prstGeom>
          <a:noFill/>
        </p:spPr>
        <p:txBody>
          <a:bodyPr wrap="square" lIns="27425" tIns="22850" rIns="27425" bIns="22850" anchor="ctr"/>
          <a:lstStyle/>
          <a:p>
            <a:pPr algn="ctr"/>
            <a:r>
              <a:rPr sz="2000" b="1" i="0">
                <a:solidFill>
                  <a:srgbClr val="FFFFFF"/>
                </a:solidFill>
                <a:latin typeface="Calibri"/>
              </a:rPr>
              <a:t>3</a:t>
            </a:r>
          </a:p>
        </p:txBody>
      </p:sp>
      <p:sp>
        <p:nvSpPr>
          <p:cNvPr id="15" name="TextBox 14"/>
          <p:cNvSpPr txBox="1"/>
          <p:nvPr/>
        </p:nvSpPr>
        <p:spPr>
          <a:xfrm>
            <a:off x="1188720" y="4439413"/>
            <a:ext cx="7223760" cy="438404"/>
          </a:xfrm>
          <a:prstGeom prst="rect">
            <a:avLst/>
          </a:prstGeom>
          <a:noFill/>
        </p:spPr>
        <p:txBody>
          <a:bodyPr wrap="square" lIns="27425" tIns="22850" rIns="27425" bIns="22850" anchor="t"/>
          <a:lstStyle/>
          <a:p>
            <a:pPr algn="l"/>
            <a:r>
              <a:rPr lang="en-US" sz="2400" b="1" dirty="0">
                <a:solidFill>
                  <a:srgbClr val="5C4826"/>
                </a:solidFill>
                <a:latin typeface="Calibri"/>
              </a:rPr>
              <a:t>Document your</a:t>
            </a:r>
            <a:r>
              <a:rPr sz="2400" b="1" i="0" dirty="0">
                <a:solidFill>
                  <a:srgbClr val="5C4826"/>
                </a:solidFill>
                <a:latin typeface="Calibri"/>
              </a:rPr>
              <a:t> </a:t>
            </a:r>
            <a:r>
              <a:rPr lang="en-US" sz="2400" b="1" i="0" dirty="0">
                <a:solidFill>
                  <a:srgbClr val="5C4826"/>
                </a:solidFill>
                <a:latin typeface="Calibri"/>
              </a:rPr>
              <a:t>choice </a:t>
            </a:r>
            <a:r>
              <a:rPr sz="2400" b="1" i="0" dirty="0">
                <a:solidFill>
                  <a:srgbClr val="5C4826"/>
                </a:solidFill>
                <a:latin typeface="Calibri"/>
              </a:rPr>
              <a:t>(3 min)</a:t>
            </a:r>
          </a:p>
        </p:txBody>
      </p:sp>
      <p:sp>
        <p:nvSpPr>
          <p:cNvPr id="16" name="TextBox 15"/>
          <p:cNvSpPr txBox="1"/>
          <p:nvPr/>
        </p:nvSpPr>
        <p:spPr>
          <a:xfrm>
            <a:off x="1188720" y="4877817"/>
            <a:ext cx="6088380" cy="566928"/>
          </a:xfrm>
          <a:prstGeom prst="rect">
            <a:avLst/>
          </a:prstGeom>
          <a:noFill/>
        </p:spPr>
        <p:txBody>
          <a:bodyPr wrap="square" lIns="27425" tIns="22850" rIns="27425" bIns="22850" anchor="t"/>
          <a:lstStyle/>
          <a:p>
            <a:pPr algn="l"/>
            <a:r>
              <a:rPr lang="en-US" sz="2000" b="0" i="0" dirty="0">
                <a:solidFill>
                  <a:srgbClr val="555960"/>
                </a:solidFill>
                <a:latin typeface="Calibri"/>
              </a:rPr>
              <a:t>What upgrade your team will work on and what</a:t>
            </a:r>
            <a:r>
              <a:rPr sz="2000" b="0" i="0" dirty="0">
                <a:solidFill>
                  <a:srgbClr val="555960"/>
                </a:solidFill>
                <a:latin typeface="Calibri"/>
              </a:rPr>
              <a:t> evidence you will look for.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40716"/>
            <a:ext cx="8595360" cy="594360"/>
          </a:xfrm>
          <a:prstGeom prst="rect">
            <a:avLst/>
          </a:prstGeom>
          <a:noFill/>
        </p:spPr>
        <p:txBody>
          <a:bodyPr wrap="square" lIns="27425" tIns="22850" rIns="27425" bIns="22850" anchor="ctr"/>
          <a:lstStyle/>
          <a:p>
            <a:pPr algn="l"/>
            <a:r>
              <a:rPr sz="2400" b="0" i="0" dirty="0">
                <a:solidFill>
                  <a:srgbClr val="2D2D2D"/>
                </a:solidFill>
                <a:latin typeface="Calibri"/>
              </a:rPr>
              <a:t>Canvas</a:t>
            </a:r>
            <a:r>
              <a:rPr lang="en-US" sz="2400" b="0" i="0" dirty="0">
                <a:solidFill>
                  <a:srgbClr val="2D2D2D"/>
                </a:solidFill>
                <a:latin typeface="Calibri"/>
              </a:rPr>
              <a:t> of Factory Resources</a:t>
            </a:r>
            <a:endParaRPr sz="2400" b="0" i="0" dirty="0">
              <a:solidFill>
                <a:srgbClr val="2D2D2D"/>
              </a:solidFill>
              <a:latin typeface="Calibri"/>
            </a:endParaRPr>
          </a:p>
        </p:txBody>
      </p:sp>
      <p:graphicFrame>
        <p:nvGraphicFramePr>
          <p:cNvPr id="3" name="Table 2"/>
          <p:cNvGraphicFramePr>
            <a:graphicFrameLocks noGrp="1"/>
          </p:cNvGraphicFramePr>
          <p:nvPr>
            <p:extLst>
              <p:ext uri="{D42A27DB-BD31-4B8C-83A1-F6EECF244321}">
                <p14:modId xmlns:p14="http://schemas.microsoft.com/office/powerpoint/2010/main" val="3169232696"/>
              </p:ext>
            </p:extLst>
          </p:nvPr>
        </p:nvGraphicFramePr>
        <p:xfrm>
          <a:off x="365760" y="1097280"/>
          <a:ext cx="8321040" cy="4122420"/>
        </p:xfrm>
        <a:graphic>
          <a:graphicData uri="http://schemas.openxmlformats.org/drawingml/2006/table">
            <a:tbl>
              <a:tblPr/>
              <a:tblGrid>
                <a:gridCol w="2161540">
                  <a:extLst>
                    <a:ext uri="{9D8B030D-6E8A-4147-A177-3AD203B41FA5}">
                      <a16:colId xmlns:a16="http://schemas.microsoft.com/office/drawing/2014/main" val="20000"/>
                    </a:ext>
                  </a:extLst>
                </a:gridCol>
                <a:gridCol w="29083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64820">
                <a:tc>
                  <a:txBody>
                    <a:bodyPr/>
                    <a:lstStyle/>
                    <a:p>
                      <a:r>
                        <a:rPr lang="en-US" sz="2000" b="1" dirty="0">
                          <a:solidFill>
                            <a:srgbClr val="FFFFFF"/>
                          </a:solidFill>
                          <a:latin typeface="Calibri"/>
                        </a:rPr>
                        <a:t>Resource</a:t>
                      </a:r>
                      <a:endParaRPr sz="2000" b="1" dirty="0">
                        <a:solidFill>
                          <a:srgbClr val="FFFFFF"/>
                        </a:solidFill>
                        <a:latin typeface="Calibri"/>
                      </a:endParaRPr>
                    </a:p>
                  </a:txBody>
                  <a:tcPr marL="73152" marR="73152" anchor="b">
                    <a:solidFill>
                      <a:srgbClr val="8E6F3E"/>
                    </a:solidFill>
                  </a:tcPr>
                </a:tc>
                <a:tc>
                  <a:txBody>
                    <a:bodyPr/>
                    <a:lstStyle/>
                    <a:p>
                      <a:r>
                        <a:rPr sz="2000" b="1">
                          <a:solidFill>
                            <a:srgbClr val="FFFFFF"/>
                          </a:solidFill>
                          <a:latin typeface="Calibri"/>
                        </a:rPr>
                        <a:t>What we have today</a:t>
                      </a:r>
                    </a:p>
                  </a:txBody>
                  <a:tcPr marL="73152" marR="73152" anchor="b">
                    <a:solidFill>
                      <a:srgbClr val="8E6F3E"/>
                    </a:solidFill>
                  </a:tcPr>
                </a:tc>
                <a:tc>
                  <a:txBody>
                    <a:bodyPr/>
                    <a:lstStyle/>
                    <a:p>
                      <a:r>
                        <a:rPr sz="2000" b="1" dirty="0">
                          <a:solidFill>
                            <a:srgbClr val="FFFFFF"/>
                          </a:solidFill>
                          <a:latin typeface="Calibri"/>
                        </a:rPr>
                        <a:t>Biggest gap</a:t>
                      </a:r>
                    </a:p>
                  </a:txBody>
                  <a:tcPr marL="73152" marR="73152" anchor="b">
                    <a:solidFill>
                      <a:srgbClr val="8E6F3E"/>
                    </a:solidFill>
                  </a:tcPr>
                </a:tc>
                <a:extLst>
                  <a:ext uri="{0D108BD9-81ED-4DB2-BD59-A6C34878D82A}">
                    <a16:rowId xmlns:a16="http://schemas.microsoft.com/office/drawing/2014/main" val="10000"/>
                  </a:ext>
                </a:extLst>
              </a:tr>
              <a:tr h="731520">
                <a:tc>
                  <a:txBody>
                    <a:bodyPr/>
                    <a:lstStyle/>
                    <a:p>
                      <a:r>
                        <a:rPr sz="2000" b="1" dirty="0">
                          <a:solidFill>
                            <a:srgbClr val="5C4826"/>
                          </a:solidFill>
                          <a:latin typeface="Calibri"/>
                        </a:rPr>
                        <a:t>Engineering knowledge</a:t>
                      </a:r>
                    </a:p>
                  </a:txBody>
                  <a:tcPr marL="73152" marR="73152" anchor="ctr">
                    <a:solidFill>
                      <a:srgbClr val="FCFAF6"/>
                    </a:solidFill>
                  </a:tcPr>
                </a:tc>
                <a:tc>
                  <a:txBody>
                    <a:bodyPr/>
                    <a:lstStyle/>
                    <a:p>
                      <a:endParaRPr sz="2000" dirty="0"/>
                    </a:p>
                  </a:txBody>
                  <a:tcPr marL="73152" marR="73152" anchor="ctr">
                    <a:solidFill>
                      <a:srgbClr val="FCFAF6"/>
                    </a:solidFill>
                  </a:tcPr>
                </a:tc>
                <a:tc>
                  <a:txBody>
                    <a:bodyPr/>
                    <a:lstStyle/>
                    <a:p>
                      <a:endParaRPr sz="2000"/>
                    </a:p>
                  </a:txBody>
                  <a:tcPr marL="73152" marR="73152" anchor="ctr">
                    <a:solidFill>
                      <a:srgbClr val="FCFAF6"/>
                    </a:solidFill>
                  </a:tcPr>
                </a:tc>
                <a:extLst>
                  <a:ext uri="{0D108BD9-81ED-4DB2-BD59-A6C34878D82A}">
                    <a16:rowId xmlns:a16="http://schemas.microsoft.com/office/drawing/2014/main" val="10001"/>
                  </a:ext>
                </a:extLst>
              </a:tr>
              <a:tr h="731520">
                <a:tc>
                  <a:txBody>
                    <a:bodyPr/>
                    <a:lstStyle/>
                    <a:p>
                      <a:r>
                        <a:rPr sz="2000" b="1">
                          <a:solidFill>
                            <a:srgbClr val="5C4826"/>
                          </a:solidFill>
                          <a:latin typeface="Calibri"/>
                        </a:rPr>
                        <a:t>Agent guidance and tools</a:t>
                      </a:r>
                    </a:p>
                  </a:txBody>
                  <a:tcPr marL="73152" marR="73152" anchor="ctr">
                    <a:solidFill>
                      <a:srgbClr val="F5F1E8"/>
                    </a:solidFill>
                  </a:tcPr>
                </a:tc>
                <a:tc>
                  <a:txBody>
                    <a:bodyPr/>
                    <a:lstStyle/>
                    <a:p>
                      <a:endParaRPr sz="2000" dirty="0"/>
                    </a:p>
                  </a:txBody>
                  <a:tcPr marL="73152" marR="73152" anchor="ctr">
                    <a:solidFill>
                      <a:srgbClr val="F5F1E8"/>
                    </a:solidFill>
                  </a:tcPr>
                </a:tc>
                <a:tc>
                  <a:txBody>
                    <a:bodyPr/>
                    <a:lstStyle/>
                    <a:p>
                      <a:endParaRPr sz="2000"/>
                    </a:p>
                  </a:txBody>
                  <a:tcPr marL="73152" marR="73152" anchor="ctr">
                    <a:solidFill>
                      <a:srgbClr val="F5F1E8"/>
                    </a:solidFill>
                  </a:tcPr>
                </a:tc>
                <a:extLst>
                  <a:ext uri="{0D108BD9-81ED-4DB2-BD59-A6C34878D82A}">
                    <a16:rowId xmlns:a16="http://schemas.microsoft.com/office/drawing/2014/main" val="10002"/>
                  </a:ext>
                </a:extLst>
              </a:tr>
              <a:tr h="731520">
                <a:tc>
                  <a:txBody>
                    <a:bodyPr/>
                    <a:lstStyle/>
                    <a:p>
                      <a:r>
                        <a:rPr sz="2000" b="1">
                          <a:solidFill>
                            <a:srgbClr val="5C4826"/>
                          </a:solidFill>
                          <a:latin typeface="Calibri"/>
                        </a:rPr>
                        <a:t>Validation and enforcement</a:t>
                      </a:r>
                    </a:p>
                  </a:txBody>
                  <a:tcPr marL="73152" marR="73152" anchor="ctr">
                    <a:solidFill>
                      <a:srgbClr val="FCFAF6"/>
                    </a:solidFill>
                  </a:tcPr>
                </a:tc>
                <a:tc>
                  <a:txBody>
                    <a:bodyPr/>
                    <a:lstStyle/>
                    <a:p>
                      <a:endParaRPr sz="2000"/>
                    </a:p>
                  </a:txBody>
                  <a:tcPr marL="73152" marR="73152" anchor="ctr">
                    <a:solidFill>
                      <a:srgbClr val="FCFAF6"/>
                    </a:solidFill>
                  </a:tcPr>
                </a:tc>
                <a:tc>
                  <a:txBody>
                    <a:bodyPr/>
                    <a:lstStyle/>
                    <a:p>
                      <a:endParaRPr sz="2000"/>
                    </a:p>
                  </a:txBody>
                  <a:tcPr marL="73152" marR="73152" anchor="ctr">
                    <a:solidFill>
                      <a:srgbClr val="FCFAF6"/>
                    </a:solidFill>
                  </a:tcPr>
                </a:tc>
                <a:extLst>
                  <a:ext uri="{0D108BD9-81ED-4DB2-BD59-A6C34878D82A}">
                    <a16:rowId xmlns:a16="http://schemas.microsoft.com/office/drawing/2014/main" val="10003"/>
                  </a:ext>
                </a:extLst>
              </a:tr>
              <a:tr h="731520">
                <a:tc>
                  <a:txBody>
                    <a:bodyPr/>
                    <a:lstStyle/>
                    <a:p>
                      <a:r>
                        <a:rPr sz="2000" b="1" dirty="0">
                          <a:solidFill>
                            <a:srgbClr val="5C4826"/>
                          </a:solidFill>
                          <a:latin typeface="Calibri"/>
                        </a:rPr>
                        <a:t>Production infrastructure</a:t>
                      </a:r>
                    </a:p>
                  </a:txBody>
                  <a:tcPr marL="73152" marR="73152" anchor="ctr">
                    <a:solidFill>
                      <a:srgbClr val="F5F1E8"/>
                    </a:solidFill>
                  </a:tcPr>
                </a:tc>
                <a:tc>
                  <a:txBody>
                    <a:bodyPr/>
                    <a:lstStyle/>
                    <a:p>
                      <a:endParaRPr sz="2000" dirty="0"/>
                    </a:p>
                  </a:txBody>
                  <a:tcPr marL="73152" marR="73152" anchor="ctr">
                    <a:solidFill>
                      <a:srgbClr val="F5F1E8"/>
                    </a:solidFill>
                  </a:tcPr>
                </a:tc>
                <a:tc>
                  <a:txBody>
                    <a:bodyPr/>
                    <a:lstStyle/>
                    <a:p>
                      <a:endParaRPr sz="2000"/>
                    </a:p>
                  </a:txBody>
                  <a:tcPr marL="73152" marR="73152" anchor="ctr">
                    <a:solidFill>
                      <a:srgbClr val="F5F1E8"/>
                    </a:solidFill>
                  </a:tcPr>
                </a:tc>
                <a:extLst>
                  <a:ext uri="{0D108BD9-81ED-4DB2-BD59-A6C34878D82A}">
                    <a16:rowId xmlns:a16="http://schemas.microsoft.com/office/drawing/2014/main" val="10004"/>
                  </a:ext>
                </a:extLst>
              </a:tr>
              <a:tr h="731520">
                <a:tc>
                  <a:txBody>
                    <a:bodyPr/>
                    <a:lstStyle/>
                    <a:p>
                      <a:r>
                        <a:rPr sz="2000" b="1" dirty="0">
                          <a:solidFill>
                            <a:srgbClr val="5C4826"/>
                          </a:solidFill>
                          <a:latin typeface="Calibri"/>
                        </a:rPr>
                        <a:t>Goal and progress tracking</a:t>
                      </a:r>
                    </a:p>
                  </a:txBody>
                  <a:tcPr marL="73152" marR="73152" anchor="ctr">
                    <a:solidFill>
                      <a:srgbClr val="FCFAF6"/>
                    </a:solidFill>
                  </a:tcPr>
                </a:tc>
                <a:tc>
                  <a:txBody>
                    <a:bodyPr/>
                    <a:lstStyle/>
                    <a:p>
                      <a:endParaRPr sz="2000"/>
                    </a:p>
                  </a:txBody>
                  <a:tcPr marL="73152" marR="73152" anchor="ctr">
                    <a:solidFill>
                      <a:srgbClr val="FCFAF6"/>
                    </a:solidFill>
                  </a:tcPr>
                </a:tc>
                <a:tc>
                  <a:txBody>
                    <a:bodyPr/>
                    <a:lstStyle/>
                    <a:p>
                      <a:endParaRPr sz="2000" dirty="0"/>
                    </a:p>
                  </a:txBody>
                  <a:tcPr marL="73152" marR="73152" anchor="ctr">
                    <a:solidFill>
                      <a:srgbClr val="FCFAF6"/>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365760" y="5670804"/>
            <a:ext cx="8321040" cy="666496"/>
          </a:xfrm>
          <a:prstGeom prst="rect">
            <a:avLst/>
          </a:prstGeom>
          <a:noFill/>
        </p:spPr>
        <p:txBody>
          <a:bodyPr wrap="square" lIns="27425" tIns="22850" rIns="27425" bIns="22850" anchor="t"/>
          <a:lstStyle/>
          <a:p>
            <a:pPr algn="l"/>
            <a:r>
              <a:rPr lang="en-US" sz="1800" b="1" i="1" dirty="0">
                <a:solidFill>
                  <a:srgbClr val="555960"/>
                </a:solidFill>
                <a:latin typeface="Calibri"/>
              </a:rPr>
              <a:t>Reference slide 8.  </a:t>
            </a:r>
            <a:r>
              <a:rPr sz="1800" b="1" i="1" dirty="0">
                <a:solidFill>
                  <a:srgbClr val="555960"/>
                </a:solidFill>
                <a:latin typeface="Calibri"/>
              </a:rPr>
              <a:t>Row 5 is not one of the four Davis et al. categories. </a:t>
            </a:r>
            <a:endParaRPr lang="en-US" sz="1800" b="1" i="1" dirty="0">
              <a:solidFill>
                <a:srgbClr val="555960"/>
              </a:solidFill>
              <a:latin typeface="Calibri"/>
            </a:endParaRPr>
          </a:p>
          <a:p>
            <a:pPr algn="l"/>
            <a:r>
              <a:rPr sz="1800" b="1" i="1" dirty="0">
                <a:solidFill>
                  <a:srgbClr val="555960"/>
                </a:solidFill>
                <a:latin typeface="Calibri"/>
              </a:rPr>
              <a:t>It comes from the Anthropic and Imprint cases.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Share out: gaps and upgrades</a:t>
            </a:r>
          </a:p>
        </p:txBody>
      </p:sp>
      <p:sp>
        <p:nvSpPr>
          <p:cNvPr id="3" name="Rectangle 2"/>
          <p:cNvSpPr/>
          <p:nvPr/>
        </p:nvSpPr>
        <p:spPr>
          <a:xfrm>
            <a:off x="411480" y="1143000"/>
            <a:ext cx="4023360" cy="4434840"/>
          </a:xfrm>
          <a:prstGeom prst="rect">
            <a:avLst/>
          </a:prstGeom>
          <a:solidFill>
            <a:srgbClr val="FCFAF6"/>
          </a:solidFill>
          <a:ln w="12700">
            <a:solidFill>
              <a:srgbClr val="CBB590"/>
            </a:solidFill>
          </a:ln>
        </p:spPr>
        <p:txBody>
          <a:bodyPr rtlCol="0" anchor="ctr"/>
          <a:lstStyle/>
          <a:p>
            <a:endParaRPr/>
          </a:p>
        </p:txBody>
      </p:sp>
      <p:sp>
        <p:nvSpPr>
          <p:cNvPr id="4" name="TextBox 3"/>
          <p:cNvSpPr txBox="1"/>
          <p:nvPr/>
        </p:nvSpPr>
        <p:spPr>
          <a:xfrm>
            <a:off x="557784" y="1234440"/>
            <a:ext cx="3730752" cy="274320"/>
          </a:xfrm>
          <a:prstGeom prst="rect">
            <a:avLst/>
          </a:prstGeom>
          <a:noFill/>
        </p:spPr>
        <p:txBody>
          <a:bodyPr wrap="square" lIns="27425" tIns="22850" rIns="27425" bIns="22850" anchor="ctr"/>
          <a:lstStyle/>
          <a:p>
            <a:pPr algn="l"/>
            <a:r>
              <a:rPr sz="1300" b="1" i="0">
                <a:solidFill>
                  <a:srgbClr val="8E6F3E"/>
                </a:solidFill>
                <a:latin typeface="Calibri"/>
              </a:rPr>
              <a:t>MOST COMMON GAPS</a:t>
            </a:r>
          </a:p>
        </p:txBody>
      </p:sp>
      <p:sp>
        <p:nvSpPr>
          <p:cNvPr id="5" name="TextBox 4"/>
          <p:cNvSpPr txBox="1"/>
          <p:nvPr/>
        </p:nvSpPr>
        <p:spPr>
          <a:xfrm>
            <a:off x="557784" y="1527048"/>
            <a:ext cx="3730752" cy="411480"/>
          </a:xfrm>
          <a:prstGeom prst="rect">
            <a:avLst/>
          </a:prstGeom>
          <a:noFill/>
        </p:spPr>
        <p:txBody>
          <a:bodyPr wrap="square" lIns="27425" tIns="22850" rIns="27425" bIns="22850" anchor="ctr"/>
          <a:lstStyle/>
          <a:p>
            <a:pPr algn="l"/>
            <a:r>
              <a:rPr sz="1900" b="1" i="0">
                <a:solidFill>
                  <a:srgbClr val="5C4826"/>
                </a:solidFill>
                <a:latin typeface="Calibri"/>
              </a:rPr>
              <a:t>Across teams</a:t>
            </a:r>
          </a:p>
        </p:txBody>
      </p:sp>
      <p:sp>
        <p:nvSpPr>
          <p:cNvPr id="6" name="Rectangle 5"/>
          <p:cNvSpPr/>
          <p:nvPr/>
        </p:nvSpPr>
        <p:spPr>
          <a:xfrm>
            <a:off x="4709160" y="1143000"/>
            <a:ext cx="4023360" cy="4434840"/>
          </a:xfrm>
          <a:prstGeom prst="rect">
            <a:avLst/>
          </a:prstGeom>
          <a:solidFill>
            <a:srgbClr val="F5F1E8"/>
          </a:solidFill>
          <a:ln w="12700">
            <a:solidFill>
              <a:srgbClr val="CBB590"/>
            </a:solidFill>
          </a:ln>
        </p:spPr>
        <p:txBody>
          <a:bodyPr rtlCol="0" anchor="ctr"/>
          <a:lstStyle/>
          <a:p>
            <a:endParaRPr/>
          </a:p>
        </p:txBody>
      </p:sp>
      <p:sp>
        <p:nvSpPr>
          <p:cNvPr id="7" name="TextBox 6"/>
          <p:cNvSpPr txBox="1"/>
          <p:nvPr/>
        </p:nvSpPr>
        <p:spPr>
          <a:xfrm>
            <a:off x="4855464" y="1234440"/>
            <a:ext cx="3730752" cy="274320"/>
          </a:xfrm>
          <a:prstGeom prst="rect">
            <a:avLst/>
          </a:prstGeom>
          <a:noFill/>
        </p:spPr>
        <p:txBody>
          <a:bodyPr wrap="square" lIns="27425" tIns="22850" rIns="27425" bIns="22850" anchor="ctr"/>
          <a:lstStyle/>
          <a:p>
            <a:pPr algn="l"/>
            <a:r>
              <a:rPr sz="1300" b="1" i="0">
                <a:solidFill>
                  <a:srgbClr val="8E6F3E"/>
                </a:solidFill>
                <a:latin typeface="Calibri"/>
              </a:rPr>
              <a:t>UPGRADES FOR PHASE 5</a:t>
            </a:r>
          </a:p>
        </p:txBody>
      </p:sp>
      <p:sp>
        <p:nvSpPr>
          <p:cNvPr id="8" name="TextBox 7"/>
          <p:cNvSpPr txBox="1"/>
          <p:nvPr/>
        </p:nvSpPr>
        <p:spPr>
          <a:xfrm>
            <a:off x="4855464" y="1527048"/>
            <a:ext cx="3730752" cy="411480"/>
          </a:xfrm>
          <a:prstGeom prst="rect">
            <a:avLst/>
          </a:prstGeom>
          <a:noFill/>
        </p:spPr>
        <p:txBody>
          <a:bodyPr wrap="square" lIns="27425" tIns="22850" rIns="27425" bIns="22850" anchor="ctr"/>
          <a:lstStyle/>
          <a:p>
            <a:pPr algn="l"/>
            <a:r>
              <a:rPr sz="1900" b="1" i="0">
                <a:solidFill>
                  <a:srgbClr val="5C4826"/>
                </a:solidFill>
                <a:latin typeface="Calibri"/>
              </a:rPr>
              <a:t>What teams will try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dirty="0">
                <a:solidFill>
                  <a:srgbClr val="2D2D2D"/>
                </a:solidFill>
                <a:latin typeface="Calibri"/>
              </a:rPr>
              <a:t>Three takeaways</a:t>
            </a:r>
          </a:p>
        </p:txBody>
      </p:sp>
      <p:sp>
        <p:nvSpPr>
          <p:cNvPr id="3" name="Rectangle 2"/>
          <p:cNvSpPr/>
          <p:nvPr/>
        </p:nvSpPr>
        <p:spPr>
          <a:xfrm>
            <a:off x="411480" y="1325880"/>
            <a:ext cx="8321040" cy="1188720"/>
          </a:xfrm>
          <a:prstGeom prst="rect">
            <a:avLst/>
          </a:prstGeom>
          <a:solidFill>
            <a:srgbClr val="F5F1E8"/>
          </a:solidFill>
          <a:ln w="12700">
            <a:solidFill>
              <a:srgbClr val="CBB590"/>
            </a:solidFill>
          </a:ln>
        </p:spPr>
        <p:txBody>
          <a:bodyPr rtlCol="0" anchor="ctr"/>
          <a:lstStyle/>
          <a:p>
            <a:endParaRPr/>
          </a:p>
        </p:txBody>
      </p:sp>
      <p:sp>
        <p:nvSpPr>
          <p:cNvPr id="4" name="Rectangle 3"/>
          <p:cNvSpPr/>
          <p:nvPr/>
        </p:nvSpPr>
        <p:spPr>
          <a:xfrm>
            <a:off x="594360" y="1728216"/>
            <a:ext cx="548640" cy="384048"/>
          </a:xfrm>
          <a:prstGeom prst="rect">
            <a:avLst/>
          </a:prstGeom>
          <a:solidFill>
            <a:srgbClr val="8E6F3E"/>
          </a:solidFill>
          <a:ln>
            <a:noFill/>
          </a:ln>
        </p:spPr>
        <p:txBody>
          <a:bodyPr rtlCol="0" anchor="ctr"/>
          <a:lstStyle/>
          <a:p>
            <a:endParaRPr/>
          </a:p>
        </p:txBody>
      </p:sp>
      <p:sp>
        <p:nvSpPr>
          <p:cNvPr id="5" name="TextBox 4"/>
          <p:cNvSpPr txBox="1"/>
          <p:nvPr/>
        </p:nvSpPr>
        <p:spPr>
          <a:xfrm>
            <a:off x="594360" y="1728216"/>
            <a:ext cx="548640" cy="384048"/>
          </a:xfrm>
          <a:prstGeom prst="rect">
            <a:avLst/>
          </a:prstGeom>
          <a:noFill/>
        </p:spPr>
        <p:txBody>
          <a:bodyPr wrap="square" lIns="27425" tIns="22850" rIns="27425" bIns="22850" anchor="ctr"/>
          <a:lstStyle/>
          <a:p>
            <a:pPr algn="ctr"/>
            <a:r>
              <a:rPr sz="1600" b="1" i="0">
                <a:solidFill>
                  <a:srgbClr val="FFFFFF"/>
                </a:solidFill>
                <a:latin typeface="Calibri"/>
              </a:rPr>
              <a:t>1</a:t>
            </a:r>
          </a:p>
        </p:txBody>
      </p:sp>
      <p:sp>
        <p:nvSpPr>
          <p:cNvPr id="6" name="TextBox 5"/>
          <p:cNvSpPr txBox="1"/>
          <p:nvPr/>
        </p:nvSpPr>
        <p:spPr>
          <a:xfrm>
            <a:off x="1325880" y="1435607"/>
            <a:ext cx="7223760" cy="969264"/>
          </a:xfrm>
          <a:prstGeom prst="rect">
            <a:avLst/>
          </a:prstGeom>
          <a:noFill/>
        </p:spPr>
        <p:txBody>
          <a:bodyPr wrap="square" lIns="27425" tIns="22850" rIns="27425" bIns="22850" anchor="ctr"/>
          <a:lstStyle/>
          <a:p>
            <a:pPr algn="l"/>
            <a:r>
              <a:rPr sz="1900" b="1" i="0" dirty="0">
                <a:solidFill>
                  <a:srgbClr val="5C4826"/>
                </a:solidFill>
                <a:latin typeface="Calibri"/>
              </a:rPr>
              <a:t>A software factory is an old idea with a new production step: agents build, so verification sets the pace.</a:t>
            </a:r>
          </a:p>
        </p:txBody>
      </p:sp>
      <p:sp>
        <p:nvSpPr>
          <p:cNvPr id="7" name="Rectangle 6"/>
          <p:cNvSpPr/>
          <p:nvPr/>
        </p:nvSpPr>
        <p:spPr>
          <a:xfrm>
            <a:off x="411480" y="2788920"/>
            <a:ext cx="8321040" cy="1188720"/>
          </a:xfrm>
          <a:prstGeom prst="rect">
            <a:avLst/>
          </a:prstGeom>
          <a:solidFill>
            <a:srgbClr val="FCFAF6"/>
          </a:solidFill>
          <a:ln w="12700">
            <a:solidFill>
              <a:srgbClr val="CBB590"/>
            </a:solidFill>
          </a:ln>
        </p:spPr>
        <p:txBody>
          <a:bodyPr rtlCol="0" anchor="ctr"/>
          <a:lstStyle/>
          <a:p>
            <a:endParaRPr/>
          </a:p>
        </p:txBody>
      </p:sp>
      <p:sp>
        <p:nvSpPr>
          <p:cNvPr id="8" name="Rectangle 7"/>
          <p:cNvSpPr/>
          <p:nvPr/>
        </p:nvSpPr>
        <p:spPr>
          <a:xfrm>
            <a:off x="594360" y="3191256"/>
            <a:ext cx="548640" cy="384048"/>
          </a:xfrm>
          <a:prstGeom prst="rect">
            <a:avLst/>
          </a:prstGeom>
          <a:solidFill>
            <a:srgbClr val="8E6F3E"/>
          </a:solidFill>
          <a:ln>
            <a:noFill/>
          </a:ln>
        </p:spPr>
        <p:txBody>
          <a:bodyPr rtlCol="0" anchor="ctr"/>
          <a:lstStyle/>
          <a:p>
            <a:endParaRPr/>
          </a:p>
        </p:txBody>
      </p:sp>
      <p:sp>
        <p:nvSpPr>
          <p:cNvPr id="9" name="TextBox 8"/>
          <p:cNvSpPr txBox="1"/>
          <p:nvPr/>
        </p:nvSpPr>
        <p:spPr>
          <a:xfrm>
            <a:off x="594360" y="3191256"/>
            <a:ext cx="548640" cy="384048"/>
          </a:xfrm>
          <a:prstGeom prst="rect">
            <a:avLst/>
          </a:prstGeom>
          <a:noFill/>
        </p:spPr>
        <p:txBody>
          <a:bodyPr wrap="square" lIns="27425" tIns="22850" rIns="27425" bIns="22850" anchor="ctr"/>
          <a:lstStyle/>
          <a:p>
            <a:pPr algn="ctr"/>
            <a:r>
              <a:rPr sz="1600" b="1" i="0">
                <a:solidFill>
                  <a:srgbClr val="FFFFFF"/>
                </a:solidFill>
                <a:latin typeface="Calibri"/>
              </a:rPr>
              <a:t>2</a:t>
            </a:r>
          </a:p>
        </p:txBody>
      </p:sp>
      <p:sp>
        <p:nvSpPr>
          <p:cNvPr id="10" name="TextBox 9"/>
          <p:cNvSpPr txBox="1"/>
          <p:nvPr/>
        </p:nvSpPr>
        <p:spPr>
          <a:xfrm>
            <a:off x="1325880" y="2898648"/>
            <a:ext cx="7223760" cy="969264"/>
          </a:xfrm>
          <a:prstGeom prst="rect">
            <a:avLst/>
          </a:prstGeom>
          <a:noFill/>
        </p:spPr>
        <p:txBody>
          <a:bodyPr wrap="square" lIns="27425" tIns="22850" rIns="27425" bIns="22850" anchor="ctr"/>
          <a:lstStyle/>
          <a:p>
            <a:pPr algn="l"/>
            <a:r>
              <a:rPr sz="1900" b="1" i="0">
                <a:solidFill>
                  <a:srgbClr val="5C4826"/>
                </a:solidFill>
                <a:latin typeface="Calibri"/>
              </a:rPr>
              <a:t>Its value is the knowledge, validation, and checkpoints that let a team change software reliably, again and again.</a:t>
            </a:r>
          </a:p>
        </p:txBody>
      </p:sp>
      <p:sp>
        <p:nvSpPr>
          <p:cNvPr id="11" name="Rectangle 10"/>
          <p:cNvSpPr/>
          <p:nvPr/>
        </p:nvSpPr>
        <p:spPr>
          <a:xfrm>
            <a:off x="411480" y="4251960"/>
            <a:ext cx="8321040" cy="1188720"/>
          </a:xfrm>
          <a:prstGeom prst="rect">
            <a:avLst/>
          </a:prstGeom>
          <a:solidFill>
            <a:srgbClr val="F5F1E8"/>
          </a:solidFill>
          <a:ln w="12700">
            <a:solidFill>
              <a:srgbClr val="CBB590"/>
            </a:solidFill>
          </a:ln>
        </p:spPr>
        <p:txBody>
          <a:bodyPr rtlCol="0" anchor="ctr"/>
          <a:lstStyle/>
          <a:p>
            <a:endParaRPr/>
          </a:p>
        </p:txBody>
      </p:sp>
      <p:sp>
        <p:nvSpPr>
          <p:cNvPr id="12" name="Rectangle 11"/>
          <p:cNvSpPr/>
          <p:nvPr/>
        </p:nvSpPr>
        <p:spPr>
          <a:xfrm>
            <a:off x="594360" y="4654296"/>
            <a:ext cx="548640" cy="384048"/>
          </a:xfrm>
          <a:prstGeom prst="rect">
            <a:avLst/>
          </a:prstGeom>
          <a:solidFill>
            <a:srgbClr val="8E6F3E"/>
          </a:solidFill>
          <a:ln>
            <a:noFill/>
          </a:ln>
        </p:spPr>
        <p:txBody>
          <a:bodyPr rtlCol="0" anchor="ctr"/>
          <a:lstStyle/>
          <a:p>
            <a:endParaRPr/>
          </a:p>
        </p:txBody>
      </p:sp>
      <p:sp>
        <p:nvSpPr>
          <p:cNvPr id="13" name="TextBox 12"/>
          <p:cNvSpPr txBox="1"/>
          <p:nvPr/>
        </p:nvSpPr>
        <p:spPr>
          <a:xfrm>
            <a:off x="594360" y="4654296"/>
            <a:ext cx="548640" cy="384048"/>
          </a:xfrm>
          <a:prstGeom prst="rect">
            <a:avLst/>
          </a:prstGeom>
          <a:noFill/>
        </p:spPr>
        <p:txBody>
          <a:bodyPr wrap="square" lIns="27425" tIns="22850" rIns="27425" bIns="22850" anchor="ctr"/>
          <a:lstStyle/>
          <a:p>
            <a:pPr algn="ctr"/>
            <a:r>
              <a:rPr sz="1600" b="1" i="0">
                <a:solidFill>
                  <a:srgbClr val="FFFFFF"/>
                </a:solidFill>
                <a:latin typeface="Calibri"/>
              </a:rPr>
              <a:t>3</a:t>
            </a:r>
          </a:p>
        </p:txBody>
      </p:sp>
      <p:sp>
        <p:nvSpPr>
          <p:cNvPr id="14" name="TextBox 13"/>
          <p:cNvSpPr txBox="1"/>
          <p:nvPr/>
        </p:nvSpPr>
        <p:spPr>
          <a:xfrm>
            <a:off x="1325880" y="4361688"/>
            <a:ext cx="7223760" cy="969264"/>
          </a:xfrm>
          <a:prstGeom prst="rect">
            <a:avLst/>
          </a:prstGeom>
          <a:noFill/>
        </p:spPr>
        <p:txBody>
          <a:bodyPr wrap="square" lIns="27425" tIns="22850" rIns="27425" bIns="22850" anchor="ctr"/>
          <a:lstStyle/>
          <a:p>
            <a:pPr algn="l"/>
            <a:r>
              <a:rPr sz="1900" b="1" i="0">
                <a:solidFill>
                  <a:srgbClr val="5C4826"/>
                </a:solidFill>
                <a:latin typeface="Calibri"/>
              </a:rPr>
              <a:t>People move to where judgment has the most leverage: intent, architecture, and the gates.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animBg="1"/>
      <p:bldP spid="12" grpId="0" animBg="1"/>
      <p:bldP spid="13"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dirty="0">
                <a:solidFill>
                  <a:srgbClr val="2D2D2D"/>
                </a:solidFill>
                <a:latin typeface="Calibri"/>
              </a:rPr>
              <a:t>Where this leads</a:t>
            </a:r>
          </a:p>
        </p:txBody>
      </p:sp>
      <p:sp>
        <p:nvSpPr>
          <p:cNvPr id="3" name="Rectangle 2"/>
          <p:cNvSpPr/>
          <p:nvPr/>
        </p:nvSpPr>
        <p:spPr>
          <a:xfrm>
            <a:off x="424180" y="2214880"/>
            <a:ext cx="3639820" cy="2814320"/>
          </a:xfrm>
          <a:prstGeom prst="rect">
            <a:avLst/>
          </a:prstGeom>
          <a:solidFill>
            <a:srgbClr val="F5F1E8"/>
          </a:solidFill>
          <a:ln w="12700">
            <a:solidFill>
              <a:srgbClr val="CBB590"/>
            </a:solidFill>
          </a:ln>
        </p:spPr>
        <p:txBody>
          <a:bodyPr rtlCol="0" anchor="ctr"/>
          <a:lstStyle/>
          <a:p>
            <a:endParaRPr sz="1600"/>
          </a:p>
        </p:txBody>
      </p:sp>
      <p:sp>
        <p:nvSpPr>
          <p:cNvPr id="4" name="TextBox 3"/>
          <p:cNvSpPr txBox="1"/>
          <p:nvPr/>
        </p:nvSpPr>
        <p:spPr>
          <a:xfrm>
            <a:off x="570484" y="2306320"/>
            <a:ext cx="3776472" cy="274320"/>
          </a:xfrm>
          <a:prstGeom prst="rect">
            <a:avLst/>
          </a:prstGeom>
          <a:noFill/>
        </p:spPr>
        <p:txBody>
          <a:bodyPr wrap="square" lIns="27425" tIns="22850" rIns="27425" bIns="22850" anchor="ctr"/>
          <a:lstStyle/>
          <a:p>
            <a:pPr algn="l"/>
            <a:r>
              <a:rPr b="1" i="0" dirty="0">
                <a:solidFill>
                  <a:srgbClr val="8E6F3E"/>
                </a:solidFill>
                <a:latin typeface="Calibri"/>
              </a:rPr>
              <a:t>TODAY</a:t>
            </a:r>
            <a:r>
              <a:rPr lang="en-US" b="1" dirty="0">
                <a:solidFill>
                  <a:srgbClr val="8E6F3E"/>
                </a:solidFill>
                <a:latin typeface="Calibri"/>
              </a:rPr>
              <a:t>’S CLASS</a:t>
            </a:r>
            <a:endParaRPr b="1" i="0" dirty="0">
              <a:solidFill>
                <a:srgbClr val="8E6F3E"/>
              </a:solidFill>
              <a:latin typeface="Calibri"/>
            </a:endParaRPr>
          </a:p>
        </p:txBody>
      </p:sp>
      <p:sp>
        <p:nvSpPr>
          <p:cNvPr id="5" name="TextBox 4"/>
          <p:cNvSpPr txBox="1"/>
          <p:nvPr/>
        </p:nvSpPr>
        <p:spPr>
          <a:xfrm>
            <a:off x="570484" y="2598928"/>
            <a:ext cx="3776472" cy="411480"/>
          </a:xfrm>
          <a:prstGeom prst="rect">
            <a:avLst/>
          </a:prstGeom>
          <a:noFill/>
        </p:spPr>
        <p:txBody>
          <a:bodyPr wrap="square" lIns="27425" tIns="22850" rIns="27425" bIns="22850" anchor="ctr"/>
          <a:lstStyle/>
          <a:p>
            <a:pPr algn="l"/>
            <a:r>
              <a:rPr sz="2000" b="1" i="0" dirty="0">
                <a:solidFill>
                  <a:srgbClr val="5C4826"/>
                </a:solidFill>
                <a:latin typeface="Calibri"/>
              </a:rPr>
              <a:t>Factories run on knowledge</a:t>
            </a:r>
          </a:p>
        </p:txBody>
      </p:sp>
      <p:sp>
        <p:nvSpPr>
          <p:cNvPr id="6" name="TextBox 5"/>
          <p:cNvSpPr txBox="1"/>
          <p:nvPr/>
        </p:nvSpPr>
        <p:spPr>
          <a:xfrm>
            <a:off x="570484" y="3056128"/>
            <a:ext cx="3391916" cy="1820672"/>
          </a:xfrm>
          <a:prstGeom prst="rect">
            <a:avLst/>
          </a:prstGeom>
          <a:noFill/>
        </p:spPr>
        <p:txBody>
          <a:bodyPr wrap="square" lIns="27425" tIns="22850" rIns="27425" bIns="22850" anchor="t"/>
          <a:lstStyle/>
          <a:p>
            <a:pPr algn="l"/>
            <a:r>
              <a:rPr sz="1800" b="0" i="0" dirty="0">
                <a:solidFill>
                  <a:srgbClr val="555960"/>
                </a:solidFill>
                <a:latin typeface="Calibri"/>
              </a:rPr>
              <a:t>Specs, tests, gates, skills, and progress logs are engineering knowledge put into a form that machines act on.</a:t>
            </a:r>
          </a:p>
        </p:txBody>
      </p:sp>
      <p:sp>
        <p:nvSpPr>
          <p:cNvPr id="7" name="Rectangle 6"/>
          <p:cNvSpPr/>
          <p:nvPr/>
        </p:nvSpPr>
        <p:spPr>
          <a:xfrm>
            <a:off x="4676140" y="2214880"/>
            <a:ext cx="4069080" cy="2814320"/>
          </a:xfrm>
          <a:prstGeom prst="rect">
            <a:avLst/>
          </a:prstGeom>
          <a:solidFill>
            <a:srgbClr val="FCFAF6"/>
          </a:solidFill>
          <a:ln w="12700">
            <a:solidFill>
              <a:srgbClr val="CBB590"/>
            </a:solidFill>
          </a:ln>
        </p:spPr>
        <p:txBody>
          <a:bodyPr rtlCol="0" anchor="ctr"/>
          <a:lstStyle/>
          <a:p>
            <a:endParaRPr sz="1600"/>
          </a:p>
        </p:txBody>
      </p:sp>
      <p:sp>
        <p:nvSpPr>
          <p:cNvPr id="8" name="TextBox 7"/>
          <p:cNvSpPr txBox="1"/>
          <p:nvPr/>
        </p:nvSpPr>
        <p:spPr>
          <a:xfrm>
            <a:off x="4822444" y="2306320"/>
            <a:ext cx="3776472" cy="274320"/>
          </a:xfrm>
          <a:prstGeom prst="rect">
            <a:avLst/>
          </a:prstGeom>
          <a:noFill/>
        </p:spPr>
        <p:txBody>
          <a:bodyPr wrap="square" lIns="27425" tIns="22850" rIns="27425" bIns="22850" anchor="ctr"/>
          <a:lstStyle/>
          <a:p>
            <a:pPr algn="l"/>
            <a:r>
              <a:rPr lang="en-US" b="1" i="0" dirty="0">
                <a:solidFill>
                  <a:srgbClr val="8E6F3E"/>
                </a:solidFill>
                <a:latin typeface="Calibri"/>
              </a:rPr>
              <a:t>COMING UP</a:t>
            </a:r>
            <a:endParaRPr b="1" i="0" dirty="0">
              <a:solidFill>
                <a:srgbClr val="8E6F3E"/>
              </a:solidFill>
              <a:latin typeface="Calibri"/>
            </a:endParaRPr>
          </a:p>
        </p:txBody>
      </p:sp>
      <p:sp>
        <p:nvSpPr>
          <p:cNvPr id="9" name="TextBox 8"/>
          <p:cNvSpPr txBox="1"/>
          <p:nvPr/>
        </p:nvSpPr>
        <p:spPr>
          <a:xfrm>
            <a:off x="4822444" y="2598928"/>
            <a:ext cx="3776472" cy="411480"/>
          </a:xfrm>
          <a:prstGeom prst="rect">
            <a:avLst/>
          </a:prstGeom>
          <a:noFill/>
        </p:spPr>
        <p:txBody>
          <a:bodyPr wrap="square" lIns="27425" tIns="22850" rIns="27425" bIns="22850" anchor="ctr"/>
          <a:lstStyle/>
          <a:p>
            <a:pPr algn="l"/>
            <a:r>
              <a:rPr lang="en-US" sz="2000" b="1" i="0" dirty="0">
                <a:solidFill>
                  <a:srgbClr val="5C4826"/>
                </a:solidFill>
                <a:latin typeface="Calibri"/>
              </a:rPr>
              <a:t>Beyond initial construction</a:t>
            </a:r>
            <a:endParaRPr sz="2000" b="1" i="0" dirty="0">
              <a:solidFill>
                <a:srgbClr val="5C4826"/>
              </a:solidFill>
              <a:latin typeface="Calibri"/>
            </a:endParaRPr>
          </a:p>
        </p:txBody>
      </p:sp>
      <p:sp>
        <p:nvSpPr>
          <p:cNvPr id="11" name="Right Arrow 10"/>
          <p:cNvSpPr/>
          <p:nvPr/>
        </p:nvSpPr>
        <p:spPr>
          <a:xfrm>
            <a:off x="4172204" y="3374136"/>
            <a:ext cx="447548" cy="274320"/>
          </a:xfrm>
          <a:prstGeom prst="rightArrow">
            <a:avLst/>
          </a:prstGeom>
          <a:solidFill>
            <a:srgbClr val="8E6F3E"/>
          </a:solidFill>
          <a:ln>
            <a:noFill/>
          </a:ln>
        </p:spPr>
        <p:txBody>
          <a:bodyPr rtlCol="0" anchor="ctr"/>
          <a:lstStyle/>
          <a:p>
            <a:endParaRPr sz="1600"/>
          </a:p>
        </p:txBody>
      </p:sp>
      <p:sp>
        <p:nvSpPr>
          <p:cNvPr id="15" name="Rectangle 14">
            <a:extLst>
              <a:ext uri="{FF2B5EF4-FFF2-40B4-BE49-F238E27FC236}">
                <a16:creationId xmlns:a16="http://schemas.microsoft.com/office/drawing/2014/main" id="{509BC5A6-F51D-B825-81BC-6086985AC3EF}"/>
              </a:ext>
            </a:extLst>
          </p:cNvPr>
          <p:cNvSpPr/>
          <p:nvPr/>
        </p:nvSpPr>
        <p:spPr>
          <a:xfrm>
            <a:off x="344932" y="932180"/>
            <a:ext cx="8321040" cy="856488"/>
          </a:xfrm>
          <a:prstGeom prst="rect">
            <a:avLst/>
          </a:prstGeom>
          <a:solidFill>
            <a:srgbClr val="F5F1E8"/>
          </a:solidFill>
          <a:ln w="12700">
            <a:solidFill>
              <a:srgbClr val="CBB590"/>
            </a:solidFill>
          </a:ln>
        </p:spPr>
        <p:txBody>
          <a:bodyPr rtlCol="0" anchor="ctr"/>
          <a:lstStyle/>
          <a:p>
            <a:pPr algn="ctr"/>
            <a:r>
              <a:rPr lang="en-US" sz="1800" i="1" dirty="0"/>
              <a:t>Act III asks the question: </a:t>
            </a:r>
          </a:p>
          <a:p>
            <a:pPr algn="ctr"/>
            <a:r>
              <a:rPr lang="en-US" sz="1800" b="1" i="1" dirty="0"/>
              <a:t>How do software systems operate, survive, and change?</a:t>
            </a:r>
            <a:endParaRPr lang="en-US" sz="1800" b="1" dirty="0"/>
          </a:p>
        </p:txBody>
      </p:sp>
      <p:sp>
        <p:nvSpPr>
          <p:cNvPr id="16" name="TextBox 15">
            <a:extLst>
              <a:ext uri="{FF2B5EF4-FFF2-40B4-BE49-F238E27FC236}">
                <a16:creationId xmlns:a16="http://schemas.microsoft.com/office/drawing/2014/main" id="{36223415-C206-D580-B232-F21F05FA655F}"/>
              </a:ext>
            </a:extLst>
          </p:cNvPr>
          <p:cNvSpPr txBox="1"/>
          <p:nvPr/>
        </p:nvSpPr>
        <p:spPr>
          <a:xfrm>
            <a:off x="4948936" y="3102865"/>
            <a:ext cx="3649980" cy="1489456"/>
          </a:xfrm>
          <a:prstGeom prst="rect">
            <a:avLst/>
          </a:prstGeom>
          <a:noFill/>
        </p:spPr>
        <p:txBody>
          <a:bodyPr wrap="square" lIns="27425" tIns="22850" rIns="27425" bIns="22850" anchor="t"/>
          <a:lstStyle/>
          <a:p>
            <a:pPr marL="285750" indent="-285750" algn="l">
              <a:buFont typeface="Arial" panose="020B0604020202020204" pitchFamily="34" charset="0"/>
              <a:buChar char="•"/>
            </a:pPr>
            <a:r>
              <a:rPr lang="en-US" sz="1800" b="0" i="0" dirty="0">
                <a:solidFill>
                  <a:srgbClr val="555960"/>
                </a:solidFill>
                <a:latin typeface="Calibri"/>
              </a:rPr>
              <a:t>operation and sustained evolution</a:t>
            </a:r>
          </a:p>
          <a:p>
            <a:pPr marL="285750" indent="-285750" algn="l">
              <a:buFont typeface="Arial" panose="020B0604020202020204" pitchFamily="34" charset="0"/>
              <a:buChar char="•"/>
            </a:pPr>
            <a:r>
              <a:rPr lang="en-US" sz="1800" b="0" i="0" dirty="0">
                <a:solidFill>
                  <a:srgbClr val="555960"/>
                </a:solidFill>
                <a:latin typeface="Calibri"/>
              </a:rPr>
              <a:t>deployment and observability</a:t>
            </a:r>
          </a:p>
          <a:p>
            <a:pPr marL="285750" indent="-285750" algn="l">
              <a:buFont typeface="Arial" panose="020B0604020202020204" pitchFamily="34" charset="0"/>
              <a:buChar char="•"/>
            </a:pPr>
            <a:r>
              <a:rPr lang="en-US" sz="1800" b="0" i="0" dirty="0">
                <a:solidFill>
                  <a:srgbClr val="555960"/>
                </a:solidFill>
                <a:latin typeface="Calibri"/>
              </a:rPr>
              <a:t>adversarial environments,</a:t>
            </a:r>
          </a:p>
          <a:p>
            <a:pPr marL="285750" indent="-285750" algn="l">
              <a:buFont typeface="Arial" panose="020B0604020202020204" pitchFamily="34" charset="0"/>
              <a:buChar char="•"/>
            </a:pPr>
            <a:r>
              <a:rPr lang="en-US" sz="1800" b="0" i="0" dirty="0">
                <a:solidFill>
                  <a:srgbClr val="555960"/>
                </a:solidFill>
                <a:latin typeface="Calibri"/>
              </a:rPr>
              <a:t>maintenance</a:t>
            </a:r>
            <a:endParaRPr lang="en-US" sz="1800" dirty="0">
              <a:solidFill>
                <a:srgbClr val="555960"/>
              </a:solidFill>
              <a:latin typeface="Calibri"/>
            </a:endParaRPr>
          </a:p>
          <a:p>
            <a:pPr marL="285750" indent="-285750" algn="l">
              <a:buFont typeface="Arial" panose="020B0604020202020204" pitchFamily="34" charset="0"/>
              <a:buChar char="•"/>
            </a:pPr>
            <a:r>
              <a:rPr lang="en-US" sz="1800" dirty="0">
                <a:solidFill>
                  <a:srgbClr val="555960"/>
                </a:solidFill>
                <a:latin typeface="Calibri"/>
              </a:rPr>
              <a:t>and more!</a:t>
            </a:r>
            <a:endParaRPr lang="en-US" sz="1800" b="0" i="0" dirty="0">
              <a:solidFill>
                <a:srgbClr val="555960"/>
              </a:solidFill>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28016"/>
            <a:ext cx="8595360" cy="594360"/>
          </a:xfrm>
          <a:prstGeom prst="rect">
            <a:avLst/>
          </a:prstGeom>
          <a:noFill/>
        </p:spPr>
        <p:txBody>
          <a:bodyPr wrap="square" lIns="27425" tIns="22850" rIns="27425" bIns="22850" anchor="ctr"/>
          <a:lstStyle/>
          <a:p>
            <a:pPr algn="l"/>
            <a:r>
              <a:rPr sz="2400" b="0" i="0">
                <a:solidFill>
                  <a:srgbClr val="2D2D2D"/>
                </a:solidFill>
                <a:latin typeface="Calibri"/>
              </a:rPr>
              <a:t>Exit ticket</a:t>
            </a:r>
          </a:p>
        </p:txBody>
      </p:sp>
      <p:sp>
        <p:nvSpPr>
          <p:cNvPr id="3" name="Rectangle 2"/>
          <p:cNvSpPr/>
          <p:nvPr/>
        </p:nvSpPr>
        <p:spPr>
          <a:xfrm>
            <a:off x="411480" y="1234440"/>
            <a:ext cx="8321040" cy="2435860"/>
          </a:xfrm>
          <a:prstGeom prst="rect">
            <a:avLst/>
          </a:prstGeom>
          <a:solidFill>
            <a:srgbClr val="FCFAF6"/>
          </a:solidFill>
          <a:ln w="12700">
            <a:solidFill>
              <a:srgbClr val="CBB590"/>
            </a:solidFill>
          </a:ln>
        </p:spPr>
        <p:txBody>
          <a:bodyPr rtlCol="0" anchor="ctr"/>
          <a:lstStyle/>
          <a:p>
            <a:endParaRPr/>
          </a:p>
        </p:txBody>
      </p:sp>
      <p:sp>
        <p:nvSpPr>
          <p:cNvPr id="4" name="TextBox 3"/>
          <p:cNvSpPr txBox="1"/>
          <p:nvPr/>
        </p:nvSpPr>
        <p:spPr>
          <a:xfrm>
            <a:off x="640080" y="1371600"/>
            <a:ext cx="7863840" cy="274320"/>
          </a:xfrm>
          <a:prstGeom prst="rect">
            <a:avLst/>
          </a:prstGeom>
          <a:noFill/>
        </p:spPr>
        <p:txBody>
          <a:bodyPr wrap="square" lIns="27425" tIns="22850" rIns="27425" bIns="22850" anchor="ctr"/>
          <a:lstStyle/>
          <a:p>
            <a:pPr algn="l"/>
            <a:r>
              <a:rPr sz="1600" b="1" i="0" dirty="0">
                <a:solidFill>
                  <a:srgbClr val="8E6F3E"/>
                </a:solidFill>
                <a:latin typeface="Calibri"/>
              </a:rPr>
              <a:t>ANSWER BEFORE YOU LEAVE</a:t>
            </a:r>
          </a:p>
        </p:txBody>
      </p:sp>
      <p:sp>
        <p:nvSpPr>
          <p:cNvPr id="5" name="TextBox 4"/>
          <p:cNvSpPr txBox="1"/>
          <p:nvPr/>
        </p:nvSpPr>
        <p:spPr>
          <a:xfrm>
            <a:off x="640080" y="1783080"/>
            <a:ext cx="7863840" cy="1280160"/>
          </a:xfrm>
          <a:prstGeom prst="rect">
            <a:avLst/>
          </a:prstGeom>
          <a:noFill/>
        </p:spPr>
        <p:txBody>
          <a:bodyPr wrap="square" lIns="27425" tIns="22850" rIns="27425" bIns="22850" anchor="t"/>
          <a:lstStyle/>
          <a:p>
            <a:pPr algn="l"/>
            <a:r>
              <a:rPr sz="2200" b="1" i="0" dirty="0">
                <a:solidFill>
                  <a:srgbClr val="5C4826"/>
                </a:solidFill>
                <a:latin typeface="Calibri"/>
              </a:rPr>
              <a:t>Name one piece of knowledge your team's factory needs that exists only in someone's head.</a:t>
            </a:r>
          </a:p>
        </p:txBody>
      </p:sp>
      <p:sp>
        <p:nvSpPr>
          <p:cNvPr id="6" name="TextBox 5"/>
          <p:cNvSpPr txBox="1"/>
          <p:nvPr/>
        </p:nvSpPr>
        <p:spPr>
          <a:xfrm>
            <a:off x="640080" y="2779776"/>
            <a:ext cx="7863840" cy="420624"/>
          </a:xfrm>
          <a:prstGeom prst="rect">
            <a:avLst/>
          </a:prstGeom>
          <a:noFill/>
        </p:spPr>
        <p:txBody>
          <a:bodyPr wrap="square" lIns="27425" tIns="22850" rIns="27425" bIns="22850" anchor="t"/>
          <a:lstStyle/>
          <a:p>
            <a:pPr algn="l"/>
            <a:r>
              <a:rPr sz="2000" b="0" i="0" dirty="0">
                <a:solidFill>
                  <a:srgbClr val="555960"/>
                </a:solidFill>
                <a:latin typeface="Calibri"/>
              </a:rPr>
              <a:t>How would you write it down so an agent could use it?</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3862</Words>
  <Application>Microsoft Macintosh PowerPoint</Application>
  <PresentationFormat>On-screen Show (4:3)</PresentationFormat>
  <Paragraphs>397</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Times</vt:lpstr>
      <vt:lpstr>Arial</vt:lpstr>
      <vt:lpstr>Calibri</vt:lpstr>
      <vt:lpstr>Purdue1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Steve France</cp:lastModifiedBy>
  <cp:revision>7</cp:revision>
  <dcterms:modified xsi:type="dcterms:W3CDTF">2026-10-29T14:20:08Z</dcterms:modified>
</cp:coreProperties>
</file>