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Course faculty: Prof. James C. Davis and Prof. Steve France. Workshop contributors Ricardo Calvo and Yongjae Chung receive the same typographic treatment. Keep the cover faithful to the source course deck, with a readable session date.</a:t>
            </a:r>
            <a:endParaRPr/>
          </a:p>
        </p:txBody>
      </p:sp>
      <p:sp>
        <p:nvSpPr>
          <p:cNvPr id="81" name="Google Shape;8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use case in ordinary terms: a campus needs to know which rooms have sufficient seats and are free during a requested interval. Rooms and reservations are stored in local JSON. Use the example request with four people from 11:00 to 11:30, without revealing the implementation defect yet.</a:t>
            </a:r>
            <a:endParaRPr/>
          </a:p>
        </p:txBody>
      </p:sp>
      <p:sp>
        <p:nvSpPr>
          <p:cNvPr id="92" name="Google Shape;9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wk_preflight: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11" name="Google Shape;111;wk_preflight: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Follow the dry-run checklist: clone the repository, use the coding agent to inspect requirements, create/reuse a project-local Python environment, install dependencies, and run python -m pytest -q tests/test_rooms.py (expected two passes). Start the API with python -m uvicorn app.main:app --reload and check http://127.0.0.1:8000/docs. Avoid changing application code or tests during setup.</a:t>
            </a:r>
            <a:endParaRPr/>
          </a:p>
        </p:txBody>
      </p:sp>
      <p:sp>
        <p:nvSpPr>
          <p:cNvPr id="112" name="Google Shape;112;wk_preflight: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context engineering as choosing and verifying what the agent receives: current task, persistent instructions, code and specifications, tool descriptions and feedback. The next slides compare these categories before introducing AGENTS.md as its own topic.</a:t>
            </a:r>
            <a:endParaRPr/>
          </a:p>
        </p:txBody>
      </p:sp>
      <p:sp>
        <p:nvSpPr>
          <p:cNvPr id="126" name="Google Shape;12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Clarify context engineering with concrete items: persistent project instructions, the current user request, files the agent reads and observed tool/test output. More text is not automatically better context; the engineer and harness should supply relevant information.</a:t>
            </a:r>
            <a:endParaRPr/>
          </a:p>
        </p:txBody>
      </p:sp>
      <p:sp>
        <p:nvSpPr>
          <p:cNvPr id="135" name="Google Shape;13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Instructor explanation only—NOT an additional student activity. Walk through GET /rooms/available: app/main.py validates input, app/store.py loads the JSON files, and app/availability.py filters rooms. Mention that Exercise 1 will ask the coding agent to explore these files. Do not pause for a separate exercise here.</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wk_agents_topic: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wk_agents_topic: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AGENTS.md as a separate tool for persistent repository-level guidance rather than conflating it with task prompts, skills or MCP. The goal is to make the agent's working conventions and test commands available across sessions. Different coding agents may use different filenames.</a:t>
            </a:r>
            <a:endParaRPr/>
          </a:p>
        </p:txBody>
      </p:sp>
      <p:sp>
        <p:nvSpPr>
          <p:cNvPr id="178" name="Google Shape;178;wk_agents_topic: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wk_agents_what: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wk_agents_what: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what makes a useful AGENTS.md: verified setup and test commands, a short architecture map, conventions, specification locations, and guardrails. Avoid task-specific fixes, source-file dumps and invented claims. Restart the client or inspect its instructions to verify loading.</a:t>
            </a:r>
            <a:endParaRPr/>
          </a:p>
        </p:txBody>
      </p:sp>
      <p:sp>
        <p:nvSpPr>
          <p:cNvPr id="187" name="Google Shape;187;wk_agents_what: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wk_context_prompt: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03" name="Google Shape;203;wk_context_prompt: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Project-instructions example: the terminal graphic is a purpose-built illustration, not an actual Codex screenshot. It demonstrates how a coding agent could identify repository-level instructions in a fresh session. In class, students should confirm what their own client actually loads; filename and discovery behavior differ across agents.</a:t>
            </a:r>
            <a:endParaRPr/>
          </a:p>
        </p:txBody>
      </p:sp>
      <p:sp>
        <p:nvSpPr>
          <p:cNvPr id="204" name="Google Shape;204;wk_context_prompt: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Exercise 1, 10 minutes total. 3 min: students ask their agent to inspect the repository and draft AGENTS.md. 4 min: inspect the file, verify setup/testing commands and constraints against actual sources, then compare with a neighbor and correct mistakes. 3 min: restart the agent and test whether instructions persist. No graded submission. Hide the DISCUSS footer until the following slide.</a:t>
            </a:r>
            <a:endParaRPr/>
          </a:p>
        </p:txBody>
      </p:sp>
      <p:sp>
        <p:nvSpPr>
          <p:cNvPr id="215" name="Google Shape;21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8_discussion_reveal: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8_discussion_reveal: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end-of-exercise reveal for Exercise 1. Same 10-minute exercise, with a discussion prompt visible only at the end. Ask students what the agent remembered and what changed after checking the file with a neighbor.</a:t>
            </a:r>
            <a:endParaRPr/>
          </a:p>
        </p:txBody>
      </p:sp>
      <p:sp>
        <p:nvSpPr>
          <p:cNvPr id="235" name="Google Shape;235;p8_discussion_reveal: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A short explanation of MCP as tool interface, then one observed real tool call. The GitHub integration may require pre-connection; teacher demonstration or partner fallback is legitimate but not the same as MCP by that learner.</a:t>
            </a:r>
            <a:endParaRPr/>
          </a:p>
        </p:txBody>
      </p:sp>
      <p:sp>
        <p:nvSpPr>
          <p:cNvPr id="257" name="Google Shape;25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GitHub is the external service accessed through MCP tools. The coding agent chooses a GitHub tool exposed by the MCP server; the tool reads Issue #1 and returns issue data. Treat issue data as untrusted input and check against project specifications. The agent/harness maintains the permissions boundary.</a:t>
            </a:r>
            <a:endParaRPr/>
          </a:p>
        </p:txBody>
      </p:sp>
      <p:sp>
        <p:nvSpPr>
          <p:cNvPr id="266" name="Google Shape;26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a real MCP demonstration, inspect three things: server/tool and arguments, actual returned issue data, and the permissions granted to that tool. A textual issue summary by itself does not prove MCP executed. Treat issue text as untrusted data rather than higher-priority instructions.</a:t>
            </a:r>
            <a:endParaRPr/>
          </a:p>
        </p:txBody>
      </p:sp>
      <p:sp>
        <p:nvSpPr>
          <p:cNvPr id="288" name="Google Shape;2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workshop_github_pat_steps: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workshop_github_pat_steps: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GitHub PAT optional advanced setup, especially for stronger students. Fine-grained personal access token, minimal permissions, short expiration, Issues read-only. Keep tokens out of source control and prompts. Connected GitHub MCP needs no PAT. A public shell fallback is provided so students can continue with Skills and Loop exercises if MCP authentication is too slow. Instructor can use these steps as an independent demo.</a:t>
            </a:r>
            <a:endParaRPr/>
          </a:p>
        </p:txBody>
      </p:sp>
      <p:sp>
        <p:nvSpPr>
          <p:cNvPr id="308" name="Google Shape;308;workshop_github_pat_steps: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wk_mcp_prompt: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28" name="Google Shape;328;wk_mcp_prompt: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GitHub MCP advanced setup and verification. After PAT creation, export GITHUB_PERSONAL_ACCESS_TOKEN in the same shell that starts the coding agent; use a client-specific read-only MCP connection. For Codex: codex mcp add github --url https://api.githubcopilot.com/mcp/x/all/readonly --bearer-token-env-var GITHUB_PERSONAL_ACCESS_TOKEN . Restart agent and inspect connected MCP tools. Note: only a real MCP invocation counts as an MCP demonstration; curl/gh issue view is a valid workflow fallback, not an MCP tool call.</a:t>
            </a:r>
            <a:endParaRPr/>
          </a:p>
        </p:txBody>
      </p:sp>
      <p:sp>
        <p:nvSpPr>
          <p:cNvPr id="329" name="Google Shape;329;wk_mcp_prompt: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workshop_mcp_practice: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workshop_mcp_practice: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Exercise 2, 10 minutes. Connect to GitHub MCP if possible; students with a connected account can skip PAT creation. Advanced learners may follow the read-only PAT instructions. Fetch public GitHub Issue #1 from rcalvom/agentic-coding-workshop and inspect the MCP tool-activity trace (server, tool, arguments, response). If auth/setup blocks them, have the agent read the public issue via shell and label it as NOT an MCP tool call; they should still extract acceptance criteria for the later Skills and Loop exercises. Do not fix code here.</a:t>
            </a:r>
            <a:endParaRPr/>
          </a:p>
        </p:txBody>
      </p:sp>
      <p:sp>
        <p:nvSpPr>
          <p:cNvPr id="348" name="Google Shape;348;workshop_mcp_practice: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Contrast a skill with AGENTS.md. Discuss just enough of open Agent Skills format: frontmatter, description triggers, procedure, resources, client-specific discovery. Instruct no implementation during this block.</a:t>
            </a:r>
            <a:endParaRPr/>
          </a:p>
        </p:txBody>
      </p:sp>
      <p:sp>
        <p:nvSpPr>
          <p:cNvPr id="370" name="Google Shape;37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 visible file names to avoid vague jargon: AGENTS.md is a Markdown file of project-wide instructions; SKILL.md packages a reusable procedure for a specific category of task. Both use Markdown, but they serve different purposes. Read left first, then right, as does the takeaway.</a:t>
            </a:r>
            <a:endParaRPr/>
          </a:p>
        </p:txBody>
      </p:sp>
      <p:sp>
        <p:nvSpPr>
          <p:cNvPr id="379" name="Google Shape;37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Check name, description and procedure in SKILL.md. The description says when the skill is applicable. Distinguish discovery (listed/recognized by the agent) from invocation (actually used during the task). If the client cannot discover skills natively, explicitly paste the skill procedure as a labeled fallback; that is not proof of native discovery.</a:t>
            </a:r>
            <a:endParaRPr/>
          </a:p>
        </p:txBody>
      </p:sp>
      <p:sp>
        <p:nvSpPr>
          <p:cNvPr id="396" name="Google Shape;39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Exercise 3, REQUIRED, 10 minutes. Each participant uses their coding agent to create a reusable resolve-api-issue SKILL.md in its supported skills directory. Check the YAML name and description (appropriate trigger), test-before-edit workflow, bounded retries, full suite, diff review. Verify the client discovers the skill in a new session. Do not implement Issue #1 yet. If a client lacks native discovery, explicitly load SKILL.md as a labeled fallback. No graded submission.</a:t>
            </a:r>
            <a:endParaRPr/>
          </a:p>
        </p:txBody>
      </p:sp>
      <p:sp>
        <p:nvSpPr>
          <p:cNvPr id="418" name="Google Shape;41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final exercise uses actual pytest output. Ensure context and skill exercise files do not itself solve the defect. The loop is red -&gt; repair -&gt; green (not guaranteed more than one failed patch).</a:t>
            </a:r>
            <a:endParaRPr/>
          </a:p>
        </p:txBody>
      </p:sp>
      <p:sp>
        <p:nvSpPr>
          <p:cNvPr id="443" name="Google Shape;44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the difference between one-shot code generation and an evidence-guided development loop. An engineer expects the agent to plan, edit, test, inspect the results and either adjust the code or stop with a clearly documented blocker.</a:t>
            </a:r>
            <a:endParaRPr/>
          </a:p>
        </p:txBody>
      </p:sp>
      <p:sp>
        <p:nvSpPr>
          <p:cNvPr id="452" name="Google Shape;45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target API issue: LIB-202 is booked until 11:00, ENG-303 begins a booking at 11:30, and the user's request is 11:00–11:30 for capacity at least four. Both rooms should be available because intervals only touch at the boundaries. The existing implementation erroneously excludes them.</a:t>
            </a:r>
            <a:endParaRPr/>
          </a:p>
        </p:txBody>
      </p:sp>
      <p:sp>
        <p:nvSpPr>
          <p:cNvPr id="477" name="Google Shape;47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Only show the failing and passing test totals here, not again on the practice prompt. The full starter suite initially has seven passes and three failures. After a minimal implementation-only fix, all ten pass. The independent contract, tests and code diff are the evidence for correctness.</a:t>
            </a:r>
            <a:endParaRPr/>
          </a:p>
        </p:txBody>
      </p:sp>
      <p:sp>
        <p:nvSpPr>
          <p:cNvPr id="509" name="Google Shape;50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Exercise 4, 10 minutes. Use acceptance criteria for Issue #1 retrieved during the MCP activity or shell fallback. Invoke the resolve-api-issue skill, run focused tests before editing, change implementation code only, rerun targeted and full tests, and inspect git diff. No test or specification changes. If a fix fails, use test output to guide the next attempt and report blockers. Correct result is ten passing tests, but do not require a particular number of failed iterations.</a:t>
            </a:r>
            <a:endParaRPr/>
          </a:p>
        </p:txBody>
      </p:sp>
      <p:sp>
        <p:nvSpPr>
          <p:cNvPr id="527" name="Google Shape;52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 substantive slide. Short recap in plain terms: AGENTS.md tells the agent project rules; GitHub MCP brings in task information; a skill specifies a reusable procedure; tests and diff show whether the change worked. Leave them with a concrete question about what they will try this week.</a:t>
            </a:r>
            <a:endParaRPr/>
          </a:p>
        </p:txBody>
      </p:sp>
      <p:sp>
        <p:nvSpPr>
          <p:cNvPr id="552" name="Google Shape;55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reflection form: https://forms.gle/J4FenBkBM5r23jgB6 . The QR on this slide was regenerated to encode exactly this URL and independently decoded for verification. Do not display the form questions on the slide; students open them by scanning the QR. No form-close deadline is stated on the slide.</a:t>
            </a:r>
            <a:endParaRPr/>
          </a:p>
        </p:txBody>
      </p:sp>
      <p:sp>
        <p:nvSpPr>
          <p:cNvPr id="580" name="Google Shape;58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simple" showMasterSp="0">
  <p:cSld name="Title slide - simple">
    <p:spTree>
      <p:nvGrpSpPr>
        <p:cNvPr id="14" name="Shape 14"/>
        <p:cNvGrpSpPr/>
        <p:nvPr/>
      </p:nvGrpSpPr>
      <p:grpSpPr>
        <a:xfrm>
          <a:off x="0" y="0"/>
          <a:ext cx="0" cy="0"/>
          <a:chOff x="0" y="0"/>
          <a:chExt cx="0" cy="0"/>
        </a:xfrm>
      </p:grpSpPr>
      <p:sp>
        <p:nvSpPr>
          <p:cNvPr id="15" name="Google Shape;15;p2"/>
          <p:cNvSpPr txBox="1"/>
          <p:nvPr>
            <p:ph idx="1" type="subTitle"/>
          </p:nvPr>
        </p:nvSpPr>
        <p:spPr>
          <a:xfrm>
            <a:off x="1308100" y="3235325"/>
            <a:ext cx="6400800" cy="1881188"/>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1800"/>
              <a:buFont typeface="Times"/>
              <a:buNone/>
              <a:defRPr>
                <a:solidFill>
                  <a:srgbClr val="000000"/>
                </a:solidFill>
                <a:latin typeface="Calibri"/>
                <a:ea typeface="Calibri"/>
                <a:cs typeface="Calibri"/>
                <a:sym typeface="Calibri"/>
              </a:defRPr>
            </a:lvl1pPr>
            <a:lvl2pPr lvl="1" algn="l">
              <a:lnSpc>
                <a:spcPct val="100000"/>
              </a:lnSpc>
              <a:spcBef>
                <a:spcPts val="1000"/>
              </a:spcBef>
              <a:spcAft>
                <a:spcPts val="0"/>
              </a:spcAft>
              <a:buSzPts val="1800"/>
              <a:buChar char="•"/>
              <a:defRPr/>
            </a:lvl2pPr>
            <a:lvl3pPr lvl="2" algn="l">
              <a:lnSpc>
                <a:spcPct val="100000"/>
              </a:lnSpc>
              <a:spcBef>
                <a:spcPts val="1000"/>
              </a:spcBef>
              <a:spcAft>
                <a:spcPts val="0"/>
              </a:spcAft>
              <a:buSzPts val="1800"/>
              <a:buChar char="•"/>
              <a:defRPr/>
            </a:lvl3pPr>
            <a:lvl4pPr lvl="3" algn="l">
              <a:lnSpc>
                <a:spcPct val="100000"/>
              </a:lnSpc>
              <a:spcBef>
                <a:spcPts val="1000"/>
              </a:spcBef>
              <a:spcAft>
                <a:spcPts val="0"/>
              </a:spcAft>
              <a:buSzPts val="1800"/>
              <a:buChar char="•"/>
              <a:defRPr/>
            </a:lvl4pPr>
            <a:lvl5pPr lvl="4" algn="l">
              <a:lnSpc>
                <a:spcPct val="100000"/>
              </a:lnSpc>
              <a:spcBef>
                <a:spcPts val="1000"/>
              </a:spcBef>
              <a:spcAft>
                <a:spcPts val="0"/>
              </a:spcAft>
              <a:buSzPts val="1800"/>
              <a:buChar char="•"/>
              <a:defRPr/>
            </a:lvl5pPr>
            <a:lvl6pPr lvl="5" algn="l">
              <a:lnSpc>
                <a:spcPct val="100000"/>
              </a:lnSpc>
              <a:spcBef>
                <a:spcPts val="1000"/>
              </a:spcBef>
              <a:spcAft>
                <a:spcPts val="0"/>
              </a:spcAft>
              <a:buSzPts val="1800"/>
              <a:buChar char="•"/>
              <a:defRPr/>
            </a:lvl6pPr>
            <a:lvl7pPr lvl="6" algn="l">
              <a:lnSpc>
                <a:spcPct val="100000"/>
              </a:lnSpc>
              <a:spcBef>
                <a:spcPts val="1000"/>
              </a:spcBef>
              <a:spcAft>
                <a:spcPts val="0"/>
              </a:spcAft>
              <a:buSzPts val="1800"/>
              <a:buChar char="•"/>
              <a:defRPr/>
            </a:lvl7pPr>
            <a:lvl8pPr lvl="7" algn="l">
              <a:lnSpc>
                <a:spcPct val="100000"/>
              </a:lnSpc>
              <a:spcBef>
                <a:spcPts val="1000"/>
              </a:spcBef>
              <a:spcAft>
                <a:spcPts val="0"/>
              </a:spcAft>
              <a:buSzPts val="1800"/>
              <a:buChar char="•"/>
              <a:defRPr/>
            </a:lvl8pPr>
            <a:lvl9pPr lvl="8" algn="l">
              <a:lnSpc>
                <a:spcPct val="100000"/>
              </a:lnSpc>
              <a:spcBef>
                <a:spcPts val="1000"/>
              </a:spcBef>
              <a:spcAft>
                <a:spcPts val="0"/>
              </a:spcAft>
              <a:buSzPts val="1800"/>
              <a:buChar char="•"/>
              <a:defRPr/>
            </a:lvl9pPr>
          </a:lstStyle>
          <a:p/>
        </p:txBody>
      </p:sp>
      <p:sp>
        <p:nvSpPr>
          <p:cNvPr id="16" name="Google Shape;16;p2"/>
          <p:cNvSpPr txBox="1"/>
          <p:nvPr>
            <p:ph type="ctrTitle"/>
          </p:nvPr>
        </p:nvSpPr>
        <p:spPr>
          <a:xfrm>
            <a:off x="1127125" y="2078038"/>
            <a:ext cx="7031038" cy="874712"/>
          </a:xfrm>
          <a:prstGeom prst="rect">
            <a:avLst/>
          </a:prstGeom>
          <a:solidFill>
            <a:srgbClr val="FFFFFF"/>
          </a:solidFill>
          <a:ln>
            <a:noFill/>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000000"/>
              </a:buClr>
              <a:buSzPts val="3600"/>
              <a:buFont typeface="Calibri"/>
              <a:buNone/>
              <a:defRPr sz="3600" cap="none">
                <a:solidFill>
                  <a:srgbClr val="00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7" name="Google Shape;17;p2"/>
          <p:cNvCxnSpPr/>
          <p:nvPr/>
        </p:nvCxnSpPr>
        <p:spPr>
          <a:xfrm>
            <a:off x="-16760" y="0"/>
            <a:ext cx="9144000" cy="0"/>
          </a:xfrm>
          <a:prstGeom prst="straightConnector1">
            <a:avLst/>
          </a:prstGeom>
          <a:noFill/>
          <a:ln cap="flat" cmpd="sng" w="38100">
            <a:solidFill>
              <a:schemeClr val="accent1"/>
            </a:solidFill>
            <a:prstDash val="solid"/>
            <a:miter lim="8000"/>
            <a:headEnd len="med" w="med" type="none"/>
            <a:tailEnd len="med" w="med" type="none"/>
          </a:ln>
        </p:spPr>
      </p:cxnSp>
      <p:cxnSp>
        <p:nvCxnSpPr>
          <p:cNvPr id="18" name="Google Shape;18;p2"/>
          <p:cNvCxnSpPr/>
          <p:nvPr/>
        </p:nvCxnSpPr>
        <p:spPr>
          <a:xfrm>
            <a:off x="0" y="6858000"/>
            <a:ext cx="9144000" cy="0"/>
          </a:xfrm>
          <a:prstGeom prst="straightConnector1">
            <a:avLst/>
          </a:prstGeom>
          <a:noFill/>
          <a:ln cap="flat" cmpd="sng" w="38100">
            <a:solidFill>
              <a:schemeClr val="accent1"/>
            </a:solidFill>
            <a:prstDash val="solid"/>
            <a:miter lim="8000"/>
            <a:headEnd len="med" w="med" type="none"/>
            <a:tailEnd len="med" w="med" type="none"/>
          </a:ln>
        </p:spPr>
      </p:cxnSp>
      <p:sp>
        <p:nvSpPr>
          <p:cNvPr id="19" name="Google Shape;19;p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b="0" i="0" u="none" cap="none" strike="noStrike">
              <a:latin typeface="Calibri"/>
              <a:ea typeface="Calibri"/>
              <a:cs typeface="Calibri"/>
              <a:sym typeface="Calibri"/>
            </a:endParaRPr>
          </a:p>
        </p:txBody>
      </p:sp>
      <p:pic>
        <p:nvPicPr>
          <p:cNvPr id="20" name="Google Shape;20;p2"/>
          <p:cNvPicPr preferRelativeResize="0"/>
          <p:nvPr/>
        </p:nvPicPr>
        <p:blipFill rotWithShape="1">
          <a:blip r:embed="rId2">
            <a:alphaModFix/>
          </a:blip>
          <a:srcRect b="0" l="0" r="0" t="0"/>
          <a:stretch/>
        </p:blipFill>
        <p:spPr>
          <a:xfrm>
            <a:off x="2097131" y="5715964"/>
            <a:ext cx="5091026" cy="5425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21" name="Shape 21"/>
        <p:cNvGrpSpPr/>
        <p:nvPr/>
      </p:nvGrpSpPr>
      <p:grpSpPr>
        <a:xfrm>
          <a:off x="0" y="0"/>
          <a:ext cx="0" cy="0"/>
          <a:chOff x="0" y="0"/>
          <a:chExt cx="0" cy="0"/>
        </a:xfrm>
      </p:grpSpPr>
      <p:sp>
        <p:nvSpPr>
          <p:cNvPr id="22" name="Google Shape;22;p3"/>
          <p:cNvSpPr txBox="1"/>
          <p:nvPr>
            <p:ph idx="1" type="body"/>
          </p:nvPr>
        </p:nvSpPr>
        <p:spPr>
          <a:xfrm>
            <a:off x="277148" y="1305004"/>
            <a:ext cx="8557768" cy="516691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30200" lvl="1" marL="914400" algn="l">
              <a:lnSpc>
                <a:spcPct val="100000"/>
              </a:lnSpc>
              <a:spcBef>
                <a:spcPts val="1000"/>
              </a:spcBef>
              <a:spcAft>
                <a:spcPts val="0"/>
              </a:spcAft>
              <a:buSzPts val="1600"/>
              <a:buChar char="•"/>
              <a:defRPr/>
            </a:lvl2pPr>
            <a:lvl3pPr indent="-330200" lvl="2" marL="1371600" algn="l">
              <a:lnSpc>
                <a:spcPct val="100000"/>
              </a:lnSpc>
              <a:spcBef>
                <a:spcPts val="1000"/>
              </a:spcBef>
              <a:spcAft>
                <a:spcPts val="0"/>
              </a:spcAft>
              <a:buSzPts val="16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23" name="Google Shape;23;p3"/>
          <p:cNvSpPr txBox="1"/>
          <p:nvPr>
            <p:ph type="title"/>
          </p:nvPr>
        </p:nvSpPr>
        <p:spPr>
          <a:xfrm>
            <a:off x="277148" y="118428"/>
            <a:ext cx="8043862" cy="638175"/>
          </a:xfrm>
          <a:prstGeom prst="rect">
            <a:avLst/>
          </a:prstGeom>
          <a:noFill/>
          <a:ln>
            <a:noFill/>
          </a:ln>
        </p:spPr>
        <p:txBody>
          <a:bodyPr anchorCtr="0" anchor="ctr" bIns="182875" lIns="182875" spcFirstLastPara="1" rIns="182875" wrap="square" tIns="182875">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4" name="Google Shape;24;p3"/>
          <p:cNvCxnSpPr/>
          <p:nvPr/>
        </p:nvCxnSpPr>
        <p:spPr>
          <a:xfrm>
            <a:off x="277148" y="756603"/>
            <a:ext cx="8557769" cy="0"/>
          </a:xfrm>
          <a:prstGeom prst="straightConnector1">
            <a:avLst/>
          </a:prstGeom>
          <a:noFill/>
          <a:ln cap="flat" cmpd="sng" w="38100">
            <a:solidFill>
              <a:schemeClr val="accent1"/>
            </a:solidFill>
            <a:prstDash val="solid"/>
            <a:miter lim="8000"/>
            <a:headEnd len="med" w="med" type="none"/>
            <a:tailEnd len="med" w="med" type="none"/>
          </a:ln>
        </p:spPr>
      </p:cxnSp>
      <p:sp>
        <p:nvSpPr>
          <p:cNvPr id="25" name="Google Shape;25;p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b="0" i="0" u="none" cap="none" strike="noStrik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Section">
    <p:spTree>
      <p:nvGrpSpPr>
        <p:cNvPr id="26" name="Shape 26"/>
        <p:cNvGrpSpPr/>
        <p:nvPr/>
      </p:nvGrpSpPr>
      <p:grpSpPr>
        <a:xfrm>
          <a:off x="0" y="0"/>
          <a:ext cx="0" cy="0"/>
          <a:chOff x="0" y="0"/>
          <a:chExt cx="0" cy="0"/>
        </a:xfrm>
      </p:grpSpPr>
      <p:sp>
        <p:nvSpPr>
          <p:cNvPr id="27" name="Google Shape;27;p4"/>
          <p:cNvSpPr txBox="1"/>
          <p:nvPr>
            <p:ph type="title"/>
          </p:nvPr>
        </p:nvSpPr>
        <p:spPr>
          <a:xfrm>
            <a:off x="685800" y="2747963"/>
            <a:ext cx="7772400" cy="1362075"/>
          </a:xfrm>
          <a:prstGeom prst="rect">
            <a:avLst/>
          </a:prstGeom>
          <a:solidFill>
            <a:srgbClr val="FFFFFF"/>
          </a:solidFill>
          <a:ln>
            <a:noFill/>
          </a:ln>
        </p:spPr>
        <p:txBody>
          <a:bodyPr anchorCtr="0" anchor="t" bIns="182875" lIns="182875" spcFirstLastPara="1" rIns="182875" wrap="square" tIns="182875">
            <a:normAutofit/>
          </a:bodyPr>
          <a:lstStyle>
            <a:lvl1pPr lvl="0" algn="ctr">
              <a:lnSpc>
                <a:spcPct val="90000"/>
              </a:lnSpc>
              <a:spcBef>
                <a:spcPts val="0"/>
              </a:spcBef>
              <a:spcAft>
                <a:spcPts val="0"/>
              </a:spcAft>
              <a:buClr>
                <a:srgbClr val="262626"/>
              </a:buClr>
              <a:buSzPts val="4000"/>
              <a:buFont typeface="Calibri"/>
              <a:buNone/>
              <a:defRPr b="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8" name="Google Shape;28;p4"/>
          <p:cNvCxnSpPr/>
          <p:nvPr/>
        </p:nvCxnSpPr>
        <p:spPr>
          <a:xfrm>
            <a:off x="-57794" y="0"/>
            <a:ext cx="9259587" cy="0"/>
          </a:xfrm>
          <a:prstGeom prst="straightConnector1">
            <a:avLst/>
          </a:prstGeom>
          <a:noFill/>
          <a:ln cap="flat" cmpd="sng" w="76200">
            <a:solidFill>
              <a:schemeClr val="accent1"/>
            </a:solidFill>
            <a:prstDash val="solid"/>
            <a:miter lim="8000"/>
            <a:headEnd len="med" w="med" type="none"/>
            <a:tailEnd len="med" w="med" type="none"/>
          </a:ln>
        </p:spPr>
      </p:cxnSp>
      <p:cxnSp>
        <p:nvCxnSpPr>
          <p:cNvPr id="29" name="Google Shape;29;p4"/>
          <p:cNvCxnSpPr/>
          <p:nvPr/>
        </p:nvCxnSpPr>
        <p:spPr>
          <a:xfrm>
            <a:off x="-78517" y="6858000"/>
            <a:ext cx="9259587" cy="0"/>
          </a:xfrm>
          <a:prstGeom prst="straightConnector1">
            <a:avLst/>
          </a:prstGeom>
          <a:noFill/>
          <a:ln cap="flat" cmpd="sng" w="76200">
            <a:solidFill>
              <a:schemeClr val="accent1"/>
            </a:solidFill>
            <a:prstDash val="solid"/>
            <a:miter lim="8000"/>
            <a:headEnd len="med" w="med" type="none"/>
            <a:tailEnd len="med" w="med" type="none"/>
          </a:ln>
        </p:spPr>
      </p:cxnSp>
      <p:sp>
        <p:nvSpPr>
          <p:cNvPr id="30" name="Google Shape;30;p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b="0" i="0" u="none" cap="none" strike="noStrik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content">
  <p:cSld name="Double content">
    <p:spTree>
      <p:nvGrpSpPr>
        <p:cNvPr id="31" name="Shape 31"/>
        <p:cNvGrpSpPr/>
        <p:nvPr/>
      </p:nvGrpSpPr>
      <p:grpSpPr>
        <a:xfrm>
          <a:off x="0" y="0"/>
          <a:ext cx="0" cy="0"/>
          <a:chOff x="0" y="0"/>
          <a:chExt cx="0" cy="0"/>
        </a:xfrm>
      </p:grpSpPr>
      <p:sp>
        <p:nvSpPr>
          <p:cNvPr id="32" name="Google Shape;32;p5"/>
          <p:cNvSpPr txBox="1"/>
          <p:nvPr>
            <p:ph idx="1" type="body"/>
          </p:nvPr>
        </p:nvSpPr>
        <p:spPr>
          <a:xfrm>
            <a:off x="484369" y="1250205"/>
            <a:ext cx="4038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1000"/>
              </a:spcBef>
              <a:spcAft>
                <a:spcPts val="0"/>
              </a:spcAft>
              <a:buSzPts val="3200"/>
              <a:buChar char="•"/>
              <a:defRPr sz="3200"/>
            </a:lvl1pPr>
            <a:lvl2pPr indent="-406400" lvl="1" marL="914400" algn="l">
              <a:lnSpc>
                <a:spcPct val="100000"/>
              </a:lnSpc>
              <a:spcBef>
                <a:spcPts val="1000"/>
              </a:spcBef>
              <a:spcAft>
                <a:spcPts val="0"/>
              </a:spcAft>
              <a:buSzPts val="2800"/>
              <a:buChar char="•"/>
              <a:defRPr sz="2800"/>
            </a:lvl2pPr>
            <a:lvl3pPr indent="-381000" lvl="2" marL="1371600" algn="l">
              <a:lnSpc>
                <a:spcPct val="100000"/>
              </a:lnSpc>
              <a:spcBef>
                <a:spcPts val="1000"/>
              </a:spcBef>
              <a:spcAft>
                <a:spcPts val="0"/>
              </a:spcAft>
              <a:buSzPts val="2400"/>
              <a:buChar char="•"/>
              <a:defRPr sz="2400"/>
            </a:lvl3pPr>
            <a:lvl4pPr indent="-355600" lvl="3" marL="1828800" algn="l">
              <a:lnSpc>
                <a:spcPct val="100000"/>
              </a:lnSpc>
              <a:spcBef>
                <a:spcPts val="1000"/>
              </a:spcBef>
              <a:spcAft>
                <a:spcPts val="0"/>
              </a:spcAft>
              <a:buSzPts val="2000"/>
              <a:buChar char="•"/>
              <a:defRPr sz="2000"/>
            </a:lvl4pPr>
            <a:lvl5pPr indent="-355600" lvl="4" marL="2286000" algn="l">
              <a:lnSpc>
                <a:spcPct val="100000"/>
              </a:lnSpc>
              <a:spcBef>
                <a:spcPts val="1000"/>
              </a:spcBef>
              <a:spcAft>
                <a:spcPts val="0"/>
              </a:spcAft>
              <a:buSzPts val="2000"/>
              <a:buChar char="•"/>
              <a:defRPr sz="2000"/>
            </a:lvl5pPr>
            <a:lvl6pPr indent="-342900" lvl="5" marL="2743200" algn="l">
              <a:lnSpc>
                <a:spcPct val="100000"/>
              </a:lnSpc>
              <a:spcBef>
                <a:spcPts val="1000"/>
              </a:spcBef>
              <a:spcAft>
                <a:spcPts val="0"/>
              </a:spcAft>
              <a:buSzPts val="1800"/>
              <a:buChar char="•"/>
              <a:defRPr sz="1800"/>
            </a:lvl6pPr>
            <a:lvl7pPr indent="-342900" lvl="6" marL="3200400" algn="l">
              <a:lnSpc>
                <a:spcPct val="100000"/>
              </a:lnSpc>
              <a:spcBef>
                <a:spcPts val="1000"/>
              </a:spcBef>
              <a:spcAft>
                <a:spcPts val="0"/>
              </a:spcAft>
              <a:buSzPts val="1800"/>
              <a:buChar char="•"/>
              <a:defRPr sz="1800"/>
            </a:lvl7pPr>
            <a:lvl8pPr indent="-342900" lvl="7" marL="3657600" algn="l">
              <a:lnSpc>
                <a:spcPct val="100000"/>
              </a:lnSpc>
              <a:spcBef>
                <a:spcPts val="1000"/>
              </a:spcBef>
              <a:spcAft>
                <a:spcPts val="0"/>
              </a:spcAft>
              <a:buSzPts val="1800"/>
              <a:buChar char="•"/>
              <a:defRPr sz="1800"/>
            </a:lvl8pPr>
            <a:lvl9pPr indent="-342900" lvl="8" marL="4114800" algn="l">
              <a:lnSpc>
                <a:spcPct val="100000"/>
              </a:lnSpc>
              <a:spcBef>
                <a:spcPts val="1000"/>
              </a:spcBef>
              <a:spcAft>
                <a:spcPts val="0"/>
              </a:spcAft>
              <a:buSzPts val="1800"/>
              <a:buChar char="•"/>
              <a:defRPr sz="1800"/>
            </a:lvl9pPr>
          </a:lstStyle>
          <a:p/>
        </p:txBody>
      </p:sp>
      <p:sp>
        <p:nvSpPr>
          <p:cNvPr id="33" name="Google Shape;33;p5"/>
          <p:cNvSpPr txBox="1"/>
          <p:nvPr>
            <p:ph idx="2" type="body"/>
          </p:nvPr>
        </p:nvSpPr>
        <p:spPr>
          <a:xfrm>
            <a:off x="4675369" y="1250205"/>
            <a:ext cx="4038600" cy="452596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1000"/>
              </a:spcBef>
              <a:spcAft>
                <a:spcPts val="0"/>
              </a:spcAft>
              <a:buSzPts val="3200"/>
              <a:buChar char="•"/>
              <a:defRPr sz="3200"/>
            </a:lvl1pPr>
            <a:lvl2pPr indent="-406400" lvl="1" marL="914400" algn="l">
              <a:lnSpc>
                <a:spcPct val="100000"/>
              </a:lnSpc>
              <a:spcBef>
                <a:spcPts val="1000"/>
              </a:spcBef>
              <a:spcAft>
                <a:spcPts val="0"/>
              </a:spcAft>
              <a:buSzPts val="2800"/>
              <a:buChar char="•"/>
              <a:defRPr sz="2800"/>
            </a:lvl2pPr>
            <a:lvl3pPr indent="-381000" lvl="2" marL="1371600" algn="l">
              <a:lnSpc>
                <a:spcPct val="100000"/>
              </a:lnSpc>
              <a:spcBef>
                <a:spcPts val="1000"/>
              </a:spcBef>
              <a:spcAft>
                <a:spcPts val="0"/>
              </a:spcAft>
              <a:buSzPts val="2400"/>
              <a:buChar char="•"/>
              <a:defRPr sz="2400"/>
            </a:lvl3pPr>
            <a:lvl4pPr indent="-355600" lvl="3" marL="1828800" algn="l">
              <a:lnSpc>
                <a:spcPct val="100000"/>
              </a:lnSpc>
              <a:spcBef>
                <a:spcPts val="1000"/>
              </a:spcBef>
              <a:spcAft>
                <a:spcPts val="0"/>
              </a:spcAft>
              <a:buSzPts val="2000"/>
              <a:buChar char="•"/>
              <a:defRPr sz="2000"/>
            </a:lvl4pPr>
            <a:lvl5pPr indent="-355600" lvl="4" marL="2286000" algn="l">
              <a:lnSpc>
                <a:spcPct val="100000"/>
              </a:lnSpc>
              <a:spcBef>
                <a:spcPts val="1000"/>
              </a:spcBef>
              <a:spcAft>
                <a:spcPts val="0"/>
              </a:spcAft>
              <a:buSzPts val="2000"/>
              <a:buChar char="•"/>
              <a:defRPr sz="2000"/>
            </a:lvl5pPr>
            <a:lvl6pPr indent="-342900" lvl="5" marL="2743200" algn="l">
              <a:lnSpc>
                <a:spcPct val="100000"/>
              </a:lnSpc>
              <a:spcBef>
                <a:spcPts val="1000"/>
              </a:spcBef>
              <a:spcAft>
                <a:spcPts val="0"/>
              </a:spcAft>
              <a:buSzPts val="1800"/>
              <a:buChar char="•"/>
              <a:defRPr sz="1800"/>
            </a:lvl6pPr>
            <a:lvl7pPr indent="-342900" lvl="6" marL="3200400" algn="l">
              <a:lnSpc>
                <a:spcPct val="100000"/>
              </a:lnSpc>
              <a:spcBef>
                <a:spcPts val="1000"/>
              </a:spcBef>
              <a:spcAft>
                <a:spcPts val="0"/>
              </a:spcAft>
              <a:buSzPts val="1800"/>
              <a:buChar char="•"/>
              <a:defRPr sz="1800"/>
            </a:lvl7pPr>
            <a:lvl8pPr indent="-342900" lvl="7" marL="3657600" algn="l">
              <a:lnSpc>
                <a:spcPct val="100000"/>
              </a:lnSpc>
              <a:spcBef>
                <a:spcPts val="1000"/>
              </a:spcBef>
              <a:spcAft>
                <a:spcPts val="0"/>
              </a:spcAft>
              <a:buSzPts val="1800"/>
              <a:buChar char="•"/>
              <a:defRPr sz="1800"/>
            </a:lvl8pPr>
            <a:lvl9pPr indent="-342900" lvl="8" marL="4114800" algn="l">
              <a:lnSpc>
                <a:spcPct val="100000"/>
              </a:lnSpc>
              <a:spcBef>
                <a:spcPts val="1000"/>
              </a:spcBef>
              <a:spcAft>
                <a:spcPts val="0"/>
              </a:spcAft>
              <a:buSzPts val="1800"/>
              <a:buChar char="•"/>
              <a:defRPr sz="1800"/>
            </a:lvl9pPr>
          </a:lstStyle>
          <a:p/>
        </p:txBody>
      </p:sp>
      <p:cxnSp>
        <p:nvCxnSpPr>
          <p:cNvPr id="34" name="Google Shape;34;p5"/>
          <p:cNvCxnSpPr/>
          <p:nvPr/>
        </p:nvCxnSpPr>
        <p:spPr>
          <a:xfrm>
            <a:off x="277148" y="756603"/>
            <a:ext cx="8577217" cy="0"/>
          </a:xfrm>
          <a:prstGeom prst="straightConnector1">
            <a:avLst/>
          </a:prstGeom>
          <a:noFill/>
          <a:ln cap="flat" cmpd="sng" w="38100">
            <a:solidFill>
              <a:schemeClr val="accent1"/>
            </a:solidFill>
            <a:prstDash val="solid"/>
            <a:miter lim="8000"/>
            <a:headEnd len="med" w="med" type="none"/>
            <a:tailEnd len="med" w="med" type="none"/>
          </a:ln>
        </p:spPr>
      </p:cxnSp>
      <p:sp>
        <p:nvSpPr>
          <p:cNvPr id="35" name="Google Shape;35;p5"/>
          <p:cNvSpPr txBox="1"/>
          <p:nvPr>
            <p:ph type="title"/>
          </p:nvPr>
        </p:nvSpPr>
        <p:spPr>
          <a:xfrm>
            <a:off x="277148" y="118428"/>
            <a:ext cx="8043862" cy="638175"/>
          </a:xfrm>
          <a:prstGeom prst="rect">
            <a:avLst/>
          </a:prstGeom>
          <a:noFill/>
          <a:ln>
            <a:noFill/>
          </a:ln>
        </p:spPr>
        <p:txBody>
          <a:bodyPr anchorCtr="0" anchor="ctr" bIns="182875" lIns="182875" spcFirstLastPara="1" rIns="182875" wrap="square" tIns="182875">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b="0" i="0" u="none" cap="none" strike="noStrike">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content - titled">
  <p:cSld name="Double content - titled">
    <p:spTree>
      <p:nvGrpSpPr>
        <p:cNvPr id="37" name="Shape 37"/>
        <p:cNvGrpSpPr/>
        <p:nvPr/>
      </p:nvGrpSpPr>
      <p:grpSpPr>
        <a:xfrm>
          <a:off x="0" y="0"/>
          <a:ext cx="0" cy="0"/>
          <a:chOff x="0" y="0"/>
          <a:chExt cx="0" cy="0"/>
        </a:xfrm>
      </p:grpSpPr>
      <p:sp>
        <p:nvSpPr>
          <p:cNvPr id="38" name="Google Shape;38;p6"/>
          <p:cNvSpPr txBox="1"/>
          <p:nvPr>
            <p:ph idx="1" type="body"/>
          </p:nvPr>
        </p:nvSpPr>
        <p:spPr>
          <a:xfrm>
            <a:off x="457200" y="1258655"/>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3200"/>
              <a:buNone/>
              <a:defRPr b="1" sz="32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39" name="Google Shape;39;p6"/>
          <p:cNvSpPr txBox="1"/>
          <p:nvPr>
            <p:ph idx="2" type="body"/>
          </p:nvPr>
        </p:nvSpPr>
        <p:spPr>
          <a:xfrm>
            <a:off x="457200" y="1898417"/>
            <a:ext cx="4040188" cy="3951288"/>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1000"/>
              </a:spcBef>
              <a:spcAft>
                <a:spcPts val="0"/>
              </a:spcAft>
              <a:buSzPts val="3200"/>
              <a:buChar char="•"/>
              <a:defRPr sz="3200"/>
            </a:lvl1pPr>
            <a:lvl2pPr indent="-355600" lvl="1" marL="914400" algn="l">
              <a:lnSpc>
                <a:spcPct val="100000"/>
              </a:lnSpc>
              <a:spcBef>
                <a:spcPts val="1000"/>
              </a:spcBef>
              <a:spcAft>
                <a:spcPts val="0"/>
              </a:spcAft>
              <a:buSzPts val="2000"/>
              <a:buChar char="•"/>
              <a:defRPr sz="2000"/>
            </a:lvl2pPr>
            <a:lvl3pPr indent="-342900" lvl="2" marL="1371600" algn="l">
              <a:lnSpc>
                <a:spcPct val="100000"/>
              </a:lnSpc>
              <a:spcBef>
                <a:spcPts val="1000"/>
              </a:spcBef>
              <a:spcAft>
                <a:spcPts val="0"/>
              </a:spcAft>
              <a:buSzPts val="1800"/>
              <a:buChar char="•"/>
              <a:defRPr sz="1800"/>
            </a:lvl3pPr>
            <a:lvl4pPr indent="-330200" lvl="3" marL="1828800" algn="l">
              <a:lnSpc>
                <a:spcPct val="100000"/>
              </a:lnSpc>
              <a:spcBef>
                <a:spcPts val="1000"/>
              </a:spcBef>
              <a:spcAft>
                <a:spcPts val="0"/>
              </a:spcAft>
              <a:buSzPts val="1600"/>
              <a:buChar char="•"/>
              <a:defRPr sz="1600"/>
            </a:lvl4pPr>
            <a:lvl5pPr indent="-330200" lvl="4" marL="2286000" algn="l">
              <a:lnSpc>
                <a:spcPct val="100000"/>
              </a:lnSpc>
              <a:spcBef>
                <a:spcPts val="1000"/>
              </a:spcBef>
              <a:spcAft>
                <a:spcPts val="0"/>
              </a:spcAft>
              <a:buSzPts val="1600"/>
              <a:buChar char="•"/>
              <a:defRPr sz="1600"/>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40" name="Google Shape;40;p6"/>
          <p:cNvSpPr txBox="1"/>
          <p:nvPr>
            <p:ph idx="3" type="body"/>
          </p:nvPr>
        </p:nvSpPr>
        <p:spPr>
          <a:xfrm>
            <a:off x="4645025" y="1258655"/>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3200"/>
              <a:buNone/>
              <a:defRPr b="1" sz="32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41" name="Google Shape;41;p6"/>
          <p:cNvSpPr txBox="1"/>
          <p:nvPr>
            <p:ph idx="4" type="body"/>
          </p:nvPr>
        </p:nvSpPr>
        <p:spPr>
          <a:xfrm>
            <a:off x="4645025" y="1898417"/>
            <a:ext cx="4041775" cy="3951288"/>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1000"/>
              </a:spcBef>
              <a:spcAft>
                <a:spcPts val="0"/>
              </a:spcAft>
              <a:buSzPts val="3200"/>
              <a:buChar char="•"/>
              <a:defRPr sz="3200"/>
            </a:lvl1pPr>
            <a:lvl2pPr indent="-355600" lvl="1" marL="914400" algn="l">
              <a:lnSpc>
                <a:spcPct val="100000"/>
              </a:lnSpc>
              <a:spcBef>
                <a:spcPts val="1000"/>
              </a:spcBef>
              <a:spcAft>
                <a:spcPts val="0"/>
              </a:spcAft>
              <a:buSzPts val="2000"/>
              <a:buChar char="•"/>
              <a:defRPr sz="2000"/>
            </a:lvl2pPr>
            <a:lvl3pPr indent="-342900" lvl="2" marL="1371600" algn="l">
              <a:lnSpc>
                <a:spcPct val="100000"/>
              </a:lnSpc>
              <a:spcBef>
                <a:spcPts val="1000"/>
              </a:spcBef>
              <a:spcAft>
                <a:spcPts val="0"/>
              </a:spcAft>
              <a:buSzPts val="1800"/>
              <a:buChar char="•"/>
              <a:defRPr sz="1800"/>
            </a:lvl3pPr>
            <a:lvl4pPr indent="-330200" lvl="3" marL="1828800" algn="l">
              <a:lnSpc>
                <a:spcPct val="100000"/>
              </a:lnSpc>
              <a:spcBef>
                <a:spcPts val="1000"/>
              </a:spcBef>
              <a:spcAft>
                <a:spcPts val="0"/>
              </a:spcAft>
              <a:buSzPts val="1600"/>
              <a:buChar char="•"/>
              <a:defRPr sz="1600"/>
            </a:lvl4pPr>
            <a:lvl5pPr indent="-330200" lvl="4" marL="2286000" algn="l">
              <a:lnSpc>
                <a:spcPct val="100000"/>
              </a:lnSpc>
              <a:spcBef>
                <a:spcPts val="1000"/>
              </a:spcBef>
              <a:spcAft>
                <a:spcPts val="0"/>
              </a:spcAft>
              <a:buSzPts val="1600"/>
              <a:buChar char="•"/>
              <a:defRPr sz="1600"/>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cxnSp>
        <p:nvCxnSpPr>
          <p:cNvPr id="42" name="Google Shape;42;p6"/>
          <p:cNvCxnSpPr/>
          <p:nvPr/>
        </p:nvCxnSpPr>
        <p:spPr>
          <a:xfrm>
            <a:off x="277148" y="756603"/>
            <a:ext cx="8577217" cy="0"/>
          </a:xfrm>
          <a:prstGeom prst="straightConnector1">
            <a:avLst/>
          </a:prstGeom>
          <a:noFill/>
          <a:ln cap="flat" cmpd="sng" w="38100">
            <a:solidFill>
              <a:schemeClr val="accent1"/>
            </a:solidFill>
            <a:prstDash val="solid"/>
            <a:miter lim="8000"/>
            <a:headEnd len="med" w="med" type="none"/>
            <a:tailEnd len="med" w="med" type="none"/>
          </a:ln>
        </p:spPr>
      </p:cxnSp>
      <p:sp>
        <p:nvSpPr>
          <p:cNvPr id="43" name="Google Shape;43;p6"/>
          <p:cNvSpPr txBox="1"/>
          <p:nvPr>
            <p:ph type="title"/>
          </p:nvPr>
        </p:nvSpPr>
        <p:spPr>
          <a:xfrm>
            <a:off x="277148" y="118428"/>
            <a:ext cx="8043862" cy="638175"/>
          </a:xfrm>
          <a:prstGeom prst="rect">
            <a:avLst/>
          </a:prstGeom>
          <a:noFill/>
          <a:ln>
            <a:noFill/>
          </a:ln>
        </p:spPr>
        <p:txBody>
          <a:bodyPr anchorCtr="0" anchor="ctr" bIns="182875" lIns="182875" spcFirstLastPara="1" rIns="182875" wrap="square" tIns="182875">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b="0" i="0" u="none" cap="none" strike="noStrike">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borders">
  <p:cSld name="Just borders">
    <p:spTree>
      <p:nvGrpSpPr>
        <p:cNvPr id="45" name="Shape 45"/>
        <p:cNvGrpSpPr/>
        <p:nvPr/>
      </p:nvGrpSpPr>
      <p:grpSpPr>
        <a:xfrm>
          <a:off x="0" y="0"/>
          <a:ext cx="0" cy="0"/>
          <a:chOff x="0" y="0"/>
          <a:chExt cx="0" cy="0"/>
        </a:xfrm>
      </p:grpSpPr>
      <p:cxnSp>
        <p:nvCxnSpPr>
          <p:cNvPr id="46" name="Google Shape;46;p7"/>
          <p:cNvCxnSpPr/>
          <p:nvPr/>
        </p:nvCxnSpPr>
        <p:spPr>
          <a:xfrm>
            <a:off x="-37071" y="0"/>
            <a:ext cx="9259587" cy="0"/>
          </a:xfrm>
          <a:prstGeom prst="straightConnector1">
            <a:avLst/>
          </a:prstGeom>
          <a:noFill/>
          <a:ln cap="flat" cmpd="sng" w="76200">
            <a:solidFill>
              <a:schemeClr val="accent1"/>
            </a:solidFill>
            <a:prstDash val="solid"/>
            <a:miter lim="8000"/>
            <a:headEnd len="med" w="med" type="none"/>
            <a:tailEnd len="med" w="med" type="none"/>
          </a:ln>
        </p:spPr>
      </p:cxnSp>
      <p:cxnSp>
        <p:nvCxnSpPr>
          <p:cNvPr id="47" name="Google Shape;47;p7"/>
          <p:cNvCxnSpPr/>
          <p:nvPr/>
        </p:nvCxnSpPr>
        <p:spPr>
          <a:xfrm>
            <a:off x="-57794" y="6858000"/>
            <a:ext cx="9259587" cy="0"/>
          </a:xfrm>
          <a:prstGeom prst="straightConnector1">
            <a:avLst/>
          </a:prstGeom>
          <a:noFill/>
          <a:ln cap="flat" cmpd="sng" w="76200">
            <a:solidFill>
              <a:schemeClr val="accent1"/>
            </a:solidFill>
            <a:prstDash val="solid"/>
            <a:miter lim="8000"/>
            <a:headEnd len="med" w="med" type="none"/>
            <a:tailEnd len="med" w="med" type="none"/>
          </a:ln>
        </p:spPr>
      </p:cxnSp>
      <p:sp>
        <p:nvSpPr>
          <p:cNvPr id="48" name="Google Shape;48;p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b="0" i="0" u="none" cap="none" strike="noStrike">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drants">
  <p:cSld name="Quadrants">
    <p:spTree>
      <p:nvGrpSpPr>
        <p:cNvPr id="49" name="Shape 49"/>
        <p:cNvGrpSpPr/>
        <p:nvPr/>
      </p:nvGrpSpPr>
      <p:grpSpPr>
        <a:xfrm>
          <a:off x="0" y="0"/>
          <a:ext cx="0" cy="0"/>
          <a:chOff x="0" y="0"/>
          <a:chExt cx="0" cy="0"/>
        </a:xfrm>
      </p:grpSpPr>
      <p:cxnSp>
        <p:nvCxnSpPr>
          <p:cNvPr id="50" name="Google Shape;50;p8"/>
          <p:cNvCxnSpPr/>
          <p:nvPr/>
        </p:nvCxnSpPr>
        <p:spPr>
          <a:xfrm>
            <a:off x="-37071" y="0"/>
            <a:ext cx="9259587" cy="0"/>
          </a:xfrm>
          <a:prstGeom prst="straightConnector1">
            <a:avLst/>
          </a:prstGeom>
          <a:noFill/>
          <a:ln cap="flat" cmpd="sng" w="76200">
            <a:solidFill>
              <a:schemeClr val="accent1"/>
            </a:solidFill>
            <a:prstDash val="solid"/>
            <a:miter lim="8000"/>
            <a:headEnd len="med" w="med" type="none"/>
            <a:tailEnd len="med" w="med" type="none"/>
          </a:ln>
        </p:spPr>
      </p:cxnSp>
      <p:cxnSp>
        <p:nvCxnSpPr>
          <p:cNvPr id="51" name="Google Shape;51;p8"/>
          <p:cNvCxnSpPr/>
          <p:nvPr/>
        </p:nvCxnSpPr>
        <p:spPr>
          <a:xfrm>
            <a:off x="-57794" y="6858000"/>
            <a:ext cx="9259587" cy="0"/>
          </a:xfrm>
          <a:prstGeom prst="straightConnector1">
            <a:avLst/>
          </a:prstGeom>
          <a:noFill/>
          <a:ln cap="flat" cmpd="sng" w="76200">
            <a:solidFill>
              <a:schemeClr val="accent1"/>
            </a:solidFill>
            <a:prstDash val="solid"/>
            <a:miter lim="8000"/>
            <a:headEnd len="med" w="med" type="none"/>
            <a:tailEnd len="med" w="med" type="none"/>
          </a:ln>
        </p:spPr>
      </p:cxnSp>
      <p:sp>
        <p:nvSpPr>
          <p:cNvPr id="52" name="Google Shape;52;p8"/>
          <p:cNvSpPr/>
          <p:nvPr>
            <p:ph idx="2" type="pic"/>
          </p:nvPr>
        </p:nvSpPr>
        <p:spPr>
          <a:xfrm>
            <a:off x="877888" y="765140"/>
            <a:ext cx="3137521" cy="2468339"/>
          </a:xfrm>
          <a:prstGeom prst="rect">
            <a:avLst/>
          </a:prstGeom>
          <a:noFill/>
          <a:ln>
            <a:noFill/>
          </a:ln>
        </p:spPr>
      </p:sp>
      <p:sp>
        <p:nvSpPr>
          <p:cNvPr id="53" name="Google Shape;53;p8"/>
          <p:cNvSpPr/>
          <p:nvPr>
            <p:ph idx="3" type="pic"/>
          </p:nvPr>
        </p:nvSpPr>
        <p:spPr>
          <a:xfrm>
            <a:off x="5204723" y="765140"/>
            <a:ext cx="3137521" cy="2468339"/>
          </a:xfrm>
          <a:prstGeom prst="rect">
            <a:avLst/>
          </a:prstGeom>
          <a:noFill/>
          <a:ln>
            <a:noFill/>
          </a:ln>
        </p:spPr>
      </p:sp>
      <p:sp>
        <p:nvSpPr>
          <p:cNvPr id="54" name="Google Shape;54;p8"/>
          <p:cNvSpPr/>
          <p:nvPr>
            <p:ph idx="4" type="pic"/>
          </p:nvPr>
        </p:nvSpPr>
        <p:spPr>
          <a:xfrm>
            <a:off x="877887" y="3596647"/>
            <a:ext cx="3137521" cy="2468339"/>
          </a:xfrm>
          <a:prstGeom prst="rect">
            <a:avLst/>
          </a:prstGeom>
          <a:noFill/>
          <a:ln>
            <a:noFill/>
          </a:ln>
        </p:spPr>
      </p:sp>
      <p:sp>
        <p:nvSpPr>
          <p:cNvPr id="55" name="Google Shape;55;p8"/>
          <p:cNvSpPr/>
          <p:nvPr>
            <p:ph idx="5" type="pic"/>
          </p:nvPr>
        </p:nvSpPr>
        <p:spPr>
          <a:xfrm>
            <a:off x="5204723" y="3616525"/>
            <a:ext cx="3137521" cy="2468339"/>
          </a:xfrm>
          <a:prstGeom prst="rect">
            <a:avLst/>
          </a:prstGeom>
          <a:noFill/>
          <a:ln>
            <a:noFill/>
          </a:ln>
        </p:spPr>
      </p:sp>
      <p:sp>
        <p:nvSpPr>
          <p:cNvPr id="56" name="Google Shape;56;p8"/>
          <p:cNvSpPr txBox="1"/>
          <p:nvPr>
            <p:ph idx="1" type="body"/>
          </p:nvPr>
        </p:nvSpPr>
        <p:spPr>
          <a:xfrm>
            <a:off x="877819" y="213987"/>
            <a:ext cx="3136900" cy="550603"/>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SzPts val="3200"/>
              <a:buNone/>
              <a:defRPr sz="3200"/>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7" name="Google Shape;57;p8"/>
          <p:cNvSpPr txBox="1"/>
          <p:nvPr>
            <p:ph idx="6" type="body"/>
          </p:nvPr>
        </p:nvSpPr>
        <p:spPr>
          <a:xfrm>
            <a:off x="5205344" y="213987"/>
            <a:ext cx="3136900" cy="550603"/>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SzPts val="3200"/>
              <a:buNone/>
              <a:defRPr sz="3200"/>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8" name="Google Shape;58;p8"/>
          <p:cNvSpPr txBox="1"/>
          <p:nvPr>
            <p:ph idx="7" type="body"/>
          </p:nvPr>
        </p:nvSpPr>
        <p:spPr>
          <a:xfrm>
            <a:off x="877819" y="6093410"/>
            <a:ext cx="3136900" cy="550603"/>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SzPts val="3200"/>
              <a:buNone/>
              <a:defRPr sz="3200"/>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59" name="Google Shape;59;p8"/>
          <p:cNvSpPr txBox="1"/>
          <p:nvPr>
            <p:ph idx="8" type="body"/>
          </p:nvPr>
        </p:nvSpPr>
        <p:spPr>
          <a:xfrm>
            <a:off x="5205344" y="6093410"/>
            <a:ext cx="3136900" cy="550603"/>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000"/>
              </a:spcBef>
              <a:spcAft>
                <a:spcPts val="0"/>
              </a:spcAft>
              <a:buSzPts val="3200"/>
              <a:buNone/>
              <a:defRPr sz="3200"/>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60" name="Google Shape;60;p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b="0" i="0" u="none" cap="none" strike="noStrike">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type="picTx">
  <p:cSld name="PICTURE_WITH_CAPTION_TEXT">
    <p:spTree>
      <p:nvGrpSpPr>
        <p:cNvPr id="61" name="Shape 61"/>
        <p:cNvGrpSpPr/>
        <p:nvPr/>
      </p:nvGrpSpPr>
      <p:grpSpPr>
        <a:xfrm>
          <a:off x="0" y="0"/>
          <a:ext cx="0" cy="0"/>
          <a:chOff x="0" y="0"/>
          <a:chExt cx="0" cy="0"/>
        </a:xfrm>
      </p:grpSpPr>
      <p:sp>
        <p:nvSpPr>
          <p:cNvPr id="62" name="Google Shape;62;p9"/>
          <p:cNvSpPr txBox="1"/>
          <p:nvPr>
            <p:ph type="title"/>
          </p:nvPr>
        </p:nvSpPr>
        <p:spPr>
          <a:xfrm>
            <a:off x="1792288" y="4800600"/>
            <a:ext cx="5486400" cy="566738"/>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lvl1pPr lvl="0" algn="l">
              <a:lnSpc>
                <a:spcPct val="90000"/>
              </a:lnSpc>
              <a:spcBef>
                <a:spcPts val="0"/>
              </a:spcBef>
              <a:spcAft>
                <a:spcPts val="0"/>
              </a:spcAft>
              <a:buClr>
                <a:srgbClr val="262626"/>
              </a:buClr>
              <a:buSzPts val="2000"/>
              <a:buFont typeface="Calibri"/>
              <a:buNone/>
              <a:defRPr b="1" sz="2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
          <p:cNvSpPr/>
          <p:nvPr>
            <p:ph idx="2" type="pic"/>
          </p:nvPr>
        </p:nvSpPr>
        <p:spPr>
          <a:xfrm>
            <a:off x="1792288" y="612775"/>
            <a:ext cx="5486400" cy="4114800"/>
          </a:xfrm>
          <a:prstGeom prst="rect">
            <a:avLst/>
          </a:prstGeom>
          <a:noFill/>
          <a:ln>
            <a:noFill/>
          </a:ln>
        </p:spPr>
      </p:sp>
      <p:sp>
        <p:nvSpPr>
          <p:cNvPr id="64" name="Google Shape;64;p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400"/>
              <a:buNone/>
              <a:defRPr sz="14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0"/>
              </a:spcAft>
              <a:buSzPts val="900"/>
              <a:buNone/>
              <a:defRPr sz="900"/>
            </a:lvl9pPr>
          </a:lstStyle>
          <a:p/>
        </p:txBody>
      </p:sp>
      <p:cxnSp>
        <p:nvCxnSpPr>
          <p:cNvPr id="65" name="Google Shape;65;p9"/>
          <p:cNvCxnSpPr/>
          <p:nvPr/>
        </p:nvCxnSpPr>
        <p:spPr>
          <a:xfrm>
            <a:off x="-37071" y="0"/>
            <a:ext cx="9259587" cy="0"/>
          </a:xfrm>
          <a:prstGeom prst="straightConnector1">
            <a:avLst/>
          </a:prstGeom>
          <a:noFill/>
          <a:ln cap="flat" cmpd="sng" w="76200">
            <a:solidFill>
              <a:schemeClr val="accent1"/>
            </a:solidFill>
            <a:prstDash val="solid"/>
            <a:miter lim="8000"/>
            <a:headEnd len="med" w="med" type="none"/>
            <a:tailEnd len="med" w="med" type="none"/>
          </a:ln>
        </p:spPr>
      </p:cxnSp>
      <p:cxnSp>
        <p:nvCxnSpPr>
          <p:cNvPr id="66" name="Google Shape;66;p9"/>
          <p:cNvCxnSpPr/>
          <p:nvPr/>
        </p:nvCxnSpPr>
        <p:spPr>
          <a:xfrm>
            <a:off x="-57794" y="6858000"/>
            <a:ext cx="9259587" cy="0"/>
          </a:xfrm>
          <a:prstGeom prst="straightConnector1">
            <a:avLst/>
          </a:prstGeom>
          <a:noFill/>
          <a:ln cap="flat" cmpd="sng" w="76200">
            <a:solidFill>
              <a:schemeClr val="accent1"/>
            </a:solidFill>
            <a:prstDash val="solid"/>
            <a:miter lim="8000"/>
            <a:headEnd len="med" w="med" type="none"/>
            <a:tailEnd len="med" w="med" type="none"/>
          </a:ln>
        </p:spPr>
      </p:cxnSp>
      <p:sp>
        <p:nvSpPr>
          <p:cNvPr id="67" name="Google Shape;67;p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b="0" i="0" u="none" cap="none" strike="noStrike">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ributions">
  <p:cSld name="Contributions">
    <p:spTree>
      <p:nvGrpSpPr>
        <p:cNvPr id="68" name="Shape 68"/>
        <p:cNvGrpSpPr/>
        <p:nvPr/>
      </p:nvGrpSpPr>
      <p:grpSpPr>
        <a:xfrm>
          <a:off x="0" y="0"/>
          <a:ext cx="0" cy="0"/>
          <a:chOff x="0" y="0"/>
          <a:chExt cx="0" cy="0"/>
        </a:xfrm>
      </p:grpSpPr>
      <p:sp>
        <p:nvSpPr>
          <p:cNvPr id="69" name="Google Shape;69;p10"/>
          <p:cNvSpPr txBox="1"/>
          <p:nvPr>
            <p:ph idx="1" type="body"/>
          </p:nvPr>
        </p:nvSpPr>
        <p:spPr>
          <a:xfrm>
            <a:off x="595200" y="1060230"/>
            <a:ext cx="6064017" cy="1838037"/>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520"/>
              </a:spcBef>
              <a:spcAft>
                <a:spcPts val="0"/>
              </a:spcAft>
              <a:buClr>
                <a:srgbClr val="000000"/>
              </a:buClr>
              <a:buSzPts val="3120"/>
              <a:buFont typeface="Calibri"/>
              <a:buNone/>
              <a:defRPr b="0" sz="2600" u="sng"/>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cxnSp>
        <p:nvCxnSpPr>
          <p:cNvPr id="70" name="Google Shape;70;p10"/>
          <p:cNvCxnSpPr/>
          <p:nvPr/>
        </p:nvCxnSpPr>
        <p:spPr>
          <a:xfrm>
            <a:off x="277148" y="756603"/>
            <a:ext cx="8577217" cy="0"/>
          </a:xfrm>
          <a:prstGeom prst="straightConnector1">
            <a:avLst/>
          </a:prstGeom>
          <a:noFill/>
          <a:ln cap="flat" cmpd="sng" w="38100">
            <a:solidFill>
              <a:schemeClr val="accent1"/>
            </a:solidFill>
            <a:prstDash val="solid"/>
            <a:miter lim="8000"/>
            <a:headEnd len="med" w="med" type="none"/>
            <a:tailEnd len="med" w="med" type="none"/>
          </a:ln>
        </p:spPr>
      </p:cxnSp>
      <p:sp>
        <p:nvSpPr>
          <p:cNvPr id="71" name="Google Shape;71;p10"/>
          <p:cNvSpPr/>
          <p:nvPr>
            <p:ph idx="2" type="pic"/>
          </p:nvPr>
        </p:nvSpPr>
        <p:spPr>
          <a:xfrm>
            <a:off x="1761066" y="1749288"/>
            <a:ext cx="1456267" cy="914400"/>
          </a:xfrm>
          <a:prstGeom prst="rect">
            <a:avLst/>
          </a:prstGeom>
          <a:noFill/>
          <a:ln>
            <a:noFill/>
          </a:ln>
        </p:spPr>
      </p:sp>
      <p:sp>
        <p:nvSpPr>
          <p:cNvPr id="72" name="Google Shape;72;p10"/>
          <p:cNvSpPr/>
          <p:nvPr>
            <p:ph idx="3" type="pic"/>
          </p:nvPr>
        </p:nvSpPr>
        <p:spPr>
          <a:xfrm>
            <a:off x="3843866" y="1749288"/>
            <a:ext cx="1456267" cy="914400"/>
          </a:xfrm>
          <a:prstGeom prst="rect">
            <a:avLst/>
          </a:prstGeom>
          <a:noFill/>
          <a:ln>
            <a:noFill/>
          </a:ln>
        </p:spPr>
      </p:sp>
      <p:sp>
        <p:nvSpPr>
          <p:cNvPr id="73" name="Google Shape;73;p10"/>
          <p:cNvSpPr txBox="1"/>
          <p:nvPr>
            <p:ph idx="4" type="body"/>
          </p:nvPr>
        </p:nvSpPr>
        <p:spPr>
          <a:xfrm>
            <a:off x="595200" y="3129880"/>
            <a:ext cx="6064017" cy="1838037"/>
          </a:xfrm>
          <a:prstGeom prst="rect">
            <a:avLst/>
          </a:prstGeom>
          <a:noFill/>
          <a:ln>
            <a:noFill/>
          </a:ln>
        </p:spPr>
        <p:txBody>
          <a:bodyPr anchorCtr="0" anchor="t" bIns="45700" lIns="91425" spcFirstLastPara="1" rIns="91425" wrap="square" tIns="45700">
            <a:normAutofit/>
          </a:bodyPr>
          <a:lstStyle>
            <a:lvl1pPr indent="-228600" lvl="0" marL="457200" marR="0" algn="l">
              <a:lnSpc>
                <a:spcPct val="100000"/>
              </a:lnSpc>
              <a:spcBef>
                <a:spcPts val="520"/>
              </a:spcBef>
              <a:spcAft>
                <a:spcPts val="0"/>
              </a:spcAft>
              <a:buClr>
                <a:srgbClr val="000000"/>
              </a:buClr>
              <a:buSzPts val="3120"/>
              <a:buFont typeface="Calibri"/>
              <a:buNone/>
              <a:defRPr b="0" sz="2600" u="sng"/>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74" name="Google Shape;74;p10"/>
          <p:cNvSpPr/>
          <p:nvPr>
            <p:ph idx="5" type="pic"/>
          </p:nvPr>
        </p:nvSpPr>
        <p:spPr>
          <a:xfrm>
            <a:off x="1761066" y="3818938"/>
            <a:ext cx="1456267" cy="914400"/>
          </a:xfrm>
          <a:prstGeom prst="rect">
            <a:avLst/>
          </a:prstGeom>
          <a:noFill/>
          <a:ln>
            <a:noFill/>
          </a:ln>
        </p:spPr>
      </p:sp>
      <p:sp>
        <p:nvSpPr>
          <p:cNvPr id="75" name="Google Shape;75;p10"/>
          <p:cNvSpPr/>
          <p:nvPr>
            <p:ph idx="6" type="pic"/>
          </p:nvPr>
        </p:nvSpPr>
        <p:spPr>
          <a:xfrm>
            <a:off x="3843866" y="3818938"/>
            <a:ext cx="1456267" cy="914400"/>
          </a:xfrm>
          <a:prstGeom prst="rect">
            <a:avLst/>
          </a:prstGeom>
          <a:noFill/>
          <a:ln>
            <a:noFill/>
          </a:ln>
        </p:spPr>
      </p:sp>
      <p:sp>
        <p:nvSpPr>
          <p:cNvPr id="76" name="Google Shape;76;p10"/>
          <p:cNvSpPr txBox="1"/>
          <p:nvPr>
            <p:ph type="title"/>
          </p:nvPr>
        </p:nvSpPr>
        <p:spPr>
          <a:xfrm>
            <a:off x="277148" y="118428"/>
            <a:ext cx="8043862" cy="638175"/>
          </a:xfrm>
          <a:prstGeom prst="rect">
            <a:avLst/>
          </a:prstGeom>
          <a:noFill/>
          <a:ln>
            <a:noFill/>
          </a:ln>
        </p:spPr>
        <p:txBody>
          <a:bodyPr anchorCtr="0" anchor="ctr" bIns="182875" lIns="182875" spcFirstLastPara="1" rIns="182875" wrap="square" tIns="182875">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defRPr>
            </a:lvl1pPr>
            <a:lvl2pPr indent="0" lvl="1" marL="0" algn="r">
              <a:spcBef>
                <a:spcPts val="0"/>
              </a:spcBef>
              <a:buNone/>
              <a:defRPr sz="1200">
                <a:solidFill>
                  <a:srgbClr val="888888"/>
                </a:solidFill>
              </a:defRPr>
            </a:lvl2pPr>
            <a:lvl3pPr indent="0" lvl="2" marL="0" algn="r">
              <a:spcBef>
                <a:spcPts val="0"/>
              </a:spcBef>
              <a:buNone/>
              <a:defRPr sz="1200">
                <a:solidFill>
                  <a:srgbClr val="888888"/>
                </a:solidFill>
              </a:defRPr>
            </a:lvl3pPr>
            <a:lvl4pPr indent="0" lvl="3" marL="0" algn="r">
              <a:spcBef>
                <a:spcPts val="0"/>
              </a:spcBef>
              <a:buNone/>
              <a:defRPr sz="1200">
                <a:solidFill>
                  <a:srgbClr val="888888"/>
                </a:solidFill>
              </a:defRPr>
            </a:lvl4pPr>
            <a:lvl5pPr indent="0" lvl="4" marL="0" algn="r">
              <a:spcBef>
                <a:spcPts val="0"/>
              </a:spcBef>
              <a:buNone/>
              <a:defRPr sz="1200">
                <a:solidFill>
                  <a:srgbClr val="888888"/>
                </a:solidFill>
              </a:defRPr>
            </a:lvl5pPr>
            <a:lvl6pPr indent="0" lvl="5" marL="0" algn="r">
              <a:spcBef>
                <a:spcPts val="0"/>
              </a:spcBef>
              <a:buNone/>
              <a:defRPr sz="1200">
                <a:solidFill>
                  <a:srgbClr val="888888"/>
                </a:solidFill>
              </a:defRPr>
            </a:lvl6pPr>
            <a:lvl7pPr indent="0" lvl="6" marL="0" algn="r">
              <a:spcBef>
                <a:spcPts val="0"/>
              </a:spcBef>
              <a:buNone/>
              <a:defRPr sz="1200">
                <a:solidFill>
                  <a:srgbClr val="888888"/>
                </a:solidFill>
              </a:defRPr>
            </a:lvl7pPr>
            <a:lvl8pPr indent="0" lvl="7" marL="0" algn="r">
              <a:spcBef>
                <a:spcPts val="0"/>
              </a:spcBef>
              <a:buNone/>
              <a:defRPr sz="1200">
                <a:solidFill>
                  <a:srgbClr val="888888"/>
                </a:solidFill>
              </a:defRPr>
            </a:lvl8pPr>
            <a:lvl9pPr indent="0" lvl="8" marL="0" algn="r">
              <a:spcBef>
                <a:spcPts val="0"/>
              </a:spcBef>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b="0" i="0" u="none" cap="none" strike="noStrike">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606045" y="964692"/>
            <a:ext cx="5937755" cy="1188720"/>
          </a:xfrm>
          <a:prstGeom prst="rect">
            <a:avLst/>
          </a:prstGeom>
          <a:solidFill>
            <a:srgbClr val="FFFFFF"/>
          </a:solidFill>
          <a:ln cap="sq" cmpd="sng" w="31750">
            <a:solidFill>
              <a:srgbClr val="404040"/>
            </a:solidFill>
            <a:prstDash val="solid"/>
            <a:miter lim="8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600"/>
              <a:buFont typeface="Calibri"/>
              <a:buNone/>
              <a:defRPr b="0" i="0" sz="2600" u="none" cap="none" strike="noStrike">
                <a:solidFill>
                  <a:srgbClr val="262626"/>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606045" y="2638045"/>
            <a:ext cx="5937755"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Calibri"/>
                <a:ea typeface="Calibri"/>
                <a:cs typeface="Calibri"/>
                <a:sym typeface="Calibri"/>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Calibri"/>
                <a:ea typeface="Calibri"/>
                <a:cs typeface="Calibri"/>
                <a:sym typeface="Calibri"/>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Calibri"/>
                <a:ea typeface="Calibri"/>
                <a:cs typeface="Calibri"/>
                <a:sym typeface="Calibri"/>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Calibri"/>
                <a:ea typeface="Calibri"/>
                <a:cs typeface="Calibri"/>
                <a:sym typeface="Calibri"/>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Calibri"/>
                <a:ea typeface="Calibri"/>
                <a:cs typeface="Calibri"/>
                <a:sym typeface="Calibri"/>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Calibri"/>
                <a:ea typeface="Calibri"/>
                <a:cs typeface="Calibri"/>
                <a:sym typeface="Calibri"/>
              </a:defRPr>
            </a:lvl9pPr>
          </a:lstStyle>
          <a:p/>
        </p:txBody>
      </p:sp>
      <p:pic>
        <p:nvPicPr>
          <p:cNvPr descr="A close up of a sign&#10;&#10;Description automatically generated" id="12" name="Google Shape;12;p1"/>
          <p:cNvPicPr preferRelativeResize="0"/>
          <p:nvPr/>
        </p:nvPicPr>
        <p:blipFill rotWithShape="1">
          <a:blip r:embed="rId1">
            <a:alphaModFix/>
          </a:blip>
          <a:srcRect b="0" l="0" r="0" t="0"/>
          <a:stretch/>
        </p:blipFill>
        <p:spPr>
          <a:xfrm>
            <a:off x="8746670" y="6562249"/>
            <a:ext cx="292555" cy="156273"/>
          </a:xfrm>
          <a:prstGeom prst="rect">
            <a:avLst/>
          </a:prstGeom>
          <a:noFill/>
          <a:ln>
            <a:noFill/>
          </a:ln>
        </p:spPr>
      </p:pic>
      <p:sp>
        <p:nvSpPr>
          <p:cNvPr id="13" name="Google Shape;13;p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400" u="none" cap="none" strike="noStrike">
                <a:solidFill>
                  <a:srgbClr val="555960"/>
                </a:solidFill>
                <a:latin typeface="Calibri"/>
                <a:ea typeface="Calibri"/>
                <a:cs typeface="Calibri"/>
                <a:sym typeface="Calibri"/>
              </a:defRPr>
            </a:lvl1pPr>
            <a:lvl2pPr indent="0" lvl="1" marL="0" marR="0" rtl="0" algn="r">
              <a:spcBef>
                <a:spcPts val="0"/>
              </a:spcBef>
              <a:buNone/>
              <a:defRPr b="0" i="0" sz="1400" u="none" cap="none" strike="noStrike">
                <a:solidFill>
                  <a:srgbClr val="555960"/>
                </a:solidFill>
                <a:latin typeface="Calibri"/>
                <a:ea typeface="Calibri"/>
                <a:cs typeface="Calibri"/>
                <a:sym typeface="Calibri"/>
              </a:defRPr>
            </a:lvl2pPr>
            <a:lvl3pPr indent="0" lvl="2" marL="0" marR="0" rtl="0" algn="r">
              <a:spcBef>
                <a:spcPts val="0"/>
              </a:spcBef>
              <a:buNone/>
              <a:defRPr b="0" i="0" sz="1400" u="none" cap="none" strike="noStrike">
                <a:solidFill>
                  <a:srgbClr val="555960"/>
                </a:solidFill>
                <a:latin typeface="Calibri"/>
                <a:ea typeface="Calibri"/>
                <a:cs typeface="Calibri"/>
                <a:sym typeface="Calibri"/>
              </a:defRPr>
            </a:lvl3pPr>
            <a:lvl4pPr indent="0" lvl="3" marL="0" marR="0" rtl="0" algn="r">
              <a:spcBef>
                <a:spcPts val="0"/>
              </a:spcBef>
              <a:buNone/>
              <a:defRPr b="0" i="0" sz="1400" u="none" cap="none" strike="noStrike">
                <a:solidFill>
                  <a:srgbClr val="555960"/>
                </a:solidFill>
                <a:latin typeface="Calibri"/>
                <a:ea typeface="Calibri"/>
                <a:cs typeface="Calibri"/>
                <a:sym typeface="Calibri"/>
              </a:defRPr>
            </a:lvl4pPr>
            <a:lvl5pPr indent="0" lvl="4" marL="0" marR="0" rtl="0" algn="r">
              <a:spcBef>
                <a:spcPts val="0"/>
              </a:spcBef>
              <a:buNone/>
              <a:defRPr b="0" i="0" sz="1400" u="none" cap="none" strike="noStrike">
                <a:solidFill>
                  <a:srgbClr val="555960"/>
                </a:solidFill>
                <a:latin typeface="Calibri"/>
                <a:ea typeface="Calibri"/>
                <a:cs typeface="Calibri"/>
                <a:sym typeface="Calibri"/>
              </a:defRPr>
            </a:lvl5pPr>
            <a:lvl6pPr indent="0" lvl="5" marL="0" marR="0" rtl="0" algn="r">
              <a:spcBef>
                <a:spcPts val="0"/>
              </a:spcBef>
              <a:buNone/>
              <a:defRPr b="0" i="0" sz="1400" u="none" cap="none" strike="noStrike">
                <a:solidFill>
                  <a:srgbClr val="555960"/>
                </a:solidFill>
                <a:latin typeface="Calibri"/>
                <a:ea typeface="Calibri"/>
                <a:cs typeface="Calibri"/>
                <a:sym typeface="Calibri"/>
              </a:defRPr>
            </a:lvl6pPr>
            <a:lvl7pPr indent="0" lvl="6" marL="0" marR="0" rtl="0" algn="r">
              <a:spcBef>
                <a:spcPts val="0"/>
              </a:spcBef>
              <a:buNone/>
              <a:defRPr b="0" i="0" sz="1400" u="none" cap="none" strike="noStrike">
                <a:solidFill>
                  <a:srgbClr val="555960"/>
                </a:solidFill>
                <a:latin typeface="Calibri"/>
                <a:ea typeface="Calibri"/>
                <a:cs typeface="Calibri"/>
                <a:sym typeface="Calibri"/>
              </a:defRPr>
            </a:lvl7pPr>
            <a:lvl8pPr indent="0" lvl="7" marL="0" marR="0" rtl="0" algn="r">
              <a:spcBef>
                <a:spcPts val="0"/>
              </a:spcBef>
              <a:buNone/>
              <a:defRPr b="0" i="0" sz="1400" u="none" cap="none" strike="noStrike">
                <a:solidFill>
                  <a:srgbClr val="555960"/>
                </a:solidFill>
                <a:latin typeface="Calibri"/>
                <a:ea typeface="Calibri"/>
                <a:cs typeface="Calibri"/>
                <a:sym typeface="Calibri"/>
              </a:defRPr>
            </a:lvl8pPr>
            <a:lvl9pPr indent="0" lvl="8" marL="0" marR="0" rtl="0" algn="r">
              <a:spcBef>
                <a:spcPts val="0"/>
              </a:spcBef>
              <a:buNone/>
              <a:defRPr b="0" i="0" sz="1400" u="none" cap="none" strike="noStrike">
                <a:solidFill>
                  <a:srgbClr val="555960"/>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hyperlink" Target="https://github.com/rcalvom/agentic-coding-workshop" TargetMode="External"/><Relationship Id="rId5" Type="http://schemas.openxmlformats.org/officeDocument/2006/relationships/hyperlink" Target="https://github.com/rcalvom/agentic-coding-workshop"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github.com/settings/personal-access-tokens/new"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forms.gle/J4FenBkBM5r23jgB6" TargetMode="Externa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1"/>
          <p:cNvSpPr txBox="1"/>
          <p:nvPr/>
        </p:nvSpPr>
        <p:spPr>
          <a:xfrm>
            <a:off x="658368" y="576072"/>
            <a:ext cx="7818120" cy="457200"/>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0" i="1" lang="en-US" sz="2000" u="none" cap="none" strike="noStrike">
                <a:solidFill>
                  <a:srgbClr val="5C4826"/>
                </a:solidFill>
                <a:latin typeface="Calibri"/>
                <a:ea typeface="Calibri"/>
                <a:cs typeface="Calibri"/>
                <a:sym typeface="Calibri"/>
              </a:rPr>
              <a:t>S o f t w a r e   E n g i n e e r i n g</a:t>
            </a:r>
            <a:endParaRPr/>
          </a:p>
        </p:txBody>
      </p:sp>
      <p:sp>
        <p:nvSpPr>
          <p:cNvPr id="84" name="Google Shape;84;p11"/>
          <p:cNvSpPr txBox="1"/>
          <p:nvPr/>
        </p:nvSpPr>
        <p:spPr>
          <a:xfrm>
            <a:off x="658368" y="1014984"/>
            <a:ext cx="7818120" cy="274320"/>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0" i="0" lang="en-US" sz="1600" u="none" cap="none" strike="noStrike">
                <a:solidFill>
                  <a:srgbClr val="555960"/>
                </a:solidFill>
                <a:latin typeface="Calibri"/>
                <a:ea typeface="Calibri"/>
                <a:cs typeface="Calibri"/>
                <a:sym typeface="Calibri"/>
              </a:rPr>
              <a:t>ECE 30861 / CSCI 45000</a:t>
            </a:r>
            <a:endParaRPr/>
          </a:p>
        </p:txBody>
      </p:sp>
      <p:sp>
        <p:nvSpPr>
          <p:cNvPr id="85" name="Google Shape;85;p11"/>
          <p:cNvSpPr txBox="1"/>
          <p:nvPr/>
        </p:nvSpPr>
        <p:spPr>
          <a:xfrm>
            <a:off x="384048" y="1837943"/>
            <a:ext cx="8412480" cy="73152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0" i="0" lang="en-US" sz="3200" u="none" cap="none" strike="noStrike">
                <a:solidFill>
                  <a:srgbClr val="2D2D2D"/>
                </a:solidFill>
                <a:latin typeface="Calibri"/>
                <a:ea typeface="Calibri"/>
                <a:cs typeface="Calibri"/>
                <a:sym typeface="Calibri"/>
              </a:rPr>
              <a:t>The </a:t>
            </a:r>
            <a:r>
              <a:rPr b="0" i="1" lang="en-US" sz="3200" u="none" cap="none" strike="noStrike">
                <a:solidFill>
                  <a:srgbClr val="2D2D2D"/>
                </a:solidFill>
                <a:latin typeface="Calibri"/>
                <a:ea typeface="Calibri"/>
                <a:cs typeface="Calibri"/>
                <a:sym typeface="Calibri"/>
              </a:rPr>
              <a:t>Nuts and Bolts</a:t>
            </a:r>
            <a:r>
              <a:rPr b="0" i="0" lang="en-US" sz="3200" u="none" cap="none" strike="noStrike">
                <a:solidFill>
                  <a:srgbClr val="2D2D2D"/>
                </a:solidFill>
                <a:latin typeface="Calibri"/>
                <a:ea typeface="Calibri"/>
                <a:cs typeface="Calibri"/>
                <a:sym typeface="Calibri"/>
              </a:rPr>
              <a:t> of Coding Agents</a:t>
            </a:r>
            <a:endParaRPr/>
          </a:p>
        </p:txBody>
      </p:sp>
      <p:sp>
        <p:nvSpPr>
          <p:cNvPr id="86" name="Google Shape;86;p11"/>
          <p:cNvSpPr txBox="1"/>
          <p:nvPr/>
        </p:nvSpPr>
        <p:spPr>
          <a:xfrm>
            <a:off x="429768" y="2679192"/>
            <a:ext cx="8284464" cy="47548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i="1" lang="en-US" sz="2200">
                <a:solidFill>
                  <a:srgbClr val="8E6F3E"/>
                </a:solidFill>
                <a:latin typeface="Calibri"/>
                <a:ea typeface="Calibri"/>
                <a:cs typeface="Calibri"/>
                <a:sym typeface="Calibri"/>
              </a:rPr>
              <a:t>Hands-on Workshop</a:t>
            </a:r>
            <a:endParaRPr/>
          </a:p>
        </p:txBody>
      </p:sp>
      <p:sp>
        <p:nvSpPr>
          <p:cNvPr id="87" name="Google Shape;87;p11"/>
          <p:cNvSpPr txBox="1"/>
          <p:nvPr/>
        </p:nvSpPr>
        <p:spPr>
          <a:xfrm>
            <a:off x="736600" y="3098800"/>
            <a:ext cx="7680000" cy="13200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i="1" lang="en-US" sz="1800">
                <a:solidFill>
                  <a:srgbClr val="2D2D2D"/>
                </a:solidFill>
                <a:latin typeface="Calibri"/>
                <a:ea typeface="Calibri"/>
                <a:cs typeface="Calibri"/>
                <a:sym typeface="Calibri"/>
              </a:rPr>
              <a:t>Prof. James C. Davis</a:t>
            </a:r>
            <a:endParaRPr i="1" sz="1800">
              <a:solidFill>
                <a:srgbClr val="2D2D2D"/>
              </a:solidFill>
              <a:latin typeface="Calibri"/>
              <a:ea typeface="Calibri"/>
              <a:cs typeface="Calibri"/>
              <a:sym typeface="Calibri"/>
            </a:endParaRPr>
          </a:p>
          <a:p>
            <a:pPr indent="0" lvl="0" marL="0" marR="0" rtl="0" algn="ctr">
              <a:lnSpc>
                <a:spcPct val="104000"/>
              </a:lnSpc>
              <a:spcBef>
                <a:spcPts val="0"/>
              </a:spcBef>
              <a:spcAft>
                <a:spcPts val="0"/>
              </a:spcAft>
              <a:buNone/>
            </a:pPr>
            <a:r>
              <a:rPr i="1" lang="en-US" sz="1800">
                <a:solidFill>
                  <a:srgbClr val="2D2D2D"/>
                </a:solidFill>
                <a:latin typeface="Calibri"/>
                <a:ea typeface="Calibri"/>
                <a:cs typeface="Calibri"/>
                <a:sym typeface="Calibri"/>
              </a:rPr>
              <a:t>Prof. Steve France</a:t>
            </a:r>
            <a:endParaRPr i="1" sz="1800">
              <a:solidFill>
                <a:srgbClr val="2D2D2D"/>
              </a:solidFill>
              <a:latin typeface="Calibri"/>
              <a:ea typeface="Calibri"/>
              <a:cs typeface="Calibri"/>
              <a:sym typeface="Calibri"/>
            </a:endParaRPr>
          </a:p>
          <a:p>
            <a:pPr indent="0" lvl="0" marL="0" marR="0" rtl="0" algn="ctr">
              <a:lnSpc>
                <a:spcPct val="104000"/>
              </a:lnSpc>
              <a:spcBef>
                <a:spcPts val="0"/>
              </a:spcBef>
              <a:spcAft>
                <a:spcPts val="0"/>
              </a:spcAft>
              <a:buNone/>
            </a:pPr>
            <a:r>
              <a:rPr i="1" lang="en-US" sz="1800">
                <a:solidFill>
                  <a:srgbClr val="2D2D2D"/>
                </a:solidFill>
                <a:latin typeface="Calibri"/>
                <a:ea typeface="Calibri"/>
                <a:cs typeface="Calibri"/>
                <a:sym typeface="Calibri"/>
              </a:rPr>
              <a:t>Ricardo Calvo</a:t>
            </a:r>
            <a:endParaRPr i="1" sz="1800">
              <a:solidFill>
                <a:srgbClr val="2D2D2D"/>
              </a:solidFill>
              <a:latin typeface="Calibri"/>
              <a:ea typeface="Calibri"/>
              <a:cs typeface="Calibri"/>
              <a:sym typeface="Calibri"/>
            </a:endParaRPr>
          </a:p>
          <a:p>
            <a:pPr indent="0" lvl="0" marL="0" marR="0" rtl="0" algn="ctr">
              <a:lnSpc>
                <a:spcPct val="104000"/>
              </a:lnSpc>
              <a:spcBef>
                <a:spcPts val="0"/>
              </a:spcBef>
              <a:spcAft>
                <a:spcPts val="0"/>
              </a:spcAft>
              <a:buNone/>
            </a:pPr>
            <a:r>
              <a:rPr i="1" lang="en-US" sz="1800">
                <a:solidFill>
                  <a:srgbClr val="2D2D2D"/>
                </a:solidFill>
                <a:latin typeface="Calibri"/>
                <a:ea typeface="Calibri"/>
                <a:cs typeface="Calibri"/>
                <a:sym typeface="Calibri"/>
              </a:rPr>
              <a:t>Yongjae Chung</a:t>
            </a:r>
            <a:endParaRPr i="1" sz="1800">
              <a:solidFill>
                <a:srgbClr val="2D2D2D"/>
              </a:solidFill>
              <a:latin typeface="Calibri"/>
              <a:ea typeface="Calibri"/>
              <a:cs typeface="Calibri"/>
              <a:sym typeface="Calibri"/>
            </a:endParaRPr>
          </a:p>
        </p:txBody>
      </p:sp>
      <p:sp>
        <p:nvSpPr>
          <p:cNvPr id="88" name="Google Shape;88;p11"/>
          <p:cNvSpPr txBox="1"/>
          <p:nvPr/>
        </p:nvSpPr>
        <p:spPr>
          <a:xfrm>
            <a:off x="1143000" y="4737100"/>
            <a:ext cx="6858000" cy="3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700">
                <a:solidFill>
                  <a:srgbClr val="555960"/>
                </a:solidFill>
                <a:latin typeface="Calibri"/>
                <a:ea typeface="Calibri"/>
                <a:cs typeface="Calibri"/>
                <a:sym typeface="Calibri"/>
              </a:rPr>
              <a:t>Tuesday, October 27, 2026</a:t>
            </a:r>
            <a:endParaRPr sz="1700">
              <a:solidFill>
                <a:srgbClr val="55596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2"/>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Case study: Campus study-room availability</a:t>
            </a:r>
            <a:endParaRPr/>
          </a:p>
        </p:txBody>
      </p:sp>
      <p:sp>
        <p:nvSpPr>
          <p:cNvPr id="95" name="Google Shape;95;p12"/>
          <p:cNvSpPr/>
          <p:nvPr/>
        </p:nvSpPr>
        <p:spPr>
          <a:xfrm>
            <a:off x="431800" y="1104900"/>
            <a:ext cx="8280300" cy="1422300"/>
          </a:xfrm>
          <a:prstGeom prst="rect">
            <a:avLst/>
          </a:prstGeom>
          <a:solidFill>
            <a:srgbClr val="FCFA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6" name="Google Shape;96;p12"/>
          <p:cNvSpPr txBox="1"/>
          <p:nvPr/>
        </p:nvSpPr>
        <p:spPr>
          <a:xfrm>
            <a:off x="596900" y="1320800"/>
            <a:ext cx="79755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2E2E2E"/>
                </a:solidFill>
                <a:latin typeface="Calibri"/>
                <a:ea typeface="Calibri"/>
                <a:cs typeface="Calibri"/>
                <a:sym typeface="Calibri"/>
              </a:rPr>
              <a:t>A campus wants a simple way to check which study rooms are free.</a:t>
            </a:r>
            <a:endParaRPr b="1" sz="2100">
              <a:solidFill>
                <a:srgbClr val="2E2E2E"/>
              </a:solidFill>
              <a:latin typeface="Calibri"/>
              <a:ea typeface="Calibri"/>
              <a:cs typeface="Calibri"/>
              <a:sym typeface="Calibri"/>
            </a:endParaRPr>
          </a:p>
        </p:txBody>
      </p:sp>
      <p:sp>
        <p:nvSpPr>
          <p:cNvPr id="97" name="Google Shape;97;p12"/>
          <p:cNvSpPr txBox="1"/>
          <p:nvPr/>
        </p:nvSpPr>
        <p:spPr>
          <a:xfrm>
            <a:off x="596900" y="1828800"/>
            <a:ext cx="7874100" cy="64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545961"/>
                </a:solidFill>
                <a:latin typeface="Calibri"/>
                <a:ea typeface="Calibri"/>
                <a:cs typeface="Calibri"/>
                <a:sym typeface="Calibri"/>
              </a:rPr>
              <a:t>Each room has a capacity. Reservations occupy time intervals. A user supplies a start, end, and minimum capacity; the API returns rooms that meet the request.</a:t>
            </a:r>
            <a:endParaRPr sz="1600">
              <a:solidFill>
                <a:srgbClr val="545961"/>
              </a:solidFill>
              <a:latin typeface="Calibri"/>
              <a:ea typeface="Calibri"/>
              <a:cs typeface="Calibri"/>
              <a:sym typeface="Calibri"/>
            </a:endParaRPr>
          </a:p>
        </p:txBody>
      </p:sp>
      <p:sp>
        <p:nvSpPr>
          <p:cNvPr id="98" name="Google Shape;98;p12"/>
          <p:cNvSpPr/>
          <p:nvPr/>
        </p:nvSpPr>
        <p:spPr>
          <a:xfrm>
            <a:off x="482600" y="2794000"/>
            <a:ext cx="3822600" cy="1765200"/>
          </a:xfrm>
          <a:prstGeom prst="rect">
            <a:avLst/>
          </a:prstGeom>
          <a:solidFill>
            <a:srgbClr val="F5F1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9" name="Google Shape;99;p12"/>
          <p:cNvSpPr/>
          <p:nvPr/>
        </p:nvSpPr>
        <p:spPr>
          <a:xfrm>
            <a:off x="4660900" y="2794000"/>
            <a:ext cx="3987900" cy="1765200"/>
          </a:xfrm>
          <a:prstGeom prst="rect">
            <a:avLst/>
          </a:prstGeom>
          <a:solidFill>
            <a:srgbClr val="F5F1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0" name="Google Shape;100;p12"/>
          <p:cNvSpPr txBox="1"/>
          <p:nvPr/>
        </p:nvSpPr>
        <p:spPr>
          <a:xfrm>
            <a:off x="635000" y="2946400"/>
            <a:ext cx="35940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8E6F3E"/>
                </a:solidFill>
                <a:latin typeface="Calibri"/>
                <a:ea typeface="Calibri"/>
                <a:cs typeface="Calibri"/>
                <a:sym typeface="Calibri"/>
              </a:rPr>
              <a:t>ROOM INVENTORY · data/rooms.json</a:t>
            </a:r>
            <a:endParaRPr b="1" sz="1500">
              <a:solidFill>
                <a:srgbClr val="8E6F3E"/>
              </a:solidFill>
              <a:latin typeface="Calibri"/>
              <a:ea typeface="Calibri"/>
              <a:cs typeface="Calibri"/>
              <a:sym typeface="Calibri"/>
            </a:endParaRPr>
          </a:p>
        </p:txBody>
      </p:sp>
      <p:sp>
        <p:nvSpPr>
          <p:cNvPr id="101" name="Google Shape;101;p12"/>
          <p:cNvSpPr txBox="1"/>
          <p:nvPr/>
        </p:nvSpPr>
        <p:spPr>
          <a:xfrm>
            <a:off x="635000" y="3365500"/>
            <a:ext cx="3365400" cy="107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2E2E2E"/>
                </a:solidFill>
                <a:latin typeface="Consolas"/>
                <a:ea typeface="Consolas"/>
                <a:cs typeface="Consolas"/>
                <a:sym typeface="Consolas"/>
              </a:rPr>
              <a:t>LIB-101  —  2 seats</a:t>
            </a:r>
            <a:endParaRPr sz="1700">
              <a:solidFill>
                <a:srgbClr val="2E2E2E"/>
              </a:solidFill>
              <a:latin typeface="Consolas"/>
              <a:ea typeface="Consolas"/>
              <a:cs typeface="Consolas"/>
              <a:sym typeface="Consolas"/>
            </a:endParaRPr>
          </a:p>
          <a:p>
            <a:pPr indent="0" lvl="0" marL="0" rtl="0" algn="l">
              <a:spcBef>
                <a:spcPts val="0"/>
              </a:spcBef>
              <a:spcAft>
                <a:spcPts val="0"/>
              </a:spcAft>
              <a:buNone/>
            </a:pPr>
            <a:r>
              <a:rPr lang="en-US" sz="1700">
                <a:solidFill>
                  <a:srgbClr val="2E2E2E"/>
                </a:solidFill>
                <a:latin typeface="Consolas"/>
                <a:ea typeface="Consolas"/>
                <a:cs typeface="Consolas"/>
                <a:sym typeface="Consolas"/>
              </a:rPr>
              <a:t>LIB-202  —  4 seats</a:t>
            </a:r>
            <a:endParaRPr sz="1700">
              <a:solidFill>
                <a:srgbClr val="2E2E2E"/>
              </a:solidFill>
              <a:latin typeface="Consolas"/>
              <a:ea typeface="Consolas"/>
              <a:cs typeface="Consolas"/>
              <a:sym typeface="Consolas"/>
            </a:endParaRPr>
          </a:p>
          <a:p>
            <a:pPr indent="0" lvl="0" marL="0" rtl="0" algn="l">
              <a:spcBef>
                <a:spcPts val="0"/>
              </a:spcBef>
              <a:spcAft>
                <a:spcPts val="0"/>
              </a:spcAft>
              <a:buNone/>
            </a:pPr>
            <a:r>
              <a:rPr lang="en-US" sz="1700">
                <a:solidFill>
                  <a:srgbClr val="2E2E2E"/>
                </a:solidFill>
                <a:latin typeface="Consolas"/>
                <a:ea typeface="Consolas"/>
                <a:cs typeface="Consolas"/>
                <a:sym typeface="Consolas"/>
              </a:rPr>
              <a:t>ENG-303  —  6 seats</a:t>
            </a:r>
            <a:endParaRPr sz="1700">
              <a:solidFill>
                <a:srgbClr val="2E2E2E"/>
              </a:solidFill>
              <a:latin typeface="Consolas"/>
              <a:ea typeface="Consolas"/>
              <a:cs typeface="Consolas"/>
              <a:sym typeface="Consolas"/>
            </a:endParaRPr>
          </a:p>
        </p:txBody>
      </p:sp>
      <p:sp>
        <p:nvSpPr>
          <p:cNvPr id="102" name="Google Shape;102;p12"/>
          <p:cNvSpPr txBox="1"/>
          <p:nvPr/>
        </p:nvSpPr>
        <p:spPr>
          <a:xfrm>
            <a:off x="4826000" y="2946400"/>
            <a:ext cx="37338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8E6F3E"/>
                </a:solidFill>
                <a:latin typeface="Calibri"/>
                <a:ea typeface="Calibri"/>
                <a:cs typeface="Calibri"/>
                <a:sym typeface="Calibri"/>
              </a:rPr>
              <a:t>RESERVATIONS · data/reservations.json</a:t>
            </a:r>
            <a:endParaRPr b="1">
              <a:solidFill>
                <a:srgbClr val="8E6F3E"/>
              </a:solidFill>
              <a:latin typeface="Calibri"/>
              <a:ea typeface="Calibri"/>
              <a:cs typeface="Calibri"/>
              <a:sym typeface="Calibri"/>
            </a:endParaRPr>
          </a:p>
        </p:txBody>
      </p:sp>
      <p:sp>
        <p:nvSpPr>
          <p:cNvPr id="103" name="Google Shape;103;p12"/>
          <p:cNvSpPr txBox="1"/>
          <p:nvPr/>
        </p:nvSpPr>
        <p:spPr>
          <a:xfrm>
            <a:off x="4826000" y="3365500"/>
            <a:ext cx="3619500" cy="113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2E2E2E"/>
                </a:solidFill>
                <a:latin typeface="Calibri"/>
                <a:ea typeface="Calibri"/>
                <a:cs typeface="Calibri"/>
                <a:sym typeface="Calibri"/>
              </a:rPr>
              <a:t>LIB-202: booked 10:00–11:00</a:t>
            </a:r>
            <a:endParaRPr sz="1600">
              <a:solidFill>
                <a:srgbClr val="2E2E2E"/>
              </a:solidFill>
              <a:latin typeface="Calibri"/>
              <a:ea typeface="Calibri"/>
              <a:cs typeface="Calibri"/>
              <a:sym typeface="Calibri"/>
            </a:endParaRPr>
          </a:p>
          <a:p>
            <a:pPr indent="0" lvl="0" marL="0" rtl="0" algn="l">
              <a:spcBef>
                <a:spcPts val="0"/>
              </a:spcBef>
              <a:spcAft>
                <a:spcPts val="0"/>
              </a:spcAft>
              <a:buNone/>
            </a:pPr>
            <a:r>
              <a:rPr lang="en-US" sz="1600">
                <a:solidFill>
                  <a:srgbClr val="2E2E2E"/>
                </a:solidFill>
                <a:latin typeface="Calibri"/>
                <a:ea typeface="Calibri"/>
                <a:cs typeface="Calibri"/>
                <a:sym typeface="Calibri"/>
              </a:rPr>
              <a:t>ENG-303: booked 11:30–12:30</a:t>
            </a:r>
            <a:endParaRPr sz="1600">
              <a:solidFill>
                <a:srgbClr val="2E2E2E"/>
              </a:solidFill>
              <a:latin typeface="Calibri"/>
              <a:ea typeface="Calibri"/>
              <a:cs typeface="Calibri"/>
              <a:sym typeface="Calibri"/>
            </a:endParaRPr>
          </a:p>
          <a:p>
            <a:pPr indent="0" lvl="0" marL="0" rtl="0" algn="l">
              <a:spcBef>
                <a:spcPts val="0"/>
              </a:spcBef>
              <a:spcAft>
                <a:spcPts val="0"/>
              </a:spcAft>
              <a:buNone/>
            </a:pPr>
            <a:r>
              <a:rPr lang="en-US" sz="1600">
                <a:solidFill>
                  <a:srgbClr val="2E2E2E"/>
                </a:solidFill>
                <a:latin typeface="Calibri"/>
                <a:ea typeface="Calibri"/>
                <a:cs typeface="Calibri"/>
                <a:sym typeface="Calibri"/>
              </a:rPr>
              <a:t>Times are stored with UTC offsets</a:t>
            </a:r>
            <a:endParaRPr sz="1600">
              <a:solidFill>
                <a:srgbClr val="2E2E2E"/>
              </a:solidFill>
              <a:latin typeface="Calibri"/>
              <a:ea typeface="Calibri"/>
              <a:cs typeface="Calibri"/>
              <a:sym typeface="Calibri"/>
            </a:endParaRPr>
          </a:p>
        </p:txBody>
      </p:sp>
      <p:sp>
        <p:nvSpPr>
          <p:cNvPr id="104" name="Google Shape;104;p12"/>
          <p:cNvSpPr/>
          <p:nvPr/>
        </p:nvSpPr>
        <p:spPr>
          <a:xfrm>
            <a:off x="482600" y="4851400"/>
            <a:ext cx="8166000" cy="888900"/>
          </a:xfrm>
          <a:prstGeom prst="rect">
            <a:avLst/>
          </a:prstGeom>
          <a:solidFill>
            <a:srgbClr val="FCFA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5" name="Google Shape;105;p12"/>
          <p:cNvSpPr txBox="1"/>
          <p:nvPr/>
        </p:nvSpPr>
        <p:spPr>
          <a:xfrm>
            <a:off x="635000" y="4914900"/>
            <a:ext cx="16509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8E6F3E"/>
                </a:solidFill>
                <a:latin typeface="Calibri"/>
                <a:ea typeface="Calibri"/>
                <a:cs typeface="Calibri"/>
                <a:sym typeface="Calibri"/>
              </a:rPr>
              <a:t>THE QUESTION</a:t>
            </a:r>
            <a:endParaRPr b="1">
              <a:solidFill>
                <a:srgbClr val="8E6F3E"/>
              </a:solidFill>
              <a:latin typeface="Calibri"/>
              <a:ea typeface="Calibri"/>
              <a:cs typeface="Calibri"/>
              <a:sym typeface="Calibri"/>
            </a:endParaRPr>
          </a:p>
        </p:txBody>
      </p:sp>
      <p:sp>
        <p:nvSpPr>
          <p:cNvPr id="106" name="Google Shape;106;p12"/>
          <p:cNvSpPr txBox="1"/>
          <p:nvPr/>
        </p:nvSpPr>
        <p:spPr>
          <a:xfrm>
            <a:off x="635000" y="5245100"/>
            <a:ext cx="77217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2E2E2E"/>
                </a:solidFill>
                <a:latin typeface="Calibri"/>
                <a:ea typeface="Calibri"/>
                <a:cs typeface="Calibri"/>
                <a:sym typeface="Calibri"/>
              </a:rPr>
              <a:t>“Which rooms can fit four people from 11:00 to 11:30?”</a:t>
            </a:r>
            <a:endParaRPr sz="1800">
              <a:solidFill>
                <a:srgbClr val="2E2E2E"/>
              </a:solidFill>
              <a:latin typeface="Calibri"/>
              <a:ea typeface="Calibri"/>
              <a:cs typeface="Calibri"/>
              <a:sym typeface="Calibri"/>
            </a:endParaRPr>
          </a:p>
        </p:txBody>
      </p:sp>
      <p:sp>
        <p:nvSpPr>
          <p:cNvPr id="107" name="Google Shape;107;p12"/>
          <p:cNvSpPr/>
          <p:nvPr/>
        </p:nvSpPr>
        <p:spPr>
          <a:xfrm>
            <a:off x="279400" y="5880100"/>
            <a:ext cx="8572500" cy="507900"/>
          </a:xfrm>
          <a:prstGeom prst="rect">
            <a:avLst/>
          </a:prstGeom>
          <a:solidFill>
            <a:srgbClr val="8E6F3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8" name="Google Shape;108;p12"/>
          <p:cNvSpPr txBox="1"/>
          <p:nvPr/>
        </p:nvSpPr>
        <p:spPr>
          <a:xfrm>
            <a:off x="495300" y="5969000"/>
            <a:ext cx="82422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FFFFFF"/>
                </a:solidFill>
                <a:latin typeface="Calibri"/>
                <a:ea typeface="Calibri"/>
                <a:cs typeface="Calibri"/>
                <a:sym typeface="Calibri"/>
              </a:rPr>
              <a:t>The same study-room API will anchor each topic and exercise.</a:t>
            </a:r>
            <a:endParaRPr b="1" sz="1600">
              <a:solidFill>
                <a:srgbClr val="FFFFF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3"/>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15" name="Google Shape;115;p13"/>
          <p:cNvSpPr txBox="1"/>
          <p:nvPr/>
        </p:nvSpPr>
        <p:spPr>
          <a:xfrm>
            <a:off x="355600" y="101600"/>
            <a:ext cx="84327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262626"/>
                </a:solidFill>
                <a:latin typeface="Calibri"/>
                <a:ea typeface="Calibri"/>
                <a:cs typeface="Calibri"/>
                <a:sym typeface="Calibri"/>
              </a:rPr>
              <a:t>Start here: let an agent set up the repository</a:t>
            </a:r>
            <a:endParaRPr sz="2500">
              <a:solidFill>
                <a:srgbClr val="262626"/>
              </a:solidFill>
              <a:latin typeface="Calibri"/>
              <a:ea typeface="Calibri"/>
              <a:cs typeface="Calibri"/>
              <a:sym typeface="Calibri"/>
            </a:endParaRPr>
          </a:p>
        </p:txBody>
      </p:sp>
      <p:pic>
        <p:nvPicPr>
          <p:cNvPr id="116" name="Google Shape;116;p13"/>
          <p:cNvPicPr preferRelativeResize="0"/>
          <p:nvPr/>
        </p:nvPicPr>
        <p:blipFill>
          <a:blip r:embed="rId3">
            <a:alphaModFix/>
          </a:blip>
          <a:stretch>
            <a:fillRect/>
          </a:stretch>
        </p:blipFill>
        <p:spPr>
          <a:xfrm>
            <a:off x="736600" y="1854200"/>
            <a:ext cx="2641601" cy="2641601"/>
          </a:xfrm>
          <a:prstGeom prst="rect">
            <a:avLst/>
          </a:prstGeom>
          <a:noFill/>
          <a:ln>
            <a:noFill/>
          </a:ln>
        </p:spPr>
      </p:pic>
      <p:sp>
        <p:nvSpPr>
          <p:cNvPr id="117" name="Google Shape;117;p13"/>
          <p:cNvSpPr txBox="1"/>
          <p:nvPr/>
        </p:nvSpPr>
        <p:spPr>
          <a:xfrm>
            <a:off x="482600" y="1282700"/>
            <a:ext cx="4191000" cy="3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8E6F3E"/>
                </a:solidFill>
                <a:latin typeface="Calibri"/>
                <a:ea typeface="Calibri"/>
                <a:cs typeface="Calibri"/>
                <a:sym typeface="Calibri"/>
              </a:rPr>
              <a:t>GETTING STARTED</a:t>
            </a:r>
            <a:endParaRPr b="1" sz="1500">
              <a:solidFill>
                <a:srgbClr val="8E6F3E"/>
              </a:solidFill>
              <a:latin typeface="Calibri"/>
              <a:ea typeface="Calibri"/>
              <a:cs typeface="Calibri"/>
              <a:sym typeface="Calibri"/>
            </a:endParaRPr>
          </a:p>
        </p:txBody>
      </p:sp>
      <p:sp>
        <p:nvSpPr>
          <p:cNvPr id="118" name="Google Shape;118;p13"/>
          <p:cNvSpPr txBox="1"/>
          <p:nvPr/>
        </p:nvSpPr>
        <p:spPr>
          <a:xfrm>
            <a:off x="406400" y="4584700"/>
            <a:ext cx="33402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600">
                <a:solidFill>
                  <a:srgbClr val="545961"/>
                </a:solidFill>
                <a:latin typeface="Calibri"/>
                <a:ea typeface="Calibri"/>
                <a:cs typeface="Calibri"/>
                <a:sym typeface="Calibri"/>
              </a:rPr>
              <a:t>Scan to open the repository</a:t>
            </a:r>
            <a:endParaRPr b="1" sz="1600">
              <a:solidFill>
                <a:srgbClr val="545961"/>
              </a:solidFill>
              <a:latin typeface="Calibri"/>
              <a:ea typeface="Calibri"/>
              <a:cs typeface="Calibri"/>
              <a:sym typeface="Calibri"/>
            </a:endParaRPr>
          </a:p>
        </p:txBody>
      </p:sp>
      <p:sp>
        <p:nvSpPr>
          <p:cNvPr id="119" name="Google Shape;119;p13"/>
          <p:cNvSpPr txBox="1"/>
          <p:nvPr/>
        </p:nvSpPr>
        <p:spPr>
          <a:xfrm>
            <a:off x="557400" y="5029100"/>
            <a:ext cx="3000000" cy="141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2E2E2E"/>
                </a:solidFill>
                <a:uFill>
                  <a:noFill/>
                </a:uFill>
                <a:latin typeface="Calibri"/>
                <a:ea typeface="Calibri"/>
                <a:cs typeface="Calibri"/>
                <a:sym typeface="Calibri"/>
                <a:hlinkClick r:id="rId4">
                  <a:extLst>
                    <a:ext uri="{A12FA001-AC4F-418D-AE19-62706E023703}">
                      <ahyp:hlinkClr val="tx"/>
                    </a:ext>
                  </a:extLst>
                </a:hlinkClick>
              </a:rPr>
              <a:t>github.com/rcalvom/</a:t>
            </a:r>
            <a:endParaRPr sz="1500">
              <a:solidFill>
                <a:srgbClr val="2E2E2E"/>
              </a:solidFill>
              <a:latin typeface="Calibri"/>
              <a:ea typeface="Calibri"/>
              <a:cs typeface="Calibri"/>
              <a:sym typeface="Calibri"/>
            </a:endParaRPr>
          </a:p>
          <a:p>
            <a:pPr indent="0" lvl="0" marL="0" rtl="0" algn="ctr">
              <a:spcBef>
                <a:spcPts val="0"/>
              </a:spcBef>
              <a:spcAft>
                <a:spcPts val="0"/>
              </a:spcAft>
              <a:buNone/>
            </a:pPr>
            <a:r>
              <a:rPr lang="en-US" sz="1500">
                <a:solidFill>
                  <a:srgbClr val="2E2E2E"/>
                </a:solidFill>
                <a:uFill>
                  <a:noFill/>
                </a:uFill>
                <a:latin typeface="Calibri"/>
                <a:ea typeface="Calibri"/>
                <a:cs typeface="Calibri"/>
                <a:sym typeface="Calibri"/>
                <a:hlinkClick r:id="rId5">
                  <a:extLst>
                    <a:ext uri="{A12FA001-AC4F-418D-AE19-62706E023703}">
                      <ahyp:hlinkClr val="tx"/>
                    </a:ext>
                  </a:extLst>
                </a:hlinkClick>
              </a:rPr>
              <a:t>agentic-coding-workshop</a:t>
            </a:r>
            <a:endParaRPr sz="1500">
              <a:solidFill>
                <a:srgbClr val="2E2E2E"/>
              </a:solidFill>
              <a:latin typeface="Calibri"/>
              <a:ea typeface="Calibri"/>
              <a:cs typeface="Calibri"/>
              <a:sym typeface="Calibri"/>
            </a:endParaRPr>
          </a:p>
        </p:txBody>
      </p:sp>
      <p:sp>
        <p:nvSpPr>
          <p:cNvPr id="120" name="Google Shape;120;p13"/>
          <p:cNvSpPr/>
          <p:nvPr/>
        </p:nvSpPr>
        <p:spPr>
          <a:xfrm>
            <a:off x="3835400" y="1397000"/>
            <a:ext cx="4648200" cy="4445100"/>
          </a:xfrm>
          <a:prstGeom prst="rect">
            <a:avLst/>
          </a:prstGeom>
          <a:solidFill>
            <a:srgbClr val="FCFA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1" name="Google Shape;121;p13"/>
          <p:cNvSpPr txBox="1"/>
          <p:nvPr/>
        </p:nvSpPr>
        <p:spPr>
          <a:xfrm>
            <a:off x="4102100" y="1600200"/>
            <a:ext cx="41274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8E6F3E"/>
                </a:solidFill>
                <a:latin typeface="Calibri"/>
                <a:ea typeface="Calibri"/>
                <a:cs typeface="Calibri"/>
                <a:sym typeface="Calibri"/>
              </a:rPr>
              <a:t>SUGGESTED PROMPT</a:t>
            </a:r>
            <a:endParaRPr b="1" sz="1600">
              <a:solidFill>
                <a:srgbClr val="8E6F3E"/>
              </a:solidFill>
              <a:latin typeface="Calibri"/>
              <a:ea typeface="Calibri"/>
              <a:cs typeface="Calibri"/>
              <a:sym typeface="Calibri"/>
            </a:endParaRPr>
          </a:p>
        </p:txBody>
      </p:sp>
      <p:sp>
        <p:nvSpPr>
          <p:cNvPr id="122" name="Google Shape;122;p13"/>
          <p:cNvSpPr txBox="1"/>
          <p:nvPr/>
        </p:nvSpPr>
        <p:spPr>
          <a:xfrm>
            <a:off x="4064000" y="2057400"/>
            <a:ext cx="4292700" cy="261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2E2E2E"/>
                </a:solidFill>
                <a:latin typeface="Calibri"/>
                <a:ea typeface="Calibri"/>
                <a:cs typeface="Calibri"/>
                <a:sym typeface="Calibri"/>
              </a:rPr>
              <a:t>Inspect this project and prepare a local Python environment.</a:t>
            </a:r>
            <a:endParaRPr sz="1700">
              <a:solidFill>
                <a:srgbClr val="2E2E2E"/>
              </a:solidFill>
              <a:latin typeface="Calibri"/>
              <a:ea typeface="Calibri"/>
              <a:cs typeface="Calibri"/>
              <a:sym typeface="Calibri"/>
            </a:endParaRPr>
          </a:p>
          <a:p>
            <a:pPr indent="0" lvl="0" marL="0" rtl="0" algn="l">
              <a:spcBef>
                <a:spcPts val="0"/>
              </a:spcBef>
              <a:spcAft>
                <a:spcPts val="0"/>
              </a:spcAft>
              <a:buNone/>
            </a:pPr>
            <a:r>
              <a:rPr lang="en-US" sz="1700">
                <a:solidFill>
                  <a:srgbClr val="2E2E2E"/>
                </a:solidFill>
                <a:latin typeface="Calibri"/>
                <a:ea typeface="Calibri"/>
                <a:cs typeface="Calibri"/>
                <a:sym typeface="Calibri"/>
              </a:rPr>
              <a:t>Check the required Python version.</a:t>
            </a:r>
            <a:endParaRPr sz="1700">
              <a:solidFill>
                <a:srgbClr val="2E2E2E"/>
              </a:solidFill>
              <a:latin typeface="Calibri"/>
              <a:ea typeface="Calibri"/>
              <a:cs typeface="Calibri"/>
              <a:sym typeface="Calibri"/>
            </a:endParaRPr>
          </a:p>
          <a:p>
            <a:pPr indent="0" lvl="0" marL="0" rtl="0" algn="l">
              <a:spcBef>
                <a:spcPts val="0"/>
              </a:spcBef>
              <a:spcAft>
                <a:spcPts val="0"/>
              </a:spcAft>
              <a:buNone/>
            </a:pPr>
            <a:r>
              <a:rPr lang="en-US" sz="1700">
                <a:solidFill>
                  <a:srgbClr val="2E2E2E"/>
                </a:solidFill>
                <a:latin typeface="Calibri"/>
                <a:ea typeface="Calibri"/>
                <a:cs typeface="Calibri"/>
                <a:sym typeface="Calibri"/>
              </a:rPr>
              <a:t>Create or reuse a .venv and install dependencies inside it.</a:t>
            </a:r>
            <a:endParaRPr sz="1700">
              <a:solidFill>
                <a:srgbClr val="2E2E2E"/>
              </a:solidFill>
              <a:latin typeface="Calibri"/>
              <a:ea typeface="Calibri"/>
              <a:cs typeface="Calibri"/>
              <a:sym typeface="Calibri"/>
            </a:endParaRPr>
          </a:p>
          <a:p>
            <a:pPr indent="0" lvl="0" marL="0" rtl="0" algn="l">
              <a:spcBef>
                <a:spcPts val="0"/>
              </a:spcBef>
              <a:spcAft>
                <a:spcPts val="0"/>
              </a:spcAft>
              <a:buNone/>
            </a:pPr>
            <a:r>
              <a:rPr lang="en-US" sz="1700">
                <a:solidFill>
                  <a:srgbClr val="2E2E2E"/>
                </a:solidFill>
                <a:latin typeface="Calibri"/>
                <a:ea typeface="Calibri"/>
                <a:cs typeface="Calibri"/>
                <a:sym typeface="Calibri"/>
              </a:rPr>
              <a:t>Run the smoke tests, check /docs, and summarize what happened.</a:t>
            </a:r>
            <a:endParaRPr sz="1700">
              <a:solidFill>
                <a:srgbClr val="2E2E2E"/>
              </a:solidFill>
              <a:latin typeface="Calibri"/>
              <a:ea typeface="Calibri"/>
              <a:cs typeface="Calibri"/>
              <a:sym typeface="Calibri"/>
            </a:endParaRPr>
          </a:p>
          <a:p>
            <a:pPr indent="0" lvl="0" marL="0" rtl="0" algn="l">
              <a:spcBef>
                <a:spcPts val="0"/>
              </a:spcBef>
              <a:spcAft>
                <a:spcPts val="0"/>
              </a:spcAft>
              <a:buNone/>
            </a:pPr>
            <a:r>
              <a:rPr lang="en-US" sz="1700">
                <a:solidFill>
                  <a:srgbClr val="2E2E2E"/>
                </a:solidFill>
                <a:latin typeface="Calibri"/>
                <a:ea typeface="Calibri"/>
                <a:cs typeface="Calibri"/>
                <a:sym typeface="Calibri"/>
              </a:rPr>
              <a:t>Do not change source files or commit anything.</a:t>
            </a:r>
            <a:endParaRPr sz="1700">
              <a:solidFill>
                <a:srgbClr val="2E2E2E"/>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4"/>
          <p:cNvSpPr txBox="1"/>
          <p:nvPr/>
        </p:nvSpPr>
        <p:spPr>
          <a:xfrm>
            <a:off x="685800" y="2066543"/>
            <a:ext cx="7772400"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8E6F3E"/>
                </a:solidFill>
                <a:latin typeface="Calibri"/>
                <a:ea typeface="Calibri"/>
                <a:cs typeface="Calibri"/>
                <a:sym typeface="Calibri"/>
              </a:rPr>
              <a:t>TOPIC 1</a:t>
            </a:r>
            <a:endParaRPr/>
          </a:p>
        </p:txBody>
      </p:sp>
      <p:sp>
        <p:nvSpPr>
          <p:cNvPr id="129" name="Google Shape;129;p14"/>
          <p:cNvSpPr txBox="1"/>
          <p:nvPr/>
        </p:nvSpPr>
        <p:spPr>
          <a:xfrm>
            <a:off x="512064" y="2606040"/>
            <a:ext cx="8119872" cy="905256"/>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0" i="0" lang="en-US" sz="3800" u="none" cap="none" strike="noStrike">
                <a:solidFill>
                  <a:srgbClr val="2D2D2D"/>
                </a:solidFill>
                <a:latin typeface="Calibri"/>
                <a:ea typeface="Calibri"/>
                <a:cs typeface="Calibri"/>
                <a:sym typeface="Calibri"/>
              </a:rPr>
              <a:t>CONTEXT ENGINEERING</a:t>
            </a:r>
            <a:endParaRPr/>
          </a:p>
        </p:txBody>
      </p:sp>
      <p:sp>
        <p:nvSpPr>
          <p:cNvPr id="130" name="Google Shape;130;p14"/>
          <p:cNvSpPr txBox="1"/>
          <p:nvPr/>
        </p:nvSpPr>
        <p:spPr>
          <a:xfrm>
            <a:off x="685800" y="3721608"/>
            <a:ext cx="7772400" cy="557784"/>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0" i="0" lang="en-US" sz="2200" u="none" cap="none" strike="noStrike">
                <a:solidFill>
                  <a:srgbClr val="5C4826"/>
                </a:solidFill>
                <a:latin typeface="Calibri"/>
                <a:ea typeface="Calibri"/>
                <a:cs typeface="Calibri"/>
                <a:sym typeface="Calibri"/>
              </a:rPr>
              <a:t>What should the agent know before it acts?</a:t>
            </a:r>
            <a:endParaRPr/>
          </a:p>
        </p:txBody>
      </p:sp>
      <p:cxnSp>
        <p:nvCxnSpPr>
          <p:cNvPr id="131" name="Google Shape;131;p14"/>
          <p:cNvCxnSpPr/>
          <p:nvPr/>
        </p:nvCxnSpPr>
        <p:spPr>
          <a:xfrm>
            <a:off x="3657600" y="4663440"/>
            <a:ext cx="1828800" cy="0"/>
          </a:xfrm>
          <a:prstGeom prst="straightConnector1">
            <a:avLst/>
          </a:prstGeom>
          <a:noFill/>
          <a:ln cap="flat" cmpd="sng" w="38100">
            <a:solidFill>
              <a:srgbClr val="8E6F3E"/>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5"/>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Context engineering: what the agent receives</a:t>
            </a:r>
            <a:endParaRPr/>
          </a:p>
        </p:txBody>
      </p:sp>
      <p:sp>
        <p:nvSpPr>
          <p:cNvPr id="138" name="Google Shape;138;p15"/>
          <p:cNvSpPr/>
          <p:nvPr/>
        </p:nvSpPr>
        <p:spPr>
          <a:xfrm>
            <a:off x="566928" y="1143000"/>
            <a:ext cx="8001000" cy="786384"/>
          </a:xfrm>
          <a:prstGeom prst="rect">
            <a:avLst/>
          </a:prstGeom>
          <a:solidFill>
            <a:srgbClr val="F5F1E8"/>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5"/>
          <p:cNvSpPr/>
          <p:nvPr/>
        </p:nvSpPr>
        <p:spPr>
          <a:xfrm>
            <a:off x="694944" y="1316736"/>
            <a:ext cx="2249424"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5"/>
          <p:cNvSpPr txBox="1"/>
          <p:nvPr/>
        </p:nvSpPr>
        <p:spPr>
          <a:xfrm>
            <a:off x="722376" y="1316736"/>
            <a:ext cx="2194560"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a:solidFill>
                  <a:srgbClr val="FFFFFF"/>
                </a:solidFill>
                <a:latin typeface="Calibri"/>
                <a:ea typeface="Calibri"/>
                <a:cs typeface="Calibri"/>
                <a:sym typeface="Calibri"/>
              </a:rPr>
              <a:t>REPOSITORY RULES</a:t>
            </a:r>
            <a:endParaRPr/>
          </a:p>
        </p:txBody>
      </p:sp>
      <p:sp>
        <p:nvSpPr>
          <p:cNvPr id="141" name="Google Shape;141;p15"/>
          <p:cNvSpPr txBox="1"/>
          <p:nvPr/>
        </p:nvSpPr>
        <p:spPr>
          <a:xfrm>
            <a:off x="3145536" y="1280160"/>
            <a:ext cx="5175504" cy="50292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AGENTS.md: conventions and test commands</a:t>
            </a:r>
            <a:endParaRPr/>
          </a:p>
        </p:txBody>
      </p:sp>
      <p:sp>
        <p:nvSpPr>
          <p:cNvPr id="142" name="Google Shape;142;p15"/>
          <p:cNvSpPr/>
          <p:nvPr/>
        </p:nvSpPr>
        <p:spPr>
          <a:xfrm>
            <a:off x="566928" y="2112264"/>
            <a:ext cx="8001000" cy="786384"/>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5"/>
          <p:cNvSpPr/>
          <p:nvPr/>
        </p:nvSpPr>
        <p:spPr>
          <a:xfrm>
            <a:off x="694944" y="2286000"/>
            <a:ext cx="2249424"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5"/>
          <p:cNvSpPr txBox="1"/>
          <p:nvPr/>
        </p:nvSpPr>
        <p:spPr>
          <a:xfrm>
            <a:off x="722376" y="2286000"/>
            <a:ext cx="2194560"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a:solidFill>
                  <a:srgbClr val="FFFFFF"/>
                </a:solidFill>
                <a:latin typeface="Calibri"/>
                <a:ea typeface="Calibri"/>
                <a:cs typeface="Calibri"/>
                <a:sym typeface="Calibri"/>
              </a:rPr>
              <a:t>YOUR REQUEST</a:t>
            </a:r>
            <a:endParaRPr/>
          </a:p>
        </p:txBody>
      </p:sp>
      <p:sp>
        <p:nvSpPr>
          <p:cNvPr id="145" name="Google Shape;145;p15"/>
          <p:cNvSpPr txBox="1"/>
          <p:nvPr/>
        </p:nvSpPr>
        <p:spPr>
          <a:xfrm>
            <a:off x="3145536" y="2249424"/>
            <a:ext cx="5175504" cy="50292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The task and constraints you give the agent</a:t>
            </a:r>
            <a:endParaRPr/>
          </a:p>
        </p:txBody>
      </p:sp>
      <p:sp>
        <p:nvSpPr>
          <p:cNvPr id="146" name="Google Shape;146;p15"/>
          <p:cNvSpPr/>
          <p:nvPr/>
        </p:nvSpPr>
        <p:spPr>
          <a:xfrm>
            <a:off x="566928" y="3081528"/>
            <a:ext cx="8001000" cy="786384"/>
          </a:xfrm>
          <a:prstGeom prst="rect">
            <a:avLst/>
          </a:prstGeom>
          <a:solidFill>
            <a:srgbClr val="F5F1E8"/>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15"/>
          <p:cNvSpPr/>
          <p:nvPr/>
        </p:nvSpPr>
        <p:spPr>
          <a:xfrm>
            <a:off x="694944" y="3255264"/>
            <a:ext cx="2249424"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15"/>
          <p:cNvSpPr txBox="1"/>
          <p:nvPr/>
        </p:nvSpPr>
        <p:spPr>
          <a:xfrm>
            <a:off x="722376" y="3255264"/>
            <a:ext cx="2194560"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a:solidFill>
                  <a:srgbClr val="FFFFFF"/>
                </a:solidFill>
                <a:latin typeface="Calibri"/>
                <a:ea typeface="Calibri"/>
                <a:cs typeface="Calibri"/>
                <a:sym typeface="Calibri"/>
              </a:rPr>
              <a:t>PROJECT FILES</a:t>
            </a:r>
            <a:endParaRPr/>
          </a:p>
        </p:txBody>
      </p:sp>
      <p:sp>
        <p:nvSpPr>
          <p:cNvPr id="149" name="Google Shape;149;p15"/>
          <p:cNvSpPr txBox="1"/>
          <p:nvPr/>
        </p:nvSpPr>
        <p:spPr>
          <a:xfrm>
            <a:off x="3145536" y="3218688"/>
            <a:ext cx="5175504" cy="50292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Code and specifications the agent reads</a:t>
            </a:r>
            <a:endParaRPr/>
          </a:p>
        </p:txBody>
      </p:sp>
      <p:sp>
        <p:nvSpPr>
          <p:cNvPr id="150" name="Google Shape;150;p15"/>
          <p:cNvSpPr/>
          <p:nvPr/>
        </p:nvSpPr>
        <p:spPr>
          <a:xfrm>
            <a:off x="566928" y="4050791"/>
            <a:ext cx="8001000" cy="786384"/>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5"/>
          <p:cNvSpPr/>
          <p:nvPr/>
        </p:nvSpPr>
        <p:spPr>
          <a:xfrm>
            <a:off x="694944" y="4224528"/>
            <a:ext cx="2249424"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15"/>
          <p:cNvSpPr txBox="1"/>
          <p:nvPr/>
        </p:nvSpPr>
        <p:spPr>
          <a:xfrm>
            <a:off x="722376" y="4224528"/>
            <a:ext cx="2194560"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a:solidFill>
                  <a:srgbClr val="FFFFFF"/>
                </a:solidFill>
                <a:latin typeface="Calibri"/>
                <a:ea typeface="Calibri"/>
                <a:cs typeface="Calibri"/>
                <a:sym typeface="Calibri"/>
              </a:rPr>
              <a:t>TOOL FEEDBACK</a:t>
            </a:r>
            <a:endParaRPr/>
          </a:p>
        </p:txBody>
      </p:sp>
      <p:sp>
        <p:nvSpPr>
          <p:cNvPr id="153" name="Google Shape;153;p15"/>
          <p:cNvSpPr txBox="1"/>
          <p:nvPr/>
        </p:nvSpPr>
        <p:spPr>
          <a:xfrm>
            <a:off x="3145536" y="4187952"/>
            <a:ext cx="5175504" cy="50292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Observed test output, errors and code diffs</a:t>
            </a:r>
            <a:endParaRPr/>
          </a:p>
        </p:txBody>
      </p:sp>
      <p:sp>
        <p:nvSpPr>
          <p:cNvPr id="154" name="Google Shape;154;p15"/>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5"/>
          <p:cNvSpPr txBox="1"/>
          <p:nvPr/>
        </p:nvSpPr>
        <p:spPr>
          <a:xfrm>
            <a:off x="384048" y="5916168"/>
            <a:ext cx="8375904"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Choose relevant information; avoid filling context with noise.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6"/>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Follow an availability request</a:t>
            </a:r>
            <a:endParaRPr/>
          </a:p>
        </p:txBody>
      </p:sp>
      <p:sp>
        <p:nvSpPr>
          <p:cNvPr id="162" name="Google Shape;162;p16"/>
          <p:cNvSpPr txBox="1"/>
          <p:nvPr/>
        </p:nvSpPr>
        <p:spPr>
          <a:xfrm>
            <a:off x="546100" y="1054100"/>
            <a:ext cx="8001000" cy="5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545961"/>
                </a:solidFill>
                <a:latin typeface="Calibri"/>
                <a:ea typeface="Calibri"/>
                <a:cs typeface="Calibri"/>
                <a:sym typeface="Calibri"/>
              </a:rPr>
              <a:t>Which files handle a request to GET /rooms/available?</a:t>
            </a:r>
            <a:endParaRPr sz="1900">
              <a:solidFill>
                <a:srgbClr val="545961"/>
              </a:solidFill>
              <a:latin typeface="Calibri"/>
              <a:ea typeface="Calibri"/>
              <a:cs typeface="Calibri"/>
              <a:sym typeface="Calibri"/>
            </a:endParaRPr>
          </a:p>
        </p:txBody>
      </p:sp>
      <p:sp>
        <p:nvSpPr>
          <p:cNvPr id="163" name="Google Shape;163;p16"/>
          <p:cNvSpPr/>
          <p:nvPr/>
        </p:nvSpPr>
        <p:spPr>
          <a:xfrm>
            <a:off x="482600" y="1930400"/>
            <a:ext cx="2476500" cy="2603400"/>
          </a:xfrm>
          <a:prstGeom prst="rect">
            <a:avLst/>
          </a:prstGeom>
          <a:solidFill>
            <a:srgbClr val="F5F1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4" name="Google Shape;164;p16"/>
          <p:cNvSpPr txBox="1"/>
          <p:nvPr/>
        </p:nvSpPr>
        <p:spPr>
          <a:xfrm>
            <a:off x="635000" y="2082800"/>
            <a:ext cx="22479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8E6F3E"/>
                </a:solidFill>
                <a:latin typeface="Calibri"/>
                <a:ea typeface="Calibri"/>
                <a:cs typeface="Calibri"/>
                <a:sym typeface="Calibri"/>
              </a:rPr>
              <a:t>1. REQUEST</a:t>
            </a:r>
            <a:endParaRPr b="1" sz="1500">
              <a:solidFill>
                <a:srgbClr val="8E6F3E"/>
              </a:solidFill>
              <a:latin typeface="Calibri"/>
              <a:ea typeface="Calibri"/>
              <a:cs typeface="Calibri"/>
              <a:sym typeface="Calibri"/>
            </a:endParaRPr>
          </a:p>
        </p:txBody>
      </p:sp>
      <p:sp>
        <p:nvSpPr>
          <p:cNvPr id="165" name="Google Shape;165;p16"/>
          <p:cNvSpPr txBox="1"/>
          <p:nvPr/>
        </p:nvSpPr>
        <p:spPr>
          <a:xfrm>
            <a:off x="635000" y="2628900"/>
            <a:ext cx="2247900" cy="165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2D2D2D"/>
                </a:solidFill>
                <a:latin typeface="Calibri"/>
                <a:ea typeface="Calibri"/>
                <a:cs typeface="Calibri"/>
                <a:sym typeface="Calibri"/>
              </a:rPr>
              <a:t>app/main.py</a:t>
            </a:r>
            <a:endParaRPr sz="1800">
              <a:solidFill>
                <a:srgbClr val="2D2D2D"/>
              </a:solidFill>
              <a:latin typeface="Calibri"/>
              <a:ea typeface="Calibri"/>
              <a:cs typeface="Calibri"/>
              <a:sym typeface="Calibri"/>
            </a:endParaRPr>
          </a:p>
          <a:p>
            <a:pPr indent="0" lvl="0" marL="0" rtl="0" algn="l">
              <a:spcBef>
                <a:spcPts val="0"/>
              </a:spcBef>
              <a:spcAft>
                <a:spcPts val="0"/>
              </a:spcAft>
              <a:buNone/>
            </a:pPr>
            <a:r>
              <a:t/>
            </a:r>
            <a:endParaRPr sz="1800">
              <a:solidFill>
                <a:srgbClr val="2D2D2D"/>
              </a:solidFill>
              <a:latin typeface="Calibri"/>
              <a:ea typeface="Calibri"/>
              <a:cs typeface="Calibri"/>
              <a:sym typeface="Calibri"/>
            </a:endParaRPr>
          </a:p>
          <a:p>
            <a:pPr indent="0" lvl="0" marL="0" rtl="0" algn="l">
              <a:spcBef>
                <a:spcPts val="0"/>
              </a:spcBef>
              <a:spcAft>
                <a:spcPts val="0"/>
              </a:spcAft>
              <a:buNone/>
            </a:pPr>
            <a:r>
              <a:rPr lang="en-US" sz="1800">
                <a:solidFill>
                  <a:srgbClr val="2D2D2D"/>
                </a:solidFill>
                <a:latin typeface="Calibri"/>
                <a:ea typeface="Calibri"/>
                <a:cs typeface="Calibri"/>
                <a:sym typeface="Calibri"/>
              </a:rPr>
              <a:t>Validates times and</a:t>
            </a:r>
            <a:endParaRPr sz="1800">
              <a:solidFill>
                <a:srgbClr val="2D2D2D"/>
              </a:solidFill>
              <a:latin typeface="Calibri"/>
              <a:ea typeface="Calibri"/>
              <a:cs typeface="Calibri"/>
              <a:sym typeface="Calibri"/>
            </a:endParaRPr>
          </a:p>
          <a:p>
            <a:pPr indent="0" lvl="0" marL="0" rtl="0" algn="l">
              <a:spcBef>
                <a:spcPts val="0"/>
              </a:spcBef>
              <a:spcAft>
                <a:spcPts val="0"/>
              </a:spcAft>
              <a:buNone/>
            </a:pPr>
            <a:r>
              <a:rPr lang="en-US" sz="1800">
                <a:solidFill>
                  <a:srgbClr val="2D2D2D"/>
                </a:solidFill>
                <a:latin typeface="Calibri"/>
                <a:ea typeface="Calibri"/>
                <a:cs typeface="Calibri"/>
                <a:sym typeface="Calibri"/>
              </a:rPr>
              <a:t>minimum capacity</a:t>
            </a:r>
            <a:endParaRPr sz="1800">
              <a:solidFill>
                <a:srgbClr val="2D2D2D"/>
              </a:solidFill>
              <a:latin typeface="Calibri"/>
              <a:ea typeface="Calibri"/>
              <a:cs typeface="Calibri"/>
              <a:sym typeface="Calibri"/>
            </a:endParaRPr>
          </a:p>
        </p:txBody>
      </p:sp>
      <p:sp>
        <p:nvSpPr>
          <p:cNvPr id="166" name="Google Shape;166;p16"/>
          <p:cNvSpPr/>
          <p:nvPr/>
        </p:nvSpPr>
        <p:spPr>
          <a:xfrm>
            <a:off x="3340100" y="1930400"/>
            <a:ext cx="2476500" cy="2603400"/>
          </a:xfrm>
          <a:prstGeom prst="rect">
            <a:avLst/>
          </a:prstGeom>
          <a:solidFill>
            <a:srgbClr val="FCFA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7" name="Google Shape;167;p16"/>
          <p:cNvSpPr txBox="1"/>
          <p:nvPr/>
        </p:nvSpPr>
        <p:spPr>
          <a:xfrm>
            <a:off x="3492500" y="2082800"/>
            <a:ext cx="22479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8E6F3E"/>
                </a:solidFill>
                <a:latin typeface="Calibri"/>
                <a:ea typeface="Calibri"/>
                <a:cs typeface="Calibri"/>
                <a:sym typeface="Calibri"/>
              </a:rPr>
              <a:t>2. LOAD DATA</a:t>
            </a:r>
            <a:endParaRPr b="1" sz="1500">
              <a:solidFill>
                <a:srgbClr val="8E6F3E"/>
              </a:solidFill>
              <a:latin typeface="Calibri"/>
              <a:ea typeface="Calibri"/>
              <a:cs typeface="Calibri"/>
              <a:sym typeface="Calibri"/>
            </a:endParaRPr>
          </a:p>
        </p:txBody>
      </p:sp>
      <p:sp>
        <p:nvSpPr>
          <p:cNvPr id="168" name="Google Shape;168;p16"/>
          <p:cNvSpPr txBox="1"/>
          <p:nvPr/>
        </p:nvSpPr>
        <p:spPr>
          <a:xfrm>
            <a:off x="3492500" y="2628900"/>
            <a:ext cx="2247900" cy="165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2D2D2D"/>
                </a:solidFill>
                <a:latin typeface="Calibri"/>
                <a:ea typeface="Calibri"/>
                <a:cs typeface="Calibri"/>
                <a:sym typeface="Calibri"/>
              </a:rPr>
              <a:t>app/store.py</a:t>
            </a:r>
            <a:endParaRPr sz="1800">
              <a:solidFill>
                <a:srgbClr val="2D2D2D"/>
              </a:solidFill>
              <a:latin typeface="Calibri"/>
              <a:ea typeface="Calibri"/>
              <a:cs typeface="Calibri"/>
              <a:sym typeface="Calibri"/>
            </a:endParaRPr>
          </a:p>
          <a:p>
            <a:pPr indent="0" lvl="0" marL="0" rtl="0" algn="l">
              <a:spcBef>
                <a:spcPts val="0"/>
              </a:spcBef>
              <a:spcAft>
                <a:spcPts val="0"/>
              </a:spcAft>
              <a:buNone/>
            </a:pPr>
            <a:r>
              <a:t/>
            </a:r>
            <a:endParaRPr sz="1800">
              <a:solidFill>
                <a:srgbClr val="2D2D2D"/>
              </a:solidFill>
              <a:latin typeface="Calibri"/>
              <a:ea typeface="Calibri"/>
              <a:cs typeface="Calibri"/>
              <a:sym typeface="Calibri"/>
            </a:endParaRPr>
          </a:p>
          <a:p>
            <a:pPr indent="0" lvl="0" marL="0" rtl="0" algn="l">
              <a:spcBef>
                <a:spcPts val="0"/>
              </a:spcBef>
              <a:spcAft>
                <a:spcPts val="0"/>
              </a:spcAft>
              <a:buNone/>
            </a:pPr>
            <a:r>
              <a:rPr lang="en-US" sz="1800">
                <a:solidFill>
                  <a:srgbClr val="2D2D2D"/>
                </a:solidFill>
                <a:latin typeface="Calibri"/>
                <a:ea typeface="Calibri"/>
                <a:cs typeface="Calibri"/>
                <a:sym typeface="Calibri"/>
              </a:rPr>
              <a:t>Reads rooms.json and</a:t>
            </a:r>
            <a:endParaRPr sz="1800">
              <a:solidFill>
                <a:srgbClr val="2D2D2D"/>
              </a:solidFill>
              <a:latin typeface="Calibri"/>
              <a:ea typeface="Calibri"/>
              <a:cs typeface="Calibri"/>
              <a:sym typeface="Calibri"/>
            </a:endParaRPr>
          </a:p>
          <a:p>
            <a:pPr indent="0" lvl="0" marL="0" rtl="0" algn="l">
              <a:spcBef>
                <a:spcPts val="0"/>
              </a:spcBef>
              <a:spcAft>
                <a:spcPts val="0"/>
              </a:spcAft>
              <a:buNone/>
            </a:pPr>
            <a:r>
              <a:rPr lang="en-US" sz="1800">
                <a:solidFill>
                  <a:srgbClr val="2D2D2D"/>
                </a:solidFill>
                <a:latin typeface="Calibri"/>
                <a:ea typeface="Calibri"/>
                <a:cs typeface="Calibri"/>
                <a:sym typeface="Calibri"/>
              </a:rPr>
              <a:t>reservations.json</a:t>
            </a:r>
            <a:endParaRPr sz="1800">
              <a:solidFill>
                <a:srgbClr val="2D2D2D"/>
              </a:solidFill>
              <a:latin typeface="Calibri"/>
              <a:ea typeface="Calibri"/>
              <a:cs typeface="Calibri"/>
              <a:sym typeface="Calibri"/>
            </a:endParaRPr>
          </a:p>
        </p:txBody>
      </p:sp>
      <p:sp>
        <p:nvSpPr>
          <p:cNvPr id="169" name="Google Shape;169;p16"/>
          <p:cNvSpPr/>
          <p:nvPr/>
        </p:nvSpPr>
        <p:spPr>
          <a:xfrm>
            <a:off x="6184900" y="1930400"/>
            <a:ext cx="2476500" cy="2603400"/>
          </a:xfrm>
          <a:prstGeom prst="rect">
            <a:avLst/>
          </a:prstGeom>
          <a:solidFill>
            <a:srgbClr val="F5F1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p16"/>
          <p:cNvSpPr txBox="1"/>
          <p:nvPr/>
        </p:nvSpPr>
        <p:spPr>
          <a:xfrm>
            <a:off x="6337300" y="2082800"/>
            <a:ext cx="22479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8E6F3E"/>
                </a:solidFill>
                <a:latin typeface="Calibri"/>
                <a:ea typeface="Calibri"/>
                <a:cs typeface="Calibri"/>
                <a:sym typeface="Calibri"/>
              </a:rPr>
              <a:t>3. FILTER ROOMS</a:t>
            </a:r>
            <a:endParaRPr b="1" sz="1500">
              <a:solidFill>
                <a:srgbClr val="8E6F3E"/>
              </a:solidFill>
              <a:latin typeface="Calibri"/>
              <a:ea typeface="Calibri"/>
              <a:cs typeface="Calibri"/>
              <a:sym typeface="Calibri"/>
            </a:endParaRPr>
          </a:p>
        </p:txBody>
      </p:sp>
      <p:sp>
        <p:nvSpPr>
          <p:cNvPr id="171" name="Google Shape;171;p16"/>
          <p:cNvSpPr txBox="1"/>
          <p:nvPr/>
        </p:nvSpPr>
        <p:spPr>
          <a:xfrm>
            <a:off x="6337300" y="2628900"/>
            <a:ext cx="2247900" cy="165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2D2D2D"/>
                </a:solidFill>
                <a:latin typeface="Calibri"/>
                <a:ea typeface="Calibri"/>
                <a:cs typeface="Calibri"/>
                <a:sym typeface="Calibri"/>
              </a:rPr>
              <a:t>app/availability.py</a:t>
            </a:r>
            <a:endParaRPr sz="1800">
              <a:solidFill>
                <a:srgbClr val="2D2D2D"/>
              </a:solidFill>
              <a:latin typeface="Calibri"/>
              <a:ea typeface="Calibri"/>
              <a:cs typeface="Calibri"/>
              <a:sym typeface="Calibri"/>
            </a:endParaRPr>
          </a:p>
          <a:p>
            <a:pPr indent="0" lvl="0" marL="0" rtl="0" algn="l">
              <a:spcBef>
                <a:spcPts val="0"/>
              </a:spcBef>
              <a:spcAft>
                <a:spcPts val="0"/>
              </a:spcAft>
              <a:buNone/>
            </a:pPr>
            <a:r>
              <a:t/>
            </a:r>
            <a:endParaRPr sz="1800">
              <a:solidFill>
                <a:srgbClr val="2D2D2D"/>
              </a:solidFill>
              <a:latin typeface="Calibri"/>
              <a:ea typeface="Calibri"/>
              <a:cs typeface="Calibri"/>
              <a:sym typeface="Calibri"/>
            </a:endParaRPr>
          </a:p>
          <a:p>
            <a:pPr indent="0" lvl="0" marL="0" rtl="0" algn="l">
              <a:spcBef>
                <a:spcPts val="0"/>
              </a:spcBef>
              <a:spcAft>
                <a:spcPts val="0"/>
              </a:spcAft>
              <a:buNone/>
            </a:pPr>
            <a:r>
              <a:rPr lang="en-US" sz="1800">
                <a:solidFill>
                  <a:srgbClr val="2D2D2D"/>
                </a:solidFill>
                <a:latin typeface="Calibri"/>
                <a:ea typeface="Calibri"/>
                <a:cs typeface="Calibri"/>
                <a:sym typeface="Calibri"/>
              </a:rPr>
              <a:t>Filters capacity and</a:t>
            </a:r>
            <a:endParaRPr sz="1800">
              <a:solidFill>
                <a:srgbClr val="2D2D2D"/>
              </a:solidFill>
              <a:latin typeface="Calibri"/>
              <a:ea typeface="Calibri"/>
              <a:cs typeface="Calibri"/>
              <a:sym typeface="Calibri"/>
            </a:endParaRPr>
          </a:p>
          <a:p>
            <a:pPr indent="0" lvl="0" marL="0" rtl="0" algn="l">
              <a:spcBef>
                <a:spcPts val="0"/>
              </a:spcBef>
              <a:spcAft>
                <a:spcPts val="0"/>
              </a:spcAft>
              <a:buNone/>
            </a:pPr>
            <a:r>
              <a:rPr lang="en-US" sz="1800">
                <a:solidFill>
                  <a:srgbClr val="2D2D2D"/>
                </a:solidFill>
                <a:latin typeface="Calibri"/>
                <a:ea typeface="Calibri"/>
                <a:cs typeface="Calibri"/>
                <a:sym typeface="Calibri"/>
              </a:rPr>
              <a:t>reservation conflicts</a:t>
            </a:r>
            <a:endParaRPr sz="1800">
              <a:solidFill>
                <a:srgbClr val="2D2D2D"/>
              </a:solidFill>
              <a:latin typeface="Calibri"/>
              <a:ea typeface="Calibri"/>
              <a:cs typeface="Calibri"/>
              <a:sym typeface="Calibri"/>
            </a:endParaRPr>
          </a:p>
        </p:txBody>
      </p:sp>
      <p:sp>
        <p:nvSpPr>
          <p:cNvPr id="172" name="Google Shape;172;p16"/>
          <p:cNvSpPr/>
          <p:nvPr/>
        </p:nvSpPr>
        <p:spPr>
          <a:xfrm>
            <a:off x="3009900" y="3086100"/>
            <a:ext cx="279300" cy="190500"/>
          </a:xfrm>
          <a:prstGeom prst="rightArrow">
            <a:avLst>
              <a:gd fmla="val 50000" name="adj1"/>
              <a:gd fmla="val 50000" name="adj2"/>
            </a:avLst>
          </a:prstGeom>
          <a:solidFill>
            <a:srgbClr val="8E6F3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3" name="Google Shape;173;p16"/>
          <p:cNvSpPr/>
          <p:nvPr/>
        </p:nvSpPr>
        <p:spPr>
          <a:xfrm>
            <a:off x="5842000" y="3086100"/>
            <a:ext cx="279300" cy="190500"/>
          </a:xfrm>
          <a:prstGeom prst="rightArrow">
            <a:avLst>
              <a:gd fmla="val 50000" name="adj1"/>
              <a:gd fmla="val 50000" name="adj2"/>
            </a:avLst>
          </a:prstGeom>
          <a:solidFill>
            <a:srgbClr val="8E6F3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4" name="Google Shape;174;p16"/>
          <p:cNvSpPr txBox="1"/>
          <p:nvPr/>
        </p:nvSpPr>
        <p:spPr>
          <a:xfrm>
            <a:off x="660400" y="5016500"/>
            <a:ext cx="78741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555960"/>
                </a:solidFill>
                <a:latin typeface="Calibri"/>
                <a:ea typeface="Calibri"/>
                <a:cs typeface="Calibri"/>
                <a:sym typeface="Calibri"/>
              </a:rPr>
              <a:t>CONTRACT  docs/api-spec.md     TESTS  tests/test_availability.py</a:t>
            </a:r>
            <a:endParaRPr b="1" sz="1600">
              <a:solidFill>
                <a:srgbClr val="55596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nvSpPr>
        <p:spPr>
          <a:xfrm>
            <a:off x="685800" y="2066543"/>
            <a:ext cx="7772400" cy="4116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8E6F3E"/>
                </a:solidFill>
                <a:latin typeface="Calibri"/>
                <a:ea typeface="Calibri"/>
                <a:cs typeface="Calibri"/>
                <a:sym typeface="Calibri"/>
              </a:rPr>
              <a:t>TOPIC 2</a:t>
            </a:r>
            <a:endParaRPr/>
          </a:p>
        </p:txBody>
      </p:sp>
      <p:sp>
        <p:nvSpPr>
          <p:cNvPr id="181" name="Google Shape;181;p17"/>
          <p:cNvSpPr txBox="1"/>
          <p:nvPr/>
        </p:nvSpPr>
        <p:spPr>
          <a:xfrm>
            <a:off x="512064" y="2606040"/>
            <a:ext cx="8119800" cy="9054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lang="en-US" sz="3800">
                <a:solidFill>
                  <a:srgbClr val="2D2D2D"/>
                </a:solidFill>
                <a:latin typeface="Calibri"/>
                <a:ea typeface="Calibri"/>
                <a:cs typeface="Calibri"/>
                <a:sym typeface="Calibri"/>
              </a:rPr>
              <a:t>AGENTS.md</a:t>
            </a:r>
            <a:endParaRPr/>
          </a:p>
        </p:txBody>
      </p:sp>
      <p:sp>
        <p:nvSpPr>
          <p:cNvPr id="182" name="Google Shape;182;p17"/>
          <p:cNvSpPr txBox="1"/>
          <p:nvPr/>
        </p:nvSpPr>
        <p:spPr>
          <a:xfrm>
            <a:off x="685800" y="3721608"/>
            <a:ext cx="7772400" cy="5577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lang="en-US" sz="2200">
                <a:solidFill>
                  <a:srgbClr val="5C4826"/>
                </a:solidFill>
                <a:latin typeface="Calibri"/>
                <a:ea typeface="Calibri"/>
                <a:cs typeface="Calibri"/>
                <a:sym typeface="Calibri"/>
              </a:rPr>
              <a:t>How should a coding agent work in this repository?</a:t>
            </a:r>
            <a:endParaRPr/>
          </a:p>
        </p:txBody>
      </p:sp>
      <p:cxnSp>
        <p:nvCxnSpPr>
          <p:cNvPr id="183" name="Google Shape;183;p17"/>
          <p:cNvCxnSpPr/>
          <p:nvPr/>
        </p:nvCxnSpPr>
        <p:spPr>
          <a:xfrm>
            <a:off x="3657600" y="4663440"/>
            <a:ext cx="1828800" cy="0"/>
          </a:xfrm>
          <a:prstGeom prst="straightConnector1">
            <a:avLst/>
          </a:prstGeom>
          <a:noFill/>
          <a:ln cap="flat" cmpd="sng" w="38100">
            <a:solidFill>
              <a:srgbClr val="8E6F3E"/>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8"/>
          <p:cNvSpPr txBox="1"/>
          <p:nvPr/>
        </p:nvSpPr>
        <p:spPr>
          <a:xfrm>
            <a:off x="274320" y="128016"/>
            <a:ext cx="8595300" cy="5943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AGENTS.md: instructions that persist across sessions</a:t>
            </a:r>
            <a:endParaRPr/>
          </a:p>
        </p:txBody>
      </p:sp>
      <p:sp>
        <p:nvSpPr>
          <p:cNvPr id="190" name="Google Shape;190;p18"/>
          <p:cNvSpPr/>
          <p:nvPr/>
        </p:nvSpPr>
        <p:spPr>
          <a:xfrm>
            <a:off x="502920" y="1463040"/>
            <a:ext cx="3804000" cy="335580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8"/>
          <p:cNvSpPr txBox="1"/>
          <p:nvPr/>
        </p:nvSpPr>
        <p:spPr>
          <a:xfrm>
            <a:off x="649224" y="1563624"/>
            <a:ext cx="3511200" cy="255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WHAT TO INCLUDE</a:t>
            </a:r>
            <a:endParaRPr/>
          </a:p>
        </p:txBody>
      </p:sp>
      <p:sp>
        <p:nvSpPr>
          <p:cNvPr id="192" name="Google Shape;192;p18"/>
          <p:cNvSpPr txBox="1"/>
          <p:nvPr/>
        </p:nvSpPr>
        <p:spPr>
          <a:xfrm>
            <a:off x="649224" y="1837944"/>
            <a:ext cx="3511200" cy="429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2000">
                <a:solidFill>
                  <a:srgbClr val="5C4826"/>
                </a:solidFill>
                <a:latin typeface="Calibri"/>
                <a:ea typeface="Calibri"/>
                <a:cs typeface="Calibri"/>
                <a:sym typeface="Calibri"/>
              </a:rPr>
              <a:t>Concise project guidance</a:t>
            </a:r>
            <a:endParaRPr/>
          </a:p>
        </p:txBody>
      </p:sp>
      <p:sp>
        <p:nvSpPr>
          <p:cNvPr id="193" name="Google Shape;193;p18"/>
          <p:cNvSpPr txBox="1"/>
          <p:nvPr/>
        </p:nvSpPr>
        <p:spPr>
          <a:xfrm>
            <a:off x="649224" y="2322576"/>
            <a:ext cx="3511200" cy="23865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Build and test commands</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Coding conventions</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Review and safety rules</a:t>
            </a:r>
            <a:endParaRPr/>
          </a:p>
        </p:txBody>
      </p:sp>
      <p:sp>
        <p:nvSpPr>
          <p:cNvPr id="194" name="Google Shape;194;p18"/>
          <p:cNvSpPr/>
          <p:nvPr/>
        </p:nvSpPr>
        <p:spPr>
          <a:xfrm>
            <a:off x="4754880" y="1463040"/>
            <a:ext cx="3840600" cy="335580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18"/>
          <p:cNvSpPr txBox="1"/>
          <p:nvPr/>
        </p:nvSpPr>
        <p:spPr>
          <a:xfrm>
            <a:off x="4901184" y="1563624"/>
            <a:ext cx="3547800" cy="255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WHAT TO LEAVE OUT</a:t>
            </a:r>
            <a:endParaRPr/>
          </a:p>
        </p:txBody>
      </p:sp>
      <p:sp>
        <p:nvSpPr>
          <p:cNvPr id="196" name="Google Shape;196;p18"/>
          <p:cNvSpPr txBox="1"/>
          <p:nvPr/>
        </p:nvSpPr>
        <p:spPr>
          <a:xfrm>
            <a:off x="4901184" y="1837944"/>
            <a:ext cx="3547800" cy="429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2000">
                <a:solidFill>
                  <a:srgbClr val="5C4826"/>
                </a:solidFill>
                <a:latin typeface="Calibri"/>
                <a:ea typeface="Calibri"/>
                <a:cs typeface="Calibri"/>
                <a:sym typeface="Calibri"/>
              </a:rPr>
              <a:t>One-off task details</a:t>
            </a:r>
            <a:endParaRPr/>
          </a:p>
        </p:txBody>
      </p:sp>
      <p:sp>
        <p:nvSpPr>
          <p:cNvPr id="197" name="Google Shape;197;p18"/>
          <p:cNvSpPr txBox="1"/>
          <p:nvPr/>
        </p:nvSpPr>
        <p:spPr>
          <a:xfrm>
            <a:off x="4901184" y="2322576"/>
            <a:ext cx="3547800" cy="23865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Bug-specific fixes</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Unverified assumptions</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Pasted source files</a:t>
            </a:r>
            <a:endParaRPr/>
          </a:p>
        </p:txBody>
      </p:sp>
      <p:sp>
        <p:nvSpPr>
          <p:cNvPr id="198" name="Google Shape;198;p18"/>
          <p:cNvSpPr txBox="1"/>
          <p:nvPr/>
        </p:nvSpPr>
        <p:spPr>
          <a:xfrm>
            <a:off x="548640" y="5138928"/>
            <a:ext cx="8046600" cy="3474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i="1" lang="en-US" sz="1800">
                <a:solidFill>
                  <a:srgbClr val="5C4826"/>
                </a:solidFill>
                <a:latin typeface="Calibri"/>
                <a:ea typeface="Calibri"/>
                <a:cs typeface="Calibri"/>
                <a:sym typeface="Calibri"/>
              </a:rPr>
              <a:t>Use the correct instructions file for your agent.</a:t>
            </a:r>
            <a:endParaRPr/>
          </a:p>
        </p:txBody>
      </p:sp>
      <p:sp>
        <p:nvSpPr>
          <p:cNvPr id="199" name="Google Shape;199;p18"/>
          <p:cNvSpPr/>
          <p:nvPr/>
        </p:nvSpPr>
        <p:spPr>
          <a:xfrm>
            <a:off x="274320" y="5879592"/>
            <a:ext cx="8595300" cy="5028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18"/>
          <p:cNvSpPr txBox="1"/>
          <p:nvPr/>
        </p:nvSpPr>
        <p:spPr>
          <a:xfrm>
            <a:off x="384048" y="5916168"/>
            <a:ext cx="8376000" cy="4116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Restart your agent to verify that the instructions are loaded.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07" name="Google Shape;207;p19"/>
          <p:cNvSpPr txBox="1"/>
          <p:nvPr/>
        </p:nvSpPr>
        <p:spPr>
          <a:xfrm>
            <a:off x="355600" y="266700"/>
            <a:ext cx="8445600" cy="6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2E2E2E"/>
                </a:solidFill>
                <a:latin typeface="Calibri"/>
                <a:ea typeface="Calibri"/>
                <a:cs typeface="Calibri"/>
                <a:sym typeface="Calibri"/>
              </a:rPr>
              <a:t>Example prompt: create repository instructions</a:t>
            </a:r>
            <a:endParaRPr sz="2500">
              <a:solidFill>
                <a:srgbClr val="2E2E2E"/>
              </a:solidFill>
              <a:latin typeface="Calibri"/>
              <a:ea typeface="Calibri"/>
              <a:cs typeface="Calibri"/>
              <a:sym typeface="Calibri"/>
            </a:endParaRPr>
          </a:p>
        </p:txBody>
      </p:sp>
      <p:sp>
        <p:nvSpPr>
          <p:cNvPr id="208" name="Google Shape;208;p19"/>
          <p:cNvSpPr txBox="1"/>
          <p:nvPr/>
        </p:nvSpPr>
        <p:spPr>
          <a:xfrm>
            <a:off x="482600" y="1168400"/>
            <a:ext cx="79503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8E6F3E"/>
                </a:solidFill>
                <a:latin typeface="Calibri"/>
                <a:ea typeface="Calibri"/>
                <a:cs typeface="Calibri"/>
                <a:sym typeface="Calibri"/>
              </a:rPr>
              <a:t>EXAMPLE PROMPT · ADAPT TO YOUR AGENT</a:t>
            </a:r>
            <a:endParaRPr b="1">
              <a:solidFill>
                <a:srgbClr val="8E6F3E"/>
              </a:solidFill>
              <a:latin typeface="Calibri"/>
              <a:ea typeface="Calibri"/>
              <a:cs typeface="Calibri"/>
              <a:sym typeface="Calibri"/>
            </a:endParaRPr>
          </a:p>
        </p:txBody>
      </p:sp>
      <p:sp>
        <p:nvSpPr>
          <p:cNvPr id="209" name="Google Shape;209;p19"/>
          <p:cNvSpPr/>
          <p:nvPr/>
        </p:nvSpPr>
        <p:spPr>
          <a:xfrm>
            <a:off x="508000" y="1511300"/>
            <a:ext cx="8127900" cy="1409700"/>
          </a:xfrm>
          <a:prstGeom prst="rect">
            <a:avLst/>
          </a:prstGeom>
          <a:solidFill>
            <a:srgbClr val="F5F1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0" name="Google Shape;210;p19"/>
          <p:cNvSpPr txBox="1"/>
          <p:nvPr/>
        </p:nvSpPr>
        <p:spPr>
          <a:xfrm>
            <a:off x="685800" y="1676400"/>
            <a:ext cx="7746900" cy="12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2E2E2E"/>
                </a:solidFill>
                <a:latin typeface="Calibri"/>
                <a:ea typeface="Calibri"/>
                <a:cs typeface="Calibri"/>
                <a:sym typeface="Calibri"/>
              </a:rPr>
              <a:t>Explore this repository, then write a concise AGENTS.md from verified</a:t>
            </a:r>
            <a:endParaRPr sz="1600">
              <a:solidFill>
                <a:srgbClr val="2E2E2E"/>
              </a:solidFill>
              <a:latin typeface="Calibri"/>
              <a:ea typeface="Calibri"/>
              <a:cs typeface="Calibri"/>
              <a:sym typeface="Calibri"/>
            </a:endParaRPr>
          </a:p>
          <a:p>
            <a:pPr indent="0" lvl="0" marL="0" rtl="0" algn="l">
              <a:spcBef>
                <a:spcPts val="0"/>
              </a:spcBef>
              <a:spcAft>
                <a:spcPts val="0"/>
              </a:spcAft>
              <a:buNone/>
            </a:pPr>
            <a:r>
              <a:rPr lang="en-US" sz="1600">
                <a:solidFill>
                  <a:srgbClr val="2E2E2E"/>
                </a:solidFill>
                <a:latin typeface="Calibri"/>
                <a:ea typeface="Calibri"/>
                <a:cs typeface="Calibri"/>
                <a:sym typeface="Calibri"/>
              </a:rPr>
              <a:t>architecture, setup/test commands, and development constraints.</a:t>
            </a:r>
            <a:endParaRPr sz="1600">
              <a:solidFill>
                <a:srgbClr val="2E2E2E"/>
              </a:solidFill>
              <a:latin typeface="Calibri"/>
              <a:ea typeface="Calibri"/>
              <a:cs typeface="Calibri"/>
              <a:sym typeface="Calibri"/>
            </a:endParaRPr>
          </a:p>
          <a:p>
            <a:pPr indent="0" lvl="0" marL="0" rtl="0" algn="l">
              <a:spcBef>
                <a:spcPts val="0"/>
              </a:spcBef>
              <a:spcAft>
                <a:spcPts val="0"/>
              </a:spcAft>
              <a:buNone/>
            </a:pPr>
            <a:r>
              <a:rPr lang="en-US" sz="1600">
                <a:solidFill>
                  <a:srgbClr val="2E2E2E"/>
                </a:solidFill>
                <a:latin typeface="Calibri"/>
                <a:ea typeface="Calibri"/>
                <a:cs typeface="Calibri"/>
                <a:sym typeface="Calibri"/>
              </a:rPr>
              <a:t>Do not change application code. Start a new session and report</a:t>
            </a:r>
            <a:endParaRPr sz="1600">
              <a:solidFill>
                <a:srgbClr val="2E2E2E"/>
              </a:solidFill>
              <a:latin typeface="Calibri"/>
              <a:ea typeface="Calibri"/>
              <a:cs typeface="Calibri"/>
              <a:sym typeface="Calibri"/>
            </a:endParaRPr>
          </a:p>
          <a:p>
            <a:pPr indent="0" lvl="0" marL="0" rtl="0" algn="l">
              <a:spcBef>
                <a:spcPts val="0"/>
              </a:spcBef>
              <a:spcAft>
                <a:spcPts val="0"/>
              </a:spcAft>
              <a:buNone/>
            </a:pPr>
            <a:r>
              <a:rPr lang="en-US" sz="1600">
                <a:solidFill>
                  <a:srgbClr val="2E2E2E"/>
                </a:solidFill>
                <a:latin typeface="Calibri"/>
                <a:ea typeface="Calibri"/>
                <a:cs typeface="Calibri"/>
                <a:sym typeface="Calibri"/>
              </a:rPr>
              <a:t>which project instructions were loaded.</a:t>
            </a:r>
            <a:endParaRPr sz="1600">
              <a:solidFill>
                <a:srgbClr val="2E2E2E"/>
              </a:solidFill>
              <a:latin typeface="Calibri"/>
              <a:ea typeface="Calibri"/>
              <a:cs typeface="Calibri"/>
              <a:sym typeface="Calibri"/>
            </a:endParaRPr>
          </a:p>
        </p:txBody>
      </p:sp>
      <p:pic>
        <p:nvPicPr>
          <p:cNvPr id="211" name="Google Shape;211;p19"/>
          <p:cNvPicPr preferRelativeResize="0"/>
          <p:nvPr/>
        </p:nvPicPr>
        <p:blipFill>
          <a:blip r:embed="rId3">
            <a:alphaModFix/>
          </a:blip>
          <a:stretch>
            <a:fillRect/>
          </a:stretch>
        </p:blipFill>
        <p:spPr>
          <a:xfrm>
            <a:off x="660400" y="2997200"/>
            <a:ext cx="7810500" cy="33194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Try it: write project instructions</a:t>
            </a:r>
            <a:endParaRPr/>
          </a:p>
        </p:txBody>
      </p:sp>
      <p:sp>
        <p:nvSpPr>
          <p:cNvPr id="218" name="Google Shape;218;p20"/>
          <p:cNvSpPr/>
          <p:nvPr/>
        </p:nvSpPr>
        <p:spPr>
          <a:xfrm>
            <a:off x="457200" y="1078992"/>
            <a:ext cx="2066543"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0"/>
          <p:cNvSpPr txBox="1"/>
          <p:nvPr/>
        </p:nvSpPr>
        <p:spPr>
          <a:xfrm>
            <a:off x="484632" y="1078992"/>
            <a:ext cx="2011679"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10 MINUTES · TRY IT</a:t>
            </a:r>
            <a:endParaRPr sz="1600"/>
          </a:p>
        </p:txBody>
      </p:sp>
      <p:sp>
        <p:nvSpPr>
          <p:cNvPr id="220" name="Google Shape;220;p20"/>
          <p:cNvSpPr/>
          <p:nvPr/>
        </p:nvSpPr>
        <p:spPr>
          <a:xfrm>
            <a:off x="502920" y="1828800"/>
            <a:ext cx="548640"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0"/>
          <p:cNvSpPr txBox="1"/>
          <p:nvPr/>
        </p:nvSpPr>
        <p:spPr>
          <a:xfrm>
            <a:off x="530352" y="1828800"/>
            <a:ext cx="493776" cy="384048"/>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1</a:t>
            </a:r>
            <a:endParaRPr/>
          </a:p>
        </p:txBody>
      </p:sp>
      <p:sp>
        <p:nvSpPr>
          <p:cNvPr id="222" name="Google Shape;222;p20"/>
          <p:cNvSpPr txBox="1"/>
          <p:nvPr/>
        </p:nvSpPr>
        <p:spPr>
          <a:xfrm>
            <a:off x="1188720" y="1815084"/>
            <a:ext cx="7040879" cy="29260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Draft (3 min)</a:t>
            </a:r>
            <a:endParaRPr/>
          </a:p>
        </p:txBody>
      </p:sp>
      <p:sp>
        <p:nvSpPr>
          <p:cNvPr id="223" name="Google Shape;223;p20"/>
          <p:cNvSpPr txBox="1"/>
          <p:nvPr/>
        </p:nvSpPr>
        <p:spPr>
          <a:xfrm>
            <a:off x="1188720" y="2130552"/>
            <a:ext cx="6995159" cy="438911"/>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Ask your agent to inspect the repo and create AGENTS.md.</a:t>
            </a:r>
            <a:endParaRPr sz="1600"/>
          </a:p>
        </p:txBody>
      </p:sp>
      <p:sp>
        <p:nvSpPr>
          <p:cNvPr id="224" name="Google Shape;224;p20"/>
          <p:cNvSpPr/>
          <p:nvPr/>
        </p:nvSpPr>
        <p:spPr>
          <a:xfrm>
            <a:off x="502920" y="2770632"/>
            <a:ext cx="548640"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20"/>
          <p:cNvSpPr txBox="1"/>
          <p:nvPr/>
        </p:nvSpPr>
        <p:spPr>
          <a:xfrm>
            <a:off x="530352" y="2770632"/>
            <a:ext cx="493776" cy="384048"/>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2</a:t>
            </a:r>
            <a:endParaRPr/>
          </a:p>
        </p:txBody>
      </p:sp>
      <p:sp>
        <p:nvSpPr>
          <p:cNvPr id="226" name="Google Shape;226;p20"/>
          <p:cNvSpPr txBox="1"/>
          <p:nvPr/>
        </p:nvSpPr>
        <p:spPr>
          <a:xfrm>
            <a:off x="1188720" y="2756915"/>
            <a:ext cx="7040879" cy="29260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Review + compare (4 min)</a:t>
            </a:r>
            <a:endParaRPr/>
          </a:p>
        </p:txBody>
      </p:sp>
      <p:sp>
        <p:nvSpPr>
          <p:cNvPr id="227" name="Google Shape;227;p20"/>
          <p:cNvSpPr txBox="1"/>
          <p:nvPr/>
        </p:nvSpPr>
        <p:spPr>
          <a:xfrm>
            <a:off x="1188720" y="3072384"/>
            <a:ext cx="6995159" cy="438911"/>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Check commands and constraints; compare with a neighbor.</a:t>
            </a:r>
            <a:endParaRPr sz="1600"/>
          </a:p>
        </p:txBody>
      </p:sp>
      <p:sp>
        <p:nvSpPr>
          <p:cNvPr id="228" name="Google Shape;228;p20"/>
          <p:cNvSpPr/>
          <p:nvPr/>
        </p:nvSpPr>
        <p:spPr>
          <a:xfrm>
            <a:off x="502920" y="3730752"/>
            <a:ext cx="548640"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20"/>
          <p:cNvSpPr txBox="1"/>
          <p:nvPr/>
        </p:nvSpPr>
        <p:spPr>
          <a:xfrm>
            <a:off x="530352" y="3730752"/>
            <a:ext cx="493776" cy="384048"/>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3</a:t>
            </a:r>
            <a:endParaRPr/>
          </a:p>
        </p:txBody>
      </p:sp>
      <p:sp>
        <p:nvSpPr>
          <p:cNvPr id="230" name="Google Shape;230;p20"/>
          <p:cNvSpPr txBox="1"/>
          <p:nvPr/>
        </p:nvSpPr>
        <p:spPr>
          <a:xfrm>
            <a:off x="1188720" y="3717036"/>
            <a:ext cx="7040879" cy="29260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Restart + verify (3 min)</a:t>
            </a:r>
            <a:endParaRPr/>
          </a:p>
        </p:txBody>
      </p:sp>
      <p:sp>
        <p:nvSpPr>
          <p:cNvPr id="231" name="Google Shape;231;p20"/>
          <p:cNvSpPr txBox="1"/>
          <p:nvPr/>
        </p:nvSpPr>
        <p:spPr>
          <a:xfrm>
            <a:off x="1188720" y="4032504"/>
            <a:ext cx="6995159" cy="438911"/>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Open a new session and confirm the instructions are loaded.</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1"/>
          <p:cNvSpPr txBox="1"/>
          <p:nvPr/>
        </p:nvSpPr>
        <p:spPr>
          <a:xfrm>
            <a:off x="274320" y="128016"/>
            <a:ext cx="8595300" cy="5943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Try it: write project instructions</a:t>
            </a:r>
            <a:endParaRPr/>
          </a:p>
        </p:txBody>
      </p:sp>
      <p:sp>
        <p:nvSpPr>
          <p:cNvPr id="238" name="Google Shape;238;p21"/>
          <p:cNvSpPr/>
          <p:nvPr/>
        </p:nvSpPr>
        <p:spPr>
          <a:xfrm>
            <a:off x="457200" y="1078992"/>
            <a:ext cx="2066400" cy="3840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1"/>
          <p:cNvSpPr txBox="1"/>
          <p:nvPr/>
        </p:nvSpPr>
        <p:spPr>
          <a:xfrm>
            <a:off x="484632" y="1078992"/>
            <a:ext cx="2011800" cy="3840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10 MINUTES · TRY IT</a:t>
            </a:r>
            <a:endParaRPr sz="1600"/>
          </a:p>
        </p:txBody>
      </p:sp>
      <p:sp>
        <p:nvSpPr>
          <p:cNvPr id="240" name="Google Shape;240;p21"/>
          <p:cNvSpPr/>
          <p:nvPr/>
        </p:nvSpPr>
        <p:spPr>
          <a:xfrm>
            <a:off x="502920" y="1828800"/>
            <a:ext cx="548700" cy="3840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21"/>
          <p:cNvSpPr txBox="1"/>
          <p:nvPr/>
        </p:nvSpPr>
        <p:spPr>
          <a:xfrm>
            <a:off x="530352" y="1828800"/>
            <a:ext cx="493800" cy="3840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1</a:t>
            </a:r>
            <a:endParaRPr/>
          </a:p>
        </p:txBody>
      </p:sp>
      <p:sp>
        <p:nvSpPr>
          <p:cNvPr id="242" name="Google Shape;242;p21"/>
          <p:cNvSpPr txBox="1"/>
          <p:nvPr/>
        </p:nvSpPr>
        <p:spPr>
          <a:xfrm>
            <a:off x="1188720" y="1815084"/>
            <a:ext cx="7041000" cy="2925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Draft (3 min)</a:t>
            </a:r>
            <a:endParaRPr/>
          </a:p>
        </p:txBody>
      </p:sp>
      <p:sp>
        <p:nvSpPr>
          <p:cNvPr id="243" name="Google Shape;243;p21"/>
          <p:cNvSpPr txBox="1"/>
          <p:nvPr/>
        </p:nvSpPr>
        <p:spPr>
          <a:xfrm>
            <a:off x="1188720" y="2130552"/>
            <a:ext cx="6995100" cy="4389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Ask your agent to inspect the repo and create AGENTS.md.</a:t>
            </a:r>
            <a:endParaRPr sz="1600"/>
          </a:p>
        </p:txBody>
      </p:sp>
      <p:sp>
        <p:nvSpPr>
          <p:cNvPr id="244" name="Google Shape;244;p21"/>
          <p:cNvSpPr/>
          <p:nvPr/>
        </p:nvSpPr>
        <p:spPr>
          <a:xfrm>
            <a:off x="502920" y="2770632"/>
            <a:ext cx="548700" cy="3840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1"/>
          <p:cNvSpPr txBox="1"/>
          <p:nvPr/>
        </p:nvSpPr>
        <p:spPr>
          <a:xfrm>
            <a:off x="530352" y="2770632"/>
            <a:ext cx="493800" cy="3840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2</a:t>
            </a:r>
            <a:endParaRPr/>
          </a:p>
        </p:txBody>
      </p:sp>
      <p:sp>
        <p:nvSpPr>
          <p:cNvPr id="246" name="Google Shape;246;p21"/>
          <p:cNvSpPr txBox="1"/>
          <p:nvPr/>
        </p:nvSpPr>
        <p:spPr>
          <a:xfrm>
            <a:off x="1188720" y="2756915"/>
            <a:ext cx="7041000" cy="2925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Review + compare (4 min)</a:t>
            </a:r>
            <a:endParaRPr/>
          </a:p>
        </p:txBody>
      </p:sp>
      <p:sp>
        <p:nvSpPr>
          <p:cNvPr id="247" name="Google Shape;247;p21"/>
          <p:cNvSpPr txBox="1"/>
          <p:nvPr/>
        </p:nvSpPr>
        <p:spPr>
          <a:xfrm>
            <a:off x="1188720" y="3072384"/>
            <a:ext cx="6995100" cy="4389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Check commands and constraints; compare with a neighbor.</a:t>
            </a:r>
            <a:endParaRPr sz="1600"/>
          </a:p>
        </p:txBody>
      </p:sp>
      <p:sp>
        <p:nvSpPr>
          <p:cNvPr id="248" name="Google Shape;248;p21"/>
          <p:cNvSpPr/>
          <p:nvPr/>
        </p:nvSpPr>
        <p:spPr>
          <a:xfrm>
            <a:off x="502920" y="3730752"/>
            <a:ext cx="548700" cy="3840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1"/>
          <p:cNvSpPr txBox="1"/>
          <p:nvPr/>
        </p:nvSpPr>
        <p:spPr>
          <a:xfrm>
            <a:off x="530352" y="3730752"/>
            <a:ext cx="493800" cy="3840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3</a:t>
            </a:r>
            <a:endParaRPr/>
          </a:p>
        </p:txBody>
      </p:sp>
      <p:sp>
        <p:nvSpPr>
          <p:cNvPr id="250" name="Google Shape;250;p21"/>
          <p:cNvSpPr txBox="1"/>
          <p:nvPr/>
        </p:nvSpPr>
        <p:spPr>
          <a:xfrm>
            <a:off x="1188720" y="3717036"/>
            <a:ext cx="7041000" cy="2925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Restart + verify (3 min)</a:t>
            </a:r>
            <a:endParaRPr/>
          </a:p>
        </p:txBody>
      </p:sp>
      <p:sp>
        <p:nvSpPr>
          <p:cNvPr id="251" name="Google Shape;251;p21"/>
          <p:cNvSpPr txBox="1"/>
          <p:nvPr/>
        </p:nvSpPr>
        <p:spPr>
          <a:xfrm>
            <a:off x="1188720" y="4032504"/>
            <a:ext cx="6995100" cy="4389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Open a new session and confirm the instructions are loaded.</a:t>
            </a:r>
            <a:endParaRPr sz="1600"/>
          </a:p>
        </p:txBody>
      </p:sp>
      <p:sp>
        <p:nvSpPr>
          <p:cNvPr id="252" name="Google Shape;252;p21"/>
          <p:cNvSpPr/>
          <p:nvPr/>
        </p:nvSpPr>
        <p:spPr>
          <a:xfrm>
            <a:off x="274320" y="5879592"/>
            <a:ext cx="8595300" cy="5028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1"/>
          <p:cNvSpPr txBox="1"/>
          <p:nvPr/>
        </p:nvSpPr>
        <p:spPr>
          <a:xfrm>
            <a:off x="384048" y="5916168"/>
            <a:ext cx="8376000" cy="4116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DISCUSS   What did the agent remember in a new session?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2"/>
          <p:cNvSpPr txBox="1"/>
          <p:nvPr/>
        </p:nvSpPr>
        <p:spPr>
          <a:xfrm>
            <a:off x="685800" y="2066543"/>
            <a:ext cx="7772400"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8E6F3E"/>
                </a:solidFill>
                <a:latin typeface="Calibri"/>
                <a:ea typeface="Calibri"/>
                <a:cs typeface="Calibri"/>
                <a:sym typeface="Calibri"/>
              </a:rPr>
              <a:t>TOPIC 3</a:t>
            </a:r>
            <a:endParaRPr/>
          </a:p>
        </p:txBody>
      </p:sp>
      <p:sp>
        <p:nvSpPr>
          <p:cNvPr id="260" name="Google Shape;260;p22"/>
          <p:cNvSpPr txBox="1"/>
          <p:nvPr/>
        </p:nvSpPr>
        <p:spPr>
          <a:xfrm>
            <a:off x="512064" y="2606040"/>
            <a:ext cx="8119872" cy="905256"/>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lang="en-US" sz="3000">
                <a:solidFill>
                  <a:srgbClr val="2D2D2D"/>
                </a:solidFill>
                <a:latin typeface="Calibri"/>
                <a:ea typeface="Calibri"/>
                <a:cs typeface="Calibri"/>
                <a:sym typeface="Calibri"/>
              </a:rPr>
              <a:t>MODEL CONTEXT PROTOCOL (MCP)</a:t>
            </a:r>
            <a:endParaRPr sz="3000"/>
          </a:p>
        </p:txBody>
      </p:sp>
      <p:sp>
        <p:nvSpPr>
          <p:cNvPr id="261" name="Google Shape;261;p22"/>
          <p:cNvSpPr txBox="1"/>
          <p:nvPr/>
        </p:nvSpPr>
        <p:spPr>
          <a:xfrm>
            <a:off x="685800" y="3721608"/>
            <a:ext cx="7772400" cy="557784"/>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0" i="0" lang="en-US" sz="2200" u="none" cap="none" strike="noStrike">
                <a:solidFill>
                  <a:srgbClr val="5C4826"/>
                </a:solidFill>
                <a:latin typeface="Calibri"/>
                <a:ea typeface="Calibri"/>
                <a:cs typeface="Calibri"/>
                <a:sym typeface="Calibri"/>
              </a:rPr>
              <a:t>How does the agent retrieve external engineering data?</a:t>
            </a:r>
            <a:endParaRPr/>
          </a:p>
        </p:txBody>
      </p:sp>
      <p:cxnSp>
        <p:nvCxnSpPr>
          <p:cNvPr id="262" name="Google Shape;262;p22"/>
          <p:cNvCxnSpPr/>
          <p:nvPr/>
        </p:nvCxnSpPr>
        <p:spPr>
          <a:xfrm>
            <a:off x="3657600" y="4663440"/>
            <a:ext cx="1828800" cy="0"/>
          </a:xfrm>
          <a:prstGeom prst="straightConnector1">
            <a:avLst/>
          </a:prstGeom>
          <a:noFill/>
          <a:ln cap="flat" cmpd="sng" w="38100">
            <a:solidFill>
              <a:srgbClr val="8E6F3E"/>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3"/>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MCP connects an agent to external tools</a:t>
            </a:r>
            <a:endParaRPr/>
          </a:p>
        </p:txBody>
      </p:sp>
      <p:sp>
        <p:nvSpPr>
          <p:cNvPr id="269" name="Google Shape;269;p23"/>
          <p:cNvSpPr/>
          <p:nvPr/>
        </p:nvSpPr>
        <p:spPr>
          <a:xfrm>
            <a:off x="457200" y="1435608"/>
            <a:ext cx="2331720" cy="192024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0" name="Google Shape;270;p23"/>
          <p:cNvSpPr txBox="1"/>
          <p:nvPr/>
        </p:nvSpPr>
        <p:spPr>
          <a:xfrm>
            <a:off x="521207" y="1773936"/>
            <a:ext cx="2212848" cy="411480"/>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2200" u="none" cap="none" strike="noStrike">
                <a:solidFill>
                  <a:srgbClr val="5C4826"/>
                </a:solidFill>
                <a:latin typeface="Calibri"/>
                <a:ea typeface="Calibri"/>
                <a:cs typeface="Calibri"/>
                <a:sym typeface="Calibri"/>
              </a:rPr>
              <a:t>CODING AGENT</a:t>
            </a:r>
            <a:endParaRPr/>
          </a:p>
        </p:txBody>
      </p:sp>
      <p:sp>
        <p:nvSpPr>
          <p:cNvPr id="271" name="Google Shape;271;p23"/>
          <p:cNvSpPr txBox="1"/>
          <p:nvPr/>
        </p:nvSpPr>
        <p:spPr>
          <a:xfrm>
            <a:off x="576072" y="2386584"/>
            <a:ext cx="2084831" cy="402336"/>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0" i="0" lang="en-US" sz="1500" u="none" cap="none" strike="noStrike">
                <a:solidFill>
                  <a:srgbClr val="555960"/>
                </a:solidFill>
                <a:latin typeface="Calibri"/>
                <a:ea typeface="Calibri"/>
                <a:cs typeface="Calibri"/>
                <a:sym typeface="Calibri"/>
              </a:rPr>
              <a:t>Codex / Claude / Gemini</a:t>
            </a:r>
            <a:endParaRPr sz="1500"/>
          </a:p>
        </p:txBody>
      </p:sp>
      <p:sp>
        <p:nvSpPr>
          <p:cNvPr id="272" name="Google Shape;272;p23"/>
          <p:cNvSpPr/>
          <p:nvPr/>
        </p:nvSpPr>
        <p:spPr>
          <a:xfrm>
            <a:off x="3474720" y="1536192"/>
            <a:ext cx="2103120" cy="1682496"/>
          </a:xfrm>
          <a:prstGeom prst="rect">
            <a:avLst/>
          </a:prstGeom>
          <a:solidFill>
            <a:srgbClr val="F5F1E8"/>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3"/>
          <p:cNvSpPr txBox="1"/>
          <p:nvPr/>
        </p:nvSpPr>
        <p:spPr>
          <a:xfrm>
            <a:off x="3538728" y="1810512"/>
            <a:ext cx="1984248" cy="420624"/>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2100" u="none" cap="none" strike="noStrike">
                <a:solidFill>
                  <a:srgbClr val="8E6F3E"/>
                </a:solidFill>
                <a:latin typeface="Calibri"/>
                <a:ea typeface="Calibri"/>
                <a:cs typeface="Calibri"/>
                <a:sym typeface="Calibri"/>
              </a:rPr>
              <a:t>MCP SERVER</a:t>
            </a:r>
            <a:endParaRPr/>
          </a:p>
        </p:txBody>
      </p:sp>
      <p:sp>
        <p:nvSpPr>
          <p:cNvPr id="274" name="Google Shape;274;p23"/>
          <p:cNvSpPr txBox="1"/>
          <p:nvPr/>
        </p:nvSpPr>
        <p:spPr>
          <a:xfrm>
            <a:off x="3529584" y="2313432"/>
            <a:ext cx="2011680" cy="411480"/>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0" i="0" lang="en-US" sz="1600" u="none" cap="none" strike="noStrike">
                <a:solidFill>
                  <a:srgbClr val="555960"/>
                </a:solidFill>
                <a:latin typeface="Calibri"/>
                <a:ea typeface="Calibri"/>
                <a:cs typeface="Calibri"/>
                <a:sym typeface="Calibri"/>
              </a:rPr>
              <a:t>Scoped tools</a:t>
            </a:r>
            <a:endParaRPr/>
          </a:p>
        </p:txBody>
      </p:sp>
      <p:sp>
        <p:nvSpPr>
          <p:cNvPr id="275" name="Google Shape;275;p23"/>
          <p:cNvSpPr/>
          <p:nvPr/>
        </p:nvSpPr>
        <p:spPr>
          <a:xfrm>
            <a:off x="6245352" y="1435608"/>
            <a:ext cx="2432304" cy="192024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3"/>
          <p:cNvSpPr txBox="1"/>
          <p:nvPr/>
        </p:nvSpPr>
        <p:spPr>
          <a:xfrm>
            <a:off x="6281928" y="1783080"/>
            <a:ext cx="2350008"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2100">
                <a:solidFill>
                  <a:srgbClr val="5C4826"/>
                </a:solidFill>
                <a:latin typeface="Calibri"/>
                <a:ea typeface="Calibri"/>
                <a:cs typeface="Calibri"/>
                <a:sym typeface="Calibri"/>
              </a:rPr>
              <a:t>GITHUB TOOLS</a:t>
            </a:r>
            <a:endParaRPr/>
          </a:p>
        </p:txBody>
      </p:sp>
      <p:sp>
        <p:nvSpPr>
          <p:cNvPr id="277" name="Google Shape;277;p23"/>
          <p:cNvSpPr txBox="1"/>
          <p:nvPr/>
        </p:nvSpPr>
        <p:spPr>
          <a:xfrm>
            <a:off x="6272784" y="2359152"/>
            <a:ext cx="2359152"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lang="en-US" sz="1600">
                <a:solidFill>
                  <a:srgbClr val="555960"/>
                </a:solidFill>
                <a:latin typeface="Calibri"/>
                <a:ea typeface="Calibri"/>
                <a:cs typeface="Calibri"/>
                <a:sym typeface="Calibri"/>
              </a:rPr>
              <a:t>Read Issue #1</a:t>
            </a:r>
            <a:endParaRPr/>
          </a:p>
        </p:txBody>
      </p:sp>
      <p:sp>
        <p:nvSpPr>
          <p:cNvPr id="278" name="Google Shape;278;p23"/>
          <p:cNvSpPr/>
          <p:nvPr/>
        </p:nvSpPr>
        <p:spPr>
          <a:xfrm>
            <a:off x="2907792" y="2167128"/>
            <a:ext cx="475488" cy="246888"/>
          </a:xfrm>
          <a:prstGeom prst="rightArrow">
            <a:avLst>
              <a:gd fmla="val 50000" name="adj1"/>
              <a:gd fmla="val 50000" name="adj2"/>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3"/>
          <p:cNvSpPr/>
          <p:nvPr/>
        </p:nvSpPr>
        <p:spPr>
          <a:xfrm>
            <a:off x="5660136" y="2167128"/>
            <a:ext cx="475488" cy="246888"/>
          </a:xfrm>
          <a:prstGeom prst="rightArrow">
            <a:avLst>
              <a:gd fmla="val 50000" name="adj1"/>
              <a:gd fmla="val 50000" name="adj2"/>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280" name="Google Shape;280;p23"/>
          <p:cNvCxnSpPr/>
          <p:nvPr/>
        </p:nvCxnSpPr>
        <p:spPr>
          <a:xfrm>
            <a:off x="493776" y="3822191"/>
            <a:ext cx="8156448" cy="0"/>
          </a:xfrm>
          <a:prstGeom prst="straightConnector1">
            <a:avLst/>
          </a:prstGeom>
          <a:noFill/>
          <a:ln cap="flat" cmpd="sng" w="12700">
            <a:solidFill>
              <a:srgbClr val="CBB590"/>
            </a:solidFill>
            <a:prstDash val="solid"/>
            <a:round/>
            <a:headEnd len="sm" w="sm" type="none"/>
            <a:tailEnd len="sm" w="sm" type="none"/>
          </a:ln>
        </p:spPr>
      </p:cxnSp>
      <p:sp>
        <p:nvSpPr>
          <p:cNvPr id="281" name="Google Shape;281;p23"/>
          <p:cNvSpPr txBox="1"/>
          <p:nvPr/>
        </p:nvSpPr>
        <p:spPr>
          <a:xfrm>
            <a:off x="548640" y="4096512"/>
            <a:ext cx="8156448" cy="393192"/>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lang="en-US" sz="2000">
                <a:solidFill>
                  <a:srgbClr val="2D2D2D"/>
                </a:solidFill>
                <a:latin typeface="Calibri"/>
                <a:ea typeface="Calibri"/>
                <a:cs typeface="Calibri"/>
                <a:sym typeface="Calibri"/>
              </a:rPr>
              <a:t>GitHub tools return issue data to the agent.</a:t>
            </a:r>
            <a:endParaRPr/>
          </a:p>
        </p:txBody>
      </p:sp>
      <p:sp>
        <p:nvSpPr>
          <p:cNvPr id="282" name="Google Shape;282;p23"/>
          <p:cNvSpPr txBox="1"/>
          <p:nvPr/>
        </p:nvSpPr>
        <p:spPr>
          <a:xfrm>
            <a:off x="548640" y="4736592"/>
            <a:ext cx="8156448" cy="393192"/>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800">
                <a:solidFill>
                  <a:srgbClr val="555960"/>
                </a:solidFill>
                <a:latin typeface="Calibri"/>
                <a:ea typeface="Calibri"/>
                <a:cs typeface="Calibri"/>
                <a:sym typeface="Calibri"/>
              </a:rPr>
              <a:t>Issue data is external input, not a new instruction.</a:t>
            </a:r>
            <a:endParaRPr>
              <a:solidFill>
                <a:srgbClr val="555960"/>
              </a:solidFill>
            </a:endParaRPr>
          </a:p>
        </p:txBody>
      </p:sp>
      <p:sp>
        <p:nvSpPr>
          <p:cNvPr id="283" name="Google Shape;283;p23"/>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3"/>
          <p:cNvSpPr txBox="1"/>
          <p:nvPr/>
        </p:nvSpPr>
        <p:spPr>
          <a:xfrm>
            <a:off x="384048" y="5916168"/>
            <a:ext cx="8375904"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FFFFFF"/>
                </a:solidFill>
                <a:latin typeface="Calibri"/>
                <a:ea typeface="Calibri"/>
                <a:cs typeface="Calibri"/>
                <a:sym typeface="Calibri"/>
              </a:rPr>
              <a:t>MCP adds tools; the coding agent still controls permissions.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4"/>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How to verify an MCP tool call</a:t>
            </a:r>
            <a:endParaRPr/>
          </a:p>
        </p:txBody>
      </p:sp>
      <p:sp>
        <p:nvSpPr>
          <p:cNvPr id="291" name="Google Shape;291;p24"/>
          <p:cNvSpPr/>
          <p:nvPr/>
        </p:nvSpPr>
        <p:spPr>
          <a:xfrm>
            <a:off x="411480" y="1408176"/>
            <a:ext cx="2670048" cy="315468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24"/>
          <p:cNvSpPr txBox="1"/>
          <p:nvPr/>
        </p:nvSpPr>
        <p:spPr>
          <a:xfrm>
            <a:off x="557784" y="1508760"/>
            <a:ext cx="2377440" cy="25603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1. TOOL CALL</a:t>
            </a:r>
            <a:endParaRPr/>
          </a:p>
        </p:txBody>
      </p:sp>
      <p:sp>
        <p:nvSpPr>
          <p:cNvPr id="293" name="Google Shape;293;p24"/>
          <p:cNvSpPr txBox="1"/>
          <p:nvPr/>
        </p:nvSpPr>
        <p:spPr>
          <a:xfrm>
            <a:off x="557784" y="1783080"/>
            <a:ext cx="2377440" cy="42976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2000">
                <a:solidFill>
                  <a:srgbClr val="5C4826"/>
                </a:solidFill>
                <a:latin typeface="Calibri"/>
                <a:ea typeface="Calibri"/>
                <a:cs typeface="Calibri"/>
                <a:sym typeface="Calibri"/>
              </a:rPr>
              <a:t>What ran?</a:t>
            </a:r>
            <a:endParaRPr/>
          </a:p>
        </p:txBody>
      </p:sp>
      <p:sp>
        <p:nvSpPr>
          <p:cNvPr id="294" name="Google Shape;294;p24"/>
          <p:cNvSpPr txBox="1"/>
          <p:nvPr/>
        </p:nvSpPr>
        <p:spPr>
          <a:xfrm>
            <a:off x="557784" y="2267712"/>
            <a:ext cx="2377440" cy="2185416"/>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Server and tool name</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Arguments and status</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Time or request ID</a:t>
            </a:r>
            <a:endParaRPr/>
          </a:p>
        </p:txBody>
      </p:sp>
      <p:sp>
        <p:nvSpPr>
          <p:cNvPr id="295" name="Google Shape;295;p24"/>
          <p:cNvSpPr/>
          <p:nvPr/>
        </p:nvSpPr>
        <p:spPr>
          <a:xfrm>
            <a:off x="3246120" y="1408176"/>
            <a:ext cx="2660904" cy="315468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24"/>
          <p:cNvSpPr txBox="1"/>
          <p:nvPr/>
        </p:nvSpPr>
        <p:spPr>
          <a:xfrm>
            <a:off x="3392424" y="1508760"/>
            <a:ext cx="2368296" cy="25603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2. RESULT</a:t>
            </a:r>
            <a:endParaRPr/>
          </a:p>
        </p:txBody>
      </p:sp>
      <p:sp>
        <p:nvSpPr>
          <p:cNvPr id="297" name="Google Shape;297;p24"/>
          <p:cNvSpPr txBox="1"/>
          <p:nvPr/>
        </p:nvSpPr>
        <p:spPr>
          <a:xfrm>
            <a:off x="3392424" y="1783080"/>
            <a:ext cx="2368296" cy="42976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2000">
                <a:solidFill>
                  <a:srgbClr val="5C4826"/>
                </a:solidFill>
                <a:latin typeface="Calibri"/>
                <a:ea typeface="Calibri"/>
                <a:cs typeface="Calibri"/>
                <a:sym typeface="Calibri"/>
              </a:rPr>
              <a:t>What returned?</a:t>
            </a:r>
            <a:endParaRPr/>
          </a:p>
        </p:txBody>
      </p:sp>
      <p:sp>
        <p:nvSpPr>
          <p:cNvPr id="298" name="Google Shape;298;p24"/>
          <p:cNvSpPr txBox="1"/>
          <p:nvPr/>
        </p:nvSpPr>
        <p:spPr>
          <a:xfrm>
            <a:off x="3392424" y="2267712"/>
            <a:ext cx="2368296" cy="2185416"/>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Issue number and title</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Acceptance criteria</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Link to the source</a:t>
            </a:r>
            <a:endParaRPr/>
          </a:p>
        </p:txBody>
      </p:sp>
      <p:sp>
        <p:nvSpPr>
          <p:cNvPr id="299" name="Google Shape;299;p24"/>
          <p:cNvSpPr/>
          <p:nvPr/>
        </p:nvSpPr>
        <p:spPr>
          <a:xfrm>
            <a:off x="6062472" y="1408176"/>
            <a:ext cx="2670048" cy="315468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4"/>
          <p:cNvSpPr txBox="1"/>
          <p:nvPr/>
        </p:nvSpPr>
        <p:spPr>
          <a:xfrm>
            <a:off x="6208776" y="1508760"/>
            <a:ext cx="2377440" cy="25603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3. PERMISSIONS</a:t>
            </a:r>
            <a:endParaRPr/>
          </a:p>
        </p:txBody>
      </p:sp>
      <p:sp>
        <p:nvSpPr>
          <p:cNvPr id="301" name="Google Shape;301;p24"/>
          <p:cNvSpPr txBox="1"/>
          <p:nvPr/>
        </p:nvSpPr>
        <p:spPr>
          <a:xfrm>
            <a:off x="6208776" y="1783080"/>
            <a:ext cx="2377440" cy="42976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2000">
                <a:solidFill>
                  <a:srgbClr val="5C4826"/>
                </a:solidFill>
                <a:latin typeface="Calibri"/>
                <a:ea typeface="Calibri"/>
                <a:cs typeface="Calibri"/>
                <a:sym typeface="Calibri"/>
              </a:rPr>
              <a:t>What could it do?</a:t>
            </a:r>
            <a:endParaRPr/>
          </a:p>
        </p:txBody>
      </p:sp>
      <p:sp>
        <p:nvSpPr>
          <p:cNvPr id="302" name="Google Shape;302;p24"/>
          <p:cNvSpPr txBox="1"/>
          <p:nvPr/>
        </p:nvSpPr>
        <p:spPr>
          <a:xfrm>
            <a:off x="6208776" y="2267712"/>
            <a:ext cx="2377440" cy="2185416"/>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Read-only or write?</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Which account/scope?</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Treat data as untrusted</a:t>
            </a:r>
            <a:endParaRPr/>
          </a:p>
        </p:txBody>
      </p:sp>
      <p:sp>
        <p:nvSpPr>
          <p:cNvPr id="303" name="Google Shape;303;p24"/>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4"/>
          <p:cNvSpPr txBox="1"/>
          <p:nvPr/>
        </p:nvSpPr>
        <p:spPr>
          <a:xfrm>
            <a:off x="384048" y="5916168"/>
            <a:ext cx="8375904"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FFFFFF"/>
                </a:solidFill>
                <a:latin typeface="Calibri"/>
                <a:ea typeface="Calibri"/>
                <a:cs typeface="Calibri"/>
                <a:sym typeface="Calibri"/>
              </a:rPr>
              <a:t>Check the tool log—not just the agent's final answer.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5"/>
          <p:cNvSpPr txBox="1"/>
          <p:nvPr/>
        </p:nvSpPr>
        <p:spPr>
          <a:xfrm>
            <a:off x="274320" y="128016"/>
            <a:ext cx="8595300" cy="5943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GitHub MCP: create a read-only token</a:t>
            </a:r>
            <a:endParaRPr/>
          </a:p>
        </p:txBody>
      </p:sp>
      <p:sp>
        <p:nvSpPr>
          <p:cNvPr id="311" name="Google Shape;311;p25"/>
          <p:cNvSpPr/>
          <p:nvPr/>
        </p:nvSpPr>
        <p:spPr>
          <a:xfrm>
            <a:off x="411480" y="1408176"/>
            <a:ext cx="2670000" cy="315480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5"/>
          <p:cNvSpPr txBox="1"/>
          <p:nvPr/>
        </p:nvSpPr>
        <p:spPr>
          <a:xfrm>
            <a:off x="557784" y="1508760"/>
            <a:ext cx="2377500" cy="255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1. CREATE</a:t>
            </a:r>
            <a:endParaRPr/>
          </a:p>
        </p:txBody>
      </p:sp>
      <p:sp>
        <p:nvSpPr>
          <p:cNvPr id="313" name="Google Shape;313;p25"/>
          <p:cNvSpPr txBox="1"/>
          <p:nvPr/>
        </p:nvSpPr>
        <p:spPr>
          <a:xfrm>
            <a:off x="557784" y="1783080"/>
            <a:ext cx="2377500" cy="429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2000">
                <a:solidFill>
                  <a:srgbClr val="5C4826"/>
                </a:solidFill>
                <a:latin typeface="Calibri"/>
                <a:ea typeface="Calibri"/>
                <a:cs typeface="Calibri"/>
                <a:sym typeface="Calibri"/>
              </a:rPr>
              <a:t>GitHub Settings</a:t>
            </a:r>
            <a:endParaRPr/>
          </a:p>
        </p:txBody>
      </p:sp>
      <p:sp>
        <p:nvSpPr>
          <p:cNvPr id="314" name="Google Shape;314;p25"/>
          <p:cNvSpPr txBox="1"/>
          <p:nvPr/>
        </p:nvSpPr>
        <p:spPr>
          <a:xfrm>
            <a:off x="557784" y="2267712"/>
            <a:ext cx="2377500" cy="21855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Developer settings</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Personal access tokens</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Fine-grained: New token</a:t>
            </a:r>
            <a:endParaRPr/>
          </a:p>
        </p:txBody>
      </p:sp>
      <p:sp>
        <p:nvSpPr>
          <p:cNvPr id="315" name="Google Shape;315;p25"/>
          <p:cNvSpPr/>
          <p:nvPr/>
        </p:nvSpPr>
        <p:spPr>
          <a:xfrm>
            <a:off x="3246120" y="1408176"/>
            <a:ext cx="2661000" cy="315480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25"/>
          <p:cNvSpPr txBox="1"/>
          <p:nvPr/>
        </p:nvSpPr>
        <p:spPr>
          <a:xfrm>
            <a:off x="3392424" y="1508760"/>
            <a:ext cx="2368200" cy="255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2. LIMIT</a:t>
            </a:r>
            <a:endParaRPr/>
          </a:p>
        </p:txBody>
      </p:sp>
      <p:sp>
        <p:nvSpPr>
          <p:cNvPr id="317" name="Google Shape;317;p25"/>
          <p:cNvSpPr txBox="1"/>
          <p:nvPr/>
        </p:nvSpPr>
        <p:spPr>
          <a:xfrm>
            <a:off x="3392424" y="1783080"/>
            <a:ext cx="2368200" cy="429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2000">
                <a:solidFill>
                  <a:srgbClr val="5C4826"/>
                </a:solidFill>
                <a:latin typeface="Calibri"/>
                <a:ea typeface="Calibri"/>
                <a:cs typeface="Calibri"/>
                <a:sym typeface="Calibri"/>
              </a:rPr>
              <a:t>Least privilege</a:t>
            </a:r>
            <a:endParaRPr/>
          </a:p>
        </p:txBody>
      </p:sp>
      <p:sp>
        <p:nvSpPr>
          <p:cNvPr id="318" name="Google Shape;318;p25"/>
          <p:cNvSpPr txBox="1"/>
          <p:nvPr/>
        </p:nvSpPr>
        <p:spPr>
          <a:xfrm>
            <a:off x="3392424" y="2267712"/>
            <a:ext cx="2368200" cy="21855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Short expiration</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Public repositories</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Issues: read-only</a:t>
            </a:r>
            <a:endParaRPr/>
          </a:p>
        </p:txBody>
      </p:sp>
      <p:sp>
        <p:nvSpPr>
          <p:cNvPr id="319" name="Google Shape;319;p25"/>
          <p:cNvSpPr/>
          <p:nvPr/>
        </p:nvSpPr>
        <p:spPr>
          <a:xfrm>
            <a:off x="6062472" y="1408176"/>
            <a:ext cx="2670000" cy="315480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5"/>
          <p:cNvSpPr txBox="1"/>
          <p:nvPr/>
        </p:nvSpPr>
        <p:spPr>
          <a:xfrm>
            <a:off x="6208776" y="1508760"/>
            <a:ext cx="2377500" cy="255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3. PROTECT</a:t>
            </a:r>
            <a:endParaRPr/>
          </a:p>
        </p:txBody>
      </p:sp>
      <p:sp>
        <p:nvSpPr>
          <p:cNvPr id="321" name="Google Shape;321;p25"/>
          <p:cNvSpPr txBox="1"/>
          <p:nvPr/>
        </p:nvSpPr>
        <p:spPr>
          <a:xfrm>
            <a:off x="6208776" y="1783080"/>
            <a:ext cx="2377500" cy="429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2000">
                <a:solidFill>
                  <a:srgbClr val="5C4826"/>
                </a:solidFill>
                <a:latin typeface="Calibri"/>
                <a:ea typeface="Calibri"/>
                <a:cs typeface="Calibri"/>
                <a:sym typeface="Calibri"/>
              </a:rPr>
              <a:t>Keep it private</a:t>
            </a:r>
            <a:endParaRPr/>
          </a:p>
        </p:txBody>
      </p:sp>
      <p:sp>
        <p:nvSpPr>
          <p:cNvPr id="322" name="Google Shape;322;p25"/>
          <p:cNvSpPr txBox="1"/>
          <p:nvPr/>
        </p:nvSpPr>
        <p:spPr>
          <a:xfrm>
            <a:off x="6208776" y="2267712"/>
            <a:ext cx="2377500" cy="21855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Copy token once</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Store outside repo</a:t>
            </a:r>
            <a:endParaRPr sz="17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700">
                <a:solidFill>
                  <a:srgbClr val="555960"/>
                </a:solidFill>
                <a:latin typeface="Calibri"/>
                <a:ea typeface="Calibri"/>
                <a:cs typeface="Calibri"/>
                <a:sym typeface="Calibri"/>
              </a:rPr>
              <a:t>Never paste into chat</a:t>
            </a:r>
            <a:endParaRPr/>
          </a:p>
        </p:txBody>
      </p:sp>
      <p:sp>
        <p:nvSpPr>
          <p:cNvPr id="323" name="Google Shape;323;p25"/>
          <p:cNvSpPr/>
          <p:nvPr/>
        </p:nvSpPr>
        <p:spPr>
          <a:xfrm>
            <a:off x="274320" y="5879592"/>
            <a:ext cx="8595300" cy="5028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4" name="Google Shape;324;p25"/>
          <p:cNvSpPr txBox="1"/>
          <p:nvPr/>
        </p:nvSpPr>
        <p:spPr>
          <a:xfrm>
            <a:off x="384048" y="5916168"/>
            <a:ext cx="8376000" cy="4116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FFFFFF"/>
                </a:solidFill>
                <a:latin typeface="Calibri"/>
                <a:ea typeface="Calibri"/>
                <a:cs typeface="Calibri"/>
                <a:sym typeface="Calibri"/>
              </a:rPr>
              <a:t>GitHub PATs are credentials; never commit them to source control.</a:t>
            </a:r>
            <a:endParaRPr/>
          </a:p>
        </p:txBody>
      </p:sp>
      <p:sp>
        <p:nvSpPr>
          <p:cNvPr id="325" name="Google Shape;325;p25"/>
          <p:cNvSpPr txBox="1"/>
          <p:nvPr/>
        </p:nvSpPr>
        <p:spPr>
          <a:xfrm>
            <a:off x="508000" y="4965700"/>
            <a:ext cx="81789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u="sng">
                <a:solidFill>
                  <a:srgbClr val="8E6F3E"/>
                </a:solidFill>
                <a:latin typeface="Calibri"/>
                <a:ea typeface="Calibri"/>
                <a:cs typeface="Calibri"/>
                <a:sym typeface="Calibri"/>
                <a:hlinkClick r:id="rId3">
                  <a:extLst>
                    <a:ext uri="{A12FA001-AC4F-418D-AE19-62706E023703}">
                      <ahyp:hlinkClr val="tx"/>
                    </a:ext>
                  </a:extLst>
                </a:hlinkClick>
              </a:rPr>
              <a:t>Create a token: github.com/settings/personal-access-tokens/new</a:t>
            </a:r>
            <a:endParaRPr sz="1700">
              <a:solidFill>
                <a:srgbClr val="8E6F3E"/>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6"/>
          <p:cNvSpPr txBox="1"/>
          <p:nvPr>
            <p:ph idx="12" type="sldNum"/>
          </p:nvPr>
        </p:nvSpPr>
        <p:spPr>
          <a:xfrm>
            <a:off x="6457950" y="6356350"/>
            <a:ext cx="20574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332" name="Google Shape;332;p26"/>
          <p:cNvSpPr txBox="1"/>
          <p:nvPr/>
        </p:nvSpPr>
        <p:spPr>
          <a:xfrm>
            <a:off x="355600" y="266700"/>
            <a:ext cx="8445600" cy="62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2E2E2E"/>
                </a:solidFill>
                <a:latin typeface="Calibri"/>
                <a:ea typeface="Calibri"/>
                <a:cs typeface="Calibri"/>
                <a:sym typeface="Calibri"/>
              </a:rPr>
              <a:t>GitHub MCP: connect and verify</a:t>
            </a:r>
            <a:endParaRPr sz="2500">
              <a:solidFill>
                <a:srgbClr val="2E2E2E"/>
              </a:solidFill>
              <a:latin typeface="Calibri"/>
              <a:ea typeface="Calibri"/>
              <a:cs typeface="Calibri"/>
              <a:sym typeface="Calibri"/>
            </a:endParaRPr>
          </a:p>
        </p:txBody>
      </p:sp>
      <p:sp>
        <p:nvSpPr>
          <p:cNvPr id="333" name="Google Shape;333;p26"/>
          <p:cNvSpPr txBox="1"/>
          <p:nvPr/>
        </p:nvSpPr>
        <p:spPr>
          <a:xfrm>
            <a:off x="482600" y="1168400"/>
            <a:ext cx="79503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8E6F3E"/>
                </a:solidFill>
                <a:latin typeface="Calibri"/>
                <a:ea typeface="Calibri"/>
                <a:cs typeface="Calibri"/>
                <a:sym typeface="Calibri"/>
              </a:rPr>
              <a:t>TOKEN SETUP · OPTIONAL CHALLENGE</a:t>
            </a:r>
            <a:endParaRPr b="1">
              <a:solidFill>
                <a:srgbClr val="8E6F3E"/>
              </a:solidFill>
              <a:latin typeface="Calibri"/>
              <a:ea typeface="Calibri"/>
              <a:cs typeface="Calibri"/>
              <a:sym typeface="Calibri"/>
            </a:endParaRPr>
          </a:p>
        </p:txBody>
      </p:sp>
      <p:sp>
        <p:nvSpPr>
          <p:cNvPr id="334" name="Google Shape;334;p26"/>
          <p:cNvSpPr/>
          <p:nvPr/>
        </p:nvSpPr>
        <p:spPr>
          <a:xfrm>
            <a:off x="495300" y="1536700"/>
            <a:ext cx="8127900" cy="2654400"/>
          </a:xfrm>
          <a:prstGeom prst="rect">
            <a:avLst/>
          </a:prstGeom>
          <a:solidFill>
            <a:srgbClr val="F5F1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35" name="Google Shape;335;p26"/>
          <p:cNvSpPr txBox="1"/>
          <p:nvPr/>
        </p:nvSpPr>
        <p:spPr>
          <a:xfrm>
            <a:off x="711200" y="1752600"/>
            <a:ext cx="7797900" cy="220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2E2E2E"/>
                </a:solidFill>
                <a:latin typeface="Calibri"/>
                <a:ea typeface="Calibri"/>
                <a:cs typeface="Calibri"/>
                <a:sym typeface="Calibri"/>
              </a:rPr>
              <a:t>Already connected? Use your existing GitHub MCP tools.</a:t>
            </a:r>
            <a:endParaRPr sz="1600">
              <a:solidFill>
                <a:srgbClr val="2E2E2E"/>
              </a:solidFill>
              <a:latin typeface="Calibri"/>
              <a:ea typeface="Calibri"/>
              <a:cs typeface="Calibri"/>
              <a:sym typeface="Calibri"/>
            </a:endParaRPr>
          </a:p>
          <a:p>
            <a:pPr indent="0" lvl="0" marL="0" rtl="0" algn="l">
              <a:spcBef>
                <a:spcPts val="0"/>
              </a:spcBef>
              <a:spcAft>
                <a:spcPts val="0"/>
              </a:spcAft>
              <a:buNone/>
            </a:pPr>
            <a:r>
              <a:t/>
            </a:r>
            <a:endParaRPr sz="1600">
              <a:solidFill>
                <a:srgbClr val="2E2E2E"/>
              </a:solidFill>
              <a:latin typeface="Calibri"/>
              <a:ea typeface="Calibri"/>
              <a:cs typeface="Calibri"/>
              <a:sym typeface="Calibri"/>
            </a:endParaRPr>
          </a:p>
          <a:p>
            <a:pPr indent="0" lvl="0" marL="0" rtl="0" algn="l">
              <a:spcBef>
                <a:spcPts val="0"/>
              </a:spcBef>
              <a:spcAft>
                <a:spcPts val="0"/>
              </a:spcAft>
              <a:buNone/>
            </a:pPr>
            <a:r>
              <a:rPr lang="en-US" sz="1600">
                <a:solidFill>
                  <a:srgbClr val="2E2E2E"/>
                </a:solidFill>
                <a:latin typeface="Calibri"/>
                <a:ea typeface="Calibri"/>
                <a:cs typeface="Calibri"/>
                <a:sym typeface="Calibri"/>
              </a:rPr>
              <a:t>In bash/zsh, enter the PAT (input is hidden):</a:t>
            </a:r>
            <a:endParaRPr sz="1600">
              <a:solidFill>
                <a:srgbClr val="2E2E2E"/>
              </a:solidFill>
              <a:latin typeface="Calibri"/>
              <a:ea typeface="Calibri"/>
              <a:cs typeface="Calibri"/>
              <a:sym typeface="Calibri"/>
            </a:endParaRPr>
          </a:p>
          <a:p>
            <a:pPr indent="0" lvl="0" marL="0" rtl="0" algn="l">
              <a:spcBef>
                <a:spcPts val="0"/>
              </a:spcBef>
              <a:spcAft>
                <a:spcPts val="0"/>
              </a:spcAft>
              <a:buNone/>
            </a:pPr>
            <a:r>
              <a:rPr lang="en-US" sz="1600">
                <a:solidFill>
                  <a:srgbClr val="2E2E2E"/>
                </a:solidFill>
                <a:latin typeface="Calibri"/>
                <a:ea typeface="Calibri"/>
                <a:cs typeface="Calibri"/>
                <a:sym typeface="Calibri"/>
              </a:rPr>
              <a:t>read -s GITHUB_PERSONAL_ACCESS_TOKEN</a:t>
            </a:r>
            <a:endParaRPr sz="1600">
              <a:solidFill>
                <a:srgbClr val="2E2E2E"/>
              </a:solidFill>
              <a:latin typeface="Calibri"/>
              <a:ea typeface="Calibri"/>
              <a:cs typeface="Calibri"/>
              <a:sym typeface="Calibri"/>
            </a:endParaRPr>
          </a:p>
          <a:p>
            <a:pPr indent="0" lvl="0" marL="0" rtl="0" algn="l">
              <a:spcBef>
                <a:spcPts val="0"/>
              </a:spcBef>
              <a:spcAft>
                <a:spcPts val="0"/>
              </a:spcAft>
              <a:buNone/>
            </a:pPr>
            <a:r>
              <a:rPr lang="en-US" sz="1600">
                <a:solidFill>
                  <a:srgbClr val="2E2E2E"/>
                </a:solidFill>
                <a:latin typeface="Calibri"/>
                <a:ea typeface="Calibri"/>
                <a:cs typeface="Calibri"/>
                <a:sym typeface="Calibri"/>
              </a:rPr>
              <a:t>export GITHUB_PERSONAL_ACCESS_TOKEN</a:t>
            </a:r>
            <a:endParaRPr sz="1600">
              <a:solidFill>
                <a:srgbClr val="2E2E2E"/>
              </a:solidFill>
              <a:latin typeface="Calibri"/>
              <a:ea typeface="Calibri"/>
              <a:cs typeface="Calibri"/>
              <a:sym typeface="Calibri"/>
            </a:endParaRPr>
          </a:p>
          <a:p>
            <a:pPr indent="0" lvl="0" marL="0" rtl="0" algn="l">
              <a:spcBef>
                <a:spcPts val="0"/>
              </a:spcBef>
              <a:spcAft>
                <a:spcPts val="0"/>
              </a:spcAft>
              <a:buNone/>
            </a:pPr>
            <a:r>
              <a:t/>
            </a:r>
            <a:endParaRPr sz="1600">
              <a:solidFill>
                <a:srgbClr val="2E2E2E"/>
              </a:solidFill>
              <a:latin typeface="Calibri"/>
              <a:ea typeface="Calibri"/>
              <a:cs typeface="Calibri"/>
              <a:sym typeface="Calibri"/>
            </a:endParaRPr>
          </a:p>
          <a:p>
            <a:pPr indent="0" lvl="0" marL="0" rtl="0" algn="l">
              <a:spcBef>
                <a:spcPts val="0"/>
              </a:spcBef>
              <a:spcAft>
                <a:spcPts val="0"/>
              </a:spcAft>
              <a:buNone/>
            </a:pPr>
            <a:r>
              <a:rPr lang="en-US" sz="1600">
                <a:solidFill>
                  <a:srgbClr val="2E2E2E"/>
                </a:solidFill>
                <a:latin typeface="Calibri"/>
                <a:ea typeface="Calibri"/>
                <a:cs typeface="Calibri"/>
                <a:sym typeface="Calibri"/>
              </a:rPr>
              <a:t>Suggested agent prompt: Connect read-only GitHub MCP using the GITHUB_PERSONAL_ACCESS_TOKEN variable, retrieve Issue #1, and show the tool call.</a:t>
            </a:r>
            <a:endParaRPr sz="1600">
              <a:solidFill>
                <a:srgbClr val="2E2E2E"/>
              </a:solidFill>
              <a:latin typeface="Calibri"/>
              <a:ea typeface="Calibri"/>
              <a:cs typeface="Calibri"/>
              <a:sym typeface="Calibri"/>
            </a:endParaRPr>
          </a:p>
        </p:txBody>
      </p:sp>
      <p:sp>
        <p:nvSpPr>
          <p:cNvPr id="336" name="Google Shape;336;p26"/>
          <p:cNvSpPr txBox="1"/>
          <p:nvPr/>
        </p:nvSpPr>
        <p:spPr>
          <a:xfrm>
            <a:off x="1143000" y="6464300"/>
            <a:ext cx="69342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rgbClr val="8E6F3E"/>
                </a:solidFill>
                <a:latin typeface="Calibri"/>
                <a:ea typeface="Calibri"/>
                <a:cs typeface="Calibri"/>
                <a:sym typeface="Calibri"/>
              </a:rPr>
              <a:t>If authentication fails: read the public issue via shell (not MCP).</a:t>
            </a:r>
            <a:endParaRPr b="1" sz="1500">
              <a:solidFill>
                <a:srgbClr val="8E6F3E"/>
              </a:solidFill>
              <a:latin typeface="Calibri"/>
              <a:ea typeface="Calibri"/>
              <a:cs typeface="Calibri"/>
              <a:sym typeface="Calibri"/>
            </a:endParaRPr>
          </a:p>
        </p:txBody>
      </p:sp>
      <p:sp>
        <p:nvSpPr>
          <p:cNvPr id="337" name="Google Shape;337;p26"/>
          <p:cNvSpPr/>
          <p:nvPr/>
        </p:nvSpPr>
        <p:spPr>
          <a:xfrm>
            <a:off x="508000" y="4445000"/>
            <a:ext cx="8102700" cy="1689000"/>
          </a:xfrm>
          <a:prstGeom prst="rect">
            <a:avLst/>
          </a:prstGeom>
          <a:solidFill>
            <a:srgbClr val="F7F4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38" name="Google Shape;338;p26"/>
          <p:cNvSpPr txBox="1"/>
          <p:nvPr/>
        </p:nvSpPr>
        <p:spPr>
          <a:xfrm>
            <a:off x="685800" y="4508500"/>
            <a:ext cx="76200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8E6F3E"/>
                </a:solidFill>
                <a:latin typeface="Calibri"/>
                <a:ea typeface="Calibri"/>
                <a:cs typeface="Calibri"/>
                <a:sym typeface="Calibri"/>
              </a:rPr>
              <a:t>VERIFY THE CONNECTION</a:t>
            </a:r>
            <a:endParaRPr b="1" sz="1500">
              <a:solidFill>
                <a:srgbClr val="8E6F3E"/>
              </a:solidFill>
              <a:latin typeface="Calibri"/>
              <a:ea typeface="Calibri"/>
              <a:cs typeface="Calibri"/>
              <a:sym typeface="Calibri"/>
            </a:endParaRPr>
          </a:p>
        </p:txBody>
      </p:sp>
      <p:sp>
        <p:nvSpPr>
          <p:cNvPr id="339" name="Google Shape;339;p26"/>
          <p:cNvSpPr txBox="1"/>
          <p:nvPr/>
        </p:nvSpPr>
        <p:spPr>
          <a:xfrm>
            <a:off x="723900" y="4953000"/>
            <a:ext cx="1359000" cy="3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8E6F3E"/>
                </a:solidFill>
                <a:latin typeface="Calibri"/>
                <a:ea typeface="Calibri"/>
                <a:cs typeface="Calibri"/>
                <a:sym typeface="Calibri"/>
              </a:rPr>
              <a:t>SERVER</a:t>
            </a:r>
            <a:endParaRPr b="1" sz="1500">
              <a:solidFill>
                <a:srgbClr val="8E6F3E"/>
              </a:solidFill>
              <a:latin typeface="Calibri"/>
              <a:ea typeface="Calibri"/>
              <a:cs typeface="Calibri"/>
              <a:sym typeface="Calibri"/>
            </a:endParaRPr>
          </a:p>
        </p:txBody>
      </p:sp>
      <p:sp>
        <p:nvSpPr>
          <p:cNvPr id="340" name="Google Shape;340;p26"/>
          <p:cNvSpPr txBox="1"/>
          <p:nvPr/>
        </p:nvSpPr>
        <p:spPr>
          <a:xfrm>
            <a:off x="2159000" y="4953000"/>
            <a:ext cx="6096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2E2E2E"/>
                </a:solidFill>
                <a:latin typeface="Calibri"/>
                <a:ea typeface="Calibri"/>
                <a:cs typeface="Calibri"/>
                <a:sym typeface="Calibri"/>
              </a:rPr>
              <a:t>GitHub MCP registered (read-only)</a:t>
            </a:r>
            <a:endParaRPr sz="1600">
              <a:solidFill>
                <a:srgbClr val="2E2E2E"/>
              </a:solidFill>
              <a:latin typeface="Calibri"/>
              <a:ea typeface="Calibri"/>
              <a:cs typeface="Calibri"/>
              <a:sym typeface="Calibri"/>
            </a:endParaRPr>
          </a:p>
        </p:txBody>
      </p:sp>
      <p:sp>
        <p:nvSpPr>
          <p:cNvPr id="341" name="Google Shape;341;p26"/>
          <p:cNvSpPr txBox="1"/>
          <p:nvPr/>
        </p:nvSpPr>
        <p:spPr>
          <a:xfrm>
            <a:off x="723900" y="5346700"/>
            <a:ext cx="1359000" cy="3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8E6F3E"/>
                </a:solidFill>
                <a:latin typeface="Calibri"/>
                <a:ea typeface="Calibri"/>
                <a:cs typeface="Calibri"/>
                <a:sym typeface="Calibri"/>
              </a:rPr>
              <a:t>TOOL</a:t>
            </a:r>
            <a:endParaRPr b="1" sz="1500">
              <a:solidFill>
                <a:srgbClr val="8E6F3E"/>
              </a:solidFill>
              <a:latin typeface="Calibri"/>
              <a:ea typeface="Calibri"/>
              <a:cs typeface="Calibri"/>
              <a:sym typeface="Calibri"/>
            </a:endParaRPr>
          </a:p>
        </p:txBody>
      </p:sp>
      <p:sp>
        <p:nvSpPr>
          <p:cNvPr id="342" name="Google Shape;342;p26"/>
          <p:cNvSpPr txBox="1"/>
          <p:nvPr/>
        </p:nvSpPr>
        <p:spPr>
          <a:xfrm>
            <a:off x="2159000" y="5346700"/>
            <a:ext cx="6096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2E2E2E"/>
                </a:solidFill>
                <a:latin typeface="Calibri"/>
                <a:ea typeface="Calibri"/>
                <a:cs typeface="Calibri"/>
                <a:sym typeface="Calibri"/>
              </a:rPr>
              <a:t>Issue-reading tool invoked</a:t>
            </a:r>
            <a:endParaRPr sz="1600">
              <a:solidFill>
                <a:srgbClr val="2E2E2E"/>
              </a:solidFill>
              <a:latin typeface="Calibri"/>
              <a:ea typeface="Calibri"/>
              <a:cs typeface="Calibri"/>
              <a:sym typeface="Calibri"/>
            </a:endParaRPr>
          </a:p>
        </p:txBody>
      </p:sp>
      <p:sp>
        <p:nvSpPr>
          <p:cNvPr id="343" name="Google Shape;343;p26"/>
          <p:cNvSpPr txBox="1"/>
          <p:nvPr/>
        </p:nvSpPr>
        <p:spPr>
          <a:xfrm>
            <a:off x="723900" y="5715000"/>
            <a:ext cx="1359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solidFill>
                  <a:srgbClr val="8E6F3E"/>
                </a:solidFill>
                <a:latin typeface="Calibri"/>
                <a:ea typeface="Calibri"/>
                <a:cs typeface="Calibri"/>
                <a:sym typeface="Calibri"/>
              </a:rPr>
              <a:t>RESULT</a:t>
            </a:r>
            <a:endParaRPr b="1" sz="1500">
              <a:solidFill>
                <a:srgbClr val="8E6F3E"/>
              </a:solidFill>
              <a:latin typeface="Calibri"/>
              <a:ea typeface="Calibri"/>
              <a:cs typeface="Calibri"/>
              <a:sym typeface="Calibri"/>
            </a:endParaRPr>
          </a:p>
        </p:txBody>
      </p:sp>
      <p:sp>
        <p:nvSpPr>
          <p:cNvPr id="344" name="Google Shape;344;p26"/>
          <p:cNvSpPr txBox="1"/>
          <p:nvPr/>
        </p:nvSpPr>
        <p:spPr>
          <a:xfrm>
            <a:off x="2159000" y="5715000"/>
            <a:ext cx="60960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rgbClr val="2E2E2E"/>
                </a:solidFill>
                <a:latin typeface="Calibri"/>
                <a:ea typeface="Calibri"/>
                <a:cs typeface="Calibri"/>
                <a:sym typeface="Calibri"/>
              </a:rPr>
              <a:t>Issue #1 loaded and summarized</a:t>
            </a:r>
            <a:endParaRPr sz="1600">
              <a:solidFill>
                <a:srgbClr val="2E2E2E"/>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7"/>
          <p:cNvSpPr txBox="1"/>
          <p:nvPr/>
        </p:nvSpPr>
        <p:spPr>
          <a:xfrm>
            <a:off x="274320" y="128016"/>
            <a:ext cx="8595300" cy="5943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Try it: retrieve GitHub Issue #1 via MCP</a:t>
            </a:r>
            <a:endParaRPr/>
          </a:p>
        </p:txBody>
      </p:sp>
      <p:sp>
        <p:nvSpPr>
          <p:cNvPr id="351" name="Google Shape;351;p27"/>
          <p:cNvSpPr/>
          <p:nvPr/>
        </p:nvSpPr>
        <p:spPr>
          <a:xfrm>
            <a:off x="457200" y="1078992"/>
            <a:ext cx="2066400" cy="3840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p27"/>
          <p:cNvSpPr txBox="1"/>
          <p:nvPr/>
        </p:nvSpPr>
        <p:spPr>
          <a:xfrm>
            <a:off x="484632" y="1078992"/>
            <a:ext cx="2011800" cy="3840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10 MINUTES · TRY IT</a:t>
            </a:r>
            <a:endParaRPr sz="1600"/>
          </a:p>
        </p:txBody>
      </p:sp>
      <p:sp>
        <p:nvSpPr>
          <p:cNvPr id="353" name="Google Shape;353;p27"/>
          <p:cNvSpPr/>
          <p:nvPr/>
        </p:nvSpPr>
        <p:spPr>
          <a:xfrm>
            <a:off x="502920" y="1828800"/>
            <a:ext cx="548700" cy="3840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4" name="Google Shape;354;p27"/>
          <p:cNvSpPr txBox="1"/>
          <p:nvPr/>
        </p:nvSpPr>
        <p:spPr>
          <a:xfrm>
            <a:off x="530352" y="1828800"/>
            <a:ext cx="493800" cy="3840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1</a:t>
            </a:r>
            <a:endParaRPr/>
          </a:p>
        </p:txBody>
      </p:sp>
      <p:sp>
        <p:nvSpPr>
          <p:cNvPr id="355" name="Google Shape;355;p27"/>
          <p:cNvSpPr txBox="1"/>
          <p:nvPr/>
        </p:nvSpPr>
        <p:spPr>
          <a:xfrm>
            <a:off x="1188720" y="1815084"/>
            <a:ext cx="7041000" cy="2925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Connect (3 min)</a:t>
            </a:r>
            <a:endParaRPr/>
          </a:p>
        </p:txBody>
      </p:sp>
      <p:sp>
        <p:nvSpPr>
          <p:cNvPr id="356" name="Google Shape;356;p27"/>
          <p:cNvSpPr txBox="1"/>
          <p:nvPr/>
        </p:nvSpPr>
        <p:spPr>
          <a:xfrm>
            <a:off x="1188720" y="2130552"/>
            <a:ext cx="6995100" cy="4389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Use an existing GitHub MCP connection or try read-only PAT setup.</a:t>
            </a:r>
            <a:endParaRPr sz="1600"/>
          </a:p>
        </p:txBody>
      </p:sp>
      <p:sp>
        <p:nvSpPr>
          <p:cNvPr id="357" name="Google Shape;357;p27"/>
          <p:cNvSpPr/>
          <p:nvPr/>
        </p:nvSpPr>
        <p:spPr>
          <a:xfrm>
            <a:off x="502920" y="2770632"/>
            <a:ext cx="548700" cy="3840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8" name="Google Shape;358;p27"/>
          <p:cNvSpPr txBox="1"/>
          <p:nvPr/>
        </p:nvSpPr>
        <p:spPr>
          <a:xfrm>
            <a:off x="530352" y="2770632"/>
            <a:ext cx="493800" cy="3840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2</a:t>
            </a:r>
            <a:endParaRPr/>
          </a:p>
        </p:txBody>
      </p:sp>
      <p:sp>
        <p:nvSpPr>
          <p:cNvPr id="359" name="Google Shape;359;p27"/>
          <p:cNvSpPr txBox="1"/>
          <p:nvPr/>
        </p:nvSpPr>
        <p:spPr>
          <a:xfrm>
            <a:off x="1188720" y="2756915"/>
            <a:ext cx="7041000" cy="2925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Retrieve (4 min)</a:t>
            </a:r>
            <a:endParaRPr/>
          </a:p>
        </p:txBody>
      </p:sp>
      <p:sp>
        <p:nvSpPr>
          <p:cNvPr id="360" name="Google Shape;360;p27"/>
          <p:cNvSpPr txBox="1"/>
          <p:nvPr/>
        </p:nvSpPr>
        <p:spPr>
          <a:xfrm>
            <a:off x="1188720" y="3072384"/>
            <a:ext cx="6995100" cy="4389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Ask the agent to read Issue #1 and summarize its requirements.</a:t>
            </a:r>
            <a:endParaRPr sz="1600"/>
          </a:p>
        </p:txBody>
      </p:sp>
      <p:sp>
        <p:nvSpPr>
          <p:cNvPr id="361" name="Google Shape;361;p27"/>
          <p:cNvSpPr/>
          <p:nvPr/>
        </p:nvSpPr>
        <p:spPr>
          <a:xfrm>
            <a:off x="502920" y="3730752"/>
            <a:ext cx="548700" cy="3840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2" name="Google Shape;362;p27"/>
          <p:cNvSpPr txBox="1"/>
          <p:nvPr/>
        </p:nvSpPr>
        <p:spPr>
          <a:xfrm>
            <a:off x="530352" y="3730752"/>
            <a:ext cx="493800" cy="3840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3</a:t>
            </a:r>
            <a:endParaRPr/>
          </a:p>
        </p:txBody>
      </p:sp>
      <p:sp>
        <p:nvSpPr>
          <p:cNvPr id="363" name="Google Shape;363;p27"/>
          <p:cNvSpPr txBox="1"/>
          <p:nvPr/>
        </p:nvSpPr>
        <p:spPr>
          <a:xfrm>
            <a:off x="1188720" y="3717036"/>
            <a:ext cx="7041000" cy="2925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Inspect (3 min)</a:t>
            </a:r>
            <a:endParaRPr/>
          </a:p>
        </p:txBody>
      </p:sp>
      <p:sp>
        <p:nvSpPr>
          <p:cNvPr id="364" name="Google Shape;364;p27"/>
          <p:cNvSpPr txBox="1"/>
          <p:nvPr/>
        </p:nvSpPr>
        <p:spPr>
          <a:xfrm>
            <a:off x="1188720" y="4032504"/>
            <a:ext cx="6995100" cy="438900"/>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Inspect the tool name, arguments and result; label any shell fallback.</a:t>
            </a:r>
            <a:endParaRPr sz="1600"/>
          </a:p>
        </p:txBody>
      </p:sp>
      <p:sp>
        <p:nvSpPr>
          <p:cNvPr id="365" name="Google Shape;365;p27"/>
          <p:cNvSpPr/>
          <p:nvPr/>
        </p:nvSpPr>
        <p:spPr>
          <a:xfrm>
            <a:off x="274320" y="5879592"/>
            <a:ext cx="8595300" cy="50280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27"/>
          <p:cNvSpPr txBox="1"/>
          <p:nvPr/>
        </p:nvSpPr>
        <p:spPr>
          <a:xfrm>
            <a:off x="384048" y="5916168"/>
            <a:ext cx="8376000" cy="4116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DISCUSS   Did an actual MCP tool read the issue?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8"/>
          <p:cNvSpPr txBox="1"/>
          <p:nvPr/>
        </p:nvSpPr>
        <p:spPr>
          <a:xfrm>
            <a:off x="685800" y="2066543"/>
            <a:ext cx="7772400"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8E6F3E"/>
                </a:solidFill>
                <a:latin typeface="Calibri"/>
                <a:ea typeface="Calibri"/>
                <a:cs typeface="Calibri"/>
                <a:sym typeface="Calibri"/>
              </a:rPr>
              <a:t>TOPIC 4</a:t>
            </a:r>
            <a:endParaRPr/>
          </a:p>
        </p:txBody>
      </p:sp>
      <p:sp>
        <p:nvSpPr>
          <p:cNvPr id="373" name="Google Shape;373;p28"/>
          <p:cNvSpPr txBox="1"/>
          <p:nvPr/>
        </p:nvSpPr>
        <p:spPr>
          <a:xfrm>
            <a:off x="512064" y="2606040"/>
            <a:ext cx="8119872" cy="905256"/>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0" i="0" lang="en-US" sz="3800" u="none" cap="none" strike="noStrike">
                <a:solidFill>
                  <a:srgbClr val="2D2D2D"/>
                </a:solidFill>
                <a:latin typeface="Calibri"/>
                <a:ea typeface="Calibri"/>
                <a:cs typeface="Calibri"/>
                <a:sym typeface="Calibri"/>
              </a:rPr>
              <a:t>SKILLS</a:t>
            </a:r>
            <a:endParaRPr/>
          </a:p>
        </p:txBody>
      </p:sp>
      <p:sp>
        <p:nvSpPr>
          <p:cNvPr id="374" name="Google Shape;374;p28"/>
          <p:cNvSpPr txBox="1"/>
          <p:nvPr/>
        </p:nvSpPr>
        <p:spPr>
          <a:xfrm>
            <a:off x="685800" y="3721608"/>
            <a:ext cx="7772400" cy="557784"/>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0" i="0" lang="en-US" sz="2200" u="none" cap="none" strike="noStrike">
                <a:solidFill>
                  <a:srgbClr val="5C4826"/>
                </a:solidFill>
                <a:latin typeface="Calibri"/>
                <a:ea typeface="Calibri"/>
                <a:cs typeface="Calibri"/>
                <a:sym typeface="Calibri"/>
              </a:rPr>
              <a:t>How can we reuse a reliable development procedure?</a:t>
            </a:r>
            <a:endParaRPr/>
          </a:p>
        </p:txBody>
      </p:sp>
      <p:cxnSp>
        <p:nvCxnSpPr>
          <p:cNvPr id="375" name="Google Shape;375;p28"/>
          <p:cNvCxnSpPr/>
          <p:nvPr/>
        </p:nvCxnSpPr>
        <p:spPr>
          <a:xfrm>
            <a:off x="3657600" y="4663440"/>
            <a:ext cx="1828800" cy="0"/>
          </a:xfrm>
          <a:prstGeom prst="straightConnector1">
            <a:avLst/>
          </a:prstGeom>
          <a:noFill/>
          <a:ln cap="flat" cmpd="sng" w="38100">
            <a:solidFill>
              <a:srgbClr val="8E6F3E"/>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9"/>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AGENTS.md versus an Agent Skill</a:t>
            </a:r>
            <a:endParaRPr/>
          </a:p>
        </p:txBody>
      </p:sp>
      <p:sp>
        <p:nvSpPr>
          <p:cNvPr id="382" name="Google Shape;382;p29"/>
          <p:cNvSpPr/>
          <p:nvPr/>
        </p:nvSpPr>
        <p:spPr>
          <a:xfrm>
            <a:off x="502920" y="1463040"/>
            <a:ext cx="3803904" cy="3355848"/>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9"/>
          <p:cNvSpPr txBox="1"/>
          <p:nvPr/>
        </p:nvSpPr>
        <p:spPr>
          <a:xfrm>
            <a:off x="649224" y="1563624"/>
            <a:ext cx="3511200" cy="25590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PROJECT INSTRUCTIONS</a:t>
            </a:r>
            <a:endParaRPr/>
          </a:p>
        </p:txBody>
      </p:sp>
      <p:sp>
        <p:nvSpPr>
          <p:cNvPr id="384" name="Google Shape;384;p29"/>
          <p:cNvSpPr txBox="1"/>
          <p:nvPr/>
        </p:nvSpPr>
        <p:spPr>
          <a:xfrm>
            <a:off x="649224" y="1837944"/>
            <a:ext cx="3511296" cy="42976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2000">
                <a:solidFill>
                  <a:srgbClr val="5C4826"/>
                </a:solidFill>
                <a:latin typeface="Calibri"/>
                <a:ea typeface="Calibri"/>
                <a:cs typeface="Calibri"/>
                <a:sym typeface="Calibri"/>
              </a:rPr>
              <a:t>AGENTS.md file</a:t>
            </a:r>
            <a:endParaRPr/>
          </a:p>
        </p:txBody>
      </p:sp>
      <p:sp>
        <p:nvSpPr>
          <p:cNvPr id="385" name="Google Shape;385;p29"/>
          <p:cNvSpPr txBox="1"/>
          <p:nvPr/>
        </p:nvSpPr>
        <p:spPr>
          <a:xfrm>
            <a:off x="649224" y="2322576"/>
            <a:ext cx="3511296" cy="2386584"/>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Project structure</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Coding conventions</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Test commands</a:t>
            </a:r>
            <a:endParaRPr/>
          </a:p>
        </p:txBody>
      </p:sp>
      <p:sp>
        <p:nvSpPr>
          <p:cNvPr id="386" name="Google Shape;386;p29"/>
          <p:cNvSpPr/>
          <p:nvPr/>
        </p:nvSpPr>
        <p:spPr>
          <a:xfrm>
            <a:off x="4754880" y="1463040"/>
            <a:ext cx="3840480" cy="3355848"/>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9"/>
          <p:cNvSpPr txBox="1"/>
          <p:nvPr/>
        </p:nvSpPr>
        <p:spPr>
          <a:xfrm>
            <a:off x="4901184" y="1563624"/>
            <a:ext cx="3547872" cy="25603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REUSABLE PROCEDURE</a:t>
            </a:r>
            <a:endParaRPr/>
          </a:p>
        </p:txBody>
      </p:sp>
      <p:sp>
        <p:nvSpPr>
          <p:cNvPr id="388" name="Google Shape;388;p29"/>
          <p:cNvSpPr txBox="1"/>
          <p:nvPr/>
        </p:nvSpPr>
        <p:spPr>
          <a:xfrm>
            <a:off x="4901184" y="1837944"/>
            <a:ext cx="3547872" cy="42976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2000">
                <a:solidFill>
                  <a:srgbClr val="5C4826"/>
                </a:solidFill>
                <a:latin typeface="Calibri"/>
                <a:ea typeface="Calibri"/>
                <a:cs typeface="Calibri"/>
                <a:sym typeface="Calibri"/>
              </a:rPr>
              <a:t>SKILL.md</a:t>
            </a:r>
            <a:endParaRPr/>
          </a:p>
        </p:txBody>
      </p:sp>
      <p:sp>
        <p:nvSpPr>
          <p:cNvPr id="389" name="Google Shape;389;p29"/>
          <p:cNvSpPr txBox="1"/>
          <p:nvPr/>
        </p:nvSpPr>
        <p:spPr>
          <a:xfrm>
            <a:off x="4901184" y="2322576"/>
            <a:ext cx="3547872" cy="2386584"/>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Read requirements</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Run focused tests</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Fix and verify</a:t>
            </a:r>
            <a:endParaRPr/>
          </a:p>
        </p:txBody>
      </p:sp>
      <p:sp>
        <p:nvSpPr>
          <p:cNvPr id="390" name="Google Shape;390;p29"/>
          <p:cNvSpPr txBox="1"/>
          <p:nvPr/>
        </p:nvSpPr>
        <p:spPr>
          <a:xfrm>
            <a:off x="548640" y="5138928"/>
            <a:ext cx="8046720" cy="347472"/>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i="1" lang="en-US" sz="1800">
                <a:solidFill>
                  <a:srgbClr val="5C4826"/>
                </a:solidFill>
                <a:latin typeface="Calibri"/>
                <a:ea typeface="Calibri"/>
                <a:cs typeface="Calibri"/>
                <a:sym typeface="Calibri"/>
              </a:rPr>
              <a:t>Both are Markdown files, but they have different jobs.</a:t>
            </a:r>
            <a:endParaRPr/>
          </a:p>
        </p:txBody>
      </p:sp>
      <p:sp>
        <p:nvSpPr>
          <p:cNvPr id="391" name="Google Shape;391;p29"/>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29"/>
          <p:cNvSpPr txBox="1"/>
          <p:nvPr/>
        </p:nvSpPr>
        <p:spPr>
          <a:xfrm>
            <a:off x="384048" y="5916168"/>
            <a:ext cx="8375904"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AGENTS.md: general rules. Skills: repeatable tasks.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0"/>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SKILL.md: name, description, and procedure</a:t>
            </a:r>
            <a:endParaRPr/>
          </a:p>
        </p:txBody>
      </p:sp>
      <p:sp>
        <p:nvSpPr>
          <p:cNvPr id="399" name="Google Shape;399;p30"/>
          <p:cNvSpPr/>
          <p:nvPr/>
        </p:nvSpPr>
        <p:spPr>
          <a:xfrm>
            <a:off x="438912" y="1234440"/>
            <a:ext cx="8257031" cy="3511296"/>
          </a:xfrm>
          <a:prstGeom prst="rect">
            <a:avLst/>
          </a:prstGeom>
          <a:solidFill>
            <a:srgbClr val="F5F1E8"/>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0" name="Google Shape;400;p30"/>
          <p:cNvSpPr txBox="1"/>
          <p:nvPr/>
        </p:nvSpPr>
        <p:spPr>
          <a:xfrm>
            <a:off x="667512" y="1417320"/>
            <a:ext cx="1353312" cy="34747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i="0" lang="en-US" sz="1500" u="none" cap="none" strike="noStrike">
                <a:solidFill>
                  <a:srgbClr val="8E6F3E"/>
                </a:solidFill>
                <a:latin typeface="Calibri"/>
                <a:ea typeface="Calibri"/>
                <a:cs typeface="Calibri"/>
                <a:sym typeface="Calibri"/>
              </a:rPr>
              <a:t>HEADER</a:t>
            </a:r>
            <a:endParaRPr sz="1500"/>
          </a:p>
        </p:txBody>
      </p:sp>
      <p:sp>
        <p:nvSpPr>
          <p:cNvPr id="401" name="Google Shape;401;p30"/>
          <p:cNvSpPr txBox="1"/>
          <p:nvPr/>
        </p:nvSpPr>
        <p:spPr>
          <a:xfrm>
            <a:off x="1993392" y="1417320"/>
            <a:ext cx="6364224" cy="34747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1800">
                <a:solidFill>
                  <a:srgbClr val="5C4826"/>
                </a:solidFill>
                <a:latin typeface="Calibri"/>
                <a:ea typeface="Calibri"/>
                <a:cs typeface="Calibri"/>
                <a:sym typeface="Calibri"/>
              </a:rPr>
              <a:t>name: resolve-api-issue</a:t>
            </a:r>
            <a:endParaRPr/>
          </a:p>
        </p:txBody>
      </p:sp>
      <p:sp>
        <p:nvSpPr>
          <p:cNvPr id="402" name="Google Shape;402;p30"/>
          <p:cNvSpPr txBox="1"/>
          <p:nvPr/>
        </p:nvSpPr>
        <p:spPr>
          <a:xfrm>
            <a:off x="667512" y="1920240"/>
            <a:ext cx="1353312" cy="34747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i="0" lang="en-US" sz="1500" u="none" cap="none" strike="noStrike">
                <a:solidFill>
                  <a:srgbClr val="8E6F3E"/>
                </a:solidFill>
                <a:latin typeface="Calibri"/>
                <a:ea typeface="Calibri"/>
                <a:cs typeface="Calibri"/>
                <a:sym typeface="Calibri"/>
              </a:rPr>
              <a:t>TRIGGER</a:t>
            </a:r>
            <a:endParaRPr sz="1500"/>
          </a:p>
        </p:txBody>
      </p:sp>
      <p:sp>
        <p:nvSpPr>
          <p:cNvPr id="403" name="Google Shape;403;p30"/>
          <p:cNvSpPr txBox="1"/>
          <p:nvPr/>
        </p:nvSpPr>
        <p:spPr>
          <a:xfrm>
            <a:off x="1993392" y="1920240"/>
            <a:ext cx="6364224" cy="34747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1800">
                <a:solidFill>
                  <a:srgbClr val="5C4826"/>
                </a:solidFill>
                <a:latin typeface="Calibri"/>
                <a:ea typeface="Calibri"/>
                <a:cs typeface="Calibri"/>
                <a:sym typeface="Calibri"/>
              </a:rPr>
              <a:t>description: Use for API bugs with tests</a:t>
            </a:r>
            <a:endParaRPr/>
          </a:p>
        </p:txBody>
      </p:sp>
      <p:sp>
        <p:nvSpPr>
          <p:cNvPr id="404" name="Google Shape;404;p30"/>
          <p:cNvSpPr txBox="1"/>
          <p:nvPr/>
        </p:nvSpPr>
        <p:spPr>
          <a:xfrm>
            <a:off x="667512" y="2423160"/>
            <a:ext cx="1353312" cy="34747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i="0" lang="en-US" sz="1500" u="none" cap="none" strike="noStrike">
                <a:solidFill>
                  <a:srgbClr val="8E6F3E"/>
                </a:solidFill>
                <a:latin typeface="Calibri"/>
                <a:ea typeface="Calibri"/>
                <a:cs typeface="Calibri"/>
                <a:sym typeface="Calibri"/>
              </a:rPr>
              <a:t>PROCEDURE</a:t>
            </a:r>
            <a:endParaRPr sz="1500"/>
          </a:p>
        </p:txBody>
      </p:sp>
      <p:sp>
        <p:nvSpPr>
          <p:cNvPr id="405" name="Google Shape;405;p30"/>
          <p:cNvSpPr txBox="1"/>
          <p:nvPr/>
        </p:nvSpPr>
        <p:spPr>
          <a:xfrm>
            <a:off x="1993392" y="2423160"/>
            <a:ext cx="6364224" cy="347472"/>
          </a:xfrm>
          <a:prstGeom prst="rect">
            <a:avLst/>
          </a:prstGeom>
          <a:noFill/>
          <a:ln>
            <a:noFill/>
          </a:ln>
        </p:spPr>
        <p:txBody>
          <a:bodyPr anchorCtr="0" anchor="ctr" bIns="22850" lIns="27425" spcFirstLastPara="1" rIns="27425" wrap="square" tIns="22850">
            <a:spAutoFit/>
          </a:bodyPr>
          <a:lstStyle/>
          <a:p>
            <a:pPr indent="0" lvl="0" marL="0" marR="0" rtl="0" algn="l">
              <a:lnSpc>
                <a:spcPct val="104000"/>
              </a:lnSpc>
              <a:spcBef>
                <a:spcPts val="0"/>
              </a:spcBef>
              <a:spcAft>
                <a:spcPts val="0"/>
              </a:spcAft>
              <a:buNone/>
            </a:pPr>
            <a:r>
              <a:rPr b="0" i="0" lang="en-US" sz="1800" u="none" cap="none" strike="noStrike">
                <a:solidFill>
                  <a:srgbClr val="5C4826"/>
                </a:solidFill>
                <a:latin typeface="Calibri"/>
                <a:ea typeface="Calibri"/>
                <a:cs typeface="Calibri"/>
                <a:sym typeface="Calibri"/>
              </a:rPr>
              <a:t>1  Read specification + issue</a:t>
            </a:r>
            <a:endParaRPr/>
          </a:p>
        </p:txBody>
      </p:sp>
      <p:sp>
        <p:nvSpPr>
          <p:cNvPr id="406" name="Google Shape;406;p30"/>
          <p:cNvSpPr txBox="1"/>
          <p:nvPr/>
        </p:nvSpPr>
        <p:spPr>
          <a:xfrm>
            <a:off x="667512" y="2926080"/>
            <a:ext cx="1353312" cy="34747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i="0" lang="en-US" sz="1500" u="none" cap="none" strike="noStrike">
                <a:solidFill>
                  <a:srgbClr val="8E6F3E"/>
                </a:solidFill>
                <a:latin typeface="Calibri"/>
                <a:ea typeface="Calibri"/>
                <a:cs typeface="Calibri"/>
                <a:sym typeface="Calibri"/>
              </a:rPr>
              <a:t>BASELINE</a:t>
            </a:r>
            <a:endParaRPr sz="1500"/>
          </a:p>
        </p:txBody>
      </p:sp>
      <p:sp>
        <p:nvSpPr>
          <p:cNvPr id="407" name="Google Shape;407;p30"/>
          <p:cNvSpPr txBox="1"/>
          <p:nvPr/>
        </p:nvSpPr>
        <p:spPr>
          <a:xfrm>
            <a:off x="1993392" y="2926080"/>
            <a:ext cx="6364224" cy="347472"/>
          </a:xfrm>
          <a:prstGeom prst="rect">
            <a:avLst/>
          </a:prstGeom>
          <a:noFill/>
          <a:ln>
            <a:noFill/>
          </a:ln>
        </p:spPr>
        <p:txBody>
          <a:bodyPr anchorCtr="0" anchor="ctr" bIns="22850" lIns="27425" spcFirstLastPara="1" rIns="27425" wrap="square" tIns="22850">
            <a:spAutoFit/>
          </a:bodyPr>
          <a:lstStyle/>
          <a:p>
            <a:pPr indent="0" lvl="0" marL="0" marR="0" rtl="0" algn="l">
              <a:lnSpc>
                <a:spcPct val="104000"/>
              </a:lnSpc>
              <a:spcBef>
                <a:spcPts val="0"/>
              </a:spcBef>
              <a:spcAft>
                <a:spcPts val="0"/>
              </a:spcAft>
              <a:buNone/>
            </a:pPr>
            <a:r>
              <a:rPr b="0" i="0" lang="en-US" sz="1800" u="none" cap="none" strike="noStrike">
                <a:solidFill>
                  <a:srgbClr val="5C4826"/>
                </a:solidFill>
                <a:latin typeface="Calibri"/>
                <a:ea typeface="Calibri"/>
                <a:cs typeface="Calibri"/>
                <a:sym typeface="Calibri"/>
              </a:rPr>
              <a:t>2  Run focused tests before edits</a:t>
            </a:r>
            <a:endParaRPr/>
          </a:p>
        </p:txBody>
      </p:sp>
      <p:sp>
        <p:nvSpPr>
          <p:cNvPr id="408" name="Google Shape;408;p30"/>
          <p:cNvSpPr txBox="1"/>
          <p:nvPr/>
        </p:nvSpPr>
        <p:spPr>
          <a:xfrm>
            <a:off x="667512" y="3429000"/>
            <a:ext cx="1353312" cy="34747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i="0" lang="en-US" sz="1500" u="none" cap="none" strike="noStrike">
                <a:solidFill>
                  <a:srgbClr val="8E6F3E"/>
                </a:solidFill>
                <a:latin typeface="Calibri"/>
                <a:ea typeface="Calibri"/>
                <a:cs typeface="Calibri"/>
                <a:sym typeface="Calibri"/>
              </a:rPr>
              <a:t>FEEDBACK</a:t>
            </a:r>
            <a:endParaRPr sz="1500"/>
          </a:p>
        </p:txBody>
      </p:sp>
      <p:sp>
        <p:nvSpPr>
          <p:cNvPr id="409" name="Google Shape;409;p30"/>
          <p:cNvSpPr txBox="1"/>
          <p:nvPr/>
        </p:nvSpPr>
        <p:spPr>
          <a:xfrm>
            <a:off x="1993392" y="3429000"/>
            <a:ext cx="6364224" cy="347472"/>
          </a:xfrm>
          <a:prstGeom prst="rect">
            <a:avLst/>
          </a:prstGeom>
          <a:noFill/>
          <a:ln>
            <a:noFill/>
          </a:ln>
        </p:spPr>
        <p:txBody>
          <a:bodyPr anchorCtr="0" anchor="ctr" bIns="22850" lIns="27425" spcFirstLastPara="1" rIns="27425" wrap="square" tIns="22850">
            <a:spAutoFit/>
          </a:bodyPr>
          <a:lstStyle/>
          <a:p>
            <a:pPr indent="0" lvl="0" marL="0" marR="0" rtl="0" algn="l">
              <a:lnSpc>
                <a:spcPct val="104000"/>
              </a:lnSpc>
              <a:spcBef>
                <a:spcPts val="0"/>
              </a:spcBef>
              <a:spcAft>
                <a:spcPts val="0"/>
              </a:spcAft>
              <a:buNone/>
            </a:pPr>
            <a:r>
              <a:rPr b="0" i="0" lang="en-US" sz="1800" u="none" cap="none" strike="noStrike">
                <a:solidFill>
                  <a:srgbClr val="5C4826"/>
                </a:solidFill>
                <a:latin typeface="Calibri"/>
                <a:ea typeface="Calibri"/>
                <a:cs typeface="Calibri"/>
                <a:sym typeface="Calibri"/>
              </a:rPr>
              <a:t>3  Change → retest → inspect result</a:t>
            </a:r>
            <a:endParaRPr/>
          </a:p>
        </p:txBody>
      </p:sp>
      <p:sp>
        <p:nvSpPr>
          <p:cNvPr id="410" name="Google Shape;410;p30"/>
          <p:cNvSpPr txBox="1"/>
          <p:nvPr/>
        </p:nvSpPr>
        <p:spPr>
          <a:xfrm>
            <a:off x="667512" y="3931920"/>
            <a:ext cx="1353312" cy="34747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i="0" lang="en-US" sz="1500" u="none" cap="none" strike="noStrike">
                <a:solidFill>
                  <a:srgbClr val="8E6F3E"/>
                </a:solidFill>
                <a:latin typeface="Calibri"/>
                <a:ea typeface="Calibri"/>
                <a:cs typeface="Calibri"/>
                <a:sym typeface="Calibri"/>
              </a:rPr>
              <a:t>CLOSE</a:t>
            </a:r>
            <a:endParaRPr sz="1500"/>
          </a:p>
        </p:txBody>
      </p:sp>
      <p:sp>
        <p:nvSpPr>
          <p:cNvPr id="411" name="Google Shape;411;p30"/>
          <p:cNvSpPr txBox="1"/>
          <p:nvPr/>
        </p:nvSpPr>
        <p:spPr>
          <a:xfrm>
            <a:off x="1993392" y="3931920"/>
            <a:ext cx="6364224" cy="347472"/>
          </a:xfrm>
          <a:prstGeom prst="rect">
            <a:avLst/>
          </a:prstGeom>
          <a:noFill/>
          <a:ln>
            <a:noFill/>
          </a:ln>
        </p:spPr>
        <p:txBody>
          <a:bodyPr anchorCtr="0" anchor="ctr" bIns="22850" lIns="27425" spcFirstLastPara="1" rIns="27425" wrap="square" tIns="22850">
            <a:spAutoFit/>
          </a:bodyPr>
          <a:lstStyle/>
          <a:p>
            <a:pPr indent="0" lvl="0" marL="0" marR="0" rtl="0" algn="l">
              <a:lnSpc>
                <a:spcPct val="104000"/>
              </a:lnSpc>
              <a:spcBef>
                <a:spcPts val="0"/>
              </a:spcBef>
              <a:spcAft>
                <a:spcPts val="0"/>
              </a:spcAft>
              <a:buNone/>
            </a:pPr>
            <a:r>
              <a:rPr b="0" i="0" lang="en-US" sz="1800" u="none" cap="none" strike="noStrike">
                <a:solidFill>
                  <a:srgbClr val="5C4826"/>
                </a:solidFill>
                <a:latin typeface="Calibri"/>
                <a:ea typeface="Calibri"/>
                <a:cs typeface="Calibri"/>
                <a:sym typeface="Calibri"/>
              </a:rPr>
              <a:t>4  Run full suite + review diff</a:t>
            </a:r>
            <a:endParaRPr/>
          </a:p>
        </p:txBody>
      </p:sp>
      <p:sp>
        <p:nvSpPr>
          <p:cNvPr id="412" name="Google Shape;412;p30"/>
          <p:cNvSpPr txBox="1"/>
          <p:nvPr/>
        </p:nvSpPr>
        <p:spPr>
          <a:xfrm>
            <a:off x="530352" y="4992624"/>
            <a:ext cx="8119872" cy="374904"/>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lang="en-US" sz="1700">
                <a:solidFill>
                  <a:srgbClr val="555960"/>
                </a:solidFill>
                <a:latin typeface="Calibri"/>
                <a:ea typeface="Calibri"/>
                <a:cs typeface="Calibri"/>
                <a:sym typeface="Calibri"/>
              </a:rPr>
              <a:t>Discovery: does the agent recognize this skill?</a:t>
            </a:r>
            <a:endParaRPr/>
          </a:p>
        </p:txBody>
      </p:sp>
      <p:sp>
        <p:nvSpPr>
          <p:cNvPr id="413" name="Google Shape;413;p30"/>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4" name="Google Shape;414;p30"/>
          <p:cNvSpPr txBox="1"/>
          <p:nvPr/>
        </p:nvSpPr>
        <p:spPr>
          <a:xfrm>
            <a:off x="384048" y="5916168"/>
            <a:ext cx="8375904"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Invocation: did the agent follow its procedure?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1"/>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Try it: create an API repair skill</a:t>
            </a:r>
            <a:endParaRPr/>
          </a:p>
        </p:txBody>
      </p:sp>
      <p:sp>
        <p:nvSpPr>
          <p:cNvPr id="421" name="Google Shape;421;p31"/>
          <p:cNvSpPr/>
          <p:nvPr/>
        </p:nvSpPr>
        <p:spPr>
          <a:xfrm>
            <a:off x="475488" y="1097280"/>
            <a:ext cx="2066543"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31"/>
          <p:cNvSpPr txBox="1"/>
          <p:nvPr/>
        </p:nvSpPr>
        <p:spPr>
          <a:xfrm>
            <a:off x="502920" y="1097280"/>
            <a:ext cx="2011679"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500">
                <a:solidFill>
                  <a:srgbClr val="FFFFFF"/>
                </a:solidFill>
                <a:latin typeface="Calibri"/>
                <a:ea typeface="Calibri"/>
                <a:cs typeface="Calibri"/>
                <a:sym typeface="Calibri"/>
              </a:rPr>
              <a:t>10 MINUTES · TRY IT</a:t>
            </a:r>
            <a:endParaRPr sz="1500"/>
          </a:p>
        </p:txBody>
      </p:sp>
      <p:sp>
        <p:nvSpPr>
          <p:cNvPr id="423" name="Google Shape;423;p31"/>
          <p:cNvSpPr/>
          <p:nvPr/>
        </p:nvSpPr>
        <p:spPr>
          <a:xfrm>
            <a:off x="502920" y="1874519"/>
            <a:ext cx="548640"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31"/>
          <p:cNvSpPr txBox="1"/>
          <p:nvPr/>
        </p:nvSpPr>
        <p:spPr>
          <a:xfrm>
            <a:off x="530352" y="1874519"/>
            <a:ext cx="493776" cy="384048"/>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1</a:t>
            </a:r>
            <a:endParaRPr/>
          </a:p>
        </p:txBody>
      </p:sp>
      <p:sp>
        <p:nvSpPr>
          <p:cNvPr id="425" name="Google Shape;425;p31"/>
          <p:cNvSpPr txBox="1"/>
          <p:nvPr/>
        </p:nvSpPr>
        <p:spPr>
          <a:xfrm>
            <a:off x="1188720" y="1860803"/>
            <a:ext cx="7040879" cy="29260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Create</a:t>
            </a:r>
            <a:endParaRPr/>
          </a:p>
        </p:txBody>
      </p:sp>
      <p:sp>
        <p:nvSpPr>
          <p:cNvPr id="426" name="Google Shape;426;p31"/>
          <p:cNvSpPr txBox="1"/>
          <p:nvPr/>
        </p:nvSpPr>
        <p:spPr>
          <a:xfrm>
            <a:off x="1188720" y="2176272"/>
            <a:ext cx="6995159" cy="438911"/>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Create resolve-api-issue as a reusable SKILL.md.</a:t>
            </a:r>
            <a:endParaRPr sz="1600"/>
          </a:p>
        </p:txBody>
      </p:sp>
      <p:sp>
        <p:nvSpPr>
          <p:cNvPr id="427" name="Google Shape;427;p31"/>
          <p:cNvSpPr/>
          <p:nvPr/>
        </p:nvSpPr>
        <p:spPr>
          <a:xfrm>
            <a:off x="502920" y="2816352"/>
            <a:ext cx="548640"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8" name="Google Shape;428;p31"/>
          <p:cNvSpPr txBox="1"/>
          <p:nvPr/>
        </p:nvSpPr>
        <p:spPr>
          <a:xfrm>
            <a:off x="530352" y="2816352"/>
            <a:ext cx="493776" cy="384048"/>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2</a:t>
            </a:r>
            <a:endParaRPr/>
          </a:p>
        </p:txBody>
      </p:sp>
      <p:sp>
        <p:nvSpPr>
          <p:cNvPr id="429" name="Google Shape;429;p31"/>
          <p:cNvSpPr txBox="1"/>
          <p:nvPr/>
        </p:nvSpPr>
        <p:spPr>
          <a:xfrm>
            <a:off x="1188720" y="2802636"/>
            <a:ext cx="7040879" cy="29260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Review</a:t>
            </a:r>
            <a:endParaRPr/>
          </a:p>
        </p:txBody>
      </p:sp>
      <p:sp>
        <p:nvSpPr>
          <p:cNvPr id="430" name="Google Shape;430;p31"/>
          <p:cNvSpPr txBox="1"/>
          <p:nvPr/>
        </p:nvSpPr>
        <p:spPr>
          <a:xfrm>
            <a:off x="1188720" y="3118104"/>
            <a:ext cx="6995159" cy="438911"/>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Check the description, test-first steps, and stop conditions.</a:t>
            </a:r>
            <a:endParaRPr sz="1600"/>
          </a:p>
        </p:txBody>
      </p:sp>
      <p:sp>
        <p:nvSpPr>
          <p:cNvPr id="431" name="Google Shape;431;p31"/>
          <p:cNvSpPr/>
          <p:nvPr/>
        </p:nvSpPr>
        <p:spPr>
          <a:xfrm>
            <a:off x="502920" y="3758184"/>
            <a:ext cx="548640"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2" name="Google Shape;432;p31"/>
          <p:cNvSpPr txBox="1"/>
          <p:nvPr/>
        </p:nvSpPr>
        <p:spPr>
          <a:xfrm>
            <a:off x="530352" y="3758184"/>
            <a:ext cx="493776" cy="384048"/>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3</a:t>
            </a:r>
            <a:endParaRPr/>
          </a:p>
        </p:txBody>
      </p:sp>
      <p:sp>
        <p:nvSpPr>
          <p:cNvPr id="433" name="Google Shape;433;p31"/>
          <p:cNvSpPr txBox="1"/>
          <p:nvPr/>
        </p:nvSpPr>
        <p:spPr>
          <a:xfrm>
            <a:off x="1188720" y="3744468"/>
            <a:ext cx="7040879" cy="29260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Discover</a:t>
            </a:r>
            <a:endParaRPr/>
          </a:p>
        </p:txBody>
      </p:sp>
      <p:sp>
        <p:nvSpPr>
          <p:cNvPr id="434" name="Google Shape;434;p31"/>
          <p:cNvSpPr txBox="1"/>
          <p:nvPr/>
        </p:nvSpPr>
        <p:spPr>
          <a:xfrm>
            <a:off x="1188720" y="4059936"/>
            <a:ext cx="6995159" cy="438911"/>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Confirm the agent discovers the skill; do not fix code yet.</a:t>
            </a:r>
            <a:endParaRPr sz="1600"/>
          </a:p>
        </p:txBody>
      </p:sp>
      <p:sp>
        <p:nvSpPr>
          <p:cNvPr id="435" name="Google Shape;435;p31"/>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6" name="Google Shape;436;p31"/>
          <p:cNvSpPr txBox="1"/>
          <p:nvPr/>
        </p:nvSpPr>
        <p:spPr>
          <a:xfrm>
            <a:off x="384048" y="5916168"/>
            <a:ext cx="8375904"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FFFFFF"/>
                </a:solidFill>
                <a:latin typeface="Calibri"/>
                <a:ea typeface="Calibri"/>
                <a:cs typeface="Calibri"/>
                <a:sym typeface="Calibri"/>
              </a:rPr>
              <a:t>A skill must be discovered—and actually used—to help.</a:t>
            </a:r>
            <a:endParaRPr/>
          </a:p>
        </p:txBody>
      </p:sp>
      <p:sp>
        <p:nvSpPr>
          <p:cNvPr id="437" name="Google Shape;437;p31"/>
          <p:cNvSpPr/>
          <p:nvPr/>
        </p:nvSpPr>
        <p:spPr>
          <a:xfrm>
            <a:off x="482600" y="4737100"/>
            <a:ext cx="8178900" cy="952500"/>
          </a:xfrm>
          <a:prstGeom prst="rect">
            <a:avLst/>
          </a:prstGeom>
          <a:solidFill>
            <a:srgbClr val="FCFA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8" name="Google Shape;438;p31"/>
          <p:cNvSpPr txBox="1"/>
          <p:nvPr/>
        </p:nvSpPr>
        <p:spPr>
          <a:xfrm>
            <a:off x="660400" y="4813300"/>
            <a:ext cx="79374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8E6F3E"/>
                </a:solidFill>
                <a:latin typeface="Calibri"/>
                <a:ea typeface="Calibri"/>
                <a:cs typeface="Calibri"/>
                <a:sym typeface="Calibri"/>
              </a:rPr>
              <a:t>SUGGESTED PROMPT</a:t>
            </a:r>
            <a:endParaRPr b="1">
              <a:solidFill>
                <a:srgbClr val="8E6F3E"/>
              </a:solidFill>
              <a:latin typeface="Calibri"/>
              <a:ea typeface="Calibri"/>
              <a:cs typeface="Calibri"/>
              <a:sym typeface="Calibri"/>
            </a:endParaRPr>
          </a:p>
        </p:txBody>
      </p:sp>
      <p:sp>
        <p:nvSpPr>
          <p:cNvPr id="439" name="Google Shape;439;p31"/>
          <p:cNvSpPr txBox="1"/>
          <p:nvPr/>
        </p:nvSpPr>
        <p:spPr>
          <a:xfrm>
            <a:off x="660400" y="5105400"/>
            <a:ext cx="7848600" cy="5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2E2E2E"/>
                </a:solidFill>
                <a:latin typeface="Calibri"/>
                <a:ea typeface="Calibri"/>
                <a:cs typeface="Calibri"/>
                <a:sym typeface="Calibri"/>
              </a:rPr>
              <a:t>Create a reusable API-bug skill. Read issues through MCP or a shell, run tests before edits, use failures to guide repairs, and verify the final diff. Do not fix this issue yet.</a:t>
            </a:r>
            <a:endParaRPr sz="1500">
              <a:solidFill>
                <a:srgbClr val="2E2E2E"/>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2"/>
          <p:cNvSpPr txBox="1"/>
          <p:nvPr/>
        </p:nvSpPr>
        <p:spPr>
          <a:xfrm>
            <a:off x="685800" y="2066543"/>
            <a:ext cx="7772400"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8E6F3E"/>
                </a:solidFill>
                <a:latin typeface="Calibri"/>
                <a:ea typeface="Calibri"/>
                <a:cs typeface="Calibri"/>
                <a:sym typeface="Calibri"/>
              </a:rPr>
              <a:t>TOPIC 5</a:t>
            </a:r>
            <a:endParaRPr/>
          </a:p>
        </p:txBody>
      </p:sp>
      <p:sp>
        <p:nvSpPr>
          <p:cNvPr id="446" name="Google Shape;446;p32"/>
          <p:cNvSpPr txBox="1"/>
          <p:nvPr/>
        </p:nvSpPr>
        <p:spPr>
          <a:xfrm>
            <a:off x="512064" y="2606040"/>
            <a:ext cx="8119872" cy="905256"/>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0" i="0" lang="en-US" sz="3800" u="none" cap="none" strike="noStrike">
                <a:solidFill>
                  <a:srgbClr val="2D2D2D"/>
                </a:solidFill>
                <a:latin typeface="Calibri"/>
                <a:ea typeface="Calibri"/>
                <a:cs typeface="Calibri"/>
                <a:sym typeface="Calibri"/>
              </a:rPr>
              <a:t>LOOP ENGINEERING</a:t>
            </a:r>
            <a:endParaRPr/>
          </a:p>
        </p:txBody>
      </p:sp>
      <p:sp>
        <p:nvSpPr>
          <p:cNvPr id="447" name="Google Shape;447;p32"/>
          <p:cNvSpPr txBox="1"/>
          <p:nvPr/>
        </p:nvSpPr>
        <p:spPr>
          <a:xfrm>
            <a:off x="685800" y="3721608"/>
            <a:ext cx="7772400" cy="557784"/>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0" i="0" lang="en-US" sz="2200" u="none" cap="none" strike="noStrike">
                <a:solidFill>
                  <a:srgbClr val="5C4826"/>
                </a:solidFill>
                <a:latin typeface="Calibri"/>
                <a:ea typeface="Calibri"/>
                <a:cs typeface="Calibri"/>
                <a:sym typeface="Calibri"/>
              </a:rPr>
              <a:t>What makes a change trustworthy?</a:t>
            </a:r>
            <a:endParaRPr/>
          </a:p>
        </p:txBody>
      </p:sp>
      <p:cxnSp>
        <p:nvCxnSpPr>
          <p:cNvPr id="448" name="Google Shape;448;p32"/>
          <p:cNvCxnSpPr/>
          <p:nvPr/>
        </p:nvCxnSpPr>
        <p:spPr>
          <a:xfrm>
            <a:off x="3657600" y="4663440"/>
            <a:ext cx="1828800" cy="0"/>
          </a:xfrm>
          <a:prstGeom prst="straightConnector1">
            <a:avLst/>
          </a:prstGeom>
          <a:noFill/>
          <a:ln cap="flat" cmpd="sng" w="38100">
            <a:solidFill>
              <a:srgbClr val="8E6F3E"/>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3"/>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A coding agent needs test feedback</a:t>
            </a:r>
            <a:endParaRPr/>
          </a:p>
        </p:txBody>
      </p:sp>
      <p:sp>
        <p:nvSpPr>
          <p:cNvPr id="455" name="Google Shape;455;p33"/>
          <p:cNvSpPr/>
          <p:nvPr/>
        </p:nvSpPr>
        <p:spPr>
          <a:xfrm>
            <a:off x="411480" y="1234440"/>
            <a:ext cx="8321040" cy="1042415"/>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6" name="Google Shape;456;p33"/>
          <p:cNvSpPr txBox="1"/>
          <p:nvPr/>
        </p:nvSpPr>
        <p:spPr>
          <a:xfrm>
            <a:off x="630936" y="1307592"/>
            <a:ext cx="1673352" cy="329184"/>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i="0" lang="en-US" sz="1600" u="none" cap="none" strike="noStrike">
                <a:solidFill>
                  <a:srgbClr val="8E6F3E"/>
                </a:solidFill>
                <a:latin typeface="Calibri"/>
                <a:ea typeface="Calibri"/>
                <a:cs typeface="Calibri"/>
                <a:sym typeface="Calibri"/>
              </a:rPr>
              <a:t>ONE SHOT</a:t>
            </a:r>
            <a:endParaRPr sz="1600"/>
          </a:p>
        </p:txBody>
      </p:sp>
      <p:sp>
        <p:nvSpPr>
          <p:cNvPr id="457" name="Google Shape;457;p33"/>
          <p:cNvSpPr txBox="1"/>
          <p:nvPr/>
        </p:nvSpPr>
        <p:spPr>
          <a:xfrm>
            <a:off x="2286000" y="1325880"/>
            <a:ext cx="6117336" cy="420624"/>
          </a:xfrm>
          <a:prstGeom prst="rect">
            <a:avLst/>
          </a:prstGeom>
          <a:noFill/>
          <a:ln>
            <a:noFill/>
          </a:ln>
        </p:spPr>
        <p:txBody>
          <a:bodyPr anchorCtr="0" anchor="ctr" bIns="22850" lIns="27425" spcFirstLastPara="1" rIns="27425" wrap="square" tIns="22850">
            <a:spAutoFit/>
          </a:bodyPr>
          <a:lstStyle/>
          <a:p>
            <a:pPr indent="0" lvl="0" marL="0" marR="0" rtl="0" algn="l">
              <a:lnSpc>
                <a:spcPct val="104000"/>
              </a:lnSpc>
              <a:spcBef>
                <a:spcPts val="0"/>
              </a:spcBef>
              <a:spcAft>
                <a:spcPts val="0"/>
              </a:spcAft>
              <a:buNone/>
            </a:pPr>
            <a:r>
              <a:rPr b="0" i="0" lang="en-US" sz="2100" u="none" cap="none" strike="noStrike">
                <a:solidFill>
                  <a:srgbClr val="555960"/>
                </a:solidFill>
                <a:latin typeface="Calibri"/>
                <a:ea typeface="Calibri"/>
                <a:cs typeface="Calibri"/>
                <a:sym typeface="Calibri"/>
              </a:rPr>
              <a:t>Ask → generate code → claim “done”</a:t>
            </a:r>
            <a:endParaRPr/>
          </a:p>
        </p:txBody>
      </p:sp>
      <p:sp>
        <p:nvSpPr>
          <p:cNvPr id="458" name="Google Shape;458;p33"/>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9" name="Google Shape;459;p33"/>
          <p:cNvSpPr txBox="1"/>
          <p:nvPr/>
        </p:nvSpPr>
        <p:spPr>
          <a:xfrm>
            <a:off x="384048" y="5916168"/>
            <a:ext cx="8375904"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FFFFFF"/>
                </a:solidFill>
                <a:latin typeface="Calibri"/>
                <a:ea typeface="Calibri"/>
                <a:cs typeface="Calibri"/>
                <a:sym typeface="Calibri"/>
              </a:rPr>
              <a:t>Stop with verified evidence or explain why the task remains blocked.</a:t>
            </a:r>
            <a:endParaRPr/>
          </a:p>
        </p:txBody>
      </p:sp>
      <p:sp>
        <p:nvSpPr>
          <p:cNvPr id="460" name="Google Shape;460;p33"/>
          <p:cNvSpPr/>
          <p:nvPr/>
        </p:nvSpPr>
        <p:spPr>
          <a:xfrm>
            <a:off x="419100" y="2603500"/>
            <a:ext cx="8255100" cy="2552700"/>
          </a:xfrm>
          <a:prstGeom prst="rect">
            <a:avLst/>
          </a:prstGeom>
          <a:solidFill>
            <a:srgbClr val="FCFA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1" name="Google Shape;461;p33"/>
          <p:cNvSpPr txBox="1"/>
          <p:nvPr/>
        </p:nvSpPr>
        <p:spPr>
          <a:xfrm>
            <a:off x="571500" y="2730500"/>
            <a:ext cx="72390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8E6F3E"/>
                </a:solidFill>
                <a:latin typeface="Calibri"/>
                <a:ea typeface="Calibri"/>
                <a:cs typeface="Calibri"/>
                <a:sym typeface="Calibri"/>
              </a:rPr>
              <a:t>ENGINEERING LOOP</a:t>
            </a:r>
            <a:endParaRPr b="1" sz="1600">
              <a:solidFill>
                <a:srgbClr val="8E6F3E"/>
              </a:solidFill>
              <a:latin typeface="Calibri"/>
              <a:ea typeface="Calibri"/>
              <a:cs typeface="Calibri"/>
              <a:sym typeface="Calibri"/>
            </a:endParaRPr>
          </a:p>
        </p:txBody>
      </p:sp>
      <p:sp>
        <p:nvSpPr>
          <p:cNvPr id="462" name="Google Shape;462;p33"/>
          <p:cNvSpPr/>
          <p:nvPr/>
        </p:nvSpPr>
        <p:spPr>
          <a:xfrm>
            <a:off x="609600" y="3479800"/>
            <a:ext cx="1587600" cy="800100"/>
          </a:xfrm>
          <a:prstGeom prst="rect">
            <a:avLst/>
          </a:prstGeom>
          <a:solidFill>
            <a:srgbClr val="F5F1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3" name="Google Shape;463;p33"/>
          <p:cNvSpPr txBox="1"/>
          <p:nvPr/>
        </p:nvSpPr>
        <p:spPr>
          <a:xfrm>
            <a:off x="723900" y="3657600"/>
            <a:ext cx="14097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2E2E2E"/>
                </a:solidFill>
                <a:latin typeface="Calibri"/>
                <a:ea typeface="Calibri"/>
                <a:cs typeface="Calibri"/>
                <a:sym typeface="Calibri"/>
              </a:rPr>
              <a:t>PLAN</a:t>
            </a:r>
            <a:endParaRPr b="1" sz="1800">
              <a:solidFill>
                <a:srgbClr val="2E2E2E"/>
              </a:solidFill>
              <a:latin typeface="Calibri"/>
              <a:ea typeface="Calibri"/>
              <a:cs typeface="Calibri"/>
              <a:sym typeface="Calibri"/>
            </a:endParaRPr>
          </a:p>
        </p:txBody>
      </p:sp>
      <p:sp>
        <p:nvSpPr>
          <p:cNvPr id="464" name="Google Shape;464;p33"/>
          <p:cNvSpPr/>
          <p:nvPr/>
        </p:nvSpPr>
        <p:spPr>
          <a:xfrm>
            <a:off x="2247900" y="3708400"/>
            <a:ext cx="342900" cy="241200"/>
          </a:xfrm>
          <a:prstGeom prst="rightArrow">
            <a:avLst>
              <a:gd fmla="val 50000" name="adj1"/>
              <a:gd fmla="val 50000" name="adj2"/>
            </a:avLst>
          </a:prstGeom>
          <a:solidFill>
            <a:srgbClr val="8E6F3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5" name="Google Shape;465;p33"/>
          <p:cNvSpPr/>
          <p:nvPr/>
        </p:nvSpPr>
        <p:spPr>
          <a:xfrm>
            <a:off x="2590800" y="3479800"/>
            <a:ext cx="1587600" cy="800100"/>
          </a:xfrm>
          <a:prstGeom prst="rect">
            <a:avLst/>
          </a:prstGeom>
          <a:solidFill>
            <a:srgbClr val="F5F1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6" name="Google Shape;466;p33"/>
          <p:cNvSpPr txBox="1"/>
          <p:nvPr/>
        </p:nvSpPr>
        <p:spPr>
          <a:xfrm>
            <a:off x="2705100" y="3657600"/>
            <a:ext cx="14097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2E2E2E"/>
                </a:solidFill>
                <a:latin typeface="Calibri"/>
                <a:ea typeface="Calibri"/>
                <a:cs typeface="Calibri"/>
                <a:sym typeface="Calibri"/>
              </a:rPr>
              <a:t>EDIT</a:t>
            </a:r>
            <a:endParaRPr b="1" sz="1800">
              <a:solidFill>
                <a:srgbClr val="2E2E2E"/>
              </a:solidFill>
              <a:latin typeface="Calibri"/>
              <a:ea typeface="Calibri"/>
              <a:cs typeface="Calibri"/>
              <a:sym typeface="Calibri"/>
            </a:endParaRPr>
          </a:p>
        </p:txBody>
      </p:sp>
      <p:sp>
        <p:nvSpPr>
          <p:cNvPr id="467" name="Google Shape;467;p33"/>
          <p:cNvSpPr/>
          <p:nvPr/>
        </p:nvSpPr>
        <p:spPr>
          <a:xfrm>
            <a:off x="4229100" y="3708400"/>
            <a:ext cx="342900" cy="241200"/>
          </a:xfrm>
          <a:prstGeom prst="rightArrow">
            <a:avLst>
              <a:gd fmla="val 50000" name="adj1"/>
              <a:gd fmla="val 50000" name="adj2"/>
            </a:avLst>
          </a:prstGeom>
          <a:solidFill>
            <a:srgbClr val="8E6F3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8" name="Google Shape;468;p33"/>
          <p:cNvSpPr/>
          <p:nvPr/>
        </p:nvSpPr>
        <p:spPr>
          <a:xfrm>
            <a:off x="4572000" y="3479800"/>
            <a:ext cx="1587600" cy="800100"/>
          </a:xfrm>
          <a:prstGeom prst="rect">
            <a:avLst/>
          </a:prstGeom>
          <a:solidFill>
            <a:srgbClr val="F5F1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9" name="Google Shape;469;p33"/>
          <p:cNvSpPr txBox="1"/>
          <p:nvPr/>
        </p:nvSpPr>
        <p:spPr>
          <a:xfrm>
            <a:off x="4686300" y="3657600"/>
            <a:ext cx="14097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2E2E2E"/>
                </a:solidFill>
                <a:latin typeface="Calibri"/>
                <a:ea typeface="Calibri"/>
                <a:cs typeface="Calibri"/>
                <a:sym typeface="Calibri"/>
              </a:rPr>
              <a:t>TEST</a:t>
            </a:r>
            <a:endParaRPr b="1" sz="1800">
              <a:solidFill>
                <a:srgbClr val="2E2E2E"/>
              </a:solidFill>
              <a:latin typeface="Calibri"/>
              <a:ea typeface="Calibri"/>
              <a:cs typeface="Calibri"/>
              <a:sym typeface="Calibri"/>
            </a:endParaRPr>
          </a:p>
        </p:txBody>
      </p:sp>
      <p:sp>
        <p:nvSpPr>
          <p:cNvPr id="470" name="Google Shape;470;p33"/>
          <p:cNvSpPr/>
          <p:nvPr/>
        </p:nvSpPr>
        <p:spPr>
          <a:xfrm>
            <a:off x="6210300" y="3708400"/>
            <a:ext cx="342900" cy="241200"/>
          </a:xfrm>
          <a:prstGeom prst="rightArrow">
            <a:avLst>
              <a:gd fmla="val 50000" name="adj1"/>
              <a:gd fmla="val 50000" name="adj2"/>
            </a:avLst>
          </a:prstGeom>
          <a:solidFill>
            <a:srgbClr val="8E6F3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1" name="Google Shape;471;p33"/>
          <p:cNvSpPr/>
          <p:nvPr/>
        </p:nvSpPr>
        <p:spPr>
          <a:xfrm>
            <a:off x="6553200" y="3479800"/>
            <a:ext cx="1587600" cy="800100"/>
          </a:xfrm>
          <a:prstGeom prst="rect">
            <a:avLst/>
          </a:prstGeom>
          <a:solidFill>
            <a:srgbClr val="F5F1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72" name="Google Shape;472;p33"/>
          <p:cNvSpPr txBox="1"/>
          <p:nvPr/>
        </p:nvSpPr>
        <p:spPr>
          <a:xfrm>
            <a:off x="6667500" y="3657600"/>
            <a:ext cx="1409700" cy="43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2E2E2E"/>
                </a:solidFill>
                <a:latin typeface="Calibri"/>
                <a:ea typeface="Calibri"/>
                <a:cs typeface="Calibri"/>
                <a:sym typeface="Calibri"/>
              </a:rPr>
              <a:t>OBSERVE</a:t>
            </a:r>
            <a:endParaRPr b="1" sz="1800">
              <a:solidFill>
                <a:srgbClr val="2E2E2E"/>
              </a:solidFill>
              <a:latin typeface="Calibri"/>
              <a:ea typeface="Calibri"/>
              <a:cs typeface="Calibri"/>
              <a:sym typeface="Calibri"/>
            </a:endParaRPr>
          </a:p>
        </p:txBody>
      </p:sp>
      <p:sp>
        <p:nvSpPr>
          <p:cNvPr id="473" name="Google Shape;473;p33"/>
          <p:cNvSpPr txBox="1"/>
          <p:nvPr/>
        </p:nvSpPr>
        <p:spPr>
          <a:xfrm>
            <a:off x="787400" y="4508500"/>
            <a:ext cx="75438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8E6F3E"/>
                </a:solidFill>
                <a:latin typeface="Calibri"/>
                <a:ea typeface="Calibri"/>
                <a:cs typeface="Calibri"/>
                <a:sym typeface="Calibri"/>
              </a:rPr>
              <a:t>If tests fail, inspect the output and revise the next attempt.</a:t>
            </a:r>
            <a:endParaRPr b="1" sz="1700">
              <a:solidFill>
                <a:srgbClr val="8E6F3E"/>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34"/>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The bug: adjacent bookings appear to conflict</a:t>
            </a:r>
            <a:endParaRPr/>
          </a:p>
        </p:txBody>
      </p:sp>
      <p:sp>
        <p:nvSpPr>
          <p:cNvPr id="480" name="Google Shape;480;p34"/>
          <p:cNvSpPr txBox="1"/>
          <p:nvPr/>
        </p:nvSpPr>
        <p:spPr>
          <a:xfrm>
            <a:off x="429768" y="1069848"/>
            <a:ext cx="8321040" cy="374904"/>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700">
                <a:solidFill>
                  <a:srgbClr val="8E6F3E"/>
                </a:solidFill>
                <a:latin typeface="Calibri"/>
                <a:ea typeface="Calibri"/>
                <a:cs typeface="Calibri"/>
                <a:sym typeface="Calibri"/>
              </a:rPr>
              <a:t>REQUEST: 11:00–11:30 UTC    MINIMUM CAPACITY: 4</a:t>
            </a:r>
            <a:endParaRPr/>
          </a:p>
        </p:txBody>
      </p:sp>
      <p:cxnSp>
        <p:nvCxnSpPr>
          <p:cNvPr id="481" name="Google Shape;481;p34"/>
          <p:cNvCxnSpPr/>
          <p:nvPr/>
        </p:nvCxnSpPr>
        <p:spPr>
          <a:xfrm>
            <a:off x="1600200" y="2112264"/>
            <a:ext cx="0" cy="2395728"/>
          </a:xfrm>
          <a:prstGeom prst="straightConnector1">
            <a:avLst/>
          </a:prstGeom>
          <a:noFill/>
          <a:ln cap="flat" cmpd="sng" w="12700">
            <a:solidFill>
              <a:srgbClr val="CBB590"/>
            </a:solidFill>
            <a:prstDash val="solid"/>
            <a:round/>
            <a:headEnd len="sm" w="sm" type="none"/>
            <a:tailEnd len="sm" w="sm" type="none"/>
          </a:ln>
        </p:spPr>
      </p:cxnSp>
      <p:sp>
        <p:nvSpPr>
          <p:cNvPr id="482" name="Google Shape;482;p34"/>
          <p:cNvSpPr txBox="1"/>
          <p:nvPr/>
        </p:nvSpPr>
        <p:spPr>
          <a:xfrm>
            <a:off x="1243584" y="1709928"/>
            <a:ext cx="713232" cy="33832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0" i="0" lang="en-US" sz="1500" u="none" cap="none" strike="noStrike">
                <a:solidFill>
                  <a:srgbClr val="555960"/>
                </a:solidFill>
                <a:latin typeface="Calibri"/>
                <a:ea typeface="Calibri"/>
                <a:cs typeface="Calibri"/>
                <a:sym typeface="Calibri"/>
              </a:rPr>
              <a:t>10:00</a:t>
            </a:r>
            <a:endParaRPr sz="1500"/>
          </a:p>
        </p:txBody>
      </p:sp>
      <p:cxnSp>
        <p:nvCxnSpPr>
          <p:cNvPr id="483" name="Google Shape;483;p34"/>
          <p:cNvCxnSpPr/>
          <p:nvPr/>
        </p:nvCxnSpPr>
        <p:spPr>
          <a:xfrm>
            <a:off x="2683764" y="2112264"/>
            <a:ext cx="0" cy="2395728"/>
          </a:xfrm>
          <a:prstGeom prst="straightConnector1">
            <a:avLst/>
          </a:prstGeom>
          <a:noFill/>
          <a:ln cap="flat" cmpd="sng" w="12700">
            <a:solidFill>
              <a:srgbClr val="CBB590"/>
            </a:solidFill>
            <a:prstDash val="solid"/>
            <a:round/>
            <a:headEnd len="sm" w="sm" type="none"/>
            <a:tailEnd len="sm" w="sm" type="none"/>
          </a:ln>
        </p:spPr>
      </p:cxnSp>
      <p:sp>
        <p:nvSpPr>
          <p:cNvPr id="484" name="Google Shape;484;p34"/>
          <p:cNvSpPr txBox="1"/>
          <p:nvPr/>
        </p:nvSpPr>
        <p:spPr>
          <a:xfrm>
            <a:off x="2327148" y="1709928"/>
            <a:ext cx="713232" cy="33832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0" i="0" lang="en-US" sz="1500" u="none" cap="none" strike="noStrike">
                <a:solidFill>
                  <a:srgbClr val="555960"/>
                </a:solidFill>
                <a:latin typeface="Calibri"/>
                <a:ea typeface="Calibri"/>
                <a:cs typeface="Calibri"/>
                <a:sym typeface="Calibri"/>
              </a:rPr>
              <a:t>10:30</a:t>
            </a:r>
            <a:endParaRPr sz="1500"/>
          </a:p>
        </p:txBody>
      </p:sp>
      <p:cxnSp>
        <p:nvCxnSpPr>
          <p:cNvPr id="485" name="Google Shape;485;p34"/>
          <p:cNvCxnSpPr/>
          <p:nvPr/>
        </p:nvCxnSpPr>
        <p:spPr>
          <a:xfrm>
            <a:off x="3767328" y="2112264"/>
            <a:ext cx="0" cy="2395728"/>
          </a:xfrm>
          <a:prstGeom prst="straightConnector1">
            <a:avLst/>
          </a:prstGeom>
          <a:noFill/>
          <a:ln cap="flat" cmpd="sng" w="12700">
            <a:solidFill>
              <a:srgbClr val="CBB590"/>
            </a:solidFill>
            <a:prstDash val="solid"/>
            <a:round/>
            <a:headEnd len="sm" w="sm" type="none"/>
            <a:tailEnd len="sm" w="sm" type="none"/>
          </a:ln>
        </p:spPr>
      </p:cxnSp>
      <p:sp>
        <p:nvSpPr>
          <p:cNvPr id="486" name="Google Shape;486;p34"/>
          <p:cNvSpPr txBox="1"/>
          <p:nvPr/>
        </p:nvSpPr>
        <p:spPr>
          <a:xfrm>
            <a:off x="3410712" y="1709928"/>
            <a:ext cx="713232" cy="33832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0" i="0" lang="en-US" sz="1500" u="none" cap="none" strike="noStrike">
                <a:solidFill>
                  <a:srgbClr val="555960"/>
                </a:solidFill>
                <a:latin typeface="Calibri"/>
                <a:ea typeface="Calibri"/>
                <a:cs typeface="Calibri"/>
                <a:sym typeface="Calibri"/>
              </a:rPr>
              <a:t>11:00</a:t>
            </a:r>
            <a:endParaRPr sz="1500"/>
          </a:p>
        </p:txBody>
      </p:sp>
      <p:cxnSp>
        <p:nvCxnSpPr>
          <p:cNvPr id="487" name="Google Shape;487;p34"/>
          <p:cNvCxnSpPr/>
          <p:nvPr/>
        </p:nvCxnSpPr>
        <p:spPr>
          <a:xfrm>
            <a:off x="4850892" y="2112264"/>
            <a:ext cx="0" cy="2395728"/>
          </a:xfrm>
          <a:prstGeom prst="straightConnector1">
            <a:avLst/>
          </a:prstGeom>
          <a:noFill/>
          <a:ln cap="flat" cmpd="sng" w="12700">
            <a:solidFill>
              <a:srgbClr val="CBB590"/>
            </a:solidFill>
            <a:prstDash val="solid"/>
            <a:round/>
            <a:headEnd len="sm" w="sm" type="none"/>
            <a:tailEnd len="sm" w="sm" type="none"/>
          </a:ln>
        </p:spPr>
      </p:cxnSp>
      <p:sp>
        <p:nvSpPr>
          <p:cNvPr id="488" name="Google Shape;488;p34"/>
          <p:cNvSpPr txBox="1"/>
          <p:nvPr/>
        </p:nvSpPr>
        <p:spPr>
          <a:xfrm>
            <a:off x="4494276" y="1709928"/>
            <a:ext cx="713232" cy="33832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0" i="0" lang="en-US" sz="1500" u="none" cap="none" strike="noStrike">
                <a:solidFill>
                  <a:srgbClr val="555960"/>
                </a:solidFill>
                <a:latin typeface="Calibri"/>
                <a:ea typeface="Calibri"/>
                <a:cs typeface="Calibri"/>
                <a:sym typeface="Calibri"/>
              </a:rPr>
              <a:t>11:30</a:t>
            </a:r>
            <a:endParaRPr sz="1500"/>
          </a:p>
        </p:txBody>
      </p:sp>
      <p:cxnSp>
        <p:nvCxnSpPr>
          <p:cNvPr id="489" name="Google Shape;489;p34"/>
          <p:cNvCxnSpPr/>
          <p:nvPr/>
        </p:nvCxnSpPr>
        <p:spPr>
          <a:xfrm>
            <a:off x="5934456" y="2112264"/>
            <a:ext cx="0" cy="2395728"/>
          </a:xfrm>
          <a:prstGeom prst="straightConnector1">
            <a:avLst/>
          </a:prstGeom>
          <a:noFill/>
          <a:ln cap="flat" cmpd="sng" w="12700">
            <a:solidFill>
              <a:srgbClr val="CBB590"/>
            </a:solidFill>
            <a:prstDash val="solid"/>
            <a:round/>
            <a:headEnd len="sm" w="sm" type="none"/>
            <a:tailEnd len="sm" w="sm" type="none"/>
          </a:ln>
        </p:spPr>
      </p:cxnSp>
      <p:sp>
        <p:nvSpPr>
          <p:cNvPr id="490" name="Google Shape;490;p34"/>
          <p:cNvSpPr txBox="1"/>
          <p:nvPr/>
        </p:nvSpPr>
        <p:spPr>
          <a:xfrm>
            <a:off x="5577840" y="1709928"/>
            <a:ext cx="713232" cy="33832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0" i="0" lang="en-US" sz="1500" u="none" cap="none" strike="noStrike">
                <a:solidFill>
                  <a:srgbClr val="555960"/>
                </a:solidFill>
                <a:latin typeface="Calibri"/>
                <a:ea typeface="Calibri"/>
                <a:cs typeface="Calibri"/>
                <a:sym typeface="Calibri"/>
              </a:rPr>
              <a:t>12:00</a:t>
            </a:r>
            <a:endParaRPr sz="1500"/>
          </a:p>
        </p:txBody>
      </p:sp>
      <p:cxnSp>
        <p:nvCxnSpPr>
          <p:cNvPr id="491" name="Google Shape;491;p34"/>
          <p:cNvCxnSpPr/>
          <p:nvPr/>
        </p:nvCxnSpPr>
        <p:spPr>
          <a:xfrm>
            <a:off x="7018020" y="2112264"/>
            <a:ext cx="0" cy="2395728"/>
          </a:xfrm>
          <a:prstGeom prst="straightConnector1">
            <a:avLst/>
          </a:prstGeom>
          <a:noFill/>
          <a:ln cap="flat" cmpd="sng" w="12700">
            <a:solidFill>
              <a:srgbClr val="CBB590"/>
            </a:solidFill>
            <a:prstDash val="solid"/>
            <a:round/>
            <a:headEnd len="sm" w="sm" type="none"/>
            <a:tailEnd len="sm" w="sm" type="none"/>
          </a:ln>
        </p:spPr>
      </p:cxnSp>
      <p:sp>
        <p:nvSpPr>
          <p:cNvPr id="492" name="Google Shape;492;p34"/>
          <p:cNvSpPr txBox="1"/>
          <p:nvPr/>
        </p:nvSpPr>
        <p:spPr>
          <a:xfrm>
            <a:off x="6661404" y="1709928"/>
            <a:ext cx="713232" cy="33832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0" i="0" lang="en-US" sz="1500" u="none" cap="none" strike="noStrike">
                <a:solidFill>
                  <a:srgbClr val="555960"/>
                </a:solidFill>
                <a:latin typeface="Calibri"/>
                <a:ea typeface="Calibri"/>
                <a:cs typeface="Calibri"/>
                <a:sym typeface="Calibri"/>
              </a:rPr>
              <a:t>12:30</a:t>
            </a:r>
            <a:endParaRPr sz="1500"/>
          </a:p>
        </p:txBody>
      </p:sp>
      <p:sp>
        <p:nvSpPr>
          <p:cNvPr id="493" name="Google Shape;493;p34"/>
          <p:cNvSpPr txBox="1"/>
          <p:nvPr/>
        </p:nvSpPr>
        <p:spPr>
          <a:xfrm>
            <a:off x="310896" y="2331720"/>
            <a:ext cx="1280160" cy="42976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i="0" lang="en-US" sz="1600" u="none" cap="none" strike="noStrike">
                <a:solidFill>
                  <a:srgbClr val="5C4826"/>
                </a:solidFill>
                <a:latin typeface="Calibri"/>
                <a:ea typeface="Calibri"/>
                <a:cs typeface="Calibri"/>
                <a:sym typeface="Calibri"/>
              </a:rPr>
              <a:t>LIB-202</a:t>
            </a:r>
            <a:endParaRPr sz="1600"/>
          </a:p>
        </p:txBody>
      </p:sp>
      <p:sp>
        <p:nvSpPr>
          <p:cNvPr id="494" name="Google Shape;494;p34"/>
          <p:cNvSpPr/>
          <p:nvPr/>
        </p:nvSpPr>
        <p:spPr>
          <a:xfrm>
            <a:off x="1600200" y="2331720"/>
            <a:ext cx="2167128" cy="502920"/>
          </a:xfrm>
          <a:prstGeom prst="rect">
            <a:avLst/>
          </a:prstGeom>
          <a:solidFill>
            <a:srgbClr val="2E74B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34"/>
          <p:cNvSpPr txBox="1"/>
          <p:nvPr/>
        </p:nvSpPr>
        <p:spPr>
          <a:xfrm>
            <a:off x="1618488" y="2386584"/>
            <a:ext cx="2130552"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sz="1500" u="none" cap="none" strike="noStrike">
                <a:solidFill>
                  <a:srgbClr val="FFFFFF"/>
                </a:solidFill>
                <a:latin typeface="Calibri"/>
                <a:ea typeface="Calibri"/>
                <a:cs typeface="Calibri"/>
                <a:sym typeface="Calibri"/>
              </a:rPr>
              <a:t>Booked</a:t>
            </a:r>
            <a:endParaRPr sz="1500"/>
          </a:p>
        </p:txBody>
      </p:sp>
      <p:sp>
        <p:nvSpPr>
          <p:cNvPr id="496" name="Google Shape;496;p34"/>
          <p:cNvSpPr txBox="1"/>
          <p:nvPr/>
        </p:nvSpPr>
        <p:spPr>
          <a:xfrm>
            <a:off x="310896" y="3145536"/>
            <a:ext cx="1280160" cy="42976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i="0" lang="en-US" sz="1600" u="none" cap="none" strike="noStrike">
                <a:solidFill>
                  <a:srgbClr val="5C4826"/>
                </a:solidFill>
                <a:latin typeface="Calibri"/>
                <a:ea typeface="Calibri"/>
                <a:cs typeface="Calibri"/>
                <a:sym typeface="Calibri"/>
              </a:rPr>
              <a:t>REQUEST</a:t>
            </a:r>
            <a:endParaRPr sz="1600"/>
          </a:p>
        </p:txBody>
      </p:sp>
      <p:sp>
        <p:nvSpPr>
          <p:cNvPr id="497" name="Google Shape;497;p34"/>
          <p:cNvSpPr/>
          <p:nvPr/>
        </p:nvSpPr>
        <p:spPr>
          <a:xfrm>
            <a:off x="3767328" y="3145536"/>
            <a:ext cx="1083564"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8" name="Google Shape;498;p34"/>
          <p:cNvSpPr txBox="1"/>
          <p:nvPr/>
        </p:nvSpPr>
        <p:spPr>
          <a:xfrm>
            <a:off x="3785615" y="3200400"/>
            <a:ext cx="1046988"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sz="1500" u="none" cap="none" strike="noStrike">
                <a:solidFill>
                  <a:srgbClr val="FFFFFF"/>
                </a:solidFill>
                <a:latin typeface="Calibri"/>
                <a:ea typeface="Calibri"/>
                <a:cs typeface="Calibri"/>
                <a:sym typeface="Calibri"/>
              </a:rPr>
              <a:t>Requested</a:t>
            </a:r>
            <a:endParaRPr sz="1500"/>
          </a:p>
        </p:txBody>
      </p:sp>
      <p:sp>
        <p:nvSpPr>
          <p:cNvPr id="499" name="Google Shape;499;p34"/>
          <p:cNvSpPr txBox="1"/>
          <p:nvPr/>
        </p:nvSpPr>
        <p:spPr>
          <a:xfrm>
            <a:off x="310896" y="3959352"/>
            <a:ext cx="1280160" cy="42976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i="0" lang="en-US" sz="1600" u="none" cap="none" strike="noStrike">
                <a:solidFill>
                  <a:srgbClr val="5C4826"/>
                </a:solidFill>
                <a:latin typeface="Calibri"/>
                <a:ea typeface="Calibri"/>
                <a:cs typeface="Calibri"/>
                <a:sym typeface="Calibri"/>
              </a:rPr>
              <a:t>ENG-303</a:t>
            </a:r>
            <a:endParaRPr sz="1600"/>
          </a:p>
        </p:txBody>
      </p:sp>
      <p:sp>
        <p:nvSpPr>
          <p:cNvPr id="500" name="Google Shape;500;p34"/>
          <p:cNvSpPr/>
          <p:nvPr/>
        </p:nvSpPr>
        <p:spPr>
          <a:xfrm>
            <a:off x="4850892" y="3959352"/>
            <a:ext cx="2167128" cy="502920"/>
          </a:xfrm>
          <a:prstGeom prst="rect">
            <a:avLst/>
          </a:prstGeom>
          <a:solidFill>
            <a:srgbClr val="2E74B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1" name="Google Shape;501;p34"/>
          <p:cNvSpPr txBox="1"/>
          <p:nvPr/>
        </p:nvSpPr>
        <p:spPr>
          <a:xfrm>
            <a:off x="4869179" y="4014215"/>
            <a:ext cx="2130552"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sz="1500" u="none" cap="none" strike="noStrike">
                <a:solidFill>
                  <a:srgbClr val="FFFFFF"/>
                </a:solidFill>
                <a:latin typeface="Calibri"/>
                <a:ea typeface="Calibri"/>
                <a:cs typeface="Calibri"/>
                <a:sym typeface="Calibri"/>
              </a:rPr>
              <a:t>Booked</a:t>
            </a:r>
            <a:endParaRPr sz="1500"/>
          </a:p>
        </p:txBody>
      </p:sp>
      <p:sp>
        <p:nvSpPr>
          <p:cNvPr id="502" name="Google Shape;502;p34"/>
          <p:cNvSpPr txBox="1"/>
          <p:nvPr/>
        </p:nvSpPr>
        <p:spPr>
          <a:xfrm>
            <a:off x="676656" y="4983480"/>
            <a:ext cx="7909560" cy="393192"/>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800">
                <a:solidFill>
                  <a:srgbClr val="5C4826"/>
                </a:solidFill>
                <a:latin typeface="Calibri"/>
                <a:ea typeface="Calibri"/>
                <a:cs typeface="Calibri"/>
                <a:sym typeface="Calibri"/>
              </a:rPr>
              <a:t>Expected: both LIB-202 and ENG-303 are available.</a:t>
            </a:r>
            <a:endParaRPr/>
          </a:p>
        </p:txBody>
      </p:sp>
      <p:sp>
        <p:nvSpPr>
          <p:cNvPr id="503" name="Google Shape;503;p34"/>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34"/>
          <p:cNvSpPr txBox="1"/>
          <p:nvPr/>
        </p:nvSpPr>
        <p:spPr>
          <a:xfrm>
            <a:off x="384048" y="5916168"/>
            <a:ext cx="8375904"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The bookings touch the requested interval without overlapping it.</a:t>
            </a:r>
            <a:endParaRPr/>
          </a:p>
        </p:txBody>
      </p:sp>
      <p:sp>
        <p:nvSpPr>
          <p:cNvPr id="505" name="Google Shape;505;p34"/>
          <p:cNvSpPr txBox="1"/>
          <p:nvPr/>
        </p:nvSpPr>
        <p:spPr>
          <a:xfrm>
            <a:off x="685800" y="5321300"/>
            <a:ext cx="71121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C7122E"/>
                </a:solidFill>
                <a:latin typeface="Consolas"/>
                <a:ea typeface="Consolas"/>
                <a:cs typeface="Consolas"/>
                <a:sym typeface="Consolas"/>
              </a:rPr>
              <a:t>Observed: {"available_rooms": []}</a:t>
            </a:r>
            <a:endParaRPr b="1" sz="1600">
              <a:solidFill>
                <a:srgbClr val="C7122E"/>
              </a:solidFill>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35"/>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Tests reveal the bug and verify the repair</a:t>
            </a:r>
            <a:endParaRPr/>
          </a:p>
        </p:txBody>
      </p:sp>
      <p:sp>
        <p:nvSpPr>
          <p:cNvPr id="512" name="Google Shape;512;p35"/>
          <p:cNvSpPr/>
          <p:nvPr/>
        </p:nvSpPr>
        <p:spPr>
          <a:xfrm>
            <a:off x="502920" y="1426464"/>
            <a:ext cx="3538728" cy="292608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3" name="Google Shape;513;p35"/>
          <p:cNvSpPr txBox="1"/>
          <p:nvPr/>
        </p:nvSpPr>
        <p:spPr>
          <a:xfrm>
            <a:off x="649224" y="1527048"/>
            <a:ext cx="3246120" cy="25603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BEFORE THE FIX</a:t>
            </a:r>
            <a:endParaRPr/>
          </a:p>
        </p:txBody>
      </p:sp>
      <p:sp>
        <p:nvSpPr>
          <p:cNvPr id="514" name="Google Shape;514;p35"/>
          <p:cNvSpPr txBox="1"/>
          <p:nvPr/>
        </p:nvSpPr>
        <p:spPr>
          <a:xfrm>
            <a:off x="649224" y="1801368"/>
            <a:ext cx="3246120" cy="429768"/>
          </a:xfrm>
          <a:prstGeom prst="rect">
            <a:avLst/>
          </a:prstGeom>
          <a:noFill/>
          <a:ln>
            <a:noFill/>
          </a:ln>
        </p:spPr>
        <p:txBody>
          <a:bodyPr anchorCtr="0" anchor="ctr" bIns="22850" lIns="27425" spcFirstLastPara="1" rIns="27425" wrap="square" tIns="22850">
            <a:spAutoFit/>
          </a:bodyPr>
          <a:lstStyle/>
          <a:p>
            <a:pPr indent="0" lvl="0" marL="0" marR="0" rtl="0" algn="l">
              <a:lnSpc>
                <a:spcPct val="104000"/>
              </a:lnSpc>
              <a:spcBef>
                <a:spcPts val="0"/>
              </a:spcBef>
              <a:spcAft>
                <a:spcPts val="0"/>
              </a:spcAft>
              <a:buNone/>
            </a:pPr>
            <a:r>
              <a:rPr b="1" i="0" lang="en-US" sz="2200" u="none" cap="none" strike="noStrike">
                <a:solidFill>
                  <a:srgbClr val="5C4826"/>
                </a:solidFill>
                <a:latin typeface="Calibri"/>
                <a:ea typeface="Calibri"/>
                <a:cs typeface="Calibri"/>
                <a:sym typeface="Calibri"/>
              </a:rPr>
              <a:t>7 PASS · 3 FAIL</a:t>
            </a:r>
            <a:endParaRPr/>
          </a:p>
        </p:txBody>
      </p:sp>
      <p:sp>
        <p:nvSpPr>
          <p:cNvPr id="515" name="Google Shape;515;p35"/>
          <p:cNvSpPr txBox="1"/>
          <p:nvPr/>
        </p:nvSpPr>
        <p:spPr>
          <a:xfrm>
            <a:off x="649224" y="2286000"/>
            <a:ext cx="3246120" cy="1956816"/>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API returns an empty list</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Expected: two free rooms</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Three boundary tests fail</a:t>
            </a:r>
            <a:endParaRPr/>
          </a:p>
        </p:txBody>
      </p:sp>
      <p:sp>
        <p:nvSpPr>
          <p:cNvPr id="516" name="Google Shape;516;p35"/>
          <p:cNvSpPr/>
          <p:nvPr/>
        </p:nvSpPr>
        <p:spPr>
          <a:xfrm>
            <a:off x="5093208" y="1426464"/>
            <a:ext cx="3529584" cy="292608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7" name="Google Shape;517;p35"/>
          <p:cNvSpPr txBox="1"/>
          <p:nvPr/>
        </p:nvSpPr>
        <p:spPr>
          <a:xfrm>
            <a:off x="5239512" y="1527048"/>
            <a:ext cx="3236976" cy="256032"/>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a:solidFill>
                  <a:srgbClr val="8E6F3E"/>
                </a:solidFill>
                <a:latin typeface="Calibri"/>
                <a:ea typeface="Calibri"/>
                <a:cs typeface="Calibri"/>
                <a:sym typeface="Calibri"/>
              </a:rPr>
              <a:t>AFTER THE FIX</a:t>
            </a:r>
            <a:endParaRPr/>
          </a:p>
        </p:txBody>
      </p:sp>
      <p:sp>
        <p:nvSpPr>
          <p:cNvPr id="518" name="Google Shape;518;p35"/>
          <p:cNvSpPr txBox="1"/>
          <p:nvPr/>
        </p:nvSpPr>
        <p:spPr>
          <a:xfrm>
            <a:off x="5239512" y="1801368"/>
            <a:ext cx="3236976" cy="429768"/>
          </a:xfrm>
          <a:prstGeom prst="rect">
            <a:avLst/>
          </a:prstGeom>
          <a:noFill/>
          <a:ln>
            <a:noFill/>
          </a:ln>
        </p:spPr>
        <p:txBody>
          <a:bodyPr anchorCtr="0" anchor="ctr" bIns="22850" lIns="27425" spcFirstLastPara="1" rIns="27425" wrap="square" tIns="22850">
            <a:spAutoFit/>
          </a:bodyPr>
          <a:lstStyle/>
          <a:p>
            <a:pPr indent="0" lvl="0" marL="0" marR="0" rtl="0" algn="l">
              <a:lnSpc>
                <a:spcPct val="104000"/>
              </a:lnSpc>
              <a:spcBef>
                <a:spcPts val="0"/>
              </a:spcBef>
              <a:spcAft>
                <a:spcPts val="0"/>
              </a:spcAft>
              <a:buNone/>
            </a:pPr>
            <a:r>
              <a:rPr b="1" i="0" lang="en-US" sz="2200" u="none" cap="none" strike="noStrike">
                <a:solidFill>
                  <a:srgbClr val="5C4826"/>
                </a:solidFill>
                <a:latin typeface="Calibri"/>
                <a:ea typeface="Calibri"/>
                <a:cs typeface="Calibri"/>
                <a:sym typeface="Calibri"/>
              </a:rPr>
              <a:t>10 PASS · 0 FAIL</a:t>
            </a:r>
            <a:endParaRPr/>
          </a:p>
        </p:txBody>
      </p:sp>
      <p:sp>
        <p:nvSpPr>
          <p:cNvPr id="519" name="Google Shape;519;p35"/>
          <p:cNvSpPr txBox="1"/>
          <p:nvPr/>
        </p:nvSpPr>
        <p:spPr>
          <a:xfrm>
            <a:off x="5239512" y="2286000"/>
            <a:ext cx="3236976" cy="1956816"/>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API returns both rooms</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Targeted and full tests pass</a:t>
            </a:r>
            <a:endParaRPr sz="1800">
              <a:solidFill>
                <a:srgbClr val="555960"/>
              </a:solidFill>
              <a:latin typeface="Calibri"/>
              <a:ea typeface="Calibri"/>
              <a:cs typeface="Calibri"/>
              <a:sym typeface="Calibri"/>
            </a:endParaRPr>
          </a:p>
          <a:p>
            <a:pPr indent="0" lvl="0" marL="0" marR="0" rtl="0" algn="l">
              <a:lnSpc>
                <a:spcPct val="104000"/>
              </a:lnSpc>
              <a:spcBef>
                <a:spcPts val="0"/>
              </a:spcBef>
              <a:spcAft>
                <a:spcPts val="0"/>
              </a:spcAft>
              <a:buNone/>
            </a:pPr>
            <a:r>
              <a:rPr lang="en-US" sz="1800">
                <a:solidFill>
                  <a:srgbClr val="555960"/>
                </a:solidFill>
                <a:latin typeface="Calibri"/>
                <a:ea typeface="Calibri"/>
                <a:cs typeface="Calibri"/>
                <a:sym typeface="Calibri"/>
              </a:rPr>
              <a:t>Review the implementation diff</a:t>
            </a:r>
            <a:endParaRPr/>
          </a:p>
        </p:txBody>
      </p:sp>
      <p:sp>
        <p:nvSpPr>
          <p:cNvPr id="520" name="Google Shape;520;p35"/>
          <p:cNvSpPr/>
          <p:nvPr/>
        </p:nvSpPr>
        <p:spPr>
          <a:xfrm>
            <a:off x="4206240" y="2889504"/>
            <a:ext cx="649224" cy="310896"/>
          </a:xfrm>
          <a:prstGeom prst="rightArrow">
            <a:avLst>
              <a:gd fmla="val 50000" name="adj1"/>
              <a:gd fmla="val 50000" name="adj2"/>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35"/>
          <p:cNvSpPr txBox="1"/>
          <p:nvPr/>
        </p:nvSpPr>
        <p:spPr>
          <a:xfrm>
            <a:off x="521207" y="4919472"/>
            <a:ext cx="8101583" cy="42976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C8102E"/>
                </a:solidFill>
                <a:latin typeface="Calibri"/>
                <a:ea typeface="Calibri"/>
                <a:cs typeface="Calibri"/>
                <a:sym typeface="Calibri"/>
              </a:rPr>
              <a:t>Fix the overlap logic—not the tests or specification.</a:t>
            </a:r>
            <a:endParaRPr/>
          </a:p>
        </p:txBody>
      </p:sp>
      <p:sp>
        <p:nvSpPr>
          <p:cNvPr id="522" name="Google Shape;522;p35"/>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35"/>
          <p:cNvSpPr txBox="1"/>
          <p:nvPr/>
        </p:nvSpPr>
        <p:spPr>
          <a:xfrm>
            <a:off x="384048" y="5916168"/>
            <a:ext cx="8375904"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600">
                <a:solidFill>
                  <a:srgbClr val="FFFFFF"/>
                </a:solidFill>
                <a:latin typeface="Calibri"/>
                <a:ea typeface="Calibri"/>
                <a:cs typeface="Calibri"/>
                <a:sym typeface="Calibri"/>
              </a:rPr>
              <a:t>An observed failing test motivates the fix; rerunning tests checks it.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6"/>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Try it: from GitHub issue to verified fix</a:t>
            </a:r>
            <a:endParaRPr/>
          </a:p>
        </p:txBody>
      </p:sp>
      <p:sp>
        <p:nvSpPr>
          <p:cNvPr id="530" name="Google Shape;530;p36"/>
          <p:cNvSpPr/>
          <p:nvPr/>
        </p:nvSpPr>
        <p:spPr>
          <a:xfrm>
            <a:off x="475488" y="1060704"/>
            <a:ext cx="2066543"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1" name="Google Shape;531;p36"/>
          <p:cNvSpPr txBox="1"/>
          <p:nvPr/>
        </p:nvSpPr>
        <p:spPr>
          <a:xfrm>
            <a:off x="502920" y="1060704"/>
            <a:ext cx="2011679" cy="38404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500">
                <a:solidFill>
                  <a:srgbClr val="FFFFFF"/>
                </a:solidFill>
                <a:latin typeface="Calibri"/>
                <a:ea typeface="Calibri"/>
                <a:cs typeface="Calibri"/>
                <a:sym typeface="Calibri"/>
              </a:rPr>
              <a:t>10</a:t>
            </a:r>
            <a:r>
              <a:rPr b="1" lang="en-US" sz="1500">
                <a:solidFill>
                  <a:srgbClr val="FFFFFF"/>
                </a:solidFill>
                <a:latin typeface="Calibri"/>
                <a:ea typeface="Calibri"/>
                <a:cs typeface="Calibri"/>
                <a:sym typeface="Calibri"/>
              </a:rPr>
              <a:t> MINUTES · TRY IT</a:t>
            </a:r>
            <a:endParaRPr sz="1500"/>
          </a:p>
        </p:txBody>
      </p:sp>
      <p:sp>
        <p:nvSpPr>
          <p:cNvPr id="532" name="Google Shape;532;p36"/>
          <p:cNvSpPr/>
          <p:nvPr/>
        </p:nvSpPr>
        <p:spPr>
          <a:xfrm>
            <a:off x="475488" y="1773936"/>
            <a:ext cx="548640"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36"/>
          <p:cNvSpPr txBox="1"/>
          <p:nvPr/>
        </p:nvSpPr>
        <p:spPr>
          <a:xfrm>
            <a:off x="502920" y="1773936"/>
            <a:ext cx="493776" cy="384048"/>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1</a:t>
            </a:r>
            <a:endParaRPr/>
          </a:p>
        </p:txBody>
      </p:sp>
      <p:sp>
        <p:nvSpPr>
          <p:cNvPr id="534" name="Google Shape;534;p36"/>
          <p:cNvSpPr txBox="1"/>
          <p:nvPr/>
        </p:nvSpPr>
        <p:spPr>
          <a:xfrm>
            <a:off x="1161288" y="1760220"/>
            <a:ext cx="7040879" cy="29260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BASELINE</a:t>
            </a:r>
            <a:endParaRPr/>
          </a:p>
        </p:txBody>
      </p:sp>
      <p:sp>
        <p:nvSpPr>
          <p:cNvPr id="535" name="Google Shape;535;p36"/>
          <p:cNvSpPr txBox="1"/>
          <p:nvPr/>
        </p:nvSpPr>
        <p:spPr>
          <a:xfrm>
            <a:off x="1161288" y="2075688"/>
            <a:ext cx="6995159" cy="438911"/>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Review Issue #1; run focused tests before editing.</a:t>
            </a:r>
            <a:endParaRPr sz="1600"/>
          </a:p>
        </p:txBody>
      </p:sp>
      <p:sp>
        <p:nvSpPr>
          <p:cNvPr id="536" name="Google Shape;536;p36"/>
          <p:cNvSpPr/>
          <p:nvPr/>
        </p:nvSpPr>
        <p:spPr>
          <a:xfrm>
            <a:off x="475488" y="2743200"/>
            <a:ext cx="548640"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7" name="Google Shape;537;p36"/>
          <p:cNvSpPr txBox="1"/>
          <p:nvPr/>
        </p:nvSpPr>
        <p:spPr>
          <a:xfrm>
            <a:off x="502920" y="2743200"/>
            <a:ext cx="493776" cy="384048"/>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2</a:t>
            </a:r>
            <a:endParaRPr/>
          </a:p>
        </p:txBody>
      </p:sp>
      <p:sp>
        <p:nvSpPr>
          <p:cNvPr id="538" name="Google Shape;538;p36"/>
          <p:cNvSpPr txBox="1"/>
          <p:nvPr/>
        </p:nvSpPr>
        <p:spPr>
          <a:xfrm>
            <a:off x="1161288" y="2729484"/>
            <a:ext cx="7040879" cy="29260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REPAIR</a:t>
            </a:r>
            <a:endParaRPr/>
          </a:p>
        </p:txBody>
      </p:sp>
      <p:sp>
        <p:nvSpPr>
          <p:cNvPr id="539" name="Google Shape;539;p36"/>
          <p:cNvSpPr txBox="1"/>
          <p:nvPr/>
        </p:nvSpPr>
        <p:spPr>
          <a:xfrm>
            <a:off x="1161288" y="3044952"/>
            <a:ext cx="6995159" cy="438911"/>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Invoke resolve-api-issue; change implementation only.</a:t>
            </a:r>
            <a:endParaRPr sz="1600"/>
          </a:p>
        </p:txBody>
      </p:sp>
      <p:sp>
        <p:nvSpPr>
          <p:cNvPr id="540" name="Google Shape;540;p36"/>
          <p:cNvSpPr/>
          <p:nvPr/>
        </p:nvSpPr>
        <p:spPr>
          <a:xfrm>
            <a:off x="475488" y="3712463"/>
            <a:ext cx="548640" cy="384048"/>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1" name="Google Shape;541;p36"/>
          <p:cNvSpPr txBox="1"/>
          <p:nvPr/>
        </p:nvSpPr>
        <p:spPr>
          <a:xfrm>
            <a:off x="502920" y="3712463"/>
            <a:ext cx="493776" cy="384048"/>
          </a:xfrm>
          <a:prstGeom prst="rect">
            <a:avLst/>
          </a:prstGeom>
          <a:noFill/>
          <a:ln>
            <a:noFill/>
          </a:ln>
        </p:spPr>
        <p:txBody>
          <a:bodyPr anchorCtr="0" anchor="ctr" bIns="22850" lIns="27425" spcFirstLastPara="1" rIns="27425" wrap="square" tIns="22850">
            <a:spAutoFit/>
          </a:bodyPr>
          <a:lstStyle/>
          <a:p>
            <a:pPr indent="0" lvl="0" marL="0" marR="0" rtl="0" algn="ctr">
              <a:lnSpc>
                <a:spcPct val="104000"/>
              </a:lnSpc>
              <a:spcBef>
                <a:spcPts val="0"/>
              </a:spcBef>
              <a:spcAft>
                <a:spcPts val="0"/>
              </a:spcAft>
              <a:buNone/>
            </a:pPr>
            <a:r>
              <a:rPr b="1" i="0" lang="en-US" sz="1600" u="none" cap="none" strike="noStrike">
                <a:solidFill>
                  <a:srgbClr val="FFFFFF"/>
                </a:solidFill>
                <a:latin typeface="Calibri"/>
                <a:ea typeface="Calibri"/>
                <a:cs typeface="Calibri"/>
                <a:sym typeface="Calibri"/>
              </a:rPr>
              <a:t>3</a:t>
            </a:r>
            <a:endParaRPr/>
          </a:p>
        </p:txBody>
      </p:sp>
      <p:sp>
        <p:nvSpPr>
          <p:cNvPr id="542" name="Google Shape;542;p36"/>
          <p:cNvSpPr txBox="1"/>
          <p:nvPr/>
        </p:nvSpPr>
        <p:spPr>
          <a:xfrm>
            <a:off x="1161288" y="3698748"/>
            <a:ext cx="7040879" cy="292608"/>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b="1" lang="en-US" sz="1800">
                <a:solidFill>
                  <a:srgbClr val="5C4826"/>
                </a:solidFill>
                <a:latin typeface="Calibri"/>
                <a:ea typeface="Calibri"/>
                <a:cs typeface="Calibri"/>
                <a:sym typeface="Calibri"/>
              </a:rPr>
              <a:t>VERIFY</a:t>
            </a:r>
            <a:endParaRPr/>
          </a:p>
        </p:txBody>
      </p:sp>
      <p:sp>
        <p:nvSpPr>
          <p:cNvPr id="543" name="Google Shape;543;p36"/>
          <p:cNvSpPr txBox="1"/>
          <p:nvPr/>
        </p:nvSpPr>
        <p:spPr>
          <a:xfrm>
            <a:off x="1161288" y="4014215"/>
            <a:ext cx="6995159" cy="438911"/>
          </a:xfrm>
          <a:prstGeom prst="rect">
            <a:avLst/>
          </a:prstGeom>
          <a:noFill/>
          <a:ln>
            <a:noFill/>
          </a:ln>
        </p:spPr>
        <p:txBody>
          <a:bodyPr anchorCtr="0" anchor="t" bIns="22850" lIns="27425" spcFirstLastPara="1" rIns="27425" wrap="square" tIns="22850">
            <a:noAutofit/>
          </a:bodyPr>
          <a:lstStyle/>
          <a:p>
            <a:pPr indent="0" lvl="0" marL="0" marR="0" rtl="0" algn="l">
              <a:lnSpc>
                <a:spcPct val="104000"/>
              </a:lnSpc>
              <a:spcBef>
                <a:spcPts val="0"/>
              </a:spcBef>
              <a:spcAft>
                <a:spcPts val="0"/>
              </a:spcAft>
              <a:buNone/>
            </a:pPr>
            <a:r>
              <a:rPr lang="en-US" sz="1600">
                <a:solidFill>
                  <a:srgbClr val="555960"/>
                </a:solidFill>
                <a:latin typeface="Calibri"/>
                <a:ea typeface="Calibri"/>
                <a:cs typeface="Calibri"/>
                <a:sym typeface="Calibri"/>
              </a:rPr>
              <a:t>Rerun focused and full tests; inspect git diff.</a:t>
            </a:r>
            <a:endParaRPr sz="1600"/>
          </a:p>
        </p:txBody>
      </p:sp>
      <p:sp>
        <p:nvSpPr>
          <p:cNvPr id="544" name="Google Shape;544;p36"/>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36"/>
          <p:cNvSpPr txBox="1"/>
          <p:nvPr/>
        </p:nvSpPr>
        <p:spPr>
          <a:xfrm>
            <a:off x="384048" y="5916168"/>
            <a:ext cx="8375904" cy="41148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700">
                <a:solidFill>
                  <a:srgbClr val="FFFFFF"/>
                </a:solidFill>
                <a:latin typeface="Calibri"/>
                <a:ea typeface="Calibri"/>
                <a:cs typeface="Calibri"/>
                <a:sym typeface="Calibri"/>
              </a:rPr>
              <a:t>Which tests and code changes support your conclusion?</a:t>
            </a:r>
            <a:endParaRPr/>
          </a:p>
        </p:txBody>
      </p:sp>
      <p:sp>
        <p:nvSpPr>
          <p:cNvPr id="546" name="Google Shape;546;p36"/>
          <p:cNvSpPr/>
          <p:nvPr/>
        </p:nvSpPr>
        <p:spPr>
          <a:xfrm>
            <a:off x="508000" y="4699000"/>
            <a:ext cx="8115300" cy="1016100"/>
          </a:xfrm>
          <a:prstGeom prst="rect">
            <a:avLst/>
          </a:prstGeom>
          <a:solidFill>
            <a:srgbClr val="FCFA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7" name="Google Shape;547;p36"/>
          <p:cNvSpPr txBox="1"/>
          <p:nvPr/>
        </p:nvSpPr>
        <p:spPr>
          <a:xfrm>
            <a:off x="660400" y="4749800"/>
            <a:ext cx="76581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8E6F3E"/>
                </a:solidFill>
                <a:latin typeface="Calibri"/>
                <a:ea typeface="Calibri"/>
                <a:cs typeface="Calibri"/>
                <a:sym typeface="Calibri"/>
              </a:rPr>
              <a:t>SUGGESTED PROMPT</a:t>
            </a:r>
            <a:endParaRPr b="1">
              <a:solidFill>
                <a:srgbClr val="8E6F3E"/>
              </a:solidFill>
              <a:latin typeface="Calibri"/>
              <a:ea typeface="Calibri"/>
              <a:cs typeface="Calibri"/>
              <a:sym typeface="Calibri"/>
            </a:endParaRPr>
          </a:p>
        </p:txBody>
      </p:sp>
      <p:sp>
        <p:nvSpPr>
          <p:cNvPr id="548" name="Google Shape;548;p36"/>
          <p:cNvSpPr txBox="1"/>
          <p:nvPr/>
        </p:nvSpPr>
        <p:spPr>
          <a:xfrm>
            <a:off x="660400" y="5067300"/>
            <a:ext cx="7746900" cy="55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2E2E2E"/>
                </a:solidFill>
                <a:latin typeface="Calibri"/>
                <a:ea typeface="Calibri"/>
                <a:cs typeface="Calibri"/>
                <a:sym typeface="Calibri"/>
              </a:rPr>
              <a:t>Use the Issue #1 requirements you already retrieved. Invoke resolve-api-issue; run tests before edits, fix only implementation, rerun the full suite, and show git diff. Do not change tests or push.</a:t>
            </a:r>
            <a:endParaRPr sz="1500">
              <a:solidFill>
                <a:srgbClr val="2E2E2E"/>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7"/>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Putting the workflow together</a:t>
            </a:r>
            <a:endParaRPr/>
          </a:p>
        </p:txBody>
      </p:sp>
      <p:sp>
        <p:nvSpPr>
          <p:cNvPr id="555" name="Google Shape;555;p37"/>
          <p:cNvSpPr/>
          <p:nvPr/>
        </p:nvSpPr>
        <p:spPr>
          <a:xfrm>
            <a:off x="310896" y="1508760"/>
            <a:ext cx="2057400" cy="2286000"/>
          </a:xfrm>
          <a:prstGeom prst="rect">
            <a:avLst/>
          </a:prstGeom>
          <a:solidFill>
            <a:srgbClr val="F5F1E8"/>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6" name="Google Shape;556;p37"/>
          <p:cNvSpPr txBox="1"/>
          <p:nvPr/>
        </p:nvSpPr>
        <p:spPr>
          <a:xfrm>
            <a:off x="457200" y="1609344"/>
            <a:ext cx="1764792" cy="256032"/>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u="none" cap="none" strike="noStrike">
                <a:solidFill>
                  <a:srgbClr val="8E6F3E"/>
                </a:solidFill>
                <a:latin typeface="Calibri"/>
                <a:ea typeface="Calibri"/>
                <a:cs typeface="Calibri"/>
                <a:sym typeface="Calibri"/>
              </a:rPr>
              <a:t>01</a:t>
            </a:r>
            <a:endParaRPr/>
          </a:p>
        </p:txBody>
      </p:sp>
      <p:sp>
        <p:nvSpPr>
          <p:cNvPr id="557" name="Google Shape;557;p37"/>
          <p:cNvSpPr txBox="1"/>
          <p:nvPr/>
        </p:nvSpPr>
        <p:spPr>
          <a:xfrm>
            <a:off x="457200" y="1883664"/>
            <a:ext cx="1764792" cy="42976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900">
                <a:solidFill>
                  <a:srgbClr val="5C4826"/>
                </a:solidFill>
                <a:latin typeface="Calibri"/>
                <a:ea typeface="Calibri"/>
                <a:cs typeface="Calibri"/>
                <a:sym typeface="Calibri"/>
              </a:rPr>
              <a:t>AGENTS.md</a:t>
            </a:r>
            <a:endParaRPr/>
          </a:p>
        </p:txBody>
      </p:sp>
      <p:sp>
        <p:nvSpPr>
          <p:cNvPr id="558" name="Google Shape;558;p37"/>
          <p:cNvSpPr txBox="1"/>
          <p:nvPr/>
        </p:nvSpPr>
        <p:spPr>
          <a:xfrm>
            <a:off x="457200" y="2368296"/>
            <a:ext cx="1764792" cy="1316736"/>
          </a:xfrm>
          <a:prstGeom prst="rect">
            <a:avLst/>
          </a:prstGeom>
          <a:noFill/>
          <a:ln>
            <a:noFill/>
          </a:ln>
        </p:spPr>
        <p:txBody>
          <a:bodyPr anchorCtr="0" anchor="t" bIns="22850" lIns="27425" spcFirstLastPara="1" rIns="27425" wrap="square" tIns="22850">
            <a:noAutofit/>
          </a:bodyPr>
          <a:lstStyle/>
          <a:p>
            <a:pPr indent="0" lvl="0" marL="0" marR="0" rtl="0" algn="ctr">
              <a:lnSpc>
                <a:spcPct val="104000"/>
              </a:lnSpc>
              <a:spcBef>
                <a:spcPts val="0"/>
              </a:spcBef>
              <a:spcAft>
                <a:spcPts val="0"/>
              </a:spcAft>
              <a:buNone/>
            </a:pPr>
            <a:r>
              <a:rPr lang="en-US" sz="1600">
                <a:solidFill>
                  <a:srgbClr val="555960"/>
                </a:solidFill>
                <a:latin typeface="Calibri"/>
                <a:ea typeface="Calibri"/>
                <a:cs typeface="Calibri"/>
                <a:sym typeface="Calibri"/>
              </a:rPr>
              <a:t>Project rules</a:t>
            </a:r>
            <a:endParaRPr/>
          </a:p>
        </p:txBody>
      </p:sp>
      <p:sp>
        <p:nvSpPr>
          <p:cNvPr id="559" name="Google Shape;559;p37"/>
          <p:cNvSpPr/>
          <p:nvPr/>
        </p:nvSpPr>
        <p:spPr>
          <a:xfrm>
            <a:off x="2395727" y="2596896"/>
            <a:ext cx="173736" cy="164592"/>
          </a:xfrm>
          <a:prstGeom prst="rightArrow">
            <a:avLst>
              <a:gd fmla="val 50000" name="adj1"/>
              <a:gd fmla="val 50000" name="adj2"/>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0" name="Google Shape;560;p37"/>
          <p:cNvSpPr/>
          <p:nvPr/>
        </p:nvSpPr>
        <p:spPr>
          <a:xfrm>
            <a:off x="2560320" y="1508760"/>
            <a:ext cx="2057400" cy="228600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37"/>
          <p:cNvSpPr txBox="1"/>
          <p:nvPr/>
        </p:nvSpPr>
        <p:spPr>
          <a:xfrm>
            <a:off x="2706624" y="1609344"/>
            <a:ext cx="1764792" cy="256032"/>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u="none" cap="none" strike="noStrike">
                <a:solidFill>
                  <a:srgbClr val="8E6F3E"/>
                </a:solidFill>
                <a:latin typeface="Calibri"/>
                <a:ea typeface="Calibri"/>
                <a:cs typeface="Calibri"/>
                <a:sym typeface="Calibri"/>
              </a:rPr>
              <a:t>02</a:t>
            </a:r>
            <a:endParaRPr/>
          </a:p>
        </p:txBody>
      </p:sp>
      <p:sp>
        <p:nvSpPr>
          <p:cNvPr id="562" name="Google Shape;562;p37"/>
          <p:cNvSpPr txBox="1"/>
          <p:nvPr/>
        </p:nvSpPr>
        <p:spPr>
          <a:xfrm>
            <a:off x="2706624" y="1883664"/>
            <a:ext cx="1764792" cy="42976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900">
                <a:solidFill>
                  <a:srgbClr val="5C4826"/>
                </a:solidFill>
                <a:latin typeface="Calibri"/>
                <a:ea typeface="Calibri"/>
                <a:cs typeface="Calibri"/>
                <a:sym typeface="Calibri"/>
              </a:rPr>
              <a:t>GITHUB MCP</a:t>
            </a:r>
            <a:endParaRPr/>
          </a:p>
        </p:txBody>
      </p:sp>
      <p:sp>
        <p:nvSpPr>
          <p:cNvPr id="563" name="Google Shape;563;p37"/>
          <p:cNvSpPr txBox="1"/>
          <p:nvPr/>
        </p:nvSpPr>
        <p:spPr>
          <a:xfrm>
            <a:off x="2706624" y="2368296"/>
            <a:ext cx="1764792" cy="1316736"/>
          </a:xfrm>
          <a:prstGeom prst="rect">
            <a:avLst/>
          </a:prstGeom>
          <a:noFill/>
          <a:ln>
            <a:noFill/>
          </a:ln>
        </p:spPr>
        <p:txBody>
          <a:bodyPr anchorCtr="0" anchor="t" bIns="22850" lIns="27425" spcFirstLastPara="1" rIns="27425" wrap="square" tIns="22850">
            <a:noAutofit/>
          </a:bodyPr>
          <a:lstStyle/>
          <a:p>
            <a:pPr indent="0" lvl="0" marL="0" marR="0" rtl="0" algn="ctr">
              <a:lnSpc>
                <a:spcPct val="104000"/>
              </a:lnSpc>
              <a:spcBef>
                <a:spcPts val="0"/>
              </a:spcBef>
              <a:spcAft>
                <a:spcPts val="0"/>
              </a:spcAft>
              <a:buNone/>
            </a:pPr>
            <a:r>
              <a:rPr lang="en-US" sz="1600">
                <a:solidFill>
                  <a:srgbClr val="555960"/>
                </a:solidFill>
                <a:latin typeface="Calibri"/>
                <a:ea typeface="Calibri"/>
                <a:cs typeface="Calibri"/>
                <a:sym typeface="Calibri"/>
              </a:rPr>
              <a:t>Issue data</a:t>
            </a:r>
            <a:endParaRPr/>
          </a:p>
        </p:txBody>
      </p:sp>
      <p:sp>
        <p:nvSpPr>
          <p:cNvPr id="564" name="Google Shape;564;p37"/>
          <p:cNvSpPr/>
          <p:nvPr/>
        </p:nvSpPr>
        <p:spPr>
          <a:xfrm>
            <a:off x="4645152" y="2596896"/>
            <a:ext cx="173736" cy="164592"/>
          </a:xfrm>
          <a:prstGeom prst="rightArrow">
            <a:avLst>
              <a:gd fmla="val 50000" name="adj1"/>
              <a:gd fmla="val 50000" name="adj2"/>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5" name="Google Shape;565;p37"/>
          <p:cNvSpPr/>
          <p:nvPr/>
        </p:nvSpPr>
        <p:spPr>
          <a:xfrm>
            <a:off x="4809744" y="1508760"/>
            <a:ext cx="2057400" cy="2286000"/>
          </a:xfrm>
          <a:prstGeom prst="rect">
            <a:avLst/>
          </a:prstGeom>
          <a:solidFill>
            <a:srgbClr val="F5F1E8"/>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6" name="Google Shape;566;p37"/>
          <p:cNvSpPr txBox="1"/>
          <p:nvPr/>
        </p:nvSpPr>
        <p:spPr>
          <a:xfrm>
            <a:off x="4956048" y="1609344"/>
            <a:ext cx="1764792" cy="256032"/>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u="none" cap="none" strike="noStrike">
                <a:solidFill>
                  <a:srgbClr val="8E6F3E"/>
                </a:solidFill>
                <a:latin typeface="Calibri"/>
                <a:ea typeface="Calibri"/>
                <a:cs typeface="Calibri"/>
                <a:sym typeface="Calibri"/>
              </a:rPr>
              <a:t>03</a:t>
            </a:r>
            <a:endParaRPr/>
          </a:p>
        </p:txBody>
      </p:sp>
      <p:sp>
        <p:nvSpPr>
          <p:cNvPr id="567" name="Google Shape;567;p37"/>
          <p:cNvSpPr txBox="1"/>
          <p:nvPr/>
        </p:nvSpPr>
        <p:spPr>
          <a:xfrm>
            <a:off x="4956048" y="1883664"/>
            <a:ext cx="1764792" cy="42976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900">
                <a:solidFill>
                  <a:srgbClr val="5C4826"/>
                </a:solidFill>
                <a:latin typeface="Calibri"/>
                <a:ea typeface="Calibri"/>
                <a:cs typeface="Calibri"/>
                <a:sym typeface="Calibri"/>
              </a:rPr>
              <a:t>SKILL.md</a:t>
            </a:r>
            <a:endParaRPr/>
          </a:p>
        </p:txBody>
      </p:sp>
      <p:sp>
        <p:nvSpPr>
          <p:cNvPr id="568" name="Google Shape;568;p37"/>
          <p:cNvSpPr txBox="1"/>
          <p:nvPr/>
        </p:nvSpPr>
        <p:spPr>
          <a:xfrm>
            <a:off x="4956048" y="2368296"/>
            <a:ext cx="1764792" cy="1316736"/>
          </a:xfrm>
          <a:prstGeom prst="rect">
            <a:avLst/>
          </a:prstGeom>
          <a:noFill/>
          <a:ln>
            <a:noFill/>
          </a:ln>
        </p:spPr>
        <p:txBody>
          <a:bodyPr anchorCtr="0" anchor="t" bIns="22850" lIns="27425" spcFirstLastPara="1" rIns="27425" wrap="square" tIns="22850">
            <a:noAutofit/>
          </a:bodyPr>
          <a:lstStyle/>
          <a:p>
            <a:pPr indent="0" lvl="0" marL="0" marR="0" rtl="0" algn="ctr">
              <a:lnSpc>
                <a:spcPct val="104000"/>
              </a:lnSpc>
              <a:spcBef>
                <a:spcPts val="0"/>
              </a:spcBef>
              <a:spcAft>
                <a:spcPts val="0"/>
              </a:spcAft>
              <a:buNone/>
            </a:pPr>
            <a:r>
              <a:rPr lang="en-US" sz="1600">
                <a:solidFill>
                  <a:srgbClr val="555960"/>
                </a:solidFill>
                <a:latin typeface="Calibri"/>
                <a:ea typeface="Calibri"/>
                <a:cs typeface="Calibri"/>
                <a:sym typeface="Calibri"/>
              </a:rPr>
              <a:t>Repair steps</a:t>
            </a:r>
            <a:endParaRPr/>
          </a:p>
        </p:txBody>
      </p:sp>
      <p:sp>
        <p:nvSpPr>
          <p:cNvPr id="569" name="Google Shape;569;p37"/>
          <p:cNvSpPr/>
          <p:nvPr/>
        </p:nvSpPr>
        <p:spPr>
          <a:xfrm>
            <a:off x="6894575" y="2596896"/>
            <a:ext cx="173736" cy="164592"/>
          </a:xfrm>
          <a:prstGeom prst="rightArrow">
            <a:avLst>
              <a:gd fmla="val 50000" name="adj1"/>
              <a:gd fmla="val 50000" name="adj2"/>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37"/>
          <p:cNvSpPr/>
          <p:nvPr/>
        </p:nvSpPr>
        <p:spPr>
          <a:xfrm>
            <a:off x="7059168" y="1508760"/>
            <a:ext cx="2057400" cy="2286000"/>
          </a:xfrm>
          <a:prstGeom prst="rect">
            <a:avLst/>
          </a:prstGeom>
          <a:solidFill>
            <a:srgbClr val="FCFAF6"/>
          </a:solidFill>
          <a:ln cap="flat" cmpd="sng" w="12700">
            <a:solidFill>
              <a:srgbClr val="CBB5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1" name="Google Shape;571;p37"/>
          <p:cNvSpPr txBox="1"/>
          <p:nvPr/>
        </p:nvSpPr>
        <p:spPr>
          <a:xfrm>
            <a:off x="7205472" y="1609344"/>
            <a:ext cx="1764792" cy="256032"/>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i="0" lang="en-US" u="none" cap="none" strike="noStrike">
                <a:solidFill>
                  <a:srgbClr val="8E6F3E"/>
                </a:solidFill>
                <a:latin typeface="Calibri"/>
                <a:ea typeface="Calibri"/>
                <a:cs typeface="Calibri"/>
                <a:sym typeface="Calibri"/>
              </a:rPr>
              <a:t>04</a:t>
            </a:r>
            <a:endParaRPr/>
          </a:p>
        </p:txBody>
      </p:sp>
      <p:sp>
        <p:nvSpPr>
          <p:cNvPr id="572" name="Google Shape;572;p37"/>
          <p:cNvSpPr txBox="1"/>
          <p:nvPr/>
        </p:nvSpPr>
        <p:spPr>
          <a:xfrm>
            <a:off x="7205472" y="1883664"/>
            <a:ext cx="1764792" cy="429768"/>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900">
                <a:solidFill>
                  <a:srgbClr val="5C4826"/>
                </a:solidFill>
                <a:latin typeface="Calibri"/>
                <a:ea typeface="Calibri"/>
                <a:cs typeface="Calibri"/>
                <a:sym typeface="Calibri"/>
              </a:rPr>
              <a:t>TESTS</a:t>
            </a:r>
            <a:endParaRPr/>
          </a:p>
        </p:txBody>
      </p:sp>
      <p:sp>
        <p:nvSpPr>
          <p:cNvPr id="573" name="Google Shape;573;p37"/>
          <p:cNvSpPr txBox="1"/>
          <p:nvPr/>
        </p:nvSpPr>
        <p:spPr>
          <a:xfrm>
            <a:off x="7205472" y="2368296"/>
            <a:ext cx="1764792" cy="1316736"/>
          </a:xfrm>
          <a:prstGeom prst="rect">
            <a:avLst/>
          </a:prstGeom>
          <a:noFill/>
          <a:ln>
            <a:noFill/>
          </a:ln>
        </p:spPr>
        <p:txBody>
          <a:bodyPr anchorCtr="0" anchor="t" bIns="22850" lIns="27425" spcFirstLastPara="1" rIns="27425" wrap="square" tIns="22850">
            <a:noAutofit/>
          </a:bodyPr>
          <a:lstStyle/>
          <a:p>
            <a:pPr indent="0" lvl="0" marL="0" marR="0" rtl="0" algn="ctr">
              <a:lnSpc>
                <a:spcPct val="104000"/>
              </a:lnSpc>
              <a:spcBef>
                <a:spcPts val="0"/>
              </a:spcBef>
              <a:spcAft>
                <a:spcPts val="0"/>
              </a:spcAft>
              <a:buNone/>
            </a:pPr>
            <a:r>
              <a:rPr lang="en-US" sz="1600">
                <a:solidFill>
                  <a:srgbClr val="555960"/>
                </a:solidFill>
                <a:latin typeface="Calibri"/>
                <a:ea typeface="Calibri"/>
                <a:cs typeface="Calibri"/>
                <a:sym typeface="Calibri"/>
              </a:rPr>
              <a:t>Evidence</a:t>
            </a:r>
            <a:endParaRPr/>
          </a:p>
        </p:txBody>
      </p:sp>
      <p:sp>
        <p:nvSpPr>
          <p:cNvPr id="574" name="Google Shape;574;p37"/>
          <p:cNvSpPr txBox="1"/>
          <p:nvPr/>
        </p:nvSpPr>
        <p:spPr>
          <a:xfrm>
            <a:off x="411480" y="4379976"/>
            <a:ext cx="8293608" cy="621792"/>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2000">
                <a:solidFill>
                  <a:srgbClr val="5C4826"/>
                </a:solidFill>
                <a:latin typeface="Calibri"/>
                <a:ea typeface="Calibri"/>
                <a:cs typeface="Calibri"/>
                <a:sym typeface="Calibri"/>
              </a:rPr>
              <a:t>AGENTS.md sets rules; GITHUB MCP fetches the issue; skills guide the work; tests check the fix.</a:t>
            </a:r>
            <a:endParaRPr/>
          </a:p>
        </p:txBody>
      </p:sp>
      <p:sp>
        <p:nvSpPr>
          <p:cNvPr id="575" name="Google Shape;575;p37"/>
          <p:cNvSpPr/>
          <p:nvPr/>
        </p:nvSpPr>
        <p:spPr>
          <a:xfrm>
            <a:off x="274320" y="5879592"/>
            <a:ext cx="8595360" cy="502920"/>
          </a:xfrm>
          <a:prstGeom prst="rect">
            <a:avLst/>
          </a:prstGeom>
          <a:solidFill>
            <a:srgbClr val="8E6F3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6" name="Google Shape;576;p37"/>
          <p:cNvSpPr txBox="1"/>
          <p:nvPr/>
        </p:nvSpPr>
        <p:spPr>
          <a:xfrm>
            <a:off x="384048" y="5916168"/>
            <a:ext cx="8376000" cy="411600"/>
          </a:xfrm>
          <a:prstGeom prst="rect">
            <a:avLst/>
          </a:prstGeom>
          <a:noFill/>
          <a:ln>
            <a:noFill/>
          </a:ln>
        </p:spPr>
        <p:txBody>
          <a:bodyPr anchorCtr="0" anchor="ctr" bIns="22850" lIns="27425" spcFirstLastPara="1" rIns="27425" wrap="square" tIns="22850">
            <a:noAutofit/>
          </a:bodyPr>
          <a:lstStyle/>
          <a:p>
            <a:pPr indent="0" lvl="0" marL="0" marR="0" rtl="0" algn="ctr">
              <a:lnSpc>
                <a:spcPct val="104000"/>
              </a:lnSpc>
              <a:spcBef>
                <a:spcPts val="0"/>
              </a:spcBef>
              <a:spcAft>
                <a:spcPts val="0"/>
              </a:spcAft>
              <a:buNone/>
            </a:pPr>
            <a:r>
              <a:rPr b="1" lang="en-US" sz="1800">
                <a:solidFill>
                  <a:srgbClr val="FFFFFF"/>
                </a:solidFill>
                <a:latin typeface="Calibri"/>
                <a:ea typeface="Calibri"/>
                <a:cs typeface="Calibri"/>
                <a:sym typeface="Calibri"/>
              </a:rPr>
              <a:t>What will you try in your project this week?</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38"/>
          <p:cNvSpPr txBox="1"/>
          <p:nvPr/>
        </p:nvSpPr>
        <p:spPr>
          <a:xfrm>
            <a:off x="274320" y="128016"/>
            <a:ext cx="8595360" cy="594360"/>
          </a:xfrm>
          <a:prstGeom prst="rect">
            <a:avLst/>
          </a:prstGeom>
          <a:noFill/>
          <a:ln>
            <a:noFill/>
          </a:ln>
        </p:spPr>
        <p:txBody>
          <a:bodyPr anchorCtr="0" anchor="ctr" bIns="22850" lIns="27425" spcFirstLastPara="1" rIns="27425" wrap="square" tIns="22850">
            <a:noAutofit/>
          </a:bodyPr>
          <a:lstStyle/>
          <a:p>
            <a:pPr indent="0" lvl="0" marL="0" marR="0" rtl="0" algn="l">
              <a:lnSpc>
                <a:spcPct val="104000"/>
              </a:lnSpc>
              <a:spcBef>
                <a:spcPts val="0"/>
              </a:spcBef>
              <a:spcAft>
                <a:spcPts val="0"/>
              </a:spcAft>
              <a:buNone/>
            </a:pPr>
            <a:r>
              <a:rPr lang="en-US" sz="2400">
                <a:solidFill>
                  <a:srgbClr val="2D2D2D"/>
                </a:solidFill>
                <a:latin typeface="Calibri"/>
                <a:ea typeface="Calibri"/>
                <a:cs typeface="Calibri"/>
                <a:sym typeface="Calibri"/>
              </a:rPr>
              <a:t>Reflection: what will you try this week?</a:t>
            </a:r>
            <a:endParaRPr/>
          </a:p>
        </p:txBody>
      </p:sp>
      <p:sp>
        <p:nvSpPr>
          <p:cNvPr id="583" name="Google Shape;583;p38"/>
          <p:cNvSpPr txBox="1"/>
          <p:nvPr/>
        </p:nvSpPr>
        <p:spPr>
          <a:xfrm>
            <a:off x="4816450" y="5650975"/>
            <a:ext cx="41934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u="sng">
                <a:solidFill>
                  <a:schemeClr val="hlink"/>
                </a:solidFill>
                <a:hlinkClick r:id="rId3"/>
              </a:rPr>
              <a:t>https://forms.gle/J4FenBkBM5r23jgB6</a:t>
            </a:r>
            <a:endParaRPr sz="1700"/>
          </a:p>
        </p:txBody>
      </p:sp>
      <p:pic>
        <p:nvPicPr>
          <p:cNvPr id="584" name="Google Shape;584;p38"/>
          <p:cNvPicPr preferRelativeResize="0"/>
          <p:nvPr/>
        </p:nvPicPr>
        <p:blipFill>
          <a:blip r:embed="rId4">
            <a:alphaModFix/>
          </a:blip>
          <a:stretch>
            <a:fillRect/>
          </a:stretch>
        </p:blipFill>
        <p:spPr>
          <a:xfrm>
            <a:off x="4572000" y="1358900"/>
            <a:ext cx="4292600" cy="4292600"/>
          </a:xfrm>
          <a:prstGeom prst="rect">
            <a:avLst/>
          </a:prstGeom>
          <a:noFill/>
          <a:ln>
            <a:noFill/>
          </a:ln>
        </p:spPr>
      </p:pic>
      <p:sp>
        <p:nvSpPr>
          <p:cNvPr id="585" name="Google Shape;585;p38"/>
          <p:cNvSpPr txBox="1"/>
          <p:nvPr/>
        </p:nvSpPr>
        <p:spPr>
          <a:xfrm>
            <a:off x="609600" y="2362200"/>
            <a:ext cx="36702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500">
                <a:solidFill>
                  <a:srgbClr val="8E6F3E"/>
                </a:solidFill>
                <a:latin typeface="Calibri"/>
                <a:ea typeface="Calibri"/>
                <a:cs typeface="Calibri"/>
                <a:sym typeface="Calibri"/>
              </a:rPr>
              <a:t>Scan the QR code</a:t>
            </a:r>
            <a:endParaRPr b="1" sz="2500">
              <a:solidFill>
                <a:srgbClr val="8E6F3E"/>
              </a:solidFill>
              <a:latin typeface="Calibri"/>
              <a:ea typeface="Calibri"/>
              <a:cs typeface="Calibri"/>
              <a:sym typeface="Calibri"/>
            </a:endParaRPr>
          </a:p>
        </p:txBody>
      </p:sp>
      <p:sp>
        <p:nvSpPr>
          <p:cNvPr id="586" name="Google Shape;586;p38"/>
          <p:cNvSpPr txBox="1"/>
          <p:nvPr/>
        </p:nvSpPr>
        <p:spPr>
          <a:xfrm>
            <a:off x="609600" y="3149600"/>
            <a:ext cx="3530700" cy="11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rgbClr val="2E2E2E"/>
                </a:solidFill>
                <a:latin typeface="Calibri"/>
                <a:ea typeface="Calibri"/>
                <a:cs typeface="Calibri"/>
                <a:sym typeface="Calibri"/>
              </a:rPr>
              <a:t>Complete the reflection form before leaving.</a:t>
            </a:r>
            <a:endParaRPr sz="1900">
              <a:solidFill>
                <a:srgbClr val="2E2E2E"/>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