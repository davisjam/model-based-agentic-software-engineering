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304" r:id="rId42"/>
    <p:sldId id="305" r:id="rId43"/>
    <p:sldId id="306" r:id="rId44"/>
    <p:sldId id="307" r:id="rId45"/>
    <p:sldId id="308" r:id="rId46"/>
    <p:sldId id="309" r:id="rId47"/>
    <p:sldId id="310" r:id="rId48"/>
    <p:sldId id="311" r:id="rId49"/>
    <p:sldId id="312" r:id="rId50"/>
    <p:sldId id="313" r:id="rId51"/>
    <p:sldId id="314" r:id="rId52"/>
    <p:sldId id="315" r:id="rId53"/>
    <p:sldId id="316" r:id="rId54"/>
    <p:sldId id="317" r:id="rId55"/>
    <p:sldId id="318" r:id="rId56"/>
    <p:sldId id="319" r:id="rId57"/>
    <p:sldId id="320" r:id="rId58"/>
    <p:sldId id="321" r:id="rId59"/>
    <p:sldId id="322" r:id="rId60"/>
    <p:sldId id="323" r:id="rId61"/>
    <p:sldId id="324" r:id="rId62"/>
    <p:sldId id="325" r:id="rId63"/>
    <p:sldId id="326" r:id="rId64"/>
    <p:sldId id="327" r:id="rId65"/>
    <p:sldId id="331" r:id="rId35"/>
    <p:sldId id="332" r:id="rId34"/>
    <p:sldId id="328" r:id="rId66"/>
    <p:sldId id="329" r:id="rId67"/>
    <p:sldId id="330" r:id="rId6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5" autoAdjust="0"/>
    <p:restoredTop sz="81233"/>
  </p:normalViewPr>
  <p:slideViewPr>
    <p:cSldViewPr snapToGrid="0" snapToObjects="1">
      <p:cViewPr varScale="1">
        <p:scale>
          <a:sx n="97" d="100"/>
          <a:sy n="97" d="100"/>
        </p:scale>
        <p:origin x="146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4" Type="http://schemas.openxmlformats.org/officeDocument/2006/relationships/slide" Target="slides/slide27.xml"/><Relationship Id="rId35" Type="http://schemas.openxmlformats.org/officeDocument/2006/relationships/slide" Target="slides/slide26.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6/11/relationships/changesInfo" Target="changesInfos/changesInfo1.xml"/><Relationship Id="rId42" Type="http://schemas.openxmlformats.org/officeDocument/2006/relationships/slide" Target="slides/slide2.xml"/><Relationship Id="rId43" Type="http://schemas.openxmlformats.org/officeDocument/2006/relationships/slide" Target="slides/slide3.xml"/><Relationship Id="rId44" Type="http://schemas.openxmlformats.org/officeDocument/2006/relationships/slide" Target="slides/slide4.xml"/><Relationship Id="rId45" Type="http://schemas.openxmlformats.org/officeDocument/2006/relationships/slide" Target="slides/slide5.xml"/><Relationship Id="rId46" Type="http://schemas.openxmlformats.org/officeDocument/2006/relationships/slide" Target="slides/slide6.xml"/><Relationship Id="rId47" Type="http://schemas.openxmlformats.org/officeDocument/2006/relationships/slide" Target="slides/slide7.xml"/><Relationship Id="rId48" Type="http://schemas.openxmlformats.org/officeDocument/2006/relationships/slide" Target="slides/slide8.xml"/><Relationship Id="rId49" Type="http://schemas.openxmlformats.org/officeDocument/2006/relationships/slide" Target="slides/slide9.xml"/><Relationship Id="rId50" Type="http://schemas.openxmlformats.org/officeDocument/2006/relationships/slide" Target="slides/slide10.xml"/><Relationship Id="rId51" Type="http://schemas.openxmlformats.org/officeDocument/2006/relationships/slide" Target="slides/slide11.xml"/><Relationship Id="rId52" Type="http://schemas.openxmlformats.org/officeDocument/2006/relationships/slide" Target="slides/slide12.xml"/><Relationship Id="rId53" Type="http://schemas.openxmlformats.org/officeDocument/2006/relationships/slide" Target="slides/slide13.xml"/><Relationship Id="rId54" Type="http://schemas.openxmlformats.org/officeDocument/2006/relationships/slide" Target="slides/slide14.xml"/><Relationship Id="rId55" Type="http://schemas.openxmlformats.org/officeDocument/2006/relationships/slide" Target="slides/slide15.xml"/><Relationship Id="rId56" Type="http://schemas.openxmlformats.org/officeDocument/2006/relationships/slide" Target="slides/slide16.xml"/><Relationship Id="rId57" Type="http://schemas.openxmlformats.org/officeDocument/2006/relationships/slide" Target="slides/slide17.xml"/><Relationship Id="rId58" Type="http://schemas.openxmlformats.org/officeDocument/2006/relationships/slide" Target="slides/slide18.xml"/><Relationship Id="rId59" Type="http://schemas.openxmlformats.org/officeDocument/2006/relationships/slide" Target="slides/slide19.xml"/><Relationship Id="rId60" Type="http://schemas.openxmlformats.org/officeDocument/2006/relationships/slide" Target="slides/slide20.xml"/><Relationship Id="rId61" Type="http://schemas.openxmlformats.org/officeDocument/2006/relationships/slide" Target="slides/slide21.xml"/><Relationship Id="rId62" Type="http://schemas.openxmlformats.org/officeDocument/2006/relationships/slide" Target="slides/slide22.xml"/><Relationship Id="rId63" Type="http://schemas.openxmlformats.org/officeDocument/2006/relationships/slide" Target="slides/slide23.xml"/><Relationship Id="rId64" Type="http://schemas.openxmlformats.org/officeDocument/2006/relationships/slide" Target="slides/slide24.xml"/><Relationship Id="rId65" Type="http://schemas.openxmlformats.org/officeDocument/2006/relationships/slide" Target="slides/slide25.xml"/><Relationship Id="rId66" Type="http://schemas.openxmlformats.org/officeDocument/2006/relationships/slide" Target="slides/slide28.xml"/><Relationship Id="rId67" Type="http://schemas.openxmlformats.org/officeDocument/2006/relationships/slide" Target="slides/slide29.xml"/><Relationship Id="rId68" Type="http://schemas.openxmlformats.org/officeDocument/2006/relationships/slide" Target="slides/slide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75 minutes, with the slide-6 commitment discussion, the slide-27 FMEA transfer exercise, and the slide-29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BUILD (ANIMATION-IN-SPEECH — no authored animation; run the reveal as staged speech): Step 1 — read the lead and the four-step PROCEDURE at the top, before any row: identify a plausible failure mode; determine its consequences; identify existing or proposed controls; decide whether the remaining risk warrants action. This is the method slide 27 asks students to run unaided. Step 2 — only then walk the worked table one row at a time, naming which procedure step each column instantiates (failure mode -&gt; step 1, effect -&gt; step 2, candidate control -&gt; step 3). Step 3 — close on the occurrence line at the bottom: deciding which modes warrant action under unknown probabilities IS step 4.</a:t>
            </a:r>
          </a:p>
          <a:p>
            <a:r>
              <a:t>THE WORKED TABLE: each row: a FUNCTION of the system we know thoroughly, a failure mode, its effect, a candidate control — all met on slides 21–25.</a:t>
            </a:r>
          </a:p>
          <a:p>
            <a:r>
              <a:t>CARE — the staged-rollout row (cross-reference slide 25):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SIMPLIFICATION (say it to the class): a full FMEA also assesses severity, occurrence, and detectability to prioritize action. We are using a simplified version because we lack reliable estimates.</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7)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five.</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FIRST OF THREE CAUSAL BOUNDARIES. DELIVER EFFICIENTLY (author reallocation 261015): reduce exposition — state the boundary, the model, and the intervention, then move; slide 6's 4-minute commitment discussion is protected and untouched.</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ANSWERS: add the bounds check. Correct — and CrowdStrike did exactly that. Then ask whether that would have prevented THIS outage reaching 8.5 million machines. It would have prevented the crash; it would not have prevented a different bad content instance shipping the same way.</a:t>
            </a:r>
          </a:p>
          <a:p>
            <a:r>
              <a:t>TRANSITION: we have explained how the endpoint crashed. We have not explained why an update capable of causing that crash reached production.</a:t>
            </a:r>
          </a:p>
          <a:p>
            <a:r>
              <a:t>SOURCES: CrowdStrike RCA, 6 Aug 2024 (the bounds-check mitigation, backported to Windows sensor 7.11 and later).</a:t>
            </a:r>
          </a:p>
          <a:p>
            <a:r>
              <a:t>CORRECTION FOLDED IN: the first node reads 'incompatible content + interpreter', not 'defective content'. This was not a malformed file breaking an otherwise-correct interpreter — it was incompatible assumptions across the template definition, the integration code, the validator, and the interpreter. 'Repair the defect' therefore means repairing the incompatibility, not one content artifact; a content-only fix would leave the same mismatch armed for the next instance.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3 of them for the discussion (author pacing note). MAKE THEM COMMIT BEFORE THEY KNOW MORE.</a:t>
            </a:r>
          </a:p>
          <a:p>
            <a:r>
              <a:t>ENGINEERING POINT: force a choice now, on purpose, with incomplete information. The point is not which option is 'right' — it is that each addresses a different failure class, and the evidence so far cannot distinguish them.</a:t>
            </a:r>
          </a:p>
          <a:p>
            <a:r>
              <a:t>ASK: hands for A, B, or C. Then ask each group what failure their choice prevents NEXT time.</a:t>
            </a:r>
          </a:p>
          <a:p>
            <a:r>
              <a:t>EXPECTED ANSWERS: A fixes one file. B fixes one code path — and is what the RCA's bounds-check mitigation does. C is the only one that addresses how the content reached production, and it is also the vaguest; press for what specifically would change.</a:t>
            </a:r>
          </a:p>
          <a:p>
            <a:r>
              <a:t>THE DISTINCTION TO SURFACE: fixing the observed instance versus preventing the class. Students reliably pick the narrowest fix that explains the observation.</a:t>
            </a:r>
          </a:p>
          <a:p>
            <a:r>
              <a:t>TRANSITION (say this verbatim): the defect explains why a machine crashed. It does not explain why the engineering system allowed the update to reach millions of machines.</a:t>
            </a:r>
          </a:p>
          <a:p>
            <a:r>
              <a:t>SOURCES: none required; this is a discussion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9's reveal.</a:t>
            </a:r>
          </a:p>
          <a:p>
            <a:r>
              <a:t>ASK: which defense should have stopped it?</a:t>
            </a:r>
          </a:p>
          <a:p>
            <a:r>
              <a:t>EXPECTED ANSWERS: 'the validator' (most common), 'testing'. Misconception to surface: students assume every named stage existed and merely underperformed. Hold the correction for slide 9.</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7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a:p>
            <a:r>
              <a:t>QUALIFICATION (author, notes only — the slide wording stays): 'a failure escapes only when the weaknesses ALIGN' is a simplification. The intended meaning is that weaknesses align across the defenses RELEVANT TO A PARTICULAR FAILURE TRAJECTORY — not that every conceivable defense in the organization must fail. Carry the qualification verbally if a student presses on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EVIDENCE REPLACES THE SCHEMATIC. DELIVER EFFICIENTLY (author reallocation 261015): slide 7 already introduced the evidence — walk the four rows and the absent/failed distinction without re-deriving each finding.</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9's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15 then applies the full structure to CrowdStrike — do not merge or reorder the two.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CENTRAL CONCEPTUAL PAYOFF OF MOVEMENT 3. PACING (author reallocation 261015): state the common-cause principle once and do not re-derive it — slide 18 carries the architectural discussion and keeps its protected 4 minutes.</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27) and the diagnosis exercise (slide 29).</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revised 261015): walk the chain, then land the distinction with the Schön line beneath the diagram — experience accumulates by itself; expertise does not. Reflection is the deliberate comparison of expectation with outcome, and that comparison, not the hours, feeds the repertoire. (The duplicate opening sentence above the diagram was removed: one statement of the point, stated once.)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GOVERNANCE CONVERSION — the lesson changes the ENVIRONMENT. (Reallocated +1 minute, author revision 261015: this slide introduces five diagnostic categories and maps them to four earlier course units — do not rush the walk.)</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A control that was ABSENT and one that ran against the WRONG OBLIGATION call for different responses: build the missing control versus re-point the existing one. The right-hand column is a proposed engineering response, not a description of CrowdStrike's actual remediation.</a:t>
            </a:r>
          </a:p>
          <a:p>
            <a:r>
              <a:t>PACING (author): the cover-the-right-column reveal stays CUT — the FMEA exercise two slides ahead carries this movement's active learning. Spend the restored second minute on the five-row walk and the unit mapping, and state the slide-9 contrast yourself.</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absent and inadequate controls call for different responses. Diagnose which category the chain broke at, then encode it; the on-slide line says it: not every failure requires all five.</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LOCAL AND SYSTEMIC ANALYSES MEET. Pose the footer question and take one or two answers before stating the recognition yourself — students must reason about organizational authority, which needs a beat (author reallocation 261015).</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CLOSES THE CROWDSTRIKE INVESTIGATION. Walk the rows with enough time for students to weigh what each evidence row establishes (author reallocation 261015)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TRIGGER AND AMPLIFIER (now labelled on the slide): the pathological regex is the TRIGGER — it exhausts CPU; global deployment without staged containment is the AMPLIFIER — it set the blast radius. Both are needed to explain the incident's scale, and the pairing is the CrowdStrike parallel: there the content defect was the trigger and unstaged Rapid Response Content distribution the amplifier.</a:t>
            </a:r>
          </a:p>
          <a:p>
            <a:r>
              <a:t>WHAT THE STEP COUNTS MEASURE (author): the counts are the number of candidate matching paths the engine explores before it can conclude — the work of backtracking — not merely a reflection of a longer input. And present 23-vs-555 as an ILLUSTRATION of the phenomenon, not a proof of exponential complexity: two measurements cannot establish an asymptotic growth rate.</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VISIBLE TASK (author revision 261015): 'Choose ONE model' is now in the on-slide instructions — groups attempt one full analysis in the five minutes, not three shallow ones.</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9: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sz="2000" b="1" i="0" dirty="0">
                <a:solidFill>
                  <a:srgbClr val="FFFFFF"/>
                </a:solidFill>
              </a:rPr>
              <a:t>Collect hypotheses before revealing the mechanism.</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endParaRPr sz="2000" b="1" i="0" dirty="0">
              <a:solidFill>
                <a:srgbClr val="555960"/>
              </a:solidFill>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0040"/>
          </a:xfrm>
          <a:prstGeom prst="rect">
            <a:avLst/>
          </a:prstGeom>
          <a:noFill/>
        </p:spPr>
        <p:txBody>
          <a:bodyPr wrap="square" lIns="27432" tIns="22860" rIns="27432" bIns="22860" anchor="t">
            <a:spAutoFit/>
          </a:bodyPr>
          <a:lstStyle/>
          <a:p>
            <a:pPr algn="ctr"/>
            <a:r>
              <a:rPr sz="1200" b="1" i="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content and the interpreter disagreed</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components of the same product disagreed about an interface.</a:t>
            </a:r>
          </a:p>
          <a:p>
            <a:pPr algn="ctr">
              <a:spcBef>
                <a:spcPts val="300"/>
              </a:spcBef>
            </a:pPr>
            <a:r>
              <a:rPr sz="2000" b="1" i="0" dirty="0">
                <a:solidFill>
                  <a:srgbClr val="FFFFFF"/>
                </a:solidFill>
              </a:rPr>
              <a:t>Which assumption was violated — and whose?</a:t>
            </a:r>
          </a:p>
        </p:txBody>
      </p:sp>
      <p:sp>
        <p:nvSpPr>
          <p:cNvPr id="915" name="Label"/>
          <p:cNvSpPr txBox="1"/>
          <p:nvPr/>
        </p:nvSpPr>
        <p:spPr>
          <a:xfrm>
            <a:off x="548640" y="868680"/>
            <a:ext cx="8046720" cy="566928"/>
          </a:xfrm>
          <a:prstGeom prst="rect">
            <a:avLst/>
          </a:prstGeom>
          <a:noFill/>
        </p:spPr>
        <p:txBody>
          <a:bodyPr wrap="square" lIns="27432" tIns="22860" rIns="27432" bIns="22860" anchor="t">
            <a:spAutoFit/>
          </a:bodyPr>
          <a:lstStyle/>
          <a:p>
            <a:pPr algn="ctr"/>
            <a:r>
              <a:rPr sz="1300" b="1" i="1">
                <a:solidFill>
                  <a:srgbClr val="5C4826"/>
                </a:solidFill>
              </a:rPr>
              <a:t>The sensor interprets detection content using predefined templates.</a:t>
            </a:r>
          </a:p>
          <a:p>
            <a:pPr algn="ctr"/>
            <a:r>
              <a:rPr sz="1300" b="1" i="1">
                <a:solidFill>
                  <a:srgbClr val="5C4826"/>
                </a:solidFill>
              </a:rPr>
              <a:t>Each template specifies the input fields the interpreter expects.</a:t>
            </a:r>
          </a:p>
        </p:txBody>
      </p:sp>
      <p:sp>
        <p:nvSpPr>
          <p:cNvPr id="910" name="Block"/>
          <p:cNvSpPr/>
          <p:nvPr/>
        </p:nvSpPr>
        <p:spPr>
          <a:xfrm>
            <a:off x="2743200" y="1600200"/>
            <a:ext cx="36576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TEMPLATE DEFINITION: 21 FIELDS</a:t>
            </a:r>
          </a:p>
        </p:txBody>
      </p:sp>
      <p:sp>
        <p:nvSpPr>
          <p:cNvPr id="912" name="Card"/>
          <p:cNvSpPr/>
          <p:nvPr/>
        </p:nvSpPr>
        <p:spPr>
          <a:xfrm>
            <a:off x="822960" y="24231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 expects 21 inputs</a:t>
            </a:r>
          </a:p>
        </p:txBody>
      </p:sp>
      <p:sp>
        <p:nvSpPr>
          <p:cNvPr id="1000" name="Card"/>
          <p:cNvSpPr/>
          <p:nvPr/>
        </p:nvSpPr>
        <p:spPr>
          <a:xfrm>
            <a:off x="5029200" y="242316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integration code supplies 20</a:t>
            </a:r>
          </a:p>
        </p:txBody>
      </p:sp>
      <p:cxnSp>
        <p:nvCxnSpPr>
          <p:cNvPr id="911" name="Connector 911"/>
          <p:cNvCxnSpPr/>
          <p:nvPr/>
        </p:nvCxnSpPr>
        <p:spPr>
          <a:xfrm flipH="1">
            <a:off x="2468880" y="2103120"/>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5120640" y="2103120"/>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2" name="Block"/>
          <p:cNvSpPr/>
          <p:nvPr/>
        </p:nvSpPr>
        <p:spPr>
          <a:xfrm>
            <a:off x="3108960" y="3291840"/>
            <a:ext cx="2926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INPUT ARRAY [0 … 19]</a:t>
            </a:r>
          </a:p>
        </p:txBody>
      </p:sp>
      <p:cxnSp>
        <p:nvCxnSpPr>
          <p:cNvPr id="1003" name="Connector 911"/>
          <p:cNvCxnSpPr/>
          <p:nvPr/>
        </p:nvCxnSpPr>
        <p:spPr>
          <a:xfrm>
            <a:off x="2468880" y="2926080"/>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a:off x="5303520" y="2926080"/>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Card"/>
          <p:cNvSpPr/>
          <p:nvPr/>
        </p:nvSpPr>
        <p:spPr>
          <a:xfrm>
            <a:off x="2926080" y="4114800"/>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 attempts access [20]</a:t>
            </a:r>
          </a:p>
        </p:txBody>
      </p:sp>
      <p:cxnSp>
        <p:nvCxnSpPr>
          <p:cNvPr id="1006" name="Connector 911"/>
          <p:cNvCxnSpPr/>
          <p:nvPr/>
        </p:nvCxnSpPr>
        <p:spPr>
          <a:xfrm>
            <a:off x="4572000" y="3794760"/>
            <a:ext cx="0" cy="32003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3200400" y="4892040"/>
            <a:ext cx="2743200" cy="50292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OUT-OF-BOUNDS READ</a:t>
            </a:r>
          </a:p>
        </p:txBody>
      </p:sp>
      <p:cxnSp>
        <p:nvCxnSpPr>
          <p:cNvPr id="1008" name="Connector 911"/>
          <p:cNvCxnSpPr/>
          <p:nvPr/>
        </p:nvCxnSpPr>
        <p:spPr>
          <a:xfrm>
            <a:off x="4572000" y="4617720"/>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INCOMPATIBLE</a:t>
            </a:r>
          </a:p>
          <a:p>
            <a:pPr algn="ctr"/>
            <a:r>
              <a:rPr sz="1000" b="1" i="0">
                <a:solidFill>
                  <a:srgbClr val="FFFFFF"/>
                </a:solidFill>
              </a:rPr>
              <a:t>CONTENT + INTERPRETER</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unsafe access</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 chain of events traced to a defect.   Intervention: repair the incompatibility.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would you change?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2" name="Card"/>
          <p:cNvSpPr/>
          <p:nvPr/>
        </p:nvSpPr>
        <p:spPr>
          <a:xfrm>
            <a:off x="1371600" y="118872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a:t>
            </a:r>
          </a:p>
          <a:p>
            <a:pPr algn="ctr"/>
            <a:r>
              <a:rPr sz="2000" b="0" i="0" dirty="0">
                <a:solidFill>
                  <a:srgbClr val="555960"/>
                </a:solidFill>
              </a:rPr>
              <a:t>Fix the defective content</a:t>
            </a:r>
            <a:endParaRPr lang="en-US" sz="2000" b="0" i="0" dirty="0">
              <a:solidFill>
                <a:srgbClr val="555960"/>
              </a:solidFill>
            </a:endParaRPr>
          </a:p>
        </p:txBody>
      </p:sp>
      <p:sp>
        <p:nvSpPr>
          <p:cNvPr id="904" name="Card"/>
          <p:cNvSpPr/>
          <p:nvPr/>
        </p:nvSpPr>
        <p:spPr>
          <a:xfrm>
            <a:off x="1371600" y="260604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t>
            </a:r>
          </a:p>
          <a:p>
            <a:pPr algn="ctr"/>
            <a:r>
              <a:rPr sz="2000" b="0" i="0" dirty="0">
                <a:solidFill>
                  <a:srgbClr val="555960"/>
                </a:solidFill>
              </a:rPr>
              <a:t>Repair the content-processing implementation</a:t>
            </a:r>
            <a:endParaRPr lang="en-US" sz="2000" b="0" i="0" dirty="0">
              <a:solidFill>
                <a:srgbClr val="555960"/>
              </a:solidFill>
            </a:endParaRPr>
          </a:p>
        </p:txBody>
      </p:sp>
      <p:sp>
        <p:nvSpPr>
          <p:cNvPr id="906" name="Card"/>
          <p:cNvSpPr/>
          <p:nvPr/>
        </p:nvSpPr>
        <p:spPr>
          <a:xfrm>
            <a:off x="1371600" y="402336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t>
            </a:r>
          </a:p>
          <a:p>
            <a:pPr algn="ctr"/>
            <a:r>
              <a:rPr sz="2000" b="0" i="0" dirty="0">
                <a:solidFill>
                  <a:srgbClr val="555960"/>
                </a:solidFill>
              </a:rPr>
              <a:t>Improve engineering review and testing</a:t>
            </a:r>
          </a:p>
        </p:txBody>
      </p: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prevents the next failure of this kind?</a:t>
            </a:r>
            <a:endParaRPr lang="en-US" sz="2000" b="1" i="0" dirty="0">
              <a:solidFill>
                <a:srgbClr val="FFFFFF"/>
              </a:solidFill>
            </a:endParaRPr>
          </a:p>
          <a:p>
            <a:pPr algn="ctr"/>
            <a:r>
              <a:rPr sz="2000" b="1" i="0" dirty="0">
                <a:solidFill>
                  <a:srgbClr val="FFFFFF"/>
                </a:solidFill>
              </a:rPr>
              <a:t>Fixing the instance is not the same as preventing the class.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24</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endParaRPr sz="2000" b="1" i="0" dirty="0">
              <a:solidFill>
                <a:srgbClr val="555960"/>
              </a:solidFill>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endParaRPr sz="2000" b="1" i="0" dirty="0">
              <a:solidFill>
                <a:srgbClr val="555960"/>
              </a:solidFill>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
            </a: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STAMP (Leveson): accidents arise when the control structure fails to enforce safety constraints.</a:t>
            </a:r>
          </a:p>
          <a:p>
            <a:pPr algn="ctr"/>
            <a:r>
              <a:rPr sz="1400" b="0" i="0">
                <a:solidFill>
                  <a:srgbClr val="5C4826"/>
                </a:solidFill>
              </a:rPr>
              <a:t>A controller can be software, an operator, an organization, or a regulator.</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27</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endParaRPr sz="2000" b="0" i="1" dirty="0">
              <a:solidFill>
                <a:srgbClr val="5C4826"/>
              </a:solidFill>
            </a:endParaRP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07568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07568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282549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57530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3251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282549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57530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32511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MIGHT WE CHANGE?</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a:t>
            </a:r>
          </a:p>
          <a:p>
            <a:pPr algn="ctr"/>
            <a:r>
              <a:rPr lang="en-US" sz="2000" b="1" i="0" dirty="0">
                <a:solidFill>
                  <a:srgbClr val="FFFFFF"/>
                </a:solidFill>
              </a:rPr>
              <a:t>Absent and inadequate controls call for different responses.</a:t>
            </a:r>
          </a:p>
        </p:txBody>
      </p:sp>
      <p:cxnSp>
        <p:nvCxnSpPr>
          <p:cNvPr id="1000" name="Connector 911"/>
          <p:cNvCxnSpPr/>
          <p:nvPr/>
        </p:nvCxnSpPr>
        <p:spPr>
          <a:xfrm>
            <a:off x="2194560" y="1892807"/>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642616"/>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392424"/>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142232"/>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
        <p:nvSpPr>
          <p:cNvPr id="1004" name="Label"/>
          <p:cNvSpPr txBox="1"/>
          <p:nvPr/>
        </p:nvSpPr>
        <p:spPr>
          <a:xfrm>
            <a:off x="548640" y="4974336"/>
            <a:ext cx="8046720" cy="384048"/>
          </a:xfrm>
          <a:prstGeom prst="rect">
            <a:avLst/>
          </a:prstGeom>
          <a:noFill/>
        </p:spPr>
        <p:txBody>
          <a:bodyPr wrap="square" lIns="27432" tIns="22860" rIns="27432" bIns="22860" anchor="t">
            <a:spAutoFit/>
          </a:bodyPr>
          <a:lstStyle/>
          <a:p>
            <a:pPr algn="ctr"/>
            <a:r>
              <a:rPr sz="1200" b="1" i="0">
                <a:solidFill>
                  <a:srgbClr val="5C4826"/>
                </a:solidFill>
              </a:rPr>
              <a:t>Diagnose the missing obligation, representation, evidence, evaluation, or enforcement.</a:t>
            </a:r>
          </a:p>
          <a:p>
            <a:pPr algn="ctr"/>
            <a:r>
              <a:rPr sz="1200" b="1" i="0">
                <a:solidFill>
                  <a:srgbClr val="5C4826"/>
                </a:solidFill>
              </a:rPr>
              <a:t>Not every failure requires all five.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2103120" y="223113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invalid content causes unsafe execution</a:t>
            </a:r>
          </a:p>
        </p:txBody>
      </p:sp>
      <p:sp>
        <p:nvSpPr>
          <p:cNvPr id="907" name="Card"/>
          <p:cNvSpPr/>
          <p:nvPr/>
        </p:nvSpPr>
        <p:spPr>
          <a:xfrm>
            <a:off x="2103120" y="300837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a:solidFill>
                  <a:srgbClr val="5C4826"/>
                </a:solidFill>
              </a:rPr>
              <a:t>a defect escapes testing</a:t>
            </a:r>
          </a:p>
        </p:txBody>
      </p:sp>
      <p:sp>
        <p:nvSpPr>
          <p:cNvPr id="909" name="Block"/>
          <p:cNvSpPr/>
          <p:nvPr/>
        </p:nvSpPr>
        <p:spPr>
          <a:xfrm>
            <a:off x="365760" y="223113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Interpret security content</a:t>
            </a:r>
            <a:endParaRPr lang="en-US" sz="2000" b="1" i="0" dirty="0">
              <a:solidFill>
                <a:srgbClr val="FFFFFF"/>
              </a:solidFill>
            </a:endParaRPr>
          </a:p>
        </p:txBody>
      </p:sp>
      <p:sp>
        <p:nvSpPr>
          <p:cNvPr id="910" name="Block"/>
          <p:cNvSpPr/>
          <p:nvPr/>
        </p:nvSpPr>
        <p:spPr>
          <a:xfrm>
            <a:off x="365760" y="300837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785615"/>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Distribute content</a:t>
            </a:r>
            <a:endParaRPr sz="2000" b="1" i="0" dirty="0">
              <a:solidFill>
                <a:srgbClr val="FFFFFF"/>
              </a:solidFill>
            </a:endParaRPr>
          </a:p>
        </p:txBody>
      </p:sp>
      <p:sp>
        <p:nvSpPr>
          <p:cNvPr id="912" name="Block"/>
          <p:cNvSpPr/>
          <p:nvPr/>
        </p:nvSpPr>
        <p:spPr>
          <a:xfrm>
            <a:off x="365760" y="456285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785615"/>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a defective update reaches all endpoints</a:t>
            </a:r>
          </a:p>
        </p:txBody>
      </p:sp>
      <p:sp>
        <p:nvSpPr>
          <p:cNvPr id="4" name="Card"/>
          <p:cNvSpPr/>
          <p:nvPr/>
        </p:nvSpPr>
        <p:spPr>
          <a:xfrm>
            <a:off x="2103120" y="456285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endpoint failure disables critical services</a:t>
            </a:r>
            <a:endParaRPr sz="2000" b="0" i="1" dirty="0">
              <a:solidFill>
                <a:srgbClr val="5C4826"/>
              </a:solidFill>
            </a:endParaRPr>
          </a:p>
        </p:txBody>
      </p:sp>
      <p:sp>
        <p:nvSpPr>
          <p:cNvPr id="5" name="ColumnHeading"/>
          <p:cNvSpPr/>
          <p:nvPr/>
        </p:nvSpPr>
        <p:spPr>
          <a:xfrm>
            <a:off x="365760" y="1883664"/>
            <a:ext cx="1645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6" name="ColumnHeading"/>
          <p:cNvSpPr/>
          <p:nvPr/>
        </p:nvSpPr>
        <p:spPr>
          <a:xfrm>
            <a:off x="2103120" y="18836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FAILURE MODE</a:t>
            </a:r>
            <a:endParaRPr sz="2800" b="1" i="0" dirty="0">
              <a:solidFill>
                <a:schemeClr val="bg1"/>
              </a:solidFill>
            </a:endParaRPr>
          </a:p>
        </p:txBody>
      </p:sp>
      <p:sp>
        <p:nvSpPr>
          <p:cNvPr id="915" name="Label"/>
          <p:cNvSpPr txBox="1"/>
          <p:nvPr/>
        </p:nvSpPr>
        <p:spPr>
          <a:xfrm>
            <a:off x="548640" y="841248"/>
            <a:ext cx="8046720" cy="566928"/>
          </a:xfrm>
          <a:prstGeom prst="rect">
            <a:avLst/>
          </a:prstGeom>
          <a:noFill/>
        </p:spPr>
        <p:txBody>
          <a:bodyPr wrap="square" lIns="27432" tIns="22860" rIns="27432" bIns="22860" anchor="t">
            <a:spAutoFit/>
          </a:bodyPr>
          <a:lstStyle/>
          <a:p>
            <a:pPr algn="ctr"/>
            <a:r>
              <a:rPr sz="1200" b="1" i="1">
                <a:solidFill>
                  <a:srgbClr val="5C4826"/>
                </a:solidFill>
              </a:rPr>
              <a:t>The three models explain a failure that has happened. FMEA — Failure Mode and Effects Analysis —</a:t>
            </a:r>
          </a:p>
          <a:p>
            <a:pPr algn="ctr"/>
            <a:r>
              <a:rPr sz="1200" b="1" i="1">
                <a:solidFill>
                  <a:srgbClr val="5C4826"/>
                </a:solidFill>
              </a:rPr>
              <a:t>searches for failures that have not happened yet. The procedure:</a:t>
            </a:r>
          </a:p>
        </p:txBody>
      </p:sp>
      <p:sp>
        <p:nvSpPr>
          <p:cNvPr id="1000" name="ColumnHeading"/>
          <p:cNvSpPr/>
          <p:nvPr/>
        </p:nvSpPr>
        <p:spPr>
          <a:xfrm>
            <a:off x="4389120" y="1883664"/>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EFFECT</a:t>
            </a:r>
            <a:endParaRPr sz="2800" b="1" i="0" dirty="0">
              <a:solidFill>
                <a:schemeClr val="bg1"/>
              </a:solidFill>
            </a:endParaRPr>
          </a:p>
        </p:txBody>
      </p:sp>
      <p:sp>
        <p:nvSpPr>
          <p:cNvPr id="1001" name="ColumnHeading"/>
          <p:cNvSpPr/>
          <p:nvPr/>
        </p:nvSpPr>
        <p:spPr>
          <a:xfrm>
            <a:off x="6309360" y="1883664"/>
            <a:ext cx="2286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CANDIDATE CONTROL</a:t>
            </a:r>
            <a:endParaRPr sz="2800" b="1" i="0" dirty="0">
              <a:solidFill>
                <a:schemeClr val="bg1"/>
              </a:solidFill>
            </a:endParaRPr>
          </a:p>
        </p:txBody>
      </p:sp>
      <p:sp>
        <p:nvSpPr>
          <p:cNvPr id="1002" name="Card"/>
          <p:cNvSpPr/>
          <p:nvPr/>
        </p:nvSpPr>
        <p:spPr>
          <a:xfrm>
            <a:off x="4389120" y="223113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endpoint failure</a:t>
            </a:r>
          </a:p>
        </p:txBody>
      </p:sp>
      <p:sp>
        <p:nvSpPr>
          <p:cNvPr id="1003" name="Card"/>
          <p:cNvSpPr/>
          <p:nvPr/>
        </p:nvSpPr>
        <p:spPr>
          <a:xfrm>
            <a:off x="6309360" y="223113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contract validation</a:t>
            </a:r>
          </a:p>
        </p:txBody>
      </p:sp>
      <p:sp>
        <p:nvSpPr>
          <p:cNvPr id="1004" name="Card"/>
          <p:cNvSpPr/>
          <p:nvPr/>
        </p:nvSpPr>
        <p:spPr>
          <a:xfrm>
            <a:off x="4389120" y="300837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defective update released</a:t>
            </a:r>
          </a:p>
        </p:txBody>
      </p:sp>
      <p:sp>
        <p:nvSpPr>
          <p:cNvPr id="1005" name="Card"/>
          <p:cNvSpPr/>
          <p:nvPr/>
        </p:nvSpPr>
        <p:spPr>
          <a:xfrm>
            <a:off x="6309360" y="300837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compatibility tests</a:t>
            </a:r>
          </a:p>
        </p:txBody>
      </p:sp>
      <p:sp>
        <p:nvSpPr>
          <p:cNvPr id="1006" name="Card"/>
          <p:cNvSpPr/>
          <p:nvPr/>
        </p:nvSpPr>
        <p:spPr>
          <a:xfrm>
            <a:off x="4389120" y="3785615"/>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widespread outage</a:t>
            </a:r>
          </a:p>
        </p:txBody>
      </p:sp>
      <p:sp>
        <p:nvSpPr>
          <p:cNvPr id="1007" name="Card"/>
          <p:cNvSpPr/>
          <p:nvPr/>
        </p:nvSpPr>
        <p:spPr>
          <a:xfrm>
            <a:off x="6309360" y="3785615"/>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staged rollout + demonstrated halt</a:t>
            </a:r>
          </a:p>
        </p:txBody>
      </p:sp>
      <p:sp>
        <p:nvSpPr>
          <p:cNvPr id="1008" name="Card"/>
          <p:cNvSpPr/>
          <p:nvPr/>
        </p:nvSpPr>
        <p:spPr>
          <a:xfrm>
            <a:off x="4389120" y="456285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service disruption</a:t>
            </a:r>
          </a:p>
        </p:txBody>
      </p:sp>
      <p:sp>
        <p:nvSpPr>
          <p:cNvPr id="1009" name="Card"/>
          <p:cNvSpPr/>
          <p:nvPr/>
        </p:nvSpPr>
        <p:spPr>
          <a:xfrm>
            <a:off x="6309360" y="456285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service paths</a:t>
            </a:r>
          </a:p>
        </p:txBody>
      </p:sp>
      <p:sp>
        <p:nvSpPr>
          <p:cNvPr id="1010" name="Label"/>
          <p:cNvSpPr txBox="1"/>
          <p:nvPr/>
        </p:nvSpPr>
        <p:spPr>
          <a:xfrm>
            <a:off x="548640" y="5358384"/>
            <a:ext cx="8046720" cy="365760"/>
          </a:xfrm>
          <a:prstGeom prst="rect">
            <a:avLst/>
          </a:prstGeom>
          <a:noFill/>
        </p:spPr>
        <p:txBody>
          <a:bodyPr wrap="square" lIns="27432" tIns="22860" rIns="27432" bIns="22860" anchor="t">
            <a:spAutoFit/>
          </a:bodyPr>
          <a:lstStyle/>
          <a:p>
            <a:pPr algn="ctr"/>
            <a:r>
              <a:rPr sz="1200" b="1" i="1">
                <a:solidFill>
                  <a:srgbClr val="5C4826"/>
                </a:solidFill>
              </a:rPr>
              <a:t>How often will each mode occur? Occurrence stays ‘?’ — which modes warrant action even when their probabilities are unknown?</a:t>
            </a:r>
          </a:p>
        </p:txBody>
      </p:sp>
      <p:sp>
        <p:nvSpPr>
          <p:cNvPr id="1011" name="Label"/>
          <p:cNvSpPr txBox="1"/>
          <p:nvPr/>
        </p:nvSpPr>
        <p:spPr>
          <a:xfrm>
            <a:off x="548640" y="1389888"/>
            <a:ext cx="3931920" cy="219456"/>
          </a:xfrm>
          <a:prstGeom prst="rect">
            <a:avLst/>
          </a:prstGeom>
          <a:noFill/>
        </p:spPr>
        <p:txBody>
          <a:bodyPr wrap="none" lIns="27432" tIns="22860" rIns="27432" bIns="22860" anchor="t">
            <a:spAutoFit/>
          </a:bodyPr>
          <a:lstStyle/>
          <a:p>
            <a:pPr algn="l"/>
            <a:r>
              <a:rPr sz="1200" b="1" i="1">
                <a:solidFill>
                  <a:srgbClr val="5C4826"/>
                </a:solidFill>
              </a:rPr>
              <a:t>1  Identify a plausible failure mode</a:t>
            </a:r>
          </a:p>
        </p:txBody>
      </p:sp>
      <p:sp>
        <p:nvSpPr>
          <p:cNvPr id="1012" name="Label"/>
          <p:cNvSpPr txBox="1"/>
          <p:nvPr/>
        </p:nvSpPr>
        <p:spPr>
          <a:xfrm>
            <a:off x="4526280" y="1389888"/>
            <a:ext cx="3931920" cy="219456"/>
          </a:xfrm>
          <a:prstGeom prst="rect">
            <a:avLst/>
          </a:prstGeom>
          <a:noFill/>
        </p:spPr>
        <p:txBody>
          <a:bodyPr wrap="none" lIns="27432" tIns="22860" rIns="27432" bIns="22860" anchor="t">
            <a:spAutoFit/>
          </a:bodyPr>
          <a:lstStyle/>
          <a:p>
            <a:pPr algn="l"/>
            <a:r>
              <a:rPr sz="1200" b="1" i="1">
                <a:solidFill>
                  <a:srgbClr val="5C4826"/>
                </a:solidFill>
              </a:rPr>
              <a:t>2  Determine its consequences</a:t>
            </a:r>
          </a:p>
        </p:txBody>
      </p:sp>
      <p:sp>
        <p:nvSpPr>
          <p:cNvPr id="1013" name="Label"/>
          <p:cNvSpPr txBox="1"/>
          <p:nvPr/>
        </p:nvSpPr>
        <p:spPr>
          <a:xfrm>
            <a:off x="548640" y="1627632"/>
            <a:ext cx="3931920" cy="219456"/>
          </a:xfrm>
          <a:prstGeom prst="rect">
            <a:avLst/>
          </a:prstGeom>
          <a:noFill/>
        </p:spPr>
        <p:txBody>
          <a:bodyPr wrap="none" lIns="27432" tIns="22860" rIns="27432" bIns="22860" anchor="t">
            <a:spAutoFit/>
          </a:bodyPr>
          <a:lstStyle/>
          <a:p>
            <a:pPr algn="l"/>
            <a:r>
              <a:rPr sz="1200" b="1" i="1">
                <a:solidFill>
                  <a:srgbClr val="5C4826"/>
                </a:solidFill>
              </a:rPr>
              <a:t>3  Identify existing or proposed controls</a:t>
            </a:r>
          </a:p>
        </p:txBody>
      </p:sp>
      <p:sp>
        <p:nvSpPr>
          <p:cNvPr id="1014" name="Label"/>
          <p:cNvSpPr txBox="1"/>
          <p:nvPr/>
        </p:nvSpPr>
        <p:spPr>
          <a:xfrm>
            <a:off x="4526280" y="1627632"/>
            <a:ext cx="3931920" cy="219456"/>
          </a:xfrm>
          <a:prstGeom prst="rect">
            <a:avLst/>
          </a:prstGeom>
          <a:noFill/>
        </p:spPr>
        <p:txBody>
          <a:bodyPr wrap="none" lIns="27432" tIns="22860" rIns="27432" bIns="22860" anchor="t">
            <a:spAutoFit/>
          </a:bodyPr>
          <a:lstStyle/>
          <a:p>
            <a:pPr algn="l"/>
            <a:r>
              <a:rPr sz="1200" b="1" i="1">
                <a:solidFill>
                  <a:srgbClr val="5C4826"/>
                </a:solidFill>
              </a:rPr>
              <a:t>4  Decide whether the remaining risk warrants action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10058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0058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operates a Web Application Firewall (WAF): it inspects incoming web requests for attacks</a:t>
            </a:r>
          </a:p>
        </p:txBody>
      </p:sp>
      <p:sp>
        <p:nvSpPr>
          <p:cNvPr id="923" name="Block"/>
          <p:cNvSpPr/>
          <p:nvPr/>
        </p:nvSpPr>
        <p:spPr>
          <a:xfrm>
            <a:off x="548640" y="1664208"/>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RULE CHANGES</a:t>
            </a:r>
          </a:p>
        </p:txBody>
      </p:sp>
      <p:sp>
        <p:nvSpPr>
          <p:cNvPr id="924" name="RowCaption"/>
          <p:cNvSpPr/>
          <p:nvPr/>
        </p:nvSpPr>
        <p:spPr>
          <a:xfrm>
            <a:off x="3383280" y="1664208"/>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new detection rules deploy without a software release — and propagate globally within seconds</a:t>
            </a:r>
          </a:p>
        </p:txBody>
      </p:sp>
      <p:sp>
        <p:nvSpPr>
          <p:cNvPr id="926" name="Block"/>
          <p:cNvSpPr/>
          <p:nvPr/>
        </p:nvSpPr>
        <p:spPr>
          <a:xfrm>
            <a:off x="548640" y="2322576"/>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RULE FORM</a:t>
            </a:r>
          </a:p>
        </p:txBody>
      </p:sp>
      <p:sp>
        <p:nvSpPr>
          <p:cNvPr id="927" name="RowCaption"/>
          <p:cNvSpPr/>
          <p:nvPr/>
        </p:nvSpPr>
        <p:spPr>
          <a:xfrm>
            <a:off x="3383280" y="2322576"/>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some detection rules are written as regular expressions</a:t>
            </a:r>
          </a:p>
        </p:txBody>
      </p:sp>
      <p:sp>
        <p:nvSpPr>
          <p:cNvPr id="5" name="ColumnHeading"/>
          <p:cNvSpPr/>
          <p:nvPr/>
        </p:nvSpPr>
        <p:spPr>
          <a:xfrm>
            <a:off x="365760" y="3072384"/>
            <a:ext cx="16459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1000" name="ColumnHeading"/>
          <p:cNvSpPr/>
          <p:nvPr/>
        </p:nvSpPr>
        <p:spPr>
          <a:xfrm>
            <a:off x="2103120" y="3072384"/>
            <a:ext cx="21945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72384"/>
            <a:ext cx="201168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72384"/>
            <a:ext cx="21031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PROPOSED CONTROL</a:t>
            </a:r>
            <a:endParaRPr sz="2800" b="1" i="0" dirty="0">
              <a:solidFill>
                <a:schemeClr val="bg1"/>
              </a:solidFill>
            </a:endParaRPr>
          </a:p>
        </p:txBody>
      </p:sp>
      <p:sp>
        <p:nvSpPr>
          <p:cNvPr id="1003" name="Block"/>
          <p:cNvSpPr/>
          <p:nvPr/>
        </p:nvSpPr>
        <p:spPr>
          <a:xfrm>
            <a:off x="365760" y="3401568"/>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Evaluate WAF rule</a:t>
            </a:r>
          </a:p>
        </p:txBody>
      </p:sp>
      <p:sp>
        <p:nvSpPr>
          <p:cNvPr id="1004" name="Block"/>
          <p:cNvSpPr/>
          <p:nvPr/>
        </p:nvSpPr>
        <p:spPr>
          <a:xfrm>
            <a:off x="365760" y="405993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Validate new rule</a:t>
            </a:r>
          </a:p>
        </p:txBody>
      </p:sp>
      <p:sp>
        <p:nvSpPr>
          <p:cNvPr id="1005" name="Block"/>
          <p:cNvSpPr/>
          <p:nvPr/>
        </p:nvSpPr>
        <p:spPr>
          <a:xfrm>
            <a:off x="365760" y="471830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Distribute rule</a:t>
            </a:r>
          </a:p>
        </p:txBody>
      </p:sp>
      <p:sp>
        <p:nvSpPr>
          <p:cNvPr id="903" name="Card"/>
          <p:cNvSpPr/>
          <p:nvPr/>
        </p:nvSpPr>
        <p:spPr>
          <a:xfrm>
            <a:off x="2103120" y="3401568"/>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6" name="Card"/>
          <p:cNvSpPr/>
          <p:nvPr/>
        </p:nvSpPr>
        <p:spPr>
          <a:xfrm>
            <a:off x="4389120" y="3401568"/>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7" name="Card"/>
          <p:cNvSpPr/>
          <p:nvPr/>
        </p:nvSpPr>
        <p:spPr>
          <a:xfrm>
            <a:off x="6492240" y="3401568"/>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8" name="Card"/>
          <p:cNvSpPr/>
          <p:nvPr/>
        </p:nvSpPr>
        <p:spPr>
          <a:xfrm>
            <a:off x="2103120" y="405993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09" name="Card"/>
          <p:cNvSpPr/>
          <p:nvPr/>
        </p:nvSpPr>
        <p:spPr>
          <a:xfrm>
            <a:off x="4389120" y="405993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0" name="Card"/>
          <p:cNvSpPr/>
          <p:nvPr/>
        </p:nvSpPr>
        <p:spPr>
          <a:xfrm>
            <a:off x="6492240" y="405993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1" name="Card"/>
          <p:cNvSpPr/>
          <p:nvPr/>
        </p:nvSpPr>
        <p:spPr>
          <a:xfrm>
            <a:off x="2103120" y="471830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2" name="Card"/>
          <p:cNvSpPr/>
          <p:nvPr/>
        </p:nvSpPr>
        <p:spPr>
          <a:xfrm>
            <a:off x="4389120" y="471830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
        <p:nvSpPr>
          <p:cNvPr id="1013" name="Card"/>
          <p:cNvSpPr/>
          <p:nvPr/>
        </p:nvSpPr>
        <p:spPr>
          <a:xfrm>
            <a:off x="6492240" y="471830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endParaRPr sz="2000" b="1" i="0" dirty="0">
              <a:solidFill>
                <a:srgbClr val="555960"/>
              </a:solidFill>
            </a:endParaRP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
            </a: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
        <p:nvSpPr>
          <p:cNvPr id="1003" name="Label"/>
          <p:cNvSpPr txBox="1"/>
          <p:nvPr/>
        </p:nvSpPr>
        <p:spPr>
          <a:xfrm>
            <a:off x="3383280" y="2706624"/>
            <a:ext cx="5212080" cy="237744"/>
          </a:xfrm>
          <a:prstGeom prst="rect">
            <a:avLst/>
          </a:prstGeom>
          <a:noFill/>
        </p:spPr>
        <p:txBody>
          <a:bodyPr wrap="square" lIns="27432" tIns="22860" rIns="27432" bIns="22860" anchor="t">
            <a:spAutoFit/>
          </a:bodyPr>
          <a:lstStyle/>
          <a:p>
            <a:pPr algn="ctr"/>
            <a:r>
              <a:rPr sz="1200" b="1" i="0">
                <a:solidFill>
                  <a:srgbClr val="5C4826"/>
                </a:solidFill>
              </a:rPr>
              <a:t>AMPLIFIER — deployed globally in seconds, with no staged rollout</a:t>
            </a:r>
          </a:p>
        </p:txBody>
      </p:sp>
      <p:sp>
        <p:nvSpPr>
          <p:cNvPr id="1004" name="Label"/>
          <p:cNvSpPr txBox="1"/>
          <p:nvPr/>
        </p:nvSpPr>
        <p:spPr>
          <a:xfrm>
            <a:off x="3383280" y="3666744"/>
            <a:ext cx="5212080" cy="237744"/>
          </a:xfrm>
          <a:prstGeom prst="rect">
            <a:avLst/>
          </a:prstGeom>
          <a:noFill/>
        </p:spPr>
        <p:txBody>
          <a:bodyPr wrap="square" lIns="27432" tIns="22860" rIns="27432" bIns="22860" anchor="t">
            <a:spAutoFit/>
          </a:bodyPr>
          <a:lstStyle/>
          <a:p>
            <a:pPr algn="ctr"/>
            <a:r>
              <a:rPr sz="1200" b="1" i="0">
                <a:solidFill>
                  <a:srgbClr val="5C4826"/>
                </a:solidFill>
              </a:rPr>
              <a:t>TRIGGER — a pathological regex exhausts CPU resources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endParaRPr sz="2000" b="1" i="0" dirty="0">
              <a:solidFill>
                <a:srgbClr val="FFFFFF"/>
              </a:solidFill>
            </a:endParaRP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ONE model. Explain the failure, propose an intervention,</a:t>
            </a:r>
          </a:p>
          <a:p>
            <a:pPr algn="ctr"/>
            <a:r>
              <a:rPr lang="en-US" sz="2000" b="1" i="0" dirty="0">
                <a:solidFill>
                  <a:schemeClr val="bg1"/>
                </a:solidFill>
              </a:rPr>
              <a:t>identify who can implement it, and specify evidence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endParaRPr sz="2000" b="0" i="1" dirty="0">
              <a:solidFill>
                <a:srgbClr val="5C4826"/>
              </a:solidFill>
            </a:endParaRP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endParaRPr sz="2000" b="0" i="1" dirty="0">
              <a:solidFill>
                <a:srgbClr val="5C4826"/>
              </a:solidFill>
            </a:endParaRP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8634</TotalTime>
  <Words>5522</Words>
  <Application>Microsoft Macintosh PowerPoint</Application>
  <PresentationFormat>On-screen Show (4:3)</PresentationFormat>
  <Paragraphs>493</Paragraphs>
  <Slides>34</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vt:lpstr>
      <vt:lpstr>Wingdings</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cheat works</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Which model seems appropriate to this failure?</vt:lpstr>
      <vt:lpstr>Let’s try ourselves: Diagnose a failure</vt:lpstr>
      <vt:lpstr>Instagram: read this first</vt:lpstr>
      <vt:lpstr>It works as designed and produces harmful outcomes</vt:lpstr>
      <vt:lpstr>Which theory explains the Instagram outcome?</vt:lpstr>
      <vt:lpstr>What failed, and why didn’t we know?</vt:lpstr>
      <vt:lpstr>STRETCH BREAK</vt:lpstr>
      <vt:lpstr>Convert failure into engineering knowledge</vt:lpstr>
      <vt:lpstr>How do we establish "lessons learned”?</vt:lpstr>
      <vt:lpstr>Preserve the example or preserve the lesson?</vt:lpstr>
      <vt:lpstr>Imagine a race condition. Diagnosis reopens the design space</vt:lpstr>
      <vt:lpstr>Where must the lesson live to reach the next decision?</vt:lpstr>
      <vt:lpstr>Knowledge Management: Make the organization harder to surprise the same way twice</vt:lpstr>
      <vt:lpstr>How will the next human engineer or agent know?</vt:lpstr>
      <vt:lpstr>Rule: Convert failure lessons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523</cp:revision>
  <dcterms:created xsi:type="dcterms:W3CDTF">2020-02-21T23:00:33Z</dcterms:created>
  <dcterms:modified xsi:type="dcterms:W3CDTF">2026-10-15T17:18:48Z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