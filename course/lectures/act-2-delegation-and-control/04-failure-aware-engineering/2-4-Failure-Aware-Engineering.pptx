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95" r:id="rId46"/>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3.xml"/><Relationship Id="rId3" Type="http://schemas.openxmlformats.org/officeDocument/2006/relationships/slide" Target="slides/slide32.xml"/><Relationship Id="rId4" Type="http://schemas.openxmlformats.org/officeDocument/2006/relationships/slide" Target="slides/slide31.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xml"/><Relationship Id="rId46"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ASK simply: What failed? Let them say ethics, engineer, management, software, requirements, regulation. Do not resolve it - the question returns once more, on a different case.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Not an ethics seminar - the engineering question is what happened AFTER the human control fired. The scale question seeds the causal-model section;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Instantiate with the case: start from the consequential judgment and walk the chain backward to the claim it rested on.</a:t>
            </a:r>
          </a:p>
          <a:p>
            <a:r>
              <a:t>- Do NOT map each question mechanically to one box - they interleave across the chain.</a:t>
            </a:r>
          </a:p>
          <a:p>
            <a:r>
              <a:t>- For the Instagram case: which judgments admitted the current realization, on which evidence, measuring what, for whom, under what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chain is OBSERVATION -&gt; EVIDENCE -&gt; INTERPRETATION -&gt; LESSON. Calling the observation itself "failure" would beg the question students are meant to reason about in the Instagram case: whether and where an engineering failure occurred.</a:t>
            </a:r>
          </a:p>
          <a:p>
            <a:r>
              <a:t>- Straight out of Engineering Knowledge (Act I): an observation becomes knowledge only through analysis. The 2012 Volkswagen hardware-failure slide is the counter-example to hold up: evidence was produced, interpretation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callback: Volkswagen has been absent for roughly ten slides; returning to it here is the payoff. A much better final discussion than "who was unethical?"</a:t>
            </a:r>
          </a:p>
          <a:p>
            <a:r>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reusable control capability can support legitimate calibration and testing purposes. The consequential engineering question is what behavior the integrated system uses that distinction to produce.</a:t>
            </a:r>
          </a:p>
          <a:p>
            <a:r>
              <a:t>- The general engineering shape: a supplier builds a capability; an integrator attaches a policy to it; the use, not the mechanism, carries the obligation. Supplier -&gt; capability -&gt; integrator -&gt; use.</a:t>
            </a:r>
          </a:p>
          <a:p>
            <a:r>
              <a:t>- Do not spend five minutes on the supplier relationship. The point is the capability/use distinction, which the next slide exploits.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The software already had a way to recognize test conditions</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100584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 CONTROL SOFTWARE</a:t>
            </a:r>
          </a:p>
        </p:txBody>
      </p:sp>
      <p:cxnSp>
        <p:nvCxnSpPr>
          <p:cNvPr id="902" name="Connector 902"/>
          <p:cNvCxnSpPr/>
          <p:nvPr/>
        </p:nvCxnSpPr>
        <p:spPr>
          <a:xfrm>
            <a:off x="4572000" y="15544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187452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3794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4617720"/>
            <a:ext cx="8046720" cy="45720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obligations constrain a capability like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30936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And the engineering continued. </a:t>
            </a:r>
            <a:r>
              <a:rPr sz="2000" b="0" i="0">
                <a:solidFill>
                  <a:srgbClr val="555960"/>
                </a:solidFill>
              </a:rPr>
              <a:t>Not a rogue patch: calibration, integration, certification, maintenance — and delegated too (Volkswagen → IAV).</a:t>
            </a:r>
          </a:p>
        </p:txBody>
      </p:sp>
      <p:sp>
        <p:nvSpPr>
          <p:cNvPr id="904" name="Label"/>
          <p:cNvSpPr txBox="1"/>
          <p:nvPr/>
        </p:nvSpPr>
        <p:spPr>
          <a:xfrm>
            <a:off x="411480" y="4709160"/>
            <a:ext cx="8321040" cy="50292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7</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8</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11</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12</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19</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20</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anchor="t" lIns="27432" rIns="27432" tIns="22860" bIns="22860">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anchor="t" lIns="27432" rIns="27432" tIns="22860" bIns="22860">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23</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anchor="t" lIns="27432" rIns="27432" tIns="22860" bIns="22860">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24</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303520" y="1463040"/>
            <a:ext cx="3291840" cy="3474720"/>
          </a:xfrm>
          <a:prstGeom prst="rect">
            <a:avLst/>
          </a:prstGeom>
          <a:noFill/>
        </p:spPr>
        <p:txBody>
          <a:bodyPr wrap="square" anchor="t" lIns="27432" rIns="27432" tIns="22860" bIns="22860">
            <a:spAutoFit/>
          </a:bodyPr>
          <a:lstStyle/>
          <a:p>
            <a:pPr algn="l"/>
            <a:r>
              <a:rPr sz="2000" b="1" i="0">
                <a:solidFill>
                  <a:srgbClr val="5C4826"/>
                </a:solidFill>
              </a:rPr>
              <a:t>What judgment was made?</a:t>
            </a:r>
          </a:p>
          <a:p>
            <a:pPr algn="l">
              <a:spcBef>
                <a:spcPts val="600"/>
              </a:spcBef>
            </a:pPr>
            <a:r>
              <a:rPr sz="2000" b="0" i="0">
                <a:solidFill>
                  <a:srgbClr val="555960"/>
                </a:solidFill>
              </a:rPr>
              <a:t>What evidence supported it?</a:t>
            </a:r>
          </a:p>
          <a:p>
            <a:pPr algn="l">
              <a:spcBef>
                <a:spcPts val="600"/>
              </a:spcBef>
            </a:pPr>
            <a:r>
              <a:rPr sz="2000" b="0" i="0">
                <a:solidFill>
                  <a:srgbClr val="555960"/>
                </a:solidFill>
              </a:rPr>
              <a:t>What did that evidence actually measure?</a:t>
            </a:r>
          </a:p>
          <a:p>
            <a:pPr algn="l">
              <a:spcBef>
                <a:spcPts val="600"/>
              </a:spcBef>
            </a:pPr>
            <a:r>
              <a:rPr sz="2000" b="0" i="0">
                <a:solidFill>
                  <a:srgbClr val="555960"/>
                </a:solidFill>
              </a:rPr>
              <a:t>For whom? Under what conditions?</a:t>
            </a:r>
          </a:p>
          <a:p>
            <a:pPr algn="l">
              <a:spcBef>
                <a:spcPts val="600"/>
              </a:spcBef>
            </a:pPr>
            <a:r>
              <a:rPr sz="2000" b="0" i="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bad outcome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25</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27</a:t>
            </a:fld>
            <a:endParaRPr lang="en-US"/>
          </a:p>
        </p:txBody>
      </p:sp>
      <p:sp>
        <p:nvSpPr>
          <p:cNvPr id="908" name="Label"/>
          <p:cNvSpPr txBox="1"/>
          <p:nvPr/>
        </p:nvSpPr>
        <p:spPr>
          <a:xfrm>
            <a:off x="548640" y="4297680"/>
            <a:ext cx="8046720" cy="548640"/>
          </a:xfrm>
          <a:prstGeom prst="rect">
            <a:avLst/>
          </a:prstGeom>
          <a:noFill/>
        </p:spPr>
        <p:txBody>
          <a:bodyPr wrap="square" anchor="t" lIns="27432" rIns="27432" tIns="22860" bIns="22860">
            <a:spAutoFit/>
          </a:bodyPr>
          <a:lstStyle/>
          <a:p>
            <a:pPr algn="ctr"/>
            <a:r>
              <a:rPr sz="2200" b="0" i="0">
                <a:solidFill>
                  <a:srgbClr val="5C4826"/>
                </a:solidFill>
              </a:rPr>
              <a:t>Evidence does not choose its own interpretation.</a:t>
            </a:r>
          </a:p>
        </p:txBody>
      </p:sp>
      <p:sp>
        <p:nvSpPr>
          <p:cNvPr id="920" name="Block"/>
          <p:cNvSpPr/>
          <p:nvPr/>
        </p:nvSpPr>
        <p:spPr>
          <a:xfrm>
            <a:off x="411480" y="2468880"/>
            <a:ext cx="18745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OBSERVATION</a:t>
            </a:r>
          </a:p>
        </p:txBody>
      </p:sp>
      <p:sp>
        <p:nvSpPr>
          <p:cNvPr id="921" name="Block"/>
          <p:cNvSpPr/>
          <p:nvPr/>
        </p:nvSpPr>
        <p:spPr>
          <a:xfrm>
            <a:off x="2697480" y="246888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sp>
        <p:nvSpPr>
          <p:cNvPr id="922" name="Block"/>
          <p:cNvSpPr/>
          <p:nvPr/>
        </p:nvSpPr>
        <p:spPr>
          <a:xfrm>
            <a:off x="4663440" y="2468880"/>
            <a:ext cx="2148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3" name="Block"/>
          <p:cNvSpPr/>
          <p:nvPr/>
        </p:nvSpPr>
        <p:spPr>
          <a:xfrm>
            <a:off x="7223760" y="2468880"/>
            <a:ext cx="1325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cxnSp>
        <p:nvCxnSpPr>
          <p:cNvPr id="924" name="Connector 924"/>
          <p:cNvCxnSpPr/>
          <p:nvPr/>
        </p:nvCxnSpPr>
        <p:spPr>
          <a:xfrm>
            <a:off x="228600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5" name="Connector 925"/>
          <p:cNvCxnSpPr/>
          <p:nvPr/>
        </p:nvCxnSpPr>
        <p:spPr>
          <a:xfrm>
            <a:off x="425196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6" name="Connector 926"/>
          <p:cNvCxnSpPr/>
          <p:nvPr/>
        </p:nvCxnSpPr>
        <p:spPr>
          <a:xfrm>
            <a:off x="681228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7" name="Label"/>
          <p:cNvSpPr txBox="1"/>
          <p:nvPr/>
        </p:nvSpPr>
        <p:spPr>
          <a:xfrm>
            <a:off x="1600200"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happened?</a:t>
            </a:r>
          </a:p>
        </p:txBody>
      </p:sp>
      <p:sp>
        <p:nvSpPr>
          <p:cNvPr id="928" name="Label"/>
          <p:cNvSpPr txBox="1"/>
          <p:nvPr/>
        </p:nvSpPr>
        <p:spPr>
          <a:xfrm>
            <a:off x="354787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does it support?</a:t>
            </a:r>
          </a:p>
        </p:txBody>
      </p:sp>
      <p:sp>
        <p:nvSpPr>
          <p:cNvPr id="929" name="Label"/>
          <p:cNvSpPr txBox="1"/>
          <p:nvPr/>
        </p:nvSpPr>
        <p:spPr>
          <a:xfrm>
            <a:off x="610819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should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28</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Generalization is itself an engineering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29</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30</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31</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33</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34</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35</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Given everything we’ve learned, which judgments should never have remained discretionary?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36</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37</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38</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39</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