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3"/>
  </p:notesMasterIdLst>
  <p:sldIdLst>
    <p:sldId id="256" r:id="rId7"/>
    <p:sldId id="257" r:id="rId8"/>
    <p:sldId id="258" r:id="rId9"/>
    <p:sldId id="294" r:id="rId45"/>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6"/>
    <p:sldId id="283" r:id="rId5"/>
    <p:sldId id="284" r:id="rId4"/>
    <p:sldId id="285" r:id="rId3"/>
    <p:sldId id="286" r:id="rId2"/>
    <p:sldId id="287" r:id="rId38"/>
    <p:sldId id="288" r:id="rId39"/>
    <p:sldId id="289" r:id="rId40"/>
    <p:sldId id="290" r:id="rId41"/>
    <p:sldId id="291" r:id="rId42"/>
    <p:sldId id="292" r:id="rId43"/>
    <p:sldId id="293" r:id="rId4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586" autoAdjust="0"/>
    <p:restoredTop sz="56164"/>
  </p:normalViewPr>
  <p:slideViewPr>
    <p:cSldViewPr snapToGrid="0" snapToObjects="1">
      <p:cViewPr varScale="1">
        <p:scale>
          <a:sx n="64" d="100"/>
          <a:sy n="64" d="100"/>
        </p:scale>
        <p:origin x="2968" y="168"/>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2.xml"/><Relationship Id="rId3" Type="http://schemas.openxmlformats.org/officeDocument/2006/relationships/slide" Target="slides/slide31.xml"/><Relationship Id="rId4" Type="http://schemas.openxmlformats.org/officeDocument/2006/relationships/slide" Target="slides/slide30.xml"/><Relationship Id="rId5" Type="http://schemas.openxmlformats.org/officeDocument/2006/relationships/slide" Target="slides/slide29.xml"/><Relationship Id="rId6" Type="http://schemas.openxmlformats.org/officeDocument/2006/relationships/slide" Target="slides/slide28.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10/7/26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a:t>
            </a:r>
          </a:p>
          <a:p>
            <a:r>
              <a:t>Title only - almost nothing else on this slide, on purpose.</a:t>
            </a:r>
          </a:p>
          <a:p>
            <a:r>
              <a:t>The thesis of the unit, for you (do not say it yet): failure produces evidence; analyze it into a lesson; then, when the lesson is stable and consequential enough, move the judgment into the engineering environment so future engineers do not have to make the same judgment again.</a:t>
            </a:r>
          </a:p>
          <a:p>
            <a:r>
              <a:t>The first ~15 minutes are a progressive reveal of one real case. Do not sanitize it into "engineers objected, managers ignored them" - the documented story is murkier than that, which is exactly why it is useful.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Nothing has failed yet. The environment changed: an external obligation now changes what counts as an acceptable realization. Volkswagen and the product ambition come first; the regulation is an event in their story.</a:t>
            </a:r>
          </a:p>
          <a:p>
            <a:r>
              <a:t>- Quietly recalls Requirements without enumerating Act I.</a:t>
            </a:r>
          </a:p>
          <a:p>
            <a:r>
              <a:t>- CAVEAT (sourcing): EPA warns that direct Tier 1/Tier 2 comparisons are complicated by averaging and other program features; 0.07 g/mi was the Tier 2 bin to which the affected Jetta diesels were certified.</a:t>
            </a:r>
          </a:p>
          <a:p>
            <a:r>
              <a:t>- ASK the footer question. Expected recall from Act I: requirements, specification, architecture, design, validation.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The triangle: clean diesel = emissions + performance + customer demand, and no satisfactory point satisfying all three was found.</a:t>
            </a:r>
          </a:p>
          <a:p>
            <a:r>
              <a:t>- ASK the footer question. Expected answers: renegotiate requirements, change architecture or design, change product attributes, abandon the market.</a:t>
            </a:r>
          </a:p>
          <a:p>
            <a:r>
              <a:t>- The inability to satisfy current requirements IS itself engineering evidence. Pause here.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After the capability slide, the move is visible: the problematic artifact is not test detection but the POLICY attached to the distinction. The outline marks that: the branch, not the recognizer, is the defeat device.</a:t>
            </a:r>
          </a:p>
          <a:p>
            <a:r>
              <a:t>- ASK simply: What failed? Let them say ethics, engineer, management, software, requirements, regulation. Do not resolve it - the question returns once more, on a different case.</a:t>
            </a:r>
          </a:p>
          <a:p>
            <a:r>
              <a:t>- Sourcing: DOJ materials describe emissions up to 40 times the applicable standard outside test mode; keep the figure in narration if asked.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The point: the ordinary speak-up control ACTUALLY FIRED. Objection was raised and escalated; the November 2006 decision was to continue, with the instruction recorded in substance as "not to get caught."</a:t>
            </a:r>
          </a:p>
          <a:p>
            <a:r>
              <a:t>- Not an ethics seminar - the engineering question is what happened AFTER the human control fired.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Two facts: NOT A ROGUE PATCH (calibration / integration / certification / maintenance -&gt; sustained engineering), and the work was DELEGATED too (Volkswagen -&gt; IAV -&gt; continued engineering).</a:t>
            </a:r>
          </a:p>
          <a:p>
            <a:r>
              <a:t>- The scale question is a seed, not the headline: "one unethical programmer" becomes an increasingly implausible causal model. Do not let it dominate.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Locate the decision: technical problems and internal disagreement forced the October 2007 meeting, and the decision was PROCEED.</a:t>
            </a:r>
          </a:p>
          <a:p>
            <a:r>
              <a:t>- The bottom line is the lesson: reconsideration is a control, and it fired - and the system still reproduced the failure. Do NOT ask "What failed?" here; it has been asked once.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Show scale and repetition rather than another moral discussion: the year-by-year table turns an incident into a process.</a:t>
            </a:r>
          </a:p>
          <a:p>
            <a:r>
              <a:t>- ASK the footer question. It points at the conditions and mechanisms that made the outcome repeatable - the causal-model section answers it. Do not anticipate governance conversion yet.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The chain is internally coherent - that is the disturbing part. FAILURE -&gt; NEW EVIDENCE -&gt; INTERPRETATION -&gt; ACTION, and the action improves the defeat device.</a:t>
            </a:r>
          </a:p>
          <a:p>
            <a:r>
              <a:t>- BUILD (apply by hand in PowerPoint; the build tool cannot author animations): reveal the four rows top to bottom, then the first footer line ("They learned from failure."), pause, then the second ("They learned how to make the existing system work better.").</a:t>
            </a:r>
          </a:p>
          <a:p>
            <a:r>
              <a:t>- This is the first statement of the lecture's central problem: "learn from failure" is insufficient; the same evidence can improve the wrong model or the wrong objective.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2-3 minutes</a:t>
            </a:r>
          </a:p>
          <a:p>
            <a:r>
              <a:t>- Independent road testing -&gt; regulators -&gt; the 2015 EPA notice -&gt; disclosure. Only now disclose scale and consequences.</a:t>
            </a:r>
          </a:p>
          <a:p>
            <a:r>
              <a:t>- DO NOT ask "why were engineers not held responsible?" - the premise is false. Engineer James Liang pleaded guilty and was sentenced; managers and executives were prosecuted or charged; Volkswagen pleaded guilty and received a $2.8B U.S. criminal penalty among other settlements.</a:t>
            </a:r>
          </a:p>
          <a:p>
            <a:r>
              <a:t>- ASK the footer question - it is the handoff into causal models.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&lt;1 minute</a:t>
            </a:r>
          </a:p>
          <a:p>
            <a:r>
              <a:t>- Transition: the lecture now asks what theory explains what we just saw.</a:t>
            </a:r>
          </a:p>
          <a:p>
            <a:r>
              <a:t>- Four causal models follow; each will be tested against the story.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The LAST open-ended Volkswagen diagnosis. Put student answers on screen, verbatim, as they come.</a:t>
            </a:r>
          </a:p>
          <a:p>
            <a:r>
              <a:t>- Do not classify the answers yet - just collect. Keep the list visible through the four causal-model slides if the room setup allows; each model will claim some of the answers.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 - keep this fast (30-45 seconds of talk).</a:t>
            </a:r>
          </a:p>
          <a:p>
            <a:r>
              <a:t>- The narrowest causal boundary: an individual acted, the action produced the outcome.</a:t>
            </a:r>
          </a:p>
          <a:p>
            <a:r>
              <a:t>- Test it against the story: objections, escalation, authorization, delegation to IAV, year-after-year certification. One individual does not account for that.</a:t>
            </a:r>
          </a:p>
          <a:p>
            <a:r>
              <a:t>- "Narrow" is not "useless": there can be several interventions at this level, but they all address the individual.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 - keep this fast (30-45 seconds of talk).</a:t>
            </a:r>
          </a:p>
          <a:p>
            <a:r>
              <a:t>- Layered defenses, each imperfect; the accident traverses aligned holes.</a:t>
            </a:r>
          </a:p>
          <a:p>
            <a:r>
              <a:t>- The causal boundary widens: not just the act, but the state of every defense it passed through. Test against the story: which defenses existed, and where were the holes?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 - keep this fast (30-45 seconds of talk).</a:t>
            </a:r>
          </a:p>
          <a:p>
            <a:r>
              <a:t>- The causal story moves up a level: conditions -&gt; behavior -&gt; outcome.</a:t>
            </a:r>
          </a:p>
          <a:p>
            <a:r>
              <a:t>- Test against the story: what conditions (authority, incentives, schedule, ownership) sustained the same result model year after model year?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A systems-theoretic account: constraints flow down, feedback flows up, from regulators through the organization and engineering to the operating process.</a:t>
            </a:r>
          </a:p>
          <a:p>
            <a:r>
              <a:t>- Present it seriously - it is a modeling discipline, not a punchline. The cost arrives on the next slide: breadth demands evidence and authority.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1-2 minutes</a:t>
            </a:r>
          </a:p>
          <a:p>
            <a:r>
              <a:t>- The axis is causal boundary, not completeness: each model REPRESENTS more structure than the last; none is automatically better.</a:t>
            </a:r>
          </a:p>
          <a:p>
            <a:r>
              <a:t>- Broader models expose more relationships - and demand more evidence and more authority to act on what they expose.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The locus of control is the criterion, not the goal: model far enough to reach the decisions that can change the outcome.</a:t>
            </a:r>
          </a:p>
          <a:p>
            <a:r>
              <a:t>- QUALIFICATION (carry this verbally): a relevant cause can lie outside your authority. Do not erase it - escalate it, compensate for it, or identify it as the reason a local fix is insufficient.</a:t>
            </a:r>
          </a:p>
          <a:p>
            <a:r>
              <a:t>- Connect back to the student answers from the opening of this section: each answer was implicitly one of these models.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&lt;1 minute</a:t>
            </a:r>
          </a:p>
          <a:p>
            <a:r>
              <a:t>- The second half converges on governance conversion; diagnosis comes first.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Walk the chain: requirements -&gt; specification -&gt; architecture -&gt; design -&gt; implementation.</a:t>
            </a:r>
          </a:p>
          <a:p>
            <a:r>
              <a:t>- ASK where the Volkswagen failure lived on this chain. The discussion should surface that it was not an implementation defect.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1-2 minutes</a:t>
            </a:r>
          </a:p>
          <a:p>
            <a:r>
              <a:t>- A single incident rarely maps to a single decision; the diagnosis may implicate several at once.</a:t>
            </a:r>
          </a:p>
          <a:p>
            <a:r>
              <a:t>- Volkswagen: the requirement conflict, the design response, and the authority structure were all implicated.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Collect answers before offering structure.</a:t>
            </a:r>
          </a:p>
          <a:p>
            <a:r>
              <a:t>- Steer toward validation: the next slide runs Validation backward to locate where knowledge should have been produced.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Claim -&gt; scope -&gt; mechanism -&gt; strategy -&gt; evidence -&gt; judgment, run in reverse: which judgment admitted this realization, on which evidence, under which claim?</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1-2 minutes</a:t>
            </a:r>
          </a:p>
          <a:p>
            <a:r>
              <a:t>- Guard against the reflex "we failed, therefore our validation was bad."</a:t>
            </a:r>
          </a:p>
          <a:p>
            <a:r>
              <a:t>- The diagnostic question is whether the failure fell inside the claimed scope or in the residual uncertainty that was knowingly accepted.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&lt;1 minute</a:t>
            </a:r>
          </a:p>
          <a:p>
            <a:r>
              <a:t>- From diagnosis to knowledge: the failure is evidence; it must be analyzed into a lesson before it can be reused.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1-2 minutes</a:t>
            </a:r>
          </a:p>
          <a:p>
            <a:r>
              <a:t>- Straight out of Engineering Knowledge (Act I): an observation becomes knowledge only through analysis.</a:t>
            </a:r>
          </a:p>
          <a:p>
            <a:r>
              <a:t>- The 2012 hardware-failure slide is the counter-example to hold up: evidence was produced, analysis happened, and the lesson served the wrong obligation.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One failure licenses several candidate lessons of increasing breadth; the evidence supports only some of them.</a:t>
            </a:r>
          </a:p>
          <a:p>
            <a:r>
              <a:t>- ASK: for a failure from your own project, what is the narrowest lesson? The widest the evidence still supports?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Regression test vs generalized lesson: both are legitimate; they preserve different things.</a:t>
            </a:r>
          </a:p>
          <a:p>
            <a:r>
              <a:t>- ASK what each one catches next time, and what each one misses.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1-2 minutes</a:t>
            </a:r>
          </a:p>
          <a:p>
            <a:r>
              <a:t>- The causal account changes the system; the reflective account changes the engineer.</a:t>
            </a:r>
          </a:p>
          <a:p>
            <a:r>
              <a:t>- Postmortems that stop at the causal account leave the second kind of learning on the table.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From Engineering Knowledge: consequential knowledge can migrate into requirements, specifications, architecture, mechanisms/models, validation, or continuing checks/controls when future work should inherit the lesson.</a:t>
            </a:r>
          </a:p>
          <a:p>
            <a:r>
              <a:t>- ASK for one lesson from the course project and where it should live.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&lt;1 minute</a:t>
            </a:r>
          </a:p>
          <a:p>
            <a:r>
              <a:t>- The climax of the unit: from lessons engineers remember to structure the environment enforces.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Not a universal maturity ladder - increasing ability to affect future action.</a:t>
            </a:r>
          </a:p>
          <a:p>
            <a:r>
              <a:t>- "Be careful next time" depends on memory and goodwill; a constraint or gate acts whether or not anyone remembers.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2-3 minutes - a major slide.</a:t>
            </a:r>
          </a:p>
          <a:p>
            <a:r>
              <a:t>- Failure -&gt; what did we learn? -&gt; recurring judgment -&gt; can it be represented reliably? -&gt; model / validator / constraint / gate.</a:t>
            </a:r>
          </a:p>
          <a:p>
            <a:r>
              <a:t>- This is where Alignment pays off: the targets at the bottom are the control-system roles from unit 2-3.</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2-3 minutes</a:t>
            </a:r>
          </a:p>
          <a:p>
            <a:r>
              <a:t>- A much better final Volkswagen discussion than "who was unethical?"</a:t>
            </a:r>
          </a:p>
          <a:p>
            <a:r>
              <a:t>- The footer question is the discussion; give it time.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1-2 minutes</a:t>
            </a:r>
          </a:p>
          <a:p>
            <a:r>
              <a:t>- This exploits the Alignment unit directly: represent the lesson, actively align what already exists, passively align everything that comes after.</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1-2 minutes</a:t>
            </a:r>
          </a:p>
          <a:p>
            <a:r>
              <a:t>- A lesson can land in the system (structure, models, controls), in the team (practices, shared understanding), or in the engineer (judgment, repertoire).</a:t>
            </a:r>
          </a:p>
          <a:p>
            <a:r>
              <a:t>- The three are complements, not competitors.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1-2 minutes</a:t>
            </a:r>
          </a:p>
          <a:p>
            <a:r>
              <a:t>- Schon arrives only now, deliberately: reflection is real and valuable, but it is not the destination of this unit.</a:t>
            </a:r>
          </a:p>
          <a:p>
            <a:r>
              <a:t>- Decision -&gt; consequence -&gt; reflection -&gt; repertoire -&gt; future recognition.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 - the closing figure, and arguably the summary slide of Act II.</a:t>
            </a:r>
          </a:p>
          <a:p>
            <a:r>
              <a:t>ANIMATION (apply by hand in PowerPoint; the build tool cannot author animations). Five-step build, with the narration line for each:</a:t>
            </a:r>
          </a:p>
          <a:p>
            <a:r>
              <a:t>1. MODEL -&gt; REALIZATION -&gt; REALITY: "We deliberately modeled only what we thought mattered."</a:t>
            </a:r>
          </a:p>
          <a:p>
            <a:r>
              <a:t>2. REALITY -&gt; FAILURE / EVIDENCE: "Reality has just told us something our engineering did not predict."</a:t>
            </a:r>
          </a:p>
          <a:p>
            <a:r>
              <a:t>3. EVIDENCE -&gt; JUDGMENT: "The observation doesn't explain itself."</a:t>
            </a:r>
          </a:p>
          <a:p>
            <a:r>
              <a:t>4. JUDGMENT -&gt; MODEL′ / CONTROL: "If the newly discovered distinction matters enough, preserve it."</a:t>
            </a:r>
          </a:p>
          <a:p>
            <a:r>
              <a:t>5. Close the loop back to REALIZATION.</a:t>
            </a:r>
          </a:p>
          <a:p>
            <a:r>
              <a:t>The judgment gate is the point - this must NOT read as "more controls good." Some failures should change the model. Some should change the engineer. Some are residual uncertainty we accept. Some lessons are too local to encode. The engineering question is whether this distinction has earned its place.</a:t>
            </a:r>
          </a:p>
          <a:p>
            <a:r>
              <a:t>Closing beat: Failure is inevitable. Recurring failure is not. The organization should accumulate structure from consequential experience: ask which part of the judgment can be made unnecessary next time because the environment itself now knows it.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1-2 minutes</a:t>
            </a:r>
          </a:p>
          <a:p>
            <a:r>
              <a:t>- A reusable control capability can support legitimate calibration and testing purposes. The consequential engineering question is what behavior the integrated system uses that distinction to produce.</a:t>
            </a:r>
          </a:p>
          <a:p>
            <a:r>
              <a:t>- The general engineering shape: a supplier builds a capability; an integrator attaches a policy to it; the use, not the mechanism, carries the obligation. Supplier -&gt; capability -&gt; integrator -&gt; use.</a:t>
            </a:r>
          </a:p>
          <a:p>
            <a:r>
              <a:t>- Do not spend five minutes on the supplier relationship. The point is the capability/use distinction, which the next slide exploits.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 Id="rId1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00"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901" name="Header"/>
          <p:cNvSpPr/>
          <p:nvPr/>
        </p:nvSpPr>
        <p:spPr>
          <a:xfrm>
            <a:off x="438912" y="566928"/>
            <a:ext cx="8266175" cy="1197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000000"/>
                </a:solidFill>
              </a:rPr>
              <a:t>Software Engineering</a:t>
            </a:r>
          </a:p>
          <a:p>
            <a:pPr algn="ctr"/>
            <a:r>
              <a:rPr sz="2000" b="0" i="0">
                <a:solidFill>
                  <a:srgbClr val="000000"/>
                </a:solidFill>
              </a:rPr>
              <a:t>ECE 30861 / CSCI 45000</a:t>
            </a:r>
          </a:p>
        </p:txBody>
      </p:sp>
      <p:sp>
        <p:nvSpPr>
          <p:cNvPr id="902" name="TitleBlock"/>
          <p:cNvSpPr txBox="1"/>
          <p:nvPr/>
        </p:nvSpPr>
        <p:spPr>
          <a:xfrm>
            <a:off x="219456" y="1920240"/>
            <a:ext cx="8695944" cy="2148840"/>
          </a:xfrm>
          <a:prstGeom prst="rect">
            <a:avLst/>
          </a:prstGeom>
          <a:noFill/>
        </p:spPr>
        <p:txBody>
          <a:bodyPr wrap="square" anchor="ctr" lIns="27432" rIns="27432" tIns="22860" bIns="22860">
            <a:spAutoFit/>
          </a:bodyPr>
          <a:lstStyle/>
          <a:p>
            <a:pPr algn="ctr"/>
            <a:r>
              <a:rPr sz="4000" b="1" i="0">
                <a:solidFill>
                  <a:srgbClr val="000000"/>
                </a:solidFill>
              </a:rPr>
              <a:t>Failure-Aware Engineering</a:t>
            </a:r>
          </a:p>
          <a:p>
            <a:pPr algn="ctr">
              <a:spcBef>
                <a:spcPts val="1800"/>
              </a:spcBef>
            </a:pPr>
            <a:r>
              <a:rPr sz="2000" b="0" i="0">
                <a:solidFill>
                  <a:srgbClr val="000000"/>
                </a:solidFill>
              </a:rPr>
              <a:t>Prof. James C. Davis</a:t>
            </a:r>
          </a:p>
          <a:p>
            <a:pPr algn="ctr"/>
            <a:r>
              <a:rPr sz="2000" b="0" i="0">
                <a:solidFill>
                  <a:srgbClr val="000000"/>
                </a:solidFill>
              </a:rPr>
              <a:t>Prof. Steve France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1999: Volkswagen faces a new constraint</a:t>
            </a:r>
          </a:p>
        </p:txBody>
      </p:sp>
      <p:sp>
        <p:nvSpPr>
          <p:cNvPr id="900" name="Slide Number Placeholder 900"/>
          <p:cNvSpPr>
            <a:spLocks noGrp="1"/>
          </p:cNvSpPr>
          <p:nvPr>
            <p:ph type="sldNum" sz="quarter" idx="4"/>
          </p:nvPr>
        </p:nvSpPr>
        <p:spPr/>
        <p:txBody>
          <a:bodyPr/>
          <a:lstStyle/>
          <a:p>
            <a:fld id="{5A78CA05-E47A-4617-B951-D407706858B7}" type="slidenum">
              <a:rPr lang="en-US" smtClean="0"/>
              <a:t>2</a:t>
            </a:fld>
            <a:endParaRPr lang="en-US"/>
          </a:p>
        </p:txBody>
      </p:sp>
      <p:sp>
        <p:nvSpPr>
          <p:cNvPr id="901" name="Card"/>
          <p:cNvSpPr/>
          <p:nvPr/>
        </p:nvSpPr>
        <p:spPr>
          <a:xfrm>
            <a:off x="822960" y="1874520"/>
            <a:ext cx="3017520" cy="14630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U.S. Tier 1</a:t>
            </a:r>
          </a:p>
          <a:p>
            <a:pPr algn="ctr">
              <a:spcBef>
                <a:spcPts val="2200"/>
              </a:spcBef>
            </a:pPr>
            <a:r>
              <a:rPr sz="2800" b="1" i="0">
                <a:solidFill>
                  <a:srgbClr val="5C4826"/>
                </a:solidFill>
              </a:rPr>
              <a:t>NOx ≈ 1.25 g/mi</a:t>
            </a:r>
          </a:p>
        </p:txBody>
      </p:sp>
      <p:cxnSp>
        <p:nvCxnSpPr>
          <p:cNvPr id="902" name="Connector 901"/>
          <p:cNvCxnSpPr/>
          <p:nvPr/>
        </p:nvCxnSpPr>
        <p:spPr>
          <a:xfrm>
            <a:off x="3977639" y="2606040"/>
            <a:ext cx="731521"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4846320" y="1874520"/>
            <a:ext cx="3017520" cy="14630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U.S. Tier 2</a:t>
            </a:r>
          </a:p>
          <a:p>
            <a:pPr algn="ctr">
              <a:spcBef>
                <a:spcPts val="2200"/>
              </a:spcBef>
            </a:pPr>
            <a:r>
              <a:rPr sz="2800" b="1" i="0">
                <a:solidFill>
                  <a:srgbClr val="9A3F12"/>
                </a:solidFill>
              </a:rPr>
              <a:t>0.07 g/mi</a:t>
            </a:r>
          </a:p>
        </p:txBody>
      </p:sp>
      <p:cxnSp>
        <p:nvCxnSpPr>
          <p:cNvPr id="904" name="Connector 903"/>
          <p:cNvCxnSpPr/>
          <p:nvPr/>
        </p:nvCxnSpPr>
        <p:spPr>
          <a:xfrm flipV="1">
            <a:off x="6355080" y="3337560"/>
            <a:ext cx="0" cy="5943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Label"/>
          <p:cNvSpPr txBox="1"/>
          <p:nvPr/>
        </p:nvSpPr>
        <p:spPr>
          <a:xfrm>
            <a:off x="4572000" y="4023360"/>
            <a:ext cx="3566160" cy="411480"/>
          </a:xfrm>
          <a:prstGeom prst="rect">
            <a:avLst/>
          </a:prstGeom>
          <a:noFill/>
        </p:spPr>
        <p:txBody>
          <a:bodyPr wrap="square" anchor="t" lIns="27432" rIns="27432" tIns="22860" bIns="22860">
            <a:spAutoFit/>
          </a:bodyPr>
          <a:lstStyle/>
          <a:p>
            <a:pPr algn="ctr"/>
            <a:r>
              <a:rPr sz="2000" b="1" i="0">
                <a:solidFill>
                  <a:srgbClr val="8E6F3E"/>
                </a:solidFill>
              </a:rPr>
              <a:t>engineer for this world</a:t>
            </a:r>
          </a:p>
        </p:txBody>
      </p:sp>
      <p:sp>
        <p:nvSpPr>
          <p:cNvPr id="906"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What engineering activities should this regulatory change affect?</a:t>
            </a:r>
          </a:p>
        </p:txBody>
      </p:sp>
      <p:sp>
        <p:nvSpPr>
          <p:cNvPr id="910" name="Block"/>
          <p:cNvSpPr/>
          <p:nvPr/>
        </p:nvSpPr>
        <p:spPr>
          <a:xfrm>
            <a:off x="822960" y="914400"/>
            <a:ext cx="210312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VOLKSWAGEN</a:t>
            </a:r>
          </a:p>
        </p:txBody>
      </p:sp>
      <p:cxnSp>
        <p:nvCxnSpPr>
          <p:cNvPr id="911" name="Connector 911"/>
          <p:cNvCxnSpPr/>
          <p:nvPr/>
        </p:nvCxnSpPr>
        <p:spPr>
          <a:xfrm>
            <a:off x="2926080" y="1188720"/>
            <a:ext cx="41148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2" name="Card"/>
          <p:cNvSpPr/>
          <p:nvPr/>
        </p:nvSpPr>
        <p:spPr>
          <a:xfrm>
            <a:off x="3337560" y="914400"/>
            <a:ext cx="329184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Sell diesel cars in the U.S.</a:t>
            </a:r>
          </a:p>
        </p:txBody>
      </p:sp>
      <p:cxnSp>
        <p:nvCxnSpPr>
          <p:cNvPr id="913" name="Connector 913"/>
          <p:cNvCxnSpPr/>
          <p:nvPr/>
        </p:nvCxnSpPr>
        <p:spPr>
          <a:xfrm>
            <a:off x="4983480" y="1463040"/>
            <a:ext cx="0" cy="384048"/>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2006: Volkswagen cannot satisfy all three</a:t>
            </a:r>
          </a:p>
        </p:txBody>
      </p:sp>
      <p:sp>
        <p:nvSpPr>
          <p:cNvPr id="900" name="Slide Number Placeholder 900"/>
          <p:cNvSpPr>
            <a:spLocks noGrp="1"/>
          </p:cNvSpPr>
          <p:nvPr>
            <p:ph type="sldNum" sz="quarter" idx="4"/>
          </p:nvPr>
        </p:nvSpPr>
        <p:spPr/>
        <p:txBody>
          <a:bodyPr/>
          <a:lstStyle/>
          <a:p>
            <a:fld id="{6A358935-6B48-4518-B358-4C99ECF38DBC}" type="slidenum">
              <a:rPr lang="en-US" smtClean="0"/>
              <a:t>3</a:t>
            </a:fld>
            <a:endParaRPr lang="en-US"/>
          </a:p>
        </p:txBody>
      </p:sp>
      <p:sp>
        <p:nvSpPr>
          <p:cNvPr id="901" name="Block"/>
          <p:cNvSpPr/>
          <p:nvPr/>
        </p:nvSpPr>
        <p:spPr>
          <a:xfrm>
            <a:off x="3474720" y="2331720"/>
            <a:ext cx="219456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CLEAN DIESEL</a:t>
            </a:r>
          </a:p>
        </p:txBody>
      </p:sp>
      <p:sp>
        <p:nvSpPr>
          <p:cNvPr id="903" name="Card"/>
          <p:cNvSpPr/>
          <p:nvPr/>
        </p:nvSpPr>
        <p:spPr>
          <a:xfrm>
            <a:off x="3246120" y="1097280"/>
            <a:ext cx="265176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emissions</a:t>
            </a:r>
          </a:p>
        </p:txBody>
      </p:sp>
      <p:sp>
        <p:nvSpPr>
          <p:cNvPr id="905" name="Card"/>
          <p:cNvSpPr/>
          <p:nvPr/>
        </p:nvSpPr>
        <p:spPr>
          <a:xfrm>
            <a:off x="822960" y="3520440"/>
            <a:ext cx="265176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performance</a:t>
            </a:r>
          </a:p>
        </p:txBody>
      </p:sp>
      <p:sp>
        <p:nvSpPr>
          <p:cNvPr id="907" name="Card"/>
          <p:cNvSpPr/>
          <p:nvPr/>
        </p:nvSpPr>
        <p:spPr>
          <a:xfrm>
            <a:off x="5669280" y="3520440"/>
            <a:ext cx="265176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customer demand</a:t>
            </a:r>
          </a:p>
        </p:txBody>
      </p:sp>
      <p:sp>
        <p:nvSpPr>
          <p:cNvPr id="908" name="DojAccount"/>
          <p:cNvSpPr txBox="1"/>
          <p:nvPr/>
        </p:nvSpPr>
        <p:spPr>
          <a:xfrm>
            <a:off x="548640" y="4343400"/>
            <a:ext cx="8046720" cy="868680"/>
          </a:xfrm>
          <a:prstGeom prst="rect">
            <a:avLst/>
          </a:prstGeom>
          <a:noFill/>
        </p:spPr>
        <p:txBody>
          <a:bodyPr wrap="square" anchor="ctr" lIns="27432" rIns="27432" tIns="22860" bIns="22860">
            <a:spAutoFit/>
          </a:bodyPr>
          <a:lstStyle/>
          <a:p>
            <a:pPr algn="l"/>
            <a:r>
              <a:rPr sz="2000" b="1" i="0">
                <a:solidFill>
                  <a:srgbClr val="5C4826"/>
                </a:solidFill>
              </a:rPr>
              <a:t>DOJ: </a:t>
            </a:r>
            <a:r>
              <a:rPr sz="2000" b="0" i="0">
                <a:solidFill>
                  <a:srgbClr val="555960"/>
                </a:solidFill>
              </a:rPr>
              <a:t>engineers concluded they could not produce the desired engine that both met the stricter U.S. NOx standard and attracted sufficient U.S. customer demand.</a:t>
            </a:r>
          </a:p>
        </p:txBody>
      </p:sp>
      <p:sp>
        <p:nvSpPr>
          <p:cNvPr id="909" name="FooterBand"/>
          <p:cNvSpPr/>
          <p:nvPr/>
        </p:nvSpPr>
        <p:spPr>
          <a:xfrm>
            <a:off x="274320" y="5513831"/>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What should happen when the engineering cannot satisfy the obligations?</a:t>
            </a:r>
          </a:p>
        </p:txBody>
      </p:sp>
      <p:cxnSp>
        <p:nvCxnSpPr>
          <p:cNvPr id="920" name="Connector 920"/>
          <p:cNvCxnSpPr/>
          <p:nvPr/>
        </p:nvCxnSpPr>
        <p:spPr>
          <a:xfrm flipH="1">
            <a:off x="2148840" y="1737360"/>
            <a:ext cx="1783080" cy="1783080"/>
          </a:xfrm>
          <a:prstGeom prst="line">
            <a:avLst/>
          </a:prstGeom>
          <a:ln w="19050">
            <a:solidFill>
              <a:srgbClr val="8E6F3E"/>
            </a:solidFill>
          </a:ln>
        </p:spPr>
        <p:style>
          <a:lnRef idx="2">
            <a:schemeClr val="accent1"/>
          </a:lnRef>
          <a:fillRef idx="0">
            <a:schemeClr val="accent1"/>
          </a:fillRef>
          <a:effectRef idx="1">
            <a:schemeClr val="accent1"/>
          </a:effectRef>
          <a:fontRef idx="minor">
            <a:schemeClr val="tx1"/>
          </a:fontRef>
        </p:style>
      </p:cxnSp>
      <p:cxnSp>
        <p:nvCxnSpPr>
          <p:cNvPr id="921" name="Connector 921"/>
          <p:cNvCxnSpPr/>
          <p:nvPr/>
        </p:nvCxnSpPr>
        <p:spPr>
          <a:xfrm>
            <a:off x="5212080" y="1737360"/>
            <a:ext cx="1783080" cy="1783080"/>
          </a:xfrm>
          <a:prstGeom prst="line">
            <a:avLst/>
          </a:prstGeom>
          <a:ln w="19050">
            <a:solidFill>
              <a:srgbClr val="8E6F3E"/>
            </a:solidFill>
          </a:ln>
        </p:spPr>
        <p:style>
          <a:lnRef idx="2">
            <a:schemeClr val="accent1"/>
          </a:lnRef>
          <a:fillRef idx="0">
            <a:schemeClr val="accent1"/>
          </a:fillRef>
          <a:effectRef idx="1">
            <a:schemeClr val="accent1"/>
          </a:effectRef>
          <a:fontRef idx="minor">
            <a:schemeClr val="tx1"/>
          </a:fontRef>
        </p:style>
      </p:cxnSp>
      <p:cxnSp>
        <p:nvCxnSpPr>
          <p:cNvPr id="922" name="Connector 922"/>
          <p:cNvCxnSpPr/>
          <p:nvPr/>
        </p:nvCxnSpPr>
        <p:spPr>
          <a:xfrm>
            <a:off x="3474720" y="3840480"/>
            <a:ext cx="2194560" cy="0"/>
          </a:xfrm>
          <a:prstGeom prst="line">
            <a:avLst/>
          </a:prstGeom>
          <a:ln w="19050">
            <a:solidFill>
              <a:srgbClr val="8E6F3E"/>
            </a:solidFill>
          </a:ln>
        </p:spPr>
        <p:style>
          <a:lnRef idx="2">
            <a:schemeClr val="accent1"/>
          </a:lnRef>
          <a:fillRef idx="0">
            <a:schemeClr val="accent1"/>
          </a:fillRef>
          <a:effectRef idx="1">
            <a:schemeClr val="accent1"/>
          </a:effectRef>
          <a:fontRef idx="minor">
            <a:schemeClr val="tx1"/>
          </a:fontRef>
        </p:style>
      </p:cxnSp>
      <p:sp>
        <p:nvSpPr>
          <p:cNvPr id="923" name="Label"/>
          <p:cNvSpPr txBox="1"/>
          <p:nvPr/>
        </p:nvSpPr>
        <p:spPr>
          <a:xfrm>
            <a:off x="2743200" y="2999232"/>
            <a:ext cx="3657600" cy="365760"/>
          </a:xfrm>
          <a:prstGeom prst="rect">
            <a:avLst/>
          </a:prstGeom>
          <a:noFill/>
        </p:spPr>
        <p:txBody>
          <a:bodyPr wrap="square" anchor="t" lIns="27432" rIns="27432" tIns="22860" bIns="22860">
            <a:spAutoFit/>
          </a:bodyPr>
          <a:lstStyle/>
          <a:p>
            <a:pPr algn="ctr"/>
            <a:r>
              <a:rPr sz="2000" b="1" i="0">
                <a:solidFill>
                  <a:srgbClr val="9A3F12"/>
                </a:solidFill>
              </a:rPr>
              <a:t>No point satisfied all three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off x="274320" y="0"/>
            <a:ext cx="8321040" cy="749808"/>
          </a:xfrm>
        </p:spPr>
        <p:txBody>
          <a:bodyPr/>
          <a:lstStyle/>
          <a:p>
            <a:r>
              <a:rPr sz="2400" b="0" i="0">
                <a:solidFill>
                  <a:srgbClr val="000000"/>
                </a:solidFill>
              </a:rPr>
              <a:t>The software already had a way to recognize test conditions</a:t>
            </a:r>
          </a:p>
        </p:txBody>
      </p:sp>
      <p:sp>
        <p:nvSpPr>
          <p:cNvPr id="900" name="Slide Number Placeholder 900"/>
          <p:cNvSpPr>
            <a:spLocks noGrp="1"/>
          </p:cNvSpPr>
          <p:nvPr>
            <p:ph type="sldNum" sz="quarter" idx="4"/>
          </p:nvPr>
        </p:nvSpPr>
        <p:spPr/>
        <p:txBody>
          <a:bodyPr/>
          <a:lstStyle/>
          <a:p>
            <a:fld id="{6A358935-6B48-4518-B358-4C99ECF38DBC}" type="slidenum">
              <a:rPr lang="en-US" smtClean="0"/>
              <a:t>4</a:t>
            </a:fld>
            <a:endParaRPr lang="en-US"/>
          </a:p>
        </p:txBody>
      </p:sp>
      <p:sp>
        <p:nvSpPr>
          <p:cNvPr id="901" name="Block"/>
          <p:cNvSpPr/>
          <p:nvPr/>
        </p:nvSpPr>
        <p:spPr>
          <a:xfrm>
            <a:off x="2743200" y="1005840"/>
            <a:ext cx="365760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ENGINE CONTROL SOFTWARE</a:t>
            </a:r>
          </a:p>
        </p:txBody>
      </p:sp>
      <p:cxnSp>
        <p:nvCxnSpPr>
          <p:cNvPr id="902" name="Connector 902"/>
          <p:cNvCxnSpPr/>
          <p:nvPr/>
        </p:nvCxnSpPr>
        <p:spPr>
          <a:xfrm>
            <a:off x="4572000" y="1554480"/>
            <a:ext cx="0" cy="32004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3200400" y="1874520"/>
            <a:ext cx="274320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operating conditions</a:t>
            </a:r>
          </a:p>
        </p:txBody>
      </p:sp>
      <p:cxnSp>
        <p:nvCxnSpPr>
          <p:cNvPr id="904" name="Connector 904"/>
          <p:cNvCxnSpPr/>
          <p:nvPr/>
        </p:nvCxnSpPr>
        <p:spPr>
          <a:xfrm flipH="1">
            <a:off x="2514600" y="2377440"/>
            <a:ext cx="1417320" cy="45720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5" name="Connector 905"/>
          <p:cNvCxnSpPr/>
          <p:nvPr/>
        </p:nvCxnSpPr>
        <p:spPr>
          <a:xfrm>
            <a:off x="5212080" y="2377440"/>
            <a:ext cx="1417320" cy="45720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6" name="Card"/>
          <p:cNvSpPr/>
          <p:nvPr/>
        </p:nvSpPr>
        <p:spPr>
          <a:xfrm>
            <a:off x="1188720" y="2834640"/>
            <a:ext cx="265176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TEST CONDITIONS</a:t>
            </a:r>
          </a:p>
        </p:txBody>
      </p:sp>
      <p:sp>
        <p:nvSpPr>
          <p:cNvPr id="907" name="Card"/>
          <p:cNvSpPr/>
          <p:nvPr/>
        </p:nvSpPr>
        <p:spPr>
          <a:xfrm>
            <a:off x="5303520" y="2834640"/>
            <a:ext cx="265176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ROAD USE</a:t>
            </a:r>
          </a:p>
        </p:txBody>
      </p:sp>
      <p:cxnSp>
        <p:nvCxnSpPr>
          <p:cNvPr id="908" name="Connector 908"/>
          <p:cNvCxnSpPr/>
          <p:nvPr/>
        </p:nvCxnSpPr>
        <p:spPr>
          <a:xfrm>
            <a:off x="2514600" y="3337560"/>
            <a:ext cx="1417320" cy="45720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9" name="Connector 909"/>
          <p:cNvCxnSpPr/>
          <p:nvPr/>
        </p:nvCxnSpPr>
        <p:spPr>
          <a:xfrm flipH="1">
            <a:off x="5212080" y="3337560"/>
            <a:ext cx="1417320" cy="45720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0" name="Block"/>
          <p:cNvSpPr/>
          <p:nvPr/>
        </p:nvSpPr>
        <p:spPr>
          <a:xfrm>
            <a:off x="3200400" y="3794760"/>
            <a:ext cx="274320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choose behavior</a:t>
            </a:r>
          </a:p>
        </p:txBody>
      </p:sp>
      <p:sp>
        <p:nvSpPr>
          <p:cNvPr id="911" name="Label"/>
          <p:cNvSpPr txBox="1"/>
          <p:nvPr/>
        </p:nvSpPr>
        <p:spPr>
          <a:xfrm>
            <a:off x="548640" y="4617720"/>
            <a:ext cx="8046720" cy="457200"/>
          </a:xfrm>
          <a:prstGeom prst="rect">
            <a:avLst/>
          </a:prstGeom>
          <a:noFill/>
        </p:spPr>
        <p:txBody>
          <a:bodyPr wrap="square" anchor="t" lIns="27432" rIns="27432" tIns="22860" bIns="22860">
            <a:spAutoFit/>
          </a:bodyPr>
          <a:lstStyle/>
          <a:p>
            <a:pPr algn="ctr"/>
            <a:r>
              <a:rPr sz="2200" b="0" i="0">
                <a:solidFill>
                  <a:srgbClr val="5C4826"/>
                </a:solidFill>
              </a:rPr>
              <a:t>The mechanism does not determine how it should be used.</a:t>
            </a:r>
          </a:p>
        </p:txBody>
      </p:sp>
      <p:sp>
        <p:nvSpPr>
          <p:cNvPr id="912"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What obligations constrain a capability like this?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off x="274320" y="0"/>
            <a:ext cx="8321040" cy="749808"/>
          </a:xfrm>
        </p:spPr>
        <p:txBody>
          <a:bodyPr/>
          <a:lstStyle/>
          <a:p>
            <a:r>
              <a:rPr sz="2400" b="0" i="0">
                <a:solidFill>
                  <a:srgbClr val="000000"/>
                </a:solidFill>
              </a:rPr>
              <a:t>Volkswagen turns test recognition into a defeat device</a:t>
            </a:r>
          </a:p>
        </p:txBody>
      </p:sp>
      <p:sp>
        <p:nvSpPr>
          <p:cNvPr id="900" name="Slide Number Placeholder 900"/>
          <p:cNvSpPr>
            <a:spLocks noGrp="1"/>
          </p:cNvSpPr>
          <p:nvPr>
            <p:ph type="sldNum" sz="quarter" idx="4"/>
          </p:nvPr>
        </p:nvSpPr>
        <p:spPr/>
        <p:txBody>
          <a:bodyPr/>
          <a:lstStyle/>
          <a:p>
            <a:fld id="{00393831-13B8-4D2E-92B4-CA000F66A112}" type="slidenum">
              <a:rPr lang="en-US" smtClean="0"/>
              <a:t>5</a:t>
            </a:fld>
            <a:endParaRPr lang="en-US"/>
          </a:p>
        </p:txBody>
      </p:sp>
      <p:sp>
        <p:nvSpPr>
          <p:cNvPr id="901" name="Block"/>
          <p:cNvSpPr/>
          <p:nvPr/>
        </p:nvSpPr>
        <p:spPr>
          <a:xfrm>
            <a:off x="3566160" y="1005840"/>
            <a:ext cx="201168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SOFTWARE</a:t>
            </a:r>
          </a:p>
        </p:txBody>
      </p:sp>
      <p:cxnSp>
        <p:nvCxnSpPr>
          <p:cNvPr id="902" name="Connector 901"/>
          <p:cNvCxnSpPr/>
          <p:nvPr/>
        </p:nvCxnSpPr>
        <p:spPr>
          <a:xfrm>
            <a:off x="4572000" y="1508760"/>
            <a:ext cx="0" cy="365759"/>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3337560" y="1874519"/>
            <a:ext cx="246888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regulatory test?</a:t>
            </a:r>
          </a:p>
        </p:txBody>
      </p:sp>
      <p:cxnSp>
        <p:nvCxnSpPr>
          <p:cNvPr id="904" name="Connector 903"/>
          <p:cNvCxnSpPr/>
          <p:nvPr/>
        </p:nvCxnSpPr>
        <p:spPr>
          <a:xfrm flipH="1">
            <a:off x="2103120" y="2377440"/>
            <a:ext cx="1234440" cy="41148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5" name="Connector 904"/>
          <p:cNvCxnSpPr/>
          <p:nvPr/>
        </p:nvCxnSpPr>
        <p:spPr>
          <a:xfrm>
            <a:off x="5806440" y="2377440"/>
            <a:ext cx="868680" cy="41148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6" name="Label"/>
          <p:cNvSpPr txBox="1"/>
          <p:nvPr/>
        </p:nvSpPr>
        <p:spPr>
          <a:xfrm>
            <a:off x="1920240" y="2212848"/>
            <a:ext cx="822960" cy="320040"/>
          </a:xfrm>
          <a:prstGeom prst="rect">
            <a:avLst/>
          </a:prstGeom>
          <a:noFill/>
        </p:spPr>
        <p:txBody>
          <a:bodyPr wrap="square" anchor="t" lIns="27432" rIns="27432" tIns="22860" bIns="22860">
            <a:spAutoFit/>
          </a:bodyPr>
          <a:lstStyle/>
          <a:p>
            <a:pPr algn="ctr"/>
            <a:r>
              <a:rPr sz="2000" b="1" i="0">
                <a:solidFill>
                  <a:srgbClr val="5C4826"/>
                </a:solidFill>
              </a:rPr>
              <a:t>YES</a:t>
            </a:r>
          </a:p>
        </p:txBody>
      </p:sp>
      <p:sp>
        <p:nvSpPr>
          <p:cNvPr id="907" name="Label"/>
          <p:cNvSpPr txBox="1"/>
          <p:nvPr/>
        </p:nvSpPr>
        <p:spPr>
          <a:xfrm>
            <a:off x="6355080" y="2212848"/>
            <a:ext cx="731520" cy="320040"/>
          </a:xfrm>
          <a:prstGeom prst="rect">
            <a:avLst/>
          </a:prstGeom>
          <a:noFill/>
        </p:spPr>
        <p:txBody>
          <a:bodyPr wrap="square" anchor="t" lIns="27432" rIns="27432" tIns="22860" bIns="22860">
            <a:spAutoFit/>
          </a:bodyPr>
          <a:lstStyle/>
          <a:p>
            <a:pPr algn="ctr"/>
            <a:r>
              <a:rPr sz="2000" b="1" i="0">
                <a:solidFill>
                  <a:srgbClr val="5C4826"/>
                </a:solidFill>
              </a:rPr>
              <a:t>NO</a:t>
            </a:r>
          </a:p>
        </p:txBody>
      </p:sp>
      <p:sp>
        <p:nvSpPr>
          <p:cNvPr id="908" name="Card"/>
          <p:cNvSpPr/>
          <p:nvPr/>
        </p:nvSpPr>
        <p:spPr>
          <a:xfrm>
            <a:off x="914400" y="2788920"/>
            <a:ext cx="237744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emissions controls</a:t>
            </a:r>
          </a:p>
        </p:txBody>
      </p:sp>
      <p:sp>
        <p:nvSpPr>
          <p:cNvPr id="909" name="Card"/>
          <p:cNvSpPr/>
          <p:nvPr/>
        </p:nvSpPr>
        <p:spPr>
          <a:xfrm>
            <a:off x="5486400" y="2788920"/>
            <a:ext cx="237744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reduced controls</a:t>
            </a:r>
          </a:p>
        </p:txBody>
      </p:sp>
      <p:cxnSp>
        <p:nvCxnSpPr>
          <p:cNvPr id="910" name="Connector 909"/>
          <p:cNvCxnSpPr/>
          <p:nvPr/>
        </p:nvCxnSpPr>
        <p:spPr>
          <a:xfrm>
            <a:off x="2103120" y="329184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11" name="Connector 910"/>
          <p:cNvCxnSpPr/>
          <p:nvPr/>
        </p:nvCxnSpPr>
        <p:spPr>
          <a:xfrm>
            <a:off x="6675120" y="329184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2" name="Block"/>
          <p:cNvSpPr/>
          <p:nvPr/>
        </p:nvSpPr>
        <p:spPr>
          <a:xfrm>
            <a:off x="1371600" y="3657600"/>
            <a:ext cx="146304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PASS</a:t>
            </a:r>
          </a:p>
        </p:txBody>
      </p:sp>
      <p:sp>
        <p:nvSpPr>
          <p:cNvPr id="913" name="Block"/>
          <p:cNvSpPr/>
          <p:nvPr/>
        </p:nvSpPr>
        <p:spPr>
          <a:xfrm>
            <a:off x="5394960" y="3657600"/>
            <a:ext cx="2560320" cy="502920"/>
          </a:xfrm>
          <a:prstGeom prst="rect">
            <a:avLst/>
          </a:prstGeom>
          <a:solidFill>
            <a:srgbClr val="9A3F1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much higher NOx</a:t>
            </a:r>
          </a:p>
        </p:txBody>
      </p:sp>
      <p:sp>
        <p:nvSpPr>
          <p:cNvPr id="914" name="Sources"/>
          <p:cNvSpPr txBox="1"/>
          <p:nvPr/>
        </p:nvSpPr>
        <p:spPr>
          <a:xfrm>
            <a:off x="411480" y="4480560"/>
            <a:ext cx="8321040" cy="1143000"/>
          </a:xfrm>
          <a:prstGeom prst="rect">
            <a:avLst/>
          </a:prstGeom>
          <a:noFill/>
        </p:spPr>
        <p:txBody>
          <a:bodyPr wrap="square" anchor="t" lIns="27432" rIns="27432" tIns="22860" bIns="22860">
            <a:spAutoFit/>
          </a:bodyPr>
          <a:lstStyle/>
          <a:p>
            <a:pPr algn="l"/>
            <a:r>
              <a:rPr sz="2000" b="1" i="0">
                <a:solidFill>
                  <a:srgbClr val="5C4826"/>
                </a:solidFill>
              </a:rPr>
              <a:t>EPA: </a:t>
            </a:r>
            <a:r>
              <a:rPr sz="2000" b="0" i="0">
                <a:solidFill>
                  <a:srgbClr val="555960"/>
                </a:solidFill>
              </a:rPr>
              <a:t>affected vehicles contained software designed to evade federal emissions tests. </a:t>
            </a:r>
            <a:r>
              <a:rPr sz="2000" b="1" i="0">
                <a:solidFill>
                  <a:srgbClr val="5C4826"/>
                </a:solidFill>
              </a:rPr>
              <a:t>DOJ </a:t>
            </a:r>
            <a:r>
              <a:rPr sz="2000" b="0" i="0">
                <a:solidFill>
                  <a:srgbClr val="555960"/>
                </a:solidFill>
              </a:rPr>
              <a:t>records describe recognition of published drive cycles and substantially higher emissions outside test mode.</a:t>
            </a:r>
          </a:p>
        </p:txBody>
      </p:sp>
      <p:sp>
        <p:nvSpPr>
          <p:cNvPr id="915"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What failed?</a:t>
            </a:r>
          </a:p>
        </p:txBody>
      </p:sp>
      <p:sp>
        <p:nvSpPr>
          <p:cNvPr id="930" name="Outline"/>
          <p:cNvSpPr/>
          <p:nvPr/>
        </p:nvSpPr>
        <p:spPr>
          <a:xfrm>
            <a:off x="777240" y="1737360"/>
            <a:ext cx="7635240" cy="2560320"/>
          </a:xfrm>
          <a:prstGeom prst="rect">
            <a:avLst/>
          </a:prstGeom>
          <a:noFill/>
          <a:ln w="28575">
            <a:solidFill>
              <a:srgbClr val="9A3F12"/>
            </a:solidFill>
            <a:prstDash val="dash"/>
          </a:ln>
          <a:effectLst/>
        </p:spPr>
        <p:txBody>
          <a:bodyPr rtlCol="0" anchor="ctr" wrap="square"/>
          <a:lstStyle/>
          <a:p>
            <a:endParaRPr sz="2000"/>
          </a:p>
        </p:txBody>
      </p:sp>
      <p:sp>
        <p:nvSpPr>
          <p:cNvPr id="931" name="Label"/>
          <p:cNvSpPr txBox="1"/>
          <p:nvPr/>
        </p:nvSpPr>
        <p:spPr>
          <a:xfrm>
            <a:off x="6309360" y="1371600"/>
            <a:ext cx="2103120" cy="347472"/>
          </a:xfrm>
          <a:prstGeom prst="rect">
            <a:avLst/>
          </a:prstGeom>
          <a:noFill/>
        </p:spPr>
        <p:txBody>
          <a:bodyPr wrap="square" anchor="t" lIns="27432" rIns="27432" tIns="22860" bIns="22860">
            <a:spAutoFit/>
          </a:bodyPr>
          <a:lstStyle/>
          <a:p>
            <a:pPr algn="ctr"/>
            <a:r>
              <a:rPr sz="2000" b="1" i="0">
                <a:solidFill>
                  <a:srgbClr val="9A3F12"/>
                </a:solidFill>
              </a:rPr>
              <a:t>DEFEAT DEVICE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Engineers objected and escalated</a:t>
            </a:r>
          </a:p>
        </p:txBody>
      </p:sp>
      <p:sp>
        <p:nvSpPr>
          <p:cNvPr id="900" name="Slide Number Placeholder 900"/>
          <p:cNvSpPr>
            <a:spLocks noGrp="1"/>
          </p:cNvSpPr>
          <p:nvPr>
            <p:ph type="sldNum" sz="quarter" idx="4"/>
          </p:nvPr>
        </p:nvSpPr>
        <p:spPr/>
        <p:txBody>
          <a:bodyPr/>
          <a:lstStyle/>
          <a:p>
            <a:fld id="{49A14B3B-9B77-43F2-8B18-8EDBEC27936C}" type="slidenum">
              <a:rPr lang="en-US" smtClean="0"/>
              <a:t>6</a:t>
            </a:fld>
            <a:endParaRPr lang="en-US"/>
          </a:p>
        </p:txBody>
      </p:sp>
      <p:sp>
        <p:nvSpPr>
          <p:cNvPr id="901" name="Card"/>
          <p:cNvSpPr/>
          <p:nvPr/>
        </p:nvSpPr>
        <p:spPr>
          <a:xfrm>
            <a:off x="411480" y="1051560"/>
            <a:ext cx="8321040" cy="9144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l"/>
            <a:r>
              <a:rPr sz="2000" b="1" i="0">
                <a:solidFill>
                  <a:srgbClr val="5C4826"/>
                </a:solidFill>
              </a:rPr>
              <a:t>Objection, escalated. </a:t>
            </a:r>
            <a:r>
              <a:rPr sz="2000" b="0" i="0">
                <a:solidFill>
                  <a:srgbClr val="555960"/>
                </a:solidFill>
              </a:rPr>
              <a:t>VW engineers, supported by supervisors, raised objections about the propriety of the defeat device and escalated the issue.</a:t>
            </a:r>
          </a:p>
        </p:txBody>
      </p:sp>
      <p:sp>
        <p:nvSpPr>
          <p:cNvPr id="902" name="Card"/>
          <p:cNvSpPr/>
          <p:nvPr/>
        </p:nvSpPr>
        <p:spPr>
          <a:xfrm>
            <a:off x="411480" y="2148840"/>
            <a:ext cx="8321040" cy="9144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l"/>
            <a:r>
              <a:rPr sz="2000" b="1" i="0">
                <a:solidFill>
                  <a:srgbClr val="5C4826"/>
                </a:solidFill>
              </a:rPr>
              <a:t>November 2006. </a:t>
            </a:r>
            <a:r>
              <a:rPr sz="2000" b="0" i="0">
                <a:solidFill>
                  <a:srgbClr val="555960"/>
                </a:solidFill>
              </a:rPr>
              <a:t>The relevant supervisor was briefed on its purpose and design, and decided production should continue.</a:t>
            </a:r>
          </a:p>
        </p:txBody>
      </p:sp>
      <p:sp>
        <p:nvSpPr>
          <p:cNvPr id="903" name="Card"/>
          <p:cNvSpPr/>
          <p:nvPr/>
        </p:nvSpPr>
        <p:spPr>
          <a:xfrm>
            <a:off x="411480" y="3246120"/>
            <a:ext cx="8321040" cy="9144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l"/>
            <a:r>
              <a:rPr sz="2000" b="1" i="0">
                <a:solidFill>
                  <a:srgbClr val="5C4826"/>
                </a:solidFill>
              </a:rPr>
              <a:t>The plea agreement </a:t>
            </a:r>
            <a:r>
              <a:rPr sz="2000" b="0" i="0">
                <a:solidFill>
                  <a:srgbClr val="555960"/>
                </a:solidFill>
              </a:rPr>
              <a:t>records the instruction, in substance, as </a:t>
            </a:r>
            <a:r>
              <a:rPr sz="2000" b="1" i="0">
                <a:solidFill>
                  <a:srgbClr val="9A3F12"/>
                </a:solidFill>
              </a:rPr>
              <a:t>“not to get caught.”</a:t>
            </a:r>
          </a:p>
        </p:txBody>
      </p:sp>
      <p:sp>
        <p:nvSpPr>
          <p:cNvPr id="904" name="Label"/>
          <p:cNvSpPr txBox="1"/>
          <p:nvPr/>
        </p:nvSpPr>
        <p:spPr>
          <a:xfrm>
            <a:off x="411480" y="4572000"/>
            <a:ext cx="8321040" cy="731520"/>
          </a:xfrm>
          <a:prstGeom prst="rect">
            <a:avLst/>
          </a:prstGeom>
          <a:noFill/>
        </p:spPr>
        <p:txBody>
          <a:bodyPr wrap="square" anchor="t" lIns="27432" rIns="27432" tIns="22860" bIns="22860">
            <a:spAutoFit/>
          </a:bodyPr>
          <a:lstStyle/>
          <a:p>
            <a:pPr algn="ctr"/>
            <a:r>
              <a:rPr sz="2200" b="0" i="1">
                <a:solidFill>
                  <a:srgbClr val="8E6F3E"/>
                </a:solidFill>
              </a:rPr>
              <a:t>Was raising the concern the end of those engineers’ professional responsibility?</a:t>
            </a:r>
          </a:p>
        </p:txBody>
      </p:sp>
      <p:sp>
        <p:nvSpPr>
          <p:cNvPr id="905"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Was escalation enough?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And yet engineers kept engineering it</a:t>
            </a:r>
          </a:p>
        </p:txBody>
      </p:sp>
      <p:sp>
        <p:nvSpPr>
          <p:cNvPr id="900" name="Slide Number Placeholder 900"/>
          <p:cNvSpPr>
            <a:spLocks noGrp="1"/>
          </p:cNvSpPr>
          <p:nvPr>
            <p:ph type="sldNum" sz="quarter" idx="4"/>
          </p:nvPr>
        </p:nvSpPr>
        <p:spPr/>
        <p:txBody>
          <a:bodyPr/>
          <a:lstStyle/>
          <a:p>
            <a:fld id="{18B79205-D12A-40D3-8F8D-9C5E87B1B06B}" type="slidenum">
              <a:rPr lang="en-US" smtClean="0"/>
              <a:t>7</a:t>
            </a:fld>
            <a:endParaRPr lang="en-US"/>
          </a:p>
        </p:txBody>
      </p:sp>
      <p:sp>
        <p:nvSpPr>
          <p:cNvPr id="901" name="Card"/>
          <p:cNvSpPr/>
          <p:nvPr/>
        </p:nvSpPr>
        <p:spPr>
          <a:xfrm>
            <a:off x="411480" y="1143000"/>
            <a:ext cx="8321040" cy="13258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l"/>
            <a:r>
              <a:rPr sz="2000" b="1" i="0">
                <a:solidFill>
                  <a:srgbClr val="5C4826"/>
                </a:solidFill>
              </a:rPr>
              <a:t>Not a rogue patch. </a:t>
            </a:r>
            <a:r>
              <a:rPr sz="2000" b="0" i="0">
                <a:solidFill>
                  <a:srgbClr val="555960"/>
                </a:solidFill>
              </a:rPr>
              <a:t>The defeat device required calibration, integration, certification work, and continued maintenance - sustained engineering.</a:t>
            </a:r>
          </a:p>
        </p:txBody>
      </p:sp>
      <p:sp>
        <p:nvSpPr>
          <p:cNvPr id="902" name="Card"/>
          <p:cNvSpPr/>
          <p:nvPr/>
        </p:nvSpPr>
        <p:spPr>
          <a:xfrm>
            <a:off x="411480" y="2743200"/>
            <a:ext cx="8321040" cy="13258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l"/>
            <a:r>
              <a:rPr sz="2000" b="1" i="0">
                <a:solidFill>
                  <a:srgbClr val="5C4826"/>
                </a:solidFill>
              </a:rPr>
              <a:t>Delegated, too. </a:t>
            </a:r>
            <a:r>
              <a:rPr sz="2000" b="0" i="0">
                <a:solidFill>
                  <a:srgbClr val="555960"/>
                </a:solidFill>
              </a:rPr>
              <a:t>Volkswagen delegated software-development and exhaust-after-treatment work to IAV, where the test-recognition work continued under a manager who knew its purpose.</a:t>
            </a:r>
          </a:p>
        </p:txBody>
      </p:sp>
      <p:sp>
        <p:nvSpPr>
          <p:cNvPr id="910" name="Label"/>
          <p:cNvSpPr txBox="1"/>
          <p:nvPr/>
        </p:nvSpPr>
        <p:spPr>
          <a:xfrm>
            <a:off x="411480" y="4480560"/>
            <a:ext cx="8321040" cy="548640"/>
          </a:xfrm>
          <a:prstGeom prst="rect">
            <a:avLst/>
          </a:prstGeom>
          <a:noFill/>
        </p:spPr>
        <p:txBody>
          <a:bodyPr wrap="square" anchor="t" lIns="27432" rIns="27432" tIns="22860" bIns="22860">
            <a:spAutoFit/>
          </a:bodyPr>
          <a:lstStyle/>
          <a:p>
            <a:pPr algn="ctr"/>
            <a:r>
              <a:rPr sz="2000" b="1" i="0">
                <a:solidFill>
                  <a:srgbClr val="8E6F3E"/>
                </a:solidFill>
              </a:rPr>
              <a:t>How many people does it take to sustain this in hundreds of thousands of U.S. vehicles?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2007: The decision is reconsidered</a:t>
            </a:r>
          </a:p>
        </p:txBody>
      </p:sp>
      <p:sp>
        <p:nvSpPr>
          <p:cNvPr id="900" name="Slide Number Placeholder 900"/>
          <p:cNvSpPr>
            <a:spLocks noGrp="1"/>
          </p:cNvSpPr>
          <p:nvPr>
            <p:ph type="sldNum" sz="quarter" idx="4"/>
          </p:nvPr>
        </p:nvSpPr>
        <p:spPr/>
        <p:txBody>
          <a:bodyPr/>
          <a:lstStyle/>
          <a:p>
            <a:fld id="{69344503-8987-48F2-81C4-B15A70530D60}" type="slidenum">
              <a:rPr lang="en-US" smtClean="0"/>
              <a:t>8</a:t>
            </a:fld>
            <a:endParaRPr lang="en-US"/>
          </a:p>
        </p:txBody>
      </p:sp>
      <p:sp>
        <p:nvSpPr>
          <p:cNvPr id="902" name="Block"/>
          <p:cNvSpPr/>
          <p:nvPr/>
        </p:nvSpPr>
        <p:spPr>
          <a:xfrm>
            <a:off x="6446520" y="1417320"/>
            <a:ext cx="2148840" cy="822960"/>
          </a:xfrm>
          <a:prstGeom prst="rect">
            <a:avLst/>
          </a:prstGeom>
          <a:solidFill>
            <a:srgbClr val="9A3F1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800" b="1" i="0">
                <a:solidFill>
                  <a:srgbClr val="FFFFFF"/>
                </a:solidFill>
              </a:rPr>
              <a:t>PROCEED</a:t>
            </a:r>
          </a:p>
        </p:txBody>
      </p:sp>
      <p:sp>
        <p:nvSpPr>
          <p:cNvPr id="903" name="Doj"/>
          <p:cNvSpPr txBox="1"/>
          <p:nvPr/>
        </p:nvSpPr>
        <p:spPr>
          <a:xfrm>
            <a:off x="411480" y="3017520"/>
            <a:ext cx="8321040" cy="1188720"/>
          </a:xfrm>
          <a:prstGeom prst="rect">
            <a:avLst/>
          </a:prstGeom>
          <a:noFill/>
        </p:spPr>
        <p:txBody>
          <a:bodyPr wrap="square" anchor="ctr" lIns="27432" rIns="27432" tIns="22860" bIns="22860">
            <a:spAutoFit/>
          </a:bodyPr>
          <a:lstStyle/>
          <a:p>
            <a:pPr algn="l"/>
            <a:r>
              <a:rPr sz="2000" b="1" i="0">
                <a:solidFill>
                  <a:srgbClr val="5C4826"/>
                </a:solidFill>
              </a:rPr>
              <a:t>DOJ: </a:t>
            </a:r>
            <a:r>
              <a:rPr sz="2000" b="0" i="0">
                <a:solidFill>
                  <a:srgbClr val="555960"/>
                </a:solidFill>
              </a:rPr>
              <a:t>the supervisor authorized the project despite knowing that only the defeat device would allow the vehicles to pass the U.S. tests.</a:t>
            </a:r>
          </a:p>
        </p:txBody>
      </p:sp>
      <p:sp>
        <p:nvSpPr>
          <p:cNvPr id="904"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 decision can be reconsidered and still reproduce the failure.</a:t>
            </a:r>
          </a:p>
        </p:txBody>
      </p:sp>
      <p:sp>
        <p:nvSpPr>
          <p:cNvPr id="910" name="Card"/>
          <p:cNvSpPr/>
          <p:nvPr/>
        </p:nvSpPr>
        <p:spPr>
          <a:xfrm>
            <a:off x="411480" y="1417320"/>
            <a:ext cx="26517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technical problems</a:t>
            </a:r>
          </a:p>
          <a:p>
            <a:pPr algn="ctr"/>
            <a:r>
              <a:rPr sz="2000" b="1" i="0">
                <a:solidFill>
                  <a:srgbClr val="5C4826"/>
                </a:solidFill>
              </a:rPr>
              <a:t>internal disagreement</a:t>
            </a:r>
          </a:p>
        </p:txBody>
      </p:sp>
      <p:cxnSp>
        <p:nvCxnSpPr>
          <p:cNvPr id="911" name="Connector 911"/>
          <p:cNvCxnSpPr/>
          <p:nvPr/>
        </p:nvCxnSpPr>
        <p:spPr>
          <a:xfrm>
            <a:off x="3063240" y="1828800"/>
            <a:ext cx="36576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2" name="Block"/>
          <p:cNvSpPr/>
          <p:nvPr/>
        </p:nvSpPr>
        <p:spPr>
          <a:xfrm>
            <a:off x="3429000" y="1417320"/>
            <a:ext cx="26517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OCTOBER 2007</a:t>
            </a:r>
          </a:p>
          <a:p>
            <a:pPr algn="ctr"/>
            <a:r>
              <a:rPr sz="2000" b="1" i="0">
                <a:solidFill>
                  <a:srgbClr val="FFFFFF"/>
                </a:solidFill>
              </a:rPr>
              <a:t>MEETING</a:t>
            </a:r>
          </a:p>
        </p:txBody>
      </p:sp>
      <p:cxnSp>
        <p:nvCxnSpPr>
          <p:cNvPr id="913" name="Connector 913"/>
          <p:cNvCxnSpPr/>
          <p:nvPr/>
        </p:nvCxnSpPr>
        <p:spPr>
          <a:xfrm>
            <a:off x="6080760" y="1828800"/>
            <a:ext cx="36576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off x="274320" y="0"/>
            <a:ext cx="8321040" cy="749808"/>
          </a:xfrm>
        </p:spPr>
        <p:txBody>
          <a:bodyPr/>
          <a:lstStyle/>
          <a:p>
            <a:r>
              <a:rPr sz="2400" b="0" i="0">
                <a:solidFill>
                  <a:srgbClr val="000000"/>
                </a:solidFill>
              </a:rPr>
              <a:t>2009–2016: The engineering system keeps producing the result</a:t>
            </a:r>
          </a:p>
        </p:txBody>
      </p:sp>
      <p:sp>
        <p:nvSpPr>
          <p:cNvPr id="900" name="Slide Number Placeholder 900"/>
          <p:cNvSpPr>
            <a:spLocks noGrp="1"/>
          </p:cNvSpPr>
          <p:nvPr>
            <p:ph type="sldNum" sz="quarter" idx="4"/>
          </p:nvPr>
        </p:nvSpPr>
        <p:spPr/>
        <p:txBody>
          <a:bodyPr/>
          <a:lstStyle/>
          <a:p>
            <a:fld id="{34DDAC39-E592-4BC0-8D18-7414C01DF0F9}" type="slidenum">
              <a:rPr lang="en-US" smtClean="0"/>
              <a:t>9</a:t>
            </a:fld>
            <a:endParaRPr lang="en-US"/>
          </a:p>
        </p:txBody>
      </p:sp>
      <p:graphicFrame>
        <p:nvGraphicFramePr>
          <p:cNvPr id="901" name="Table 900"/>
          <p:cNvGraphicFramePr>
            <a:graphicFrameLocks noGrp="1"/>
          </p:cNvGraphicFramePr>
          <p:nvPr/>
        </p:nvGraphicFramePr>
        <p:xfrm>
          <a:off x="411480" y="1280160"/>
          <a:ext cx="8321040" cy="1508760"/>
        </p:xfrm>
        <a:graphic>
          <a:graphicData uri="http://schemas.openxmlformats.org/drawingml/2006/table">
            <a:tbl>
              <a:tblPr firstRow="1" bandRow="1">
                <a:tableStyleId>{5C22544A-7EE6-4342-B048-85BDC9FD1C3A}</a:tableStyleId>
              </a:tblPr>
              <a:tblGrid>
                <a:gridCol w="1737360"/>
                <a:gridCol w="822960"/>
                <a:gridCol w="822960"/>
                <a:gridCol w="822960"/>
                <a:gridCol w="822960"/>
                <a:gridCol w="822960"/>
                <a:gridCol w="822960"/>
                <a:gridCol w="822960"/>
                <a:gridCol w="822960"/>
              </a:tblGrid>
              <a:tr h="502920">
                <a:tc>
                  <a:txBody>
                    <a:bodyPr/>
                    <a:lstStyle/>
                    <a:p>
                      <a:pPr algn="ctr"/>
                      <a:r>
                        <a:rPr sz="2000" b="1" i="0">
                          <a:solidFill>
                            <a:srgbClr val="FFFFFF"/>
                          </a:solidFill>
                        </a:rPr>
                        <a:t>MODEL YEAR</a:t>
                      </a:r>
                    </a:p>
                  </a:txBody>
                  <a:tcPr anchor="ctr" marL="27432" marR="27432" marT="18288" marB="18288">
                    <a:solidFill>
                      <a:srgbClr val="8E6F3E"/>
                    </a:solidFill>
                  </a:tcPr>
                </a:tc>
                <a:tc>
                  <a:txBody>
                    <a:bodyPr/>
                    <a:lstStyle/>
                    <a:p>
                      <a:pPr algn="ctr"/>
                      <a:r>
                        <a:rPr sz="2000" b="1" i="0">
                          <a:solidFill>
                            <a:srgbClr val="FFFFFF"/>
                          </a:solidFill>
                        </a:rPr>
                        <a:t>2009</a:t>
                      </a:r>
                    </a:p>
                  </a:txBody>
                  <a:tcPr anchor="ctr" marL="27432" marR="27432" marT="18288" marB="18288">
                    <a:solidFill>
                      <a:srgbClr val="8E6F3E"/>
                    </a:solidFill>
                  </a:tcPr>
                </a:tc>
                <a:tc>
                  <a:txBody>
                    <a:bodyPr/>
                    <a:lstStyle/>
                    <a:p>
                      <a:pPr algn="ctr"/>
                      <a:r>
                        <a:rPr sz="2000" b="1" i="0">
                          <a:solidFill>
                            <a:srgbClr val="FFFFFF"/>
                          </a:solidFill>
                        </a:rPr>
                        <a:t>2010</a:t>
                      </a:r>
                    </a:p>
                  </a:txBody>
                  <a:tcPr anchor="ctr" marL="27432" marR="27432" marT="18288" marB="18288">
                    <a:solidFill>
                      <a:srgbClr val="8E6F3E"/>
                    </a:solidFill>
                  </a:tcPr>
                </a:tc>
                <a:tc>
                  <a:txBody>
                    <a:bodyPr/>
                    <a:lstStyle/>
                    <a:p>
                      <a:pPr algn="ctr"/>
                      <a:r>
                        <a:rPr sz="2000" b="1" i="0">
                          <a:solidFill>
                            <a:srgbClr val="FFFFFF"/>
                          </a:solidFill>
                        </a:rPr>
                        <a:t>2011</a:t>
                      </a:r>
                    </a:p>
                  </a:txBody>
                  <a:tcPr anchor="ctr" marL="27432" marR="27432" marT="18288" marB="18288">
                    <a:solidFill>
                      <a:srgbClr val="8E6F3E"/>
                    </a:solidFill>
                  </a:tcPr>
                </a:tc>
                <a:tc>
                  <a:txBody>
                    <a:bodyPr/>
                    <a:lstStyle/>
                    <a:p>
                      <a:pPr algn="ctr"/>
                      <a:r>
                        <a:rPr sz="2000" b="1" i="0">
                          <a:solidFill>
                            <a:srgbClr val="FFFFFF"/>
                          </a:solidFill>
                        </a:rPr>
                        <a:t>2012</a:t>
                      </a:r>
                    </a:p>
                  </a:txBody>
                  <a:tcPr anchor="ctr" marL="27432" marR="27432" marT="18288" marB="18288">
                    <a:solidFill>
                      <a:srgbClr val="8E6F3E"/>
                    </a:solidFill>
                  </a:tcPr>
                </a:tc>
                <a:tc>
                  <a:txBody>
                    <a:bodyPr/>
                    <a:lstStyle/>
                    <a:p>
                      <a:pPr algn="ctr"/>
                      <a:r>
                        <a:rPr sz="2000" b="1" i="0">
                          <a:solidFill>
                            <a:srgbClr val="FFFFFF"/>
                          </a:solidFill>
                        </a:rPr>
                        <a:t>2013</a:t>
                      </a:r>
                    </a:p>
                  </a:txBody>
                  <a:tcPr anchor="ctr" marL="27432" marR="27432" marT="18288" marB="18288">
                    <a:solidFill>
                      <a:srgbClr val="8E6F3E"/>
                    </a:solidFill>
                  </a:tcPr>
                </a:tc>
                <a:tc>
                  <a:txBody>
                    <a:bodyPr/>
                    <a:lstStyle/>
                    <a:p>
                      <a:pPr algn="ctr"/>
                      <a:r>
                        <a:rPr sz="2000" b="1" i="0">
                          <a:solidFill>
                            <a:srgbClr val="FFFFFF"/>
                          </a:solidFill>
                        </a:rPr>
                        <a:t>2014</a:t>
                      </a:r>
                    </a:p>
                  </a:txBody>
                  <a:tcPr anchor="ctr" marL="27432" marR="27432" marT="18288" marB="18288">
                    <a:solidFill>
                      <a:srgbClr val="8E6F3E"/>
                    </a:solidFill>
                  </a:tcPr>
                </a:tc>
                <a:tc>
                  <a:txBody>
                    <a:bodyPr/>
                    <a:lstStyle/>
                    <a:p>
                      <a:pPr algn="ctr"/>
                      <a:r>
                        <a:rPr sz="2000" b="1" i="0">
                          <a:solidFill>
                            <a:srgbClr val="FFFFFF"/>
                          </a:solidFill>
                        </a:rPr>
                        <a:t>2015</a:t>
                      </a:r>
                    </a:p>
                  </a:txBody>
                  <a:tcPr anchor="ctr" marL="27432" marR="27432" marT="18288" marB="18288">
                    <a:solidFill>
                      <a:srgbClr val="8E6F3E"/>
                    </a:solidFill>
                  </a:tcPr>
                </a:tc>
                <a:tc>
                  <a:txBody>
                    <a:bodyPr/>
                    <a:lstStyle/>
                    <a:p>
                      <a:pPr algn="ctr"/>
                      <a:r>
                        <a:rPr sz="2000" b="1" i="0">
                          <a:solidFill>
                            <a:srgbClr val="FFFFFF"/>
                          </a:solidFill>
                        </a:rPr>
                        <a:t>2016</a:t>
                      </a:r>
                    </a:p>
                  </a:txBody>
                  <a:tcPr anchor="ctr" marL="27432" marR="27432" marT="18288" marB="18288">
                    <a:solidFill>
                      <a:srgbClr val="8E6F3E"/>
                    </a:solidFill>
                  </a:tcPr>
                </a:tc>
              </a:tr>
              <a:tr h="502920">
                <a:tc>
                  <a:txBody>
                    <a:bodyPr/>
                    <a:lstStyle/>
                    <a:p>
                      <a:pPr algn="ctr"/>
                      <a:r>
                        <a:rPr sz="2000" b="1" i="0">
                          <a:solidFill>
                            <a:srgbClr val="5C4826"/>
                          </a:solidFill>
                        </a:rPr>
                        <a:t>CERTIFY</a:t>
                      </a:r>
                    </a:p>
                  </a:txBody>
                  <a:tcPr anchor="ctr" marL="27432" marR="27432" marT="18288" marB="18288">
                    <a:solidFill>
                      <a:srgbClr val="F5F1E8"/>
                    </a:solidFill>
                  </a:tcPr>
                </a:tc>
                <a:tc>
                  <a:txBody>
                    <a:bodyPr/>
                    <a:lstStyle/>
                    <a:p>
                      <a:pPr algn="ctr"/>
                      <a:r>
                        <a:rPr sz="2000" b="0" i="0">
                          <a:solidFill>
                            <a:srgbClr val="5C4826"/>
                          </a:solidFill>
                        </a:rPr>
                        <a:t>✓</a:t>
                      </a:r>
                    </a:p>
                  </a:txBody>
                  <a:tcPr anchor="ctr" marL="27432" marR="27432" marT="18288" marB="18288">
                    <a:solidFill>
                      <a:srgbClr val="F5F1E8"/>
                    </a:solidFill>
                  </a:tcPr>
                </a:tc>
                <a:tc>
                  <a:txBody>
                    <a:bodyPr/>
                    <a:lstStyle/>
                    <a:p>
                      <a:pPr algn="ctr"/>
                      <a:r>
                        <a:rPr sz="2000" b="0" i="0">
                          <a:solidFill>
                            <a:srgbClr val="5C4826"/>
                          </a:solidFill>
                        </a:rPr>
                        <a:t>✓</a:t>
                      </a:r>
                    </a:p>
                  </a:txBody>
                  <a:tcPr anchor="ctr" marL="27432" marR="27432" marT="18288" marB="18288">
                    <a:solidFill>
                      <a:srgbClr val="F5F1E8"/>
                    </a:solidFill>
                  </a:tcPr>
                </a:tc>
                <a:tc>
                  <a:txBody>
                    <a:bodyPr/>
                    <a:lstStyle/>
                    <a:p>
                      <a:pPr algn="ctr"/>
                      <a:r>
                        <a:rPr sz="2000" b="0" i="0">
                          <a:solidFill>
                            <a:srgbClr val="5C4826"/>
                          </a:solidFill>
                        </a:rPr>
                        <a:t>✓</a:t>
                      </a:r>
                    </a:p>
                  </a:txBody>
                  <a:tcPr anchor="ctr" marL="27432" marR="27432" marT="18288" marB="18288">
                    <a:solidFill>
                      <a:srgbClr val="F5F1E8"/>
                    </a:solidFill>
                  </a:tcPr>
                </a:tc>
                <a:tc>
                  <a:txBody>
                    <a:bodyPr/>
                    <a:lstStyle/>
                    <a:p>
                      <a:pPr algn="ctr"/>
                      <a:r>
                        <a:rPr sz="2000" b="0" i="0">
                          <a:solidFill>
                            <a:srgbClr val="5C4826"/>
                          </a:solidFill>
                        </a:rPr>
                        <a:t>✓</a:t>
                      </a:r>
                    </a:p>
                  </a:txBody>
                  <a:tcPr anchor="ctr" marL="27432" marR="27432" marT="18288" marB="18288">
                    <a:solidFill>
                      <a:srgbClr val="F5F1E8"/>
                    </a:solidFill>
                  </a:tcPr>
                </a:tc>
                <a:tc>
                  <a:txBody>
                    <a:bodyPr/>
                    <a:lstStyle/>
                    <a:p>
                      <a:pPr algn="ctr"/>
                      <a:r>
                        <a:rPr sz="2000" b="0" i="0">
                          <a:solidFill>
                            <a:srgbClr val="5C4826"/>
                          </a:solidFill>
                        </a:rPr>
                        <a:t>✓</a:t>
                      </a:r>
                    </a:p>
                  </a:txBody>
                  <a:tcPr anchor="ctr" marL="27432" marR="27432" marT="18288" marB="18288">
                    <a:solidFill>
                      <a:srgbClr val="F5F1E8"/>
                    </a:solidFill>
                  </a:tcPr>
                </a:tc>
                <a:tc>
                  <a:txBody>
                    <a:bodyPr/>
                    <a:lstStyle/>
                    <a:p>
                      <a:pPr algn="ctr"/>
                      <a:r>
                        <a:rPr sz="2000" b="0" i="0">
                          <a:solidFill>
                            <a:srgbClr val="5C4826"/>
                          </a:solidFill>
                        </a:rPr>
                        <a:t>✓</a:t>
                      </a:r>
                    </a:p>
                  </a:txBody>
                  <a:tcPr anchor="ctr" marL="27432" marR="27432" marT="18288" marB="18288">
                    <a:solidFill>
                      <a:srgbClr val="F5F1E8"/>
                    </a:solidFill>
                  </a:tcPr>
                </a:tc>
                <a:tc>
                  <a:txBody>
                    <a:bodyPr/>
                    <a:lstStyle/>
                    <a:p>
                      <a:pPr algn="ctr"/>
                      <a:r>
                        <a:rPr sz="2000" b="0" i="0">
                          <a:solidFill>
                            <a:srgbClr val="5C4826"/>
                          </a:solidFill>
                        </a:rPr>
                        <a:t>✓</a:t>
                      </a:r>
                    </a:p>
                  </a:txBody>
                  <a:tcPr anchor="ctr" marL="27432" marR="27432" marT="18288" marB="18288">
                    <a:solidFill>
                      <a:srgbClr val="F5F1E8"/>
                    </a:solidFill>
                  </a:tcPr>
                </a:tc>
                <a:tc>
                  <a:txBody>
                    <a:bodyPr/>
                    <a:lstStyle/>
                    <a:p>
                      <a:pPr algn="ctr"/>
                      <a:r>
                        <a:rPr sz="2000" b="0" i="0">
                          <a:solidFill>
                            <a:srgbClr val="5C4826"/>
                          </a:solidFill>
                        </a:rPr>
                        <a:t>✓</a:t>
                      </a:r>
                    </a:p>
                  </a:txBody>
                  <a:tcPr anchor="ctr" marL="27432" marR="27432" marT="18288" marB="18288">
                    <a:solidFill>
                      <a:srgbClr val="F5F1E8"/>
                    </a:solidFill>
                  </a:tcPr>
                </a:tc>
              </a:tr>
              <a:tr h="502920">
                <a:tc>
                  <a:txBody>
                    <a:bodyPr/>
                    <a:lstStyle/>
                    <a:p>
                      <a:pPr algn="ctr"/>
                      <a:r>
                        <a:rPr sz="2000" b="1" i="0">
                          <a:solidFill>
                            <a:srgbClr val="5C4826"/>
                          </a:solidFill>
                        </a:rPr>
                        <a:t>SELL</a:t>
                      </a:r>
                    </a:p>
                  </a:txBody>
                  <a:tcPr anchor="ctr" marL="27432" marR="27432" marT="18288" marB="18288">
                    <a:solidFill>
                      <a:srgbClr val="FBF8F2"/>
                    </a:solidFill>
                  </a:tcPr>
                </a:tc>
                <a:tc>
                  <a:txBody>
                    <a:bodyPr/>
                    <a:lstStyle/>
                    <a:p>
                      <a:pPr algn="ctr"/>
                      <a:r>
                        <a:rPr sz="2000" b="0" i="0">
                          <a:solidFill>
                            <a:srgbClr val="5C4826"/>
                          </a:solidFill>
                        </a:rPr>
                        <a:t>✓</a:t>
                      </a:r>
                    </a:p>
                  </a:txBody>
                  <a:tcPr anchor="ctr" marL="27432" marR="27432" marT="18288" marB="18288">
                    <a:solidFill>
                      <a:srgbClr val="FBF8F2"/>
                    </a:solidFill>
                  </a:tcPr>
                </a:tc>
                <a:tc>
                  <a:txBody>
                    <a:bodyPr/>
                    <a:lstStyle/>
                    <a:p>
                      <a:pPr algn="ctr"/>
                      <a:r>
                        <a:rPr sz="2000" b="0" i="0">
                          <a:solidFill>
                            <a:srgbClr val="5C4826"/>
                          </a:solidFill>
                        </a:rPr>
                        <a:t>✓</a:t>
                      </a:r>
                    </a:p>
                  </a:txBody>
                  <a:tcPr anchor="ctr" marL="27432" marR="27432" marT="18288" marB="18288">
                    <a:solidFill>
                      <a:srgbClr val="FBF8F2"/>
                    </a:solidFill>
                  </a:tcPr>
                </a:tc>
                <a:tc>
                  <a:txBody>
                    <a:bodyPr/>
                    <a:lstStyle/>
                    <a:p>
                      <a:pPr algn="ctr"/>
                      <a:r>
                        <a:rPr sz="2000" b="0" i="0">
                          <a:solidFill>
                            <a:srgbClr val="5C4826"/>
                          </a:solidFill>
                        </a:rPr>
                        <a:t>✓</a:t>
                      </a:r>
                    </a:p>
                  </a:txBody>
                  <a:tcPr anchor="ctr" marL="27432" marR="27432" marT="18288" marB="18288">
                    <a:solidFill>
                      <a:srgbClr val="FBF8F2"/>
                    </a:solidFill>
                  </a:tcPr>
                </a:tc>
                <a:tc>
                  <a:txBody>
                    <a:bodyPr/>
                    <a:lstStyle/>
                    <a:p>
                      <a:pPr algn="ctr"/>
                      <a:r>
                        <a:rPr sz="2000" b="0" i="0">
                          <a:solidFill>
                            <a:srgbClr val="5C4826"/>
                          </a:solidFill>
                        </a:rPr>
                        <a:t>✓</a:t>
                      </a:r>
                    </a:p>
                  </a:txBody>
                  <a:tcPr anchor="ctr" marL="27432" marR="27432" marT="18288" marB="18288">
                    <a:solidFill>
                      <a:srgbClr val="FBF8F2"/>
                    </a:solidFill>
                  </a:tcPr>
                </a:tc>
                <a:tc>
                  <a:txBody>
                    <a:bodyPr/>
                    <a:lstStyle/>
                    <a:p>
                      <a:pPr algn="ctr"/>
                      <a:r>
                        <a:rPr sz="2000" b="0" i="0">
                          <a:solidFill>
                            <a:srgbClr val="5C4826"/>
                          </a:solidFill>
                        </a:rPr>
                        <a:t>✓</a:t>
                      </a:r>
                    </a:p>
                  </a:txBody>
                  <a:tcPr anchor="ctr" marL="27432" marR="27432" marT="18288" marB="18288">
                    <a:solidFill>
                      <a:srgbClr val="FBF8F2"/>
                    </a:solidFill>
                  </a:tcPr>
                </a:tc>
                <a:tc>
                  <a:txBody>
                    <a:bodyPr/>
                    <a:lstStyle/>
                    <a:p>
                      <a:pPr algn="ctr"/>
                      <a:r>
                        <a:rPr sz="2000" b="0" i="0">
                          <a:solidFill>
                            <a:srgbClr val="5C4826"/>
                          </a:solidFill>
                        </a:rPr>
                        <a:t>✓</a:t>
                      </a:r>
                    </a:p>
                  </a:txBody>
                  <a:tcPr anchor="ctr" marL="27432" marR="27432" marT="18288" marB="18288">
                    <a:solidFill>
                      <a:srgbClr val="FBF8F2"/>
                    </a:solidFill>
                  </a:tcPr>
                </a:tc>
                <a:tc>
                  <a:txBody>
                    <a:bodyPr/>
                    <a:lstStyle/>
                    <a:p>
                      <a:pPr algn="ctr"/>
                      <a:r>
                        <a:rPr sz="2000" b="0" i="0">
                          <a:solidFill>
                            <a:srgbClr val="5C4826"/>
                          </a:solidFill>
                        </a:rPr>
                        <a:t>✓</a:t>
                      </a:r>
                    </a:p>
                  </a:txBody>
                  <a:tcPr anchor="ctr" marL="27432" marR="27432" marT="18288" marB="18288">
                    <a:solidFill>
                      <a:srgbClr val="FBF8F2"/>
                    </a:solidFill>
                  </a:tcPr>
                </a:tc>
                <a:tc>
                  <a:txBody>
                    <a:bodyPr/>
                    <a:lstStyle/>
                    <a:p>
                      <a:pPr algn="ctr"/>
                      <a:r>
                        <a:rPr sz="2000" b="0" i="0">
                          <a:solidFill>
                            <a:srgbClr val="5C4826"/>
                          </a:solidFill>
                        </a:rPr>
                        <a:t>✓</a:t>
                      </a:r>
                    </a:p>
                  </a:txBody>
                  <a:tcPr anchor="ctr" marL="27432" marR="27432" marT="18288" marB="18288">
                    <a:solidFill>
                      <a:srgbClr val="FBF8F2"/>
                    </a:solidFill>
                  </a:tcPr>
                </a:tc>
              </a:tr>
            </a:tbl>
          </a:graphicData>
        </a:graphic>
      </p:graphicFrame>
      <p:sp>
        <p:nvSpPr>
          <p:cNvPr id="902" name="Doj"/>
          <p:cNvSpPr txBox="1"/>
          <p:nvPr/>
        </p:nvSpPr>
        <p:spPr>
          <a:xfrm>
            <a:off x="411480" y="3246120"/>
            <a:ext cx="8321040" cy="1463040"/>
          </a:xfrm>
          <a:prstGeom prst="rect">
            <a:avLst/>
          </a:prstGeom>
          <a:noFill/>
        </p:spPr>
        <p:txBody>
          <a:bodyPr wrap="square" anchor="t" lIns="27432" rIns="27432" tIns="22860" bIns="22860">
            <a:spAutoFit/>
          </a:bodyPr>
          <a:lstStyle/>
          <a:p>
            <a:pPr algn="l"/>
            <a:r>
              <a:rPr sz="2000" b="1" i="0">
                <a:solidFill>
                  <a:srgbClr val="5C4826"/>
                </a:solidFill>
              </a:rPr>
              <a:t>The certification was not a one-time failure. </a:t>
            </a:r>
            <a:r>
              <a:rPr sz="2000" b="0" i="0">
                <a:solidFill>
                  <a:srgbClr val="555960"/>
                </a:solidFill>
              </a:rPr>
              <a:t>DOJ: false certifications continued model year after model year, with employees meeting EPA/CARB and concealing the defeat device.</a:t>
            </a:r>
          </a:p>
        </p:txBody>
      </p:sp>
      <p:sp>
        <p:nvSpPr>
          <p:cNvPr id="903" name="FooterBand"/>
          <p:cNvSpPr/>
          <p:nvPr/>
        </p:nvSpPr>
        <p:spPr>
          <a:xfrm>
            <a:off x="274320" y="5513831"/>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What made this outcome reproducible?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2012: Reality provides another observation</a:t>
            </a:r>
          </a:p>
        </p:txBody>
      </p:sp>
      <p:sp>
        <p:nvSpPr>
          <p:cNvPr id="900" name="Slide Number Placeholder 900"/>
          <p:cNvSpPr>
            <a:spLocks noGrp="1"/>
          </p:cNvSpPr>
          <p:nvPr>
            <p:ph type="sldNum" sz="quarter" idx="4"/>
          </p:nvPr>
        </p:nvSpPr>
        <p:spPr/>
        <p:txBody>
          <a:bodyPr/>
          <a:lstStyle/>
          <a:p>
            <a:fld id="{8CF8A65D-8523-4C39-BD83-5C787F1FA9B3}" type="slidenum">
              <a:rPr lang="en-US" smtClean="0"/>
              <a:t>10</a:t>
            </a:fld>
            <a:endParaRPr lang="en-US"/>
          </a:p>
        </p:txBody>
      </p:sp>
      <p:sp>
        <p:nvSpPr>
          <p:cNvPr id="909" name="FooterBand"/>
          <p:cNvSpPr/>
          <p:nvPr/>
        </p:nvSpPr>
        <p:spPr>
          <a:xfrm>
            <a:off x="274320" y="5513831"/>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They learned from failure.</a:t>
            </a:r>
          </a:p>
          <a:p>
            <a:pPr algn="ctr">
              <a:spcBef>
                <a:spcPts val="300"/>
              </a:spcBef>
            </a:pPr>
            <a:r>
              <a:rPr sz="2000" b="1" i="0">
                <a:solidFill>
                  <a:srgbClr val="FFFFFF"/>
                </a:solidFill>
              </a:rPr>
              <a:t>They learned how to make the existing system work better.</a:t>
            </a:r>
          </a:p>
        </p:txBody>
      </p:sp>
      <p:sp>
        <p:nvSpPr>
          <p:cNvPr id="920" name="Block"/>
          <p:cNvSpPr/>
          <p:nvPr/>
        </p:nvSpPr>
        <p:spPr>
          <a:xfrm>
            <a:off x="548640" y="114300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FAILURE</a:t>
            </a:r>
          </a:p>
        </p:txBody>
      </p:sp>
      <p:sp>
        <p:nvSpPr>
          <p:cNvPr id="921" name="RowCaption"/>
          <p:cNvSpPr/>
          <p:nvPr/>
        </p:nvSpPr>
        <p:spPr>
          <a:xfrm>
            <a:off x="3383280" y="114300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0" i="0">
                <a:solidFill>
                  <a:srgbClr val="555960"/>
                </a:solidFill>
              </a:rPr>
              <a:t>hardware failures</a:t>
            </a:r>
          </a:p>
        </p:txBody>
      </p:sp>
      <p:cxnSp>
        <p:nvCxnSpPr>
          <p:cNvPr id="922" name="Connector 922"/>
          <p:cNvCxnSpPr/>
          <p:nvPr/>
        </p:nvCxnSpPr>
        <p:spPr>
          <a:xfrm>
            <a:off x="1828800" y="170992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3" name="Block"/>
          <p:cNvSpPr/>
          <p:nvPr/>
        </p:nvSpPr>
        <p:spPr>
          <a:xfrm>
            <a:off x="548640" y="210312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NEW EVIDENCE</a:t>
            </a:r>
          </a:p>
        </p:txBody>
      </p:sp>
      <p:sp>
        <p:nvSpPr>
          <p:cNvPr id="924" name="RowCaption"/>
          <p:cNvSpPr/>
          <p:nvPr/>
        </p:nvSpPr>
        <p:spPr>
          <a:xfrm>
            <a:off x="3383280" y="210312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0" i="0">
                <a:solidFill>
                  <a:srgbClr val="555960"/>
                </a:solidFill>
              </a:rPr>
              <a:t>dyno mode imposes additional stress</a:t>
            </a:r>
          </a:p>
        </p:txBody>
      </p:sp>
      <p:cxnSp>
        <p:nvCxnSpPr>
          <p:cNvPr id="925" name="Connector 925"/>
          <p:cNvCxnSpPr/>
          <p:nvPr/>
        </p:nvCxnSpPr>
        <p:spPr>
          <a:xfrm>
            <a:off x="1828800" y="267004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6" name="Block"/>
          <p:cNvSpPr/>
          <p:nvPr/>
        </p:nvSpPr>
        <p:spPr>
          <a:xfrm>
            <a:off x="548640" y="306324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INTERPRETATION</a:t>
            </a:r>
          </a:p>
        </p:txBody>
      </p:sp>
      <p:sp>
        <p:nvSpPr>
          <p:cNvPr id="927" name="RowCaption"/>
          <p:cNvSpPr/>
          <p:nvPr/>
        </p:nvSpPr>
        <p:spPr>
          <a:xfrm>
            <a:off x="3383280" y="306324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0" i="0">
                <a:solidFill>
                  <a:srgbClr val="555960"/>
                </a:solidFill>
              </a:rPr>
              <a:t>the defeat device is causing the stress</a:t>
            </a:r>
          </a:p>
        </p:txBody>
      </p:sp>
      <p:cxnSp>
        <p:nvCxnSpPr>
          <p:cNvPr id="928" name="Connector 928"/>
          <p:cNvCxnSpPr/>
          <p:nvPr/>
        </p:nvCxnSpPr>
        <p:spPr>
          <a:xfrm>
            <a:off x="1828800" y="363016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9" name="Block"/>
          <p:cNvSpPr/>
          <p:nvPr/>
        </p:nvSpPr>
        <p:spPr>
          <a:xfrm>
            <a:off x="548640" y="4023360"/>
            <a:ext cx="2560320" cy="566928"/>
          </a:xfrm>
          <a:prstGeom prst="rect">
            <a:avLst/>
          </a:prstGeom>
          <a:solidFill>
            <a:srgbClr val="9A3F1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ACTION</a:t>
            </a:r>
          </a:p>
        </p:txBody>
      </p:sp>
      <p:sp>
        <p:nvSpPr>
          <p:cNvPr id="930" name="RowCaption"/>
          <p:cNvSpPr/>
          <p:nvPr/>
        </p:nvSpPr>
        <p:spPr>
          <a:xfrm>
            <a:off x="3383280" y="402336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0" i="0">
                <a:solidFill>
                  <a:srgbClr val="555960"/>
                </a:solidFill>
              </a:rPr>
              <a:t>improve the defeat device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a:xfrm>
            <a:off x="274320" y="0"/>
            <a:ext cx="8321040" cy="749808"/>
          </a:xfrm>
        </p:spPr>
        <p:txBody>
          <a:bodyPr/>
          <a:lstStyle/>
          <a:p>
            <a:r>
              <a:rPr sz="2400" b="0" i="0">
                <a:solidFill>
                  <a:srgbClr val="000000"/>
                </a:solidFill>
              </a:rPr>
              <a:t>2014–15: Someone outside the system measures reality</a:t>
            </a:r>
          </a:p>
        </p:txBody>
      </p:sp>
      <p:sp>
        <p:nvSpPr>
          <p:cNvPr id="900" name="Slide Number Placeholder 900"/>
          <p:cNvSpPr>
            <a:spLocks noGrp="1"/>
          </p:cNvSpPr>
          <p:nvPr>
            <p:ph type="sldNum" sz="quarter" idx="4"/>
          </p:nvPr>
        </p:nvSpPr>
        <p:spPr/>
        <p:txBody>
          <a:bodyPr/>
          <a:lstStyle/>
          <a:p>
            <a:fld id="{1CC19601-3229-4026-8A65-27C733DA7C77}" type="slidenum">
              <a:rPr lang="en-US" smtClean="0"/>
              <a:t>11</a:t>
            </a:fld>
            <a:endParaRPr lang="en-US"/>
          </a:p>
        </p:txBody>
      </p:sp>
      <p:sp>
        <p:nvSpPr>
          <p:cNvPr id="909" name="FooterBand"/>
          <p:cNvSpPr/>
          <p:nvPr/>
        </p:nvSpPr>
        <p:spPr>
          <a:xfrm>
            <a:off x="274320" y="5513831"/>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How did so many people and mechanisms sustain the same outcome?</a:t>
            </a:r>
          </a:p>
        </p:txBody>
      </p:sp>
      <p:sp>
        <p:nvSpPr>
          <p:cNvPr id="920" name="Card"/>
          <p:cNvSpPr/>
          <p:nvPr/>
        </p:nvSpPr>
        <p:spPr>
          <a:xfrm>
            <a:off x="411480" y="1554480"/>
            <a:ext cx="18288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ROAD TESTING</a:t>
            </a:r>
          </a:p>
        </p:txBody>
      </p:sp>
      <p:cxnSp>
        <p:nvCxnSpPr>
          <p:cNvPr id="921" name="Connector 921"/>
          <p:cNvCxnSpPr/>
          <p:nvPr/>
        </p:nvCxnSpPr>
        <p:spPr>
          <a:xfrm>
            <a:off x="2240280" y="1874520"/>
            <a:ext cx="32004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2" name="Card"/>
          <p:cNvSpPr/>
          <p:nvPr/>
        </p:nvSpPr>
        <p:spPr>
          <a:xfrm>
            <a:off x="2560320" y="1554480"/>
            <a:ext cx="18288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REGULATORS</a:t>
            </a:r>
          </a:p>
        </p:txBody>
      </p:sp>
      <p:cxnSp>
        <p:nvCxnSpPr>
          <p:cNvPr id="923" name="Connector 923"/>
          <p:cNvCxnSpPr/>
          <p:nvPr/>
        </p:nvCxnSpPr>
        <p:spPr>
          <a:xfrm>
            <a:off x="4389120" y="1874520"/>
            <a:ext cx="32004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4" name="Block"/>
          <p:cNvSpPr/>
          <p:nvPr/>
        </p:nvSpPr>
        <p:spPr>
          <a:xfrm>
            <a:off x="4709160" y="1554480"/>
            <a:ext cx="182880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2015:</a:t>
            </a:r>
          </a:p>
          <a:p>
            <a:pPr algn="ctr"/>
            <a:r>
              <a:rPr sz="2000" b="1" i="0">
                <a:solidFill>
                  <a:srgbClr val="FFFFFF"/>
                </a:solidFill>
              </a:rPr>
              <a:t>EPA NOTICE</a:t>
            </a:r>
          </a:p>
        </p:txBody>
      </p:sp>
      <p:cxnSp>
        <p:nvCxnSpPr>
          <p:cNvPr id="925" name="Connector 925"/>
          <p:cNvCxnSpPr/>
          <p:nvPr/>
        </p:nvCxnSpPr>
        <p:spPr>
          <a:xfrm>
            <a:off x="6537960" y="1874520"/>
            <a:ext cx="32004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6" name="Block"/>
          <p:cNvSpPr/>
          <p:nvPr/>
        </p:nvSpPr>
        <p:spPr>
          <a:xfrm>
            <a:off x="6858000" y="1554480"/>
            <a:ext cx="1737360" cy="640080"/>
          </a:xfrm>
          <a:prstGeom prst="rect">
            <a:avLst/>
          </a:prstGeom>
          <a:solidFill>
            <a:srgbClr val="9A3F1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DISCLOSURE</a:t>
            </a:r>
          </a:p>
        </p:txBody>
      </p:sp>
      <p:sp>
        <p:nvSpPr>
          <p:cNvPr id="927" name="Card"/>
          <p:cNvSpPr/>
          <p:nvPr/>
        </p:nvSpPr>
        <p:spPr>
          <a:xfrm>
            <a:off x="411480" y="2926080"/>
            <a:ext cx="8321040" cy="9144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55960"/>
                </a:solidFill>
              </a:rPr>
              <a:t>Criminal prosecutions. A $2.8B U.S. criminal penalty. Further settlements and consequences.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85800" y="1700784"/>
            <a:ext cx="7772400" cy="1005840"/>
          </a:xfrm>
        </p:spPr>
        <p:txBody>
          <a:bodyPr/>
          <a:lstStyle/>
          <a:p>
            <a:pPr algn="ctr"/>
            <a:r>
              <a:rPr sz="4000" b="0" i="0">
                <a:solidFill>
                  <a:srgbClr val="000000"/>
                </a:solidFill>
              </a:rPr>
              <a:t>What theory explains it?</a:t>
            </a:r>
          </a:p>
        </p:txBody>
      </p:sp>
      <p:sp>
        <p:nvSpPr>
          <p:cNvPr id="900" name="Slide Number Placeholder 900"/>
          <p:cNvSpPr>
            <a:spLocks noGrp="1"/>
          </p:cNvSpPr>
          <p:nvPr>
            <p:ph type="sldNum" sz="quarter" idx="4"/>
          </p:nvPr>
        </p:nvSpPr>
        <p:spPr/>
        <p:txBody>
          <a:bodyPr/>
          <a:lstStyle/>
          <a:p>
            <a:fld id="{3B223778-6764-4D81-904E-8786918EE0A1}" type="slidenum">
              <a:rPr lang="en-US" smtClean="0"/>
              <a:t>12</a:t>
            </a:fld>
            <a:endParaRPr lang="en-US"/>
          </a:p>
        </p:txBody>
      </p:sp>
      <p:sp>
        <p:nvSpPr>
          <p:cNvPr id="901" name="SectionLabel"/>
          <p:cNvSpPr txBox="1"/>
          <p:nvPr/>
        </p:nvSpPr>
        <p:spPr>
          <a:xfrm>
            <a:off x="685800" y="1243584"/>
            <a:ext cx="7772400" cy="365760"/>
          </a:xfrm>
          <a:prstGeom prst="rect">
            <a:avLst/>
          </a:prstGeom>
          <a:noFill/>
        </p:spPr>
        <p:txBody>
          <a:bodyPr wrap="square" anchor="ctr" lIns="27432" rIns="27432" tIns="22860" bIns="22860">
            <a:spAutoFit/>
          </a:bodyPr>
          <a:lstStyle/>
          <a:p>
            <a:pPr algn="ctr"/>
            <a:r>
              <a:rPr sz="2000" b="1" i="0">
                <a:solidFill>
                  <a:srgbClr val="8E6F3E"/>
                </a:solidFill>
              </a:rPr>
              <a:t>SECTION 1</a:t>
            </a:r>
          </a:p>
        </p:txBody>
      </p:sp>
      <p:sp>
        <p:nvSpPr>
          <p:cNvPr id="902" name="Question"/>
          <p:cNvSpPr txBox="1"/>
          <p:nvPr/>
        </p:nvSpPr>
        <p:spPr>
          <a:xfrm>
            <a:off x="685800" y="2816352"/>
            <a:ext cx="7772400" cy="475488"/>
          </a:xfrm>
          <a:prstGeom prst="rect">
            <a:avLst/>
          </a:prstGeom>
          <a:noFill/>
        </p:spPr>
        <p:txBody>
          <a:bodyPr wrap="square" anchor="ctr" lIns="27432" rIns="27432" tIns="22860" bIns="22860">
            <a:spAutoFit/>
          </a:bodyPr>
          <a:lstStyle/>
          <a:p>
            <a:pPr algn="ctr"/>
            <a:r>
              <a:rPr sz="2400" b="0" i="0">
                <a:solidFill>
                  <a:srgbClr val="5C4826"/>
                </a:solidFill>
              </a:rPr>
              <a:t>And what does each theory let you change?</a:t>
            </a:r>
          </a:p>
        </p:txBody>
      </p:sp>
      <p:sp>
        <p:nvSpPr>
          <p:cNvPr id="903" name="Rule"/>
          <p:cNvSpPr/>
          <p:nvPr/>
        </p:nvSpPr>
        <p:spPr>
          <a:xfrm>
            <a:off x="3429000" y="3602736"/>
            <a:ext cx="2286000" cy="5120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What caused the Volkswagen failure?</a:t>
            </a:r>
          </a:p>
        </p:txBody>
      </p:sp>
      <p:sp>
        <p:nvSpPr>
          <p:cNvPr id="900" name="Slide Number Placeholder 900"/>
          <p:cNvSpPr>
            <a:spLocks noGrp="1"/>
          </p:cNvSpPr>
          <p:nvPr>
            <p:ph type="sldNum" sz="quarter" idx="4"/>
          </p:nvPr>
        </p:nvSpPr>
        <p:spPr/>
        <p:txBody>
          <a:bodyPr/>
          <a:lstStyle/>
          <a:p>
            <a:fld id="{00F42B8D-282B-4541-BC87-223291F13518}" type="slidenum">
              <a:rPr lang="en-US" smtClean="0"/>
              <a:t>13</a:t>
            </a:fld>
            <a:endParaRPr lang="en-US"/>
          </a:p>
        </p:txBody>
      </p:sp>
      <p:sp>
        <p:nvSpPr>
          <p:cNvPr id="901" name="Card"/>
          <p:cNvSpPr/>
          <p:nvPr/>
        </p:nvSpPr>
        <p:spPr>
          <a:xfrm>
            <a:off x="914400" y="1188720"/>
            <a:ext cx="7315200" cy="4297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Your answers</a:t>
            </a:r>
          </a:p>
          <a:p>
            <a:pPr algn="ctr">
              <a:spcBef>
                <a:spcPts val="1000"/>
              </a:spcBef>
            </a:pPr>
            <a:r>
              <a:rPr sz="2000" b="0" i="1">
                <a:solidFill>
                  <a:srgbClr val="555960"/>
                </a:solidFill>
              </a:rPr>
              <a:t>(collected live)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Human error</a:t>
            </a:r>
          </a:p>
        </p:txBody>
      </p:sp>
      <p:sp>
        <p:nvSpPr>
          <p:cNvPr id="900" name="Slide Number Placeholder 900"/>
          <p:cNvSpPr>
            <a:spLocks noGrp="1"/>
          </p:cNvSpPr>
          <p:nvPr>
            <p:ph type="sldNum" sz="quarter" idx="4"/>
          </p:nvPr>
        </p:nvSpPr>
        <p:spPr/>
        <p:txBody>
          <a:bodyPr/>
          <a:lstStyle/>
          <a:p>
            <a:fld id="{8D34505B-00B1-4572-8080-1F84ADF8E747}" type="slidenum">
              <a:rPr lang="en-US" smtClean="0"/>
              <a:t>14</a:t>
            </a:fld>
            <a:endParaRPr lang="en-US"/>
          </a:p>
        </p:txBody>
      </p:sp>
      <p:sp>
        <p:nvSpPr>
          <p:cNvPr id="904"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Useful, but narrow.</a:t>
            </a:r>
          </a:p>
        </p:txBody>
      </p:sp>
      <p:sp>
        <p:nvSpPr>
          <p:cNvPr id="910" name="Block"/>
          <p:cNvSpPr/>
          <p:nvPr/>
        </p:nvSpPr>
        <p:spPr>
          <a:xfrm>
            <a:off x="822960" y="2103120"/>
            <a:ext cx="219456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INDIVIDUAL</a:t>
            </a:r>
          </a:p>
        </p:txBody>
      </p:sp>
      <p:cxnSp>
        <p:nvCxnSpPr>
          <p:cNvPr id="911" name="Connector 911"/>
          <p:cNvCxnSpPr/>
          <p:nvPr/>
        </p:nvCxnSpPr>
        <p:spPr>
          <a:xfrm>
            <a:off x="3017520" y="2468880"/>
            <a:ext cx="54864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2" name="Card"/>
          <p:cNvSpPr/>
          <p:nvPr/>
        </p:nvSpPr>
        <p:spPr>
          <a:xfrm>
            <a:off x="3566160" y="2103120"/>
            <a:ext cx="201168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action</a:t>
            </a:r>
          </a:p>
        </p:txBody>
      </p:sp>
      <p:cxnSp>
        <p:nvCxnSpPr>
          <p:cNvPr id="913" name="Connector 913"/>
          <p:cNvCxnSpPr/>
          <p:nvPr/>
        </p:nvCxnSpPr>
        <p:spPr>
          <a:xfrm>
            <a:off x="5577840" y="2468880"/>
            <a:ext cx="54864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4" name="Card"/>
          <p:cNvSpPr/>
          <p:nvPr/>
        </p:nvSpPr>
        <p:spPr>
          <a:xfrm>
            <a:off x="6126480" y="2103120"/>
            <a:ext cx="201168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outcome</a:t>
            </a:r>
          </a:p>
        </p:txBody>
      </p:sp>
      <p:sp>
        <p:nvSpPr>
          <p:cNvPr id="915" name="Label"/>
          <p:cNvSpPr txBox="1"/>
          <p:nvPr/>
        </p:nvSpPr>
        <p:spPr>
          <a:xfrm>
            <a:off x="548640" y="3474720"/>
            <a:ext cx="8046720" cy="457200"/>
          </a:xfrm>
          <a:prstGeom prst="rect">
            <a:avLst/>
          </a:prstGeom>
          <a:noFill/>
        </p:spPr>
        <p:txBody>
          <a:bodyPr wrap="square" anchor="t" lIns="27432" rIns="27432" tIns="22860" bIns="22860">
            <a:spAutoFit/>
          </a:bodyPr>
          <a:lstStyle/>
          <a:p>
            <a:pPr algn="ctr"/>
            <a:r>
              <a:rPr sz="2000" b="1" i="0">
                <a:solidFill>
                  <a:srgbClr val="5C4826"/>
                </a:solidFill>
              </a:rPr>
              <a:t>Model: </a:t>
            </a:r>
            <a:r>
              <a:rPr sz="2000" b="0" i="0">
                <a:solidFill>
                  <a:srgbClr val="555960"/>
                </a:solidFill>
              </a:rPr>
              <a:t>an individual erred.   </a:t>
            </a:r>
            <a:r>
              <a:rPr sz="2000" b="1" i="0">
                <a:solidFill>
                  <a:srgbClr val="5C4826"/>
                </a:solidFill>
              </a:rPr>
              <a:t>Intervention: </a:t>
            </a:r>
            <a:r>
              <a:rPr sz="2000" b="0" i="0">
                <a:solidFill>
                  <a:srgbClr val="555960"/>
                </a:solidFill>
              </a:rPr>
              <a:t>change the individual.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Swiss cheese</a:t>
            </a:r>
          </a:p>
        </p:txBody>
      </p:sp>
      <p:sp>
        <p:nvSpPr>
          <p:cNvPr id="900" name="Slide Number Placeholder 900"/>
          <p:cNvSpPr>
            <a:spLocks noGrp="1"/>
          </p:cNvSpPr>
          <p:nvPr>
            <p:ph type="sldNum" sz="quarter" idx="4"/>
          </p:nvPr>
        </p:nvSpPr>
        <p:spPr/>
        <p:txBody>
          <a:bodyPr/>
          <a:lstStyle/>
          <a:p>
            <a:fld id="{E3DB674E-A080-44A8-A874-38AE3C84A5E2}" type="slidenum">
              <a:rPr lang="en-US" smtClean="0"/>
              <a:t>15</a:t>
            </a:fld>
            <a:endParaRPr lang="en-US"/>
          </a:p>
        </p:txBody>
      </p:sp>
      <p:sp>
        <p:nvSpPr>
          <p:cNvPr id="901" name="Slab"/>
          <p:cNvSpPr/>
          <p:nvPr/>
        </p:nvSpPr>
        <p:spPr>
          <a:xfrm>
            <a:off x="1463040" y="1280160"/>
            <a:ext cx="1005840" cy="36576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0" i="0">
                <a:solidFill>
                  <a:srgbClr val="5C4826"/>
                </a:solidFill>
              </a:rPr>
              <a:t/>
            </a:r>
          </a:p>
        </p:txBody>
      </p:sp>
      <p:sp>
        <p:nvSpPr>
          <p:cNvPr id="902" name="Hole"/>
          <p:cNvSpPr/>
          <p:nvPr/>
        </p:nvSpPr>
        <p:spPr>
          <a:xfrm>
            <a:off x="1764792" y="192024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sp>
        <p:nvSpPr>
          <p:cNvPr id="903" name="Hole"/>
          <p:cNvSpPr/>
          <p:nvPr/>
        </p:nvSpPr>
        <p:spPr>
          <a:xfrm>
            <a:off x="1764792" y="278892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sp>
        <p:nvSpPr>
          <p:cNvPr id="904" name="Hole"/>
          <p:cNvSpPr/>
          <p:nvPr/>
        </p:nvSpPr>
        <p:spPr>
          <a:xfrm>
            <a:off x="1764792" y="393192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sp>
        <p:nvSpPr>
          <p:cNvPr id="905" name="Slab"/>
          <p:cNvSpPr/>
          <p:nvPr/>
        </p:nvSpPr>
        <p:spPr>
          <a:xfrm>
            <a:off x="3108960" y="1280160"/>
            <a:ext cx="1005840" cy="36576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0" i="0">
                <a:solidFill>
                  <a:srgbClr val="5C4826"/>
                </a:solidFill>
              </a:rPr>
              <a:t/>
            </a:r>
          </a:p>
        </p:txBody>
      </p:sp>
      <p:sp>
        <p:nvSpPr>
          <p:cNvPr id="906" name="Hole"/>
          <p:cNvSpPr/>
          <p:nvPr/>
        </p:nvSpPr>
        <p:spPr>
          <a:xfrm>
            <a:off x="3410712" y="173736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sp>
        <p:nvSpPr>
          <p:cNvPr id="907" name="Hole"/>
          <p:cNvSpPr/>
          <p:nvPr/>
        </p:nvSpPr>
        <p:spPr>
          <a:xfrm>
            <a:off x="3410712" y="278892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sp>
        <p:nvSpPr>
          <p:cNvPr id="908" name="Hole"/>
          <p:cNvSpPr/>
          <p:nvPr/>
        </p:nvSpPr>
        <p:spPr>
          <a:xfrm>
            <a:off x="3410712" y="429768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sp>
        <p:nvSpPr>
          <p:cNvPr id="909" name="Slab"/>
          <p:cNvSpPr/>
          <p:nvPr/>
        </p:nvSpPr>
        <p:spPr>
          <a:xfrm>
            <a:off x="4754880" y="1280160"/>
            <a:ext cx="1005840" cy="36576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0" i="0">
                <a:solidFill>
                  <a:srgbClr val="5C4826"/>
                </a:solidFill>
              </a:rPr>
              <a:t/>
            </a:r>
          </a:p>
        </p:txBody>
      </p:sp>
      <p:sp>
        <p:nvSpPr>
          <p:cNvPr id="910" name="Hole"/>
          <p:cNvSpPr/>
          <p:nvPr/>
        </p:nvSpPr>
        <p:spPr>
          <a:xfrm>
            <a:off x="5056632" y="178308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sp>
        <p:nvSpPr>
          <p:cNvPr id="911" name="Hole"/>
          <p:cNvSpPr/>
          <p:nvPr/>
        </p:nvSpPr>
        <p:spPr>
          <a:xfrm>
            <a:off x="5056632" y="278892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sp>
        <p:nvSpPr>
          <p:cNvPr id="912" name="Hole"/>
          <p:cNvSpPr/>
          <p:nvPr/>
        </p:nvSpPr>
        <p:spPr>
          <a:xfrm>
            <a:off x="5056632" y="379476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sp>
        <p:nvSpPr>
          <p:cNvPr id="913" name="Slab"/>
          <p:cNvSpPr/>
          <p:nvPr/>
        </p:nvSpPr>
        <p:spPr>
          <a:xfrm>
            <a:off x="6400800" y="1280160"/>
            <a:ext cx="1005840" cy="36576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0" i="0">
                <a:solidFill>
                  <a:srgbClr val="5C4826"/>
                </a:solidFill>
              </a:rPr>
              <a:t/>
            </a:r>
          </a:p>
        </p:txBody>
      </p:sp>
      <p:sp>
        <p:nvSpPr>
          <p:cNvPr id="914" name="Hole"/>
          <p:cNvSpPr/>
          <p:nvPr/>
        </p:nvSpPr>
        <p:spPr>
          <a:xfrm>
            <a:off x="6702552" y="224028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sp>
        <p:nvSpPr>
          <p:cNvPr id="915" name="Hole"/>
          <p:cNvSpPr/>
          <p:nvPr/>
        </p:nvSpPr>
        <p:spPr>
          <a:xfrm>
            <a:off x="6702552" y="278892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sp>
        <p:nvSpPr>
          <p:cNvPr id="916" name="Hole"/>
          <p:cNvSpPr/>
          <p:nvPr/>
        </p:nvSpPr>
        <p:spPr>
          <a:xfrm>
            <a:off x="6702552" y="416052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cxnSp>
        <p:nvCxnSpPr>
          <p:cNvPr id="917" name="Connector 916"/>
          <p:cNvCxnSpPr/>
          <p:nvPr/>
        </p:nvCxnSpPr>
        <p:spPr>
          <a:xfrm>
            <a:off x="548640" y="2990088"/>
            <a:ext cx="7589520" cy="0"/>
          </a:xfrm>
          <a:prstGeom prst="line">
            <a:avLst/>
          </a:prstGeom>
          <a:ln w="31750">
            <a:solidFill>
              <a:srgbClr val="9A3F12"/>
            </a:solidFill>
            <a:tailEnd type="triangle"/>
          </a:ln>
        </p:spPr>
        <p:style>
          <a:lnRef idx="2">
            <a:schemeClr val="accent1"/>
          </a:lnRef>
          <a:fillRef idx="0">
            <a:schemeClr val="accent1"/>
          </a:fillRef>
          <a:effectRef idx="1">
            <a:schemeClr val="accent1"/>
          </a:effectRef>
          <a:fontRef idx="minor">
            <a:schemeClr val="tx1"/>
          </a:fontRef>
        </p:style>
      </p:cxnSp>
      <p:sp>
        <p:nvSpPr>
          <p:cNvPr id="918" name="Label"/>
          <p:cNvSpPr txBox="1"/>
          <p:nvPr/>
        </p:nvSpPr>
        <p:spPr>
          <a:xfrm>
            <a:off x="548640" y="5212080"/>
            <a:ext cx="8046720" cy="457200"/>
          </a:xfrm>
          <a:prstGeom prst="rect">
            <a:avLst/>
          </a:prstGeom>
          <a:noFill/>
        </p:spPr>
        <p:txBody>
          <a:bodyPr wrap="square" anchor="t" lIns="27432" rIns="27432" tIns="22860" bIns="22860">
            <a:spAutoFit/>
          </a:bodyPr>
          <a:lstStyle/>
          <a:p>
            <a:pPr algn="ctr"/>
            <a:r>
              <a:rPr sz="2200" b="0" i="0">
                <a:solidFill>
                  <a:srgbClr val="5C4826"/>
                </a:solidFill>
              </a:rPr>
              <a:t>Now the condition of the defenses matters.</a:t>
            </a:r>
          </a:p>
        </p:txBody>
      </p:sp>
      <p:sp>
        <p:nvSpPr>
          <p:cNvPr id="930" name="Label"/>
          <p:cNvSpPr txBox="1"/>
          <p:nvPr/>
        </p:nvSpPr>
        <p:spPr>
          <a:xfrm>
            <a:off x="1234440" y="896112"/>
            <a:ext cx="1463040" cy="320040"/>
          </a:xfrm>
          <a:prstGeom prst="rect">
            <a:avLst/>
          </a:prstGeom>
          <a:noFill/>
        </p:spPr>
        <p:txBody>
          <a:bodyPr wrap="square" anchor="t" lIns="27432" rIns="27432" tIns="22860" bIns="22860">
            <a:spAutoFit/>
          </a:bodyPr>
          <a:lstStyle/>
          <a:p>
            <a:pPr algn="ctr"/>
            <a:r>
              <a:rPr sz="2000" b="1" i="0">
                <a:solidFill>
                  <a:srgbClr val="8E6F3E"/>
                </a:solidFill>
              </a:rPr>
              <a:t>DEFENSE</a:t>
            </a:r>
          </a:p>
        </p:txBody>
      </p:sp>
      <p:sp>
        <p:nvSpPr>
          <p:cNvPr id="931" name="Label"/>
          <p:cNvSpPr txBox="1"/>
          <p:nvPr/>
        </p:nvSpPr>
        <p:spPr>
          <a:xfrm>
            <a:off x="2880360" y="896112"/>
            <a:ext cx="1463040" cy="320040"/>
          </a:xfrm>
          <a:prstGeom prst="rect">
            <a:avLst/>
          </a:prstGeom>
          <a:noFill/>
        </p:spPr>
        <p:txBody>
          <a:bodyPr wrap="square" anchor="t" lIns="27432" rIns="27432" tIns="22860" bIns="22860">
            <a:spAutoFit/>
          </a:bodyPr>
          <a:lstStyle/>
          <a:p>
            <a:pPr algn="ctr"/>
            <a:r>
              <a:rPr sz="2000" b="1" i="0">
                <a:solidFill>
                  <a:srgbClr val="8E6F3E"/>
                </a:solidFill>
              </a:rPr>
              <a:t>DEFENSE</a:t>
            </a:r>
          </a:p>
        </p:txBody>
      </p:sp>
      <p:sp>
        <p:nvSpPr>
          <p:cNvPr id="932" name="Label"/>
          <p:cNvSpPr txBox="1"/>
          <p:nvPr/>
        </p:nvSpPr>
        <p:spPr>
          <a:xfrm>
            <a:off x="4526280" y="896112"/>
            <a:ext cx="1463040" cy="320040"/>
          </a:xfrm>
          <a:prstGeom prst="rect">
            <a:avLst/>
          </a:prstGeom>
          <a:noFill/>
        </p:spPr>
        <p:txBody>
          <a:bodyPr wrap="square" anchor="t" lIns="27432" rIns="27432" tIns="22860" bIns="22860">
            <a:spAutoFit/>
          </a:bodyPr>
          <a:lstStyle/>
          <a:p>
            <a:pPr algn="ctr"/>
            <a:r>
              <a:rPr sz="2000" b="1" i="0">
                <a:solidFill>
                  <a:srgbClr val="8E6F3E"/>
                </a:solidFill>
              </a:rPr>
              <a:t>DEFENSE</a:t>
            </a:r>
          </a:p>
        </p:txBody>
      </p:sp>
      <p:sp>
        <p:nvSpPr>
          <p:cNvPr id="933" name="Label"/>
          <p:cNvSpPr txBox="1"/>
          <p:nvPr/>
        </p:nvSpPr>
        <p:spPr>
          <a:xfrm>
            <a:off x="6172200" y="896112"/>
            <a:ext cx="1463040" cy="320040"/>
          </a:xfrm>
          <a:prstGeom prst="rect">
            <a:avLst/>
          </a:prstGeom>
          <a:noFill/>
        </p:spPr>
        <p:txBody>
          <a:bodyPr wrap="square" anchor="t" lIns="27432" rIns="27432" tIns="22860" bIns="22860">
            <a:spAutoFit/>
          </a:bodyPr>
          <a:lstStyle/>
          <a:p>
            <a:pPr algn="ctr"/>
            <a:r>
              <a:rPr sz="2000" b="1" i="0">
                <a:solidFill>
                  <a:srgbClr val="8E6F3E"/>
                </a:solidFill>
              </a:rPr>
              <a:t>DEFENSE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Organizational causation</a:t>
            </a:r>
          </a:p>
        </p:txBody>
      </p:sp>
      <p:sp>
        <p:nvSpPr>
          <p:cNvPr id="900" name="Slide Number Placeholder 900"/>
          <p:cNvSpPr>
            <a:spLocks noGrp="1"/>
          </p:cNvSpPr>
          <p:nvPr>
            <p:ph type="sldNum" sz="quarter" idx="4"/>
          </p:nvPr>
        </p:nvSpPr>
        <p:spPr/>
        <p:txBody>
          <a:bodyPr/>
          <a:lstStyle/>
          <a:p>
            <a:fld id="{914DCAD9-F068-4234-801B-B81BE39514E5}" type="slidenum">
              <a:rPr lang="en-US" smtClean="0"/>
              <a:t>16</a:t>
            </a:fld>
            <a:endParaRPr lang="en-US"/>
          </a:p>
        </p:txBody>
      </p:sp>
      <p:sp>
        <p:nvSpPr>
          <p:cNvPr id="901" name="Block"/>
          <p:cNvSpPr/>
          <p:nvPr/>
        </p:nvSpPr>
        <p:spPr>
          <a:xfrm>
            <a:off x="548640" y="2377440"/>
            <a:ext cx="246888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CONDITIONS</a:t>
            </a:r>
          </a:p>
        </p:txBody>
      </p:sp>
      <p:cxnSp>
        <p:nvCxnSpPr>
          <p:cNvPr id="902" name="Connector 901"/>
          <p:cNvCxnSpPr/>
          <p:nvPr/>
        </p:nvCxnSpPr>
        <p:spPr>
          <a:xfrm>
            <a:off x="3017520" y="2743200"/>
            <a:ext cx="54864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3566160" y="2377440"/>
            <a:ext cx="246888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behavior</a:t>
            </a:r>
          </a:p>
        </p:txBody>
      </p:sp>
      <p:cxnSp>
        <p:nvCxnSpPr>
          <p:cNvPr id="904" name="Connector 903"/>
          <p:cNvCxnSpPr/>
          <p:nvPr/>
        </p:nvCxnSpPr>
        <p:spPr>
          <a:xfrm>
            <a:off x="6035040" y="2743200"/>
            <a:ext cx="54864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Card"/>
          <p:cNvSpPr/>
          <p:nvPr/>
        </p:nvSpPr>
        <p:spPr>
          <a:xfrm>
            <a:off x="6583680" y="2377440"/>
            <a:ext cx="201168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outcome</a:t>
            </a:r>
          </a:p>
        </p:txBody>
      </p:sp>
      <p:sp>
        <p:nvSpPr>
          <p:cNvPr id="906" name="Label"/>
          <p:cNvSpPr txBox="1"/>
          <p:nvPr/>
        </p:nvSpPr>
        <p:spPr>
          <a:xfrm>
            <a:off x="548640" y="4160520"/>
            <a:ext cx="8046720" cy="457200"/>
          </a:xfrm>
          <a:prstGeom prst="rect">
            <a:avLst/>
          </a:prstGeom>
          <a:noFill/>
        </p:spPr>
        <p:txBody>
          <a:bodyPr wrap="square" anchor="t" lIns="27432" rIns="27432" tIns="22860" bIns="22860">
            <a:spAutoFit/>
          </a:bodyPr>
          <a:lstStyle/>
          <a:p>
            <a:pPr algn="ctr"/>
            <a:r>
              <a:rPr sz="2200" b="0" i="0">
                <a:solidFill>
                  <a:srgbClr val="5C4826"/>
                </a:solidFill>
              </a:rPr>
              <a:t>Now the conditions shaping behavior matter.</a:t>
            </a:r>
          </a:p>
        </p:txBody>
      </p:sp>
      <p:sp>
        <p:nvSpPr>
          <p:cNvPr id="920" name="Label"/>
          <p:cNvSpPr txBox="1"/>
          <p:nvPr/>
        </p:nvSpPr>
        <p:spPr>
          <a:xfrm>
            <a:off x="274320" y="3200400"/>
            <a:ext cx="3017520" cy="365760"/>
          </a:xfrm>
          <a:prstGeom prst="rect">
            <a:avLst/>
          </a:prstGeom>
          <a:noFill/>
        </p:spPr>
        <p:txBody>
          <a:bodyPr wrap="square" anchor="t" lIns="27432" rIns="27432" tIns="22860" bIns="22860">
            <a:spAutoFit/>
          </a:bodyPr>
          <a:lstStyle/>
          <a:p>
            <a:pPr algn="ctr"/>
            <a:r>
              <a:rPr sz="2000" b="0" i="0">
                <a:solidFill>
                  <a:srgbClr val="555960"/>
                </a:solidFill>
              </a:rPr>
              <a:t>authority · incentives · schedule · ownership</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STAMP: Model the control structure</a:t>
            </a:r>
          </a:p>
        </p:txBody>
      </p:sp>
      <p:sp>
        <p:nvSpPr>
          <p:cNvPr id="900" name="Slide Number Placeholder 900"/>
          <p:cNvSpPr>
            <a:spLocks noGrp="1"/>
          </p:cNvSpPr>
          <p:nvPr>
            <p:ph type="sldNum" sz="quarter" idx="4"/>
          </p:nvPr>
        </p:nvSpPr>
        <p:spPr/>
        <p:txBody>
          <a:bodyPr/>
          <a:lstStyle/>
          <a:p>
            <a:fld id="{21CAE056-AEB1-4FA5-BA70-2608DF341BC7}" type="slidenum">
              <a:rPr lang="en-US" smtClean="0"/>
              <a:t>17</a:t>
            </a:fld>
            <a:endParaRPr lang="en-US"/>
          </a:p>
        </p:txBody>
      </p:sp>
      <p:sp>
        <p:nvSpPr>
          <p:cNvPr id="901" name="Block"/>
          <p:cNvSpPr/>
          <p:nvPr/>
        </p:nvSpPr>
        <p:spPr>
          <a:xfrm>
            <a:off x="2926080" y="118872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REGULATORS</a:t>
            </a:r>
          </a:p>
        </p:txBody>
      </p:sp>
      <p:cxnSp>
        <p:nvCxnSpPr>
          <p:cNvPr id="902" name="Connector 901"/>
          <p:cNvCxnSpPr/>
          <p:nvPr/>
        </p:nvCxnSpPr>
        <p:spPr>
          <a:xfrm>
            <a:off x="4023360" y="182880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3" name="Connector 902"/>
          <p:cNvCxnSpPr/>
          <p:nvPr/>
        </p:nvCxnSpPr>
        <p:spPr>
          <a:xfrm flipV="1">
            <a:off x="5120640" y="182880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4" name="Block"/>
          <p:cNvSpPr/>
          <p:nvPr/>
        </p:nvSpPr>
        <p:spPr>
          <a:xfrm>
            <a:off x="2926080" y="219456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ORGANIZATION</a:t>
            </a:r>
          </a:p>
        </p:txBody>
      </p:sp>
      <p:cxnSp>
        <p:nvCxnSpPr>
          <p:cNvPr id="905" name="Connector 904"/>
          <p:cNvCxnSpPr/>
          <p:nvPr/>
        </p:nvCxnSpPr>
        <p:spPr>
          <a:xfrm>
            <a:off x="4023360" y="283464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6" name="Connector 905"/>
          <p:cNvCxnSpPr/>
          <p:nvPr/>
        </p:nvCxnSpPr>
        <p:spPr>
          <a:xfrm flipV="1">
            <a:off x="5120640" y="283464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Block"/>
          <p:cNvSpPr/>
          <p:nvPr/>
        </p:nvSpPr>
        <p:spPr>
          <a:xfrm>
            <a:off x="2926080" y="320040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ENGINEERING</a:t>
            </a:r>
          </a:p>
        </p:txBody>
      </p:sp>
      <p:cxnSp>
        <p:nvCxnSpPr>
          <p:cNvPr id="908" name="Connector 907"/>
          <p:cNvCxnSpPr/>
          <p:nvPr/>
        </p:nvCxnSpPr>
        <p:spPr>
          <a:xfrm>
            <a:off x="4023360" y="384048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9" name="Connector 908"/>
          <p:cNvCxnSpPr/>
          <p:nvPr/>
        </p:nvCxnSpPr>
        <p:spPr>
          <a:xfrm flipV="1">
            <a:off x="5120640" y="384048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0" name="Block"/>
          <p:cNvSpPr/>
          <p:nvPr/>
        </p:nvSpPr>
        <p:spPr>
          <a:xfrm>
            <a:off x="2926080" y="420624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OPERATING PROCESS</a:t>
            </a:r>
          </a:p>
        </p:txBody>
      </p:sp>
      <p:sp>
        <p:nvSpPr>
          <p:cNvPr id="911" name="Label"/>
          <p:cNvSpPr txBox="1"/>
          <p:nvPr/>
        </p:nvSpPr>
        <p:spPr>
          <a:xfrm>
            <a:off x="411480" y="2377440"/>
            <a:ext cx="2331720" cy="731520"/>
          </a:xfrm>
          <a:prstGeom prst="rect">
            <a:avLst/>
          </a:prstGeom>
          <a:noFill/>
        </p:spPr>
        <p:txBody>
          <a:bodyPr wrap="square" anchor="t" lIns="27432" rIns="27432" tIns="22860" bIns="22860">
            <a:spAutoFit/>
          </a:bodyPr>
          <a:lstStyle/>
          <a:p>
            <a:pPr algn="r"/>
            <a:r>
              <a:rPr sz="2000" b="0" i="0">
                <a:solidFill>
                  <a:srgbClr val="555960"/>
                </a:solidFill>
              </a:rPr>
              <a:t>control ↓</a:t>
            </a:r>
          </a:p>
        </p:txBody>
      </p:sp>
      <p:sp>
        <p:nvSpPr>
          <p:cNvPr id="912" name="Label"/>
          <p:cNvSpPr txBox="1"/>
          <p:nvPr/>
        </p:nvSpPr>
        <p:spPr>
          <a:xfrm>
            <a:off x="6400800" y="2377440"/>
            <a:ext cx="2103120" cy="731520"/>
          </a:xfrm>
          <a:prstGeom prst="rect">
            <a:avLst/>
          </a:prstGeom>
          <a:noFill/>
        </p:spPr>
        <p:txBody>
          <a:bodyPr wrap="square" anchor="t" lIns="27432" rIns="27432" tIns="22860" bIns="22860">
            <a:spAutoFit/>
          </a:bodyPr>
          <a:lstStyle/>
          <a:p>
            <a:pPr algn="l"/>
            <a:r>
              <a:rPr sz="2000" b="0" i="0">
                <a:solidFill>
                  <a:srgbClr val="555960"/>
                </a:solidFill>
              </a:rPr>
              <a:t>↑ feedback</a:t>
            </a:r>
          </a:p>
        </p:txBody>
      </p:sp>
      <p:sp>
        <p:nvSpPr>
          <p:cNvPr id="913" name="Label"/>
          <p:cNvSpPr txBox="1"/>
          <p:nvPr/>
        </p:nvSpPr>
        <p:spPr>
          <a:xfrm>
            <a:off x="548640" y="5303520"/>
            <a:ext cx="8046720" cy="457200"/>
          </a:xfrm>
          <a:prstGeom prst="rect">
            <a:avLst/>
          </a:prstGeom>
          <a:noFill/>
        </p:spPr>
        <p:txBody>
          <a:bodyPr wrap="square" anchor="t" lIns="27432" rIns="27432" tIns="22860" bIns="22860">
            <a:spAutoFit/>
          </a:bodyPr>
          <a:lstStyle/>
          <a:p>
            <a:pPr algn="ctr"/>
            <a:r>
              <a:rPr sz="2200" b="0" i="0">
                <a:solidFill>
                  <a:srgbClr val="5C4826"/>
                </a:solidFill>
              </a:rPr>
              <a:t>Now control and feedback across the system matter.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A broader model is not automatically a better model</a:t>
            </a:r>
          </a:p>
        </p:txBody>
      </p:sp>
      <p:sp>
        <p:nvSpPr>
          <p:cNvPr id="900" name="Slide Number Placeholder 900"/>
          <p:cNvSpPr>
            <a:spLocks noGrp="1"/>
          </p:cNvSpPr>
          <p:nvPr>
            <p:ph type="sldNum" sz="quarter" idx="4"/>
          </p:nvPr>
        </p:nvSpPr>
        <p:spPr/>
        <p:txBody>
          <a:bodyPr/>
          <a:lstStyle/>
          <a:p>
            <a:fld id="{A5E8DDF8-F0A4-457E-8C49-34448B87F78F}" type="slidenum">
              <a:rPr lang="en-US" smtClean="0"/>
              <a:t>18</a:t>
            </a:fld>
            <a:endParaRPr lang="en-US"/>
          </a:p>
        </p:txBody>
      </p:sp>
      <p:sp>
        <p:nvSpPr>
          <p:cNvPr id="901" name="Card"/>
          <p:cNvSpPr/>
          <p:nvPr/>
        </p:nvSpPr>
        <p:spPr>
          <a:xfrm>
            <a:off x="548640" y="2103120"/>
            <a:ext cx="182880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Human error</a:t>
            </a:r>
          </a:p>
        </p:txBody>
      </p:sp>
      <p:sp>
        <p:nvSpPr>
          <p:cNvPr id="902" name="Card"/>
          <p:cNvSpPr/>
          <p:nvPr/>
        </p:nvSpPr>
        <p:spPr>
          <a:xfrm>
            <a:off x="2624328" y="2103120"/>
            <a:ext cx="182880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Swiss cheese</a:t>
            </a:r>
          </a:p>
        </p:txBody>
      </p:sp>
      <p:sp>
        <p:nvSpPr>
          <p:cNvPr id="903" name="Card"/>
          <p:cNvSpPr/>
          <p:nvPr/>
        </p:nvSpPr>
        <p:spPr>
          <a:xfrm>
            <a:off x="4700016" y="2103120"/>
            <a:ext cx="182880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Organizational</a:t>
            </a:r>
          </a:p>
        </p:txBody>
      </p:sp>
      <p:sp>
        <p:nvSpPr>
          <p:cNvPr id="904" name="Card"/>
          <p:cNvSpPr/>
          <p:nvPr/>
        </p:nvSpPr>
        <p:spPr>
          <a:xfrm>
            <a:off x="6775704" y="2103120"/>
            <a:ext cx="182880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STAMP</a:t>
            </a:r>
          </a:p>
        </p:txBody>
      </p:sp>
      <p:cxnSp>
        <p:nvCxnSpPr>
          <p:cNvPr id="905" name="Connector 904"/>
          <p:cNvCxnSpPr/>
          <p:nvPr/>
        </p:nvCxnSpPr>
        <p:spPr>
          <a:xfrm>
            <a:off x="548640" y="4114800"/>
            <a:ext cx="800100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0" name="Label"/>
          <p:cNvSpPr txBox="1"/>
          <p:nvPr/>
        </p:nvSpPr>
        <p:spPr>
          <a:xfrm>
            <a:off x="457200" y="2971800"/>
            <a:ext cx="2011680" cy="548640"/>
          </a:xfrm>
          <a:prstGeom prst="rect">
            <a:avLst/>
          </a:prstGeom>
          <a:noFill/>
        </p:spPr>
        <p:txBody>
          <a:bodyPr wrap="square" anchor="t" lIns="27432" rIns="27432" tIns="22860" bIns="22860">
            <a:spAutoFit/>
          </a:bodyPr>
          <a:lstStyle/>
          <a:p>
            <a:pPr algn="ctr"/>
            <a:r>
              <a:rPr sz="2000" b="0" i="0">
                <a:solidFill>
                  <a:srgbClr val="555960"/>
                </a:solidFill>
              </a:rPr>
              <a:t>the individual act</a:t>
            </a:r>
          </a:p>
        </p:txBody>
      </p:sp>
      <p:sp>
        <p:nvSpPr>
          <p:cNvPr id="921" name="Label"/>
          <p:cNvSpPr txBox="1"/>
          <p:nvPr/>
        </p:nvSpPr>
        <p:spPr>
          <a:xfrm>
            <a:off x="2532888" y="2971800"/>
            <a:ext cx="2011680" cy="548640"/>
          </a:xfrm>
          <a:prstGeom prst="rect">
            <a:avLst/>
          </a:prstGeom>
          <a:noFill/>
        </p:spPr>
        <p:txBody>
          <a:bodyPr wrap="square" anchor="t" lIns="27432" rIns="27432" tIns="22860" bIns="22860">
            <a:spAutoFit/>
          </a:bodyPr>
          <a:lstStyle/>
          <a:p>
            <a:pPr algn="ctr"/>
            <a:r>
              <a:rPr sz="2000" b="0" i="0">
                <a:solidFill>
                  <a:srgbClr val="555960"/>
                </a:solidFill>
              </a:rPr>
              <a:t>the state of the defenses</a:t>
            </a:r>
          </a:p>
        </p:txBody>
      </p:sp>
      <p:sp>
        <p:nvSpPr>
          <p:cNvPr id="922" name="Label"/>
          <p:cNvSpPr txBox="1"/>
          <p:nvPr/>
        </p:nvSpPr>
        <p:spPr>
          <a:xfrm>
            <a:off x="4608576" y="2971800"/>
            <a:ext cx="2011680" cy="548640"/>
          </a:xfrm>
          <a:prstGeom prst="rect">
            <a:avLst/>
          </a:prstGeom>
          <a:noFill/>
        </p:spPr>
        <p:txBody>
          <a:bodyPr wrap="square" anchor="t" lIns="27432" rIns="27432" tIns="22860" bIns="22860">
            <a:spAutoFit/>
          </a:bodyPr>
          <a:lstStyle/>
          <a:p>
            <a:pPr algn="ctr"/>
            <a:r>
              <a:rPr sz="2000" b="0" i="0">
                <a:solidFill>
                  <a:srgbClr val="555960"/>
                </a:solidFill>
              </a:rPr>
              <a:t>the shaping conditions</a:t>
            </a:r>
          </a:p>
        </p:txBody>
      </p:sp>
      <p:sp>
        <p:nvSpPr>
          <p:cNvPr id="923" name="Label"/>
          <p:cNvSpPr txBox="1"/>
          <p:nvPr/>
        </p:nvSpPr>
        <p:spPr>
          <a:xfrm>
            <a:off x="6684264" y="2971800"/>
            <a:ext cx="2011680" cy="548640"/>
          </a:xfrm>
          <a:prstGeom prst="rect">
            <a:avLst/>
          </a:prstGeom>
          <a:noFill/>
        </p:spPr>
        <p:txBody>
          <a:bodyPr wrap="square" anchor="t" lIns="27432" rIns="27432" tIns="22860" bIns="22860">
            <a:spAutoFit/>
          </a:bodyPr>
          <a:lstStyle/>
          <a:p>
            <a:pPr algn="ctr"/>
            <a:r>
              <a:rPr sz="2000" b="0" i="0">
                <a:solidFill>
                  <a:srgbClr val="555960"/>
                </a:solidFill>
              </a:rPr>
              <a:t>control and feedback loops</a:t>
            </a:r>
          </a:p>
        </p:txBody>
      </p:sp>
      <p:sp>
        <p:nvSpPr>
          <p:cNvPr id="924" name="Label"/>
          <p:cNvSpPr txBox="1"/>
          <p:nvPr/>
        </p:nvSpPr>
        <p:spPr>
          <a:xfrm>
            <a:off x="548640" y="3749040"/>
            <a:ext cx="3474720" cy="320040"/>
          </a:xfrm>
          <a:prstGeom prst="rect">
            <a:avLst/>
          </a:prstGeom>
          <a:noFill/>
        </p:spPr>
        <p:txBody>
          <a:bodyPr wrap="square" anchor="t" lIns="27432" rIns="27432" tIns="22860" bIns="22860">
            <a:spAutoFit/>
          </a:bodyPr>
          <a:lstStyle/>
          <a:p>
            <a:pPr algn="l"/>
            <a:r>
              <a:rPr sz="2000" b="0" i="0">
                <a:solidFill>
                  <a:srgbClr val="555960"/>
                </a:solidFill>
              </a:rPr>
              <a:t>NARROWER CAUSAL BOUNDARY</a:t>
            </a:r>
          </a:p>
        </p:txBody>
      </p:sp>
      <p:sp>
        <p:nvSpPr>
          <p:cNvPr id="925" name="Label"/>
          <p:cNvSpPr txBox="1"/>
          <p:nvPr/>
        </p:nvSpPr>
        <p:spPr>
          <a:xfrm>
            <a:off x="6949440" y="3749040"/>
            <a:ext cx="1600200" cy="320040"/>
          </a:xfrm>
          <a:prstGeom prst="rect">
            <a:avLst/>
          </a:prstGeom>
          <a:noFill/>
        </p:spPr>
        <p:txBody>
          <a:bodyPr wrap="square" anchor="t" lIns="27432" rIns="27432" tIns="22860" bIns="22860">
            <a:spAutoFit/>
          </a:bodyPr>
          <a:lstStyle/>
          <a:p>
            <a:pPr algn="r"/>
            <a:r>
              <a:rPr sz="2000" b="0" i="0">
                <a:solidFill>
                  <a:srgbClr val="555960"/>
                </a:solidFill>
              </a:rPr>
              <a:t>BROADER</a:t>
            </a:r>
          </a:p>
        </p:txBody>
      </p:sp>
      <p:sp>
        <p:nvSpPr>
          <p:cNvPr id="926" name="Label"/>
          <p:cNvSpPr txBox="1"/>
          <p:nvPr/>
        </p:nvSpPr>
        <p:spPr>
          <a:xfrm>
            <a:off x="548640" y="4315968"/>
            <a:ext cx="8046720" cy="365760"/>
          </a:xfrm>
          <a:prstGeom prst="rect">
            <a:avLst/>
          </a:prstGeom>
          <a:noFill/>
        </p:spPr>
        <p:txBody>
          <a:bodyPr wrap="square" anchor="t" lIns="27432" rIns="27432" tIns="22860" bIns="22860">
            <a:spAutoFit/>
          </a:bodyPr>
          <a:lstStyle/>
          <a:p>
            <a:pPr algn="ctr"/>
            <a:r>
              <a:rPr sz="2000" b="1" i="0">
                <a:solidFill>
                  <a:srgbClr val="8E6F3E"/>
                </a:solidFill>
              </a:rPr>
              <a:t>more structure represented</a:t>
            </a:r>
          </a:p>
        </p:txBody>
      </p:sp>
      <p:sp>
        <p:nvSpPr>
          <p:cNvPr id="927" name="Label"/>
          <p:cNvSpPr txBox="1"/>
          <p:nvPr/>
        </p:nvSpPr>
        <p:spPr>
          <a:xfrm>
            <a:off x="822960" y="4892040"/>
            <a:ext cx="7498080" cy="822960"/>
          </a:xfrm>
          <a:prstGeom prst="rect">
            <a:avLst/>
          </a:prstGeom>
          <a:noFill/>
        </p:spPr>
        <p:txBody>
          <a:bodyPr wrap="square" anchor="t" lIns="27432" rIns="27432" tIns="22860" bIns="22860">
            <a:spAutoFit/>
          </a:bodyPr>
          <a:lstStyle/>
          <a:p>
            <a:pPr algn="ctr"/>
            <a:r>
              <a:rPr sz="2000" b="0" i="0">
                <a:solidFill>
                  <a:srgbClr val="5C4826"/>
                </a:solidFill>
              </a:rPr>
              <a:t>Broader models expose more relationships.</a:t>
            </a:r>
          </a:p>
          <a:p>
            <a:pPr algn="ctr"/>
            <a:r>
              <a:rPr sz="2000" b="0" i="0">
                <a:solidFill>
                  <a:srgbClr val="5C4826"/>
                </a:solidFill>
              </a:rPr>
              <a:t>They also demand more evidence and more authority to act.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Match causal breadth to the decision</a:t>
            </a:r>
          </a:p>
        </p:txBody>
      </p:sp>
      <p:sp>
        <p:nvSpPr>
          <p:cNvPr id="900" name="Slide Number Placeholder 900"/>
          <p:cNvSpPr>
            <a:spLocks noGrp="1"/>
          </p:cNvSpPr>
          <p:nvPr>
            <p:ph type="sldNum" sz="quarter" idx="4"/>
          </p:nvPr>
        </p:nvSpPr>
        <p:spPr/>
        <p:txBody>
          <a:bodyPr/>
          <a:lstStyle/>
          <a:p>
            <a:fld id="{A2504DDB-3E3B-4B22-928E-39EF9EC13EA2}" type="slidenum">
              <a:rPr lang="en-US" smtClean="0"/>
              <a:t>19</a:t>
            </a:fld>
            <a:endParaRPr lang="en-US"/>
          </a:p>
        </p:txBody>
      </p:sp>
      <p:graphicFrame>
        <p:nvGraphicFramePr>
          <p:cNvPr id="901" name="Table 900"/>
          <p:cNvGraphicFramePr>
            <a:graphicFrameLocks noGrp="1"/>
          </p:cNvGraphicFramePr>
          <p:nvPr/>
        </p:nvGraphicFramePr>
        <p:xfrm>
          <a:off x="731520" y="1280160"/>
          <a:ext cx="7680960" cy="3291840"/>
        </p:xfrm>
        <a:graphic>
          <a:graphicData uri="http://schemas.openxmlformats.org/drawingml/2006/table">
            <a:tbl>
              <a:tblPr firstRow="1" bandRow="1">
                <a:tableStyleId>{5C22544A-7EE6-4342-B048-85BDC9FD1C3A}</a:tableStyleId>
              </a:tblPr>
              <a:tblGrid>
                <a:gridCol w="2651760"/>
                <a:gridCol w="5029200"/>
              </a:tblGrid>
              <a:tr h="658368">
                <a:tc>
                  <a:txBody>
                    <a:bodyPr/>
                    <a:lstStyle/>
                    <a:p>
                      <a:pPr algn="l"/>
                      <a:r>
                        <a:rPr sz="2000" b="1" i="0">
                          <a:solidFill>
                            <a:srgbClr val="FFFFFF"/>
                          </a:solidFill>
                        </a:rPr>
                        <a:t>CAUSAL MODEL</a:t>
                      </a:r>
                    </a:p>
                  </a:txBody>
                  <a:tcPr anchor="ctr" marL="54864">
                    <a:solidFill>
                      <a:srgbClr val="8E6F3E"/>
                    </a:solidFill>
                  </a:tcPr>
                </a:tc>
                <a:tc>
                  <a:txBody>
                    <a:bodyPr/>
                    <a:lstStyle/>
                    <a:p>
                      <a:pPr algn="l"/>
                      <a:r>
                        <a:rPr sz="2000" b="1" i="0">
                          <a:solidFill>
                            <a:srgbClr val="FFFFFF"/>
                          </a:solidFill>
                        </a:rPr>
                        <a:t>THE LEVER IT HANDS YOU</a:t>
                      </a:r>
                    </a:p>
                  </a:txBody>
                  <a:tcPr anchor="ctr" marL="54864">
                    <a:solidFill>
                      <a:srgbClr val="8E6F3E"/>
                    </a:solidFill>
                  </a:tcPr>
                </a:tc>
              </a:tr>
              <a:tr h="658368">
                <a:tc>
                  <a:txBody>
                    <a:bodyPr/>
                    <a:lstStyle/>
                    <a:p>
                      <a:pPr algn="l"/>
                      <a:r>
                        <a:rPr sz="2000" b="1" i="0">
                          <a:solidFill>
                            <a:srgbClr val="5C4826"/>
                          </a:solidFill>
                        </a:rPr>
                        <a:t>Human error</a:t>
                      </a:r>
                    </a:p>
                  </a:txBody>
                  <a:tcPr anchor="ctr" marL="54864">
                    <a:solidFill>
                      <a:srgbClr val="F5F1E8"/>
                    </a:solidFill>
                  </a:tcPr>
                </a:tc>
                <a:tc>
                  <a:txBody>
                    <a:bodyPr/>
                    <a:lstStyle/>
                    <a:p>
                      <a:pPr algn="l"/>
                      <a:r>
                        <a:rPr sz="2000" b="0" i="0">
                          <a:solidFill>
                            <a:srgbClr val="5C4826"/>
                          </a:solidFill>
                        </a:rPr>
                        <a:t>an individual's behavior</a:t>
                      </a:r>
                    </a:p>
                  </a:txBody>
                  <a:tcPr anchor="ctr" marL="54864">
                    <a:solidFill>
                      <a:srgbClr val="F5F1E8"/>
                    </a:solidFill>
                  </a:tcPr>
                </a:tc>
              </a:tr>
              <a:tr h="658368">
                <a:tc>
                  <a:txBody>
                    <a:bodyPr/>
                    <a:lstStyle/>
                    <a:p>
                      <a:pPr algn="l"/>
                      <a:r>
                        <a:rPr sz="2000" b="1" i="0">
                          <a:solidFill>
                            <a:srgbClr val="5C4826"/>
                          </a:solidFill>
                        </a:rPr>
                        <a:t>Swiss cheese</a:t>
                      </a:r>
                    </a:p>
                  </a:txBody>
                  <a:tcPr anchor="ctr" marL="54864">
                    <a:solidFill>
                      <a:srgbClr val="FBF8F2"/>
                    </a:solidFill>
                  </a:tcPr>
                </a:tc>
                <a:tc>
                  <a:txBody>
                    <a:bodyPr/>
                    <a:lstStyle/>
                    <a:p>
                      <a:pPr algn="l"/>
                      <a:r>
                        <a:rPr sz="2000" b="0" i="0">
                          <a:solidFill>
                            <a:srgbClr val="5C4826"/>
                          </a:solidFill>
                        </a:rPr>
                        <a:t>the set of defenses</a:t>
                      </a:r>
                    </a:p>
                  </a:txBody>
                  <a:tcPr anchor="ctr" marL="54864">
                    <a:solidFill>
                      <a:srgbClr val="FBF8F2"/>
                    </a:solidFill>
                  </a:tcPr>
                </a:tc>
              </a:tr>
              <a:tr h="658368">
                <a:tc>
                  <a:txBody>
                    <a:bodyPr/>
                    <a:lstStyle/>
                    <a:p>
                      <a:pPr algn="l"/>
                      <a:r>
                        <a:rPr sz="2000" b="1" i="0">
                          <a:solidFill>
                            <a:srgbClr val="5C4826"/>
                          </a:solidFill>
                        </a:rPr>
                        <a:t>Organizational</a:t>
                      </a:r>
                    </a:p>
                  </a:txBody>
                  <a:tcPr anchor="ctr" marL="54864">
                    <a:solidFill>
                      <a:srgbClr val="F5F1E8"/>
                    </a:solidFill>
                  </a:tcPr>
                </a:tc>
                <a:tc>
                  <a:txBody>
                    <a:bodyPr/>
                    <a:lstStyle/>
                    <a:p>
                      <a:pPr algn="l"/>
                      <a:r>
                        <a:rPr sz="2000" b="0" i="0">
                          <a:solidFill>
                            <a:srgbClr val="5C4826"/>
                          </a:solidFill>
                        </a:rPr>
                        <a:t>the conditions that shape behavior</a:t>
                      </a:r>
                    </a:p>
                  </a:txBody>
                  <a:tcPr anchor="ctr" marL="54864">
                    <a:solidFill>
                      <a:srgbClr val="F5F1E8"/>
                    </a:solidFill>
                  </a:tcPr>
                </a:tc>
              </a:tr>
              <a:tr h="658368">
                <a:tc>
                  <a:txBody>
                    <a:bodyPr/>
                    <a:lstStyle/>
                    <a:p>
                      <a:pPr algn="l"/>
                      <a:r>
                        <a:rPr sz="2000" b="1" i="0">
                          <a:solidFill>
                            <a:srgbClr val="5C4826"/>
                          </a:solidFill>
                        </a:rPr>
                        <a:t>STAMP</a:t>
                      </a:r>
                    </a:p>
                  </a:txBody>
                  <a:tcPr anchor="ctr" marL="54864">
                    <a:solidFill>
                      <a:srgbClr val="FBF8F2"/>
                    </a:solidFill>
                  </a:tcPr>
                </a:tc>
                <a:tc>
                  <a:txBody>
                    <a:bodyPr/>
                    <a:lstStyle/>
                    <a:p>
                      <a:pPr algn="l"/>
                      <a:r>
                        <a:rPr sz="2000" b="0" i="0">
                          <a:solidFill>
                            <a:srgbClr val="5C4826"/>
                          </a:solidFill>
                        </a:rPr>
                        <a:t>the whole control structure</a:t>
                      </a:r>
                    </a:p>
                  </a:txBody>
                  <a:tcPr anchor="ctr" marL="54864">
                    <a:solidFill>
                      <a:srgbClr val="FBF8F2"/>
                    </a:solidFill>
                  </a:tcPr>
                </a:tc>
              </a:tr>
            </a:tbl>
          </a:graphicData>
        </a:graphic>
      </p:graphicFrame>
      <p:sp>
        <p:nvSpPr>
          <p:cNvPr id="902"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Model far enough to reach the decisions that can change the outcome.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85800" y="1700784"/>
            <a:ext cx="7772400" cy="1005840"/>
          </a:xfrm>
        </p:spPr>
        <p:txBody>
          <a:bodyPr/>
          <a:lstStyle/>
          <a:p>
            <a:pPr algn="ctr"/>
            <a:r>
              <a:rPr sz="4000" b="0" i="0">
                <a:solidFill>
                  <a:srgbClr val="000000"/>
                </a:solidFill>
              </a:rPr>
              <a:t>Diagnose the failure</a:t>
            </a:r>
          </a:p>
        </p:txBody>
      </p:sp>
      <p:sp>
        <p:nvSpPr>
          <p:cNvPr id="900" name="Slide Number Placeholder 900"/>
          <p:cNvSpPr>
            <a:spLocks noGrp="1"/>
          </p:cNvSpPr>
          <p:nvPr>
            <p:ph type="sldNum" sz="quarter" idx="4"/>
          </p:nvPr>
        </p:nvSpPr>
        <p:spPr/>
        <p:txBody>
          <a:bodyPr/>
          <a:lstStyle/>
          <a:p>
            <a:fld id="{D6607EED-2C17-4005-9FF9-5E7D14817CFB}" type="slidenum">
              <a:rPr lang="en-US" smtClean="0"/>
              <a:t>20</a:t>
            </a:fld>
            <a:endParaRPr lang="en-US"/>
          </a:p>
        </p:txBody>
      </p:sp>
      <p:sp>
        <p:nvSpPr>
          <p:cNvPr id="901" name="SectionLabel"/>
          <p:cNvSpPr txBox="1"/>
          <p:nvPr/>
        </p:nvSpPr>
        <p:spPr>
          <a:xfrm>
            <a:off x="685800" y="1243584"/>
            <a:ext cx="7772400" cy="365760"/>
          </a:xfrm>
          <a:prstGeom prst="rect">
            <a:avLst/>
          </a:prstGeom>
          <a:noFill/>
        </p:spPr>
        <p:txBody>
          <a:bodyPr wrap="square" anchor="ctr" lIns="27432" rIns="27432" tIns="22860" bIns="22860">
            <a:spAutoFit/>
          </a:bodyPr>
          <a:lstStyle/>
          <a:p>
            <a:pPr algn="ctr"/>
            <a:r>
              <a:rPr sz="2000" b="1" i="0">
                <a:solidFill>
                  <a:srgbClr val="8E6F3E"/>
                </a:solidFill>
              </a:rPr>
              <a:t>SECTION 2</a:t>
            </a:r>
          </a:p>
        </p:txBody>
      </p:sp>
      <p:sp>
        <p:nvSpPr>
          <p:cNvPr id="902" name="Question"/>
          <p:cNvSpPr txBox="1"/>
          <p:nvPr/>
        </p:nvSpPr>
        <p:spPr>
          <a:xfrm>
            <a:off x="685800" y="2816352"/>
            <a:ext cx="7772400" cy="475488"/>
          </a:xfrm>
          <a:prstGeom prst="rect">
            <a:avLst/>
          </a:prstGeom>
          <a:noFill/>
        </p:spPr>
        <p:txBody>
          <a:bodyPr wrap="square" anchor="ctr" lIns="27432" rIns="27432" tIns="22860" bIns="22860">
            <a:spAutoFit/>
          </a:bodyPr>
          <a:lstStyle/>
          <a:p>
            <a:pPr algn="ctr"/>
            <a:r>
              <a:rPr sz="2400" b="0" i="0">
                <a:solidFill>
                  <a:srgbClr val="5C4826"/>
                </a:solidFill>
              </a:rPr>
              <a:t>What failed, and why didn't we know?</a:t>
            </a:r>
          </a:p>
        </p:txBody>
      </p:sp>
      <p:sp>
        <p:nvSpPr>
          <p:cNvPr id="903" name="Rule"/>
          <p:cNvSpPr/>
          <p:nvPr/>
        </p:nvSpPr>
        <p:spPr>
          <a:xfrm>
            <a:off x="3429000" y="3602736"/>
            <a:ext cx="2286000" cy="5120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What failed?</a:t>
            </a:r>
          </a:p>
        </p:txBody>
      </p:sp>
      <p:sp>
        <p:nvSpPr>
          <p:cNvPr id="900" name="Slide Number Placeholder 900"/>
          <p:cNvSpPr>
            <a:spLocks noGrp="1"/>
          </p:cNvSpPr>
          <p:nvPr>
            <p:ph type="sldNum" sz="quarter" idx="4"/>
          </p:nvPr>
        </p:nvSpPr>
        <p:spPr/>
        <p:txBody>
          <a:bodyPr/>
          <a:lstStyle/>
          <a:p>
            <a:fld id="{CB54B3D1-5BA3-40A8-8017-74A0DF3C7182}" type="slidenum">
              <a:rPr lang="en-US" smtClean="0"/>
              <a:t>21</a:t>
            </a:fld>
            <a:endParaRPr lang="en-US"/>
          </a:p>
        </p:txBody>
      </p:sp>
      <p:sp>
        <p:nvSpPr>
          <p:cNvPr id="901" name="Block"/>
          <p:cNvSpPr/>
          <p:nvPr/>
        </p:nvSpPr>
        <p:spPr>
          <a:xfrm>
            <a:off x="731520" y="1188720"/>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REQUIREMENTS</a:t>
            </a:r>
          </a:p>
        </p:txBody>
      </p:sp>
      <p:cxnSp>
        <p:nvCxnSpPr>
          <p:cNvPr id="902" name="Connector 901"/>
          <p:cNvCxnSpPr/>
          <p:nvPr/>
        </p:nvCxnSpPr>
        <p:spPr>
          <a:xfrm>
            <a:off x="2194560" y="1755648"/>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Block"/>
          <p:cNvSpPr/>
          <p:nvPr/>
        </p:nvSpPr>
        <p:spPr>
          <a:xfrm>
            <a:off x="731520" y="2029968"/>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SPECIFICATION</a:t>
            </a:r>
          </a:p>
        </p:txBody>
      </p:sp>
      <p:cxnSp>
        <p:nvCxnSpPr>
          <p:cNvPr id="904" name="Connector 903"/>
          <p:cNvCxnSpPr/>
          <p:nvPr/>
        </p:nvCxnSpPr>
        <p:spPr>
          <a:xfrm>
            <a:off x="2194560" y="2596896"/>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Block"/>
          <p:cNvSpPr/>
          <p:nvPr/>
        </p:nvSpPr>
        <p:spPr>
          <a:xfrm>
            <a:off x="731520" y="2871216"/>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ARCHITECTURE</a:t>
            </a:r>
          </a:p>
        </p:txBody>
      </p:sp>
      <p:cxnSp>
        <p:nvCxnSpPr>
          <p:cNvPr id="906" name="Connector 905"/>
          <p:cNvCxnSpPr/>
          <p:nvPr/>
        </p:nvCxnSpPr>
        <p:spPr>
          <a:xfrm>
            <a:off x="2194560" y="3438144"/>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Block"/>
          <p:cNvSpPr/>
          <p:nvPr/>
        </p:nvSpPr>
        <p:spPr>
          <a:xfrm>
            <a:off x="731520" y="3712464"/>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DESIGN</a:t>
            </a:r>
          </a:p>
        </p:txBody>
      </p:sp>
      <p:cxnSp>
        <p:nvCxnSpPr>
          <p:cNvPr id="908" name="Connector 907"/>
          <p:cNvCxnSpPr/>
          <p:nvPr/>
        </p:nvCxnSpPr>
        <p:spPr>
          <a:xfrm>
            <a:off x="2194560" y="4279392"/>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9" name="Block"/>
          <p:cNvSpPr/>
          <p:nvPr/>
        </p:nvSpPr>
        <p:spPr>
          <a:xfrm>
            <a:off x="731520" y="4553712"/>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IMPLEMENTATION</a:t>
            </a:r>
          </a:p>
        </p:txBody>
      </p:sp>
      <p:sp>
        <p:nvSpPr>
          <p:cNvPr id="910" name="Side"/>
          <p:cNvSpPr txBox="1"/>
          <p:nvPr/>
        </p:nvSpPr>
        <p:spPr>
          <a:xfrm>
            <a:off x="4206240" y="1645920"/>
            <a:ext cx="4480560" cy="2926080"/>
          </a:xfrm>
          <a:prstGeom prst="rect">
            <a:avLst/>
          </a:prstGeom>
          <a:noFill/>
        </p:spPr>
        <p:txBody>
          <a:bodyPr wrap="square" anchor="t" lIns="27432" rIns="27432" tIns="22860" bIns="22860">
            <a:spAutoFit/>
          </a:bodyPr>
          <a:lstStyle/>
          <a:p>
            <a:pPr algn="l"/>
            <a:r>
              <a:rPr sz="2000" b="1" i="0">
                <a:solidFill>
                  <a:srgbClr val="5C4826"/>
                </a:solidFill>
              </a:rPr>
              <a:t>A failure is observed in the realization.</a:t>
            </a:r>
          </a:p>
          <a:p>
            <a:pPr algn="l">
              <a:spcBef>
                <a:spcPts val="1200"/>
              </a:spcBef>
            </a:pPr>
            <a:r>
              <a:rPr sz="2000" b="0" i="0">
                <a:solidFill>
                  <a:srgbClr val="555960"/>
                </a:solidFill>
              </a:rPr>
              <a:t>Diagnosis traces it back to the decision — or decisions — that produced 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One incident can implicate several decisions</a:t>
            </a:r>
          </a:p>
        </p:txBody>
      </p:sp>
      <p:sp>
        <p:nvSpPr>
          <p:cNvPr id="900" name="Slide Number Placeholder 900"/>
          <p:cNvSpPr>
            <a:spLocks noGrp="1"/>
          </p:cNvSpPr>
          <p:nvPr>
            <p:ph type="sldNum" sz="quarter" idx="4"/>
          </p:nvPr>
        </p:nvSpPr>
        <p:spPr/>
        <p:txBody>
          <a:bodyPr/>
          <a:lstStyle/>
          <a:p>
            <a:fld id="{3DC31DEB-C161-48EB-8EC4-D4D18487B0EB}" type="slidenum">
              <a:rPr lang="en-US" smtClean="0"/>
              <a:t>22</a:t>
            </a:fld>
            <a:endParaRPr lang="en-US"/>
          </a:p>
        </p:txBody>
      </p:sp>
      <p:sp>
        <p:nvSpPr>
          <p:cNvPr id="901" name="Block"/>
          <p:cNvSpPr/>
          <p:nvPr/>
        </p:nvSpPr>
        <p:spPr>
          <a:xfrm>
            <a:off x="640080" y="2743200"/>
            <a:ext cx="2377440" cy="822960"/>
          </a:xfrm>
          <a:prstGeom prst="rect">
            <a:avLst/>
          </a:prstGeom>
          <a:solidFill>
            <a:srgbClr val="9A3F1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200" b="1" i="0">
                <a:solidFill>
                  <a:srgbClr val="FFFFFF"/>
                </a:solidFill>
              </a:rPr>
              <a:t>ONE INCIDENT</a:t>
            </a:r>
          </a:p>
        </p:txBody>
      </p:sp>
      <p:sp>
        <p:nvSpPr>
          <p:cNvPr id="902" name="Card"/>
          <p:cNvSpPr/>
          <p:nvPr/>
        </p:nvSpPr>
        <p:spPr>
          <a:xfrm>
            <a:off x="5760720" y="1188720"/>
            <a:ext cx="274320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requirements</a:t>
            </a:r>
          </a:p>
        </p:txBody>
      </p:sp>
      <p:cxnSp>
        <p:nvCxnSpPr>
          <p:cNvPr id="903" name="Connector 902"/>
          <p:cNvCxnSpPr/>
          <p:nvPr/>
        </p:nvCxnSpPr>
        <p:spPr>
          <a:xfrm flipV="1">
            <a:off x="3017520" y="1472184"/>
            <a:ext cx="2743200" cy="1682496"/>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4" name="Card"/>
          <p:cNvSpPr/>
          <p:nvPr/>
        </p:nvSpPr>
        <p:spPr>
          <a:xfrm>
            <a:off x="5760720" y="2066543"/>
            <a:ext cx="274320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specification</a:t>
            </a:r>
          </a:p>
        </p:txBody>
      </p:sp>
      <p:cxnSp>
        <p:nvCxnSpPr>
          <p:cNvPr id="905" name="Connector 904"/>
          <p:cNvCxnSpPr/>
          <p:nvPr/>
        </p:nvCxnSpPr>
        <p:spPr>
          <a:xfrm flipV="1">
            <a:off x="3017520" y="2350008"/>
            <a:ext cx="2743200" cy="80467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6" name="Card"/>
          <p:cNvSpPr/>
          <p:nvPr/>
        </p:nvSpPr>
        <p:spPr>
          <a:xfrm>
            <a:off x="5760720" y="2944368"/>
            <a:ext cx="274320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architecture</a:t>
            </a:r>
          </a:p>
        </p:txBody>
      </p:sp>
      <p:cxnSp>
        <p:nvCxnSpPr>
          <p:cNvPr id="907" name="Connector 906"/>
          <p:cNvCxnSpPr/>
          <p:nvPr/>
        </p:nvCxnSpPr>
        <p:spPr>
          <a:xfrm>
            <a:off x="3017520" y="3154680"/>
            <a:ext cx="2743200" cy="7315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8" name="Card"/>
          <p:cNvSpPr/>
          <p:nvPr/>
        </p:nvSpPr>
        <p:spPr>
          <a:xfrm>
            <a:off x="5760720" y="3822191"/>
            <a:ext cx="274320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design</a:t>
            </a:r>
          </a:p>
        </p:txBody>
      </p:sp>
      <p:cxnSp>
        <p:nvCxnSpPr>
          <p:cNvPr id="909" name="Connector 908"/>
          <p:cNvCxnSpPr/>
          <p:nvPr/>
        </p:nvCxnSpPr>
        <p:spPr>
          <a:xfrm>
            <a:off x="3017520" y="3154680"/>
            <a:ext cx="2743200" cy="950975"/>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0" name="Card"/>
          <p:cNvSpPr/>
          <p:nvPr/>
        </p:nvSpPr>
        <p:spPr>
          <a:xfrm>
            <a:off x="5760720" y="4700016"/>
            <a:ext cx="274320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implementation</a:t>
            </a:r>
          </a:p>
        </p:txBody>
      </p:sp>
      <p:cxnSp>
        <p:nvCxnSpPr>
          <p:cNvPr id="911" name="Connector 910"/>
          <p:cNvCxnSpPr/>
          <p:nvPr/>
        </p:nvCxnSpPr>
        <p:spPr>
          <a:xfrm>
            <a:off x="3017520" y="3154680"/>
            <a:ext cx="2743200" cy="1828799"/>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Why didn't we know?</a:t>
            </a:r>
          </a:p>
        </p:txBody>
      </p:sp>
      <p:sp>
        <p:nvSpPr>
          <p:cNvPr id="900" name="Slide Number Placeholder 900"/>
          <p:cNvSpPr>
            <a:spLocks noGrp="1"/>
          </p:cNvSpPr>
          <p:nvPr>
            <p:ph type="sldNum" sz="quarter" idx="4"/>
          </p:nvPr>
        </p:nvSpPr>
        <p:spPr/>
        <p:txBody>
          <a:bodyPr/>
          <a:lstStyle/>
          <a:p>
            <a:fld id="{BBD7B01D-2451-459F-B1A1-0BB2DA8CD569}" type="slidenum">
              <a:rPr lang="en-US" smtClean="0"/>
              <a:t>23</a:t>
            </a:fld>
            <a:endParaRPr lang="en-US"/>
          </a:p>
        </p:txBody>
      </p:sp>
      <p:sp>
        <p:nvSpPr>
          <p:cNvPr id="901" name="Card"/>
          <p:cNvSpPr/>
          <p:nvPr/>
        </p:nvSpPr>
        <p:spPr>
          <a:xfrm>
            <a:off x="914400" y="1280160"/>
            <a:ext cx="7315200" cy="3931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Candidate answers</a:t>
            </a:r>
          </a:p>
          <a:p>
            <a:pPr algn="ctr">
              <a:spcBef>
                <a:spcPts val="1000"/>
              </a:spcBef>
            </a:pPr>
            <a:r>
              <a:rPr sz="2000" b="0" i="1">
                <a:solidFill>
                  <a:srgbClr val="555960"/>
                </a:solidFill>
              </a:rPr>
              <a:t>(collected live)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Run Validation backward</a:t>
            </a:r>
          </a:p>
        </p:txBody>
      </p:sp>
      <p:sp>
        <p:nvSpPr>
          <p:cNvPr id="900" name="Slide Number Placeholder 900"/>
          <p:cNvSpPr>
            <a:spLocks noGrp="1"/>
          </p:cNvSpPr>
          <p:nvPr>
            <p:ph type="sldNum" sz="quarter" idx="4"/>
          </p:nvPr>
        </p:nvSpPr>
        <p:spPr/>
        <p:txBody>
          <a:bodyPr/>
          <a:lstStyle/>
          <a:p>
            <a:fld id="{B27BF211-A452-4B62-B65D-7ABF1FF8B2F5}" type="slidenum">
              <a:rPr lang="en-US" smtClean="0"/>
              <a:t>24</a:t>
            </a:fld>
            <a:endParaRPr lang="en-US"/>
          </a:p>
        </p:txBody>
      </p:sp>
      <p:sp>
        <p:nvSpPr>
          <p:cNvPr id="901" name="Block"/>
          <p:cNvSpPr/>
          <p:nvPr/>
        </p:nvSpPr>
        <p:spPr>
          <a:xfrm>
            <a:off x="731520" y="1143000"/>
            <a:ext cx="274320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CLAIM</a:t>
            </a:r>
          </a:p>
        </p:txBody>
      </p:sp>
      <p:cxnSp>
        <p:nvCxnSpPr>
          <p:cNvPr id="902" name="Connector 901"/>
          <p:cNvCxnSpPr/>
          <p:nvPr/>
        </p:nvCxnSpPr>
        <p:spPr>
          <a:xfrm>
            <a:off x="2103120" y="1645920"/>
            <a:ext cx="0" cy="25603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Block"/>
          <p:cNvSpPr/>
          <p:nvPr/>
        </p:nvSpPr>
        <p:spPr>
          <a:xfrm>
            <a:off x="731520" y="1901952"/>
            <a:ext cx="274320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SCOPE</a:t>
            </a:r>
          </a:p>
        </p:txBody>
      </p:sp>
      <p:cxnSp>
        <p:nvCxnSpPr>
          <p:cNvPr id="904" name="Connector 903"/>
          <p:cNvCxnSpPr/>
          <p:nvPr/>
        </p:nvCxnSpPr>
        <p:spPr>
          <a:xfrm>
            <a:off x="2103120" y="2404872"/>
            <a:ext cx="0" cy="25603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Block"/>
          <p:cNvSpPr/>
          <p:nvPr/>
        </p:nvSpPr>
        <p:spPr>
          <a:xfrm>
            <a:off x="731520" y="2660904"/>
            <a:ext cx="274320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MECHANISM</a:t>
            </a:r>
          </a:p>
        </p:txBody>
      </p:sp>
      <p:cxnSp>
        <p:nvCxnSpPr>
          <p:cNvPr id="906" name="Connector 905"/>
          <p:cNvCxnSpPr/>
          <p:nvPr/>
        </p:nvCxnSpPr>
        <p:spPr>
          <a:xfrm>
            <a:off x="2103120" y="3163824"/>
            <a:ext cx="0" cy="25603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Block"/>
          <p:cNvSpPr/>
          <p:nvPr/>
        </p:nvSpPr>
        <p:spPr>
          <a:xfrm>
            <a:off x="731520" y="3419856"/>
            <a:ext cx="274320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STRATEGY</a:t>
            </a:r>
          </a:p>
        </p:txBody>
      </p:sp>
      <p:cxnSp>
        <p:nvCxnSpPr>
          <p:cNvPr id="908" name="Connector 907"/>
          <p:cNvCxnSpPr/>
          <p:nvPr/>
        </p:nvCxnSpPr>
        <p:spPr>
          <a:xfrm>
            <a:off x="2103120" y="3922776"/>
            <a:ext cx="0" cy="25603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9" name="Block"/>
          <p:cNvSpPr/>
          <p:nvPr/>
        </p:nvSpPr>
        <p:spPr>
          <a:xfrm>
            <a:off x="731520" y="4178808"/>
            <a:ext cx="274320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EVIDENCE</a:t>
            </a:r>
          </a:p>
        </p:txBody>
      </p:sp>
      <p:cxnSp>
        <p:nvCxnSpPr>
          <p:cNvPr id="910" name="Connector 909"/>
          <p:cNvCxnSpPr/>
          <p:nvPr/>
        </p:nvCxnSpPr>
        <p:spPr>
          <a:xfrm>
            <a:off x="2103120" y="4681728"/>
            <a:ext cx="0" cy="25603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1" name="Block"/>
          <p:cNvSpPr/>
          <p:nvPr/>
        </p:nvSpPr>
        <p:spPr>
          <a:xfrm>
            <a:off x="731520" y="4937760"/>
            <a:ext cx="274320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JUDGMENT</a:t>
            </a:r>
          </a:p>
        </p:txBody>
      </p:sp>
      <p:cxnSp>
        <p:nvCxnSpPr>
          <p:cNvPr id="912" name="Connector 911"/>
          <p:cNvCxnSpPr/>
          <p:nvPr/>
        </p:nvCxnSpPr>
        <p:spPr>
          <a:xfrm flipV="1">
            <a:off x="3931920" y="1371600"/>
            <a:ext cx="0" cy="3337560"/>
          </a:xfrm>
          <a:prstGeom prst="line">
            <a:avLst/>
          </a:prstGeom>
          <a:ln w="28575">
            <a:solidFill>
              <a:srgbClr val="9A3F12"/>
            </a:solidFill>
            <a:tailEnd type="triangle"/>
          </a:ln>
        </p:spPr>
        <p:style>
          <a:lnRef idx="2">
            <a:schemeClr val="accent1"/>
          </a:lnRef>
          <a:fillRef idx="0">
            <a:schemeClr val="accent1"/>
          </a:fillRef>
          <a:effectRef idx="1">
            <a:schemeClr val="accent1"/>
          </a:effectRef>
          <a:fontRef idx="minor">
            <a:schemeClr val="tx1"/>
          </a:fontRef>
        </p:style>
      </p:cxnSp>
      <p:sp>
        <p:nvSpPr>
          <p:cNvPr id="913" name="Label"/>
          <p:cNvSpPr txBox="1"/>
          <p:nvPr/>
        </p:nvSpPr>
        <p:spPr>
          <a:xfrm>
            <a:off x="3017520" y="4892040"/>
            <a:ext cx="2194560" cy="365760"/>
          </a:xfrm>
          <a:prstGeom prst="rect">
            <a:avLst/>
          </a:prstGeom>
          <a:noFill/>
        </p:spPr>
        <p:txBody>
          <a:bodyPr wrap="square" anchor="t" lIns="27432" rIns="27432" tIns="22860" bIns="22860">
            <a:spAutoFit/>
          </a:bodyPr>
          <a:lstStyle/>
          <a:p>
            <a:pPr algn="ctr"/>
            <a:r>
              <a:rPr sz="2000" b="1" i="0">
                <a:solidFill>
                  <a:srgbClr val="9A3F12"/>
                </a:solidFill>
              </a:rPr>
              <a:t>run it backward</a:t>
            </a:r>
          </a:p>
        </p:txBody>
      </p:sp>
      <p:sp>
        <p:nvSpPr>
          <p:cNvPr id="914" name="Side"/>
          <p:cNvSpPr txBox="1"/>
          <p:nvPr/>
        </p:nvSpPr>
        <p:spPr>
          <a:xfrm>
            <a:off x="5486400" y="1645920"/>
            <a:ext cx="3108960" cy="2926080"/>
          </a:xfrm>
          <a:prstGeom prst="rect">
            <a:avLst/>
          </a:prstGeom>
          <a:noFill/>
        </p:spPr>
        <p:txBody>
          <a:bodyPr wrap="square" anchor="t" lIns="27432" rIns="27432" tIns="22860" bIns="22860">
            <a:spAutoFit/>
          </a:bodyPr>
          <a:lstStyle/>
          <a:p>
            <a:pPr algn="l"/>
            <a:r>
              <a:rPr sz="2000" b="1" i="0">
                <a:solidFill>
                  <a:srgbClr val="5C4826"/>
                </a:solidFill>
              </a:rPr>
              <a:t>Start from the judgment that admitted the failure.</a:t>
            </a:r>
          </a:p>
          <a:p>
            <a:pPr algn="l">
              <a:spcBef>
                <a:spcPts val="1200"/>
              </a:spcBef>
            </a:pPr>
            <a:r>
              <a:rPr sz="2000" b="0" i="0">
                <a:solidFill>
                  <a:srgbClr val="555960"/>
                </a:solidFill>
              </a:rPr>
              <a:t>Walk back to the claim it rested 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Failure does not prove bad validation</a:t>
            </a:r>
          </a:p>
        </p:txBody>
      </p:sp>
      <p:sp>
        <p:nvSpPr>
          <p:cNvPr id="900" name="Slide Number Placeholder 900"/>
          <p:cNvSpPr>
            <a:spLocks noGrp="1"/>
          </p:cNvSpPr>
          <p:nvPr>
            <p:ph type="sldNum" sz="quarter" idx="4"/>
          </p:nvPr>
        </p:nvSpPr>
        <p:spPr/>
        <p:txBody>
          <a:bodyPr/>
          <a:lstStyle/>
          <a:p>
            <a:fld id="{6DD32251-42D1-4E05-B955-B2D4D97C7069}" type="slidenum">
              <a:rPr lang="en-US" smtClean="0"/>
              <a:t>25</a:t>
            </a:fld>
            <a:endParaRPr lang="en-US"/>
          </a:p>
        </p:txBody>
      </p:sp>
      <p:sp>
        <p:nvSpPr>
          <p:cNvPr id="901" name="Label"/>
          <p:cNvSpPr txBox="1"/>
          <p:nvPr/>
        </p:nvSpPr>
        <p:spPr>
          <a:xfrm>
            <a:off x="548640" y="1920240"/>
            <a:ext cx="8046720" cy="731520"/>
          </a:xfrm>
          <a:prstGeom prst="rect">
            <a:avLst/>
          </a:prstGeom>
          <a:noFill/>
        </p:spPr>
        <p:txBody>
          <a:bodyPr wrap="square" anchor="t" lIns="27432" rIns="27432" tIns="22860" bIns="22860">
            <a:spAutoFit/>
          </a:bodyPr>
          <a:lstStyle/>
          <a:p>
            <a:pPr algn="ctr"/>
            <a:r>
              <a:rPr sz="3200" b="1" i="0">
                <a:solidFill>
                  <a:srgbClr val="5C4826"/>
                </a:solidFill>
              </a:rPr>
              <a:t>Residual uncertainty</a:t>
            </a:r>
          </a:p>
        </p:txBody>
      </p:sp>
      <p:sp>
        <p:nvSpPr>
          <p:cNvPr id="902" name="Body"/>
          <p:cNvSpPr txBox="1"/>
          <p:nvPr/>
        </p:nvSpPr>
        <p:spPr>
          <a:xfrm>
            <a:off x="1188720" y="2834640"/>
            <a:ext cx="6766560" cy="1463040"/>
          </a:xfrm>
          <a:prstGeom prst="rect">
            <a:avLst/>
          </a:prstGeom>
          <a:noFill/>
        </p:spPr>
        <p:txBody>
          <a:bodyPr wrap="square" anchor="ctr" lIns="27432" rIns="27432" tIns="22860" bIns="22860">
            <a:spAutoFit/>
          </a:bodyPr>
          <a:lstStyle/>
          <a:p>
            <a:pPr algn="ctr"/>
            <a:r>
              <a:rPr sz="2000" b="0" i="0">
                <a:solidFill>
                  <a:srgbClr val="555960"/>
                </a:solidFill>
              </a:rPr>
              <a:t>Every validation accepts residual uncertainty. A failure may land exactly there — without the validation having been wrong.</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85800" y="1700784"/>
            <a:ext cx="7772400" cy="1508760"/>
          </a:xfrm>
        </p:spPr>
        <p:txBody>
          <a:bodyPr/>
          <a:lstStyle/>
          <a:p>
            <a:pPr algn="ctr"/>
            <a:r>
              <a:rPr sz="4000" b="0" i="0">
                <a:solidFill>
                  <a:srgbClr val="000000"/>
                </a:solidFill>
              </a:rPr>
              <a:t>Convert failure into engineering knowledge</a:t>
            </a:r>
          </a:p>
        </p:txBody>
      </p:sp>
      <p:sp>
        <p:nvSpPr>
          <p:cNvPr id="900" name="Slide Number Placeholder 900"/>
          <p:cNvSpPr>
            <a:spLocks noGrp="1"/>
          </p:cNvSpPr>
          <p:nvPr>
            <p:ph type="sldNum" sz="quarter" idx="4"/>
          </p:nvPr>
        </p:nvSpPr>
        <p:spPr/>
        <p:txBody>
          <a:bodyPr/>
          <a:lstStyle/>
          <a:p>
            <a:fld id="{5CEC7D30-3F3A-40A5-AB25-FC380CDCDC59}" type="slidenum">
              <a:rPr lang="en-US" smtClean="0"/>
              <a:t>26</a:t>
            </a:fld>
            <a:endParaRPr lang="en-US"/>
          </a:p>
        </p:txBody>
      </p:sp>
      <p:sp>
        <p:nvSpPr>
          <p:cNvPr id="901" name="SectionLabel"/>
          <p:cNvSpPr txBox="1"/>
          <p:nvPr/>
        </p:nvSpPr>
        <p:spPr>
          <a:xfrm>
            <a:off x="685800" y="1243584"/>
            <a:ext cx="7772400" cy="365760"/>
          </a:xfrm>
          <a:prstGeom prst="rect">
            <a:avLst/>
          </a:prstGeom>
          <a:noFill/>
        </p:spPr>
        <p:txBody>
          <a:bodyPr wrap="square" anchor="ctr" lIns="27432" rIns="27432" tIns="22860" bIns="22860">
            <a:spAutoFit/>
          </a:bodyPr>
          <a:lstStyle/>
          <a:p>
            <a:pPr algn="ctr"/>
            <a:r>
              <a:rPr sz="2000" b="1" i="0">
                <a:solidFill>
                  <a:srgbClr val="8E6F3E"/>
                </a:solidFill>
              </a:rPr>
              <a:t>SECTION 3</a:t>
            </a:r>
          </a:p>
        </p:txBody>
      </p:sp>
      <p:sp>
        <p:nvSpPr>
          <p:cNvPr id="902" name="Question"/>
          <p:cNvSpPr txBox="1"/>
          <p:nvPr/>
        </p:nvSpPr>
        <p:spPr>
          <a:xfrm>
            <a:off x="685800" y="3319272"/>
            <a:ext cx="7772400" cy="475488"/>
          </a:xfrm>
          <a:prstGeom prst="rect">
            <a:avLst/>
          </a:prstGeom>
          <a:noFill/>
        </p:spPr>
        <p:txBody>
          <a:bodyPr wrap="square" anchor="ctr" lIns="27432" rIns="27432" tIns="22860" bIns="22860">
            <a:spAutoFit/>
          </a:bodyPr>
          <a:lstStyle/>
          <a:p>
            <a:pPr algn="ctr"/>
            <a:r>
              <a:rPr sz="2400" b="0" i="0">
                <a:solidFill>
                  <a:srgbClr val="5C4826"/>
                </a:solidFill>
              </a:rPr>
              <a:t>What does the evidence support, and where should the lesson live?</a:t>
            </a:r>
          </a:p>
        </p:txBody>
      </p:sp>
      <p:sp>
        <p:nvSpPr>
          <p:cNvPr id="903" name="Rule"/>
          <p:cNvSpPr/>
          <p:nvPr/>
        </p:nvSpPr>
        <p:spPr>
          <a:xfrm>
            <a:off x="3429000" y="4105656"/>
            <a:ext cx="2286000" cy="5120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Observation is not yet engineering knowledge</a:t>
            </a:r>
          </a:p>
        </p:txBody>
      </p:sp>
      <p:sp>
        <p:nvSpPr>
          <p:cNvPr id="900" name="Slide Number Placeholder 900"/>
          <p:cNvSpPr>
            <a:spLocks noGrp="1"/>
          </p:cNvSpPr>
          <p:nvPr>
            <p:ph type="sldNum" sz="quarter" idx="4"/>
          </p:nvPr>
        </p:nvSpPr>
        <p:spPr/>
        <p:txBody>
          <a:bodyPr/>
          <a:lstStyle/>
          <a:p>
            <a:fld id="{9D5CC310-9C8D-49B0-9A1E-6DB1095504DF}" type="slidenum">
              <a:rPr lang="en-US" smtClean="0"/>
              <a:t>27</a:t>
            </a:fld>
            <a:endParaRPr lang="en-US"/>
          </a:p>
        </p:txBody>
      </p:sp>
      <p:sp>
        <p:nvSpPr>
          <p:cNvPr id="901" name="Block"/>
          <p:cNvSpPr/>
          <p:nvPr/>
        </p:nvSpPr>
        <p:spPr>
          <a:xfrm>
            <a:off x="548640" y="2468880"/>
            <a:ext cx="178308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FAILURE</a:t>
            </a:r>
          </a:p>
        </p:txBody>
      </p:sp>
      <p:cxnSp>
        <p:nvCxnSpPr>
          <p:cNvPr id="902" name="Connector 901"/>
          <p:cNvCxnSpPr/>
          <p:nvPr/>
        </p:nvCxnSpPr>
        <p:spPr>
          <a:xfrm>
            <a:off x="2331720" y="2788920"/>
            <a:ext cx="32004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Block"/>
          <p:cNvSpPr/>
          <p:nvPr/>
        </p:nvSpPr>
        <p:spPr>
          <a:xfrm>
            <a:off x="2651760" y="2468880"/>
            <a:ext cx="178308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EVIDENCE</a:t>
            </a:r>
          </a:p>
        </p:txBody>
      </p:sp>
      <p:cxnSp>
        <p:nvCxnSpPr>
          <p:cNvPr id="904" name="Connector 903"/>
          <p:cNvCxnSpPr/>
          <p:nvPr/>
        </p:nvCxnSpPr>
        <p:spPr>
          <a:xfrm>
            <a:off x="4434840" y="2788920"/>
            <a:ext cx="320039"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Block"/>
          <p:cNvSpPr/>
          <p:nvPr/>
        </p:nvSpPr>
        <p:spPr>
          <a:xfrm>
            <a:off x="4754879" y="2468880"/>
            <a:ext cx="178308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ANALYSIS</a:t>
            </a:r>
          </a:p>
        </p:txBody>
      </p:sp>
      <p:cxnSp>
        <p:nvCxnSpPr>
          <p:cNvPr id="906" name="Connector 905"/>
          <p:cNvCxnSpPr/>
          <p:nvPr/>
        </p:nvCxnSpPr>
        <p:spPr>
          <a:xfrm>
            <a:off x="6537959" y="2788920"/>
            <a:ext cx="32004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Block"/>
          <p:cNvSpPr/>
          <p:nvPr/>
        </p:nvSpPr>
        <p:spPr>
          <a:xfrm>
            <a:off x="6857999" y="2468880"/>
            <a:ext cx="178308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LESSON</a:t>
            </a:r>
          </a:p>
        </p:txBody>
      </p:sp>
      <p:sp>
        <p:nvSpPr>
          <p:cNvPr id="908" name="Label"/>
          <p:cNvSpPr txBox="1"/>
          <p:nvPr/>
        </p:nvSpPr>
        <p:spPr>
          <a:xfrm>
            <a:off x="548640" y="3657600"/>
            <a:ext cx="8046720" cy="548640"/>
          </a:xfrm>
          <a:prstGeom prst="rect">
            <a:avLst/>
          </a:prstGeom>
          <a:noFill/>
        </p:spPr>
        <p:txBody>
          <a:bodyPr wrap="square" anchor="t" lIns="27432" rIns="27432" tIns="22860" bIns="22860">
            <a:spAutoFit/>
          </a:bodyPr>
          <a:lstStyle/>
          <a:p>
            <a:pPr algn="ctr"/>
            <a:r>
              <a:rPr sz="2200" b="0" i="0">
                <a:solidFill>
                  <a:srgbClr val="5C4826"/>
                </a:solidFill>
              </a:rPr>
              <a:t>Failure produces evidence. Analyze it into a lesson.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What does the evidence actually support?</a:t>
            </a:r>
          </a:p>
        </p:txBody>
      </p:sp>
      <p:sp>
        <p:nvSpPr>
          <p:cNvPr id="900" name="Slide Number Placeholder 900"/>
          <p:cNvSpPr>
            <a:spLocks noGrp="1"/>
          </p:cNvSpPr>
          <p:nvPr>
            <p:ph type="sldNum" sz="quarter" idx="4"/>
          </p:nvPr>
        </p:nvSpPr>
        <p:spPr/>
        <p:txBody>
          <a:bodyPr/>
          <a:lstStyle/>
          <a:p>
            <a:fld id="{5853B7DD-E055-4162-94C7-77FA73E23512}" type="slidenum">
              <a:rPr lang="en-US" smtClean="0"/>
              <a:t>28</a:t>
            </a:fld>
            <a:endParaRPr lang="en-US"/>
          </a:p>
        </p:txBody>
      </p:sp>
      <p:sp>
        <p:nvSpPr>
          <p:cNvPr id="901" name="Card"/>
          <p:cNvSpPr/>
          <p:nvPr/>
        </p:nvSpPr>
        <p:spPr>
          <a:xfrm>
            <a:off x="731520" y="1463040"/>
            <a:ext cx="310896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NARROW CLAIM</a:t>
            </a:r>
          </a:p>
        </p:txBody>
      </p:sp>
      <p:sp>
        <p:nvSpPr>
          <p:cNvPr id="902" name="Card"/>
          <p:cNvSpPr/>
          <p:nvPr/>
        </p:nvSpPr>
        <p:spPr>
          <a:xfrm>
            <a:off x="731520" y="2560320"/>
            <a:ext cx="493776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BROADER CLAIM</a:t>
            </a:r>
          </a:p>
        </p:txBody>
      </p:sp>
      <p:sp>
        <p:nvSpPr>
          <p:cNvPr id="903" name="Card"/>
          <p:cNvSpPr/>
          <p:nvPr/>
        </p:nvSpPr>
        <p:spPr>
          <a:xfrm>
            <a:off x="731520" y="3657600"/>
            <a:ext cx="676656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SWEEPING CLAIM</a:t>
            </a:r>
          </a:p>
        </p:txBody>
      </p:sp>
      <p:sp>
        <p:nvSpPr>
          <p:cNvPr id="904" name="Label"/>
          <p:cNvSpPr txBox="1"/>
          <p:nvPr/>
        </p:nvSpPr>
        <p:spPr>
          <a:xfrm>
            <a:off x="731520" y="4754880"/>
            <a:ext cx="7498079" cy="502920"/>
          </a:xfrm>
          <a:prstGeom prst="rect">
            <a:avLst/>
          </a:prstGeom>
          <a:noFill/>
        </p:spPr>
        <p:txBody>
          <a:bodyPr wrap="square" anchor="t" lIns="27432" rIns="27432" tIns="22860" bIns="22860">
            <a:spAutoFit/>
          </a:bodyPr>
          <a:lstStyle/>
          <a:p>
            <a:pPr algn="ctr"/>
            <a:r>
              <a:rPr sz="2200" b="0" i="0">
                <a:solidFill>
                  <a:srgbClr val="5C4826"/>
                </a:solidFill>
              </a:rPr>
              <a:t>The same observation; support thins as the claim widens.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Preserve the example or preserve the lesson?</a:t>
            </a:r>
          </a:p>
        </p:txBody>
      </p:sp>
      <p:sp>
        <p:nvSpPr>
          <p:cNvPr id="900" name="Slide Number Placeholder 900"/>
          <p:cNvSpPr>
            <a:spLocks noGrp="1"/>
          </p:cNvSpPr>
          <p:nvPr>
            <p:ph type="sldNum" sz="quarter" idx="4"/>
          </p:nvPr>
        </p:nvSpPr>
        <p:spPr/>
        <p:txBody>
          <a:bodyPr/>
          <a:lstStyle/>
          <a:p>
            <a:fld id="{6A1DACA4-9A95-4C77-B245-2C307F8CACFD}" type="slidenum">
              <a:rPr lang="en-US" smtClean="0"/>
              <a:t>29</a:t>
            </a:fld>
            <a:endParaRPr lang="en-US"/>
          </a:p>
        </p:txBody>
      </p:sp>
      <p:sp>
        <p:nvSpPr>
          <p:cNvPr id="901" name="Card"/>
          <p:cNvSpPr/>
          <p:nvPr/>
        </p:nvSpPr>
        <p:spPr>
          <a:xfrm>
            <a:off x="548640" y="1371600"/>
            <a:ext cx="3931920" cy="3108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PRESERVE THE EXAMPLE</a:t>
            </a:r>
          </a:p>
          <a:p>
            <a:pPr algn="ctr">
              <a:spcBef>
                <a:spcPts val="1400"/>
              </a:spcBef>
            </a:pPr>
            <a:r>
              <a:rPr sz="2000" b="1" i="0">
                <a:solidFill>
                  <a:srgbClr val="8E6F3E"/>
                </a:solidFill>
              </a:rPr>
              <a:t>Regression test</a:t>
            </a:r>
          </a:p>
          <a:p>
            <a:pPr algn="ctr">
              <a:spcBef>
                <a:spcPts val="800"/>
              </a:spcBef>
            </a:pPr>
            <a:r>
              <a:rPr sz="2000" b="0" i="0">
                <a:solidFill>
                  <a:srgbClr val="555960"/>
                </a:solidFill>
              </a:rPr>
              <a:t>pins this exact case so it can never silently recur</a:t>
            </a:r>
          </a:p>
        </p:txBody>
      </p:sp>
      <p:sp>
        <p:nvSpPr>
          <p:cNvPr id="902" name="Card"/>
          <p:cNvSpPr/>
          <p:nvPr/>
        </p:nvSpPr>
        <p:spPr>
          <a:xfrm>
            <a:off x="4663440" y="1371600"/>
            <a:ext cx="3931920" cy="3108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PRESERVE THE LESSON</a:t>
            </a:r>
          </a:p>
          <a:p>
            <a:pPr algn="ctr">
              <a:spcBef>
                <a:spcPts val="1400"/>
              </a:spcBef>
            </a:pPr>
            <a:r>
              <a:rPr sz="2000" b="1" i="0">
                <a:solidFill>
                  <a:srgbClr val="8E6F3E"/>
                </a:solidFill>
              </a:rPr>
              <a:t>Generalized lesson</a:t>
            </a:r>
          </a:p>
          <a:p>
            <a:pPr algn="ctr">
              <a:spcBef>
                <a:spcPts val="800"/>
              </a:spcBef>
            </a:pPr>
            <a:r>
              <a:rPr sz="2000" b="0" i="0">
                <a:solidFill>
                  <a:srgbClr val="555960"/>
                </a:solidFill>
              </a:rPr>
              <a:t>covers the class of cases the example revealed</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Causal account vs reflective account</a:t>
            </a:r>
          </a:p>
        </p:txBody>
      </p:sp>
      <p:sp>
        <p:nvSpPr>
          <p:cNvPr id="900" name="Slide Number Placeholder 900"/>
          <p:cNvSpPr>
            <a:spLocks noGrp="1"/>
          </p:cNvSpPr>
          <p:nvPr>
            <p:ph type="sldNum" sz="quarter" idx="4"/>
          </p:nvPr>
        </p:nvSpPr>
        <p:spPr/>
        <p:txBody>
          <a:bodyPr/>
          <a:lstStyle/>
          <a:p>
            <a:fld id="{F164AA00-212F-409D-8EDE-8F6B572B597D}" type="slidenum">
              <a:rPr lang="en-US" smtClean="0"/>
              <a:t>30</a:t>
            </a:fld>
            <a:endParaRPr lang="en-US"/>
          </a:p>
        </p:txBody>
      </p:sp>
      <p:sp>
        <p:nvSpPr>
          <p:cNvPr id="901" name="Card"/>
          <p:cNvSpPr/>
          <p:nvPr/>
        </p:nvSpPr>
        <p:spPr>
          <a:xfrm>
            <a:off x="548640" y="1371600"/>
            <a:ext cx="3931920" cy="2926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CAUSAL ACCOUNT</a:t>
            </a:r>
          </a:p>
          <a:p>
            <a:pPr algn="ctr">
              <a:spcBef>
                <a:spcPts val="1400"/>
              </a:spcBef>
            </a:pPr>
            <a:r>
              <a:rPr sz="2000" b="0" i="0">
                <a:solidFill>
                  <a:srgbClr val="555960"/>
                </a:solidFill>
              </a:rPr>
              <a:t>what sequence of events and conditions produced the failure</a:t>
            </a:r>
          </a:p>
        </p:txBody>
      </p:sp>
      <p:sp>
        <p:nvSpPr>
          <p:cNvPr id="902" name="Card"/>
          <p:cNvSpPr/>
          <p:nvPr/>
        </p:nvSpPr>
        <p:spPr>
          <a:xfrm>
            <a:off x="4663440" y="1371600"/>
            <a:ext cx="3931920" cy="2926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REFLECTIVE ACCOUNT</a:t>
            </a:r>
          </a:p>
          <a:p>
            <a:pPr algn="ctr">
              <a:spcBef>
                <a:spcPts val="1400"/>
              </a:spcBef>
            </a:pPr>
            <a:r>
              <a:rPr sz="2000" b="0" i="0">
                <a:solidFill>
                  <a:srgbClr val="555960"/>
                </a:solidFill>
              </a:rPr>
              <a:t>what we believed, and how we came to believe it</a:t>
            </a:r>
          </a:p>
        </p:txBody>
      </p:sp>
      <p:sp>
        <p:nvSpPr>
          <p:cNvPr id="903" name="Label"/>
          <p:cNvSpPr txBox="1"/>
          <p:nvPr/>
        </p:nvSpPr>
        <p:spPr>
          <a:xfrm>
            <a:off x="548640" y="4663440"/>
            <a:ext cx="8046720" cy="502920"/>
          </a:xfrm>
          <a:prstGeom prst="rect">
            <a:avLst/>
          </a:prstGeom>
          <a:noFill/>
        </p:spPr>
        <p:txBody>
          <a:bodyPr wrap="square" anchor="t" lIns="27432" rIns="27432" tIns="22860" bIns="22860">
            <a:spAutoFit/>
          </a:bodyPr>
          <a:lstStyle/>
          <a:p>
            <a:pPr algn="ctr"/>
            <a:r>
              <a:rPr sz="2200" b="0" i="0">
                <a:solidFill>
                  <a:srgbClr val="5C4826"/>
                </a:solidFill>
              </a:rPr>
              <a:t>A postmortem carries both.</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Where should the lesson live?</a:t>
            </a:r>
          </a:p>
        </p:txBody>
      </p:sp>
      <p:sp>
        <p:nvSpPr>
          <p:cNvPr id="900" name="Slide Number Placeholder 900"/>
          <p:cNvSpPr>
            <a:spLocks noGrp="1"/>
          </p:cNvSpPr>
          <p:nvPr>
            <p:ph type="sldNum" sz="quarter" idx="4"/>
          </p:nvPr>
        </p:nvSpPr>
        <p:spPr/>
        <p:txBody>
          <a:bodyPr/>
          <a:lstStyle/>
          <a:p>
            <a:fld id="{AFA6771E-93A8-4AA7-A54D-D336B382D315}" type="slidenum">
              <a:rPr lang="en-US" smtClean="0"/>
              <a:t>31</a:t>
            </a:fld>
            <a:endParaRPr lang="en-US"/>
          </a:p>
        </p:txBody>
      </p:sp>
      <p:sp>
        <p:nvSpPr>
          <p:cNvPr id="901" name="Card"/>
          <p:cNvSpPr/>
          <p:nvPr/>
        </p:nvSpPr>
        <p:spPr>
          <a:xfrm>
            <a:off x="548640" y="1645920"/>
            <a:ext cx="2651760"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200" b="1" i="0">
                <a:solidFill>
                  <a:srgbClr val="5C4826"/>
                </a:solidFill>
              </a:rPr>
              <a:t>requirements</a:t>
            </a:r>
          </a:p>
        </p:txBody>
      </p:sp>
      <p:sp>
        <p:nvSpPr>
          <p:cNvPr id="902" name="Card"/>
          <p:cNvSpPr/>
          <p:nvPr/>
        </p:nvSpPr>
        <p:spPr>
          <a:xfrm>
            <a:off x="3383280" y="1645920"/>
            <a:ext cx="2651760"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200" b="1" i="0">
                <a:solidFill>
                  <a:srgbClr val="5C4826"/>
                </a:solidFill>
              </a:rPr>
              <a:t>specification</a:t>
            </a:r>
          </a:p>
        </p:txBody>
      </p:sp>
      <p:sp>
        <p:nvSpPr>
          <p:cNvPr id="903" name="Card"/>
          <p:cNvSpPr/>
          <p:nvPr/>
        </p:nvSpPr>
        <p:spPr>
          <a:xfrm>
            <a:off x="6217920" y="1645920"/>
            <a:ext cx="2651760"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200" b="1" i="0">
                <a:solidFill>
                  <a:srgbClr val="5C4826"/>
                </a:solidFill>
              </a:rPr>
              <a:t>architecture</a:t>
            </a:r>
          </a:p>
        </p:txBody>
      </p:sp>
      <p:sp>
        <p:nvSpPr>
          <p:cNvPr id="904" name="Card"/>
          <p:cNvSpPr/>
          <p:nvPr/>
        </p:nvSpPr>
        <p:spPr>
          <a:xfrm>
            <a:off x="548640" y="3108960"/>
            <a:ext cx="2651760"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200" b="1" i="0">
                <a:solidFill>
                  <a:srgbClr val="5C4826"/>
                </a:solidFill>
              </a:rPr>
              <a:t>models</a:t>
            </a:r>
          </a:p>
        </p:txBody>
      </p:sp>
      <p:sp>
        <p:nvSpPr>
          <p:cNvPr id="905" name="Card"/>
          <p:cNvSpPr/>
          <p:nvPr/>
        </p:nvSpPr>
        <p:spPr>
          <a:xfrm>
            <a:off x="3383280" y="3108960"/>
            <a:ext cx="2651760"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200" b="1" i="0">
                <a:solidFill>
                  <a:srgbClr val="5C4826"/>
                </a:solidFill>
              </a:rPr>
              <a:t>validation</a:t>
            </a:r>
          </a:p>
        </p:txBody>
      </p:sp>
      <p:sp>
        <p:nvSpPr>
          <p:cNvPr id="906" name="Card"/>
          <p:cNvSpPr/>
          <p:nvPr/>
        </p:nvSpPr>
        <p:spPr>
          <a:xfrm>
            <a:off x="6217920" y="3108960"/>
            <a:ext cx="2651760"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200" b="1" i="0">
                <a:solidFill>
                  <a:srgbClr val="5C4826"/>
                </a:solidFill>
              </a:rPr>
              <a:t>controls</a:t>
            </a:r>
          </a:p>
        </p:txBody>
      </p:sp>
      <p:sp>
        <p:nvSpPr>
          <p:cNvPr id="907"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Consequential knowledge migrates to where future work inherits it.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85800" y="1700784"/>
            <a:ext cx="7772400" cy="1508760"/>
          </a:xfrm>
        </p:spPr>
        <p:txBody>
          <a:bodyPr/>
          <a:lstStyle/>
          <a:p>
            <a:pPr algn="ctr"/>
            <a:r>
              <a:rPr sz="4000" b="0" i="0">
                <a:solidFill>
                  <a:srgbClr val="000000"/>
                </a:solidFill>
              </a:rPr>
              <a:t>Make the organization harder to surprise the same way twice</a:t>
            </a:r>
          </a:p>
        </p:txBody>
      </p:sp>
      <p:sp>
        <p:nvSpPr>
          <p:cNvPr id="900" name="Slide Number Placeholder 900"/>
          <p:cNvSpPr>
            <a:spLocks noGrp="1"/>
          </p:cNvSpPr>
          <p:nvPr>
            <p:ph type="sldNum" sz="quarter" idx="4"/>
          </p:nvPr>
        </p:nvSpPr>
        <p:spPr/>
        <p:txBody>
          <a:bodyPr/>
          <a:lstStyle/>
          <a:p>
            <a:fld id="{7288240E-6A77-4EF8-962D-68D6FAD0FBF7}" type="slidenum">
              <a:rPr lang="en-US" smtClean="0"/>
              <a:t>32</a:t>
            </a:fld>
            <a:endParaRPr lang="en-US"/>
          </a:p>
        </p:txBody>
      </p:sp>
      <p:sp>
        <p:nvSpPr>
          <p:cNvPr id="901" name="SectionLabel"/>
          <p:cNvSpPr txBox="1"/>
          <p:nvPr/>
        </p:nvSpPr>
        <p:spPr>
          <a:xfrm>
            <a:off x="685800" y="1243584"/>
            <a:ext cx="7772400" cy="365760"/>
          </a:xfrm>
          <a:prstGeom prst="rect">
            <a:avLst/>
          </a:prstGeom>
          <a:noFill/>
        </p:spPr>
        <p:txBody>
          <a:bodyPr wrap="square" anchor="ctr" lIns="27432" rIns="27432" tIns="22860" bIns="22860">
            <a:spAutoFit/>
          </a:bodyPr>
          <a:lstStyle/>
          <a:p>
            <a:pPr algn="ctr"/>
            <a:r>
              <a:rPr sz="2000" b="1" i="0">
                <a:solidFill>
                  <a:srgbClr val="8E6F3E"/>
                </a:solidFill>
              </a:rPr>
              <a:t>SECTION 4</a:t>
            </a:r>
          </a:p>
        </p:txBody>
      </p:sp>
      <p:sp>
        <p:nvSpPr>
          <p:cNvPr id="902" name="Question"/>
          <p:cNvSpPr txBox="1"/>
          <p:nvPr/>
        </p:nvSpPr>
        <p:spPr>
          <a:xfrm>
            <a:off x="685800" y="3319272"/>
            <a:ext cx="7772400" cy="475488"/>
          </a:xfrm>
          <a:prstGeom prst="rect">
            <a:avLst/>
          </a:prstGeom>
          <a:noFill/>
        </p:spPr>
        <p:txBody>
          <a:bodyPr wrap="square" anchor="ctr" lIns="27432" rIns="27432" tIns="22860" bIns="22860">
            <a:spAutoFit/>
          </a:bodyPr>
          <a:lstStyle/>
          <a:p>
            <a:pPr algn="ctr"/>
            <a:r>
              <a:rPr sz="2400" b="0" i="0">
                <a:solidFill>
                  <a:srgbClr val="5C4826"/>
                </a:solidFill>
              </a:rPr>
              <a:t>How does a lesson become structure?</a:t>
            </a:r>
          </a:p>
        </p:txBody>
      </p:sp>
      <p:sp>
        <p:nvSpPr>
          <p:cNvPr id="903" name="Rule"/>
          <p:cNvSpPr/>
          <p:nvPr/>
        </p:nvSpPr>
        <p:spPr>
          <a:xfrm>
            <a:off x="3429000" y="4105656"/>
            <a:ext cx="2286000" cy="5120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Remembering is the weakest response</a:t>
            </a:r>
          </a:p>
        </p:txBody>
      </p:sp>
      <p:sp>
        <p:nvSpPr>
          <p:cNvPr id="900" name="Slide Number Placeholder 900"/>
          <p:cNvSpPr>
            <a:spLocks noGrp="1"/>
          </p:cNvSpPr>
          <p:nvPr>
            <p:ph type="sldNum" sz="quarter" idx="4"/>
          </p:nvPr>
        </p:nvSpPr>
        <p:spPr/>
        <p:txBody>
          <a:bodyPr/>
          <a:lstStyle/>
          <a:p>
            <a:fld id="{B1FABF6A-C69A-47A3-8221-3F34D9E54C93}" type="slidenum">
              <a:rPr lang="en-US" smtClean="0"/>
              <a:t>33</a:t>
            </a:fld>
            <a:endParaRPr lang="en-US"/>
          </a:p>
        </p:txBody>
      </p:sp>
      <p:sp>
        <p:nvSpPr>
          <p:cNvPr id="901" name="Card"/>
          <p:cNvSpPr/>
          <p:nvPr/>
        </p:nvSpPr>
        <p:spPr>
          <a:xfrm>
            <a:off x="2377440" y="1143000"/>
            <a:ext cx="365760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“Be careful next time”</a:t>
            </a:r>
          </a:p>
        </p:txBody>
      </p:sp>
      <p:cxnSp>
        <p:nvCxnSpPr>
          <p:cNvPr id="902" name="Connector 901"/>
          <p:cNvCxnSpPr/>
          <p:nvPr/>
        </p:nvCxnSpPr>
        <p:spPr>
          <a:xfrm>
            <a:off x="4206240" y="1691640"/>
            <a:ext cx="0" cy="292608"/>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Block"/>
          <p:cNvSpPr/>
          <p:nvPr/>
        </p:nvSpPr>
        <p:spPr>
          <a:xfrm>
            <a:off x="2377440" y="1984248"/>
            <a:ext cx="365760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documentation</a:t>
            </a:r>
          </a:p>
        </p:txBody>
      </p:sp>
      <p:cxnSp>
        <p:nvCxnSpPr>
          <p:cNvPr id="904" name="Connector 903"/>
          <p:cNvCxnSpPr/>
          <p:nvPr/>
        </p:nvCxnSpPr>
        <p:spPr>
          <a:xfrm>
            <a:off x="4206240" y="2532888"/>
            <a:ext cx="0" cy="292608"/>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Block"/>
          <p:cNvSpPr/>
          <p:nvPr/>
        </p:nvSpPr>
        <p:spPr>
          <a:xfrm>
            <a:off x="2377440" y="2825496"/>
            <a:ext cx="365760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model</a:t>
            </a:r>
          </a:p>
        </p:txBody>
      </p:sp>
      <p:cxnSp>
        <p:nvCxnSpPr>
          <p:cNvPr id="906" name="Connector 905"/>
          <p:cNvCxnSpPr/>
          <p:nvPr/>
        </p:nvCxnSpPr>
        <p:spPr>
          <a:xfrm>
            <a:off x="4206240" y="3374136"/>
            <a:ext cx="0" cy="292608"/>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Block"/>
          <p:cNvSpPr/>
          <p:nvPr/>
        </p:nvSpPr>
        <p:spPr>
          <a:xfrm>
            <a:off x="2377440" y="3666744"/>
            <a:ext cx="365760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validator</a:t>
            </a:r>
          </a:p>
        </p:txBody>
      </p:sp>
      <p:cxnSp>
        <p:nvCxnSpPr>
          <p:cNvPr id="908" name="Connector 907"/>
          <p:cNvCxnSpPr/>
          <p:nvPr/>
        </p:nvCxnSpPr>
        <p:spPr>
          <a:xfrm>
            <a:off x="4206240" y="4215383"/>
            <a:ext cx="0" cy="292609"/>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9" name="Block"/>
          <p:cNvSpPr/>
          <p:nvPr/>
        </p:nvSpPr>
        <p:spPr>
          <a:xfrm>
            <a:off x="2377440" y="4507992"/>
            <a:ext cx="365760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constraint / gate</a:t>
            </a:r>
          </a:p>
        </p:txBody>
      </p:sp>
      <p:cxnSp>
        <p:nvCxnSpPr>
          <p:cNvPr id="910" name="Connector 909"/>
          <p:cNvCxnSpPr/>
          <p:nvPr/>
        </p:nvCxnSpPr>
        <p:spPr>
          <a:xfrm>
            <a:off x="6766560" y="1417320"/>
            <a:ext cx="0" cy="338328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1" name="Label"/>
          <p:cNvSpPr txBox="1"/>
          <p:nvPr/>
        </p:nvSpPr>
        <p:spPr>
          <a:xfrm>
            <a:off x="6949440" y="2286000"/>
            <a:ext cx="1828800" cy="1645920"/>
          </a:xfrm>
          <a:prstGeom prst="rect">
            <a:avLst/>
          </a:prstGeom>
          <a:noFill/>
        </p:spPr>
        <p:txBody>
          <a:bodyPr wrap="square" anchor="t" lIns="27432" rIns="27432" tIns="22860" bIns="22860">
            <a:spAutoFit/>
          </a:bodyPr>
          <a:lstStyle/>
          <a:p>
            <a:pPr algn="l"/>
            <a:r>
              <a:rPr sz="2000" b="0" i="0">
                <a:solidFill>
                  <a:srgbClr val="555960"/>
                </a:solidFill>
              </a:rPr>
              <a:t>increasing ability to affect future action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Move recurring judgment into the environment</a:t>
            </a:r>
          </a:p>
        </p:txBody>
      </p:sp>
      <p:sp>
        <p:nvSpPr>
          <p:cNvPr id="900" name="Slide Number Placeholder 900"/>
          <p:cNvSpPr>
            <a:spLocks noGrp="1"/>
          </p:cNvSpPr>
          <p:nvPr>
            <p:ph type="sldNum" sz="quarter" idx="4"/>
          </p:nvPr>
        </p:nvSpPr>
        <p:spPr/>
        <p:txBody>
          <a:bodyPr/>
          <a:lstStyle/>
          <a:p>
            <a:fld id="{54DE72B0-FFEB-4C83-B4BD-F25961BEDFCA}" type="slidenum">
              <a:rPr lang="en-US" smtClean="0"/>
              <a:t>34</a:t>
            </a:fld>
            <a:endParaRPr lang="en-US"/>
          </a:p>
        </p:txBody>
      </p:sp>
      <p:sp>
        <p:nvSpPr>
          <p:cNvPr id="901" name="Block"/>
          <p:cNvSpPr/>
          <p:nvPr/>
        </p:nvSpPr>
        <p:spPr>
          <a:xfrm>
            <a:off x="2606040" y="1097280"/>
            <a:ext cx="393192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FAILURE</a:t>
            </a:r>
          </a:p>
        </p:txBody>
      </p:sp>
      <p:cxnSp>
        <p:nvCxnSpPr>
          <p:cNvPr id="902" name="Connector 901"/>
          <p:cNvCxnSpPr/>
          <p:nvPr/>
        </p:nvCxnSpPr>
        <p:spPr>
          <a:xfrm>
            <a:off x="4572000" y="1645919"/>
            <a:ext cx="0" cy="274321"/>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2606040" y="1920240"/>
            <a:ext cx="393192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1">
                <a:solidFill>
                  <a:srgbClr val="5C4826"/>
                </a:solidFill>
              </a:rPr>
              <a:t>“What did we learn?”</a:t>
            </a:r>
          </a:p>
        </p:txBody>
      </p:sp>
      <p:cxnSp>
        <p:nvCxnSpPr>
          <p:cNvPr id="904" name="Connector 903"/>
          <p:cNvCxnSpPr/>
          <p:nvPr/>
        </p:nvCxnSpPr>
        <p:spPr>
          <a:xfrm>
            <a:off x="4572000" y="2468880"/>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Block"/>
          <p:cNvSpPr/>
          <p:nvPr/>
        </p:nvSpPr>
        <p:spPr>
          <a:xfrm>
            <a:off x="2606040" y="2743200"/>
            <a:ext cx="393192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RECURRING JUDGMENT</a:t>
            </a:r>
          </a:p>
        </p:txBody>
      </p:sp>
      <p:cxnSp>
        <p:nvCxnSpPr>
          <p:cNvPr id="906" name="Connector 905"/>
          <p:cNvCxnSpPr/>
          <p:nvPr/>
        </p:nvCxnSpPr>
        <p:spPr>
          <a:xfrm>
            <a:off x="4572000" y="3291840"/>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Card"/>
          <p:cNvSpPr/>
          <p:nvPr/>
        </p:nvSpPr>
        <p:spPr>
          <a:xfrm>
            <a:off x="2606040" y="3566160"/>
            <a:ext cx="393192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1">
                <a:solidFill>
                  <a:srgbClr val="5C4826"/>
                </a:solidFill>
              </a:rPr>
              <a:t>Can it be represented reliably?</a:t>
            </a:r>
          </a:p>
        </p:txBody>
      </p:sp>
      <p:cxnSp>
        <p:nvCxnSpPr>
          <p:cNvPr id="908" name="Connector 907"/>
          <p:cNvCxnSpPr/>
          <p:nvPr/>
        </p:nvCxnSpPr>
        <p:spPr>
          <a:xfrm>
            <a:off x="4572000" y="4114800"/>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9" name="Block"/>
          <p:cNvSpPr/>
          <p:nvPr/>
        </p:nvSpPr>
        <p:spPr>
          <a:xfrm>
            <a:off x="731520" y="4389120"/>
            <a:ext cx="173736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MODEL</a:t>
            </a:r>
          </a:p>
        </p:txBody>
      </p:sp>
      <p:sp>
        <p:nvSpPr>
          <p:cNvPr id="910" name="Block"/>
          <p:cNvSpPr/>
          <p:nvPr/>
        </p:nvSpPr>
        <p:spPr>
          <a:xfrm>
            <a:off x="2743200" y="4389120"/>
            <a:ext cx="173736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VALIDATOR</a:t>
            </a:r>
          </a:p>
        </p:txBody>
      </p:sp>
      <p:sp>
        <p:nvSpPr>
          <p:cNvPr id="911" name="Block"/>
          <p:cNvSpPr/>
          <p:nvPr/>
        </p:nvSpPr>
        <p:spPr>
          <a:xfrm>
            <a:off x="4754880" y="4389120"/>
            <a:ext cx="173736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CONSTRAINT</a:t>
            </a:r>
          </a:p>
        </p:txBody>
      </p:sp>
      <p:sp>
        <p:nvSpPr>
          <p:cNvPr id="912" name="Block"/>
          <p:cNvSpPr/>
          <p:nvPr/>
        </p:nvSpPr>
        <p:spPr>
          <a:xfrm>
            <a:off x="6766560" y="4389120"/>
            <a:ext cx="173736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GATE</a:t>
            </a:r>
          </a:p>
        </p:txBody>
      </p:sp>
      <p:sp>
        <p:nvSpPr>
          <p:cNvPr id="913"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MAGE calls this governance conversion.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Volkswagen, one last time</a:t>
            </a:r>
          </a:p>
        </p:txBody>
      </p:sp>
      <p:sp>
        <p:nvSpPr>
          <p:cNvPr id="900" name="Slide Number Placeholder 900"/>
          <p:cNvSpPr>
            <a:spLocks noGrp="1"/>
          </p:cNvSpPr>
          <p:nvPr>
            <p:ph type="sldNum" sz="quarter" idx="4"/>
          </p:nvPr>
        </p:nvSpPr>
        <p:spPr/>
        <p:txBody>
          <a:bodyPr/>
          <a:lstStyle/>
          <a:p>
            <a:fld id="{9ABD6463-1069-4796-B206-4858CF08A11C}" type="slidenum">
              <a:rPr lang="en-US" smtClean="0"/>
              <a:t>35</a:t>
            </a:fld>
            <a:endParaRPr lang="en-US"/>
          </a:p>
        </p:txBody>
      </p:sp>
      <p:sp>
        <p:nvSpPr>
          <p:cNvPr id="901" name="Lead"/>
          <p:cNvSpPr txBox="1"/>
          <p:nvPr/>
        </p:nvSpPr>
        <p:spPr>
          <a:xfrm>
            <a:off x="411480" y="868680"/>
            <a:ext cx="8321040" cy="914400"/>
          </a:xfrm>
          <a:prstGeom prst="rect">
            <a:avLst/>
          </a:prstGeom>
          <a:noFill/>
        </p:spPr>
        <p:txBody>
          <a:bodyPr wrap="square" anchor="t" lIns="27432" rIns="27432" tIns="22860" bIns="22860">
            <a:spAutoFit/>
          </a:bodyPr>
          <a:lstStyle/>
          <a:p>
            <a:pPr algn="l"/>
            <a:r>
              <a:rPr sz="2000" b="1" i="0">
                <a:solidFill>
                  <a:srgbClr val="5C4826"/>
                </a:solidFill>
              </a:rPr>
              <a:t>Return to 2006. </a:t>
            </a:r>
            <a:r>
              <a:rPr sz="2000" b="0" i="0">
                <a:solidFill>
                  <a:srgbClr val="555960"/>
                </a:solidFill>
              </a:rPr>
              <a:t>Suppose the compliance obligation had existed not merely as something engineers were expected to remember, or supervisors could override, but in the engineering environment:</a:t>
            </a:r>
          </a:p>
        </p:txBody>
      </p:sp>
      <p:sp>
        <p:nvSpPr>
          <p:cNvPr id="902" name="Block"/>
          <p:cNvSpPr/>
          <p:nvPr/>
        </p:nvSpPr>
        <p:spPr>
          <a:xfrm>
            <a:off x="2743200" y="1965960"/>
            <a:ext cx="365760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REGULATORY OBLIGATION</a:t>
            </a:r>
          </a:p>
        </p:txBody>
      </p:sp>
      <p:cxnSp>
        <p:nvCxnSpPr>
          <p:cNvPr id="903" name="Connector 902"/>
          <p:cNvCxnSpPr/>
          <p:nvPr/>
        </p:nvCxnSpPr>
        <p:spPr>
          <a:xfrm>
            <a:off x="4572000" y="2514600"/>
            <a:ext cx="0" cy="320039"/>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4" name="Block"/>
          <p:cNvSpPr/>
          <p:nvPr/>
        </p:nvSpPr>
        <p:spPr>
          <a:xfrm>
            <a:off x="2743200" y="2834639"/>
            <a:ext cx="365760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ENGINEERING MODEL</a:t>
            </a:r>
          </a:p>
        </p:txBody>
      </p:sp>
      <p:cxnSp>
        <p:nvCxnSpPr>
          <p:cNvPr id="905" name="Connector 904"/>
          <p:cNvCxnSpPr/>
          <p:nvPr/>
        </p:nvCxnSpPr>
        <p:spPr>
          <a:xfrm>
            <a:off x="4572000" y="3383279"/>
            <a:ext cx="0" cy="320041"/>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6" name="Block"/>
          <p:cNvSpPr/>
          <p:nvPr/>
        </p:nvSpPr>
        <p:spPr>
          <a:xfrm>
            <a:off x="2743200" y="3703320"/>
            <a:ext cx="365760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INDEPENDENT VALIDATION</a:t>
            </a:r>
          </a:p>
        </p:txBody>
      </p:sp>
      <p:cxnSp>
        <p:nvCxnSpPr>
          <p:cNvPr id="907" name="Connector 906"/>
          <p:cNvCxnSpPr/>
          <p:nvPr/>
        </p:nvCxnSpPr>
        <p:spPr>
          <a:xfrm>
            <a:off x="4572000" y="4251959"/>
            <a:ext cx="0" cy="320041"/>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8" name="Block"/>
          <p:cNvSpPr/>
          <p:nvPr/>
        </p:nvSpPr>
        <p:spPr>
          <a:xfrm>
            <a:off x="2743200" y="4572000"/>
            <a:ext cx="365760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RELEASE GATE</a:t>
            </a:r>
          </a:p>
        </p:txBody>
      </p:sp>
      <p:sp>
        <p:nvSpPr>
          <p:cNvPr id="909"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Which judgments should never have remained discretionary?</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Active, then passive alignment</a:t>
            </a:r>
          </a:p>
        </p:txBody>
      </p:sp>
      <p:sp>
        <p:nvSpPr>
          <p:cNvPr id="900" name="Slide Number Placeholder 900"/>
          <p:cNvSpPr>
            <a:spLocks noGrp="1"/>
          </p:cNvSpPr>
          <p:nvPr>
            <p:ph type="sldNum" sz="quarter" idx="4"/>
          </p:nvPr>
        </p:nvSpPr>
        <p:spPr/>
        <p:txBody>
          <a:bodyPr/>
          <a:lstStyle/>
          <a:p>
            <a:fld id="{649F5B17-D92E-42C9-9606-E4DCBD101C76}" type="slidenum">
              <a:rPr lang="en-US" smtClean="0"/>
              <a:t>36</a:t>
            </a:fld>
            <a:endParaRPr lang="en-US"/>
          </a:p>
        </p:txBody>
      </p:sp>
      <p:sp>
        <p:nvSpPr>
          <p:cNvPr id="901" name="Card"/>
          <p:cNvSpPr/>
          <p:nvPr/>
        </p:nvSpPr>
        <p:spPr>
          <a:xfrm>
            <a:off x="411480" y="2011680"/>
            <a:ext cx="1874519" cy="1645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Failure reveals a missing or incorrect obligation</a:t>
            </a:r>
          </a:p>
        </p:txBody>
      </p:sp>
      <p:cxnSp>
        <p:nvCxnSpPr>
          <p:cNvPr id="902" name="Connector 901"/>
          <p:cNvCxnSpPr/>
          <p:nvPr/>
        </p:nvCxnSpPr>
        <p:spPr>
          <a:xfrm>
            <a:off x="2286000" y="2834640"/>
            <a:ext cx="301752"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2587752" y="2011680"/>
            <a:ext cx="1874519" cy="1645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Represent the lesson</a:t>
            </a:r>
          </a:p>
        </p:txBody>
      </p:sp>
      <p:cxnSp>
        <p:nvCxnSpPr>
          <p:cNvPr id="904" name="Connector 903"/>
          <p:cNvCxnSpPr/>
          <p:nvPr/>
        </p:nvCxnSpPr>
        <p:spPr>
          <a:xfrm>
            <a:off x="4462272" y="2834640"/>
            <a:ext cx="301752"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Card"/>
          <p:cNvSpPr/>
          <p:nvPr/>
        </p:nvSpPr>
        <p:spPr>
          <a:xfrm>
            <a:off x="4764024" y="2011680"/>
            <a:ext cx="1874519" cy="1645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Actively align the existing realization</a:t>
            </a:r>
          </a:p>
        </p:txBody>
      </p:sp>
      <p:cxnSp>
        <p:nvCxnSpPr>
          <p:cNvPr id="906" name="Connector 905"/>
          <p:cNvCxnSpPr/>
          <p:nvPr/>
        </p:nvCxnSpPr>
        <p:spPr>
          <a:xfrm>
            <a:off x="6638544" y="2834640"/>
            <a:ext cx="301752"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Card"/>
          <p:cNvSpPr/>
          <p:nvPr/>
        </p:nvSpPr>
        <p:spPr>
          <a:xfrm>
            <a:off x="6940296" y="2011680"/>
            <a:ext cx="1874519" cy="1645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Passively align subsequent changes</a:t>
            </a:r>
          </a:p>
        </p:txBody>
      </p:sp>
      <p:sp>
        <p:nvSpPr>
          <p:cNvPr id="908" name="Label"/>
          <p:cNvSpPr txBox="1"/>
          <p:nvPr/>
        </p:nvSpPr>
        <p:spPr>
          <a:xfrm>
            <a:off x="548640" y="4206240"/>
            <a:ext cx="8046720" cy="457200"/>
          </a:xfrm>
          <a:prstGeom prst="rect">
            <a:avLst/>
          </a:prstGeom>
          <a:noFill/>
        </p:spPr>
        <p:txBody>
          <a:bodyPr wrap="square" anchor="t" lIns="27432" rIns="27432" tIns="22860" bIns="22860">
            <a:spAutoFit/>
          </a:bodyPr>
          <a:lstStyle/>
          <a:p>
            <a:pPr algn="ctr"/>
            <a:r>
              <a:rPr sz="2200" b="0" i="0">
                <a:solidFill>
                  <a:srgbClr val="5C4826"/>
                </a:solidFill>
              </a:rPr>
              <a:t>That is the lifecycle.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Learning can change three things</a:t>
            </a:r>
          </a:p>
        </p:txBody>
      </p:sp>
      <p:sp>
        <p:nvSpPr>
          <p:cNvPr id="900" name="Slide Number Placeholder 900"/>
          <p:cNvSpPr>
            <a:spLocks noGrp="1"/>
          </p:cNvSpPr>
          <p:nvPr>
            <p:ph type="sldNum" sz="quarter" idx="4"/>
          </p:nvPr>
        </p:nvSpPr>
        <p:spPr/>
        <p:txBody>
          <a:bodyPr/>
          <a:lstStyle/>
          <a:p>
            <a:fld id="{ECC62C95-06B7-478B-9E6C-BA793986094F}" type="slidenum">
              <a:rPr lang="en-US" smtClean="0"/>
              <a:t>37</a:t>
            </a:fld>
            <a:endParaRPr lang="en-US"/>
          </a:p>
        </p:txBody>
      </p:sp>
      <p:sp>
        <p:nvSpPr>
          <p:cNvPr id="901" name="Card"/>
          <p:cNvSpPr/>
          <p:nvPr/>
        </p:nvSpPr>
        <p:spPr>
          <a:xfrm>
            <a:off x="548640" y="2011680"/>
            <a:ext cx="2651760" cy="2011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800" b="1" i="0">
                <a:solidFill>
                  <a:srgbClr val="5C4826"/>
                </a:solidFill>
              </a:rPr>
              <a:t>SYSTEM</a:t>
            </a:r>
          </a:p>
        </p:txBody>
      </p:sp>
      <p:sp>
        <p:nvSpPr>
          <p:cNvPr id="902" name="Card"/>
          <p:cNvSpPr/>
          <p:nvPr/>
        </p:nvSpPr>
        <p:spPr>
          <a:xfrm>
            <a:off x="3383280" y="2011680"/>
            <a:ext cx="2651760" cy="2011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800" b="1" i="0">
                <a:solidFill>
                  <a:srgbClr val="5C4826"/>
                </a:solidFill>
              </a:rPr>
              <a:t>TEAM</a:t>
            </a:r>
          </a:p>
        </p:txBody>
      </p:sp>
      <p:sp>
        <p:nvSpPr>
          <p:cNvPr id="903" name="Card"/>
          <p:cNvSpPr/>
          <p:nvPr/>
        </p:nvSpPr>
        <p:spPr>
          <a:xfrm>
            <a:off x="6217920" y="2011680"/>
            <a:ext cx="2651760" cy="2011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800" b="1" i="0">
                <a:solidFill>
                  <a:srgbClr val="5C4826"/>
                </a:solidFill>
              </a:rPr>
              <a:t>ENGINEER</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Schön: the reflective practitioner</a:t>
            </a:r>
          </a:p>
        </p:txBody>
      </p:sp>
      <p:sp>
        <p:nvSpPr>
          <p:cNvPr id="900" name="Slide Number Placeholder 900"/>
          <p:cNvSpPr>
            <a:spLocks noGrp="1"/>
          </p:cNvSpPr>
          <p:nvPr>
            <p:ph type="sldNum" sz="quarter" idx="4"/>
          </p:nvPr>
        </p:nvSpPr>
        <p:spPr/>
        <p:txBody>
          <a:bodyPr/>
          <a:lstStyle/>
          <a:p>
            <a:fld id="{39B9D2FE-B078-4487-9F5F-2EEF4DFC66C2}" type="slidenum">
              <a:rPr lang="en-US" smtClean="0"/>
              <a:t>38</a:t>
            </a:fld>
            <a:endParaRPr lang="en-US"/>
          </a:p>
        </p:txBody>
      </p:sp>
      <p:sp>
        <p:nvSpPr>
          <p:cNvPr id="901" name="Card"/>
          <p:cNvSpPr/>
          <p:nvPr/>
        </p:nvSpPr>
        <p:spPr>
          <a:xfrm>
            <a:off x="283464" y="2377440"/>
            <a:ext cx="155448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22860" bIns="22860"/>
          <a:lstStyle/>
          <a:p>
            <a:pPr algn="ctr"/>
            <a:r>
              <a:rPr sz="2000" b="1" i="0">
                <a:solidFill>
                  <a:srgbClr val="5C4826"/>
                </a:solidFill>
              </a:rPr>
              <a:t>Decision</a:t>
            </a:r>
          </a:p>
        </p:txBody>
      </p:sp>
      <p:cxnSp>
        <p:nvCxnSpPr>
          <p:cNvPr id="902" name="Connector 901"/>
          <p:cNvCxnSpPr/>
          <p:nvPr/>
        </p:nvCxnSpPr>
        <p:spPr>
          <a:xfrm>
            <a:off x="1837943" y="2788920"/>
            <a:ext cx="201169"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2039112" y="2377440"/>
            <a:ext cx="155448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22860" bIns="22860"/>
          <a:lstStyle/>
          <a:p>
            <a:pPr algn="ctr"/>
            <a:r>
              <a:rPr sz="2000" b="1" i="0">
                <a:solidFill>
                  <a:srgbClr val="5C4826"/>
                </a:solidFill>
              </a:rPr>
              <a:t>Consequence</a:t>
            </a:r>
          </a:p>
        </p:txBody>
      </p:sp>
      <p:cxnSp>
        <p:nvCxnSpPr>
          <p:cNvPr id="904" name="Connector 903"/>
          <p:cNvCxnSpPr/>
          <p:nvPr/>
        </p:nvCxnSpPr>
        <p:spPr>
          <a:xfrm>
            <a:off x="3593591" y="2788920"/>
            <a:ext cx="201168"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Card"/>
          <p:cNvSpPr/>
          <p:nvPr/>
        </p:nvSpPr>
        <p:spPr>
          <a:xfrm>
            <a:off x="3794760" y="2377440"/>
            <a:ext cx="155448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22860" bIns="22860"/>
          <a:lstStyle/>
          <a:p>
            <a:pPr algn="ctr"/>
            <a:r>
              <a:rPr sz="2000" b="1" i="0">
                <a:solidFill>
                  <a:srgbClr val="5C4826"/>
                </a:solidFill>
              </a:rPr>
              <a:t>Reflection</a:t>
            </a:r>
          </a:p>
        </p:txBody>
      </p:sp>
      <p:cxnSp>
        <p:nvCxnSpPr>
          <p:cNvPr id="906" name="Connector 905"/>
          <p:cNvCxnSpPr/>
          <p:nvPr/>
        </p:nvCxnSpPr>
        <p:spPr>
          <a:xfrm>
            <a:off x="5349240" y="2788920"/>
            <a:ext cx="201168"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Card"/>
          <p:cNvSpPr/>
          <p:nvPr/>
        </p:nvSpPr>
        <p:spPr>
          <a:xfrm>
            <a:off x="5550408" y="2377440"/>
            <a:ext cx="155448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22860" bIns="22860"/>
          <a:lstStyle/>
          <a:p>
            <a:pPr algn="ctr"/>
            <a:r>
              <a:rPr sz="2000" b="1" i="0">
                <a:solidFill>
                  <a:srgbClr val="5C4826"/>
                </a:solidFill>
              </a:rPr>
              <a:t>Repertoire</a:t>
            </a:r>
          </a:p>
        </p:txBody>
      </p:sp>
      <p:cxnSp>
        <p:nvCxnSpPr>
          <p:cNvPr id="908" name="Connector 907"/>
          <p:cNvCxnSpPr/>
          <p:nvPr/>
        </p:nvCxnSpPr>
        <p:spPr>
          <a:xfrm>
            <a:off x="7104888" y="2788920"/>
            <a:ext cx="201168"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9" name="Card"/>
          <p:cNvSpPr/>
          <p:nvPr/>
        </p:nvSpPr>
        <p:spPr>
          <a:xfrm>
            <a:off x="7306056" y="2377440"/>
            <a:ext cx="155448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9144" rIns="9144" tIns="22860" bIns="22860"/>
          <a:lstStyle/>
          <a:p>
            <a:pPr algn="ctr"/>
            <a:r>
              <a:rPr sz="2000" b="1" i="0">
                <a:solidFill>
                  <a:srgbClr val="5C4826"/>
                </a:solidFill>
              </a:rPr>
              <a:t>Future recognition</a:t>
            </a:r>
          </a:p>
        </p:txBody>
      </p:sp>
      <p:sp>
        <p:nvSpPr>
          <p:cNvPr id="910" name="Label"/>
          <p:cNvSpPr txBox="1"/>
          <p:nvPr/>
        </p:nvSpPr>
        <p:spPr>
          <a:xfrm>
            <a:off x="548640" y="3840480"/>
            <a:ext cx="8046720" cy="731520"/>
          </a:xfrm>
          <a:prstGeom prst="rect">
            <a:avLst/>
          </a:prstGeom>
          <a:noFill/>
        </p:spPr>
        <p:txBody>
          <a:bodyPr wrap="square" anchor="t" lIns="27432" rIns="27432" tIns="22860" bIns="22860">
            <a:spAutoFit/>
          </a:bodyPr>
          <a:lstStyle/>
          <a:p>
            <a:pPr algn="ctr"/>
            <a:r>
              <a:rPr sz="2200" b="0" i="0">
                <a:solidFill>
                  <a:srgbClr val="5C4826"/>
                </a:solidFill>
              </a:rPr>
              <a:t>Human judgment still matters: not every lesson can or should be mechanized.</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b="0" i="0">
                <a:solidFill>
                  <a:srgbClr val="000000"/>
                </a:solidFill>
              </a:rPr>
              <a:t>Failure is an expensive observation</a:t>
            </a:r>
          </a:p>
        </p:txBody>
      </p:sp>
      <p:sp>
        <p:nvSpPr>
          <p:cNvPr id="900" name="Slide Number Placeholder 900"/>
          <p:cNvSpPr>
            <a:spLocks noGrp="1"/>
          </p:cNvSpPr>
          <p:nvPr>
            <p:ph type="sldNum" sz="quarter" idx="4"/>
          </p:nvPr>
        </p:nvSpPr>
        <p:spPr/>
        <p:txBody>
          <a:bodyPr/>
          <a:lstStyle/>
          <a:p>
            <a:fld id="{CB5F44A2-D062-441C-AD58-E2D5787D8459}" type="slidenum">
              <a:rPr lang="en-US" smtClean="0"/>
              <a:t>39</a:t>
            </a:fld>
            <a:endParaRPr lang="en-US"/>
          </a:p>
        </p:txBody>
      </p:sp>
      <p:sp>
        <p:nvSpPr>
          <p:cNvPr id="901" name="VerbalLine"/>
          <p:cNvSpPr txBox="1"/>
          <p:nvPr/>
        </p:nvSpPr>
        <p:spPr>
          <a:xfrm>
            <a:off x="274320" y="786384"/>
            <a:ext cx="8595360" cy="822960"/>
          </a:xfrm>
          <a:prstGeom prst="rect">
            <a:avLst/>
          </a:prstGeom>
          <a:noFill/>
        </p:spPr>
        <p:txBody>
          <a:bodyPr wrap="square" anchor="ctr" lIns="27432" rIns="27432" tIns="22860" bIns="22860">
            <a:spAutoFit/>
          </a:bodyPr>
          <a:lstStyle/>
          <a:p>
            <a:pPr algn="ctr"/>
            <a:r>
              <a:rPr sz="2000" b="0" i="1">
                <a:solidFill>
                  <a:srgbClr val="5C4826"/>
                </a:solidFill>
              </a:rPr>
              <a:t>Modeling decides what distinctions matter. Failure reveals when we were wrong. Governance conversion decides which newly discovered distinctions future engineering should inherit.</a:t>
            </a:r>
          </a:p>
        </p:txBody>
      </p:sp>
      <p:sp>
        <p:nvSpPr>
          <p:cNvPr id="902" name="N-model"/>
          <p:cNvSpPr/>
          <p:nvPr/>
        </p:nvSpPr>
        <p:spPr>
          <a:xfrm>
            <a:off x="457200" y="1627632"/>
            <a:ext cx="1554480" cy="47548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MODEL</a:t>
            </a:r>
          </a:p>
        </p:txBody>
      </p:sp>
      <p:cxnSp>
        <p:nvCxnSpPr>
          <p:cNvPr id="903" name="Connector 902"/>
          <p:cNvCxnSpPr/>
          <p:nvPr/>
        </p:nvCxnSpPr>
        <p:spPr>
          <a:xfrm>
            <a:off x="2011680" y="1865376"/>
            <a:ext cx="68580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4" name="N-realization"/>
          <p:cNvSpPr/>
          <p:nvPr/>
        </p:nvSpPr>
        <p:spPr>
          <a:xfrm>
            <a:off x="2697480" y="1627632"/>
            <a:ext cx="1737360" cy="47548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REALIZATION</a:t>
            </a:r>
          </a:p>
        </p:txBody>
      </p:sp>
      <p:cxnSp>
        <p:nvCxnSpPr>
          <p:cNvPr id="905" name="Connector 904"/>
          <p:cNvCxnSpPr/>
          <p:nvPr/>
        </p:nvCxnSpPr>
        <p:spPr>
          <a:xfrm>
            <a:off x="4434840" y="1865376"/>
            <a:ext cx="68580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6" name="N-reality"/>
          <p:cNvSpPr/>
          <p:nvPr/>
        </p:nvSpPr>
        <p:spPr>
          <a:xfrm>
            <a:off x="5120640" y="1627632"/>
            <a:ext cx="1554480" cy="47548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REALITY</a:t>
            </a:r>
          </a:p>
        </p:txBody>
      </p:sp>
      <p:cxnSp>
        <p:nvCxnSpPr>
          <p:cNvPr id="907" name="Connector 906"/>
          <p:cNvCxnSpPr/>
          <p:nvPr/>
        </p:nvCxnSpPr>
        <p:spPr>
          <a:xfrm>
            <a:off x="5897880" y="2103120"/>
            <a:ext cx="0" cy="5943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8" name="L-missing"/>
          <p:cNvSpPr txBox="1"/>
          <p:nvPr/>
        </p:nvSpPr>
        <p:spPr>
          <a:xfrm>
            <a:off x="6784848" y="2103120"/>
            <a:ext cx="2057400" cy="731520"/>
          </a:xfrm>
          <a:prstGeom prst="rect">
            <a:avLst/>
          </a:prstGeom>
          <a:noFill/>
        </p:spPr>
        <p:txBody>
          <a:bodyPr wrap="square" anchor="t" lIns="27432" rIns="27432" tIns="22860" bIns="22860">
            <a:spAutoFit/>
          </a:bodyPr>
          <a:lstStyle/>
          <a:p>
            <a:pPr algn="l"/>
            <a:r>
              <a:rPr sz="2000" b="0" i="0">
                <a:solidFill>
                  <a:srgbClr val="555960"/>
                </a:solidFill>
              </a:rPr>
              <a:t>failure reveals a missing distinction</a:t>
            </a:r>
          </a:p>
        </p:txBody>
      </p:sp>
      <p:sp>
        <p:nvSpPr>
          <p:cNvPr id="909" name="N-evidence"/>
          <p:cNvSpPr/>
          <p:nvPr/>
        </p:nvSpPr>
        <p:spPr>
          <a:xfrm>
            <a:off x="5120640" y="2697480"/>
            <a:ext cx="1554480" cy="47548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EVIDENCE</a:t>
            </a:r>
          </a:p>
        </p:txBody>
      </p:sp>
      <p:cxnSp>
        <p:nvCxnSpPr>
          <p:cNvPr id="910" name="Connector 909"/>
          <p:cNvCxnSpPr/>
          <p:nvPr/>
        </p:nvCxnSpPr>
        <p:spPr>
          <a:xfrm flipH="1">
            <a:off x="4297680" y="2935224"/>
            <a:ext cx="82296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1" name="L-judge"/>
          <p:cNvSpPr txBox="1"/>
          <p:nvPr/>
        </p:nvSpPr>
        <p:spPr>
          <a:xfrm>
            <a:off x="3154680" y="2304288"/>
            <a:ext cx="2103120" cy="347472"/>
          </a:xfrm>
          <a:prstGeom prst="rect">
            <a:avLst/>
          </a:prstGeom>
          <a:noFill/>
        </p:spPr>
        <p:txBody>
          <a:bodyPr wrap="square" anchor="t" lIns="27432" rIns="27432" tIns="22860" bIns="22860">
            <a:spAutoFit/>
          </a:bodyPr>
          <a:lstStyle/>
          <a:p>
            <a:pPr algn="ctr"/>
            <a:r>
              <a:rPr sz="2000" b="0" i="0">
                <a:solidFill>
                  <a:srgbClr val="555960"/>
                </a:solidFill>
              </a:rPr>
              <a:t>interpret / judge</a:t>
            </a:r>
          </a:p>
        </p:txBody>
      </p:sp>
      <p:sp>
        <p:nvSpPr>
          <p:cNvPr id="912" name="N-judgment"/>
          <p:cNvSpPr/>
          <p:nvPr/>
        </p:nvSpPr>
        <p:spPr>
          <a:xfrm>
            <a:off x="2697480" y="2697480"/>
            <a:ext cx="1600200" cy="47548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JUDGMENT</a:t>
            </a:r>
          </a:p>
        </p:txBody>
      </p:sp>
      <p:cxnSp>
        <p:nvCxnSpPr>
          <p:cNvPr id="913" name="Connector 912"/>
          <p:cNvCxnSpPr/>
          <p:nvPr/>
        </p:nvCxnSpPr>
        <p:spPr>
          <a:xfrm flipH="1">
            <a:off x="1783080" y="3172968"/>
            <a:ext cx="1234440" cy="43891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14" name="Connector 913"/>
          <p:cNvCxnSpPr/>
          <p:nvPr/>
        </p:nvCxnSpPr>
        <p:spPr>
          <a:xfrm>
            <a:off x="4023360" y="3172968"/>
            <a:ext cx="1828800" cy="43891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5" name="N-nostructure"/>
          <p:cNvSpPr/>
          <p:nvPr/>
        </p:nvSpPr>
        <p:spPr>
          <a:xfrm>
            <a:off x="365760" y="3611880"/>
            <a:ext cx="2468880" cy="7772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1">
                <a:solidFill>
                  <a:srgbClr val="5C4826"/>
                </a:solidFill>
              </a:rPr>
              <a:t>lesson does not warrant structure</a:t>
            </a:r>
          </a:p>
        </p:txBody>
      </p:sp>
      <p:sp>
        <p:nvSpPr>
          <p:cNvPr id="916" name="N-govconv"/>
          <p:cNvSpPr/>
          <p:nvPr/>
        </p:nvSpPr>
        <p:spPr>
          <a:xfrm>
            <a:off x="3840480" y="3611880"/>
            <a:ext cx="4754880" cy="11430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1">
                <a:solidFill>
                  <a:srgbClr val="FFFFFF"/>
                </a:solidFill>
              </a:rPr>
              <a:t>consequential, recurring, representable</a:t>
            </a:r>
          </a:p>
          <a:p>
            <a:pPr algn="ctr">
              <a:spcBef>
                <a:spcPts val="400"/>
              </a:spcBef>
            </a:pPr>
            <a:r>
              <a:rPr sz="2000" b="1" i="0">
                <a:solidFill>
                  <a:srgbClr val="FFFFFF"/>
                </a:solidFill>
              </a:rPr>
              <a:t>GOVERNANCE CONVERSION</a:t>
            </a:r>
          </a:p>
          <a:p>
            <a:pPr algn="ctr">
              <a:spcBef>
                <a:spcPts val="400"/>
              </a:spcBef>
            </a:pPr>
            <a:r>
              <a:rPr sz="2000" b="0" i="0">
                <a:solidFill>
                  <a:srgbClr val="FFFFFF"/>
                </a:solidFill>
              </a:rPr>
              <a:t>model · validation · constraint · control</a:t>
            </a:r>
          </a:p>
        </p:txBody>
      </p:sp>
      <p:cxnSp>
        <p:nvCxnSpPr>
          <p:cNvPr id="917" name="Connector 916"/>
          <p:cNvCxnSpPr/>
          <p:nvPr/>
        </p:nvCxnSpPr>
        <p:spPr>
          <a:xfrm>
            <a:off x="1600200" y="4389120"/>
            <a:ext cx="1234440" cy="7315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18" name="Connector 917"/>
          <p:cNvCxnSpPr/>
          <p:nvPr/>
        </p:nvCxnSpPr>
        <p:spPr>
          <a:xfrm flipH="1">
            <a:off x="4160520" y="4754880"/>
            <a:ext cx="205740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9" name="N-modelprime"/>
          <p:cNvSpPr/>
          <p:nvPr/>
        </p:nvSpPr>
        <p:spPr>
          <a:xfrm>
            <a:off x="2697480" y="5120640"/>
            <a:ext cx="160020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MODEL′</a:t>
            </a:r>
          </a:p>
        </p:txBody>
      </p:sp>
      <p:cxnSp>
        <p:nvCxnSpPr>
          <p:cNvPr id="920" name="Connector 919"/>
          <p:cNvCxnSpPr/>
          <p:nvPr/>
        </p:nvCxnSpPr>
        <p:spPr>
          <a:xfrm>
            <a:off x="4297680" y="5376672"/>
            <a:ext cx="73152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1" name="L-loop"/>
          <p:cNvSpPr txBox="1"/>
          <p:nvPr/>
        </p:nvSpPr>
        <p:spPr>
          <a:xfrm>
            <a:off x="5120640" y="5193792"/>
            <a:ext cx="3383280" cy="365760"/>
          </a:xfrm>
          <a:prstGeom prst="rect">
            <a:avLst/>
          </a:prstGeom>
          <a:noFill/>
        </p:spPr>
        <p:txBody>
          <a:bodyPr wrap="square" anchor="t" lIns="27432" rIns="27432" tIns="22860" bIns="22860">
            <a:spAutoFit/>
          </a:bodyPr>
          <a:lstStyle/>
          <a:p>
            <a:pPr algn="l"/>
            <a:r>
              <a:rPr sz="2000" b="0" i="1">
                <a:solidFill>
                  <a:srgbClr val="555960"/>
                </a:solidFill>
              </a:rPr>
              <a:t>the loop continues …</a:t>
            </a:r>
          </a:p>
        </p:txBody>
      </p:sp>
      <p:sp>
        <p:nvSpPr>
          <p:cNvPr id="922"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Failure is inevitable. Recurring failure is not.</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8577</TotalTime>
  <Words>7265</Words>
  <Application>Microsoft Macintosh PowerPoint</Application>
  <PresentationFormat>On-screen Show (4:3)</PresentationFormat>
  <Paragraphs>623</Paragraphs>
  <Slides>31</Slides>
  <Notes>31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31</vt:i4>
      </vt:variant>
    </vt:vector>
  </HeadingPairs>
  <TitlesOfParts>
    <vt:vector size="36" baseType="lpstr">
      <vt:lpstr>Arial</vt:lpstr>
      <vt:lpstr>Calibri</vt:lpstr>
      <vt:lpstr>Consolas</vt:lpstr>
      <vt:lpstr>Times</vt:lpstr>
      <vt:lpstr>Purdue1</vt:lpstr>
      <vt:lpstr>PowerPoint Presentation</vt:lpstr>
      <vt:lpstr>The Master Equation: Alignment adds a check</vt:lpstr>
      <vt:lpstr>Vibe-code a todo list</vt:lpstr>
      <vt:lpstr>Does it work?</vt:lpstr>
      <vt:lpstr>Validation meets Delegation</vt:lpstr>
      <vt:lpstr>Bounding delegated work</vt:lpstr>
      <vt:lpstr>Delegation bounds the task and the process</vt:lpstr>
      <vt:lpstr>Give it a work order</vt:lpstr>
      <vt:lpstr>Bound the consequential degrees of freedom</vt:lpstr>
      <vt:lpstr>How can delegated work fail?</vt:lpstr>
      <vt:lpstr>Either bound can be violated</vt:lpstr>
      <vt:lpstr>Wrong result</vt:lpstr>
      <vt:lpstr>Wrong process can fail in different ways</vt:lpstr>
      <vt:lpstr>From failures to controls</vt:lpstr>
      <vt:lpstr>Prevent or detect?</vt:lpstr>
      <vt:lpstr>Four roles in a control system</vt:lpstr>
      <vt:lpstr>Alignment gives validation judgments consequences</vt:lpstr>
      <vt:lpstr>Check it where you can know</vt:lpstr>
      <vt:lpstr>Where can you decide?</vt:lpstr>
      <vt:lpstr>Earlier is not always possible</vt:lpstr>
      <vt:lpstr>Stretch break</vt:lpstr>
      <vt:lpstr>Models as validation surfaces</vt:lpstr>
      <vt:lpstr>Recall Modeling Lab, Activity 1</vt:lpstr>
      <vt:lpstr>Models give us something to check against</vt:lpstr>
      <vt:lpstr>Check correspondence statically</vt:lpstr>
      <vt:lpstr>Check correspondence dynamically</vt:lpstr>
      <vt:lpstr>Alignment helps us answer just one of three questions</vt:lpstr>
      <vt:lpstr>Exercise</vt:lpstr>
      <vt:lpstr>Back to the lab: Design the Alignment</vt:lpstr>
      <vt:lpstr>Report-out: Compare your Alignment approaches</vt:lpstr>
      <vt:lpstr>In closing: How do you supervise your delegation?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438</cp:revision>
  <dcterms:created xsi:type="dcterms:W3CDTF">2020-02-21T23:00:33Z</dcterms:created>
  <dcterms:modified xsi:type="dcterms:W3CDTF">2026-10-08T03:06:19Z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