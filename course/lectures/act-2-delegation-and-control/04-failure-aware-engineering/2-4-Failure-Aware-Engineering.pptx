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ASK simply: What failed? Let them say ethics, engineer, management, software, requirements, regulation. Do not resolve it - the question returns once more, on a different case.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point: the ordinary speak-up control ACTUALLY FIRED. Objection was raised and escalated; the November 2006 decision was to continue, with the instruction recorded in substance as "not to get caught."</a:t>
            </a:r>
          </a:p>
          <a:p>
            <a:r>
              <a:t>- Not an ethics seminar - the engineering question is what happened AFTER the human control fired.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Two facts: NOT A ROGUE PATCH (calibration / integration / certification / maintenance -&gt; sustained engineering), and the work was DELEGATED too (Volkswagen -&gt; IAV -&gt; continued engineering).</a:t>
            </a:r>
          </a:p>
          <a:p>
            <a:r>
              <a:t>- The scale question is a seed, not the headline: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Put student answers on screen, verbatim, as they come.</a:t>
            </a:r>
          </a:p>
          <a:p>
            <a:r>
              <a:t>- Keep the list visible; the next slides test candidate causal models against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Test it against the story: objections, escalation, authorization, delegation to IAV, year-after-year certification. One individual does not account for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Layered defenses, each imperfect; the accident traverses aligned holes.</a:t>
            </a:r>
          </a:p>
          <a:p>
            <a:r>
              <a:t>- Test it against the story: which defenses existed, and where were the holes? The intervention unit becomes the defenses, not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story moves up a level: the conditions that shaped behavior, not the behavior alone.</a:t>
            </a:r>
          </a:p>
          <a:p>
            <a:r>
              <a:t>- Test it against the story: what conditions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[Author: the old slide-12 STAMP narration lands here.]</a:t>
            </a:r>
          </a:p>
          <a:p>
            <a:r>
              <a:t>- A systems-theoretic account: include every level of control and feedback, from regulators down to the operating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Each model includes more of the causal story than the last.</a:t>
            </a:r>
          </a:p>
          <a:p>
            <a:r>
              <a:t>- But a more complete account is not automatically a more usable one: as the account widens, more of it lies outside what any one engineer or team can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Now the line has concrete meaning rather than being abstract modeling doctrine.</a:t>
            </a:r>
          </a:p>
          <a:p>
            <a:r>
              <a:t>- Connect back to the student answers from the opening slide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Walk the chain: requirements -&gt; specification -&gt; architecture -&gt; design -&gt; implementation.</a:t>
            </a:r>
          </a:p>
          <a:p>
            <a:r>
              <a:t>- ASK where the Volkswagen failure lived on this chain. The discussion should surface that it was not an implementation defect.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incident rarely maps to a single decision; the diagnosis may implicate several at once.</a:t>
            </a:r>
          </a:p>
          <a:p>
            <a:r>
              <a:t>- Volkswagen: the requirement conflict, the design response, and the authority structure were all implicated.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Collect answers before offering structure.</a:t>
            </a:r>
          </a:p>
          <a:p>
            <a:r>
              <a:t>- Steer toward validation: the next slide runs Validation backward to locate where knowledge should have been produced.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Claim -&gt; scope -&gt; mechanism -&gt; strategy -&gt; evidence -&gt; judgment, run in reverse: which judgment admitted this realization, on which evidence, under which claim?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"we failed, therefore our validation was bad."</a:t>
            </a:r>
          </a:p>
          <a:p>
            <a:r>
              <a:t>- The diagnostic question is whether the failure fell inside the claimed scope or in the residual uncertainty that was knowingly accepted.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Straight out of Engineering Knowledge (Act I): an observation becomes knowledge only through analysis.</a:t>
            </a:r>
          </a:p>
          <a:p>
            <a:r>
              <a:t>- The 2012 hardware-failure slide is the counter-example to hold up: evidence was produced, analysis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failure licenses several candidate lessons of increasing breadth; the evidence supports only some of them.</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lesson: both are legitimate; they preserve different things.</a:t>
            </a:r>
          </a:p>
          <a:p>
            <a:r>
              <a:t>- ASK what each one catches next time, and what each one misses.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can migrate into requirements, specifications, architecture, mechanisms/models, validation, or continuing checks/controls when future work should inherit the lesson.</a:t>
            </a:r>
          </a:p>
          <a:p>
            <a:r>
              <a:t>- ASK for one lesson from the course project and where it should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A much better final Volkswagen discussion than "who was unethical?"</a:t>
            </a:r>
          </a:p>
          <a:p>
            <a:r>
              <a:t>- The footer question is the discussion; give it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reusable control capability can support legitimate calibration and testing purposes. The consequential engineering question is what behavior the integrated system uses that distinction to produce.</a:t>
            </a:r>
          </a:p>
          <a:p>
            <a:r>
              <a:t>- The general engineering shape: a supplier builds a capability; an integrator attaches a policy to it; the use, not the mechanism, carries the obligation. Supplier -&gt; capability -&gt; integrator -&gt; use.</a:t>
            </a:r>
          </a:p>
          <a:p>
            <a:r>
              <a:t>- Do not spend five minutes on the supplier relationship. The point is the capability/use distinction, which the next slide exploits.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The software already had a way to recognize test conditions</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100584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 CONTROL SOFTWARE</a:t>
            </a:r>
          </a:p>
        </p:txBody>
      </p:sp>
      <p:cxnSp>
        <p:nvCxnSpPr>
          <p:cNvPr id="902" name="Connector 902"/>
          <p:cNvCxnSpPr/>
          <p:nvPr/>
        </p:nvCxnSpPr>
        <p:spPr>
          <a:xfrm>
            <a:off x="4572000" y="15544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187452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3794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4617720"/>
            <a:ext cx="8046720" cy="45720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obligations constrain a capability like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30936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and escalated</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5156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November 2006. </a:t>
            </a:r>
            <a:r>
              <a:rPr sz="2000" b="0" i="0">
                <a:solidFill>
                  <a:srgbClr val="555960"/>
                </a:solidFill>
              </a:rPr>
              <a:t>The relevant supervisor was briefed on its purpose and design, and decided production should continue.</a:t>
            </a:r>
          </a:p>
        </p:txBody>
      </p:sp>
      <p:sp>
        <p:nvSpPr>
          <p:cNvPr id="903" name="Card"/>
          <p:cNvSpPr/>
          <p:nvPr/>
        </p:nvSpPr>
        <p:spPr>
          <a:xfrm>
            <a:off x="411480" y="324612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The plea agreement </a:t>
            </a:r>
            <a:r>
              <a:rPr sz="2000" b="0" i="0">
                <a:solidFill>
                  <a:srgbClr val="555960"/>
                </a:solidFill>
              </a:rPr>
              <a:t>records the instruction, in substance, as </a:t>
            </a:r>
            <a:r>
              <a:rPr sz="2000" b="1" i="0">
                <a:solidFill>
                  <a:srgbClr val="9A3F12"/>
                </a:solidFill>
              </a:rPr>
              <a:t>“not to get caught.”</a:t>
            </a:r>
          </a:p>
        </p:txBody>
      </p:sp>
      <p:sp>
        <p:nvSpPr>
          <p:cNvPr id="904" name="Label"/>
          <p:cNvSpPr txBox="1"/>
          <p:nvPr/>
        </p:nvSpPr>
        <p:spPr>
          <a:xfrm>
            <a:off x="411480" y="4572000"/>
            <a:ext cx="8321040" cy="731520"/>
          </a:xfrm>
          <a:prstGeom prst="rect">
            <a:avLst/>
          </a:prstGeom>
          <a:noFill/>
        </p:spPr>
        <p:txBody>
          <a:bodyPr wrap="square" anchor="t" lIns="27432" rIns="27432" tIns="22860" bIns="22860">
            <a:spAutoFit/>
          </a:bodyPr>
          <a:lstStyle/>
          <a:p>
            <a:pPr algn="ctr"/>
            <a:r>
              <a:rPr sz="2200" b="0" i="1">
                <a:solidFill>
                  <a:srgbClr val="8E6F3E"/>
                </a:solidFill>
              </a:rPr>
              <a:t>Was raising the concern the end of those engineers’ professional responsibility?</a:t>
            </a:r>
          </a:p>
        </p:txBody>
      </p:sp>
      <p:sp>
        <p:nvSpPr>
          <p:cNvPr id="9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And yet engineers kept engineering it</a:t>
            </a:r>
          </a:p>
        </p:txBody>
      </p:sp>
      <p:sp>
        <p:nvSpPr>
          <p:cNvPr id="900" name="Slide Number Placeholder 900"/>
          <p:cNvSpPr>
            <a:spLocks noGrp="1"/>
          </p:cNvSpPr>
          <p:nvPr>
            <p:ph type="sldNum" sz="quarter" idx="4"/>
          </p:nvPr>
        </p:nvSpPr>
        <p:spPr/>
        <p:txBody>
          <a:bodyPr/>
          <a:lstStyle/>
          <a:p>
            <a:fld id="{18B79205-D12A-40D3-8F8D-9C5E87B1B06B}" type="slidenum">
              <a:rPr lang="en-US" smtClean="0"/>
              <a:t>7</a:t>
            </a:fld>
            <a:endParaRPr lang="en-US"/>
          </a:p>
        </p:txBody>
      </p:sp>
      <p:sp>
        <p:nvSpPr>
          <p:cNvPr id="901" name="Card"/>
          <p:cNvSpPr/>
          <p:nvPr/>
        </p:nvSpPr>
        <p:spPr>
          <a:xfrm>
            <a:off x="411480" y="11430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Not a rogue patch. </a:t>
            </a:r>
            <a:r>
              <a:rPr sz="2000" b="0" i="0">
                <a:solidFill>
                  <a:srgbClr val="555960"/>
                </a:solidFill>
              </a:rPr>
              <a:t>The defeat device required calibration, integration, certification work, and continued maintenance - sustained engineering.</a:t>
            </a:r>
          </a:p>
        </p:txBody>
      </p:sp>
      <p:sp>
        <p:nvSpPr>
          <p:cNvPr id="902" name="Card"/>
          <p:cNvSpPr/>
          <p:nvPr/>
        </p:nvSpPr>
        <p:spPr>
          <a:xfrm>
            <a:off x="411480" y="27432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Delegated, too. </a:t>
            </a:r>
            <a:r>
              <a:rPr sz="2000" b="0" i="0">
                <a:solidFill>
                  <a:srgbClr val="555960"/>
                </a:solidFill>
              </a:rPr>
              <a:t>Volkswagen delegated software-development and exhaust-after-treatment work to IAV, where the test-recognition work continued under a manager who knew its purpose.</a:t>
            </a:r>
          </a:p>
        </p:txBody>
      </p:sp>
      <p:sp>
        <p:nvSpPr>
          <p:cNvPr id="910" name="Label"/>
          <p:cNvSpPr txBox="1"/>
          <p:nvPr/>
        </p:nvSpPr>
        <p:spPr>
          <a:xfrm>
            <a:off x="411480" y="4480560"/>
            <a:ext cx="8321040" cy="54864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1" name="Card"/>
          <p:cNvSpPr/>
          <p:nvPr/>
        </p:nvSpPr>
        <p:spPr>
          <a:xfrm>
            <a:off x="548640" y="1463040"/>
            <a:ext cx="3749039" cy="2377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CAUSAL MODEL</a:t>
            </a:r>
          </a:p>
          <a:p>
            <a:pPr algn="ctr">
              <a:spcBef>
                <a:spcPts val="1200"/>
              </a:spcBef>
            </a:pPr>
            <a:r>
              <a:rPr sz="2000" b="0" i="0">
                <a:solidFill>
                  <a:srgbClr val="555960"/>
                </a:solidFill>
              </a:rPr>
              <a:t>An individual erred.</a:t>
            </a:r>
          </a:p>
        </p:txBody>
      </p:sp>
      <p:cxnSp>
        <p:nvCxnSpPr>
          <p:cNvPr id="902" name="Connector 901"/>
          <p:cNvCxnSpPr/>
          <p:nvPr/>
        </p:nvCxnSpPr>
        <p:spPr>
          <a:xfrm>
            <a:off x="4389120" y="265176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5029200" y="1463040"/>
            <a:ext cx="3566160" cy="23774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ONE INTERVENTION</a:t>
            </a:r>
          </a:p>
          <a:p>
            <a:pPr algn="ctr"/>
            <a:r>
              <a:rPr sz="2000" b="0" i="0">
                <a:solidFill>
                  <a:srgbClr val="FFFFFF"/>
                </a:solidFill>
              </a:rPr>
              <a:t>change the individual</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gives one intervention.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defenses and their holes matter.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3840480"/>
            <a:ext cx="8046720" cy="457200"/>
          </a:xfrm>
          <a:prstGeom prst="rect">
            <a:avLst/>
          </a:prstGeom>
          <a:noFill/>
        </p:spPr>
        <p:txBody>
          <a:bodyPr wrap="square" anchor="t" lIns="27432" rIns="27432" tIns="22860" bIns="22860">
            <a:spAutoFit/>
          </a:bodyPr>
          <a:lstStyle/>
          <a:p>
            <a:pPr algn="ctr"/>
            <a:r>
              <a:rPr sz="2200" b="0" i="0">
                <a:solidFill>
                  <a:srgbClr val="5C4826"/>
                </a:solidFill>
              </a:rPr>
              <a:t>Now conditions shaping behavior matter.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Fine, include everything</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Model the entire control structure — every level, every loop.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More complete can become less actionable</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338328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548640" y="3520440"/>
            <a:ext cx="8046720" cy="411480"/>
          </a:xfrm>
          <a:prstGeom prst="rect">
            <a:avLst/>
          </a:prstGeom>
          <a:noFill/>
        </p:spPr>
        <p:txBody>
          <a:bodyPr wrap="square" anchor="t" lIns="27432" rIns="27432" tIns="22860" bIns="22860">
            <a:spAutoFit/>
          </a:bodyPr>
          <a:lstStyle/>
          <a:p>
            <a:pPr algn="ctr"/>
            <a:r>
              <a:rPr sz="2000" b="1" i="0">
                <a:solidFill>
                  <a:srgbClr val="8E6F3E"/>
                </a:solidFill>
              </a:rPr>
              <a:t>more complete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the causal model to the locus of control</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the model whose levers you actually hold.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10" name="Side"/>
          <p:cNvSpPr txBox="1"/>
          <p:nvPr/>
        </p:nvSpPr>
        <p:spPr>
          <a:xfrm>
            <a:off x="4206240" y="1645920"/>
            <a:ext cx="4480560" cy="2926080"/>
          </a:xfrm>
          <a:prstGeom prst="rect">
            <a:avLst/>
          </a:prstGeom>
          <a:noFill/>
        </p:spPr>
        <p:txBody>
          <a:bodyPr wrap="square" anchor="t" lIns="27432" rIns="27432" tIns="22860" bIns="22860">
            <a:spAutoFit/>
          </a:bodyPr>
          <a:lstStyle/>
          <a:p>
            <a:pPr algn="l"/>
            <a:r>
              <a:rPr sz="2000" b="1" i="0">
                <a:solidFill>
                  <a:srgbClr val="5C4826"/>
                </a:solidFill>
              </a:rPr>
              <a:t>A failure is observed in the realization.</a:t>
            </a:r>
          </a:p>
          <a:p>
            <a:pPr algn="l">
              <a:spcBef>
                <a:spcPts val="1200"/>
              </a:spcBef>
            </a:pPr>
            <a:r>
              <a:rPr sz="2000" b="0" i="0">
                <a:solidFill>
                  <a:srgbClr val="555960"/>
                </a:solidFill>
              </a:rPr>
              <a:t>Diagnosis traces it back to the decision — or decisions — that produced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incident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INCIDENT</a:t>
            </a:r>
          </a:p>
        </p:txBody>
      </p:sp>
      <p:sp>
        <p:nvSpPr>
          <p:cNvPr id="902" name="Card"/>
          <p:cNvSpPr/>
          <p:nvPr/>
        </p:nvSpPr>
        <p:spPr>
          <a:xfrm>
            <a:off x="5760720" y="1188720"/>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requirements</a:t>
            </a:r>
          </a:p>
        </p:txBody>
      </p:sp>
      <p:cxnSp>
        <p:nvCxnSpPr>
          <p:cNvPr id="903" name="Connector 902"/>
          <p:cNvCxnSpPr/>
          <p:nvPr/>
        </p:nvCxnSpPr>
        <p:spPr>
          <a:xfrm flipV="1">
            <a:off x="3017520" y="1472184"/>
            <a:ext cx="2743200" cy="168249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Card"/>
          <p:cNvSpPr/>
          <p:nvPr/>
        </p:nvSpPr>
        <p:spPr>
          <a:xfrm>
            <a:off x="5760720" y="2066543"/>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specification</a:t>
            </a:r>
          </a:p>
        </p:txBody>
      </p:sp>
      <p:cxnSp>
        <p:nvCxnSpPr>
          <p:cNvPr id="905" name="Connector 904"/>
          <p:cNvCxnSpPr/>
          <p:nvPr/>
        </p:nvCxnSpPr>
        <p:spPr>
          <a:xfrm flipV="1">
            <a:off x="3017520" y="2350008"/>
            <a:ext cx="2743200" cy="8046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5760720" y="2944368"/>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architecture</a:t>
            </a:r>
          </a:p>
        </p:txBody>
      </p:sp>
      <p:cxnSp>
        <p:nvCxnSpPr>
          <p:cNvPr id="907" name="Connector 906"/>
          <p:cNvCxnSpPr/>
          <p:nvPr/>
        </p:nvCxnSpPr>
        <p:spPr>
          <a:xfrm>
            <a:off x="3017520" y="3154680"/>
            <a:ext cx="2743200" cy="7315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Card"/>
          <p:cNvSpPr/>
          <p:nvPr/>
        </p:nvSpPr>
        <p:spPr>
          <a:xfrm>
            <a:off x="5760720" y="3822191"/>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design</a:t>
            </a:r>
          </a:p>
        </p:txBody>
      </p:sp>
      <p:cxnSp>
        <p:nvCxnSpPr>
          <p:cNvPr id="909" name="Connector 908"/>
          <p:cNvCxnSpPr/>
          <p:nvPr/>
        </p:nvCxnSpPr>
        <p:spPr>
          <a:xfrm>
            <a:off x="3017520" y="3154680"/>
            <a:ext cx="2743200" cy="950975"/>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Card"/>
          <p:cNvSpPr/>
          <p:nvPr/>
        </p:nvSpPr>
        <p:spPr>
          <a:xfrm>
            <a:off x="5760720" y="4700016"/>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implementation</a:t>
            </a:r>
          </a:p>
        </p:txBody>
      </p:sp>
      <p:cxnSp>
        <p:nvCxnSpPr>
          <p:cNvPr id="911" name="Connector 910"/>
          <p:cNvCxnSpPr/>
          <p:nvPr/>
        </p:nvCxnSpPr>
        <p:spPr>
          <a:xfrm>
            <a:off x="3017520" y="3154680"/>
            <a:ext cx="2743200" cy="182879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Why didn't we know?</a:t>
            </a:r>
          </a:p>
        </p:txBody>
      </p:sp>
      <p:sp>
        <p:nvSpPr>
          <p:cNvPr id="900" name="Slide Number Placeholder 900"/>
          <p:cNvSpPr>
            <a:spLocks noGrp="1"/>
          </p:cNvSpPr>
          <p:nvPr>
            <p:ph type="sldNum" sz="quarter" idx="4"/>
          </p:nvPr>
        </p:nvSpPr>
        <p:spPr/>
        <p:txBody>
          <a:bodyPr/>
          <a:lstStyle/>
          <a:p>
            <a:fld id="{BBD7B01D-2451-459F-B1A1-0BB2DA8CD569}" type="slidenum">
              <a:rPr lang="en-US" smtClean="0"/>
              <a:t>23</a:t>
            </a:fld>
            <a:endParaRPr lang="en-US"/>
          </a:p>
        </p:txBody>
      </p:sp>
      <p:sp>
        <p:nvSpPr>
          <p:cNvPr id="901" name="Card"/>
          <p:cNvSpPr/>
          <p:nvPr/>
        </p:nvSpPr>
        <p:spPr>
          <a:xfrm>
            <a:off x="914400" y="1280160"/>
            <a:ext cx="7315200" cy="3931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Candidate answers</a:t>
            </a:r>
          </a:p>
          <a:p>
            <a:pPr algn="ctr">
              <a:spcBef>
                <a:spcPts val="1000"/>
              </a:spcBef>
            </a:pPr>
            <a:r>
              <a:rPr sz="2000" b="0" i="1">
                <a:solidFill>
                  <a:srgbClr val="555960"/>
                </a:solidFill>
              </a:rPr>
              <a:t>(collected live)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24</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486400" y="1645920"/>
            <a:ext cx="3108960" cy="2926080"/>
          </a:xfrm>
          <a:prstGeom prst="rect">
            <a:avLst/>
          </a:prstGeom>
          <a:noFill/>
        </p:spPr>
        <p:txBody>
          <a:bodyPr wrap="square" anchor="t" lIns="27432" rIns="27432" tIns="22860" bIns="22860">
            <a:spAutoFit/>
          </a:bodyPr>
          <a:lstStyle/>
          <a:p>
            <a:pPr algn="l"/>
            <a:r>
              <a:rPr sz="2000" b="1" i="0">
                <a:solidFill>
                  <a:srgbClr val="5C4826"/>
                </a:solidFill>
              </a:rPr>
              <a:t>Start from the judgment that admitted the failure.</a:t>
            </a:r>
          </a:p>
          <a:p>
            <a:pPr algn="l">
              <a:spcBef>
                <a:spcPts val="1200"/>
              </a:spcBef>
            </a:pPr>
            <a:r>
              <a:rPr sz="2000" b="0" i="0">
                <a:solidFill>
                  <a:srgbClr val="555960"/>
                </a:solidFill>
              </a:rPr>
              <a:t>Walk back to the claim it rested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25</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 failure may land exactly there — without the validation having been wrong.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27</a:t>
            </a:fld>
            <a:endParaRPr lang="en-US"/>
          </a:p>
        </p:txBody>
      </p:sp>
      <p:sp>
        <p:nvSpPr>
          <p:cNvPr id="901" name="Block"/>
          <p:cNvSpPr/>
          <p:nvPr/>
        </p:nvSpPr>
        <p:spPr>
          <a:xfrm>
            <a:off x="54864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2331720"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65176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04" name="Connector 903"/>
          <p:cNvCxnSpPr/>
          <p:nvPr/>
        </p:nvCxnSpPr>
        <p:spPr>
          <a:xfrm>
            <a:off x="4434840" y="2788920"/>
            <a:ext cx="32003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475487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ANALYSIS</a:t>
            </a:r>
          </a:p>
        </p:txBody>
      </p:sp>
      <p:cxnSp>
        <p:nvCxnSpPr>
          <p:cNvPr id="906" name="Connector 905"/>
          <p:cNvCxnSpPr/>
          <p:nvPr/>
        </p:nvCxnSpPr>
        <p:spPr>
          <a:xfrm>
            <a:off x="6537959"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685799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sp>
        <p:nvSpPr>
          <p:cNvPr id="908" name="Label"/>
          <p:cNvSpPr txBox="1"/>
          <p:nvPr/>
        </p:nvSpPr>
        <p:spPr>
          <a:xfrm>
            <a:off x="548640" y="3657600"/>
            <a:ext cx="8046720" cy="548640"/>
          </a:xfrm>
          <a:prstGeom prst="rect">
            <a:avLst/>
          </a:prstGeom>
          <a:noFill/>
        </p:spPr>
        <p:txBody>
          <a:bodyPr wrap="square" anchor="t" lIns="27432" rIns="27432" tIns="22860" bIns="22860">
            <a:spAutoFit/>
          </a:bodyPr>
          <a:lstStyle/>
          <a:p>
            <a:pPr algn="ctr"/>
            <a:r>
              <a:rPr sz="2200" b="0" i="0">
                <a:solidFill>
                  <a:srgbClr val="5C4826"/>
                </a:solidFill>
              </a:rPr>
              <a:t>Failure produces evidence. Analyze it into a lesson.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28</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The same observation; support thins as the claim widens.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29</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400"/>
              </a:spcBef>
            </a:pPr>
            <a:r>
              <a:rPr sz="2000" b="1" i="0">
                <a:solidFill>
                  <a:srgbClr val="8E6F3E"/>
                </a:solidFill>
              </a:rPr>
              <a:t>Regression test</a:t>
            </a:r>
          </a:p>
          <a:p>
            <a:pPr algn="ctr">
              <a:spcBef>
                <a:spcPts val="800"/>
              </a:spcBef>
            </a:pPr>
            <a:r>
              <a:rPr sz="2000" b="0" i="0">
                <a:solidFill>
                  <a:srgbClr val="555960"/>
                </a:solidFill>
              </a:rPr>
              <a:t>pins this exact case so it can never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400"/>
              </a:spcBef>
            </a:pPr>
            <a:r>
              <a:rPr sz="2000" b="1" i="0">
                <a:solidFill>
                  <a:srgbClr val="8E6F3E"/>
                </a:solidFill>
              </a:rPr>
              <a:t>Generalized lesson</a:t>
            </a:r>
          </a:p>
          <a:p>
            <a:pPr algn="ctr">
              <a:spcBef>
                <a:spcPts val="800"/>
              </a:spcBef>
            </a:pPr>
            <a:r>
              <a:rPr sz="2000" b="0" i="0">
                <a:solidFill>
                  <a:srgbClr val="555960"/>
                </a:solidFill>
              </a:rPr>
              <a:t>covers the class of cases the example revealed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30</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31</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33</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34</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35</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Which judgments should never have remained discretionary?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36</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37</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38</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39</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