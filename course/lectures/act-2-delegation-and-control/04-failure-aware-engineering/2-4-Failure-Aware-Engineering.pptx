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4" r:id="rId3"/>
    <p:sldId id="305" r:id="rId4"/>
    <p:sldId id="306" r:id="rId5"/>
    <p:sldId id="307" r:id="rId6"/>
    <p:sldId id="309" r:id="rId8"/>
    <p:sldId id="310" r:id="rId9"/>
    <p:sldId id="311" r:id="rId10"/>
    <p:sldId id="312" r:id="rId11"/>
    <p:sldId id="313" r:id="rId12"/>
    <p:sldId id="314" r:id="rId13"/>
    <p:sldId id="315" r:id="rId14"/>
    <p:sldId id="316" r:id="rId15"/>
    <p:sldId id="317" r:id="rId16"/>
    <p:sldId id="318" r:id="rId17"/>
    <p:sldId id="319" r:id="rId18"/>
    <p:sldId id="320" r:id="rId19"/>
    <p:sldId id="321" r:id="rId20"/>
    <p:sldId id="322" r:id="rId21"/>
    <p:sldId id="323" r:id="rId22"/>
    <p:sldId id="324" r:id="rId23"/>
    <p:sldId id="325" r:id="rId24"/>
    <p:sldId id="326" r:id="rId25"/>
    <p:sldId id="327" r:id="rId26"/>
    <p:sldId id="331" r:id="rId27"/>
    <p:sldId id="332" r:id="rId28"/>
    <p:sldId id="328" r:id="rId29"/>
    <p:sldId id="329" r:id="rId30"/>
    <p:sldId id="3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71 minutes (was 75; the A/B/C commitment slide and its 4 minutes were deleted 261022, and slide 5 took 2 of them back for the component-model repair), with the slide-6 commitment discussion, the slide-27 FMEA transfer exercise, and the slide-29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6)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THE TECHNICAL CORE. Walk the flow top-down, then the array panel: 21 declared vs 20 supplied. The wildcard branch is WHY this stayed latent for months — say so, because slide 6 depends on it. Point at the MISSING CHECK box and name it as the defect the next slide repairs. Carry the qualification out loud: this is illustrative control flow, not Falcon's source.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five.</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FIRST OF THREE CAUSAL BOUNDARIES. This model is COMPLETE and USEFUL within its scope — present it that way. We are not setting up a misconception for the next model to correct (the A/B/C commitment slide was deleted 261022 for exactly that reason).</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 add the bounds check. Correct — and CrowdStrike did exactly that. Say so plainly: the bounds check would have prevented this crash, and a runtime bounds check is one of the six mitigations the RCA commits to. The component-level account has identified a defect and a repair, and it is RIGHT about both.</a:t>
            </a:r>
          </a:p>
          <a:p>
            <a:r>
              <a:t>DO NOT ask whether the repair would have prevented the outage reaching 8.5 million machines. That question introduces the Swiss-cheese analysis one slide early and makes the second model look like a correction of this one rather than an answer to a different question.</a:t>
            </a:r>
          </a:p>
          <a:p>
            <a:r>
              <a:t>CLOSE WITH THE NEW EVIDENCE, NOT A CHALLENGE: the bounds check would have prevented this crash. But the investigation also found that the incompatible content passed through CrowdStrike's own engineering process and reached millions of machines. How did THAT happen? — that question is the next slide, and it comes from new evidence about the process, not from this model failing.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8's reveal.</a:t>
            </a:r>
          </a:p>
          <a:p>
            <a:r>
              <a:t>ASK: which defense should have stopped it?</a:t>
            </a:r>
          </a:p>
          <a:p>
            <a:r>
              <a:t>EXPECTED ANSWERS: 'the validator' (most common), 'testing'. Misconception to surface: students assume every named stage existed and merely underperformed. Hold the correction for slide 8.</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6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a:p>
            <a:r>
              <a:t>QUALIFICATION (author, notes only — the slide wording stays): 'a failure escapes only when the weaknesses ALIGN' is a simplification. The intended meaning is that weaknesses align across the defenses RELEVANT TO A PARTICULAR FAILURE TRAJECTORY — not that every conceivable defense in the organization must fail. Carry the qualification verbally if a student presses on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EVIDENCE REPLACES THE SCHEMATIC. DELIVER EFFICIENTLY (author reallocation 261015): slide 6 already introduced the evidence — walk the four rows and the absent/failed distinction without re-deriving each finding.</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8's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15 then applies the full structure to CrowdStrike — do not merge or reorder the two.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CENTRAL CONCEPTUAL PAYOFF OF MOVEMENT 3. PACING (author reallocation 261015): state the common-cause principle once and do not re-derive it — slide 17 carries the architectural discussion and keeps its protected 4 minutes.</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26) and the diagnosis exercise (slide 28).</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a:p/>
          <a:p>
            <a:r>
              <a:t>PROGRESSION (say it, do not re-explain slides 9/10/15-18): this slide asks WHAT LESSON THE EVIDENCE JUSTIFIES.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revised 261015): walk the chain, then land the distinction with the Schön line beneath the diagram — experience accumulates by itself; expertise does not. Reflection is the deliberate comparison of expectation with outcome, and that comparison, not the hours, feeds the repertoire. (The duplicate opening sentence above the diagram was removed: one statement of the point, stated once.)</a:t>
            </a:r>
          </a:p>
          <a:p>
            <a:endParaRPr/>
          </a:p>
          <a:p>
            <a:r>
              <a:t>PROGRESSION: 21 asked what lesson the evidence justifies. This slide asks HOW THAT LESSON CHANGES THE ENGINEER.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GOVERNANCE CONVERSION — the lesson changes the ENVIRONMENT. (Reallocated +1 minute, author revision 261015: this slide introduces five diagnostic categories and maps them to four earlier course units — do not rush the walk.)</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A control that was ABSENT and one that ran against the WRONG OBLIGATION call for different responses: build the missing control versus re-point the existing one. The right-hand column is a proposed engineering response, not a description of CrowdStrike's actual remediation.</a:t>
            </a:r>
          </a:p>
          <a:p>
            <a:r>
              <a:t>PACING (author): the cover-the-right-column reveal stays CUT — the FMEA exercise two slides ahead carries this movement's active learning. Spend the restored second minute on the five-row walk and the unit mapping, and state the slide-9 contrast yourself.</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absent and inadequate controls call for different responses. Diagnose which category the chain broke at, then encode it; the on-slide line says it: not every failure requires all five.</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a:p>
            <a:endParaRPr/>
          </a:p>
          <a:p>
            <a:r>
              <a:t>PROGRESSION: 22 changed the engineer. This slide asks HOW THE LESSON CHANGES THE ENGINEERING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LOCAL AND SYSTEMIC ANALYSES MEET. Pose the footer question and take one or two answers before stating the recognition yourself — students must reason about organizational authority, which needs a beat (author reallocation 261015).</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a:p>
            <a:endParaRPr/>
          </a:p>
          <a:p>
            <a:r>
              <a:t>PROGRESSION: 23 chose the structure. This slide asks WHO CAN ACTUALLY MAKE THAT CHANGE.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CROWDSTRIKE INVESTIGATION. Walk the rows with enough time for students to weigh what each evidence row establishes (author reallocation 261015)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a:p/>
          <a:p>
            <a:r>
              <a:t>PROGRESSION: 24 found the authority. This slide asks HOW WE WILL KNOW THE CHANGE WORKED. Do not re-run slide 10's argument — point back to 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BUILD (ANIMATION-IN-SPEECH — no authored animation; run the reveal as staged speech): Step 1 — read the lead and the four-step PROCEDURE at the top, before any row: identify a plausible failure mode; determine its consequences; identify existing or proposed controls; decide whether the remaining risk warrants action. This is the method slide 26 asks students to run unaided. Step 2 — only then walk the worked table one row at a time, naming which procedure step each column instantiates (failure mode -&gt; step 1, effect -&gt; step 2, candidate control -&gt; step 3). Step 3 — close on the occurrence line at the bottom: deciding which modes warrant action under unknown probabilities IS step 4.</a:t>
            </a:r>
          </a:p>
          <a:p>
            <a:r>
              <a:t>THE WORKED TABLE: each row: a FUNCTION of the system we know thoroughly, a failure mode, its effect, a candidate control — all met on slides 20–24.</a:t>
            </a:r>
          </a:p>
          <a:p>
            <a:r>
              <a:t>CARE — the staged-rollout row (cross-reference slide 24):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SIMPLIFICATION (say it to the class): a full FMEA also assesses severity, occurrence, and detectability to prioritize action. We are using a simplified version because we lack reliable estimates.</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a:p>
            <a:endParaRPr/>
          </a:p>
          <a:p>
            <a:r>
              <a:t>CLASSROOM EXECUTION: have students WRITE DOWN their worksheet answers before you advance. Once the next slide reveals the incident, hindsight will quietly rewrite what they believe they anticipated — and the comparison question on 28 depends on having their actual predictions in front of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TRIGGER AND AMPLIFIER (now labelled on the slide): the pathological regex is the TRIGGER — it exhausts CPU; global deployment without staged containment is the AMPLIFIER — it set the blast radius. Both are needed to explain the incident's scale, and the pairing is the CrowdStrike parallel: there the content defect was the trigger and unstaged Rapid Response Content distribution the amplifier.</a:t>
            </a:r>
          </a:p>
          <a:p>
            <a:r>
              <a:t>WHAT THE STEP COUNTS MEASURE (author): the counts are the number of candidate matching paths the engine explores before it can conclude — the work of backtracking — not merely a reflection of a longer input. And present 23-vs-555 as an ILLUSTRATION of the phenomenon, not a proof of exponential complexity: two measurements cannot establish an asymptotic growth rate.</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VISIBLE TASK (author revision 261015): 'Choose ONE model' is now in the on-slide instructions — groups attempt one full analysis in the five minutes, not three shallow ones.</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8: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2</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lang="en-US" sz="2000" b="1" i="0" dirty="0">
                <a:solidFill>
                  <a:srgbClr val="FFFFFF"/>
                </a:solidFill>
              </a:rPr>
              <a:t>What’s your</a:t>
            </a:r>
            <a:r>
              <a:rPr lang="en-US" sz="2000" b="1" dirty="0">
                <a:solidFill>
                  <a:srgbClr val="FFFFFF"/>
                </a:solidFill>
              </a:rPr>
              <a:t> </a:t>
            </a:r>
            <a:r>
              <a:rPr sz="2000" b="1" i="0" dirty="0">
                <a:solidFill>
                  <a:srgbClr val="FFFFFF"/>
                </a:solidFill>
              </a:rPr>
              <a:t>hypothes</a:t>
            </a:r>
            <a:r>
              <a:rPr lang="en-US" sz="2000" b="1" i="0" dirty="0">
                <a:solidFill>
                  <a:srgbClr val="FFFFFF"/>
                </a:solidFill>
              </a:rPr>
              <a:t>is?</a:t>
            </a:r>
            <a:endParaRPr sz="2000" b="1" i="0" dirty="0">
              <a:solidFill>
                <a:srgbClr val="FFFFFF"/>
              </a:solidFill>
            </a:endParaRP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3165"/>
          </a:xfrm>
          <a:prstGeom prst="rect">
            <a:avLst/>
          </a:prstGeom>
          <a:noFill/>
        </p:spPr>
        <p:txBody>
          <a:bodyPr wrap="square" lIns="27432" tIns="22860" rIns="27432" bIns="22860" anchor="t">
            <a:spAutoFit/>
          </a:bodyPr>
          <a:lstStyle/>
          <a:p>
            <a:pPr algn="ctr"/>
            <a:r>
              <a:rPr b="1" i="0" dirty="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0" grpId="0" animBg="1"/>
      <p:bldP spid="912" grpId="0" animBg="1"/>
      <p:bldP spid="914" grpId="0" animBg="1"/>
      <p:bldP spid="9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Cause: a missing input causes an out-of-bounds read</a:t>
            </a:r>
          </a:p>
        </p:txBody>
      </p:sp>
      <p:sp>
        <p:nvSpPr>
          <p:cNvPr id="900" name="Slide Number Placeholder 900"/>
          <p:cNvSpPr>
            <a:spLocks noGrp="1"/>
          </p:cNvSpPr>
          <p:nvPr>
            <p:ph type="sldNum" sz="quarter" idx="4"/>
          </p:nvPr>
        </p:nvSpPr>
        <p:spPr/>
        <p:txBody>
          <a:bodyPr/>
          <a:lstStyle/>
          <a:p>
            <a:fld id="{8CF8A65D-8523-4C39-BD83-5C787F1FA9B3}" type="slidenum">
              <a:rPr lang="en-US" smtClean="0"/>
              <a:t>4</a:t>
            </a:fld>
            <a:endParaRPr lang="en-US"/>
          </a:p>
        </p:txBody>
      </p:sp>
      <p:sp>
        <p:nvSpPr>
          <p:cNvPr id="915" name="Label"/>
          <p:cNvSpPr txBox="1"/>
          <p:nvPr/>
        </p:nvSpPr>
        <p:spPr>
          <a:xfrm>
            <a:off x="457200" y="841248"/>
            <a:ext cx="8229600" cy="512064"/>
          </a:xfrm>
          <a:prstGeom prst="rect">
            <a:avLst/>
          </a:prstGeom>
          <a:noFill/>
        </p:spPr>
        <p:txBody>
          <a:bodyPr wrap="square" lIns="27432" tIns="22860" rIns="27432" bIns="22860" anchor="t">
            <a:spAutoFit/>
          </a:bodyPr>
          <a:lstStyle/>
          <a:p>
            <a:r>
              <a:rPr sz="2000">
                <a:solidFill>
                  <a:srgbClr val="555960"/>
                </a:solidFill>
              </a:rPr>
              <a:t>The template declares the fields the interpreter expects; the integration code builds the array it reads.</a:t>
            </a:r>
          </a:p>
        </p:txBody>
      </p:sp>
      <p:sp>
        <p:nvSpPr>
          <p:cNvPr id="901" name="Block"/>
          <p:cNvSpPr/>
          <p:nvPr/>
        </p:nvSpPr>
        <p:spPr>
          <a:xfrm>
            <a:off x="457200" y="1444752"/>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TEMPLATE DECLARES 21 FIELDS   [0 … 20]</a:t>
            </a:r>
          </a:p>
        </p:txBody>
      </p:sp>
      <p:sp>
        <p:nvSpPr>
          <p:cNvPr id="901" name="Block"/>
          <p:cNvSpPr/>
          <p:nvPr/>
        </p:nvSpPr>
        <p:spPr>
          <a:xfrm>
            <a:off x="457200" y="2084831"/>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INTEGRATION CODE SUPPLIES 20 INPUTS   [0 … 19]</a:t>
            </a:r>
          </a:p>
        </p:txBody>
      </p:sp>
      <p:sp>
        <p:nvSpPr>
          <p:cNvPr id="920" name="LevelQuestion"/>
          <p:cNvSpPr/>
          <p:nvPr/>
        </p:nvSpPr>
        <p:spPr>
          <a:xfrm>
            <a:off x="457200" y="2724912"/>
            <a:ext cx="8229600"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for each field i — is criterion[ i ] a wildcard?</a:t>
            </a:r>
          </a:p>
        </p:txBody>
      </p:sp>
      <p:sp>
        <p:nvSpPr>
          <p:cNvPr id="912" name="Card"/>
          <p:cNvSpPr/>
          <p:nvPr/>
        </p:nvSpPr>
        <p:spPr>
          <a:xfrm>
            <a:off x="457200" y="3364992"/>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YES  →  match anything; the field is never read</a:t>
            </a:r>
          </a:p>
        </p:txBody>
      </p:sp>
      <p:sp>
        <p:nvSpPr>
          <p:cNvPr id="912" name="Card"/>
          <p:cNvSpPr/>
          <p:nvPr/>
        </p:nvSpPr>
        <p:spPr>
          <a:xfrm>
            <a:off x="457200" y="393192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NO  →  read inputs[ i ]</a:t>
            </a:r>
          </a:p>
        </p:txBody>
      </p:sp>
      <p:sp>
        <p:nvSpPr>
          <p:cNvPr id="912" name="Card"/>
          <p:cNvSpPr/>
          <p:nvPr/>
        </p:nvSpPr>
        <p:spPr>
          <a:xfrm>
            <a:off x="457200" y="457200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at  i = 20 :  inputs[20] does not exist  →  OUT-OF-BOUNDS READ</a:t>
            </a:r>
          </a:p>
        </p:txBody>
      </p:sp>
      <p:sp>
        <p:nvSpPr>
          <p:cNvPr id="912" name="Card"/>
          <p:cNvSpPr/>
          <p:nvPr/>
        </p:nvSpPr>
        <p:spPr>
          <a:xfrm>
            <a:off x="457200" y="5138928"/>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MISSING CHECK:   i &lt; inputs.length ?</a:t>
            </a:r>
          </a:p>
        </p:txBody>
      </p:sp>
      <p:sp>
        <p:nvSpPr>
          <p:cNvPr id="915" name="Label"/>
          <p:cNvSpPr txBox="1"/>
          <p:nvPr/>
        </p:nvSpPr>
        <p:spPr>
          <a:xfrm>
            <a:off x="457200" y="5724144"/>
            <a:ext cx="8229600" cy="548640"/>
          </a:xfrm>
          <a:prstGeom prst="rect">
            <a:avLst/>
          </a:prstGeom>
          <a:noFill/>
        </p:spPr>
        <p:txBody>
          <a:bodyPr wrap="square" lIns="27432" tIns="22860" rIns="27432" bIns="22860" anchor="t">
            <a:spAutoFit/>
          </a:bodyPr>
          <a:lstStyle/>
          <a:p>
            <a:r>
              <a:rPr sz="2000">
                <a:solidFill>
                  <a:srgbClr val="555960"/>
                </a:solidFill>
              </a:rPr>
              <a:t>Illustrative control flow, not the interpreter's source: the RCA establishes the invalid access and the missing bounds check.</a:t>
            </a:r>
          </a:p>
        </p:txBody>
      </p:sp>
      <p:cxnSp>
        <p:nvCxnSpPr>
          <p:cNvPr id="902" name="Connector 901"/>
          <p:cNvCxnSpPr/>
          <p:nvPr/>
        </p:nvCxnSpPr>
        <p:spPr>
          <a:xfrm>
            <a:off x="4572000" y="192024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256032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320040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4407408"/>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5</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01" name="Block"/>
          <p:cNvSpPr/>
          <p:nvPr/>
        </p:nvSpPr>
        <p:spPr>
          <a:xfrm>
            <a:off x="640080" y="1371600"/>
            <a:ext cx="42062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CONTENT + INTERPRETER</a:t>
            </a:r>
          </a:p>
        </p:txBody>
      </p:sp>
      <p:sp>
        <p:nvSpPr>
          <p:cNvPr id="912" name="Card"/>
          <p:cNvSpPr/>
          <p:nvPr/>
        </p:nvSpPr>
        <p:spPr>
          <a:xfrm>
            <a:off x="640080" y="197510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inputs[20]</a:t>
            </a:r>
          </a:p>
        </p:txBody>
      </p:sp>
      <p:sp>
        <p:nvSpPr>
          <p:cNvPr id="912" name="Card"/>
          <p:cNvSpPr/>
          <p:nvPr/>
        </p:nvSpPr>
        <p:spPr>
          <a:xfrm>
            <a:off x="640080" y="261518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UNSAFE ACCESS</a:t>
            </a:r>
          </a:p>
        </p:txBody>
      </p:sp>
      <p:sp>
        <p:nvSpPr>
          <p:cNvPr id="912" name="Card"/>
          <p:cNvSpPr/>
          <p:nvPr/>
        </p:nvSpPr>
        <p:spPr>
          <a:xfrm>
            <a:off x="5303520" y="2615184"/>
            <a:ext cx="3200400" cy="475488"/>
          </a:xfrm>
          <a:prstGeom prst="rect">
            <a:avLst/>
          </a:prstGeom>
          <a:solidFill>
            <a:srgbClr val="2E6B3A"/>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ADD BOUNDS CHECK</a:t>
            </a:r>
          </a:p>
        </p:txBody>
      </p:sp>
      <p:sp>
        <p:nvSpPr>
          <p:cNvPr id="915" name="Label"/>
          <p:cNvSpPr txBox="1"/>
          <p:nvPr/>
        </p:nvSpPr>
        <p:spPr>
          <a:xfrm>
            <a:off x="5303520" y="3200400"/>
            <a:ext cx="3200400" cy="475488"/>
          </a:xfrm>
          <a:prstGeom prst="rect">
            <a:avLst/>
          </a:prstGeom>
          <a:noFill/>
        </p:spPr>
        <p:txBody>
          <a:bodyPr wrap="square" lIns="27432" tIns="22860" rIns="27432" bIns="22860" anchor="t">
            <a:spAutoFit/>
          </a:bodyPr>
          <a:lstStyle/>
          <a:p>
            <a:r>
              <a:rPr sz="2000">
                <a:solidFill>
                  <a:srgbClr val="555960"/>
                </a:solidFill>
              </a:rPr>
              <a:t>the repair stops the access here</a:t>
            </a:r>
          </a:p>
        </p:txBody>
      </p:sp>
      <p:sp>
        <p:nvSpPr>
          <p:cNvPr id="915" name="Label"/>
          <p:cNvSpPr txBox="1"/>
          <p:nvPr/>
        </p:nvSpPr>
        <p:spPr>
          <a:xfrm>
            <a:off x="457200" y="4023360"/>
            <a:ext cx="8229600" cy="475488"/>
          </a:xfrm>
          <a:prstGeom prst="rect">
            <a:avLst/>
          </a:prstGeom>
          <a:noFill/>
        </p:spPr>
        <p:txBody>
          <a:bodyPr wrap="square" lIns="27432" tIns="22860" rIns="27432" bIns="22860" anchor="t">
            <a:spAutoFit/>
          </a:bodyPr>
          <a:lstStyle/>
          <a:p>
            <a:r>
              <a:rPr sz="2000">
                <a:solidFill>
                  <a:srgbClr val="5C4826"/>
                </a:solidFill>
              </a:rPr>
              <a:t>Model: the crash resulted from a defective component mechanism.</a:t>
            </a:r>
          </a:p>
        </p:txBody>
      </p:sp>
      <p:sp>
        <p:nvSpPr>
          <p:cNvPr id="915" name="Label"/>
          <p:cNvSpPr txBox="1"/>
          <p:nvPr/>
        </p:nvSpPr>
        <p:spPr>
          <a:xfrm>
            <a:off x="457200" y="4590288"/>
            <a:ext cx="8229600" cy="475488"/>
          </a:xfrm>
          <a:prstGeom prst="rect">
            <a:avLst/>
          </a:prstGeom>
          <a:noFill/>
        </p:spPr>
        <p:txBody>
          <a:bodyPr wrap="square" lIns="27432" tIns="22860" rIns="27432" bIns="22860" anchor="t">
            <a:spAutoFit/>
          </a:bodyPr>
          <a:lstStyle/>
          <a:p>
            <a:r>
              <a:rPr sz="2000">
                <a:solidFill>
                  <a:srgbClr val="5C4826"/>
                </a:solidFill>
              </a:rPr>
              <a:t>Intervention: repair the mechanism at the crash site.</a:t>
            </a:r>
          </a:p>
        </p:txBody>
      </p:sp>
      <p:cxnSp>
        <p:nvCxnSpPr>
          <p:cNvPr id="902" name="Connector 901"/>
          <p:cNvCxnSpPr/>
          <p:nvPr/>
        </p:nvCxnSpPr>
        <p:spPr>
          <a:xfrm>
            <a:off x="2743200" y="245059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4846320" y="2852928"/>
            <a:ext cx="4572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7</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6F3E5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8</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11</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12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14</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We have expanded the system boundary. Now we need a model that explains</a:t>
            </a:r>
          </a:p>
          <a:p>
            <a:pPr algn="ctr"/>
            <a:r>
              <a:rPr sz="1400" b="0" i="0">
                <a:solidFill>
                  <a:srgbClr val="5C4826"/>
                </a:solidFill>
              </a:rPr>
              <a:t>how organizations control the behaviour of that system.</a:t>
            </a:r>
          </a:p>
          <a:p>
            <a:pPr algn="ctr"/>
            <a:r>
              <a:rPr sz="1400" b="0" i="0">
                <a:solidFill>
                  <a:srgbClr val="5C4826"/>
                </a:solidFill>
              </a:rPr>
              <a:t>STAMP (Leveson): accidents arise when the control structure fails to enforce</a:t>
            </a:r>
          </a:p>
          <a:p>
            <a:pPr algn="ctr"/>
            <a:r>
              <a:rPr sz="1400" b="0" i="0">
                <a:solidFill>
                  <a:srgbClr val="5C4826"/>
                </a:solidFill>
              </a:rPr>
              <a:t>safety constraints. A controller can be software, an operator, or an organization.</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15</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17</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18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19</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20</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22</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23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07568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07568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282549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57530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3251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282549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57530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32511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MIGHT WE CHANGE?</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a:t>
            </a:r>
          </a:p>
          <a:p>
            <a:pPr algn="ctr"/>
            <a:r>
              <a:rPr lang="en-US" sz="2000" b="1" i="0" dirty="0">
                <a:solidFill>
                  <a:srgbClr val="FFFFFF"/>
                </a:solidFill>
              </a:rPr>
              <a:t>Absent and inadequate controls call for different responses.</a:t>
            </a:r>
          </a:p>
        </p:txBody>
      </p:sp>
      <p:cxnSp>
        <p:nvCxnSpPr>
          <p:cNvPr id="1000" name="Connector 911"/>
          <p:cNvCxnSpPr/>
          <p:nvPr/>
        </p:nvCxnSpPr>
        <p:spPr>
          <a:xfrm>
            <a:off x="2194560" y="1892807"/>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642616"/>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392424"/>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142232"/>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
        <p:nvSpPr>
          <p:cNvPr id="1004" name="Label"/>
          <p:cNvSpPr txBox="1"/>
          <p:nvPr/>
        </p:nvSpPr>
        <p:spPr>
          <a:xfrm>
            <a:off x="548640" y="4974336"/>
            <a:ext cx="8046720" cy="384048"/>
          </a:xfrm>
          <a:prstGeom prst="rect">
            <a:avLst/>
          </a:prstGeom>
          <a:noFill/>
        </p:spPr>
        <p:txBody>
          <a:bodyPr wrap="square" lIns="27432" tIns="22860" rIns="27432" bIns="22860" anchor="t">
            <a:spAutoFit/>
          </a:bodyPr>
          <a:lstStyle/>
          <a:p>
            <a:pPr algn="ctr"/>
            <a:r>
              <a:rPr sz="1200" b="1" i="0">
                <a:solidFill>
                  <a:srgbClr val="5C4826"/>
                </a:solidFill>
              </a:rPr>
              <a:t>Diagnose the missing obligation, representation, evidence, evaluation, or enforcement.</a:t>
            </a:r>
          </a:p>
          <a:p>
            <a:pPr algn="ctr"/>
            <a:r>
              <a:rPr sz="1200" b="1" i="0">
                <a:solidFill>
                  <a:srgbClr val="5C4826"/>
                </a:solidFill>
              </a:rPr>
              <a:t>Not every failure requires all five.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24</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25</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26</a:t>
            </a:fld>
            <a:endParaRPr lang="en-US"/>
          </a:p>
        </p:txBody>
      </p:sp>
      <p:sp>
        <p:nvSpPr>
          <p:cNvPr id="903" name="Card"/>
          <p:cNvSpPr/>
          <p:nvPr/>
        </p:nvSpPr>
        <p:spPr>
          <a:xfrm>
            <a:off x="2103120" y="223113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invalid content causes unsafe execution</a:t>
            </a:r>
          </a:p>
        </p:txBody>
      </p:sp>
      <p:sp>
        <p:nvSpPr>
          <p:cNvPr id="907" name="Card"/>
          <p:cNvSpPr/>
          <p:nvPr/>
        </p:nvSpPr>
        <p:spPr>
          <a:xfrm>
            <a:off x="2103120" y="300837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a:solidFill>
                  <a:srgbClr val="5C4826"/>
                </a:solidFill>
              </a:rPr>
              <a:t>a defect escapes testing</a:t>
            </a:r>
          </a:p>
        </p:txBody>
      </p:sp>
      <p:sp>
        <p:nvSpPr>
          <p:cNvPr id="909" name="Block"/>
          <p:cNvSpPr/>
          <p:nvPr/>
        </p:nvSpPr>
        <p:spPr>
          <a:xfrm>
            <a:off x="365760" y="223113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Interpret security content</a:t>
            </a:r>
            <a:endParaRPr lang="en-US" sz="2000" b="1" i="0" dirty="0">
              <a:solidFill>
                <a:srgbClr val="FFFFFF"/>
              </a:solidFill>
            </a:endParaRPr>
          </a:p>
        </p:txBody>
      </p:sp>
      <p:sp>
        <p:nvSpPr>
          <p:cNvPr id="910" name="Block"/>
          <p:cNvSpPr/>
          <p:nvPr/>
        </p:nvSpPr>
        <p:spPr>
          <a:xfrm>
            <a:off x="365760" y="300837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785615"/>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Distribute content</a:t>
            </a:r>
            <a:endParaRPr sz="2000" b="1" i="0" dirty="0">
              <a:solidFill>
                <a:srgbClr val="FFFFFF"/>
              </a:solidFill>
            </a:endParaRPr>
          </a:p>
        </p:txBody>
      </p:sp>
      <p:sp>
        <p:nvSpPr>
          <p:cNvPr id="912" name="Block"/>
          <p:cNvSpPr/>
          <p:nvPr/>
        </p:nvSpPr>
        <p:spPr>
          <a:xfrm>
            <a:off x="365760" y="456285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785615"/>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a defective update reaches all endpoints</a:t>
            </a:r>
          </a:p>
        </p:txBody>
      </p:sp>
      <p:sp>
        <p:nvSpPr>
          <p:cNvPr id="4" name="Card"/>
          <p:cNvSpPr/>
          <p:nvPr/>
        </p:nvSpPr>
        <p:spPr>
          <a:xfrm>
            <a:off x="2103120" y="456285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endpoint failure disables critical services</a:t>
            </a:r>
            <a:endParaRPr sz="2000" b="0" i="1" dirty="0">
              <a:solidFill>
                <a:srgbClr val="5C4826"/>
              </a:solidFill>
            </a:endParaRPr>
          </a:p>
        </p:txBody>
      </p:sp>
      <p:sp>
        <p:nvSpPr>
          <p:cNvPr id="5" name="ColumnHeading"/>
          <p:cNvSpPr/>
          <p:nvPr/>
        </p:nvSpPr>
        <p:spPr>
          <a:xfrm>
            <a:off x="365760" y="1883664"/>
            <a:ext cx="1645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6" name="ColumnHeading"/>
          <p:cNvSpPr/>
          <p:nvPr/>
        </p:nvSpPr>
        <p:spPr>
          <a:xfrm>
            <a:off x="2103120" y="18836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FAILURE MODE</a:t>
            </a:r>
            <a:endParaRPr sz="2800" b="1" i="0" dirty="0">
              <a:solidFill>
                <a:schemeClr val="bg1"/>
              </a:solidFill>
            </a:endParaRPr>
          </a:p>
        </p:txBody>
      </p:sp>
      <p:sp>
        <p:nvSpPr>
          <p:cNvPr id="915" name="Label"/>
          <p:cNvSpPr txBox="1"/>
          <p:nvPr/>
        </p:nvSpPr>
        <p:spPr>
          <a:xfrm>
            <a:off x="548640" y="841248"/>
            <a:ext cx="8046720" cy="566928"/>
          </a:xfrm>
          <a:prstGeom prst="rect">
            <a:avLst/>
          </a:prstGeom>
          <a:noFill/>
        </p:spPr>
        <p:txBody>
          <a:bodyPr wrap="square" lIns="27432" tIns="22860" rIns="27432" bIns="22860" anchor="t">
            <a:spAutoFit/>
          </a:bodyPr>
          <a:lstStyle/>
          <a:p>
            <a:pPr algn="ctr"/>
            <a:r>
              <a:rPr sz="1200" b="1" i="1">
                <a:solidFill>
                  <a:srgbClr val="5C4826"/>
                </a:solidFill>
              </a:rPr>
              <a:t>We have learned from CrowdStrike. Can we use that knowledge to anticipate</a:t>
            </a:r>
          </a:p>
          <a:p>
            <a:pPr algn="ctr"/>
            <a:r>
              <a:rPr sz="1200" b="1" i="1">
                <a:solidFill>
                  <a:srgbClr val="5C4826"/>
                </a:solidFill>
              </a:rPr>
              <a:t>failures in another system?</a:t>
            </a:r>
          </a:p>
          <a:p>
            <a:pPr algn="ctr"/>
            <a:r>
              <a:rPr sz="1200" b="1" i="1">
                <a:solidFill>
                  <a:srgbClr val="5C4826"/>
                </a:solidFill>
              </a:rPr>
              <a:t>FMEA — Failure Mode and Effects Analysis — searches, function by function,</a:t>
            </a:r>
          </a:p>
          <a:p>
            <a:pPr algn="ctr"/>
            <a:r>
              <a:rPr sz="1200" b="1" i="1">
                <a:solidFill>
                  <a:srgbClr val="5C4826"/>
                </a:solidFill>
              </a:rPr>
              <a:t>for failures that have not happened yet.</a:t>
            </a:r>
          </a:p>
        </p:txBody>
      </p:sp>
      <p:sp>
        <p:nvSpPr>
          <p:cNvPr id="1000" name="ColumnHeading"/>
          <p:cNvSpPr/>
          <p:nvPr/>
        </p:nvSpPr>
        <p:spPr>
          <a:xfrm>
            <a:off x="4389120" y="1883664"/>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EFFECT</a:t>
            </a:r>
            <a:endParaRPr sz="2800" b="1" i="0" dirty="0">
              <a:solidFill>
                <a:schemeClr val="bg1"/>
              </a:solidFill>
            </a:endParaRPr>
          </a:p>
        </p:txBody>
      </p:sp>
      <p:sp>
        <p:nvSpPr>
          <p:cNvPr id="1001" name="ColumnHeading"/>
          <p:cNvSpPr/>
          <p:nvPr/>
        </p:nvSpPr>
        <p:spPr>
          <a:xfrm>
            <a:off x="6309360" y="1883664"/>
            <a:ext cx="2286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CANDIDATE CONTROL</a:t>
            </a:r>
            <a:endParaRPr sz="2800" b="1" i="0" dirty="0">
              <a:solidFill>
                <a:schemeClr val="bg1"/>
              </a:solidFill>
            </a:endParaRPr>
          </a:p>
        </p:txBody>
      </p:sp>
      <p:sp>
        <p:nvSpPr>
          <p:cNvPr id="1002" name="Card"/>
          <p:cNvSpPr/>
          <p:nvPr/>
        </p:nvSpPr>
        <p:spPr>
          <a:xfrm>
            <a:off x="4389120" y="223113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endpoint failure</a:t>
            </a:r>
          </a:p>
        </p:txBody>
      </p:sp>
      <p:sp>
        <p:nvSpPr>
          <p:cNvPr id="1003" name="Card"/>
          <p:cNvSpPr/>
          <p:nvPr/>
        </p:nvSpPr>
        <p:spPr>
          <a:xfrm>
            <a:off x="6309360" y="223113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contract validation</a:t>
            </a:r>
          </a:p>
        </p:txBody>
      </p:sp>
      <p:sp>
        <p:nvSpPr>
          <p:cNvPr id="1004" name="Card"/>
          <p:cNvSpPr/>
          <p:nvPr/>
        </p:nvSpPr>
        <p:spPr>
          <a:xfrm>
            <a:off x="4389120" y="300837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defective update released</a:t>
            </a:r>
          </a:p>
        </p:txBody>
      </p:sp>
      <p:sp>
        <p:nvSpPr>
          <p:cNvPr id="1005" name="Card"/>
          <p:cNvSpPr/>
          <p:nvPr/>
        </p:nvSpPr>
        <p:spPr>
          <a:xfrm>
            <a:off x="6309360" y="300837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compatibility tests</a:t>
            </a:r>
          </a:p>
        </p:txBody>
      </p:sp>
      <p:sp>
        <p:nvSpPr>
          <p:cNvPr id="1006" name="Card"/>
          <p:cNvSpPr/>
          <p:nvPr/>
        </p:nvSpPr>
        <p:spPr>
          <a:xfrm>
            <a:off x="4389120" y="3785615"/>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widespread outage</a:t>
            </a:r>
          </a:p>
        </p:txBody>
      </p:sp>
      <p:sp>
        <p:nvSpPr>
          <p:cNvPr id="1007" name="Card"/>
          <p:cNvSpPr/>
          <p:nvPr/>
        </p:nvSpPr>
        <p:spPr>
          <a:xfrm>
            <a:off x="6309360" y="3785615"/>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staged rollout + demonstrated halt</a:t>
            </a:r>
          </a:p>
        </p:txBody>
      </p:sp>
      <p:sp>
        <p:nvSpPr>
          <p:cNvPr id="1008" name="Card"/>
          <p:cNvSpPr/>
          <p:nvPr/>
        </p:nvSpPr>
        <p:spPr>
          <a:xfrm>
            <a:off x="4389120" y="456285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service disruption</a:t>
            </a:r>
          </a:p>
        </p:txBody>
      </p:sp>
      <p:sp>
        <p:nvSpPr>
          <p:cNvPr id="1009" name="Card"/>
          <p:cNvSpPr/>
          <p:nvPr/>
        </p:nvSpPr>
        <p:spPr>
          <a:xfrm>
            <a:off x="6309360" y="456285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service paths</a:t>
            </a:r>
          </a:p>
        </p:txBody>
      </p:sp>
      <p:sp>
        <p:nvSpPr>
          <p:cNvPr id="1010" name="Label"/>
          <p:cNvSpPr txBox="1"/>
          <p:nvPr/>
        </p:nvSpPr>
        <p:spPr>
          <a:xfrm>
            <a:off x="548640" y="5358384"/>
            <a:ext cx="8046720" cy="365760"/>
          </a:xfrm>
          <a:prstGeom prst="rect">
            <a:avLst/>
          </a:prstGeom>
          <a:noFill/>
        </p:spPr>
        <p:txBody>
          <a:bodyPr wrap="square" lIns="27432" tIns="22860" rIns="27432" bIns="22860" anchor="t">
            <a:spAutoFit/>
          </a:bodyPr>
          <a:lstStyle/>
          <a:p>
            <a:pPr algn="ctr"/>
            <a:r>
              <a:rPr sz="1200" b="1" i="1">
                <a:solidFill>
                  <a:srgbClr val="5C4826"/>
                </a:solidFill>
              </a:rPr>
              <a:t>How often will each mode occur? Occurrence stays ‘?’ — which modes warrant action even when their probabilities are unknown?</a:t>
            </a:r>
          </a:p>
        </p:txBody>
      </p:sp>
      <p:sp>
        <p:nvSpPr>
          <p:cNvPr id="1011" name="Label"/>
          <p:cNvSpPr txBox="1"/>
          <p:nvPr/>
        </p:nvSpPr>
        <p:spPr>
          <a:xfrm>
            <a:off x="548640" y="1389888"/>
            <a:ext cx="3931920" cy="219456"/>
          </a:xfrm>
          <a:prstGeom prst="rect">
            <a:avLst/>
          </a:prstGeom>
          <a:noFill/>
        </p:spPr>
        <p:txBody>
          <a:bodyPr wrap="none" lIns="27432" tIns="22860" rIns="27432" bIns="22860" anchor="t">
            <a:spAutoFit/>
          </a:bodyPr>
          <a:lstStyle/>
          <a:p>
            <a:pPr algn="l"/>
            <a:r>
              <a:rPr sz="1200" b="1" i="1">
                <a:solidFill>
                  <a:srgbClr val="5C4826"/>
                </a:solidFill>
              </a:rPr>
              <a:t>1  Identify a plausible failure mode</a:t>
            </a:r>
          </a:p>
        </p:txBody>
      </p:sp>
      <p:sp>
        <p:nvSpPr>
          <p:cNvPr id="1012" name="Label"/>
          <p:cNvSpPr txBox="1"/>
          <p:nvPr/>
        </p:nvSpPr>
        <p:spPr>
          <a:xfrm>
            <a:off x="4526280" y="1389888"/>
            <a:ext cx="3931920" cy="219456"/>
          </a:xfrm>
          <a:prstGeom prst="rect">
            <a:avLst/>
          </a:prstGeom>
          <a:noFill/>
        </p:spPr>
        <p:txBody>
          <a:bodyPr wrap="none" lIns="27432" tIns="22860" rIns="27432" bIns="22860" anchor="t">
            <a:spAutoFit/>
          </a:bodyPr>
          <a:lstStyle/>
          <a:p>
            <a:pPr algn="l"/>
            <a:r>
              <a:rPr sz="1200" b="1" i="1">
                <a:solidFill>
                  <a:srgbClr val="5C4826"/>
                </a:solidFill>
              </a:rPr>
              <a:t>2  Determine its consequences</a:t>
            </a:r>
          </a:p>
        </p:txBody>
      </p:sp>
      <p:sp>
        <p:nvSpPr>
          <p:cNvPr id="1013" name="Label"/>
          <p:cNvSpPr txBox="1"/>
          <p:nvPr/>
        </p:nvSpPr>
        <p:spPr>
          <a:xfrm>
            <a:off x="548640" y="1627632"/>
            <a:ext cx="3931920" cy="219456"/>
          </a:xfrm>
          <a:prstGeom prst="rect">
            <a:avLst/>
          </a:prstGeom>
          <a:noFill/>
        </p:spPr>
        <p:txBody>
          <a:bodyPr wrap="none" lIns="27432" tIns="22860" rIns="27432" bIns="22860" anchor="t">
            <a:spAutoFit/>
          </a:bodyPr>
          <a:lstStyle/>
          <a:p>
            <a:pPr algn="l"/>
            <a:r>
              <a:rPr sz="1200" b="1" i="1">
                <a:solidFill>
                  <a:srgbClr val="5C4826"/>
                </a:solidFill>
              </a:rPr>
              <a:t>3  Identify existing or proposed controls</a:t>
            </a:r>
          </a:p>
        </p:txBody>
      </p:sp>
      <p:sp>
        <p:nvSpPr>
          <p:cNvPr id="1014" name="Label"/>
          <p:cNvSpPr txBox="1"/>
          <p:nvPr/>
        </p:nvSpPr>
        <p:spPr>
          <a:xfrm>
            <a:off x="4526280" y="1627632"/>
            <a:ext cx="3931920" cy="219456"/>
          </a:xfrm>
          <a:prstGeom prst="rect">
            <a:avLst/>
          </a:prstGeom>
          <a:noFill/>
        </p:spPr>
        <p:txBody>
          <a:bodyPr wrap="none" lIns="27432" tIns="22860" rIns="27432" bIns="22860" anchor="t">
            <a:spAutoFit/>
          </a:bodyPr>
          <a:lstStyle/>
          <a:p>
            <a:pPr algn="l"/>
            <a:r>
              <a:rPr sz="1200" b="1" i="1">
                <a:solidFill>
                  <a:srgbClr val="5C4826"/>
                </a:solidFill>
              </a:rPr>
              <a:t>4  Decide whether the remaining risk warrants action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27</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10058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0058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operates a Web Application Firewall (WAF): it inspects incoming web requests for attacks</a:t>
            </a:r>
          </a:p>
        </p:txBody>
      </p:sp>
      <p:sp>
        <p:nvSpPr>
          <p:cNvPr id="923" name="Block"/>
          <p:cNvSpPr/>
          <p:nvPr/>
        </p:nvSpPr>
        <p:spPr>
          <a:xfrm>
            <a:off x="548640" y="1664208"/>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RULE CHANGES</a:t>
            </a:r>
          </a:p>
        </p:txBody>
      </p:sp>
      <p:sp>
        <p:nvSpPr>
          <p:cNvPr id="924" name="RowCaption"/>
          <p:cNvSpPr/>
          <p:nvPr/>
        </p:nvSpPr>
        <p:spPr>
          <a:xfrm>
            <a:off x="3383280" y="1664208"/>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new detection rules deploy without a software release — and propagate globally within seconds</a:t>
            </a:r>
          </a:p>
        </p:txBody>
      </p:sp>
      <p:sp>
        <p:nvSpPr>
          <p:cNvPr id="926" name="Block"/>
          <p:cNvSpPr/>
          <p:nvPr/>
        </p:nvSpPr>
        <p:spPr>
          <a:xfrm>
            <a:off x="548640" y="2322576"/>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RULE FORM</a:t>
            </a:r>
          </a:p>
        </p:txBody>
      </p:sp>
      <p:sp>
        <p:nvSpPr>
          <p:cNvPr id="927" name="RowCaption"/>
          <p:cNvSpPr/>
          <p:nvPr/>
        </p:nvSpPr>
        <p:spPr>
          <a:xfrm>
            <a:off x="3383280" y="2322576"/>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some detection rules are written as regular expressions</a:t>
            </a:r>
          </a:p>
        </p:txBody>
      </p:sp>
      <p:sp>
        <p:nvSpPr>
          <p:cNvPr id="5" name="ColumnHeading"/>
          <p:cNvSpPr/>
          <p:nvPr/>
        </p:nvSpPr>
        <p:spPr>
          <a:xfrm>
            <a:off x="365760" y="3072384"/>
            <a:ext cx="16459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1000" name="ColumnHeading"/>
          <p:cNvSpPr/>
          <p:nvPr/>
        </p:nvSpPr>
        <p:spPr>
          <a:xfrm>
            <a:off x="2103120" y="3072384"/>
            <a:ext cx="21945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72384"/>
            <a:ext cx="201168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72384"/>
            <a:ext cx="21031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PROPOSED CONTROL</a:t>
            </a:r>
            <a:endParaRPr sz="2800" b="1" i="0" dirty="0">
              <a:solidFill>
                <a:schemeClr val="bg1"/>
              </a:solidFill>
            </a:endParaRPr>
          </a:p>
        </p:txBody>
      </p:sp>
      <p:sp>
        <p:nvSpPr>
          <p:cNvPr id="1003" name="Block"/>
          <p:cNvSpPr/>
          <p:nvPr/>
        </p:nvSpPr>
        <p:spPr>
          <a:xfrm>
            <a:off x="365760" y="3401568"/>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Evaluate WAF rule</a:t>
            </a:r>
          </a:p>
        </p:txBody>
      </p:sp>
      <p:sp>
        <p:nvSpPr>
          <p:cNvPr id="1004" name="Block"/>
          <p:cNvSpPr/>
          <p:nvPr/>
        </p:nvSpPr>
        <p:spPr>
          <a:xfrm>
            <a:off x="365760" y="405993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Validate new rule</a:t>
            </a:r>
          </a:p>
        </p:txBody>
      </p:sp>
      <p:sp>
        <p:nvSpPr>
          <p:cNvPr id="1005" name="Block"/>
          <p:cNvSpPr/>
          <p:nvPr/>
        </p:nvSpPr>
        <p:spPr>
          <a:xfrm>
            <a:off x="365760" y="471830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Distribute rule</a:t>
            </a:r>
          </a:p>
        </p:txBody>
      </p:sp>
      <p:sp>
        <p:nvSpPr>
          <p:cNvPr id="903" name="Card"/>
          <p:cNvSpPr/>
          <p:nvPr/>
        </p:nvSpPr>
        <p:spPr>
          <a:xfrm>
            <a:off x="2103120" y="3401568"/>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6" name="Card"/>
          <p:cNvSpPr/>
          <p:nvPr/>
        </p:nvSpPr>
        <p:spPr>
          <a:xfrm>
            <a:off x="4389120" y="3401568"/>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7" name="Card"/>
          <p:cNvSpPr/>
          <p:nvPr/>
        </p:nvSpPr>
        <p:spPr>
          <a:xfrm>
            <a:off x="6492240" y="3401568"/>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8" name="Card"/>
          <p:cNvSpPr/>
          <p:nvPr/>
        </p:nvSpPr>
        <p:spPr>
          <a:xfrm>
            <a:off x="2103120" y="405993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9" name="Card"/>
          <p:cNvSpPr/>
          <p:nvPr/>
        </p:nvSpPr>
        <p:spPr>
          <a:xfrm>
            <a:off x="4389120" y="405993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Card"/>
          <p:cNvSpPr/>
          <p:nvPr/>
        </p:nvSpPr>
        <p:spPr>
          <a:xfrm>
            <a:off x="6492240" y="405993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1" name="Card"/>
          <p:cNvSpPr/>
          <p:nvPr/>
        </p:nvSpPr>
        <p:spPr>
          <a:xfrm>
            <a:off x="2103120" y="471830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Card"/>
          <p:cNvSpPr/>
          <p:nvPr/>
        </p:nvSpPr>
        <p:spPr>
          <a:xfrm>
            <a:off x="4389120" y="471830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3" name="Card"/>
          <p:cNvSpPr/>
          <p:nvPr/>
        </p:nvSpPr>
        <p:spPr>
          <a:xfrm>
            <a:off x="6492240" y="471830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28</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
        <p:nvSpPr>
          <p:cNvPr id="1003" name="Label"/>
          <p:cNvSpPr txBox="1"/>
          <p:nvPr/>
        </p:nvSpPr>
        <p:spPr>
          <a:xfrm>
            <a:off x="3383280" y="2706624"/>
            <a:ext cx="5212080" cy="237744"/>
          </a:xfrm>
          <a:prstGeom prst="rect">
            <a:avLst/>
          </a:prstGeom>
          <a:noFill/>
        </p:spPr>
        <p:txBody>
          <a:bodyPr wrap="square" lIns="27432" tIns="22860" rIns="27432" bIns="22860" anchor="t">
            <a:spAutoFit/>
          </a:bodyPr>
          <a:lstStyle/>
          <a:p>
            <a:pPr algn="ctr"/>
            <a:r>
              <a:rPr sz="1200" b="1" i="0">
                <a:solidFill>
                  <a:srgbClr val="5C4826"/>
                </a:solidFill>
              </a:rPr>
              <a:t>AMPLIFIER — deployed globally in seconds, with no staged rollout</a:t>
            </a:r>
          </a:p>
        </p:txBody>
      </p:sp>
      <p:sp>
        <p:nvSpPr>
          <p:cNvPr id="1004" name="Label"/>
          <p:cNvSpPr txBox="1"/>
          <p:nvPr/>
        </p:nvSpPr>
        <p:spPr>
          <a:xfrm>
            <a:off x="3383280" y="3666744"/>
            <a:ext cx="5212080" cy="237744"/>
          </a:xfrm>
          <a:prstGeom prst="rect">
            <a:avLst/>
          </a:prstGeom>
          <a:noFill/>
        </p:spPr>
        <p:txBody>
          <a:bodyPr wrap="square" lIns="27432" tIns="22860" rIns="27432" bIns="22860" anchor="t">
            <a:spAutoFit/>
          </a:bodyPr>
          <a:lstStyle/>
          <a:p>
            <a:pPr algn="ctr"/>
            <a:r>
              <a:rPr sz="1200" b="1" i="0">
                <a:solidFill>
                  <a:srgbClr val="5C4826"/>
                </a:solidFill>
              </a:rPr>
              <a:t>TRIGGER — a pathological regex exhausts CPU resources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ONE model. Explain the failure, propose an intervention,</a:t>
            </a:r>
          </a:p>
          <a:p>
            <a:pPr algn="ctr"/>
            <a:r>
              <a:rPr lang="en-US" sz="2000" b="1" i="0" dirty="0">
                <a:solidFill>
                  <a:schemeClr val="bg1"/>
                </a:solidFill>
              </a:rPr>
              <a:t>identify who can implement it, and specify evidence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30</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