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6"/>
  </p:notesMasterIdLst>
  <p:sldIdLst>
    <p:sldId id="256" r:id="rId2"/>
    <p:sldId id="296" r:id="rId3"/>
    <p:sldId id="299" r:id="rId4"/>
    <p:sldId id="257" r:id="rId5"/>
    <p:sldId id="258" r:id="rId6"/>
    <p:sldId id="294" r:id="rId7"/>
    <p:sldId id="259" r:id="rId8"/>
    <p:sldId id="260" r:id="rId9"/>
    <p:sldId id="263" r:id="rId10"/>
    <p:sldId id="264" r:id="rId11"/>
    <p:sldId id="265" r:id="rId12"/>
    <p:sldId id="266" r:id="rId13"/>
    <p:sldId id="268" r:id="rId14"/>
    <p:sldId id="269" r:id="rId15"/>
    <p:sldId id="270" r:id="rId16"/>
    <p:sldId id="271" r:id="rId17"/>
    <p:sldId id="272" r:id="rId18"/>
    <p:sldId id="273" r:id="rId19"/>
    <p:sldId id="302" r:id="rId20"/>
    <p:sldId id="274" r:id="rId21"/>
    <p:sldId id="300" r:id="rId22"/>
    <p:sldId id="295" r:id="rId23"/>
    <p:sldId id="276" r:id="rId24"/>
    <p:sldId id="275" r:id="rId25"/>
    <p:sldId id="303" r:id="rId26"/>
    <p:sldId id="280" r:id="rId27"/>
    <p:sldId id="284" r:id="rId28"/>
    <p:sldId id="283" r:id="rId29"/>
    <p:sldId id="301" r:id="rId30"/>
    <p:sldId id="285" r:id="rId31"/>
    <p:sldId id="286" r:id="rId32"/>
    <p:sldId id="297" r:id="rId33"/>
    <p:sldId id="288" r:id="rId34"/>
    <p:sldId id="289"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425" autoAdjust="0"/>
    <p:restoredTop sz="81233"/>
  </p:normalViewPr>
  <p:slideViewPr>
    <p:cSldViewPr snapToGrid="0" snapToObjects="1">
      <p:cViewPr varScale="1">
        <p:scale>
          <a:sx n="97" d="100"/>
          <a:sy n="97" d="100"/>
        </p:scale>
        <p:origin x="1464"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10/15/26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Title only - almost nothing else on this slide, on purpose.</a:t>
            </a:r>
          </a:p>
          <a:p>
            <a:r>
              <a:t>The thesis of the unit, for you (do not say it yet): failure produces evidence; analyze it into a lesson; then, when the lesson is stable and consequential enough, move the judgment into the engineering environment so future engineers do not have to make the same judgment again.</a:t>
            </a:r>
          </a:p>
          <a:p>
            <a:r>
              <a:t>The first ~15 minutes are a progressive reveal of one real case. Do not sanitize it into "engineers objected, managers ignored them" - the documented story is murkier than that, which is exactly why it is useful.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0F959-A2AE-FCFC-66C8-633E54A11C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40A1C-13B6-B0BE-2733-74163DFF37C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335908C-2C09-9A17-D522-DAA76496CA4F}"/>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4B68B070-76AA-7FD2-0902-98FDB1B8609F}"/>
              </a:ext>
            </a:extLst>
          </p:cNvPr>
          <p:cNvSpPr>
            <a:spLocks noGrp="1"/>
          </p:cNvSpPr>
          <p:nvPr>
            <p:ph type="sldNum" sz="quarter" idx="5"/>
          </p:nvPr>
        </p:nvSpPr>
        <p:spPr/>
      </p:sp>
    </p:spTree>
    <p:extLst>
      <p:ext uri="{BB962C8B-B14F-4D97-AF65-F5344CB8AC3E}">
        <p14:creationId xmlns:p14="http://schemas.microsoft.com/office/powerpoint/2010/main" val="41539689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seconds. Let them READ it — do not narrate it.</a:t>
            </a:r>
          </a:p>
          <a:p>
            <a:r>
              <a:t>- Purpose: students meet the regulatory change on the next slide without knowing what story they are entering. This establishes the situation and the observed outcome.</a:t>
            </a:r>
          </a:p>
          <a:p>
            <a:r>
              <a:t>- It deliberately does NOT explain WHY it happened. That is the whole point of the next eight slides and of the four theories after them.</a:t>
            </a:r>
          </a:p>
          <a:p>
            <a:r>
              <a:t>- If asked 'who is to blame' here, defer it. The lecture's argument is that the answer depends on which causal theory you adopt.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2 minutes</a:t>
            </a:r>
          </a:p>
          <a:p>
            <a:r>
              <a:rPr dirty="0"/>
              <a:t>- Nothing has failed yet. The environment changed: an external obligation now changes what counts as an acceptable realization. Volkswagen and the product ambition come first; the regulation is an event in their story.</a:t>
            </a:r>
          </a:p>
          <a:p>
            <a:r>
              <a:rPr dirty="0"/>
              <a:t>- Quietly recalls Requirements without enumerating Act I.</a:t>
            </a:r>
          </a:p>
          <a:p>
            <a:r>
              <a:rPr dirty="0"/>
              <a:t>- CAVEAT (sourcing): EPA warns that direct Tier 1/Tier 2 comparisons are complicated by averaging and other program features; 0.07 g/mi was the Tier 2 bin to which the affected Jetta diesels were certified.</a:t>
            </a:r>
          </a:p>
          <a:p>
            <a:r>
              <a:rPr dirty="0"/>
              <a:t>- ASK the footer question. Expected recall from Act I: requirements, specification, architecture, design, validation.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triangle: clean diesel = emissions + performance + customer demand, and no satisfactory point satisfying all three was found.</a:t>
            </a:r>
          </a:p>
          <a:p>
            <a:r>
              <a:t>- ASK the footer question. Expected answers: renegotiate requirements, change architecture or design, change product attributes, abandon the market.</a:t>
            </a:r>
          </a:p>
          <a:p>
            <a:r>
              <a:t>- The inability to satisfy current requirements IS itself engineering evidence. Pause here.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2-3 minutes</a:t>
            </a:r>
          </a:p>
          <a:p>
            <a:r>
              <a:rPr dirty="0"/>
              <a:t>- Bosch supplied the engine-control units and engine-management technology used in VW vehicles; such software legitimately controls fuel injection, engine </a:t>
            </a:r>
            <a:r>
              <a:rPr dirty="0" err="1"/>
              <a:t>behaviour</a:t>
            </a:r>
            <a:r>
              <a:rPr dirty="0"/>
              <a:t> and emissions systems. The Bosch settlement confirms its role as supplier of the emissions software in the affected VW vehicles.</a:t>
            </a:r>
          </a:p>
          <a:p>
            <a:r>
              <a:rPr dirty="0"/>
              <a:t>- VW's implementation used recognition of emissions-test conditions to select different operating </a:t>
            </a:r>
            <a:r>
              <a:rPr dirty="0" err="1"/>
              <a:t>behaviour</a:t>
            </a:r>
            <a:r>
              <a:rPr dirty="0"/>
              <a:t>. The supplier/integrator boundary is the structure to point at: responsibilities do not disappear when software crosses an organizational boundary.</a:t>
            </a:r>
          </a:p>
          <a:p>
            <a:r>
              <a:rPr dirty="0"/>
              <a:t>- Do NOT present Bosch as simply an innocent supplier. California's attorney general reported that Bosch supplied hardware, software, programming and calibration services despite allegedly knowing, or having reason to know, about the violations. Bosch entered a $25 million California settlement, and the consumer class settlement was $327.5 million. Tell the class plainly: these settlements are not equivalent to a criminal finding of guilt.</a:t>
            </a:r>
          </a:p>
          <a:p>
            <a:r>
              <a:rPr dirty="0"/>
              <a:t>- History of the mechanism, for narration (the opening is already long; keep it off the slide): the U.S. government's complaint describes an earlier Audi acoustic function, associated with engine-noise reduction, that distinguished operating conditions; VW engineers subsequently borrowed from it. The concept's history runs Audi -&gt; VW -&gt; Bosch -&gt; IAV, so do not attribute sole authorship of the test-recognition concept to Bosch. A mechanism originally associated with one engineering objective was reused for a different objective with radically different consequences - which connects back to requirements, specification and design.</a:t>
            </a:r>
          </a:p>
          <a:p>
            <a:r>
              <a:rPr dirty="0"/>
              <a:t>- Do not spend five minutes on the supplier relationship. The capability/use distinction is what the next slide exploits.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After the capability slide, the move is visible: the problematic artifact is not test detection but the POLICY attached to the distinction. The outline marks that: the branch, not the recognizer, is the defeat device.</a:t>
            </a:r>
          </a:p>
          <a:p>
            <a:r>
              <a:t>- The software layer is now attributed across organizations: Bosch supplied the engine-management technology, Volkswagen adapted the test-recognition concept into its defeat-device implementation, and IAV contributed to development. Do not assign exclusive authorship of the complete defeat-device implementation to any single company - the evidence establishes contributions across organizational boundaries.</a:t>
            </a:r>
          </a:p>
          <a:p>
            <a:r>
              <a:t>- ASK verbally: What failed? Let them say ethics, engineer, management, software, requirements, regulation. Do not resolve it - the question returns once more, on a different case. The on-slide question is now the responsibility question, since Bosch has been introduced on the previous slide.</a:t>
            </a:r>
          </a:p>
          <a:p>
            <a:r>
              <a:t>- Sourcing: DOJ materials describe emissions up to 40 times the applicable standard outside test mode; keep the figure in narration if asked.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2-3 minutes</a:t>
            </a:r>
          </a:p>
          <a:p>
            <a:r>
              <a:rPr dirty="0"/>
              <a:t>- The point: the ordinary speak-up control ACTUALLY FIRED - objection raised, supported, escalated - and the November 2006 decision was to continue, recorded in substance as "not to get caught."</a:t>
            </a:r>
          </a:p>
          <a:p>
            <a:r>
              <a:rPr dirty="0"/>
              <a:t>- And the engineering system kept producing: not a rogue patch (calibration / integration / certification / maintenance -&gt; sustained engineering), and the work was delegated too (Volkswagen -&gt; IAV -&gt; continued engineering).</a:t>
            </a:r>
          </a:p>
          <a:p>
            <a:r>
              <a:rPr dirty="0"/>
              <a:t>- Chronology to narrate - the warning was raised TWICE, in two organizations:</a:t>
            </a:r>
          </a:p>
          <a:p>
            <a:r>
              <a:rPr dirty="0"/>
              <a:t>    2006          VW engineers raise concerns; management decides to continue.</a:t>
            </a:r>
          </a:p>
          <a:p>
            <a:r>
              <a:rPr dirty="0"/>
              <a:t>    2008          Bosch correspondence identifies defeat-device risks associated with requested modifications, noting the prohibition under U.S. law. This is an allegation supported by quoted correspondence in a filed complaint, rather than an independently adjudicated finding - say so.</a:t>
            </a:r>
          </a:p>
          <a:p>
            <a:r>
              <a:rPr dirty="0"/>
              <a:t>    Subsequently  Bosch remains implicated in supplying technical support; the companies later face substantial civil settlements.</a:t>
            </a:r>
          </a:p>
          <a:p>
            <a:r>
              <a:rPr dirty="0"/>
              <a:t>- Central question for discussion: What should happen after an engineering warning is raised? The answer cannot merely be "someone should document the concern" - a warning must have some pathway to affect the engineering decision. That anticipates the governance-conversion move in Section 4: converting a recognized risk into a control that binds the decision rather than a note beside it.</a:t>
            </a:r>
          </a:p>
          <a:p>
            <a:r>
              <a:rPr dirty="0"/>
              <a:t>- Not an ethics seminar - the engineering question is what happened AFTER the human control fired. The scale question seeds the causal-model section; "one unethical programmer" becomes an increasingly implausible causal model. Do not let it dominate.</a:t>
            </a:r>
          </a:p>
          <a:p>
            <a:endParaRPr dirty="0"/>
          </a:p>
          <a:p>
            <a:r>
              <a:rPr dirty="0"/>
              <a:t>OCTOBER 2007 MEETING (folded in from its own slide): DOJ: the supervisor authorized the project despite knowing that only the defeat device would allow the vehicles to pass the U.S. tests.</a:t>
            </a:r>
          </a:p>
          <a:p>
            <a:r>
              <a:rPr dirty="0"/>
              <a:t>- The line to land: A decision can be reconsidered and still reproduce the failure.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2 minutes</a:t>
            </a:r>
          </a:p>
          <a:p>
            <a:r>
              <a:rPr dirty="0"/>
              <a:t>- Show scale and repetition rather than another moral discussion: the year-by-year table turns an incident into a process.</a:t>
            </a:r>
          </a:p>
          <a:p>
            <a:r>
              <a:rPr dirty="0"/>
              <a:t>- ASK the footer question. It points at the conditions and mechanisms that made the outcome repeatable - the causal-model section answers it. Do not anticipate governance conversion yet.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2 minutes</a:t>
            </a:r>
          </a:p>
          <a:p>
            <a:r>
              <a:rPr dirty="0"/>
              <a:t>- The chain is internally coherent - that is the disturbing part. FAILURE -&gt; NEW EVIDENCE -&gt; INTERPRETATION -&gt; ACTION, and the action improves the defeat device.</a:t>
            </a:r>
          </a:p>
          <a:p>
            <a:r>
              <a:rPr dirty="0"/>
              <a:t>- BUILD (apply by hand in PowerPoint; the build tool cannot author animations): reveal the four rows top to bottom, then the first footer line ("They learned from failure."), pause, then the second ("They learned how to make the existing system work better.").</a:t>
            </a:r>
          </a:p>
          <a:p>
            <a:r>
              <a:rPr dirty="0"/>
              <a:t>- This is the first statement of the lecture's central problem: "learn from failure" is insufficient; the same evidence can improve the wrong model or the wrong objective.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Independent road testing -&gt; regulators -&gt; the 2015 EPA notice -&gt; disclosure. Only now disclose scale and consequences.</a:t>
            </a:r>
          </a:p>
          <a:p>
            <a:r>
              <a:t>- DO NOT ask "why were engineers not held responsible?" - the premise is false. Engineer James Liang pleaded guilty and was sentenced; managers and executives were prosecuted or charged; Volkswagen pleaded guilty and received a $2.8B U.S. criminal penalty among other settlements.</a:t>
            </a:r>
          </a:p>
          <a:p>
            <a:r>
              <a:t>- ASK the footer question - it is the handoff into causal models.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Transition: the lecture now asks what theory explains what we just saw.</a:t>
            </a:r>
          </a:p>
          <a:p>
            <a:r>
              <a:t>- Four causal models follow; each will be tested against the story.</a:t>
            </a:r>
          </a:p>
          <a:p>
            <a:endParaRPr/>
          </a:p>
          <a:p>
            <a:r>
              <a:t>COLLECT LIVE HERE (folded in from its own slide): ask the room what caused the Volkswagen failure and capture answers on the board before advancing. The four theories that follow are the frames their answers will fall into.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The narrowest causal boundary: an individual acted, the action produced the outcome.</a:t>
            </a:r>
          </a:p>
          <a:p>
            <a:r>
              <a:t>- Test it against the story: objections, escalation, authorization, delegation to IAV, year-after-year certification. One individual does not account for that.</a:t>
            </a:r>
          </a:p>
          <a:p>
            <a:r>
              <a:t>- "Narrow" is not "useless": there can be several interventions at this level, but they all address the individual.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Layered defenses, each imperfect; the accident traverses aligned holes.</a:t>
            </a:r>
          </a:p>
          <a:p>
            <a:r>
              <a:t>- The causal boundary widens: not just the act, but the state of every defense it passed through. Test against the story: which defenses existed, and where were the holes?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The causal story moves up a level: conditions -&gt; behavior -&gt; outcome.</a:t>
            </a:r>
          </a:p>
          <a:p>
            <a:r>
              <a:t>- Test against the story: what conditions (authority, incentives, schedule, ownership) sustained the same result model year after model year?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 systems-theoretic account: constraints flow down, feedback flows up, from regulators through the organization and engineering to the operating process.</a:t>
            </a:r>
          </a:p>
          <a:p>
            <a:r>
              <a:t>- The control structure crosses company boundaries: Bosch supplies the engine-control capability into the engineering process, and Volkswagen delegated engineering work to IAV. A STAMP model drawn inside one organization's walls misses the control relationships that crossed them - and in this case, that is where much of the action was.</a:t>
            </a:r>
          </a:p>
          <a:p>
            <a:r>
              <a:t>- Present it seriously - it is a modeling discipline, not a punchline. The cost arrives on the next slide: breadth demands evidence and authority.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axis is causal boundary, not completeness: each model REPRESENTS more structure than the last; none is automatically better.</a:t>
            </a:r>
          </a:p>
          <a:p>
            <a:r>
              <a:t>- Broader models expose more relationships - and demand more evidence and more authority to act on what they expose.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locus of control is the criterion, not the goal: model far enough to reach the decisions that can change the outcome.</a:t>
            </a:r>
          </a:p>
          <a:p>
            <a:r>
              <a:t>- QUALIFICATION (carry this verbally): a relevant cause can lie outside your authority. Do not erase it - escalate it, compensate for it, or identify it as the reason a local fix is insufficient.</a:t>
            </a:r>
          </a:p>
          <a:p>
            <a:r>
              <a:t>- Connect back to the student answers from the opening of this section: each answer was implicitly one of these models.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The second half converges on governance conversion; diagnosis comes first.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seconds. Let them READ it.</a:t>
            </a:r>
          </a:p>
          <a:p>
            <a:r>
              <a:t>- Dieselgate is a deception case. This one is NOT, and students will try to make it one. The system may have been operating exactly as designed.</a:t>
            </a:r>
          </a:p>
          <a:p>
            <a:r>
              <a:t>- Be careful with the causal claim: the research was correlational and did not establish that the product caused the reported harms. Overstating it turns an engineering question into a morality verdict and loses the lesson.</a:t>
            </a:r>
          </a:p>
          <a:p>
            <a:r>
              <a:t>- The engineering question is the last sentence: how should an organization interpret consequential evidence about a system working as designed?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Open with the engineering observation, not with "The Facebook Papers" - the case begins with the relevant observation.</a:t>
            </a:r>
          </a:p>
          <a:p>
            <a:r>
              <a:t>- SOURCING: U.S. Senate Committee on Commerce, Science, and Transportation, Protecting Kids Online: Facebook, Instagram, and Mental Health Harm, 117th Cong., 1st sess., S. Hrg. 117-719 (2021) [references.bib: senate-haugen2021] - the hearing discussed Facebook internal research on harms to teens.</a:t>
            </a:r>
          </a:p>
          <a:p>
            <a:r>
              <a:t>- IMPORTANT: Facebook publicly disputed interpretations of the findings, and the research did not establish simple causal relationships. Do not teach contested causal claims as established facts - the evidentiary ambiguity IS the pedagogical point.</a:t>
            </a:r>
          </a:p>
          <a:p>
            <a:r>
              <a:t>- PAUSE on the footer question. This case is intentionally harder than Volkswagen.</a:t>
            </a:r>
          </a:p>
          <a:p>
            <a:endParaRPr/>
          </a:p>
          <a:p>
            <a:r>
              <a:t>WHAT THE RESEARCH ACTUALLY REPORTED (students will not know the controversy): Instagram's own internal research, later reported publicly, examined relationships between Instagram use and teen well-being. Among teenagers who reported body-image concerns, a substantial share associated those feelings with Instagram use; smaller but non-trivial shares linked the product to more serious harms. The findings were correlational and did not establish that the product caused the harm. What makes it an ENGINEERING case is the combination: the company had measured a consequential outcome, the system was behaving as designed, and the question was whether the objectives the system optimized were the right ones. Be careful not to overstate the causal claim — the exercise is about which failure model you would apply and what evidence you would still need.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1-2 minutes</a:t>
            </a:r>
          </a:p>
          <a:p>
            <a:r>
              <a:rPr dirty="0"/>
              <a:t>- A single outcome rarely maps to a single decision; the diagnosis may implicate several at once.</a:t>
            </a:r>
          </a:p>
          <a:p>
            <a:r>
              <a:rPr dirty="0"/>
              <a:t>- The case is visible AS QUESTIONS, not accusations. Do NOT assert that engagement optimization caused harm - no source supports that specific causal statement. Each question is a direction a diagnosis could take.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2-3 minutes</a:t>
            </a:r>
          </a:p>
          <a:p>
            <a:r>
              <a:rPr dirty="0"/>
              <a:t>- Second and last use of the exact question "What failed?" - now against a fresh case the students have not already diagnosed.</a:t>
            </a:r>
          </a:p>
          <a:p>
            <a:r>
              <a:rPr dirty="0"/>
              <a:t>- BUILD (apply by hand in PowerPoint; the build tool cannot author animations): reveal BOTTOM-UP, one level + its question at a time: IMPLEMENTATION -&gt; DESIGN -&gt; ARCHITECTURE -&gt; SPECIFICATION -&gt; REQUIREMENTS. Do not show all five questions at once; this static composite is the final state.</a:t>
            </a:r>
          </a:p>
          <a:p>
            <a:r>
              <a:rPr dirty="0"/>
              <a:t>- These are hypotheses for students to investigate, not established findings about Facebook's engineering process. Keep every level a question.</a:t>
            </a:r>
          </a:p>
          <a:p>
            <a:endParaRPr dirty="0"/>
          </a:p>
          <a:p>
            <a:r>
              <a:rPr dirty="0"/>
              <a:t>RESIDUAL UNCERTAINTY (carry verbally): Every validation accepts residual uncertainty. An adverse outcome may occur within that uncertainty without making the earlier judgment unreasonable.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433F9F-DBAA-7C5E-1C69-157F697872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088599-A5F1-B4A9-F411-2E829DB2B3D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D542BA9-E417-758F-A141-DF82A3FBBA70}"/>
              </a:ext>
            </a:extLst>
          </p:cNvPr>
          <p:cNvSpPr>
            <a:spLocks noGrp="1"/>
          </p:cNvSpPr>
          <p:nvPr>
            <p:ph type="body" sz="quarter" idx="3"/>
          </p:nvPr>
        </p:nvSpPr>
        <p:spPr/>
        <p:txBody>
          <a:bodyPr/>
          <a:lstStyle/>
          <a:p>
            <a:endParaRPr/>
          </a:p>
        </p:txBody>
      </p:sp>
      <p:sp>
        <p:nvSpPr>
          <p:cNvPr id="4" name="Slide Number Placeholder 3">
            <a:extLst>
              <a:ext uri="{FF2B5EF4-FFF2-40B4-BE49-F238E27FC236}">
                <a16:creationId xmlns:a16="http://schemas.microsoft.com/office/drawing/2014/main" id="{DB8C72F7-7F39-0171-646C-442905896B0D}"/>
              </a:ext>
            </a:extLst>
          </p:cNvPr>
          <p:cNvSpPr>
            <a:spLocks noGrp="1"/>
          </p:cNvSpPr>
          <p:nvPr>
            <p:ph type="sldNum" sz="quarter" idx="5"/>
          </p:nvPr>
        </p:nvSpPr>
        <p:spPr/>
      </p:sp>
    </p:spTree>
    <p:extLst>
      <p:ext uri="{BB962C8B-B14F-4D97-AF65-F5344CB8AC3E}">
        <p14:creationId xmlns:p14="http://schemas.microsoft.com/office/powerpoint/2010/main" val="1550996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From diagnosis to knowledge: the failure is evidence; it must be analyzed into a lesson before it can be reused.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causal account changes the system; the reflective account changes the engineer.</a:t>
            </a:r>
          </a:p>
          <a:p>
            <a:r>
              <a:t>- The reflective account is exactly what prevents "Facebook had research, therefore Facebook knew X" from collapsing evidence, interpretation, and organizational decision into one thing.</a:t>
            </a:r>
          </a:p>
          <a:p>
            <a:r>
              <a:t>- Postmortems that stop at the causal account leave the second kind of learning on the table.</a:t>
            </a:r>
          </a:p>
          <a:p>
            <a:endParaRPr/>
          </a:p>
          <a:p>
            <a:r>
              <a:t>A postmortem carries BOTH accounts: the causal account (what sequence of events and conditions produced the failure) and the reflective account (what we believed, and how we came to believe it). Step 3 is the reflective half.</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Regression test vs generalized model or control: both legitimate; they preserve different things. ASK what each catches next time, and what each misses.</a:t>
            </a:r>
          </a:p>
          <a:p>
            <a:r>
              <a:t>- For a socio-technical outcome like the Instagram case, "regression test" is metaphorically less direct - and that is itself interesting: some lessons cannot be encoded as an ordinary software test. Sets up SYSTEM / TEAM / ENGINEER.</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3-4 minutes. THE CENTRAL ENGINEERING JUDGMENT of the section.</a:t>
            </a:r>
          </a:p>
          <a:p>
            <a:r>
              <a:rPr dirty="0"/>
              <a:t>- The move students miss: a causal account explains how a failure occurred. It does NOT determine which future failures should be prevented, or how.</a:t>
            </a:r>
          </a:p>
          <a:p>
            <a:r>
              <a:rPr dirty="0"/>
              <a:t>- Two different modes of reasoning. DIAGNOSIS works BACKWARD from an observed consequence to the conditions that produced it. CORRECTIVE DESIGN works FORWARD from candidate interventions to the consequences they would produce. The second is not determined by the first — that mental transition is the hard part, and it is ordinary engineering again, with new evidence.</a:t>
            </a:r>
          </a:p>
          <a:p>
            <a:r>
              <a:rPr dirty="0"/>
              <a:t>- Walk the four rows. Row 1 may be too narrow: the same mechanism stays available elsewhere. Row 4 may be broader than necessary and constrains unrelated work. Row 3 targets the mechanism the evidence actually supports.</a:t>
            </a:r>
          </a:p>
          <a:p>
            <a:r>
              <a:rPr dirty="0"/>
              <a:t>- Other alternatives worth raising if the room is engaged: terminate stale workers, serialize ownership transitions, or combine mechanisms. Each excludes a different class, carries different cost, and may introduce new failure modes.</a:t>
            </a:r>
          </a:p>
          <a:p>
            <a:r>
              <a:rPr dirty="0"/>
              <a:t>- This is the same judgment they met in SPECIFICATION: which distinctions among possible behaviors must be constrained, and which may remain free? Failure analysis does not end at a cause; it reopens specification and design.</a:t>
            </a:r>
          </a:p>
          <a:p>
            <a:r>
              <a:rPr dirty="0"/>
              <a:t>- CAREFUL with 'always prevent the class'. Some failures reveal acceptable residual uncertainty, and prevention can cost more than the consequences justify. The general principle: use failure evidence to reconsider what future behavior should be PERMITTED, PREVENTED, DETECTED, or TOLERATED. The engineer chooses not only how broadly to intervene, but what KIND of intervention is warranted.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From Engineering Knowledge: consequential knowledge migrates into requirements, specifications, architecture, models, validation, or controls when future work should inherit the lesson.</a:t>
            </a:r>
          </a:p>
          <a:p>
            <a:r>
              <a:t>- ASK students to nominate one plausible lesson from the Instagram case and say where it should live. Different interpretations of the evidence produce different answers - which is the point.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&lt;1 minute</a:t>
            </a:r>
          </a:p>
          <a:p>
            <a:r>
              <a:rPr dirty="0"/>
              <a:t>- The climax of the unit: from lessons engineers remember to structure the environment enforces.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2-3 minutes. THE CENTERPIECE.</a:t>
            </a:r>
          </a:p>
          <a:p>
            <a:r>
              <a:rPr dirty="0"/>
              <a:t>- Setup: a team diagnosed two workers both believing they owned the same job, and established an invariant: a worker may modify a job only while holding its current lease generation.</a:t>
            </a:r>
          </a:p>
          <a:p>
            <a:r>
              <a:rPr dirty="0"/>
              <a:t>- The original engineers understand it. They may even have documented it. Six months later a new engineer is asked to change recovery behavior.</a:t>
            </a:r>
          </a:p>
          <a:p>
            <a:r>
              <a:rPr dirty="0"/>
              <a:t>- ASK THE ROOM: how does that engineer learn the invariant exists?</a:t>
            </a:r>
          </a:p>
          <a:p>
            <a:r>
              <a:rPr dirty="0"/>
              <a:t>- Deriving the lesson and DELIVERING it are different engineering problems. Preserving a lesson is not the same as ensuring future work uses it: a requirement can exist without being consulted, a model can be accurate but undiscoverable, a validator can exist without being executed, a gate can run without checking the relevant property.</a:t>
            </a:r>
          </a:p>
          <a:p>
            <a:r>
              <a:rPr dirty="0"/>
              <a:t>- The four things the environment must supply are the four roles from Alignment: the authoritative invariant (model), its applicability to THIS work, a way to evaluate the proposed change (validator), and a mechanism that refuses admission when it is violated (gate).</a:t>
            </a:r>
          </a:p>
          <a:p>
            <a:endParaRPr dirty="0"/>
          </a:p>
          <a:p>
            <a:r>
              <a:rPr dirty="0"/>
              <a:t>KEEP EXPLICIT (established in Alignment): a validator and a gate are NOT interchangeable. A validator determines whether an obligation is satisfied; a gate controls whether work may proceed given that verdict. A validator with no gate reports; a gate with no validator blocks on nothing.</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Five diagnostic axes, each with its own intervention: was the OBLIGATION missing (nobody committed to the property)? was its REPRESENTATION inadequate (stated only in prose)? was EVIDENCE unavailable (nothing measured it)? was EVALUATION inadequate (measured, but never checked)? was ENFORCEMENT missing (checked, but nothing refused the change)?</a:t>
            </a:r>
          </a:p>
          <a:p>
            <a:r>
              <a:t>- The figure's own caution: a failure is NOT a request for another gate. Diagnose what was missing first — adding a gate when the real gap was representation leaves the class open.</a:t>
            </a:r>
          </a:p>
          <a:p>
            <a:r>
              <a:t>- Run the worker incident through it: the invariant existed in a postmortem (obligation yes, representation weak), nothing evaluated it, nothing enforced it.</a:t>
            </a:r>
          </a:p>
          <a:p>
            <a:endParaRPr/>
          </a:p>
          <a:p>
            <a:r>
              <a:t>KEEP EXPLICIT (established in Alignment): a validator and a gate are NOT interchangeable. A validator determines whether an obligation is satisfied; a gate controls whether work may proceed given that verdict. A validator with no gate reports; a gate with no validator blocks on nothing.</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CLOSE.</a:t>
            </a:r>
          </a:p>
          <a:p>
            <a:r>
              <a:t>- Return to 2006: suppose the compliance obligation had lived in the engineering environment — a model, independent validation, a release gate — rather than in what engineers were expected to remember.</a:t>
            </a:r>
          </a:p>
          <a:p>
            <a:r>
              <a:t>- Then the qualification, and do not soften it: governance conversion is not the same as adding gates. An organization that controls its own controls can circumvent them. Authority, incentives and organizational control still matter, which is why the failure model had to reach the locus of control.</a:t>
            </a:r>
          </a:p>
          <a:p>
            <a:r>
              <a:t>- Close on the line. The lecture's practical question was how an engineering organization learns from failure so that the next engineer — or agent — does not repeat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lIns="27432" tIns="22860" rIns="27432" bIns="22860" anchor="ctr">
            <a:spAutoFit/>
          </a:bodyPr>
          <a:lstStyle/>
          <a:p>
            <a:pPr algn="ctr"/>
            <a:r>
              <a:rPr sz="4000" b="1" i="0">
                <a:solidFill>
                  <a:srgbClr val="000000"/>
                </a:solidFill>
              </a:rPr>
              <a:t>Failure-Aware Engineering</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3588E-3E0E-969D-04E5-5B3BF86F03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A72012-C195-25C2-4CCC-34FCBA9660F8}"/>
              </a:ext>
            </a:extLst>
          </p:cNvPr>
          <p:cNvSpPr>
            <a:spLocks noGrp="1"/>
          </p:cNvSpPr>
          <p:nvPr>
            <p:ph type="title"/>
          </p:nvPr>
        </p:nvSpPr>
        <p:spPr>
          <a:xfrm>
            <a:off x="685800" y="1700784"/>
            <a:ext cx="7772400" cy="1005840"/>
          </a:xfrm>
        </p:spPr>
        <p:txBody>
          <a:bodyPr/>
          <a:lstStyle/>
          <a:p>
            <a:pPr algn="ctr"/>
            <a:r>
              <a:rPr lang="en-US" sz="4000" b="0" i="0" dirty="0" err="1">
                <a:solidFill>
                  <a:srgbClr val="000000"/>
                </a:solidFill>
              </a:rPr>
              <a:t>Dieselgate</a:t>
            </a:r>
            <a:endParaRPr sz="4000" b="0" i="0" dirty="0">
              <a:solidFill>
                <a:srgbClr val="000000"/>
              </a:solidFill>
            </a:endParaRPr>
          </a:p>
        </p:txBody>
      </p:sp>
      <p:sp>
        <p:nvSpPr>
          <p:cNvPr id="900" name="Slide Number Placeholder 900">
            <a:extLst>
              <a:ext uri="{FF2B5EF4-FFF2-40B4-BE49-F238E27FC236}">
                <a16:creationId xmlns:a16="http://schemas.microsoft.com/office/drawing/2014/main" id="{273C49DF-71AE-BD47-6722-6F26FE016A6C}"/>
              </a:ext>
            </a:extLst>
          </p:cNvPr>
          <p:cNvSpPr>
            <a:spLocks noGrp="1"/>
          </p:cNvSpPr>
          <p:nvPr>
            <p:ph type="sldNum" sz="quarter" idx="4"/>
          </p:nvPr>
        </p:nvSpPr>
        <p:spPr/>
        <p:txBody>
          <a:bodyPr/>
          <a:lstStyle/>
          <a:p>
            <a:fld id="{3B223778-6764-4D81-904E-8786918EE0A1}" type="slidenum">
              <a:rPr lang="en-US" smtClean="0"/>
              <a:t>2</a:t>
            </a:fld>
            <a:endParaRPr lang="en-US"/>
          </a:p>
        </p:txBody>
      </p:sp>
      <p:sp>
        <p:nvSpPr>
          <p:cNvPr id="901" name="SectionLabel">
            <a:extLst>
              <a:ext uri="{FF2B5EF4-FFF2-40B4-BE49-F238E27FC236}">
                <a16:creationId xmlns:a16="http://schemas.microsoft.com/office/drawing/2014/main" id="{E19D95C0-40DF-FE3F-B828-7A1A12931B54}"/>
              </a:ext>
            </a:extLst>
          </p:cNvPr>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a:solidFill>
                  <a:srgbClr val="8E6F3E"/>
                </a:solidFill>
              </a:rPr>
              <a:t>SECTION 1</a:t>
            </a:r>
          </a:p>
        </p:txBody>
      </p:sp>
      <p:sp>
        <p:nvSpPr>
          <p:cNvPr id="902" name="Question">
            <a:extLst>
              <a:ext uri="{FF2B5EF4-FFF2-40B4-BE49-F238E27FC236}">
                <a16:creationId xmlns:a16="http://schemas.microsoft.com/office/drawing/2014/main" id="{7A7FC3EB-FAB1-9607-A9C0-FCF752D7CFF0}"/>
              </a:ext>
            </a:extLst>
          </p:cNvPr>
          <p:cNvSpPr txBox="1"/>
          <p:nvPr/>
        </p:nvSpPr>
        <p:spPr>
          <a:xfrm>
            <a:off x="685800" y="2846347"/>
            <a:ext cx="7772400" cy="415498"/>
          </a:xfrm>
          <a:prstGeom prst="rect">
            <a:avLst/>
          </a:prstGeom>
          <a:noFill/>
        </p:spPr>
        <p:txBody>
          <a:bodyPr wrap="square" lIns="27432" tIns="22860" rIns="27432" bIns="22860" anchor="ctr">
            <a:spAutoFit/>
          </a:bodyPr>
          <a:lstStyle/>
          <a:p>
            <a:pPr algn="ctr"/>
            <a:r>
              <a:rPr lang="en-US" sz="2400" b="0" i="0" dirty="0">
                <a:solidFill>
                  <a:srgbClr val="5C4826"/>
                </a:solidFill>
              </a:rPr>
              <a:t>A walk through an engineering failure</a:t>
            </a:r>
            <a:endParaRPr sz="2400" b="0" i="0" dirty="0">
              <a:solidFill>
                <a:srgbClr val="5C4826"/>
              </a:solidFill>
            </a:endParaRPr>
          </a:p>
        </p:txBody>
      </p:sp>
      <p:sp>
        <p:nvSpPr>
          <p:cNvPr id="903" name="Rule">
            <a:extLst>
              <a:ext uri="{FF2B5EF4-FFF2-40B4-BE49-F238E27FC236}">
                <a16:creationId xmlns:a16="http://schemas.microsoft.com/office/drawing/2014/main" id="{EE6090EC-6EB3-2C9A-65E0-2078C8FFA8F1}"/>
              </a:ext>
            </a:extLst>
          </p:cNvPr>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extLst>
      <p:ext uri="{BB962C8B-B14F-4D97-AF65-F5344CB8AC3E}">
        <p14:creationId xmlns:p14="http://schemas.microsoft.com/office/powerpoint/2010/main" val="24601665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Dieselgate: read this first</a:t>
            </a:r>
          </a:p>
        </p:txBody>
      </p:sp>
      <p:sp>
        <p:nvSpPr>
          <p:cNvPr id="900" name="Slide Number Placeholder 900"/>
          <p:cNvSpPr>
            <a:spLocks noGrp="1"/>
          </p:cNvSpPr>
          <p:nvPr>
            <p:ph type="sldNum" sz="quarter" idx="4"/>
          </p:nvPr>
        </p:nvSpPr>
        <p:spPr/>
        <p:txBody>
          <a:bodyPr/>
          <a:lstStyle/>
          <a:p>
            <a:fld id="{9ABD6463-1069-4796-B206-4858CF08A11C}" type="slidenum">
              <a:rPr lang="en-US" smtClean="0"/>
              <a:t>3</a:t>
            </a:fld>
            <a:endParaRPr lang="en-US"/>
          </a:p>
        </p:txBody>
      </p:sp>
      <p:sp>
        <p:nvSpPr>
          <p:cNvPr id="901" name="Lead"/>
          <p:cNvSpPr txBox="1"/>
          <p:nvPr/>
        </p:nvSpPr>
        <p:spPr>
          <a:xfrm>
            <a:off x="138574" y="784096"/>
            <a:ext cx="8866852" cy="5955476"/>
          </a:xfrm>
          <a:prstGeom prst="rect">
            <a:avLst/>
          </a:prstGeom>
          <a:noFill/>
        </p:spPr>
        <p:txBody>
          <a:bodyPr wrap="square" lIns="27432" tIns="22860" rIns="27432" bIns="22860" anchor="t">
            <a:spAutoFit/>
          </a:bodyPr>
          <a:lstStyle/>
          <a:p>
            <a:pPr algn="l"/>
            <a:r>
              <a:rPr sz="2400" b="1" i="0" dirty="0">
                <a:solidFill>
                  <a:srgbClr val="5C4826"/>
                </a:solidFill>
              </a:rPr>
              <a:t>Volkswagen wanted to sell diesel cars in the United States. Diesel engines offered attractive fuel economy and performance, but U.S. regulations imposed increasingly strict limits on nitrogen oxide (NOx) emissions.</a:t>
            </a:r>
            <a:endParaRPr lang="en-US" sz="2400" b="1" i="0" dirty="0">
              <a:solidFill>
                <a:srgbClr val="5C4826"/>
              </a:solidFill>
            </a:endParaRPr>
          </a:p>
          <a:p>
            <a:pPr algn="l"/>
            <a:endParaRPr sz="2400" b="1" i="0" dirty="0">
              <a:solidFill>
                <a:srgbClr val="5C4826"/>
              </a:solidFill>
            </a:endParaRPr>
          </a:p>
          <a:p>
            <a:pPr algn="l"/>
            <a:r>
              <a:rPr sz="2400" b="1" i="0" dirty="0">
                <a:solidFill>
                  <a:srgbClr val="5C4826"/>
                </a:solidFill>
              </a:rPr>
              <a:t>In the mid-2000s, Volkswagen engineers struggled to produce engines that simultaneously met emissions limits, performance expectations, and commercial objectives.</a:t>
            </a:r>
            <a:endParaRPr lang="en-US" sz="2400" b="1" i="0" dirty="0">
              <a:solidFill>
                <a:srgbClr val="5C4826"/>
              </a:solidFill>
            </a:endParaRPr>
          </a:p>
          <a:p>
            <a:pPr algn="l"/>
            <a:endParaRPr sz="2400" b="1" i="0" dirty="0">
              <a:solidFill>
                <a:srgbClr val="5C4826"/>
              </a:solidFill>
            </a:endParaRPr>
          </a:p>
          <a:p>
            <a:pPr algn="l"/>
            <a:r>
              <a:rPr sz="2400" b="1" i="0" dirty="0">
                <a:solidFill>
                  <a:srgbClr val="5C4826"/>
                </a:solidFill>
              </a:rPr>
              <a:t>Volkswagen ultimately sold vehicles containing software that recognized regulatory emissions tests and changed engine behavior during testing. The cars could pass laboratory tests while producing substantially higher emissions during ordinary driving.</a:t>
            </a:r>
            <a:endParaRPr lang="en-US" sz="2400" b="1" dirty="0">
              <a:solidFill>
                <a:srgbClr val="5C4826"/>
              </a:solidFill>
            </a:endParaRPr>
          </a:p>
          <a:p>
            <a:pPr algn="l"/>
            <a:endParaRPr sz="2400" b="1" i="0" dirty="0">
              <a:solidFill>
                <a:srgbClr val="5C4826"/>
              </a:solidFill>
            </a:endParaRPr>
          </a:p>
          <a:p>
            <a:pPr algn="l"/>
            <a:r>
              <a:rPr sz="2400" b="1" i="0" dirty="0">
                <a:solidFill>
                  <a:srgbClr val="5C4826"/>
                </a:solidFill>
              </a:rPr>
              <a:t>The deception continued for years, involved multiple organizations, and was eventually exposed through independent testing.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1999: Volkswagen faces a new constraint</a:t>
            </a:r>
          </a:p>
        </p:txBody>
      </p:sp>
      <p:sp>
        <p:nvSpPr>
          <p:cNvPr id="900" name="Slide Number Placeholder 900"/>
          <p:cNvSpPr>
            <a:spLocks noGrp="1"/>
          </p:cNvSpPr>
          <p:nvPr>
            <p:ph type="sldNum" sz="quarter" idx="4"/>
          </p:nvPr>
        </p:nvSpPr>
        <p:spPr/>
        <p:txBody>
          <a:bodyPr/>
          <a:lstStyle/>
          <a:p>
            <a:fld id="{5A78CA05-E47A-4617-B951-D407706858B7}" type="slidenum">
              <a:rPr lang="en-US" smtClean="0"/>
              <a:t>4</a:t>
            </a:fld>
            <a:endParaRPr lang="en-US"/>
          </a:p>
        </p:txBody>
      </p:sp>
      <p:sp>
        <p:nvSpPr>
          <p:cNvPr id="901" name="Card"/>
          <p:cNvSpPr/>
          <p:nvPr/>
        </p:nvSpPr>
        <p:spPr>
          <a:xfrm>
            <a:off x="82296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U.S. Tier 1</a:t>
            </a:r>
          </a:p>
          <a:p>
            <a:pPr algn="ctr">
              <a:spcBef>
                <a:spcPts val="2200"/>
              </a:spcBef>
            </a:pPr>
            <a:r>
              <a:rPr sz="2800" b="1" i="0">
                <a:solidFill>
                  <a:srgbClr val="5C4826"/>
                </a:solidFill>
              </a:rPr>
              <a:t>NOx ≈ 1.25 g/mi</a:t>
            </a:r>
          </a:p>
        </p:txBody>
      </p:sp>
      <p:cxnSp>
        <p:nvCxnSpPr>
          <p:cNvPr id="902" name="Connector 901"/>
          <p:cNvCxnSpPr/>
          <p:nvPr/>
        </p:nvCxnSpPr>
        <p:spPr>
          <a:xfrm>
            <a:off x="3977639" y="2606040"/>
            <a:ext cx="731521"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84632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U.S. Tier 2</a:t>
            </a:r>
          </a:p>
          <a:p>
            <a:pPr algn="ctr">
              <a:spcBef>
                <a:spcPts val="2200"/>
              </a:spcBef>
            </a:pPr>
            <a:r>
              <a:rPr sz="2800" b="1" i="0">
                <a:solidFill>
                  <a:srgbClr val="9A3F12"/>
                </a:solidFill>
              </a:rPr>
              <a:t>0.07 g/mi</a:t>
            </a:r>
          </a:p>
        </p:txBody>
      </p:sp>
      <p:sp>
        <p:nvSpPr>
          <p:cNvPr id="905" name="Label"/>
          <p:cNvSpPr txBox="1"/>
          <p:nvPr/>
        </p:nvSpPr>
        <p:spPr>
          <a:xfrm>
            <a:off x="4572000" y="4455477"/>
            <a:ext cx="3566160" cy="353943"/>
          </a:xfrm>
          <a:prstGeom prst="rect">
            <a:avLst/>
          </a:prstGeom>
          <a:noFill/>
        </p:spPr>
        <p:txBody>
          <a:bodyPr wrap="square" lIns="27432" tIns="22860" rIns="27432" bIns="22860" anchor="t">
            <a:spAutoFit/>
          </a:bodyPr>
          <a:lstStyle/>
          <a:p>
            <a:pPr algn="ctr"/>
            <a:r>
              <a:rPr lang="en-US" sz="2000" b="1" i="0" dirty="0">
                <a:solidFill>
                  <a:srgbClr val="8E6F3E"/>
                </a:solidFill>
              </a:rPr>
              <a:t>New </a:t>
            </a:r>
            <a:r>
              <a:rPr sz="2000" b="1" i="0" dirty="0">
                <a:solidFill>
                  <a:srgbClr val="8E6F3E"/>
                </a:solidFill>
              </a:rPr>
              <a:t>engineer</a:t>
            </a:r>
            <a:r>
              <a:rPr lang="en-US" sz="2000" b="1" i="0" dirty="0">
                <a:solidFill>
                  <a:srgbClr val="8E6F3E"/>
                </a:solidFill>
              </a:rPr>
              <a:t>ing needed</a:t>
            </a:r>
            <a:endParaRPr sz="2000" b="1" i="0" dirty="0">
              <a:solidFill>
                <a:srgbClr val="8E6F3E"/>
              </a:solidFill>
            </a:endParaRPr>
          </a:p>
        </p:txBody>
      </p:sp>
      <p:sp>
        <p:nvSpPr>
          <p:cNvPr id="906"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engineering activities </a:t>
            </a:r>
            <a:r>
              <a:rPr lang="en-US" sz="2000" b="1" dirty="0">
                <a:solidFill>
                  <a:srgbClr val="FFFFFF"/>
                </a:solidFill>
              </a:rPr>
              <a:t>sh</a:t>
            </a:r>
            <a:r>
              <a:rPr sz="2000" b="1" i="0" dirty="0">
                <a:solidFill>
                  <a:srgbClr val="FFFFFF"/>
                </a:solidFill>
              </a:rPr>
              <a:t>ould this regulatory change affect?</a:t>
            </a:r>
          </a:p>
        </p:txBody>
      </p:sp>
      <p:sp>
        <p:nvSpPr>
          <p:cNvPr id="910" name="Block"/>
          <p:cNvSpPr/>
          <p:nvPr/>
        </p:nvSpPr>
        <p:spPr>
          <a:xfrm>
            <a:off x="822960" y="914400"/>
            <a:ext cx="2103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VOLKSWAGEN</a:t>
            </a:r>
          </a:p>
        </p:txBody>
      </p:sp>
      <p:cxnSp>
        <p:nvCxnSpPr>
          <p:cNvPr id="911" name="Connector 911"/>
          <p:cNvCxnSpPr/>
          <p:nvPr/>
        </p:nvCxnSpPr>
        <p:spPr>
          <a:xfrm>
            <a:off x="2926080" y="1188720"/>
            <a:ext cx="41148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337560" y="914400"/>
            <a:ext cx="32918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Sell diesel cars in the U.S.</a:t>
            </a:r>
          </a:p>
        </p:txBody>
      </p:sp>
      <p:cxnSp>
        <p:nvCxnSpPr>
          <p:cNvPr id="913" name="Connector 913"/>
          <p:cNvCxnSpPr/>
          <p:nvPr/>
        </p:nvCxnSpPr>
        <p:spPr>
          <a:xfrm>
            <a:off x="4983480" y="1463040"/>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51290CCF-86D6-4A52-D715-D845B06056F6}"/>
              </a:ext>
            </a:extLst>
          </p:cNvPr>
          <p:cNvCxnSpPr>
            <a:cxnSpLocks/>
            <a:stCxn id="905" idx="0"/>
            <a:endCxn id="903" idx="2"/>
          </p:cNvCxnSpPr>
          <p:nvPr/>
        </p:nvCxnSpPr>
        <p:spPr>
          <a:xfrm flipV="1">
            <a:off x="6355080" y="3337560"/>
            <a:ext cx="0" cy="1117917"/>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2006: Volkswagen cannot satisfy all three</a:t>
            </a:r>
          </a:p>
        </p:txBody>
      </p:sp>
      <p:sp>
        <p:nvSpPr>
          <p:cNvPr id="900" name="Slide Number Placeholder 900"/>
          <p:cNvSpPr>
            <a:spLocks noGrp="1"/>
          </p:cNvSpPr>
          <p:nvPr>
            <p:ph type="sldNum" sz="quarter" idx="4"/>
          </p:nvPr>
        </p:nvSpPr>
        <p:spPr/>
        <p:txBody>
          <a:bodyPr/>
          <a:lstStyle/>
          <a:p>
            <a:fld id="{6A358935-6B48-4518-B358-4C99ECF38DBC}" type="slidenum">
              <a:rPr lang="en-US" smtClean="0"/>
              <a:t>5</a:t>
            </a:fld>
            <a:endParaRPr lang="en-US"/>
          </a:p>
        </p:txBody>
      </p:sp>
      <p:sp>
        <p:nvSpPr>
          <p:cNvPr id="901" name="Block"/>
          <p:cNvSpPr/>
          <p:nvPr/>
        </p:nvSpPr>
        <p:spPr>
          <a:xfrm>
            <a:off x="3474720" y="2331720"/>
            <a:ext cx="21945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CLEAN DIESEL</a:t>
            </a:r>
          </a:p>
        </p:txBody>
      </p:sp>
      <p:sp>
        <p:nvSpPr>
          <p:cNvPr id="903" name="Card"/>
          <p:cNvSpPr/>
          <p:nvPr/>
        </p:nvSpPr>
        <p:spPr>
          <a:xfrm>
            <a:off x="3246120" y="109728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emissions</a:t>
            </a:r>
          </a:p>
        </p:txBody>
      </p:sp>
      <p:sp>
        <p:nvSpPr>
          <p:cNvPr id="905" name="Card"/>
          <p:cNvSpPr/>
          <p:nvPr/>
        </p:nvSpPr>
        <p:spPr>
          <a:xfrm>
            <a:off x="82296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performance</a:t>
            </a:r>
          </a:p>
        </p:txBody>
      </p:sp>
      <p:sp>
        <p:nvSpPr>
          <p:cNvPr id="907" name="Card"/>
          <p:cNvSpPr/>
          <p:nvPr/>
        </p:nvSpPr>
        <p:spPr>
          <a:xfrm>
            <a:off x="566928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customer demand</a:t>
            </a:r>
          </a:p>
        </p:txBody>
      </p:sp>
      <p:sp>
        <p:nvSpPr>
          <p:cNvPr id="908" name="DojAccount"/>
          <p:cNvSpPr txBox="1"/>
          <p:nvPr/>
        </p:nvSpPr>
        <p:spPr>
          <a:xfrm>
            <a:off x="822960" y="4334024"/>
            <a:ext cx="8046720" cy="969496"/>
          </a:xfrm>
          <a:prstGeom prst="rect">
            <a:avLst/>
          </a:prstGeom>
          <a:noFill/>
        </p:spPr>
        <p:txBody>
          <a:bodyPr wrap="square" lIns="27432" tIns="22860" rIns="27432" bIns="22860" anchor="ctr">
            <a:spAutoFit/>
          </a:bodyPr>
          <a:lstStyle/>
          <a:p>
            <a:pPr algn="l"/>
            <a:r>
              <a:rPr sz="2000" b="1" i="0" dirty="0">
                <a:solidFill>
                  <a:srgbClr val="5C4826"/>
                </a:solidFill>
              </a:rPr>
              <a:t>DOJ: </a:t>
            </a:r>
            <a:r>
              <a:rPr lang="en-US" sz="2000" b="0" i="0" dirty="0">
                <a:solidFill>
                  <a:srgbClr val="555960"/>
                </a:solidFill>
              </a:rPr>
              <a:t>VW e</a:t>
            </a:r>
            <a:r>
              <a:rPr sz="2000" b="0" i="0" dirty="0">
                <a:solidFill>
                  <a:srgbClr val="555960"/>
                </a:solidFill>
              </a:rPr>
              <a:t>ngineers concluded they could not produce the desired engine that both met the stricter U.S. NOx standard and attracted sufficient U.S. customer demand.</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should happen when the engineering cannot satisfy the obligations?</a:t>
            </a:r>
          </a:p>
        </p:txBody>
      </p:sp>
      <p:cxnSp>
        <p:nvCxnSpPr>
          <p:cNvPr id="920" name="Connector 920"/>
          <p:cNvCxnSpPr/>
          <p:nvPr/>
        </p:nvCxnSpPr>
        <p:spPr>
          <a:xfrm flipH="1">
            <a:off x="214884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1" name="Connector 921"/>
          <p:cNvCxnSpPr/>
          <p:nvPr/>
        </p:nvCxnSpPr>
        <p:spPr>
          <a:xfrm>
            <a:off x="521208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2" name="Connector 922"/>
          <p:cNvCxnSpPr/>
          <p:nvPr/>
        </p:nvCxnSpPr>
        <p:spPr>
          <a:xfrm>
            <a:off x="3474720" y="3840480"/>
            <a:ext cx="21945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923" name="Label"/>
          <p:cNvSpPr txBox="1"/>
          <p:nvPr/>
        </p:nvSpPr>
        <p:spPr>
          <a:xfrm>
            <a:off x="2743200" y="2999232"/>
            <a:ext cx="3657600" cy="365760"/>
          </a:xfrm>
          <a:prstGeom prst="rect">
            <a:avLst/>
          </a:prstGeom>
          <a:noFill/>
        </p:spPr>
        <p:txBody>
          <a:bodyPr wrap="square" lIns="27432" tIns="22860" rIns="27432" bIns="22860" anchor="t">
            <a:spAutoFit/>
          </a:bodyPr>
          <a:lstStyle/>
          <a:p>
            <a:pPr algn="ctr"/>
            <a:r>
              <a:rPr sz="2000" b="1" i="0">
                <a:solidFill>
                  <a:srgbClr val="9A3F12"/>
                </a:solidFill>
              </a:rPr>
              <a:t>No point satisfied all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lstStyle/>
          <a:p>
            <a:r>
              <a:rPr sz="2400" b="0" i="0">
                <a:solidFill>
                  <a:srgbClr val="000000"/>
                </a:solidFill>
              </a:rPr>
              <a:t>Bosch supplied the engine-control software</a:t>
            </a:r>
          </a:p>
        </p:txBody>
      </p:sp>
      <p:sp>
        <p:nvSpPr>
          <p:cNvPr id="900" name="Slide Number Placeholder 900"/>
          <p:cNvSpPr>
            <a:spLocks noGrp="1"/>
          </p:cNvSpPr>
          <p:nvPr>
            <p:ph type="sldNum" sz="quarter" idx="4"/>
          </p:nvPr>
        </p:nvSpPr>
        <p:spPr/>
        <p:txBody>
          <a:bodyPr/>
          <a:lstStyle/>
          <a:p>
            <a:fld id="{6A358935-6B48-4518-B358-4C99ECF38DBC}" type="slidenum">
              <a:rPr lang="en-US" smtClean="0"/>
              <a:t>6</a:t>
            </a:fld>
            <a:endParaRPr lang="en-US"/>
          </a:p>
        </p:txBody>
      </p:sp>
      <p:sp>
        <p:nvSpPr>
          <p:cNvPr id="901" name="Block"/>
          <p:cNvSpPr/>
          <p:nvPr/>
        </p:nvSpPr>
        <p:spPr>
          <a:xfrm>
            <a:off x="2743200" y="86868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BOSCH</a:t>
            </a:r>
          </a:p>
          <a:p>
            <a:pPr algn="ctr"/>
            <a:r>
              <a:rPr sz="2000" b="1" i="0">
                <a:solidFill>
                  <a:srgbClr val="FFFFFF"/>
                </a:solidFill>
              </a:rPr>
              <a:t>Engine-control software</a:t>
            </a:r>
          </a:p>
        </p:txBody>
      </p:sp>
      <p:sp>
        <p:nvSpPr>
          <p:cNvPr id="2" name="Block"/>
          <p:cNvSpPr/>
          <p:nvPr/>
        </p:nvSpPr>
        <p:spPr>
          <a:xfrm>
            <a:off x="2560320" y="1828800"/>
            <a:ext cx="40233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VOLKSWAGEN</a:t>
            </a:r>
          </a:p>
          <a:p>
            <a:pPr algn="ctr"/>
            <a:r>
              <a:rPr sz="2000" b="1" i="0">
                <a:solidFill>
                  <a:srgbClr val="FFFFFF"/>
                </a:solidFill>
              </a:rPr>
              <a:t>Engine development and calibration</a:t>
            </a:r>
          </a:p>
        </p:txBody>
      </p:sp>
      <p:cxnSp>
        <p:nvCxnSpPr>
          <p:cNvPr id="902" name="Connector 902"/>
          <p:cNvCxnSpPr/>
          <p:nvPr/>
        </p:nvCxnSpPr>
        <p:spPr>
          <a:xfrm>
            <a:off x="4572000" y="1600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4" name="Connector 902"/>
          <p:cNvCxnSpPr/>
          <p:nvPr/>
        </p:nvCxnSpPr>
        <p:spPr>
          <a:xfrm>
            <a:off x="4572000" y="2743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200400" y="2971800"/>
            <a:ext cx="27432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operating conditions</a:t>
            </a:r>
          </a:p>
        </p:txBody>
      </p:sp>
      <p:cxnSp>
        <p:nvCxnSpPr>
          <p:cNvPr id="904" name="Connector 904"/>
          <p:cNvCxnSpPr/>
          <p:nvPr/>
        </p:nvCxnSpPr>
        <p:spPr>
          <a:xfrm flipH="1">
            <a:off x="251460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5"/>
          <p:cNvCxnSpPr/>
          <p:nvPr/>
        </p:nvCxnSpPr>
        <p:spPr>
          <a:xfrm>
            <a:off x="521208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11887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TEST CONDITIONS</a:t>
            </a:r>
          </a:p>
        </p:txBody>
      </p:sp>
      <p:sp>
        <p:nvSpPr>
          <p:cNvPr id="907" name="Card"/>
          <p:cNvSpPr/>
          <p:nvPr/>
        </p:nvSpPr>
        <p:spPr>
          <a:xfrm>
            <a:off x="53035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ROAD USE</a:t>
            </a:r>
          </a:p>
        </p:txBody>
      </p:sp>
      <p:cxnSp>
        <p:nvCxnSpPr>
          <p:cNvPr id="908" name="Connector 908"/>
          <p:cNvCxnSpPr/>
          <p:nvPr/>
        </p:nvCxnSpPr>
        <p:spPr>
          <a:xfrm>
            <a:off x="251460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9"/>
          <p:cNvCxnSpPr/>
          <p:nvPr/>
        </p:nvCxnSpPr>
        <p:spPr>
          <a:xfrm flipH="1">
            <a:off x="521208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3200400" y="48006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choose behavior</a:t>
            </a:r>
          </a:p>
        </p:txBody>
      </p:sp>
      <p:sp>
        <p:nvSpPr>
          <p:cNvPr id="911" name="Label"/>
          <p:cNvSpPr txBox="1"/>
          <p:nvPr/>
        </p:nvSpPr>
        <p:spPr>
          <a:xfrm>
            <a:off x="548640" y="5413248"/>
            <a:ext cx="8046720" cy="411480"/>
          </a:xfrm>
          <a:prstGeom prst="rect">
            <a:avLst/>
          </a:prstGeom>
          <a:noFill/>
        </p:spPr>
        <p:txBody>
          <a:bodyPr wrap="square" lIns="27432" tIns="22860" rIns="27432" bIns="22860" anchor="t">
            <a:spAutoFit/>
          </a:bodyPr>
          <a:lstStyle/>
          <a:p>
            <a:pPr algn="ctr"/>
            <a:r>
              <a:rPr sz="2200" b="0" i="0">
                <a:solidFill>
                  <a:srgbClr val="5C4826"/>
                </a:solidFill>
              </a:rPr>
              <a:t>The mechanism does not determine how it should be used.</a:t>
            </a:r>
          </a:p>
        </p:txBody>
      </p:sp>
      <p:sp>
        <p:nvSpPr>
          <p:cNvPr id="5" name="Label"/>
          <p:cNvSpPr txBox="1"/>
          <p:nvPr/>
        </p:nvSpPr>
        <p:spPr>
          <a:xfrm>
            <a:off x="411480" y="868680"/>
            <a:ext cx="2103117" cy="1277273"/>
          </a:xfrm>
          <a:prstGeom prst="rect">
            <a:avLst/>
          </a:prstGeom>
          <a:noFill/>
        </p:spPr>
        <p:txBody>
          <a:bodyPr wrap="square" lIns="27432" tIns="22860" rIns="27432" bIns="22860" anchor="t">
            <a:spAutoFit/>
          </a:bodyPr>
          <a:lstStyle/>
          <a:p>
            <a:pPr algn="l"/>
            <a:r>
              <a:rPr sz="2000" b="0" i="1" dirty="0">
                <a:solidFill>
                  <a:srgbClr val="5C4826"/>
                </a:solidFill>
              </a:rPr>
              <a:t>Engine-control software has legitimate engineering uses.</a:t>
            </a:r>
          </a:p>
        </p:txBody>
      </p:sp>
      <p:sp>
        <p:nvSpPr>
          <p:cNvPr id="9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Who is responsible for how a supplied capability is used?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Volkswagen turns test recognition into a defeat device</a:t>
            </a:r>
          </a:p>
        </p:txBody>
      </p:sp>
      <p:sp>
        <p:nvSpPr>
          <p:cNvPr id="900" name="Slide Number Placeholder 900"/>
          <p:cNvSpPr>
            <a:spLocks noGrp="1"/>
          </p:cNvSpPr>
          <p:nvPr>
            <p:ph type="sldNum" sz="quarter" idx="4"/>
          </p:nvPr>
        </p:nvSpPr>
        <p:spPr/>
        <p:txBody>
          <a:bodyPr/>
          <a:lstStyle/>
          <a:p>
            <a:fld id="{00393831-13B8-4D2E-92B4-CA000F66A112}" type="slidenum">
              <a:rPr lang="en-US" smtClean="0"/>
              <a:t>7</a:t>
            </a:fld>
            <a:endParaRPr lang="en-US"/>
          </a:p>
        </p:txBody>
      </p:sp>
      <p:sp>
        <p:nvSpPr>
          <p:cNvPr id="901" name="Block"/>
          <p:cNvSpPr/>
          <p:nvPr/>
        </p:nvSpPr>
        <p:spPr>
          <a:xfrm>
            <a:off x="2788920" y="841248"/>
            <a:ext cx="35661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ENGINE-CONTROL SOFTWARE</a:t>
            </a:r>
          </a:p>
          <a:p>
            <a:pPr algn="ctr"/>
            <a:r>
              <a:rPr sz="2000" b="1" i="0">
                <a:solidFill>
                  <a:srgbClr val="FFFFFF"/>
                </a:solidFill>
              </a:rPr>
              <a:t>Bosch · VW · IAV</a:t>
            </a:r>
          </a:p>
        </p:txBody>
      </p:sp>
      <p:cxnSp>
        <p:nvCxnSpPr>
          <p:cNvPr id="902" name="Connector 901"/>
          <p:cNvCxnSpPr/>
          <p:nvPr/>
        </p:nvCxnSpPr>
        <p:spPr>
          <a:xfrm>
            <a:off x="4572000" y="161848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337560" y="1874519"/>
            <a:ext cx="24688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regulatory test?</a:t>
            </a:r>
          </a:p>
        </p:txBody>
      </p:sp>
      <p:cxnSp>
        <p:nvCxnSpPr>
          <p:cNvPr id="904" name="Connector 903"/>
          <p:cNvCxnSpPr/>
          <p:nvPr/>
        </p:nvCxnSpPr>
        <p:spPr>
          <a:xfrm flipH="1">
            <a:off x="2103120" y="2377440"/>
            <a:ext cx="123444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5806440" y="2377440"/>
            <a:ext cx="86868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1920240" y="2212848"/>
            <a:ext cx="822960" cy="320040"/>
          </a:xfrm>
          <a:prstGeom prst="rect">
            <a:avLst/>
          </a:prstGeom>
          <a:noFill/>
        </p:spPr>
        <p:txBody>
          <a:bodyPr wrap="square" lIns="27432" tIns="22860" rIns="27432" bIns="22860" anchor="t">
            <a:spAutoFit/>
          </a:bodyPr>
          <a:lstStyle/>
          <a:p>
            <a:pPr algn="ctr"/>
            <a:r>
              <a:rPr sz="2000" b="1" i="0">
                <a:solidFill>
                  <a:srgbClr val="5C4826"/>
                </a:solidFill>
              </a:rPr>
              <a:t>YES</a:t>
            </a:r>
          </a:p>
        </p:txBody>
      </p:sp>
      <p:sp>
        <p:nvSpPr>
          <p:cNvPr id="907" name="Label"/>
          <p:cNvSpPr txBox="1"/>
          <p:nvPr/>
        </p:nvSpPr>
        <p:spPr>
          <a:xfrm>
            <a:off x="6355080" y="2212848"/>
            <a:ext cx="731520" cy="320040"/>
          </a:xfrm>
          <a:prstGeom prst="rect">
            <a:avLst/>
          </a:prstGeom>
          <a:noFill/>
        </p:spPr>
        <p:txBody>
          <a:bodyPr wrap="square" lIns="27432" tIns="22860" rIns="27432" bIns="22860" anchor="t">
            <a:spAutoFit/>
          </a:bodyPr>
          <a:lstStyle/>
          <a:p>
            <a:pPr algn="ctr"/>
            <a:r>
              <a:rPr sz="2000" b="1" i="0">
                <a:solidFill>
                  <a:srgbClr val="5C4826"/>
                </a:solidFill>
              </a:rPr>
              <a:t>NO</a:t>
            </a:r>
          </a:p>
        </p:txBody>
      </p:sp>
      <p:sp>
        <p:nvSpPr>
          <p:cNvPr id="908" name="Card"/>
          <p:cNvSpPr/>
          <p:nvPr/>
        </p:nvSpPr>
        <p:spPr>
          <a:xfrm>
            <a:off x="914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emissions controls</a:t>
            </a:r>
          </a:p>
        </p:txBody>
      </p:sp>
      <p:sp>
        <p:nvSpPr>
          <p:cNvPr id="909" name="Card"/>
          <p:cNvSpPr/>
          <p:nvPr/>
        </p:nvSpPr>
        <p:spPr>
          <a:xfrm>
            <a:off x="5486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reduced controls</a:t>
            </a:r>
          </a:p>
        </p:txBody>
      </p:sp>
      <p:cxnSp>
        <p:nvCxnSpPr>
          <p:cNvPr id="910" name="Connector 909"/>
          <p:cNvCxnSpPr/>
          <p:nvPr/>
        </p:nvCxnSpPr>
        <p:spPr>
          <a:xfrm>
            <a:off x="2103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6675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1371600" y="3657600"/>
            <a:ext cx="14630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PASS</a:t>
            </a:r>
          </a:p>
        </p:txBody>
      </p:sp>
      <p:sp>
        <p:nvSpPr>
          <p:cNvPr id="913" name="Block"/>
          <p:cNvSpPr/>
          <p:nvPr/>
        </p:nvSpPr>
        <p:spPr>
          <a:xfrm>
            <a:off x="5394960" y="3657600"/>
            <a:ext cx="2560320" cy="50292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much higher NOx</a:t>
            </a:r>
          </a:p>
        </p:txBody>
      </p:sp>
      <p:sp>
        <p:nvSpPr>
          <p:cNvPr id="914" name="Sources"/>
          <p:cNvSpPr txBox="1"/>
          <p:nvPr/>
        </p:nvSpPr>
        <p:spPr>
          <a:xfrm>
            <a:off x="411480" y="4480560"/>
            <a:ext cx="8321040" cy="1143000"/>
          </a:xfrm>
          <a:prstGeom prst="rect">
            <a:avLst/>
          </a:prstGeom>
          <a:noFill/>
        </p:spPr>
        <p:txBody>
          <a:bodyPr wrap="square" lIns="27432" tIns="22860" rIns="27432" bIns="22860" anchor="t">
            <a:spAutoFit/>
          </a:bodyPr>
          <a:lstStyle/>
          <a:p>
            <a:pPr algn="l"/>
            <a:r>
              <a:rPr sz="2000" b="1" i="0" dirty="0">
                <a:solidFill>
                  <a:srgbClr val="5C4826"/>
                </a:solidFill>
              </a:rPr>
              <a:t>EPA: </a:t>
            </a:r>
            <a:r>
              <a:rPr sz="2000" b="0" i="0" dirty="0">
                <a:solidFill>
                  <a:srgbClr val="555960"/>
                </a:solidFill>
              </a:rPr>
              <a:t>affected vehicles contained software designed to evade federal emissions tests. </a:t>
            </a:r>
            <a:r>
              <a:rPr sz="2000" b="1" i="0" dirty="0">
                <a:solidFill>
                  <a:srgbClr val="5C4826"/>
                </a:solidFill>
              </a:rPr>
              <a:t>DOJ </a:t>
            </a:r>
            <a:r>
              <a:rPr sz="2000" b="0" i="0" dirty="0">
                <a:solidFill>
                  <a:srgbClr val="555960"/>
                </a:solidFill>
              </a:rPr>
              <a:t>records describe recognition of published drive cycles and substantially higher emissions outside test mode.</a:t>
            </a:r>
          </a:p>
        </p:txBody>
      </p:sp>
      <p:sp>
        <p:nvSpPr>
          <p:cNvPr id="915" name="FooterBand"/>
          <p:cNvSpPr/>
          <p:nvPr/>
        </p:nvSpPr>
        <p:spPr>
          <a:xfrm>
            <a:off x="274320" y="5715000"/>
            <a:ext cx="8595360" cy="7040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Where does responsibility lie when several organizations build the system?</a:t>
            </a:r>
          </a:p>
        </p:txBody>
      </p:sp>
      <p:sp>
        <p:nvSpPr>
          <p:cNvPr id="930" name="Outline"/>
          <p:cNvSpPr/>
          <p:nvPr/>
        </p:nvSpPr>
        <p:spPr>
          <a:xfrm>
            <a:off x="777240" y="1737360"/>
            <a:ext cx="7635240" cy="2560320"/>
          </a:xfrm>
          <a:prstGeom prst="rect">
            <a:avLst/>
          </a:prstGeom>
          <a:noFill/>
          <a:ln w="28575">
            <a:solidFill>
              <a:srgbClr val="9A3F12"/>
            </a:solidFill>
            <a:prstDash val="dash"/>
          </a:ln>
          <a:effectLst/>
        </p:spPr>
        <p:txBody>
          <a:bodyPr wrap="square" rtlCol="0" anchor="ctr"/>
          <a:lstStyle/>
          <a:p>
            <a:endParaRPr sz="2000"/>
          </a:p>
        </p:txBody>
      </p:sp>
      <p:sp>
        <p:nvSpPr>
          <p:cNvPr id="931" name="Label"/>
          <p:cNvSpPr txBox="1"/>
          <p:nvPr/>
        </p:nvSpPr>
        <p:spPr>
          <a:xfrm>
            <a:off x="6446520" y="1371600"/>
            <a:ext cx="2103120" cy="347472"/>
          </a:xfrm>
          <a:prstGeom prst="rect">
            <a:avLst/>
          </a:prstGeom>
          <a:noFill/>
        </p:spPr>
        <p:txBody>
          <a:bodyPr wrap="square" lIns="27432" tIns="22860" rIns="27432" bIns="22860" anchor="t">
            <a:spAutoFit/>
          </a:bodyPr>
          <a:lstStyle/>
          <a:p>
            <a:pPr algn="ctr"/>
            <a:r>
              <a:rPr sz="2000" b="1" i="0">
                <a:solidFill>
                  <a:srgbClr val="9A3F12"/>
                </a:solidFill>
              </a:rPr>
              <a:t>DEFEAT DEVICE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4" grpId="0"/>
      <p:bldP spid="91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Engineers objected — and kept engineering it</a:t>
            </a:r>
          </a:p>
        </p:txBody>
      </p:sp>
      <p:sp>
        <p:nvSpPr>
          <p:cNvPr id="900" name="Slide Number Placeholder 900"/>
          <p:cNvSpPr>
            <a:spLocks noGrp="1"/>
          </p:cNvSpPr>
          <p:nvPr>
            <p:ph type="sldNum" sz="quarter" idx="4"/>
          </p:nvPr>
        </p:nvSpPr>
        <p:spPr/>
        <p:txBody>
          <a:bodyPr/>
          <a:lstStyle/>
          <a:p>
            <a:fld id="{49A14B3B-9B77-43F2-8B18-8EDBEC27936C}" type="slidenum">
              <a:rPr lang="en-US" smtClean="0"/>
              <a:t>8</a:t>
            </a:fld>
            <a:endParaRPr lang="en-US"/>
          </a:p>
        </p:txBody>
      </p:sp>
      <p:sp>
        <p:nvSpPr>
          <p:cNvPr id="901" name="Card"/>
          <p:cNvSpPr/>
          <p:nvPr/>
        </p:nvSpPr>
        <p:spPr>
          <a:xfrm>
            <a:off x="411480" y="10058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Objection, escalated. </a:t>
            </a:r>
            <a:r>
              <a:rPr sz="2000" b="0" i="0">
                <a:solidFill>
                  <a:srgbClr val="555960"/>
                </a:solidFill>
              </a:rPr>
              <a:t>VW engineers, supported by supervisors, raised objections about the propriety of the defeat device and escalated the issue.</a:t>
            </a:r>
          </a:p>
        </p:txBody>
      </p:sp>
      <p:sp>
        <p:nvSpPr>
          <p:cNvPr id="902" name="Card"/>
          <p:cNvSpPr/>
          <p:nvPr/>
        </p:nvSpPr>
        <p:spPr>
          <a:xfrm>
            <a:off x="411480" y="2148840"/>
            <a:ext cx="832104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November 2006. </a:t>
            </a:r>
            <a:r>
              <a:rPr sz="2000" b="0" i="0" dirty="0">
                <a:solidFill>
                  <a:srgbClr val="555960"/>
                </a:solidFill>
              </a:rPr>
              <a:t>The supervisor, briefed on its purpose and design, decided production should continue; the plea agreement records the instruction, in substance, as </a:t>
            </a:r>
            <a:r>
              <a:rPr sz="2000" b="1" i="0" dirty="0">
                <a:solidFill>
                  <a:srgbClr val="9A3F12"/>
                </a:solidFill>
              </a:rPr>
              <a:t>“not to get caught.”</a:t>
            </a:r>
          </a:p>
        </p:txBody>
      </p:sp>
      <p:sp>
        <p:nvSpPr>
          <p:cNvPr id="903" name="Card"/>
          <p:cNvSpPr/>
          <p:nvPr/>
        </p:nvSpPr>
        <p:spPr>
          <a:xfrm>
            <a:off x="411480" y="3520440"/>
            <a:ext cx="8321040" cy="11223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October 2007</a:t>
            </a:r>
            <a:r>
              <a:rPr sz="2000" i="0" dirty="0">
                <a:solidFill>
                  <a:srgbClr val="5C4826"/>
                </a:solidFill>
              </a:rPr>
              <a:t>: technical problems and internal disagreement were raised, and the supervisor authorized proceeding. Not a rogue patch — calibration, integration, certification, maintenance, and delegated work.</a:t>
            </a:r>
          </a:p>
        </p:txBody>
      </p:sp>
      <p:sp>
        <p:nvSpPr>
          <p:cNvPr id="904" name="Label"/>
          <p:cNvSpPr txBox="1"/>
          <p:nvPr/>
        </p:nvSpPr>
        <p:spPr>
          <a:xfrm>
            <a:off x="411480" y="4888053"/>
            <a:ext cx="8321040" cy="661720"/>
          </a:xfrm>
          <a:prstGeom prst="rect">
            <a:avLst/>
          </a:prstGeom>
          <a:noFill/>
        </p:spPr>
        <p:txBody>
          <a:bodyPr wrap="square" lIns="27432" tIns="22860" rIns="27432" bIns="22860" anchor="t">
            <a:spAutoFit/>
          </a:bodyPr>
          <a:lstStyle/>
          <a:p>
            <a:pPr algn="ctr"/>
            <a:r>
              <a:rPr sz="2000" b="1" i="0" dirty="0">
                <a:solidFill>
                  <a:srgbClr val="8E6F3E"/>
                </a:solidFill>
              </a:rPr>
              <a:t>How many people does it take to sustain this </a:t>
            </a:r>
            <a:endParaRPr lang="en-US" sz="2000" b="1" i="0" dirty="0">
              <a:solidFill>
                <a:srgbClr val="8E6F3E"/>
              </a:solidFill>
            </a:endParaRPr>
          </a:p>
          <a:p>
            <a:pPr algn="ctr"/>
            <a:r>
              <a:rPr sz="2000" b="1" i="0" dirty="0">
                <a:solidFill>
                  <a:srgbClr val="8E6F3E"/>
                </a:solidFill>
              </a:rPr>
              <a:t>in hundreds of thousands of U.S. vehicles?</a:t>
            </a:r>
          </a:p>
        </p:txBody>
      </p:sp>
      <p:sp>
        <p:nvSpPr>
          <p:cNvPr id="90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Was escalation enough?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0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0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2" grpId="0" animBg="1"/>
      <p:bldP spid="903" grpId="0" animBg="1"/>
      <p:bldP spid="904" grpId="0"/>
      <p:bldP spid="90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a:bodyPr>
          <a:lstStyle/>
          <a:p>
            <a:r>
              <a:rPr sz="2400" b="0" i="0" dirty="0">
                <a:solidFill>
                  <a:srgbClr val="000000"/>
                </a:solidFill>
              </a:rPr>
              <a:t>2009–2016: The </a:t>
            </a:r>
            <a:r>
              <a:rPr lang="en-US" sz="2400" b="0" i="0" dirty="0">
                <a:solidFill>
                  <a:srgbClr val="000000"/>
                </a:solidFill>
              </a:rPr>
              <a:t>cheat works</a:t>
            </a:r>
            <a:endParaRPr sz="2400" b="0" i="0" dirty="0">
              <a:solidFill>
                <a:srgbClr val="000000"/>
              </a:solidFill>
            </a:endParaRPr>
          </a:p>
        </p:txBody>
      </p:sp>
      <p:sp>
        <p:nvSpPr>
          <p:cNvPr id="900" name="Slide Number Placeholder 900"/>
          <p:cNvSpPr>
            <a:spLocks noGrp="1"/>
          </p:cNvSpPr>
          <p:nvPr>
            <p:ph type="sldNum" sz="quarter" idx="4"/>
          </p:nvPr>
        </p:nvSpPr>
        <p:spPr/>
        <p:txBody>
          <a:bodyPr/>
          <a:lstStyle/>
          <a:p>
            <a:fld id="{34DDAC39-E592-4BC0-8D18-7414C01DF0F9}" type="slidenum">
              <a:rPr lang="en-US" smtClean="0"/>
              <a:t>9</a:t>
            </a:fld>
            <a:endParaRPr lang="en-US"/>
          </a:p>
        </p:txBody>
      </p:sp>
      <p:graphicFrame>
        <p:nvGraphicFramePr>
          <p:cNvPr id="901" name="Table 900"/>
          <p:cNvGraphicFramePr>
            <a:graphicFrameLocks noGrp="1"/>
          </p:cNvGraphicFramePr>
          <p:nvPr/>
        </p:nvGraphicFramePr>
        <p:xfrm>
          <a:off x="411480" y="1280160"/>
          <a:ext cx="8321040" cy="150876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tblGrid>
              <a:tr h="502920">
                <a:tc>
                  <a:txBody>
                    <a:bodyPr/>
                    <a:lstStyle/>
                    <a:p>
                      <a:pPr algn="ctr"/>
                      <a:r>
                        <a:rPr sz="2000" b="1" i="0">
                          <a:solidFill>
                            <a:srgbClr val="FFFFFF"/>
                          </a:solidFill>
                        </a:rPr>
                        <a:t>MODEL YEAR</a:t>
                      </a:r>
                    </a:p>
                  </a:txBody>
                  <a:tcPr marL="27432" marR="27432" marT="18288" marB="18288" anchor="ctr">
                    <a:solidFill>
                      <a:srgbClr val="8E6F3E"/>
                    </a:solidFill>
                  </a:tcPr>
                </a:tc>
                <a:tc>
                  <a:txBody>
                    <a:bodyPr/>
                    <a:lstStyle/>
                    <a:p>
                      <a:pPr algn="ctr"/>
                      <a:r>
                        <a:rPr sz="2000" b="1" i="0">
                          <a:solidFill>
                            <a:srgbClr val="FFFFFF"/>
                          </a:solidFill>
                        </a:rPr>
                        <a:t>2009</a:t>
                      </a:r>
                    </a:p>
                  </a:txBody>
                  <a:tcPr marL="27432" marR="27432" marT="18288" marB="18288" anchor="ctr">
                    <a:solidFill>
                      <a:srgbClr val="8E6F3E"/>
                    </a:solidFill>
                  </a:tcPr>
                </a:tc>
                <a:tc>
                  <a:txBody>
                    <a:bodyPr/>
                    <a:lstStyle/>
                    <a:p>
                      <a:pPr algn="ctr"/>
                      <a:r>
                        <a:rPr sz="2000" b="1" i="0">
                          <a:solidFill>
                            <a:srgbClr val="FFFFFF"/>
                          </a:solidFill>
                        </a:rPr>
                        <a:t>2010</a:t>
                      </a:r>
                    </a:p>
                  </a:txBody>
                  <a:tcPr marL="27432" marR="27432" marT="18288" marB="18288" anchor="ctr">
                    <a:solidFill>
                      <a:srgbClr val="8E6F3E"/>
                    </a:solidFill>
                  </a:tcPr>
                </a:tc>
                <a:tc>
                  <a:txBody>
                    <a:bodyPr/>
                    <a:lstStyle/>
                    <a:p>
                      <a:pPr algn="ctr"/>
                      <a:r>
                        <a:rPr sz="2000" b="1" i="0">
                          <a:solidFill>
                            <a:srgbClr val="FFFFFF"/>
                          </a:solidFill>
                        </a:rPr>
                        <a:t>2011</a:t>
                      </a:r>
                    </a:p>
                  </a:txBody>
                  <a:tcPr marL="27432" marR="27432" marT="18288" marB="18288" anchor="ctr">
                    <a:solidFill>
                      <a:srgbClr val="8E6F3E"/>
                    </a:solidFill>
                  </a:tcPr>
                </a:tc>
                <a:tc>
                  <a:txBody>
                    <a:bodyPr/>
                    <a:lstStyle/>
                    <a:p>
                      <a:pPr algn="ctr"/>
                      <a:r>
                        <a:rPr sz="2000" b="1" i="0">
                          <a:solidFill>
                            <a:srgbClr val="FFFFFF"/>
                          </a:solidFill>
                        </a:rPr>
                        <a:t>2012</a:t>
                      </a:r>
                    </a:p>
                  </a:txBody>
                  <a:tcPr marL="27432" marR="27432" marT="18288" marB="18288" anchor="ctr">
                    <a:solidFill>
                      <a:srgbClr val="8E6F3E"/>
                    </a:solidFill>
                  </a:tcPr>
                </a:tc>
                <a:tc>
                  <a:txBody>
                    <a:bodyPr/>
                    <a:lstStyle/>
                    <a:p>
                      <a:pPr algn="ctr"/>
                      <a:r>
                        <a:rPr sz="2000" b="1" i="0">
                          <a:solidFill>
                            <a:srgbClr val="FFFFFF"/>
                          </a:solidFill>
                        </a:rPr>
                        <a:t>2013</a:t>
                      </a:r>
                    </a:p>
                  </a:txBody>
                  <a:tcPr marL="27432" marR="27432" marT="18288" marB="18288" anchor="ctr">
                    <a:solidFill>
                      <a:srgbClr val="8E6F3E"/>
                    </a:solidFill>
                  </a:tcPr>
                </a:tc>
                <a:tc>
                  <a:txBody>
                    <a:bodyPr/>
                    <a:lstStyle/>
                    <a:p>
                      <a:pPr algn="ctr"/>
                      <a:r>
                        <a:rPr sz="2000" b="1" i="0">
                          <a:solidFill>
                            <a:srgbClr val="FFFFFF"/>
                          </a:solidFill>
                        </a:rPr>
                        <a:t>2014</a:t>
                      </a:r>
                    </a:p>
                  </a:txBody>
                  <a:tcPr marL="27432" marR="27432" marT="18288" marB="18288" anchor="ctr">
                    <a:solidFill>
                      <a:srgbClr val="8E6F3E"/>
                    </a:solidFill>
                  </a:tcPr>
                </a:tc>
                <a:tc>
                  <a:txBody>
                    <a:bodyPr/>
                    <a:lstStyle/>
                    <a:p>
                      <a:pPr algn="ctr"/>
                      <a:r>
                        <a:rPr sz="2000" b="1" i="0">
                          <a:solidFill>
                            <a:srgbClr val="FFFFFF"/>
                          </a:solidFill>
                        </a:rPr>
                        <a:t>2015</a:t>
                      </a:r>
                    </a:p>
                  </a:txBody>
                  <a:tcPr marL="27432" marR="27432" marT="18288" marB="18288" anchor="ctr">
                    <a:solidFill>
                      <a:srgbClr val="8E6F3E"/>
                    </a:solidFill>
                  </a:tcPr>
                </a:tc>
                <a:tc>
                  <a:txBody>
                    <a:bodyPr/>
                    <a:lstStyle/>
                    <a:p>
                      <a:pPr algn="ctr"/>
                      <a:r>
                        <a:rPr sz="2000" b="1" i="0">
                          <a:solidFill>
                            <a:srgbClr val="FFFFFF"/>
                          </a:solidFill>
                        </a:rPr>
                        <a:t>2016</a:t>
                      </a:r>
                    </a:p>
                  </a:txBody>
                  <a:tcPr marL="27432" marR="27432" marT="18288" marB="18288" anchor="ctr">
                    <a:solidFill>
                      <a:srgbClr val="8E6F3E"/>
                    </a:solidFill>
                  </a:tcPr>
                </a:tc>
                <a:extLst>
                  <a:ext uri="{0D108BD9-81ED-4DB2-BD59-A6C34878D82A}">
                    <a16:rowId xmlns:a16="http://schemas.microsoft.com/office/drawing/2014/main" val="10000"/>
                  </a:ext>
                </a:extLst>
              </a:tr>
              <a:tr h="502920">
                <a:tc>
                  <a:txBody>
                    <a:bodyPr/>
                    <a:lstStyle/>
                    <a:p>
                      <a:pPr algn="ctr"/>
                      <a:r>
                        <a:rPr sz="2000" b="1" i="0">
                          <a:solidFill>
                            <a:srgbClr val="5C4826"/>
                          </a:solidFill>
                        </a:rPr>
                        <a:t>CERTIFY</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extLst>
                  <a:ext uri="{0D108BD9-81ED-4DB2-BD59-A6C34878D82A}">
                    <a16:rowId xmlns:a16="http://schemas.microsoft.com/office/drawing/2014/main" val="10001"/>
                  </a:ext>
                </a:extLst>
              </a:tr>
              <a:tr h="502920">
                <a:tc>
                  <a:txBody>
                    <a:bodyPr/>
                    <a:lstStyle/>
                    <a:p>
                      <a:pPr algn="ctr"/>
                      <a:r>
                        <a:rPr sz="2000" b="1" i="0">
                          <a:solidFill>
                            <a:srgbClr val="5C4826"/>
                          </a:solidFill>
                        </a:rPr>
                        <a:t>SELL</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extLst>
                  <a:ext uri="{0D108BD9-81ED-4DB2-BD59-A6C34878D82A}">
                    <a16:rowId xmlns:a16="http://schemas.microsoft.com/office/drawing/2014/main" val="10002"/>
                  </a:ext>
                </a:extLst>
              </a:tr>
            </a:tbl>
          </a:graphicData>
        </a:graphic>
      </p:graphicFrame>
      <p:sp>
        <p:nvSpPr>
          <p:cNvPr id="902" name="Doj"/>
          <p:cNvSpPr txBox="1"/>
          <p:nvPr/>
        </p:nvSpPr>
        <p:spPr>
          <a:xfrm>
            <a:off x="612250" y="3319272"/>
            <a:ext cx="7919499" cy="1277273"/>
          </a:xfrm>
          <a:prstGeom prst="rect">
            <a:avLst/>
          </a:prstGeom>
          <a:noFill/>
        </p:spPr>
        <p:txBody>
          <a:bodyPr wrap="square" lIns="27432" tIns="22860" rIns="27432" bIns="22860" anchor="t">
            <a:spAutoFit/>
          </a:bodyPr>
          <a:lstStyle/>
          <a:p>
            <a:pPr algn="ctr"/>
            <a:r>
              <a:rPr sz="2000" b="1" i="0" dirty="0">
                <a:solidFill>
                  <a:srgbClr val="5C4826"/>
                </a:solidFill>
              </a:rPr>
              <a:t>The certification was not a one-time failure. </a:t>
            </a:r>
            <a:endParaRPr lang="en-US" sz="2000" b="1" i="0" dirty="0">
              <a:solidFill>
                <a:srgbClr val="5C4826"/>
              </a:solidFill>
            </a:endParaRPr>
          </a:p>
          <a:p>
            <a:pPr algn="ctr"/>
            <a:endParaRPr lang="en-US" sz="2000" b="1" i="0" dirty="0">
              <a:solidFill>
                <a:srgbClr val="5C4826"/>
              </a:solidFill>
            </a:endParaRPr>
          </a:p>
          <a:p>
            <a:pPr algn="ctr"/>
            <a:r>
              <a:rPr sz="2000" b="1" i="0" dirty="0">
                <a:solidFill>
                  <a:srgbClr val="555960"/>
                </a:solidFill>
              </a:rPr>
              <a:t>DOJ</a:t>
            </a:r>
            <a:r>
              <a:rPr sz="2000" b="0" i="0" dirty="0">
                <a:solidFill>
                  <a:srgbClr val="555960"/>
                </a:solidFill>
              </a:rPr>
              <a:t>: </a:t>
            </a:r>
            <a:r>
              <a:rPr lang="en-US" sz="2000" b="0" i="0" dirty="0">
                <a:solidFill>
                  <a:srgbClr val="555960"/>
                </a:solidFill>
              </a:rPr>
              <a:t>F</a:t>
            </a:r>
            <a:r>
              <a:rPr sz="2000" b="0" i="0" dirty="0">
                <a:solidFill>
                  <a:srgbClr val="555960"/>
                </a:solidFill>
              </a:rPr>
              <a:t>alse certifications continued model year after model year, with employees meeting EPA/CARB and concealing the defeat device.</a:t>
            </a:r>
          </a:p>
        </p:txBody>
      </p:sp>
      <p:sp>
        <p:nvSpPr>
          <p:cNvPr id="903" name="FooterBand"/>
          <p:cNvSpPr/>
          <p:nvPr/>
        </p:nvSpPr>
        <p:spPr>
          <a:xfrm>
            <a:off x="274320" y="5786651"/>
            <a:ext cx="8595360" cy="63243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made this outcome reproducible?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2012: Reality provides another observation</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They learned from failure.</a:t>
            </a:r>
          </a:p>
          <a:p>
            <a:pPr algn="ctr">
              <a:spcBef>
                <a:spcPts val="300"/>
              </a:spcBef>
            </a:pPr>
            <a:r>
              <a:rPr sz="2000" b="1" i="0" dirty="0">
                <a:solidFill>
                  <a:srgbClr val="FFFFFF"/>
                </a:solidFill>
              </a:rPr>
              <a:t>They learned how to make the existing system work better.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FAILURE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hardware failures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NEW EVIDENCE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dyno mode imposes additional stress</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INTERPRETATION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the defeat device is causing the stress</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ACTION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improve the defeat device</a:t>
            </a:r>
            <a:r>
              <a:rPr lang="en-US" sz="2000" b="1" dirty="0">
                <a:solidFill>
                  <a:srgbClr val="555960"/>
                </a:solidFill>
              </a:rPr>
              <a:t> !</a:t>
            </a:r>
            <a:endParaRPr sz="2000" b="1" i="0" dirty="0">
              <a:solidFill>
                <a:srgbClr val="55596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2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2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2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2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2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2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92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3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9" grpId="0" animBg="1"/>
      <p:bldP spid="920" grpId="0" animBg="1"/>
      <p:bldP spid="921" grpId="0"/>
      <p:bldP spid="923" grpId="0" animBg="1"/>
      <p:bldP spid="924" grpId="0"/>
      <p:bldP spid="926" grpId="0" animBg="1"/>
      <p:bldP spid="927" grpId="0"/>
      <p:bldP spid="929" grpId="0" animBg="1"/>
      <p:bldP spid="93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2014–15: Someone outside the system measures reality</a:t>
            </a:r>
          </a:p>
        </p:txBody>
      </p:sp>
      <p:sp>
        <p:nvSpPr>
          <p:cNvPr id="900" name="Slide Number Placeholder 900"/>
          <p:cNvSpPr>
            <a:spLocks noGrp="1"/>
          </p:cNvSpPr>
          <p:nvPr>
            <p:ph type="sldNum" sz="quarter" idx="4"/>
          </p:nvPr>
        </p:nvSpPr>
        <p:spPr/>
        <p:txBody>
          <a:bodyPr/>
          <a:lstStyle/>
          <a:p>
            <a:fld id="{1CC19601-3229-4026-8A65-27C733DA7C77}" type="slidenum">
              <a:rPr lang="en-US" smtClean="0"/>
              <a:t>11</a:t>
            </a:fld>
            <a:endParaRPr lang="en-US"/>
          </a:p>
        </p:txBody>
      </p:sp>
      <p:sp>
        <p:nvSpPr>
          <p:cNvPr id="909" name="FooterBand"/>
          <p:cNvSpPr/>
          <p:nvPr/>
        </p:nvSpPr>
        <p:spPr>
          <a:xfrm>
            <a:off x="274320" y="5779007"/>
            <a:ext cx="8595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How did so many people and mechanisms sustain the same outcome?</a:t>
            </a:r>
          </a:p>
        </p:txBody>
      </p:sp>
      <p:sp>
        <p:nvSpPr>
          <p:cNvPr id="920" name="Card"/>
          <p:cNvSpPr/>
          <p:nvPr/>
        </p:nvSpPr>
        <p:spPr>
          <a:xfrm>
            <a:off x="41148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ROAD TESTING</a:t>
            </a:r>
          </a:p>
        </p:txBody>
      </p:sp>
      <p:cxnSp>
        <p:nvCxnSpPr>
          <p:cNvPr id="921" name="Connector 921"/>
          <p:cNvCxnSpPr/>
          <p:nvPr/>
        </p:nvCxnSpPr>
        <p:spPr>
          <a:xfrm>
            <a:off x="224028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Card"/>
          <p:cNvSpPr/>
          <p:nvPr/>
        </p:nvSpPr>
        <p:spPr>
          <a:xfrm>
            <a:off x="256032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REGULATORS</a:t>
            </a:r>
          </a:p>
        </p:txBody>
      </p:sp>
      <p:cxnSp>
        <p:nvCxnSpPr>
          <p:cNvPr id="923" name="Connector 923"/>
          <p:cNvCxnSpPr/>
          <p:nvPr/>
        </p:nvCxnSpPr>
        <p:spPr>
          <a:xfrm>
            <a:off x="438912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Block"/>
          <p:cNvSpPr/>
          <p:nvPr/>
        </p:nvSpPr>
        <p:spPr>
          <a:xfrm>
            <a:off x="4709160" y="15544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2015:</a:t>
            </a:r>
          </a:p>
          <a:p>
            <a:pPr algn="ctr"/>
            <a:r>
              <a:rPr sz="2000" b="1" i="0">
                <a:solidFill>
                  <a:srgbClr val="FFFFFF"/>
                </a:solidFill>
              </a:rPr>
              <a:t>EPA NOTICE</a:t>
            </a:r>
          </a:p>
        </p:txBody>
      </p:sp>
      <p:cxnSp>
        <p:nvCxnSpPr>
          <p:cNvPr id="925" name="Connector 925"/>
          <p:cNvCxnSpPr/>
          <p:nvPr/>
        </p:nvCxnSpPr>
        <p:spPr>
          <a:xfrm>
            <a:off x="653796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6858000" y="1554480"/>
            <a:ext cx="1737360" cy="64008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DISCLOSURE</a:t>
            </a:r>
          </a:p>
        </p:txBody>
      </p:sp>
      <p:sp>
        <p:nvSpPr>
          <p:cNvPr id="927" name="Card"/>
          <p:cNvSpPr/>
          <p:nvPr/>
        </p:nvSpPr>
        <p:spPr>
          <a:xfrm>
            <a:off x="1413908" y="2862072"/>
            <a:ext cx="5950424"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Criminal prosecutions. A $2.8B U.S. criminal penalty. </a:t>
            </a:r>
            <a:endParaRPr lang="en-US" sz="2000" b="0" i="0" dirty="0">
              <a:solidFill>
                <a:srgbClr val="555960"/>
              </a:solidFill>
            </a:endParaRPr>
          </a:p>
          <a:p>
            <a:pPr algn="ctr"/>
            <a:r>
              <a:rPr sz="2000" b="0" i="0" dirty="0">
                <a:solidFill>
                  <a:srgbClr val="555960"/>
                </a:solidFill>
              </a:rPr>
              <a:t>Further settlements and consequences.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What theory explains it?</a:t>
            </a:r>
          </a:p>
        </p:txBody>
      </p:sp>
      <p:sp>
        <p:nvSpPr>
          <p:cNvPr id="900" name="Slide Number Placeholder 900"/>
          <p:cNvSpPr>
            <a:spLocks noGrp="1"/>
          </p:cNvSpPr>
          <p:nvPr>
            <p:ph type="sldNum" sz="quarter" idx="4"/>
          </p:nvPr>
        </p:nvSpPr>
        <p:spPr/>
        <p:txBody>
          <a:bodyPr/>
          <a:lstStyle/>
          <a:p>
            <a:fld id="{3B223778-6764-4D81-904E-8786918EE0A1}" type="slidenum">
              <a:rPr lang="en-US" smtClean="0"/>
              <a:t>12</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2</a:t>
            </a:r>
            <a:endParaRPr sz="2000" b="1" i="0" dirty="0">
              <a:solidFill>
                <a:srgbClr val="8E6F3E"/>
              </a:solidFill>
            </a:endParaRPr>
          </a:p>
        </p:txBody>
      </p:sp>
      <p:sp>
        <p:nvSpPr>
          <p:cNvPr id="902" name="Question"/>
          <p:cNvSpPr txBox="1"/>
          <p:nvPr/>
        </p:nvSpPr>
        <p:spPr>
          <a:xfrm>
            <a:off x="685800" y="2816352"/>
            <a:ext cx="7772400" cy="475488"/>
          </a:xfrm>
          <a:prstGeom prst="rect">
            <a:avLst/>
          </a:prstGeom>
          <a:noFill/>
        </p:spPr>
        <p:txBody>
          <a:bodyPr wrap="square" lIns="27432" tIns="22860" rIns="27432" bIns="22860" anchor="ctr">
            <a:spAutoFit/>
          </a:bodyPr>
          <a:lstStyle/>
          <a:p>
            <a:pPr algn="ctr"/>
            <a:r>
              <a:rPr sz="2400" b="0" i="0">
                <a:solidFill>
                  <a:srgbClr val="5C4826"/>
                </a:solidFill>
              </a:rPr>
              <a:t>And what does each theory let you change?</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Human error</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Useful</a:t>
            </a:r>
            <a:r>
              <a:rPr lang="en-US" sz="2000" b="1" dirty="0">
                <a:solidFill>
                  <a:srgbClr val="FFFFFF"/>
                </a:solidFill>
              </a:rPr>
              <a:t> </a:t>
            </a:r>
            <a:r>
              <a:rPr sz="2000" b="1" i="0" dirty="0">
                <a:solidFill>
                  <a:srgbClr val="FFFFFF"/>
                </a:solidFill>
              </a:rPr>
              <a:t>but narrow.</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INDIVIDUAL</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outcome</a:t>
            </a:r>
          </a:p>
        </p:txBody>
      </p:sp>
      <p:sp>
        <p:nvSpPr>
          <p:cNvPr id="915" name="Label"/>
          <p:cNvSpPr txBox="1"/>
          <p:nvPr/>
        </p:nvSpPr>
        <p:spPr>
          <a:xfrm>
            <a:off x="548640" y="3474720"/>
            <a:ext cx="8046720" cy="457200"/>
          </a:xfrm>
          <a:prstGeom prst="rect">
            <a:avLst/>
          </a:prstGeom>
          <a:noFill/>
        </p:spPr>
        <p:txBody>
          <a:bodyPr wrap="square" lIns="27432" tIns="22860" rIns="27432" bIns="22860" anchor="t">
            <a:spAutoFit/>
          </a:bodyPr>
          <a:lstStyle/>
          <a:p>
            <a:pPr algn="ctr"/>
            <a:r>
              <a:rPr sz="2000" b="1" i="0">
                <a:solidFill>
                  <a:srgbClr val="5C4826"/>
                </a:solidFill>
              </a:rPr>
              <a:t>Model: </a:t>
            </a:r>
            <a:r>
              <a:rPr sz="2000" b="0" i="0">
                <a:solidFill>
                  <a:srgbClr val="555960"/>
                </a:solidFill>
              </a:rPr>
              <a:t>an individual erred.   </a:t>
            </a:r>
            <a:r>
              <a:rPr sz="2000" b="1" i="0">
                <a:solidFill>
                  <a:srgbClr val="5C4826"/>
                </a:solidFill>
              </a:rPr>
              <a:t>Intervention: </a:t>
            </a:r>
            <a:r>
              <a:rPr sz="2000" b="0" i="0">
                <a:solidFill>
                  <a:srgbClr val="555960"/>
                </a:solidFill>
              </a:rPr>
              <a:t>change the individual.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Swiss cheese</a:t>
            </a:r>
          </a:p>
        </p:txBody>
      </p:sp>
      <p:sp>
        <p:nvSpPr>
          <p:cNvPr id="900" name="Slide Number Placeholder 900"/>
          <p:cNvSpPr>
            <a:spLocks noGrp="1"/>
          </p:cNvSpPr>
          <p:nvPr>
            <p:ph type="sldNum" sz="quarter" idx="4"/>
          </p:nvPr>
        </p:nvSpPr>
        <p:spPr/>
        <p:txBody>
          <a:bodyPr/>
          <a:lstStyle/>
          <a:p>
            <a:fld id="{E3DB674E-A080-44A8-A874-38AE3C84A5E2}" type="slidenum">
              <a:rPr lang="en-US" smtClean="0"/>
              <a:t>14</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the condition of the defenses matters.</a:t>
            </a:r>
          </a:p>
        </p:txBody>
      </p:sp>
      <p:sp>
        <p:nvSpPr>
          <p:cNvPr id="930" name="Label"/>
          <p:cNvSpPr txBox="1"/>
          <p:nvPr/>
        </p:nvSpPr>
        <p:spPr>
          <a:xfrm>
            <a:off x="123444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1" name="Label"/>
          <p:cNvSpPr txBox="1"/>
          <p:nvPr/>
        </p:nvSpPr>
        <p:spPr>
          <a:xfrm>
            <a:off x="288036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2" name="Label"/>
          <p:cNvSpPr txBox="1"/>
          <p:nvPr/>
        </p:nvSpPr>
        <p:spPr>
          <a:xfrm>
            <a:off x="452628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3" name="Label"/>
          <p:cNvSpPr txBox="1"/>
          <p:nvPr/>
        </p:nvSpPr>
        <p:spPr>
          <a:xfrm>
            <a:off x="617220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Organizational causation</a:t>
            </a:r>
          </a:p>
        </p:txBody>
      </p:sp>
      <p:sp>
        <p:nvSpPr>
          <p:cNvPr id="900" name="Slide Number Placeholder 900"/>
          <p:cNvSpPr>
            <a:spLocks noGrp="1"/>
          </p:cNvSpPr>
          <p:nvPr>
            <p:ph type="sldNum" sz="quarter" idx="4"/>
          </p:nvPr>
        </p:nvSpPr>
        <p:spPr/>
        <p:txBody>
          <a:bodyPr/>
          <a:lstStyle/>
          <a:p>
            <a:fld id="{914DCAD9-F068-4234-801B-B81BE39514E5}" type="slidenum">
              <a:rPr lang="en-US" smtClean="0"/>
              <a:t>15</a:t>
            </a:fld>
            <a:endParaRPr lang="en-US"/>
          </a:p>
        </p:txBody>
      </p:sp>
      <p:sp>
        <p:nvSpPr>
          <p:cNvPr id="901" name="Block"/>
          <p:cNvSpPr/>
          <p:nvPr/>
        </p:nvSpPr>
        <p:spPr>
          <a:xfrm>
            <a:off x="548640" y="237744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CONDITIONS</a:t>
            </a:r>
          </a:p>
        </p:txBody>
      </p:sp>
      <p:cxnSp>
        <p:nvCxnSpPr>
          <p:cNvPr id="902" name="Connector 901"/>
          <p:cNvCxnSpPr/>
          <p:nvPr/>
        </p:nvCxnSpPr>
        <p:spPr>
          <a:xfrm>
            <a:off x="301752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566160" y="2377440"/>
            <a:ext cx="24688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behavior</a:t>
            </a:r>
          </a:p>
        </p:txBody>
      </p:sp>
      <p:cxnSp>
        <p:nvCxnSpPr>
          <p:cNvPr id="904" name="Connector 903"/>
          <p:cNvCxnSpPr/>
          <p:nvPr/>
        </p:nvCxnSpPr>
        <p:spPr>
          <a:xfrm>
            <a:off x="603504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6583680" y="237744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outcome</a:t>
            </a:r>
          </a:p>
        </p:txBody>
      </p:sp>
      <p:sp>
        <p:nvSpPr>
          <p:cNvPr id="906" name="Label"/>
          <p:cNvSpPr txBox="1"/>
          <p:nvPr/>
        </p:nvSpPr>
        <p:spPr>
          <a:xfrm>
            <a:off x="548640" y="416052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the conditions shaping behavior matter.</a:t>
            </a:r>
          </a:p>
        </p:txBody>
      </p:sp>
      <p:sp>
        <p:nvSpPr>
          <p:cNvPr id="920" name="Label"/>
          <p:cNvSpPr txBox="1"/>
          <p:nvPr/>
        </p:nvSpPr>
        <p:spPr>
          <a:xfrm>
            <a:off x="274320" y="3200400"/>
            <a:ext cx="3017520" cy="365760"/>
          </a:xfrm>
          <a:prstGeom prst="rect">
            <a:avLst/>
          </a:prstGeom>
          <a:noFill/>
        </p:spPr>
        <p:txBody>
          <a:bodyPr wrap="square" lIns="27432" tIns="22860" rIns="27432" bIns="22860" anchor="t">
            <a:spAutoFit/>
          </a:bodyPr>
          <a:lstStyle/>
          <a:p>
            <a:pPr algn="ctr"/>
            <a:r>
              <a:rPr sz="2000" b="0" i="0">
                <a:solidFill>
                  <a:srgbClr val="555960"/>
                </a:solidFill>
              </a:rPr>
              <a:t>authority · incentives · schedule · ownership</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STAMP: Model the control structure</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REGULATORS</a:t>
            </a:r>
          </a:p>
        </p:txBody>
      </p:sp>
      <p:sp>
        <p:nvSpPr>
          <p:cNvPr id="2" name="Block"/>
          <p:cNvSpPr/>
          <p:nvPr/>
        </p:nvSpPr>
        <p:spPr>
          <a:xfrm>
            <a:off x="662940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IAV</a:t>
            </a:r>
          </a:p>
        </p:txBody>
      </p:sp>
      <p:sp>
        <p:nvSpPr>
          <p:cNvPr id="4" name="Block"/>
          <p:cNvSpPr/>
          <p:nvPr/>
        </p:nvSpPr>
        <p:spPr>
          <a:xfrm>
            <a:off x="50292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BOSCH</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5" name="Connector 901"/>
          <p:cNvCxnSpPr/>
          <p:nvPr/>
        </p:nvCxnSpPr>
        <p:spPr>
          <a:xfrm>
            <a:off x="621792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6" name="Connector 901"/>
          <p:cNvCxnSpPr/>
          <p:nvPr/>
        </p:nvCxnSpPr>
        <p:spPr>
          <a:xfrm>
            <a:off x="251460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ORGANIZATION</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OPERATING PROCESS</a:t>
            </a:r>
          </a:p>
        </p:txBody>
      </p:sp>
      <p:sp>
        <p:nvSpPr>
          <p:cNvPr id="911" name="Label"/>
          <p:cNvSpPr txBox="1"/>
          <p:nvPr/>
        </p:nvSpPr>
        <p:spPr>
          <a:xfrm>
            <a:off x="411480" y="2377440"/>
            <a:ext cx="2331720" cy="731520"/>
          </a:xfrm>
          <a:prstGeom prst="rect">
            <a:avLst/>
          </a:prstGeom>
          <a:noFill/>
        </p:spPr>
        <p:txBody>
          <a:bodyPr wrap="square" lIns="27432" tIns="22860" rIns="27432" bIns="22860" anchor="t">
            <a:spAutoFit/>
          </a:bodyPr>
          <a:lstStyle/>
          <a:p>
            <a:pPr algn="r"/>
            <a:r>
              <a:rPr sz="2000" b="0" i="0">
                <a:solidFill>
                  <a:srgbClr val="555960"/>
                </a:solidFill>
              </a:rPr>
              <a:t>control ↓</a:t>
            </a:r>
          </a:p>
        </p:txBody>
      </p:sp>
      <p:sp>
        <p:nvSpPr>
          <p:cNvPr id="912" name="Label"/>
          <p:cNvSpPr txBox="1"/>
          <p:nvPr/>
        </p:nvSpPr>
        <p:spPr>
          <a:xfrm>
            <a:off x="6400800" y="2377440"/>
            <a:ext cx="2103120" cy="731520"/>
          </a:xfrm>
          <a:prstGeom prst="rect">
            <a:avLst/>
          </a:prstGeom>
          <a:noFill/>
        </p:spPr>
        <p:txBody>
          <a:bodyPr wrap="square" lIns="27432" tIns="22860" rIns="27432" bIns="22860" anchor="t">
            <a:spAutoFit/>
          </a:bodyPr>
          <a:lstStyle/>
          <a:p>
            <a:pPr algn="l"/>
            <a:r>
              <a:rPr sz="2000" b="0" i="0">
                <a:solidFill>
                  <a:srgbClr val="555960"/>
                </a:solidFill>
              </a:rPr>
              <a:t>↑ feedback</a:t>
            </a:r>
          </a:p>
        </p:txBody>
      </p:sp>
      <p:sp>
        <p:nvSpPr>
          <p:cNvPr id="913" name="Label"/>
          <p:cNvSpPr txBox="1"/>
          <p:nvPr/>
        </p:nvSpPr>
        <p:spPr>
          <a:xfrm>
            <a:off x="548640" y="530352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control and feedback across the system matter.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broader model is not automatically a better model</a:t>
            </a:r>
          </a:p>
        </p:txBody>
      </p:sp>
      <p:sp>
        <p:nvSpPr>
          <p:cNvPr id="900" name="Slide Number Placeholder 900"/>
          <p:cNvSpPr>
            <a:spLocks noGrp="1"/>
          </p:cNvSpPr>
          <p:nvPr>
            <p:ph type="sldNum" sz="quarter" idx="4"/>
          </p:nvPr>
        </p:nvSpPr>
        <p:spPr/>
        <p:txBody>
          <a:bodyPr/>
          <a:lstStyle/>
          <a:p>
            <a:fld id="{A5E8DDF8-F0A4-457E-8C49-34448B87F78F}" type="slidenum">
              <a:rPr lang="en-US" smtClean="0"/>
              <a:t>17</a:t>
            </a:fld>
            <a:endParaRPr lang="en-US"/>
          </a:p>
        </p:txBody>
      </p:sp>
      <p:sp>
        <p:nvSpPr>
          <p:cNvPr id="901" name="Card"/>
          <p:cNvSpPr/>
          <p:nvPr/>
        </p:nvSpPr>
        <p:spPr>
          <a:xfrm>
            <a:off x="448056"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Human error</a:t>
            </a:r>
          </a:p>
        </p:txBody>
      </p:sp>
      <p:sp>
        <p:nvSpPr>
          <p:cNvPr id="902" name="Card"/>
          <p:cNvSpPr/>
          <p:nvPr/>
        </p:nvSpPr>
        <p:spPr>
          <a:xfrm>
            <a:off x="2523744"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p:txBody>
      </p:sp>
      <p:sp>
        <p:nvSpPr>
          <p:cNvPr id="903" name="Card"/>
          <p:cNvSpPr/>
          <p:nvPr/>
        </p:nvSpPr>
        <p:spPr>
          <a:xfrm>
            <a:off x="4599432"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Organizational</a:t>
            </a:r>
          </a:p>
        </p:txBody>
      </p:sp>
      <p:sp>
        <p:nvSpPr>
          <p:cNvPr id="904" name="Card"/>
          <p:cNvSpPr/>
          <p:nvPr/>
        </p:nvSpPr>
        <p:spPr>
          <a:xfrm>
            <a:off x="667512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p:txBody>
      </p:sp>
      <p:cxnSp>
        <p:nvCxnSpPr>
          <p:cNvPr id="905" name="Connector 904"/>
          <p:cNvCxnSpPr/>
          <p:nvPr/>
        </p:nvCxnSpPr>
        <p:spPr>
          <a:xfrm>
            <a:off x="448056" y="3318637"/>
            <a:ext cx="8001000" cy="0"/>
          </a:xfrm>
          <a:prstGeom prst="line">
            <a:avLst/>
          </a:prstGeom>
          <a:ln w="28575">
            <a:solidFill>
              <a:srgbClr val="8E6F3E"/>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920" name="Label"/>
          <p:cNvSpPr txBox="1"/>
          <p:nvPr/>
        </p:nvSpPr>
        <p:spPr>
          <a:xfrm>
            <a:off x="356616" y="2011680"/>
            <a:ext cx="2011680" cy="548640"/>
          </a:xfrm>
          <a:prstGeom prst="rect">
            <a:avLst/>
          </a:prstGeom>
          <a:noFill/>
        </p:spPr>
        <p:txBody>
          <a:bodyPr wrap="square" lIns="27432" tIns="22860" rIns="27432" bIns="22860" anchor="t">
            <a:spAutoFit/>
          </a:bodyPr>
          <a:lstStyle/>
          <a:p>
            <a:pPr algn="ctr"/>
            <a:r>
              <a:rPr sz="2000" b="0" i="0">
                <a:solidFill>
                  <a:srgbClr val="555960"/>
                </a:solidFill>
              </a:rPr>
              <a:t>the individual act</a:t>
            </a:r>
          </a:p>
        </p:txBody>
      </p:sp>
      <p:sp>
        <p:nvSpPr>
          <p:cNvPr id="921" name="Label"/>
          <p:cNvSpPr txBox="1"/>
          <p:nvPr/>
        </p:nvSpPr>
        <p:spPr>
          <a:xfrm>
            <a:off x="2432304" y="2011680"/>
            <a:ext cx="2011680" cy="548640"/>
          </a:xfrm>
          <a:prstGeom prst="rect">
            <a:avLst/>
          </a:prstGeom>
          <a:noFill/>
        </p:spPr>
        <p:txBody>
          <a:bodyPr wrap="square" lIns="27432" tIns="22860" rIns="27432" bIns="22860" anchor="t">
            <a:spAutoFit/>
          </a:bodyPr>
          <a:lstStyle/>
          <a:p>
            <a:pPr algn="ctr"/>
            <a:r>
              <a:rPr sz="2000" b="0" i="0">
                <a:solidFill>
                  <a:srgbClr val="555960"/>
                </a:solidFill>
              </a:rPr>
              <a:t>the state of the defenses</a:t>
            </a:r>
          </a:p>
        </p:txBody>
      </p:sp>
      <p:sp>
        <p:nvSpPr>
          <p:cNvPr id="922" name="Label"/>
          <p:cNvSpPr txBox="1"/>
          <p:nvPr/>
        </p:nvSpPr>
        <p:spPr>
          <a:xfrm>
            <a:off x="4507992" y="2011680"/>
            <a:ext cx="2011680" cy="548640"/>
          </a:xfrm>
          <a:prstGeom prst="rect">
            <a:avLst/>
          </a:prstGeom>
          <a:noFill/>
        </p:spPr>
        <p:txBody>
          <a:bodyPr wrap="square" lIns="27432" tIns="22860" rIns="27432" bIns="22860" anchor="t">
            <a:spAutoFit/>
          </a:bodyPr>
          <a:lstStyle/>
          <a:p>
            <a:pPr algn="ctr"/>
            <a:r>
              <a:rPr sz="2000" b="0" i="0">
                <a:solidFill>
                  <a:srgbClr val="555960"/>
                </a:solidFill>
              </a:rPr>
              <a:t>the shaping conditions</a:t>
            </a:r>
          </a:p>
        </p:txBody>
      </p:sp>
      <p:sp>
        <p:nvSpPr>
          <p:cNvPr id="923" name="Label"/>
          <p:cNvSpPr txBox="1"/>
          <p:nvPr/>
        </p:nvSpPr>
        <p:spPr>
          <a:xfrm>
            <a:off x="6583680" y="2011680"/>
            <a:ext cx="2011680" cy="548640"/>
          </a:xfrm>
          <a:prstGeom prst="rect">
            <a:avLst/>
          </a:prstGeom>
          <a:noFill/>
        </p:spPr>
        <p:txBody>
          <a:bodyPr wrap="square" lIns="27432" tIns="22860" rIns="27432" bIns="22860" anchor="t">
            <a:spAutoFit/>
          </a:bodyPr>
          <a:lstStyle/>
          <a:p>
            <a:pPr algn="ctr"/>
            <a:r>
              <a:rPr sz="2000" b="0" i="0">
                <a:solidFill>
                  <a:srgbClr val="555960"/>
                </a:solidFill>
              </a:rPr>
              <a:t>control and feedback loops</a:t>
            </a:r>
          </a:p>
        </p:txBody>
      </p:sp>
      <p:sp>
        <p:nvSpPr>
          <p:cNvPr id="924" name="Label"/>
          <p:cNvSpPr txBox="1"/>
          <p:nvPr/>
        </p:nvSpPr>
        <p:spPr>
          <a:xfrm>
            <a:off x="448056" y="2890848"/>
            <a:ext cx="1719072" cy="353943"/>
          </a:xfrm>
          <a:prstGeom prst="rect">
            <a:avLst/>
          </a:prstGeom>
          <a:noFill/>
        </p:spPr>
        <p:txBody>
          <a:bodyPr wrap="square" lIns="27432" tIns="22860" rIns="27432" bIns="22860" anchor="t">
            <a:spAutoFit/>
          </a:bodyPr>
          <a:lstStyle/>
          <a:p>
            <a:pPr algn="l"/>
            <a:r>
              <a:rPr lang="en-US" sz="2000" b="0" i="0" dirty="0">
                <a:solidFill>
                  <a:srgbClr val="555960"/>
                </a:solidFill>
              </a:rPr>
              <a:t>Narrower</a:t>
            </a:r>
            <a:endParaRPr sz="2000" b="0" i="0" dirty="0">
              <a:solidFill>
                <a:srgbClr val="555960"/>
              </a:solidFill>
            </a:endParaRPr>
          </a:p>
        </p:txBody>
      </p:sp>
      <p:sp>
        <p:nvSpPr>
          <p:cNvPr id="925" name="Label"/>
          <p:cNvSpPr txBox="1"/>
          <p:nvPr/>
        </p:nvSpPr>
        <p:spPr>
          <a:xfrm>
            <a:off x="6848856" y="2890848"/>
            <a:ext cx="1600200" cy="353943"/>
          </a:xfrm>
          <a:prstGeom prst="rect">
            <a:avLst/>
          </a:prstGeom>
          <a:noFill/>
        </p:spPr>
        <p:txBody>
          <a:bodyPr wrap="square" lIns="27432" tIns="22860" rIns="27432" bIns="22860" anchor="t">
            <a:spAutoFit/>
          </a:bodyPr>
          <a:lstStyle/>
          <a:p>
            <a:pPr algn="r"/>
            <a:r>
              <a:rPr lang="en-US" sz="2000" b="0" i="0" dirty="0">
                <a:solidFill>
                  <a:srgbClr val="555960"/>
                </a:solidFill>
              </a:rPr>
              <a:t>Broader</a:t>
            </a:r>
            <a:endParaRPr sz="2000" b="0" i="0" dirty="0">
              <a:solidFill>
                <a:srgbClr val="555960"/>
              </a:solidFill>
            </a:endParaRPr>
          </a:p>
        </p:txBody>
      </p:sp>
      <p:sp>
        <p:nvSpPr>
          <p:cNvPr id="927" name="Label"/>
          <p:cNvSpPr txBox="1"/>
          <p:nvPr/>
        </p:nvSpPr>
        <p:spPr>
          <a:xfrm>
            <a:off x="850392" y="4228590"/>
            <a:ext cx="7498080" cy="822960"/>
          </a:xfrm>
          <a:prstGeom prst="rect">
            <a:avLst/>
          </a:prstGeom>
          <a:noFill/>
        </p:spPr>
        <p:txBody>
          <a:bodyPr wrap="square" lIns="27432" tIns="22860" rIns="27432" bIns="22860" anchor="t">
            <a:spAutoFit/>
          </a:bodyPr>
          <a:lstStyle/>
          <a:p>
            <a:pPr algn="ctr"/>
            <a:r>
              <a:rPr sz="2000" b="0" i="0" dirty="0">
                <a:solidFill>
                  <a:srgbClr val="5C4826"/>
                </a:solidFill>
              </a:rPr>
              <a:t>Broader models expose more relationships.</a:t>
            </a:r>
          </a:p>
          <a:p>
            <a:pPr algn="ctr"/>
            <a:r>
              <a:rPr sz="2000" b="0" i="0" dirty="0">
                <a:solidFill>
                  <a:srgbClr val="5C4826"/>
                </a:solidFill>
              </a:rPr>
              <a:t>They also demand more evidence and more authority to act.</a:t>
            </a:r>
          </a:p>
        </p:txBody>
      </p:sp>
      <p:sp>
        <p:nvSpPr>
          <p:cNvPr id="2" name="Label">
            <a:extLst>
              <a:ext uri="{FF2B5EF4-FFF2-40B4-BE49-F238E27FC236}">
                <a16:creationId xmlns:a16="http://schemas.microsoft.com/office/drawing/2014/main" id="{7DD433C0-05A4-A8DB-8A40-F75777F417F1}"/>
              </a:ext>
            </a:extLst>
          </p:cNvPr>
          <p:cNvSpPr txBox="1"/>
          <p:nvPr/>
        </p:nvSpPr>
        <p:spPr>
          <a:xfrm>
            <a:off x="3502152" y="2890848"/>
            <a:ext cx="2011680" cy="353943"/>
          </a:xfrm>
          <a:prstGeom prst="rect">
            <a:avLst/>
          </a:prstGeom>
          <a:noFill/>
        </p:spPr>
        <p:txBody>
          <a:bodyPr wrap="square" lIns="27432" tIns="22860" rIns="27432" bIns="22860" anchor="t">
            <a:spAutoFit/>
          </a:bodyPr>
          <a:lstStyle/>
          <a:p>
            <a:pPr algn="ctr"/>
            <a:r>
              <a:rPr lang="en-US" sz="2000" dirty="0">
                <a:solidFill>
                  <a:srgbClr val="555960"/>
                </a:solidFill>
              </a:rPr>
              <a:t>c</a:t>
            </a:r>
            <a:r>
              <a:rPr lang="en-US" sz="2000" b="0" i="0" dirty="0">
                <a:solidFill>
                  <a:srgbClr val="555960"/>
                </a:solidFill>
              </a:rPr>
              <a:t>ausal boundary</a:t>
            </a:r>
            <a:endParaRPr sz="2000" b="0" i="0" dirty="0">
              <a:solidFill>
                <a:srgbClr val="555960"/>
              </a:solidFill>
            </a:endParaRPr>
          </a:p>
        </p:txBody>
      </p:sp>
      <p:sp>
        <p:nvSpPr>
          <p:cNvPr id="4" name="Label">
            <a:extLst>
              <a:ext uri="{FF2B5EF4-FFF2-40B4-BE49-F238E27FC236}">
                <a16:creationId xmlns:a16="http://schemas.microsoft.com/office/drawing/2014/main" id="{B231F455-4223-016C-1DEE-28C4A7911CF2}"/>
              </a:ext>
            </a:extLst>
          </p:cNvPr>
          <p:cNvSpPr txBox="1"/>
          <p:nvPr/>
        </p:nvSpPr>
        <p:spPr>
          <a:xfrm>
            <a:off x="3765758" y="3346766"/>
            <a:ext cx="1356451" cy="353943"/>
          </a:xfrm>
          <a:prstGeom prst="rect">
            <a:avLst/>
          </a:prstGeom>
          <a:noFill/>
        </p:spPr>
        <p:txBody>
          <a:bodyPr wrap="square" lIns="27432" tIns="22860" rIns="27432" bIns="22860" anchor="t">
            <a:spAutoFit/>
          </a:bodyPr>
          <a:lstStyle>
            <a:defPPr>
              <a:defRPr lang="en-US"/>
            </a:defPPr>
            <a:lvl1pPr>
              <a:defRPr sz="2000" b="1" i="0">
                <a:solidFill>
                  <a:srgbClr val="8E6F3E"/>
                </a:solidFill>
              </a:defRPr>
            </a:lvl1pPr>
          </a:lstStyle>
          <a:p>
            <a:pPr algn="ctr"/>
            <a:r>
              <a:rPr lang="en-US" dirty="0"/>
              <a:t>structure</a:t>
            </a:r>
            <a:endParaRPr dirty="0"/>
          </a:p>
        </p:txBody>
      </p:sp>
      <p:sp>
        <p:nvSpPr>
          <p:cNvPr id="5" name="Label">
            <a:extLst>
              <a:ext uri="{FF2B5EF4-FFF2-40B4-BE49-F238E27FC236}">
                <a16:creationId xmlns:a16="http://schemas.microsoft.com/office/drawing/2014/main" id="{94BA9F04-CC4F-849B-204C-8A7344D44B31}"/>
              </a:ext>
            </a:extLst>
          </p:cNvPr>
          <p:cNvSpPr txBox="1"/>
          <p:nvPr/>
        </p:nvSpPr>
        <p:spPr>
          <a:xfrm>
            <a:off x="448056" y="3345434"/>
            <a:ext cx="1719072" cy="353943"/>
          </a:xfrm>
          <a:prstGeom prst="rect">
            <a:avLst/>
          </a:prstGeom>
          <a:noFill/>
        </p:spPr>
        <p:txBody>
          <a:bodyPr wrap="square" lIns="27432" tIns="22860" rIns="27432" bIns="22860" anchor="t">
            <a:spAutoFit/>
          </a:bodyPr>
          <a:lstStyle>
            <a:defPPr>
              <a:defRPr lang="en-US"/>
            </a:defPPr>
            <a:lvl1pPr algn="ctr">
              <a:defRPr sz="2000" b="1" i="0">
                <a:solidFill>
                  <a:srgbClr val="8E6F3E"/>
                </a:solidFill>
              </a:defRPr>
            </a:lvl1pPr>
          </a:lstStyle>
          <a:p>
            <a:pPr algn="l"/>
            <a:r>
              <a:rPr lang="en-US" dirty="0"/>
              <a:t>Less</a:t>
            </a:r>
            <a:endParaRPr dirty="0"/>
          </a:p>
        </p:txBody>
      </p:sp>
      <p:sp>
        <p:nvSpPr>
          <p:cNvPr id="9" name="Label">
            <a:extLst>
              <a:ext uri="{FF2B5EF4-FFF2-40B4-BE49-F238E27FC236}">
                <a16:creationId xmlns:a16="http://schemas.microsoft.com/office/drawing/2014/main" id="{F6AC6458-DE8B-0560-62E1-E5D306C95CB2}"/>
              </a:ext>
            </a:extLst>
          </p:cNvPr>
          <p:cNvSpPr txBox="1"/>
          <p:nvPr/>
        </p:nvSpPr>
        <p:spPr>
          <a:xfrm>
            <a:off x="6848856" y="3345434"/>
            <a:ext cx="1600200" cy="353943"/>
          </a:xfrm>
          <a:prstGeom prst="rect">
            <a:avLst/>
          </a:prstGeom>
          <a:noFill/>
        </p:spPr>
        <p:txBody>
          <a:bodyPr wrap="square" lIns="27432" tIns="22860" rIns="27432" bIns="22860" anchor="t">
            <a:spAutoFit/>
          </a:bodyPr>
          <a:lstStyle>
            <a:defPPr>
              <a:defRPr lang="en-US"/>
            </a:defPPr>
            <a:lvl1pPr>
              <a:defRPr sz="2000" b="1" i="0">
                <a:solidFill>
                  <a:srgbClr val="8E6F3E"/>
                </a:solidFill>
              </a:defRPr>
            </a:lvl1pPr>
          </a:lstStyle>
          <a:p>
            <a:pPr algn="r"/>
            <a:r>
              <a:rPr lang="en-US" dirty="0"/>
              <a:t>More</a:t>
            </a:r>
            <a:endParaRPr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Match causal breadth to the decision</a:t>
            </a:r>
          </a:p>
        </p:txBody>
      </p:sp>
      <p:sp>
        <p:nvSpPr>
          <p:cNvPr id="900" name="Slide Number Placeholder 900"/>
          <p:cNvSpPr>
            <a:spLocks noGrp="1"/>
          </p:cNvSpPr>
          <p:nvPr>
            <p:ph type="sldNum" sz="quarter" idx="4"/>
          </p:nvPr>
        </p:nvSpPr>
        <p:spPr/>
        <p:txBody>
          <a:bodyPr/>
          <a:lstStyle/>
          <a:p>
            <a:fld id="{A2504DDB-3E3B-4B22-928E-39EF9EC13EA2}" type="slidenum">
              <a:rPr lang="en-US" smtClean="0"/>
              <a:t>18</a:t>
            </a:fld>
            <a:endParaRPr lang="en-US"/>
          </a:p>
        </p:txBody>
      </p:sp>
      <p:graphicFrame>
        <p:nvGraphicFramePr>
          <p:cNvPr id="901" name="Table 900"/>
          <p:cNvGraphicFramePr>
            <a:graphicFrameLocks noGrp="1"/>
          </p:cNvGraphicFramePr>
          <p:nvPr/>
        </p:nvGraphicFramePr>
        <p:xfrm>
          <a:off x="731520" y="1280160"/>
          <a:ext cx="7680960" cy="329184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658368">
                <a:tc>
                  <a:txBody>
                    <a:bodyPr/>
                    <a:lstStyle/>
                    <a:p>
                      <a:pPr algn="l"/>
                      <a:r>
                        <a:rPr sz="2000" b="1" i="0">
                          <a:solidFill>
                            <a:srgbClr val="FFFFFF"/>
                          </a:solidFill>
                        </a:rPr>
                        <a:t>CAUSAL MODEL</a:t>
                      </a:r>
                    </a:p>
                  </a:txBody>
                  <a:tcPr marL="54864" anchor="ctr">
                    <a:solidFill>
                      <a:srgbClr val="8E6F3E"/>
                    </a:solidFill>
                  </a:tcPr>
                </a:tc>
                <a:tc>
                  <a:txBody>
                    <a:bodyPr/>
                    <a:lstStyle/>
                    <a:p>
                      <a:pPr algn="l"/>
                      <a:r>
                        <a:rPr sz="2000" b="1" i="0">
                          <a:solidFill>
                            <a:srgbClr val="FFFFFF"/>
                          </a:solidFill>
                        </a:rPr>
                        <a:t>THE LEVER IT HANDS YOU</a:t>
                      </a:r>
                    </a:p>
                  </a:txBody>
                  <a:tcPr marL="54864" anchor="ctr">
                    <a:solidFill>
                      <a:srgbClr val="8E6F3E"/>
                    </a:solidFill>
                  </a:tcPr>
                </a:tc>
                <a:extLst>
                  <a:ext uri="{0D108BD9-81ED-4DB2-BD59-A6C34878D82A}">
                    <a16:rowId xmlns:a16="http://schemas.microsoft.com/office/drawing/2014/main" val="10000"/>
                  </a:ext>
                </a:extLst>
              </a:tr>
              <a:tr h="658368">
                <a:tc>
                  <a:txBody>
                    <a:bodyPr/>
                    <a:lstStyle/>
                    <a:p>
                      <a:pPr algn="l"/>
                      <a:r>
                        <a:rPr sz="2000" b="1" i="0">
                          <a:solidFill>
                            <a:srgbClr val="5C4826"/>
                          </a:solidFill>
                        </a:rPr>
                        <a:t>Human error</a:t>
                      </a:r>
                    </a:p>
                  </a:txBody>
                  <a:tcPr marL="54864" anchor="ctr">
                    <a:solidFill>
                      <a:srgbClr val="F5F1E8"/>
                    </a:solidFill>
                  </a:tcPr>
                </a:tc>
                <a:tc>
                  <a:txBody>
                    <a:bodyPr/>
                    <a:lstStyle/>
                    <a:p>
                      <a:pPr algn="l"/>
                      <a:r>
                        <a:rPr sz="2000" b="0" i="0">
                          <a:solidFill>
                            <a:srgbClr val="5C4826"/>
                          </a:solidFill>
                        </a:rPr>
                        <a:t>an individual's behavior</a:t>
                      </a:r>
                    </a:p>
                  </a:txBody>
                  <a:tcPr marL="54864" anchor="ctr">
                    <a:solidFill>
                      <a:srgbClr val="F5F1E8"/>
                    </a:solidFill>
                  </a:tcPr>
                </a:tc>
                <a:extLst>
                  <a:ext uri="{0D108BD9-81ED-4DB2-BD59-A6C34878D82A}">
                    <a16:rowId xmlns:a16="http://schemas.microsoft.com/office/drawing/2014/main" val="10001"/>
                  </a:ext>
                </a:extLst>
              </a:tr>
              <a:tr h="658368">
                <a:tc>
                  <a:txBody>
                    <a:bodyPr/>
                    <a:lstStyle/>
                    <a:p>
                      <a:pPr algn="l"/>
                      <a:r>
                        <a:rPr sz="2000" b="1" i="0">
                          <a:solidFill>
                            <a:srgbClr val="5C4826"/>
                          </a:solidFill>
                        </a:rPr>
                        <a:t>Swiss cheese</a:t>
                      </a:r>
                    </a:p>
                  </a:txBody>
                  <a:tcPr marL="54864" anchor="ctr">
                    <a:solidFill>
                      <a:srgbClr val="FBF8F2"/>
                    </a:solidFill>
                  </a:tcPr>
                </a:tc>
                <a:tc>
                  <a:txBody>
                    <a:bodyPr/>
                    <a:lstStyle/>
                    <a:p>
                      <a:pPr algn="l"/>
                      <a:r>
                        <a:rPr sz="2000" b="0" i="0">
                          <a:solidFill>
                            <a:srgbClr val="5C4826"/>
                          </a:solidFill>
                        </a:rPr>
                        <a:t>the set of defenses</a:t>
                      </a:r>
                    </a:p>
                  </a:txBody>
                  <a:tcPr marL="54864" anchor="ctr">
                    <a:solidFill>
                      <a:srgbClr val="FBF8F2"/>
                    </a:solidFill>
                  </a:tcPr>
                </a:tc>
                <a:extLst>
                  <a:ext uri="{0D108BD9-81ED-4DB2-BD59-A6C34878D82A}">
                    <a16:rowId xmlns:a16="http://schemas.microsoft.com/office/drawing/2014/main" val="10002"/>
                  </a:ext>
                </a:extLst>
              </a:tr>
              <a:tr h="658368">
                <a:tc>
                  <a:txBody>
                    <a:bodyPr/>
                    <a:lstStyle/>
                    <a:p>
                      <a:pPr algn="l"/>
                      <a:r>
                        <a:rPr sz="2000" b="1" i="0">
                          <a:solidFill>
                            <a:srgbClr val="5C4826"/>
                          </a:solidFill>
                        </a:rPr>
                        <a:t>Organizational</a:t>
                      </a:r>
                    </a:p>
                  </a:txBody>
                  <a:tcPr marL="54864" anchor="ctr">
                    <a:solidFill>
                      <a:srgbClr val="F5F1E8"/>
                    </a:solidFill>
                  </a:tcPr>
                </a:tc>
                <a:tc>
                  <a:txBody>
                    <a:bodyPr/>
                    <a:lstStyle/>
                    <a:p>
                      <a:pPr algn="l"/>
                      <a:r>
                        <a:rPr sz="2000" b="0" i="0">
                          <a:solidFill>
                            <a:srgbClr val="5C4826"/>
                          </a:solidFill>
                        </a:rPr>
                        <a:t>the conditions that shape behavior</a:t>
                      </a:r>
                    </a:p>
                  </a:txBody>
                  <a:tcPr marL="54864" anchor="ctr">
                    <a:solidFill>
                      <a:srgbClr val="F5F1E8"/>
                    </a:solidFill>
                  </a:tcPr>
                </a:tc>
                <a:extLst>
                  <a:ext uri="{0D108BD9-81ED-4DB2-BD59-A6C34878D82A}">
                    <a16:rowId xmlns:a16="http://schemas.microsoft.com/office/drawing/2014/main" val="10003"/>
                  </a:ext>
                </a:extLst>
              </a:tr>
              <a:tr h="658368">
                <a:tc>
                  <a:txBody>
                    <a:bodyPr/>
                    <a:lstStyle/>
                    <a:p>
                      <a:pPr algn="l"/>
                      <a:r>
                        <a:rPr sz="2000" b="1" i="0">
                          <a:solidFill>
                            <a:srgbClr val="5C4826"/>
                          </a:solidFill>
                        </a:rPr>
                        <a:t>STAMP</a:t>
                      </a:r>
                    </a:p>
                  </a:txBody>
                  <a:tcPr marL="54864" anchor="ctr">
                    <a:solidFill>
                      <a:srgbClr val="FBF8F2"/>
                    </a:solidFill>
                  </a:tcPr>
                </a:tc>
                <a:tc>
                  <a:txBody>
                    <a:bodyPr/>
                    <a:lstStyle/>
                    <a:p>
                      <a:pPr algn="l"/>
                      <a:r>
                        <a:rPr sz="2000" b="0" i="0">
                          <a:solidFill>
                            <a:srgbClr val="5C4826"/>
                          </a:solidFill>
                        </a:rPr>
                        <a:t>the whole control structure</a:t>
                      </a:r>
                    </a:p>
                  </a:txBody>
                  <a:tcPr marL="54864" anchor="ctr">
                    <a:solidFill>
                      <a:srgbClr val="FBF8F2"/>
                    </a:solidFill>
                  </a:tcPr>
                </a:tc>
                <a:extLst>
                  <a:ext uri="{0D108BD9-81ED-4DB2-BD59-A6C34878D82A}">
                    <a16:rowId xmlns:a16="http://schemas.microsoft.com/office/drawing/2014/main" val="10004"/>
                  </a:ext>
                </a:extLst>
              </a:tr>
            </a:tbl>
          </a:graphicData>
        </a:graphic>
      </p:graphicFrame>
      <p:sp>
        <p:nvSpPr>
          <p:cNvPr id="90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theory determines where we look for effective intervention.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E531BA-6F80-8083-7A86-56CCDEE60BC2}"/>
              </a:ext>
            </a:extLst>
          </p:cNvPr>
          <p:cNvSpPr>
            <a:spLocks noGrp="1"/>
          </p:cNvSpPr>
          <p:nvPr>
            <p:ph idx="1"/>
          </p:nvPr>
        </p:nvSpPr>
        <p:spPr/>
        <p:txBody>
          <a:bodyPr/>
          <a:lstStyle/>
          <a:p>
            <a:r>
              <a:rPr lang="en-US" dirty="0"/>
              <a:t>Individual human failure</a:t>
            </a:r>
          </a:p>
          <a:p>
            <a:r>
              <a:rPr lang="en-US" dirty="0"/>
              <a:t>Swiss cheese</a:t>
            </a:r>
          </a:p>
          <a:p>
            <a:r>
              <a:rPr lang="en-US" dirty="0"/>
              <a:t>Organizational failure</a:t>
            </a:r>
          </a:p>
          <a:p>
            <a:r>
              <a:rPr lang="en-US" dirty="0"/>
              <a:t>System-wide control failure</a:t>
            </a:r>
          </a:p>
        </p:txBody>
      </p:sp>
      <p:sp>
        <p:nvSpPr>
          <p:cNvPr id="3" name="Title 2">
            <a:extLst>
              <a:ext uri="{FF2B5EF4-FFF2-40B4-BE49-F238E27FC236}">
                <a16:creationId xmlns:a16="http://schemas.microsoft.com/office/drawing/2014/main" id="{6A1B6B39-D21F-F4B8-7687-146CCD28C0C8}"/>
              </a:ext>
            </a:extLst>
          </p:cNvPr>
          <p:cNvSpPr>
            <a:spLocks noGrp="1"/>
          </p:cNvSpPr>
          <p:nvPr>
            <p:ph type="title"/>
          </p:nvPr>
        </p:nvSpPr>
        <p:spPr/>
        <p:txBody>
          <a:bodyPr>
            <a:normAutofit fontScale="90000"/>
          </a:bodyPr>
          <a:lstStyle/>
          <a:p>
            <a:r>
              <a:rPr lang="en-US" dirty="0"/>
              <a:t>Which model seems appropriate to this failure?</a:t>
            </a:r>
          </a:p>
        </p:txBody>
      </p:sp>
      <p:sp>
        <p:nvSpPr>
          <p:cNvPr id="4" name="Slide Number Placeholder 3">
            <a:extLst>
              <a:ext uri="{FF2B5EF4-FFF2-40B4-BE49-F238E27FC236}">
                <a16:creationId xmlns:a16="http://schemas.microsoft.com/office/drawing/2014/main" id="{A7FA189B-A495-7057-EE53-AB0081B80A32}"/>
              </a:ext>
            </a:extLst>
          </p:cNvPr>
          <p:cNvSpPr>
            <a:spLocks noGrp="1"/>
          </p:cNvSpPr>
          <p:nvPr>
            <p:ph type="sldNum" sz="quarter" idx="4"/>
          </p:nvPr>
        </p:nvSpPr>
        <p:spPr/>
        <p:txBody>
          <a:bodyPr/>
          <a:lstStyle/>
          <a:p>
            <a:fld id="{B7EB45DA-9A0D-DC49-8E02-F30A5DDC21C3}" type="slidenum">
              <a:rPr lang="en-US" smtClean="0"/>
              <a:t>19</a:t>
            </a:fld>
            <a:endParaRPr lang="en-US"/>
          </a:p>
        </p:txBody>
      </p:sp>
    </p:spTree>
    <p:extLst>
      <p:ext uri="{BB962C8B-B14F-4D97-AF65-F5344CB8AC3E}">
        <p14:creationId xmlns:p14="http://schemas.microsoft.com/office/powerpoint/2010/main" val="27287880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91056"/>
          </a:xfrm>
        </p:spPr>
        <p:txBody>
          <a:bodyPr>
            <a:normAutofit/>
          </a:bodyPr>
          <a:lstStyle/>
          <a:p>
            <a:pPr algn="ctr"/>
            <a:r>
              <a:rPr lang="en-US" sz="4000" b="0" i="0" dirty="0">
                <a:solidFill>
                  <a:srgbClr val="000000"/>
                </a:solidFill>
              </a:rPr>
              <a:t>Let’s try ourselves:</a:t>
            </a:r>
            <a:br>
              <a:rPr lang="en-US" sz="4000" b="0" i="0" dirty="0">
                <a:solidFill>
                  <a:srgbClr val="000000"/>
                </a:solidFill>
              </a:rPr>
            </a:br>
            <a:r>
              <a:rPr sz="4000" b="0" i="1" dirty="0">
                <a:solidFill>
                  <a:srgbClr val="000000"/>
                </a:solidFill>
              </a:rPr>
              <a:t>Diagnose </a:t>
            </a:r>
            <a:r>
              <a:rPr lang="en-US" sz="4000" b="0" i="1" dirty="0">
                <a:solidFill>
                  <a:srgbClr val="000000"/>
                </a:solidFill>
              </a:rPr>
              <a:t>a </a:t>
            </a:r>
            <a:r>
              <a:rPr sz="4000" b="0" i="1" dirty="0">
                <a:solidFill>
                  <a:srgbClr val="000000"/>
                </a:solidFill>
              </a:rPr>
              <a:t>failure</a:t>
            </a:r>
          </a:p>
        </p:txBody>
      </p:sp>
      <p:sp>
        <p:nvSpPr>
          <p:cNvPr id="900" name="Slide Number Placeholder 900"/>
          <p:cNvSpPr>
            <a:spLocks noGrp="1"/>
          </p:cNvSpPr>
          <p:nvPr>
            <p:ph type="sldNum" sz="quarter" idx="4"/>
          </p:nvPr>
        </p:nvSpPr>
        <p:spPr/>
        <p:txBody>
          <a:bodyPr/>
          <a:lstStyle/>
          <a:p>
            <a:fld id="{D6607EED-2C17-4005-9FF9-5E7D14817CFB}" type="slidenum">
              <a:rPr lang="en-US" smtClean="0"/>
              <a:t>20</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3</a:t>
            </a:r>
            <a:endParaRPr sz="2000" b="1" i="0" dirty="0">
              <a:solidFill>
                <a:srgbClr val="8E6F3E"/>
              </a:solidFill>
            </a:endParaRPr>
          </a:p>
        </p:txBody>
      </p:sp>
      <p:sp>
        <p:nvSpPr>
          <p:cNvPr id="902" name="Question"/>
          <p:cNvSpPr txBox="1"/>
          <p:nvPr/>
        </p:nvSpPr>
        <p:spPr>
          <a:xfrm>
            <a:off x="685800" y="3429000"/>
            <a:ext cx="7772400" cy="475488"/>
          </a:xfrm>
          <a:prstGeom prst="rect">
            <a:avLst/>
          </a:prstGeom>
          <a:noFill/>
        </p:spPr>
        <p:txBody>
          <a:bodyPr wrap="square" lIns="27432" tIns="22860" rIns="27432" bIns="22860" anchor="ctr">
            <a:spAutoFit/>
          </a:bodyPr>
          <a:lstStyle/>
          <a:p>
            <a:pPr algn="ctr"/>
            <a:r>
              <a:rPr sz="2400" b="0" i="0" dirty="0">
                <a:solidFill>
                  <a:srgbClr val="5C4826"/>
                </a:solidFill>
              </a:rPr>
              <a:t>What failed, and why didn't we know?</a:t>
            </a:r>
          </a:p>
        </p:txBody>
      </p:sp>
      <p:sp>
        <p:nvSpPr>
          <p:cNvPr id="903" name="Rule"/>
          <p:cNvSpPr/>
          <p:nvPr/>
        </p:nvSpPr>
        <p:spPr>
          <a:xfrm>
            <a:off x="3429000" y="4215384"/>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Instagram: read this first</a:t>
            </a:r>
          </a:p>
        </p:txBody>
      </p:sp>
      <p:sp>
        <p:nvSpPr>
          <p:cNvPr id="900" name="Slide Number Placeholder 900"/>
          <p:cNvSpPr>
            <a:spLocks noGrp="1"/>
          </p:cNvSpPr>
          <p:nvPr>
            <p:ph type="sldNum" sz="quarter" idx="4"/>
          </p:nvPr>
        </p:nvSpPr>
        <p:spPr/>
        <p:txBody>
          <a:bodyPr/>
          <a:lstStyle/>
          <a:p>
            <a:fld id="{9ABD6463-1069-4796-B206-4858CF08A11C}" type="slidenum">
              <a:rPr lang="en-US" smtClean="0"/>
              <a:t>21</a:t>
            </a:fld>
            <a:endParaRPr lang="en-US"/>
          </a:p>
        </p:txBody>
      </p:sp>
      <p:sp>
        <p:nvSpPr>
          <p:cNvPr id="901" name="Lead"/>
          <p:cNvSpPr txBox="1"/>
          <p:nvPr/>
        </p:nvSpPr>
        <p:spPr>
          <a:xfrm>
            <a:off x="277148" y="784096"/>
            <a:ext cx="8716726" cy="5955476"/>
          </a:xfrm>
          <a:prstGeom prst="rect">
            <a:avLst/>
          </a:prstGeom>
          <a:noFill/>
        </p:spPr>
        <p:txBody>
          <a:bodyPr wrap="square" lIns="27432" tIns="22860" rIns="27432" bIns="22860" anchor="t">
            <a:spAutoFit/>
          </a:bodyPr>
          <a:lstStyle/>
          <a:p>
            <a:pPr algn="l"/>
            <a:r>
              <a:rPr sz="2400" b="1" i="0" dirty="0">
                <a:solidFill>
                  <a:srgbClr val="5C4826"/>
                </a:solidFill>
              </a:rPr>
              <a:t>Instagram is a social-media platform whose recommendation and engagement mechanisms influence what users see and how they interact.</a:t>
            </a:r>
            <a:endParaRPr lang="en-US" sz="2400" b="1" i="0" dirty="0">
              <a:solidFill>
                <a:srgbClr val="5C4826"/>
              </a:solidFill>
            </a:endParaRPr>
          </a:p>
          <a:p>
            <a:pPr algn="l"/>
            <a:endParaRPr sz="2400" b="1" i="0" dirty="0">
              <a:solidFill>
                <a:srgbClr val="5C4826"/>
              </a:solidFill>
            </a:endParaRPr>
          </a:p>
          <a:p>
            <a:pPr algn="l"/>
            <a:r>
              <a:rPr sz="2400" b="1" i="0" dirty="0">
                <a:solidFill>
                  <a:srgbClr val="5C4826"/>
                </a:solidFill>
              </a:rPr>
              <a:t>Internal research examined how Instagram use related to teenage users’ well-being, including body-image concerns. Some participants reported that using Instagram made particular experiences worse.</a:t>
            </a:r>
          </a:p>
          <a:p>
            <a:pPr algn="l"/>
            <a:r>
              <a:rPr sz="2400" b="1" i="0" dirty="0">
                <a:solidFill>
                  <a:srgbClr val="5C4826"/>
                </a:solidFill>
              </a:rPr>
              <a:t>These findings raised questions about whether the platform’s design and product objectives adequately accounted for harmful outcomes, and how evidence about those outcomes should inform engineering and management decisions.</a:t>
            </a:r>
            <a:endParaRPr lang="en-US" sz="2400" b="1" i="0" dirty="0">
              <a:solidFill>
                <a:srgbClr val="5C4826"/>
              </a:solidFill>
            </a:endParaRPr>
          </a:p>
          <a:p>
            <a:pPr algn="l"/>
            <a:endParaRPr sz="2400" b="1" i="0" dirty="0">
              <a:solidFill>
                <a:srgbClr val="5C4826"/>
              </a:solidFill>
            </a:endParaRPr>
          </a:p>
          <a:p>
            <a:pPr algn="l"/>
            <a:r>
              <a:rPr sz="2400" b="1" i="0" dirty="0">
                <a:solidFill>
                  <a:srgbClr val="5C4826"/>
                </a:solidFill>
              </a:rPr>
              <a:t>The research did not establish that Instagram caused all the reported harms. The engineering question is how an organization should interpret consequential evidence about a system that may be operating as designed.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sz="2400" b="0" i="0" dirty="0">
                <a:solidFill>
                  <a:srgbClr val="000000"/>
                </a:solidFill>
              </a:rPr>
              <a:t>It </a:t>
            </a:r>
            <a:r>
              <a:rPr sz="2400" b="0" i="0" dirty="0">
                <a:solidFill>
                  <a:srgbClr val="000000"/>
                </a:solidFill>
              </a:rPr>
              <a:t>work</a:t>
            </a:r>
            <a:r>
              <a:rPr lang="en-US" sz="2400" b="0" i="0" dirty="0">
                <a:solidFill>
                  <a:srgbClr val="000000"/>
                </a:solidFill>
              </a:rPr>
              <a:t>s</a:t>
            </a:r>
            <a:r>
              <a:rPr sz="2400" b="0" i="0" dirty="0">
                <a:solidFill>
                  <a:srgbClr val="000000"/>
                </a:solidFill>
              </a:rPr>
              <a:t> as designed and produce</a:t>
            </a:r>
            <a:r>
              <a:rPr lang="en-US" sz="2400" b="0" i="0" dirty="0">
                <a:solidFill>
                  <a:srgbClr val="000000"/>
                </a:solidFill>
              </a:rPr>
              <a:t>s</a:t>
            </a:r>
            <a:r>
              <a:rPr sz="2400" b="0" i="0" dirty="0">
                <a:solidFill>
                  <a:srgbClr val="000000"/>
                </a:solidFill>
              </a:rPr>
              <a:t> harmful outcomes</a:t>
            </a:r>
          </a:p>
        </p:txBody>
      </p:sp>
      <p:sp>
        <p:nvSpPr>
          <p:cNvPr id="900" name="Slide Number Placeholder 900"/>
          <p:cNvSpPr>
            <a:spLocks noGrp="1"/>
          </p:cNvSpPr>
          <p:nvPr>
            <p:ph type="sldNum" sz="quarter" idx="4"/>
          </p:nvPr>
        </p:nvSpPr>
        <p:spPr/>
        <p:txBody>
          <a:bodyPr/>
          <a:lstStyle/>
          <a:p>
            <a:fld id="{CB54B3D1-5BA3-40A8-8017-74A0DF3C7182}" type="slidenum">
              <a:rPr lang="en-US" smtClean="0"/>
              <a:t>22</a:t>
            </a:fld>
            <a:endParaRPr lang="en-US"/>
          </a:p>
        </p:txBody>
      </p:sp>
      <p:sp>
        <p:nvSpPr>
          <p:cNvPr id="901" name="Block"/>
          <p:cNvSpPr/>
          <p:nvPr/>
        </p:nvSpPr>
        <p:spPr>
          <a:xfrm>
            <a:off x="548640" y="1097280"/>
            <a:ext cx="18288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INSTAGRAM</a:t>
            </a:r>
          </a:p>
        </p:txBody>
      </p:sp>
      <p:cxnSp>
        <p:nvCxnSpPr>
          <p:cNvPr id="902" name="Connector 902"/>
          <p:cNvCxnSpPr/>
          <p:nvPr/>
        </p:nvCxnSpPr>
        <p:spPr>
          <a:xfrm>
            <a:off x="237744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97480" y="1097280"/>
            <a:ext cx="22402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product experience</a:t>
            </a:r>
          </a:p>
        </p:txBody>
      </p:sp>
      <p:cxnSp>
        <p:nvCxnSpPr>
          <p:cNvPr id="904" name="Connector 904"/>
          <p:cNvCxnSpPr/>
          <p:nvPr/>
        </p:nvCxnSpPr>
        <p:spPr>
          <a:xfrm>
            <a:off x="493776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5257800" y="109728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INTERNAL RESEARCH</a:t>
            </a:r>
          </a:p>
        </p:txBody>
      </p:sp>
      <p:cxnSp>
        <p:nvCxnSpPr>
          <p:cNvPr id="906" name="Connector 906"/>
          <p:cNvCxnSpPr/>
          <p:nvPr/>
        </p:nvCxnSpPr>
        <p:spPr>
          <a:xfrm>
            <a:off x="6492240" y="164592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5269230" y="2011680"/>
            <a:ext cx="3246120" cy="669689"/>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some teenage users report harmful experiences</a:t>
            </a:r>
          </a:p>
        </p:txBody>
      </p:sp>
      <p:sp>
        <p:nvSpPr>
          <p:cNvPr id="908" name="Label"/>
          <p:cNvSpPr txBox="1"/>
          <p:nvPr/>
        </p:nvSpPr>
        <p:spPr>
          <a:xfrm>
            <a:off x="1463040" y="4240374"/>
            <a:ext cx="5760231" cy="1061829"/>
          </a:xfrm>
          <a:prstGeom prst="rect">
            <a:avLst/>
          </a:prstGeom>
          <a:noFill/>
        </p:spPr>
        <p:txBody>
          <a:bodyPr wrap="square" lIns="27432" tIns="22860" rIns="27432" bIns="22860" anchor="t">
            <a:spAutoFit/>
          </a:bodyPr>
          <a:lstStyle/>
          <a:p>
            <a:pPr algn="ctr"/>
            <a:r>
              <a:rPr sz="2200" b="0" i="0" dirty="0">
                <a:solidFill>
                  <a:srgbClr val="5C4826"/>
                </a:solidFill>
              </a:rPr>
              <a:t>The observed outcome raises a question about what the system should optimize, not necessarily whether its implementation was correct.</a:t>
            </a:r>
          </a:p>
        </p:txBody>
      </p:sp>
      <p:sp>
        <p:nvSpPr>
          <p:cNvPr id="909" name="Label"/>
          <p:cNvSpPr txBox="1"/>
          <p:nvPr/>
        </p:nvSpPr>
        <p:spPr>
          <a:xfrm>
            <a:off x="548640" y="2930606"/>
            <a:ext cx="8046720" cy="1005840"/>
          </a:xfrm>
          <a:prstGeom prst="rect">
            <a:avLst/>
          </a:prstGeom>
          <a:noFill/>
        </p:spPr>
        <p:txBody>
          <a:bodyPr wrap="square" lIns="27432" tIns="22860" rIns="27432" bIns="22860" anchor="t">
            <a:spAutoFit/>
          </a:bodyPr>
          <a:lstStyle/>
          <a:p>
            <a:pPr algn="l"/>
            <a:r>
              <a:rPr sz="2000" b="1" i="0" dirty="0">
                <a:solidFill>
                  <a:srgbClr val="5C4826"/>
                </a:solidFill>
              </a:rPr>
              <a:t>Internal research</a:t>
            </a:r>
            <a:r>
              <a:rPr sz="2000" b="0" i="0" dirty="0">
                <a:solidFill>
                  <a:srgbClr val="555960"/>
                </a:solidFill>
              </a:rPr>
              <a:t> examined relationships between Instagram use and teen well-being, including body-image concerns. The findings raised consequential questions without reducing them to a simple causal claim.</a:t>
            </a:r>
          </a:p>
        </p:txBody>
      </p:sp>
      <p:sp>
        <p:nvSpPr>
          <p:cNvPr id="9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kind of engineering failure could this be?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8" grpId="0"/>
      <p:bldP spid="910"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Which theory explains the Instagram outcome?</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WHICH THEORY?</a:t>
            </a:r>
          </a:p>
        </p:txBody>
      </p:sp>
      <p:sp>
        <p:nvSpPr>
          <p:cNvPr id="902" name="Card"/>
          <p:cNvSpPr/>
          <p:nvPr/>
        </p:nvSpPr>
        <p:spPr>
          <a:xfrm>
            <a:off x="4876800" y="96012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Human error</a:t>
            </a:r>
          </a:p>
          <a:p>
            <a:pPr algn="ctr"/>
            <a:r>
              <a:rPr sz="2000" b="0" i="0" dirty="0">
                <a:solidFill>
                  <a:srgbClr val="555960"/>
                </a:solidFill>
              </a:rPr>
              <a:t>Decisions by engineers, </a:t>
            </a:r>
            <a:endParaRPr lang="en-US" sz="2000" b="0" i="0" dirty="0">
              <a:solidFill>
                <a:srgbClr val="555960"/>
              </a:solidFill>
            </a:endParaRPr>
          </a:p>
          <a:p>
            <a:pPr algn="ctr"/>
            <a:r>
              <a:rPr sz="2000" b="0" i="0" dirty="0">
                <a:solidFill>
                  <a:srgbClr val="555960"/>
                </a:solidFill>
              </a:rPr>
              <a:t>designers, or managers</a:t>
            </a:r>
          </a:p>
        </p:txBody>
      </p:sp>
      <p:sp>
        <p:nvSpPr>
          <p:cNvPr id="904" name="Card"/>
          <p:cNvSpPr/>
          <p:nvPr/>
        </p:nvSpPr>
        <p:spPr>
          <a:xfrm>
            <a:off x="4876800" y="2078037"/>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Swiss cheese</a:t>
            </a:r>
          </a:p>
          <a:p>
            <a:pPr algn="ctr"/>
            <a:r>
              <a:rPr sz="2000" b="0" i="0" dirty="0">
                <a:solidFill>
                  <a:srgbClr val="555960"/>
                </a:solidFill>
              </a:rPr>
              <a:t>Which safeguards failed to </a:t>
            </a:r>
            <a:endParaRPr lang="en-US" sz="2000" b="0" i="0" dirty="0">
              <a:solidFill>
                <a:srgbClr val="555960"/>
              </a:solidFill>
            </a:endParaRPr>
          </a:p>
          <a:p>
            <a:pPr algn="ctr"/>
            <a:r>
              <a:rPr sz="2000" b="0" i="0" dirty="0">
                <a:solidFill>
                  <a:srgbClr val="555960"/>
                </a:solidFill>
              </a:rPr>
              <a:t>prevent harmful experiences</a:t>
            </a:r>
          </a:p>
        </p:txBody>
      </p:sp>
      <p:sp>
        <p:nvSpPr>
          <p:cNvPr id="906" name="Card"/>
          <p:cNvSpPr/>
          <p:nvPr/>
        </p:nvSpPr>
        <p:spPr>
          <a:xfrm>
            <a:off x="4876800" y="320167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Organizational</a:t>
            </a:r>
          </a:p>
          <a:p>
            <a:pPr algn="ctr"/>
            <a:r>
              <a:rPr sz="2000" b="0" i="0" dirty="0">
                <a:solidFill>
                  <a:srgbClr val="555960"/>
                </a:solidFill>
              </a:rPr>
              <a:t>How product objectives, incentives, and authority shaped decisions</a:t>
            </a:r>
          </a:p>
        </p:txBody>
      </p:sp>
      <p:sp>
        <p:nvSpPr>
          <p:cNvPr id="908" name="Card"/>
          <p:cNvSpPr/>
          <p:nvPr/>
        </p:nvSpPr>
        <p:spPr>
          <a:xfrm>
            <a:off x="4876800" y="432943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STAMP</a:t>
            </a:r>
          </a:p>
          <a:p>
            <a:pPr algn="ctr"/>
            <a:r>
              <a:rPr sz="2000" b="0" i="0" dirty="0">
                <a:solidFill>
                  <a:srgbClr val="555960"/>
                </a:solidFill>
              </a:rPr>
              <a:t>Whether feedback about harmful outcomes reached product control</a:t>
            </a:r>
          </a:p>
        </p:txBody>
      </p:sp>
      <p:cxnSp>
        <p:nvCxnSpPr>
          <p:cNvPr id="930" name="Connector 930"/>
          <p:cNvCxnSpPr>
            <a:cxnSpLocks/>
            <a:endCxn id="902" idx="1"/>
          </p:cNvCxnSpPr>
          <p:nvPr/>
        </p:nvCxnSpPr>
        <p:spPr>
          <a:xfrm flipV="1">
            <a:off x="3017520" y="1417320"/>
            <a:ext cx="185928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a:cxnSpLocks/>
            <a:endCxn id="904" idx="1"/>
          </p:cNvCxnSpPr>
          <p:nvPr/>
        </p:nvCxnSpPr>
        <p:spPr>
          <a:xfrm flipV="1">
            <a:off x="3017520" y="2535237"/>
            <a:ext cx="1859280" cy="619443"/>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a:cxnSpLocks/>
            <a:endCxn id="906" idx="1"/>
          </p:cNvCxnSpPr>
          <p:nvPr/>
        </p:nvCxnSpPr>
        <p:spPr>
          <a:xfrm>
            <a:off x="3017520" y="3154680"/>
            <a:ext cx="1859280" cy="50419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3" name="Connector 933"/>
          <p:cNvCxnSpPr>
            <a:cxnSpLocks/>
            <a:endCxn id="908" idx="1"/>
          </p:cNvCxnSpPr>
          <p:nvPr/>
        </p:nvCxnSpPr>
        <p:spPr>
          <a:xfrm>
            <a:off x="3017520" y="3154680"/>
            <a:ext cx="1859280" cy="163195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 name="FooterBand"/>
          <p:cNvSpPr/>
          <p:nvPr/>
        </p:nvSpPr>
        <p:spPr>
          <a:xfrm>
            <a:off x="274320" y="5596128"/>
            <a:ext cx="8595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These are hypotheses. Which model would you use, </a:t>
            </a:r>
            <a:endParaRPr lang="en-US" sz="2000" b="1" i="0" dirty="0">
              <a:solidFill>
                <a:srgbClr val="FFFFFF"/>
              </a:solidFill>
            </a:endParaRPr>
          </a:p>
          <a:p>
            <a:pPr algn="ctr"/>
            <a:r>
              <a:rPr sz="2000" b="1" i="0" dirty="0">
                <a:solidFill>
                  <a:srgbClr val="FFFFFF"/>
                </a:solidFill>
              </a:rPr>
              <a:t>and what further evidence would you need?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failed, and why didn’t we know?</a:t>
            </a:r>
          </a:p>
        </p:txBody>
      </p:sp>
      <p:sp>
        <p:nvSpPr>
          <p:cNvPr id="900" name="Slide Number Placeholder 900"/>
          <p:cNvSpPr>
            <a:spLocks noGrp="1"/>
          </p:cNvSpPr>
          <p:nvPr>
            <p:ph type="sldNum" sz="quarter" idx="4"/>
          </p:nvPr>
        </p:nvSpPr>
        <p:spPr/>
        <p:txBody>
          <a:bodyPr/>
          <a:lstStyle/>
          <a:p>
            <a:fld id="{CB54B3D1-5BA3-40A8-8017-74A0DF3C7182}" type="slidenum">
              <a:rPr lang="en-US" smtClean="0"/>
              <a:t>24</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REQUIREMENTS</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SPECIFICATION / DESIGN</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IMPLEMENTATION</a:t>
            </a:r>
          </a:p>
        </p:txBody>
      </p:sp>
      <p:cxnSp>
        <p:nvCxnSpPr>
          <p:cNvPr id="906" name="Connector 905"/>
          <p:cNvCxnSpPr>
            <a:cxnSpLocks/>
            <a:stCxn id="905" idx="2"/>
            <a:endCxn id="907" idx="0"/>
          </p:cNvCxnSpPr>
          <p:nvPr/>
        </p:nvCxnSpPr>
        <p:spPr>
          <a:xfrm>
            <a:off x="2194560" y="3438144"/>
            <a:ext cx="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41696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EVIDENCE</a:t>
            </a:r>
          </a:p>
        </p:txBody>
      </p:sp>
      <p:cxnSp>
        <p:nvCxnSpPr>
          <p:cNvPr id="908" name="Connector 907"/>
          <p:cNvCxnSpPr>
            <a:cxnSpLocks/>
            <a:stCxn id="907" idx="2"/>
          </p:cNvCxnSpPr>
          <p:nvPr/>
        </p:nvCxnSpPr>
        <p:spPr>
          <a:xfrm>
            <a:off x="2194560" y="47365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50109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DECISION</a:t>
            </a:r>
          </a:p>
        </p:txBody>
      </p:sp>
      <p:sp>
        <p:nvSpPr>
          <p:cNvPr id="920" name="LevelQuestion"/>
          <p:cNvSpPr/>
          <p:nvPr/>
        </p:nvSpPr>
        <p:spPr>
          <a:xfrm>
            <a:off x="3840480" y="118872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Were the intended outcomes appropriate?</a:t>
            </a:r>
          </a:p>
        </p:txBody>
      </p:sp>
      <p:sp>
        <p:nvSpPr>
          <p:cNvPr id="921" name="LevelQuestion"/>
          <p:cNvSpPr/>
          <p:nvPr/>
        </p:nvSpPr>
        <p:spPr>
          <a:xfrm>
            <a:off x="3840480" y="2029968"/>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Did the system optimize the right properties?</a:t>
            </a:r>
          </a:p>
        </p:txBody>
      </p:sp>
      <p:sp>
        <p:nvSpPr>
          <p:cNvPr id="922" name="LevelQuestion"/>
          <p:cNvSpPr/>
          <p:nvPr/>
        </p:nvSpPr>
        <p:spPr>
          <a:xfrm>
            <a:off x="3840480" y="2871216"/>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Did it behave as intended?</a:t>
            </a:r>
          </a:p>
        </p:txBody>
      </p:sp>
      <p:sp>
        <p:nvSpPr>
          <p:cNvPr id="923" name="LevelQuestion"/>
          <p:cNvSpPr/>
          <p:nvPr/>
        </p:nvSpPr>
        <p:spPr>
          <a:xfrm>
            <a:off x="3840480" y="4169664"/>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What did the research establish, and who received it?</a:t>
            </a:r>
          </a:p>
        </p:txBody>
      </p:sp>
      <p:sp>
        <p:nvSpPr>
          <p:cNvPr id="924" name="LevelQuestion"/>
          <p:cNvSpPr/>
          <p:nvPr/>
        </p:nvSpPr>
        <p:spPr>
          <a:xfrm>
            <a:off x="3840480" y="5010912"/>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What decisions did it inform, and what further evidence was needed?</a:t>
            </a:r>
          </a:p>
        </p:txBody>
      </p:sp>
      <p:sp>
        <p:nvSpPr>
          <p:cNvPr id="930" name="FooterBand"/>
          <p:cNvSpPr/>
          <p:nvPr/>
        </p:nvSpPr>
        <p:spPr>
          <a:xfrm>
            <a:off x="274320" y="5852160"/>
            <a:ext cx="8595360" cy="63538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 failure analysis must examine both the system’s behavior </a:t>
            </a:r>
            <a:endParaRPr lang="en-US" sz="2000" b="1" i="0" dirty="0">
              <a:solidFill>
                <a:srgbClr val="FFFFFF"/>
              </a:solidFill>
            </a:endParaRPr>
          </a:p>
          <a:p>
            <a:pPr algn="ctr"/>
            <a:r>
              <a:rPr sz="2000" b="1" i="0" dirty="0">
                <a:solidFill>
                  <a:srgbClr val="FFFFFF"/>
                </a:solidFill>
              </a:rPr>
              <a:t>and the engineering decisions that permitted it.</a:t>
            </a:r>
          </a:p>
        </p:txBody>
      </p:sp>
      <p:sp>
        <p:nvSpPr>
          <p:cNvPr id="2" name="GroupLabel"/>
          <p:cNvSpPr/>
          <p:nvPr/>
        </p:nvSpPr>
        <p:spPr>
          <a:xfrm>
            <a:off x="731520" y="866331"/>
            <a:ext cx="7863840" cy="285813"/>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a:solidFill>
                  <a:srgbClr val="FFFFFF"/>
                </a:solidFill>
              </a:rPr>
              <a:t>WHAT FAILED?</a:t>
            </a:r>
          </a:p>
        </p:txBody>
      </p:sp>
      <p:sp>
        <p:nvSpPr>
          <p:cNvPr id="4" name="GroupLabel"/>
          <p:cNvSpPr/>
          <p:nvPr/>
        </p:nvSpPr>
        <p:spPr>
          <a:xfrm>
            <a:off x="731520" y="3656520"/>
            <a:ext cx="7863840" cy="314515"/>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dirty="0">
                <a:solidFill>
                  <a:srgbClr val="FFFFFF"/>
                </a:solidFill>
              </a:rPr>
              <a:t>WHY DIDN’T WE KNOW?</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0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0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2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0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7" grpId="0" animBg="1"/>
      <p:bldP spid="909" grpId="0" animBg="1"/>
      <p:bldP spid="923" grpId="0"/>
      <p:bldP spid="924" grpId="0"/>
      <p:bldP spid="930" grpId="0" animBg="1"/>
      <p:bldP spid="4"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3189D-685C-8746-7D4E-3967577503CF}"/>
            </a:ext>
          </a:extLst>
        </p:cNvPr>
        <p:cNvGrpSpPr/>
        <p:nvPr/>
      </p:nvGrpSpPr>
      <p:grpSpPr>
        <a:xfrm>
          <a:off x="0" y="0"/>
          <a:ext cx="0" cy="0"/>
          <a:chOff x="0" y="0"/>
          <a:chExt cx="0" cy="0"/>
        </a:xfrm>
      </p:grpSpPr>
      <p:sp>
        <p:nvSpPr>
          <p:cNvPr id="900" name="Slide Number Placeholder 900">
            <a:extLst>
              <a:ext uri="{FF2B5EF4-FFF2-40B4-BE49-F238E27FC236}">
                <a16:creationId xmlns:a16="http://schemas.microsoft.com/office/drawing/2014/main" id="{E9B26182-9422-67CD-EC86-CC4BFA7EB22A}"/>
              </a:ext>
            </a:extLst>
          </p:cNvPr>
          <p:cNvSpPr>
            <a:spLocks noGrp="1"/>
          </p:cNvSpPr>
          <p:nvPr>
            <p:ph type="sldNum" sz="quarter" idx="4"/>
          </p:nvPr>
        </p:nvSpPr>
        <p:spPr/>
        <p:txBody>
          <a:bodyPr/>
          <a:lstStyle/>
          <a:p>
            <a:fld id="{5CEC7D30-3F3A-40A5-AB25-FC380CDCDC59}" type="slidenum">
              <a:rPr lang="en-US" smtClean="0"/>
              <a:t>25</a:t>
            </a:fld>
            <a:endParaRPr lang="en-US"/>
          </a:p>
        </p:txBody>
      </p:sp>
      <p:sp>
        <p:nvSpPr>
          <p:cNvPr id="902" name="Question">
            <a:extLst>
              <a:ext uri="{FF2B5EF4-FFF2-40B4-BE49-F238E27FC236}">
                <a16:creationId xmlns:a16="http://schemas.microsoft.com/office/drawing/2014/main" id="{C50E0914-BD04-3015-BCDD-A38C9E69FD87}"/>
              </a:ext>
            </a:extLst>
          </p:cNvPr>
          <p:cNvSpPr txBox="1"/>
          <p:nvPr/>
        </p:nvSpPr>
        <p:spPr>
          <a:xfrm>
            <a:off x="685800" y="3164601"/>
            <a:ext cx="7772400" cy="784830"/>
          </a:xfrm>
          <a:prstGeom prst="rect">
            <a:avLst/>
          </a:prstGeom>
          <a:noFill/>
        </p:spPr>
        <p:txBody>
          <a:bodyPr wrap="square" lIns="27432" tIns="22860" rIns="27432" bIns="22860" anchor="ctr">
            <a:spAutoFit/>
          </a:bodyPr>
          <a:lstStyle/>
          <a:p>
            <a:pPr algn="ctr"/>
            <a:r>
              <a:rPr sz="2400" b="0" i="0" dirty="0">
                <a:solidFill>
                  <a:srgbClr val="5C4826"/>
                </a:solidFill>
              </a:rPr>
              <a:t>What does the evidence support</a:t>
            </a:r>
            <a:endParaRPr lang="en-US" sz="2400" dirty="0">
              <a:solidFill>
                <a:srgbClr val="5C4826"/>
              </a:solidFill>
            </a:endParaRPr>
          </a:p>
          <a:p>
            <a:pPr algn="ctr"/>
            <a:r>
              <a:rPr sz="2400" b="0" i="0" dirty="0">
                <a:solidFill>
                  <a:srgbClr val="5C4826"/>
                </a:solidFill>
              </a:rPr>
              <a:t>and where should the lesson live?</a:t>
            </a:r>
          </a:p>
        </p:txBody>
      </p:sp>
      <p:sp>
        <p:nvSpPr>
          <p:cNvPr id="903" name="Rule">
            <a:extLst>
              <a:ext uri="{FF2B5EF4-FFF2-40B4-BE49-F238E27FC236}">
                <a16:creationId xmlns:a16="http://schemas.microsoft.com/office/drawing/2014/main" id="{FBD5B885-1777-4E0F-D045-41BA37181E5C}"/>
              </a:ext>
            </a:extLst>
          </p:cNvPr>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4" name="Title 3">
            <a:extLst>
              <a:ext uri="{FF2B5EF4-FFF2-40B4-BE49-F238E27FC236}">
                <a16:creationId xmlns:a16="http://schemas.microsoft.com/office/drawing/2014/main" id="{36E110CA-5036-AE47-66C1-7253CCE2E052}"/>
              </a:ext>
            </a:extLst>
          </p:cNvPr>
          <p:cNvSpPr>
            <a:spLocks noGrp="1"/>
          </p:cNvSpPr>
          <p:nvPr>
            <p:ph type="title"/>
          </p:nvPr>
        </p:nvSpPr>
        <p:spPr/>
        <p:txBody>
          <a:bodyPr/>
          <a:lstStyle/>
          <a:p>
            <a:r>
              <a:rPr lang="en-US" dirty="0"/>
              <a:t>STRETCH BREAK</a:t>
            </a:r>
          </a:p>
        </p:txBody>
      </p:sp>
    </p:spTree>
    <p:extLst>
      <p:ext uri="{BB962C8B-B14F-4D97-AF65-F5344CB8AC3E}">
        <p14:creationId xmlns:p14="http://schemas.microsoft.com/office/powerpoint/2010/main" val="18731346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Convert failure into engineering knowledge</a:t>
            </a:r>
          </a:p>
        </p:txBody>
      </p:sp>
      <p:sp>
        <p:nvSpPr>
          <p:cNvPr id="900" name="Slide Number Placeholder 900"/>
          <p:cNvSpPr>
            <a:spLocks noGrp="1"/>
          </p:cNvSpPr>
          <p:nvPr>
            <p:ph type="sldNum" sz="quarter" idx="4"/>
          </p:nvPr>
        </p:nvSpPr>
        <p:spPr/>
        <p:txBody>
          <a:bodyPr/>
          <a:lstStyle/>
          <a:p>
            <a:fld id="{5CEC7D30-3F3A-40A5-AB25-FC380CDCDC59}" type="slidenum">
              <a:rPr lang="en-US" smtClean="0"/>
              <a:t>26</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4</a:t>
            </a:r>
            <a:endParaRPr sz="2000" b="1" i="0" dirty="0">
              <a:solidFill>
                <a:srgbClr val="8E6F3E"/>
              </a:solidFill>
            </a:endParaRPr>
          </a:p>
        </p:txBody>
      </p:sp>
      <p:sp>
        <p:nvSpPr>
          <p:cNvPr id="902" name="Question"/>
          <p:cNvSpPr txBox="1"/>
          <p:nvPr/>
        </p:nvSpPr>
        <p:spPr>
          <a:xfrm>
            <a:off x="685800" y="3164601"/>
            <a:ext cx="7772400" cy="784830"/>
          </a:xfrm>
          <a:prstGeom prst="rect">
            <a:avLst/>
          </a:prstGeom>
          <a:noFill/>
        </p:spPr>
        <p:txBody>
          <a:bodyPr wrap="square" lIns="27432" tIns="22860" rIns="27432" bIns="22860" anchor="ctr">
            <a:spAutoFit/>
          </a:bodyPr>
          <a:lstStyle/>
          <a:p>
            <a:pPr algn="ctr"/>
            <a:r>
              <a:rPr sz="2400" b="0" i="0" dirty="0">
                <a:solidFill>
                  <a:srgbClr val="5C4826"/>
                </a:solidFill>
              </a:rPr>
              <a:t>What does the evidence support</a:t>
            </a:r>
            <a:endParaRPr lang="en-US" sz="2400" dirty="0">
              <a:solidFill>
                <a:srgbClr val="5C4826"/>
              </a:solidFill>
            </a:endParaRPr>
          </a:p>
          <a:p>
            <a:pPr algn="ctr"/>
            <a:r>
              <a:rPr sz="2400" b="0" i="0" dirty="0">
                <a:solidFill>
                  <a:srgbClr val="5C4826"/>
                </a:solidFill>
              </a:rPr>
              <a:t>and where should the lesson live?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dirty="0">
                <a:solidFill>
                  <a:srgbClr val="000000"/>
                </a:solidFill>
              </a:rPr>
              <a:t>How do we establish </a:t>
            </a:r>
            <a:r>
              <a:rPr lang="en-US" sz="2400" dirty="0">
                <a:solidFill>
                  <a:srgbClr val="000000"/>
                </a:solidFill>
              </a:rPr>
              <a:t>"</a:t>
            </a:r>
            <a:r>
              <a:rPr sz="2400" b="0" i="0" dirty="0">
                <a:solidFill>
                  <a:srgbClr val="000000"/>
                </a:solidFill>
              </a:rPr>
              <a:t>lesson</a:t>
            </a:r>
            <a:r>
              <a:rPr lang="en-US" sz="2400" b="0" i="0" dirty="0">
                <a:solidFill>
                  <a:srgbClr val="000000"/>
                </a:solidFill>
              </a:rPr>
              <a:t>s learned”</a:t>
            </a:r>
            <a:r>
              <a:rPr sz="2400" b="0" i="0" dirty="0">
                <a:solidFill>
                  <a:srgbClr val="000000"/>
                </a:solidFill>
              </a:rPr>
              <a:t>?</a:t>
            </a:r>
          </a:p>
        </p:txBody>
      </p:sp>
      <p:sp>
        <p:nvSpPr>
          <p:cNvPr id="900" name="Slide Number Placeholder 900"/>
          <p:cNvSpPr>
            <a:spLocks noGrp="1"/>
          </p:cNvSpPr>
          <p:nvPr>
            <p:ph type="sldNum" sz="quarter" idx="4"/>
          </p:nvPr>
        </p:nvSpPr>
        <p:spPr/>
        <p:txBody>
          <a:bodyPr/>
          <a:lstStyle/>
          <a:p>
            <a:fld id="{F164AA00-212F-409D-8EDE-8F6B572B597D}" type="slidenum">
              <a:rPr lang="en-US" smtClean="0"/>
              <a:t>27</a:t>
            </a:fld>
            <a:endParaRPr lang="en-US"/>
          </a:p>
        </p:txBody>
      </p:sp>
      <p:sp>
        <p:nvSpPr>
          <p:cNvPr id="901" name="Card"/>
          <p:cNvSpPr/>
          <p:nvPr/>
        </p:nvSpPr>
        <p:spPr>
          <a:xfrm>
            <a:off x="548640" y="132588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1   What happened</a:t>
            </a:r>
            <a:endParaRPr lang="en-US" sz="2000" b="1" i="0" dirty="0">
              <a:solidFill>
                <a:srgbClr val="5C4826"/>
              </a:solidFill>
            </a:endParaRPr>
          </a:p>
          <a:p>
            <a:pPr algn="ctr"/>
            <a:r>
              <a:rPr sz="2000" b="0" i="0" dirty="0">
                <a:solidFill>
                  <a:srgbClr val="555960"/>
                </a:solidFill>
              </a:rPr>
              <a:t>the sequence of events and conditions</a:t>
            </a:r>
          </a:p>
        </p:txBody>
      </p:sp>
      <p:sp>
        <p:nvSpPr>
          <p:cNvPr id="902" name="Card"/>
          <p:cNvSpPr/>
          <p:nvPr/>
        </p:nvSpPr>
        <p:spPr>
          <a:xfrm>
            <a:off x="548640" y="219456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2   What mechanism produced it</a:t>
            </a:r>
            <a:endParaRPr lang="en-US" sz="2000" b="1" i="0" dirty="0">
              <a:solidFill>
                <a:srgbClr val="5C4826"/>
              </a:solidFill>
            </a:endParaRPr>
          </a:p>
          <a:p>
            <a:pPr algn="ctr"/>
            <a:r>
              <a:rPr sz="2000" b="0" i="0" dirty="0">
                <a:solidFill>
                  <a:srgbClr val="555960"/>
                </a:solidFill>
              </a:rPr>
              <a:t>the causal account</a:t>
            </a:r>
          </a:p>
        </p:txBody>
      </p:sp>
      <p:sp>
        <p:nvSpPr>
          <p:cNvPr id="903" name="Label"/>
          <p:cNvSpPr txBox="1"/>
          <p:nvPr/>
        </p:nvSpPr>
        <p:spPr>
          <a:xfrm>
            <a:off x="548640" y="4983480"/>
            <a:ext cx="8046720" cy="723275"/>
          </a:xfrm>
          <a:prstGeom prst="rect">
            <a:avLst/>
          </a:prstGeom>
          <a:noFill/>
        </p:spPr>
        <p:txBody>
          <a:bodyPr wrap="square" lIns="27432" tIns="22860" rIns="27432" bIns="22860" anchor="t">
            <a:spAutoFit/>
          </a:bodyPr>
          <a:lstStyle/>
          <a:p>
            <a:pPr algn="ctr"/>
            <a:r>
              <a:rPr sz="2200" b="0" i="0" dirty="0">
                <a:solidFill>
                  <a:srgbClr val="5C4826"/>
                </a:solidFill>
              </a:rPr>
              <a:t>A defensible lesson is not the same as </a:t>
            </a:r>
            <a:endParaRPr lang="en-US" sz="2200" b="0" i="0" dirty="0">
              <a:solidFill>
                <a:srgbClr val="5C4826"/>
              </a:solidFill>
            </a:endParaRPr>
          </a:p>
          <a:p>
            <a:pPr algn="ctr"/>
            <a:r>
              <a:rPr lang="en-US" sz="2200" b="0" i="0" dirty="0">
                <a:solidFill>
                  <a:srgbClr val="5C4826"/>
                </a:solidFill>
              </a:rPr>
              <a:t>an attractive retrospective explanation.</a:t>
            </a:r>
          </a:p>
        </p:txBody>
      </p:sp>
      <p:sp>
        <p:nvSpPr>
          <p:cNvPr id="2" name="Card"/>
          <p:cNvSpPr/>
          <p:nvPr/>
        </p:nvSpPr>
        <p:spPr>
          <a:xfrm>
            <a:off x="548640" y="306324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3   What engineers believed, and why</a:t>
            </a:r>
            <a:endParaRPr lang="en-US" sz="2000" b="1" i="0" dirty="0">
              <a:solidFill>
                <a:srgbClr val="5C4826"/>
              </a:solidFill>
            </a:endParaRPr>
          </a:p>
          <a:p>
            <a:pPr algn="ctr"/>
            <a:r>
              <a:rPr sz="2000" b="0" i="0" dirty="0">
                <a:solidFill>
                  <a:srgbClr val="555960"/>
                </a:solidFill>
              </a:rPr>
              <a:t>the reflective account</a:t>
            </a:r>
          </a:p>
        </p:txBody>
      </p:sp>
      <p:sp>
        <p:nvSpPr>
          <p:cNvPr id="4" name="Card"/>
          <p:cNvSpPr/>
          <p:nvPr/>
        </p:nvSpPr>
        <p:spPr>
          <a:xfrm>
            <a:off x="548640" y="393192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4   What should change</a:t>
            </a:r>
            <a:endParaRPr lang="en-US" sz="2000" b="1" i="0" dirty="0">
              <a:solidFill>
                <a:srgbClr val="5C4826"/>
              </a:solidFill>
            </a:endParaRPr>
          </a:p>
          <a:p>
            <a:pPr algn="ctr"/>
            <a:r>
              <a:rPr sz="2000" b="0" i="0" dirty="0">
                <a:solidFill>
                  <a:srgbClr val="555960"/>
                </a:solidFill>
              </a:rPr>
              <a:t>the defensible lesson</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Preserve the example or preserve the lesson?</a:t>
            </a:r>
          </a:p>
        </p:txBody>
      </p:sp>
      <p:sp>
        <p:nvSpPr>
          <p:cNvPr id="900" name="Slide Number Placeholder 900"/>
          <p:cNvSpPr>
            <a:spLocks noGrp="1"/>
          </p:cNvSpPr>
          <p:nvPr>
            <p:ph type="sldNum" sz="quarter" idx="4"/>
          </p:nvPr>
        </p:nvSpPr>
        <p:spPr/>
        <p:txBody>
          <a:bodyPr/>
          <a:lstStyle/>
          <a:p>
            <a:fld id="{6A1DACA4-9A95-4C77-B245-2C307F8CACFD}" type="slidenum">
              <a:rPr lang="en-US" smtClean="0"/>
              <a:t>28</a:t>
            </a:fld>
            <a:endParaRPr lang="en-US"/>
          </a:p>
        </p:txBody>
      </p:sp>
      <p:sp>
        <p:nvSpPr>
          <p:cNvPr id="901" name="Card"/>
          <p:cNvSpPr/>
          <p:nvPr/>
        </p:nvSpPr>
        <p:spPr>
          <a:xfrm>
            <a:off x="5486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2000" b="1" i="0" dirty="0">
                <a:solidFill>
                  <a:srgbClr val="5C4826"/>
                </a:solidFill>
              </a:rPr>
              <a:t>Local fix?</a:t>
            </a:r>
          </a:p>
          <a:p>
            <a:pPr algn="ctr">
              <a:spcBef>
                <a:spcPts val="1200"/>
              </a:spcBef>
            </a:pPr>
            <a:r>
              <a:rPr lang="en-US" sz="2000" b="1" i="0" dirty="0">
                <a:solidFill>
                  <a:srgbClr val="8E6F3E"/>
                </a:solidFill>
              </a:rPr>
              <a:t>Regression test</a:t>
            </a:r>
          </a:p>
          <a:p>
            <a:pPr algn="ctr">
              <a:spcBef>
                <a:spcPts val="1200"/>
              </a:spcBef>
            </a:pPr>
            <a:r>
              <a:rPr lang="en-US" sz="2000" b="0" i="0" dirty="0">
                <a:solidFill>
                  <a:srgbClr val="555960"/>
                </a:solidFill>
              </a:rPr>
              <a:t>Check </a:t>
            </a:r>
            <a:r>
              <a:rPr sz="2000" b="0" i="0" dirty="0">
                <a:solidFill>
                  <a:srgbClr val="555960"/>
                </a:solidFill>
              </a:rPr>
              <a:t>the </a:t>
            </a:r>
            <a:r>
              <a:rPr lang="en-US" sz="2000" b="0" i="0" dirty="0">
                <a:solidFill>
                  <a:srgbClr val="555960"/>
                </a:solidFill>
              </a:rPr>
              <a:t>case you </a:t>
            </a:r>
            <a:r>
              <a:rPr sz="2000" b="0" i="0" dirty="0">
                <a:solidFill>
                  <a:srgbClr val="555960"/>
                </a:solidFill>
              </a:rPr>
              <a:t>observed</a:t>
            </a:r>
            <a:endParaRPr lang="en-US" sz="2000" b="0" i="0" dirty="0">
              <a:solidFill>
                <a:srgbClr val="555960"/>
              </a:solidFill>
            </a:endParaRPr>
          </a:p>
          <a:p>
            <a:pPr algn="ctr">
              <a:spcBef>
                <a:spcPts val="1200"/>
              </a:spcBef>
            </a:pPr>
            <a:r>
              <a:rPr lang="en-US" sz="2000" b="0" i="0" dirty="0">
                <a:solidFill>
                  <a:srgbClr val="555960"/>
                </a:solidFill>
                <a:sym typeface="Wingdings" pitchFamily="2" charset="2"/>
              </a:rPr>
              <a:t> It </a:t>
            </a:r>
            <a:r>
              <a:rPr sz="2000" b="0" i="0" dirty="0">
                <a:solidFill>
                  <a:srgbClr val="555960"/>
                </a:solidFill>
              </a:rPr>
              <a:t>cannot silently recur</a:t>
            </a:r>
          </a:p>
        </p:txBody>
      </p:sp>
      <p:sp>
        <p:nvSpPr>
          <p:cNvPr id="902" name="Card"/>
          <p:cNvSpPr/>
          <p:nvPr/>
        </p:nvSpPr>
        <p:spPr>
          <a:xfrm>
            <a:off x="46634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2000" b="1" i="0" dirty="0">
                <a:solidFill>
                  <a:srgbClr val="5C4826"/>
                </a:solidFill>
              </a:rPr>
              <a:t>General fix?</a:t>
            </a:r>
            <a:endParaRPr sz="2000" b="1" i="0" dirty="0">
              <a:solidFill>
                <a:srgbClr val="5C4826"/>
              </a:solidFill>
            </a:endParaRPr>
          </a:p>
          <a:p>
            <a:pPr algn="ctr">
              <a:spcBef>
                <a:spcPts val="1200"/>
              </a:spcBef>
            </a:pPr>
            <a:r>
              <a:rPr lang="en-US" sz="2000" b="1" i="0" dirty="0">
                <a:solidFill>
                  <a:srgbClr val="8E6F3E"/>
                </a:solidFill>
              </a:rPr>
              <a:t>Change the design? The architecture? The processes?</a:t>
            </a:r>
            <a:endParaRPr sz="2000" b="1" i="0" dirty="0">
              <a:solidFill>
                <a:srgbClr val="8E6F3E"/>
              </a:solidFill>
            </a:endParaRPr>
          </a:p>
          <a:p>
            <a:pPr algn="ctr">
              <a:spcBef>
                <a:spcPts val="1200"/>
              </a:spcBef>
            </a:pPr>
            <a:r>
              <a:rPr lang="en-US" sz="2000" b="0" i="0" dirty="0">
                <a:solidFill>
                  <a:srgbClr val="555960"/>
                </a:solidFill>
              </a:rPr>
              <a:t>Fixes this case and “others like it”</a:t>
            </a:r>
            <a:endParaRPr sz="2000" b="0" i="0" dirty="0">
              <a:solidFill>
                <a:srgbClr val="555960"/>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Imagine a race condition</a:t>
            </a:r>
            <a:r>
              <a:rPr lang="en-US" sz="2400" b="0" i="0" dirty="0">
                <a:solidFill>
                  <a:srgbClr val="000000"/>
                </a:solidFill>
              </a:rPr>
              <a:t>. Diagnosis reopens the design space</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that particular failure</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reintroduction of that execution pattern</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Fix </a:t>
            </a:r>
            <a:r>
              <a:rPr lang="en-US" sz="2000" b="1" i="0" dirty="0">
                <a:solidFill>
                  <a:srgbClr val="FFFFFF"/>
                </a:solidFill>
              </a:rPr>
              <a:t>an </a:t>
            </a:r>
            <a:r>
              <a:rPr sz="2000" b="1" i="0" dirty="0">
                <a:solidFill>
                  <a:srgbClr val="FFFFFF"/>
                </a:solidFill>
              </a:rPr>
              <a:t>observed </a:t>
            </a:r>
            <a:endParaRPr lang="en-US" sz="2000" b="1" i="0" dirty="0">
              <a:solidFill>
                <a:srgbClr val="FFFFFF"/>
              </a:solidFill>
            </a:endParaRPr>
          </a:p>
          <a:p>
            <a:pPr algn="ctr"/>
            <a:r>
              <a:rPr lang="en-US" sz="2000" b="1" i="0" dirty="0">
                <a:solidFill>
                  <a:srgbClr val="FFFFFF"/>
                </a:solidFill>
              </a:rPr>
              <a:t>thread race</a:t>
            </a:r>
            <a:endParaRPr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Regression-test </a:t>
            </a:r>
            <a:endParaRPr lang="en-US" sz="2000" b="1" i="0" dirty="0">
              <a:solidFill>
                <a:srgbClr val="FFFFFF"/>
              </a:solidFill>
            </a:endParaRPr>
          </a:p>
          <a:p>
            <a:pPr algn="ctr"/>
            <a:r>
              <a:rPr sz="2000" b="1" i="0" dirty="0">
                <a:solidFill>
                  <a:srgbClr val="FFFFFF"/>
                </a:solidFill>
              </a:rPr>
              <a:t>the interleaving</a:t>
            </a: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Require </a:t>
            </a:r>
            <a:r>
              <a:rPr lang="en-US" sz="2000" b="1" i="0" dirty="0">
                <a:solidFill>
                  <a:srgbClr val="FFFFFF"/>
                </a:solidFill>
              </a:rPr>
              <a:t>a locking discipline</a:t>
            </a:r>
            <a:endParaRPr sz="2000" b="1" i="0" dirty="0">
              <a:solidFill>
                <a:srgbClr val="FFFFFF"/>
              </a:solidFill>
            </a:endParaRP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Make </a:t>
            </a:r>
            <a:r>
              <a:rPr lang="en-US" sz="2000" b="1" i="0" dirty="0">
                <a:solidFill>
                  <a:srgbClr val="FFFFFF"/>
                </a:solidFill>
              </a:rPr>
              <a:t>thread activities </a:t>
            </a:r>
            <a:r>
              <a:rPr sz="2000" b="1" i="0" dirty="0">
                <a:solidFill>
                  <a:srgbClr val="FFFFFF"/>
                </a:solidFill>
              </a:rPr>
              <a:t>idempotent</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Engineering judgment: </a:t>
            </a:r>
          </a:p>
          <a:p>
            <a:pPr algn="ctr"/>
            <a:r>
              <a:rPr lang="en-US" sz="2000" b="1" i="0" dirty="0">
                <a:solidFill>
                  <a:schemeClr val="bg1"/>
                </a:solidFill>
              </a:rPr>
              <a:t>Which intervention addresses the consequential </a:t>
            </a:r>
          </a:p>
          <a:p>
            <a:pPr algn="ctr"/>
            <a:r>
              <a:rPr lang="en-US" sz="2000" b="1" i="0" dirty="0">
                <a:solidFill>
                  <a:schemeClr val="bg1"/>
                </a:solidFill>
              </a:rPr>
              <a:t>failure class at an acceptable cost?</a:t>
            </a:r>
          </a:p>
          <a:p>
            <a:pPr algn="ctr"/>
            <a:endParaRPr lang="en-US" sz="2000" b="1" dirty="0">
              <a:solidFill>
                <a:schemeClr val="bg1"/>
              </a:solidFill>
            </a:endParaRPr>
          </a:p>
          <a:p>
            <a:pPr algn="ctr"/>
            <a:r>
              <a:rPr lang="en-US" sz="2000" b="1" i="0" dirty="0">
                <a:solidFill>
                  <a:schemeClr val="bg1"/>
                </a:solidFill>
              </a:rPr>
              <a:t>What is the tension between engineering and management?</a:t>
            </a:r>
            <a:endParaRPr sz="2800" b="1" i="0" dirty="0">
              <a:solidFill>
                <a:schemeClr val="bg1"/>
              </a:solidFill>
            </a:endParaRP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New design element</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New architecture</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CANDIDATE 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FAILURE CLASS ADDRESSED</a:t>
            </a:r>
            <a:endParaRPr sz="2800" b="1" i="0" dirty="0">
              <a:solidFill>
                <a:schemeClr val="bg1"/>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0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7" grpId="0" animBg="1"/>
      <p:bldP spid="910" grpId="0" animBg="1"/>
      <p:bldP spid="911" grpId="0" animBg="1"/>
      <p:bldP spid="912" grpId="0" animBg="1"/>
      <p:bldP spid="913" grpId="0"/>
      <p:bldP spid="2" grpId="0" animBg="1"/>
      <p:bldP spid="4"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Where must the lesson live to reach the next decision?</a:t>
            </a:r>
          </a:p>
        </p:txBody>
      </p:sp>
      <p:sp>
        <p:nvSpPr>
          <p:cNvPr id="900" name="Slide Number Placeholder 900"/>
          <p:cNvSpPr>
            <a:spLocks noGrp="1"/>
          </p:cNvSpPr>
          <p:nvPr>
            <p:ph type="sldNum" sz="quarter" idx="4"/>
          </p:nvPr>
        </p:nvSpPr>
        <p:spPr/>
        <p:txBody>
          <a:bodyPr/>
          <a:lstStyle/>
          <a:p>
            <a:fld id="{AFA6771E-93A8-4AA7-A54D-D336B382D315}" type="slidenum">
              <a:rPr lang="en-US" smtClean="0"/>
              <a:t>30</a:t>
            </a:fld>
            <a:endParaRPr lang="en-US"/>
          </a:p>
        </p:txBody>
      </p:sp>
      <p:sp>
        <p:nvSpPr>
          <p:cNvPr id="901" name="Card"/>
          <p:cNvSpPr/>
          <p:nvPr/>
        </p:nvSpPr>
        <p:spPr>
          <a:xfrm>
            <a:off x="548640" y="1762539"/>
            <a:ext cx="2651760" cy="1895061"/>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IN THE POSTMORTEM</a:t>
            </a:r>
          </a:p>
          <a:p>
            <a:pPr algn="ctr"/>
            <a:r>
              <a:rPr sz="2200" i="0" dirty="0">
                <a:solidFill>
                  <a:srgbClr val="5C4826"/>
                </a:solidFill>
              </a:rPr>
              <a:t>read </a:t>
            </a:r>
            <a:r>
              <a:rPr lang="en-US" sz="2200" i="0" dirty="0">
                <a:solidFill>
                  <a:srgbClr val="5C4826"/>
                </a:solidFill>
              </a:rPr>
              <a:t>once</a:t>
            </a:r>
            <a:r>
              <a:rPr lang="en-US" sz="2200" dirty="0">
                <a:solidFill>
                  <a:srgbClr val="5C4826"/>
                </a:solidFill>
              </a:rPr>
              <a:t> </a:t>
            </a:r>
            <a:r>
              <a:rPr sz="2200" i="0" dirty="0">
                <a:solidFill>
                  <a:srgbClr val="5C4826"/>
                </a:solidFill>
              </a:rPr>
              <a:t>by the people in the room</a:t>
            </a:r>
          </a:p>
        </p:txBody>
      </p:sp>
      <p:sp>
        <p:nvSpPr>
          <p:cNvPr id="902" name="Card"/>
          <p:cNvSpPr/>
          <p:nvPr/>
        </p:nvSpPr>
        <p:spPr>
          <a:xfrm>
            <a:off x="3383280" y="1762539"/>
            <a:ext cx="2651760" cy="1895061"/>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IN THE MODEL</a:t>
            </a:r>
          </a:p>
          <a:p>
            <a:pPr algn="ctr"/>
            <a:r>
              <a:rPr sz="2200" i="0" dirty="0">
                <a:solidFill>
                  <a:srgbClr val="5C4826"/>
                </a:solidFill>
              </a:rPr>
              <a:t>present when someone next changes the worker</a:t>
            </a:r>
            <a:r>
              <a:rPr lang="en-US" sz="2200" i="0" dirty="0">
                <a:solidFill>
                  <a:srgbClr val="5C4826"/>
                </a:solidFill>
              </a:rPr>
              <a:t> thread</a:t>
            </a:r>
            <a:endParaRPr sz="2200" i="0" dirty="0">
              <a:solidFill>
                <a:srgbClr val="5C4826"/>
              </a:solidFill>
            </a:endParaRPr>
          </a:p>
        </p:txBody>
      </p:sp>
      <p:sp>
        <p:nvSpPr>
          <p:cNvPr id="903" name="Card"/>
          <p:cNvSpPr/>
          <p:nvPr/>
        </p:nvSpPr>
        <p:spPr>
          <a:xfrm>
            <a:off x="6217920" y="1762539"/>
            <a:ext cx="2651760" cy="1895061"/>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dirty="0">
                <a:solidFill>
                  <a:srgbClr val="5C4826"/>
                </a:solidFill>
              </a:rPr>
              <a:t>IN THE GATE</a:t>
            </a:r>
          </a:p>
          <a:p>
            <a:pPr algn="ctr"/>
            <a:r>
              <a:rPr sz="2200" i="0" dirty="0">
                <a:solidFill>
                  <a:srgbClr val="5C4826"/>
                </a:solidFill>
              </a:rPr>
              <a:t>refuses a change </a:t>
            </a:r>
            <a:endParaRPr lang="en-US" sz="2200" i="0" dirty="0">
              <a:solidFill>
                <a:srgbClr val="5C4826"/>
              </a:solidFill>
            </a:endParaRPr>
          </a:p>
          <a:p>
            <a:pPr algn="ctr"/>
            <a:r>
              <a:rPr sz="2200" i="0" dirty="0">
                <a:solidFill>
                  <a:srgbClr val="5C4826"/>
                </a:solidFill>
              </a:rPr>
              <a:t>that violates it</a:t>
            </a:r>
          </a:p>
        </p:txBody>
      </p:sp>
      <p:sp>
        <p:nvSpPr>
          <p:cNvPr id="907" name="FooterBand"/>
          <p:cNvSpPr/>
          <p:nvPr/>
        </p:nvSpPr>
        <p:spPr>
          <a:xfrm>
            <a:off x="274320" y="5780912"/>
            <a:ext cx="8595360" cy="638175"/>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Durable engineering knowledge must be available </a:t>
            </a:r>
            <a:endParaRPr lang="en-US" sz="2000" b="1" i="0" dirty="0">
              <a:solidFill>
                <a:srgbClr val="FFFFFF"/>
              </a:solidFill>
            </a:endParaRPr>
          </a:p>
          <a:p>
            <a:pPr algn="ctr"/>
            <a:r>
              <a:rPr sz="2000" b="1" i="0" dirty="0">
                <a:solidFill>
                  <a:srgbClr val="FFFFFF"/>
                </a:solidFill>
              </a:rPr>
              <a:t>when future decisions depend on it.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08760"/>
          </a:xfrm>
        </p:spPr>
        <p:txBody>
          <a:bodyPr>
            <a:normAutofit fontScale="90000"/>
          </a:bodyPr>
          <a:lstStyle/>
          <a:p>
            <a:pPr algn="ctr"/>
            <a:r>
              <a:rPr lang="en-US" sz="4000" b="0" i="0" dirty="0">
                <a:solidFill>
                  <a:srgbClr val="000000"/>
                </a:solidFill>
              </a:rPr>
              <a:t>Knowledge Management:</a:t>
            </a:r>
            <a:br>
              <a:rPr lang="en-US" sz="4000" b="0" i="0" dirty="0">
                <a:solidFill>
                  <a:srgbClr val="000000"/>
                </a:solidFill>
              </a:rPr>
            </a:br>
            <a:r>
              <a:rPr sz="4000" b="0" i="0" dirty="0">
                <a:solidFill>
                  <a:srgbClr val="000000"/>
                </a:solidFill>
              </a:rPr>
              <a:t>Make the organization harder to surprise the same way twice</a:t>
            </a:r>
          </a:p>
        </p:txBody>
      </p:sp>
      <p:sp>
        <p:nvSpPr>
          <p:cNvPr id="900" name="Slide Number Placeholder 900"/>
          <p:cNvSpPr>
            <a:spLocks noGrp="1"/>
          </p:cNvSpPr>
          <p:nvPr>
            <p:ph type="sldNum" sz="quarter" idx="4"/>
          </p:nvPr>
        </p:nvSpPr>
        <p:spPr/>
        <p:txBody>
          <a:bodyPr/>
          <a:lstStyle/>
          <a:p>
            <a:fld id="{7288240E-6A77-4EF8-962D-68D6FAD0FBF7}" type="slidenum">
              <a:rPr lang="en-US" smtClean="0"/>
              <a:t>31</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5</a:t>
            </a:r>
            <a:endParaRPr sz="2000" b="1" i="0" dirty="0">
              <a:solidFill>
                <a:srgbClr val="8E6F3E"/>
              </a:solidFill>
            </a:endParaRPr>
          </a:p>
        </p:txBody>
      </p:sp>
      <p:sp>
        <p:nvSpPr>
          <p:cNvPr id="902" name="Question"/>
          <p:cNvSpPr txBox="1"/>
          <p:nvPr/>
        </p:nvSpPr>
        <p:spPr>
          <a:xfrm>
            <a:off x="685800" y="3349267"/>
            <a:ext cx="7772400" cy="415498"/>
          </a:xfrm>
          <a:prstGeom prst="rect">
            <a:avLst/>
          </a:prstGeom>
          <a:noFill/>
        </p:spPr>
        <p:txBody>
          <a:bodyPr wrap="square" lIns="27432" tIns="22860" rIns="27432" bIns="22860" anchor="ctr">
            <a:spAutoFit/>
          </a:bodyPr>
          <a:lstStyle/>
          <a:p>
            <a:pPr algn="ctr"/>
            <a:r>
              <a:rPr sz="2400" b="0" i="0" dirty="0">
                <a:solidFill>
                  <a:srgbClr val="5C4826"/>
                </a:solidFill>
              </a:rPr>
              <a:t>How will the next engineer</a:t>
            </a:r>
            <a:r>
              <a:rPr lang="en-US" sz="2400" b="0" i="0" dirty="0">
                <a:solidFill>
                  <a:srgbClr val="5C4826"/>
                </a:solidFill>
              </a:rPr>
              <a:t> </a:t>
            </a:r>
            <a:r>
              <a:rPr sz="2400" b="0" i="0" dirty="0">
                <a:solidFill>
                  <a:srgbClr val="5C4826"/>
                </a:solidFill>
              </a:rPr>
              <a:t>or agent</a:t>
            </a:r>
            <a:r>
              <a:rPr lang="en-US" sz="2400" b="0" i="0" dirty="0">
                <a:solidFill>
                  <a:srgbClr val="5C4826"/>
                </a:solidFill>
              </a:rPr>
              <a:t> </a:t>
            </a:r>
            <a:r>
              <a:rPr sz="2400" b="0" i="0" dirty="0">
                <a:solidFill>
                  <a:srgbClr val="5C4826"/>
                </a:solidFill>
              </a:rPr>
              <a:t>encounter it?</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How will the next </a:t>
            </a:r>
            <a:r>
              <a:rPr lang="en-US" sz="2400" b="1" i="0" dirty="0">
                <a:solidFill>
                  <a:srgbClr val="000000"/>
                </a:solidFill>
              </a:rPr>
              <a:t>human engineer</a:t>
            </a:r>
            <a:r>
              <a:rPr lang="en-US" sz="2400" b="0" i="0" dirty="0">
                <a:solidFill>
                  <a:srgbClr val="000000"/>
                </a:solidFill>
              </a:rPr>
              <a:t> or </a:t>
            </a:r>
            <a:r>
              <a:rPr lang="en-US" sz="2400" b="1" i="0" dirty="0">
                <a:solidFill>
                  <a:srgbClr val="000000"/>
                </a:solidFill>
              </a:rPr>
              <a:t>agent </a:t>
            </a:r>
            <a:r>
              <a:rPr lang="en-US" sz="2400" b="0" i="0" dirty="0">
                <a:solidFill>
                  <a:srgbClr val="000000"/>
                </a:solidFill>
              </a:rPr>
              <a:t>know?</a:t>
            </a:r>
          </a:p>
        </p:txBody>
      </p:sp>
      <p:sp>
        <p:nvSpPr>
          <p:cNvPr id="900" name="Slide Number Placeholder 900"/>
          <p:cNvSpPr>
            <a:spLocks noGrp="1"/>
          </p:cNvSpPr>
          <p:nvPr>
            <p:ph type="sldNum" sz="quarter" idx="4"/>
          </p:nvPr>
        </p:nvSpPr>
        <p:spPr/>
        <p:txBody>
          <a:bodyPr/>
          <a:lstStyle/>
          <a:p>
            <a:fld id="{54DE72B0-FFEB-4C83-B4BD-F25961BEDFCA}" type="slidenum">
              <a:rPr lang="en-US" smtClean="0"/>
              <a:t>32</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NEW ENGINEER</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asked to change the </a:t>
            </a:r>
            <a:r>
              <a:rPr lang="en-US" sz="2000" b="0" i="1" dirty="0">
                <a:solidFill>
                  <a:srgbClr val="5C4826"/>
                </a:solidFill>
              </a:rPr>
              <a:t>threaded worker’s behavior</a:t>
            </a:r>
            <a:endParaRPr sz="2000" b="0" i="1" dirty="0">
              <a:solidFill>
                <a:srgbClr val="5C4826"/>
              </a:solidFill>
            </a:endParaRP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a:t>
            </a:r>
            <a:r>
              <a:rPr lang="en-US" sz="2000" b="1" i="0" dirty="0">
                <a:solidFill>
                  <a:srgbClr val="FFFFFF"/>
                </a:solidFill>
              </a:rPr>
              <a:t>IDEMPOTENCY</a:t>
            </a:r>
            <a:r>
              <a:rPr sz="2000" b="1" i="0" dirty="0">
                <a:solidFill>
                  <a:srgbClr val="FFFFFF"/>
                </a:solidFill>
              </a:rPr>
              <a:t> INVARIANT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How would they know it exists?</a:t>
            </a:r>
          </a:p>
        </p:txBody>
      </p:sp>
      <p:sp>
        <p:nvSpPr>
          <p:cNvPr id="909" name="Block"/>
          <p:cNvSpPr/>
          <p:nvPr/>
        </p:nvSpPr>
        <p:spPr>
          <a:xfrm>
            <a:off x="1579660" y="516636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sp>
        <p:nvSpPr>
          <p:cNvPr id="910" name="Block"/>
          <p:cNvSpPr/>
          <p:nvPr/>
        </p:nvSpPr>
        <p:spPr>
          <a:xfrm>
            <a:off x="3510170" y="5395595"/>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APPLICABILITY</a:t>
            </a:r>
          </a:p>
        </p:txBody>
      </p:sp>
      <p:sp>
        <p:nvSpPr>
          <p:cNvPr id="911" name="Block"/>
          <p:cNvSpPr/>
          <p:nvPr/>
        </p:nvSpPr>
        <p:spPr>
          <a:xfrm>
            <a:off x="5440680" y="5046566"/>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VALIDATOR</a:t>
            </a:r>
          </a:p>
        </p:txBody>
      </p:sp>
      <p:sp>
        <p:nvSpPr>
          <p:cNvPr id="912" name="Block"/>
          <p:cNvSpPr/>
          <p:nvPr/>
        </p:nvSpPr>
        <p:spPr>
          <a:xfrm>
            <a:off x="717804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GATE</a:t>
            </a:r>
          </a:p>
        </p:txBody>
      </p:sp>
      <p:cxnSp>
        <p:nvCxnSpPr>
          <p:cNvPr id="5" name="Straight Connector 4">
            <a:extLst>
              <a:ext uri="{FF2B5EF4-FFF2-40B4-BE49-F238E27FC236}">
                <a16:creationId xmlns:a16="http://schemas.microsoft.com/office/drawing/2014/main" id="{0907E5D7-0724-FAC2-5867-DBCB93020DB0}"/>
              </a:ext>
            </a:extLst>
          </p:cNvPr>
          <p:cNvCxnSpPr>
            <a:stCxn id="909" idx="0"/>
            <a:endCxn id="907" idx="2"/>
          </p:cNvCxnSpPr>
          <p:nvPr/>
        </p:nvCxnSpPr>
        <p:spPr>
          <a:xfrm flipV="1">
            <a:off x="2448340" y="4114800"/>
            <a:ext cx="2123660" cy="1051560"/>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0393DF3-0CF3-E7A7-0FAC-CD5A6C8CB705}"/>
              </a:ext>
            </a:extLst>
          </p:cNvPr>
          <p:cNvCxnSpPr>
            <a:cxnSpLocks/>
            <a:stCxn id="910" idx="0"/>
            <a:endCxn id="907" idx="2"/>
          </p:cNvCxnSpPr>
          <p:nvPr/>
        </p:nvCxnSpPr>
        <p:spPr>
          <a:xfrm flipV="1">
            <a:off x="4378850" y="4114800"/>
            <a:ext cx="193150" cy="1280795"/>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F82324-C32C-5079-798E-B6AD6866C4A9}"/>
              </a:ext>
            </a:extLst>
          </p:cNvPr>
          <p:cNvCxnSpPr>
            <a:cxnSpLocks/>
            <a:stCxn id="911" idx="0"/>
            <a:endCxn id="907" idx="2"/>
          </p:cNvCxnSpPr>
          <p:nvPr/>
        </p:nvCxnSpPr>
        <p:spPr>
          <a:xfrm flipH="1" flipV="1">
            <a:off x="4572000" y="4114800"/>
            <a:ext cx="1737360" cy="931766"/>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E522425-44A7-A875-769A-784DECFB6EA4}"/>
              </a:ext>
            </a:extLst>
          </p:cNvPr>
          <p:cNvCxnSpPr>
            <a:cxnSpLocks/>
            <a:stCxn id="912" idx="0"/>
            <a:endCxn id="907" idx="2"/>
          </p:cNvCxnSpPr>
          <p:nvPr/>
        </p:nvCxnSpPr>
        <p:spPr>
          <a:xfrm flipH="1" flipV="1">
            <a:off x="4572000" y="4114800"/>
            <a:ext cx="3474720" cy="274320"/>
          </a:xfrm>
          <a:prstGeom prst="line">
            <a:avLst/>
          </a:prstGeom>
        </p:spPr>
        <p:style>
          <a:lnRef idx="1">
            <a:schemeClr val="accent1"/>
          </a:lnRef>
          <a:fillRef idx="0">
            <a:schemeClr val="accent1"/>
          </a:fillRef>
          <a:effectRef idx="0">
            <a:schemeClr val="accent1"/>
          </a:effectRef>
          <a:fontRef idx="minor">
            <a:schemeClr val="tx1"/>
          </a:fontRef>
        </p:style>
      </p:cxnSp>
      <p:sp>
        <p:nvSpPr>
          <p:cNvPr id="15" name="Block">
            <a:extLst>
              <a:ext uri="{FF2B5EF4-FFF2-40B4-BE49-F238E27FC236}">
                <a16:creationId xmlns:a16="http://schemas.microsoft.com/office/drawing/2014/main" id="{4ABCBF99-638E-4439-1E44-E2567CE73F4E}"/>
              </a:ext>
            </a:extLst>
          </p:cNvPr>
          <p:cNvSpPr/>
          <p:nvPr/>
        </p:nvSpPr>
        <p:spPr>
          <a:xfrm>
            <a:off x="2514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rgbClr val="FFFFFF"/>
                </a:solidFill>
              </a:rPr>
              <a:t>ASK ON SLACK</a:t>
            </a:r>
            <a:endParaRPr sz="2000" b="1" i="0" dirty="0">
              <a:solidFill>
                <a:srgbClr val="FFFFFF"/>
              </a:solidFill>
            </a:endParaRPr>
          </a:p>
        </p:txBody>
      </p:sp>
      <p:cxnSp>
        <p:nvCxnSpPr>
          <p:cNvPr id="20" name="Straight Connector 19">
            <a:extLst>
              <a:ext uri="{FF2B5EF4-FFF2-40B4-BE49-F238E27FC236}">
                <a16:creationId xmlns:a16="http://schemas.microsoft.com/office/drawing/2014/main" id="{94F8317A-2B56-9B43-673E-2F6203227825}"/>
              </a:ext>
            </a:extLst>
          </p:cNvPr>
          <p:cNvCxnSpPr>
            <a:cxnSpLocks/>
            <a:stCxn id="15" idx="0"/>
            <a:endCxn id="907" idx="2"/>
          </p:cNvCxnSpPr>
          <p:nvPr/>
        </p:nvCxnSpPr>
        <p:spPr>
          <a:xfrm flipV="1">
            <a:off x="1120140" y="4114800"/>
            <a:ext cx="3451860" cy="27432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dirty="0">
                <a:solidFill>
                  <a:srgbClr val="000000"/>
                </a:solidFill>
              </a:rPr>
              <a:t>Rule: </a:t>
            </a:r>
            <a:r>
              <a:rPr lang="en-US" sz="2400" b="0" i="0" dirty="0">
                <a:solidFill>
                  <a:srgbClr val="000000"/>
                </a:solidFill>
              </a:rPr>
              <a:t>Convert failure lessons into engineering structure</a:t>
            </a:r>
          </a:p>
        </p:txBody>
      </p:sp>
      <p:sp>
        <p:nvSpPr>
          <p:cNvPr id="900" name="Slide Number Placeholder 900"/>
          <p:cNvSpPr>
            <a:spLocks noGrp="1"/>
          </p:cNvSpPr>
          <p:nvPr>
            <p:ph type="sldNum" sz="quarter" idx="4"/>
          </p:nvPr>
        </p:nvSpPr>
        <p:spPr/>
        <p:txBody>
          <a:bodyPr/>
          <a:lstStyle/>
          <a:p>
            <a:fld id="{54DE72B0-FFEB-4C83-B4BD-F25961BEDFCA}" type="slidenum">
              <a:rPr lang="en-US" smtClean="0"/>
              <a:t>33</a:t>
            </a:fld>
            <a:endParaRPr lang="en-US"/>
          </a:p>
        </p:txBody>
      </p:sp>
      <p:sp>
        <p:nvSpPr>
          <p:cNvPr id="903" name="Card"/>
          <p:cNvSpPr/>
          <p:nvPr/>
        </p:nvSpPr>
        <p:spPr>
          <a:xfrm>
            <a:off x="3840480" y="1325880"/>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State the invariant</a:t>
            </a:r>
          </a:p>
        </p:txBody>
      </p:sp>
      <p:sp>
        <p:nvSpPr>
          <p:cNvPr id="907" name="Card"/>
          <p:cNvSpPr/>
          <p:nvPr/>
        </p:nvSpPr>
        <p:spPr>
          <a:xfrm>
            <a:off x="3840480" y="2167128"/>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Build or revise the model</a:t>
            </a:r>
          </a:p>
        </p:txBody>
      </p:sp>
      <p:sp>
        <p:nvSpPr>
          <p:cNvPr id="909" name="Block"/>
          <p:cNvSpPr/>
          <p:nvPr/>
        </p:nvSpPr>
        <p:spPr>
          <a:xfrm>
            <a:off x="731520" y="132588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910" name="Block"/>
          <p:cNvSpPr/>
          <p:nvPr/>
        </p:nvSpPr>
        <p:spPr>
          <a:xfrm>
            <a:off x="731520" y="216712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REPRESENTATION</a:t>
            </a:r>
          </a:p>
        </p:txBody>
      </p:sp>
      <p:sp>
        <p:nvSpPr>
          <p:cNvPr id="911" name="Block"/>
          <p:cNvSpPr/>
          <p:nvPr/>
        </p:nvSpPr>
        <p:spPr>
          <a:xfrm>
            <a:off x="731520" y="300837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sp>
        <p:nvSpPr>
          <p:cNvPr id="912" name="Block"/>
          <p:cNvSpPr/>
          <p:nvPr/>
        </p:nvSpPr>
        <p:spPr>
          <a:xfrm>
            <a:off x="731520" y="384962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EVALUATION</a:t>
            </a:r>
          </a:p>
        </p:txBody>
      </p:sp>
      <p:sp>
        <p:nvSpPr>
          <p:cNvPr id="2" name="Block"/>
          <p:cNvSpPr/>
          <p:nvPr/>
        </p:nvSpPr>
        <p:spPr>
          <a:xfrm>
            <a:off x="731520" y="469087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ENFORCEMENT</a:t>
            </a:r>
          </a:p>
        </p:txBody>
      </p:sp>
      <p:sp>
        <p:nvSpPr>
          <p:cNvPr id="4" name="Card"/>
          <p:cNvSpPr/>
          <p:nvPr/>
        </p:nvSpPr>
        <p:spPr>
          <a:xfrm>
            <a:off x="3840480" y="3008376"/>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Add a sensor</a:t>
            </a:r>
          </a:p>
        </p:txBody>
      </p:sp>
      <p:sp>
        <p:nvSpPr>
          <p:cNvPr id="5" name="Card"/>
          <p:cNvSpPr/>
          <p:nvPr/>
        </p:nvSpPr>
        <p:spPr>
          <a:xfrm>
            <a:off x="3840480" y="3849624"/>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Add a validator</a:t>
            </a:r>
          </a:p>
        </p:txBody>
      </p:sp>
      <p:sp>
        <p:nvSpPr>
          <p:cNvPr id="6" name="Card"/>
          <p:cNvSpPr/>
          <p:nvPr/>
        </p:nvSpPr>
        <p:spPr>
          <a:xfrm>
            <a:off x="3840480" y="4690872"/>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Add a constraint or gate</a:t>
            </a:r>
          </a:p>
        </p:txBody>
      </p:sp>
      <p:sp>
        <p:nvSpPr>
          <p:cNvPr id="7" name="ColumnHeading"/>
          <p:cNvSpPr/>
          <p:nvPr/>
        </p:nvSpPr>
        <p:spPr>
          <a:xfrm>
            <a:off x="731520" y="1042415"/>
            <a:ext cx="2926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WAS MISSING?</a:t>
            </a:r>
            <a:endParaRPr sz="2800" b="1" i="0" dirty="0">
              <a:solidFill>
                <a:schemeClr val="bg1"/>
              </a:solidFill>
            </a:endParaRPr>
          </a:p>
        </p:txBody>
      </p:sp>
      <p:sp>
        <p:nvSpPr>
          <p:cNvPr id="8" name="ColumnHeading"/>
          <p:cNvSpPr/>
          <p:nvPr/>
        </p:nvSpPr>
        <p:spPr>
          <a:xfrm>
            <a:off x="3840480" y="1042415"/>
            <a:ext cx="47548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ENCODE IT AS</a:t>
            </a:r>
            <a:endParaRPr sz="2800" b="1" i="0" dirty="0">
              <a:solidFill>
                <a:schemeClr val="bg1"/>
              </a:solidFill>
            </a:endParaRPr>
          </a:p>
        </p:txBody>
      </p:sp>
      <p:sp>
        <p:nvSpPr>
          <p:cNvPr id="10" name="FooterBand">
            <a:extLst>
              <a:ext uri="{FF2B5EF4-FFF2-40B4-BE49-F238E27FC236}">
                <a16:creationId xmlns:a16="http://schemas.microsoft.com/office/drawing/2014/main" id="{59ACB01E-0DA3-4436-B112-9FD586B45DE7}"/>
              </a:ext>
            </a:extLst>
          </p:cNvPr>
          <p:cNvSpPr/>
          <p:nvPr/>
        </p:nvSpPr>
        <p:spPr>
          <a:xfrm>
            <a:off x="274320" y="5780912"/>
            <a:ext cx="8595360" cy="638175"/>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rgbClr val="FFFFFF"/>
                </a:solidFill>
              </a:rPr>
              <a:t>A failure is not a request for another gate. </a:t>
            </a:r>
          </a:p>
          <a:p>
            <a:pPr algn="ctr"/>
            <a:r>
              <a:rPr lang="en-US" sz="2000" b="1" i="0" dirty="0">
                <a:solidFill>
                  <a:srgbClr val="FFFFFF"/>
                </a:solidFill>
              </a:rPr>
              <a:t>Diagnose what was missing, then encode it.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Volkswagen, one last time</a:t>
            </a:r>
          </a:p>
        </p:txBody>
      </p:sp>
      <p:sp>
        <p:nvSpPr>
          <p:cNvPr id="900" name="Slide Number Placeholder 900"/>
          <p:cNvSpPr>
            <a:spLocks noGrp="1"/>
          </p:cNvSpPr>
          <p:nvPr>
            <p:ph type="sldNum" sz="quarter" idx="4"/>
          </p:nvPr>
        </p:nvSpPr>
        <p:spPr/>
        <p:txBody>
          <a:bodyPr/>
          <a:lstStyle/>
          <a:p>
            <a:fld id="{9ABD6463-1069-4796-B206-4858CF08A11C}" type="slidenum">
              <a:rPr lang="en-US" smtClean="0"/>
              <a:t>34</a:t>
            </a:fld>
            <a:endParaRPr lang="en-US"/>
          </a:p>
        </p:txBody>
      </p:sp>
      <p:sp>
        <p:nvSpPr>
          <p:cNvPr id="901" name="Lead"/>
          <p:cNvSpPr txBox="1"/>
          <p:nvPr/>
        </p:nvSpPr>
        <p:spPr>
          <a:xfrm>
            <a:off x="411480" y="868680"/>
            <a:ext cx="8321040" cy="914400"/>
          </a:xfrm>
          <a:prstGeom prst="rect">
            <a:avLst/>
          </a:prstGeom>
          <a:noFill/>
        </p:spPr>
        <p:txBody>
          <a:bodyPr wrap="square" lIns="27432" tIns="22860" rIns="27432" bIns="22860" anchor="t">
            <a:spAutoFit/>
          </a:bodyPr>
          <a:lstStyle/>
          <a:p>
            <a:pPr algn="l"/>
            <a:r>
              <a:rPr sz="2000" b="1" i="0">
                <a:solidFill>
                  <a:srgbClr val="5C4826"/>
                </a:solidFill>
              </a:rPr>
              <a:t>Return to 2006. </a:t>
            </a:r>
            <a:r>
              <a:rPr sz="2000" b="0" i="0">
                <a:solidFill>
                  <a:srgbClr val="555960"/>
                </a:solidFill>
              </a:rPr>
              <a:t>Suppose the compliance obligation had existed not merely as something engineers were expected to remember, or supervisors could override, but in the engineering environment:</a:t>
            </a:r>
          </a:p>
        </p:txBody>
      </p:sp>
      <p:sp>
        <p:nvSpPr>
          <p:cNvPr id="902" name="Block"/>
          <p:cNvSpPr/>
          <p:nvPr/>
        </p:nvSpPr>
        <p:spPr>
          <a:xfrm>
            <a:off x="2743200" y="196596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REGULATORY OBLIGATION</a:t>
            </a:r>
          </a:p>
        </p:txBody>
      </p:sp>
      <p:cxnSp>
        <p:nvCxnSpPr>
          <p:cNvPr id="903" name="Connector 902"/>
          <p:cNvCxnSpPr/>
          <p:nvPr/>
        </p:nvCxnSpPr>
        <p:spPr>
          <a:xfrm>
            <a:off x="4572000" y="2514600"/>
            <a:ext cx="0" cy="32003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743200" y="2834639"/>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 MODEL</a:t>
            </a:r>
          </a:p>
        </p:txBody>
      </p:sp>
      <p:cxnSp>
        <p:nvCxnSpPr>
          <p:cNvPr id="905" name="Connector 904"/>
          <p:cNvCxnSpPr/>
          <p:nvPr/>
        </p:nvCxnSpPr>
        <p:spPr>
          <a:xfrm>
            <a:off x="4572000" y="338327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2743200" y="370332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INDEPENDENT VALIDATION</a:t>
            </a:r>
          </a:p>
        </p:txBody>
      </p:sp>
      <p:cxnSp>
        <p:nvCxnSpPr>
          <p:cNvPr id="907" name="Connector 906"/>
          <p:cNvCxnSpPr/>
          <p:nvPr/>
        </p:nvCxnSpPr>
        <p:spPr>
          <a:xfrm>
            <a:off x="4572000" y="425195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2743200" y="457200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RELEASE GATE</a:t>
            </a:r>
          </a:p>
        </p:txBody>
      </p:sp>
      <p:sp>
        <p:nvSpPr>
          <p:cNvPr id="4" name="Qualification"/>
          <p:cNvSpPr txBox="1"/>
          <p:nvPr/>
        </p:nvSpPr>
        <p:spPr>
          <a:xfrm>
            <a:off x="411480" y="5212080"/>
            <a:ext cx="8321040" cy="661720"/>
          </a:xfrm>
          <a:prstGeom prst="rect">
            <a:avLst/>
          </a:prstGeom>
          <a:noFill/>
        </p:spPr>
        <p:txBody>
          <a:bodyPr wrap="square" lIns="27432" tIns="22860" rIns="27432" bIns="22860" anchor="t">
            <a:spAutoFit/>
          </a:bodyPr>
          <a:lstStyle/>
          <a:p>
            <a:pPr algn="ctr"/>
            <a:r>
              <a:rPr sz="2000" b="1" i="0" dirty="0">
                <a:solidFill>
                  <a:srgbClr val="5C4826"/>
                </a:solidFill>
              </a:rPr>
              <a:t>Controls can constrain engineering work. They cannot guarantee compliance when the organization controlling them intends to circumvent them.</a:t>
            </a:r>
          </a:p>
        </p:txBody>
      </p:sp>
      <p:sp>
        <p:nvSpPr>
          <p:cNvPr id="5" name="FooterBand">
            <a:extLst>
              <a:ext uri="{FF2B5EF4-FFF2-40B4-BE49-F238E27FC236}">
                <a16:creationId xmlns:a16="http://schemas.microsoft.com/office/drawing/2014/main" id="{91831ADA-8EDC-A3A7-6BAD-CC927399FDFC}"/>
              </a:ext>
            </a:extLst>
          </p:cNvPr>
          <p:cNvSpPr/>
          <p:nvPr/>
        </p:nvSpPr>
        <p:spPr>
          <a:xfrm>
            <a:off x="274320" y="5989320"/>
            <a:ext cx="8595360" cy="429767"/>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rgbClr val="FFFFFF"/>
                </a:solidFill>
              </a:rPr>
              <a:t>Recurring failure should leave structure behind.</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8634</TotalTime>
  <Words>5522</Words>
  <Application>Microsoft Macintosh PowerPoint</Application>
  <PresentationFormat>On-screen Show (4:3)</PresentationFormat>
  <Paragraphs>493</Paragraphs>
  <Slides>34</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Arial</vt:lpstr>
      <vt:lpstr>Calibri</vt:lpstr>
      <vt:lpstr>Times</vt:lpstr>
      <vt:lpstr>Wingdings</vt:lpstr>
      <vt:lpstr>Purdue1</vt:lpstr>
      <vt:lpstr>PowerPoint Presentation</vt:lpstr>
      <vt:lpstr>Dieselgate</vt:lpstr>
      <vt:lpstr>Dieselgate: read this first</vt:lpstr>
      <vt:lpstr>1999: Volkswagen faces a new constraint</vt:lpstr>
      <vt:lpstr>2006: Volkswagen cannot satisfy all three</vt:lpstr>
      <vt:lpstr>Bosch supplied the engine-control software</vt:lpstr>
      <vt:lpstr>Volkswagen turns test recognition into a defeat device</vt:lpstr>
      <vt:lpstr>Engineers objected — and kept engineering it</vt:lpstr>
      <vt:lpstr>2009–2016: The cheat works</vt:lpstr>
      <vt:lpstr>2012: Reality provides another observation</vt:lpstr>
      <vt:lpstr>2014–15: Someone outside the system measures reality</vt:lpstr>
      <vt:lpstr>What theory explains it?</vt:lpstr>
      <vt:lpstr>Human error</vt:lpstr>
      <vt:lpstr>Swiss cheese</vt:lpstr>
      <vt:lpstr>Organizational causation</vt:lpstr>
      <vt:lpstr>STAMP: Model the control structure</vt:lpstr>
      <vt:lpstr>A broader model is not automatically a better model</vt:lpstr>
      <vt:lpstr>Match causal breadth to the decision</vt:lpstr>
      <vt:lpstr>Which model seems appropriate to this failure?</vt:lpstr>
      <vt:lpstr>Let’s try ourselves: Diagnose a failure</vt:lpstr>
      <vt:lpstr>Instagram: read this first</vt:lpstr>
      <vt:lpstr>It works as designed and produces harmful outcomes</vt:lpstr>
      <vt:lpstr>Which theory explains the Instagram outcome?</vt:lpstr>
      <vt:lpstr>What failed, and why didn’t we know?</vt:lpstr>
      <vt:lpstr>STRETCH BREAK</vt:lpstr>
      <vt:lpstr>Convert failure into engineering knowledge</vt:lpstr>
      <vt:lpstr>How do we establish "lessons learned”?</vt:lpstr>
      <vt:lpstr>Preserve the example or preserve the lesson?</vt:lpstr>
      <vt:lpstr>Imagine a race condition. Diagnosis reopens the design space</vt:lpstr>
      <vt:lpstr>Where must the lesson live to reach the next decision?</vt:lpstr>
      <vt:lpstr>Knowledge Management: Make the organization harder to surprise the same way twice</vt:lpstr>
      <vt:lpstr>How will the next human engineer or agent know?</vt:lpstr>
      <vt:lpstr>Rule: Convert failure lessons into engineering structure</vt:lpstr>
      <vt:lpstr>Volkswagen, one last time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523</cp:revision>
  <dcterms:created xsi:type="dcterms:W3CDTF">2020-02-21T23:00:33Z</dcterms:created>
  <dcterms:modified xsi:type="dcterms:W3CDTF">2026-10-15T17:18:48Z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