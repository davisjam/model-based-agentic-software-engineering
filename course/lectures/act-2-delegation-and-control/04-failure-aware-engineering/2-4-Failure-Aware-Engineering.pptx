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86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296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10/7/26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 minute</a:t>
            </a:r>
          </a:p>
          <a:p>
            <a:r>
              <a:t>Title only - almost nothing else on this slide, on purpose.</a:t>
            </a:r>
          </a:p>
          <a:p>
            <a:r>
              <a:t>The thesis of the unit, for you (do not say it yet): failure produces evidence; analyze it into a lesson; then, when the lesson is stable and consequential enough, move the judgment into the engineering environment so future engineers do not have to make the same judgment again.</a:t>
            </a:r>
          </a:p>
          <a:p>
            <a:r>
              <a:t>The first ~15 minutes are a progressive reveal of one real case. Do not sanitize it into "engineers objected, managers ignored them" - the documented story is murkier than that, which is exactly why it is useful.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Show the requirement change visually; not much prose.</a:t>
            </a:r>
          </a:p>
          <a:p>
            <a:r>
              <a:t>- CAVEAT (sourcing): EPA warns that direct Tier 1/Tier 2 comparisons are complicated by averaging and other program features; 0.07 g/mi was the Tier 2 bin to which the affected Jetta diesels were certified.</a:t>
            </a:r>
          </a:p>
          <a:p>
            <a:r>
              <a:t>- ASK the footer question. Expected recall from Act I: requirements, specification, architecture, design, validation. Good Act I recall.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Reveal the product ambition: clean diesel = emissions + performance + customer demand, all at once.</a:t>
            </a:r>
          </a:p>
          <a:p>
            <a:r>
              <a:t>- The footer question is already a requirements / design / authority question. Let several students answer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Reveal test recognition: one software path under the regulatory test, another on the road.</a:t>
            </a:r>
          </a:p>
          <a:p>
            <a:r>
              <a:t>- ASK simply: What failed? Let them say ethics, engineer, process, whatever. Do not resolve it - the question returns, identical, twice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2-3 minutes</a:t>
            </a:r>
          </a:p>
          <a:p>
            <a:r>
              <a:t>- This slide uses the actual plea-agreement fact, which is stronger than the later press accounts.</a:t>
            </a:r>
          </a:p>
          <a:p>
            <a:r>
              <a:t>- DISCUSS the italic question. There is not supposed to be a clean classroom answer.</a:t>
            </a:r>
          </a:p>
          <a:p>
            <a:r>
              <a:t>- The footer question is deliberately identical to the previous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This is where the story becomes uncomfortable in the useful way.</a:t>
            </a:r>
          </a:p>
          <a:p>
            <a:r>
              <a:t>- DISCUSS the footer question. "One unethical programmer" becomes an increasingly implausible causal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Ask again, in exactly the same words: What failed?</a:t>
            </a:r>
          </a:p>
          <a:p>
            <a:r>
              <a:t>- The question is identical on the software slide, the objection slide, and this one. The changing answer is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Show scale and repetition rather than another moral discussion.</a:t>
            </a:r>
          </a:p>
          <a:p>
            <a:r>
              <a:t>- ASK the footer question - it seeds governance conversion at minute 10.</a:t>
            </a:r>
          </a:p>
          <a:p>
            <a:r>
              <a:t>- DO NOT answer it yet. It is answered in 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The first really explicit Failure-Aware Engineering moment: failure -&gt; new evidence -&gt; interpretation -&gt; ?</a:t>
            </a:r>
          </a:p>
          <a:p>
            <a:r>
              <a:t>- They DID learn from the failure - they learned how to make the existing system work better. Devastatingly useful pedagogically: learning from failure is not enough. The obligation against which the lesson is evaluated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2-3 minutes</a:t>
            </a:r>
          </a:p>
          <a:p>
            <a:r>
              <a:t>- Only now disclose the eventual scale and consequences.</a:t>
            </a:r>
          </a:p>
          <a:p>
            <a:r>
              <a:t>- DO NOT ask "why were engineers not held responsible?" - the premise is false. Liang pleaded guilty and was sentenced; managers and executives were prosecuted or charged; VW pleaded guilty to a $2.8B U.S. criminal penalty.</a:t>
            </a:r>
          </a:p>
          <a:p>
            <a:r>
              <a:t>- ASK the footer question instead. It is genuinely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&lt;1 minute</a:t>
            </a:r>
          </a:p>
          <a:p>
            <a:r>
              <a:t>- Transition: the lecture now asks what theory explains what we just saw.</a:t>
            </a:r>
          </a:p>
          <a:p>
            <a:r>
              <a:t>- Four causal models follow; each will be tested against the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Put student answers on screen, verbatim, as they come.</a:t>
            </a:r>
          </a:p>
          <a:p>
            <a:r>
              <a:t>- Keep the list visible; the next slides test candidate causal models against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1-2 minutes</a:t>
            </a:r>
          </a:p>
          <a:p>
            <a:r>
              <a:t>- Test it against the story: objections, escalation, authorization, delegation to IAV, year-after-year certification. One individual does not account for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1-2 minutes</a:t>
            </a:r>
          </a:p>
          <a:p>
            <a:r>
              <a:t>- Layered defenses, each imperfect; the accident traverses aligned holes.</a:t>
            </a:r>
          </a:p>
          <a:p>
            <a:r>
              <a:t>- Test it against the story: which defenses existed, and where were the holes? The intervention unit becomes the defenses, not the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1-2 minutes</a:t>
            </a:r>
          </a:p>
          <a:p>
            <a:r>
              <a:t>- The causal story moves up a level: the conditions that shaped behavior, not the behavior alone.</a:t>
            </a:r>
          </a:p>
          <a:p>
            <a:r>
              <a:t>- Test it against the story: what conditions sustained the same result model year after model year?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[Author: the old slide-12 STAMP narration lands here.]</a:t>
            </a:r>
          </a:p>
          <a:p>
            <a:r>
              <a:t>- A systems-theoretic account: include every level of control and feedback, from regulators down to the operating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1-2 minutes</a:t>
            </a:r>
          </a:p>
          <a:p>
            <a:r>
              <a:t>- Each model includes more of the causal story than the last.</a:t>
            </a:r>
          </a:p>
          <a:p>
            <a:r>
              <a:t>- But a more complete account is not automatically a more usable one: as the account widens, more of it lies outside what any one engineer or team can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Now the line has concrete meaning rather than being abstract modeling doctrine.</a:t>
            </a:r>
          </a:p>
          <a:p>
            <a:r>
              <a:t>- Connect back to the student answers from the opening slide of this section: each answer was implicitly one of these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93E8548-BE24-4B73-8C45-416AEFC32254}" type="slidenum">
              <a:rPr lang="en-US" smtClean="0"/>
              <a:t>1</a:t>
            </a:fld>
            <a:endParaRPr lang="en-US"/>
          </a:p>
        </p:txBody>
      </p:sp>
      <p:sp>
        <p:nvSpPr>
          <p:cNvPr id="901" name="Header"/>
          <p:cNvSpPr/>
          <p:nvPr/>
        </p:nvSpPr>
        <p:spPr>
          <a:xfrm>
            <a:off x="438912" y="566928"/>
            <a:ext cx="8266175" cy="1197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000000"/>
                </a:solidFill>
              </a:rPr>
              <a:t>Software Engineering</a:t>
            </a:r>
          </a:p>
          <a:p>
            <a:pPr algn="ctr"/>
            <a:r>
              <a:rPr sz="2000" b="0" i="0">
                <a:solidFill>
                  <a:srgbClr val="000000"/>
                </a:solidFill>
              </a:rPr>
              <a:t>ECE 30861 / CSCI 45000</a:t>
            </a:r>
          </a:p>
        </p:txBody>
      </p:sp>
      <p:sp>
        <p:nvSpPr>
          <p:cNvPr id="902" name="TitleBlock"/>
          <p:cNvSpPr txBox="1"/>
          <p:nvPr/>
        </p:nvSpPr>
        <p:spPr>
          <a:xfrm>
            <a:off x="219456" y="1920240"/>
            <a:ext cx="8695944" cy="2148840"/>
          </a:xfrm>
          <a:prstGeom prst="rect">
            <a:avLst/>
          </a:prstGeom>
          <a:noFill/>
        </p:spPr>
        <p:txBody>
          <a:bodyPr wrap="square" anchor="ctr" lIns="27432" rIns="27432" tIns="22860" bIns="22860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</a:rPr>
              <a:t>Failure-Aware Engineering</a:t>
            </a:r>
          </a:p>
          <a:p>
            <a:pPr algn="ctr">
              <a:spcBef>
                <a:spcPts val="1800"/>
              </a:spcBef>
            </a:pPr>
            <a:r>
              <a:rPr sz="2000" b="0" i="0">
                <a:solidFill>
                  <a:srgbClr val="000000"/>
                </a:solidFill>
              </a:rPr>
              <a:t>Prof. James C. Davis</a:t>
            </a:r>
          </a:p>
          <a:p>
            <a:pPr algn="ctr"/>
            <a:r>
              <a:rPr sz="2000" b="0" i="0">
                <a:solidFill>
                  <a:srgbClr val="000000"/>
                </a:solidFill>
              </a:rPr>
              <a:t>Prof. Steve France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1999: The obligation changes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B89A994-9FE4-4018-8D0C-C44F8B0CB085}" type="slidenum">
              <a:rPr lang="en-US" smtClean="0"/>
              <a:t>2</a:t>
            </a:fld>
            <a:endParaRPr lang="en-US"/>
          </a:p>
        </p:txBody>
      </p:sp>
      <p:sp>
        <p:nvSpPr>
          <p:cNvPr id="901" name="Card"/>
          <p:cNvSpPr/>
          <p:nvPr/>
        </p:nvSpPr>
        <p:spPr>
          <a:xfrm>
            <a:off x="822960" y="1463040"/>
            <a:ext cx="3017520" cy="1737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U.S. Tier 1</a:t>
            </a:r>
          </a:p>
          <a:p>
            <a:pPr algn="ctr">
              <a:spcBef>
                <a:spcPts val="2200"/>
              </a:spcBef>
            </a:pPr>
            <a:r>
              <a:rPr sz="2800" b="1" i="0">
                <a:solidFill>
                  <a:srgbClr val="5C4826"/>
                </a:solidFill>
              </a:rPr>
              <a:t>NOx ≈ 1.25 g/mi</a:t>
            </a:r>
          </a:p>
        </p:txBody>
      </p:sp>
      <p:cxnSp>
        <p:nvCxnSpPr>
          <p:cNvPr id="902" name="Connector 901"/>
          <p:cNvCxnSpPr/>
          <p:nvPr/>
        </p:nvCxnSpPr>
        <p:spPr>
          <a:xfrm>
            <a:off x="3977639" y="2331720"/>
            <a:ext cx="731521" cy="0"/>
          </a:xfrm>
          <a:prstGeom prst="line">
            <a:avLst/>
          </a:prstGeom>
          <a:ln w="28575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" name="Card"/>
          <p:cNvSpPr/>
          <p:nvPr/>
        </p:nvSpPr>
        <p:spPr>
          <a:xfrm>
            <a:off x="4846320" y="1463040"/>
            <a:ext cx="3017520" cy="1737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U.S. Tier 2</a:t>
            </a:r>
          </a:p>
          <a:p>
            <a:pPr algn="ctr">
              <a:spcBef>
                <a:spcPts val="2200"/>
              </a:spcBef>
            </a:pPr>
            <a:r>
              <a:rPr sz="2800" b="1" i="0">
                <a:solidFill>
                  <a:srgbClr val="9A3F12"/>
                </a:solidFill>
              </a:rPr>
              <a:t>0.07 g/mi</a:t>
            </a:r>
          </a:p>
        </p:txBody>
      </p:sp>
      <p:cxnSp>
        <p:nvCxnSpPr>
          <p:cNvPr id="904" name="Connector 903"/>
          <p:cNvCxnSpPr/>
          <p:nvPr/>
        </p:nvCxnSpPr>
        <p:spPr>
          <a:xfrm flipV="1">
            <a:off x="6355080" y="3337560"/>
            <a:ext cx="0" cy="59436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" name="Label"/>
          <p:cNvSpPr txBox="1"/>
          <p:nvPr/>
        </p:nvSpPr>
        <p:spPr>
          <a:xfrm>
            <a:off x="4572000" y="4023360"/>
            <a:ext cx="3566160" cy="41148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VW must engineer for this world</a:t>
            </a:r>
          </a:p>
        </p:txBody>
      </p:sp>
      <p:sp>
        <p:nvSpPr>
          <p:cNvPr id="906" name="FooterBand"/>
          <p:cNvSpPr/>
          <p:nvPr/>
        </p:nvSpPr>
        <p:spPr>
          <a:xfrm>
            <a:off x="274320" y="5852159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What engineering activities should this regulatory change affect?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2006: Volkswagen has a problem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E283878-7FEA-4811-B90C-385DB6556BF2}" type="slidenum">
              <a:rPr lang="en-US" smtClean="0"/>
              <a:t>3</a:t>
            </a:fld>
            <a:endParaRPr lang="en-US"/>
          </a:p>
        </p:txBody>
      </p:sp>
      <p:sp>
        <p:nvSpPr>
          <p:cNvPr id="901" name="Block"/>
          <p:cNvSpPr/>
          <p:nvPr/>
        </p:nvSpPr>
        <p:spPr>
          <a:xfrm>
            <a:off x="3200400" y="1188720"/>
            <a:ext cx="274320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CLEAN DIESEL</a:t>
            </a:r>
          </a:p>
        </p:txBody>
      </p:sp>
      <p:cxnSp>
        <p:nvCxnSpPr>
          <p:cNvPr id="902" name="Connector 901"/>
          <p:cNvCxnSpPr/>
          <p:nvPr/>
        </p:nvCxnSpPr>
        <p:spPr>
          <a:xfrm flipH="1">
            <a:off x="1737360" y="1828800"/>
            <a:ext cx="2834640" cy="54864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" name="Card"/>
          <p:cNvSpPr/>
          <p:nvPr/>
        </p:nvSpPr>
        <p:spPr>
          <a:xfrm>
            <a:off x="411479" y="2377440"/>
            <a:ext cx="26517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emissions</a:t>
            </a:r>
          </a:p>
        </p:txBody>
      </p:sp>
      <p:cxnSp>
        <p:nvCxnSpPr>
          <p:cNvPr id="904" name="Connector 903"/>
          <p:cNvCxnSpPr/>
          <p:nvPr/>
        </p:nvCxnSpPr>
        <p:spPr>
          <a:xfrm>
            <a:off x="4572000" y="1828800"/>
            <a:ext cx="0" cy="54864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" name="Card"/>
          <p:cNvSpPr/>
          <p:nvPr/>
        </p:nvSpPr>
        <p:spPr>
          <a:xfrm>
            <a:off x="3246120" y="2377440"/>
            <a:ext cx="26517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performance</a:t>
            </a:r>
          </a:p>
        </p:txBody>
      </p:sp>
      <p:cxnSp>
        <p:nvCxnSpPr>
          <p:cNvPr id="906" name="Connector 905"/>
          <p:cNvCxnSpPr/>
          <p:nvPr/>
        </p:nvCxnSpPr>
        <p:spPr>
          <a:xfrm>
            <a:off x="4572000" y="1828800"/>
            <a:ext cx="2834640" cy="54864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7" name="Card"/>
          <p:cNvSpPr/>
          <p:nvPr/>
        </p:nvSpPr>
        <p:spPr>
          <a:xfrm>
            <a:off x="6080759" y="2377440"/>
            <a:ext cx="26517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customer demand</a:t>
            </a:r>
          </a:p>
        </p:txBody>
      </p:sp>
      <p:sp>
        <p:nvSpPr>
          <p:cNvPr id="908" name="DojAccount"/>
          <p:cNvSpPr txBox="1"/>
          <p:nvPr/>
        </p:nvSpPr>
        <p:spPr>
          <a:xfrm>
            <a:off x="548640" y="3566160"/>
            <a:ext cx="8046720" cy="1188720"/>
          </a:xfrm>
          <a:prstGeom prst="rect">
            <a:avLst/>
          </a:prstGeom>
          <a:noFill/>
        </p:spPr>
        <p:txBody>
          <a:bodyPr wrap="square" anchor="ctr" lIns="27432" rIns="27432" tIns="22860" bIns="22860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DOJ's account: </a:t>
            </a:r>
            <a:r>
              <a:rPr sz="2000" b="0" i="0">
                <a:solidFill>
                  <a:srgbClr val="555960"/>
                </a:solidFill>
              </a:rPr>
              <a:t>engineers found they could not produce the desired engine that both met the stricter NOx standards and attracted sufficient U.S. customer demand.</a:t>
            </a:r>
          </a:p>
        </p:txBody>
      </p:sp>
      <p:sp>
        <p:nvSpPr>
          <p:cNvPr id="909" name="FooterBand"/>
          <p:cNvSpPr/>
          <p:nvPr/>
        </p:nvSpPr>
        <p:spPr>
          <a:xfrm>
            <a:off x="274320" y="5513831"/>
            <a:ext cx="8595360" cy="90525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What should happen when the engineering cannot satisfy the obligations?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They found a software solution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C1F7B64-CBB4-464E-AB41-FA37D38811D8}" type="slidenum">
              <a:rPr lang="en-US" smtClean="0"/>
              <a:t>4</a:t>
            </a:fld>
            <a:endParaRPr lang="en-US"/>
          </a:p>
        </p:txBody>
      </p:sp>
      <p:sp>
        <p:nvSpPr>
          <p:cNvPr id="901" name="Block"/>
          <p:cNvSpPr/>
          <p:nvPr/>
        </p:nvSpPr>
        <p:spPr>
          <a:xfrm>
            <a:off x="3566160" y="1005840"/>
            <a:ext cx="201168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SOFTWARE</a:t>
            </a:r>
          </a:p>
        </p:txBody>
      </p:sp>
      <p:cxnSp>
        <p:nvCxnSpPr>
          <p:cNvPr id="902" name="Connector 901"/>
          <p:cNvCxnSpPr/>
          <p:nvPr/>
        </p:nvCxnSpPr>
        <p:spPr>
          <a:xfrm>
            <a:off x="4572000" y="1508760"/>
            <a:ext cx="0" cy="365759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" name="Card"/>
          <p:cNvSpPr/>
          <p:nvPr/>
        </p:nvSpPr>
        <p:spPr>
          <a:xfrm>
            <a:off x="3337560" y="1874519"/>
            <a:ext cx="246888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regulatory test?</a:t>
            </a:r>
          </a:p>
        </p:txBody>
      </p:sp>
      <p:cxnSp>
        <p:nvCxnSpPr>
          <p:cNvPr id="904" name="Connector 903"/>
          <p:cNvCxnSpPr/>
          <p:nvPr/>
        </p:nvCxnSpPr>
        <p:spPr>
          <a:xfrm flipH="1">
            <a:off x="2103120" y="2377440"/>
            <a:ext cx="1234440" cy="41148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5" name="Connector 904"/>
          <p:cNvCxnSpPr/>
          <p:nvPr/>
        </p:nvCxnSpPr>
        <p:spPr>
          <a:xfrm>
            <a:off x="5806440" y="2377440"/>
            <a:ext cx="868680" cy="41148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" name="Label"/>
          <p:cNvSpPr txBox="1"/>
          <p:nvPr/>
        </p:nvSpPr>
        <p:spPr>
          <a:xfrm>
            <a:off x="1920240" y="2212848"/>
            <a:ext cx="822960" cy="32004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YES</a:t>
            </a:r>
          </a:p>
        </p:txBody>
      </p:sp>
      <p:sp>
        <p:nvSpPr>
          <p:cNvPr id="907" name="Label"/>
          <p:cNvSpPr txBox="1"/>
          <p:nvPr/>
        </p:nvSpPr>
        <p:spPr>
          <a:xfrm>
            <a:off x="6355080" y="2212848"/>
            <a:ext cx="731520" cy="32004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NO</a:t>
            </a:r>
          </a:p>
        </p:txBody>
      </p:sp>
      <p:sp>
        <p:nvSpPr>
          <p:cNvPr id="908" name="Card"/>
          <p:cNvSpPr/>
          <p:nvPr/>
        </p:nvSpPr>
        <p:spPr>
          <a:xfrm>
            <a:off x="914400" y="2788920"/>
            <a:ext cx="237744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emissions controls</a:t>
            </a:r>
          </a:p>
        </p:txBody>
      </p:sp>
      <p:sp>
        <p:nvSpPr>
          <p:cNvPr id="909" name="Card"/>
          <p:cNvSpPr/>
          <p:nvPr/>
        </p:nvSpPr>
        <p:spPr>
          <a:xfrm>
            <a:off x="5486400" y="2788920"/>
            <a:ext cx="237744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reduced controls</a:t>
            </a:r>
          </a:p>
        </p:txBody>
      </p:sp>
      <p:cxnSp>
        <p:nvCxnSpPr>
          <p:cNvPr id="910" name="Connector 909"/>
          <p:cNvCxnSpPr/>
          <p:nvPr/>
        </p:nvCxnSpPr>
        <p:spPr>
          <a:xfrm>
            <a:off x="2103120" y="3291840"/>
            <a:ext cx="0" cy="36576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1" name="Connector 910"/>
          <p:cNvCxnSpPr/>
          <p:nvPr/>
        </p:nvCxnSpPr>
        <p:spPr>
          <a:xfrm>
            <a:off x="6675120" y="3291840"/>
            <a:ext cx="0" cy="36576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2" name="Block"/>
          <p:cNvSpPr/>
          <p:nvPr/>
        </p:nvSpPr>
        <p:spPr>
          <a:xfrm>
            <a:off x="1371600" y="3657600"/>
            <a:ext cx="146304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PASS</a:t>
            </a:r>
          </a:p>
        </p:txBody>
      </p:sp>
      <p:sp>
        <p:nvSpPr>
          <p:cNvPr id="913" name="Block"/>
          <p:cNvSpPr/>
          <p:nvPr/>
        </p:nvSpPr>
        <p:spPr>
          <a:xfrm>
            <a:off x="5394960" y="3657600"/>
            <a:ext cx="2560320" cy="502920"/>
          </a:xfrm>
          <a:prstGeom prst="rect">
            <a:avLst/>
          </a:prstGeom>
          <a:solidFill>
            <a:srgbClr val="9A3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much higher NOx</a:t>
            </a:r>
          </a:p>
        </p:txBody>
      </p:sp>
      <p:sp>
        <p:nvSpPr>
          <p:cNvPr id="914" name="Sources"/>
          <p:cNvSpPr txBox="1"/>
          <p:nvPr/>
        </p:nvSpPr>
        <p:spPr>
          <a:xfrm>
            <a:off x="411480" y="4434840"/>
            <a:ext cx="8321040" cy="123444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EPA: </a:t>
            </a:r>
            <a:r>
              <a:rPr sz="2000" b="0" i="0">
                <a:solidFill>
                  <a:srgbClr val="555960"/>
                </a:solidFill>
              </a:rPr>
              <a:t>the affected vehicles contained software designed to cheat federal emissions tests. </a:t>
            </a:r>
            <a:r>
              <a:rPr sz="2000" b="1" i="0">
                <a:solidFill>
                  <a:srgbClr val="5C4826"/>
                </a:solidFill>
              </a:rPr>
              <a:t>DOJ: </a:t>
            </a:r>
            <a:r>
              <a:rPr sz="2000" b="0" i="0">
                <a:solidFill>
                  <a:srgbClr val="555960"/>
                </a:solidFill>
              </a:rPr>
              <a:t>the documents describe recognition of the published drive cycles, and emissions up to 40 times the applicable standard outside test mode.</a:t>
            </a:r>
          </a:p>
        </p:txBody>
      </p:sp>
      <p:sp>
        <p:nvSpPr>
          <p:cNvPr id="915" name="FooterBand"/>
          <p:cNvSpPr/>
          <p:nvPr/>
        </p:nvSpPr>
        <p:spPr>
          <a:xfrm>
            <a:off x="274320" y="5852159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What failed?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Some engineers objected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2F585DF-8792-4B44-A55D-46AF45B931D7}" type="slidenum">
              <a:rPr lang="en-US" smtClean="0"/>
              <a:t>5</a:t>
            </a:fld>
            <a:endParaRPr lang="en-US"/>
          </a:p>
        </p:txBody>
      </p:sp>
      <p:sp>
        <p:nvSpPr>
          <p:cNvPr id="901" name="Card"/>
          <p:cNvSpPr/>
          <p:nvPr/>
        </p:nvSpPr>
        <p:spPr>
          <a:xfrm>
            <a:off x="411480" y="1051560"/>
            <a:ext cx="8321040" cy="9144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Objection, escalated. </a:t>
            </a:r>
            <a:r>
              <a:rPr sz="2000" b="0" i="0">
                <a:solidFill>
                  <a:srgbClr val="555960"/>
                </a:solidFill>
              </a:rPr>
              <a:t>VW engineers, supported by supervisors, raised objections about the propriety of the defeat device and escalated the issue.</a:t>
            </a:r>
          </a:p>
        </p:txBody>
      </p:sp>
      <p:sp>
        <p:nvSpPr>
          <p:cNvPr id="902" name="Card"/>
          <p:cNvSpPr/>
          <p:nvPr/>
        </p:nvSpPr>
        <p:spPr>
          <a:xfrm>
            <a:off x="411480" y="2148840"/>
            <a:ext cx="8321040" cy="9144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November 2006. </a:t>
            </a:r>
            <a:r>
              <a:rPr sz="2000" b="0" i="0">
                <a:solidFill>
                  <a:srgbClr val="555960"/>
                </a:solidFill>
              </a:rPr>
              <a:t>The relevant supervisor was briefed on its purpose and design, and decided production should continue.</a:t>
            </a:r>
          </a:p>
        </p:txBody>
      </p:sp>
      <p:sp>
        <p:nvSpPr>
          <p:cNvPr id="903" name="Card"/>
          <p:cNvSpPr/>
          <p:nvPr/>
        </p:nvSpPr>
        <p:spPr>
          <a:xfrm>
            <a:off x="411480" y="3246120"/>
            <a:ext cx="8321040" cy="9144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The plea agreement </a:t>
            </a:r>
            <a:r>
              <a:rPr sz="2000" b="0" i="0">
                <a:solidFill>
                  <a:srgbClr val="555960"/>
                </a:solidFill>
              </a:rPr>
              <a:t>records the instruction, in substance, as </a:t>
            </a:r>
            <a:r>
              <a:rPr sz="2000" b="1" i="0">
                <a:solidFill>
                  <a:srgbClr val="9A3F12"/>
                </a:solidFill>
              </a:rPr>
              <a:t>“not to get caught.”</a:t>
            </a:r>
          </a:p>
        </p:txBody>
      </p:sp>
      <p:sp>
        <p:nvSpPr>
          <p:cNvPr id="904" name="Label"/>
          <p:cNvSpPr txBox="1"/>
          <p:nvPr/>
        </p:nvSpPr>
        <p:spPr>
          <a:xfrm>
            <a:off x="411480" y="4572000"/>
            <a:ext cx="8321040" cy="73152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2200" b="0" i="1">
                <a:solidFill>
                  <a:srgbClr val="8E6F3E"/>
                </a:solidFill>
              </a:rPr>
              <a:t>Was raising the concern the end of those engineers’ professional responsibility?</a:t>
            </a:r>
          </a:p>
        </p:txBody>
      </p:sp>
      <p:sp>
        <p:nvSpPr>
          <p:cNvPr id="905" name="FooterBand"/>
          <p:cNvSpPr/>
          <p:nvPr/>
        </p:nvSpPr>
        <p:spPr>
          <a:xfrm>
            <a:off x="274320" y="5852159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What failed?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And yet engineers kept engineering it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A4C8AD4-B258-43AE-BB11-07B720D492DE}" type="slidenum">
              <a:rPr lang="en-US" smtClean="0"/>
              <a:t>6</a:t>
            </a:fld>
            <a:endParaRPr lang="en-US"/>
          </a:p>
        </p:txBody>
      </p:sp>
      <p:sp>
        <p:nvSpPr>
          <p:cNvPr id="901" name="Card"/>
          <p:cNvSpPr/>
          <p:nvPr/>
        </p:nvSpPr>
        <p:spPr>
          <a:xfrm>
            <a:off x="411480" y="1097280"/>
            <a:ext cx="8321040" cy="14173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Not a rogue ten-line hack. </a:t>
            </a:r>
            <a:r>
              <a:rPr sz="2000" b="0" i="0">
                <a:solidFill>
                  <a:srgbClr val="555960"/>
                </a:solidFill>
              </a:rPr>
              <a:t>The defeat device required engineering, calibration, integration, certification work, and continued maintenance.</a:t>
            </a:r>
          </a:p>
        </p:txBody>
      </p:sp>
      <p:sp>
        <p:nvSpPr>
          <p:cNvPr id="902" name="Card"/>
          <p:cNvSpPr/>
          <p:nvPr/>
        </p:nvSpPr>
        <p:spPr>
          <a:xfrm>
            <a:off x="411480" y="2743200"/>
            <a:ext cx="8321040" cy="1828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Delegated, too. </a:t>
            </a:r>
            <a:r>
              <a:rPr sz="2000" b="0" i="0">
                <a:solidFill>
                  <a:srgbClr val="555960"/>
                </a:solidFill>
              </a:rPr>
              <a:t>VW delegated software-development and exhaust-after-treatment work to IAV. An IAV employee prepared documentation for the test-recognition software, and by 2008 an IAV manager knew its purpose and directed continued work.</a:t>
            </a:r>
          </a:p>
        </p:txBody>
      </p:sp>
      <p:sp>
        <p:nvSpPr>
          <p:cNvPr id="903" name="FooterBand"/>
          <p:cNvSpPr/>
          <p:nvPr/>
        </p:nvSpPr>
        <p:spPr>
          <a:xfrm>
            <a:off x="274320" y="5513831"/>
            <a:ext cx="8595360" cy="90525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How many people does it take to get a system like this into 335,000, eventually hundreds of thousands, of U.S. vehicles?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2007: They reconsidered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63FC52C-085A-44CD-88FF-F0B89574F0D7}" type="slidenum">
              <a:rPr lang="en-US" smtClean="0"/>
              <a:t>7</a:t>
            </a:fld>
            <a:endParaRPr lang="en-US"/>
          </a:p>
        </p:txBody>
      </p:sp>
      <p:sp>
        <p:nvSpPr>
          <p:cNvPr id="901" name="Label"/>
          <p:cNvSpPr txBox="1"/>
          <p:nvPr/>
        </p:nvSpPr>
        <p:spPr>
          <a:xfrm>
            <a:off x="411480" y="1143000"/>
            <a:ext cx="8321040" cy="45720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2200" b="0" i="0">
                <a:solidFill>
                  <a:srgbClr val="5C4826"/>
                </a:solidFill>
              </a:rPr>
              <a:t>More technical problems. Internal disagreement. A contentious October 2007 meeting.</a:t>
            </a:r>
          </a:p>
        </p:txBody>
      </p:sp>
      <p:sp>
        <p:nvSpPr>
          <p:cNvPr id="902" name="Block"/>
          <p:cNvSpPr/>
          <p:nvPr/>
        </p:nvSpPr>
        <p:spPr>
          <a:xfrm>
            <a:off x="3017520" y="2103120"/>
            <a:ext cx="3108960" cy="868680"/>
          </a:xfrm>
          <a:prstGeom prst="rect">
            <a:avLst/>
          </a:prstGeom>
          <a:solidFill>
            <a:srgbClr val="9A3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Result: PROCEED</a:t>
            </a:r>
          </a:p>
        </p:txBody>
      </p:sp>
      <p:sp>
        <p:nvSpPr>
          <p:cNvPr id="903" name="Doj"/>
          <p:cNvSpPr txBox="1"/>
          <p:nvPr/>
        </p:nvSpPr>
        <p:spPr>
          <a:xfrm>
            <a:off x="411480" y="3474720"/>
            <a:ext cx="8321040" cy="1188720"/>
          </a:xfrm>
          <a:prstGeom prst="rect">
            <a:avLst/>
          </a:prstGeom>
          <a:noFill/>
        </p:spPr>
        <p:txBody>
          <a:bodyPr wrap="square" anchor="ctr" lIns="27432" rIns="27432" tIns="22860" bIns="22860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DOJ: </a:t>
            </a:r>
            <a:r>
              <a:rPr sz="2000" b="0" i="0">
                <a:solidFill>
                  <a:srgbClr val="555960"/>
                </a:solidFill>
              </a:rPr>
              <a:t>the supervisor authorized the project despite knowing that only the defeat device would allow the vehicles to pass the U.S. tests.</a:t>
            </a:r>
          </a:p>
        </p:txBody>
      </p:sp>
      <p:sp>
        <p:nvSpPr>
          <p:cNvPr id="904" name="FooterBand"/>
          <p:cNvSpPr/>
          <p:nvPr/>
        </p:nvSpPr>
        <p:spPr>
          <a:xfrm>
            <a:off x="274320" y="5852159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What failed?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274320" y="0"/>
            <a:ext cx="8321040" cy="749808"/>
          </a:xfrm>
        </p:spPr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2009–2016: The engineering system keeps producing the result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B2254B0-2847-446D-A99B-3B146C8B0742}" type="slidenum">
              <a:rPr lang="en-US" smtClean="0"/>
              <a:t>8</a:t>
            </a:fld>
            <a:endParaRPr lang="en-US"/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411480" y="1280160"/>
          <a:ext cx="832104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MODEL YEAR</a:t>
                      </a:r>
                    </a:p>
                  </a:txBody>
                  <a:tcPr anchor="ctr" marL="27432" marR="27432" marT="18288" marB="18288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2009</a:t>
                      </a:r>
                    </a:p>
                  </a:txBody>
                  <a:tcPr anchor="ctr" marL="27432" marR="27432" marT="18288" marB="18288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2010</a:t>
                      </a:r>
                    </a:p>
                  </a:txBody>
                  <a:tcPr anchor="ctr" marL="27432" marR="27432" marT="18288" marB="18288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2011</a:t>
                      </a:r>
                    </a:p>
                  </a:txBody>
                  <a:tcPr anchor="ctr" marL="27432" marR="27432" marT="18288" marB="18288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2012</a:t>
                      </a:r>
                    </a:p>
                  </a:txBody>
                  <a:tcPr anchor="ctr" marL="27432" marR="27432" marT="18288" marB="18288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2013</a:t>
                      </a:r>
                    </a:p>
                  </a:txBody>
                  <a:tcPr anchor="ctr" marL="27432" marR="27432" marT="18288" marB="18288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2014</a:t>
                      </a:r>
                    </a:p>
                  </a:txBody>
                  <a:tcPr anchor="ctr" marL="27432" marR="27432" marT="18288" marB="18288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2015</a:t>
                      </a:r>
                    </a:p>
                  </a:txBody>
                  <a:tcPr anchor="ctr" marL="27432" marR="27432" marT="18288" marB="18288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2016</a:t>
                      </a:r>
                    </a:p>
                  </a:txBody>
                  <a:tcPr anchor="ctr" marL="27432" marR="27432" marT="18288" marB="18288">
                    <a:solidFill>
                      <a:srgbClr val="8E6F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5C4826"/>
                          </a:solidFill>
                        </a:rPr>
                        <a:t>CERTIFY</a:t>
                      </a:r>
                    </a:p>
                  </a:txBody>
                  <a:tcPr anchor="ctr" marL="27432" marR="27432" marT="18288" marB="18288"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5F1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5C4826"/>
                          </a:solidFill>
                        </a:rPr>
                        <a:t>SELL</a:t>
                      </a:r>
                    </a:p>
                  </a:txBody>
                  <a:tcPr anchor="ctr" marL="27432" marR="27432" marT="18288" marB="18288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902" name="Doj"/>
          <p:cNvSpPr txBox="1"/>
          <p:nvPr/>
        </p:nvSpPr>
        <p:spPr>
          <a:xfrm>
            <a:off x="411480" y="3246120"/>
            <a:ext cx="8321040" cy="146304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The certification was not a one-time failure. </a:t>
            </a:r>
            <a:r>
              <a:rPr sz="2000" b="0" i="0">
                <a:solidFill>
                  <a:srgbClr val="555960"/>
                </a:solidFill>
              </a:rPr>
              <a:t>DOJ: false certifications continued model year after model year, with employees meeting EPA/CARB and concealing the defeat device.</a:t>
            </a:r>
          </a:p>
        </p:txBody>
      </p:sp>
      <p:sp>
        <p:nvSpPr>
          <p:cNvPr id="903" name="FooterBand"/>
          <p:cNvSpPr/>
          <p:nvPr/>
        </p:nvSpPr>
        <p:spPr>
          <a:xfrm>
            <a:off x="274320" y="5513831"/>
            <a:ext cx="8595360" cy="90525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Where could the engineering environment have made the wrong action difficult or impossible?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2012: Reality provides another observation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AD63376-E242-4330-85AB-CDFE7346944A}" type="slidenum">
              <a:rPr lang="en-US" smtClean="0"/>
              <a:t>9</a:t>
            </a:fld>
            <a:endParaRPr lang="en-US"/>
          </a:p>
        </p:txBody>
      </p:sp>
      <p:sp>
        <p:nvSpPr>
          <p:cNvPr id="901" name="Facts"/>
          <p:cNvSpPr txBox="1"/>
          <p:nvPr/>
        </p:nvSpPr>
        <p:spPr>
          <a:xfrm>
            <a:off x="365760" y="1097280"/>
            <a:ext cx="4754880" cy="402336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Hardware starts failing.</a:t>
            </a:r>
          </a:p>
          <a:p>
            <a:pPr algn="l">
              <a:spcBef>
                <a:spcPts val="1200"/>
              </a:spcBef>
            </a:pPr>
            <a:r>
              <a:rPr sz="2000" b="0" i="0">
                <a:solidFill>
                  <a:srgbClr val="555960"/>
                </a:solidFill>
              </a:rPr>
              <a:t>Engineers investigate and conclude that additional stress associated with dyno mode may explain the hardware failures. They explain both the diagnosis and the defeat device to management.</a:t>
            </a:r>
          </a:p>
          <a:p>
            <a:pPr algn="l">
              <a:spcBef>
                <a:spcPts val="1200"/>
              </a:spcBef>
            </a:pPr>
            <a:r>
              <a:rPr sz="2000" b="1" i="0">
                <a:solidFill>
                  <a:srgbClr val="5C4826"/>
                </a:solidFill>
              </a:rPr>
              <a:t>And what happens? </a:t>
            </a:r>
            <a:r>
              <a:rPr sz="2000" b="0" i="0">
                <a:solidFill>
                  <a:srgbClr val="555960"/>
                </a:solidFill>
              </a:rPr>
              <a:t>Further concealment — followed eventually by an improved defeat device using steering-wheel-angle recognition.</a:t>
            </a:r>
          </a:p>
        </p:txBody>
      </p:sp>
      <p:sp>
        <p:nvSpPr>
          <p:cNvPr id="902" name="Block"/>
          <p:cNvSpPr/>
          <p:nvPr/>
        </p:nvSpPr>
        <p:spPr>
          <a:xfrm>
            <a:off x="5577840" y="1188720"/>
            <a:ext cx="283464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FAILURE</a:t>
            </a:r>
          </a:p>
        </p:txBody>
      </p:sp>
      <p:cxnSp>
        <p:nvCxnSpPr>
          <p:cNvPr id="903" name="Connector 902"/>
          <p:cNvCxnSpPr/>
          <p:nvPr/>
        </p:nvCxnSpPr>
        <p:spPr>
          <a:xfrm>
            <a:off x="6995160" y="1737360"/>
            <a:ext cx="0" cy="384048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4" name="Block"/>
          <p:cNvSpPr/>
          <p:nvPr/>
        </p:nvSpPr>
        <p:spPr>
          <a:xfrm>
            <a:off x="5577840" y="2121408"/>
            <a:ext cx="283464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NEW EVIDENCE</a:t>
            </a:r>
          </a:p>
        </p:txBody>
      </p:sp>
      <p:cxnSp>
        <p:nvCxnSpPr>
          <p:cNvPr id="905" name="Connector 904"/>
          <p:cNvCxnSpPr/>
          <p:nvPr/>
        </p:nvCxnSpPr>
        <p:spPr>
          <a:xfrm>
            <a:off x="6995160" y="2670048"/>
            <a:ext cx="0" cy="384048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" name="Block"/>
          <p:cNvSpPr/>
          <p:nvPr/>
        </p:nvSpPr>
        <p:spPr>
          <a:xfrm>
            <a:off x="5577840" y="3054096"/>
            <a:ext cx="283464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INTERPRETATION</a:t>
            </a:r>
          </a:p>
        </p:txBody>
      </p:sp>
      <p:cxnSp>
        <p:nvCxnSpPr>
          <p:cNvPr id="907" name="Connector 906"/>
          <p:cNvCxnSpPr/>
          <p:nvPr/>
        </p:nvCxnSpPr>
        <p:spPr>
          <a:xfrm>
            <a:off x="6995160" y="3602736"/>
            <a:ext cx="0" cy="384048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" name="Block"/>
          <p:cNvSpPr/>
          <p:nvPr/>
        </p:nvSpPr>
        <p:spPr>
          <a:xfrm>
            <a:off x="5577840" y="3986784"/>
            <a:ext cx="2834640" cy="548640"/>
          </a:xfrm>
          <a:prstGeom prst="rect">
            <a:avLst/>
          </a:prstGeom>
          <a:solidFill>
            <a:srgbClr val="9A3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?????????</a:t>
            </a:r>
          </a:p>
        </p:txBody>
      </p:sp>
      <p:sp>
        <p:nvSpPr>
          <p:cNvPr id="909" name="FooterBand"/>
          <p:cNvSpPr/>
          <p:nvPr/>
        </p:nvSpPr>
        <p:spPr>
          <a:xfrm>
            <a:off x="274320" y="5513831"/>
            <a:ext cx="8595360" cy="90525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They did learn from the failure. They learned how to make the existing system work better.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274320" y="0"/>
            <a:ext cx="8321040" cy="749808"/>
          </a:xfrm>
        </p:spPr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2014–15: Someone outside the system measures reality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0A64256-7292-44E1-BB62-C6E0605EA3D2}" type="slidenum">
              <a:rPr lang="en-US" smtClean="0"/>
              <a:t>10</a:t>
            </a:fld>
            <a:endParaRPr lang="en-US"/>
          </a:p>
        </p:txBody>
      </p:sp>
      <p:sp>
        <p:nvSpPr>
          <p:cNvPr id="901" name="Card"/>
          <p:cNvSpPr/>
          <p:nvPr/>
        </p:nvSpPr>
        <p:spPr>
          <a:xfrm>
            <a:off x="411480" y="1051560"/>
            <a:ext cx="24688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External road testing</a:t>
            </a:r>
          </a:p>
        </p:txBody>
      </p:sp>
      <p:cxnSp>
        <p:nvCxnSpPr>
          <p:cNvPr id="902" name="Connector 901"/>
          <p:cNvCxnSpPr/>
          <p:nvPr/>
        </p:nvCxnSpPr>
        <p:spPr>
          <a:xfrm>
            <a:off x="2880360" y="1371600"/>
            <a:ext cx="365760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" name="Card"/>
          <p:cNvSpPr/>
          <p:nvPr/>
        </p:nvSpPr>
        <p:spPr>
          <a:xfrm>
            <a:off x="3246120" y="1051560"/>
            <a:ext cx="24688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Regulators</a:t>
            </a:r>
          </a:p>
        </p:txBody>
      </p:sp>
      <p:cxnSp>
        <p:nvCxnSpPr>
          <p:cNvPr id="904" name="Connector 903"/>
          <p:cNvCxnSpPr/>
          <p:nvPr/>
        </p:nvCxnSpPr>
        <p:spPr>
          <a:xfrm>
            <a:off x="5715000" y="1371600"/>
            <a:ext cx="365760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" name="Block"/>
          <p:cNvSpPr/>
          <p:nvPr/>
        </p:nvSpPr>
        <p:spPr>
          <a:xfrm>
            <a:off x="6080760" y="1051560"/>
            <a:ext cx="246888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2015: EPA notice</a:t>
            </a:r>
          </a:p>
        </p:txBody>
      </p:sp>
      <p:sp>
        <p:nvSpPr>
          <p:cNvPr id="906" name="Card"/>
          <p:cNvSpPr/>
          <p:nvPr/>
        </p:nvSpPr>
        <p:spPr>
          <a:xfrm>
            <a:off x="411480" y="2057400"/>
            <a:ext cx="8321040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Engineer James Liang </a:t>
            </a:r>
            <a:r>
              <a:rPr sz="2000" b="0" i="0">
                <a:solidFill>
                  <a:srgbClr val="555960"/>
                </a:solidFill>
              </a:rPr>
              <a:t>pleaded guilty and was sentenced for his role; DOJ records say he helped make the defeat device work and participated in deception of regulators.</a:t>
            </a:r>
          </a:p>
        </p:txBody>
      </p:sp>
      <p:sp>
        <p:nvSpPr>
          <p:cNvPr id="907" name="Card"/>
          <p:cNvSpPr/>
          <p:nvPr/>
        </p:nvSpPr>
        <p:spPr>
          <a:xfrm>
            <a:off x="411480" y="3291840"/>
            <a:ext cx="832104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Managers and executives </a:t>
            </a:r>
            <a:r>
              <a:rPr sz="2000" b="0" i="0">
                <a:solidFill>
                  <a:srgbClr val="555960"/>
                </a:solidFill>
              </a:rPr>
              <a:t>were prosecuted or charged.</a:t>
            </a:r>
          </a:p>
        </p:txBody>
      </p:sp>
      <p:sp>
        <p:nvSpPr>
          <p:cNvPr id="908" name="Card"/>
          <p:cNvSpPr/>
          <p:nvPr/>
        </p:nvSpPr>
        <p:spPr>
          <a:xfrm>
            <a:off x="411480" y="4206240"/>
            <a:ext cx="83210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Volkswagen </a:t>
            </a:r>
            <a:r>
              <a:rPr sz="2000" b="0" i="0">
                <a:solidFill>
                  <a:srgbClr val="555960"/>
                </a:solidFill>
              </a:rPr>
              <a:t>pleaded guilty and received a $2.8B U.S. criminal penalty, among other settlements and consequences.</a:t>
            </a:r>
          </a:p>
        </p:txBody>
      </p:sp>
      <p:sp>
        <p:nvSpPr>
          <p:cNvPr id="909" name="FooterBand"/>
          <p:cNvSpPr/>
          <p:nvPr/>
        </p:nvSpPr>
        <p:spPr>
          <a:xfrm>
            <a:off x="274320" y="5513831"/>
            <a:ext cx="8595360" cy="90525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Where does responsibility lie in a failure produced and sustained by many people and mechanisms?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/>
          <a:lstStyle/>
          <a:p>
            <a:pPr algn="ctr"/>
            <a:r>
              <a:rPr sz="4000" b="0" i="0">
                <a:solidFill>
                  <a:srgbClr val="000000"/>
                </a:solidFill>
              </a:rPr>
              <a:t>What theory explains it?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154B390-ECC6-49D6-9ED6-BE29D357C40A}" type="slidenum">
              <a:rPr lang="en-US" smtClean="0"/>
              <a:t>11</a:t>
            </a:fld>
            <a:endParaRPr lang="en-US"/>
          </a:p>
        </p:txBody>
      </p:sp>
      <p:sp>
        <p:nvSpPr>
          <p:cNvPr id="901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</p:spPr>
        <p:txBody>
          <a:bodyPr wrap="square" anchor="ctr" lIns="27432" rIns="27432" tIns="22860" bIns="22860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SECTION 1</a:t>
            </a:r>
          </a:p>
        </p:txBody>
      </p:sp>
      <p:sp>
        <p:nvSpPr>
          <p:cNvPr id="902" name="Question"/>
          <p:cNvSpPr txBox="1"/>
          <p:nvPr/>
        </p:nvSpPr>
        <p:spPr>
          <a:xfrm>
            <a:off x="685800" y="2816352"/>
            <a:ext cx="7772400" cy="475488"/>
          </a:xfrm>
          <a:prstGeom prst="rect">
            <a:avLst/>
          </a:prstGeom>
          <a:noFill/>
        </p:spPr>
        <p:txBody>
          <a:bodyPr wrap="square" anchor="ctr" lIns="27432" rIns="27432" tIns="22860" bIns="22860">
            <a:spAutoFit/>
          </a:bodyPr>
          <a:lstStyle/>
          <a:p>
            <a:pPr algn="ctr"/>
            <a:r>
              <a:rPr sz="2400" b="0" i="0">
                <a:solidFill>
                  <a:srgbClr val="5C4826"/>
                </a:solidFill>
              </a:rPr>
              <a:t>And what does each theory let you change?</a:t>
            </a:r>
          </a:p>
        </p:txBody>
      </p:sp>
      <p:sp>
        <p:nvSpPr>
          <p:cNvPr id="903" name="Rule"/>
          <p:cNvSpPr/>
          <p:nvPr/>
        </p:nvSpPr>
        <p:spPr>
          <a:xfrm>
            <a:off x="3429000" y="3602736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What caused the Volkswagen failure?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DA5A793-673B-41D4-9210-552A38A95064}" type="slidenum">
              <a:rPr lang="en-US" smtClean="0"/>
              <a:t>12</a:t>
            </a:fld>
            <a:endParaRPr lang="en-US"/>
          </a:p>
        </p:txBody>
      </p:sp>
      <p:sp>
        <p:nvSpPr>
          <p:cNvPr id="901" name="Card"/>
          <p:cNvSpPr/>
          <p:nvPr/>
        </p:nvSpPr>
        <p:spPr>
          <a:xfrm>
            <a:off x="914400" y="1188720"/>
            <a:ext cx="7315200" cy="4297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Your answers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555960"/>
                </a:solidFill>
              </a:rPr>
              <a:t>(collected live)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Human error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66BA63C-C0C7-4744-A213-840C7C36C170}" type="slidenum">
              <a:rPr lang="en-US" smtClean="0"/>
              <a:t>13</a:t>
            </a:fld>
            <a:endParaRPr lang="en-US"/>
          </a:p>
        </p:txBody>
      </p:sp>
      <p:sp>
        <p:nvSpPr>
          <p:cNvPr id="901" name="Card"/>
          <p:cNvSpPr/>
          <p:nvPr/>
        </p:nvSpPr>
        <p:spPr>
          <a:xfrm>
            <a:off x="548640" y="1463040"/>
            <a:ext cx="3749039" cy="23774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CAUSAL MODEL</a:t>
            </a:r>
          </a:p>
          <a:p>
            <a:pPr algn="ctr">
              <a:spcBef>
                <a:spcPts val="1200"/>
              </a:spcBef>
            </a:pPr>
            <a:r>
              <a:rPr sz="2000" b="0" i="0">
                <a:solidFill>
                  <a:srgbClr val="555960"/>
                </a:solidFill>
              </a:rPr>
              <a:t>An individual erred.</a:t>
            </a:r>
          </a:p>
        </p:txBody>
      </p:sp>
      <p:cxnSp>
        <p:nvCxnSpPr>
          <p:cNvPr id="902" name="Connector 901"/>
          <p:cNvCxnSpPr/>
          <p:nvPr/>
        </p:nvCxnSpPr>
        <p:spPr>
          <a:xfrm>
            <a:off x="4389120" y="2651760"/>
            <a:ext cx="548640" cy="0"/>
          </a:xfrm>
          <a:prstGeom prst="line">
            <a:avLst/>
          </a:prstGeom>
          <a:ln w="28575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" name="Block"/>
          <p:cNvSpPr/>
          <p:nvPr/>
        </p:nvSpPr>
        <p:spPr>
          <a:xfrm>
            <a:off x="5029200" y="1463040"/>
            <a:ext cx="3566160" cy="23774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ONE INTERVENTION</a:t>
            </a:r>
          </a:p>
          <a:p>
            <a:pPr algn="ctr"/>
            <a:r>
              <a:rPr sz="2000" b="0" i="0">
                <a:solidFill>
                  <a:srgbClr val="FFFFFF"/>
                </a:solidFill>
              </a:rPr>
              <a:t>change the individual</a:t>
            </a:r>
          </a:p>
        </p:txBody>
      </p:sp>
      <p:sp>
        <p:nvSpPr>
          <p:cNvPr id="904" name="FooterBand"/>
          <p:cNvSpPr/>
          <p:nvPr/>
        </p:nvSpPr>
        <p:spPr>
          <a:xfrm>
            <a:off x="274320" y="5852159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Useful, but gives one intervention.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Swiss cheese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501156A-E1E9-4402-8057-F65D8D28B12B}" type="slidenum">
              <a:rPr lang="en-US" smtClean="0"/>
              <a:t>14</a:t>
            </a:fld>
            <a:endParaRPr lang="en-US"/>
          </a:p>
        </p:txBody>
      </p:sp>
      <p:sp>
        <p:nvSpPr>
          <p:cNvPr id="901" name="Slab"/>
          <p:cNvSpPr/>
          <p:nvPr/>
        </p:nvSpPr>
        <p:spPr>
          <a:xfrm>
            <a:off x="1463040" y="1280160"/>
            <a:ext cx="1005840" cy="36576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02" name="Hole"/>
          <p:cNvSpPr/>
          <p:nvPr/>
        </p:nvSpPr>
        <p:spPr>
          <a:xfrm>
            <a:off x="1764792" y="1920240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03" name="Hole"/>
          <p:cNvSpPr/>
          <p:nvPr/>
        </p:nvSpPr>
        <p:spPr>
          <a:xfrm>
            <a:off x="1764792" y="2788920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04" name="Hole"/>
          <p:cNvSpPr/>
          <p:nvPr/>
        </p:nvSpPr>
        <p:spPr>
          <a:xfrm>
            <a:off x="1764792" y="3931920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05" name="Slab"/>
          <p:cNvSpPr/>
          <p:nvPr/>
        </p:nvSpPr>
        <p:spPr>
          <a:xfrm>
            <a:off x="3108960" y="1280160"/>
            <a:ext cx="1005840" cy="36576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06" name="Hole"/>
          <p:cNvSpPr/>
          <p:nvPr/>
        </p:nvSpPr>
        <p:spPr>
          <a:xfrm>
            <a:off x="3410712" y="1737360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07" name="Hole"/>
          <p:cNvSpPr/>
          <p:nvPr/>
        </p:nvSpPr>
        <p:spPr>
          <a:xfrm>
            <a:off x="3410712" y="2788920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08" name="Hole"/>
          <p:cNvSpPr/>
          <p:nvPr/>
        </p:nvSpPr>
        <p:spPr>
          <a:xfrm>
            <a:off x="3410712" y="4297680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09" name="Slab"/>
          <p:cNvSpPr/>
          <p:nvPr/>
        </p:nvSpPr>
        <p:spPr>
          <a:xfrm>
            <a:off x="4754880" y="1280160"/>
            <a:ext cx="1005840" cy="36576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10" name="Hole"/>
          <p:cNvSpPr/>
          <p:nvPr/>
        </p:nvSpPr>
        <p:spPr>
          <a:xfrm>
            <a:off x="5056632" y="1783080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11" name="Hole"/>
          <p:cNvSpPr/>
          <p:nvPr/>
        </p:nvSpPr>
        <p:spPr>
          <a:xfrm>
            <a:off x="5056632" y="2788920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12" name="Hole"/>
          <p:cNvSpPr/>
          <p:nvPr/>
        </p:nvSpPr>
        <p:spPr>
          <a:xfrm>
            <a:off x="5056632" y="3794760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13" name="Slab"/>
          <p:cNvSpPr/>
          <p:nvPr/>
        </p:nvSpPr>
        <p:spPr>
          <a:xfrm>
            <a:off x="6400800" y="1280160"/>
            <a:ext cx="1005840" cy="36576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14" name="Hole"/>
          <p:cNvSpPr/>
          <p:nvPr/>
        </p:nvSpPr>
        <p:spPr>
          <a:xfrm>
            <a:off x="6702552" y="2240280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15" name="Hole"/>
          <p:cNvSpPr/>
          <p:nvPr/>
        </p:nvSpPr>
        <p:spPr>
          <a:xfrm>
            <a:off x="6702552" y="2788920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16" name="Hole"/>
          <p:cNvSpPr/>
          <p:nvPr/>
        </p:nvSpPr>
        <p:spPr>
          <a:xfrm>
            <a:off x="6702552" y="4160520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cxnSp>
        <p:nvCxnSpPr>
          <p:cNvPr id="917" name="Connector 916"/>
          <p:cNvCxnSpPr/>
          <p:nvPr/>
        </p:nvCxnSpPr>
        <p:spPr>
          <a:xfrm>
            <a:off x="548640" y="2990088"/>
            <a:ext cx="7589520" cy="0"/>
          </a:xfrm>
          <a:prstGeom prst="line">
            <a:avLst/>
          </a:prstGeom>
          <a:ln w="31750">
            <a:solidFill>
              <a:srgbClr val="9A3F1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8" name="Label"/>
          <p:cNvSpPr txBox="1"/>
          <p:nvPr/>
        </p:nvSpPr>
        <p:spPr>
          <a:xfrm>
            <a:off x="548640" y="5212080"/>
            <a:ext cx="8046720" cy="45720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2200" b="0" i="0">
                <a:solidFill>
                  <a:srgbClr val="5C4826"/>
                </a:solidFill>
              </a:rPr>
              <a:t>Now defenses and their holes matter.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Organizational causation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5417E77-5F02-4D92-BA7F-030D59DFDABE}" type="slidenum">
              <a:rPr lang="en-US" smtClean="0"/>
              <a:t>15</a:t>
            </a:fld>
            <a:endParaRPr lang="en-US"/>
          </a:p>
        </p:txBody>
      </p:sp>
      <p:sp>
        <p:nvSpPr>
          <p:cNvPr id="901" name="Block"/>
          <p:cNvSpPr/>
          <p:nvPr/>
        </p:nvSpPr>
        <p:spPr>
          <a:xfrm>
            <a:off x="548640" y="2377440"/>
            <a:ext cx="2468880" cy="7315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CONDITIONS</a:t>
            </a:r>
          </a:p>
        </p:txBody>
      </p:sp>
      <p:cxnSp>
        <p:nvCxnSpPr>
          <p:cNvPr id="902" name="Connector 901"/>
          <p:cNvCxnSpPr/>
          <p:nvPr/>
        </p:nvCxnSpPr>
        <p:spPr>
          <a:xfrm>
            <a:off x="3017520" y="2743200"/>
            <a:ext cx="548640" cy="0"/>
          </a:xfrm>
          <a:prstGeom prst="line">
            <a:avLst/>
          </a:prstGeom>
          <a:ln w="28575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" name="Card"/>
          <p:cNvSpPr/>
          <p:nvPr/>
        </p:nvSpPr>
        <p:spPr>
          <a:xfrm>
            <a:off x="3566160" y="2377440"/>
            <a:ext cx="24688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behavior</a:t>
            </a:r>
          </a:p>
        </p:txBody>
      </p:sp>
      <p:cxnSp>
        <p:nvCxnSpPr>
          <p:cNvPr id="904" name="Connector 903"/>
          <p:cNvCxnSpPr/>
          <p:nvPr/>
        </p:nvCxnSpPr>
        <p:spPr>
          <a:xfrm>
            <a:off x="6035040" y="2743200"/>
            <a:ext cx="548640" cy="0"/>
          </a:xfrm>
          <a:prstGeom prst="line">
            <a:avLst/>
          </a:prstGeom>
          <a:ln w="28575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" name="Card"/>
          <p:cNvSpPr/>
          <p:nvPr/>
        </p:nvSpPr>
        <p:spPr>
          <a:xfrm>
            <a:off x="6583680" y="2377440"/>
            <a:ext cx="20116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outcome</a:t>
            </a:r>
          </a:p>
        </p:txBody>
      </p:sp>
      <p:sp>
        <p:nvSpPr>
          <p:cNvPr id="906" name="Label"/>
          <p:cNvSpPr txBox="1"/>
          <p:nvPr/>
        </p:nvSpPr>
        <p:spPr>
          <a:xfrm>
            <a:off x="548640" y="3840480"/>
            <a:ext cx="8046720" cy="45720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2200" b="0" i="0">
                <a:solidFill>
                  <a:srgbClr val="5C4826"/>
                </a:solidFill>
              </a:rPr>
              <a:t>Now conditions shaping behavior matter.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STAMP: Fine, include everything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EE8B33F-6F55-4310-8556-A7B692D2A075}" type="slidenum">
              <a:rPr lang="en-US" smtClean="0"/>
              <a:t>16</a:t>
            </a:fld>
            <a:endParaRPr lang="en-US"/>
          </a:p>
        </p:txBody>
      </p:sp>
      <p:sp>
        <p:nvSpPr>
          <p:cNvPr id="901" name="Block"/>
          <p:cNvSpPr/>
          <p:nvPr/>
        </p:nvSpPr>
        <p:spPr>
          <a:xfrm>
            <a:off x="2926080" y="1188720"/>
            <a:ext cx="329184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REGULATORS</a:t>
            </a:r>
          </a:p>
        </p:txBody>
      </p:sp>
      <p:cxnSp>
        <p:nvCxnSpPr>
          <p:cNvPr id="902" name="Connector 901"/>
          <p:cNvCxnSpPr/>
          <p:nvPr/>
        </p:nvCxnSpPr>
        <p:spPr>
          <a:xfrm>
            <a:off x="4023360" y="1828800"/>
            <a:ext cx="0" cy="36576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" name="Connector 902"/>
          <p:cNvCxnSpPr/>
          <p:nvPr/>
        </p:nvCxnSpPr>
        <p:spPr>
          <a:xfrm flipV="1">
            <a:off x="5120640" y="1828800"/>
            <a:ext cx="0" cy="36576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4" name="Block"/>
          <p:cNvSpPr/>
          <p:nvPr/>
        </p:nvSpPr>
        <p:spPr>
          <a:xfrm>
            <a:off x="2926080" y="2194560"/>
            <a:ext cx="329184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ORGANIZATION</a:t>
            </a:r>
          </a:p>
        </p:txBody>
      </p:sp>
      <p:cxnSp>
        <p:nvCxnSpPr>
          <p:cNvPr id="905" name="Connector 904"/>
          <p:cNvCxnSpPr/>
          <p:nvPr/>
        </p:nvCxnSpPr>
        <p:spPr>
          <a:xfrm>
            <a:off x="4023360" y="2834640"/>
            <a:ext cx="0" cy="36576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6" name="Connector 905"/>
          <p:cNvCxnSpPr/>
          <p:nvPr/>
        </p:nvCxnSpPr>
        <p:spPr>
          <a:xfrm flipV="1">
            <a:off x="5120640" y="2834640"/>
            <a:ext cx="0" cy="36576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7" name="Block"/>
          <p:cNvSpPr/>
          <p:nvPr/>
        </p:nvSpPr>
        <p:spPr>
          <a:xfrm>
            <a:off x="2926080" y="3200400"/>
            <a:ext cx="329184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ENGINEERING</a:t>
            </a:r>
          </a:p>
        </p:txBody>
      </p:sp>
      <p:cxnSp>
        <p:nvCxnSpPr>
          <p:cNvPr id="908" name="Connector 907"/>
          <p:cNvCxnSpPr/>
          <p:nvPr/>
        </p:nvCxnSpPr>
        <p:spPr>
          <a:xfrm>
            <a:off x="4023360" y="3840480"/>
            <a:ext cx="0" cy="36576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9" name="Connector 908"/>
          <p:cNvCxnSpPr/>
          <p:nvPr/>
        </p:nvCxnSpPr>
        <p:spPr>
          <a:xfrm flipV="1">
            <a:off x="5120640" y="3840480"/>
            <a:ext cx="0" cy="36576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0" name="Block"/>
          <p:cNvSpPr/>
          <p:nvPr/>
        </p:nvSpPr>
        <p:spPr>
          <a:xfrm>
            <a:off x="2926080" y="4206240"/>
            <a:ext cx="329184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OPERATING PROCESS</a:t>
            </a:r>
          </a:p>
        </p:txBody>
      </p:sp>
      <p:sp>
        <p:nvSpPr>
          <p:cNvPr id="911" name="Label"/>
          <p:cNvSpPr txBox="1"/>
          <p:nvPr/>
        </p:nvSpPr>
        <p:spPr>
          <a:xfrm>
            <a:off x="411480" y="2377440"/>
            <a:ext cx="2331720" cy="73152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r"/>
            <a:r>
              <a:rPr sz="2000" b="0" i="0">
                <a:solidFill>
                  <a:srgbClr val="555960"/>
                </a:solidFill>
              </a:rPr>
              <a:t>control ↓</a:t>
            </a:r>
          </a:p>
        </p:txBody>
      </p:sp>
      <p:sp>
        <p:nvSpPr>
          <p:cNvPr id="912" name="Label"/>
          <p:cNvSpPr txBox="1"/>
          <p:nvPr/>
        </p:nvSpPr>
        <p:spPr>
          <a:xfrm>
            <a:off x="6400800" y="2377440"/>
            <a:ext cx="2103120" cy="73152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l"/>
            <a:r>
              <a:rPr sz="2000" b="0" i="0">
                <a:solidFill>
                  <a:srgbClr val="555960"/>
                </a:solidFill>
              </a:rPr>
              <a:t>↑ feedback</a:t>
            </a:r>
          </a:p>
        </p:txBody>
      </p:sp>
      <p:sp>
        <p:nvSpPr>
          <p:cNvPr id="913" name="Label"/>
          <p:cNvSpPr txBox="1"/>
          <p:nvPr/>
        </p:nvSpPr>
        <p:spPr>
          <a:xfrm>
            <a:off x="548640" y="5303520"/>
            <a:ext cx="8046720" cy="45720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2200" b="0" i="0">
                <a:solidFill>
                  <a:srgbClr val="5C4826"/>
                </a:solidFill>
              </a:rPr>
              <a:t>Model the entire control structure — every level, every loop.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More complete can become less actionable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081D2A1-8AAE-4C69-B798-CC856F26A35C}" type="slidenum">
              <a:rPr lang="en-US" smtClean="0"/>
              <a:t>17</a:t>
            </a:fld>
            <a:endParaRPr lang="en-US"/>
          </a:p>
        </p:txBody>
      </p:sp>
      <p:sp>
        <p:nvSpPr>
          <p:cNvPr id="901" name="Card"/>
          <p:cNvSpPr/>
          <p:nvPr/>
        </p:nvSpPr>
        <p:spPr>
          <a:xfrm>
            <a:off x="548640" y="2103120"/>
            <a:ext cx="182880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Human error</a:t>
            </a:r>
          </a:p>
        </p:txBody>
      </p:sp>
      <p:sp>
        <p:nvSpPr>
          <p:cNvPr id="902" name="Card"/>
          <p:cNvSpPr/>
          <p:nvPr/>
        </p:nvSpPr>
        <p:spPr>
          <a:xfrm>
            <a:off x="2624328" y="2103120"/>
            <a:ext cx="182880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Swiss cheese</a:t>
            </a:r>
          </a:p>
        </p:txBody>
      </p:sp>
      <p:sp>
        <p:nvSpPr>
          <p:cNvPr id="903" name="Card"/>
          <p:cNvSpPr/>
          <p:nvPr/>
        </p:nvSpPr>
        <p:spPr>
          <a:xfrm>
            <a:off x="4700016" y="2103120"/>
            <a:ext cx="182880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Organizational</a:t>
            </a:r>
          </a:p>
        </p:txBody>
      </p:sp>
      <p:sp>
        <p:nvSpPr>
          <p:cNvPr id="904" name="Card"/>
          <p:cNvSpPr/>
          <p:nvPr/>
        </p:nvSpPr>
        <p:spPr>
          <a:xfrm>
            <a:off x="6775704" y="2103120"/>
            <a:ext cx="182880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STAMP</a:t>
            </a:r>
          </a:p>
        </p:txBody>
      </p:sp>
      <p:cxnSp>
        <p:nvCxnSpPr>
          <p:cNvPr id="905" name="Connector 904"/>
          <p:cNvCxnSpPr/>
          <p:nvPr/>
        </p:nvCxnSpPr>
        <p:spPr>
          <a:xfrm>
            <a:off x="548640" y="3383280"/>
            <a:ext cx="8001000" cy="0"/>
          </a:xfrm>
          <a:prstGeom prst="line">
            <a:avLst/>
          </a:prstGeom>
          <a:ln w="28575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" name="Label"/>
          <p:cNvSpPr txBox="1"/>
          <p:nvPr/>
        </p:nvSpPr>
        <p:spPr>
          <a:xfrm>
            <a:off x="548640" y="3520440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more complete →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Match the causal model to the locus of control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19A40B-0D44-4B8E-9931-7BD3CA1819BF}" type="slidenum">
              <a:rPr lang="en-US" smtClean="0"/>
              <a:t>18</a:t>
            </a:fld>
            <a:endParaRPr lang="en-US"/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731520" y="1280160"/>
          <a:ext cx="7680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5029200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CAUSAL MODEL</a:t>
                      </a:r>
                    </a:p>
                  </a:txBody>
                  <a:tcPr anchor="ctr" marL="54864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THE LEVER IT HANDS YOU</a:t>
                      </a:r>
                    </a:p>
                  </a:txBody>
                  <a:tcPr anchor="ctr" marL="54864">
                    <a:solidFill>
                      <a:srgbClr val="8E6F3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 i="0">
                          <a:solidFill>
                            <a:srgbClr val="5C4826"/>
                          </a:solidFill>
                        </a:rPr>
                        <a:t>Human error</a:t>
                      </a:r>
                    </a:p>
                  </a:txBody>
                  <a:tcPr anchor="ctr" marL="54864"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an individual's behavior</a:t>
                      </a:r>
                    </a:p>
                  </a:txBody>
                  <a:tcPr anchor="ctr" marL="54864">
                    <a:solidFill>
                      <a:srgbClr val="F5F1E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 i="0">
                          <a:solidFill>
                            <a:srgbClr val="5C4826"/>
                          </a:solidFill>
                        </a:rPr>
                        <a:t>Swiss cheese</a:t>
                      </a:r>
                    </a:p>
                  </a:txBody>
                  <a:tcPr anchor="ctr" marL="54864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the set of defenses</a:t>
                      </a:r>
                    </a:p>
                  </a:txBody>
                  <a:tcPr anchor="ctr" marL="54864">
                    <a:solidFill>
                      <a:srgbClr val="FBF8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 i="0">
                          <a:solidFill>
                            <a:srgbClr val="5C4826"/>
                          </a:solidFill>
                        </a:rPr>
                        <a:t>Organizational</a:t>
                      </a:r>
                    </a:p>
                  </a:txBody>
                  <a:tcPr anchor="ctr" marL="54864"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the conditions that shape behavior</a:t>
                      </a:r>
                    </a:p>
                  </a:txBody>
                  <a:tcPr anchor="ctr" marL="54864">
                    <a:solidFill>
                      <a:srgbClr val="F5F1E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 i="0">
                          <a:solidFill>
                            <a:srgbClr val="5C4826"/>
                          </a:solidFill>
                        </a:rPr>
                        <a:t>STAMP</a:t>
                      </a:r>
                    </a:p>
                  </a:txBody>
                  <a:tcPr anchor="ctr" marL="54864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the whole control structure</a:t>
                      </a:r>
                    </a:p>
                  </a:txBody>
                  <a:tcPr anchor="ctr" marL="54864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902" name="FooterBand"/>
          <p:cNvSpPr/>
          <p:nvPr/>
        </p:nvSpPr>
        <p:spPr>
          <a:xfrm>
            <a:off x="274320" y="5852159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Choose the model whose levers you actually hold.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8577</TotalTime>
  <Words>7265</Words>
  <Application>Microsoft Macintosh PowerPoint</Application>
  <PresentationFormat>On-screen Show (4:3)</PresentationFormat>
  <Paragraphs>623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Calibri</vt:lpstr>
      <vt:lpstr>Consolas</vt:lpstr>
      <vt:lpstr>Times</vt:lpstr>
      <vt:lpstr>Purdue1</vt:lpstr>
      <vt:lpstr>PowerPoint Presentation</vt:lpstr>
      <vt:lpstr>The Master Equation: Alignment adds a check</vt:lpstr>
      <vt:lpstr>Vibe-code a todo list</vt:lpstr>
      <vt:lpstr>Does it work?</vt:lpstr>
      <vt:lpstr>Validation meets Delegation</vt:lpstr>
      <vt:lpstr>Bounding delegated work</vt:lpstr>
      <vt:lpstr>Delegation bounds the task and the process</vt:lpstr>
      <vt:lpstr>Give it a work order</vt:lpstr>
      <vt:lpstr>Bound the consequential degrees of freedom</vt:lpstr>
      <vt:lpstr>How can delegated work fail?</vt:lpstr>
      <vt:lpstr>Either bound can be violated</vt:lpstr>
      <vt:lpstr>Wrong result</vt:lpstr>
      <vt:lpstr>Wrong process can fail in different ways</vt:lpstr>
      <vt:lpstr>From failures to controls</vt:lpstr>
      <vt:lpstr>Prevent or detect?</vt:lpstr>
      <vt:lpstr>Four roles in a control system</vt:lpstr>
      <vt:lpstr>Alignment gives validation judgments consequences</vt:lpstr>
      <vt:lpstr>Check it where you can know</vt:lpstr>
      <vt:lpstr>Where can you decide?</vt:lpstr>
      <vt:lpstr>Earlier is not always possible</vt:lpstr>
      <vt:lpstr>Stretch break</vt:lpstr>
      <vt:lpstr>Models as validation surfaces</vt:lpstr>
      <vt:lpstr>Recall Modeling Lab, Activity 1</vt:lpstr>
      <vt:lpstr>Models give us something to check against</vt:lpstr>
      <vt:lpstr>Check correspondence statically</vt:lpstr>
      <vt:lpstr>Check correspondence dynamically</vt:lpstr>
      <vt:lpstr>Alignment helps us answer just one of three questions</vt:lpstr>
      <vt:lpstr>Exercise</vt:lpstr>
      <vt:lpstr>Back to the lab: Design the Alignment</vt:lpstr>
      <vt:lpstr>Report-out: Compare your Alignment approaches</vt:lpstr>
      <vt:lpstr>In closing: How do you supervise your delegation?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438</cp:revision>
  <dcterms:created xsi:type="dcterms:W3CDTF">2020-02-21T23:00:33Z</dcterms:created>
  <dcterms:modified xsi:type="dcterms:W3CDTF">2026-10-08T03:06:19Z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