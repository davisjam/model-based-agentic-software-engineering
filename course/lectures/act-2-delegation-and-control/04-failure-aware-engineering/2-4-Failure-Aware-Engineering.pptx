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86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29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Title only - almost nothing else on this slide, on purpose.</a:t>
            </a:r>
          </a:p>
          <a:p>
            <a:r>
              <a:t>The thesis of the unit, for you (do not say it yet): failure produces evidence; analyze it into a lesson; then, when the lesson is stable and consequential enough, move the judgment into the engineering environment so future engineers do not have to make the same judgment again.</a:t>
            </a:r>
          </a:p>
          <a:p>
            <a:r>
              <a:t>The first ~15 minutes are a progressive reveal of one real case. Do not sanitize it into "engineers objected, managers ignored them" - the documented story is murkier than that, which is exactly why it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Show the requirement change visually; not much prose.</a:t>
            </a:r>
          </a:p>
          <a:p>
            <a:r>
              <a:t>- CAVEAT (sourcing): EPA warns that direct Tier 1/Tier 2 comparisons are complicated by averaging and other program features; 0.07 g/mi was the Tier 2 bin to which the affected Jetta diesels were certified.</a:t>
            </a:r>
          </a:p>
          <a:p>
            <a:r>
              <a:t>- ASK the footer question. Expected recall from Act I: requirements, specification, architecture, design, validation. Good Act I recall.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Reveal the product ambition: clean diesel = emissions + performance + customer demand, all at once.</a:t>
            </a:r>
          </a:p>
          <a:p>
            <a:r>
              <a:t>- The footer question is already a requirements / design / authority question. Let several students answer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Reveal test recognition: one software path under the regulatory test, another on the road.</a:t>
            </a:r>
          </a:p>
          <a:p>
            <a:r>
              <a:t>- ASK simply: What failed? Let them say ethics, engineer, process, whatever. Do not resolve it - the question returns, identical, twice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This slide uses the actual plea-agreement fact, which is stronger than the later press accounts.</a:t>
            </a:r>
          </a:p>
          <a:p>
            <a:r>
              <a:t>- DISCUSS the italic question. There is not supposed to be a clean classroom answer.</a:t>
            </a:r>
          </a:p>
          <a:p>
            <a:r>
              <a:t>- The footer question is deliberately identical to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This is where the story becomes uncomfortable in the useful way.</a:t>
            </a:r>
          </a:p>
          <a:p>
            <a:r>
              <a:t>- DISCUSS the footer question. "One unethical programmer" becomes an increasingly implausible causal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Ask again, in exactly the same words: What failed?</a:t>
            </a:r>
          </a:p>
          <a:p>
            <a:r>
              <a:t>- The question is identical on the software slide, the objection slide, and this one. The changing answer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Show scale and repetition rather than another moral discussion.</a:t>
            </a:r>
          </a:p>
          <a:p>
            <a:r>
              <a:t>- ASK the footer question - it seeds governance conversion at minute 10.</a:t>
            </a:r>
          </a:p>
          <a:p>
            <a:r>
              <a:t>- DO NOT answer it yet. It is answered in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The first really explicit Failure-Aware Engineering moment: failure -&gt; new evidence -&gt; interpretation -&gt; ?</a:t>
            </a:r>
          </a:p>
          <a:p>
            <a:r>
              <a:t>- They DID learn from the failure - they learned how to make the existing system work better. Devastatingly useful pedagogically: learning from failure is not enough. The obligation against which the lesson is evaluated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Only now disclose the eventual scale and consequences.</a:t>
            </a:r>
          </a:p>
          <a:p>
            <a:r>
              <a:t>- DO NOT ask "why were engineers not held responsible?" - the premise is false. Liang pleaded guilty and was sentenced; managers and executives were prosecuted or charged; VW pleaded guilty to a $2.8B U.S. criminal penalty.</a:t>
            </a:r>
          </a:p>
          <a:p>
            <a:r>
              <a:t>- ASK the footer question instead. It is genuinely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6E3789-B5D4-4D26-A238-A73BD05DD330}" type="slidenum">
              <a:rPr lang="en-US" smtClean="0"/>
              <a:t>1</a:t>
            </a:fld>
            <a:endParaRPr lang="en-US"/>
          </a:p>
        </p:txBody>
      </p:sp>
      <p:sp>
        <p:nvSpPr>
          <p:cNvPr id="901" name="Header"/>
          <p:cNvSpPr/>
          <p:nvPr/>
        </p:nvSpPr>
        <p:spPr>
          <a:xfrm>
            <a:off x="438912" y="566928"/>
            <a:ext cx="8266175" cy="1197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Software Engineering</a:t>
            </a:r>
          </a:p>
          <a:p>
            <a:pPr algn="ctr"/>
            <a:r>
              <a:rPr sz="2000" b="0" i="0">
                <a:solidFill>
                  <a:srgbClr val="000000"/>
                </a:solidFill>
              </a:rPr>
              <a:t>ECE 30861 / CSCI 45000</a:t>
            </a:r>
          </a:p>
        </p:txBody>
      </p:sp>
      <p:sp>
        <p:nvSpPr>
          <p:cNvPr id="902" name="TitleBlock"/>
          <p:cNvSpPr txBox="1"/>
          <p:nvPr/>
        </p:nvSpPr>
        <p:spPr>
          <a:xfrm>
            <a:off x="219456" y="1920240"/>
            <a:ext cx="8695944" cy="214884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Failure-Aware Engineering</a:t>
            </a:r>
          </a:p>
          <a:p>
            <a:pPr algn="ctr">
              <a:spcBef>
                <a:spcPts val="1800"/>
              </a:spcBef>
            </a:pPr>
            <a:r>
              <a:rPr sz="2000" b="0" i="0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0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1999: The obligation changes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55AE75C-AB6C-4125-BFE9-406CA83A7CFB}" type="slidenum">
              <a:rPr lang="en-US" smtClean="0"/>
              <a:t>2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822960" y="1463040"/>
            <a:ext cx="301752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U.S. Tier 1</a:t>
            </a:r>
          </a:p>
          <a:p>
            <a:pPr algn="ctr">
              <a:spcBef>
                <a:spcPts val="2200"/>
              </a:spcBef>
            </a:pPr>
            <a:r>
              <a:rPr sz="2800" b="1" i="0">
                <a:solidFill>
                  <a:srgbClr val="5C4826"/>
                </a:solidFill>
              </a:rPr>
              <a:t>NOx ≈ 1.25 g/mi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3977639" y="2331720"/>
            <a:ext cx="731521" cy="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4846320" y="1463040"/>
            <a:ext cx="301752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U.S. Tier 2</a:t>
            </a:r>
          </a:p>
          <a:p>
            <a:pPr algn="ctr">
              <a:spcBef>
                <a:spcPts val="2200"/>
              </a:spcBef>
            </a:pPr>
            <a:r>
              <a:rPr sz="2800" b="1" i="0">
                <a:solidFill>
                  <a:srgbClr val="9A3F12"/>
                </a:solidFill>
              </a:rPr>
              <a:t>0.07 g/mi</a:t>
            </a:r>
          </a:p>
        </p:txBody>
      </p:sp>
      <p:cxnSp>
        <p:nvCxnSpPr>
          <p:cNvPr id="904" name="Connector 903"/>
          <p:cNvCxnSpPr/>
          <p:nvPr/>
        </p:nvCxnSpPr>
        <p:spPr>
          <a:xfrm flipV="1">
            <a:off x="6355080" y="3337560"/>
            <a:ext cx="0" cy="5943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Label"/>
          <p:cNvSpPr txBox="1"/>
          <p:nvPr/>
        </p:nvSpPr>
        <p:spPr>
          <a:xfrm>
            <a:off x="4572000" y="4023360"/>
            <a:ext cx="3566160" cy="41148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VW must engineer for this world</a:t>
            </a:r>
          </a:p>
        </p:txBody>
      </p:sp>
      <p:sp>
        <p:nvSpPr>
          <p:cNvPr id="906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engineering activities should this regulatory change affect?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2006: Volkswagen has a problem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BDC517-05B0-4E8B-A3B4-B370FFB86ED8}" type="slidenum">
              <a:rPr lang="en-US" smtClean="0"/>
              <a:t>3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CLEAN DIESEL</a:t>
            </a:r>
          </a:p>
        </p:txBody>
      </p:sp>
      <p:cxnSp>
        <p:nvCxnSpPr>
          <p:cNvPr id="902" name="Connector 901"/>
          <p:cNvCxnSpPr/>
          <p:nvPr/>
        </p:nvCxnSpPr>
        <p:spPr>
          <a:xfrm flipH="1">
            <a:off x="1737360" y="1828800"/>
            <a:ext cx="283464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411479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emissions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4572000" y="1828800"/>
            <a:ext cx="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Card"/>
          <p:cNvSpPr/>
          <p:nvPr/>
        </p:nvSpPr>
        <p:spPr>
          <a:xfrm>
            <a:off x="3246120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performance</a:t>
            </a:r>
          </a:p>
        </p:txBody>
      </p:sp>
      <p:cxnSp>
        <p:nvCxnSpPr>
          <p:cNvPr id="906" name="Connector 905"/>
          <p:cNvCxnSpPr/>
          <p:nvPr/>
        </p:nvCxnSpPr>
        <p:spPr>
          <a:xfrm>
            <a:off x="4572000" y="1828800"/>
            <a:ext cx="2834640" cy="54864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" name="Card"/>
          <p:cNvSpPr/>
          <p:nvPr/>
        </p:nvSpPr>
        <p:spPr>
          <a:xfrm>
            <a:off x="6080759" y="2377440"/>
            <a:ext cx="26517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customer demand</a:t>
            </a:r>
          </a:p>
        </p:txBody>
      </p:sp>
      <p:sp>
        <p:nvSpPr>
          <p:cNvPr id="908" name="DojAccount"/>
          <p:cNvSpPr txBox="1"/>
          <p:nvPr/>
        </p:nvSpPr>
        <p:spPr>
          <a:xfrm>
            <a:off x="548640" y="3566160"/>
            <a:ext cx="8046720" cy="118872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DOJ's account: </a:t>
            </a:r>
            <a:r>
              <a:rPr sz="2000" b="0" i="0">
                <a:solidFill>
                  <a:srgbClr val="555960"/>
                </a:solidFill>
              </a:rPr>
              <a:t>engineers found they could not produce the desired engine that both met the stricter NOx standards and attracted sufficient U.S. customer demand.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should happen when the engineering cannot satisfy the obligations?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They found a software solution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A37DE62-963E-48C9-8611-6D485901781C}" type="slidenum">
              <a:rPr lang="en-US" smtClean="0"/>
              <a:t>4</a:t>
            </a:fld>
            <a:endParaRPr lang="en-US"/>
          </a:p>
        </p:txBody>
      </p:sp>
      <p:sp>
        <p:nvSpPr>
          <p:cNvPr id="901" name="Block"/>
          <p:cNvSpPr/>
          <p:nvPr/>
        </p:nvSpPr>
        <p:spPr>
          <a:xfrm>
            <a:off x="3566160" y="100584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SOFTWARE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4572000" y="1508760"/>
            <a:ext cx="0" cy="365759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337560" y="1874519"/>
            <a:ext cx="24688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regulatory test?</a:t>
            </a:r>
          </a:p>
        </p:txBody>
      </p:sp>
      <p:cxnSp>
        <p:nvCxnSpPr>
          <p:cNvPr id="904" name="Connector 903"/>
          <p:cNvCxnSpPr/>
          <p:nvPr/>
        </p:nvCxnSpPr>
        <p:spPr>
          <a:xfrm flipH="1">
            <a:off x="2103120" y="2377440"/>
            <a:ext cx="1234440" cy="41148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5806440" y="2377440"/>
            <a:ext cx="868680" cy="41148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Label"/>
          <p:cNvSpPr txBox="1"/>
          <p:nvPr/>
        </p:nvSpPr>
        <p:spPr>
          <a:xfrm>
            <a:off x="1920240" y="2212848"/>
            <a:ext cx="822960" cy="320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YES</a:t>
            </a:r>
          </a:p>
        </p:txBody>
      </p:sp>
      <p:sp>
        <p:nvSpPr>
          <p:cNvPr id="907" name="Label"/>
          <p:cNvSpPr txBox="1"/>
          <p:nvPr/>
        </p:nvSpPr>
        <p:spPr>
          <a:xfrm>
            <a:off x="6355080" y="2212848"/>
            <a:ext cx="731520" cy="320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NO</a:t>
            </a:r>
          </a:p>
        </p:txBody>
      </p:sp>
      <p:sp>
        <p:nvSpPr>
          <p:cNvPr id="908" name="Card"/>
          <p:cNvSpPr/>
          <p:nvPr/>
        </p:nvSpPr>
        <p:spPr>
          <a:xfrm>
            <a:off x="914400" y="2788920"/>
            <a:ext cx="237744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emissions controls</a:t>
            </a:r>
          </a:p>
        </p:txBody>
      </p:sp>
      <p:sp>
        <p:nvSpPr>
          <p:cNvPr id="909" name="Card"/>
          <p:cNvSpPr/>
          <p:nvPr/>
        </p:nvSpPr>
        <p:spPr>
          <a:xfrm>
            <a:off x="5486400" y="2788920"/>
            <a:ext cx="237744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reduced controls</a:t>
            </a:r>
          </a:p>
        </p:txBody>
      </p:sp>
      <p:cxnSp>
        <p:nvCxnSpPr>
          <p:cNvPr id="910" name="Connector 909"/>
          <p:cNvCxnSpPr/>
          <p:nvPr/>
        </p:nvCxnSpPr>
        <p:spPr>
          <a:xfrm>
            <a:off x="2103120" y="32918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6675120" y="3291840"/>
            <a:ext cx="0" cy="36576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" name="Block"/>
          <p:cNvSpPr/>
          <p:nvPr/>
        </p:nvSpPr>
        <p:spPr>
          <a:xfrm>
            <a:off x="1371600" y="3657600"/>
            <a:ext cx="146304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13" name="Block"/>
          <p:cNvSpPr/>
          <p:nvPr/>
        </p:nvSpPr>
        <p:spPr>
          <a:xfrm>
            <a:off x="5394960" y="3657600"/>
            <a:ext cx="2560320" cy="50292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much higher NOx</a:t>
            </a:r>
          </a:p>
        </p:txBody>
      </p:sp>
      <p:sp>
        <p:nvSpPr>
          <p:cNvPr id="914" name="Sources"/>
          <p:cNvSpPr txBox="1"/>
          <p:nvPr/>
        </p:nvSpPr>
        <p:spPr>
          <a:xfrm>
            <a:off x="411480" y="4434840"/>
            <a:ext cx="8321040" cy="12344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EPA: </a:t>
            </a:r>
            <a:r>
              <a:rPr sz="2000" b="0" i="0">
                <a:solidFill>
                  <a:srgbClr val="555960"/>
                </a:solidFill>
              </a:rPr>
              <a:t>the affected vehicles contained software designed to cheat federal emissions tests. </a:t>
            </a:r>
            <a:r>
              <a:rPr sz="2000" b="1" i="0">
                <a:solidFill>
                  <a:srgbClr val="5C4826"/>
                </a:solidFill>
              </a:rPr>
              <a:t>DOJ: </a:t>
            </a:r>
            <a:r>
              <a:rPr sz="2000" b="0" i="0">
                <a:solidFill>
                  <a:srgbClr val="555960"/>
                </a:solidFill>
              </a:rPr>
              <a:t>the documents describe recognition of the published drive cycles, and emissions up to 40 times the applicable standard outside test mode.</a:t>
            </a:r>
          </a:p>
        </p:txBody>
      </p:sp>
      <p:sp>
        <p:nvSpPr>
          <p:cNvPr id="915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Some engineers objected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804328E-D302-45E8-A742-60DF59624496}" type="slidenum">
              <a:rPr lang="en-US" smtClean="0"/>
              <a:t>5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5156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Objection, escalated. </a:t>
            </a:r>
            <a:r>
              <a:rPr sz="2000" b="0" i="0">
                <a:solidFill>
                  <a:srgbClr val="555960"/>
                </a:solidFill>
              </a:rPr>
              <a:t>VW engineers, supported by supervisors, raised objections about the propriety of the defeat device and escalated the issue.</a:t>
            </a:r>
          </a:p>
        </p:txBody>
      </p:sp>
      <p:sp>
        <p:nvSpPr>
          <p:cNvPr id="902" name="Card"/>
          <p:cNvSpPr/>
          <p:nvPr/>
        </p:nvSpPr>
        <p:spPr>
          <a:xfrm>
            <a:off x="411480" y="214884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November 2006. </a:t>
            </a:r>
            <a:r>
              <a:rPr sz="2000" b="0" i="0">
                <a:solidFill>
                  <a:srgbClr val="555960"/>
                </a:solidFill>
              </a:rPr>
              <a:t>The relevant supervisor was briefed on its purpose and design, and decided production should continue.</a:t>
            </a:r>
          </a:p>
        </p:txBody>
      </p:sp>
      <p:sp>
        <p:nvSpPr>
          <p:cNvPr id="903" name="Card"/>
          <p:cNvSpPr/>
          <p:nvPr/>
        </p:nvSpPr>
        <p:spPr>
          <a:xfrm>
            <a:off x="411480" y="3246120"/>
            <a:ext cx="8321040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The plea agreement </a:t>
            </a:r>
            <a:r>
              <a:rPr sz="2000" b="0" i="0">
                <a:solidFill>
                  <a:srgbClr val="555960"/>
                </a:solidFill>
              </a:rPr>
              <a:t>records the instruction, in substance, as </a:t>
            </a:r>
            <a:r>
              <a:rPr sz="2000" b="1" i="0">
                <a:solidFill>
                  <a:srgbClr val="9A3F12"/>
                </a:solidFill>
              </a:rPr>
              <a:t>“not to get caught.”</a:t>
            </a:r>
          </a:p>
        </p:txBody>
      </p:sp>
      <p:sp>
        <p:nvSpPr>
          <p:cNvPr id="904" name="Label"/>
          <p:cNvSpPr txBox="1"/>
          <p:nvPr/>
        </p:nvSpPr>
        <p:spPr>
          <a:xfrm>
            <a:off x="411480" y="4572000"/>
            <a:ext cx="832104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1">
                <a:solidFill>
                  <a:srgbClr val="8E6F3E"/>
                </a:solidFill>
              </a:rPr>
              <a:t>Was raising the concern the end of those engineers’ professional responsibility?</a:t>
            </a:r>
          </a:p>
        </p:txBody>
      </p:sp>
      <p:sp>
        <p:nvSpPr>
          <p:cNvPr id="905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And yet engineers kept engineering it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3BFF32-1C9F-4A02-9534-4892B77E7903}" type="slidenum">
              <a:rPr lang="en-US" smtClean="0"/>
              <a:t>6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97280"/>
            <a:ext cx="8321040" cy="14173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Not a rogue ten-line hack. </a:t>
            </a:r>
            <a:r>
              <a:rPr sz="2000" b="0" i="0">
                <a:solidFill>
                  <a:srgbClr val="555960"/>
                </a:solidFill>
              </a:rPr>
              <a:t>The defeat device required engineering, calibration, integration, certification work, and continued maintenance.</a:t>
            </a:r>
          </a:p>
        </p:txBody>
      </p:sp>
      <p:sp>
        <p:nvSpPr>
          <p:cNvPr id="902" name="Card"/>
          <p:cNvSpPr/>
          <p:nvPr/>
        </p:nvSpPr>
        <p:spPr>
          <a:xfrm>
            <a:off x="411480" y="2743200"/>
            <a:ext cx="832104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Delegated, too. </a:t>
            </a:r>
            <a:r>
              <a:rPr sz="2000" b="0" i="0">
                <a:solidFill>
                  <a:srgbClr val="555960"/>
                </a:solidFill>
              </a:rPr>
              <a:t>VW delegated software-development and exhaust-after-treatment work to IAV. An IAV employee prepared documentation for the test-recognition software, and by 2008 an IAV manager knew its purpose and directed continued work.</a:t>
            </a:r>
          </a:p>
        </p:txBody>
      </p:sp>
      <p:sp>
        <p:nvSpPr>
          <p:cNvPr id="903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How many people does it take to get a system like this into 335,000, eventually hundreds of thousands, of U.S. vehicles?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2007: They reconsidered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C380F64-5589-4881-9E79-1E838A302942}" type="slidenum">
              <a:rPr lang="en-US" smtClean="0"/>
              <a:t>7</a:t>
            </a:fld>
            <a:endParaRPr lang="en-US"/>
          </a:p>
        </p:txBody>
      </p:sp>
      <p:sp>
        <p:nvSpPr>
          <p:cNvPr id="901" name="Label"/>
          <p:cNvSpPr txBox="1"/>
          <p:nvPr/>
        </p:nvSpPr>
        <p:spPr>
          <a:xfrm>
            <a:off x="411480" y="1143000"/>
            <a:ext cx="8321040" cy="45720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2200" b="0" i="0">
                <a:solidFill>
                  <a:srgbClr val="5C4826"/>
                </a:solidFill>
              </a:rPr>
              <a:t>More technical problems. Internal disagreement. A contentious October 2007 meeting.</a:t>
            </a:r>
          </a:p>
        </p:txBody>
      </p:sp>
      <p:sp>
        <p:nvSpPr>
          <p:cNvPr id="902" name="Block"/>
          <p:cNvSpPr/>
          <p:nvPr/>
        </p:nvSpPr>
        <p:spPr>
          <a:xfrm>
            <a:off x="3017520" y="2103120"/>
            <a:ext cx="3108960" cy="86868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Result: PROCEED</a:t>
            </a:r>
          </a:p>
        </p:txBody>
      </p:sp>
      <p:sp>
        <p:nvSpPr>
          <p:cNvPr id="903" name="Doj"/>
          <p:cNvSpPr txBox="1"/>
          <p:nvPr/>
        </p:nvSpPr>
        <p:spPr>
          <a:xfrm>
            <a:off x="411480" y="3474720"/>
            <a:ext cx="8321040" cy="118872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DOJ: </a:t>
            </a:r>
            <a:r>
              <a:rPr sz="2000" b="0" i="0">
                <a:solidFill>
                  <a:srgbClr val="555960"/>
                </a:solidFill>
              </a:rPr>
              <a:t>the supervisor authorized the project despite knowing that only the defeat device would allow the vehicles to pass the U.S. tests.</a:t>
            </a:r>
          </a:p>
        </p:txBody>
      </p:sp>
      <p:sp>
        <p:nvSpPr>
          <p:cNvPr id="904" name="FooterBand"/>
          <p:cNvSpPr/>
          <p:nvPr/>
        </p:nvSpPr>
        <p:spPr>
          <a:xfrm>
            <a:off x="274320" y="5852159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What failed?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4320" y="0"/>
            <a:ext cx="8321040" cy="749808"/>
          </a:xfrm>
        </p:spPr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2009–2016: The engineering system keeps producing the result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2CCAD70-5FE6-481C-AFBB-4BE502F26105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411480" y="1280160"/>
          <a:ext cx="83210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MODEL YEAR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2009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2010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2011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2012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2013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2014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2015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</a:rPr>
                        <a:t>2016</a:t>
                      </a:r>
                    </a:p>
                  </a:txBody>
                  <a:tcPr anchor="ctr" marL="27432" marR="27432" marT="18288" marB="18288">
                    <a:solidFill>
                      <a:srgbClr val="8E6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CERTIFY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5F1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5C4826"/>
                          </a:solidFill>
                        </a:rPr>
                        <a:t>SELL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5C4826"/>
                          </a:solidFill>
                        </a:rPr>
                        <a:t>✓</a:t>
                      </a:r>
                    </a:p>
                  </a:txBody>
                  <a:tcPr anchor="ctr" marL="27432" marR="27432" marT="18288" marB="18288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902" name="Doj"/>
          <p:cNvSpPr txBox="1"/>
          <p:nvPr/>
        </p:nvSpPr>
        <p:spPr>
          <a:xfrm>
            <a:off x="411480" y="3246120"/>
            <a:ext cx="8321040" cy="146304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The certification was not a one-time failure. </a:t>
            </a:r>
            <a:r>
              <a:rPr sz="2000" b="0" i="0">
                <a:solidFill>
                  <a:srgbClr val="555960"/>
                </a:solidFill>
              </a:rPr>
              <a:t>DOJ: false certifications continued model year after model year, with employees meeting EPA/CARB and concealing the defeat device.</a:t>
            </a:r>
          </a:p>
        </p:txBody>
      </p:sp>
      <p:sp>
        <p:nvSpPr>
          <p:cNvPr id="903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Where could the engineering environment have made the wrong action difficult or impossible?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2012: Reality provides another observation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0B43C42-9F52-4E8B-B110-4C9922864C05}" type="slidenum">
              <a:rPr lang="en-US" smtClean="0"/>
              <a:t>9</a:t>
            </a:fld>
            <a:endParaRPr lang="en-US"/>
          </a:p>
        </p:txBody>
      </p:sp>
      <p:sp>
        <p:nvSpPr>
          <p:cNvPr id="901" name="Facts"/>
          <p:cNvSpPr txBox="1"/>
          <p:nvPr/>
        </p:nvSpPr>
        <p:spPr>
          <a:xfrm>
            <a:off x="365760" y="1097280"/>
            <a:ext cx="4754880" cy="40233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Hardware starts failing.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555960"/>
                </a:solidFill>
              </a:rPr>
              <a:t>Engineers investigate and conclude that additional stress associated with dyno mode may explain the hardware failures. They explain both the diagnosis and the defeat device to management.</a:t>
            </a:r>
          </a:p>
          <a:p>
            <a:pPr algn="l">
              <a:spcBef>
                <a:spcPts val="1200"/>
              </a:spcBef>
            </a:pPr>
            <a:r>
              <a:rPr sz="2000" b="1" i="0">
                <a:solidFill>
                  <a:srgbClr val="5C4826"/>
                </a:solidFill>
              </a:rPr>
              <a:t>And what happens? </a:t>
            </a:r>
            <a:r>
              <a:rPr sz="2000" b="0" i="0">
                <a:solidFill>
                  <a:srgbClr val="555960"/>
                </a:solidFill>
              </a:rPr>
              <a:t>Further concealment — followed eventually by an improved defeat device using steering-wheel-angle recognition.</a:t>
            </a:r>
          </a:p>
        </p:txBody>
      </p:sp>
      <p:sp>
        <p:nvSpPr>
          <p:cNvPr id="902" name="Block"/>
          <p:cNvSpPr/>
          <p:nvPr/>
        </p:nvSpPr>
        <p:spPr>
          <a:xfrm>
            <a:off x="5577840" y="1188720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FAILURE</a:t>
            </a:r>
          </a:p>
        </p:txBody>
      </p:sp>
      <p:cxnSp>
        <p:nvCxnSpPr>
          <p:cNvPr id="903" name="Connector 902"/>
          <p:cNvCxnSpPr/>
          <p:nvPr/>
        </p:nvCxnSpPr>
        <p:spPr>
          <a:xfrm>
            <a:off x="6995160" y="1737360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Block"/>
          <p:cNvSpPr/>
          <p:nvPr/>
        </p:nvSpPr>
        <p:spPr>
          <a:xfrm>
            <a:off x="5577840" y="2121408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NEW EVIDENCE</a:t>
            </a:r>
          </a:p>
        </p:txBody>
      </p:sp>
      <p:cxnSp>
        <p:nvCxnSpPr>
          <p:cNvPr id="905" name="Connector 904"/>
          <p:cNvCxnSpPr/>
          <p:nvPr/>
        </p:nvCxnSpPr>
        <p:spPr>
          <a:xfrm>
            <a:off x="6995160" y="2670048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Block"/>
          <p:cNvSpPr/>
          <p:nvPr/>
        </p:nvSpPr>
        <p:spPr>
          <a:xfrm>
            <a:off x="5577840" y="3054096"/>
            <a:ext cx="28346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INTERPRETATION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6995160" y="3602736"/>
            <a:ext cx="0" cy="384048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Block"/>
          <p:cNvSpPr/>
          <p:nvPr/>
        </p:nvSpPr>
        <p:spPr>
          <a:xfrm>
            <a:off x="5577840" y="3986784"/>
            <a:ext cx="2834640" cy="548640"/>
          </a:xfrm>
          <a:prstGeom prst="rect">
            <a:avLst/>
          </a:prstGeom>
          <a:solidFill>
            <a:srgbClr val="9A3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?????????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They did learn from the failure. They learned how to make the existing system work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74320" y="0"/>
            <a:ext cx="8321040" cy="749808"/>
          </a:xfrm>
        </p:spPr>
        <p:txBody>
          <a:bodyPr/>
          <a:lstStyle/>
          <a:p>
            <a:r>
              <a:rPr sz="2400" b="0" i="0">
                <a:solidFill>
                  <a:srgbClr val="000000"/>
                </a:solidFill>
              </a:rPr>
              <a:t>2014–15: Someone outside the system measures reality</a:t>
            </a:r>
          </a:p>
        </p:txBody>
      </p:sp>
      <p:sp>
        <p:nvSpPr>
          <p:cNvPr id="900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272814A-38F1-4019-9F03-5F3DC73EAF22}" type="slidenum">
              <a:rPr lang="en-US" smtClean="0"/>
              <a:t>10</a:t>
            </a:fld>
            <a:endParaRPr lang="en-US"/>
          </a:p>
        </p:txBody>
      </p:sp>
      <p:sp>
        <p:nvSpPr>
          <p:cNvPr id="901" name="Card"/>
          <p:cNvSpPr/>
          <p:nvPr/>
        </p:nvSpPr>
        <p:spPr>
          <a:xfrm>
            <a:off x="411480" y="1051560"/>
            <a:ext cx="24688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External road testing</a:t>
            </a:r>
          </a:p>
        </p:txBody>
      </p:sp>
      <p:cxnSp>
        <p:nvCxnSpPr>
          <p:cNvPr id="902" name="Connector 901"/>
          <p:cNvCxnSpPr/>
          <p:nvPr/>
        </p:nvCxnSpPr>
        <p:spPr>
          <a:xfrm>
            <a:off x="2880360" y="1371600"/>
            <a:ext cx="36576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" name="Card"/>
          <p:cNvSpPr/>
          <p:nvPr/>
        </p:nvSpPr>
        <p:spPr>
          <a:xfrm>
            <a:off x="3246120" y="1051560"/>
            <a:ext cx="24688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Regulators</a:t>
            </a:r>
          </a:p>
        </p:txBody>
      </p:sp>
      <p:cxnSp>
        <p:nvCxnSpPr>
          <p:cNvPr id="904" name="Connector 903"/>
          <p:cNvCxnSpPr/>
          <p:nvPr/>
        </p:nvCxnSpPr>
        <p:spPr>
          <a:xfrm>
            <a:off x="5715000" y="1371600"/>
            <a:ext cx="36576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" name="Block"/>
          <p:cNvSpPr/>
          <p:nvPr/>
        </p:nvSpPr>
        <p:spPr>
          <a:xfrm>
            <a:off x="6080760" y="1051560"/>
            <a:ext cx="24688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2015: EPA notice</a:t>
            </a:r>
          </a:p>
        </p:txBody>
      </p:sp>
      <p:sp>
        <p:nvSpPr>
          <p:cNvPr id="906" name="Card"/>
          <p:cNvSpPr/>
          <p:nvPr/>
        </p:nvSpPr>
        <p:spPr>
          <a:xfrm>
            <a:off x="411480" y="2057400"/>
            <a:ext cx="832104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Engineer James Liang </a:t>
            </a:r>
            <a:r>
              <a:rPr sz="2000" b="0" i="0">
                <a:solidFill>
                  <a:srgbClr val="555960"/>
                </a:solidFill>
              </a:rPr>
              <a:t>pleaded guilty and was sentenced for his role; DOJ records say he helped make the defeat device work and participated in deception of regulators.</a:t>
            </a:r>
          </a:p>
        </p:txBody>
      </p:sp>
      <p:sp>
        <p:nvSpPr>
          <p:cNvPr id="907" name="Card"/>
          <p:cNvSpPr/>
          <p:nvPr/>
        </p:nvSpPr>
        <p:spPr>
          <a:xfrm>
            <a:off x="411480" y="3291840"/>
            <a:ext cx="83210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Managers and executives </a:t>
            </a:r>
            <a:r>
              <a:rPr sz="2000" b="0" i="0">
                <a:solidFill>
                  <a:srgbClr val="555960"/>
                </a:solidFill>
              </a:rPr>
              <a:t>were prosecuted or charged.</a:t>
            </a:r>
          </a:p>
        </p:txBody>
      </p:sp>
      <p:sp>
        <p:nvSpPr>
          <p:cNvPr id="908" name="Card"/>
          <p:cNvSpPr/>
          <p:nvPr/>
        </p:nvSpPr>
        <p:spPr>
          <a:xfrm>
            <a:off x="411480" y="4206240"/>
            <a:ext cx="83210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Volkswagen </a:t>
            </a:r>
            <a:r>
              <a:rPr sz="2000" b="0" i="0">
                <a:solidFill>
                  <a:srgbClr val="555960"/>
                </a:solidFill>
              </a:rPr>
              <a:t>pleaded guilty and received a $2.8B U.S. criminal penalty, among other settlements and consequences.</a:t>
            </a:r>
          </a:p>
        </p:txBody>
      </p:sp>
      <p:sp>
        <p:nvSpPr>
          <p:cNvPr id="909" name="FooterBand"/>
          <p:cNvSpPr/>
          <p:nvPr/>
        </p:nvSpPr>
        <p:spPr>
          <a:xfrm>
            <a:off x="274320" y="5513831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Where does responsibility lie in a failure produced and sustained by many people and mechanisms?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8577</TotalTime>
  <Words>7265</Words>
  <Application>Microsoft Macintosh PowerPoint</Application>
  <PresentationFormat>On-screen Show (4:3)</PresentationFormat>
  <Paragraphs>623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Consolas</vt:lpstr>
      <vt:lpstr>Times</vt:lpstr>
      <vt:lpstr>Purdue1</vt:lpstr>
      <vt:lpstr>PowerPoint Presentation</vt:lpstr>
      <vt:lpstr>The Master Equation: Alignment adds a check</vt:lpstr>
      <vt:lpstr>Vibe-code a todo list</vt:lpstr>
      <vt:lpstr>Does it work?</vt:lpstr>
      <vt:lpstr>Validation meets Delegation</vt:lpstr>
      <vt:lpstr>Bounding delegated work</vt:lpstr>
      <vt:lpstr>Delegation bounds the task and the process</vt:lpstr>
      <vt:lpstr>Give it a work order</vt:lpstr>
      <vt:lpstr>Bound the consequential degrees of freedom</vt:lpstr>
      <vt:lpstr>How can delegated work fail?</vt:lpstr>
      <vt:lpstr>Either bound can be violated</vt:lpstr>
      <vt:lpstr>Wrong result</vt:lpstr>
      <vt:lpstr>Wrong process can fail in different ways</vt:lpstr>
      <vt:lpstr>From failures to controls</vt:lpstr>
      <vt:lpstr>Prevent or detect?</vt:lpstr>
      <vt:lpstr>Four roles in a control system</vt:lpstr>
      <vt:lpstr>Alignment gives validation judgments consequences</vt:lpstr>
      <vt:lpstr>Check it where you can know</vt:lpstr>
      <vt:lpstr>Where can you decide?</vt:lpstr>
      <vt:lpstr>Earlier is not always possible</vt:lpstr>
      <vt:lpstr>Stretch break</vt:lpstr>
      <vt:lpstr>Models as validation surfaces</vt:lpstr>
      <vt:lpstr>Recall Modeling Lab, Activity 1</vt:lpstr>
      <vt:lpstr>Models give us something to check against</vt:lpstr>
      <vt:lpstr>Check correspondence statically</vt:lpstr>
      <vt:lpstr>Check correspondence dynamically</vt:lpstr>
      <vt:lpstr>Alignment helps us answer just one of three questions</vt:lpstr>
      <vt:lpstr>Exercise</vt:lpstr>
      <vt:lpstr>Back to the lab: Design the Alignment</vt:lpstr>
      <vt:lpstr>Report-out: Compare your Alignment approaches</vt:lpstr>
      <vt:lpstr>In closing: How do you supervise your delegation?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438</cp:revision>
  <dcterms:created xsi:type="dcterms:W3CDTF">2020-02-21T23:00:33Z</dcterms:created>
  <dcterms:modified xsi:type="dcterms:W3CDTF">2026-10-08T03:06:19Z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