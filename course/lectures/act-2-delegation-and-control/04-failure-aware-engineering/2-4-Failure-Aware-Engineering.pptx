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2"/>
  </p:notesMasterIdLst>
  <p:sldIdLst>
    <p:sldId id="256" r:id="rId2"/>
    <p:sldId id="296" r:id="rId3"/>
    <p:sldId id="257" r:id="rId4"/>
    <p:sldId id="258" r:id="rId5"/>
    <p:sldId id="294" r:id="rId6"/>
    <p:sldId id="259" r:id="rId7"/>
    <p:sldId id="260" r:id="rId8"/>
    <p:sldId id="263" r:id="rId10"/>
    <p:sldId id="264" r:id="rId11"/>
    <p:sldId id="265" r:id="rId12"/>
    <p:sldId id="266" r:id="rId13"/>
    <p:sldId id="268" r:id="rId15"/>
    <p:sldId id="269" r:id="rId16"/>
    <p:sldId id="270" r:id="rId17"/>
    <p:sldId id="271" r:id="rId18"/>
    <p:sldId id="272" r:id="rId19"/>
    <p:sldId id="273" r:id="rId20"/>
    <p:sldId id="274" r:id="rId21"/>
    <p:sldId id="295" r:id="rId22"/>
    <p:sldId id="276" r:id="rId24"/>
    <p:sldId id="275" r:id="rId23"/>
    <p:sldId id="280" r:id="rId28"/>
    <p:sldId id="282" r:id="rId30"/>
    <p:sldId id="284" r:id="rId32"/>
    <p:sldId id="283" r:id="rId31"/>
    <p:sldId id="285" r:id="rId33"/>
    <p:sldId id="286" r:id="rId34"/>
    <p:sldId id="297" r:id="rId40"/>
    <p:sldId id="298" r:id="rId39"/>
    <p:sldId id="288" r:id="rId36"/>
    <p:sldId id="289"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55" autoAdjust="0"/>
    <p:restoredTop sz="56164"/>
  </p:normalViewPr>
  <p:slideViewPr>
    <p:cSldViewPr snapToGrid="0" snapToObjects="1">
      <p:cViewPr varScale="1">
        <p:scale>
          <a:sx n="64" d="100"/>
          <a:sy n="64" d="100"/>
        </p:scale>
        <p:origin x="3320"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1.xml"/><Relationship Id="rId24" Type="http://schemas.openxmlformats.org/officeDocument/2006/relationships/slide" Target="slides/slide20.xml"/><Relationship Id="rId28"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5.xml"/><Relationship Id="rId32" Type="http://schemas.openxmlformats.org/officeDocument/2006/relationships/slide" Target="slides/slide24.xml"/><Relationship Id="rId33" Type="http://schemas.openxmlformats.org/officeDocument/2006/relationships/slide" Target="slides/slide26.xml"/><Relationship Id="rId34" Type="http://schemas.openxmlformats.org/officeDocument/2006/relationships/slide" Target="slides/slide27.xml"/><Relationship Id="rId36" Type="http://schemas.openxmlformats.org/officeDocument/2006/relationships/slide" Target="slides/slide29.xml"/><Relationship Id="rId37" Type="http://schemas.openxmlformats.org/officeDocument/2006/relationships/slide" Target="slides/slide32.xml"/><Relationship Id="rId39" Type="http://schemas.openxmlformats.org/officeDocument/2006/relationships/slide" Target="slides/slide31.xml"/><Relationship Id="rId40" Type="http://schemas.openxmlformats.org/officeDocument/2006/relationships/slide" Target="slides/slide3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959-A2AE-FCFC-66C8-633E54A11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40A1C-13B6-B0BE-2733-74163DFF37C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35908C-2C09-9A17-D522-DAA76496CA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B68B070-76AA-7FD2-0902-98FDB1B8609F}"/>
              </a:ext>
            </a:extLst>
          </p:cNvPr>
          <p:cNvSpPr>
            <a:spLocks noGrp="1"/>
          </p:cNvSpPr>
          <p:nvPr>
            <p:ph type="sldNum" sz="quarter" idx="5"/>
          </p:nvPr>
        </p:nvSpPr>
        <p:spPr/>
      </p:sp>
    </p:spTree>
    <p:extLst>
      <p:ext uri="{BB962C8B-B14F-4D97-AF65-F5344CB8AC3E}">
        <p14:creationId xmlns:p14="http://schemas.microsoft.com/office/powerpoint/2010/main" val="4153968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Bosch supplied the engine-control units and engine-management technology used in VW vehicles; such software legitimately controls fuel injection, engine behaviour and emissions systems. The Bosch settlement confirms its role as supplier of the emissions software in the affected VW vehicles.</a:t>
            </a:r>
          </a:p>
          <a:p>
            <a:r>
              <a:t>- VW's implementation used recognition of emissions-test conditions to select different operating behaviour. The supplier/integrator boundary is the structure to point at: responsibilities do not disappear when software crosses an organizational boundary.</a:t>
            </a:r>
          </a:p>
          <a:p>
            <a:r>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t>- Do not spend five minutes on the supplier relationship. The capability/use distinction is what the next slide exploits.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Chronology to narrate - the warning was raised TWICE, in two organizations:</a:t>
            </a:r>
          </a:p>
          <a:p>
            <a:r>
              <a:t>    2006          VW engineers raise concerns; management decides to continue.</a:t>
            </a:r>
          </a:p>
          <a:p>
            <a:r>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t>    Subsequently  Bosch remains implicated in supplying technical support; the companies later face substantial civil settlements.</a:t>
            </a:r>
          </a:p>
          <a:p>
            <a:r>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t>- Not an ethics seminar - the engineering question is what happened AFTER the human control fired. The scale question seeds the causal-model section; "one unethical programmer" becomes an increasingly implausible causal model. Do not let it dominate.</a:t>
            </a:r>
          </a:p>
          <a:p/>
          <a:p>
            <a:r>
              <a:t>OCTOBER 2007 MEETING (folded in from its own slide): DOJ: the supervisor authorized the project despite knowing that only the defeat device would allow the vehicles to pass the U.S. tests.</a:t>
            </a:r>
          </a:p>
          <a:p>
            <a:r>
              <a:t>- The line to land: A decision can be reconsidered and still reproduce the failure.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Transition: the lecture now asks what theory explains what we just saw.</a:t>
            </a:r>
          </a:p>
          <a:p>
            <a:r>
              <a:t>- Four causal models follow; each will be tested against the story.</a:t>
            </a:r>
          </a:p>
          <a:p/>
          <a:p>
            <a:r>
              <a:t>COLLECT LIVE HERE (folded in from its own slide): ask the room what caused the Volkswagen failure and capture answers on the board before advancing. The four theories that follow are the frames their answers will fall into.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 systems-theoretic account: constraints flow down, feedback flows up, from regulators through the organization and engineering to the operating process.</a:t>
            </a:r>
          </a:p>
          <a:p>
            <a:r>
              <a:t>- The control structure crosses company boundaries: Bosch supplies the engine-control capability into the engineering process, and Volkswagen delegated engineering work to IAV. A STAMP model drawn inside one organization's walls misses the control relationships that crossed them - and in this case, that is where much of the action was.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a:p/>
          <a:p>
            <a:r>
              <a:t>WHAT THE RESEARCH ACTUALLY REPORTED (students will not know the controversy): Instagram's own internal research, later reported publicly, examined relationships between Instagram use and teen well-being. Among teenagers who reported body-image concerns, a substantial share associated those feelings with Instagram use; smaller but non-trivial shares linked the product to more serious harms. The findings were correlational and did not establish that the product caused the harm. What makes it an ENGINEERING case is the combination: the company had measured a consequential outcome, the system was behaving as designed, and the question was whether the objectives the system optimized were the right ones. Be careful not to overstate the causal claim — the exercise is about which failure model you would apply and what evidence you would still need.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a:p/>
          <a:p>
            <a:r>
              <a:t>RESIDUAL UNCERTAINTY (carry verbally): Every validation accepts residual uncertainty. An adverse outcome may occur within that uncertainty without making the earlier judgment unreasonable.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Same engineering obligation, different recipient. The agent receives the relevant model and constraint as part of its task context; a check evaluates the resulting change; a gate can refuse admission.</a:t>
            </a:r>
          </a:p>
          <a:p>
            <a:r>
              <a:t>- The distinction between the human and the agent is useful rather than rhetorical. A new engineer may acquire the knowledge through mentorship, review, documentation and experience. An agent requires the relevant context to be supplied or retrieved DURING its work.</a:t>
            </a:r>
          </a:p>
          <a:p>
            <a:r>
              <a:t>- Both benefit from controls that do not depend entirely on the recipient's memory or judgment. That is the tie back to Delegation (what context must the recipient receive?) and Alignment (what mechanism preserves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THE CENTERPIECE.</a:t>
            </a:r>
          </a:p>
          <a:p>
            <a:r>
              <a:t>- Setup: a team diagnosed two workers both believing they owned the same job, and established an invariant: a worker may modify a job only while holding its current lease generation.</a:t>
            </a:r>
          </a:p>
          <a:p>
            <a:r>
              <a:t>- The original engineers understand it. They may even have documented it. Six months later a new engineer is asked to change recovery behavior.</a:t>
            </a:r>
          </a:p>
          <a:p>
            <a:r>
              <a:t>- ASK THE ROOM: how does that engineer learn the invariant exists?</a:t>
            </a:r>
          </a:p>
          <a:p>
            <a:r>
              <a:t>- Deriving the lesson and DELIVERING it are different engineering problems. Preserving a lesson is not the same as ensuring future work uses it: a requirement can exist without being consulted, a model can be accurate but undiscoverable, a validator can exist without being executed, a gate can run without checking the relevant property.</a:t>
            </a:r>
          </a:p>
          <a:p>
            <a:r>
              <a:t>- The four things the environment must supply are the four roles from Alignment: the authoritative invariant (model), its applicability to THIS work, a way to evaluate the proposed change (validator), and a mechanism that refuses admission when it is violated (gate).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THE WORKED EXAMPLE STARTS HERE and runs to the end of the lecture.</a:t>
            </a:r>
          </a:p>
          <a:p>
            <a:r>
              <a:t>- The incident: a lease timeout let two background workers both believe they owned the same job, so the job was processed twice.</a:t>
            </a:r>
          </a:p>
          <a:p>
            <a:r>
              <a:t>- Walk the three candidate lessons. The first restates the observation. The third is a sweeping claim the evidence cannot carry.</a:t>
            </a:r>
          </a:p>
          <a:p>
            <a:r>
              <a:t>- The middle one is the engineering judgment: it generalizes the MECHANISM (mutation after lease expiry) rather than the surface symptom. That is the skill — ask what causal mechanism can recur, not whether the sentence sounds appropriately cautious.</a:t>
            </a:r>
          </a:p>
          <a:p>
            <a:r>
              <a:t>- Students routinely pick the third because it sounds responsible. Name that.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a:p/>
          <a:p>
            <a:r>
              <a:t>A postmortem carries BOTH accounts: the causal account (what sequence of events and conditions produced the failure) and the reflective account (what we believed, and how we came to believe it). Step 3 is the reflective half.</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Five diagnostic axes, each with its own intervention: was the OBLIGATION missing (nobody committed to the property)? was its REPRESENTATION inadequate (stated only in prose)? was EVIDENCE unavailable (nothing measured it)? was EVALUATION inadequate (measured, but never checked)? was ENFORCEMENT missing (checked, but nothing refused the change)?</a:t>
            </a:r>
          </a:p>
          <a:p>
            <a:r>
              <a:t>- The figure's own caution: a failure is NOT a request for another gate. Diagnose what was missing first — adding a gate when the real gap was representation leaves the class open.</a:t>
            </a:r>
          </a:p>
          <a:p>
            <a:r>
              <a:t>- Run the worker incident through it: the invariant existed in a postmortem (obligation yes, representation weak), nothing evaluated it, nothing enforced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CLOSE.</a:t>
            </a:r>
          </a:p>
          <a:p>
            <a:r>
              <a:t>- Return to 2006: suppose the compliance obligation had lived in the engineering environment — a model, independent validation, a release gate — rather than in what engineers were expected to remember.</a:t>
            </a:r>
          </a:p>
          <a:p>
            <a:r>
              <a:t>- Then the qualification, and do not soften it: governance conversion is not the same as adding gates. An organization that controls its own controls can circumvent them. Authority, incentives and organizational control still matter, which is why the failure model had to reach the locus of control.</a:t>
            </a:r>
          </a:p>
          <a:p>
            <a:r>
              <a:t>- Close on the line. The lecture's practical question was how an engineering organization learns from failure so that the next engineer — or agent — does not repeat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3588E-3E0E-969D-04E5-5B3BF86F0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72012-C195-25C2-4CCC-34FCBA9660F8}"/>
              </a:ext>
            </a:extLst>
          </p:cNvPr>
          <p:cNvSpPr>
            <a:spLocks noGrp="1"/>
          </p:cNvSpPr>
          <p:nvPr>
            <p:ph type="title"/>
          </p:nvPr>
        </p:nvSpPr>
        <p:spPr>
          <a:xfrm>
            <a:off x="685800" y="1700784"/>
            <a:ext cx="7772400" cy="1005840"/>
          </a:xfrm>
        </p:spPr>
        <p:txBody>
          <a:bodyPr/>
          <a:lstStyle/>
          <a:p>
            <a:pPr algn="ctr"/>
            <a:r>
              <a:rPr lang="en-US" sz="4000" b="0" i="0" dirty="0" err="1">
                <a:solidFill>
                  <a:srgbClr val="000000"/>
                </a:solidFill>
              </a:rPr>
              <a:t>Dieselgate</a:t>
            </a:r>
            <a:endParaRPr sz="4000" b="0" i="0" dirty="0">
              <a:solidFill>
                <a:srgbClr val="000000"/>
              </a:solidFill>
            </a:endParaRPr>
          </a:p>
        </p:txBody>
      </p:sp>
      <p:sp>
        <p:nvSpPr>
          <p:cNvPr id="900" name="Slide Number Placeholder 900">
            <a:extLst>
              <a:ext uri="{FF2B5EF4-FFF2-40B4-BE49-F238E27FC236}">
                <a16:creationId xmlns:a16="http://schemas.microsoft.com/office/drawing/2014/main" id="{273C49DF-71AE-BD47-6722-6F26FE016A6C}"/>
              </a:ext>
            </a:extLst>
          </p:cNvPr>
          <p:cNvSpPr>
            <a:spLocks noGrp="1"/>
          </p:cNvSpPr>
          <p:nvPr>
            <p:ph type="sldNum" sz="quarter" idx="4"/>
          </p:nvPr>
        </p:nvSpPr>
        <p:spPr/>
        <p:txBody>
          <a:bodyPr/>
          <a:lstStyle/>
          <a:p>
            <a:fld id="{3B223778-6764-4D81-904E-8786918EE0A1}" type="slidenum">
              <a:rPr lang="en-US" smtClean="0"/>
              <a:t>2</a:t>
            </a:fld>
            <a:endParaRPr lang="en-US"/>
          </a:p>
        </p:txBody>
      </p:sp>
      <p:sp>
        <p:nvSpPr>
          <p:cNvPr id="901" name="SectionLabel">
            <a:extLst>
              <a:ext uri="{FF2B5EF4-FFF2-40B4-BE49-F238E27FC236}">
                <a16:creationId xmlns:a16="http://schemas.microsoft.com/office/drawing/2014/main" id="{E19D95C0-40DF-FE3F-B828-7A1A12931B54}"/>
              </a:ext>
            </a:extLst>
          </p:cNvPr>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a:solidFill>
                  <a:srgbClr val="8E6F3E"/>
                </a:solidFill>
              </a:rPr>
              <a:t>SECTION 1</a:t>
            </a:r>
          </a:p>
        </p:txBody>
      </p:sp>
      <p:sp>
        <p:nvSpPr>
          <p:cNvPr id="902" name="Question">
            <a:extLst>
              <a:ext uri="{FF2B5EF4-FFF2-40B4-BE49-F238E27FC236}">
                <a16:creationId xmlns:a16="http://schemas.microsoft.com/office/drawing/2014/main" id="{7A7FC3EB-FAB1-9607-A9C0-FCF752D7CFF0}"/>
              </a:ext>
            </a:extLst>
          </p:cNvPr>
          <p:cNvSpPr txBox="1"/>
          <p:nvPr/>
        </p:nvSpPr>
        <p:spPr>
          <a:xfrm>
            <a:off x="685800" y="2846347"/>
            <a:ext cx="7772400" cy="415498"/>
          </a:xfrm>
          <a:prstGeom prst="rect">
            <a:avLst/>
          </a:prstGeom>
          <a:noFill/>
        </p:spPr>
        <p:txBody>
          <a:bodyPr wrap="square" lIns="27432" tIns="22860" rIns="27432" bIns="22860" anchor="ctr">
            <a:spAutoFit/>
          </a:bodyPr>
          <a:lstStyle/>
          <a:p>
            <a:pPr algn="ctr"/>
            <a:r>
              <a:rPr lang="en-US" sz="2400" b="0" i="0" dirty="0">
                <a:solidFill>
                  <a:srgbClr val="5C4826"/>
                </a:solidFill>
              </a:rPr>
              <a:t>A walk through an engineering failure</a:t>
            </a:r>
            <a:endParaRPr sz="2400" b="0" i="0" dirty="0">
              <a:solidFill>
                <a:srgbClr val="5C4826"/>
              </a:solidFill>
            </a:endParaRPr>
          </a:p>
        </p:txBody>
      </p:sp>
      <p:sp>
        <p:nvSpPr>
          <p:cNvPr id="903" name="Rule">
            <a:extLst>
              <a:ext uri="{FF2B5EF4-FFF2-40B4-BE49-F238E27FC236}">
                <a16:creationId xmlns:a16="http://schemas.microsoft.com/office/drawing/2014/main" id="{EE6090EC-6EB3-2C9A-65E0-2078C8FFA8F1}"/>
              </a:ext>
            </a:extLst>
          </p:cNvPr>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extLst>
      <p:ext uri="{BB962C8B-B14F-4D97-AF65-F5344CB8AC3E}">
        <p14:creationId xmlns:p14="http://schemas.microsoft.com/office/powerpoint/2010/main" val="2460166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3</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lIns="27432" tIns="22860" rIns="27432" bIns="22860" anchor="t">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lIns="27432" tIns="22860" rIns="27432" bIns="22860" anchor="ctr">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lIns="27432" tIns="22860" rIns="27432" bIns="22860" anchor="t">
            <a:spAutoFit/>
          </a:bodyPr>
          <a:lstStyle/>
          <a:p>
            <a:pPr algn="ctr"/>
            <a:r>
              <a:rPr sz="2000" b="1" i="0">
                <a:solidFill>
                  <a:srgbClr val="9A3F12"/>
                </a:solidFill>
              </a:rPr>
              <a:t>No point satisfied all three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5</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a:p>
            <a:pPr algn="ctr"/>
            <a:r>
              <a:rPr sz="2000" b="1" i="0">
                <a:solidFill>
                  <a:srgbClr val="FFFFFF"/>
                </a:solidFill>
              </a:rPr>
              <a:t>Engine-control software</a:t>
            </a:r>
          </a:p>
        </p:txBody>
      </p:sp>
      <p:sp>
        <p:nvSpPr>
          <p:cNvPr id="2"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4"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lIns="27432" tIns="22860" rIns="27432" bIns="22860" anchor="t">
            <a:spAutoFit/>
          </a:bodyPr>
          <a:lstStyle/>
          <a:p>
            <a:pPr algn="ctr"/>
            <a:r>
              <a:rPr sz="2200" b="0" i="0">
                <a:solidFill>
                  <a:srgbClr val="5C4826"/>
                </a:solidFill>
              </a:rPr>
              <a:t>The mechanism does not determine how it should be used.</a:t>
            </a:r>
          </a:p>
        </p:txBody>
      </p:sp>
      <p:sp>
        <p:nvSpPr>
          <p:cNvPr id="5" name="Label"/>
          <p:cNvSpPr txBox="1"/>
          <p:nvPr/>
        </p:nvSpPr>
        <p:spPr>
          <a:xfrm>
            <a:off x="411480" y="868680"/>
            <a:ext cx="2240280" cy="1463040"/>
          </a:xfrm>
          <a:prstGeom prst="rect">
            <a:avLst/>
          </a:prstGeom>
          <a:noFill/>
        </p:spPr>
        <p:txBody>
          <a:bodyPr wrap="square" lIns="27432" tIns="22860" rIns="27432" bIns="22860" anchor="t">
            <a:spAutoFit/>
          </a:bodyPr>
          <a:lstStyle/>
          <a:p>
            <a:pPr algn="l"/>
            <a:r>
              <a:rPr sz="2000" b="0" i="1">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Who is responsible for how a supplied capability is used?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6</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lIns="27432" tIns="22860" rIns="27432" bIns="22860" anchor="t">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lIns="27432" tIns="22860" rIns="27432" bIns="22860" anchor="t">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lIns="27432" tIns="22860" rIns="27432" bIns="22860" anchor="t">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wrap="square" rtlCol="0" anchor="ctr"/>
          <a:lstStyle/>
          <a:p>
            <a:endParaRPr sz="2000"/>
          </a:p>
        </p:txBody>
      </p:sp>
      <p:sp>
        <p:nvSpPr>
          <p:cNvPr id="931" name="Label"/>
          <p:cNvSpPr txBox="1"/>
          <p:nvPr/>
        </p:nvSpPr>
        <p:spPr>
          <a:xfrm>
            <a:off x="6446520" y="1371600"/>
            <a:ext cx="2103120" cy="347472"/>
          </a:xfrm>
          <a:prstGeom prst="rect">
            <a:avLst/>
          </a:prstGeom>
          <a:noFill/>
        </p:spPr>
        <p:txBody>
          <a:bodyPr wrap="square" lIns="27432" tIns="22860" rIns="27432" bIns="22860" anchor="t">
            <a:spAutoFit/>
          </a:bodyPr>
          <a:lstStyle/>
          <a:p>
            <a:pPr algn="ctr"/>
            <a:r>
              <a:rPr sz="2000" b="1" i="0">
                <a:solidFill>
                  <a:srgbClr val="9A3F12"/>
                </a:solidFill>
              </a:rPr>
              <a:t>DEFEAT DEVICE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7</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November 2006. </a:t>
            </a:r>
            <a:r>
              <a:rPr sz="2000" b="0" i="0">
                <a:solidFill>
                  <a:srgbClr val="555960"/>
                </a:solidFill>
              </a:rPr>
              <a:t>The supervisor, briefed on its purpose and design, decided production should continue; the plea agreement records the instruction, in substance, as </a:t>
            </a:r>
            <a:r>
              <a:rPr sz="2000" b="1" i="0">
                <a:solidFill>
                  <a:srgbClr val="9A3F12"/>
                </a:solidFill>
              </a:rPr>
              <a:t>“not to get caught.”</a:t>
            </a:r>
          </a:p>
        </p:txBody>
      </p:sp>
      <p:sp>
        <p:nvSpPr>
          <p:cNvPr id="903" name="Card"/>
          <p:cNvSpPr/>
          <p:nvPr/>
        </p:nvSpPr>
        <p:spPr>
          <a:xfrm>
            <a:off x="411480" y="35204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Reconsidered, and continued. October 2007: technical problems and internal disagreement were raised, and the supervisor authorized proceeding. Not a rogue patch — calibration, integration, certification, maintenance, and delegated work.</a:t>
            </a:r>
          </a:p>
        </p:txBody>
      </p:sp>
      <p:sp>
        <p:nvSpPr>
          <p:cNvPr id="904" name="Label"/>
          <p:cNvSpPr txBox="1"/>
          <p:nvPr/>
        </p:nvSpPr>
        <p:spPr>
          <a:xfrm>
            <a:off x="411480" y="4709160"/>
            <a:ext cx="8321040" cy="502920"/>
          </a:xfrm>
          <a:prstGeom prst="rect">
            <a:avLst/>
          </a:prstGeom>
          <a:noFill/>
        </p:spPr>
        <p:txBody>
          <a:bodyPr wrap="square" lIns="27432" tIns="22860" rIns="27432" bIns="22860" anchor="t">
            <a:spAutoFit/>
          </a:bodyPr>
          <a:lstStyle/>
          <a:p>
            <a:pPr algn="ctr"/>
            <a:r>
              <a:rPr sz="2000" b="1" i="0">
                <a:solidFill>
                  <a:srgbClr val="8E6F3E"/>
                </a:solidFill>
              </a:rPr>
              <a:t>How many people does it take to sustain this 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Was escalation enough?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tblGrid>
              <a:tr h="502920">
                <a:tc>
                  <a:txBody>
                    <a:bodyPr/>
                    <a:lstStyle/>
                    <a:p>
                      <a:pPr algn="ctr"/>
                      <a:r>
                        <a:rPr sz="2000" b="1" i="0">
                          <a:solidFill>
                            <a:srgbClr val="FFFFFF"/>
                          </a:solidFill>
                        </a:rPr>
                        <a:t>MODEL YEAR</a:t>
                      </a:r>
                    </a:p>
                  </a:txBody>
                  <a:tcPr marL="27432" marR="27432" marT="18288" marB="18288" anchor="ctr">
                    <a:solidFill>
                      <a:srgbClr val="8E6F3E"/>
                    </a:solidFill>
                  </a:tcPr>
                </a:tc>
                <a:tc>
                  <a:txBody>
                    <a:bodyPr/>
                    <a:lstStyle/>
                    <a:p>
                      <a:pPr algn="ctr"/>
                      <a:r>
                        <a:rPr sz="2000" b="1" i="0">
                          <a:solidFill>
                            <a:srgbClr val="FFFFFF"/>
                          </a:solidFill>
                        </a:rPr>
                        <a:t>2009</a:t>
                      </a:r>
                    </a:p>
                  </a:txBody>
                  <a:tcPr marL="27432" marR="27432" marT="18288" marB="18288" anchor="ctr">
                    <a:solidFill>
                      <a:srgbClr val="8E6F3E"/>
                    </a:solidFill>
                  </a:tcPr>
                </a:tc>
                <a:tc>
                  <a:txBody>
                    <a:bodyPr/>
                    <a:lstStyle/>
                    <a:p>
                      <a:pPr algn="ctr"/>
                      <a:r>
                        <a:rPr sz="2000" b="1" i="0">
                          <a:solidFill>
                            <a:srgbClr val="FFFFFF"/>
                          </a:solidFill>
                        </a:rPr>
                        <a:t>2010</a:t>
                      </a:r>
                    </a:p>
                  </a:txBody>
                  <a:tcPr marL="27432" marR="27432" marT="18288" marB="18288" anchor="ctr">
                    <a:solidFill>
                      <a:srgbClr val="8E6F3E"/>
                    </a:solidFill>
                  </a:tcPr>
                </a:tc>
                <a:tc>
                  <a:txBody>
                    <a:bodyPr/>
                    <a:lstStyle/>
                    <a:p>
                      <a:pPr algn="ctr"/>
                      <a:r>
                        <a:rPr sz="2000" b="1" i="0">
                          <a:solidFill>
                            <a:srgbClr val="FFFFFF"/>
                          </a:solidFill>
                        </a:rPr>
                        <a:t>2011</a:t>
                      </a:r>
                    </a:p>
                  </a:txBody>
                  <a:tcPr marL="27432" marR="27432" marT="18288" marB="18288" anchor="ctr">
                    <a:solidFill>
                      <a:srgbClr val="8E6F3E"/>
                    </a:solidFill>
                  </a:tcPr>
                </a:tc>
                <a:tc>
                  <a:txBody>
                    <a:bodyPr/>
                    <a:lstStyle/>
                    <a:p>
                      <a:pPr algn="ctr"/>
                      <a:r>
                        <a:rPr sz="2000" b="1" i="0">
                          <a:solidFill>
                            <a:srgbClr val="FFFFFF"/>
                          </a:solidFill>
                        </a:rPr>
                        <a:t>2012</a:t>
                      </a:r>
                    </a:p>
                  </a:txBody>
                  <a:tcPr marL="27432" marR="27432" marT="18288" marB="18288" anchor="ctr">
                    <a:solidFill>
                      <a:srgbClr val="8E6F3E"/>
                    </a:solidFill>
                  </a:tcPr>
                </a:tc>
                <a:tc>
                  <a:txBody>
                    <a:bodyPr/>
                    <a:lstStyle/>
                    <a:p>
                      <a:pPr algn="ctr"/>
                      <a:r>
                        <a:rPr sz="2000" b="1" i="0">
                          <a:solidFill>
                            <a:srgbClr val="FFFFFF"/>
                          </a:solidFill>
                        </a:rPr>
                        <a:t>2013</a:t>
                      </a:r>
                    </a:p>
                  </a:txBody>
                  <a:tcPr marL="27432" marR="27432" marT="18288" marB="18288" anchor="ctr">
                    <a:solidFill>
                      <a:srgbClr val="8E6F3E"/>
                    </a:solidFill>
                  </a:tcPr>
                </a:tc>
                <a:tc>
                  <a:txBody>
                    <a:bodyPr/>
                    <a:lstStyle/>
                    <a:p>
                      <a:pPr algn="ctr"/>
                      <a:r>
                        <a:rPr sz="2000" b="1" i="0">
                          <a:solidFill>
                            <a:srgbClr val="FFFFFF"/>
                          </a:solidFill>
                        </a:rPr>
                        <a:t>2014</a:t>
                      </a:r>
                    </a:p>
                  </a:txBody>
                  <a:tcPr marL="27432" marR="27432" marT="18288" marB="18288" anchor="ctr">
                    <a:solidFill>
                      <a:srgbClr val="8E6F3E"/>
                    </a:solidFill>
                  </a:tcPr>
                </a:tc>
                <a:tc>
                  <a:txBody>
                    <a:bodyPr/>
                    <a:lstStyle/>
                    <a:p>
                      <a:pPr algn="ctr"/>
                      <a:r>
                        <a:rPr sz="2000" b="1" i="0">
                          <a:solidFill>
                            <a:srgbClr val="FFFFFF"/>
                          </a:solidFill>
                        </a:rPr>
                        <a:t>2015</a:t>
                      </a:r>
                    </a:p>
                  </a:txBody>
                  <a:tcPr marL="27432" marR="27432" marT="18288" marB="18288" anchor="ctr">
                    <a:solidFill>
                      <a:srgbClr val="8E6F3E"/>
                    </a:solidFill>
                  </a:tcPr>
                </a:tc>
                <a:tc>
                  <a:txBody>
                    <a:bodyPr/>
                    <a:lstStyle/>
                    <a:p>
                      <a:pPr algn="ctr"/>
                      <a:r>
                        <a:rPr sz="2000" b="1" i="0">
                          <a:solidFill>
                            <a:srgbClr val="FFFFFF"/>
                          </a:solidFill>
                        </a:rPr>
                        <a:t>2016</a:t>
                      </a:r>
                    </a:p>
                  </a:txBody>
                  <a:tcPr marL="27432" marR="27432" marT="18288" marB="18288" anchor="ctr">
                    <a:solidFill>
                      <a:srgbClr val="8E6F3E"/>
                    </a:solidFill>
                  </a:tcPr>
                </a:tc>
                <a:extLst>
                  <a:ext uri="{0D108BD9-81ED-4DB2-BD59-A6C34878D82A}">
                    <a16:rowId xmlns:a16="http://schemas.microsoft.com/office/drawing/2014/main" val="10000"/>
                  </a:ext>
                </a:extLst>
              </a:tr>
              <a:tr h="502920">
                <a:tc>
                  <a:txBody>
                    <a:bodyPr/>
                    <a:lstStyle/>
                    <a:p>
                      <a:pPr algn="ctr"/>
                      <a:r>
                        <a:rPr sz="2000" b="1" i="0">
                          <a:solidFill>
                            <a:srgbClr val="5C4826"/>
                          </a:solidFill>
                        </a:rPr>
                        <a:t>CERTIFY</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extLst>
                  <a:ext uri="{0D108BD9-81ED-4DB2-BD59-A6C34878D82A}">
                    <a16:rowId xmlns:a16="http://schemas.microsoft.com/office/drawing/2014/main" val="10001"/>
                  </a:ext>
                </a:extLst>
              </a:tr>
              <a:tr h="502920">
                <a:tc>
                  <a:txBody>
                    <a:bodyPr/>
                    <a:lstStyle/>
                    <a:p>
                      <a:pPr algn="ctr"/>
                      <a:r>
                        <a:rPr sz="2000" b="1" i="0">
                          <a:solidFill>
                            <a:srgbClr val="5C4826"/>
                          </a:solidFill>
                        </a:rPr>
                        <a:t>SELL</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extLst>
                  <a:ext uri="{0D108BD9-81ED-4DB2-BD59-A6C34878D82A}">
                    <a16:rowId xmlns:a16="http://schemas.microsoft.com/office/drawing/2014/main" val="10002"/>
                  </a:ext>
                </a:extLst>
              </a:tr>
            </a:tbl>
          </a:graphicData>
        </a:graphic>
      </p:graphicFrame>
      <p:sp>
        <p:nvSpPr>
          <p:cNvPr id="902" name="Doj"/>
          <p:cNvSpPr txBox="1"/>
          <p:nvPr/>
        </p:nvSpPr>
        <p:spPr>
          <a:xfrm>
            <a:off x="411480" y="3246120"/>
            <a:ext cx="8321040" cy="1463040"/>
          </a:xfrm>
          <a:prstGeom prst="rect">
            <a:avLst/>
          </a:prstGeom>
          <a:noFill/>
        </p:spPr>
        <p:txBody>
          <a:bodyPr wrap="square" lIns="27432" tIns="22860" rIns="27432" bIns="22860" anchor="t">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made this outcome reproducible?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improve the defeat device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2</a:t>
            </a:r>
            <a:endParaRPr sz="2000" b="1" i="0" dirty="0">
              <a:solidFill>
                <a:srgbClr val="8E6F3E"/>
              </a:solidFill>
            </a:endParaRPr>
          </a:p>
        </p:txBody>
      </p:sp>
      <p:sp>
        <p:nvSpPr>
          <p:cNvPr id="902" name="Question"/>
          <p:cNvSpPr txBox="1"/>
          <p:nvPr/>
        </p:nvSpPr>
        <p:spPr>
          <a:xfrm>
            <a:off x="685800" y="2816352"/>
            <a:ext cx="7772400" cy="475488"/>
          </a:xfrm>
          <a:prstGeom prst="rect">
            <a:avLst/>
          </a:prstGeom>
          <a:noFill/>
        </p:spPr>
        <p:txBody>
          <a:bodyPr wrap="square" lIns="27432" tIns="22860" rIns="27432" bIns="22860" anchor="ctr">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conditions shaping behavior matter.</a:t>
            </a:r>
          </a:p>
        </p:txBody>
      </p:sp>
      <p:sp>
        <p:nvSpPr>
          <p:cNvPr id="920" name="Label"/>
          <p:cNvSpPr txBox="1"/>
          <p:nvPr/>
        </p:nvSpPr>
        <p:spPr>
          <a:xfrm>
            <a:off x="274320" y="3200400"/>
            <a:ext cx="3017520" cy="365760"/>
          </a:xfrm>
          <a:prstGeom prst="rect">
            <a:avLst/>
          </a:prstGeom>
          <a:noFill/>
        </p:spPr>
        <p:txBody>
          <a:bodyPr wrap="square" lIns="27432" tIns="22860" rIns="27432" bIns="22860" anchor="t">
            <a:spAutoFit/>
          </a:bodyPr>
          <a:lstStyle/>
          <a:p>
            <a:pPr algn="ctr"/>
            <a:r>
              <a:rPr sz="2000" b="0" i="0">
                <a:solidFill>
                  <a:srgbClr val="555960"/>
                </a:solidFill>
              </a:rPr>
              <a:t>authority · incentives · schedule · ownership</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a:t>
            </a:r>
          </a:p>
        </p:txBody>
      </p:sp>
      <p:sp>
        <p:nvSpPr>
          <p:cNvPr id="2" name="Block"/>
          <p:cNvSpPr/>
          <p:nvPr/>
        </p:nvSpPr>
        <p:spPr>
          <a:xfrm>
            <a:off x="662940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IAV</a:t>
            </a:r>
          </a:p>
        </p:txBody>
      </p:sp>
      <p:sp>
        <p:nvSpPr>
          <p:cNvPr id="4" name="Block"/>
          <p:cNvSpPr/>
          <p:nvPr/>
        </p:nvSpPr>
        <p:spPr>
          <a:xfrm>
            <a:off x="50292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01"/>
          <p:cNvCxnSpPr/>
          <p:nvPr/>
        </p:nvCxnSpPr>
        <p:spPr>
          <a:xfrm>
            <a:off x="621792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01"/>
          <p:cNvCxnSpPr/>
          <p:nvPr/>
        </p:nvCxnSpPr>
        <p:spPr>
          <a:xfrm>
            <a:off x="251460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lIns="27432" tIns="22860" rIns="27432" bIns="22860" anchor="t">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control and feedback across the system matter.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lIns="27432" tIns="22860" rIns="27432" bIns="22860" anchor="t">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lIns="27432" tIns="22860" rIns="27432" bIns="22860" anchor="t">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lIns="27432" tIns="22860" rIns="27432" bIns="22860" anchor="t">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lIns="27432" tIns="22860" rIns="27432" bIns="22860" anchor="t">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lIns="27432" tIns="22860" rIns="27432" bIns="22860" anchor="t">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658368">
                <a:tc>
                  <a:txBody>
                    <a:bodyPr/>
                    <a:lstStyle/>
                    <a:p>
                      <a:pPr algn="l"/>
                      <a:r>
                        <a:rPr sz="2000" b="1" i="0">
                          <a:solidFill>
                            <a:srgbClr val="FFFFFF"/>
                          </a:solidFill>
                        </a:rPr>
                        <a:t>CAUSAL MODEL</a:t>
                      </a:r>
                    </a:p>
                  </a:txBody>
                  <a:tcPr marL="54864" anchor="ctr">
                    <a:solidFill>
                      <a:srgbClr val="8E6F3E"/>
                    </a:solidFill>
                  </a:tcPr>
                </a:tc>
                <a:tc>
                  <a:txBody>
                    <a:bodyPr/>
                    <a:lstStyle/>
                    <a:p>
                      <a:pPr algn="l"/>
                      <a:r>
                        <a:rPr sz="2000" b="1" i="0">
                          <a:solidFill>
                            <a:srgbClr val="FFFFFF"/>
                          </a:solidFill>
                        </a:rPr>
                        <a:t>THE LEVER IT HANDS YOU</a:t>
                      </a:r>
                    </a:p>
                  </a:txBody>
                  <a:tcPr marL="54864" anchor="ctr">
                    <a:solidFill>
                      <a:srgbClr val="8E6F3E"/>
                    </a:solidFill>
                  </a:tcPr>
                </a:tc>
                <a:extLst>
                  <a:ext uri="{0D108BD9-81ED-4DB2-BD59-A6C34878D82A}">
                    <a16:rowId xmlns:a16="http://schemas.microsoft.com/office/drawing/2014/main" val="10000"/>
                  </a:ext>
                </a:extLst>
              </a:tr>
              <a:tr h="658368">
                <a:tc>
                  <a:txBody>
                    <a:bodyPr/>
                    <a:lstStyle/>
                    <a:p>
                      <a:pPr algn="l"/>
                      <a:r>
                        <a:rPr sz="2000" b="1" i="0">
                          <a:solidFill>
                            <a:srgbClr val="5C4826"/>
                          </a:solidFill>
                        </a:rPr>
                        <a:t>Human error</a:t>
                      </a:r>
                    </a:p>
                  </a:txBody>
                  <a:tcPr marL="54864" anchor="ctr">
                    <a:solidFill>
                      <a:srgbClr val="F5F1E8"/>
                    </a:solidFill>
                  </a:tcPr>
                </a:tc>
                <a:tc>
                  <a:txBody>
                    <a:bodyPr/>
                    <a:lstStyle/>
                    <a:p>
                      <a:pPr algn="l"/>
                      <a:r>
                        <a:rPr sz="2000" b="0" i="0">
                          <a:solidFill>
                            <a:srgbClr val="5C4826"/>
                          </a:solidFill>
                        </a:rPr>
                        <a:t>an individual's behavior</a:t>
                      </a:r>
                    </a:p>
                  </a:txBody>
                  <a:tcPr marL="54864" anchor="ctr">
                    <a:solidFill>
                      <a:srgbClr val="F5F1E8"/>
                    </a:solidFill>
                  </a:tcPr>
                </a:tc>
                <a:extLst>
                  <a:ext uri="{0D108BD9-81ED-4DB2-BD59-A6C34878D82A}">
                    <a16:rowId xmlns:a16="http://schemas.microsoft.com/office/drawing/2014/main" val="10001"/>
                  </a:ext>
                </a:extLst>
              </a:tr>
              <a:tr h="658368">
                <a:tc>
                  <a:txBody>
                    <a:bodyPr/>
                    <a:lstStyle/>
                    <a:p>
                      <a:pPr algn="l"/>
                      <a:r>
                        <a:rPr sz="2000" b="1" i="0">
                          <a:solidFill>
                            <a:srgbClr val="5C4826"/>
                          </a:solidFill>
                        </a:rPr>
                        <a:t>Swiss cheese</a:t>
                      </a:r>
                    </a:p>
                  </a:txBody>
                  <a:tcPr marL="54864" anchor="ctr">
                    <a:solidFill>
                      <a:srgbClr val="FBF8F2"/>
                    </a:solidFill>
                  </a:tcPr>
                </a:tc>
                <a:tc>
                  <a:txBody>
                    <a:bodyPr/>
                    <a:lstStyle/>
                    <a:p>
                      <a:pPr algn="l"/>
                      <a:r>
                        <a:rPr sz="2000" b="0" i="0">
                          <a:solidFill>
                            <a:srgbClr val="5C4826"/>
                          </a:solidFill>
                        </a:rPr>
                        <a:t>the set of defenses</a:t>
                      </a:r>
                    </a:p>
                  </a:txBody>
                  <a:tcPr marL="54864" anchor="ctr">
                    <a:solidFill>
                      <a:srgbClr val="FBF8F2"/>
                    </a:solidFill>
                  </a:tcPr>
                </a:tc>
                <a:extLst>
                  <a:ext uri="{0D108BD9-81ED-4DB2-BD59-A6C34878D82A}">
                    <a16:rowId xmlns:a16="http://schemas.microsoft.com/office/drawing/2014/main" val="10002"/>
                  </a:ext>
                </a:extLst>
              </a:tr>
              <a:tr h="658368">
                <a:tc>
                  <a:txBody>
                    <a:bodyPr/>
                    <a:lstStyle/>
                    <a:p>
                      <a:pPr algn="l"/>
                      <a:r>
                        <a:rPr sz="2000" b="1" i="0">
                          <a:solidFill>
                            <a:srgbClr val="5C4826"/>
                          </a:solidFill>
                        </a:rPr>
                        <a:t>Organizational</a:t>
                      </a:r>
                    </a:p>
                  </a:txBody>
                  <a:tcPr marL="54864" anchor="ctr">
                    <a:solidFill>
                      <a:srgbClr val="F5F1E8"/>
                    </a:solidFill>
                  </a:tcPr>
                </a:tc>
                <a:tc>
                  <a:txBody>
                    <a:bodyPr/>
                    <a:lstStyle/>
                    <a:p>
                      <a:pPr algn="l"/>
                      <a:r>
                        <a:rPr sz="2000" b="0" i="0">
                          <a:solidFill>
                            <a:srgbClr val="5C4826"/>
                          </a:solidFill>
                        </a:rPr>
                        <a:t>the conditions that shape behavior</a:t>
                      </a:r>
                    </a:p>
                  </a:txBody>
                  <a:tcPr marL="54864" anchor="ctr">
                    <a:solidFill>
                      <a:srgbClr val="F5F1E8"/>
                    </a:solidFill>
                  </a:tcPr>
                </a:tc>
                <a:extLst>
                  <a:ext uri="{0D108BD9-81ED-4DB2-BD59-A6C34878D82A}">
                    <a16:rowId xmlns:a16="http://schemas.microsoft.com/office/drawing/2014/main" val="10003"/>
                  </a:ext>
                </a:extLst>
              </a:tr>
              <a:tr h="658368">
                <a:tc>
                  <a:txBody>
                    <a:bodyPr/>
                    <a:lstStyle/>
                    <a:p>
                      <a:pPr algn="l"/>
                      <a:r>
                        <a:rPr sz="2000" b="1" i="0">
                          <a:solidFill>
                            <a:srgbClr val="5C4826"/>
                          </a:solidFill>
                        </a:rPr>
                        <a:t>STAMP</a:t>
                      </a:r>
                    </a:p>
                  </a:txBody>
                  <a:tcPr marL="54864" anchor="ctr">
                    <a:solidFill>
                      <a:srgbClr val="FBF8F2"/>
                    </a:solidFill>
                  </a:tcPr>
                </a:tc>
                <a:tc>
                  <a:txBody>
                    <a:bodyPr/>
                    <a:lstStyle/>
                    <a:p>
                      <a:pPr algn="l"/>
                      <a:r>
                        <a:rPr sz="2000" b="0" i="0">
                          <a:solidFill>
                            <a:srgbClr val="5C4826"/>
                          </a:solidFill>
                        </a:rPr>
                        <a:t>the whole control structure</a:t>
                      </a:r>
                    </a:p>
                  </a:txBody>
                  <a:tcPr marL="54864" anchor="ctr">
                    <a:solidFill>
                      <a:srgbClr val="FBF8F2"/>
                    </a:solidFill>
                  </a:tcPr>
                </a:tc>
                <a:extLst>
                  <a:ext uri="{0D108BD9-81ED-4DB2-BD59-A6C34878D82A}">
                    <a16:rowId xmlns:a16="http://schemas.microsoft.com/office/drawing/2014/main" val="10004"/>
                  </a:ext>
                </a:extLst>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theory determines where we look for effective intervention.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91056"/>
          </a:xfrm>
        </p:spPr>
        <p:txBody>
          <a:bodyPr>
            <a:normAutofit/>
          </a:bodyPr>
          <a:lstStyle/>
          <a:p>
            <a:pPr algn="ctr"/>
            <a:r>
              <a:rPr lang="en-US" sz="4000" b="0" i="0" dirty="0">
                <a:solidFill>
                  <a:srgbClr val="000000"/>
                </a:solidFill>
              </a:rPr>
              <a:t>Let’s try ourselves:</a:t>
            </a:r>
            <a:br>
              <a:rPr lang="en-US" sz="4000" b="0" i="0" dirty="0">
                <a:solidFill>
                  <a:srgbClr val="000000"/>
                </a:solidFill>
              </a:rPr>
            </a:br>
            <a:r>
              <a:rPr sz="4000" b="0" i="1" dirty="0">
                <a:solidFill>
                  <a:srgbClr val="000000"/>
                </a:solidFill>
              </a:rPr>
              <a:t>Diagnose </a:t>
            </a:r>
            <a:r>
              <a:rPr lang="en-US" sz="4000" b="0" i="1" dirty="0">
                <a:solidFill>
                  <a:srgbClr val="000000"/>
                </a:solidFill>
              </a:rPr>
              <a:t>a </a:t>
            </a:r>
            <a:r>
              <a:rPr sz="4000" b="0" i="1" dirty="0">
                <a:solidFill>
                  <a:srgbClr val="000000"/>
                </a:solidFill>
              </a:rPr>
              <a:t>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3</a:t>
            </a:r>
            <a:endParaRPr sz="2000" b="1" i="0" dirty="0">
              <a:solidFill>
                <a:srgbClr val="8E6F3E"/>
              </a:solidFill>
            </a:endParaRPr>
          </a:p>
        </p:txBody>
      </p:sp>
      <p:sp>
        <p:nvSpPr>
          <p:cNvPr id="902" name="Question"/>
          <p:cNvSpPr txBox="1"/>
          <p:nvPr/>
        </p:nvSpPr>
        <p:spPr>
          <a:xfrm>
            <a:off x="685800" y="3429000"/>
            <a:ext cx="7772400" cy="475488"/>
          </a:xfrm>
          <a:prstGeom prst="rect">
            <a:avLst/>
          </a:prstGeom>
          <a:noFill/>
        </p:spPr>
        <p:txBody>
          <a:bodyPr wrap="square" lIns="27432" tIns="22860" rIns="27432" bIns="22860" anchor="ctr">
            <a:spAutoFit/>
          </a:bodyPr>
          <a:lstStyle/>
          <a:p>
            <a:pPr algn="ctr"/>
            <a:r>
              <a:rPr sz="2400" b="0" i="0" dirty="0">
                <a:solidFill>
                  <a:srgbClr val="5C4826"/>
                </a:solidFill>
              </a:rPr>
              <a:t>What failed, and why didn't we know?</a:t>
            </a:r>
          </a:p>
        </p:txBody>
      </p:sp>
      <p:sp>
        <p:nvSpPr>
          <p:cNvPr id="903" name="Rule"/>
          <p:cNvSpPr/>
          <p:nvPr/>
        </p:nvSpPr>
        <p:spPr>
          <a:xfrm>
            <a:off x="3429000" y="4215384"/>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system can work as designed and still produce harmful outcomes</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lIns="27432" tIns="22860" rIns="27432" bIns="22860" anchor="t">
            <a:spAutoFit/>
          </a:bodyPr>
          <a:lstStyle/>
          <a:p>
            <a:pPr algn="ctr"/>
            <a:r>
              <a:rPr sz="2200" b="0" i="0">
                <a:solidFill>
                  <a:srgbClr val="5C4826"/>
                </a:solidFill>
              </a:rPr>
              <a:t>The observed outcome raises a question about what the system should optimize, not necessarily whether its implementation was correct.</a:t>
            </a:r>
          </a:p>
        </p:txBody>
      </p:sp>
      <p:sp>
        <p:nvSpPr>
          <p:cNvPr id="909" name="Label"/>
          <p:cNvSpPr txBox="1"/>
          <p:nvPr/>
        </p:nvSpPr>
        <p:spPr>
          <a:xfrm>
            <a:off x="548640" y="4023360"/>
            <a:ext cx="8046720" cy="1005840"/>
          </a:xfrm>
          <a:prstGeom prst="rect">
            <a:avLst/>
          </a:prstGeom>
          <a:noFill/>
        </p:spPr>
        <p:txBody>
          <a:bodyPr wrap="square" lIns="27432" tIns="22860" rIns="27432" bIns="22860" anchor="t">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kind of engineering failure could this be?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Which theory explains the Instagram outcome?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WHICH THEORY?</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a:p>
            <a:pPr algn="ctr"/>
            <a:r>
              <a:rPr sz="2000" b="0" i="0">
                <a:solidFill>
                  <a:srgbClr val="555960"/>
                </a:solidFill>
              </a:rPr>
              <a:t>Decisions by particular engineers, designers, or managers</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a:p>
            <a:pPr algn="ctr"/>
            <a:r>
              <a:rPr sz="2000" b="0" i="0">
                <a:solidFill>
                  <a:srgbClr val="555960"/>
                </a:solidFill>
              </a:rPr>
              <a:t>Which safeguards failed to prevent harmful experiences</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a:p>
            <a:pPr algn="ctr"/>
            <a:r>
              <a:rPr sz="2000" b="0" i="0">
                <a:solidFill>
                  <a:srgbClr val="555960"/>
                </a:solidFill>
              </a:rPr>
              <a:t>How product objectives, incentives, and authority shaped decisions</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a:p>
            <a:pPr algn="ctr"/>
            <a:r>
              <a:rPr sz="2000" b="0" i="0">
                <a:solidFill>
                  <a:srgbClr val="555960"/>
                </a:solidFill>
              </a:rPr>
              <a:t>Whether feedback about harmful outcomes reached product control</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These are hypotheses. Which model would you use, and what further evidence would you need?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failed, and why didn’t we know?</a:t>
            </a:r>
          </a:p>
        </p:txBody>
      </p:sp>
      <p:sp>
        <p:nvSpPr>
          <p:cNvPr id="900" name="Slide Number Placeholder 900"/>
          <p:cNvSpPr>
            <a:spLocks noGrp="1"/>
          </p:cNvSpPr>
          <p:nvPr>
            <p:ph type="sldNum" sz="quarter" idx="4"/>
          </p:nvPr>
        </p:nvSpPr>
        <p:spPr/>
        <p:txBody>
          <a:bodyPr/>
          <a:lstStyle/>
          <a:p>
            <a:fld id="{CB54B3D1-5BA3-40A8-8017-74A0DF3C7182}" type="slidenum">
              <a:rPr lang="en-US" smtClean="0"/>
              <a:t>22</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SPECIFICATION / DESIGN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IMPLEMENTATION</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Were the intended outcomes appropriate?</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the system optimize the right properties?</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it behave as intended?</a:t>
            </a:r>
          </a:p>
        </p:txBody>
      </p:sp>
      <p:sp>
        <p:nvSpPr>
          <p:cNvPr id="923" name="LevelQuestion"/>
          <p:cNvSpPr/>
          <p:nvPr/>
        </p:nvSpPr>
        <p:spPr>
          <a:xfrm>
            <a:off x="3840480" y="37124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did the research establish, and who received it?</a:t>
            </a:r>
          </a:p>
        </p:txBody>
      </p:sp>
      <p:sp>
        <p:nvSpPr>
          <p:cNvPr id="924" name="LevelQuestion"/>
          <p:cNvSpPr/>
          <p:nvPr/>
        </p:nvSpPr>
        <p:spPr>
          <a:xfrm>
            <a:off x="3840480" y="45537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decisions did it inform, and what further evidence was needed?</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failure analysis must examine both the system’s behavior and the engineering decisions that permitted it.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27</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4</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29</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 timeout let two workers both believe they owned the same job, in this execution</a:t>
            </a:r>
          </a:p>
          <a:p>
            <a:pPr algn="ctr"/>
            <a:r>
              <a:rPr sz="2000" b="1" i="0">
                <a:solidFill>
                  <a:srgbClr val="5C4826"/>
                </a:solidFill>
              </a:rPr>
              <a:t>Directly supported</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Any job mutation after a lease expires can double-process</a:t>
            </a:r>
          </a:p>
          <a:p>
            <a:pPr algn="ctr"/>
            <a:r>
              <a:rPr sz="2000" b="1" i="0">
                <a:solidFill>
                  <a:srgbClr val="5C4826"/>
                </a:solidFill>
              </a:rPr>
              <a:t>Plausible — it generalizes the MECHANISM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Every asynchronous operation must be idempotent</a:t>
            </a:r>
          </a:p>
          <a:p>
            <a:pPr algn="ctr"/>
            <a:r>
              <a:rPr sz="2000" b="1" i="0">
                <a:solidFill>
                  <a:srgbClr val="5C4826"/>
                </a:solidFill>
              </a:rPr>
              <a:t>Unsupported generalization</a:t>
            </a:r>
          </a:p>
        </p:txBody>
      </p:sp>
      <p:sp>
        <p:nvSpPr>
          <p:cNvPr id="904" name="Label"/>
          <p:cNvSpPr txBox="1"/>
          <p:nvPr/>
        </p:nvSpPr>
        <p:spPr>
          <a:xfrm>
            <a:off x="731520" y="4754880"/>
            <a:ext cx="7498079" cy="502920"/>
          </a:xfrm>
          <a:prstGeom prst="rect">
            <a:avLst/>
          </a:prstGeom>
          <a:noFill/>
        </p:spPr>
        <p:txBody>
          <a:bodyPr wrap="square" lIns="27432" tIns="22860" rIns="27432" bIns="22860" anchor="t">
            <a:spAutoFit/>
          </a:bodyPr>
          <a:lstStyle/>
          <a:p>
            <a:pPr algn="ctr"/>
            <a:r>
              <a:rPr sz="2200" b="0" i="0">
                <a:solidFill>
                  <a:srgbClr val="5C4826"/>
                </a:solidFill>
              </a:rPr>
              <a:t>The question is which causal mechanism can recur — not whether a claim sounds narrow or broad.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do we establish the lesson?</a:t>
            </a:r>
          </a:p>
        </p:txBody>
      </p:sp>
      <p:sp>
        <p:nvSpPr>
          <p:cNvPr id="900" name="Slide Number Placeholder 900"/>
          <p:cNvSpPr>
            <a:spLocks noGrp="1"/>
          </p:cNvSpPr>
          <p:nvPr>
            <p:ph type="sldNum" sz="quarter" idx="4"/>
          </p:nvPr>
        </p:nvSpPr>
        <p:spPr/>
        <p:txBody>
          <a:bodyPr/>
          <a:lstStyle/>
          <a:p>
            <a:fld id="{F164AA00-212F-409D-8EDE-8F6B572B597D}" type="slidenum">
              <a:rPr lang="en-US" smtClean="0"/>
              <a:t>31</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1   What happened</a:t>
            </a:r>
          </a:p>
          <a:p>
            <a:pPr algn="ctr">
              <a:spcBef>
                <a:spcPts val="1400"/>
              </a:spcBef>
            </a:pPr>
            <a:r>
              <a:rPr sz="2000" b="0" i="0">
                <a:solidFill>
                  <a:srgbClr val="555960"/>
                </a:solidFill>
              </a:rPr>
              <a:t>the sequence of events and conditions</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2   What mechanism produced it</a:t>
            </a:r>
          </a:p>
          <a:p>
            <a:pPr algn="ctr">
              <a:spcBef>
                <a:spcPts val="1400"/>
              </a:spcBef>
            </a:pPr>
            <a:r>
              <a:rPr sz="2000" b="0" i="0">
                <a:solidFill>
                  <a:srgbClr val="555960"/>
                </a:solidFill>
              </a:rPr>
              <a:t>the causal account</a:t>
            </a:r>
          </a:p>
        </p:txBody>
      </p:sp>
      <p:sp>
        <p:nvSpPr>
          <p:cNvPr id="903" name="Label"/>
          <p:cNvSpPr txBox="1"/>
          <p:nvPr/>
        </p:nvSpPr>
        <p:spPr>
          <a:xfrm>
            <a:off x="548640" y="4983480"/>
            <a:ext cx="8046720" cy="502920"/>
          </a:xfrm>
          <a:prstGeom prst="rect">
            <a:avLst/>
          </a:prstGeom>
          <a:noFill/>
        </p:spPr>
        <p:txBody>
          <a:bodyPr wrap="square" lIns="27432" tIns="22860" rIns="27432" bIns="22860" anchor="t">
            <a:spAutoFit/>
          </a:bodyPr>
          <a:lstStyle/>
          <a:p>
            <a:pPr algn="ctr"/>
            <a:r>
              <a:rPr sz="2200" b="0" i="0">
                <a:solidFill>
                  <a:srgbClr val="5C4826"/>
                </a:solidFill>
              </a:rPr>
              <a:t>A defensible lesson is not the same as an attractive retrospective explanation.</a:t>
            </a:r>
          </a:p>
        </p:txBody>
      </p:sp>
      <p:sp>
        <p:nvSpPr>
          <p:cNvPr id="901"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3   What engineers believed, and why</a:t>
            </a:r>
          </a:p>
          <a:p>
            <a:pPr algn="ctr">
              <a:spcBef>
                <a:spcPts val="1400"/>
              </a:spcBef>
            </a:pPr>
            <a:r>
              <a:rPr sz="2000" b="0" i="0">
                <a:solidFill>
                  <a:srgbClr val="555960"/>
                </a:solidFill>
              </a:rPr>
              <a:t>the reflective account</a:t>
            </a:r>
          </a:p>
        </p:txBody>
      </p:sp>
      <p:sp>
        <p:nvSpPr>
          <p:cNvPr id="901"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4   What should change</a:t>
            </a:r>
          </a:p>
          <a:p>
            <a:pPr algn="ctr">
              <a:spcBef>
                <a:spcPts val="1400"/>
              </a:spcBef>
            </a:pPr>
            <a:r>
              <a:rPr sz="2000" b="0" i="0">
                <a:solidFill>
                  <a:srgbClr val="555960"/>
                </a:solidFill>
              </a:rPr>
              <a:t>the defensible lesson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30</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the one interleaving we observed — that execution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LESSON</a:t>
            </a:r>
          </a:p>
          <a:p>
            <a:pPr algn="ctr">
              <a:spcBef>
                <a:spcPts val="1200"/>
              </a:spcBef>
            </a:pPr>
            <a:r>
              <a:rPr sz="2000" b="1" i="0">
                <a:solidFill>
                  <a:srgbClr val="8E6F3E"/>
                </a:solidFill>
              </a:rPr>
              <a:t>Lease-generation invariant</a:t>
            </a:r>
          </a:p>
          <a:p>
            <a:pPr algn="ctr">
              <a:spcBef>
                <a:spcPts val="1200"/>
              </a:spcBef>
            </a:pPr>
            <a:r>
              <a:rPr sz="2000" b="0" i="0">
                <a:solidFill>
                  <a:srgbClr val="555960"/>
                </a:solidFill>
              </a:rPr>
              <a:t>covers every path that mutates a job — the whole class becomes checkable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Where must the lesson live to reach the next decision?</a:t>
            </a:r>
          </a:p>
        </p:txBody>
      </p:sp>
      <p:sp>
        <p:nvSpPr>
          <p:cNvPr id="900" name="Slide Number Placeholder 900"/>
          <p:cNvSpPr>
            <a:spLocks noGrp="1"/>
          </p:cNvSpPr>
          <p:nvPr>
            <p:ph type="sldNum" sz="quarter" idx="4"/>
          </p:nvPr>
        </p:nvSpPr>
        <p:spPr/>
        <p:txBody>
          <a:bodyPr/>
          <a:lstStyle/>
          <a:p>
            <a:fld id="{AFA6771E-93A8-4AA7-A54D-D336B382D315}" type="slidenum">
              <a:rPr lang="en-US" smtClean="0"/>
              <a:t>32</a:t>
            </a:fld>
            <a:endParaRPr lang="en-US"/>
          </a:p>
        </p:txBody>
      </p:sp>
      <p:sp>
        <p:nvSpPr>
          <p:cNvPr id="901" name="Card"/>
          <p:cNvSpPr/>
          <p:nvPr/>
        </p:nvSpPr>
        <p:spPr>
          <a:xfrm>
            <a:off x="54864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POSTMORTEM</a:t>
            </a:r>
          </a:p>
          <a:p>
            <a:pPr algn="ctr"/>
            <a:r>
              <a:rPr sz="2200" b="1" i="0">
                <a:solidFill>
                  <a:srgbClr val="5C4826"/>
                </a:solidFill>
              </a:rPr>
              <a:t>read once, by the people already in the room</a:t>
            </a:r>
          </a:p>
        </p:txBody>
      </p:sp>
      <p:sp>
        <p:nvSpPr>
          <p:cNvPr id="902" name="Card"/>
          <p:cNvSpPr/>
          <p:nvPr/>
        </p:nvSpPr>
        <p:spPr>
          <a:xfrm>
            <a:off x="338328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MODEL</a:t>
            </a:r>
          </a:p>
          <a:p>
            <a:pPr algn="ctr"/>
            <a:r>
              <a:rPr sz="2200" b="1" i="0">
                <a:solidFill>
                  <a:srgbClr val="5C4826"/>
                </a:solidFill>
              </a:rPr>
              <a:t>present when someone next changes the worker</a:t>
            </a:r>
          </a:p>
        </p:txBody>
      </p:sp>
      <p:sp>
        <p:nvSpPr>
          <p:cNvPr id="903" name="Card"/>
          <p:cNvSpPr/>
          <p:nvPr/>
        </p:nvSpPr>
        <p:spPr>
          <a:xfrm>
            <a:off x="621792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GATE</a:t>
            </a:r>
          </a:p>
          <a:p>
            <a:pPr algn="ctr"/>
            <a:r>
              <a:rPr sz="2200" b="1" i="0">
                <a:solidFill>
                  <a:srgbClr val="5C4826"/>
                </a:solidFill>
              </a:rPr>
              <a:t>refuses a change that violates it</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lesson reaches the next decision only if the environment presents it there.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normAutofit fontScale="90000"/>
          </a:bodyPr>
          <a:lstStyle/>
          <a:p>
            <a:pPr algn="ctr"/>
            <a:r>
              <a:rPr lang="en-US" sz="4000" b="0" i="0" dirty="0">
                <a:solidFill>
                  <a:srgbClr val="000000"/>
                </a:solidFill>
              </a:rPr>
              <a:t>Knowledge Management:</a:t>
            </a:r>
            <a:br>
              <a:rPr lang="en-US" sz="4000" b="0" i="0" dirty="0">
                <a:solidFill>
                  <a:srgbClr val="000000"/>
                </a:solidFill>
              </a:rPr>
            </a:br>
            <a:r>
              <a:rPr sz="4000" b="0" i="0" dirty="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33</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5</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How will the next engineer — or agent — encounter it?</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Convert the lesson into engineering structure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 OR SURPRISE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What was missing?</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FIVE DIAGNOSES</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Each points to a different intervention</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28600" y="443484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2011680" y="443484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3794760" y="443484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5577840" y="443484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A failure is not a request for another gate. Diagnose what was missing, then encode it.</a:t>
            </a:r>
            <a:endParaRPr sz="2800" b="1" i="0" dirty="0">
              <a:solidFill>
                <a:schemeClr val="bg1"/>
              </a:solidFill>
            </a:endParaRPr>
          </a:p>
        </p:txBody>
      </p:sp>
      <p:sp>
        <p:nvSpPr>
          <p:cNvPr id="909" name="Block"/>
          <p:cNvSpPr/>
          <p:nvPr/>
        </p:nvSpPr>
        <p:spPr>
          <a:xfrm>
            <a:off x="7360920" y="443484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next engineer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NEW ENGINEER</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asked to change the worker’s recovery behavior</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LEASE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How would they know it exists?</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A worker may modify a job only while holding its current lease generation.</a:t>
            </a:r>
            <a:endParaRPr sz="2800" b="1" i="0" dirty="0">
              <a:solidFill>
                <a:schemeClr val="bg1"/>
              </a:solidFill>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agent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CHANGE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an agent is asked to optimize the queue</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Supplied during the task, or merely hoped for?</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The obligation cannot depend on the recipient remembering an instruction.</a:t>
            </a:r>
            <a:endParaRPr sz="2800" b="1" i="0" dirty="0">
              <a:solidFill>
                <a:schemeClr val="bg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411480" y="868680"/>
            <a:ext cx="8321040" cy="914400"/>
          </a:xfrm>
          <a:prstGeom prst="rect">
            <a:avLst/>
          </a:prstGeom>
          <a:noFill/>
        </p:spPr>
        <p:txBody>
          <a:bodyPr wrap="square" lIns="27432" tIns="22860" rIns="27432" bIns="22860" anchor="t">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RELEASE GATE</a:t>
            </a:r>
          </a:p>
        </p:txBody>
      </p:sp>
      <p:sp>
        <p:nvSpPr>
          <p:cNvPr id="909" name="FooterBand"/>
          <p:cNvSpPr/>
          <p:nvPr/>
        </p:nvSpPr>
        <p:spPr>
          <a:xfrm>
            <a:off x="274320" y="544068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Controls can constrain engineering work. They cannot guarantee compliance when the organization controlling them intends to circumvent them.</a:t>
            </a:r>
          </a:p>
        </p:txBody>
      </p:sp>
      <p:sp>
        <p:nvSpPr>
          <p:cNvPr id="2" name="FooterBand">
            <a:extLst>
              <a:ext uri="{FF2B5EF4-FFF2-40B4-BE49-F238E27FC236}">
                <a16:creationId xmlns:a16="http://schemas.microsoft.com/office/drawing/2014/main" id="{A01D4652-4B3B-10DE-B286-362A6003B509}"/>
              </a:ext>
            </a:extLst>
          </p:cNvPr>
          <p:cNvSpPr/>
          <p:nvPr/>
        </p:nvSpPr>
        <p:spPr>
          <a:xfrm>
            <a:off x="274320" y="5898515"/>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1" dirty="0">
                <a:solidFill>
                  <a:schemeClr val="bg1"/>
                </a:solidFill>
              </a:rPr>
              <a:t>Recurring failure should leave structure behind.</a:t>
            </a:r>
            <a:endParaRPr sz="2000" b="1" i="1" dirty="0">
              <a:solidFill>
                <a:schemeClr val="bg1"/>
              </a:solidFill>
            </a:endParaRP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8583</TotalTime>
  <Words>5177</Words>
  <Application>Microsoft Macintosh PowerPoint</Application>
  <PresentationFormat>On-screen Show (4:3)</PresentationFormat>
  <Paragraphs>519</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Times</vt:lpstr>
      <vt:lpstr>Purdue1</vt:lpstr>
      <vt:lpstr>PowerPoint Presentation</vt:lpstr>
      <vt:lpstr>Dieselgate</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2007: The decision is reconsidered</vt:lpstr>
      <vt:lpstr>2009–2016: The engineering system keeps producing the result</vt:lpstr>
      <vt:lpstr>2012: Reality provides another observation</vt:lpstr>
      <vt:lpstr>2014–15: Someone outside the system measures reality</vt:lpstr>
      <vt:lpstr>What theory explains it?</vt:lpstr>
      <vt:lpstr>What caused the Volkswagen failure?</vt:lpstr>
      <vt:lpstr>Human error</vt:lpstr>
      <vt:lpstr>Swiss cheese</vt:lpstr>
      <vt:lpstr>Organizational causation</vt:lpstr>
      <vt:lpstr>STAMP: Model the control structure</vt:lpstr>
      <vt:lpstr>A broader model is not automatically a better model</vt:lpstr>
      <vt:lpstr>Match causal breadth to the decision</vt:lpstr>
      <vt:lpstr>Let’s try ourselves: Diagnose a failure</vt:lpstr>
      <vt:lpstr>Instagram measures an uncomfortable outcome</vt:lpstr>
      <vt:lpstr>What failed?</vt:lpstr>
      <vt:lpstr>One outcome can implicate several decisions</vt:lpstr>
      <vt:lpstr>But Facebook was already measuring the outcome</vt:lpstr>
      <vt:lpstr>Run Validation backward</vt:lpstr>
      <vt:lpstr>Remember, a bad outcome != bad validation or engineering</vt:lpstr>
      <vt:lpstr>Convert failure into engineering knowledge</vt:lpstr>
      <vt:lpstr>Observation is not yet engineering knowledge</vt:lpstr>
      <vt:lpstr>What does the evidence actually support?</vt:lpstr>
      <vt:lpstr>Preserve the example or preserve the lesson?</vt:lpstr>
      <vt:lpstr>Causal account vs reflective account</vt:lpstr>
      <vt:lpstr>Where should the lesson live?</vt:lpstr>
      <vt:lpstr>Knowledge Management: Make the organization harder to surprise the same way twice</vt:lpstr>
      <vt:lpstr>Remembering is the weakest response</vt:lpstr>
      <vt:lpstr>Agents: Must move recurring judgment into the environment</vt:lpstr>
      <vt:lpstr>Volkswagen, one last time</vt:lpstr>
      <vt:lpstr>Active, then passive alignment</vt:lpstr>
      <vt:lpstr>Learning can change three things</vt:lpstr>
      <vt:lpstr>Schön: the reflective practitioner</vt:lpstr>
      <vt:lpstr>Failure is an expensive observation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462</cp:revision>
  <dcterms:created xsi:type="dcterms:W3CDTF">2020-02-21T23:00:33Z</dcterms:created>
  <dcterms:modified xsi:type="dcterms:W3CDTF">2026-10-08T20:04:22Z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