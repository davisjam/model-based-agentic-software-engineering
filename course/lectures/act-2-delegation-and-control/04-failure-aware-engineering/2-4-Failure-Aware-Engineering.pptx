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95" r:id="rId46"/>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xml"/><Relationship Id="rId4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systems-theoretic account: constraints flow down, feedback flows up, from regulators through the organization and engineering to the operating process.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What makes this case interesting: unlike a case where nobody measured the property, the organization HAS observations of the outcome.</a:t>
            </a:r>
          </a:p>
          <a:p>
            <a:r>
              <a:t>- The hard questions sit at the "?": how strong is the evidence, what does it support, what obligations follow, and what decision should it drive?</a:t>
            </a:r>
          </a:p>
          <a:p>
            <a:r>
              <a:t>- Keep the ambiguity honest: Facebook disputed interpretations of its own research findings; evidence strength and interpretation are exactly what is contested.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Instantiate with the case: start from the consequential judgment and walk the chain backward to the claim it rested on.</a:t>
            </a:r>
          </a:p>
          <a:p>
            <a:r>
              <a:t>- Do NOT map each question mechanically to one box - they interleave across the chain.</a:t>
            </a:r>
          </a:p>
          <a:p>
            <a:r>
              <a:t>- For the Instagram case: which judgments admitted the current realization, on which evidence, measuring what, for whom, under what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"the outcome is bad, therefore the validation was bad."</a:t>
            </a:r>
          </a:p>
          <a:p>
            <a:r>
              <a:t>- The diagnostic question is whether the outcome fell inside the claimed scope or in residual uncertainty that was knowingly accepted.</a:t>
            </a:r>
          </a:p>
          <a:p>
            <a:r>
              <a:t>- TRANSITION (carry verbally): but once the outcome becomes new evidence, the previous judgment must be reconsidered - which is Section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chain is OBSERVATION -&gt; EVIDENCE -&gt; INTERPRETATION -&gt; LESSON. Calling the observation itself "failure" would beg the question students are meant to reason about in the Instagram case: whether and where an engineering failure occurred.</a:t>
            </a:r>
          </a:p>
          <a:p>
            <a:r>
              <a:t>- Straight out of Engineering Knowledge (Act I): an observation becomes knowledge only through analysis. The 2012 Volkswagen hardware-failure slide is the counter-example to hold up: evidence was produced, interpretation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Support thins as the claim broadens: narrow / broader / sweeping.</a:t>
            </a:r>
          </a:p>
          <a:p>
            <a:r>
              <a:t>- THE CASE (carry verbally): an observation that some users report a harmful experience does not by itself establish that Instagram causes that outcome for all teenage users, nor that a particular feature causes it, nor that a proposed intervention will improve it. Each wider claim needs more evidence than the observation provides.</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callback: Volkswagen has been absent for roughly ten slides; returning to it here is the payoff. A much better final discussion than "who was unethical?"</a:t>
            </a:r>
          </a:p>
          <a:p>
            <a:r>
              <a:t>- The footer question is the discussion; give it time. "Everything we've learned" now includes causal breadth, diagnosis across decisions, what evidence supports, and where lessons 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BOSCH</a:t>
            </a:r>
          </a:p>
          <a:p>
            <a:pPr algn="ctr"/>
            <a:r>
              <a:rPr sz="2000" b="1" i="0">
                <a:solidFill>
                  <a:srgbClr val="FFFFFF"/>
                </a:solidFill>
              </a:rPr>
              <a:t>Engine-control software</a:t>
            </a:r>
          </a:p>
        </p:txBody>
      </p:sp>
      <p:sp>
        <p:nvSpPr>
          <p:cNvPr id="901"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2"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1" name="Label"/>
          <p:cNvSpPr txBox="1"/>
          <p:nvPr/>
        </p:nvSpPr>
        <p:spPr>
          <a:xfrm>
            <a:off x="411480" y="868680"/>
            <a:ext cx="2240280" cy="1463040"/>
          </a:xfrm>
          <a:prstGeom prst="rect">
            <a:avLst/>
          </a:prstGeom>
          <a:noFill/>
        </p:spPr>
        <p:txBody>
          <a:bodyPr wrap="square" anchor="t" lIns="27432" rIns="27432" tIns="22860" bIns="22860">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Who is responsible for how a supplied capability is used?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44652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And the engineering continued. </a:t>
            </a:r>
            <a:r>
              <a:rPr sz="2000" b="0" i="0">
                <a:solidFill>
                  <a:srgbClr val="555960"/>
                </a:solidFill>
              </a:rPr>
              <a:t>Not a rogue patch: calibration, integration, certification, maintenance — and delegated too (Volkswagen → IAV).</a:t>
            </a:r>
          </a:p>
        </p:txBody>
      </p:sp>
      <p:sp>
        <p:nvSpPr>
          <p:cNvPr id="904" name="Label"/>
          <p:cNvSpPr txBox="1"/>
          <p:nvPr/>
        </p:nvSpPr>
        <p:spPr>
          <a:xfrm>
            <a:off x="411480" y="4709160"/>
            <a:ext cx="8321040" cy="50292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7</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8</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11</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12</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anchor="t" lIns="27432" rIns="27432" tIns="22860" bIns="22860">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15</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anchor="t" lIns="27432" rIns="27432" tIns="22860" bIns="22860">
            <a:spAutoFit/>
          </a:bodyPr>
          <a:lstStyle/>
          <a:p>
            <a:pPr algn="ctr"/>
            <a:r>
              <a:rPr sz="2000" b="0" i="0">
                <a:solidFill>
                  <a:srgbClr val="555960"/>
                </a:solidFill>
              </a:rPr>
              <a:t>authority · incentives · schedule · ownership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Now control and feedback across the system matter.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anchor="t" lIns="27432" rIns="27432" tIns="22860" bIns="22860">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anchor="t" lIns="27432" rIns="27432" tIns="22860" bIns="22860">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anchor="t" lIns="27432" rIns="27432" tIns="22860" bIns="22860">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anchor="t" lIns="27432" rIns="27432" tIns="22860" bIns="22860">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anchor="t" lIns="27432" rIns="27432" tIns="22860" bIns="22860">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18</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 far enough to reach the decisions that can change the outcome.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19</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Instagram measures an uncomfortable outcome</a:t>
            </a:r>
          </a:p>
        </p:txBody>
      </p:sp>
      <p:sp>
        <p:nvSpPr>
          <p:cNvPr id="900" name="Slide Number Placeholder 900"/>
          <p:cNvSpPr>
            <a:spLocks noGrp="1"/>
          </p:cNvSpPr>
          <p:nvPr>
            <p:ph type="sldNum" sz="quarter" idx="4"/>
          </p:nvPr>
        </p:nvSpPr>
        <p:spPr/>
        <p:txBody>
          <a:bodyPr/>
          <a:lstStyle/>
          <a:p>
            <a:fld id="{CB54B3D1-5BA3-40A8-8017-74A0DF3C7182}" type="slidenum">
              <a:rPr lang="en-US" smtClean="0"/>
              <a:t>20</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anchor="t" lIns="27432" rIns="27432" tIns="22860" bIns="22860">
            <a:spAutoFit/>
          </a:bodyPr>
          <a:lstStyle/>
          <a:p>
            <a:pPr algn="ctr"/>
            <a:r>
              <a:rPr sz="2200" b="0" i="0">
                <a:solidFill>
                  <a:srgbClr val="5C4826"/>
                </a:solidFill>
              </a:rPr>
              <a:t>The system can operate as designed while evidence challenges whether its outcomes are acceptable.</a:t>
            </a:r>
          </a:p>
        </p:txBody>
      </p:sp>
      <p:sp>
        <p:nvSpPr>
          <p:cNvPr id="909" name="Label"/>
          <p:cNvSpPr txBox="1"/>
          <p:nvPr/>
        </p:nvSpPr>
        <p:spPr>
          <a:xfrm>
            <a:off x="548640" y="4023360"/>
            <a:ext cx="8046720" cy="1005840"/>
          </a:xfrm>
          <a:prstGeom prst="rect">
            <a:avLst/>
          </a:prstGeom>
          <a:noFill/>
        </p:spPr>
        <p:txBody>
          <a:bodyPr wrap="square" anchor="t" lIns="27432" rIns="27432" tIns="22860" bIns="22860">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kind of engineering failure could this be?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commit to the wrong outcome or omit an obligation?</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specify the wrong machine behavior?</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allocation of responsibilities make the property fragile?</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chosen mechanism produce unacceptable consequences?</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software realize the intended mechanism?</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 visible outcome does not tell us where the engineering understanding failed.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outcome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OUTCOME</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requirements</a:t>
            </a:r>
          </a:p>
          <a:p>
            <a:pPr algn="ctr"/>
            <a:r>
              <a:rPr sz="2000" b="0" i="0">
                <a:solidFill>
                  <a:srgbClr val="555960"/>
                </a:solidFill>
              </a:rPr>
              <a:t>What outcomes matter?</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specification</a:t>
            </a:r>
          </a:p>
          <a:p>
            <a:pPr algn="ctr"/>
            <a:r>
              <a:rPr sz="2000" b="0" i="0">
                <a:solidFill>
                  <a:srgbClr val="555960"/>
                </a:solidFill>
              </a:rPr>
              <a:t>What should the system optimize?</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architecture</a:t>
            </a:r>
          </a:p>
          <a:p>
            <a:pPr algn="ctr"/>
            <a:r>
              <a:rPr sz="2000" b="0" i="0">
                <a:solidFill>
                  <a:srgbClr val="555960"/>
                </a:solidFill>
              </a:rPr>
              <a:t>Where are responsibilities allocated?</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design</a:t>
            </a:r>
          </a:p>
          <a:p>
            <a:pPr algn="ctr"/>
            <a:r>
              <a:rPr sz="2000" b="0" i="0">
                <a:solidFill>
                  <a:srgbClr val="555960"/>
                </a:solidFill>
              </a:rPr>
              <a:t>What mechanism realizes the objective?</a:t>
            </a:r>
          </a:p>
        </p:txBody>
      </p:sp>
      <p:sp>
        <p:nvSpPr>
          <p:cNvPr id="910" name="Card"/>
          <p:cNvSpPr/>
          <p:nvPr/>
        </p:nvSpPr>
        <p:spPr>
          <a:xfrm>
            <a:off x="5440680" y="498348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a:p>
            <a:pPr algn="ctr"/>
            <a:r>
              <a:rPr sz="2000" b="0" i="0">
                <a:solidFill>
                  <a:srgbClr val="555960"/>
                </a:solidFill>
              </a:rPr>
              <a:t>Was it realized correctly?</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4" name="Connector 934"/>
          <p:cNvCxnSpPr/>
          <p:nvPr/>
        </p:nvCxnSpPr>
        <p:spPr>
          <a:xfrm>
            <a:off x="3017520" y="3154680"/>
            <a:ext cx="2423160" cy="22860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But Facebook was already measuring the outcome</a:t>
            </a:r>
          </a:p>
        </p:txBody>
      </p:sp>
      <p:sp>
        <p:nvSpPr>
          <p:cNvPr id="900" name="Slide Number Placeholder 900"/>
          <p:cNvSpPr>
            <a:spLocks noGrp="1"/>
          </p:cNvSpPr>
          <p:nvPr>
            <p:ph type="sldNum" sz="quarter" idx="4"/>
          </p:nvPr>
        </p:nvSpPr>
        <p:spPr/>
        <p:txBody>
          <a:bodyPr/>
          <a:lstStyle/>
          <a:p>
            <a:fld id="{BBD7B01D-2451-459F-B1A1-0BB2DA8CD569}" type="slidenum">
              <a:rPr lang="en-US" smtClean="0"/>
              <a:t>23</a:t>
            </a:fld>
            <a:endParaRPr lang="en-US"/>
          </a:p>
        </p:txBody>
      </p:sp>
      <p:sp>
        <p:nvSpPr>
          <p:cNvPr id="920" name="Block"/>
          <p:cNvSpPr/>
          <p:nvPr/>
        </p:nvSpPr>
        <p:spPr>
          <a:xfrm>
            <a:off x="548640" y="2103120"/>
            <a:ext cx="1280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SYSTEM</a:t>
            </a:r>
          </a:p>
        </p:txBody>
      </p:sp>
      <p:cxnSp>
        <p:nvCxnSpPr>
          <p:cNvPr id="921" name="Connector 921"/>
          <p:cNvCxnSpPr/>
          <p:nvPr/>
        </p:nvCxnSpPr>
        <p:spPr>
          <a:xfrm>
            <a:off x="182880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Block"/>
          <p:cNvSpPr/>
          <p:nvPr/>
        </p:nvSpPr>
        <p:spPr>
          <a:xfrm>
            <a:off x="2057400" y="2103120"/>
            <a:ext cx="19202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23" name="Connector 923"/>
          <p:cNvCxnSpPr/>
          <p:nvPr/>
        </p:nvCxnSpPr>
        <p:spPr>
          <a:xfrm>
            <a:off x="39776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Card"/>
          <p:cNvSpPr/>
          <p:nvPr/>
        </p:nvSpPr>
        <p:spPr>
          <a:xfrm>
            <a:off x="4206240" y="2103120"/>
            <a:ext cx="1371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25" name="Connector 925"/>
          <p:cNvCxnSpPr/>
          <p:nvPr/>
        </p:nvCxnSpPr>
        <p:spPr>
          <a:xfrm>
            <a:off x="55778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806440" y="2103120"/>
            <a:ext cx="548640" cy="7772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a:t>
            </a:r>
          </a:p>
        </p:txBody>
      </p:sp>
      <p:cxnSp>
        <p:nvCxnSpPr>
          <p:cNvPr id="927" name="Connector 927"/>
          <p:cNvCxnSpPr/>
          <p:nvPr/>
        </p:nvCxnSpPr>
        <p:spPr>
          <a:xfrm>
            <a:off x="635508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8" name="Block"/>
          <p:cNvSpPr/>
          <p:nvPr/>
        </p:nvSpPr>
        <p:spPr>
          <a:xfrm>
            <a:off x="6583680" y="2103120"/>
            <a:ext cx="20116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DECISION</a:t>
            </a:r>
          </a:p>
        </p:txBody>
      </p:sp>
      <p:sp>
        <p:nvSpPr>
          <p:cNvPr id="929" name="Label"/>
          <p:cNvSpPr txBox="1"/>
          <p:nvPr/>
        </p:nvSpPr>
        <p:spPr>
          <a:xfrm>
            <a:off x="548640" y="3749040"/>
            <a:ext cx="8046720" cy="685800"/>
          </a:xfrm>
          <a:prstGeom prst="rect">
            <a:avLst/>
          </a:prstGeom>
          <a:noFill/>
        </p:spPr>
        <p:txBody>
          <a:bodyPr wrap="square" anchor="t" lIns="27432" rIns="27432" tIns="22860" bIns="22860">
            <a:spAutoFit/>
          </a:bodyPr>
          <a:lstStyle/>
          <a:p>
            <a:pPr algn="ctr"/>
            <a:r>
              <a:rPr sz="2200" b="0" i="0">
                <a:solidFill>
                  <a:srgbClr val="5C4826"/>
                </a:solidFill>
              </a:rPr>
              <a:t>Having evidence is not the same as knowing what it supports or what to do about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24</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303520" y="1463040"/>
            <a:ext cx="3291840" cy="3474720"/>
          </a:xfrm>
          <a:prstGeom prst="rect">
            <a:avLst/>
          </a:prstGeom>
          <a:noFill/>
        </p:spPr>
        <p:txBody>
          <a:bodyPr wrap="square" anchor="t" lIns="27432" rIns="27432" tIns="22860" bIns="22860">
            <a:spAutoFit/>
          </a:bodyPr>
          <a:lstStyle/>
          <a:p>
            <a:pPr algn="l"/>
            <a:r>
              <a:rPr sz="2000" b="1" i="0">
                <a:solidFill>
                  <a:srgbClr val="5C4826"/>
                </a:solidFill>
              </a:rPr>
              <a:t>What judgment was made?</a:t>
            </a:r>
          </a:p>
          <a:p>
            <a:pPr algn="l">
              <a:spcBef>
                <a:spcPts val="600"/>
              </a:spcBef>
            </a:pPr>
            <a:r>
              <a:rPr sz="2000" b="0" i="0">
                <a:solidFill>
                  <a:srgbClr val="555960"/>
                </a:solidFill>
              </a:rPr>
              <a:t>What evidence supported it?</a:t>
            </a:r>
          </a:p>
          <a:p>
            <a:pPr algn="l">
              <a:spcBef>
                <a:spcPts val="600"/>
              </a:spcBef>
            </a:pPr>
            <a:r>
              <a:rPr sz="2000" b="0" i="0">
                <a:solidFill>
                  <a:srgbClr val="555960"/>
                </a:solidFill>
              </a:rPr>
              <a:t>What did that evidence actually measure?</a:t>
            </a:r>
          </a:p>
          <a:p>
            <a:pPr algn="l">
              <a:spcBef>
                <a:spcPts val="600"/>
              </a:spcBef>
            </a:pPr>
            <a:r>
              <a:rPr sz="2000" b="0" i="0">
                <a:solidFill>
                  <a:srgbClr val="555960"/>
                </a:solidFill>
              </a:rPr>
              <a:t>For whom? Under what conditions?</a:t>
            </a:r>
          </a:p>
          <a:p>
            <a:pPr algn="l">
              <a:spcBef>
                <a:spcPts val="600"/>
              </a:spcBef>
            </a:pPr>
            <a:r>
              <a:rPr sz="2000" b="0" i="0">
                <a:solidFill>
                  <a:srgbClr val="555960"/>
                </a:solidFill>
              </a:rPr>
              <a:t>What claim could it support?</a:t>
            </a:r>
          </a:p>
        </p:txBody>
      </p:sp>
      <p:sp>
        <p:nvSpPr>
          <p:cNvPr id="94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Start from the consequential judgment and reconstruct the evidence behind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bad outcome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25</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An adverse outcome may occur within that uncertainty without making the earlier judgment unreasonable.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26</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27</a:t>
            </a:fld>
            <a:endParaRPr lang="en-US"/>
          </a:p>
        </p:txBody>
      </p:sp>
      <p:sp>
        <p:nvSpPr>
          <p:cNvPr id="908" name="Label"/>
          <p:cNvSpPr txBox="1"/>
          <p:nvPr/>
        </p:nvSpPr>
        <p:spPr>
          <a:xfrm>
            <a:off x="548640" y="4297680"/>
            <a:ext cx="8046720" cy="548640"/>
          </a:xfrm>
          <a:prstGeom prst="rect">
            <a:avLst/>
          </a:prstGeom>
          <a:noFill/>
        </p:spPr>
        <p:txBody>
          <a:bodyPr wrap="square" anchor="t" lIns="27432" rIns="27432" tIns="22860" bIns="22860">
            <a:spAutoFit/>
          </a:bodyPr>
          <a:lstStyle/>
          <a:p>
            <a:pPr algn="ctr"/>
            <a:r>
              <a:rPr sz="2200" b="0" i="0">
                <a:solidFill>
                  <a:srgbClr val="5C4826"/>
                </a:solidFill>
              </a:rPr>
              <a:t>Evidence does not choose its own interpretation.</a:t>
            </a:r>
          </a:p>
        </p:txBody>
      </p:sp>
      <p:sp>
        <p:nvSpPr>
          <p:cNvPr id="920" name="Block"/>
          <p:cNvSpPr/>
          <p:nvPr/>
        </p:nvSpPr>
        <p:spPr>
          <a:xfrm>
            <a:off x="411480" y="2468880"/>
            <a:ext cx="18745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OBSERVATION</a:t>
            </a:r>
          </a:p>
        </p:txBody>
      </p:sp>
      <p:sp>
        <p:nvSpPr>
          <p:cNvPr id="921" name="Block"/>
          <p:cNvSpPr/>
          <p:nvPr/>
        </p:nvSpPr>
        <p:spPr>
          <a:xfrm>
            <a:off x="2697480" y="246888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sp>
        <p:nvSpPr>
          <p:cNvPr id="922" name="Block"/>
          <p:cNvSpPr/>
          <p:nvPr/>
        </p:nvSpPr>
        <p:spPr>
          <a:xfrm>
            <a:off x="4663440" y="2468880"/>
            <a:ext cx="2148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3" name="Block"/>
          <p:cNvSpPr/>
          <p:nvPr/>
        </p:nvSpPr>
        <p:spPr>
          <a:xfrm>
            <a:off x="7223760" y="2468880"/>
            <a:ext cx="1325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cxnSp>
        <p:nvCxnSpPr>
          <p:cNvPr id="924" name="Connector 924"/>
          <p:cNvCxnSpPr/>
          <p:nvPr/>
        </p:nvCxnSpPr>
        <p:spPr>
          <a:xfrm>
            <a:off x="228600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5" name="Connector 925"/>
          <p:cNvCxnSpPr/>
          <p:nvPr/>
        </p:nvCxnSpPr>
        <p:spPr>
          <a:xfrm>
            <a:off x="425196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6" name="Connector 926"/>
          <p:cNvCxnSpPr/>
          <p:nvPr/>
        </p:nvCxnSpPr>
        <p:spPr>
          <a:xfrm>
            <a:off x="681228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7" name="Label"/>
          <p:cNvSpPr txBox="1"/>
          <p:nvPr/>
        </p:nvSpPr>
        <p:spPr>
          <a:xfrm>
            <a:off x="1600200"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happened?</a:t>
            </a:r>
          </a:p>
        </p:txBody>
      </p:sp>
      <p:sp>
        <p:nvSpPr>
          <p:cNvPr id="928" name="Label"/>
          <p:cNvSpPr txBox="1"/>
          <p:nvPr/>
        </p:nvSpPr>
        <p:spPr>
          <a:xfrm>
            <a:off x="354787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does it support?</a:t>
            </a:r>
          </a:p>
        </p:txBody>
      </p:sp>
      <p:sp>
        <p:nvSpPr>
          <p:cNvPr id="929" name="Label"/>
          <p:cNvSpPr txBox="1"/>
          <p:nvPr/>
        </p:nvSpPr>
        <p:spPr>
          <a:xfrm>
            <a:off x="610819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should change?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28</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Generalization is itself an engineering claim.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29</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this exact case - it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200"/>
              </a:spcBef>
            </a:pPr>
            <a:r>
              <a:rPr sz="2000" b="1" i="0">
                <a:solidFill>
                  <a:srgbClr val="8E6F3E"/>
                </a:solidFill>
              </a:rPr>
              <a:t>Generalized model or control</a:t>
            </a:r>
          </a:p>
          <a:p>
            <a:pPr algn="ctr">
              <a:spcBef>
                <a:spcPts val="1200"/>
              </a:spcBef>
            </a:pPr>
            <a:r>
              <a:rPr sz="2000" b="0" i="0">
                <a:solidFill>
                  <a:srgbClr val="555960"/>
                </a:solidFill>
              </a:rPr>
              <a:t>covers the class of cases - the class becomes recognizable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30</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31</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33</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34</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35</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Given everything we’ve learned, which judgments should never have remained discretionary?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36</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37</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38</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39</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