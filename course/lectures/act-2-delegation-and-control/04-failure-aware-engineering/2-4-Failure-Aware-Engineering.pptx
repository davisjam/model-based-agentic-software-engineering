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3"/>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6"/>
    <p:sldId id="283" r:id="rId5"/>
    <p:sldId id="284" r:id="rId4"/>
    <p:sldId id="285" r:id="rId3"/>
    <p:sldId id="286" r:id="rId2"/>
    <p:sldId id="287" r:id="rId38"/>
    <p:sldId id="288" r:id="rId39"/>
    <p:sldId id="289" r:id="rId40"/>
    <p:sldId id="290" r:id="rId41"/>
    <p:sldId id="291" r:id="rId42"/>
    <p:sldId id="292" r:id="rId43"/>
    <p:sldId id="293"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86" autoAdjust="0"/>
    <p:restoredTop sz="56164"/>
  </p:normalViewPr>
  <p:slideViewPr>
    <p:cSldViewPr snapToGrid="0" snapToObjects="1">
      <p:cViewPr varScale="1">
        <p:scale>
          <a:sx n="64" d="100"/>
          <a:sy n="64" d="100"/>
        </p:scale>
        <p:origin x="296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1.xml"/><Relationship Id="rId3" Type="http://schemas.openxmlformats.org/officeDocument/2006/relationships/slide" Target="slides/slide30.xml"/><Relationship Id="rId4" Type="http://schemas.openxmlformats.org/officeDocument/2006/relationships/slide" Target="slides/slide29.xml"/><Relationship Id="rId5" Type="http://schemas.openxmlformats.org/officeDocument/2006/relationships/slide" Target="slides/slide28.xml"/><Relationship Id="rId6" Type="http://schemas.openxmlformats.org/officeDocument/2006/relationships/slide" Target="slides/slide27.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Title only - almost nothing else on this slide, on purpose.</a:t>
            </a:r>
          </a:p>
          <a:p>
            <a:r>
              <a:t>The thesis of the unit, for you (do not say it yet): failure produces evidence; analyze it into a lesson; then, when the lesson is stable and consequential enough, move the judgment into the engineering environment so future engineers do not have to make the same judgment again.</a:t>
            </a:r>
          </a:p>
          <a:p>
            <a:r>
              <a:t>The first ~15 minutes are a progressive reveal of one real case. Do not sanitize it into "engineers objected, managers ignored them" - the documented story is murkier than that, which is exactly why it is useful.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Show the requirement change visually; not much prose.</a:t>
            </a:r>
          </a:p>
          <a:p>
            <a:r>
              <a:t>- CAVEAT (sourcing): EPA warns that direct Tier 1/Tier 2 comparisons are complicated by averaging and other program features; 0.07 g/mi was the Tier 2 bin to which the affected Jetta diesels were certified.</a:t>
            </a:r>
          </a:p>
          <a:p>
            <a:r>
              <a:t>- ASK the footer question. Expected recall from Act I: requirements, specification, architecture, design, validation. Good Act I recall.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Reveal the product ambition: clean diesel = emissions + performance + customer demand, all at once.</a:t>
            </a:r>
          </a:p>
          <a:p>
            <a:r>
              <a:t>- The footer question is already a requirements / design / authority question. Let several students answer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Reveal test recognition: one software path under the regulatory test, another on the road.</a:t>
            </a:r>
          </a:p>
          <a:p>
            <a:r>
              <a:t>- ASK simply: What failed? Let them say ethics, engineer, process, whatever. Do not resolve it - the question returns, identical, twice more.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This slide uses the actual plea-agreement fact, which is stronger than the later press accounts.</a:t>
            </a:r>
          </a:p>
          <a:p>
            <a:r>
              <a:t>- DISCUSS the italic question. There is not supposed to be a clean classroom answer.</a:t>
            </a:r>
          </a:p>
          <a:p>
            <a:r>
              <a:t>- The footer question is deliberately identical to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where the story becomes uncomfortable in the useful way.</a:t>
            </a:r>
          </a:p>
          <a:p>
            <a:r>
              <a:t>- DISCUSS the footer question. "One unethical programmer" becomes an increasingly implausible causal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Ask again, in exactly the same words: What failed?</a:t>
            </a:r>
          </a:p>
          <a:p>
            <a:r>
              <a:t>- The question is identical on the software slide, the objection slide, and this one. The changing answer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Show scale and repetition rather than another moral discussion.</a:t>
            </a:r>
          </a:p>
          <a:p>
            <a:r>
              <a:t>- ASK the footer question - it seeds governance conversion at minute 10.</a:t>
            </a:r>
          </a:p>
          <a:p>
            <a:r>
              <a:t>- DO NOT answer it yet. It is answered in Section 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first really explicit Failure-Aware Engineering moment: failure -&gt; new evidence -&gt; interpretation -&gt; ?</a:t>
            </a:r>
          </a:p>
          <a:p>
            <a:r>
              <a:t>- They DID learn from the failure - they learned how to make the existing system work better. Devastatingly useful pedagogically: learning from failure is not enough. The obligation against which the lesson is evaluated matters.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Only now disclose the eventual scale and consequences.</a:t>
            </a:r>
          </a:p>
          <a:p>
            <a:r>
              <a:t>- DO NOT ask "why were engineers not held responsible?" - the premise is false. Liang pleaded guilty and was sentenced; managers and executives were prosecuted or charged; VW pleaded guilty to a $2.8B U.S. criminal penalty.</a:t>
            </a:r>
          </a:p>
          <a:p>
            <a:r>
              <a:t>- ASK the footer question instead. It is genuinely difficult.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Transition: the lecture now asks what theory explains what we just saw.</a:t>
            </a:r>
          </a:p>
          <a:p>
            <a:r>
              <a:t>- Four causal models follow; each will be tested against the story.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Put student answers on screen, verbatim, as they come.</a:t>
            </a:r>
          </a:p>
          <a:p>
            <a:r>
              <a:t>- Keep the list visible; the next slides test candidate causal models against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Test it against the story: objections, escalation, authorization, delegation to IAV, year-after-year certification. One individual does not account for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Layered defenses, each imperfect; the accident traverses aligned holes.</a:t>
            </a:r>
          </a:p>
          <a:p>
            <a:r>
              <a:t>- Test it against the story: which defenses existed, and where were the holes? The intervention unit becomes the defenses, not the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causal story moves up a level: the conditions that shaped behavior, not the behavior alone.</a:t>
            </a:r>
          </a:p>
          <a:p>
            <a:r>
              <a:t>- Test it against the story: what conditions sustained the same result model year after model year?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[Author: the old slide-12 STAMP narration lands here.]</a:t>
            </a:r>
          </a:p>
          <a:p>
            <a:r>
              <a:t>- A systems-theoretic account: include every level of control and feedback, from regulators down to the operating process.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Each model includes more of the causal story than the last.</a:t>
            </a:r>
          </a:p>
          <a:p>
            <a:r>
              <a:t>- But a more complete account is not automatically a more usable one: as the account widens, more of it lies outside what any one engineer or team can change.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Now the line has concrete meaning rather than being abstract modeling doctrine.</a:t>
            </a:r>
          </a:p>
          <a:p>
            <a:r>
              <a:t>- Connect back to the student answers from the opening slide of this section: each answer was implicitly one of these models.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The second half converges on governance conversion; diagnosis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Walk the chain: requirements -&gt; specification -&gt; architecture -&gt; design -&gt; implementation.</a:t>
            </a:r>
          </a:p>
          <a:p>
            <a:r>
              <a:t>- ASK where the Volkswagen failure lived on this chain. The discussion should surface that it was not an implementation defect.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single incident rarely maps to a single decision; the diagnosis may implicate several at once.</a:t>
            </a:r>
          </a:p>
          <a:p>
            <a:r>
              <a:t>- Volkswagen: the requirement conflict, the design response, and the authority structure were all implicated.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Collect answers before offering structure.</a:t>
            </a:r>
          </a:p>
          <a:p>
            <a:r>
              <a:t>- Steer toward validation: the next slide runs Validation backward to locate where knowledge should have been produced.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Claim -&gt; scope -&gt; mechanism -&gt; strategy -&gt; evidence -&gt; judgment, run in reverse: which judgment admitted this realization, on which evidence, under which claim?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Guard against the reflex "we failed, therefore our validation was bad."</a:t>
            </a:r>
          </a:p>
          <a:p>
            <a:r>
              <a:t>- The diagnostic question is whether the failure fell inside the claimed scope or in the residual uncertainty that was knowingly accepted.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From diagnosis to knowledge: the failure is evidence; it must be analyzed into a lesson before it can be reused.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Straight out of Engineering Knowledge (Act I): an observation becomes knowledge only through analysis.</a:t>
            </a:r>
          </a:p>
          <a:p>
            <a:r>
              <a:t>- The 2012 hardware-failure slide is the counter-example to hold up: evidence was produced, analysis happened, and the lesson served the wrong obligation.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failure licenses several candidate lessons of increasing breadth; the evidence supports only some of them.</a:t>
            </a:r>
          </a:p>
          <a:p>
            <a:r>
              <a:t>- ASK: for a failure from your own project, what is the narrowest lesson? The widest the evidence still supports?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Regression test vs generalized lesson: both are legitimate; they preserve different things.</a:t>
            </a:r>
          </a:p>
          <a:p>
            <a:r>
              <a:t>- ASK what each one catches next time, and what each one misses.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causal account changes the system; the reflective account changes the engineer.</a:t>
            </a:r>
          </a:p>
          <a:p>
            <a:r>
              <a:t>- Postmortems that stop at the causal account leave the second kind of learning 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From Engineering Knowledge: consequential knowledge can migrate into requirements, specifications, architecture, mechanisms/models, validation, or continuing checks/controls when future work should inherit the lesson.</a:t>
            </a:r>
          </a:p>
          <a:p>
            <a:r>
              <a:t>- ASK for one lesson from the course project and where it should live.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The climax of the unit: from lessons engineers remember to structure the environment enforces.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Not a universal maturity ladder - increasing ability to affect future action.</a:t>
            </a:r>
          </a:p>
          <a:p>
            <a:r>
              <a:t>- "Be careful next time" depends on memory and goodwill; a constraint or gate acts whether or not anyone remembers.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 - a major slide.</a:t>
            </a:r>
          </a:p>
          <a:p>
            <a:r>
              <a:t>- Failure -&gt; what did we learn? -&gt; recurring judgment -&gt; can it be represented reliably? -&gt; model / validator / constraint / gate.</a:t>
            </a:r>
          </a:p>
          <a:p>
            <a:r>
              <a:t>- This is where Alignment pays off: the targets at the bottom are the control-system roles from unit 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A much better final Volkswagen discussion than "who was unethical?"</a:t>
            </a:r>
          </a:p>
          <a:p>
            <a:r>
              <a:t>- The footer question is the discussion; give it time.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This exploits the Alignment unit directly: represent the lesson, actively align what already exists, passively align everything that comes after.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lesson can land in the system (structure, models, controls), in the team (practices, shared understanding), or in the engineer (judgment, repertoire).</a:t>
            </a:r>
          </a:p>
          <a:p>
            <a:r>
              <a:t>- The three are complements, not competitors.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Schon arrives only now, deliberately: reflection is real and valuable, but it is not the destination of this unit.</a:t>
            </a:r>
          </a:p>
          <a:p>
            <a:r>
              <a:t>- Decision -&gt; consequence -&gt; reflection -&gt; repertoire -&gt; future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 the closing figure, and arguably the summary slide of Act II.</a:t>
            </a:r>
          </a:p>
          <a:p>
            <a:r>
              <a:t>ANIMATION (apply by hand in PowerPoint; the build tool cannot author animations). Five-step build, with the narration line for each:</a:t>
            </a:r>
          </a:p>
          <a:p>
            <a:r>
              <a:t>1. MODEL -&gt; REALIZATION -&gt; REALITY: "We deliberately modeled only what we thought mattered."</a:t>
            </a:r>
          </a:p>
          <a:p>
            <a:r>
              <a:t>2. REALITY -&gt; FAILURE / EVIDENCE: "Reality has just told us something our engineering did not predict."</a:t>
            </a:r>
          </a:p>
          <a:p>
            <a:r>
              <a:t>3. EVIDENCE -&gt; JUDGMENT: "The observation doesn't explain itself."</a:t>
            </a:r>
          </a:p>
          <a:p>
            <a:r>
              <a:t>4. JUDGMENT -&gt; MODEL′ / CONTROL: "If the newly discovered distinction matters enough, preserve it."</a:t>
            </a:r>
          </a:p>
          <a:p>
            <a:r>
              <a:t>5. Close the loop back to REALIZATION.</a:t>
            </a:r>
          </a:p>
          <a:p>
            <a:r>
              <a:t>The judgment gate is the point - this must NOT read as "more controls good." Some failures should change the model. Some should change the engineer. Some are residual uncertainty we accept. Some lessons are too local to encode. The engineering question is whether this distinction has earned its place.</a:t>
            </a:r>
          </a:p>
          <a:p>
            <a:r>
              <a:t>Closing beat: Failure is inevitable. Recurring failure is not. The organization should accumulate structure from consequential experience: ask which part of the judgment can be made unnecessary next time because the environment itself now knows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anchor="ctr" lIns="27432" rIns="27432" tIns="22860" bIns="22860">
            <a:spAutoFit/>
          </a:bodyPr>
          <a:lstStyle/>
          <a:p>
            <a:pPr algn="ctr"/>
            <a:r>
              <a:rPr sz="4000" b="1" i="0">
                <a:solidFill>
                  <a:srgbClr val="000000"/>
                </a:solidFill>
              </a:rPr>
              <a:t>Failure-Aware Engineering</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1999: The obligation changes</a:t>
            </a:r>
          </a:p>
        </p:txBody>
      </p:sp>
      <p:sp>
        <p:nvSpPr>
          <p:cNvPr id="900" name="Slide Number Placeholder 900"/>
          <p:cNvSpPr>
            <a:spLocks noGrp="1"/>
          </p:cNvSpPr>
          <p:nvPr>
            <p:ph type="sldNum" sz="quarter" idx="4"/>
          </p:nvPr>
        </p:nvSpPr>
        <p:spPr/>
        <p:txBody>
          <a:bodyPr/>
          <a:lstStyle/>
          <a:p>
            <a:fld id="{5A78CA05-E47A-4617-B951-D407706858B7}" type="slidenum">
              <a:rPr lang="en-US" smtClean="0"/>
              <a:t>2</a:t>
            </a:fld>
            <a:endParaRPr lang="en-US"/>
          </a:p>
        </p:txBody>
      </p:sp>
      <p:sp>
        <p:nvSpPr>
          <p:cNvPr id="901" name="Card"/>
          <p:cNvSpPr/>
          <p:nvPr/>
        </p:nvSpPr>
        <p:spPr>
          <a:xfrm>
            <a:off x="822960" y="1463040"/>
            <a:ext cx="3017520" cy="1737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U.S. Tier 1</a:t>
            </a:r>
          </a:p>
          <a:p>
            <a:pPr algn="ctr">
              <a:spcBef>
                <a:spcPts val="2200"/>
              </a:spcBef>
            </a:pPr>
            <a:r>
              <a:rPr sz="2800" b="1" i="0">
                <a:solidFill>
                  <a:srgbClr val="5C4826"/>
                </a:solidFill>
              </a:rPr>
              <a:t>NOx ≈ 1.25 g/mi</a:t>
            </a:r>
          </a:p>
        </p:txBody>
      </p:sp>
      <p:cxnSp>
        <p:nvCxnSpPr>
          <p:cNvPr id="902" name="Connector 901"/>
          <p:cNvCxnSpPr/>
          <p:nvPr/>
        </p:nvCxnSpPr>
        <p:spPr>
          <a:xfrm>
            <a:off x="3977639" y="2331720"/>
            <a:ext cx="731521"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4846320" y="1463040"/>
            <a:ext cx="3017520" cy="1737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U.S. Tier 2</a:t>
            </a:r>
          </a:p>
          <a:p>
            <a:pPr algn="ctr">
              <a:spcBef>
                <a:spcPts val="2200"/>
              </a:spcBef>
            </a:pPr>
            <a:r>
              <a:rPr sz="2800" b="1" i="0">
                <a:solidFill>
                  <a:srgbClr val="9A3F12"/>
                </a:solidFill>
              </a:rPr>
              <a:t>0.07 g/mi</a:t>
            </a:r>
          </a:p>
        </p:txBody>
      </p:sp>
      <p:cxnSp>
        <p:nvCxnSpPr>
          <p:cNvPr id="904" name="Connector 903"/>
          <p:cNvCxnSpPr/>
          <p:nvPr/>
        </p:nvCxnSpPr>
        <p:spPr>
          <a:xfrm flipV="1">
            <a:off x="6355080" y="333756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Label"/>
          <p:cNvSpPr txBox="1"/>
          <p:nvPr/>
        </p:nvSpPr>
        <p:spPr>
          <a:xfrm>
            <a:off x="4572000" y="4023360"/>
            <a:ext cx="3566160" cy="411480"/>
          </a:xfrm>
          <a:prstGeom prst="rect">
            <a:avLst/>
          </a:prstGeom>
          <a:noFill/>
        </p:spPr>
        <p:txBody>
          <a:bodyPr wrap="square" anchor="t" lIns="27432" rIns="27432" tIns="22860" bIns="22860">
            <a:spAutoFit/>
          </a:bodyPr>
          <a:lstStyle/>
          <a:p>
            <a:pPr algn="ctr"/>
            <a:r>
              <a:rPr sz="2000" b="1" i="0">
                <a:solidFill>
                  <a:srgbClr val="8E6F3E"/>
                </a:solidFill>
              </a:rPr>
              <a:t>VW must engineer for this world</a:t>
            </a:r>
          </a:p>
        </p:txBody>
      </p:sp>
      <p:sp>
        <p:nvSpPr>
          <p:cNvPr id="906"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engineering activities should this regulatory change affect?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2006: Volkswagen has a problem</a:t>
            </a:r>
          </a:p>
        </p:txBody>
      </p:sp>
      <p:sp>
        <p:nvSpPr>
          <p:cNvPr id="900" name="Slide Number Placeholder 900"/>
          <p:cNvSpPr>
            <a:spLocks noGrp="1"/>
          </p:cNvSpPr>
          <p:nvPr>
            <p:ph type="sldNum" sz="quarter" idx="4"/>
          </p:nvPr>
        </p:nvSpPr>
        <p:spPr/>
        <p:txBody>
          <a:bodyPr/>
          <a:lstStyle/>
          <a:p>
            <a:fld id="{6A358935-6B48-4518-B358-4C99ECF38DBC}" type="slidenum">
              <a:rPr lang="en-US" smtClean="0"/>
              <a:t>3</a:t>
            </a:fld>
            <a:endParaRPr lang="en-US"/>
          </a:p>
        </p:txBody>
      </p:sp>
      <p:sp>
        <p:nvSpPr>
          <p:cNvPr id="901" name="Block"/>
          <p:cNvSpPr/>
          <p:nvPr/>
        </p:nvSpPr>
        <p:spPr>
          <a:xfrm>
            <a:off x="3200400" y="1188720"/>
            <a:ext cx="27432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CLEAN DIESEL</a:t>
            </a:r>
          </a:p>
        </p:txBody>
      </p:sp>
      <p:cxnSp>
        <p:nvCxnSpPr>
          <p:cNvPr id="902" name="Connector 901"/>
          <p:cNvCxnSpPr/>
          <p:nvPr/>
        </p:nvCxnSpPr>
        <p:spPr>
          <a:xfrm flipH="1">
            <a:off x="1737360" y="1828800"/>
            <a:ext cx="283464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411479" y="2377440"/>
            <a:ext cx="2651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emissions</a:t>
            </a:r>
          </a:p>
        </p:txBody>
      </p:sp>
      <p:cxnSp>
        <p:nvCxnSpPr>
          <p:cNvPr id="904" name="Connector 903"/>
          <p:cNvCxnSpPr/>
          <p:nvPr/>
        </p:nvCxnSpPr>
        <p:spPr>
          <a:xfrm>
            <a:off x="4572000" y="182880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3246120" y="2377440"/>
            <a:ext cx="2651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performance</a:t>
            </a:r>
          </a:p>
        </p:txBody>
      </p:sp>
      <p:cxnSp>
        <p:nvCxnSpPr>
          <p:cNvPr id="906" name="Connector 905"/>
          <p:cNvCxnSpPr/>
          <p:nvPr/>
        </p:nvCxnSpPr>
        <p:spPr>
          <a:xfrm>
            <a:off x="4572000" y="1828800"/>
            <a:ext cx="283464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6080759" y="2377440"/>
            <a:ext cx="2651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customer demand</a:t>
            </a:r>
          </a:p>
        </p:txBody>
      </p:sp>
      <p:sp>
        <p:nvSpPr>
          <p:cNvPr id="908" name="DojAccount"/>
          <p:cNvSpPr txBox="1"/>
          <p:nvPr/>
        </p:nvSpPr>
        <p:spPr>
          <a:xfrm>
            <a:off x="548640" y="3566160"/>
            <a:ext cx="8046720" cy="1188720"/>
          </a:xfrm>
          <a:prstGeom prst="rect">
            <a:avLst/>
          </a:prstGeom>
          <a:noFill/>
        </p:spPr>
        <p:txBody>
          <a:bodyPr wrap="square" anchor="ctr" lIns="27432" rIns="27432" tIns="22860" bIns="22860">
            <a:spAutoFit/>
          </a:bodyPr>
          <a:lstStyle/>
          <a:p>
            <a:pPr algn="l"/>
            <a:r>
              <a:rPr sz="2000" b="1" i="0">
                <a:solidFill>
                  <a:srgbClr val="5C4826"/>
                </a:solidFill>
              </a:rPr>
              <a:t>DOJ's account: </a:t>
            </a:r>
            <a:r>
              <a:rPr sz="2000" b="0" i="0">
                <a:solidFill>
                  <a:srgbClr val="555960"/>
                </a:solidFill>
              </a:rPr>
              <a:t>engineers found they could not produce the desired engine that both met the stricter NOx standards and attracted sufficient U.S. customer demand.</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should happen when the engineering cannot satisfy the obligations?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They found a software solution</a:t>
            </a:r>
          </a:p>
        </p:txBody>
      </p:sp>
      <p:sp>
        <p:nvSpPr>
          <p:cNvPr id="900" name="Slide Number Placeholder 900"/>
          <p:cNvSpPr>
            <a:spLocks noGrp="1"/>
          </p:cNvSpPr>
          <p:nvPr>
            <p:ph type="sldNum" sz="quarter" idx="4"/>
          </p:nvPr>
        </p:nvSpPr>
        <p:spPr/>
        <p:txBody>
          <a:bodyPr/>
          <a:lstStyle/>
          <a:p>
            <a:fld id="{00393831-13B8-4D2E-92B4-CA000F66A112}" type="slidenum">
              <a:rPr lang="en-US" smtClean="0"/>
              <a:t>4</a:t>
            </a:fld>
            <a:endParaRPr lang="en-US"/>
          </a:p>
        </p:txBody>
      </p:sp>
      <p:sp>
        <p:nvSpPr>
          <p:cNvPr id="901" name="Block"/>
          <p:cNvSpPr/>
          <p:nvPr/>
        </p:nvSpPr>
        <p:spPr>
          <a:xfrm>
            <a:off x="3566160" y="100584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SOFTWARE</a:t>
            </a:r>
          </a:p>
        </p:txBody>
      </p:sp>
      <p:cxnSp>
        <p:nvCxnSpPr>
          <p:cNvPr id="902" name="Connector 901"/>
          <p:cNvCxnSpPr/>
          <p:nvPr/>
        </p:nvCxnSpPr>
        <p:spPr>
          <a:xfrm>
            <a:off x="4572000" y="1508760"/>
            <a:ext cx="0" cy="3657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337560" y="1874519"/>
            <a:ext cx="24688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regulatory test?</a:t>
            </a:r>
          </a:p>
        </p:txBody>
      </p:sp>
      <p:cxnSp>
        <p:nvCxnSpPr>
          <p:cNvPr id="904" name="Connector 903"/>
          <p:cNvCxnSpPr/>
          <p:nvPr/>
        </p:nvCxnSpPr>
        <p:spPr>
          <a:xfrm flipH="1">
            <a:off x="2103120" y="2377440"/>
            <a:ext cx="123444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5806440" y="2377440"/>
            <a:ext cx="86868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1920240" y="2212848"/>
            <a:ext cx="822960" cy="320040"/>
          </a:xfrm>
          <a:prstGeom prst="rect">
            <a:avLst/>
          </a:prstGeom>
          <a:noFill/>
        </p:spPr>
        <p:txBody>
          <a:bodyPr wrap="square" anchor="t" lIns="27432" rIns="27432" tIns="22860" bIns="22860">
            <a:spAutoFit/>
          </a:bodyPr>
          <a:lstStyle/>
          <a:p>
            <a:pPr algn="ctr"/>
            <a:r>
              <a:rPr sz="2000" b="1" i="0">
                <a:solidFill>
                  <a:srgbClr val="5C4826"/>
                </a:solidFill>
              </a:rPr>
              <a:t>YES</a:t>
            </a:r>
          </a:p>
        </p:txBody>
      </p:sp>
      <p:sp>
        <p:nvSpPr>
          <p:cNvPr id="907" name="Label"/>
          <p:cNvSpPr txBox="1"/>
          <p:nvPr/>
        </p:nvSpPr>
        <p:spPr>
          <a:xfrm>
            <a:off x="6355080" y="2212848"/>
            <a:ext cx="731520" cy="320040"/>
          </a:xfrm>
          <a:prstGeom prst="rect">
            <a:avLst/>
          </a:prstGeom>
          <a:noFill/>
        </p:spPr>
        <p:txBody>
          <a:bodyPr wrap="square" anchor="t" lIns="27432" rIns="27432" tIns="22860" bIns="22860">
            <a:spAutoFit/>
          </a:bodyPr>
          <a:lstStyle/>
          <a:p>
            <a:pPr algn="ctr"/>
            <a:r>
              <a:rPr sz="2000" b="1" i="0">
                <a:solidFill>
                  <a:srgbClr val="5C4826"/>
                </a:solidFill>
              </a:rPr>
              <a:t>NO</a:t>
            </a:r>
          </a:p>
        </p:txBody>
      </p:sp>
      <p:sp>
        <p:nvSpPr>
          <p:cNvPr id="908" name="Card"/>
          <p:cNvSpPr/>
          <p:nvPr/>
        </p:nvSpPr>
        <p:spPr>
          <a:xfrm>
            <a:off x="914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emissions controls</a:t>
            </a:r>
          </a:p>
        </p:txBody>
      </p:sp>
      <p:sp>
        <p:nvSpPr>
          <p:cNvPr id="909" name="Card"/>
          <p:cNvSpPr/>
          <p:nvPr/>
        </p:nvSpPr>
        <p:spPr>
          <a:xfrm>
            <a:off x="5486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reduced controls</a:t>
            </a:r>
          </a:p>
        </p:txBody>
      </p:sp>
      <p:cxnSp>
        <p:nvCxnSpPr>
          <p:cNvPr id="910" name="Connector 909"/>
          <p:cNvCxnSpPr/>
          <p:nvPr/>
        </p:nvCxnSpPr>
        <p:spPr>
          <a:xfrm>
            <a:off x="2103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0"/>
          <p:cNvCxnSpPr/>
          <p:nvPr/>
        </p:nvCxnSpPr>
        <p:spPr>
          <a:xfrm>
            <a:off x="6675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1371600" y="3657600"/>
            <a:ext cx="14630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PASS</a:t>
            </a:r>
          </a:p>
        </p:txBody>
      </p:sp>
      <p:sp>
        <p:nvSpPr>
          <p:cNvPr id="913" name="Block"/>
          <p:cNvSpPr/>
          <p:nvPr/>
        </p:nvSpPr>
        <p:spPr>
          <a:xfrm>
            <a:off x="5394960" y="3657600"/>
            <a:ext cx="2560320" cy="50292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much higher NOx</a:t>
            </a:r>
          </a:p>
        </p:txBody>
      </p:sp>
      <p:sp>
        <p:nvSpPr>
          <p:cNvPr id="914" name="Sources"/>
          <p:cNvSpPr txBox="1"/>
          <p:nvPr/>
        </p:nvSpPr>
        <p:spPr>
          <a:xfrm>
            <a:off x="411480" y="4434840"/>
            <a:ext cx="8321040" cy="1234440"/>
          </a:xfrm>
          <a:prstGeom prst="rect">
            <a:avLst/>
          </a:prstGeom>
          <a:noFill/>
        </p:spPr>
        <p:txBody>
          <a:bodyPr wrap="square" anchor="t" lIns="27432" rIns="27432" tIns="22860" bIns="22860">
            <a:spAutoFit/>
          </a:bodyPr>
          <a:lstStyle/>
          <a:p>
            <a:pPr algn="l"/>
            <a:r>
              <a:rPr sz="2000" b="1" i="0">
                <a:solidFill>
                  <a:srgbClr val="5C4826"/>
                </a:solidFill>
              </a:rPr>
              <a:t>EPA: </a:t>
            </a:r>
            <a:r>
              <a:rPr sz="2000" b="0" i="0">
                <a:solidFill>
                  <a:srgbClr val="555960"/>
                </a:solidFill>
              </a:rPr>
              <a:t>the affected vehicles contained software designed to cheat federal emissions tests. </a:t>
            </a:r>
            <a:r>
              <a:rPr sz="2000" b="1" i="0">
                <a:solidFill>
                  <a:srgbClr val="5C4826"/>
                </a:solidFill>
              </a:rPr>
              <a:t>DOJ: </a:t>
            </a:r>
            <a:r>
              <a:rPr sz="2000" b="0" i="0">
                <a:solidFill>
                  <a:srgbClr val="555960"/>
                </a:solidFill>
              </a:rPr>
              <a:t>the documents describe recognition of the published drive cycles, and emissions up to 40 times the applicable standard outside test mode.</a:t>
            </a:r>
          </a:p>
        </p:txBody>
      </p:sp>
      <p:sp>
        <p:nvSpPr>
          <p:cNvPr id="91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failed?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Some engineers objected</a:t>
            </a:r>
          </a:p>
        </p:txBody>
      </p:sp>
      <p:sp>
        <p:nvSpPr>
          <p:cNvPr id="900" name="Slide Number Placeholder 900"/>
          <p:cNvSpPr>
            <a:spLocks noGrp="1"/>
          </p:cNvSpPr>
          <p:nvPr>
            <p:ph type="sldNum" sz="quarter" idx="4"/>
          </p:nvPr>
        </p:nvSpPr>
        <p:spPr/>
        <p:txBody>
          <a:bodyPr/>
          <a:lstStyle/>
          <a:p>
            <a:fld id="{49A14B3B-9B77-43F2-8B18-8EDBEC27936C}" type="slidenum">
              <a:rPr lang="en-US" smtClean="0"/>
              <a:t>5</a:t>
            </a:fld>
            <a:endParaRPr lang="en-US"/>
          </a:p>
        </p:txBody>
      </p:sp>
      <p:sp>
        <p:nvSpPr>
          <p:cNvPr id="901" name="Card"/>
          <p:cNvSpPr/>
          <p:nvPr/>
        </p:nvSpPr>
        <p:spPr>
          <a:xfrm>
            <a:off x="411480" y="105156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Objection, escalated. </a:t>
            </a:r>
            <a:r>
              <a:rPr sz="2000" b="0" i="0">
                <a:solidFill>
                  <a:srgbClr val="555960"/>
                </a:solidFill>
              </a:rPr>
              <a:t>VW engineers, supported by supervisors, raised objections about the propriety of the defeat device and escalated the issue.</a:t>
            </a:r>
          </a:p>
        </p:txBody>
      </p:sp>
      <p:sp>
        <p:nvSpPr>
          <p:cNvPr id="902" name="Card"/>
          <p:cNvSpPr/>
          <p:nvPr/>
        </p:nvSpPr>
        <p:spPr>
          <a:xfrm>
            <a:off x="411480" y="214884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November 2006. </a:t>
            </a:r>
            <a:r>
              <a:rPr sz="2000" b="0" i="0">
                <a:solidFill>
                  <a:srgbClr val="555960"/>
                </a:solidFill>
              </a:rPr>
              <a:t>The relevant supervisor was briefed on its purpose and design, and decided production should continue.</a:t>
            </a:r>
          </a:p>
        </p:txBody>
      </p:sp>
      <p:sp>
        <p:nvSpPr>
          <p:cNvPr id="903" name="Card"/>
          <p:cNvSpPr/>
          <p:nvPr/>
        </p:nvSpPr>
        <p:spPr>
          <a:xfrm>
            <a:off x="411480" y="324612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The plea agreement </a:t>
            </a:r>
            <a:r>
              <a:rPr sz="2000" b="0" i="0">
                <a:solidFill>
                  <a:srgbClr val="555960"/>
                </a:solidFill>
              </a:rPr>
              <a:t>records the instruction, in substance, as </a:t>
            </a:r>
            <a:r>
              <a:rPr sz="2000" b="1" i="0">
                <a:solidFill>
                  <a:srgbClr val="9A3F12"/>
                </a:solidFill>
              </a:rPr>
              <a:t>“not to get caught.”</a:t>
            </a:r>
          </a:p>
        </p:txBody>
      </p:sp>
      <p:sp>
        <p:nvSpPr>
          <p:cNvPr id="904" name="Label"/>
          <p:cNvSpPr txBox="1"/>
          <p:nvPr/>
        </p:nvSpPr>
        <p:spPr>
          <a:xfrm>
            <a:off x="411480" y="4572000"/>
            <a:ext cx="8321040" cy="731520"/>
          </a:xfrm>
          <a:prstGeom prst="rect">
            <a:avLst/>
          </a:prstGeom>
          <a:noFill/>
        </p:spPr>
        <p:txBody>
          <a:bodyPr wrap="square" anchor="t" lIns="27432" rIns="27432" tIns="22860" bIns="22860">
            <a:spAutoFit/>
          </a:bodyPr>
          <a:lstStyle/>
          <a:p>
            <a:pPr algn="ctr"/>
            <a:r>
              <a:rPr sz="2200" b="0" i="1">
                <a:solidFill>
                  <a:srgbClr val="8E6F3E"/>
                </a:solidFill>
              </a:rPr>
              <a:t>Was raising the concern the end of those engineers’ professional responsibility?</a:t>
            </a:r>
          </a:p>
        </p:txBody>
      </p:sp>
      <p:sp>
        <p:nvSpPr>
          <p:cNvPr id="90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failed?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And yet engineers kept engineering it</a:t>
            </a:r>
          </a:p>
        </p:txBody>
      </p:sp>
      <p:sp>
        <p:nvSpPr>
          <p:cNvPr id="900" name="Slide Number Placeholder 900"/>
          <p:cNvSpPr>
            <a:spLocks noGrp="1"/>
          </p:cNvSpPr>
          <p:nvPr>
            <p:ph type="sldNum" sz="quarter" idx="4"/>
          </p:nvPr>
        </p:nvSpPr>
        <p:spPr/>
        <p:txBody>
          <a:bodyPr/>
          <a:lstStyle/>
          <a:p>
            <a:fld id="{18B79205-D12A-40D3-8F8D-9C5E87B1B06B}" type="slidenum">
              <a:rPr lang="en-US" smtClean="0"/>
              <a:t>6</a:t>
            </a:fld>
            <a:endParaRPr lang="en-US"/>
          </a:p>
        </p:txBody>
      </p:sp>
      <p:sp>
        <p:nvSpPr>
          <p:cNvPr id="901" name="Card"/>
          <p:cNvSpPr/>
          <p:nvPr/>
        </p:nvSpPr>
        <p:spPr>
          <a:xfrm>
            <a:off x="411480" y="1097280"/>
            <a:ext cx="8321040" cy="14173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Not a rogue ten-line hack. </a:t>
            </a:r>
            <a:r>
              <a:rPr sz="2000" b="0" i="0">
                <a:solidFill>
                  <a:srgbClr val="555960"/>
                </a:solidFill>
              </a:rPr>
              <a:t>The defeat device required engineering, calibration, integration, certification work, and continued maintenance.</a:t>
            </a:r>
          </a:p>
        </p:txBody>
      </p:sp>
      <p:sp>
        <p:nvSpPr>
          <p:cNvPr id="902" name="Card"/>
          <p:cNvSpPr/>
          <p:nvPr/>
        </p:nvSpPr>
        <p:spPr>
          <a:xfrm>
            <a:off x="411480" y="2743200"/>
            <a:ext cx="8321040" cy="1828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Delegated, too. </a:t>
            </a:r>
            <a:r>
              <a:rPr sz="2000" b="0" i="0">
                <a:solidFill>
                  <a:srgbClr val="555960"/>
                </a:solidFill>
              </a:rPr>
              <a:t>VW delegated software-development and exhaust-after-treatment work to IAV. An IAV employee prepared documentation for the test-recognition software, and by 2008 an IAV manager knew its purpose and directed continued work.</a:t>
            </a:r>
          </a:p>
        </p:txBody>
      </p:sp>
      <p:sp>
        <p:nvSpPr>
          <p:cNvPr id="903"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How many people does it take to get a system like this into 335,000, eventually hundreds of thousands, of U.S. vehicles?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2007: They reconsidered</a:t>
            </a:r>
          </a:p>
        </p:txBody>
      </p:sp>
      <p:sp>
        <p:nvSpPr>
          <p:cNvPr id="900" name="Slide Number Placeholder 900"/>
          <p:cNvSpPr>
            <a:spLocks noGrp="1"/>
          </p:cNvSpPr>
          <p:nvPr>
            <p:ph type="sldNum" sz="quarter" idx="4"/>
          </p:nvPr>
        </p:nvSpPr>
        <p:spPr/>
        <p:txBody>
          <a:bodyPr/>
          <a:lstStyle/>
          <a:p>
            <a:fld id="{69344503-8987-48F2-81C4-B15A70530D60}" type="slidenum">
              <a:rPr lang="en-US" smtClean="0"/>
              <a:t>7</a:t>
            </a:fld>
            <a:endParaRPr lang="en-US"/>
          </a:p>
        </p:txBody>
      </p:sp>
      <p:sp>
        <p:nvSpPr>
          <p:cNvPr id="901" name="Label"/>
          <p:cNvSpPr txBox="1"/>
          <p:nvPr/>
        </p:nvSpPr>
        <p:spPr>
          <a:xfrm>
            <a:off x="411480" y="1143000"/>
            <a:ext cx="8321040" cy="457200"/>
          </a:xfrm>
          <a:prstGeom prst="rect">
            <a:avLst/>
          </a:prstGeom>
          <a:noFill/>
        </p:spPr>
        <p:txBody>
          <a:bodyPr wrap="square" anchor="t" lIns="27432" rIns="27432" tIns="22860" bIns="22860">
            <a:spAutoFit/>
          </a:bodyPr>
          <a:lstStyle/>
          <a:p>
            <a:pPr algn="ctr"/>
            <a:r>
              <a:rPr sz="2200" b="0" i="0">
                <a:solidFill>
                  <a:srgbClr val="5C4826"/>
                </a:solidFill>
              </a:rPr>
              <a:t>More technical problems. Internal disagreement. A contentious October 2007 meeting.</a:t>
            </a:r>
          </a:p>
        </p:txBody>
      </p:sp>
      <p:sp>
        <p:nvSpPr>
          <p:cNvPr id="902" name="Block"/>
          <p:cNvSpPr/>
          <p:nvPr/>
        </p:nvSpPr>
        <p:spPr>
          <a:xfrm>
            <a:off x="3017520" y="2103120"/>
            <a:ext cx="3108960" cy="86868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FFFFFF"/>
                </a:solidFill>
              </a:rPr>
              <a:t>Result: PROCEED</a:t>
            </a:r>
          </a:p>
        </p:txBody>
      </p:sp>
      <p:sp>
        <p:nvSpPr>
          <p:cNvPr id="903" name="Doj"/>
          <p:cNvSpPr txBox="1"/>
          <p:nvPr/>
        </p:nvSpPr>
        <p:spPr>
          <a:xfrm>
            <a:off x="411480" y="3474720"/>
            <a:ext cx="8321040" cy="1188720"/>
          </a:xfrm>
          <a:prstGeom prst="rect">
            <a:avLst/>
          </a:prstGeom>
          <a:noFill/>
        </p:spPr>
        <p:txBody>
          <a:bodyPr wrap="square" anchor="ctr" lIns="27432" rIns="27432" tIns="22860" bIns="22860">
            <a:spAutoFit/>
          </a:bodyPr>
          <a:lstStyle/>
          <a:p>
            <a:pPr algn="l"/>
            <a:r>
              <a:rPr sz="2000" b="1" i="0">
                <a:solidFill>
                  <a:srgbClr val="5C4826"/>
                </a:solidFill>
              </a:rPr>
              <a:t>DOJ: </a:t>
            </a:r>
            <a:r>
              <a:rPr sz="2000" b="0" i="0">
                <a:solidFill>
                  <a:srgbClr val="555960"/>
                </a:solidFill>
              </a:rPr>
              <a:t>the supervisor authorized the project despite knowing that only the defeat device would allow the vehicles to pass the U.S. tests.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failed?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2009–2016: The engineering system keeps producing the result</a:t>
            </a:r>
          </a:p>
        </p:txBody>
      </p:sp>
      <p:sp>
        <p:nvSpPr>
          <p:cNvPr id="900" name="Slide Number Placeholder 900"/>
          <p:cNvSpPr>
            <a:spLocks noGrp="1"/>
          </p:cNvSpPr>
          <p:nvPr>
            <p:ph type="sldNum" sz="quarter" idx="4"/>
          </p:nvPr>
        </p:nvSpPr>
        <p:spPr/>
        <p:txBody>
          <a:bodyPr/>
          <a:lstStyle/>
          <a:p>
            <a:fld id="{34DDAC39-E592-4BC0-8D18-7414C01DF0F9}" type="slidenum">
              <a:rPr lang="en-US" smtClean="0"/>
              <a:t>8</a:t>
            </a:fld>
            <a:endParaRPr lang="en-US"/>
          </a:p>
        </p:txBody>
      </p:sp>
      <p:graphicFrame>
        <p:nvGraphicFramePr>
          <p:cNvPr id="901" name="Table 900"/>
          <p:cNvGraphicFramePr>
            <a:graphicFrameLocks noGrp="1"/>
          </p:cNvGraphicFramePr>
          <p:nvPr/>
        </p:nvGraphicFramePr>
        <p:xfrm>
          <a:off x="411480" y="1280160"/>
          <a:ext cx="8321040" cy="1508760"/>
        </p:xfrm>
        <a:graphic>
          <a:graphicData uri="http://schemas.openxmlformats.org/drawingml/2006/table">
            <a:tbl>
              <a:tblPr firstRow="1" bandRow="1">
                <a:tableStyleId>{5C22544A-7EE6-4342-B048-85BDC9FD1C3A}</a:tableStyleId>
              </a:tblPr>
              <a:tblGrid>
                <a:gridCol w="1737360"/>
                <a:gridCol w="822960"/>
                <a:gridCol w="822960"/>
                <a:gridCol w="822960"/>
                <a:gridCol w="822960"/>
                <a:gridCol w="822960"/>
                <a:gridCol w="822960"/>
                <a:gridCol w="822960"/>
                <a:gridCol w="822960"/>
              </a:tblGrid>
              <a:tr h="502920">
                <a:tc>
                  <a:txBody>
                    <a:bodyPr/>
                    <a:lstStyle/>
                    <a:p>
                      <a:pPr algn="ctr"/>
                      <a:r>
                        <a:rPr sz="2000" b="1" i="0">
                          <a:solidFill>
                            <a:srgbClr val="FFFFFF"/>
                          </a:solidFill>
                        </a:rPr>
                        <a:t>MODEL YEAR</a:t>
                      </a:r>
                    </a:p>
                  </a:txBody>
                  <a:tcPr anchor="ctr" marL="27432" marR="27432" marT="18288" marB="18288">
                    <a:solidFill>
                      <a:srgbClr val="8E6F3E"/>
                    </a:solidFill>
                  </a:tcPr>
                </a:tc>
                <a:tc>
                  <a:txBody>
                    <a:bodyPr/>
                    <a:lstStyle/>
                    <a:p>
                      <a:pPr algn="ctr"/>
                      <a:r>
                        <a:rPr sz="2000" b="1" i="0">
                          <a:solidFill>
                            <a:srgbClr val="FFFFFF"/>
                          </a:solidFill>
                        </a:rPr>
                        <a:t>2009</a:t>
                      </a:r>
                    </a:p>
                  </a:txBody>
                  <a:tcPr anchor="ctr" marL="27432" marR="27432" marT="18288" marB="18288">
                    <a:solidFill>
                      <a:srgbClr val="8E6F3E"/>
                    </a:solidFill>
                  </a:tcPr>
                </a:tc>
                <a:tc>
                  <a:txBody>
                    <a:bodyPr/>
                    <a:lstStyle/>
                    <a:p>
                      <a:pPr algn="ctr"/>
                      <a:r>
                        <a:rPr sz="2000" b="1" i="0">
                          <a:solidFill>
                            <a:srgbClr val="FFFFFF"/>
                          </a:solidFill>
                        </a:rPr>
                        <a:t>2010</a:t>
                      </a:r>
                    </a:p>
                  </a:txBody>
                  <a:tcPr anchor="ctr" marL="27432" marR="27432" marT="18288" marB="18288">
                    <a:solidFill>
                      <a:srgbClr val="8E6F3E"/>
                    </a:solidFill>
                  </a:tcPr>
                </a:tc>
                <a:tc>
                  <a:txBody>
                    <a:bodyPr/>
                    <a:lstStyle/>
                    <a:p>
                      <a:pPr algn="ctr"/>
                      <a:r>
                        <a:rPr sz="2000" b="1" i="0">
                          <a:solidFill>
                            <a:srgbClr val="FFFFFF"/>
                          </a:solidFill>
                        </a:rPr>
                        <a:t>2011</a:t>
                      </a:r>
                    </a:p>
                  </a:txBody>
                  <a:tcPr anchor="ctr" marL="27432" marR="27432" marT="18288" marB="18288">
                    <a:solidFill>
                      <a:srgbClr val="8E6F3E"/>
                    </a:solidFill>
                  </a:tcPr>
                </a:tc>
                <a:tc>
                  <a:txBody>
                    <a:bodyPr/>
                    <a:lstStyle/>
                    <a:p>
                      <a:pPr algn="ctr"/>
                      <a:r>
                        <a:rPr sz="2000" b="1" i="0">
                          <a:solidFill>
                            <a:srgbClr val="FFFFFF"/>
                          </a:solidFill>
                        </a:rPr>
                        <a:t>2012</a:t>
                      </a:r>
                    </a:p>
                  </a:txBody>
                  <a:tcPr anchor="ctr" marL="27432" marR="27432" marT="18288" marB="18288">
                    <a:solidFill>
                      <a:srgbClr val="8E6F3E"/>
                    </a:solidFill>
                  </a:tcPr>
                </a:tc>
                <a:tc>
                  <a:txBody>
                    <a:bodyPr/>
                    <a:lstStyle/>
                    <a:p>
                      <a:pPr algn="ctr"/>
                      <a:r>
                        <a:rPr sz="2000" b="1" i="0">
                          <a:solidFill>
                            <a:srgbClr val="FFFFFF"/>
                          </a:solidFill>
                        </a:rPr>
                        <a:t>2013</a:t>
                      </a:r>
                    </a:p>
                  </a:txBody>
                  <a:tcPr anchor="ctr" marL="27432" marR="27432" marT="18288" marB="18288">
                    <a:solidFill>
                      <a:srgbClr val="8E6F3E"/>
                    </a:solidFill>
                  </a:tcPr>
                </a:tc>
                <a:tc>
                  <a:txBody>
                    <a:bodyPr/>
                    <a:lstStyle/>
                    <a:p>
                      <a:pPr algn="ctr"/>
                      <a:r>
                        <a:rPr sz="2000" b="1" i="0">
                          <a:solidFill>
                            <a:srgbClr val="FFFFFF"/>
                          </a:solidFill>
                        </a:rPr>
                        <a:t>2014</a:t>
                      </a:r>
                    </a:p>
                  </a:txBody>
                  <a:tcPr anchor="ctr" marL="27432" marR="27432" marT="18288" marB="18288">
                    <a:solidFill>
                      <a:srgbClr val="8E6F3E"/>
                    </a:solidFill>
                  </a:tcPr>
                </a:tc>
                <a:tc>
                  <a:txBody>
                    <a:bodyPr/>
                    <a:lstStyle/>
                    <a:p>
                      <a:pPr algn="ctr"/>
                      <a:r>
                        <a:rPr sz="2000" b="1" i="0">
                          <a:solidFill>
                            <a:srgbClr val="FFFFFF"/>
                          </a:solidFill>
                        </a:rPr>
                        <a:t>2015</a:t>
                      </a:r>
                    </a:p>
                  </a:txBody>
                  <a:tcPr anchor="ctr" marL="27432" marR="27432" marT="18288" marB="18288">
                    <a:solidFill>
                      <a:srgbClr val="8E6F3E"/>
                    </a:solidFill>
                  </a:tcPr>
                </a:tc>
                <a:tc>
                  <a:txBody>
                    <a:bodyPr/>
                    <a:lstStyle/>
                    <a:p>
                      <a:pPr algn="ctr"/>
                      <a:r>
                        <a:rPr sz="2000" b="1" i="0">
                          <a:solidFill>
                            <a:srgbClr val="FFFFFF"/>
                          </a:solidFill>
                        </a:rPr>
                        <a:t>2016</a:t>
                      </a:r>
                    </a:p>
                  </a:txBody>
                  <a:tcPr anchor="ctr" marL="27432" marR="27432" marT="18288" marB="18288">
                    <a:solidFill>
                      <a:srgbClr val="8E6F3E"/>
                    </a:solidFill>
                  </a:tcPr>
                </a:tc>
              </a:tr>
              <a:tr h="502920">
                <a:tc>
                  <a:txBody>
                    <a:bodyPr/>
                    <a:lstStyle/>
                    <a:p>
                      <a:pPr algn="ctr"/>
                      <a:r>
                        <a:rPr sz="2000" b="1" i="0">
                          <a:solidFill>
                            <a:srgbClr val="5C4826"/>
                          </a:solidFill>
                        </a:rPr>
                        <a:t>CERTIFY</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r>
              <a:tr h="502920">
                <a:tc>
                  <a:txBody>
                    <a:bodyPr/>
                    <a:lstStyle/>
                    <a:p>
                      <a:pPr algn="ctr"/>
                      <a:r>
                        <a:rPr sz="2000" b="1" i="0">
                          <a:solidFill>
                            <a:srgbClr val="5C4826"/>
                          </a:solidFill>
                        </a:rPr>
                        <a:t>SELL</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r>
            </a:tbl>
          </a:graphicData>
        </a:graphic>
      </p:graphicFrame>
      <p:sp>
        <p:nvSpPr>
          <p:cNvPr id="902" name="Doj"/>
          <p:cNvSpPr txBox="1"/>
          <p:nvPr/>
        </p:nvSpPr>
        <p:spPr>
          <a:xfrm>
            <a:off x="411480" y="3246120"/>
            <a:ext cx="8321040" cy="1463040"/>
          </a:xfrm>
          <a:prstGeom prst="rect">
            <a:avLst/>
          </a:prstGeom>
          <a:noFill/>
        </p:spPr>
        <p:txBody>
          <a:bodyPr wrap="square" anchor="t" lIns="27432" rIns="27432" tIns="22860" bIns="22860">
            <a:spAutoFit/>
          </a:bodyPr>
          <a:lstStyle/>
          <a:p>
            <a:pPr algn="l"/>
            <a:r>
              <a:rPr sz="2000" b="1" i="0">
                <a:solidFill>
                  <a:srgbClr val="5C4826"/>
                </a:solidFill>
              </a:rPr>
              <a:t>The certification was not a one-time failure. </a:t>
            </a:r>
            <a:r>
              <a:rPr sz="2000" b="0" i="0">
                <a:solidFill>
                  <a:srgbClr val="555960"/>
                </a:solidFill>
              </a:rPr>
              <a:t>DOJ: false certifications continued model year after model year, with employees meeting EPA/CARB and concealing the defeat device.</a:t>
            </a:r>
          </a:p>
        </p:txBody>
      </p:sp>
      <p:sp>
        <p:nvSpPr>
          <p:cNvPr id="903"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Where could the engineering environment have made the wrong action difficult or impossible?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2012: Reality provides another observation</a:t>
            </a:r>
          </a:p>
        </p:txBody>
      </p:sp>
      <p:sp>
        <p:nvSpPr>
          <p:cNvPr id="900" name="Slide Number Placeholder 900"/>
          <p:cNvSpPr>
            <a:spLocks noGrp="1"/>
          </p:cNvSpPr>
          <p:nvPr>
            <p:ph type="sldNum" sz="quarter" idx="4"/>
          </p:nvPr>
        </p:nvSpPr>
        <p:spPr/>
        <p:txBody>
          <a:bodyPr/>
          <a:lstStyle/>
          <a:p>
            <a:fld id="{8CF8A65D-8523-4C39-BD83-5C787F1FA9B3}" type="slidenum">
              <a:rPr lang="en-US" smtClean="0"/>
              <a:t>9</a:t>
            </a:fld>
            <a:endParaRPr lang="en-US"/>
          </a:p>
        </p:txBody>
      </p:sp>
      <p:sp>
        <p:nvSpPr>
          <p:cNvPr id="901" name="Facts"/>
          <p:cNvSpPr txBox="1"/>
          <p:nvPr/>
        </p:nvSpPr>
        <p:spPr>
          <a:xfrm>
            <a:off x="365760" y="1097280"/>
            <a:ext cx="4754880" cy="4023360"/>
          </a:xfrm>
          <a:prstGeom prst="rect">
            <a:avLst/>
          </a:prstGeom>
          <a:noFill/>
        </p:spPr>
        <p:txBody>
          <a:bodyPr wrap="square" anchor="t" lIns="27432" rIns="27432" tIns="22860" bIns="22860">
            <a:spAutoFit/>
          </a:bodyPr>
          <a:lstStyle/>
          <a:p>
            <a:pPr algn="l"/>
            <a:r>
              <a:rPr sz="2000" b="1" i="0">
                <a:solidFill>
                  <a:srgbClr val="5C4826"/>
                </a:solidFill>
              </a:rPr>
              <a:t>Hardware starts failing.</a:t>
            </a:r>
          </a:p>
          <a:p>
            <a:pPr algn="l">
              <a:spcBef>
                <a:spcPts val="1200"/>
              </a:spcBef>
            </a:pPr>
            <a:r>
              <a:rPr sz="2000" b="0" i="0">
                <a:solidFill>
                  <a:srgbClr val="555960"/>
                </a:solidFill>
              </a:rPr>
              <a:t>Engineers investigate and conclude that additional stress associated with dyno mode may explain the hardware failures. They explain both the diagnosis and the defeat device to management.</a:t>
            </a:r>
          </a:p>
          <a:p>
            <a:pPr algn="l">
              <a:spcBef>
                <a:spcPts val="1200"/>
              </a:spcBef>
            </a:pPr>
            <a:r>
              <a:rPr sz="2000" b="1" i="0">
                <a:solidFill>
                  <a:srgbClr val="5C4826"/>
                </a:solidFill>
              </a:rPr>
              <a:t>And what happens? </a:t>
            </a:r>
            <a:r>
              <a:rPr sz="2000" b="0" i="0">
                <a:solidFill>
                  <a:srgbClr val="555960"/>
                </a:solidFill>
              </a:rPr>
              <a:t>Further concealment — followed eventually by an improved defeat device using steering-wheel-angle recognition.</a:t>
            </a:r>
          </a:p>
        </p:txBody>
      </p:sp>
      <p:sp>
        <p:nvSpPr>
          <p:cNvPr id="902" name="Block"/>
          <p:cNvSpPr/>
          <p:nvPr/>
        </p:nvSpPr>
        <p:spPr>
          <a:xfrm>
            <a:off x="5577840" y="1188720"/>
            <a:ext cx="28346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cxnSp>
        <p:nvCxnSpPr>
          <p:cNvPr id="903" name="Connector 902"/>
          <p:cNvCxnSpPr/>
          <p:nvPr/>
        </p:nvCxnSpPr>
        <p:spPr>
          <a:xfrm>
            <a:off x="6995160" y="1737360"/>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5577840" y="2121408"/>
            <a:ext cx="28346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NEW EVIDENCE</a:t>
            </a:r>
          </a:p>
        </p:txBody>
      </p:sp>
      <p:cxnSp>
        <p:nvCxnSpPr>
          <p:cNvPr id="905" name="Connector 904"/>
          <p:cNvCxnSpPr/>
          <p:nvPr/>
        </p:nvCxnSpPr>
        <p:spPr>
          <a:xfrm>
            <a:off x="6995160" y="2670048"/>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Block"/>
          <p:cNvSpPr/>
          <p:nvPr/>
        </p:nvSpPr>
        <p:spPr>
          <a:xfrm>
            <a:off x="5577840" y="3054096"/>
            <a:ext cx="28346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INTERPRETATION</a:t>
            </a:r>
          </a:p>
        </p:txBody>
      </p:sp>
      <p:cxnSp>
        <p:nvCxnSpPr>
          <p:cNvPr id="907" name="Connector 906"/>
          <p:cNvCxnSpPr/>
          <p:nvPr/>
        </p:nvCxnSpPr>
        <p:spPr>
          <a:xfrm>
            <a:off x="6995160" y="3602736"/>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Block"/>
          <p:cNvSpPr/>
          <p:nvPr/>
        </p:nvSpPr>
        <p:spPr>
          <a:xfrm>
            <a:off x="5577840" y="3986784"/>
            <a:ext cx="2834640" cy="54864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They did learn from the failure. They learned how to make the existing system work better.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2014–15: Someone outside the system measures reality</a:t>
            </a:r>
          </a:p>
        </p:txBody>
      </p:sp>
      <p:sp>
        <p:nvSpPr>
          <p:cNvPr id="900" name="Slide Number Placeholder 900"/>
          <p:cNvSpPr>
            <a:spLocks noGrp="1"/>
          </p:cNvSpPr>
          <p:nvPr>
            <p:ph type="sldNum" sz="quarter" idx="4"/>
          </p:nvPr>
        </p:nvSpPr>
        <p:spPr/>
        <p:txBody>
          <a:bodyPr/>
          <a:lstStyle/>
          <a:p>
            <a:fld id="{1CC19601-3229-4026-8A65-27C733DA7C77}" type="slidenum">
              <a:rPr lang="en-US" smtClean="0"/>
              <a:t>10</a:t>
            </a:fld>
            <a:endParaRPr lang="en-US"/>
          </a:p>
        </p:txBody>
      </p:sp>
      <p:sp>
        <p:nvSpPr>
          <p:cNvPr id="901" name="Card"/>
          <p:cNvSpPr/>
          <p:nvPr/>
        </p:nvSpPr>
        <p:spPr>
          <a:xfrm>
            <a:off x="411480" y="1051560"/>
            <a:ext cx="246888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External road testing</a:t>
            </a:r>
          </a:p>
        </p:txBody>
      </p:sp>
      <p:cxnSp>
        <p:nvCxnSpPr>
          <p:cNvPr id="902" name="Connector 901"/>
          <p:cNvCxnSpPr/>
          <p:nvPr/>
        </p:nvCxnSpPr>
        <p:spPr>
          <a:xfrm>
            <a:off x="2880360" y="1371600"/>
            <a:ext cx="3657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246120" y="1051560"/>
            <a:ext cx="246888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Regulators</a:t>
            </a:r>
          </a:p>
        </p:txBody>
      </p:sp>
      <p:cxnSp>
        <p:nvCxnSpPr>
          <p:cNvPr id="904" name="Connector 903"/>
          <p:cNvCxnSpPr/>
          <p:nvPr/>
        </p:nvCxnSpPr>
        <p:spPr>
          <a:xfrm>
            <a:off x="5715000" y="1371600"/>
            <a:ext cx="3657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6080760" y="105156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2015: EPA notice</a:t>
            </a:r>
          </a:p>
        </p:txBody>
      </p:sp>
      <p:sp>
        <p:nvSpPr>
          <p:cNvPr id="906" name="Card"/>
          <p:cNvSpPr/>
          <p:nvPr/>
        </p:nvSpPr>
        <p:spPr>
          <a:xfrm>
            <a:off x="411480" y="2057400"/>
            <a:ext cx="832104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Engineer James Liang </a:t>
            </a:r>
            <a:r>
              <a:rPr sz="2000" b="0" i="0">
                <a:solidFill>
                  <a:srgbClr val="555960"/>
                </a:solidFill>
              </a:rPr>
              <a:t>pleaded guilty and was sentenced for his role; DOJ records say he helped make the defeat device work and participated in deception of regulators.</a:t>
            </a:r>
          </a:p>
        </p:txBody>
      </p:sp>
      <p:sp>
        <p:nvSpPr>
          <p:cNvPr id="907" name="Card"/>
          <p:cNvSpPr/>
          <p:nvPr/>
        </p:nvSpPr>
        <p:spPr>
          <a:xfrm>
            <a:off x="411480" y="3291840"/>
            <a:ext cx="83210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Managers and executives </a:t>
            </a:r>
            <a:r>
              <a:rPr sz="2000" b="0" i="0">
                <a:solidFill>
                  <a:srgbClr val="555960"/>
                </a:solidFill>
              </a:rPr>
              <a:t>were prosecuted or charged.</a:t>
            </a:r>
          </a:p>
        </p:txBody>
      </p:sp>
      <p:sp>
        <p:nvSpPr>
          <p:cNvPr id="908" name="Card"/>
          <p:cNvSpPr/>
          <p:nvPr/>
        </p:nvSpPr>
        <p:spPr>
          <a:xfrm>
            <a:off x="411480" y="4206240"/>
            <a:ext cx="832104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Volkswagen </a:t>
            </a:r>
            <a:r>
              <a:rPr sz="2000" b="0" i="0">
                <a:solidFill>
                  <a:srgbClr val="555960"/>
                </a:solidFill>
              </a:rPr>
              <a:t>pleaded guilty and received a $2.8B U.S. criminal penalty, among other settlements and consequences.</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Where does responsibility lie in a failure produced and sustained by many people and mechanisms?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What theory explains it?</a:t>
            </a:r>
          </a:p>
        </p:txBody>
      </p:sp>
      <p:sp>
        <p:nvSpPr>
          <p:cNvPr id="900" name="Slide Number Placeholder 900"/>
          <p:cNvSpPr>
            <a:spLocks noGrp="1"/>
          </p:cNvSpPr>
          <p:nvPr>
            <p:ph type="sldNum" sz="quarter" idx="4"/>
          </p:nvPr>
        </p:nvSpPr>
        <p:spPr/>
        <p:txBody>
          <a:bodyPr/>
          <a:lstStyle/>
          <a:p>
            <a:fld id="{3B223778-6764-4D81-904E-8786918EE0A1}" type="slidenum">
              <a:rPr lang="en-US" smtClean="0"/>
              <a:t>11</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1</a:t>
            </a:r>
          </a:p>
        </p:txBody>
      </p:sp>
      <p:sp>
        <p:nvSpPr>
          <p:cNvPr id="902" name="Question"/>
          <p:cNvSpPr txBox="1"/>
          <p:nvPr/>
        </p:nvSpPr>
        <p:spPr>
          <a:xfrm>
            <a:off x="685800" y="2816352"/>
            <a:ext cx="7772400" cy="475488"/>
          </a:xfrm>
          <a:prstGeom prst="rect">
            <a:avLst/>
          </a:prstGeom>
          <a:noFill/>
        </p:spPr>
        <p:txBody>
          <a:bodyPr wrap="square" anchor="ctr" lIns="27432" rIns="27432" tIns="22860" bIns="22860">
            <a:spAutoFit/>
          </a:bodyPr>
          <a:lstStyle/>
          <a:p>
            <a:pPr algn="ctr"/>
            <a:r>
              <a:rPr sz="2400" b="0" i="0">
                <a:solidFill>
                  <a:srgbClr val="5C4826"/>
                </a:solidFill>
              </a:rPr>
              <a:t>And what does each theory let you change?</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caused the Volkswagen failure?</a:t>
            </a:r>
          </a:p>
        </p:txBody>
      </p:sp>
      <p:sp>
        <p:nvSpPr>
          <p:cNvPr id="900" name="Slide Number Placeholder 900"/>
          <p:cNvSpPr>
            <a:spLocks noGrp="1"/>
          </p:cNvSpPr>
          <p:nvPr>
            <p:ph type="sldNum" sz="quarter" idx="4"/>
          </p:nvPr>
        </p:nvSpPr>
        <p:spPr/>
        <p:txBody>
          <a:bodyPr/>
          <a:lstStyle/>
          <a:p>
            <a:fld id="{00F42B8D-282B-4541-BC87-223291F13518}" type="slidenum">
              <a:rPr lang="en-US" smtClean="0"/>
              <a:t>12</a:t>
            </a:fld>
            <a:endParaRPr lang="en-US"/>
          </a:p>
        </p:txBody>
      </p:sp>
      <p:sp>
        <p:nvSpPr>
          <p:cNvPr id="901" name="Card"/>
          <p:cNvSpPr/>
          <p:nvPr/>
        </p:nvSpPr>
        <p:spPr>
          <a:xfrm>
            <a:off x="914400" y="1188720"/>
            <a:ext cx="7315200" cy="4297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Your answers</a:t>
            </a:r>
          </a:p>
          <a:p>
            <a:pPr algn="ctr">
              <a:spcBef>
                <a:spcPts val="1000"/>
              </a:spcBef>
            </a:pPr>
            <a:r>
              <a:rPr sz="2000" b="0" i="1">
                <a:solidFill>
                  <a:srgbClr val="555960"/>
                </a:solidFill>
              </a:rPr>
              <a:t>(collected live)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Human error</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1" name="Card"/>
          <p:cNvSpPr/>
          <p:nvPr/>
        </p:nvSpPr>
        <p:spPr>
          <a:xfrm>
            <a:off x="548640" y="1463040"/>
            <a:ext cx="3749039" cy="23774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CAUSAL MODEL</a:t>
            </a:r>
          </a:p>
          <a:p>
            <a:pPr algn="ctr">
              <a:spcBef>
                <a:spcPts val="1200"/>
              </a:spcBef>
            </a:pPr>
            <a:r>
              <a:rPr sz="2000" b="0" i="0">
                <a:solidFill>
                  <a:srgbClr val="555960"/>
                </a:solidFill>
              </a:rPr>
              <a:t>An individual erred.</a:t>
            </a:r>
          </a:p>
        </p:txBody>
      </p:sp>
      <p:cxnSp>
        <p:nvCxnSpPr>
          <p:cNvPr id="902" name="Connector 901"/>
          <p:cNvCxnSpPr/>
          <p:nvPr/>
        </p:nvCxnSpPr>
        <p:spPr>
          <a:xfrm>
            <a:off x="4389120" y="265176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5029200" y="1463040"/>
            <a:ext cx="3566160" cy="23774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ONE INTERVENTION</a:t>
            </a:r>
          </a:p>
          <a:p>
            <a:pPr algn="ctr"/>
            <a:r>
              <a:rPr sz="2000" b="0" i="0">
                <a:solidFill>
                  <a:srgbClr val="FFFFFF"/>
                </a:solidFill>
              </a:rPr>
              <a:t>change the individual</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Useful, but gives one intervention.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Swiss cheese</a:t>
            </a:r>
          </a:p>
        </p:txBody>
      </p:sp>
      <p:sp>
        <p:nvSpPr>
          <p:cNvPr id="900" name="Slide Number Placeholder 900"/>
          <p:cNvSpPr>
            <a:spLocks noGrp="1"/>
          </p:cNvSpPr>
          <p:nvPr>
            <p:ph type="sldNum" sz="quarter" idx="4"/>
          </p:nvPr>
        </p:nvSpPr>
        <p:spPr/>
        <p:txBody>
          <a:bodyPr/>
          <a:lstStyle/>
          <a:p>
            <a:fld id="{E3DB674E-A080-44A8-A874-38AE3C84A5E2}" type="slidenum">
              <a:rPr lang="en-US" smtClean="0"/>
              <a:t>14</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anchor="t" lIns="27432" rIns="27432" tIns="22860" bIns="22860">
            <a:spAutoFit/>
          </a:bodyPr>
          <a:lstStyle/>
          <a:p>
            <a:pPr algn="ctr"/>
            <a:r>
              <a:rPr sz="2200" b="0" i="0">
                <a:solidFill>
                  <a:srgbClr val="5C4826"/>
                </a:solidFill>
              </a:rPr>
              <a:t>Now defenses and their holes matter.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Organizational causation</a:t>
            </a:r>
          </a:p>
        </p:txBody>
      </p:sp>
      <p:sp>
        <p:nvSpPr>
          <p:cNvPr id="900" name="Slide Number Placeholder 900"/>
          <p:cNvSpPr>
            <a:spLocks noGrp="1"/>
          </p:cNvSpPr>
          <p:nvPr>
            <p:ph type="sldNum" sz="quarter" idx="4"/>
          </p:nvPr>
        </p:nvSpPr>
        <p:spPr/>
        <p:txBody>
          <a:bodyPr/>
          <a:lstStyle/>
          <a:p>
            <a:fld id="{914DCAD9-F068-4234-801B-B81BE39514E5}" type="slidenum">
              <a:rPr lang="en-US" smtClean="0"/>
              <a:t>15</a:t>
            </a:fld>
            <a:endParaRPr lang="en-US"/>
          </a:p>
        </p:txBody>
      </p:sp>
      <p:sp>
        <p:nvSpPr>
          <p:cNvPr id="901" name="Block"/>
          <p:cNvSpPr/>
          <p:nvPr/>
        </p:nvSpPr>
        <p:spPr>
          <a:xfrm>
            <a:off x="548640" y="237744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CONDITIONS</a:t>
            </a:r>
          </a:p>
        </p:txBody>
      </p:sp>
      <p:cxnSp>
        <p:nvCxnSpPr>
          <p:cNvPr id="902" name="Connector 901"/>
          <p:cNvCxnSpPr/>
          <p:nvPr/>
        </p:nvCxnSpPr>
        <p:spPr>
          <a:xfrm>
            <a:off x="301752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566160" y="2377440"/>
            <a:ext cx="24688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behavior</a:t>
            </a:r>
          </a:p>
        </p:txBody>
      </p:sp>
      <p:cxnSp>
        <p:nvCxnSpPr>
          <p:cNvPr id="904" name="Connector 903"/>
          <p:cNvCxnSpPr/>
          <p:nvPr/>
        </p:nvCxnSpPr>
        <p:spPr>
          <a:xfrm>
            <a:off x="603504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6583680" y="237744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outcome</a:t>
            </a:r>
          </a:p>
        </p:txBody>
      </p:sp>
      <p:sp>
        <p:nvSpPr>
          <p:cNvPr id="906" name="Label"/>
          <p:cNvSpPr txBox="1"/>
          <p:nvPr/>
        </p:nvSpPr>
        <p:spPr>
          <a:xfrm>
            <a:off x="548640" y="3840480"/>
            <a:ext cx="8046720" cy="457200"/>
          </a:xfrm>
          <a:prstGeom prst="rect">
            <a:avLst/>
          </a:prstGeom>
          <a:noFill/>
        </p:spPr>
        <p:txBody>
          <a:bodyPr wrap="square" anchor="t" lIns="27432" rIns="27432" tIns="22860" bIns="22860">
            <a:spAutoFit/>
          </a:bodyPr>
          <a:lstStyle/>
          <a:p>
            <a:pPr algn="ctr"/>
            <a:r>
              <a:rPr sz="2200" b="0" i="0">
                <a:solidFill>
                  <a:srgbClr val="5C4826"/>
                </a:solidFill>
              </a:rPr>
              <a:t>Now conditions shaping behavior matter.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STAMP: Fine, include everything</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REGULATORS</a:t>
            </a:r>
          </a:p>
        </p:txBody>
      </p:sp>
      <p:cxnSp>
        <p:nvCxnSpPr>
          <p:cNvPr id="902" name="Connector 901"/>
          <p:cNvCxnSpPr/>
          <p:nvPr/>
        </p:nvCxnSpPr>
        <p:spPr>
          <a:xfrm>
            <a:off x="402336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ORGANIZATION</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OPERATING PROCESS</a:t>
            </a:r>
          </a:p>
        </p:txBody>
      </p:sp>
      <p:sp>
        <p:nvSpPr>
          <p:cNvPr id="911" name="Label"/>
          <p:cNvSpPr txBox="1"/>
          <p:nvPr/>
        </p:nvSpPr>
        <p:spPr>
          <a:xfrm>
            <a:off x="411480" y="2377440"/>
            <a:ext cx="2331720" cy="731520"/>
          </a:xfrm>
          <a:prstGeom prst="rect">
            <a:avLst/>
          </a:prstGeom>
          <a:noFill/>
        </p:spPr>
        <p:txBody>
          <a:bodyPr wrap="square" anchor="t" lIns="27432" rIns="27432" tIns="22860" bIns="22860">
            <a:spAutoFit/>
          </a:bodyPr>
          <a:lstStyle/>
          <a:p>
            <a:pPr algn="r"/>
            <a:r>
              <a:rPr sz="2000" b="0" i="0">
                <a:solidFill>
                  <a:srgbClr val="555960"/>
                </a:solidFill>
              </a:rPr>
              <a:t>control ↓</a:t>
            </a:r>
          </a:p>
        </p:txBody>
      </p:sp>
      <p:sp>
        <p:nvSpPr>
          <p:cNvPr id="912" name="Label"/>
          <p:cNvSpPr txBox="1"/>
          <p:nvPr/>
        </p:nvSpPr>
        <p:spPr>
          <a:xfrm>
            <a:off x="6400800" y="2377440"/>
            <a:ext cx="2103120" cy="731520"/>
          </a:xfrm>
          <a:prstGeom prst="rect">
            <a:avLst/>
          </a:prstGeom>
          <a:noFill/>
        </p:spPr>
        <p:txBody>
          <a:bodyPr wrap="square" anchor="t" lIns="27432" rIns="27432" tIns="22860" bIns="22860">
            <a:spAutoFit/>
          </a:bodyPr>
          <a:lstStyle/>
          <a:p>
            <a:pPr algn="l"/>
            <a:r>
              <a:rPr sz="2000" b="0" i="0">
                <a:solidFill>
                  <a:srgbClr val="555960"/>
                </a:solidFill>
              </a:rPr>
              <a:t>↑ feedback</a:t>
            </a:r>
          </a:p>
        </p:txBody>
      </p:sp>
      <p:sp>
        <p:nvSpPr>
          <p:cNvPr id="913" name="Label"/>
          <p:cNvSpPr txBox="1"/>
          <p:nvPr/>
        </p:nvSpPr>
        <p:spPr>
          <a:xfrm>
            <a:off x="548640" y="5303520"/>
            <a:ext cx="8046720" cy="457200"/>
          </a:xfrm>
          <a:prstGeom prst="rect">
            <a:avLst/>
          </a:prstGeom>
          <a:noFill/>
        </p:spPr>
        <p:txBody>
          <a:bodyPr wrap="square" anchor="t" lIns="27432" rIns="27432" tIns="22860" bIns="22860">
            <a:spAutoFit/>
          </a:bodyPr>
          <a:lstStyle/>
          <a:p>
            <a:pPr algn="ctr"/>
            <a:r>
              <a:rPr sz="2200" b="0" i="0">
                <a:solidFill>
                  <a:srgbClr val="5C4826"/>
                </a:solidFill>
              </a:rPr>
              <a:t>Model the entire control structure — every level, every loop.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More complete can become less actionable</a:t>
            </a:r>
          </a:p>
        </p:txBody>
      </p:sp>
      <p:sp>
        <p:nvSpPr>
          <p:cNvPr id="900" name="Slide Number Placeholder 900"/>
          <p:cNvSpPr>
            <a:spLocks noGrp="1"/>
          </p:cNvSpPr>
          <p:nvPr>
            <p:ph type="sldNum" sz="quarter" idx="4"/>
          </p:nvPr>
        </p:nvSpPr>
        <p:spPr/>
        <p:txBody>
          <a:bodyPr/>
          <a:lstStyle/>
          <a:p>
            <a:fld id="{A5E8DDF8-F0A4-457E-8C49-34448B87F78F}" type="slidenum">
              <a:rPr lang="en-US" smtClean="0"/>
              <a:t>17</a:t>
            </a:fld>
            <a:endParaRPr lang="en-US"/>
          </a:p>
        </p:txBody>
      </p:sp>
      <p:sp>
        <p:nvSpPr>
          <p:cNvPr id="901" name="Card"/>
          <p:cNvSpPr/>
          <p:nvPr/>
        </p:nvSpPr>
        <p:spPr>
          <a:xfrm>
            <a:off x="548640"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Human error</a:t>
            </a:r>
          </a:p>
        </p:txBody>
      </p:sp>
      <p:sp>
        <p:nvSpPr>
          <p:cNvPr id="902" name="Card"/>
          <p:cNvSpPr/>
          <p:nvPr/>
        </p:nvSpPr>
        <p:spPr>
          <a:xfrm>
            <a:off x="2624328"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Swiss cheese</a:t>
            </a:r>
          </a:p>
        </p:txBody>
      </p:sp>
      <p:sp>
        <p:nvSpPr>
          <p:cNvPr id="903" name="Card"/>
          <p:cNvSpPr/>
          <p:nvPr/>
        </p:nvSpPr>
        <p:spPr>
          <a:xfrm>
            <a:off x="4700016"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Organizational</a:t>
            </a:r>
          </a:p>
        </p:txBody>
      </p:sp>
      <p:sp>
        <p:nvSpPr>
          <p:cNvPr id="904" name="Card"/>
          <p:cNvSpPr/>
          <p:nvPr/>
        </p:nvSpPr>
        <p:spPr>
          <a:xfrm>
            <a:off x="6775704"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STAMP</a:t>
            </a:r>
          </a:p>
        </p:txBody>
      </p:sp>
      <p:cxnSp>
        <p:nvCxnSpPr>
          <p:cNvPr id="905" name="Connector 904"/>
          <p:cNvCxnSpPr/>
          <p:nvPr/>
        </p:nvCxnSpPr>
        <p:spPr>
          <a:xfrm>
            <a:off x="548640" y="3383280"/>
            <a:ext cx="80010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548640" y="3520440"/>
            <a:ext cx="8046720" cy="411480"/>
          </a:xfrm>
          <a:prstGeom prst="rect">
            <a:avLst/>
          </a:prstGeom>
          <a:noFill/>
        </p:spPr>
        <p:txBody>
          <a:bodyPr wrap="square" anchor="t" lIns="27432" rIns="27432" tIns="22860" bIns="22860">
            <a:spAutoFit/>
          </a:bodyPr>
          <a:lstStyle/>
          <a:p>
            <a:pPr algn="ctr"/>
            <a:r>
              <a:rPr sz="2000" b="1" i="0">
                <a:solidFill>
                  <a:srgbClr val="8E6F3E"/>
                </a:solidFill>
              </a:rPr>
              <a:t>more complete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Match the causal model to the locus of control</a:t>
            </a:r>
          </a:p>
        </p:txBody>
      </p:sp>
      <p:sp>
        <p:nvSpPr>
          <p:cNvPr id="900" name="Slide Number Placeholder 900"/>
          <p:cNvSpPr>
            <a:spLocks noGrp="1"/>
          </p:cNvSpPr>
          <p:nvPr>
            <p:ph type="sldNum" sz="quarter" idx="4"/>
          </p:nvPr>
        </p:nvSpPr>
        <p:spPr/>
        <p:txBody>
          <a:bodyPr/>
          <a:lstStyle/>
          <a:p>
            <a:fld id="{A2504DDB-3E3B-4B22-928E-39EF9EC13EA2}" type="slidenum">
              <a:rPr lang="en-US" smtClean="0"/>
              <a:t>18</a:t>
            </a:fld>
            <a:endParaRPr lang="en-US"/>
          </a:p>
        </p:txBody>
      </p:sp>
      <p:graphicFrame>
        <p:nvGraphicFramePr>
          <p:cNvPr id="901" name="Table 900"/>
          <p:cNvGraphicFramePr>
            <a:graphicFrameLocks noGrp="1"/>
          </p:cNvGraphicFramePr>
          <p:nvPr/>
        </p:nvGraphicFramePr>
        <p:xfrm>
          <a:off x="731520" y="1280160"/>
          <a:ext cx="7680960" cy="3291840"/>
        </p:xfrm>
        <a:graphic>
          <a:graphicData uri="http://schemas.openxmlformats.org/drawingml/2006/table">
            <a:tbl>
              <a:tblPr firstRow="1" bandRow="1">
                <a:tableStyleId>{5C22544A-7EE6-4342-B048-85BDC9FD1C3A}</a:tableStyleId>
              </a:tblPr>
              <a:tblGrid>
                <a:gridCol w="2651760"/>
                <a:gridCol w="5029200"/>
              </a:tblGrid>
              <a:tr h="658368">
                <a:tc>
                  <a:txBody>
                    <a:bodyPr/>
                    <a:lstStyle/>
                    <a:p>
                      <a:pPr algn="l"/>
                      <a:r>
                        <a:rPr sz="2000" b="1" i="0">
                          <a:solidFill>
                            <a:srgbClr val="FFFFFF"/>
                          </a:solidFill>
                        </a:rPr>
                        <a:t>CAUSAL MODEL</a:t>
                      </a:r>
                    </a:p>
                  </a:txBody>
                  <a:tcPr anchor="ctr" marL="54864">
                    <a:solidFill>
                      <a:srgbClr val="8E6F3E"/>
                    </a:solidFill>
                  </a:tcPr>
                </a:tc>
                <a:tc>
                  <a:txBody>
                    <a:bodyPr/>
                    <a:lstStyle/>
                    <a:p>
                      <a:pPr algn="l"/>
                      <a:r>
                        <a:rPr sz="2000" b="1" i="0">
                          <a:solidFill>
                            <a:srgbClr val="FFFFFF"/>
                          </a:solidFill>
                        </a:rPr>
                        <a:t>THE LEVER IT HANDS YOU</a:t>
                      </a:r>
                    </a:p>
                  </a:txBody>
                  <a:tcPr anchor="ctr" marL="54864">
                    <a:solidFill>
                      <a:srgbClr val="8E6F3E"/>
                    </a:solidFill>
                  </a:tcPr>
                </a:tc>
              </a:tr>
              <a:tr h="658368">
                <a:tc>
                  <a:txBody>
                    <a:bodyPr/>
                    <a:lstStyle/>
                    <a:p>
                      <a:pPr algn="l"/>
                      <a:r>
                        <a:rPr sz="2000" b="1" i="0">
                          <a:solidFill>
                            <a:srgbClr val="5C4826"/>
                          </a:solidFill>
                        </a:rPr>
                        <a:t>Human error</a:t>
                      </a:r>
                    </a:p>
                  </a:txBody>
                  <a:tcPr anchor="ctr" marL="54864">
                    <a:solidFill>
                      <a:srgbClr val="F5F1E8"/>
                    </a:solidFill>
                  </a:tcPr>
                </a:tc>
                <a:tc>
                  <a:txBody>
                    <a:bodyPr/>
                    <a:lstStyle/>
                    <a:p>
                      <a:pPr algn="l"/>
                      <a:r>
                        <a:rPr sz="2000" b="0" i="0">
                          <a:solidFill>
                            <a:srgbClr val="5C4826"/>
                          </a:solidFill>
                        </a:rPr>
                        <a:t>an individual's behavior</a:t>
                      </a:r>
                    </a:p>
                  </a:txBody>
                  <a:tcPr anchor="ctr" marL="54864">
                    <a:solidFill>
                      <a:srgbClr val="F5F1E8"/>
                    </a:solidFill>
                  </a:tcPr>
                </a:tc>
              </a:tr>
              <a:tr h="658368">
                <a:tc>
                  <a:txBody>
                    <a:bodyPr/>
                    <a:lstStyle/>
                    <a:p>
                      <a:pPr algn="l"/>
                      <a:r>
                        <a:rPr sz="2000" b="1" i="0">
                          <a:solidFill>
                            <a:srgbClr val="5C4826"/>
                          </a:solidFill>
                        </a:rPr>
                        <a:t>Swiss cheese</a:t>
                      </a:r>
                    </a:p>
                  </a:txBody>
                  <a:tcPr anchor="ctr" marL="54864">
                    <a:solidFill>
                      <a:srgbClr val="FBF8F2"/>
                    </a:solidFill>
                  </a:tcPr>
                </a:tc>
                <a:tc>
                  <a:txBody>
                    <a:bodyPr/>
                    <a:lstStyle/>
                    <a:p>
                      <a:pPr algn="l"/>
                      <a:r>
                        <a:rPr sz="2000" b="0" i="0">
                          <a:solidFill>
                            <a:srgbClr val="5C4826"/>
                          </a:solidFill>
                        </a:rPr>
                        <a:t>the set of defenses</a:t>
                      </a:r>
                    </a:p>
                  </a:txBody>
                  <a:tcPr anchor="ctr" marL="54864">
                    <a:solidFill>
                      <a:srgbClr val="FBF8F2"/>
                    </a:solidFill>
                  </a:tcPr>
                </a:tc>
              </a:tr>
              <a:tr h="658368">
                <a:tc>
                  <a:txBody>
                    <a:bodyPr/>
                    <a:lstStyle/>
                    <a:p>
                      <a:pPr algn="l"/>
                      <a:r>
                        <a:rPr sz="2000" b="1" i="0">
                          <a:solidFill>
                            <a:srgbClr val="5C4826"/>
                          </a:solidFill>
                        </a:rPr>
                        <a:t>Organizational</a:t>
                      </a:r>
                    </a:p>
                  </a:txBody>
                  <a:tcPr anchor="ctr" marL="54864">
                    <a:solidFill>
                      <a:srgbClr val="F5F1E8"/>
                    </a:solidFill>
                  </a:tcPr>
                </a:tc>
                <a:tc>
                  <a:txBody>
                    <a:bodyPr/>
                    <a:lstStyle/>
                    <a:p>
                      <a:pPr algn="l"/>
                      <a:r>
                        <a:rPr sz="2000" b="0" i="0">
                          <a:solidFill>
                            <a:srgbClr val="5C4826"/>
                          </a:solidFill>
                        </a:rPr>
                        <a:t>the conditions that shape behavior</a:t>
                      </a:r>
                    </a:p>
                  </a:txBody>
                  <a:tcPr anchor="ctr" marL="54864">
                    <a:solidFill>
                      <a:srgbClr val="F5F1E8"/>
                    </a:solidFill>
                  </a:tcPr>
                </a:tc>
              </a:tr>
              <a:tr h="658368">
                <a:tc>
                  <a:txBody>
                    <a:bodyPr/>
                    <a:lstStyle/>
                    <a:p>
                      <a:pPr algn="l"/>
                      <a:r>
                        <a:rPr sz="2000" b="1" i="0">
                          <a:solidFill>
                            <a:srgbClr val="5C4826"/>
                          </a:solidFill>
                        </a:rPr>
                        <a:t>STAMP</a:t>
                      </a:r>
                    </a:p>
                  </a:txBody>
                  <a:tcPr anchor="ctr" marL="54864">
                    <a:solidFill>
                      <a:srgbClr val="FBF8F2"/>
                    </a:solidFill>
                  </a:tcPr>
                </a:tc>
                <a:tc>
                  <a:txBody>
                    <a:bodyPr/>
                    <a:lstStyle/>
                    <a:p>
                      <a:pPr algn="l"/>
                      <a:r>
                        <a:rPr sz="2000" b="0" i="0">
                          <a:solidFill>
                            <a:srgbClr val="5C4826"/>
                          </a:solidFill>
                        </a:rPr>
                        <a:t>the whole control structure</a:t>
                      </a:r>
                    </a:p>
                  </a:txBody>
                  <a:tcPr anchor="ctr" marL="54864">
                    <a:solidFill>
                      <a:srgbClr val="FBF8F2"/>
                    </a:solidFill>
                  </a:tcPr>
                </a:tc>
              </a:tr>
            </a:tbl>
          </a:graphicData>
        </a:graphic>
      </p:graphicFrame>
      <p:sp>
        <p:nvSpPr>
          <p:cNvPr id="90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Choose the model whose levers you actually hold.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Diagnose the failure</a:t>
            </a:r>
          </a:p>
        </p:txBody>
      </p:sp>
      <p:sp>
        <p:nvSpPr>
          <p:cNvPr id="900" name="Slide Number Placeholder 900"/>
          <p:cNvSpPr>
            <a:spLocks noGrp="1"/>
          </p:cNvSpPr>
          <p:nvPr>
            <p:ph type="sldNum" sz="quarter" idx="4"/>
          </p:nvPr>
        </p:nvSpPr>
        <p:spPr/>
        <p:txBody>
          <a:bodyPr/>
          <a:lstStyle/>
          <a:p>
            <a:fld id="{D6607EED-2C17-4005-9FF9-5E7D14817CFB}" type="slidenum">
              <a:rPr lang="en-US" smtClean="0"/>
              <a:t>19</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2</a:t>
            </a:r>
          </a:p>
        </p:txBody>
      </p:sp>
      <p:sp>
        <p:nvSpPr>
          <p:cNvPr id="902" name="Question"/>
          <p:cNvSpPr txBox="1"/>
          <p:nvPr/>
        </p:nvSpPr>
        <p:spPr>
          <a:xfrm>
            <a:off x="685800" y="2816352"/>
            <a:ext cx="7772400" cy="475488"/>
          </a:xfrm>
          <a:prstGeom prst="rect">
            <a:avLst/>
          </a:prstGeom>
          <a:noFill/>
        </p:spPr>
        <p:txBody>
          <a:bodyPr wrap="square" anchor="ctr" lIns="27432" rIns="27432" tIns="22860" bIns="22860">
            <a:spAutoFit/>
          </a:bodyPr>
          <a:lstStyle/>
          <a:p>
            <a:pPr algn="ctr"/>
            <a:r>
              <a:rPr sz="2400" b="0" i="0">
                <a:solidFill>
                  <a:srgbClr val="5C4826"/>
                </a:solidFill>
              </a:rPr>
              <a:t>What failed, and why didn't we know?</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failed?</a:t>
            </a:r>
          </a:p>
        </p:txBody>
      </p:sp>
      <p:sp>
        <p:nvSpPr>
          <p:cNvPr id="900" name="Slide Number Placeholder 900"/>
          <p:cNvSpPr>
            <a:spLocks noGrp="1"/>
          </p:cNvSpPr>
          <p:nvPr>
            <p:ph type="sldNum" sz="quarter" idx="4"/>
          </p:nvPr>
        </p:nvSpPr>
        <p:spPr/>
        <p:txBody>
          <a:bodyPr/>
          <a:lstStyle/>
          <a:p>
            <a:fld id="{CB54B3D1-5BA3-40A8-8017-74A0DF3C7182}" type="slidenum">
              <a:rPr lang="en-US" smtClean="0"/>
              <a:t>20</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REQUIREMENTS</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SPECIFICATION</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ARCHITECTURE</a:t>
            </a:r>
          </a:p>
        </p:txBody>
      </p:sp>
      <p:cxnSp>
        <p:nvCxnSpPr>
          <p:cNvPr id="906" name="Connector 905"/>
          <p:cNvCxnSpPr/>
          <p:nvPr/>
        </p:nvCxnSpPr>
        <p:spPr>
          <a:xfrm>
            <a:off x="2194560" y="3438144"/>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7124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DESIGN</a:t>
            </a:r>
          </a:p>
        </p:txBody>
      </p:sp>
      <p:cxnSp>
        <p:nvCxnSpPr>
          <p:cNvPr id="908" name="Connector 907"/>
          <p:cNvCxnSpPr/>
          <p:nvPr/>
        </p:nvCxnSpPr>
        <p:spPr>
          <a:xfrm>
            <a:off x="2194560" y="42793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5537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IMPLEMENTATION</a:t>
            </a:r>
          </a:p>
        </p:txBody>
      </p:sp>
      <p:sp>
        <p:nvSpPr>
          <p:cNvPr id="910" name="Side"/>
          <p:cNvSpPr txBox="1"/>
          <p:nvPr/>
        </p:nvSpPr>
        <p:spPr>
          <a:xfrm>
            <a:off x="4206240" y="1645920"/>
            <a:ext cx="4480560" cy="2926080"/>
          </a:xfrm>
          <a:prstGeom prst="rect">
            <a:avLst/>
          </a:prstGeom>
          <a:noFill/>
        </p:spPr>
        <p:txBody>
          <a:bodyPr wrap="square" anchor="t" lIns="27432" rIns="27432" tIns="22860" bIns="22860">
            <a:spAutoFit/>
          </a:bodyPr>
          <a:lstStyle/>
          <a:p>
            <a:pPr algn="l"/>
            <a:r>
              <a:rPr sz="2000" b="1" i="0">
                <a:solidFill>
                  <a:srgbClr val="5C4826"/>
                </a:solidFill>
              </a:rPr>
              <a:t>A failure is observed in the realization.</a:t>
            </a:r>
          </a:p>
          <a:p>
            <a:pPr algn="l">
              <a:spcBef>
                <a:spcPts val="1200"/>
              </a:spcBef>
            </a:pPr>
            <a:r>
              <a:rPr sz="2000" b="0" i="0">
                <a:solidFill>
                  <a:srgbClr val="555960"/>
                </a:solidFill>
              </a:rPr>
              <a:t>Diagnosis traces it back to the decision — or decisions — that produced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One incident can implicate several decisions</a:t>
            </a:r>
          </a:p>
        </p:txBody>
      </p:sp>
      <p:sp>
        <p:nvSpPr>
          <p:cNvPr id="900" name="Slide Number Placeholder 900"/>
          <p:cNvSpPr>
            <a:spLocks noGrp="1"/>
          </p:cNvSpPr>
          <p:nvPr>
            <p:ph type="sldNum" sz="quarter" idx="4"/>
          </p:nvPr>
        </p:nvSpPr>
        <p:spPr/>
        <p:txBody>
          <a:bodyPr/>
          <a:lstStyle/>
          <a:p>
            <a:fld id="{3DC31DEB-C161-48EB-8EC4-D4D18487B0EB}" type="slidenum">
              <a:rPr lang="en-US" smtClean="0"/>
              <a:t>21</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FFFFFF"/>
                </a:solidFill>
              </a:rPr>
              <a:t>ONE INCIDENT</a:t>
            </a:r>
          </a:p>
        </p:txBody>
      </p:sp>
      <p:sp>
        <p:nvSpPr>
          <p:cNvPr id="902" name="Card"/>
          <p:cNvSpPr/>
          <p:nvPr/>
        </p:nvSpPr>
        <p:spPr>
          <a:xfrm>
            <a:off x="5760720" y="1188720"/>
            <a:ext cx="27432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requirements</a:t>
            </a:r>
          </a:p>
        </p:txBody>
      </p:sp>
      <p:cxnSp>
        <p:nvCxnSpPr>
          <p:cNvPr id="903" name="Connector 902"/>
          <p:cNvCxnSpPr/>
          <p:nvPr/>
        </p:nvCxnSpPr>
        <p:spPr>
          <a:xfrm flipV="1">
            <a:off x="3017520" y="1472184"/>
            <a:ext cx="2743200" cy="168249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Card"/>
          <p:cNvSpPr/>
          <p:nvPr/>
        </p:nvSpPr>
        <p:spPr>
          <a:xfrm>
            <a:off x="5760720" y="2066543"/>
            <a:ext cx="27432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specification</a:t>
            </a:r>
          </a:p>
        </p:txBody>
      </p:sp>
      <p:cxnSp>
        <p:nvCxnSpPr>
          <p:cNvPr id="905" name="Connector 904"/>
          <p:cNvCxnSpPr/>
          <p:nvPr/>
        </p:nvCxnSpPr>
        <p:spPr>
          <a:xfrm flipV="1">
            <a:off x="3017520" y="2350008"/>
            <a:ext cx="2743200" cy="80467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5760720" y="2944368"/>
            <a:ext cx="27432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architecture</a:t>
            </a:r>
          </a:p>
        </p:txBody>
      </p:sp>
      <p:cxnSp>
        <p:nvCxnSpPr>
          <p:cNvPr id="907" name="Connector 906"/>
          <p:cNvCxnSpPr/>
          <p:nvPr/>
        </p:nvCxnSpPr>
        <p:spPr>
          <a:xfrm>
            <a:off x="3017520" y="3154680"/>
            <a:ext cx="2743200" cy="7315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Card"/>
          <p:cNvSpPr/>
          <p:nvPr/>
        </p:nvSpPr>
        <p:spPr>
          <a:xfrm>
            <a:off x="5760720" y="3822191"/>
            <a:ext cx="27432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design</a:t>
            </a:r>
          </a:p>
        </p:txBody>
      </p:sp>
      <p:cxnSp>
        <p:nvCxnSpPr>
          <p:cNvPr id="909" name="Connector 908"/>
          <p:cNvCxnSpPr/>
          <p:nvPr/>
        </p:nvCxnSpPr>
        <p:spPr>
          <a:xfrm>
            <a:off x="3017520" y="3154680"/>
            <a:ext cx="2743200" cy="950975"/>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Card"/>
          <p:cNvSpPr/>
          <p:nvPr/>
        </p:nvSpPr>
        <p:spPr>
          <a:xfrm>
            <a:off x="5760720" y="4700016"/>
            <a:ext cx="27432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implementation</a:t>
            </a:r>
          </a:p>
        </p:txBody>
      </p:sp>
      <p:cxnSp>
        <p:nvCxnSpPr>
          <p:cNvPr id="911" name="Connector 910"/>
          <p:cNvCxnSpPr/>
          <p:nvPr/>
        </p:nvCxnSpPr>
        <p:spPr>
          <a:xfrm>
            <a:off x="3017520" y="3154680"/>
            <a:ext cx="2743200" cy="182879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Why didn't we know?</a:t>
            </a:r>
          </a:p>
        </p:txBody>
      </p:sp>
      <p:sp>
        <p:nvSpPr>
          <p:cNvPr id="900" name="Slide Number Placeholder 900"/>
          <p:cNvSpPr>
            <a:spLocks noGrp="1"/>
          </p:cNvSpPr>
          <p:nvPr>
            <p:ph type="sldNum" sz="quarter" idx="4"/>
          </p:nvPr>
        </p:nvSpPr>
        <p:spPr/>
        <p:txBody>
          <a:bodyPr/>
          <a:lstStyle/>
          <a:p>
            <a:fld id="{BBD7B01D-2451-459F-B1A1-0BB2DA8CD569}" type="slidenum">
              <a:rPr lang="en-US" smtClean="0"/>
              <a:t>22</a:t>
            </a:fld>
            <a:endParaRPr lang="en-US"/>
          </a:p>
        </p:txBody>
      </p:sp>
      <p:sp>
        <p:nvSpPr>
          <p:cNvPr id="901" name="Card"/>
          <p:cNvSpPr/>
          <p:nvPr/>
        </p:nvSpPr>
        <p:spPr>
          <a:xfrm>
            <a:off x="914400" y="1280160"/>
            <a:ext cx="7315200" cy="3931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Candidate answers</a:t>
            </a:r>
          </a:p>
          <a:p>
            <a:pPr algn="ctr">
              <a:spcBef>
                <a:spcPts val="1000"/>
              </a:spcBef>
            </a:pPr>
            <a:r>
              <a:rPr sz="2000" b="0" i="1">
                <a:solidFill>
                  <a:srgbClr val="555960"/>
                </a:solidFill>
              </a:rPr>
              <a:t>(collected live)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Run Validation backward</a:t>
            </a:r>
          </a:p>
        </p:txBody>
      </p:sp>
      <p:sp>
        <p:nvSpPr>
          <p:cNvPr id="900" name="Slide Number Placeholder 900"/>
          <p:cNvSpPr>
            <a:spLocks noGrp="1"/>
          </p:cNvSpPr>
          <p:nvPr>
            <p:ph type="sldNum" sz="quarter" idx="4"/>
          </p:nvPr>
        </p:nvSpPr>
        <p:spPr/>
        <p:txBody>
          <a:bodyPr/>
          <a:lstStyle/>
          <a:p>
            <a:fld id="{B27BF211-A452-4B62-B65D-7ABF1FF8B2F5}" type="slidenum">
              <a:rPr lang="en-US" smtClean="0"/>
              <a:t>23</a:t>
            </a:fld>
            <a:endParaRPr lang="en-US"/>
          </a:p>
        </p:txBody>
      </p:sp>
      <p:sp>
        <p:nvSpPr>
          <p:cNvPr id="901" name="Block"/>
          <p:cNvSpPr/>
          <p:nvPr/>
        </p:nvSpPr>
        <p:spPr>
          <a:xfrm>
            <a:off x="731520" y="11430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CLAIM</a:t>
            </a:r>
          </a:p>
        </p:txBody>
      </p:sp>
      <p:cxnSp>
        <p:nvCxnSpPr>
          <p:cNvPr id="902" name="Connector 901"/>
          <p:cNvCxnSpPr/>
          <p:nvPr/>
        </p:nvCxnSpPr>
        <p:spPr>
          <a:xfrm>
            <a:off x="2103120" y="1645920"/>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1901952"/>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a:t>
            </a:r>
          </a:p>
        </p:txBody>
      </p:sp>
      <p:cxnSp>
        <p:nvCxnSpPr>
          <p:cNvPr id="904" name="Connector 903"/>
          <p:cNvCxnSpPr/>
          <p:nvPr/>
        </p:nvCxnSpPr>
        <p:spPr>
          <a:xfrm>
            <a:off x="2103120" y="2404872"/>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660904"/>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MECHANISM</a:t>
            </a:r>
          </a:p>
        </p:txBody>
      </p:sp>
      <p:cxnSp>
        <p:nvCxnSpPr>
          <p:cNvPr id="906" name="Connector 905"/>
          <p:cNvCxnSpPr/>
          <p:nvPr/>
        </p:nvCxnSpPr>
        <p:spPr>
          <a:xfrm>
            <a:off x="2103120" y="3163824"/>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419856"/>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STRATEGY</a:t>
            </a:r>
          </a:p>
        </p:txBody>
      </p:sp>
      <p:cxnSp>
        <p:nvCxnSpPr>
          <p:cNvPr id="908" name="Connector 907"/>
          <p:cNvCxnSpPr/>
          <p:nvPr/>
        </p:nvCxnSpPr>
        <p:spPr>
          <a:xfrm>
            <a:off x="2103120" y="3922776"/>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178808"/>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10" name="Connector 909"/>
          <p:cNvCxnSpPr/>
          <p:nvPr/>
        </p:nvCxnSpPr>
        <p:spPr>
          <a:xfrm>
            <a:off x="2103120" y="468172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Block"/>
          <p:cNvSpPr/>
          <p:nvPr/>
        </p:nvSpPr>
        <p:spPr>
          <a:xfrm>
            <a:off x="731520" y="493776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JUDGMENT</a:t>
            </a:r>
          </a:p>
        </p:txBody>
      </p:sp>
      <p:cxnSp>
        <p:nvCxnSpPr>
          <p:cNvPr id="912" name="Connector 911"/>
          <p:cNvCxnSpPr/>
          <p:nvPr/>
        </p:nvCxnSpPr>
        <p:spPr>
          <a:xfrm flipV="1">
            <a:off x="3931920" y="1371600"/>
            <a:ext cx="0" cy="3337560"/>
          </a:xfrm>
          <a:prstGeom prst="line">
            <a:avLst/>
          </a:prstGeom>
          <a:ln w="28575">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3" name="Label"/>
          <p:cNvSpPr txBox="1"/>
          <p:nvPr/>
        </p:nvSpPr>
        <p:spPr>
          <a:xfrm>
            <a:off x="3017520" y="4892040"/>
            <a:ext cx="2194560" cy="365760"/>
          </a:xfrm>
          <a:prstGeom prst="rect">
            <a:avLst/>
          </a:prstGeom>
          <a:noFill/>
        </p:spPr>
        <p:txBody>
          <a:bodyPr wrap="square" anchor="t" lIns="27432" rIns="27432" tIns="22860" bIns="22860">
            <a:spAutoFit/>
          </a:bodyPr>
          <a:lstStyle/>
          <a:p>
            <a:pPr algn="ctr"/>
            <a:r>
              <a:rPr sz="2000" b="1" i="0">
                <a:solidFill>
                  <a:srgbClr val="9A3F12"/>
                </a:solidFill>
              </a:rPr>
              <a:t>run it backward</a:t>
            </a:r>
          </a:p>
        </p:txBody>
      </p:sp>
      <p:sp>
        <p:nvSpPr>
          <p:cNvPr id="914" name="Side"/>
          <p:cNvSpPr txBox="1"/>
          <p:nvPr/>
        </p:nvSpPr>
        <p:spPr>
          <a:xfrm>
            <a:off x="5486400" y="1645920"/>
            <a:ext cx="3108960" cy="2926080"/>
          </a:xfrm>
          <a:prstGeom prst="rect">
            <a:avLst/>
          </a:prstGeom>
          <a:noFill/>
        </p:spPr>
        <p:txBody>
          <a:bodyPr wrap="square" anchor="t" lIns="27432" rIns="27432" tIns="22860" bIns="22860">
            <a:spAutoFit/>
          </a:bodyPr>
          <a:lstStyle/>
          <a:p>
            <a:pPr algn="l"/>
            <a:r>
              <a:rPr sz="2000" b="1" i="0">
                <a:solidFill>
                  <a:srgbClr val="5C4826"/>
                </a:solidFill>
              </a:rPr>
              <a:t>Start from the judgment that admitted the failure.</a:t>
            </a:r>
          </a:p>
          <a:p>
            <a:pPr algn="l">
              <a:spcBef>
                <a:spcPts val="1200"/>
              </a:spcBef>
            </a:pPr>
            <a:r>
              <a:rPr sz="2000" b="0" i="0">
                <a:solidFill>
                  <a:srgbClr val="555960"/>
                </a:solidFill>
              </a:rPr>
              <a:t>Walk back to the claim it rested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Failure does not prove bad validation</a:t>
            </a:r>
          </a:p>
        </p:txBody>
      </p:sp>
      <p:sp>
        <p:nvSpPr>
          <p:cNvPr id="900" name="Slide Number Placeholder 900"/>
          <p:cNvSpPr>
            <a:spLocks noGrp="1"/>
          </p:cNvSpPr>
          <p:nvPr>
            <p:ph type="sldNum" sz="quarter" idx="4"/>
          </p:nvPr>
        </p:nvSpPr>
        <p:spPr/>
        <p:txBody>
          <a:bodyPr/>
          <a:lstStyle/>
          <a:p>
            <a:fld id="{6DD32251-42D1-4E05-B955-B2D4D97C7069}" type="slidenum">
              <a:rPr lang="en-US" smtClean="0"/>
              <a:t>24</a:t>
            </a:fld>
            <a:endParaRPr lang="en-US"/>
          </a:p>
        </p:txBody>
      </p:sp>
      <p:sp>
        <p:nvSpPr>
          <p:cNvPr id="901" name="Label"/>
          <p:cNvSpPr txBox="1"/>
          <p:nvPr/>
        </p:nvSpPr>
        <p:spPr>
          <a:xfrm>
            <a:off x="548640" y="1920240"/>
            <a:ext cx="8046720" cy="731520"/>
          </a:xfrm>
          <a:prstGeom prst="rect">
            <a:avLst/>
          </a:prstGeom>
          <a:noFill/>
        </p:spPr>
        <p:txBody>
          <a:bodyPr wrap="square" anchor="t" lIns="27432" rIns="27432" tIns="22860" bIns="22860">
            <a:spAutoFit/>
          </a:bodyPr>
          <a:lstStyle/>
          <a:p>
            <a:pPr algn="ctr"/>
            <a:r>
              <a:rPr sz="3200" b="1" i="0">
                <a:solidFill>
                  <a:srgbClr val="5C4826"/>
                </a:solidFill>
              </a:rPr>
              <a:t>Residual uncertainty</a:t>
            </a:r>
          </a:p>
        </p:txBody>
      </p:sp>
      <p:sp>
        <p:nvSpPr>
          <p:cNvPr id="902" name="Body"/>
          <p:cNvSpPr txBox="1"/>
          <p:nvPr/>
        </p:nvSpPr>
        <p:spPr>
          <a:xfrm>
            <a:off x="1188720" y="2834640"/>
            <a:ext cx="6766560" cy="1463040"/>
          </a:xfrm>
          <a:prstGeom prst="rect">
            <a:avLst/>
          </a:prstGeom>
          <a:noFill/>
        </p:spPr>
        <p:txBody>
          <a:bodyPr wrap="square" anchor="ctr" lIns="27432" rIns="27432" tIns="22860" bIns="22860">
            <a:spAutoFit/>
          </a:bodyPr>
          <a:lstStyle/>
          <a:p>
            <a:pPr algn="ctr"/>
            <a:r>
              <a:rPr sz="2000" b="0" i="0">
                <a:solidFill>
                  <a:srgbClr val="555960"/>
                </a:solidFill>
              </a:rPr>
              <a:t>Every validation accepts residual uncertainty. A failure may land exactly there — without the validation having been wrong.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Convert failure into engineering knowledge</a:t>
            </a:r>
          </a:p>
        </p:txBody>
      </p:sp>
      <p:sp>
        <p:nvSpPr>
          <p:cNvPr id="900" name="Slide Number Placeholder 900"/>
          <p:cNvSpPr>
            <a:spLocks noGrp="1"/>
          </p:cNvSpPr>
          <p:nvPr>
            <p:ph type="sldNum" sz="quarter" idx="4"/>
          </p:nvPr>
        </p:nvSpPr>
        <p:spPr/>
        <p:txBody>
          <a:bodyPr/>
          <a:lstStyle/>
          <a:p>
            <a:fld id="{5CEC7D30-3F3A-40A5-AB25-FC380CDCDC59}" type="slidenum">
              <a:rPr lang="en-US" smtClean="0"/>
              <a:t>25</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3</a:t>
            </a:r>
          </a:p>
        </p:txBody>
      </p:sp>
      <p:sp>
        <p:nvSpPr>
          <p:cNvPr id="902" name="Question"/>
          <p:cNvSpPr txBox="1"/>
          <p:nvPr/>
        </p:nvSpPr>
        <p:spPr>
          <a:xfrm>
            <a:off x="685800" y="3319272"/>
            <a:ext cx="7772400" cy="475488"/>
          </a:xfrm>
          <a:prstGeom prst="rect">
            <a:avLst/>
          </a:prstGeom>
          <a:noFill/>
        </p:spPr>
        <p:txBody>
          <a:bodyPr wrap="square" anchor="ctr" lIns="27432" rIns="27432" tIns="22860" bIns="22860">
            <a:spAutoFit/>
          </a:bodyPr>
          <a:lstStyle/>
          <a:p>
            <a:pPr algn="ctr"/>
            <a:r>
              <a:rPr sz="2400" b="0" i="0">
                <a:solidFill>
                  <a:srgbClr val="5C4826"/>
                </a:solidFill>
              </a:rPr>
              <a:t>What does the evidence support, and where should the lesson live?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Observation is not yet engineering knowledge</a:t>
            </a:r>
          </a:p>
        </p:txBody>
      </p:sp>
      <p:sp>
        <p:nvSpPr>
          <p:cNvPr id="900" name="Slide Number Placeholder 900"/>
          <p:cNvSpPr>
            <a:spLocks noGrp="1"/>
          </p:cNvSpPr>
          <p:nvPr>
            <p:ph type="sldNum" sz="quarter" idx="4"/>
          </p:nvPr>
        </p:nvSpPr>
        <p:spPr/>
        <p:txBody>
          <a:bodyPr/>
          <a:lstStyle/>
          <a:p>
            <a:fld id="{9D5CC310-9C8D-49B0-9A1E-6DB1095504DF}" type="slidenum">
              <a:rPr lang="en-US" smtClean="0"/>
              <a:t>26</a:t>
            </a:fld>
            <a:endParaRPr lang="en-US"/>
          </a:p>
        </p:txBody>
      </p:sp>
      <p:sp>
        <p:nvSpPr>
          <p:cNvPr id="901" name="Block"/>
          <p:cNvSpPr/>
          <p:nvPr/>
        </p:nvSpPr>
        <p:spPr>
          <a:xfrm>
            <a:off x="548640" y="2468880"/>
            <a:ext cx="1783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cxnSp>
        <p:nvCxnSpPr>
          <p:cNvPr id="902" name="Connector 901"/>
          <p:cNvCxnSpPr/>
          <p:nvPr/>
        </p:nvCxnSpPr>
        <p:spPr>
          <a:xfrm>
            <a:off x="2331720" y="27889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2651760" y="2468880"/>
            <a:ext cx="1783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04" name="Connector 903"/>
          <p:cNvCxnSpPr/>
          <p:nvPr/>
        </p:nvCxnSpPr>
        <p:spPr>
          <a:xfrm>
            <a:off x="4434840" y="2788920"/>
            <a:ext cx="320039"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4754879" y="2468880"/>
            <a:ext cx="1783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ANALYSIS</a:t>
            </a:r>
          </a:p>
        </p:txBody>
      </p:sp>
      <p:cxnSp>
        <p:nvCxnSpPr>
          <p:cNvPr id="906" name="Connector 905"/>
          <p:cNvCxnSpPr/>
          <p:nvPr/>
        </p:nvCxnSpPr>
        <p:spPr>
          <a:xfrm>
            <a:off x="6537959" y="27889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6857999" y="2468880"/>
            <a:ext cx="1783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LESSON</a:t>
            </a:r>
          </a:p>
        </p:txBody>
      </p:sp>
      <p:sp>
        <p:nvSpPr>
          <p:cNvPr id="908" name="Label"/>
          <p:cNvSpPr txBox="1"/>
          <p:nvPr/>
        </p:nvSpPr>
        <p:spPr>
          <a:xfrm>
            <a:off x="548640" y="3657600"/>
            <a:ext cx="8046720" cy="548640"/>
          </a:xfrm>
          <a:prstGeom prst="rect">
            <a:avLst/>
          </a:prstGeom>
          <a:noFill/>
        </p:spPr>
        <p:txBody>
          <a:bodyPr wrap="square" anchor="t" lIns="27432" rIns="27432" tIns="22860" bIns="22860">
            <a:spAutoFit/>
          </a:bodyPr>
          <a:lstStyle/>
          <a:p>
            <a:pPr algn="ctr"/>
            <a:r>
              <a:rPr sz="2200" b="0" i="0">
                <a:solidFill>
                  <a:srgbClr val="5C4826"/>
                </a:solidFill>
              </a:rPr>
              <a:t>Failure produces evidence. Analyze it into a lesson.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does the evidence actually support?</a:t>
            </a:r>
          </a:p>
        </p:txBody>
      </p:sp>
      <p:sp>
        <p:nvSpPr>
          <p:cNvPr id="900" name="Slide Number Placeholder 900"/>
          <p:cNvSpPr>
            <a:spLocks noGrp="1"/>
          </p:cNvSpPr>
          <p:nvPr>
            <p:ph type="sldNum" sz="quarter" idx="4"/>
          </p:nvPr>
        </p:nvSpPr>
        <p:spPr/>
        <p:txBody>
          <a:bodyPr/>
          <a:lstStyle/>
          <a:p>
            <a:fld id="{5853B7DD-E055-4162-94C7-77FA73E23512}" type="slidenum">
              <a:rPr lang="en-US" smtClean="0"/>
              <a:t>27</a:t>
            </a:fld>
            <a:endParaRPr lang="en-US"/>
          </a:p>
        </p:txBody>
      </p:sp>
      <p:sp>
        <p:nvSpPr>
          <p:cNvPr id="901" name="Card"/>
          <p:cNvSpPr/>
          <p:nvPr/>
        </p:nvSpPr>
        <p:spPr>
          <a:xfrm>
            <a:off x="731520" y="1463040"/>
            <a:ext cx="3108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NARROW CLAIM</a:t>
            </a:r>
          </a:p>
        </p:txBody>
      </p:sp>
      <p:sp>
        <p:nvSpPr>
          <p:cNvPr id="902" name="Card"/>
          <p:cNvSpPr/>
          <p:nvPr/>
        </p:nvSpPr>
        <p:spPr>
          <a:xfrm>
            <a:off x="731520" y="2560320"/>
            <a:ext cx="4937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BROADER CLAIM</a:t>
            </a:r>
          </a:p>
        </p:txBody>
      </p:sp>
      <p:sp>
        <p:nvSpPr>
          <p:cNvPr id="903" name="Card"/>
          <p:cNvSpPr/>
          <p:nvPr/>
        </p:nvSpPr>
        <p:spPr>
          <a:xfrm>
            <a:off x="731520" y="3657600"/>
            <a:ext cx="67665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SWEEPING CLAIM</a:t>
            </a:r>
          </a:p>
        </p:txBody>
      </p:sp>
      <p:sp>
        <p:nvSpPr>
          <p:cNvPr id="904" name="Label"/>
          <p:cNvSpPr txBox="1"/>
          <p:nvPr/>
        </p:nvSpPr>
        <p:spPr>
          <a:xfrm>
            <a:off x="731520" y="4754880"/>
            <a:ext cx="7498079" cy="502920"/>
          </a:xfrm>
          <a:prstGeom prst="rect">
            <a:avLst/>
          </a:prstGeom>
          <a:noFill/>
        </p:spPr>
        <p:txBody>
          <a:bodyPr wrap="square" anchor="t" lIns="27432" rIns="27432" tIns="22860" bIns="22860">
            <a:spAutoFit/>
          </a:bodyPr>
          <a:lstStyle/>
          <a:p>
            <a:pPr algn="ctr"/>
            <a:r>
              <a:rPr sz="2200" b="0" i="0">
                <a:solidFill>
                  <a:srgbClr val="5C4826"/>
                </a:solidFill>
              </a:rPr>
              <a:t>The same observation; support thins as the claim widens.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Preserve the example or preserve the lesson?</a:t>
            </a:r>
          </a:p>
        </p:txBody>
      </p:sp>
      <p:sp>
        <p:nvSpPr>
          <p:cNvPr id="900" name="Slide Number Placeholder 900"/>
          <p:cNvSpPr>
            <a:spLocks noGrp="1"/>
          </p:cNvSpPr>
          <p:nvPr>
            <p:ph type="sldNum" sz="quarter" idx="4"/>
          </p:nvPr>
        </p:nvSpPr>
        <p:spPr/>
        <p:txBody>
          <a:bodyPr/>
          <a:lstStyle/>
          <a:p>
            <a:fld id="{6A1DACA4-9A95-4C77-B245-2C307F8CACFD}" type="slidenum">
              <a:rPr lang="en-US" smtClean="0"/>
              <a:t>28</a:t>
            </a:fld>
            <a:endParaRPr lang="en-US"/>
          </a:p>
        </p:txBody>
      </p:sp>
      <p:sp>
        <p:nvSpPr>
          <p:cNvPr id="901" name="Card"/>
          <p:cNvSpPr/>
          <p:nvPr/>
        </p:nvSpPr>
        <p:spPr>
          <a:xfrm>
            <a:off x="5486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PRESERVE THE EXAMPLE</a:t>
            </a:r>
          </a:p>
          <a:p>
            <a:pPr algn="ctr">
              <a:spcBef>
                <a:spcPts val="1400"/>
              </a:spcBef>
            </a:pPr>
            <a:r>
              <a:rPr sz="2000" b="1" i="0">
                <a:solidFill>
                  <a:srgbClr val="8E6F3E"/>
                </a:solidFill>
              </a:rPr>
              <a:t>Regression test</a:t>
            </a:r>
          </a:p>
          <a:p>
            <a:pPr algn="ctr">
              <a:spcBef>
                <a:spcPts val="800"/>
              </a:spcBef>
            </a:pPr>
            <a:r>
              <a:rPr sz="2000" b="0" i="0">
                <a:solidFill>
                  <a:srgbClr val="555960"/>
                </a:solidFill>
              </a:rPr>
              <a:t>pins this exact case so it can never silently recur</a:t>
            </a:r>
          </a:p>
        </p:txBody>
      </p:sp>
      <p:sp>
        <p:nvSpPr>
          <p:cNvPr id="902" name="Card"/>
          <p:cNvSpPr/>
          <p:nvPr/>
        </p:nvSpPr>
        <p:spPr>
          <a:xfrm>
            <a:off x="46634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PRESERVE THE LESSON</a:t>
            </a:r>
          </a:p>
          <a:p>
            <a:pPr algn="ctr">
              <a:spcBef>
                <a:spcPts val="1400"/>
              </a:spcBef>
            </a:pPr>
            <a:r>
              <a:rPr sz="2000" b="1" i="0">
                <a:solidFill>
                  <a:srgbClr val="8E6F3E"/>
                </a:solidFill>
              </a:rPr>
              <a:t>Generalized lesson</a:t>
            </a:r>
          </a:p>
          <a:p>
            <a:pPr algn="ctr">
              <a:spcBef>
                <a:spcPts val="800"/>
              </a:spcBef>
            </a:pPr>
            <a:r>
              <a:rPr sz="2000" b="0" i="0">
                <a:solidFill>
                  <a:srgbClr val="555960"/>
                </a:solidFill>
              </a:rPr>
              <a:t>covers the class of cases the example revealed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Causal account vs reflective account</a:t>
            </a:r>
          </a:p>
        </p:txBody>
      </p:sp>
      <p:sp>
        <p:nvSpPr>
          <p:cNvPr id="900" name="Slide Number Placeholder 900"/>
          <p:cNvSpPr>
            <a:spLocks noGrp="1"/>
          </p:cNvSpPr>
          <p:nvPr>
            <p:ph type="sldNum" sz="quarter" idx="4"/>
          </p:nvPr>
        </p:nvSpPr>
        <p:spPr/>
        <p:txBody>
          <a:bodyPr/>
          <a:lstStyle/>
          <a:p>
            <a:fld id="{F164AA00-212F-409D-8EDE-8F6B572B597D}" type="slidenum">
              <a:rPr lang="en-US" smtClean="0"/>
              <a:t>29</a:t>
            </a:fld>
            <a:endParaRPr lang="en-US"/>
          </a:p>
        </p:txBody>
      </p:sp>
      <p:sp>
        <p:nvSpPr>
          <p:cNvPr id="901" name="Card"/>
          <p:cNvSpPr/>
          <p:nvPr/>
        </p:nvSpPr>
        <p:spPr>
          <a:xfrm>
            <a:off x="5486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CAUSAL ACCOUNT</a:t>
            </a:r>
          </a:p>
          <a:p>
            <a:pPr algn="ctr">
              <a:spcBef>
                <a:spcPts val="1400"/>
              </a:spcBef>
            </a:pPr>
            <a:r>
              <a:rPr sz="2000" b="0" i="0">
                <a:solidFill>
                  <a:srgbClr val="555960"/>
                </a:solidFill>
              </a:rPr>
              <a:t>what sequence of events and conditions produced the failure</a:t>
            </a:r>
          </a:p>
        </p:txBody>
      </p:sp>
      <p:sp>
        <p:nvSpPr>
          <p:cNvPr id="902" name="Card"/>
          <p:cNvSpPr/>
          <p:nvPr/>
        </p:nvSpPr>
        <p:spPr>
          <a:xfrm>
            <a:off x="46634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REFLECTIVE ACCOUNT</a:t>
            </a:r>
          </a:p>
          <a:p>
            <a:pPr algn="ctr">
              <a:spcBef>
                <a:spcPts val="1400"/>
              </a:spcBef>
            </a:pPr>
            <a:r>
              <a:rPr sz="2000" b="0" i="0">
                <a:solidFill>
                  <a:srgbClr val="555960"/>
                </a:solidFill>
              </a:rPr>
              <a:t>what we believed, and how we came to believe it</a:t>
            </a:r>
          </a:p>
        </p:txBody>
      </p:sp>
      <p:sp>
        <p:nvSpPr>
          <p:cNvPr id="903" name="Label"/>
          <p:cNvSpPr txBox="1"/>
          <p:nvPr/>
        </p:nvSpPr>
        <p:spPr>
          <a:xfrm>
            <a:off x="548640" y="4663440"/>
            <a:ext cx="8046720" cy="502920"/>
          </a:xfrm>
          <a:prstGeom prst="rect">
            <a:avLst/>
          </a:prstGeom>
          <a:noFill/>
        </p:spPr>
        <p:txBody>
          <a:bodyPr wrap="square" anchor="t" lIns="27432" rIns="27432" tIns="22860" bIns="22860">
            <a:spAutoFit/>
          </a:bodyPr>
          <a:lstStyle/>
          <a:p>
            <a:pPr algn="ctr"/>
            <a:r>
              <a:rPr sz="2200" b="0" i="0">
                <a:solidFill>
                  <a:srgbClr val="5C4826"/>
                </a:solidFill>
              </a:rPr>
              <a:t>A postmortem carries both.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Where should the lesson live?</a:t>
            </a:r>
          </a:p>
        </p:txBody>
      </p:sp>
      <p:sp>
        <p:nvSpPr>
          <p:cNvPr id="900" name="Slide Number Placeholder 900"/>
          <p:cNvSpPr>
            <a:spLocks noGrp="1"/>
          </p:cNvSpPr>
          <p:nvPr>
            <p:ph type="sldNum" sz="quarter" idx="4"/>
          </p:nvPr>
        </p:nvSpPr>
        <p:spPr/>
        <p:txBody>
          <a:bodyPr/>
          <a:lstStyle/>
          <a:p>
            <a:fld id="{AFA6771E-93A8-4AA7-A54D-D336B382D315}" type="slidenum">
              <a:rPr lang="en-US" smtClean="0"/>
              <a:t>30</a:t>
            </a:fld>
            <a:endParaRPr lang="en-US"/>
          </a:p>
        </p:txBody>
      </p:sp>
      <p:sp>
        <p:nvSpPr>
          <p:cNvPr id="901" name="Card"/>
          <p:cNvSpPr/>
          <p:nvPr/>
        </p:nvSpPr>
        <p:spPr>
          <a:xfrm>
            <a:off x="54864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requirements</a:t>
            </a:r>
          </a:p>
        </p:txBody>
      </p:sp>
      <p:sp>
        <p:nvSpPr>
          <p:cNvPr id="902" name="Card"/>
          <p:cNvSpPr/>
          <p:nvPr/>
        </p:nvSpPr>
        <p:spPr>
          <a:xfrm>
            <a:off x="338328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specification</a:t>
            </a:r>
          </a:p>
        </p:txBody>
      </p:sp>
      <p:sp>
        <p:nvSpPr>
          <p:cNvPr id="903" name="Card"/>
          <p:cNvSpPr/>
          <p:nvPr/>
        </p:nvSpPr>
        <p:spPr>
          <a:xfrm>
            <a:off x="621792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architecture</a:t>
            </a:r>
          </a:p>
        </p:txBody>
      </p:sp>
      <p:sp>
        <p:nvSpPr>
          <p:cNvPr id="904" name="Card"/>
          <p:cNvSpPr/>
          <p:nvPr/>
        </p:nvSpPr>
        <p:spPr>
          <a:xfrm>
            <a:off x="54864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models</a:t>
            </a:r>
          </a:p>
        </p:txBody>
      </p:sp>
      <p:sp>
        <p:nvSpPr>
          <p:cNvPr id="905" name="Card"/>
          <p:cNvSpPr/>
          <p:nvPr/>
        </p:nvSpPr>
        <p:spPr>
          <a:xfrm>
            <a:off x="338328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validation</a:t>
            </a:r>
          </a:p>
        </p:txBody>
      </p:sp>
      <p:sp>
        <p:nvSpPr>
          <p:cNvPr id="906" name="Card"/>
          <p:cNvSpPr/>
          <p:nvPr/>
        </p:nvSpPr>
        <p:spPr>
          <a:xfrm>
            <a:off x="621792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controls</a:t>
            </a:r>
          </a:p>
        </p:txBody>
      </p:sp>
      <p:sp>
        <p:nvSpPr>
          <p:cNvPr id="907"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Consequential knowledge migrates to where future work inherits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Make the organization harder to surprise the same way twice</a:t>
            </a:r>
          </a:p>
        </p:txBody>
      </p:sp>
      <p:sp>
        <p:nvSpPr>
          <p:cNvPr id="900" name="Slide Number Placeholder 900"/>
          <p:cNvSpPr>
            <a:spLocks noGrp="1"/>
          </p:cNvSpPr>
          <p:nvPr>
            <p:ph type="sldNum" sz="quarter" idx="4"/>
          </p:nvPr>
        </p:nvSpPr>
        <p:spPr/>
        <p:txBody>
          <a:bodyPr/>
          <a:lstStyle/>
          <a:p>
            <a:fld id="{7288240E-6A77-4EF8-962D-68D6FAD0FBF7}" type="slidenum">
              <a:rPr lang="en-US" smtClean="0"/>
              <a:t>31</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4</a:t>
            </a:r>
          </a:p>
        </p:txBody>
      </p:sp>
      <p:sp>
        <p:nvSpPr>
          <p:cNvPr id="902" name="Question"/>
          <p:cNvSpPr txBox="1"/>
          <p:nvPr/>
        </p:nvSpPr>
        <p:spPr>
          <a:xfrm>
            <a:off x="685800" y="3319272"/>
            <a:ext cx="7772400" cy="475488"/>
          </a:xfrm>
          <a:prstGeom prst="rect">
            <a:avLst/>
          </a:prstGeom>
          <a:noFill/>
        </p:spPr>
        <p:txBody>
          <a:bodyPr wrap="square" anchor="ctr" lIns="27432" rIns="27432" tIns="22860" bIns="22860">
            <a:spAutoFit/>
          </a:bodyPr>
          <a:lstStyle/>
          <a:p>
            <a:pPr algn="ctr"/>
            <a:r>
              <a:rPr sz="2400" b="0" i="0">
                <a:solidFill>
                  <a:srgbClr val="5C4826"/>
                </a:solidFill>
              </a:rPr>
              <a:t>How does a lesson become structure?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Remembering is the weakest response</a:t>
            </a:r>
          </a:p>
        </p:txBody>
      </p:sp>
      <p:sp>
        <p:nvSpPr>
          <p:cNvPr id="900" name="Slide Number Placeholder 900"/>
          <p:cNvSpPr>
            <a:spLocks noGrp="1"/>
          </p:cNvSpPr>
          <p:nvPr>
            <p:ph type="sldNum" sz="quarter" idx="4"/>
          </p:nvPr>
        </p:nvSpPr>
        <p:spPr/>
        <p:txBody>
          <a:bodyPr/>
          <a:lstStyle/>
          <a:p>
            <a:fld id="{B1FABF6A-C69A-47A3-8221-3F34D9E54C93}" type="slidenum">
              <a:rPr lang="en-US" smtClean="0"/>
              <a:t>32</a:t>
            </a:fld>
            <a:endParaRPr lang="en-US"/>
          </a:p>
        </p:txBody>
      </p:sp>
      <p:sp>
        <p:nvSpPr>
          <p:cNvPr id="901" name="Card"/>
          <p:cNvSpPr/>
          <p:nvPr/>
        </p:nvSpPr>
        <p:spPr>
          <a:xfrm>
            <a:off x="2377440" y="1143000"/>
            <a:ext cx="36576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“Be careful next time”</a:t>
            </a:r>
          </a:p>
        </p:txBody>
      </p:sp>
      <p:cxnSp>
        <p:nvCxnSpPr>
          <p:cNvPr id="902" name="Connector 901"/>
          <p:cNvCxnSpPr/>
          <p:nvPr/>
        </p:nvCxnSpPr>
        <p:spPr>
          <a:xfrm>
            <a:off x="4206240" y="1691640"/>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2377440" y="1984248"/>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documentation</a:t>
            </a:r>
          </a:p>
        </p:txBody>
      </p:sp>
      <p:cxnSp>
        <p:nvCxnSpPr>
          <p:cNvPr id="904" name="Connector 903"/>
          <p:cNvCxnSpPr/>
          <p:nvPr/>
        </p:nvCxnSpPr>
        <p:spPr>
          <a:xfrm>
            <a:off x="4206240" y="2532888"/>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377440" y="2825496"/>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06" name="Connector 905"/>
          <p:cNvCxnSpPr/>
          <p:nvPr/>
        </p:nvCxnSpPr>
        <p:spPr>
          <a:xfrm>
            <a:off x="4206240" y="3374136"/>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377440" y="3666744"/>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cxnSp>
        <p:nvCxnSpPr>
          <p:cNvPr id="908" name="Connector 907"/>
          <p:cNvCxnSpPr/>
          <p:nvPr/>
        </p:nvCxnSpPr>
        <p:spPr>
          <a:xfrm>
            <a:off x="4206240" y="4215383"/>
            <a:ext cx="0" cy="29260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2377440" y="4507992"/>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 / gate</a:t>
            </a:r>
          </a:p>
        </p:txBody>
      </p:sp>
      <p:cxnSp>
        <p:nvCxnSpPr>
          <p:cNvPr id="910" name="Connector 909"/>
          <p:cNvCxnSpPr/>
          <p:nvPr/>
        </p:nvCxnSpPr>
        <p:spPr>
          <a:xfrm>
            <a:off x="6766560" y="1417320"/>
            <a:ext cx="0" cy="33832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abel"/>
          <p:cNvSpPr txBox="1"/>
          <p:nvPr/>
        </p:nvSpPr>
        <p:spPr>
          <a:xfrm>
            <a:off x="6949440" y="2286000"/>
            <a:ext cx="1828800" cy="1645920"/>
          </a:xfrm>
          <a:prstGeom prst="rect">
            <a:avLst/>
          </a:prstGeom>
          <a:noFill/>
        </p:spPr>
        <p:txBody>
          <a:bodyPr wrap="square" anchor="t" lIns="27432" rIns="27432" tIns="22860" bIns="22860">
            <a:spAutoFit/>
          </a:bodyPr>
          <a:lstStyle/>
          <a:p>
            <a:pPr algn="l"/>
            <a:r>
              <a:rPr sz="2000" b="0" i="0">
                <a:solidFill>
                  <a:srgbClr val="555960"/>
                </a:solidFill>
              </a:rPr>
              <a:t>increasing ability to affect future action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Move recurring judgment into the environment</a:t>
            </a:r>
          </a:p>
        </p:txBody>
      </p:sp>
      <p:sp>
        <p:nvSpPr>
          <p:cNvPr id="900" name="Slide Number Placeholder 900"/>
          <p:cNvSpPr>
            <a:spLocks noGrp="1"/>
          </p:cNvSpPr>
          <p:nvPr>
            <p:ph type="sldNum" sz="quarter" idx="4"/>
          </p:nvPr>
        </p:nvSpPr>
        <p:spPr/>
        <p:txBody>
          <a:bodyPr/>
          <a:lstStyle/>
          <a:p>
            <a:fld id="{54DE72B0-FFEB-4C83-B4BD-F25961BEDFCA}" type="slidenum">
              <a:rPr lang="en-US" smtClean="0"/>
              <a:t>33</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“What did we learn?”</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RECURRING JUDGMENT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Can it be represented reliably?</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913"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MAGE calls this governance conversion.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Volkswagen, one last time</a:t>
            </a:r>
          </a:p>
        </p:txBody>
      </p:sp>
      <p:sp>
        <p:nvSpPr>
          <p:cNvPr id="900" name="Slide Number Placeholder 900"/>
          <p:cNvSpPr>
            <a:spLocks noGrp="1"/>
          </p:cNvSpPr>
          <p:nvPr>
            <p:ph type="sldNum" sz="quarter" idx="4"/>
          </p:nvPr>
        </p:nvSpPr>
        <p:spPr/>
        <p:txBody>
          <a:bodyPr/>
          <a:lstStyle/>
          <a:p>
            <a:fld id="{9ABD6463-1069-4796-B206-4858CF08A11C}" type="slidenum">
              <a:rPr lang="en-US" smtClean="0"/>
              <a:t>34</a:t>
            </a:fld>
            <a:endParaRPr lang="en-US"/>
          </a:p>
        </p:txBody>
      </p:sp>
      <p:sp>
        <p:nvSpPr>
          <p:cNvPr id="901" name="Lead"/>
          <p:cNvSpPr txBox="1"/>
          <p:nvPr/>
        </p:nvSpPr>
        <p:spPr>
          <a:xfrm>
            <a:off x="411480" y="868680"/>
            <a:ext cx="8321040" cy="914400"/>
          </a:xfrm>
          <a:prstGeom prst="rect">
            <a:avLst/>
          </a:prstGeom>
          <a:noFill/>
        </p:spPr>
        <p:txBody>
          <a:bodyPr wrap="square" anchor="t" lIns="27432" rIns="27432" tIns="22860" bIns="22860">
            <a:spAutoFit/>
          </a:bodyPr>
          <a:lstStyle/>
          <a:p>
            <a:pPr algn="l"/>
            <a:r>
              <a:rPr sz="2000" b="1" i="0">
                <a:solidFill>
                  <a:srgbClr val="5C4826"/>
                </a:solidFill>
              </a:rPr>
              <a:t>Return to 2006. </a:t>
            </a:r>
            <a:r>
              <a:rPr sz="2000" b="0" i="0">
                <a:solidFill>
                  <a:srgbClr val="555960"/>
                </a:solidFill>
              </a:rPr>
              <a:t>Suppose the compliance obligation had existed not merely as something engineers were expected to remember, or supervisors could override, but in the engineering environment:</a:t>
            </a:r>
          </a:p>
        </p:txBody>
      </p:sp>
      <p:sp>
        <p:nvSpPr>
          <p:cNvPr id="902" name="Block"/>
          <p:cNvSpPr/>
          <p:nvPr/>
        </p:nvSpPr>
        <p:spPr>
          <a:xfrm>
            <a:off x="2743200" y="196596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REGULATORY OBLIGATION</a:t>
            </a:r>
          </a:p>
        </p:txBody>
      </p:sp>
      <p:cxnSp>
        <p:nvCxnSpPr>
          <p:cNvPr id="903" name="Connector 902"/>
          <p:cNvCxnSpPr/>
          <p:nvPr/>
        </p:nvCxnSpPr>
        <p:spPr>
          <a:xfrm>
            <a:off x="4572000" y="2514600"/>
            <a:ext cx="0" cy="32003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743200" y="2834639"/>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 MODEL</a:t>
            </a:r>
          </a:p>
        </p:txBody>
      </p:sp>
      <p:cxnSp>
        <p:nvCxnSpPr>
          <p:cNvPr id="905" name="Connector 904"/>
          <p:cNvCxnSpPr/>
          <p:nvPr/>
        </p:nvCxnSpPr>
        <p:spPr>
          <a:xfrm>
            <a:off x="4572000" y="338327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Block"/>
          <p:cNvSpPr/>
          <p:nvPr/>
        </p:nvSpPr>
        <p:spPr>
          <a:xfrm>
            <a:off x="2743200" y="370332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INDEPENDENT VALIDATION</a:t>
            </a:r>
          </a:p>
        </p:txBody>
      </p:sp>
      <p:cxnSp>
        <p:nvCxnSpPr>
          <p:cNvPr id="907" name="Connector 906"/>
          <p:cNvCxnSpPr/>
          <p:nvPr/>
        </p:nvCxnSpPr>
        <p:spPr>
          <a:xfrm>
            <a:off x="4572000" y="425195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Block"/>
          <p:cNvSpPr/>
          <p:nvPr/>
        </p:nvSpPr>
        <p:spPr>
          <a:xfrm>
            <a:off x="2743200" y="457200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RELEASE GATE</a:t>
            </a:r>
          </a:p>
        </p:txBody>
      </p:sp>
      <p:sp>
        <p:nvSpPr>
          <p:cNvPr id="909"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Which judgments should never have remained discretionary?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Active, then passive alignment</a:t>
            </a:r>
          </a:p>
        </p:txBody>
      </p:sp>
      <p:sp>
        <p:nvSpPr>
          <p:cNvPr id="900" name="Slide Number Placeholder 900"/>
          <p:cNvSpPr>
            <a:spLocks noGrp="1"/>
          </p:cNvSpPr>
          <p:nvPr>
            <p:ph type="sldNum" sz="quarter" idx="4"/>
          </p:nvPr>
        </p:nvSpPr>
        <p:spPr/>
        <p:txBody>
          <a:bodyPr/>
          <a:lstStyle/>
          <a:p>
            <a:fld id="{649F5B17-D92E-42C9-9606-E4DCBD101C76}" type="slidenum">
              <a:rPr lang="en-US" smtClean="0"/>
              <a:t>35</a:t>
            </a:fld>
            <a:endParaRPr lang="en-US"/>
          </a:p>
        </p:txBody>
      </p:sp>
      <p:sp>
        <p:nvSpPr>
          <p:cNvPr id="901" name="Card"/>
          <p:cNvSpPr/>
          <p:nvPr/>
        </p:nvSpPr>
        <p:spPr>
          <a:xfrm>
            <a:off x="411480"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Failure reveals a missing or incorrect obligation</a:t>
            </a:r>
          </a:p>
        </p:txBody>
      </p:sp>
      <p:cxnSp>
        <p:nvCxnSpPr>
          <p:cNvPr id="902" name="Connector 901"/>
          <p:cNvCxnSpPr/>
          <p:nvPr/>
        </p:nvCxnSpPr>
        <p:spPr>
          <a:xfrm>
            <a:off x="2286000"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587752"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Represent the lesson</a:t>
            </a:r>
          </a:p>
        </p:txBody>
      </p:sp>
      <p:cxnSp>
        <p:nvCxnSpPr>
          <p:cNvPr id="904" name="Connector 903"/>
          <p:cNvCxnSpPr/>
          <p:nvPr/>
        </p:nvCxnSpPr>
        <p:spPr>
          <a:xfrm>
            <a:off x="4462272"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4764024"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Actively align the existing realization</a:t>
            </a:r>
          </a:p>
        </p:txBody>
      </p:sp>
      <p:cxnSp>
        <p:nvCxnSpPr>
          <p:cNvPr id="906" name="Connector 905"/>
          <p:cNvCxnSpPr/>
          <p:nvPr/>
        </p:nvCxnSpPr>
        <p:spPr>
          <a:xfrm>
            <a:off x="6638544"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6940296"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Passively align subsequent changes</a:t>
            </a:r>
          </a:p>
        </p:txBody>
      </p:sp>
      <p:sp>
        <p:nvSpPr>
          <p:cNvPr id="908" name="Label"/>
          <p:cNvSpPr txBox="1"/>
          <p:nvPr/>
        </p:nvSpPr>
        <p:spPr>
          <a:xfrm>
            <a:off x="548640" y="4206240"/>
            <a:ext cx="8046720" cy="457200"/>
          </a:xfrm>
          <a:prstGeom prst="rect">
            <a:avLst/>
          </a:prstGeom>
          <a:noFill/>
        </p:spPr>
        <p:txBody>
          <a:bodyPr wrap="square" anchor="t" lIns="27432" rIns="27432" tIns="22860" bIns="22860">
            <a:spAutoFit/>
          </a:bodyPr>
          <a:lstStyle/>
          <a:p>
            <a:pPr algn="ctr"/>
            <a:r>
              <a:rPr sz="2200" b="0" i="0">
                <a:solidFill>
                  <a:srgbClr val="5C4826"/>
                </a:solidFill>
              </a:rPr>
              <a:t>That is the lifecycle.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Learning can change three things</a:t>
            </a:r>
          </a:p>
        </p:txBody>
      </p:sp>
      <p:sp>
        <p:nvSpPr>
          <p:cNvPr id="900" name="Slide Number Placeholder 900"/>
          <p:cNvSpPr>
            <a:spLocks noGrp="1"/>
          </p:cNvSpPr>
          <p:nvPr>
            <p:ph type="sldNum" sz="quarter" idx="4"/>
          </p:nvPr>
        </p:nvSpPr>
        <p:spPr/>
        <p:txBody>
          <a:bodyPr/>
          <a:lstStyle/>
          <a:p>
            <a:fld id="{ECC62C95-06B7-478B-9E6C-BA793986094F}" type="slidenum">
              <a:rPr lang="en-US" smtClean="0"/>
              <a:t>36</a:t>
            </a:fld>
            <a:endParaRPr lang="en-US"/>
          </a:p>
        </p:txBody>
      </p:sp>
      <p:sp>
        <p:nvSpPr>
          <p:cNvPr id="901" name="Card"/>
          <p:cNvSpPr/>
          <p:nvPr/>
        </p:nvSpPr>
        <p:spPr>
          <a:xfrm>
            <a:off x="54864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SYSTEM</a:t>
            </a:r>
          </a:p>
        </p:txBody>
      </p:sp>
      <p:sp>
        <p:nvSpPr>
          <p:cNvPr id="902" name="Card"/>
          <p:cNvSpPr/>
          <p:nvPr/>
        </p:nvSpPr>
        <p:spPr>
          <a:xfrm>
            <a:off x="338328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TEAM</a:t>
            </a:r>
          </a:p>
        </p:txBody>
      </p:sp>
      <p:sp>
        <p:nvSpPr>
          <p:cNvPr id="903" name="Card"/>
          <p:cNvSpPr/>
          <p:nvPr/>
        </p:nvSpPr>
        <p:spPr>
          <a:xfrm>
            <a:off x="621792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ENGINEER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Schön: the reflective practitioner</a:t>
            </a:r>
          </a:p>
        </p:txBody>
      </p:sp>
      <p:sp>
        <p:nvSpPr>
          <p:cNvPr id="900" name="Slide Number Placeholder 900"/>
          <p:cNvSpPr>
            <a:spLocks noGrp="1"/>
          </p:cNvSpPr>
          <p:nvPr>
            <p:ph type="sldNum" sz="quarter" idx="4"/>
          </p:nvPr>
        </p:nvSpPr>
        <p:spPr/>
        <p:txBody>
          <a:bodyPr/>
          <a:lstStyle/>
          <a:p>
            <a:fld id="{39B9D2FE-B078-4487-9F5F-2EEF4DFC66C2}" type="slidenum">
              <a:rPr lang="en-US" smtClean="0"/>
              <a:t>37</a:t>
            </a:fld>
            <a:endParaRPr lang="en-US"/>
          </a:p>
        </p:txBody>
      </p:sp>
      <p:sp>
        <p:nvSpPr>
          <p:cNvPr id="901" name="Card"/>
          <p:cNvSpPr/>
          <p:nvPr/>
        </p:nvSpPr>
        <p:spPr>
          <a:xfrm>
            <a:off x="283464"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Decision</a:t>
            </a:r>
          </a:p>
        </p:txBody>
      </p:sp>
      <p:cxnSp>
        <p:nvCxnSpPr>
          <p:cNvPr id="902" name="Connector 901"/>
          <p:cNvCxnSpPr/>
          <p:nvPr/>
        </p:nvCxnSpPr>
        <p:spPr>
          <a:xfrm>
            <a:off x="1837943" y="2788920"/>
            <a:ext cx="201169"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039112"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Consequence</a:t>
            </a:r>
          </a:p>
        </p:txBody>
      </p:sp>
      <p:cxnSp>
        <p:nvCxnSpPr>
          <p:cNvPr id="904" name="Connector 903"/>
          <p:cNvCxnSpPr/>
          <p:nvPr/>
        </p:nvCxnSpPr>
        <p:spPr>
          <a:xfrm>
            <a:off x="3593591"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3794760"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Reflection</a:t>
            </a:r>
          </a:p>
        </p:txBody>
      </p:sp>
      <p:cxnSp>
        <p:nvCxnSpPr>
          <p:cNvPr id="906" name="Connector 905"/>
          <p:cNvCxnSpPr/>
          <p:nvPr/>
        </p:nvCxnSpPr>
        <p:spPr>
          <a:xfrm>
            <a:off x="5349240"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5550408"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Repertoire</a:t>
            </a:r>
          </a:p>
        </p:txBody>
      </p:sp>
      <p:cxnSp>
        <p:nvCxnSpPr>
          <p:cNvPr id="908" name="Connector 907"/>
          <p:cNvCxnSpPr/>
          <p:nvPr/>
        </p:nvCxnSpPr>
        <p:spPr>
          <a:xfrm>
            <a:off x="7104888"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Card"/>
          <p:cNvSpPr/>
          <p:nvPr/>
        </p:nvSpPr>
        <p:spPr>
          <a:xfrm>
            <a:off x="7306056"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Future recognition</a:t>
            </a:r>
          </a:p>
        </p:txBody>
      </p:sp>
      <p:sp>
        <p:nvSpPr>
          <p:cNvPr id="910" name="Label"/>
          <p:cNvSpPr txBox="1"/>
          <p:nvPr/>
        </p:nvSpPr>
        <p:spPr>
          <a:xfrm>
            <a:off x="548640" y="3840480"/>
            <a:ext cx="8046720" cy="731520"/>
          </a:xfrm>
          <a:prstGeom prst="rect">
            <a:avLst/>
          </a:prstGeom>
          <a:noFill/>
        </p:spPr>
        <p:txBody>
          <a:bodyPr wrap="square" anchor="t" lIns="27432" rIns="27432" tIns="22860" bIns="22860">
            <a:spAutoFit/>
          </a:bodyPr>
          <a:lstStyle/>
          <a:p>
            <a:pPr algn="ctr"/>
            <a:r>
              <a:rPr sz="2200" b="0" i="0">
                <a:solidFill>
                  <a:srgbClr val="5C4826"/>
                </a:solidFill>
              </a:rPr>
              <a:t>Human judgment still matters: not every lesson can or should be mechanized.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Failure is an expensive observation</a:t>
            </a:r>
          </a:p>
        </p:txBody>
      </p:sp>
      <p:sp>
        <p:nvSpPr>
          <p:cNvPr id="900" name="Slide Number Placeholder 900"/>
          <p:cNvSpPr>
            <a:spLocks noGrp="1"/>
          </p:cNvSpPr>
          <p:nvPr>
            <p:ph type="sldNum" sz="quarter" idx="4"/>
          </p:nvPr>
        </p:nvSpPr>
        <p:spPr/>
        <p:txBody>
          <a:bodyPr/>
          <a:lstStyle/>
          <a:p>
            <a:fld id="{CB5F44A2-D062-441C-AD58-E2D5787D8459}" type="slidenum">
              <a:rPr lang="en-US" smtClean="0"/>
              <a:t>38</a:t>
            </a:fld>
            <a:endParaRPr lang="en-US"/>
          </a:p>
        </p:txBody>
      </p:sp>
      <p:sp>
        <p:nvSpPr>
          <p:cNvPr id="901" name="VerbalLine"/>
          <p:cNvSpPr txBox="1"/>
          <p:nvPr/>
        </p:nvSpPr>
        <p:spPr>
          <a:xfrm>
            <a:off x="274320" y="786384"/>
            <a:ext cx="8595360" cy="822960"/>
          </a:xfrm>
          <a:prstGeom prst="rect">
            <a:avLst/>
          </a:prstGeom>
          <a:noFill/>
        </p:spPr>
        <p:txBody>
          <a:bodyPr wrap="square" anchor="ctr" lIns="27432" rIns="27432" tIns="22860" bIns="22860">
            <a:spAutoFit/>
          </a:bodyPr>
          <a:lstStyle/>
          <a:p>
            <a:pPr algn="ctr"/>
            <a:r>
              <a:rPr sz="2000" b="0" i="1">
                <a:solidFill>
                  <a:srgbClr val="5C4826"/>
                </a:solidFill>
              </a:rPr>
              <a:t>Modeling decides what distinctions matter. Failure reveals when we were wrong. Governance conversion decides which newly discovered distinctions future engineering should inherit.</a:t>
            </a:r>
          </a:p>
        </p:txBody>
      </p:sp>
      <p:sp>
        <p:nvSpPr>
          <p:cNvPr id="902" name="N-model"/>
          <p:cNvSpPr/>
          <p:nvPr/>
        </p:nvSpPr>
        <p:spPr>
          <a:xfrm>
            <a:off x="45720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03" name="Connector 902"/>
          <p:cNvCxnSpPr/>
          <p:nvPr/>
        </p:nvCxnSpPr>
        <p:spPr>
          <a:xfrm>
            <a:off x="201168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N-realization"/>
          <p:cNvSpPr/>
          <p:nvPr/>
        </p:nvSpPr>
        <p:spPr>
          <a:xfrm>
            <a:off x="2697480" y="1627632"/>
            <a:ext cx="173736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REALIZATION</a:t>
            </a:r>
          </a:p>
        </p:txBody>
      </p:sp>
      <p:cxnSp>
        <p:nvCxnSpPr>
          <p:cNvPr id="905" name="Connector 904"/>
          <p:cNvCxnSpPr/>
          <p:nvPr/>
        </p:nvCxnSpPr>
        <p:spPr>
          <a:xfrm>
            <a:off x="443484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N-reality"/>
          <p:cNvSpPr/>
          <p:nvPr/>
        </p:nvSpPr>
        <p:spPr>
          <a:xfrm>
            <a:off x="512064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REALITY</a:t>
            </a:r>
          </a:p>
        </p:txBody>
      </p:sp>
      <p:cxnSp>
        <p:nvCxnSpPr>
          <p:cNvPr id="907" name="Connector 906"/>
          <p:cNvCxnSpPr/>
          <p:nvPr/>
        </p:nvCxnSpPr>
        <p:spPr>
          <a:xfrm>
            <a:off x="5897880" y="210312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L-missing"/>
          <p:cNvSpPr txBox="1"/>
          <p:nvPr/>
        </p:nvSpPr>
        <p:spPr>
          <a:xfrm>
            <a:off x="6784848" y="2103120"/>
            <a:ext cx="2057400" cy="731520"/>
          </a:xfrm>
          <a:prstGeom prst="rect">
            <a:avLst/>
          </a:prstGeom>
          <a:noFill/>
        </p:spPr>
        <p:txBody>
          <a:bodyPr wrap="square" anchor="t" lIns="27432" rIns="27432" tIns="22860" bIns="22860">
            <a:spAutoFit/>
          </a:bodyPr>
          <a:lstStyle/>
          <a:p>
            <a:pPr algn="l"/>
            <a:r>
              <a:rPr sz="2000" b="0" i="0">
                <a:solidFill>
                  <a:srgbClr val="555960"/>
                </a:solidFill>
              </a:rPr>
              <a:t>failure reveals a missing distinction</a:t>
            </a:r>
          </a:p>
        </p:txBody>
      </p:sp>
      <p:sp>
        <p:nvSpPr>
          <p:cNvPr id="909" name="N-evidence"/>
          <p:cNvSpPr/>
          <p:nvPr/>
        </p:nvSpPr>
        <p:spPr>
          <a:xfrm>
            <a:off x="5120640" y="2697480"/>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10" name="Connector 909"/>
          <p:cNvCxnSpPr/>
          <p:nvPr/>
        </p:nvCxnSpPr>
        <p:spPr>
          <a:xfrm flipH="1">
            <a:off x="4297680" y="2935224"/>
            <a:ext cx="8229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judge"/>
          <p:cNvSpPr txBox="1"/>
          <p:nvPr/>
        </p:nvSpPr>
        <p:spPr>
          <a:xfrm>
            <a:off x="3154680" y="2304288"/>
            <a:ext cx="2103120" cy="347472"/>
          </a:xfrm>
          <a:prstGeom prst="rect">
            <a:avLst/>
          </a:prstGeom>
          <a:noFill/>
        </p:spPr>
        <p:txBody>
          <a:bodyPr wrap="square" anchor="t" lIns="27432" rIns="27432" tIns="22860" bIns="22860">
            <a:spAutoFit/>
          </a:bodyPr>
          <a:lstStyle/>
          <a:p>
            <a:pPr algn="ctr"/>
            <a:r>
              <a:rPr sz="2000" b="0" i="0">
                <a:solidFill>
                  <a:srgbClr val="555960"/>
                </a:solidFill>
              </a:rPr>
              <a:t>interpret / judge</a:t>
            </a:r>
          </a:p>
        </p:txBody>
      </p:sp>
      <p:sp>
        <p:nvSpPr>
          <p:cNvPr id="912" name="N-judgment"/>
          <p:cNvSpPr/>
          <p:nvPr/>
        </p:nvSpPr>
        <p:spPr>
          <a:xfrm>
            <a:off x="2697480" y="2697480"/>
            <a:ext cx="160020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JUDGMENT</a:t>
            </a:r>
          </a:p>
        </p:txBody>
      </p:sp>
      <p:cxnSp>
        <p:nvCxnSpPr>
          <p:cNvPr id="913" name="Connector 912"/>
          <p:cNvCxnSpPr/>
          <p:nvPr/>
        </p:nvCxnSpPr>
        <p:spPr>
          <a:xfrm flipH="1">
            <a:off x="1783080" y="3172968"/>
            <a:ext cx="123444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4" name="Connector 913"/>
          <p:cNvCxnSpPr/>
          <p:nvPr/>
        </p:nvCxnSpPr>
        <p:spPr>
          <a:xfrm>
            <a:off x="4023360" y="3172968"/>
            <a:ext cx="182880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N-nostructure"/>
          <p:cNvSpPr/>
          <p:nvPr/>
        </p:nvSpPr>
        <p:spPr>
          <a:xfrm>
            <a:off x="365760" y="3611880"/>
            <a:ext cx="246888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lesson does not warrant structure</a:t>
            </a:r>
          </a:p>
        </p:txBody>
      </p:sp>
      <p:sp>
        <p:nvSpPr>
          <p:cNvPr id="916" name="N-govconv"/>
          <p:cNvSpPr/>
          <p:nvPr/>
        </p:nvSpPr>
        <p:spPr>
          <a:xfrm>
            <a:off x="3840480" y="3611880"/>
            <a:ext cx="4754880" cy="1143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FFFFFF"/>
                </a:solidFill>
              </a:rPr>
              <a:t>consequential, recurring, representable</a:t>
            </a:r>
          </a:p>
          <a:p>
            <a:pPr algn="ctr">
              <a:spcBef>
                <a:spcPts val="400"/>
              </a:spcBef>
            </a:pPr>
            <a:r>
              <a:rPr sz="2000" b="1" i="0">
                <a:solidFill>
                  <a:srgbClr val="FFFFFF"/>
                </a:solidFill>
              </a:rPr>
              <a:t>GOVERNANCE CONVERSION</a:t>
            </a:r>
          </a:p>
          <a:p>
            <a:pPr algn="ctr">
              <a:spcBef>
                <a:spcPts val="400"/>
              </a:spcBef>
            </a:pPr>
            <a:r>
              <a:rPr sz="2000" b="0" i="0">
                <a:solidFill>
                  <a:srgbClr val="FFFFFF"/>
                </a:solidFill>
              </a:rPr>
              <a:t>model · validation · constraint · control</a:t>
            </a:r>
          </a:p>
        </p:txBody>
      </p:sp>
      <p:cxnSp>
        <p:nvCxnSpPr>
          <p:cNvPr id="917" name="Connector 916"/>
          <p:cNvCxnSpPr/>
          <p:nvPr/>
        </p:nvCxnSpPr>
        <p:spPr>
          <a:xfrm>
            <a:off x="1600200" y="4389120"/>
            <a:ext cx="123444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8" name="Connector 917"/>
          <p:cNvCxnSpPr/>
          <p:nvPr/>
        </p:nvCxnSpPr>
        <p:spPr>
          <a:xfrm flipH="1">
            <a:off x="4160520" y="4754880"/>
            <a:ext cx="205740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9" name="N-modelprime"/>
          <p:cNvSpPr/>
          <p:nvPr/>
        </p:nvSpPr>
        <p:spPr>
          <a:xfrm>
            <a:off x="2697480" y="5120640"/>
            <a:ext cx="1600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20" name="Connector 919"/>
          <p:cNvCxnSpPr/>
          <p:nvPr/>
        </p:nvCxnSpPr>
        <p:spPr>
          <a:xfrm>
            <a:off x="4297680" y="5376672"/>
            <a:ext cx="7315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1" name="L-loop"/>
          <p:cNvSpPr txBox="1"/>
          <p:nvPr/>
        </p:nvSpPr>
        <p:spPr>
          <a:xfrm>
            <a:off x="5120640" y="5193792"/>
            <a:ext cx="3383280" cy="365760"/>
          </a:xfrm>
          <a:prstGeom prst="rect">
            <a:avLst/>
          </a:prstGeom>
          <a:noFill/>
        </p:spPr>
        <p:txBody>
          <a:bodyPr wrap="square" anchor="t" lIns="27432" rIns="27432" tIns="22860" bIns="22860">
            <a:spAutoFit/>
          </a:bodyPr>
          <a:lstStyle/>
          <a:p>
            <a:pPr algn="l"/>
            <a:r>
              <a:rPr sz="2000" b="0" i="1">
                <a:solidFill>
                  <a:srgbClr val="555960"/>
                </a:solidFill>
              </a:rPr>
              <a:t>the loop continues …</a:t>
            </a:r>
          </a:p>
        </p:txBody>
      </p:sp>
      <p:sp>
        <p:nvSpPr>
          <p:cNvPr id="92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 is inevitable. Recurring failure is not.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7265</Words>
  <Application>Microsoft Macintosh PowerPoint</Application>
  <PresentationFormat>On-screen Show (4:3)</PresentationFormat>
  <Paragraphs>623</Paragraphs>
  <Slides>31</Slides>
  <Notes>31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give us something to check against</vt:lpstr>
      <vt:lpstr>Check correspondence statically</vt:lpstr>
      <vt:lpstr>Check correspondence dynamically</vt:lpstr>
      <vt:lpstr>Alignment helps us answer just one of three questions</vt:lpstr>
      <vt:lpstr>Exercise</vt:lpstr>
      <vt:lpstr>Back to the lab: Design the Alignment</vt:lpstr>
      <vt:lpstr>Report-out: Compare your Alignment approaches</vt:lpstr>
      <vt:lpstr>In closing: How do you supervise your delegation?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438</cp:revision>
  <dcterms:created xsi:type="dcterms:W3CDTF">2020-02-21T23:00:33Z</dcterms:created>
  <dcterms:modified xsi:type="dcterms:W3CDTF">2026-10-08T03:06:19Z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