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6"/>
    <p:sldId id="283" r:id="rId5"/>
    <p:sldId id="284" r:id="rId4"/>
    <p:sldId id="285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86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29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0.xml"/><Relationship Id="rId4" Type="http://schemas.openxmlformats.org/officeDocument/2006/relationships/slide" Target="slides/slide29.xml"/><Relationship Id="rId5" Type="http://schemas.openxmlformats.org/officeDocument/2006/relationships/slide" Target="slides/slide28.xml"/><Relationship Id="rId6" Type="http://schemas.openxmlformats.org/officeDocument/2006/relationships/slide" Target="slides/slide2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Title only - almost nothing else on this slide, on purpose.</a:t>
            </a:r>
          </a:p>
          <a:p>
            <a:r>
              <a:t>The thesis of the unit, for you (do not say it yet): failure produces evidence; analyze it into a lesson; then, when the lesson is stable and consequential enough, move the judgment into the engineering environment so future engineers do not have to make the same judgment again.</a:t>
            </a:r>
          </a:p>
          <a:p>
            <a:r>
              <a:t>The first ~15 minutes are a progressive reveal of one real case. Do not sanitize it into "engineers objected, managers ignored them" - the documented story is murkier than that, which is exactly why it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the requirement change visually; not much prose.</a:t>
            </a:r>
          </a:p>
          <a:p>
            <a:r>
              <a:t>- CAVEAT (sourcing): EPA warns that direct Tier 1/Tier 2 comparisons are complicated by averaging and other program features; 0.07 g/mi was the Tier 2 bin to which the affected Jetta diesels were certified.</a:t>
            </a:r>
          </a:p>
          <a:p>
            <a:r>
              <a:t>- ASK the footer question. Expected recall from Act I: requirements, specification, architecture, design, validation. Good Act I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the product ambition: clean diesel = emissions + performance + customer demand, all at once.</a:t>
            </a:r>
          </a:p>
          <a:p>
            <a:r>
              <a:t>- The footer question is already a requirements / design / authority question. Let several students answer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test recognition: one software path under the regulatory test, another on the road.</a:t>
            </a:r>
          </a:p>
          <a:p>
            <a:r>
              <a:t>- ASK simply: What failed? Let them say ethics, engineer, process, whatever. Do not resolve it - the question returns, identical, twice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This slide uses the actual plea-agreement fact, which is stronger than the later press accounts.</a:t>
            </a:r>
          </a:p>
          <a:p>
            <a:r>
              <a:t>- DISCUSS the italic question. There is not supposed to be a clean classroom answer.</a:t>
            </a:r>
          </a:p>
          <a:p>
            <a:r>
              <a:t>- The footer question is deliberately identical to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This is where the story becomes uncomfortable in the useful way.</a:t>
            </a:r>
          </a:p>
          <a:p>
            <a:r>
              <a:t>- DISCUSS the footer question. "One unethical programmer" becomes an increasingly implausible causal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Ask again, in exactly the same words: What failed?</a:t>
            </a:r>
          </a:p>
          <a:p>
            <a:r>
              <a:t>- The question is identical on the software slide, the objection slide, and this one. The changing answer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scale and repetition rather than another moral discussion.</a:t>
            </a:r>
          </a:p>
          <a:p>
            <a:r>
              <a:t>- ASK the footer question - it seeds governance conversion at minute 10.</a:t>
            </a:r>
          </a:p>
          <a:p>
            <a:r>
              <a:t>- DO NOT answer it yet. It is answered in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The first really explicit Failure-Aware Engineering moment: failure -&gt; new evidence -&gt; interpretation -&gt; ?</a:t>
            </a:r>
          </a:p>
          <a:p>
            <a:r>
              <a:t>- They DID learn from the failure - they learned how to make the existing system work better. Devastatingly useful pedagogically: learning from failure is not enough. The obligation against which the lesson is evaluated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Only now disclose the eventual scale and consequences.</a:t>
            </a:r>
          </a:p>
          <a:p>
            <a:r>
              <a:t>- DO NOT ask "why were engineers not held responsible?" - the premise is false. Liang pleaded guilty and was sentenced; managers and executives were prosecuted or charged; VW pleaded guilty to a $2.8B U.S. criminal penalty.</a:t>
            </a:r>
          </a:p>
          <a:p>
            <a:r>
              <a:t>- ASK the footer question instead. It is genuinely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&lt;1 minute</a:t>
            </a:r>
          </a:p>
          <a:p>
            <a:r>
              <a:t>- Transition: the lecture now asks what theory explains what we just saw.</a:t>
            </a:r>
          </a:p>
          <a:p>
            <a:r>
              <a:t>- Four causal models follow; each will be tested against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Put student answers on screen, verbatim, as they come.</a:t>
            </a:r>
          </a:p>
          <a:p>
            <a:r>
              <a:t>- Keep the list visible; the next slides test candidate causal models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Test it against the story: objections, escalation, authorization, delegation to IAV, year-after-year certification. One individual does not account for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Layered defenses, each imperfect; the accident traverses aligned holes.</a:t>
            </a:r>
          </a:p>
          <a:p>
            <a:r>
              <a:t>- Test it against the story: which defenses existed, and where were the holes? The intervention unit becomes the defenses, not the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The causal story moves up a level: the conditions that shaped behavior, not the behavior alone.</a:t>
            </a:r>
          </a:p>
          <a:p>
            <a:r>
              <a:t>- Test it against the story: what conditions sustained the same result model year after model year?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[Author: the old slide-12 STAMP narration lands here.]</a:t>
            </a:r>
          </a:p>
          <a:p>
            <a:r>
              <a:t>- A systems-theoretic account: include every level of control and feedback, from regulators down to the operating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Each model includes more of the causal story than the last.</a:t>
            </a:r>
          </a:p>
          <a:p>
            <a:r>
              <a:t>- But a more complete account is not automatically a more usable one: as the account widens, more of it lies outside what any one engineer or team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Now the line has concrete meaning rather than being abstract modeling doctrine.</a:t>
            </a:r>
          </a:p>
          <a:p>
            <a:r>
              <a:t>- Connect back to the student answers from the opening slide of this section: each answer was implicitly one of these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&lt;1 minute</a:t>
            </a:r>
          </a:p>
          <a:p>
            <a:r>
              <a:t>- The second half converges on governance conversion; diagnosis comes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Walk the chain: requirements -&gt; specification -&gt; architecture -&gt; design -&gt; implementation.</a:t>
            </a:r>
          </a:p>
          <a:p>
            <a:r>
              <a:t>- ASK where the Volkswagen failure lived on this chain. The discussion should surface that it was not an implementation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A single incident rarely maps to a single decision; the diagnosis may implicate several at once.</a:t>
            </a:r>
          </a:p>
          <a:p>
            <a:r>
              <a:t>- Volkswagen: the requirement conflict, the design response, and the authority structure were all implicated.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Collect answers before offering structure.</a:t>
            </a:r>
          </a:p>
          <a:p>
            <a:r>
              <a:t>- Steer toward validation: the next slide runs Validation backward to locate where knowledge should have been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Claim -&gt; scope -&gt; mechanism -&gt; strategy -&gt; evidence -&gt; judgment, run in reverse: which judgment admitted this realization, on which evidence, under which claim?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Guard against the reflex "we failed, therefore our validation was bad."</a:t>
            </a:r>
          </a:p>
          <a:p>
            <a:r>
              <a:t>- The diagnostic question is whether the failure fell inside the claimed scope or in the residual uncertainty that was knowingly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&lt;1 minute</a:t>
            </a:r>
          </a:p>
          <a:p>
            <a:r>
              <a:t>- From diagnosis to knowledge: the failure is evidence; it must be analyzed into a lesson before it can be 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Straight out of Engineering Knowledge (Act I): an observation becomes knowledge only through analysis.</a:t>
            </a:r>
          </a:p>
          <a:p>
            <a:r>
              <a:t>- The 2012 hardware-failure slide is the counter-example to hold up: evidence was produced, analysis happened, and the lesson served the wrong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One failure licenses several candidate lessons of increasing breadth; the evidence supports only some of them.</a:t>
            </a:r>
          </a:p>
          <a:p>
            <a:r>
              <a:t>- ASK: for a failure from your own project, what is the narrowest lesson? The widest the evidence still supports?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Regression test vs generalized lesson: both are legitimate; they preserve different things.</a:t>
            </a:r>
          </a:p>
          <a:p>
            <a:r>
              <a:t>- ASK what each one catches next time, and what each one misses.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1-2 minutes</a:t>
            </a:r>
          </a:p>
          <a:p>
            <a:r>
              <a:t>- The causal account changes the system; the reflective account changes the engineer.</a:t>
            </a:r>
          </a:p>
          <a:p>
            <a:r>
              <a:t>- Postmortems that stop at the causal account leave the second kind of learning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From Engineering Knowledge: consequential knowledge can migrate into requirements, specifications, architecture, mechanisms/models, validation, or continuing checks/controls when future work should inherit the lesson.</a:t>
            </a:r>
          </a:p>
          <a:p>
            <a:r>
              <a:t>- ASK for one lesson from the course project and where it should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A43D30D-85A8-477F-BEC0-414C23720949}" type="slidenum">
              <a:rPr lang="en-US" smtClean="0"/>
              <a:t>1</a:t>
            </a:fld>
            <a:endParaRPr lang="en-US"/>
          </a:p>
        </p:txBody>
      </p:sp>
      <p:sp>
        <p:nvSpPr>
          <p:cNvPr id="901" name="Header"/>
          <p:cNvSpPr/>
          <p:nvPr/>
        </p:nvSpPr>
        <p:spPr>
          <a:xfrm>
            <a:off x="438912" y="566928"/>
            <a:ext cx="8266175" cy="1197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902" name="TitleBlock"/>
          <p:cNvSpPr txBox="1"/>
          <p:nvPr/>
        </p:nvSpPr>
        <p:spPr>
          <a:xfrm>
            <a:off x="219456" y="1920240"/>
            <a:ext cx="8695944" cy="214884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Failure-Aware Engineering</a:t>
            </a:r>
          </a:p>
          <a:p>
            <a:pPr algn="ctr">
              <a:spcBef>
                <a:spcPts val="1800"/>
              </a:spcBef>
            </a:pPr>
            <a:r>
              <a:rPr sz="2000" b="0" i="0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1999: The obligation changes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4E765D-783E-4B95-A88D-1F5178204E0C}" type="slidenum">
              <a:rPr lang="en-US" smtClean="0"/>
              <a:t>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82296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1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5C4826"/>
                </a:solidFill>
              </a:rPr>
              <a:t>NOx ≈ 1.25 g/mi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3977639" y="2331720"/>
            <a:ext cx="731521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84632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2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9A3F12"/>
                </a:solidFill>
              </a:rPr>
              <a:t>0.07 g/mi</a:t>
            </a:r>
          </a:p>
        </p:txBody>
      </p:sp>
      <p:cxnSp>
        <p:nvCxnSpPr>
          <p:cNvPr id="904" name="Connector 903"/>
          <p:cNvCxnSpPr/>
          <p:nvPr/>
        </p:nvCxnSpPr>
        <p:spPr>
          <a:xfrm flipV="1">
            <a:off x="6355080" y="3337560"/>
            <a:ext cx="0" cy="5943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Label"/>
          <p:cNvSpPr txBox="1"/>
          <p:nvPr/>
        </p:nvSpPr>
        <p:spPr>
          <a:xfrm>
            <a:off x="4572000" y="4023360"/>
            <a:ext cx="3566160" cy="4114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VW must engineer for this world</a:t>
            </a:r>
          </a:p>
        </p:txBody>
      </p:sp>
      <p:sp>
        <p:nvSpPr>
          <p:cNvPr id="906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engineering activities should this regulatory change affect?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2006: Volkswagen has a problem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6525ABA-B18D-4AD9-A332-72D96EBDB552}" type="slidenum">
              <a:rPr lang="en-US" smtClean="0"/>
              <a:t>3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CLEAN DIESEL</a:t>
            </a:r>
          </a:p>
        </p:txBody>
      </p:sp>
      <p:cxnSp>
        <p:nvCxnSpPr>
          <p:cNvPr id="902" name="Connector 901"/>
          <p:cNvCxnSpPr/>
          <p:nvPr/>
        </p:nvCxnSpPr>
        <p:spPr>
          <a:xfrm flipH="1">
            <a:off x="173736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1147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emissions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4572000" y="1828800"/>
            <a:ext cx="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Card"/>
          <p:cNvSpPr/>
          <p:nvPr/>
        </p:nvSpPr>
        <p:spPr>
          <a:xfrm>
            <a:off x="3246120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performance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457200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Card"/>
          <p:cNvSpPr/>
          <p:nvPr/>
        </p:nvSpPr>
        <p:spPr>
          <a:xfrm>
            <a:off x="608075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customer demand</a:t>
            </a:r>
          </a:p>
        </p:txBody>
      </p:sp>
      <p:sp>
        <p:nvSpPr>
          <p:cNvPr id="908" name="DojAccount"/>
          <p:cNvSpPr txBox="1"/>
          <p:nvPr/>
        </p:nvSpPr>
        <p:spPr>
          <a:xfrm>
            <a:off x="548640" y="3566160"/>
            <a:ext cx="804672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DOJ's account: </a:t>
            </a:r>
            <a:r>
              <a:rPr sz="2000" b="0" i="0">
                <a:solidFill>
                  <a:srgbClr val="555960"/>
                </a:solidFill>
              </a:rPr>
              <a:t>engineers found they could not produce the desired engine that both met the stricter NOx standards and attracted sufficient U.S. customer demand.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should happen when the engineering cannot satisfy the obligations?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They found a software solution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44BFD92-1E0B-4552-BB0B-00445F63C69F}" type="slidenum">
              <a:rPr lang="en-US" smtClean="0"/>
              <a:t>4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566160" y="100584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SOFTWARE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572000" y="1508760"/>
            <a:ext cx="0" cy="365759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337560" y="1874519"/>
            <a:ext cx="24688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regulatory test?</a:t>
            </a:r>
          </a:p>
        </p:txBody>
      </p:sp>
      <p:cxnSp>
        <p:nvCxnSpPr>
          <p:cNvPr id="904" name="Connector 903"/>
          <p:cNvCxnSpPr/>
          <p:nvPr/>
        </p:nvCxnSpPr>
        <p:spPr>
          <a:xfrm flipH="1">
            <a:off x="2103120" y="2377440"/>
            <a:ext cx="123444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5806440" y="2377440"/>
            <a:ext cx="86868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Label"/>
          <p:cNvSpPr txBox="1"/>
          <p:nvPr/>
        </p:nvSpPr>
        <p:spPr>
          <a:xfrm>
            <a:off x="1920240" y="2212848"/>
            <a:ext cx="82296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YES</a:t>
            </a:r>
          </a:p>
        </p:txBody>
      </p:sp>
      <p:sp>
        <p:nvSpPr>
          <p:cNvPr id="907" name="Label"/>
          <p:cNvSpPr txBox="1"/>
          <p:nvPr/>
        </p:nvSpPr>
        <p:spPr>
          <a:xfrm>
            <a:off x="6355080" y="2212848"/>
            <a:ext cx="73152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NO</a:t>
            </a:r>
          </a:p>
        </p:txBody>
      </p:sp>
      <p:sp>
        <p:nvSpPr>
          <p:cNvPr id="908" name="Card"/>
          <p:cNvSpPr/>
          <p:nvPr/>
        </p:nvSpPr>
        <p:spPr>
          <a:xfrm>
            <a:off x="914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emissions controls</a:t>
            </a:r>
          </a:p>
        </p:txBody>
      </p:sp>
      <p:sp>
        <p:nvSpPr>
          <p:cNvPr id="909" name="Card"/>
          <p:cNvSpPr/>
          <p:nvPr/>
        </p:nvSpPr>
        <p:spPr>
          <a:xfrm>
            <a:off x="5486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reduced controls</a:t>
            </a:r>
          </a:p>
        </p:txBody>
      </p:sp>
      <p:cxnSp>
        <p:nvCxnSpPr>
          <p:cNvPr id="910" name="Connector 909"/>
          <p:cNvCxnSpPr/>
          <p:nvPr/>
        </p:nvCxnSpPr>
        <p:spPr>
          <a:xfrm>
            <a:off x="2103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6675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Block"/>
          <p:cNvSpPr/>
          <p:nvPr/>
        </p:nvSpPr>
        <p:spPr>
          <a:xfrm>
            <a:off x="1371600" y="3657600"/>
            <a:ext cx="146304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13" name="Block"/>
          <p:cNvSpPr/>
          <p:nvPr/>
        </p:nvSpPr>
        <p:spPr>
          <a:xfrm>
            <a:off x="5394960" y="3657600"/>
            <a:ext cx="2560320" cy="50292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much higher NOx</a:t>
            </a:r>
          </a:p>
        </p:txBody>
      </p:sp>
      <p:sp>
        <p:nvSpPr>
          <p:cNvPr id="914" name="Sources"/>
          <p:cNvSpPr txBox="1"/>
          <p:nvPr/>
        </p:nvSpPr>
        <p:spPr>
          <a:xfrm>
            <a:off x="411480" y="4434840"/>
            <a:ext cx="8321040" cy="12344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EPA: </a:t>
            </a:r>
            <a:r>
              <a:rPr sz="2000" b="0" i="0">
                <a:solidFill>
                  <a:srgbClr val="555960"/>
                </a:solidFill>
              </a:rPr>
              <a:t>the affected vehicles contained software designed to cheat federal emissions tests. </a:t>
            </a:r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documents describe recognition of the published drive cycles, and emissions up to 40 times the applicable standard outside test mode.</a:t>
            </a:r>
          </a:p>
        </p:txBody>
      </p:sp>
      <p:sp>
        <p:nvSpPr>
          <p:cNvPr id="91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Some engineers objected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BD00870-ADF9-47D6-916D-934E0EF8B0BA}" type="slidenum">
              <a:rPr lang="en-US" smtClean="0"/>
              <a:t>5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Objection, escalated. </a:t>
            </a:r>
            <a:r>
              <a:rPr sz="2000" b="0" i="0">
                <a:solidFill>
                  <a:srgbClr val="555960"/>
                </a:solidFill>
              </a:rPr>
              <a:t>VW engineers, supported by supervisors, raised objections about the propriety of the defeat device and escalated the issue.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14884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November 2006. </a:t>
            </a:r>
            <a:r>
              <a:rPr sz="2000" b="0" i="0">
                <a:solidFill>
                  <a:srgbClr val="555960"/>
                </a:solidFill>
              </a:rPr>
              <a:t>The relevant supervisor was briefed on its purpose and design, and decided production should continue.</a:t>
            </a:r>
          </a:p>
        </p:txBody>
      </p:sp>
      <p:sp>
        <p:nvSpPr>
          <p:cNvPr id="903" name="Card"/>
          <p:cNvSpPr/>
          <p:nvPr/>
        </p:nvSpPr>
        <p:spPr>
          <a:xfrm>
            <a:off x="411480" y="324612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plea agreement </a:t>
            </a:r>
            <a:r>
              <a:rPr sz="2000" b="0" i="0">
                <a:solidFill>
                  <a:srgbClr val="555960"/>
                </a:solidFill>
              </a:rPr>
              <a:t>records the instruction, in substance, as </a:t>
            </a:r>
            <a:r>
              <a:rPr sz="2000" b="1" i="0">
                <a:solidFill>
                  <a:srgbClr val="9A3F12"/>
                </a:solidFill>
              </a:rPr>
              <a:t>“not to get caught.”</a:t>
            </a:r>
          </a:p>
        </p:txBody>
      </p:sp>
      <p:sp>
        <p:nvSpPr>
          <p:cNvPr id="904" name="Label"/>
          <p:cNvSpPr txBox="1"/>
          <p:nvPr/>
        </p:nvSpPr>
        <p:spPr>
          <a:xfrm>
            <a:off x="411480" y="4572000"/>
            <a:ext cx="832104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1">
                <a:solidFill>
                  <a:srgbClr val="8E6F3E"/>
                </a:solidFill>
              </a:rPr>
              <a:t>Was raising the concern the end of those engineers’ professional responsibility?</a:t>
            </a:r>
          </a:p>
        </p:txBody>
      </p:sp>
      <p:sp>
        <p:nvSpPr>
          <p:cNvPr id="90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And yet engineers kept engineering it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856D03-0CC0-4BEC-9A8A-1592C147E6CF}" type="slidenum">
              <a:rPr lang="en-US" smtClean="0"/>
              <a:t>6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97280"/>
            <a:ext cx="8321040" cy="14173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Not a rogue ten-line hack. </a:t>
            </a:r>
            <a:r>
              <a:rPr sz="2000" b="0" i="0">
                <a:solidFill>
                  <a:srgbClr val="555960"/>
                </a:solidFill>
              </a:rPr>
              <a:t>The defeat device required engineering, calibration, integration, certification work, and continued maintenance.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743200"/>
            <a:ext cx="832104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Delegated, too. </a:t>
            </a:r>
            <a:r>
              <a:rPr sz="2000" b="0" i="0">
                <a:solidFill>
                  <a:srgbClr val="555960"/>
                </a:solidFill>
              </a:rPr>
              <a:t>VW delegated software-development and exhaust-after-treatment work to IAV. An IAV employee prepared documentation for the test-recognition software, and by 2008 an IAV manager knew its purpose and directed continued work.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How many people does it take to get a system like this into 335,000, eventually hundreds of thousands, of U.S. vehicles?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2007: They reconsidered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C0D9BD-F16C-4A6B-B8A6-E34B73CA1E6B}" type="slidenum">
              <a:rPr lang="en-US" smtClean="0"/>
              <a:t>7</a:t>
            </a:fld>
            <a:endParaRPr lang="en-US"/>
          </a:p>
        </p:txBody>
      </p:sp>
      <p:sp>
        <p:nvSpPr>
          <p:cNvPr id="901" name="Label"/>
          <p:cNvSpPr txBox="1"/>
          <p:nvPr/>
        </p:nvSpPr>
        <p:spPr>
          <a:xfrm>
            <a:off x="411480" y="1143000"/>
            <a:ext cx="832104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More technical problems. Internal disagreement. A contentious October 2007 meeting.</a:t>
            </a:r>
          </a:p>
        </p:txBody>
      </p:sp>
      <p:sp>
        <p:nvSpPr>
          <p:cNvPr id="902" name="Block"/>
          <p:cNvSpPr/>
          <p:nvPr/>
        </p:nvSpPr>
        <p:spPr>
          <a:xfrm>
            <a:off x="3017520" y="2103120"/>
            <a:ext cx="3108960" cy="86868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Result: PROCEED</a:t>
            </a:r>
          </a:p>
        </p:txBody>
      </p:sp>
      <p:sp>
        <p:nvSpPr>
          <p:cNvPr id="903" name="Doj"/>
          <p:cNvSpPr txBox="1"/>
          <p:nvPr/>
        </p:nvSpPr>
        <p:spPr>
          <a:xfrm>
            <a:off x="411480" y="3474720"/>
            <a:ext cx="832104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supervisor authorized the project despite knowing that only the defeat device would allow the vehicles to pass the U.S. tests.</a:t>
            </a:r>
          </a:p>
        </p:txBody>
      </p:sp>
      <p:sp>
        <p:nvSpPr>
          <p:cNvPr id="904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2009–2016: The engineering system keeps producing the result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CF085B0-2B05-4F12-8120-0507C03E97A6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411480" y="1280160"/>
          <a:ext cx="8321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MODEL YEAR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2009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2010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2011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2012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2013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2014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2015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2016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CERTIFY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SELL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902" name="Doj"/>
          <p:cNvSpPr txBox="1"/>
          <p:nvPr/>
        </p:nvSpPr>
        <p:spPr>
          <a:xfrm>
            <a:off x="411480" y="3246120"/>
            <a:ext cx="8321040" cy="1463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certification was not a one-time failure. </a:t>
            </a:r>
            <a:r>
              <a:rPr sz="2000" b="0" i="0">
                <a:solidFill>
                  <a:srgbClr val="555960"/>
                </a:solidFill>
              </a:rPr>
              <a:t>DOJ: false certifications continued model year after model year, with employees meeting EPA/CARB and concealing the defeat device.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could the engineering environment have made the wrong action difficult or impossible?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2012: Reality provides another observation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2D3FE27-ED08-4892-B7C9-416508D1890C}" type="slidenum">
              <a:rPr lang="en-US" smtClean="0"/>
              <a:t>9</a:t>
            </a:fld>
            <a:endParaRPr lang="en-US"/>
          </a:p>
        </p:txBody>
      </p:sp>
      <p:sp>
        <p:nvSpPr>
          <p:cNvPr id="901" name="Facts"/>
          <p:cNvSpPr txBox="1"/>
          <p:nvPr/>
        </p:nvSpPr>
        <p:spPr>
          <a:xfrm>
            <a:off x="365760" y="1097280"/>
            <a:ext cx="4754880" cy="40233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Hardware starts failing.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Engineers investigate and conclude that additional stress associated with dyno mode may explain the hardware failures. They explain both the diagnosis and the defeat device to management.</a:t>
            </a:r>
          </a:p>
          <a:p>
            <a:pPr algn="l">
              <a:spcBef>
                <a:spcPts val="1200"/>
              </a:spcBef>
            </a:pPr>
            <a:r>
              <a:rPr sz="2000" b="1" i="0">
                <a:solidFill>
                  <a:srgbClr val="5C4826"/>
                </a:solidFill>
              </a:rPr>
              <a:t>And what happens? </a:t>
            </a:r>
            <a:r>
              <a:rPr sz="2000" b="0" i="0">
                <a:solidFill>
                  <a:srgbClr val="555960"/>
                </a:solidFill>
              </a:rPr>
              <a:t>Further concealment — followed eventually by an improved defeat device using steering-wheel-angle recognition.</a:t>
            </a:r>
          </a:p>
        </p:txBody>
      </p:sp>
      <p:sp>
        <p:nvSpPr>
          <p:cNvPr id="902" name="Block"/>
          <p:cNvSpPr/>
          <p:nvPr/>
        </p:nvSpPr>
        <p:spPr>
          <a:xfrm>
            <a:off x="5577840" y="1188720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FAILURE</a:t>
            </a:r>
          </a:p>
        </p:txBody>
      </p:sp>
      <p:cxnSp>
        <p:nvCxnSpPr>
          <p:cNvPr id="903" name="Connector 902"/>
          <p:cNvCxnSpPr/>
          <p:nvPr/>
        </p:nvCxnSpPr>
        <p:spPr>
          <a:xfrm>
            <a:off x="6995160" y="1737360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Block"/>
          <p:cNvSpPr/>
          <p:nvPr/>
        </p:nvSpPr>
        <p:spPr>
          <a:xfrm>
            <a:off x="5577840" y="2121408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NEW EVIDENCE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6995160" y="2670048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Block"/>
          <p:cNvSpPr/>
          <p:nvPr/>
        </p:nvSpPr>
        <p:spPr>
          <a:xfrm>
            <a:off x="5577840" y="3054096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INTERPRETATION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6995160" y="3602736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Block"/>
          <p:cNvSpPr/>
          <p:nvPr/>
        </p:nvSpPr>
        <p:spPr>
          <a:xfrm>
            <a:off x="5577840" y="3986784"/>
            <a:ext cx="2834640" cy="54864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?????????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They did learn from the failure. They learned how to make the existing system work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2014–15: Someone outside the system measures reality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701E80-C716-4E6A-B258-BF05840C90DE}" type="slidenum">
              <a:rPr lang="en-US" smtClean="0"/>
              <a:t>10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External road testing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88036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24612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571500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6080760" y="1051560"/>
            <a:ext cx="24688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2015: EPA notice</a:t>
            </a:r>
          </a:p>
        </p:txBody>
      </p:sp>
      <p:sp>
        <p:nvSpPr>
          <p:cNvPr id="906" name="Card"/>
          <p:cNvSpPr/>
          <p:nvPr/>
        </p:nvSpPr>
        <p:spPr>
          <a:xfrm>
            <a:off x="411480" y="2057400"/>
            <a:ext cx="832104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Engineer James Liang </a:t>
            </a:r>
            <a:r>
              <a:rPr sz="2000" b="0" i="0">
                <a:solidFill>
                  <a:srgbClr val="555960"/>
                </a:solidFill>
              </a:rPr>
              <a:t>pleaded guilty and was sentenced for his role; DOJ records say he helped make the defeat device work and participated in deception of regulators.</a:t>
            </a:r>
          </a:p>
        </p:txBody>
      </p:sp>
      <p:sp>
        <p:nvSpPr>
          <p:cNvPr id="907" name="Card"/>
          <p:cNvSpPr/>
          <p:nvPr/>
        </p:nvSpPr>
        <p:spPr>
          <a:xfrm>
            <a:off x="411480" y="3291840"/>
            <a:ext cx="83210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Managers and executives </a:t>
            </a:r>
            <a:r>
              <a:rPr sz="2000" b="0" i="0">
                <a:solidFill>
                  <a:srgbClr val="555960"/>
                </a:solidFill>
              </a:rPr>
              <a:t>were prosecuted or charged.</a:t>
            </a:r>
          </a:p>
        </p:txBody>
      </p:sp>
      <p:sp>
        <p:nvSpPr>
          <p:cNvPr id="908" name="Card"/>
          <p:cNvSpPr/>
          <p:nvPr/>
        </p:nvSpPr>
        <p:spPr>
          <a:xfrm>
            <a:off x="411480" y="4206240"/>
            <a:ext cx="83210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Volkswagen </a:t>
            </a:r>
            <a:r>
              <a:rPr sz="2000" b="0" i="0">
                <a:solidFill>
                  <a:srgbClr val="555960"/>
                </a:solidFill>
              </a:rPr>
              <a:t>pleaded guilty and received a $2.8B U.S. criminal penalty, among other settlements and consequences.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does responsibility lie in a failure produced and sustained by many people and mechanisms?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/>
          <a:lstStyle/>
          <a:p>
            <a:pPr algn="ctr"/>
            <a:r>
              <a:rPr sz="4000" b="0" i="0">
                <a:solidFill>
                  <a:srgbClr val="000000"/>
                </a:solidFill>
              </a:rPr>
              <a:t>What theory explains it?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7F3B56-C71B-46E2-B5B3-15D6EDEA9357}" type="slidenum">
              <a:rPr lang="en-US" smtClean="0"/>
              <a:t>11</a:t>
            </a:fld>
            <a:endParaRPr lang="en-US"/>
          </a:p>
        </p:txBody>
      </p:sp>
      <p:sp>
        <p:nvSpPr>
          <p:cNvPr id="901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902" name="Question"/>
          <p:cNvSpPr txBox="1"/>
          <p:nvPr/>
        </p:nvSpPr>
        <p:spPr>
          <a:xfrm>
            <a:off x="685800" y="2816352"/>
            <a:ext cx="7772400" cy="475488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400" b="0" i="0">
                <a:solidFill>
                  <a:srgbClr val="5C4826"/>
                </a:solidFill>
              </a:rPr>
              <a:t>And what does each theory let you change?</a:t>
            </a:r>
          </a:p>
        </p:txBody>
      </p:sp>
      <p:sp>
        <p:nvSpPr>
          <p:cNvPr id="903" name="Rule"/>
          <p:cNvSpPr/>
          <p:nvPr/>
        </p:nvSpPr>
        <p:spPr>
          <a:xfrm>
            <a:off x="3429000" y="36027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What caused the Volkswagen failure?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3203EA6-7D0E-4BCF-BC57-8FA32EAE9A9C}" type="slidenum">
              <a:rPr lang="en-US" smtClean="0"/>
              <a:t>12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914400" y="1188720"/>
            <a:ext cx="7315200" cy="4297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Your answers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555960"/>
                </a:solidFill>
              </a:rPr>
              <a:t>(collected live)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Human error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2C3804-325D-4FC4-B86F-0E3B96B75588}" type="slidenum">
              <a:rPr lang="en-US" smtClean="0"/>
              <a:t>13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1463040"/>
            <a:ext cx="37490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CAUSAL MODEL</a:t>
            </a:r>
          </a:p>
          <a:p>
            <a:pPr algn="ctr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An individual erred.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389120" y="265176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Block"/>
          <p:cNvSpPr/>
          <p:nvPr/>
        </p:nvSpPr>
        <p:spPr>
          <a:xfrm>
            <a:off x="5029200" y="1463040"/>
            <a:ext cx="3566160" cy="23774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ONE INTERVENTION</a:t>
            </a:r>
          </a:p>
          <a:p>
            <a:pPr algn="ctr"/>
            <a:r>
              <a:rPr sz="2000" b="0" i="0">
                <a:solidFill>
                  <a:srgbClr val="FFFFFF"/>
                </a:solidFill>
              </a:rPr>
              <a:t>change the individual</a:t>
            </a:r>
          </a:p>
        </p:txBody>
      </p:sp>
      <p:sp>
        <p:nvSpPr>
          <p:cNvPr id="904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Useful, but gives one intervention.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Swiss cheese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2AA4D64-91B6-4F3C-BBDB-9E223E826547}" type="slidenum">
              <a:rPr lang="en-US" smtClean="0"/>
              <a:t>14</a:t>
            </a:fld>
            <a:endParaRPr lang="en-US"/>
          </a:p>
        </p:txBody>
      </p:sp>
      <p:sp>
        <p:nvSpPr>
          <p:cNvPr id="901" name="Slab"/>
          <p:cNvSpPr/>
          <p:nvPr/>
        </p:nvSpPr>
        <p:spPr>
          <a:xfrm>
            <a:off x="146304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2" name="Hole"/>
          <p:cNvSpPr/>
          <p:nvPr/>
        </p:nvSpPr>
        <p:spPr>
          <a:xfrm>
            <a:off x="1764792" y="192024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3" name="Hole"/>
          <p:cNvSpPr/>
          <p:nvPr/>
        </p:nvSpPr>
        <p:spPr>
          <a:xfrm>
            <a:off x="176479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4" name="Hole"/>
          <p:cNvSpPr/>
          <p:nvPr/>
        </p:nvSpPr>
        <p:spPr>
          <a:xfrm>
            <a:off x="1764792" y="3931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5" name="Slab"/>
          <p:cNvSpPr/>
          <p:nvPr/>
        </p:nvSpPr>
        <p:spPr>
          <a:xfrm>
            <a:off x="310896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6" name="Hole"/>
          <p:cNvSpPr/>
          <p:nvPr/>
        </p:nvSpPr>
        <p:spPr>
          <a:xfrm>
            <a:off x="3410712" y="173736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7" name="Hole"/>
          <p:cNvSpPr/>
          <p:nvPr/>
        </p:nvSpPr>
        <p:spPr>
          <a:xfrm>
            <a:off x="341071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8" name="Hole"/>
          <p:cNvSpPr/>
          <p:nvPr/>
        </p:nvSpPr>
        <p:spPr>
          <a:xfrm>
            <a:off x="3410712" y="42976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09" name="Slab"/>
          <p:cNvSpPr/>
          <p:nvPr/>
        </p:nvSpPr>
        <p:spPr>
          <a:xfrm>
            <a:off x="475488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0" name="Hole"/>
          <p:cNvSpPr/>
          <p:nvPr/>
        </p:nvSpPr>
        <p:spPr>
          <a:xfrm>
            <a:off x="5056632" y="17830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1" name="Hole"/>
          <p:cNvSpPr/>
          <p:nvPr/>
        </p:nvSpPr>
        <p:spPr>
          <a:xfrm>
            <a:off x="505663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2" name="Hole"/>
          <p:cNvSpPr/>
          <p:nvPr/>
        </p:nvSpPr>
        <p:spPr>
          <a:xfrm>
            <a:off x="5056632" y="379476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3" name="Slab"/>
          <p:cNvSpPr/>
          <p:nvPr/>
        </p:nvSpPr>
        <p:spPr>
          <a:xfrm>
            <a:off x="6400800" y="1280160"/>
            <a:ext cx="1005840" cy="3657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4" name="Hole"/>
          <p:cNvSpPr/>
          <p:nvPr/>
        </p:nvSpPr>
        <p:spPr>
          <a:xfrm>
            <a:off x="6702552" y="224028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5" name="Hole"/>
          <p:cNvSpPr/>
          <p:nvPr/>
        </p:nvSpPr>
        <p:spPr>
          <a:xfrm>
            <a:off x="6702552" y="27889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916" name="Hole"/>
          <p:cNvSpPr/>
          <p:nvPr/>
        </p:nvSpPr>
        <p:spPr>
          <a:xfrm>
            <a:off x="6702552" y="4160520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  <p:cxnSp>
        <p:nvCxnSpPr>
          <p:cNvPr id="917" name="Connector 916"/>
          <p:cNvCxnSpPr/>
          <p:nvPr/>
        </p:nvCxnSpPr>
        <p:spPr>
          <a:xfrm>
            <a:off x="548640" y="2990088"/>
            <a:ext cx="7589520" cy="0"/>
          </a:xfrm>
          <a:prstGeom prst="line">
            <a:avLst/>
          </a:prstGeom>
          <a:ln w="31750">
            <a:solidFill>
              <a:srgbClr val="9A3F1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8" name="Label"/>
          <p:cNvSpPr txBox="1"/>
          <p:nvPr/>
        </p:nvSpPr>
        <p:spPr>
          <a:xfrm>
            <a:off x="548640" y="521208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Now defenses and their holes matter.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Organizational causation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0A80A09-AB4A-448E-9C89-F91826118FD4}" type="slidenum">
              <a:rPr lang="en-US" smtClean="0"/>
              <a:t>15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548640" y="2377440"/>
            <a:ext cx="246888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CONDITIONS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3017520" y="274320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566160" y="2377440"/>
            <a:ext cx="24688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6035040" y="2743200"/>
            <a:ext cx="54864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Card"/>
          <p:cNvSpPr/>
          <p:nvPr/>
        </p:nvSpPr>
        <p:spPr>
          <a:xfrm>
            <a:off x="6583680" y="2377440"/>
            <a:ext cx="20116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outcome</a:t>
            </a:r>
          </a:p>
        </p:txBody>
      </p:sp>
      <p:sp>
        <p:nvSpPr>
          <p:cNvPr id="906" name="Label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Now conditions shaping behavior matter.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STAMP: Fine, include everything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04F9F5-8793-4E0A-B7E6-07F83852951D}" type="slidenum">
              <a:rPr lang="en-US" smtClean="0"/>
              <a:t>16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2926080" y="118872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REGULATORS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023360" y="182880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 flipV="1">
            <a:off x="5120640" y="182880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Block"/>
          <p:cNvSpPr/>
          <p:nvPr/>
        </p:nvSpPr>
        <p:spPr>
          <a:xfrm>
            <a:off x="2926080" y="219456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ORGANIZATION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4023360" y="28346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V="1">
            <a:off x="5120640" y="28346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Block"/>
          <p:cNvSpPr/>
          <p:nvPr/>
        </p:nvSpPr>
        <p:spPr>
          <a:xfrm>
            <a:off x="2926080" y="320040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ENGINEERING</a:t>
            </a:r>
          </a:p>
        </p:txBody>
      </p:sp>
      <p:cxnSp>
        <p:nvCxnSpPr>
          <p:cNvPr id="908" name="Connector 907"/>
          <p:cNvCxnSpPr/>
          <p:nvPr/>
        </p:nvCxnSpPr>
        <p:spPr>
          <a:xfrm>
            <a:off x="4023360" y="384048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 flipV="1">
            <a:off x="5120640" y="384048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" name="Block"/>
          <p:cNvSpPr/>
          <p:nvPr/>
        </p:nvSpPr>
        <p:spPr>
          <a:xfrm>
            <a:off x="2926080" y="4206240"/>
            <a:ext cx="329184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OPERATING PROCESS</a:t>
            </a:r>
          </a:p>
        </p:txBody>
      </p:sp>
      <p:sp>
        <p:nvSpPr>
          <p:cNvPr id="911" name="Label"/>
          <p:cNvSpPr txBox="1"/>
          <p:nvPr/>
        </p:nvSpPr>
        <p:spPr>
          <a:xfrm>
            <a:off x="411480" y="2377440"/>
            <a:ext cx="233172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r"/>
            <a:r>
              <a:rPr sz="2000" b="0" i="0">
                <a:solidFill>
                  <a:srgbClr val="555960"/>
                </a:solidFill>
              </a:rPr>
              <a:t>control ↓</a:t>
            </a:r>
          </a:p>
        </p:txBody>
      </p:sp>
      <p:sp>
        <p:nvSpPr>
          <p:cNvPr id="912" name="Label"/>
          <p:cNvSpPr txBox="1"/>
          <p:nvPr/>
        </p:nvSpPr>
        <p:spPr>
          <a:xfrm>
            <a:off x="6400800" y="2377440"/>
            <a:ext cx="210312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0" i="0">
                <a:solidFill>
                  <a:srgbClr val="555960"/>
                </a:solidFill>
              </a:rPr>
              <a:t>↑ feedback</a:t>
            </a:r>
          </a:p>
        </p:txBody>
      </p:sp>
      <p:sp>
        <p:nvSpPr>
          <p:cNvPr id="913" name="Label"/>
          <p:cNvSpPr txBox="1"/>
          <p:nvPr/>
        </p:nvSpPr>
        <p:spPr>
          <a:xfrm>
            <a:off x="548640" y="5303520"/>
            <a:ext cx="804672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Model the entire control structure — every level, every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More complete can become less actionable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D52A085-833B-45CB-9024-201F6F8BB276}" type="slidenum">
              <a:rPr lang="en-US" smtClean="0"/>
              <a:t>17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Human error</a:t>
            </a:r>
          </a:p>
        </p:txBody>
      </p:sp>
      <p:sp>
        <p:nvSpPr>
          <p:cNvPr id="902" name="Card"/>
          <p:cNvSpPr/>
          <p:nvPr/>
        </p:nvSpPr>
        <p:spPr>
          <a:xfrm>
            <a:off x="2624328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Swiss cheese</a:t>
            </a:r>
          </a:p>
        </p:txBody>
      </p:sp>
      <p:sp>
        <p:nvSpPr>
          <p:cNvPr id="903" name="Card"/>
          <p:cNvSpPr/>
          <p:nvPr/>
        </p:nvSpPr>
        <p:spPr>
          <a:xfrm>
            <a:off x="4700016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Organizational</a:t>
            </a:r>
          </a:p>
        </p:txBody>
      </p:sp>
      <p:sp>
        <p:nvSpPr>
          <p:cNvPr id="904" name="Card"/>
          <p:cNvSpPr/>
          <p:nvPr/>
        </p:nvSpPr>
        <p:spPr>
          <a:xfrm>
            <a:off x="6775704" y="2103120"/>
            <a:ext cx="18288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STAMP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548640" y="3383280"/>
            <a:ext cx="8001000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Label"/>
          <p:cNvSpPr txBox="1"/>
          <p:nvPr/>
        </p:nvSpPr>
        <p:spPr>
          <a:xfrm>
            <a:off x="548640" y="35204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more complete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Match the causal model to the locus of control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217FCDD-83C2-4540-9ED9-EA5D35DF23D2}" type="slidenum">
              <a:rPr lang="en-US" smtClean="0"/>
              <a:t>18</a:t>
            </a:fld>
            <a:endParaRPr lang="en-US"/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731520" y="128016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0292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CAUSAL MODEL</a:t>
                      </a:r>
                    </a:p>
                  </a:txBody>
                  <a:tcPr anchor="ctr" marL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THE LEVER IT HANDS YOU</a:t>
                      </a:r>
                    </a:p>
                  </a:txBody>
                  <a:tcPr anchor="ctr" marL="54864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Human error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an individual's behavior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Swiss cheese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set of defenses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Organizational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conditions that shape behavior</a:t>
                      </a:r>
                    </a:p>
                  </a:txBody>
                  <a:tcPr anchor="ctr" marL="54864">
                    <a:solidFill>
                      <a:srgbClr val="F5F1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STAMP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the whole control structure</a:t>
                      </a:r>
                    </a:p>
                  </a:txBody>
                  <a:tcPr anchor="ctr" marL="54864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902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Choose the model whose levers you actually hold.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/>
          <a:lstStyle/>
          <a:p>
            <a:pPr algn="ctr"/>
            <a:r>
              <a:rPr sz="4000" b="0" i="0">
                <a:solidFill>
                  <a:srgbClr val="000000"/>
                </a:solidFill>
              </a:rPr>
              <a:t>Diagnose the failure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3BDA2FA-C59C-4943-8C2E-0970BEA0337D}" type="slidenum">
              <a:rPr lang="en-US" smtClean="0"/>
              <a:t>19</a:t>
            </a:fld>
            <a:endParaRPr lang="en-US"/>
          </a:p>
        </p:txBody>
      </p:sp>
      <p:sp>
        <p:nvSpPr>
          <p:cNvPr id="901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902" name="Question"/>
          <p:cNvSpPr txBox="1"/>
          <p:nvPr/>
        </p:nvSpPr>
        <p:spPr>
          <a:xfrm>
            <a:off x="685800" y="2816352"/>
            <a:ext cx="7772400" cy="475488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400" b="0" i="0">
                <a:solidFill>
                  <a:srgbClr val="5C4826"/>
                </a:solidFill>
              </a:rPr>
              <a:t>What failed, and why didn't we know?</a:t>
            </a:r>
          </a:p>
        </p:txBody>
      </p:sp>
      <p:sp>
        <p:nvSpPr>
          <p:cNvPr id="903" name="Rule"/>
          <p:cNvSpPr/>
          <p:nvPr/>
        </p:nvSpPr>
        <p:spPr>
          <a:xfrm>
            <a:off x="3429000" y="36027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What failed?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400AB79-7F3F-43DC-B715-760288CCAD7B}" type="slidenum">
              <a:rPr lang="en-US" smtClean="0"/>
              <a:t>20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731520" y="1188720"/>
            <a:ext cx="292608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REQUIREMENTS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194560" y="1755648"/>
            <a:ext cx="0" cy="27432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Block"/>
          <p:cNvSpPr/>
          <p:nvPr/>
        </p:nvSpPr>
        <p:spPr>
          <a:xfrm>
            <a:off x="731520" y="2029968"/>
            <a:ext cx="292608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SPECIFICATION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2194560" y="2596896"/>
            <a:ext cx="0" cy="27432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731520" y="2871216"/>
            <a:ext cx="292608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ARCHITECTURE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2194560" y="3438144"/>
            <a:ext cx="0" cy="27432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Block"/>
          <p:cNvSpPr/>
          <p:nvPr/>
        </p:nvSpPr>
        <p:spPr>
          <a:xfrm>
            <a:off x="731520" y="3712464"/>
            <a:ext cx="292608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</a:t>
            </a:r>
          </a:p>
        </p:txBody>
      </p:sp>
      <p:cxnSp>
        <p:nvCxnSpPr>
          <p:cNvPr id="908" name="Connector 907"/>
          <p:cNvCxnSpPr/>
          <p:nvPr/>
        </p:nvCxnSpPr>
        <p:spPr>
          <a:xfrm>
            <a:off x="2194560" y="4279392"/>
            <a:ext cx="0" cy="27432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" name="Block"/>
          <p:cNvSpPr/>
          <p:nvPr/>
        </p:nvSpPr>
        <p:spPr>
          <a:xfrm>
            <a:off x="731520" y="4553712"/>
            <a:ext cx="292608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IMPLEMENTATION</a:t>
            </a:r>
          </a:p>
        </p:txBody>
      </p:sp>
      <p:sp>
        <p:nvSpPr>
          <p:cNvPr id="910" name="Side"/>
          <p:cNvSpPr txBox="1"/>
          <p:nvPr/>
        </p:nvSpPr>
        <p:spPr>
          <a:xfrm>
            <a:off x="4206240" y="1645920"/>
            <a:ext cx="4480560" cy="29260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A failure is observed in the realization.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Diagnosis traces it back to the decision — or decisions — that produced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One incident can implicate several decisions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694F731-54AE-4367-BAA0-6C61552ED44A}" type="slidenum">
              <a:rPr lang="en-US" smtClean="0"/>
              <a:t>21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640080" y="2743200"/>
            <a:ext cx="2377440" cy="82296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ONE INCIDENT</a:t>
            </a:r>
          </a:p>
        </p:txBody>
      </p:sp>
      <p:sp>
        <p:nvSpPr>
          <p:cNvPr id="902" name="Card"/>
          <p:cNvSpPr/>
          <p:nvPr/>
        </p:nvSpPr>
        <p:spPr>
          <a:xfrm>
            <a:off x="5760720" y="1188720"/>
            <a:ext cx="2743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903" name="Connector 902"/>
          <p:cNvCxnSpPr/>
          <p:nvPr/>
        </p:nvCxnSpPr>
        <p:spPr>
          <a:xfrm flipV="1">
            <a:off x="3017520" y="1472184"/>
            <a:ext cx="2743200" cy="1682496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Card"/>
          <p:cNvSpPr/>
          <p:nvPr/>
        </p:nvSpPr>
        <p:spPr>
          <a:xfrm>
            <a:off x="5760720" y="2066543"/>
            <a:ext cx="2743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specification</a:t>
            </a:r>
          </a:p>
        </p:txBody>
      </p:sp>
      <p:cxnSp>
        <p:nvCxnSpPr>
          <p:cNvPr id="905" name="Connector 904"/>
          <p:cNvCxnSpPr/>
          <p:nvPr/>
        </p:nvCxnSpPr>
        <p:spPr>
          <a:xfrm flipV="1">
            <a:off x="3017520" y="2350008"/>
            <a:ext cx="2743200" cy="80467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Card"/>
          <p:cNvSpPr/>
          <p:nvPr/>
        </p:nvSpPr>
        <p:spPr>
          <a:xfrm>
            <a:off x="5760720" y="2944368"/>
            <a:ext cx="2743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architecture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3017520" y="3154680"/>
            <a:ext cx="2743200" cy="7315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Card"/>
          <p:cNvSpPr/>
          <p:nvPr/>
        </p:nvSpPr>
        <p:spPr>
          <a:xfrm>
            <a:off x="5760720" y="3822191"/>
            <a:ext cx="2743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design</a:t>
            </a:r>
          </a:p>
        </p:txBody>
      </p:sp>
      <p:cxnSp>
        <p:nvCxnSpPr>
          <p:cNvPr id="909" name="Connector 908"/>
          <p:cNvCxnSpPr/>
          <p:nvPr/>
        </p:nvCxnSpPr>
        <p:spPr>
          <a:xfrm>
            <a:off x="3017520" y="3154680"/>
            <a:ext cx="2743200" cy="950975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" name="Card"/>
          <p:cNvSpPr/>
          <p:nvPr/>
        </p:nvSpPr>
        <p:spPr>
          <a:xfrm>
            <a:off x="5760720" y="4700016"/>
            <a:ext cx="27432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911" name="Connector 910"/>
          <p:cNvCxnSpPr/>
          <p:nvPr/>
        </p:nvCxnSpPr>
        <p:spPr>
          <a:xfrm>
            <a:off x="3017520" y="3154680"/>
            <a:ext cx="2743200" cy="1828799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Why didn't we know?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069A349-9642-4DC6-8ABF-F4AD12353ACB}" type="slidenum">
              <a:rPr lang="en-US" smtClean="0"/>
              <a:t>22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914400" y="1280160"/>
            <a:ext cx="7315200" cy="3931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Candidate answers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555960"/>
                </a:solidFill>
              </a:rPr>
              <a:t>(collected live)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Run Validation backward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D6C24E8-0A3B-4ED0-BD65-7F4922DD3E32}" type="slidenum">
              <a:rPr lang="en-US" smtClean="0"/>
              <a:t>23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731520" y="1143000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103120" y="1645920"/>
            <a:ext cx="0" cy="25603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Block"/>
          <p:cNvSpPr/>
          <p:nvPr/>
        </p:nvSpPr>
        <p:spPr>
          <a:xfrm>
            <a:off x="731520" y="1901952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SCOPE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2103120" y="2404872"/>
            <a:ext cx="0" cy="25603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731520" y="2660904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MECHANISM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2103120" y="3163824"/>
            <a:ext cx="0" cy="25603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Block"/>
          <p:cNvSpPr/>
          <p:nvPr/>
        </p:nvSpPr>
        <p:spPr>
          <a:xfrm>
            <a:off x="731520" y="3419856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STRATEGY</a:t>
            </a:r>
          </a:p>
        </p:txBody>
      </p:sp>
      <p:cxnSp>
        <p:nvCxnSpPr>
          <p:cNvPr id="908" name="Connector 907"/>
          <p:cNvCxnSpPr/>
          <p:nvPr/>
        </p:nvCxnSpPr>
        <p:spPr>
          <a:xfrm>
            <a:off x="2103120" y="3922776"/>
            <a:ext cx="0" cy="25603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" name="Block"/>
          <p:cNvSpPr/>
          <p:nvPr/>
        </p:nvSpPr>
        <p:spPr>
          <a:xfrm>
            <a:off x="731520" y="4178808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910" name="Connector 909"/>
          <p:cNvCxnSpPr/>
          <p:nvPr/>
        </p:nvCxnSpPr>
        <p:spPr>
          <a:xfrm>
            <a:off x="2103120" y="4681728"/>
            <a:ext cx="0" cy="25603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1" name="Block"/>
          <p:cNvSpPr/>
          <p:nvPr/>
        </p:nvSpPr>
        <p:spPr>
          <a:xfrm>
            <a:off x="731520" y="4937760"/>
            <a:ext cx="274320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912" name="Connector 911"/>
          <p:cNvCxnSpPr/>
          <p:nvPr/>
        </p:nvCxnSpPr>
        <p:spPr>
          <a:xfrm flipV="1">
            <a:off x="3931920" y="1371600"/>
            <a:ext cx="0" cy="3337560"/>
          </a:xfrm>
          <a:prstGeom prst="line">
            <a:avLst/>
          </a:prstGeom>
          <a:ln w="28575">
            <a:solidFill>
              <a:srgbClr val="9A3F1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3" name="Label"/>
          <p:cNvSpPr txBox="1"/>
          <p:nvPr/>
        </p:nvSpPr>
        <p:spPr>
          <a:xfrm>
            <a:off x="3017520" y="4892040"/>
            <a:ext cx="2194560" cy="3657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9A3F12"/>
                </a:solidFill>
              </a:rPr>
              <a:t>run it backward</a:t>
            </a:r>
          </a:p>
        </p:txBody>
      </p:sp>
      <p:sp>
        <p:nvSpPr>
          <p:cNvPr id="914" name="Side"/>
          <p:cNvSpPr txBox="1"/>
          <p:nvPr/>
        </p:nvSpPr>
        <p:spPr>
          <a:xfrm>
            <a:off x="5486400" y="1645920"/>
            <a:ext cx="3108960" cy="29260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Start from the judgment that admitted the failure.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Walk back to the claim it rested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Failure does not prove bad validation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7A5FE4F-FC69-42DD-8420-00AF6742DA68}" type="slidenum">
              <a:rPr lang="en-US" smtClean="0"/>
              <a:t>24</a:t>
            </a:fld>
            <a:endParaRPr lang="en-US"/>
          </a:p>
        </p:txBody>
      </p:sp>
      <p:sp>
        <p:nvSpPr>
          <p:cNvPr id="901" name="Label"/>
          <p:cNvSpPr txBox="1"/>
          <p:nvPr/>
        </p:nvSpPr>
        <p:spPr>
          <a:xfrm>
            <a:off x="548640" y="192024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3200" b="1" i="0">
                <a:solidFill>
                  <a:srgbClr val="5C4826"/>
                </a:solidFill>
              </a:rPr>
              <a:t>Residual uncertainty</a:t>
            </a:r>
          </a:p>
        </p:txBody>
      </p:sp>
      <p:sp>
        <p:nvSpPr>
          <p:cNvPr id="902" name="Body"/>
          <p:cNvSpPr txBox="1"/>
          <p:nvPr/>
        </p:nvSpPr>
        <p:spPr>
          <a:xfrm>
            <a:off x="1188720" y="2834640"/>
            <a:ext cx="6766560" cy="146304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0">
                <a:solidFill>
                  <a:srgbClr val="555960"/>
                </a:solidFill>
              </a:rPr>
              <a:t>Every validation accepts residual uncertainty. A failure may land exactly there — without the validation having been wrong.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508760"/>
          </a:xfrm>
        </p:spPr>
        <p:txBody>
          <a:bodyPr/>
          <a:lstStyle/>
          <a:p>
            <a:pPr algn="ctr"/>
            <a:r>
              <a:rPr sz="4000" b="0" i="0">
                <a:solidFill>
                  <a:srgbClr val="000000"/>
                </a:solidFill>
              </a:rPr>
              <a:t>Convert failure into engineering knowledge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4EFAC54-8A7A-4607-BC7D-B56896E6742A}" type="slidenum">
              <a:rPr lang="en-US" smtClean="0"/>
              <a:t>25</a:t>
            </a:fld>
            <a:endParaRPr lang="en-US"/>
          </a:p>
        </p:txBody>
      </p:sp>
      <p:sp>
        <p:nvSpPr>
          <p:cNvPr id="901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902" name="Question"/>
          <p:cNvSpPr txBox="1"/>
          <p:nvPr/>
        </p:nvSpPr>
        <p:spPr>
          <a:xfrm>
            <a:off x="685800" y="3319272"/>
            <a:ext cx="7772400" cy="475488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400" b="0" i="0">
                <a:solidFill>
                  <a:srgbClr val="5C4826"/>
                </a:solidFill>
              </a:rPr>
              <a:t>What does the evidence support, and where should the lesson live?</a:t>
            </a:r>
          </a:p>
        </p:txBody>
      </p:sp>
      <p:sp>
        <p:nvSpPr>
          <p:cNvPr id="903" name="Rule"/>
          <p:cNvSpPr/>
          <p:nvPr/>
        </p:nvSpPr>
        <p:spPr>
          <a:xfrm>
            <a:off x="3429000" y="410565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Observation is not yet engineering knowledge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10F66C-D6D8-4831-9A3B-2E7EBE8B62BA}" type="slidenum">
              <a:rPr lang="en-US" smtClean="0"/>
              <a:t>26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548640" y="2468880"/>
            <a:ext cx="17830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FAILURE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331720" y="2788920"/>
            <a:ext cx="3200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Block"/>
          <p:cNvSpPr/>
          <p:nvPr/>
        </p:nvSpPr>
        <p:spPr>
          <a:xfrm>
            <a:off x="2651760" y="2468880"/>
            <a:ext cx="17830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4434840" y="2788920"/>
            <a:ext cx="320039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4754879" y="2468880"/>
            <a:ext cx="17830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ANALYSIS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6537959" y="2788920"/>
            <a:ext cx="3200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Block"/>
          <p:cNvSpPr/>
          <p:nvPr/>
        </p:nvSpPr>
        <p:spPr>
          <a:xfrm>
            <a:off x="6857999" y="2468880"/>
            <a:ext cx="17830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LESSON</a:t>
            </a:r>
          </a:p>
        </p:txBody>
      </p:sp>
      <p:sp>
        <p:nvSpPr>
          <p:cNvPr id="908" name="Label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Failure produces evidence. Analyze it into a lesson.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What does the evidence actually support?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CCF5E84-7CC0-4983-84B8-14B4F82436A7}" type="slidenum">
              <a:rPr lang="en-US" smtClean="0"/>
              <a:t>27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731520" y="1463040"/>
            <a:ext cx="3108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NARROW CLAIM</a:t>
            </a:r>
          </a:p>
        </p:txBody>
      </p:sp>
      <p:sp>
        <p:nvSpPr>
          <p:cNvPr id="902" name="Card"/>
          <p:cNvSpPr/>
          <p:nvPr/>
        </p:nvSpPr>
        <p:spPr>
          <a:xfrm>
            <a:off x="731520" y="2560320"/>
            <a:ext cx="4937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BROADER CLAIM</a:t>
            </a:r>
          </a:p>
        </p:txBody>
      </p:sp>
      <p:sp>
        <p:nvSpPr>
          <p:cNvPr id="903" name="Card"/>
          <p:cNvSpPr/>
          <p:nvPr/>
        </p:nvSpPr>
        <p:spPr>
          <a:xfrm>
            <a:off x="731520" y="3657600"/>
            <a:ext cx="6766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SWEEPING CLAIM</a:t>
            </a:r>
          </a:p>
        </p:txBody>
      </p:sp>
      <p:sp>
        <p:nvSpPr>
          <p:cNvPr id="904" name="Label"/>
          <p:cNvSpPr txBox="1"/>
          <p:nvPr/>
        </p:nvSpPr>
        <p:spPr>
          <a:xfrm>
            <a:off x="731520" y="4754880"/>
            <a:ext cx="7498079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The same observation; support thins as the claim widens.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Preserve the example or preserve the lesson?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18CFC3-0E9F-4F3F-A626-9796646D4B80}" type="slidenum">
              <a:rPr lang="en-US" smtClean="0"/>
              <a:t>28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1371600"/>
            <a:ext cx="3931920" cy="3108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PRESERVE THE EXAMPLE</a:t>
            </a:r>
          </a:p>
          <a:p>
            <a:pPr algn="ctr">
              <a:spcBef>
                <a:spcPts val="1400"/>
              </a:spcBef>
            </a:pPr>
            <a:r>
              <a:rPr sz="2000" b="1" i="0">
                <a:solidFill>
                  <a:srgbClr val="8E6F3E"/>
                </a:solidFill>
              </a:rPr>
              <a:t>Regression test</a:t>
            </a:r>
          </a:p>
          <a:p>
            <a:pPr algn="ctr">
              <a:spcBef>
                <a:spcPts val="800"/>
              </a:spcBef>
            </a:pPr>
            <a:r>
              <a:rPr sz="2000" b="0" i="0">
                <a:solidFill>
                  <a:srgbClr val="555960"/>
                </a:solidFill>
              </a:rPr>
              <a:t>pins this exact case so it can never silently recur</a:t>
            </a:r>
          </a:p>
        </p:txBody>
      </p:sp>
      <p:sp>
        <p:nvSpPr>
          <p:cNvPr id="902" name="Card"/>
          <p:cNvSpPr/>
          <p:nvPr/>
        </p:nvSpPr>
        <p:spPr>
          <a:xfrm>
            <a:off x="4663440" y="1371600"/>
            <a:ext cx="3931920" cy="3108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PRESERVE THE LESSON</a:t>
            </a:r>
          </a:p>
          <a:p>
            <a:pPr algn="ctr">
              <a:spcBef>
                <a:spcPts val="1400"/>
              </a:spcBef>
            </a:pPr>
            <a:r>
              <a:rPr sz="2000" b="1" i="0">
                <a:solidFill>
                  <a:srgbClr val="8E6F3E"/>
                </a:solidFill>
              </a:rPr>
              <a:t>Generalized lesson</a:t>
            </a:r>
          </a:p>
          <a:p>
            <a:pPr algn="ctr">
              <a:spcBef>
                <a:spcPts val="800"/>
              </a:spcBef>
            </a:pPr>
            <a:r>
              <a:rPr sz="2000" b="0" i="0">
                <a:solidFill>
                  <a:srgbClr val="555960"/>
                </a:solidFill>
              </a:rPr>
              <a:t>covers the class of cases the example revealed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Causal account vs reflective account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508796C-4921-4273-A860-D14FA7F59B54}" type="slidenum">
              <a:rPr lang="en-US" smtClean="0"/>
              <a:t>29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1371600"/>
            <a:ext cx="3931920" cy="2926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CAUSAL ACCOUNT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555960"/>
                </a:solidFill>
              </a:rPr>
              <a:t>what sequence of events and conditions produced the failure</a:t>
            </a:r>
          </a:p>
        </p:txBody>
      </p:sp>
      <p:sp>
        <p:nvSpPr>
          <p:cNvPr id="902" name="Card"/>
          <p:cNvSpPr/>
          <p:nvPr/>
        </p:nvSpPr>
        <p:spPr>
          <a:xfrm>
            <a:off x="4663440" y="1371600"/>
            <a:ext cx="3931920" cy="2926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REFLECTIVE ACCOUNT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555960"/>
                </a:solidFill>
              </a:rPr>
              <a:t>what we believed, and how we came to believe it</a:t>
            </a:r>
          </a:p>
        </p:txBody>
      </p:sp>
      <p:sp>
        <p:nvSpPr>
          <p:cNvPr id="903" name="Label"/>
          <p:cNvSpPr txBox="1"/>
          <p:nvPr/>
        </p:nvSpPr>
        <p:spPr>
          <a:xfrm>
            <a:off x="548640" y="466344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A postmortem carries both.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Where should the lesson live?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DE09B36-C754-4D72-82AE-D181A4FF82B9}" type="slidenum">
              <a:rPr lang="en-US" smtClean="0"/>
              <a:t>30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548640" y="164592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902" name="Card"/>
          <p:cNvSpPr/>
          <p:nvPr/>
        </p:nvSpPr>
        <p:spPr>
          <a:xfrm>
            <a:off x="3383280" y="164592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specification</a:t>
            </a:r>
          </a:p>
        </p:txBody>
      </p:sp>
      <p:sp>
        <p:nvSpPr>
          <p:cNvPr id="903" name="Card"/>
          <p:cNvSpPr/>
          <p:nvPr/>
        </p:nvSpPr>
        <p:spPr>
          <a:xfrm>
            <a:off x="6217920" y="164592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904" name="Card"/>
          <p:cNvSpPr/>
          <p:nvPr/>
        </p:nvSpPr>
        <p:spPr>
          <a:xfrm>
            <a:off x="548640" y="310896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models</a:t>
            </a:r>
          </a:p>
        </p:txBody>
      </p:sp>
      <p:sp>
        <p:nvSpPr>
          <p:cNvPr id="905" name="Card"/>
          <p:cNvSpPr/>
          <p:nvPr/>
        </p:nvSpPr>
        <p:spPr>
          <a:xfrm>
            <a:off x="3383280" y="310896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906" name="Card"/>
          <p:cNvSpPr/>
          <p:nvPr/>
        </p:nvSpPr>
        <p:spPr>
          <a:xfrm>
            <a:off x="6217920" y="3108960"/>
            <a:ext cx="265176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200" b="1" i="0">
                <a:solidFill>
                  <a:srgbClr val="5C4826"/>
                </a:solidFill>
              </a:rPr>
              <a:t>controls</a:t>
            </a:r>
          </a:p>
        </p:txBody>
      </p:sp>
      <p:sp>
        <p:nvSpPr>
          <p:cNvPr id="907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Consequential knowledge migrates to where future work inherits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8577</TotalTime>
  <Words>7265</Words>
  <Application>Microsoft Macintosh PowerPoint</Application>
  <PresentationFormat>On-screen Show (4:3)</PresentationFormat>
  <Paragraphs>623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Consolas</vt:lpstr>
      <vt:lpstr>Times</vt:lpstr>
      <vt:lpstr>Purdue1</vt:lpstr>
      <vt:lpstr>PowerPoint Presentation</vt:lpstr>
      <vt:lpstr>The Master Equation: Alignment adds a check</vt:lpstr>
      <vt:lpstr>Vibe-code a todo list</vt:lpstr>
      <vt:lpstr>Does it work?</vt:lpstr>
      <vt:lpstr>Validation meets Delegation</vt:lpstr>
      <vt:lpstr>Bounding delegated work</vt:lpstr>
      <vt:lpstr>Delegation bounds the task and the process</vt:lpstr>
      <vt:lpstr>Give it a work order</vt:lpstr>
      <vt:lpstr>Bound the consequential degrees of freedom</vt:lpstr>
      <vt:lpstr>How can delegated work fail?</vt:lpstr>
      <vt:lpstr>Either bound can be violated</vt:lpstr>
      <vt:lpstr>Wrong result</vt:lpstr>
      <vt:lpstr>Wrong process can fail in different ways</vt:lpstr>
      <vt:lpstr>From failures to controls</vt:lpstr>
      <vt:lpstr>Prevent or detect?</vt:lpstr>
      <vt:lpstr>Four roles in a control system</vt:lpstr>
      <vt:lpstr>Alignment gives validation judgments consequences</vt:lpstr>
      <vt:lpstr>Check it where you can know</vt:lpstr>
      <vt:lpstr>Where can you decide?</vt:lpstr>
      <vt:lpstr>Earlier is not always possible</vt:lpstr>
      <vt:lpstr>Stretch break</vt:lpstr>
      <vt:lpstr>Models as validation surfaces</vt:lpstr>
      <vt:lpstr>Recall Modeling Lab, Activity 1</vt:lpstr>
      <vt:lpstr>Models give us something to check against</vt:lpstr>
      <vt:lpstr>Check correspondence statically</vt:lpstr>
      <vt:lpstr>Check correspondence dynamically</vt:lpstr>
      <vt:lpstr>Alignment helps us answer just one of three questions</vt:lpstr>
      <vt:lpstr>Exercise</vt:lpstr>
      <vt:lpstr>Back to the lab: Design the Alignment</vt:lpstr>
      <vt:lpstr>Report-out: Compare your Alignment approaches</vt:lpstr>
      <vt:lpstr>In closing: How do you supervise your delegation?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438</cp:revision>
  <dcterms:created xsi:type="dcterms:W3CDTF">2020-02-21T23:00:33Z</dcterms:created>
  <dcterms:modified xsi:type="dcterms:W3CDTF">2026-10-08T03:06:19Z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