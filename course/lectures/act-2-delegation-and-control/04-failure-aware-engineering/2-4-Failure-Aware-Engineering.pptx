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2"/>
  </p:notesMasterIdLst>
  <p:sldIdLst>
    <p:sldId id="256" r:id="rId2"/>
    <p:sldId id="296" r:id="rId3"/>
    <p:sldId id="257" r:id="rId4"/>
    <p:sldId id="258" r:id="rId5"/>
    <p:sldId id="294" r:id="rId6"/>
    <p:sldId id="259" r:id="rId7"/>
    <p:sldId id="260"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95" r:id="rId22"/>
    <p:sldId id="276" r:id="rId24"/>
    <p:sldId id="275" r:id="rId23"/>
    <p:sldId id="280" r:id="rId28"/>
    <p:sldId id="282" r:id="rId30"/>
    <p:sldId id="284" r:id="rId32"/>
    <p:sldId id="283" r:id="rId31"/>
    <p:sldId id="285" r:id="rId33"/>
    <p:sldId id="286" r:id="rId34"/>
    <p:sldId id="287" r:id="rId35"/>
    <p:sldId id="288" r:id="rId36"/>
    <p:sldId id="289" r:id="rId37"/>
    <p:sldId id="293"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55" autoAdjust="0"/>
    <p:restoredTop sz="56164"/>
  </p:normalViewPr>
  <p:slideViewPr>
    <p:cSldViewPr snapToGrid="0" snapToObjects="1">
      <p:cViewPr varScale="1">
        <p:scale>
          <a:sx n="64" d="100"/>
          <a:sy n="64" d="100"/>
        </p:scale>
        <p:origin x="3320"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2.xml"/><Relationship Id="rId28"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959-A2AE-FCFC-66C8-633E54A11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40A1C-13B6-B0BE-2733-74163DFF37C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35908C-2C09-9A17-D522-DAA76496CA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B68B070-76AA-7FD2-0902-98FDB1B8609F}"/>
              </a:ext>
            </a:extLst>
          </p:cNvPr>
          <p:cNvSpPr>
            <a:spLocks noGrp="1"/>
          </p:cNvSpPr>
          <p:nvPr>
            <p:ph type="sldNum" sz="quarter" idx="5"/>
          </p:nvPr>
        </p:nvSpPr>
        <p:spPr/>
      </p:sp>
    </p:spTree>
    <p:extLst>
      <p:ext uri="{BB962C8B-B14F-4D97-AF65-F5344CB8AC3E}">
        <p14:creationId xmlns:p14="http://schemas.microsoft.com/office/powerpoint/2010/main" val="4153968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Bosch supplied the engine-control units and engine-management technology used in VW vehicles; such software legitimately controls fuel injection, engine behaviour and emissions systems. The Bosch settlement confirms its role as supplier of the emissions software in the affected VW vehicles.</a:t>
            </a:r>
          </a:p>
          <a:p>
            <a:r>
              <a:t>- VW's implementation used recognition of emissions-test conditions to select different operating behaviour. The supplier/integrator boundary is the structure to point at: responsibilities do not disappear when software crosses an organizational boundary.</a:t>
            </a:r>
          </a:p>
          <a:p>
            <a:r>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t>- Do not spend five minutes on the supplier relationship. The capability/use distinction is what the next slide exploits.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Chronology to narrate - the warning was raised TWICE, in two organizations:</a:t>
            </a:r>
          </a:p>
          <a:p>
            <a:r>
              <a:t>    2006          VW engineers raise concerns; management decides to continue.</a:t>
            </a:r>
          </a:p>
          <a:p>
            <a:r>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t>    Subsequently  Bosch remains implicated in supplying technical support; the companies later face substantial civil settlements.</a:t>
            </a:r>
          </a:p>
          <a:p>
            <a:r>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t>- Not an ethics seminar - the engineering question is what happened AFTER the human control fired. The scale question seeds the causal-model section; "one unethical programmer" becomes an increasingly implausible causal model. Do not let it dominate.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Locate the decision: technical problems and internal disagreement forced the October 2007 meeting, and the decision was PROCEED.</a:t>
            </a:r>
          </a:p>
          <a:p>
            <a:r>
              <a:t>- The bottom line is the lesson: reconsideration is a control, and it fired - and the system still reproduced the failure. Do NOT ask "What failed?" here; it has been asked once.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LAST open-ended Volkswagen diagnosis. Put student answers on screen, verbatim, as they come.</a:t>
            </a:r>
          </a:p>
          <a:p>
            <a:r>
              <a:t>- Do not classify the answers yet - just collect. Keep the list visible through the four causal-model slides if the room setup allows; each model will claim some of the answers.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 systems-theoretic account: constraints flow down, feedback flows up, from regulators through the organization and engineering to the operating process.</a:t>
            </a:r>
          </a:p>
          <a:p>
            <a:r>
              <a:t>- The control structure crosses company boundaries: Bosch supplies the engine-control capability into the engineering process, and Volkswagen delegated engineering work to IAV. A STAMP model drawn inside one organization's walls misses the control relationships that crossed them - and in this case, that is where much of the action was.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a:p/>
          <a:p>
            <a:r>
              <a:t>RESIDUAL UNCERTAINTY (carry verbally): Every validation accepts residual uncertainty. An adverse outcome may occur within that uncertainty without making the earlier judgment unreasonable.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Support thins as the claim broadens: narrow / broader / sweeping.</a:t>
            </a:r>
          </a:p>
          <a:p>
            <a:r>
              <a:t>- THE CASE (carry verbally): an observation that some users report a harmful experience does not by itself establish that Instagram causes that outcome for all teenage users, nor that a particular feature causes it, nor that a proposed intervention will improve it. Each wider claim needs more evidence than the observation provides.</a:t>
            </a:r>
          </a:p>
          <a:p>
            <a:r>
              <a:t>- ASK: for a failure from your own project, what is the narrowest lesson? The widest the evidence still supports?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a:p/>
          <a:p>
            <a:r>
              <a:t>A postmortem carries BOTH accounts: the causal account (what sequence of events and conditions produced the failure) and the reflective account (what we believed, and how we came to believe it). Step 3 is the reflective half.</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2-3 minutes - a major slide.</a:t>
            </a:r>
          </a:p>
          <a:p>
            <a:r>
              <a:rPr dirty="0"/>
              <a:t>- Failure -&gt; what did we learn? -&gt; recurring judgment -&gt; can it be represented reliably? -&gt; model / validator / constraint / gate.</a:t>
            </a:r>
          </a:p>
          <a:p>
            <a:r>
              <a:rPr dirty="0"/>
              <a:t>- This is where Alignment pays off: the targets at the bottom are the control-system roles from unit 2-3.</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2-3 minutes</a:t>
            </a:r>
          </a:p>
          <a:p>
            <a:r>
              <a:rPr dirty="0"/>
              <a:t>- The callback: Volkswagen has been absent for roughly ten slides; returning to it here is the payoff. A much better final discussion than "who was unethical?"</a:t>
            </a:r>
          </a:p>
          <a:p>
            <a:r>
              <a:rPr dirty="0"/>
              <a:t>- Supplier obligations, one more time: the counterfactual also changes what it means for a capability to cross an organizational boundary. If the compliance obligation lives in the engineering environment - model, independent validation, release gate - then a supplied capability (Bosch -&gt; Volkswagen) meets the obligation on arrival, instead of depending on what individuals at either company remembered, or chose, to enforce. The slide-4 question - who is responsible for how a supplied capability is used? - gets a structural answer: the environment that integrates it carries the obligation.</a:t>
            </a:r>
          </a:p>
          <a:p>
            <a:r>
              <a:rPr dirty="0"/>
              <a:t>- The footer question is the discussion; give it time. "Everything we've learned" now includes causal breadth, diagnosis across decisions, what evidence supports, and where lessons live.</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3 minutes - the closing figure, and arguably the summary slide of Act II.</a:t>
            </a:r>
          </a:p>
          <a:p>
            <a:r>
              <a:rPr dirty="0"/>
              <a:t>ANIMATION (apply by hand in PowerPoint; the build tool cannot author animations). Five-step build, with the narration line for each:</a:t>
            </a:r>
          </a:p>
          <a:p>
            <a:r>
              <a:rPr dirty="0"/>
              <a:t>1. MODEL -&gt; REALIZATION -&gt; REALITY: "We deliberately modeled only what we thought mattered."</a:t>
            </a:r>
          </a:p>
          <a:p>
            <a:r>
              <a:rPr dirty="0"/>
              <a:t>2. REALITY -&gt; FAILURE / EVIDENCE: "Reality has just told us something our engineering did not predict."</a:t>
            </a:r>
          </a:p>
          <a:p>
            <a:r>
              <a:rPr dirty="0"/>
              <a:t>3. EVIDENCE -&gt; JUDGMENT: "The observation doesn't explain itself."</a:t>
            </a:r>
          </a:p>
          <a:p>
            <a:r>
              <a:rPr dirty="0"/>
              <a:t>4. JUDGMENT -&gt; MODEL′ / CONTROL: "If the newly discovered distinction matters enough, preserve it."</a:t>
            </a:r>
          </a:p>
          <a:p>
            <a:r>
              <a:rPr dirty="0"/>
              <a:t>5. Close the loop back to REALIZATION.</a:t>
            </a:r>
          </a:p>
          <a:p>
            <a:r>
              <a:rPr dirty="0"/>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rPr dirty="0"/>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3588E-3E0E-969D-04E5-5B3BF86F0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72012-C195-25C2-4CCC-34FCBA9660F8}"/>
              </a:ext>
            </a:extLst>
          </p:cNvPr>
          <p:cNvSpPr>
            <a:spLocks noGrp="1"/>
          </p:cNvSpPr>
          <p:nvPr>
            <p:ph type="title"/>
          </p:nvPr>
        </p:nvSpPr>
        <p:spPr>
          <a:xfrm>
            <a:off x="685800" y="1700784"/>
            <a:ext cx="7772400" cy="1005840"/>
          </a:xfrm>
        </p:spPr>
        <p:txBody>
          <a:bodyPr/>
          <a:lstStyle/>
          <a:p>
            <a:pPr algn="ctr"/>
            <a:r>
              <a:rPr lang="en-US" sz="4000" b="0" i="0" dirty="0" err="1">
                <a:solidFill>
                  <a:srgbClr val="000000"/>
                </a:solidFill>
              </a:rPr>
              <a:t>Dieselgate</a:t>
            </a:r>
            <a:endParaRPr sz="4000" b="0" i="0" dirty="0">
              <a:solidFill>
                <a:srgbClr val="000000"/>
              </a:solidFill>
            </a:endParaRPr>
          </a:p>
        </p:txBody>
      </p:sp>
      <p:sp>
        <p:nvSpPr>
          <p:cNvPr id="900" name="Slide Number Placeholder 900">
            <a:extLst>
              <a:ext uri="{FF2B5EF4-FFF2-40B4-BE49-F238E27FC236}">
                <a16:creationId xmlns:a16="http://schemas.microsoft.com/office/drawing/2014/main" id="{273C49DF-71AE-BD47-6722-6F26FE016A6C}"/>
              </a:ext>
            </a:extLst>
          </p:cNvPr>
          <p:cNvSpPr>
            <a:spLocks noGrp="1"/>
          </p:cNvSpPr>
          <p:nvPr>
            <p:ph type="sldNum" sz="quarter" idx="4"/>
          </p:nvPr>
        </p:nvSpPr>
        <p:spPr/>
        <p:txBody>
          <a:bodyPr/>
          <a:lstStyle/>
          <a:p>
            <a:fld id="{3B223778-6764-4D81-904E-8786918EE0A1}" type="slidenum">
              <a:rPr lang="en-US" smtClean="0"/>
              <a:t>2</a:t>
            </a:fld>
            <a:endParaRPr lang="en-US"/>
          </a:p>
        </p:txBody>
      </p:sp>
      <p:sp>
        <p:nvSpPr>
          <p:cNvPr id="901" name="SectionLabel">
            <a:extLst>
              <a:ext uri="{FF2B5EF4-FFF2-40B4-BE49-F238E27FC236}">
                <a16:creationId xmlns:a16="http://schemas.microsoft.com/office/drawing/2014/main" id="{E19D95C0-40DF-FE3F-B828-7A1A12931B54}"/>
              </a:ext>
            </a:extLst>
          </p:cNvPr>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a:solidFill>
                  <a:srgbClr val="8E6F3E"/>
                </a:solidFill>
              </a:rPr>
              <a:t>SECTION 1</a:t>
            </a:r>
          </a:p>
        </p:txBody>
      </p:sp>
      <p:sp>
        <p:nvSpPr>
          <p:cNvPr id="902" name="Question">
            <a:extLst>
              <a:ext uri="{FF2B5EF4-FFF2-40B4-BE49-F238E27FC236}">
                <a16:creationId xmlns:a16="http://schemas.microsoft.com/office/drawing/2014/main" id="{7A7FC3EB-FAB1-9607-A9C0-FCF752D7CFF0}"/>
              </a:ext>
            </a:extLst>
          </p:cNvPr>
          <p:cNvSpPr txBox="1"/>
          <p:nvPr/>
        </p:nvSpPr>
        <p:spPr>
          <a:xfrm>
            <a:off x="685800" y="2846347"/>
            <a:ext cx="7772400" cy="415498"/>
          </a:xfrm>
          <a:prstGeom prst="rect">
            <a:avLst/>
          </a:prstGeom>
          <a:noFill/>
        </p:spPr>
        <p:txBody>
          <a:bodyPr wrap="square" lIns="27432" tIns="22860" rIns="27432" bIns="22860" anchor="ctr">
            <a:spAutoFit/>
          </a:bodyPr>
          <a:lstStyle/>
          <a:p>
            <a:pPr algn="ctr"/>
            <a:r>
              <a:rPr lang="en-US" sz="2400" b="0" i="0" dirty="0">
                <a:solidFill>
                  <a:srgbClr val="5C4826"/>
                </a:solidFill>
              </a:rPr>
              <a:t>A walk through an engineering failure</a:t>
            </a:r>
            <a:endParaRPr sz="2400" b="0" i="0" dirty="0">
              <a:solidFill>
                <a:srgbClr val="5C4826"/>
              </a:solidFill>
            </a:endParaRPr>
          </a:p>
        </p:txBody>
      </p:sp>
      <p:sp>
        <p:nvSpPr>
          <p:cNvPr id="903" name="Rule">
            <a:extLst>
              <a:ext uri="{FF2B5EF4-FFF2-40B4-BE49-F238E27FC236}">
                <a16:creationId xmlns:a16="http://schemas.microsoft.com/office/drawing/2014/main" id="{EE6090EC-6EB3-2C9A-65E0-2078C8FFA8F1}"/>
              </a:ext>
            </a:extLst>
          </p:cNvPr>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extLst>
      <p:ext uri="{BB962C8B-B14F-4D97-AF65-F5344CB8AC3E}">
        <p14:creationId xmlns:p14="http://schemas.microsoft.com/office/powerpoint/2010/main" val="2460166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3</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lIns="27432" tIns="22860" rIns="27432" bIns="22860" anchor="t">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lIns="27432" tIns="22860" rIns="27432" bIns="22860" anchor="ctr">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lIns="27432" tIns="22860" rIns="27432" bIns="22860" anchor="t">
            <a:spAutoFit/>
          </a:bodyPr>
          <a:lstStyle/>
          <a:p>
            <a:pPr algn="ctr"/>
            <a:r>
              <a:rPr sz="2000" b="1" i="0">
                <a:solidFill>
                  <a:srgbClr val="9A3F12"/>
                </a:solidFill>
              </a:rPr>
              <a:t>No point satisfied all three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5</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a:p>
            <a:pPr algn="ctr"/>
            <a:r>
              <a:rPr sz="2000" b="1" i="0">
                <a:solidFill>
                  <a:srgbClr val="FFFFFF"/>
                </a:solidFill>
              </a:rPr>
              <a:t>Engine-control software</a:t>
            </a:r>
          </a:p>
        </p:txBody>
      </p:sp>
      <p:sp>
        <p:nvSpPr>
          <p:cNvPr id="2"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4"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lIns="27432" tIns="22860" rIns="27432" bIns="22860" anchor="t">
            <a:spAutoFit/>
          </a:bodyPr>
          <a:lstStyle/>
          <a:p>
            <a:pPr algn="ctr"/>
            <a:r>
              <a:rPr sz="2200" b="0" i="0">
                <a:solidFill>
                  <a:srgbClr val="5C4826"/>
                </a:solidFill>
              </a:rPr>
              <a:t>The mechanism does not determine how it should be used.</a:t>
            </a:r>
          </a:p>
        </p:txBody>
      </p:sp>
      <p:sp>
        <p:nvSpPr>
          <p:cNvPr id="5" name="Label"/>
          <p:cNvSpPr txBox="1"/>
          <p:nvPr/>
        </p:nvSpPr>
        <p:spPr>
          <a:xfrm>
            <a:off x="411480" y="868680"/>
            <a:ext cx="2240280" cy="1463040"/>
          </a:xfrm>
          <a:prstGeom prst="rect">
            <a:avLst/>
          </a:prstGeom>
          <a:noFill/>
        </p:spPr>
        <p:txBody>
          <a:bodyPr wrap="square" lIns="27432" tIns="22860" rIns="27432" bIns="22860" anchor="t">
            <a:spAutoFit/>
          </a:bodyPr>
          <a:lstStyle/>
          <a:p>
            <a:pPr algn="l"/>
            <a:r>
              <a:rPr sz="2000" b="0" i="1">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Who is responsible for how a supplied capability is used?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6</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lIns="27432" tIns="22860" rIns="27432" bIns="22860" anchor="t">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lIns="27432" tIns="22860" rIns="27432" bIns="22860" anchor="t">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lIns="27432" tIns="22860" rIns="27432" bIns="22860" anchor="t">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wrap="square" rtlCol="0" anchor="ctr"/>
          <a:lstStyle/>
          <a:p>
            <a:endParaRPr sz="2000"/>
          </a:p>
        </p:txBody>
      </p:sp>
      <p:sp>
        <p:nvSpPr>
          <p:cNvPr id="931" name="Label"/>
          <p:cNvSpPr txBox="1"/>
          <p:nvPr/>
        </p:nvSpPr>
        <p:spPr>
          <a:xfrm>
            <a:off x="6446520" y="1371600"/>
            <a:ext cx="2103120" cy="347472"/>
          </a:xfrm>
          <a:prstGeom prst="rect">
            <a:avLst/>
          </a:prstGeom>
          <a:noFill/>
        </p:spPr>
        <p:txBody>
          <a:bodyPr wrap="square" lIns="27432" tIns="22860" rIns="27432" bIns="22860" anchor="t">
            <a:spAutoFit/>
          </a:bodyPr>
          <a:lstStyle/>
          <a:p>
            <a:pPr algn="ctr"/>
            <a:r>
              <a:rPr sz="2000" b="1" i="0">
                <a:solidFill>
                  <a:srgbClr val="9A3F12"/>
                </a:solidFill>
              </a:rPr>
              <a:t>DEFEAT DEVICE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7</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November 2006. </a:t>
            </a:r>
            <a:r>
              <a:rPr sz="2000" b="0" i="0">
                <a:solidFill>
                  <a:srgbClr val="555960"/>
                </a:solidFill>
              </a:rPr>
              <a:t>The supervisor, briefed on its purpose and design, decided production should continue; the plea agreement records the instruction, in substance, as </a:t>
            </a:r>
            <a:r>
              <a:rPr sz="2000" b="1" i="0">
                <a:solidFill>
                  <a:srgbClr val="9A3F12"/>
                </a:solidFill>
              </a:rPr>
              <a:t>“not to get caught.”</a:t>
            </a:r>
          </a:p>
        </p:txBody>
      </p:sp>
      <p:sp>
        <p:nvSpPr>
          <p:cNvPr id="903" name="Card"/>
          <p:cNvSpPr/>
          <p:nvPr/>
        </p:nvSpPr>
        <p:spPr>
          <a:xfrm>
            <a:off x="411480" y="35204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And the engineering continued. </a:t>
            </a:r>
            <a:r>
              <a:rPr sz="2000" b="0" i="0">
                <a:solidFill>
                  <a:srgbClr val="555960"/>
                </a:solidFill>
              </a:rPr>
              <a:t>Not a rogue patch: calibration, integration, certification, maintenance — and delegated too (Volkswagen → IAV).</a:t>
            </a:r>
          </a:p>
        </p:txBody>
      </p:sp>
      <p:sp>
        <p:nvSpPr>
          <p:cNvPr id="904" name="Label"/>
          <p:cNvSpPr txBox="1"/>
          <p:nvPr/>
        </p:nvSpPr>
        <p:spPr>
          <a:xfrm>
            <a:off x="411480" y="4709160"/>
            <a:ext cx="8321040" cy="502920"/>
          </a:xfrm>
          <a:prstGeom prst="rect">
            <a:avLst/>
          </a:prstGeom>
          <a:noFill/>
        </p:spPr>
        <p:txBody>
          <a:bodyPr wrap="square" lIns="27432" tIns="22860" rIns="27432" bIns="22860" anchor="t">
            <a:spAutoFit/>
          </a:bodyPr>
          <a:lstStyle/>
          <a:p>
            <a:pPr algn="ctr"/>
            <a:r>
              <a:rPr sz="2000" b="1" i="0">
                <a:solidFill>
                  <a:srgbClr val="8E6F3E"/>
                </a:solidFill>
              </a:rPr>
              <a:t>How many people does it take to sustain this 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Was escalation enough?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2007: The decision is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8</a:t>
            </a:fld>
            <a:endParaRPr lang="en-US"/>
          </a:p>
        </p:txBody>
      </p:sp>
      <p:sp>
        <p:nvSpPr>
          <p:cNvPr id="902" name="Block"/>
          <p:cNvSpPr/>
          <p:nvPr/>
        </p:nvSpPr>
        <p:spPr>
          <a:xfrm>
            <a:off x="6446520" y="1417320"/>
            <a:ext cx="21488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800" b="1" i="0">
                <a:solidFill>
                  <a:srgbClr val="FFFFFF"/>
                </a:solidFill>
              </a:rPr>
              <a:t>PROCEED</a:t>
            </a:r>
          </a:p>
        </p:txBody>
      </p:sp>
      <p:sp>
        <p:nvSpPr>
          <p:cNvPr id="903" name="Doj"/>
          <p:cNvSpPr txBox="1"/>
          <p:nvPr/>
        </p:nvSpPr>
        <p:spPr>
          <a:xfrm>
            <a:off x="411480" y="3017520"/>
            <a:ext cx="8321040" cy="1188720"/>
          </a:xfrm>
          <a:prstGeom prst="rect">
            <a:avLst/>
          </a:prstGeom>
          <a:noFill/>
        </p:spPr>
        <p:txBody>
          <a:bodyPr wrap="square" lIns="27432" tIns="22860" rIns="27432" bIns="22860" anchor="ctr">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decision can be reconsidered and still reproduce the failure.</a:t>
            </a:r>
          </a:p>
        </p:txBody>
      </p:sp>
      <p:sp>
        <p:nvSpPr>
          <p:cNvPr id="910" name="Card"/>
          <p:cNvSpPr/>
          <p:nvPr/>
        </p:nvSpPr>
        <p:spPr>
          <a:xfrm>
            <a:off x="411480" y="1417320"/>
            <a:ext cx="26517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technical problems</a:t>
            </a:r>
          </a:p>
          <a:p>
            <a:pPr algn="ctr"/>
            <a:r>
              <a:rPr sz="2000" b="1" i="0">
                <a:solidFill>
                  <a:srgbClr val="5C4826"/>
                </a:solidFill>
              </a:rPr>
              <a:t>internal disagreement</a:t>
            </a:r>
          </a:p>
        </p:txBody>
      </p:sp>
      <p:cxnSp>
        <p:nvCxnSpPr>
          <p:cNvPr id="911" name="Connector 911"/>
          <p:cNvCxnSpPr/>
          <p:nvPr/>
        </p:nvCxnSpPr>
        <p:spPr>
          <a:xfrm>
            <a:off x="306324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3429000" y="1417320"/>
            <a:ext cx="26517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OCTOBER 2007</a:t>
            </a:r>
          </a:p>
          <a:p>
            <a:pPr algn="ctr"/>
            <a:r>
              <a:rPr sz="2000" b="1" i="0">
                <a:solidFill>
                  <a:srgbClr val="FFFFFF"/>
                </a:solidFill>
              </a:rPr>
              <a:t>MEETING</a:t>
            </a:r>
          </a:p>
        </p:txBody>
      </p:sp>
      <p:cxnSp>
        <p:nvCxnSpPr>
          <p:cNvPr id="913" name="Connector 913"/>
          <p:cNvCxnSpPr/>
          <p:nvPr/>
        </p:nvCxnSpPr>
        <p:spPr>
          <a:xfrm>
            <a:off x="608076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tblGrid>
              <a:tr h="502920">
                <a:tc>
                  <a:txBody>
                    <a:bodyPr/>
                    <a:lstStyle/>
                    <a:p>
                      <a:pPr algn="ctr"/>
                      <a:r>
                        <a:rPr sz="2000" b="1" i="0">
                          <a:solidFill>
                            <a:srgbClr val="FFFFFF"/>
                          </a:solidFill>
                        </a:rPr>
                        <a:t>MODEL YEAR</a:t>
                      </a:r>
                    </a:p>
                  </a:txBody>
                  <a:tcPr marL="27432" marR="27432" marT="18288" marB="18288" anchor="ctr">
                    <a:solidFill>
                      <a:srgbClr val="8E6F3E"/>
                    </a:solidFill>
                  </a:tcPr>
                </a:tc>
                <a:tc>
                  <a:txBody>
                    <a:bodyPr/>
                    <a:lstStyle/>
                    <a:p>
                      <a:pPr algn="ctr"/>
                      <a:r>
                        <a:rPr sz="2000" b="1" i="0">
                          <a:solidFill>
                            <a:srgbClr val="FFFFFF"/>
                          </a:solidFill>
                        </a:rPr>
                        <a:t>2009</a:t>
                      </a:r>
                    </a:p>
                  </a:txBody>
                  <a:tcPr marL="27432" marR="27432" marT="18288" marB="18288" anchor="ctr">
                    <a:solidFill>
                      <a:srgbClr val="8E6F3E"/>
                    </a:solidFill>
                  </a:tcPr>
                </a:tc>
                <a:tc>
                  <a:txBody>
                    <a:bodyPr/>
                    <a:lstStyle/>
                    <a:p>
                      <a:pPr algn="ctr"/>
                      <a:r>
                        <a:rPr sz="2000" b="1" i="0">
                          <a:solidFill>
                            <a:srgbClr val="FFFFFF"/>
                          </a:solidFill>
                        </a:rPr>
                        <a:t>2010</a:t>
                      </a:r>
                    </a:p>
                  </a:txBody>
                  <a:tcPr marL="27432" marR="27432" marT="18288" marB="18288" anchor="ctr">
                    <a:solidFill>
                      <a:srgbClr val="8E6F3E"/>
                    </a:solidFill>
                  </a:tcPr>
                </a:tc>
                <a:tc>
                  <a:txBody>
                    <a:bodyPr/>
                    <a:lstStyle/>
                    <a:p>
                      <a:pPr algn="ctr"/>
                      <a:r>
                        <a:rPr sz="2000" b="1" i="0">
                          <a:solidFill>
                            <a:srgbClr val="FFFFFF"/>
                          </a:solidFill>
                        </a:rPr>
                        <a:t>2011</a:t>
                      </a:r>
                    </a:p>
                  </a:txBody>
                  <a:tcPr marL="27432" marR="27432" marT="18288" marB="18288" anchor="ctr">
                    <a:solidFill>
                      <a:srgbClr val="8E6F3E"/>
                    </a:solidFill>
                  </a:tcPr>
                </a:tc>
                <a:tc>
                  <a:txBody>
                    <a:bodyPr/>
                    <a:lstStyle/>
                    <a:p>
                      <a:pPr algn="ctr"/>
                      <a:r>
                        <a:rPr sz="2000" b="1" i="0">
                          <a:solidFill>
                            <a:srgbClr val="FFFFFF"/>
                          </a:solidFill>
                        </a:rPr>
                        <a:t>2012</a:t>
                      </a:r>
                    </a:p>
                  </a:txBody>
                  <a:tcPr marL="27432" marR="27432" marT="18288" marB="18288" anchor="ctr">
                    <a:solidFill>
                      <a:srgbClr val="8E6F3E"/>
                    </a:solidFill>
                  </a:tcPr>
                </a:tc>
                <a:tc>
                  <a:txBody>
                    <a:bodyPr/>
                    <a:lstStyle/>
                    <a:p>
                      <a:pPr algn="ctr"/>
                      <a:r>
                        <a:rPr sz="2000" b="1" i="0">
                          <a:solidFill>
                            <a:srgbClr val="FFFFFF"/>
                          </a:solidFill>
                        </a:rPr>
                        <a:t>2013</a:t>
                      </a:r>
                    </a:p>
                  </a:txBody>
                  <a:tcPr marL="27432" marR="27432" marT="18288" marB="18288" anchor="ctr">
                    <a:solidFill>
                      <a:srgbClr val="8E6F3E"/>
                    </a:solidFill>
                  </a:tcPr>
                </a:tc>
                <a:tc>
                  <a:txBody>
                    <a:bodyPr/>
                    <a:lstStyle/>
                    <a:p>
                      <a:pPr algn="ctr"/>
                      <a:r>
                        <a:rPr sz="2000" b="1" i="0">
                          <a:solidFill>
                            <a:srgbClr val="FFFFFF"/>
                          </a:solidFill>
                        </a:rPr>
                        <a:t>2014</a:t>
                      </a:r>
                    </a:p>
                  </a:txBody>
                  <a:tcPr marL="27432" marR="27432" marT="18288" marB="18288" anchor="ctr">
                    <a:solidFill>
                      <a:srgbClr val="8E6F3E"/>
                    </a:solidFill>
                  </a:tcPr>
                </a:tc>
                <a:tc>
                  <a:txBody>
                    <a:bodyPr/>
                    <a:lstStyle/>
                    <a:p>
                      <a:pPr algn="ctr"/>
                      <a:r>
                        <a:rPr sz="2000" b="1" i="0">
                          <a:solidFill>
                            <a:srgbClr val="FFFFFF"/>
                          </a:solidFill>
                        </a:rPr>
                        <a:t>2015</a:t>
                      </a:r>
                    </a:p>
                  </a:txBody>
                  <a:tcPr marL="27432" marR="27432" marT="18288" marB="18288" anchor="ctr">
                    <a:solidFill>
                      <a:srgbClr val="8E6F3E"/>
                    </a:solidFill>
                  </a:tcPr>
                </a:tc>
                <a:tc>
                  <a:txBody>
                    <a:bodyPr/>
                    <a:lstStyle/>
                    <a:p>
                      <a:pPr algn="ctr"/>
                      <a:r>
                        <a:rPr sz="2000" b="1" i="0">
                          <a:solidFill>
                            <a:srgbClr val="FFFFFF"/>
                          </a:solidFill>
                        </a:rPr>
                        <a:t>2016</a:t>
                      </a:r>
                    </a:p>
                  </a:txBody>
                  <a:tcPr marL="27432" marR="27432" marT="18288" marB="18288" anchor="ctr">
                    <a:solidFill>
                      <a:srgbClr val="8E6F3E"/>
                    </a:solidFill>
                  </a:tcPr>
                </a:tc>
                <a:extLst>
                  <a:ext uri="{0D108BD9-81ED-4DB2-BD59-A6C34878D82A}">
                    <a16:rowId xmlns:a16="http://schemas.microsoft.com/office/drawing/2014/main" val="10000"/>
                  </a:ext>
                </a:extLst>
              </a:tr>
              <a:tr h="502920">
                <a:tc>
                  <a:txBody>
                    <a:bodyPr/>
                    <a:lstStyle/>
                    <a:p>
                      <a:pPr algn="ctr"/>
                      <a:r>
                        <a:rPr sz="2000" b="1" i="0">
                          <a:solidFill>
                            <a:srgbClr val="5C4826"/>
                          </a:solidFill>
                        </a:rPr>
                        <a:t>CERTIFY</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extLst>
                  <a:ext uri="{0D108BD9-81ED-4DB2-BD59-A6C34878D82A}">
                    <a16:rowId xmlns:a16="http://schemas.microsoft.com/office/drawing/2014/main" val="10001"/>
                  </a:ext>
                </a:extLst>
              </a:tr>
              <a:tr h="502920">
                <a:tc>
                  <a:txBody>
                    <a:bodyPr/>
                    <a:lstStyle/>
                    <a:p>
                      <a:pPr algn="ctr"/>
                      <a:r>
                        <a:rPr sz="2000" b="1" i="0">
                          <a:solidFill>
                            <a:srgbClr val="5C4826"/>
                          </a:solidFill>
                        </a:rPr>
                        <a:t>SELL</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extLst>
                  <a:ext uri="{0D108BD9-81ED-4DB2-BD59-A6C34878D82A}">
                    <a16:rowId xmlns:a16="http://schemas.microsoft.com/office/drawing/2014/main" val="10002"/>
                  </a:ext>
                </a:extLst>
              </a:tr>
            </a:tbl>
          </a:graphicData>
        </a:graphic>
      </p:graphicFrame>
      <p:sp>
        <p:nvSpPr>
          <p:cNvPr id="902" name="Doj"/>
          <p:cNvSpPr txBox="1"/>
          <p:nvPr/>
        </p:nvSpPr>
        <p:spPr>
          <a:xfrm>
            <a:off x="411480" y="3246120"/>
            <a:ext cx="8321040" cy="1463040"/>
          </a:xfrm>
          <a:prstGeom prst="rect">
            <a:avLst/>
          </a:prstGeom>
          <a:noFill/>
        </p:spPr>
        <p:txBody>
          <a:bodyPr wrap="square" lIns="27432" tIns="22860" rIns="27432" bIns="22860" anchor="t">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made this outcome reproducible?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improve the defeat device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2</a:t>
            </a:r>
            <a:endParaRPr sz="2000" b="1" i="0" dirty="0">
              <a:solidFill>
                <a:srgbClr val="8E6F3E"/>
              </a:solidFill>
            </a:endParaRPr>
          </a:p>
        </p:txBody>
      </p:sp>
      <p:sp>
        <p:nvSpPr>
          <p:cNvPr id="902" name="Question"/>
          <p:cNvSpPr txBox="1"/>
          <p:nvPr/>
        </p:nvSpPr>
        <p:spPr>
          <a:xfrm>
            <a:off x="685800" y="2816352"/>
            <a:ext cx="7772400" cy="475488"/>
          </a:xfrm>
          <a:prstGeom prst="rect">
            <a:avLst/>
          </a:prstGeom>
          <a:noFill/>
        </p:spPr>
        <p:txBody>
          <a:bodyPr wrap="square" lIns="27432" tIns="22860" rIns="27432" bIns="22860" anchor="ctr">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13</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the conditions shaping behavior matter.</a:t>
            </a:r>
          </a:p>
        </p:txBody>
      </p:sp>
      <p:sp>
        <p:nvSpPr>
          <p:cNvPr id="920" name="Label"/>
          <p:cNvSpPr txBox="1"/>
          <p:nvPr/>
        </p:nvSpPr>
        <p:spPr>
          <a:xfrm>
            <a:off x="274320" y="3200400"/>
            <a:ext cx="3017520" cy="365760"/>
          </a:xfrm>
          <a:prstGeom prst="rect">
            <a:avLst/>
          </a:prstGeom>
          <a:noFill/>
        </p:spPr>
        <p:txBody>
          <a:bodyPr wrap="square" lIns="27432" tIns="22860" rIns="27432" bIns="22860" anchor="t">
            <a:spAutoFit/>
          </a:bodyPr>
          <a:lstStyle/>
          <a:p>
            <a:pPr algn="ctr"/>
            <a:r>
              <a:rPr sz="2000" b="0" i="0">
                <a:solidFill>
                  <a:srgbClr val="555960"/>
                </a:solidFill>
              </a:rPr>
              <a:t>authority · incentives · schedule · ownership</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a:t>
            </a:r>
          </a:p>
        </p:txBody>
      </p:sp>
      <p:sp>
        <p:nvSpPr>
          <p:cNvPr id="2" name="Block"/>
          <p:cNvSpPr/>
          <p:nvPr/>
        </p:nvSpPr>
        <p:spPr>
          <a:xfrm>
            <a:off x="662940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IAV</a:t>
            </a:r>
          </a:p>
        </p:txBody>
      </p:sp>
      <p:sp>
        <p:nvSpPr>
          <p:cNvPr id="4" name="Block"/>
          <p:cNvSpPr/>
          <p:nvPr/>
        </p:nvSpPr>
        <p:spPr>
          <a:xfrm>
            <a:off x="50292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01"/>
          <p:cNvCxnSpPr/>
          <p:nvPr/>
        </p:nvCxnSpPr>
        <p:spPr>
          <a:xfrm>
            <a:off x="621792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01"/>
          <p:cNvCxnSpPr/>
          <p:nvPr/>
        </p:nvCxnSpPr>
        <p:spPr>
          <a:xfrm>
            <a:off x="251460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lIns="27432" tIns="22860" rIns="27432" bIns="22860" anchor="t">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lIns="27432" tIns="22860" rIns="27432" bIns="22860" anchor="t">
            <a:spAutoFit/>
          </a:bodyPr>
          <a:lstStyle/>
          <a:p>
            <a:pPr algn="ctr"/>
            <a:r>
              <a:rPr sz="2200" b="0" i="0">
                <a:solidFill>
                  <a:srgbClr val="5C4826"/>
                </a:solidFill>
              </a:rPr>
              <a:t>In this view, control and feedback across the system matter.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lIns="27432" tIns="22860" rIns="27432" bIns="22860" anchor="t">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lIns="27432" tIns="22860" rIns="27432" bIns="22860" anchor="t">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lIns="27432" tIns="22860" rIns="27432" bIns="22860" anchor="t">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lIns="27432" tIns="22860" rIns="27432" bIns="22860" anchor="t">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lIns="27432" tIns="22860" rIns="27432" bIns="22860" anchor="t">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658368">
                <a:tc>
                  <a:txBody>
                    <a:bodyPr/>
                    <a:lstStyle/>
                    <a:p>
                      <a:pPr algn="l"/>
                      <a:r>
                        <a:rPr sz="2000" b="1" i="0">
                          <a:solidFill>
                            <a:srgbClr val="FFFFFF"/>
                          </a:solidFill>
                        </a:rPr>
                        <a:t>CAUSAL MODEL</a:t>
                      </a:r>
                    </a:p>
                  </a:txBody>
                  <a:tcPr marL="54864" anchor="ctr">
                    <a:solidFill>
                      <a:srgbClr val="8E6F3E"/>
                    </a:solidFill>
                  </a:tcPr>
                </a:tc>
                <a:tc>
                  <a:txBody>
                    <a:bodyPr/>
                    <a:lstStyle/>
                    <a:p>
                      <a:pPr algn="l"/>
                      <a:r>
                        <a:rPr sz="2000" b="1" i="0">
                          <a:solidFill>
                            <a:srgbClr val="FFFFFF"/>
                          </a:solidFill>
                        </a:rPr>
                        <a:t>THE LEVER IT HANDS YOU</a:t>
                      </a:r>
                    </a:p>
                  </a:txBody>
                  <a:tcPr marL="54864" anchor="ctr">
                    <a:solidFill>
                      <a:srgbClr val="8E6F3E"/>
                    </a:solidFill>
                  </a:tcPr>
                </a:tc>
                <a:extLst>
                  <a:ext uri="{0D108BD9-81ED-4DB2-BD59-A6C34878D82A}">
                    <a16:rowId xmlns:a16="http://schemas.microsoft.com/office/drawing/2014/main" val="10000"/>
                  </a:ext>
                </a:extLst>
              </a:tr>
              <a:tr h="658368">
                <a:tc>
                  <a:txBody>
                    <a:bodyPr/>
                    <a:lstStyle/>
                    <a:p>
                      <a:pPr algn="l"/>
                      <a:r>
                        <a:rPr sz="2000" b="1" i="0">
                          <a:solidFill>
                            <a:srgbClr val="5C4826"/>
                          </a:solidFill>
                        </a:rPr>
                        <a:t>Human error</a:t>
                      </a:r>
                    </a:p>
                  </a:txBody>
                  <a:tcPr marL="54864" anchor="ctr">
                    <a:solidFill>
                      <a:srgbClr val="F5F1E8"/>
                    </a:solidFill>
                  </a:tcPr>
                </a:tc>
                <a:tc>
                  <a:txBody>
                    <a:bodyPr/>
                    <a:lstStyle/>
                    <a:p>
                      <a:pPr algn="l"/>
                      <a:r>
                        <a:rPr sz="2000" b="0" i="0">
                          <a:solidFill>
                            <a:srgbClr val="5C4826"/>
                          </a:solidFill>
                        </a:rPr>
                        <a:t>an individual's behavior</a:t>
                      </a:r>
                    </a:p>
                  </a:txBody>
                  <a:tcPr marL="54864" anchor="ctr">
                    <a:solidFill>
                      <a:srgbClr val="F5F1E8"/>
                    </a:solidFill>
                  </a:tcPr>
                </a:tc>
                <a:extLst>
                  <a:ext uri="{0D108BD9-81ED-4DB2-BD59-A6C34878D82A}">
                    <a16:rowId xmlns:a16="http://schemas.microsoft.com/office/drawing/2014/main" val="10001"/>
                  </a:ext>
                </a:extLst>
              </a:tr>
              <a:tr h="658368">
                <a:tc>
                  <a:txBody>
                    <a:bodyPr/>
                    <a:lstStyle/>
                    <a:p>
                      <a:pPr algn="l"/>
                      <a:r>
                        <a:rPr sz="2000" b="1" i="0">
                          <a:solidFill>
                            <a:srgbClr val="5C4826"/>
                          </a:solidFill>
                        </a:rPr>
                        <a:t>Swiss cheese</a:t>
                      </a:r>
                    </a:p>
                  </a:txBody>
                  <a:tcPr marL="54864" anchor="ctr">
                    <a:solidFill>
                      <a:srgbClr val="FBF8F2"/>
                    </a:solidFill>
                  </a:tcPr>
                </a:tc>
                <a:tc>
                  <a:txBody>
                    <a:bodyPr/>
                    <a:lstStyle/>
                    <a:p>
                      <a:pPr algn="l"/>
                      <a:r>
                        <a:rPr sz="2000" b="0" i="0">
                          <a:solidFill>
                            <a:srgbClr val="5C4826"/>
                          </a:solidFill>
                        </a:rPr>
                        <a:t>the set of defenses</a:t>
                      </a:r>
                    </a:p>
                  </a:txBody>
                  <a:tcPr marL="54864" anchor="ctr">
                    <a:solidFill>
                      <a:srgbClr val="FBF8F2"/>
                    </a:solidFill>
                  </a:tcPr>
                </a:tc>
                <a:extLst>
                  <a:ext uri="{0D108BD9-81ED-4DB2-BD59-A6C34878D82A}">
                    <a16:rowId xmlns:a16="http://schemas.microsoft.com/office/drawing/2014/main" val="10002"/>
                  </a:ext>
                </a:extLst>
              </a:tr>
              <a:tr h="658368">
                <a:tc>
                  <a:txBody>
                    <a:bodyPr/>
                    <a:lstStyle/>
                    <a:p>
                      <a:pPr algn="l"/>
                      <a:r>
                        <a:rPr sz="2000" b="1" i="0">
                          <a:solidFill>
                            <a:srgbClr val="5C4826"/>
                          </a:solidFill>
                        </a:rPr>
                        <a:t>Organizational</a:t>
                      </a:r>
                    </a:p>
                  </a:txBody>
                  <a:tcPr marL="54864" anchor="ctr">
                    <a:solidFill>
                      <a:srgbClr val="F5F1E8"/>
                    </a:solidFill>
                  </a:tcPr>
                </a:tc>
                <a:tc>
                  <a:txBody>
                    <a:bodyPr/>
                    <a:lstStyle/>
                    <a:p>
                      <a:pPr algn="l"/>
                      <a:r>
                        <a:rPr sz="2000" b="0" i="0">
                          <a:solidFill>
                            <a:srgbClr val="5C4826"/>
                          </a:solidFill>
                        </a:rPr>
                        <a:t>the conditions that shape behavior</a:t>
                      </a:r>
                    </a:p>
                  </a:txBody>
                  <a:tcPr marL="54864" anchor="ctr">
                    <a:solidFill>
                      <a:srgbClr val="F5F1E8"/>
                    </a:solidFill>
                  </a:tcPr>
                </a:tc>
                <a:extLst>
                  <a:ext uri="{0D108BD9-81ED-4DB2-BD59-A6C34878D82A}">
                    <a16:rowId xmlns:a16="http://schemas.microsoft.com/office/drawing/2014/main" val="10003"/>
                  </a:ext>
                </a:extLst>
              </a:tr>
              <a:tr h="658368">
                <a:tc>
                  <a:txBody>
                    <a:bodyPr/>
                    <a:lstStyle/>
                    <a:p>
                      <a:pPr algn="l"/>
                      <a:r>
                        <a:rPr sz="2000" b="1" i="0">
                          <a:solidFill>
                            <a:srgbClr val="5C4826"/>
                          </a:solidFill>
                        </a:rPr>
                        <a:t>STAMP</a:t>
                      </a:r>
                    </a:p>
                  </a:txBody>
                  <a:tcPr marL="54864" anchor="ctr">
                    <a:solidFill>
                      <a:srgbClr val="FBF8F2"/>
                    </a:solidFill>
                  </a:tcPr>
                </a:tc>
                <a:tc>
                  <a:txBody>
                    <a:bodyPr/>
                    <a:lstStyle/>
                    <a:p>
                      <a:pPr algn="l"/>
                      <a:r>
                        <a:rPr sz="2000" b="0" i="0">
                          <a:solidFill>
                            <a:srgbClr val="5C4826"/>
                          </a:solidFill>
                        </a:rPr>
                        <a:t>the whole control structure</a:t>
                      </a:r>
                    </a:p>
                  </a:txBody>
                  <a:tcPr marL="54864" anchor="ctr">
                    <a:solidFill>
                      <a:srgbClr val="FBF8F2"/>
                    </a:solidFill>
                  </a:tcPr>
                </a:tc>
                <a:extLst>
                  <a:ext uri="{0D108BD9-81ED-4DB2-BD59-A6C34878D82A}">
                    <a16:rowId xmlns:a16="http://schemas.microsoft.com/office/drawing/2014/main" val="10004"/>
                  </a:ext>
                </a:extLst>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theory determines where we look for effective intervention.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91056"/>
          </a:xfrm>
        </p:spPr>
        <p:txBody>
          <a:bodyPr>
            <a:normAutofit/>
          </a:bodyPr>
          <a:lstStyle/>
          <a:p>
            <a:pPr algn="ctr"/>
            <a:r>
              <a:rPr lang="en-US" sz="4000" b="0" i="0" dirty="0">
                <a:solidFill>
                  <a:srgbClr val="000000"/>
                </a:solidFill>
              </a:rPr>
              <a:t>Let’s try ourselves:</a:t>
            </a:r>
            <a:br>
              <a:rPr lang="en-US" sz="4000" b="0" i="0" dirty="0">
                <a:solidFill>
                  <a:srgbClr val="000000"/>
                </a:solidFill>
              </a:rPr>
            </a:br>
            <a:r>
              <a:rPr sz="4000" b="0" i="1" dirty="0">
                <a:solidFill>
                  <a:srgbClr val="000000"/>
                </a:solidFill>
              </a:rPr>
              <a:t>Diagnose </a:t>
            </a:r>
            <a:r>
              <a:rPr lang="en-US" sz="4000" b="0" i="1" dirty="0">
                <a:solidFill>
                  <a:srgbClr val="000000"/>
                </a:solidFill>
              </a:rPr>
              <a:t>a </a:t>
            </a:r>
            <a:r>
              <a:rPr sz="4000" b="0" i="1" dirty="0">
                <a:solidFill>
                  <a:srgbClr val="000000"/>
                </a:solidFill>
              </a:rPr>
              <a:t>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3</a:t>
            </a:r>
            <a:endParaRPr sz="2000" b="1" i="0" dirty="0">
              <a:solidFill>
                <a:srgbClr val="8E6F3E"/>
              </a:solidFill>
            </a:endParaRPr>
          </a:p>
        </p:txBody>
      </p:sp>
      <p:sp>
        <p:nvSpPr>
          <p:cNvPr id="902" name="Question"/>
          <p:cNvSpPr txBox="1"/>
          <p:nvPr/>
        </p:nvSpPr>
        <p:spPr>
          <a:xfrm>
            <a:off x="685800" y="3429000"/>
            <a:ext cx="7772400" cy="475488"/>
          </a:xfrm>
          <a:prstGeom prst="rect">
            <a:avLst/>
          </a:prstGeom>
          <a:noFill/>
        </p:spPr>
        <p:txBody>
          <a:bodyPr wrap="square" lIns="27432" tIns="22860" rIns="27432" bIns="22860" anchor="ctr">
            <a:spAutoFit/>
          </a:bodyPr>
          <a:lstStyle/>
          <a:p>
            <a:pPr algn="ctr"/>
            <a:r>
              <a:rPr sz="2400" b="0" i="0" dirty="0">
                <a:solidFill>
                  <a:srgbClr val="5C4826"/>
                </a:solidFill>
              </a:rPr>
              <a:t>What failed, and why didn't we know?</a:t>
            </a:r>
          </a:p>
        </p:txBody>
      </p:sp>
      <p:sp>
        <p:nvSpPr>
          <p:cNvPr id="903" name="Rule"/>
          <p:cNvSpPr/>
          <p:nvPr/>
        </p:nvSpPr>
        <p:spPr>
          <a:xfrm>
            <a:off x="3429000" y="4215384"/>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system can work as designed and still produce harmful outcomes</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lIns="27432" tIns="22860" rIns="27432" bIns="22860" anchor="t">
            <a:spAutoFit/>
          </a:bodyPr>
          <a:lstStyle/>
          <a:p>
            <a:pPr algn="ctr"/>
            <a:r>
              <a:rPr sz="2200" b="0" i="0">
                <a:solidFill>
                  <a:srgbClr val="5C4826"/>
                </a:solidFill>
              </a:rPr>
              <a:t>The observed outcome raises a question about what the system should optimize, not necessarily whether its implementation was correct.</a:t>
            </a:r>
          </a:p>
        </p:txBody>
      </p:sp>
      <p:sp>
        <p:nvSpPr>
          <p:cNvPr id="909" name="Label"/>
          <p:cNvSpPr txBox="1"/>
          <p:nvPr/>
        </p:nvSpPr>
        <p:spPr>
          <a:xfrm>
            <a:off x="548640" y="4023360"/>
            <a:ext cx="8046720" cy="1005840"/>
          </a:xfrm>
          <a:prstGeom prst="rect">
            <a:avLst/>
          </a:prstGeom>
          <a:noFill/>
        </p:spPr>
        <p:txBody>
          <a:bodyPr wrap="square" lIns="27432" tIns="22860" rIns="27432" bIns="22860" anchor="t">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kind of engineering failure could this be?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Which theory explains the Instagram outcome?</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WHICH THEORY?</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a:p>
            <a:pPr algn="ctr"/>
            <a:r>
              <a:rPr sz="2000" b="0" i="0">
                <a:solidFill>
                  <a:srgbClr val="555960"/>
                </a:solidFill>
              </a:rPr>
              <a:t>Decisions by particular engineers, designers, or managers</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a:p>
            <a:pPr algn="ctr"/>
            <a:r>
              <a:rPr sz="2000" b="0" i="0">
                <a:solidFill>
                  <a:srgbClr val="555960"/>
                </a:solidFill>
              </a:rPr>
              <a:t>Which safeguards failed to prevent harmful experiences</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a:p>
            <a:pPr algn="ctr"/>
            <a:r>
              <a:rPr sz="2000" b="0" i="0">
                <a:solidFill>
                  <a:srgbClr val="555960"/>
                </a:solidFill>
              </a:rPr>
              <a:t>How product objectives, incentives, and authority shaped decisions</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a:p>
            <a:pPr algn="ctr"/>
            <a:r>
              <a:rPr sz="2000" b="0" i="0">
                <a:solidFill>
                  <a:srgbClr val="555960"/>
                </a:solidFill>
              </a:rPr>
              <a:t>Whether feedback about harmful outcomes reached product control</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These are hypotheses. Which model would you use, and what further evidence would you need?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failed, and why didn’t we know?</a:t>
            </a:r>
          </a:p>
        </p:txBody>
      </p:sp>
      <p:sp>
        <p:nvSpPr>
          <p:cNvPr id="900" name="Slide Number Placeholder 900"/>
          <p:cNvSpPr>
            <a:spLocks noGrp="1"/>
          </p:cNvSpPr>
          <p:nvPr>
            <p:ph type="sldNum" sz="quarter" idx="4"/>
          </p:nvPr>
        </p:nvSpPr>
        <p:spPr/>
        <p:txBody>
          <a:bodyPr/>
          <a:lstStyle/>
          <a:p>
            <a:fld id="{CB54B3D1-5BA3-40A8-8017-74A0DF3C7182}" type="slidenum">
              <a:rPr lang="en-US" smtClean="0"/>
              <a:t>22</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SPECIFICATION / DESIGN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IMPLEMENTATION</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DECISION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Were the intended outcomes appropriate?</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the system optimize the right properties?</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it behave as intended?</a:t>
            </a:r>
          </a:p>
        </p:txBody>
      </p:sp>
      <p:sp>
        <p:nvSpPr>
          <p:cNvPr id="923" name="LevelQuestion"/>
          <p:cNvSpPr/>
          <p:nvPr/>
        </p:nvSpPr>
        <p:spPr>
          <a:xfrm>
            <a:off x="3840480" y="37124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did the research establish, and who received it?</a:t>
            </a:r>
          </a:p>
        </p:txBody>
      </p:sp>
      <p:sp>
        <p:nvSpPr>
          <p:cNvPr id="924" name="LevelQuestion"/>
          <p:cNvSpPr/>
          <p:nvPr/>
        </p:nvSpPr>
        <p:spPr>
          <a:xfrm>
            <a:off x="3840480" y="45537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What decisions did it inform, and what further evidence was needed?</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failure analysis must examine both the system’s behavior and the engineering decisions that permitted it.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27</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4</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29</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lIns="27432" tIns="22860" rIns="27432" bIns="22860" anchor="t">
            <a:spAutoFit/>
          </a:bodyPr>
          <a:lstStyle/>
          <a:p>
            <a:pPr algn="ctr"/>
            <a:r>
              <a:rPr sz="2200" b="0" i="0">
                <a:solidFill>
                  <a:srgbClr val="5C4826"/>
                </a:solidFill>
              </a:rPr>
              <a:t>Generalization is itself an engineering claim.</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30</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this exact case - it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LESSON</a:t>
            </a:r>
          </a:p>
          <a:p>
            <a:pPr algn="ctr">
              <a:spcBef>
                <a:spcPts val="1200"/>
              </a:spcBef>
            </a:pPr>
            <a:r>
              <a:rPr sz="2000" b="1" i="0">
                <a:solidFill>
                  <a:srgbClr val="8E6F3E"/>
                </a:solidFill>
              </a:rPr>
              <a:t>Generalized model or control</a:t>
            </a:r>
          </a:p>
          <a:p>
            <a:pPr algn="ctr">
              <a:spcBef>
                <a:spcPts val="1200"/>
              </a:spcBef>
            </a:pPr>
            <a:r>
              <a:rPr sz="2000" b="0" i="0">
                <a:solidFill>
                  <a:srgbClr val="555960"/>
                </a:solidFill>
              </a:rPr>
              <a:t>covers the class of cases - the class becomes recognizable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How do we establish the lesson?</a:t>
            </a:r>
          </a:p>
        </p:txBody>
      </p:sp>
      <p:sp>
        <p:nvSpPr>
          <p:cNvPr id="900" name="Slide Number Placeholder 900"/>
          <p:cNvSpPr>
            <a:spLocks noGrp="1"/>
          </p:cNvSpPr>
          <p:nvPr>
            <p:ph type="sldNum" sz="quarter" idx="4"/>
          </p:nvPr>
        </p:nvSpPr>
        <p:spPr/>
        <p:txBody>
          <a:bodyPr/>
          <a:lstStyle/>
          <a:p>
            <a:fld id="{F164AA00-212F-409D-8EDE-8F6B572B597D}" type="slidenum">
              <a:rPr lang="en-US" smtClean="0"/>
              <a:t>31</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RECONSTRUCT</a:t>
            </a:r>
          </a:p>
          <a:p>
            <a:pPr algn="ctr">
              <a:spcBef>
                <a:spcPts val="1400"/>
              </a:spcBef>
            </a:pPr>
            <a:r>
              <a:rPr sz="2000" b="0" i="0">
                <a:solidFill>
                  <a:srgbClr val="555960"/>
                </a:solidFill>
              </a:rPr>
              <a:t>1. What happened, in sequence.    2. What causal mechanism produced it.</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INTERPRET</a:t>
            </a:r>
          </a:p>
          <a:p>
            <a:pPr algn="ctr">
              <a:spcBef>
                <a:spcPts val="1400"/>
              </a:spcBef>
            </a:pPr>
            <a:r>
              <a:rPr sz="2000" b="0" i="0">
                <a:solidFill>
                  <a:srgbClr val="555960"/>
                </a:solidFill>
              </a:rPr>
              <a:t>3. What engineers believed, and why.    4. What should change as a result.</a:t>
            </a:r>
          </a:p>
        </p:txBody>
      </p:sp>
      <p:sp>
        <p:nvSpPr>
          <p:cNvPr id="903" name="Label"/>
          <p:cNvSpPr txBox="1"/>
          <p:nvPr/>
        </p:nvSpPr>
        <p:spPr>
          <a:xfrm>
            <a:off x="548640" y="4663440"/>
            <a:ext cx="8046720" cy="502920"/>
          </a:xfrm>
          <a:prstGeom prst="rect">
            <a:avLst/>
          </a:prstGeom>
          <a:noFill/>
        </p:spPr>
        <p:txBody>
          <a:bodyPr wrap="square" lIns="27432" tIns="22860" rIns="27432" bIns="22860" anchor="t">
            <a:spAutoFit/>
          </a:bodyPr>
          <a:lstStyle/>
          <a:p>
            <a:pPr algn="ctr"/>
            <a:r>
              <a:rPr sz="2200" b="0" i="0">
                <a:solidFill>
                  <a:srgbClr val="5C4826"/>
                </a:solidFill>
              </a:rPr>
              <a:t>A defensible lesson is not the same as an attractive retrospective explanation.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32</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Consequential knowledge migrates to where future work inherits it.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normAutofit fontScale="90000"/>
          </a:bodyPr>
          <a:lstStyle/>
          <a:p>
            <a:pPr algn="ctr"/>
            <a:r>
              <a:rPr lang="en-US" sz="4000" b="0" i="0" dirty="0">
                <a:solidFill>
                  <a:srgbClr val="000000"/>
                </a:solidFill>
              </a:rPr>
              <a:t>Knowledge Management:</a:t>
            </a:r>
            <a:br>
              <a:rPr lang="en-US" sz="4000" b="0" i="0" dirty="0">
                <a:solidFill>
                  <a:srgbClr val="000000"/>
                </a:solidFill>
              </a:rPr>
            </a:br>
            <a:r>
              <a:rPr sz="4000" b="0" i="0" dirty="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33</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5</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34</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7620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lIns="27432" tIns="22860" rIns="27432" bIns="22860" anchor="t">
            <a:spAutoFit/>
          </a:bodyPr>
          <a:lstStyle/>
          <a:p>
            <a:pPr algn="l"/>
            <a:r>
              <a:rPr sz="2000" b="0" i="0">
                <a:solidFill>
                  <a:srgbClr val="555960"/>
                </a:solidFill>
              </a:rPr>
              <a:t>increasing ability to affect future action</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Agents: Must m</a:t>
            </a:r>
            <a:r>
              <a:rPr sz="2400" b="0" i="0" dirty="0">
                <a:solidFill>
                  <a:srgbClr val="000000"/>
                </a:solidFill>
              </a:rPr>
              <a:t>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035537" y="5817933"/>
            <a:ext cx="5072926"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“G</a:t>
            </a:r>
            <a:r>
              <a:rPr sz="2800" b="1" i="0" dirty="0">
                <a:solidFill>
                  <a:schemeClr val="bg1"/>
                </a:solidFill>
              </a:rPr>
              <a:t>overnance conversion</a:t>
            </a:r>
            <a:r>
              <a:rPr lang="en-US" sz="2800" b="1" i="0" dirty="0">
                <a:solidFill>
                  <a:schemeClr val="bg1"/>
                </a:solidFill>
              </a:rPr>
              <a:t>"</a:t>
            </a:r>
            <a:endParaRPr sz="2800" b="1" i="0" dirty="0">
              <a:solidFill>
                <a:schemeClr val="bg1"/>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411480" y="868680"/>
            <a:ext cx="8321040" cy="914400"/>
          </a:xfrm>
          <a:prstGeom prst="rect">
            <a:avLst/>
          </a:prstGeom>
          <a:noFill/>
        </p:spPr>
        <p:txBody>
          <a:bodyPr wrap="square" lIns="27432" tIns="22860" rIns="27432" bIns="22860" anchor="t">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RELEASE GATE</a:t>
            </a:r>
          </a:p>
        </p:txBody>
      </p:sp>
      <p:sp>
        <p:nvSpPr>
          <p:cNvPr id="909" name="FooterBand"/>
          <p:cNvSpPr/>
          <p:nvPr/>
        </p:nvSpPr>
        <p:spPr>
          <a:xfrm>
            <a:off x="274320" y="544068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W</a:t>
            </a:r>
            <a:r>
              <a:rPr sz="2000" b="1" i="0" dirty="0">
                <a:solidFill>
                  <a:srgbClr val="FFFFFF"/>
                </a:solidFill>
              </a:rPr>
              <a:t>hich judgments should never have remained discretionary?</a:t>
            </a:r>
          </a:p>
        </p:txBody>
      </p:sp>
      <p:sp>
        <p:nvSpPr>
          <p:cNvPr id="2" name="FooterBand">
            <a:extLst>
              <a:ext uri="{FF2B5EF4-FFF2-40B4-BE49-F238E27FC236}">
                <a16:creationId xmlns:a16="http://schemas.microsoft.com/office/drawing/2014/main" id="{A01D4652-4B3B-10DE-B286-362A6003B509}"/>
              </a:ext>
            </a:extLst>
          </p:cNvPr>
          <p:cNvSpPr/>
          <p:nvPr/>
        </p:nvSpPr>
        <p:spPr>
          <a:xfrm>
            <a:off x="274320" y="5898515"/>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1" dirty="0">
                <a:solidFill>
                  <a:schemeClr val="bg1"/>
                </a:solidFill>
              </a:rPr>
              <a:t>But remember…for the right incentive, people will break any rule you establish</a:t>
            </a:r>
            <a:endParaRPr sz="2000" b="1" i="1" dirty="0">
              <a:solidFill>
                <a:schemeClr val="bg1"/>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40</a:t>
            </a:fld>
            <a:endParaRPr lang="en-US"/>
          </a:p>
        </p:txBody>
      </p:sp>
      <p:sp>
        <p:nvSpPr>
          <p:cNvPr id="901" name="VerbalLine"/>
          <p:cNvSpPr txBox="1"/>
          <p:nvPr/>
        </p:nvSpPr>
        <p:spPr>
          <a:xfrm>
            <a:off x="274320" y="786384"/>
            <a:ext cx="8595360" cy="822960"/>
          </a:xfrm>
          <a:prstGeom prst="rect">
            <a:avLst/>
          </a:prstGeom>
          <a:noFill/>
        </p:spPr>
        <p:txBody>
          <a:bodyPr wrap="square" lIns="27432" tIns="22860" rIns="27432" bIns="22860" anchor="ctr">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lIns="27432" tIns="22860" rIns="27432" bIns="22860" anchor="t">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lIns="27432" tIns="22860" rIns="27432" bIns="22860" anchor="t">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lIns="27432" tIns="22860" rIns="27432" bIns="22860" anchor="t">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8583</TotalTime>
  <Words>5177</Words>
  <Application>Microsoft Macintosh PowerPoint</Application>
  <PresentationFormat>On-screen Show (4:3)</PresentationFormat>
  <Paragraphs>519</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Times</vt:lpstr>
      <vt:lpstr>Purdue1</vt:lpstr>
      <vt:lpstr>PowerPoint Presentation</vt:lpstr>
      <vt:lpstr>Dieselgate</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2007: The decision is reconsidered</vt:lpstr>
      <vt:lpstr>2009–2016: The engineering system keeps producing the result</vt:lpstr>
      <vt:lpstr>2012: Reality provides another observation</vt:lpstr>
      <vt:lpstr>2014–15: Someone outside the system measures reality</vt:lpstr>
      <vt:lpstr>What theory explains it?</vt:lpstr>
      <vt:lpstr>What caused the Volkswagen failure?</vt:lpstr>
      <vt:lpstr>Human error</vt:lpstr>
      <vt:lpstr>Swiss cheese</vt:lpstr>
      <vt:lpstr>Organizational causation</vt:lpstr>
      <vt:lpstr>STAMP: Model the control structure</vt:lpstr>
      <vt:lpstr>A broader model is not automatically a better model</vt:lpstr>
      <vt:lpstr>Match causal breadth to the decision</vt:lpstr>
      <vt:lpstr>Let’s try ourselves: Diagnose a failure</vt:lpstr>
      <vt:lpstr>Instagram measures an uncomfortable outcome</vt:lpstr>
      <vt:lpstr>What failed?</vt:lpstr>
      <vt:lpstr>One outcome can implicate several decisions</vt:lpstr>
      <vt:lpstr>But Facebook was already measuring the outcome</vt:lpstr>
      <vt:lpstr>Run Validation backward</vt:lpstr>
      <vt:lpstr>Remember, a bad outcome != bad validation or engineering</vt:lpstr>
      <vt:lpstr>Convert failure into engineering knowledge</vt:lpstr>
      <vt:lpstr>Observation is not yet engineering knowledge</vt:lpstr>
      <vt:lpstr>What does the evidence actually support?</vt:lpstr>
      <vt:lpstr>Preserve the example or preserve the lesson?</vt:lpstr>
      <vt:lpstr>Causal account vs reflective account</vt:lpstr>
      <vt:lpstr>Where should the lesson live?</vt:lpstr>
      <vt:lpstr>Knowledge Management: Make the organization harder to surprise the same way twice</vt:lpstr>
      <vt:lpstr>Remembering is the weakest response</vt:lpstr>
      <vt:lpstr>Agents: Must move recurring judgment into the environment</vt:lpstr>
      <vt:lpstr>Volkswagen, one last time</vt:lpstr>
      <vt:lpstr>Active, then passive alignment</vt:lpstr>
      <vt:lpstr>Learning can change three things</vt:lpstr>
      <vt:lpstr>Schön: the reflective practitioner</vt:lpstr>
      <vt:lpstr>Failure is an expensive observation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462</cp:revision>
  <dcterms:created xsi:type="dcterms:W3CDTF">2020-02-21T23:00:33Z</dcterms:created>
  <dcterms:modified xsi:type="dcterms:W3CDTF">2026-10-08T20:04:22Z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