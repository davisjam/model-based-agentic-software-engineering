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2"/>
  </p:notesMasterIdLst>
  <p:sldIdLst>
    <p:sldId id="256" r:id="rId2"/>
    <p:sldId id="296" r:id="rId3"/>
    <p:sldId id="299" r:id="rId38"/>
    <p:sldId id="257" r:id="rId4"/>
    <p:sldId id="258" r:id="rId5"/>
    <p:sldId id="294" r:id="rId6"/>
    <p:sldId id="259" r:id="rId7"/>
    <p:sldId id="260" r:id="rId8"/>
    <p:sldId id="263" r:id="rId10"/>
    <p:sldId id="264" r:id="rId11"/>
    <p:sldId id="265" r:id="rId12"/>
    <p:sldId id="266" r:id="rId13"/>
    <p:sldId id="268" r:id="rId15"/>
    <p:sldId id="269" r:id="rId16"/>
    <p:sldId id="270" r:id="rId17"/>
    <p:sldId id="271" r:id="rId18"/>
    <p:sldId id="272" r:id="rId19"/>
    <p:sldId id="273" r:id="rId20"/>
    <p:sldId id="274" r:id="rId21"/>
    <p:sldId id="300" r:id="rId35"/>
    <p:sldId id="295" r:id="rId22"/>
    <p:sldId id="276" r:id="rId24"/>
    <p:sldId id="275" r:id="rId23"/>
    <p:sldId id="280" r:id="rId28"/>
    <p:sldId id="282" r:id="rId30"/>
    <p:sldId id="284" r:id="rId32"/>
    <p:sldId id="283" r:id="rId31"/>
    <p:sldId id="301" r:id="rId29"/>
    <p:sldId id="285" r:id="rId33"/>
    <p:sldId id="286" r:id="rId34"/>
    <p:sldId id="297" r:id="rId40"/>
    <p:sldId id="298" r:id="rId39"/>
    <p:sldId id="288" r:id="rId36"/>
    <p:sldId id="289"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56164"/>
  </p:normalViewPr>
  <p:slideViewPr>
    <p:cSldViewPr snapToGrid="0" snapToObjects="1">
      <p:cViewPr varScale="1">
        <p:scale>
          <a:sx n="64" d="100"/>
          <a:sy n="64" d="100"/>
        </p:scale>
        <p:origin x="3320"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1.xml"/><Relationship Id="rId24" Type="http://schemas.openxmlformats.org/officeDocument/2006/relationships/slide" Target="slides/slide20.xml"/><Relationship Id="rId28" Type="http://schemas.openxmlformats.org/officeDocument/2006/relationships/slide" Target="slides/slide22.xml"/><Relationship Id="rId29" Type="http://schemas.openxmlformats.org/officeDocument/2006/relationships/slide" Target="slides/slide34.xml"/><Relationship Id="rId30" Type="http://schemas.openxmlformats.org/officeDocument/2006/relationships/slide" Target="slides/slide23.xml"/><Relationship Id="rId31" Type="http://schemas.openxmlformats.org/officeDocument/2006/relationships/slide" Target="slides/slide25.xml"/><Relationship Id="rId32" Type="http://schemas.openxmlformats.org/officeDocument/2006/relationships/slide" Target="slides/slide24.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33.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29.xml"/><Relationship Id="rId40" Type="http://schemas.openxmlformats.org/officeDocument/2006/relationships/slide" Target="slides/slide28.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a:p/>
          <a:p>
            <a:r>
              <a:t>OCTOBER 2007 MEETING (folded in from its own slide): DOJ: the supervisor authorized the project despite knowing that only the defeat device would allow the vehicles to pass the U.S. tests.</a:t>
            </a:r>
          </a:p>
          <a:p>
            <a:r>
              <a:t>- The line to land: A decision can be reconsidered and still reproduce the failure.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a:p/>
          <a:p>
            <a:r>
              <a:t>COLLECT LIVE HERE (folded in from its own slide): ask the room what caused the Volkswagen failure and capture answers on the board before advancing. The four theories that follow are the frames their answers will fall into.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a:p/>
          <a:p>
            <a:r>
              <a:t>WHAT THE RESEARCH ACTUALLY REPORTED (students will not know the controversy): Instagram's own internal research, later reported publicly, examined relationships between Instagram use and teen well-being. Among teenagers who reported body-image concerns, a substantial share associated those feelings with Instagram use; smaller but non-trivial shares linked the product to more serious harms. The findings were correlational and did not establish that the product caused the harm. What makes it an ENGINEERING case is the combination: the company had measured a consequential outcome, the system was behaving as designed, and the question was whether the objectives the system optimized were the right ones. Be careful not to overstate the causal claim — the exercise is about which failure model you would apply and what evidence you would still need.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a:p/>
          <a:p>
            <a:r>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Let them READ it.</a:t>
            </a:r>
          </a:p>
          <a:p>
            <a:r>
              <a:t>- Dieselgate is a deception case. This one is NOT, and students will try to make it one. The system may have been operating exactly as designed.</a:t>
            </a:r>
          </a:p>
          <a:p>
            <a:r>
              <a:t>- Be careful with the causal claim: the research was correlational and did not establish that the product caused the reported harms. Overstating it turns an engineering question into a morality verdict and loses the lesson.</a:t>
            </a:r>
          </a:p>
          <a:p>
            <a:r>
              <a:t>- The engineering question is the last sentence: how should an organization interpret consequential evidence about a system working as designed?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Let them READ it — do not narrate it.</a:t>
            </a:r>
          </a:p>
          <a:p>
            <a:r>
              <a:t>- Purpose: students meet the regulatory change on the next slide without knowing what story they are entering. This establishes the situation and the observed outcome.</a:t>
            </a:r>
          </a:p>
          <a:p>
            <a:r>
              <a:t>- It deliberately does NOT explain WHY it happened. That is the whole point of the next eight slides and of the four theories after them.</a:t>
            </a:r>
          </a:p>
          <a:p>
            <a:r>
              <a:t>- If asked 'who is to blame' here, defer it. The lecture's argument is that the answer depends on which causal theory you adopt.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Same engineering obligation, different recipient. The agent receives the relevant model and constraint as part of its task context; a check evaluates the resulting change; a gate can refuse admission.</a:t>
            </a:r>
          </a:p>
          <a:p>
            <a:r>
              <a:t>- The distinction between the human and the agent is useful rather than rhetorical. A new engineer may acquire the knowledge through mentorship, review, documentation and experience. An agent requires the relevant context to be supplied or retrieved DURING its work.</a:t>
            </a:r>
          </a:p>
          <a:p>
            <a:r>
              <a:t>- Both benefit from controls that do not depend entirely on the recipient's memory or judgment. That is the tie back to Delegation (what context must the recipient receive?) and Alignment (what mechanism preserves the obligation?).</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THE CENTERPIECE.</a:t>
            </a:r>
          </a:p>
          <a:p>
            <a:r>
              <a:t>- Setup: a team diagnosed two workers both believing they owned the same job, and established an invariant: a worker may modify a job only while holding its current lease generation.</a:t>
            </a:r>
          </a:p>
          <a:p>
            <a:r>
              <a:t>- The original engineers understand it. They may even have documented it. Six months later a new engineer is asked to change recovery behavior.</a:t>
            </a:r>
          </a:p>
          <a:p>
            <a:r>
              <a:t>- ASK THE ROOM: how does that engineer learn the invariant exists?</a:t>
            </a:r>
          </a:p>
          <a:p>
            <a:r>
              <a:t>- Deriving the lesson and DELIVERING it are different engineering problems. Preserving a lesson is not the same as ensuring future work uses it: a requirement can exist without being consulted, a model can be accurate but undiscoverable, a validator can exist without being executed, a gate can run without checking the relevant property.</a:t>
            </a:r>
          </a:p>
          <a:p>
            <a:r>
              <a:t>- The four things the environment must supply are the four roles from Alignment: the authoritative invariant (model), its applicability to THIS work, a way to evaluate the proposed change (validator), and a mechanism that refuses admission when it is violated (gate).</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WORKED EXAMPLE STARTS HERE and runs to the close.</a:t>
            </a:r>
          </a:p>
          <a:p>
            <a:r>
              <a:t>- The incident: a lease timeout let two background workers both believe they owned the same job, so the job was processed twice.</a:t>
            </a:r>
          </a:p>
          <a:p>
            <a:r>
              <a:t>- Row 1 restates the observation — true, and it generalizes to nothing.</a:t>
            </a:r>
          </a:p>
          <a:p>
            <a:r>
              <a:t>- Row 2 is the engineering judgment. Note precisely what it does NOT say: an expired lease does not by itself cause duplicate processing. The mechanism is a STALE WORKER acting after another worker has acquired ownership. That is the thing an obligation can prevent, and it is exactly what the lease-generation invariant on the next slides enforces.</a:t>
            </a:r>
          </a:p>
          <a:p>
            <a:r>
              <a:t>- Row 3 is a sweeping claim the evidence cannot carry. Students reach for it because it sounds responsible — name that when it happens.</a:t>
            </a:r>
          </a:p>
          <a:p>
            <a:r>
              <a:t>- The skill is asking which causal MECHANISM can recur, not whether a sentence sounds appropriately cautious.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 minutes. THE CENTRAL ENGINEERING JUDGMENT of the section.</a:t>
            </a:r>
          </a:p>
          <a:p>
            <a:r>
              <a:t>- The move students miss: a causal account explains how a failure occurred. It does NOT determine which future failures should be prevented, or how.</a:t>
            </a:r>
          </a:p>
          <a:p>
            <a:r>
              <a:t>- Two different modes of reasoning. DIAGNOSIS works BACKWARD from an observed consequence to the conditions that produced it. CORRECTIVE DESIGN works FORWARD from candidate interventions to the consequences they would produce. The second is not determined by the first — that mental transition is the hard part, and it is ordinary engineering again, with new evidence.</a:t>
            </a:r>
          </a:p>
          <a:p>
            <a:r>
              <a:t>- Walk the four rows. Row 1 may be too narrow: the same mechanism stays available elsewhere. Row 4 may be broader than necessary and constrains unrelated work. Row 3 targets the mechanism the evidence actually supports.</a:t>
            </a:r>
          </a:p>
          <a:p>
            <a:r>
              <a:t>- Other alternatives worth raising if the room is engaged: terminate stale workers, serialize ownership transitions, or combine mechanisms. Each excludes a different class, carries different cost, and may introduce new failure modes.</a:t>
            </a:r>
          </a:p>
          <a:p>
            <a:r>
              <a:t>- This is the same judgment they met in SPECIFICATION: which distinctions among possible behaviors must be constrained, and which may remain free? Failure analysis does not end at a cause; it reopens specification and design.</a:t>
            </a:r>
          </a:p>
          <a:p>
            <a:r>
              <a:t>- CAREFUL with 'always prevent the class'. Some failures reveal acceptable residual uncertainty, and prevention can cost more than the consequences justify. The general principle: use failure evidence to reconsider what future behavior should be PERMITTED, PREVENTED, DETECTED, or TOLERATED. The engineer chooses not only how broadly to intervene, but what KIND of intervention is warranted.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Five diagnostic axes, each with its own intervention: was the OBLIGATION missing (nobody committed to the property)? was its REPRESENTATION inadequate (stated only in prose)? was EVIDENCE unavailable (nothing measured it)? was EVALUATION inadequate (measured, but never checked)? was ENFORCEMENT missing (checked, but nothing refused the change)?</a:t>
            </a:r>
          </a:p>
          <a:p>
            <a:r>
              <a:t>- The figure's own caution: a failure is NOT a request for another gate. Diagnose what was missing first — adding a gate when the real gap was representation leaves the class open.</a:t>
            </a:r>
          </a:p>
          <a:p>
            <a:r>
              <a:t>- Run the worker incident through it: the invariant existed in a postmortem (obligation yes, representation weak), nothing evaluated it, nothing enforced it.</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CLOSE.</a:t>
            </a:r>
          </a:p>
          <a:p>
            <a:r>
              <a:t>- Return to 2006: suppose the compliance obligation had lived in the engineering environment — a model, independent validation, a release gate — rather than in what engineers were expected to remember.</a:t>
            </a:r>
          </a:p>
          <a:p>
            <a:r>
              <a:t>- Then the qualification, and do not soften it: governance conversion is not the same as adding gates. An organization that controls its own controls can circumvent them. Authority, incentives and organizational control still matter, which is why the failure model had to reach the locus of control.</a:t>
            </a:r>
          </a:p>
          <a:p>
            <a:r>
              <a:t>- Close on the line. The lecture's practical question was how an engineering organization learns from failure so that the next engineer — or agent — does not repeat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3</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240280" cy="1463040"/>
          </a:xfrm>
          <a:prstGeom prst="rect">
            <a:avLst/>
          </a:prstGeom>
          <a:noFill/>
        </p:spPr>
        <p:txBody>
          <a:bodyPr wrap="square" lIns="27432" tIns="22860" rIns="27432" bIns="22860" anchor="t">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6</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7</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Reconsidered, and continued. October 2007: technical problems and internal disagreement were raised, and the supervisor authorized proceeding. Not a rogue patch — calibration, integration, certification, maintenance, and delegated work.</a:t>
            </a:r>
          </a:p>
        </p:txBody>
      </p:sp>
      <p:sp>
        <p:nvSpPr>
          <p:cNvPr id="904" name="Label"/>
          <p:cNvSpPr txBox="1"/>
          <p:nvPr/>
        </p:nvSpPr>
        <p:spPr>
          <a:xfrm>
            <a:off x="411480" y="4709160"/>
            <a:ext cx="8321040" cy="502920"/>
          </a:xfrm>
          <a:prstGeom prst="rect">
            <a:avLst/>
          </a:prstGeom>
          <a:noFill/>
        </p:spPr>
        <p:txBody>
          <a:bodyPr wrap="square" lIns="27432" tIns="22860" rIns="27432" bIns="22860" anchor="t">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411480" y="3246120"/>
            <a:ext cx="8321040" cy="1463040"/>
          </a:xfrm>
          <a:prstGeom prst="rect">
            <a:avLst/>
          </a:prstGeom>
          <a:noFill/>
        </p:spPr>
        <p:txBody>
          <a:bodyPr wrap="square" lIns="27432" tIns="22860" rIns="27432" bIns="22860" anchor="t">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made this outcome reproducible?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improve the defeat device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lIns="27432" tIns="22860" rIns="27432" bIns="22860" anchor="t">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lIns="27432" tIns="22860" rIns="27432" bIns="22860" anchor="t">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lIns="27432" tIns="22860" rIns="27432" bIns="22860" anchor="t">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lIns="27432" tIns="22860" rIns="27432" bIns="22860" anchor="t">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system can work as designed and still produce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a:p>
            <a:pPr algn="ctr"/>
            <a:r>
              <a:rPr sz="2000" b="0" i="0">
                <a:solidFill>
                  <a:srgbClr val="555960"/>
                </a:solidFill>
              </a:rPr>
              <a:t>Decisions by particular engineers, designers, or managers</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a:p>
            <a:pPr algn="ctr"/>
            <a:r>
              <a:rPr sz="2000" b="0" i="0">
                <a:solidFill>
                  <a:srgbClr val="555960"/>
                </a:solidFill>
              </a:rPr>
              <a:t>Which safeguards failed to prevent harmful experiences</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a:p>
            <a:pPr algn="ctr"/>
            <a:r>
              <a:rPr sz="2000" b="0" i="0">
                <a:solidFill>
                  <a:srgbClr val="555960"/>
                </a:solidFill>
              </a:rPr>
              <a:t>How product objectives, incentives, and authority shaped decisions</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a:p>
            <a:pPr algn="ctr"/>
            <a:r>
              <a:rPr sz="2000" b="0" i="0">
                <a:solidFill>
                  <a:srgbClr val="555960"/>
                </a:solidFill>
              </a:rPr>
              <a:t>Whether feedback about harmful outcomes reached product control</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These are hypotheses. Which model would you use, and what further evidence would you need?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82219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66344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it behave as intended?</a:t>
            </a:r>
          </a:p>
        </p:txBody>
      </p:sp>
      <p:sp>
        <p:nvSpPr>
          <p:cNvPr id="923" name="LevelQuestion"/>
          <p:cNvSpPr/>
          <p:nvPr/>
        </p:nvSpPr>
        <p:spPr>
          <a:xfrm>
            <a:off x="3840480" y="382219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466344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failure analysis must examine both the system’s behavior and the engineering decisions that permitted it.</a:t>
            </a:r>
          </a:p>
        </p:txBody>
      </p:sp>
      <p:sp>
        <p:nvSpPr>
          <p:cNvPr id="930" name="GroupLabel"/>
          <p:cNvSpPr/>
          <p:nvPr/>
        </p:nvSpPr>
        <p:spPr>
          <a:xfrm>
            <a:off x="731520" y="914400"/>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WHAT FAILED?</a:t>
            </a:r>
          </a:p>
        </p:txBody>
      </p:sp>
      <p:sp>
        <p:nvSpPr>
          <p:cNvPr id="930" name="GroupLabel"/>
          <p:cNvSpPr/>
          <p:nvPr/>
        </p:nvSpPr>
        <p:spPr>
          <a:xfrm>
            <a:off x="731520" y="3438144"/>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WHY DIDN’T WE KNOW?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OBSERVED</a:t>
            </a:r>
          </a:p>
          <a:p>
            <a:pPr algn="ctr"/>
            <a:r>
              <a:rPr sz="2000" b="1" i="0">
                <a:solidFill>
                  <a:srgbClr val="5C4826"/>
                </a:solidFill>
              </a:rPr>
              <a:t>Two workers believed they owned the same job after a timeout.</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GENERALIZED MECHANISM</a:t>
            </a:r>
          </a:p>
          <a:p>
            <a:pPr algn="ctr"/>
            <a:r>
              <a:rPr sz="2000" b="1" i="0">
                <a:solidFill>
                  <a:srgbClr val="5C4826"/>
                </a:solidFill>
              </a:rPr>
              <a:t>A stale worker may modify a job after another worker has acquired its lease.</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UNSUPPORTED GENERALIZATION</a:t>
            </a:r>
          </a:p>
          <a:p>
            <a:pPr algn="ctr"/>
            <a:r>
              <a:rPr sz="2000" b="1" i="0">
                <a:solidFill>
                  <a:srgbClr val="5C4826"/>
                </a:solidFill>
              </a:rPr>
              <a:t>Every asynchronous operation must be idempotent.</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The question is which causal mechanism can recur — not whether a claim sounds narrow or broad.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do we establish the lesson?</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1   What happened</a:t>
            </a:r>
          </a:p>
          <a:p>
            <a:pPr algn="ctr">
              <a:spcBef>
                <a:spcPts val="1400"/>
              </a:spcBef>
            </a:pPr>
            <a:r>
              <a:rPr sz="2000" b="0" i="0">
                <a:solidFill>
                  <a:srgbClr val="555960"/>
                </a:solidFill>
              </a:rPr>
              <a:t>the sequence of events and conditions</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2   What mechanism produced it</a:t>
            </a:r>
          </a:p>
          <a:p>
            <a:pPr algn="ctr">
              <a:spcBef>
                <a:spcPts val="1400"/>
              </a:spcBef>
            </a:pPr>
            <a:r>
              <a:rPr sz="2000" b="0" i="0">
                <a:solidFill>
                  <a:srgbClr val="555960"/>
                </a:solidFill>
              </a:rPr>
              <a:t>the causal account</a:t>
            </a:r>
          </a:p>
        </p:txBody>
      </p:sp>
      <p:sp>
        <p:nvSpPr>
          <p:cNvPr id="903" name="Label"/>
          <p:cNvSpPr txBox="1"/>
          <p:nvPr/>
        </p:nvSpPr>
        <p:spPr>
          <a:xfrm>
            <a:off x="548640" y="4983480"/>
            <a:ext cx="8046720" cy="502920"/>
          </a:xfrm>
          <a:prstGeom prst="rect">
            <a:avLst/>
          </a:prstGeom>
          <a:noFill/>
        </p:spPr>
        <p:txBody>
          <a:bodyPr wrap="square" lIns="27432" tIns="22860" rIns="27432" bIns="22860" anchor="t">
            <a:spAutoFit/>
          </a:bodyPr>
          <a:lstStyle/>
          <a:p>
            <a:pPr algn="ctr"/>
            <a:r>
              <a:rPr sz="2200" b="0" i="0">
                <a:solidFill>
                  <a:srgbClr val="5C4826"/>
                </a:solidFill>
              </a:rPr>
              <a:t>A defensible lesson is not the same as an attractive retrospective explanation.</a:t>
            </a:r>
          </a:p>
        </p:txBody>
      </p:sp>
      <p:sp>
        <p:nvSpPr>
          <p:cNvPr id="901"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3   What engineers believed, and why</a:t>
            </a:r>
          </a:p>
          <a:p>
            <a:pPr algn="ctr">
              <a:spcBef>
                <a:spcPts val="1400"/>
              </a:spcBef>
            </a:pPr>
            <a:r>
              <a:rPr sz="2000" b="0" i="0">
                <a:solidFill>
                  <a:srgbClr val="555960"/>
                </a:solidFill>
              </a:rPr>
              <a:t>the reflective account</a:t>
            </a:r>
          </a:p>
        </p:txBody>
      </p:sp>
      <p:sp>
        <p:nvSpPr>
          <p:cNvPr id="901"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4   What should change</a:t>
            </a:r>
          </a:p>
          <a:p>
            <a:pPr algn="ctr">
              <a:spcBef>
                <a:spcPts val="1400"/>
              </a:spcBef>
            </a:pPr>
            <a:r>
              <a:rPr sz="2000" b="0" i="0">
                <a:solidFill>
                  <a:srgbClr val="555960"/>
                </a:solidFill>
              </a:rPr>
              <a:t>the defensible lesson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the one interleaving we observed — that execution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Lease-generation invariant</a:t>
            </a:r>
          </a:p>
          <a:p>
            <a:pPr algn="ctr">
              <a:spcBef>
                <a:spcPts val="1200"/>
              </a:spcBef>
            </a:pPr>
            <a:r>
              <a:rPr sz="2000" b="0" i="0">
                <a:solidFill>
                  <a:srgbClr val="555960"/>
                </a:solidFill>
              </a:rPr>
              <a:t>covers every path that mutates a job — the whole class becomes checkable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must the lesson live to reach the next decision?</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POSTMORTEM</a:t>
            </a:r>
          </a:p>
          <a:p>
            <a:pPr algn="ctr"/>
            <a:r>
              <a:rPr sz="2200" b="1" i="0">
                <a:solidFill>
                  <a:srgbClr val="5C4826"/>
                </a:solidFill>
              </a:rPr>
              <a:t>read once, by the people already in the room</a:t>
            </a:r>
          </a:p>
        </p:txBody>
      </p:sp>
      <p:sp>
        <p:nvSpPr>
          <p:cNvPr id="902" name="Card"/>
          <p:cNvSpPr/>
          <p:nvPr/>
        </p:nvSpPr>
        <p:spPr>
          <a:xfrm>
            <a:off x="338328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MODEL</a:t>
            </a:r>
          </a:p>
          <a:p>
            <a:pPr algn="ctr"/>
            <a:r>
              <a:rPr sz="2200" b="1" i="0">
                <a:solidFill>
                  <a:srgbClr val="5C4826"/>
                </a:solidFill>
              </a:rPr>
              <a:t>present when someone next changes the worker</a:t>
            </a:r>
          </a:p>
        </p:txBody>
      </p:sp>
      <p:sp>
        <p:nvSpPr>
          <p:cNvPr id="903" name="Card"/>
          <p:cNvSpPr/>
          <p:nvPr/>
        </p:nvSpPr>
        <p:spPr>
          <a:xfrm>
            <a:off x="621792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GATE</a:t>
            </a:r>
          </a:p>
          <a:p>
            <a:pPr algn="ctr"/>
            <a:r>
              <a:rPr sz="2200" b="1" i="0">
                <a:solidFill>
                  <a:srgbClr val="5C4826"/>
                </a:solidFill>
              </a:rPr>
              <a:t>refuses a change that violates it</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Durable engineering knowledge must be available when future decisions depend on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will the next engineer — or agent — encounter it?</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next engineer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ENGINEER</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asked to change the worker’s recovery behavior</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LEASE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How would they know it exists?</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worker may modify a job only while holding its current lease generation.</a:t>
            </a:r>
            <a:endParaRPr sz="2800" b="1" i="0" dirty="0">
              <a:solidFill>
                <a:schemeClr val="bg1"/>
              </a:solidFill>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agent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CHANGE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an agent is asked to optimize the queue</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Supplied during the task, or merely hoped for?</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The obligation cannot depend on the recipient remembering an instruction.</a:t>
            </a:r>
            <a:endParaRPr sz="2800" b="1" i="0" dirty="0">
              <a:solidFill>
                <a:schemeClr val="bg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Convert the lesson into engineering structure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State the invariant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Build or revise the model</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failure is not a request for another gate. Diagnose what was missing, then encode it.</a:t>
            </a:r>
            <a:endParaRPr sz="2800" b="1" i="0" dirty="0">
              <a:solidFill>
                <a:schemeClr val="bg1"/>
              </a:solidFill>
            </a:endParaRPr>
          </a:p>
        </p:txBody>
      </p:sp>
      <p:sp>
        <p:nvSpPr>
          <p:cNvPr id="909"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903"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sensor</a:t>
            </a:r>
          </a:p>
        </p:txBody>
      </p:sp>
      <p:sp>
        <p:nvSpPr>
          <p:cNvPr id="903"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validator</a:t>
            </a:r>
          </a:p>
        </p:txBody>
      </p:sp>
      <p:sp>
        <p:nvSpPr>
          <p:cNvPr id="903"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constraint or gate</a:t>
            </a:r>
          </a:p>
        </p:txBody>
      </p:sp>
      <p:sp>
        <p:nvSpPr>
          <p:cNvPr id="913" name="GroupLabel"/>
          <p:cNvSpPr/>
          <p:nvPr/>
        </p:nvSpPr>
        <p:spPr>
          <a:xfrm>
            <a:off x="731520" y="1042415"/>
            <a:ext cx="786384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lang="en-US" sz="2800" b="1" i="0" dirty="0">
                <a:solidFill>
                  <a:schemeClr val="bg1"/>
                </a:solidFill>
              </a:rPr>
              <a:t>WHAT WAS MISSING?        →        ENCODE IT AS</a:t>
            </a:r>
            <a:endParaRPr sz="2800" b="1" i="0" dirty="0">
              <a:solidFill>
                <a:schemeClr val="bg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89788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1" dirty="0">
                <a:solidFill>
                  <a:schemeClr val="bg1"/>
                </a:solidFill>
              </a:rPr>
              <a:t>Recurring failure should leave structure behind.</a:t>
            </a:r>
            <a:endParaRPr sz="2000" b="1" i="1" dirty="0">
              <a:solidFill>
                <a:schemeClr val="bg1"/>
              </a:solidFill>
            </a:endParaRPr>
          </a:p>
        </p:txBody>
      </p:sp>
      <p:sp>
        <p:nvSpPr>
          <p:cNvPr id="901" name="Qualification"/>
          <p:cNvSpPr txBox="1"/>
          <p:nvPr/>
        </p:nvSpPr>
        <p:spPr>
          <a:xfrm>
            <a:off x="411480" y="5193792"/>
            <a:ext cx="8321040" cy="566928"/>
          </a:xfrm>
          <a:prstGeom prst="rect">
            <a:avLst/>
          </a:prstGeom>
          <a:noFill/>
        </p:spPr>
        <p:txBody>
          <a:bodyPr wrap="square" lIns="27432" tIns="22860" rIns="27432" bIns="22860" anchor="t">
            <a:spAutoFit/>
          </a:bodyPr>
          <a:lstStyle/>
          <a:p>
            <a:pPr algn="l"/>
            <a:r>
              <a:rPr sz="2000" b="1" i="0">
                <a:solidFill>
                  <a:srgbClr val="5C4826"/>
                </a:solidFill>
              </a:rPr>
              <a:t>Controls can constrain engineering work. They cannot guarantee compliance when the organization controlling them intends to circumvent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Dieselgate: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548640" y="1298448"/>
            <a:ext cx="8046720" cy="4480560"/>
          </a:xfrm>
          <a:prstGeom prst="rect">
            <a:avLst/>
          </a:prstGeom>
          <a:noFill/>
        </p:spPr>
        <p:txBody>
          <a:bodyPr wrap="square" lIns="27432" tIns="22860" rIns="27432" bIns="22860" anchor="t">
            <a:spAutoFit/>
          </a:bodyPr>
          <a:lstStyle/>
          <a:p>
            <a:pPr algn="l"/>
            <a:r>
              <a:rPr sz="2000" b="1" i="0">
                <a:solidFill>
                  <a:srgbClr val="5C4826"/>
                </a:solidFill>
              </a:rPr>
              <a:t>Volkswagen wanted to sell diesel cars in the United States. Diesel engines offered attractive fuel economy and performance, but U.S. regulations imposed increasingly strict limits on nitrogen oxide (NOx) emissions.</a:t>
            </a:r>
          </a:p>
          <a:p>
            <a:pPr algn="l"/>
            <a:r>
              <a:rPr sz="2000" b="1" i="0">
                <a:solidFill>
                  <a:srgbClr val="5C4826"/>
                </a:solidFill>
              </a:rPr>
              <a:t>In the mid-2000s, Volkswagen engineers struggled to produce engines that simultaneously met emissions limits, performance expectations, and commercial objectives.</a:t>
            </a:r>
          </a:p>
          <a:p>
            <a:pPr algn="l"/>
            <a:r>
              <a:rPr sz="2000" b="1" i="0">
                <a:solidFill>
                  <a:srgbClr val="5C4826"/>
                </a:solidFill>
              </a:rPr>
              <a:t>Volkswagen ultimately sold vehicles containing software that recognized regulatory emissions tests and changed engine behavior during testing. The cars could pass laboratory tests while producing substantially higher emissions during ordinary driving.</a:t>
            </a:r>
          </a:p>
          <a:p>
            <a:pPr algn="l"/>
            <a:r>
              <a:rPr sz="2000" b="1" i="0">
                <a:solidFill>
                  <a:srgbClr val="5C4826"/>
                </a:solidFill>
              </a:rPr>
              <a:t>The deception continued for years, involved multiple organizations, and was eventually exposed through independent testing.</a:t>
            </a:r>
          </a:p>
        </p:txBody>
      </p:sp>
      <p:sp>
        <p:nvSpPr>
          <p:cNvPr id="2" name="GroupLabel">
            <a:extLst>
              <a:ext uri="{FF2B5EF4-FFF2-40B4-BE49-F238E27FC236}">
                <a16:creationId xmlns:a16="http://schemas.microsoft.com/office/drawing/2014/main" id="{A01D4652-4B3B-10DE-B286-362A6003B509}"/>
              </a:ext>
            </a:extLst>
          </p:cNvPr>
          <p:cNvSpPr/>
          <p:nvPr/>
        </p:nvSpPr>
        <p:spPr>
          <a:xfrm>
            <a:off x="548640" y="896112"/>
            <a:ext cx="804672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lang="en-US" sz="2000" b="1" i="1" dirty="0">
                <a:solidFill>
                  <a:schemeClr val="bg1"/>
                </a:solidFill>
              </a:rPr>
              <a:t>READ THIS FIRST</a:t>
            </a:r>
            <a:endParaRPr sz="2000" b="1" i="1" dirty="0">
              <a:solidFill>
                <a:schemeClr val="bg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Instagram: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548640" y="1298448"/>
            <a:ext cx="8046720" cy="4480560"/>
          </a:xfrm>
          <a:prstGeom prst="rect">
            <a:avLst/>
          </a:prstGeom>
          <a:noFill/>
        </p:spPr>
        <p:txBody>
          <a:bodyPr wrap="square" lIns="27432" tIns="22860" rIns="27432" bIns="22860" anchor="t">
            <a:spAutoFit/>
          </a:bodyPr>
          <a:lstStyle/>
          <a:p>
            <a:pPr algn="l"/>
            <a:r>
              <a:rPr sz="2000" b="1" i="0">
                <a:solidFill>
                  <a:srgbClr val="5C4826"/>
                </a:solidFill>
              </a:rPr>
              <a:t>Instagram is a social-media platform whose recommendation and engagement mechanisms influence what users see and how they interact.</a:t>
            </a:r>
          </a:p>
          <a:p>
            <a:pPr algn="l"/>
            <a:r>
              <a:rPr sz="2000" b="1" i="0">
                <a:solidFill>
                  <a:srgbClr val="5C4826"/>
                </a:solidFill>
              </a:rPr>
              <a:t>Internal research examined how Instagram use related to teenage users’ well-being, including body-image concerns. Some participants reported that using Instagram made particular experiences worse.</a:t>
            </a:r>
          </a:p>
          <a:p>
            <a:pPr algn="l"/>
            <a:r>
              <a:rPr sz="2000" b="1" i="0">
                <a:solidFill>
                  <a:srgbClr val="5C4826"/>
                </a:solidFill>
              </a:rPr>
              <a:t>These findings raised questions about whether the platform’s design and product objectives adequately accounted for harmful outcomes, and how evidence about those outcomes should inform engineering and management decisions.</a:t>
            </a:r>
          </a:p>
          <a:p>
            <a:pPr algn="l"/>
            <a:r>
              <a:rPr sz="2000" b="1" i="0">
                <a:solidFill>
                  <a:srgbClr val="5C4826"/>
                </a:solidFill>
              </a:rPr>
              <a:t>The research did not establish that Instagram caused all the reported harms. The engineering question is how an organization should interpret consequential evidence about a system that may be operating as designed.</a:t>
            </a:r>
          </a:p>
        </p:txBody>
      </p:sp>
      <p:sp>
        <p:nvSpPr>
          <p:cNvPr id="2" name="GroupLabel">
            <a:extLst>
              <a:ext uri="{FF2B5EF4-FFF2-40B4-BE49-F238E27FC236}">
                <a16:creationId xmlns:a16="http://schemas.microsoft.com/office/drawing/2014/main" id="{A01D4652-4B3B-10DE-B286-362A6003B509}"/>
              </a:ext>
            </a:extLst>
          </p:cNvPr>
          <p:cNvSpPr/>
          <p:nvPr/>
        </p:nvSpPr>
        <p:spPr>
          <a:xfrm>
            <a:off x="548640" y="896112"/>
            <a:ext cx="804672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lang="en-US" sz="2000" b="1" i="1" dirty="0">
                <a:solidFill>
                  <a:schemeClr val="bg1"/>
                </a:solidFill>
              </a:rPr>
              <a:t>READ THIS FIRST</a:t>
            </a:r>
            <a:endParaRPr sz="2000" b="1" i="1" dirty="0">
              <a:solidFill>
                <a:schemeClr val="bg1"/>
              </a:solidFill>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Diagnosis reopens the design space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that particular timeout failure</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reintroduction of that execution pattern</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Fix the observed timeout handling</a:t>
            </a: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Regression-test the interleaving</a:t>
            </a: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 a current lease generation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Make all job processing idempotent</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Which intervention excludes the consequential failure class at an acceptable cost?</a:t>
            </a:r>
            <a:endParaRPr sz="2800" b="1" i="0" dirty="0">
              <a:solidFill>
                <a:schemeClr val="bg1"/>
              </a:solidFill>
            </a:endParaRPr>
          </a:p>
        </p:txBody>
      </p:sp>
      <p:sp>
        <p:nvSpPr>
          <p:cNvPr id="903"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stale-owner mutations across timing and recovery paths</a:t>
            </a:r>
          </a:p>
        </p:txBody>
      </p:sp>
      <p:sp>
        <p:nvSpPr>
          <p:cNvPr id="903"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some duplicate effects, including unrelated ones</a:t>
            </a:r>
          </a:p>
        </p:txBody>
      </p:sp>
      <p:sp>
        <p:nvSpPr>
          <p:cNvPr id="913" name="GroupLabel"/>
          <p:cNvSpPr/>
          <p:nvPr/>
        </p:nvSpPr>
        <p:spPr>
          <a:xfrm>
            <a:off x="731520" y="1042415"/>
            <a:ext cx="786384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lang="en-US" sz="2800" b="1" i="0" dirty="0">
                <a:solidFill>
                  <a:schemeClr val="bg1"/>
                </a:solidFill>
              </a:rPr>
              <a:t>CANDIDATE INTERVENTION        →        CLASS OF FAILURES IT EXCLUDES</a:t>
            </a:r>
            <a:endParaRPr sz="2800" b="1" i="0" dirty="0">
              <a:solidFill>
                <a:schemeClr val="bg1"/>
              </a:solidFill>
            </a:endParaRP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8583</TotalTime>
  <Words>5177</Words>
  <Application>Microsoft Macintosh PowerPoint</Application>
  <PresentationFormat>On-screen Show (4:3)</PresentationFormat>
  <Paragraphs>519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Times</vt:lpstr>
      <vt:lpstr>Purdue1</vt:lpstr>
      <vt:lpstr>PowerPoint Presentation</vt:lpstr>
      <vt:lpstr>Dieselgate</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2007: The decision is reconsidered</vt:lpstr>
      <vt:lpstr>2009–2016: The engineering system keeps producing the result</vt:lpstr>
      <vt:lpstr>2012: Reality provides another observation</vt:lpstr>
      <vt:lpstr>2014–15: Someone outside the system measures reality</vt:lpstr>
      <vt:lpstr>What theory explains it?</vt:lpstr>
      <vt:lpstr>What caused the Volkswagen failure?</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measures an uncomfortable outcome</vt:lpstr>
      <vt:lpstr>What failed?</vt:lpstr>
      <vt:lpstr>One outcome can implicate several decisions</vt:lpstr>
      <vt:lpstr>But Facebook was already measuring the outcome</vt:lpstr>
      <vt:lpstr>Run Validation backward</vt:lpstr>
      <vt:lpstr>Remember, a bad outcome != bad validation or engineering</vt:lpstr>
      <vt:lpstr>Convert failure into engineering knowledge</vt:lpstr>
      <vt:lpstr>Observation is not yet engineering knowledge</vt:lpstr>
      <vt:lpstr>What does the evidence actually support?</vt:lpstr>
      <vt:lpstr>Preserve the example or preserve the lesson?</vt:lpstr>
      <vt:lpstr>Causal account vs reflective account</vt:lpstr>
      <vt:lpstr>Where should the lesson live?</vt:lpstr>
      <vt:lpstr>Knowledge Management: Make the organization harder to surprise the same way twice</vt:lpstr>
      <vt:lpstr>Remembering is the weakest response</vt:lpstr>
      <vt:lpstr>Agents: Must move recurring judgment into the environment</vt:lpstr>
      <vt:lpstr>Volkswagen, one last time</vt:lpstr>
      <vt:lpstr>Active, then passive alignment</vt:lpstr>
      <vt:lpstr>Learning can change three things</vt:lpstr>
      <vt:lpstr>Schön: the reflective practitioner</vt:lpstr>
      <vt:lpstr>Failure is an expensive observation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462</cp:revision>
  <dcterms:created xsi:type="dcterms:W3CDTF">2020-02-21T23:00:33Z</dcterms:created>
  <dcterms:modified xsi:type="dcterms:W3CDTF">2026-10-08T20:04:22Z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