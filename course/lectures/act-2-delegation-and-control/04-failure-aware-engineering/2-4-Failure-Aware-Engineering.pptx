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6"/>
  </p:notesMasterIdLst>
  <p:sldIdLst>
    <p:sldId id="256" r:id="rId2"/>
    <p:sldId id="296" r:id="rId3"/>
    <p:sldId id="299" r:id="rId4"/>
    <p:sldId id="257" r:id="rId5"/>
    <p:sldId id="258" r:id="rId6"/>
    <p:sldId id="294" r:id="rId7"/>
    <p:sldId id="259" r:id="rId8"/>
    <p:sldId id="260" r:id="rId9"/>
    <p:sldId id="263" r:id="rId10"/>
    <p:sldId id="264" r:id="rId11"/>
    <p:sldId id="265" r:id="rId12"/>
    <p:sldId id="266" r:id="rId13"/>
    <p:sldId id="268" r:id="rId14"/>
    <p:sldId id="269" r:id="rId15"/>
    <p:sldId id="270" r:id="rId16"/>
    <p:sldId id="271" r:id="rId17"/>
    <p:sldId id="272" r:id="rId18"/>
    <p:sldId id="273" r:id="rId19"/>
    <p:sldId id="274" r:id="rId20"/>
    <p:sldId id="300" r:id="rId21"/>
    <p:sldId id="295" r:id="rId22"/>
    <p:sldId id="276" r:id="rId23"/>
    <p:sldId id="275" r:id="rId24"/>
    <p:sldId id="280" r:id="rId25"/>
    <p:sldId id="282" r:id="rId26"/>
    <p:sldId id="284" r:id="rId27"/>
    <p:sldId id="283" r:id="rId28"/>
    <p:sldId id="301" r:id="rId29"/>
    <p:sldId id="285" r:id="rId30"/>
    <p:sldId id="286" r:id="rId31"/>
    <p:sldId id="297" r:id="rId32"/>
    <p:sldId id="298" r:id="rId33"/>
    <p:sldId id="288" r:id="rId34"/>
    <p:sldId id="289"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66" autoAdjust="0"/>
    <p:restoredTop sz="75479"/>
  </p:normalViewPr>
  <p:slideViewPr>
    <p:cSldViewPr snapToGrid="0" snapToObjects="1">
      <p:cViewPr varScale="1">
        <p:scale>
          <a:sx n="94" d="100"/>
          <a:sy n="94" d="100"/>
        </p:scale>
        <p:origin x="1376" y="19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10/15/26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959-A2AE-FCFC-66C8-633E54A11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40A1C-13B6-B0BE-2733-74163DFF37C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35908C-2C09-9A17-D522-DAA76496CA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B68B070-76AA-7FD2-0902-98FDB1B8609F}"/>
              </a:ext>
            </a:extLst>
          </p:cNvPr>
          <p:cNvSpPr>
            <a:spLocks noGrp="1"/>
          </p:cNvSpPr>
          <p:nvPr>
            <p:ph type="sldNum" sz="quarter" idx="5"/>
          </p:nvPr>
        </p:nvSpPr>
        <p:spPr/>
      </p:sp>
    </p:spTree>
    <p:extLst>
      <p:ext uri="{BB962C8B-B14F-4D97-AF65-F5344CB8AC3E}">
        <p14:creationId xmlns:p14="http://schemas.microsoft.com/office/powerpoint/2010/main" val="4153968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seconds. Let them READ it — do not narrate it.</a:t>
            </a:r>
          </a:p>
          <a:p>
            <a:r>
              <a:t>- Purpose: students meet the regulatory change on the next slide without knowing what story they are entering. This establishes the situation and the observed outcome.</a:t>
            </a:r>
          </a:p>
          <a:p>
            <a:r>
              <a:t>- It deliberately does NOT explain WHY it happened. That is the whole point of the next eight slides and of the four theories after them.</a:t>
            </a:r>
          </a:p>
          <a:p>
            <a:r>
              <a:t>- If asked 'who is to blame' here, defer it. The lecture's argument is that the answer depends on which causal theory you adopt.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2-3 minutes</a:t>
            </a:r>
          </a:p>
          <a:p>
            <a:r>
              <a:rPr dirty="0"/>
              <a:t>- Bosch supplied the engine-control units and engine-management technology used in VW vehicles; such software legitimately controls fuel injection, engine </a:t>
            </a:r>
            <a:r>
              <a:rPr dirty="0" err="1"/>
              <a:t>behaviour</a:t>
            </a:r>
            <a:r>
              <a:rPr dirty="0"/>
              <a:t> and emissions systems. The Bosch settlement confirms its role as supplier of the emissions software in the affected VW vehicles.</a:t>
            </a:r>
          </a:p>
          <a:p>
            <a:r>
              <a:rPr dirty="0"/>
              <a:t>- VW's implementation used recognition of emissions-test conditions to select different operating </a:t>
            </a:r>
            <a:r>
              <a:rPr dirty="0" err="1"/>
              <a:t>behaviour</a:t>
            </a:r>
            <a:r>
              <a:rPr dirty="0"/>
              <a:t>. The supplier/integrator boundary is the structure to point at: responsibilities do not disappear when software crosses an organizational boundary.</a:t>
            </a:r>
          </a:p>
          <a:p>
            <a:r>
              <a:rPr dirty="0"/>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rPr dirty="0"/>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rPr dirty="0"/>
              <a:t>- Do not spend five minutes on the supplier relationship. The capability/use distinction is what the next slide exploits.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Chronology to narrate - the warning was raised TWICE, in two organizations:</a:t>
            </a:r>
          </a:p>
          <a:p>
            <a:r>
              <a:t>    2006          VW engineers raise concerns; management decides to continue.</a:t>
            </a:r>
          </a:p>
          <a:p>
            <a:r>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t>    Subsequently  Bosch remains implicated in supplying technical support; the companies later face substantial civil settlements.</a:t>
            </a:r>
          </a:p>
          <a:p>
            <a:r>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t>- Not an ethics seminar - the engineering question is what happened AFTER the human control fired. The scale question seeds the causal-model section; "one unethical programmer" becomes an increasingly implausible causal model. Do not let it dominate.</a:t>
            </a:r>
          </a:p>
          <a:p>
            <a:endParaRPr/>
          </a:p>
          <a:p>
            <a:r>
              <a:t>OCTOBER 2007 MEETING (folded in from its own slide): DOJ: the supervisor authorized the project despite knowing that only the defeat device would allow the vehicles to pass the U.S. tests.</a:t>
            </a:r>
          </a:p>
          <a:p>
            <a:r>
              <a:t>- The line to land: A decision can be reconsidered and still reproduce the failure.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Transition: the lecture now asks what theory explains what we just saw.</a:t>
            </a:r>
          </a:p>
          <a:p>
            <a:r>
              <a:t>- Four causal models follow; each will be tested against the story.</a:t>
            </a:r>
          </a:p>
          <a:p>
            <a:endParaRPr/>
          </a:p>
          <a:p>
            <a:r>
              <a:t>COLLECT LIVE HERE (folded in from its own slide): ask the room what caused the Volkswagen failure and capture answers on the board before advancing. The four theories that follow are the frames their answers will fall into.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 systems-theoretic account: constraints flow down, feedback flows up, from regulators through the organization and engineering to the operating process.</a:t>
            </a:r>
          </a:p>
          <a:p>
            <a:r>
              <a:t>- The control structure crosses company boundaries: Bosch supplies the engine-control capability into the engineering process, and Volkswagen delegated engineering work to IAV. A STAMP model drawn inside one organization's walls misses the control relationships that crossed them - and in this case, that is where much of the action was.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seconds. Let them READ it.</a:t>
            </a:r>
          </a:p>
          <a:p>
            <a:r>
              <a:t>- Dieselgate is a deception case. This one is NOT, and students will try to make it one. The system may have been operating exactly as designed.</a:t>
            </a:r>
          </a:p>
          <a:p>
            <a:r>
              <a:t>- Be careful with the causal claim: the research was correlational and did not establish that the product caused the reported harms. Overstating it turns an engineering question into a morality verdict and loses the lesson.</a:t>
            </a:r>
          </a:p>
          <a:p>
            <a:r>
              <a:t>- The engineering question is the last sentence: how should an organization interpret consequential evidence about a system working as designed?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a:p>
            <a:endParaRPr/>
          </a:p>
          <a:p>
            <a:r>
              <a:t>WHAT THE RESEARCH ACTUALLY REPORTED (students will not know the controversy): Instagram's own internal research, later reported publicly, examined relationships between Instagram use and teen well-being. Among teenagers who reported body-image concerns, a substantial share associated those feelings with Instagram use; smaller but non-trivial shares linked the product to more serious harms. The findings were correlational and did not establish that the product caused the harm. What makes it an ENGINEERING case is the combination: the company had measured a consequential outcome, the system was behaving as designed, and the question was whether the objectives the system optimized were the right ones. Be careful not to overstate the causal claim — the exercise is about which failure model you would apply and what evidence you would still need.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a:p>
            <a:endParaRPr/>
          </a:p>
          <a:p>
            <a:r>
              <a:t>RESIDUAL UNCERTAINTY (carry verbally): Every validation accepts residual uncertainty. An adverse outcome may occur within that uncertainty without making the earlier judgment unreasonable.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THE WORKED EXAMPLE STARTS HERE and runs to the close.</a:t>
            </a:r>
          </a:p>
          <a:p>
            <a:r>
              <a:t>- The incident: a lease timeout let two background workers both believe they owned the same job, so the job was processed twice.</a:t>
            </a:r>
          </a:p>
          <a:p>
            <a:r>
              <a:t>- Row 1 restates the observation — true, and it generalizes to nothing.</a:t>
            </a:r>
          </a:p>
          <a:p>
            <a:r>
              <a:t>- Row 2 is the engineering judgment. Note precisely what it does NOT say: an expired lease does not by itself cause duplicate processing. The mechanism is a STALE WORKER acting after another worker has acquired ownership. That is the thing an obligation can prevent, and it is exactly what the lease-generation invariant on the next slides enforces.</a:t>
            </a:r>
          </a:p>
          <a:p>
            <a:r>
              <a:t>- Row 3 is a sweeping claim the evidence cannot carry. Students reach for it because it sounds responsible — name that when it happens.</a:t>
            </a:r>
          </a:p>
          <a:p>
            <a:r>
              <a:t>- The skill is asking which causal MECHANISM can recur, not whether a sentence sounds appropriately cautious.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a:p>
            <a:endParaRPr/>
          </a:p>
          <a:p>
            <a:r>
              <a:t>A postmortem carries BOTH accounts: the causal account (what sequence of events and conditions produced the failure) and the reflective account (what we believed, and how we came to believe it). Step 3 is the reflective half.</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3-4 minutes. THE CENTRAL ENGINEERING JUDGMENT of the section.</a:t>
            </a:r>
          </a:p>
          <a:p>
            <a:r>
              <a:t>- The move students miss: a causal account explains how a failure occurred. It does NOT determine which future failures should be prevented, or how.</a:t>
            </a:r>
          </a:p>
          <a:p>
            <a:r>
              <a:t>- Two different modes of reasoning. DIAGNOSIS works BACKWARD from an observed consequence to the conditions that produced it. CORRECTIVE DESIGN works FORWARD from candidate interventions to the consequences they would produce. The second is not determined by the first — that mental transition is the hard part, and it is ordinary engineering again, with new evidence.</a:t>
            </a:r>
          </a:p>
          <a:p>
            <a:r>
              <a:t>- Walk the four rows. Row 1 may be too narrow: the same mechanism stays available elsewhere. Row 4 may be broader than necessary and constrains unrelated work. Row 3 targets the mechanism the evidence actually supports.</a:t>
            </a:r>
          </a:p>
          <a:p>
            <a:r>
              <a:t>- Other alternatives worth raising if the room is engaged: terminate stale workers, serialize ownership transitions, or combine mechanisms. Each excludes a different class, carries different cost, and may introduce new failure modes.</a:t>
            </a:r>
          </a:p>
          <a:p>
            <a:r>
              <a:t>- This is the same judgment they met in SPECIFICATION: which distinctions among possible behaviors must be constrained, and which may remain free? Failure analysis does not end at a cause; it reopens specification and design.</a:t>
            </a:r>
          </a:p>
          <a:p>
            <a:r>
              <a:t>- CAREFUL with 'always prevent the class'. Some failures reveal acceptable residual uncertainty, and prevention can cost more than the consequences justify. The general principle: use failure evidence to reconsider what future behavior should be PERMITTED, PREVENTED, DETECTED, or TOLERATED. The engineer chooses not only how broadly to intervene, but what KIND of intervention is warranted.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 THE CENTERPIECE.</a:t>
            </a:r>
          </a:p>
          <a:p>
            <a:r>
              <a:t>- Setup: a team diagnosed two workers both believing they owned the same job, and established an invariant: a worker may modify a job only while holding its current lease generation.</a:t>
            </a:r>
          </a:p>
          <a:p>
            <a:r>
              <a:t>- The original engineers understand it. They may even have documented it. Six months later a new engineer is asked to change recovery behavior.</a:t>
            </a:r>
          </a:p>
          <a:p>
            <a:r>
              <a:t>- ASK THE ROOM: how does that engineer learn the invariant exists?</a:t>
            </a:r>
          </a:p>
          <a:p>
            <a:r>
              <a:t>- Deriving the lesson and DELIVERING it are different engineering problems. Preserving a lesson is not the same as ensuring future work uses it: a requirement can exist without being consulted, a model can be accurate but undiscoverable, a validator can exist without being executed, a gate can run without checking the relevant property.</a:t>
            </a:r>
          </a:p>
          <a:p>
            <a:r>
              <a:t>- The four things the environment must supply are the four roles from Alignment: the authoritative invariant (model), its applicability to THIS work, a way to evaluate the proposed change (validator), and a mechanism that refuses admission when it is violated (gate).</a:t>
            </a:r>
          </a:p>
          <a:p>
            <a:endParaRPr/>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engineering obligation, different recipient. The agent receives the relevant model and constraint as part of its task context; a check evaluates the resulting change; a gate can refuse admission.</a:t>
            </a:r>
          </a:p>
          <a:p>
            <a:r>
              <a:t>- The distinction between the human and the agent is useful rather than rhetorical. A new engineer may acquire the knowledge through mentorship, review, documentation and experience. An agent requires the relevant context to be supplied or retrieved DURING its work.</a:t>
            </a:r>
          </a:p>
          <a:p>
            <a:r>
              <a:t>- Both benefit from controls that do not depend entirely on the recipient's memory or judgment. That is the tie back to Delegation (what context must the recipient receive?) and Alignment (what mechanism preserves the obligation?).</a:t>
            </a:r>
          </a:p>
          <a:p>
            <a:endParaRPr/>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Five diagnostic axes, each with its own intervention: was the OBLIGATION missing (nobody committed to the property)? was its REPRESENTATION inadequate (stated only in prose)? was EVIDENCE unavailable (nothing measured it)? was EVALUATION inadequate (measured, but never checked)? was ENFORCEMENT missing (checked, but nothing refused the change)?</a:t>
            </a:r>
          </a:p>
          <a:p>
            <a:r>
              <a:t>- The figure's own caution: a failure is NOT a request for another gate. Diagnose what was missing first — adding a gate when the real gap was representation leaves the class open.</a:t>
            </a:r>
          </a:p>
          <a:p>
            <a:r>
              <a:t>- Run the worker incident through it: the invariant existed in a postmortem (obligation yes, representation weak), nothing evaluated it, nothing enforced it.</a:t>
            </a:r>
          </a:p>
          <a:p>
            <a:endParaRPr/>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CLOSE.</a:t>
            </a:r>
          </a:p>
          <a:p>
            <a:r>
              <a:t>- Return to 2006: suppose the compliance obligation had lived in the engineering environment — a model, independent validation, a release gate — rather than in what engineers were expected to remember.</a:t>
            </a:r>
          </a:p>
          <a:p>
            <a:r>
              <a:t>- Then the qualification, and do not soften it: governance conversion is not the same as adding gates. An organization that controls its own controls can circumvent them. Authority, incentives and organizational control still matter, which is why the failure model had to reach the locus of control.</a:t>
            </a:r>
          </a:p>
          <a:p>
            <a:r>
              <a:t>- Close on the line. The lecture's practical question was how an engineering organization learns from failure so that the next engineer — or agent — does not repeat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3588E-3E0E-969D-04E5-5B3BF86F0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72012-C195-25C2-4CCC-34FCBA9660F8}"/>
              </a:ext>
            </a:extLst>
          </p:cNvPr>
          <p:cNvSpPr>
            <a:spLocks noGrp="1"/>
          </p:cNvSpPr>
          <p:nvPr>
            <p:ph type="title"/>
          </p:nvPr>
        </p:nvSpPr>
        <p:spPr>
          <a:xfrm>
            <a:off x="685800" y="1700784"/>
            <a:ext cx="7772400" cy="1005840"/>
          </a:xfrm>
        </p:spPr>
        <p:txBody>
          <a:bodyPr/>
          <a:lstStyle/>
          <a:p>
            <a:pPr algn="ctr"/>
            <a:r>
              <a:rPr lang="en-US" sz="4000" b="0" i="0" dirty="0" err="1">
                <a:solidFill>
                  <a:srgbClr val="000000"/>
                </a:solidFill>
              </a:rPr>
              <a:t>Dieselgate</a:t>
            </a:r>
            <a:endParaRPr sz="4000" b="0" i="0" dirty="0">
              <a:solidFill>
                <a:srgbClr val="000000"/>
              </a:solidFill>
            </a:endParaRPr>
          </a:p>
        </p:txBody>
      </p:sp>
      <p:sp>
        <p:nvSpPr>
          <p:cNvPr id="900" name="Slide Number Placeholder 900">
            <a:extLst>
              <a:ext uri="{FF2B5EF4-FFF2-40B4-BE49-F238E27FC236}">
                <a16:creationId xmlns:a16="http://schemas.microsoft.com/office/drawing/2014/main" id="{273C49DF-71AE-BD47-6722-6F26FE016A6C}"/>
              </a:ext>
            </a:extLst>
          </p:cNvPr>
          <p:cNvSpPr>
            <a:spLocks noGrp="1"/>
          </p:cNvSpPr>
          <p:nvPr>
            <p:ph type="sldNum" sz="quarter" idx="4"/>
          </p:nvPr>
        </p:nvSpPr>
        <p:spPr/>
        <p:txBody>
          <a:bodyPr/>
          <a:lstStyle/>
          <a:p>
            <a:fld id="{3B223778-6764-4D81-904E-8786918EE0A1}" type="slidenum">
              <a:rPr lang="en-US" smtClean="0"/>
              <a:t>2</a:t>
            </a:fld>
            <a:endParaRPr lang="en-US"/>
          </a:p>
        </p:txBody>
      </p:sp>
      <p:sp>
        <p:nvSpPr>
          <p:cNvPr id="901" name="SectionLabel">
            <a:extLst>
              <a:ext uri="{FF2B5EF4-FFF2-40B4-BE49-F238E27FC236}">
                <a16:creationId xmlns:a16="http://schemas.microsoft.com/office/drawing/2014/main" id="{E19D95C0-40DF-FE3F-B828-7A1A12931B54}"/>
              </a:ext>
            </a:extLst>
          </p:cNvPr>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a:solidFill>
                  <a:srgbClr val="8E6F3E"/>
                </a:solidFill>
              </a:rPr>
              <a:t>SECTION 1</a:t>
            </a:r>
          </a:p>
        </p:txBody>
      </p:sp>
      <p:sp>
        <p:nvSpPr>
          <p:cNvPr id="902" name="Question">
            <a:extLst>
              <a:ext uri="{FF2B5EF4-FFF2-40B4-BE49-F238E27FC236}">
                <a16:creationId xmlns:a16="http://schemas.microsoft.com/office/drawing/2014/main" id="{7A7FC3EB-FAB1-9607-A9C0-FCF752D7CFF0}"/>
              </a:ext>
            </a:extLst>
          </p:cNvPr>
          <p:cNvSpPr txBox="1"/>
          <p:nvPr/>
        </p:nvSpPr>
        <p:spPr>
          <a:xfrm>
            <a:off x="685800" y="2846347"/>
            <a:ext cx="7772400" cy="415498"/>
          </a:xfrm>
          <a:prstGeom prst="rect">
            <a:avLst/>
          </a:prstGeom>
          <a:noFill/>
        </p:spPr>
        <p:txBody>
          <a:bodyPr wrap="square" lIns="27432" tIns="22860" rIns="27432" bIns="22860" anchor="ctr">
            <a:spAutoFit/>
          </a:bodyPr>
          <a:lstStyle/>
          <a:p>
            <a:pPr algn="ctr"/>
            <a:r>
              <a:rPr lang="en-US" sz="2400" b="0" i="0" dirty="0">
                <a:solidFill>
                  <a:srgbClr val="5C4826"/>
                </a:solidFill>
              </a:rPr>
              <a:t>A walk through an engineering failure</a:t>
            </a:r>
            <a:endParaRPr sz="2400" b="0" i="0" dirty="0">
              <a:solidFill>
                <a:srgbClr val="5C4826"/>
              </a:solidFill>
            </a:endParaRPr>
          </a:p>
        </p:txBody>
      </p:sp>
      <p:sp>
        <p:nvSpPr>
          <p:cNvPr id="903" name="Rule">
            <a:extLst>
              <a:ext uri="{FF2B5EF4-FFF2-40B4-BE49-F238E27FC236}">
                <a16:creationId xmlns:a16="http://schemas.microsoft.com/office/drawing/2014/main" id="{EE6090EC-6EB3-2C9A-65E0-2078C8FFA8F1}"/>
              </a:ext>
            </a:extLst>
          </p:cNvPr>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extLst>
      <p:ext uri="{BB962C8B-B14F-4D97-AF65-F5344CB8AC3E}">
        <p14:creationId xmlns:p14="http://schemas.microsoft.com/office/powerpoint/2010/main" val="2460166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Dieselgate: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3</a:t>
            </a:fld>
            <a:endParaRPr lang="en-US"/>
          </a:p>
        </p:txBody>
      </p:sp>
      <p:sp>
        <p:nvSpPr>
          <p:cNvPr id="901" name="Lead"/>
          <p:cNvSpPr txBox="1"/>
          <p:nvPr/>
        </p:nvSpPr>
        <p:spPr>
          <a:xfrm>
            <a:off x="138574" y="784096"/>
            <a:ext cx="8866852" cy="5955476"/>
          </a:xfrm>
          <a:prstGeom prst="rect">
            <a:avLst/>
          </a:prstGeom>
          <a:noFill/>
        </p:spPr>
        <p:txBody>
          <a:bodyPr wrap="square" lIns="27432" tIns="22860" rIns="27432" bIns="22860" anchor="t">
            <a:spAutoFit/>
          </a:bodyPr>
          <a:lstStyle/>
          <a:p>
            <a:pPr algn="l"/>
            <a:r>
              <a:rPr sz="2400" b="1" i="0" dirty="0">
                <a:solidFill>
                  <a:srgbClr val="5C4826"/>
                </a:solidFill>
              </a:rPr>
              <a:t>Volkswagen wanted to sell diesel cars in the United States. Diesel engines offered attractive fuel economy and performance, but U.S. regulations imposed increasingly strict limits on nitrogen oxide (NOx) emissions.</a:t>
            </a:r>
            <a:endParaRPr lang="en-US" sz="2400" b="1" i="0" dirty="0">
              <a:solidFill>
                <a:srgbClr val="5C4826"/>
              </a:solidFill>
            </a:endParaRPr>
          </a:p>
          <a:p>
            <a:pPr algn="l"/>
            <a:endParaRPr sz="2400" b="1" i="0" dirty="0">
              <a:solidFill>
                <a:srgbClr val="5C4826"/>
              </a:solidFill>
            </a:endParaRPr>
          </a:p>
          <a:p>
            <a:pPr algn="l"/>
            <a:r>
              <a:rPr sz="2400" b="1" i="0" dirty="0">
                <a:solidFill>
                  <a:srgbClr val="5C4826"/>
                </a:solidFill>
              </a:rPr>
              <a:t>In the mid-2000s, Volkswagen engineers struggled to produce engines that simultaneously met emissions limits, performance expectations, and commercial objectives.</a:t>
            </a:r>
            <a:endParaRPr lang="en-US" sz="2400" b="1" i="0" dirty="0">
              <a:solidFill>
                <a:srgbClr val="5C4826"/>
              </a:solidFill>
            </a:endParaRPr>
          </a:p>
          <a:p>
            <a:pPr algn="l"/>
            <a:endParaRPr sz="2400" b="1" i="0" dirty="0">
              <a:solidFill>
                <a:srgbClr val="5C4826"/>
              </a:solidFill>
            </a:endParaRPr>
          </a:p>
          <a:p>
            <a:pPr algn="l"/>
            <a:r>
              <a:rPr sz="2400" b="1" i="0" dirty="0">
                <a:solidFill>
                  <a:srgbClr val="5C4826"/>
                </a:solidFill>
              </a:rPr>
              <a:t>Volkswagen ultimately sold vehicles containing software that recognized regulatory emissions tests and changed engine behavior during testing. The cars could pass laboratory tests while producing substantially higher emissions during ordinary driving.</a:t>
            </a:r>
            <a:endParaRPr lang="en-US" sz="2400" b="1" dirty="0">
              <a:solidFill>
                <a:srgbClr val="5C4826"/>
              </a:solidFill>
            </a:endParaRPr>
          </a:p>
          <a:p>
            <a:pPr algn="l"/>
            <a:endParaRPr sz="2400" b="1" i="0" dirty="0">
              <a:solidFill>
                <a:srgbClr val="5C4826"/>
              </a:solidFill>
            </a:endParaRPr>
          </a:p>
          <a:p>
            <a:pPr algn="l"/>
            <a:r>
              <a:rPr sz="2400" b="1" i="0" dirty="0">
                <a:solidFill>
                  <a:srgbClr val="5C4826"/>
                </a:solidFill>
              </a:rPr>
              <a:t>The deception continued for years, involved multiple organizations, and was eventually exposed through independent testing.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4</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lIns="27432" tIns="22860" rIns="27432" bIns="22860" anchor="t">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5</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customer demand</a:t>
            </a:r>
          </a:p>
        </p:txBody>
      </p:sp>
      <p:sp>
        <p:nvSpPr>
          <p:cNvPr id="908" name="DojAccount"/>
          <p:cNvSpPr txBox="1"/>
          <p:nvPr/>
        </p:nvSpPr>
        <p:spPr>
          <a:xfrm>
            <a:off x="822960" y="4334024"/>
            <a:ext cx="8046720" cy="969496"/>
          </a:xfrm>
          <a:prstGeom prst="rect">
            <a:avLst/>
          </a:prstGeom>
          <a:noFill/>
        </p:spPr>
        <p:txBody>
          <a:bodyPr wrap="square" lIns="27432" tIns="22860" rIns="27432" bIns="22860" anchor="ctr">
            <a:spAutoFit/>
          </a:bodyPr>
          <a:lstStyle/>
          <a:p>
            <a:pPr algn="l"/>
            <a:r>
              <a:rPr sz="2000" b="1" i="0" dirty="0">
                <a:solidFill>
                  <a:srgbClr val="5C4826"/>
                </a:solidFill>
              </a:rPr>
              <a:t>DOJ: </a:t>
            </a:r>
            <a:r>
              <a:rPr lang="en-US" sz="2000" b="0" i="0" dirty="0">
                <a:solidFill>
                  <a:srgbClr val="555960"/>
                </a:solidFill>
              </a:rPr>
              <a:t>VW e</a:t>
            </a:r>
            <a:r>
              <a:rPr sz="2000" b="0" i="0" dirty="0">
                <a:solidFill>
                  <a:srgbClr val="555960"/>
                </a:solidFill>
              </a:rPr>
              <a:t>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lIns="27432" tIns="22860" rIns="27432" bIns="22860" anchor="t">
            <a:spAutoFit/>
          </a:bodyPr>
          <a:lstStyle/>
          <a:p>
            <a:pPr algn="ctr"/>
            <a:r>
              <a:rPr sz="2000" b="1" i="0">
                <a:solidFill>
                  <a:srgbClr val="9A3F12"/>
                </a:solidFill>
              </a:rPr>
              <a:t>No point satisfied all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6</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a:p>
            <a:pPr algn="ctr"/>
            <a:r>
              <a:rPr sz="2000" b="1" i="0">
                <a:solidFill>
                  <a:srgbClr val="FFFFFF"/>
                </a:solidFill>
              </a:rPr>
              <a:t>Engine-control software</a:t>
            </a:r>
          </a:p>
        </p:txBody>
      </p:sp>
      <p:sp>
        <p:nvSpPr>
          <p:cNvPr id="2"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4"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lIns="27432" tIns="22860" rIns="27432" bIns="22860" anchor="t">
            <a:spAutoFit/>
          </a:bodyPr>
          <a:lstStyle/>
          <a:p>
            <a:pPr algn="ctr"/>
            <a:r>
              <a:rPr sz="2200" b="0" i="0">
                <a:solidFill>
                  <a:srgbClr val="5C4826"/>
                </a:solidFill>
              </a:rPr>
              <a:t>The mechanism does not determine how it should be used.</a:t>
            </a:r>
          </a:p>
        </p:txBody>
      </p:sp>
      <p:sp>
        <p:nvSpPr>
          <p:cNvPr id="5" name="Label"/>
          <p:cNvSpPr txBox="1"/>
          <p:nvPr/>
        </p:nvSpPr>
        <p:spPr>
          <a:xfrm>
            <a:off x="411480" y="868680"/>
            <a:ext cx="2103117" cy="1277273"/>
          </a:xfrm>
          <a:prstGeom prst="rect">
            <a:avLst/>
          </a:prstGeom>
          <a:noFill/>
        </p:spPr>
        <p:txBody>
          <a:bodyPr wrap="square" lIns="27432" tIns="22860" rIns="27432" bIns="22860" anchor="t">
            <a:spAutoFit/>
          </a:bodyPr>
          <a:lstStyle/>
          <a:p>
            <a:pPr algn="l"/>
            <a:r>
              <a:rPr sz="2000" b="0" i="1" dirty="0">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Who is responsible for how a supplied capability is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7</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lIns="27432" tIns="22860" rIns="27432" bIns="22860" anchor="t">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lIns="27432" tIns="22860" rIns="27432" bIns="22860" anchor="t">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lIns="27432" tIns="22860" rIns="27432" bIns="22860" anchor="t">
            <a:spAutoFit/>
          </a:bodyPr>
          <a:lstStyle/>
          <a:p>
            <a:pPr algn="l"/>
            <a:r>
              <a:rPr sz="2000" b="1" i="0" dirty="0">
                <a:solidFill>
                  <a:srgbClr val="5C4826"/>
                </a:solidFill>
              </a:rPr>
              <a:t>EPA: </a:t>
            </a:r>
            <a:r>
              <a:rPr sz="2000" b="0" i="0" dirty="0">
                <a:solidFill>
                  <a:srgbClr val="555960"/>
                </a:solidFill>
              </a:rPr>
              <a:t>affected vehicles contained software designed to evade federal emissions tests. </a:t>
            </a:r>
            <a:r>
              <a:rPr sz="2000" b="1" i="0" dirty="0">
                <a:solidFill>
                  <a:srgbClr val="5C4826"/>
                </a:solidFill>
              </a:rPr>
              <a:t>DOJ </a:t>
            </a:r>
            <a:r>
              <a:rPr sz="2000" b="0" i="0" dirty="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wrap="square" rtlCol="0" anchor="ctr"/>
          <a:lstStyle/>
          <a:p>
            <a:endParaRPr sz="2000"/>
          </a:p>
        </p:txBody>
      </p:sp>
      <p:sp>
        <p:nvSpPr>
          <p:cNvPr id="931" name="Label"/>
          <p:cNvSpPr txBox="1"/>
          <p:nvPr/>
        </p:nvSpPr>
        <p:spPr>
          <a:xfrm>
            <a:off x="6446520" y="1371600"/>
            <a:ext cx="2103120" cy="347472"/>
          </a:xfrm>
          <a:prstGeom prst="rect">
            <a:avLst/>
          </a:prstGeom>
          <a:noFill/>
        </p:spPr>
        <p:txBody>
          <a:bodyPr wrap="square" lIns="27432" tIns="22860" rIns="27432" bIns="22860" anchor="t">
            <a:spAutoFit/>
          </a:bodyPr>
          <a:lstStyle/>
          <a:p>
            <a:pPr algn="ctr"/>
            <a:r>
              <a:rPr sz="2000" b="1" i="0">
                <a:solidFill>
                  <a:srgbClr val="9A3F12"/>
                </a:solidFill>
              </a:rPr>
              <a:t>DEFEAT DEVICE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4" grpId="0"/>
      <p:bldP spid="91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8</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November 2006. </a:t>
            </a:r>
            <a:r>
              <a:rPr sz="2000" b="0" i="0" dirty="0">
                <a:solidFill>
                  <a:srgbClr val="555960"/>
                </a:solidFill>
              </a:rPr>
              <a:t>The supervisor, briefed on its purpose and design, decided production should continue; the plea agreement records the instruction, in substance, as </a:t>
            </a:r>
            <a:r>
              <a:rPr sz="2000" b="1" i="0" dirty="0">
                <a:solidFill>
                  <a:srgbClr val="9A3F12"/>
                </a:solidFill>
              </a:rPr>
              <a:t>“not to get caught.”</a:t>
            </a:r>
          </a:p>
        </p:txBody>
      </p:sp>
      <p:sp>
        <p:nvSpPr>
          <p:cNvPr id="903" name="Card"/>
          <p:cNvSpPr/>
          <p:nvPr/>
        </p:nvSpPr>
        <p:spPr>
          <a:xfrm>
            <a:off x="411480" y="3520440"/>
            <a:ext cx="8321040" cy="11223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October 2007</a:t>
            </a:r>
            <a:r>
              <a:rPr sz="2000" i="0" dirty="0">
                <a:solidFill>
                  <a:srgbClr val="5C4826"/>
                </a:solidFill>
              </a:rPr>
              <a:t>: technical problems and internal disagreement were raised, and the supervisor authorized proceeding. Not a rogue patch — calibration, integration, certification, maintenance, and delegated work.</a:t>
            </a:r>
          </a:p>
        </p:txBody>
      </p:sp>
      <p:sp>
        <p:nvSpPr>
          <p:cNvPr id="904" name="Label"/>
          <p:cNvSpPr txBox="1"/>
          <p:nvPr/>
        </p:nvSpPr>
        <p:spPr>
          <a:xfrm>
            <a:off x="411480" y="4888053"/>
            <a:ext cx="8321040" cy="661720"/>
          </a:xfrm>
          <a:prstGeom prst="rect">
            <a:avLst/>
          </a:prstGeom>
          <a:noFill/>
        </p:spPr>
        <p:txBody>
          <a:bodyPr wrap="square" lIns="27432" tIns="22860" rIns="27432" bIns="22860" anchor="t">
            <a:spAutoFit/>
          </a:bodyPr>
          <a:lstStyle/>
          <a:p>
            <a:pPr algn="ctr"/>
            <a:r>
              <a:rPr sz="2000" b="1" i="0" dirty="0">
                <a:solidFill>
                  <a:srgbClr val="8E6F3E"/>
                </a:solidFill>
              </a:rPr>
              <a:t>How many people does it take to sustain this </a:t>
            </a:r>
            <a:endParaRPr lang="en-US" sz="2000" b="1" i="0" dirty="0">
              <a:solidFill>
                <a:srgbClr val="8E6F3E"/>
              </a:solidFill>
            </a:endParaRPr>
          </a:p>
          <a:p>
            <a:pPr algn="ctr"/>
            <a:r>
              <a:rPr sz="2000" b="1" i="0" dirty="0">
                <a:solidFill>
                  <a:srgbClr val="8E6F3E"/>
                </a:solidFill>
              </a:rPr>
              <a:t>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Was escalation enough?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2" grpId="0" animBg="1"/>
      <p:bldP spid="903" grpId="0" animBg="1"/>
      <p:bldP spid="904" grpId="0"/>
      <p:bldP spid="90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tblGrid>
              <a:tr h="502920">
                <a:tc>
                  <a:txBody>
                    <a:bodyPr/>
                    <a:lstStyle/>
                    <a:p>
                      <a:pPr algn="ctr"/>
                      <a:r>
                        <a:rPr sz="2000" b="1" i="0">
                          <a:solidFill>
                            <a:srgbClr val="FFFFFF"/>
                          </a:solidFill>
                        </a:rPr>
                        <a:t>MODEL YEAR</a:t>
                      </a:r>
                    </a:p>
                  </a:txBody>
                  <a:tcPr marL="27432" marR="27432" marT="18288" marB="18288" anchor="ctr">
                    <a:solidFill>
                      <a:srgbClr val="8E6F3E"/>
                    </a:solidFill>
                  </a:tcPr>
                </a:tc>
                <a:tc>
                  <a:txBody>
                    <a:bodyPr/>
                    <a:lstStyle/>
                    <a:p>
                      <a:pPr algn="ctr"/>
                      <a:r>
                        <a:rPr sz="2000" b="1" i="0">
                          <a:solidFill>
                            <a:srgbClr val="FFFFFF"/>
                          </a:solidFill>
                        </a:rPr>
                        <a:t>2009</a:t>
                      </a:r>
                    </a:p>
                  </a:txBody>
                  <a:tcPr marL="27432" marR="27432" marT="18288" marB="18288" anchor="ctr">
                    <a:solidFill>
                      <a:srgbClr val="8E6F3E"/>
                    </a:solidFill>
                  </a:tcPr>
                </a:tc>
                <a:tc>
                  <a:txBody>
                    <a:bodyPr/>
                    <a:lstStyle/>
                    <a:p>
                      <a:pPr algn="ctr"/>
                      <a:r>
                        <a:rPr sz="2000" b="1" i="0">
                          <a:solidFill>
                            <a:srgbClr val="FFFFFF"/>
                          </a:solidFill>
                        </a:rPr>
                        <a:t>2010</a:t>
                      </a:r>
                    </a:p>
                  </a:txBody>
                  <a:tcPr marL="27432" marR="27432" marT="18288" marB="18288" anchor="ctr">
                    <a:solidFill>
                      <a:srgbClr val="8E6F3E"/>
                    </a:solidFill>
                  </a:tcPr>
                </a:tc>
                <a:tc>
                  <a:txBody>
                    <a:bodyPr/>
                    <a:lstStyle/>
                    <a:p>
                      <a:pPr algn="ctr"/>
                      <a:r>
                        <a:rPr sz="2000" b="1" i="0">
                          <a:solidFill>
                            <a:srgbClr val="FFFFFF"/>
                          </a:solidFill>
                        </a:rPr>
                        <a:t>2011</a:t>
                      </a:r>
                    </a:p>
                  </a:txBody>
                  <a:tcPr marL="27432" marR="27432" marT="18288" marB="18288" anchor="ctr">
                    <a:solidFill>
                      <a:srgbClr val="8E6F3E"/>
                    </a:solidFill>
                  </a:tcPr>
                </a:tc>
                <a:tc>
                  <a:txBody>
                    <a:bodyPr/>
                    <a:lstStyle/>
                    <a:p>
                      <a:pPr algn="ctr"/>
                      <a:r>
                        <a:rPr sz="2000" b="1" i="0">
                          <a:solidFill>
                            <a:srgbClr val="FFFFFF"/>
                          </a:solidFill>
                        </a:rPr>
                        <a:t>2012</a:t>
                      </a:r>
                    </a:p>
                  </a:txBody>
                  <a:tcPr marL="27432" marR="27432" marT="18288" marB="18288" anchor="ctr">
                    <a:solidFill>
                      <a:srgbClr val="8E6F3E"/>
                    </a:solidFill>
                  </a:tcPr>
                </a:tc>
                <a:tc>
                  <a:txBody>
                    <a:bodyPr/>
                    <a:lstStyle/>
                    <a:p>
                      <a:pPr algn="ctr"/>
                      <a:r>
                        <a:rPr sz="2000" b="1" i="0">
                          <a:solidFill>
                            <a:srgbClr val="FFFFFF"/>
                          </a:solidFill>
                        </a:rPr>
                        <a:t>2013</a:t>
                      </a:r>
                    </a:p>
                  </a:txBody>
                  <a:tcPr marL="27432" marR="27432" marT="18288" marB="18288" anchor="ctr">
                    <a:solidFill>
                      <a:srgbClr val="8E6F3E"/>
                    </a:solidFill>
                  </a:tcPr>
                </a:tc>
                <a:tc>
                  <a:txBody>
                    <a:bodyPr/>
                    <a:lstStyle/>
                    <a:p>
                      <a:pPr algn="ctr"/>
                      <a:r>
                        <a:rPr sz="2000" b="1" i="0">
                          <a:solidFill>
                            <a:srgbClr val="FFFFFF"/>
                          </a:solidFill>
                        </a:rPr>
                        <a:t>2014</a:t>
                      </a:r>
                    </a:p>
                  </a:txBody>
                  <a:tcPr marL="27432" marR="27432" marT="18288" marB="18288" anchor="ctr">
                    <a:solidFill>
                      <a:srgbClr val="8E6F3E"/>
                    </a:solidFill>
                  </a:tcPr>
                </a:tc>
                <a:tc>
                  <a:txBody>
                    <a:bodyPr/>
                    <a:lstStyle/>
                    <a:p>
                      <a:pPr algn="ctr"/>
                      <a:r>
                        <a:rPr sz="2000" b="1" i="0">
                          <a:solidFill>
                            <a:srgbClr val="FFFFFF"/>
                          </a:solidFill>
                        </a:rPr>
                        <a:t>2015</a:t>
                      </a:r>
                    </a:p>
                  </a:txBody>
                  <a:tcPr marL="27432" marR="27432" marT="18288" marB="18288" anchor="ctr">
                    <a:solidFill>
                      <a:srgbClr val="8E6F3E"/>
                    </a:solidFill>
                  </a:tcPr>
                </a:tc>
                <a:tc>
                  <a:txBody>
                    <a:bodyPr/>
                    <a:lstStyle/>
                    <a:p>
                      <a:pPr algn="ctr"/>
                      <a:r>
                        <a:rPr sz="2000" b="1" i="0">
                          <a:solidFill>
                            <a:srgbClr val="FFFFFF"/>
                          </a:solidFill>
                        </a:rPr>
                        <a:t>2016</a:t>
                      </a:r>
                    </a:p>
                  </a:txBody>
                  <a:tcPr marL="27432" marR="27432" marT="18288" marB="18288" anchor="ctr">
                    <a:solidFill>
                      <a:srgbClr val="8E6F3E"/>
                    </a:solidFill>
                  </a:tcPr>
                </a:tc>
                <a:extLst>
                  <a:ext uri="{0D108BD9-81ED-4DB2-BD59-A6C34878D82A}">
                    <a16:rowId xmlns:a16="http://schemas.microsoft.com/office/drawing/2014/main" val="10000"/>
                  </a:ext>
                </a:extLst>
              </a:tr>
              <a:tr h="502920">
                <a:tc>
                  <a:txBody>
                    <a:bodyPr/>
                    <a:lstStyle/>
                    <a:p>
                      <a:pPr algn="ctr"/>
                      <a:r>
                        <a:rPr sz="2000" b="1" i="0">
                          <a:solidFill>
                            <a:srgbClr val="5C4826"/>
                          </a:solidFill>
                        </a:rPr>
                        <a:t>CERTIFY</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extLst>
                  <a:ext uri="{0D108BD9-81ED-4DB2-BD59-A6C34878D82A}">
                    <a16:rowId xmlns:a16="http://schemas.microsoft.com/office/drawing/2014/main" val="10001"/>
                  </a:ext>
                </a:extLst>
              </a:tr>
              <a:tr h="502920">
                <a:tc>
                  <a:txBody>
                    <a:bodyPr/>
                    <a:lstStyle/>
                    <a:p>
                      <a:pPr algn="ctr"/>
                      <a:r>
                        <a:rPr sz="2000" b="1" i="0">
                          <a:solidFill>
                            <a:srgbClr val="5C4826"/>
                          </a:solidFill>
                        </a:rPr>
                        <a:t>SELL</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extLst>
                  <a:ext uri="{0D108BD9-81ED-4DB2-BD59-A6C34878D82A}">
                    <a16:rowId xmlns:a16="http://schemas.microsoft.com/office/drawing/2014/main" val="10002"/>
                  </a:ext>
                </a:extLst>
              </a:tr>
            </a:tbl>
          </a:graphicData>
        </a:graphic>
      </p:graphicFrame>
      <p:sp>
        <p:nvSpPr>
          <p:cNvPr id="902" name="Doj"/>
          <p:cNvSpPr txBox="1"/>
          <p:nvPr/>
        </p:nvSpPr>
        <p:spPr>
          <a:xfrm>
            <a:off x="1780350" y="3276556"/>
            <a:ext cx="5308979" cy="1585049"/>
          </a:xfrm>
          <a:prstGeom prst="rect">
            <a:avLst/>
          </a:prstGeom>
          <a:noFill/>
        </p:spPr>
        <p:txBody>
          <a:bodyPr wrap="square" lIns="27432" tIns="22860" rIns="27432" bIns="22860" anchor="t">
            <a:spAutoFit/>
          </a:bodyPr>
          <a:lstStyle/>
          <a:p>
            <a:pPr algn="ctr"/>
            <a:r>
              <a:rPr sz="2000" b="1" i="0" dirty="0">
                <a:solidFill>
                  <a:srgbClr val="5C4826"/>
                </a:solidFill>
              </a:rPr>
              <a:t>The certification was not a one-time failure. </a:t>
            </a:r>
            <a:endParaRPr lang="en-US" sz="2000" b="1" i="0" dirty="0">
              <a:solidFill>
                <a:srgbClr val="5C4826"/>
              </a:solidFill>
            </a:endParaRPr>
          </a:p>
          <a:p>
            <a:pPr algn="ctr"/>
            <a:endParaRPr lang="en-US" sz="2000" b="1" i="0" dirty="0">
              <a:solidFill>
                <a:srgbClr val="5C4826"/>
              </a:solidFill>
            </a:endParaRPr>
          </a:p>
          <a:p>
            <a:pPr algn="ctr"/>
            <a:r>
              <a:rPr sz="2000" b="1" i="0" dirty="0">
                <a:solidFill>
                  <a:srgbClr val="555960"/>
                </a:solidFill>
              </a:rPr>
              <a:t>DOJ</a:t>
            </a:r>
            <a:r>
              <a:rPr sz="2000" b="0" i="0" dirty="0">
                <a:solidFill>
                  <a:srgbClr val="555960"/>
                </a:solidFill>
              </a:rPr>
              <a:t>: false certifications continued model year after model year, with employees meeting EPA/CARB and concealing the defeat device.</a:t>
            </a:r>
          </a:p>
        </p:txBody>
      </p:sp>
      <p:sp>
        <p:nvSpPr>
          <p:cNvPr id="903" name="FooterBand"/>
          <p:cNvSpPr/>
          <p:nvPr/>
        </p:nvSpPr>
        <p:spPr>
          <a:xfrm>
            <a:off x="274320" y="5786651"/>
            <a:ext cx="8595360" cy="63243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made this outcome reproducible?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They learned from failure.</a:t>
            </a:r>
          </a:p>
          <a:p>
            <a:pPr algn="ctr">
              <a:spcBef>
                <a:spcPts val="300"/>
              </a:spcBef>
            </a:pPr>
            <a:r>
              <a:rPr sz="2000" b="1" i="0" dirty="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improve the defeat device</a:t>
            </a:r>
            <a:r>
              <a:rPr lang="en-US" sz="2000" b="1" dirty="0">
                <a:solidFill>
                  <a:srgbClr val="555960"/>
                </a:solidFill>
              </a:rPr>
              <a:t> !</a:t>
            </a:r>
            <a:endParaRPr sz="2000" b="1" i="0" dirty="0">
              <a:solidFill>
                <a:srgbClr val="5559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2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2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9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3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9" grpId="0" animBg="1"/>
      <p:bldP spid="920" grpId="0" animBg="1"/>
      <p:bldP spid="921" grpId="0"/>
      <p:bldP spid="923" grpId="0" animBg="1"/>
      <p:bldP spid="924" grpId="0"/>
      <p:bldP spid="926" grpId="0" animBg="1"/>
      <p:bldP spid="927" grpId="0"/>
      <p:bldP spid="929" grpId="0" animBg="1"/>
      <p:bldP spid="93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779007"/>
            <a:ext cx="8595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DISCLOSURE</a:t>
            </a:r>
          </a:p>
        </p:txBody>
      </p:sp>
      <p:sp>
        <p:nvSpPr>
          <p:cNvPr id="927" name="Card"/>
          <p:cNvSpPr/>
          <p:nvPr/>
        </p:nvSpPr>
        <p:spPr>
          <a:xfrm>
            <a:off x="1413908" y="2862072"/>
            <a:ext cx="5950424"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Criminal prosecutions. A $2.8B U.S. criminal penalty. </a:t>
            </a:r>
            <a:endParaRPr lang="en-US" sz="2000" b="0" i="0" dirty="0">
              <a:solidFill>
                <a:srgbClr val="555960"/>
              </a:solidFill>
            </a:endParaRPr>
          </a:p>
          <a:p>
            <a:pPr algn="ctr"/>
            <a:r>
              <a:rPr sz="2000" b="0" i="0" dirty="0">
                <a:solidFill>
                  <a:srgbClr val="555960"/>
                </a:solidFill>
              </a:rPr>
              <a:t>Further settlements and consequences.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2</a:t>
            </a:r>
            <a:endParaRPr sz="2000" b="1" i="0" dirty="0">
              <a:solidFill>
                <a:srgbClr val="8E6F3E"/>
              </a:solidFill>
            </a:endParaRPr>
          </a:p>
        </p:txBody>
      </p:sp>
      <p:sp>
        <p:nvSpPr>
          <p:cNvPr id="902" name="Question"/>
          <p:cNvSpPr txBox="1"/>
          <p:nvPr/>
        </p:nvSpPr>
        <p:spPr>
          <a:xfrm>
            <a:off x="685800" y="2816352"/>
            <a:ext cx="7772400" cy="475488"/>
          </a:xfrm>
          <a:prstGeom prst="rect">
            <a:avLst/>
          </a:prstGeom>
          <a:noFill/>
        </p:spPr>
        <p:txBody>
          <a:bodyPr wrap="square" lIns="27432" tIns="22860" rIns="27432" bIns="22860" anchor="ctr">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Useful</a:t>
            </a:r>
            <a:r>
              <a:rPr lang="en-US" sz="2000" b="1" dirty="0">
                <a:solidFill>
                  <a:srgbClr val="FFFFFF"/>
                </a:solidFill>
              </a:rPr>
              <a:t> </a:t>
            </a:r>
            <a:r>
              <a:rPr sz="2000" b="1" i="0" dirty="0">
                <a:solidFill>
                  <a:srgbClr val="FFFFFF"/>
                </a:solidFill>
              </a:rPr>
              <a:t>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15</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conditions shaping behavior matter.</a:t>
            </a:r>
          </a:p>
        </p:txBody>
      </p:sp>
      <p:sp>
        <p:nvSpPr>
          <p:cNvPr id="920" name="Label"/>
          <p:cNvSpPr txBox="1"/>
          <p:nvPr/>
        </p:nvSpPr>
        <p:spPr>
          <a:xfrm>
            <a:off x="274320" y="3200400"/>
            <a:ext cx="3017520" cy="365760"/>
          </a:xfrm>
          <a:prstGeom prst="rect">
            <a:avLst/>
          </a:prstGeom>
          <a:noFill/>
        </p:spPr>
        <p:txBody>
          <a:bodyPr wrap="square" lIns="27432" tIns="22860" rIns="27432" bIns="22860" anchor="t">
            <a:spAutoFit/>
          </a:bodyPr>
          <a:lstStyle/>
          <a:p>
            <a:pPr algn="ctr"/>
            <a:r>
              <a:rPr sz="2000" b="0" i="0">
                <a:solidFill>
                  <a:srgbClr val="555960"/>
                </a:solidFill>
              </a:rPr>
              <a:t>authority · incentives · schedule · ownership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a:t>
            </a:r>
          </a:p>
        </p:txBody>
      </p:sp>
      <p:sp>
        <p:nvSpPr>
          <p:cNvPr id="2" name="Block"/>
          <p:cNvSpPr/>
          <p:nvPr/>
        </p:nvSpPr>
        <p:spPr>
          <a:xfrm>
            <a:off x="662940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IAV</a:t>
            </a:r>
          </a:p>
        </p:txBody>
      </p:sp>
      <p:sp>
        <p:nvSpPr>
          <p:cNvPr id="4" name="Block"/>
          <p:cNvSpPr/>
          <p:nvPr/>
        </p:nvSpPr>
        <p:spPr>
          <a:xfrm>
            <a:off x="50292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01"/>
          <p:cNvCxnSpPr/>
          <p:nvPr/>
        </p:nvCxnSpPr>
        <p:spPr>
          <a:xfrm>
            <a:off x="621792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01"/>
          <p:cNvCxnSpPr/>
          <p:nvPr/>
        </p:nvCxnSpPr>
        <p:spPr>
          <a:xfrm>
            <a:off x="251460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lIns="27432" tIns="22860" rIns="27432" bIns="22860" anchor="t">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control and feedback across the system matter.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448056"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p:txBody>
      </p:sp>
      <p:sp>
        <p:nvSpPr>
          <p:cNvPr id="902" name="Card"/>
          <p:cNvSpPr/>
          <p:nvPr/>
        </p:nvSpPr>
        <p:spPr>
          <a:xfrm>
            <a:off x="2523744"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3" name="Card"/>
          <p:cNvSpPr/>
          <p:nvPr/>
        </p:nvSpPr>
        <p:spPr>
          <a:xfrm>
            <a:off x="4599432"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p:txBody>
      </p:sp>
      <p:sp>
        <p:nvSpPr>
          <p:cNvPr id="904" name="Card"/>
          <p:cNvSpPr/>
          <p:nvPr/>
        </p:nvSpPr>
        <p:spPr>
          <a:xfrm>
            <a:off x="66751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448056" y="3318637"/>
            <a:ext cx="8001000" cy="0"/>
          </a:xfrm>
          <a:prstGeom prst="line">
            <a:avLst/>
          </a:prstGeom>
          <a:ln w="28575">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356616" y="2011680"/>
            <a:ext cx="2011680" cy="548640"/>
          </a:xfrm>
          <a:prstGeom prst="rect">
            <a:avLst/>
          </a:prstGeom>
          <a:noFill/>
        </p:spPr>
        <p:txBody>
          <a:bodyPr wrap="square" lIns="27432" tIns="22860" rIns="27432" bIns="22860" anchor="t">
            <a:spAutoFit/>
          </a:bodyPr>
          <a:lstStyle/>
          <a:p>
            <a:pPr algn="ctr"/>
            <a:r>
              <a:rPr sz="2000" b="0" i="0">
                <a:solidFill>
                  <a:srgbClr val="555960"/>
                </a:solidFill>
              </a:rPr>
              <a:t>the individual act</a:t>
            </a:r>
          </a:p>
        </p:txBody>
      </p:sp>
      <p:sp>
        <p:nvSpPr>
          <p:cNvPr id="921" name="Label"/>
          <p:cNvSpPr txBox="1"/>
          <p:nvPr/>
        </p:nvSpPr>
        <p:spPr>
          <a:xfrm>
            <a:off x="2432304" y="2011680"/>
            <a:ext cx="2011680" cy="548640"/>
          </a:xfrm>
          <a:prstGeom prst="rect">
            <a:avLst/>
          </a:prstGeom>
          <a:noFill/>
        </p:spPr>
        <p:txBody>
          <a:bodyPr wrap="square" lIns="27432" tIns="22860" rIns="27432" bIns="22860" anchor="t">
            <a:spAutoFit/>
          </a:bodyPr>
          <a:lstStyle/>
          <a:p>
            <a:pPr algn="ctr"/>
            <a:r>
              <a:rPr sz="2000" b="0" i="0">
                <a:solidFill>
                  <a:srgbClr val="555960"/>
                </a:solidFill>
              </a:rPr>
              <a:t>the state of the defenses</a:t>
            </a:r>
          </a:p>
        </p:txBody>
      </p:sp>
      <p:sp>
        <p:nvSpPr>
          <p:cNvPr id="922" name="Label"/>
          <p:cNvSpPr txBox="1"/>
          <p:nvPr/>
        </p:nvSpPr>
        <p:spPr>
          <a:xfrm>
            <a:off x="4507992" y="2011680"/>
            <a:ext cx="2011680" cy="548640"/>
          </a:xfrm>
          <a:prstGeom prst="rect">
            <a:avLst/>
          </a:prstGeom>
          <a:noFill/>
        </p:spPr>
        <p:txBody>
          <a:bodyPr wrap="square" lIns="27432" tIns="22860" rIns="27432" bIns="22860" anchor="t">
            <a:spAutoFit/>
          </a:bodyPr>
          <a:lstStyle/>
          <a:p>
            <a:pPr algn="ctr"/>
            <a:r>
              <a:rPr sz="2000" b="0" i="0">
                <a:solidFill>
                  <a:srgbClr val="555960"/>
                </a:solidFill>
              </a:rPr>
              <a:t>the shaping conditions</a:t>
            </a:r>
          </a:p>
        </p:txBody>
      </p:sp>
      <p:sp>
        <p:nvSpPr>
          <p:cNvPr id="923" name="Label"/>
          <p:cNvSpPr txBox="1"/>
          <p:nvPr/>
        </p:nvSpPr>
        <p:spPr>
          <a:xfrm>
            <a:off x="6583680" y="2011680"/>
            <a:ext cx="2011680" cy="548640"/>
          </a:xfrm>
          <a:prstGeom prst="rect">
            <a:avLst/>
          </a:prstGeom>
          <a:noFill/>
        </p:spPr>
        <p:txBody>
          <a:bodyPr wrap="square" lIns="27432" tIns="22860" rIns="27432" bIns="22860" anchor="t">
            <a:spAutoFit/>
          </a:bodyPr>
          <a:lstStyle/>
          <a:p>
            <a:pPr algn="ctr"/>
            <a:r>
              <a:rPr sz="2000" b="0" i="0">
                <a:solidFill>
                  <a:srgbClr val="555960"/>
                </a:solidFill>
              </a:rPr>
              <a:t>control and feedback loops</a:t>
            </a:r>
          </a:p>
        </p:txBody>
      </p:sp>
      <p:sp>
        <p:nvSpPr>
          <p:cNvPr id="924" name="Label"/>
          <p:cNvSpPr txBox="1"/>
          <p:nvPr/>
        </p:nvSpPr>
        <p:spPr>
          <a:xfrm>
            <a:off x="448056" y="2890848"/>
            <a:ext cx="1719072" cy="353943"/>
          </a:xfrm>
          <a:prstGeom prst="rect">
            <a:avLst/>
          </a:prstGeom>
          <a:noFill/>
        </p:spPr>
        <p:txBody>
          <a:bodyPr wrap="square" lIns="27432" tIns="22860" rIns="27432" bIns="22860" anchor="t">
            <a:spAutoFit/>
          </a:bodyPr>
          <a:lstStyle/>
          <a:p>
            <a:pPr algn="l"/>
            <a:r>
              <a:rPr lang="en-US" sz="2000" b="0" i="0" dirty="0">
                <a:solidFill>
                  <a:srgbClr val="555960"/>
                </a:solidFill>
              </a:rPr>
              <a:t>Narrower</a:t>
            </a:r>
            <a:endParaRPr sz="2000" b="0" i="0" dirty="0">
              <a:solidFill>
                <a:srgbClr val="555960"/>
              </a:solidFill>
            </a:endParaRPr>
          </a:p>
        </p:txBody>
      </p:sp>
      <p:sp>
        <p:nvSpPr>
          <p:cNvPr id="925" name="Label"/>
          <p:cNvSpPr txBox="1"/>
          <p:nvPr/>
        </p:nvSpPr>
        <p:spPr>
          <a:xfrm>
            <a:off x="6848856" y="2890848"/>
            <a:ext cx="1600200" cy="353943"/>
          </a:xfrm>
          <a:prstGeom prst="rect">
            <a:avLst/>
          </a:prstGeom>
          <a:noFill/>
        </p:spPr>
        <p:txBody>
          <a:bodyPr wrap="square" lIns="27432" tIns="22860" rIns="27432" bIns="22860" anchor="t">
            <a:spAutoFit/>
          </a:bodyPr>
          <a:lstStyle/>
          <a:p>
            <a:pPr algn="r"/>
            <a:r>
              <a:rPr lang="en-US" sz="2000" b="0" i="0" dirty="0">
                <a:solidFill>
                  <a:srgbClr val="555960"/>
                </a:solidFill>
              </a:rPr>
              <a:t>Broader</a:t>
            </a:r>
            <a:endParaRPr sz="2000" b="0" i="0" dirty="0">
              <a:solidFill>
                <a:srgbClr val="555960"/>
              </a:solidFill>
            </a:endParaRPr>
          </a:p>
        </p:txBody>
      </p:sp>
      <p:sp>
        <p:nvSpPr>
          <p:cNvPr id="927" name="Label"/>
          <p:cNvSpPr txBox="1"/>
          <p:nvPr/>
        </p:nvSpPr>
        <p:spPr>
          <a:xfrm>
            <a:off x="850392" y="4228590"/>
            <a:ext cx="7498080" cy="822960"/>
          </a:xfrm>
          <a:prstGeom prst="rect">
            <a:avLst/>
          </a:prstGeom>
          <a:noFill/>
        </p:spPr>
        <p:txBody>
          <a:bodyPr wrap="square" lIns="27432" tIns="22860" rIns="27432" bIns="22860" anchor="t">
            <a:spAutoFit/>
          </a:bodyPr>
          <a:lstStyle/>
          <a:p>
            <a:pPr algn="ctr"/>
            <a:r>
              <a:rPr sz="2000" b="0" i="0" dirty="0">
                <a:solidFill>
                  <a:srgbClr val="5C4826"/>
                </a:solidFill>
              </a:rPr>
              <a:t>Broader models expose more relationships.</a:t>
            </a:r>
          </a:p>
          <a:p>
            <a:pPr algn="ctr"/>
            <a:r>
              <a:rPr sz="2000" b="0" i="0" dirty="0">
                <a:solidFill>
                  <a:srgbClr val="5C4826"/>
                </a:solidFill>
              </a:rPr>
              <a:t>They also demand more evidence and more authority to act.</a:t>
            </a:r>
          </a:p>
        </p:txBody>
      </p:sp>
      <p:sp>
        <p:nvSpPr>
          <p:cNvPr id="2" name="Label">
            <a:extLst>
              <a:ext uri="{FF2B5EF4-FFF2-40B4-BE49-F238E27FC236}">
                <a16:creationId xmlns:a16="http://schemas.microsoft.com/office/drawing/2014/main" id="{7DD433C0-05A4-A8DB-8A40-F75777F417F1}"/>
              </a:ext>
            </a:extLst>
          </p:cNvPr>
          <p:cNvSpPr txBox="1"/>
          <p:nvPr/>
        </p:nvSpPr>
        <p:spPr>
          <a:xfrm>
            <a:off x="3502152" y="2890848"/>
            <a:ext cx="2011680" cy="353943"/>
          </a:xfrm>
          <a:prstGeom prst="rect">
            <a:avLst/>
          </a:prstGeom>
          <a:noFill/>
        </p:spPr>
        <p:txBody>
          <a:bodyPr wrap="square" lIns="27432" tIns="22860" rIns="27432" bIns="22860" anchor="t">
            <a:spAutoFit/>
          </a:bodyPr>
          <a:lstStyle/>
          <a:p>
            <a:pPr algn="ctr"/>
            <a:r>
              <a:rPr lang="en-US" sz="2000" dirty="0">
                <a:solidFill>
                  <a:srgbClr val="555960"/>
                </a:solidFill>
              </a:rPr>
              <a:t>c</a:t>
            </a:r>
            <a:r>
              <a:rPr lang="en-US" sz="2000" b="0" i="0" dirty="0">
                <a:solidFill>
                  <a:srgbClr val="555960"/>
                </a:solidFill>
              </a:rPr>
              <a:t>ausal boundary</a:t>
            </a:r>
            <a:endParaRPr sz="2000" b="0" i="0" dirty="0">
              <a:solidFill>
                <a:srgbClr val="555960"/>
              </a:solidFill>
            </a:endParaRPr>
          </a:p>
        </p:txBody>
      </p:sp>
      <p:sp>
        <p:nvSpPr>
          <p:cNvPr id="4" name="Label">
            <a:extLst>
              <a:ext uri="{FF2B5EF4-FFF2-40B4-BE49-F238E27FC236}">
                <a16:creationId xmlns:a16="http://schemas.microsoft.com/office/drawing/2014/main" id="{B231F455-4223-016C-1DEE-28C4A7911CF2}"/>
              </a:ext>
            </a:extLst>
          </p:cNvPr>
          <p:cNvSpPr txBox="1"/>
          <p:nvPr/>
        </p:nvSpPr>
        <p:spPr>
          <a:xfrm>
            <a:off x="3765758" y="3346766"/>
            <a:ext cx="1356451" cy="353943"/>
          </a:xfrm>
          <a:prstGeom prst="rect">
            <a:avLst/>
          </a:prstGeom>
          <a:noFill/>
        </p:spPr>
        <p:txBody>
          <a:bodyPr wrap="square" lIns="27432" tIns="22860" rIns="27432" bIns="22860" anchor="t">
            <a:spAutoFit/>
          </a:bodyPr>
          <a:lstStyle>
            <a:defPPr>
              <a:defRPr lang="en-US"/>
            </a:defPPr>
            <a:lvl1pPr>
              <a:defRPr sz="2000" b="1" i="0">
                <a:solidFill>
                  <a:srgbClr val="8E6F3E"/>
                </a:solidFill>
              </a:defRPr>
            </a:lvl1pPr>
          </a:lstStyle>
          <a:p>
            <a:pPr algn="ctr"/>
            <a:r>
              <a:rPr lang="en-US" dirty="0"/>
              <a:t>structure</a:t>
            </a:r>
            <a:endParaRPr dirty="0"/>
          </a:p>
        </p:txBody>
      </p:sp>
      <p:sp>
        <p:nvSpPr>
          <p:cNvPr id="5" name="Label">
            <a:extLst>
              <a:ext uri="{FF2B5EF4-FFF2-40B4-BE49-F238E27FC236}">
                <a16:creationId xmlns:a16="http://schemas.microsoft.com/office/drawing/2014/main" id="{94BA9F04-CC4F-849B-204C-8A7344D44B31}"/>
              </a:ext>
            </a:extLst>
          </p:cNvPr>
          <p:cNvSpPr txBox="1"/>
          <p:nvPr/>
        </p:nvSpPr>
        <p:spPr>
          <a:xfrm>
            <a:off x="448056" y="3345434"/>
            <a:ext cx="1719072" cy="353943"/>
          </a:xfrm>
          <a:prstGeom prst="rect">
            <a:avLst/>
          </a:prstGeom>
          <a:noFill/>
        </p:spPr>
        <p:txBody>
          <a:bodyPr wrap="square" lIns="27432" tIns="22860" rIns="27432" bIns="22860" anchor="t">
            <a:spAutoFit/>
          </a:bodyPr>
          <a:lstStyle>
            <a:defPPr>
              <a:defRPr lang="en-US"/>
            </a:defPPr>
            <a:lvl1pPr algn="ctr">
              <a:defRPr sz="2000" b="1" i="0">
                <a:solidFill>
                  <a:srgbClr val="8E6F3E"/>
                </a:solidFill>
              </a:defRPr>
            </a:lvl1pPr>
          </a:lstStyle>
          <a:p>
            <a:pPr algn="l"/>
            <a:r>
              <a:rPr lang="en-US" dirty="0"/>
              <a:t>Less</a:t>
            </a:r>
            <a:endParaRPr dirty="0"/>
          </a:p>
        </p:txBody>
      </p:sp>
      <p:sp>
        <p:nvSpPr>
          <p:cNvPr id="9" name="Label">
            <a:extLst>
              <a:ext uri="{FF2B5EF4-FFF2-40B4-BE49-F238E27FC236}">
                <a16:creationId xmlns:a16="http://schemas.microsoft.com/office/drawing/2014/main" id="{F6AC6458-DE8B-0560-62E1-E5D306C95CB2}"/>
              </a:ext>
            </a:extLst>
          </p:cNvPr>
          <p:cNvSpPr txBox="1"/>
          <p:nvPr/>
        </p:nvSpPr>
        <p:spPr>
          <a:xfrm>
            <a:off x="6848856" y="3345434"/>
            <a:ext cx="1600200" cy="353943"/>
          </a:xfrm>
          <a:prstGeom prst="rect">
            <a:avLst/>
          </a:prstGeom>
          <a:noFill/>
        </p:spPr>
        <p:txBody>
          <a:bodyPr wrap="square" lIns="27432" tIns="22860" rIns="27432" bIns="22860" anchor="t">
            <a:spAutoFit/>
          </a:bodyPr>
          <a:lstStyle>
            <a:defPPr>
              <a:defRPr lang="en-US"/>
            </a:defPPr>
            <a:lvl1pPr>
              <a:defRPr sz="2000" b="1" i="0">
                <a:solidFill>
                  <a:srgbClr val="8E6F3E"/>
                </a:solidFill>
              </a:defRPr>
            </a:lvl1pPr>
          </a:lstStyle>
          <a:p>
            <a:pPr algn="r"/>
            <a:r>
              <a:rPr lang="en-US" dirty="0"/>
              <a:t>More</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18</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658368">
                <a:tc>
                  <a:txBody>
                    <a:bodyPr/>
                    <a:lstStyle/>
                    <a:p>
                      <a:pPr algn="l"/>
                      <a:r>
                        <a:rPr sz="2000" b="1" i="0">
                          <a:solidFill>
                            <a:srgbClr val="FFFFFF"/>
                          </a:solidFill>
                        </a:rPr>
                        <a:t>CAUSAL MODEL</a:t>
                      </a:r>
                    </a:p>
                  </a:txBody>
                  <a:tcPr marL="54864" anchor="ctr">
                    <a:solidFill>
                      <a:srgbClr val="8E6F3E"/>
                    </a:solidFill>
                  </a:tcPr>
                </a:tc>
                <a:tc>
                  <a:txBody>
                    <a:bodyPr/>
                    <a:lstStyle/>
                    <a:p>
                      <a:pPr algn="l"/>
                      <a:r>
                        <a:rPr sz="2000" b="1" i="0">
                          <a:solidFill>
                            <a:srgbClr val="FFFFFF"/>
                          </a:solidFill>
                        </a:rPr>
                        <a:t>THE LEVER IT HANDS YOU</a:t>
                      </a:r>
                    </a:p>
                  </a:txBody>
                  <a:tcPr marL="54864" anchor="ctr">
                    <a:solidFill>
                      <a:srgbClr val="8E6F3E"/>
                    </a:solidFill>
                  </a:tcPr>
                </a:tc>
                <a:extLst>
                  <a:ext uri="{0D108BD9-81ED-4DB2-BD59-A6C34878D82A}">
                    <a16:rowId xmlns:a16="http://schemas.microsoft.com/office/drawing/2014/main" val="10000"/>
                  </a:ext>
                </a:extLst>
              </a:tr>
              <a:tr h="658368">
                <a:tc>
                  <a:txBody>
                    <a:bodyPr/>
                    <a:lstStyle/>
                    <a:p>
                      <a:pPr algn="l"/>
                      <a:r>
                        <a:rPr sz="2000" b="1" i="0">
                          <a:solidFill>
                            <a:srgbClr val="5C4826"/>
                          </a:solidFill>
                        </a:rPr>
                        <a:t>Human error</a:t>
                      </a:r>
                    </a:p>
                  </a:txBody>
                  <a:tcPr marL="54864" anchor="ctr">
                    <a:solidFill>
                      <a:srgbClr val="F5F1E8"/>
                    </a:solidFill>
                  </a:tcPr>
                </a:tc>
                <a:tc>
                  <a:txBody>
                    <a:bodyPr/>
                    <a:lstStyle/>
                    <a:p>
                      <a:pPr algn="l"/>
                      <a:r>
                        <a:rPr sz="2000" b="0" i="0">
                          <a:solidFill>
                            <a:srgbClr val="5C4826"/>
                          </a:solidFill>
                        </a:rPr>
                        <a:t>an individual's behavior</a:t>
                      </a:r>
                    </a:p>
                  </a:txBody>
                  <a:tcPr marL="54864" anchor="ctr">
                    <a:solidFill>
                      <a:srgbClr val="F5F1E8"/>
                    </a:solidFill>
                  </a:tcPr>
                </a:tc>
                <a:extLst>
                  <a:ext uri="{0D108BD9-81ED-4DB2-BD59-A6C34878D82A}">
                    <a16:rowId xmlns:a16="http://schemas.microsoft.com/office/drawing/2014/main" val="10001"/>
                  </a:ext>
                </a:extLst>
              </a:tr>
              <a:tr h="658368">
                <a:tc>
                  <a:txBody>
                    <a:bodyPr/>
                    <a:lstStyle/>
                    <a:p>
                      <a:pPr algn="l"/>
                      <a:r>
                        <a:rPr sz="2000" b="1" i="0">
                          <a:solidFill>
                            <a:srgbClr val="5C4826"/>
                          </a:solidFill>
                        </a:rPr>
                        <a:t>Swiss cheese</a:t>
                      </a:r>
                    </a:p>
                  </a:txBody>
                  <a:tcPr marL="54864" anchor="ctr">
                    <a:solidFill>
                      <a:srgbClr val="FBF8F2"/>
                    </a:solidFill>
                  </a:tcPr>
                </a:tc>
                <a:tc>
                  <a:txBody>
                    <a:bodyPr/>
                    <a:lstStyle/>
                    <a:p>
                      <a:pPr algn="l"/>
                      <a:r>
                        <a:rPr sz="2000" b="0" i="0">
                          <a:solidFill>
                            <a:srgbClr val="5C4826"/>
                          </a:solidFill>
                        </a:rPr>
                        <a:t>the set of defenses</a:t>
                      </a:r>
                    </a:p>
                  </a:txBody>
                  <a:tcPr marL="54864" anchor="ctr">
                    <a:solidFill>
                      <a:srgbClr val="FBF8F2"/>
                    </a:solidFill>
                  </a:tcPr>
                </a:tc>
                <a:extLst>
                  <a:ext uri="{0D108BD9-81ED-4DB2-BD59-A6C34878D82A}">
                    <a16:rowId xmlns:a16="http://schemas.microsoft.com/office/drawing/2014/main" val="10002"/>
                  </a:ext>
                </a:extLst>
              </a:tr>
              <a:tr h="658368">
                <a:tc>
                  <a:txBody>
                    <a:bodyPr/>
                    <a:lstStyle/>
                    <a:p>
                      <a:pPr algn="l"/>
                      <a:r>
                        <a:rPr sz="2000" b="1" i="0">
                          <a:solidFill>
                            <a:srgbClr val="5C4826"/>
                          </a:solidFill>
                        </a:rPr>
                        <a:t>Organizational</a:t>
                      </a:r>
                    </a:p>
                  </a:txBody>
                  <a:tcPr marL="54864" anchor="ctr">
                    <a:solidFill>
                      <a:srgbClr val="F5F1E8"/>
                    </a:solidFill>
                  </a:tcPr>
                </a:tc>
                <a:tc>
                  <a:txBody>
                    <a:bodyPr/>
                    <a:lstStyle/>
                    <a:p>
                      <a:pPr algn="l"/>
                      <a:r>
                        <a:rPr sz="2000" b="0" i="0">
                          <a:solidFill>
                            <a:srgbClr val="5C4826"/>
                          </a:solidFill>
                        </a:rPr>
                        <a:t>the conditions that shape behavior</a:t>
                      </a:r>
                    </a:p>
                  </a:txBody>
                  <a:tcPr marL="54864" anchor="ctr">
                    <a:solidFill>
                      <a:srgbClr val="F5F1E8"/>
                    </a:solidFill>
                  </a:tcPr>
                </a:tc>
                <a:extLst>
                  <a:ext uri="{0D108BD9-81ED-4DB2-BD59-A6C34878D82A}">
                    <a16:rowId xmlns:a16="http://schemas.microsoft.com/office/drawing/2014/main" val="10003"/>
                  </a:ext>
                </a:extLst>
              </a:tr>
              <a:tr h="658368">
                <a:tc>
                  <a:txBody>
                    <a:bodyPr/>
                    <a:lstStyle/>
                    <a:p>
                      <a:pPr algn="l"/>
                      <a:r>
                        <a:rPr sz="2000" b="1" i="0">
                          <a:solidFill>
                            <a:srgbClr val="5C4826"/>
                          </a:solidFill>
                        </a:rPr>
                        <a:t>STAMP</a:t>
                      </a:r>
                    </a:p>
                  </a:txBody>
                  <a:tcPr marL="54864" anchor="ctr">
                    <a:solidFill>
                      <a:srgbClr val="FBF8F2"/>
                    </a:solidFill>
                  </a:tcPr>
                </a:tc>
                <a:tc>
                  <a:txBody>
                    <a:bodyPr/>
                    <a:lstStyle/>
                    <a:p>
                      <a:pPr algn="l"/>
                      <a:r>
                        <a:rPr sz="2000" b="0" i="0">
                          <a:solidFill>
                            <a:srgbClr val="5C4826"/>
                          </a:solidFill>
                        </a:rPr>
                        <a:t>the whole control structure</a:t>
                      </a:r>
                    </a:p>
                  </a:txBody>
                  <a:tcPr marL="54864" anchor="ctr">
                    <a:solidFill>
                      <a:srgbClr val="FBF8F2"/>
                    </a:solidFill>
                  </a:tcPr>
                </a:tc>
                <a:extLst>
                  <a:ext uri="{0D108BD9-81ED-4DB2-BD59-A6C34878D82A}">
                    <a16:rowId xmlns:a16="http://schemas.microsoft.com/office/drawing/2014/main" val="10004"/>
                  </a:ext>
                </a:extLst>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theory determines where we look for effective intervention.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91056"/>
          </a:xfrm>
        </p:spPr>
        <p:txBody>
          <a:bodyPr>
            <a:normAutofit/>
          </a:bodyPr>
          <a:lstStyle/>
          <a:p>
            <a:pPr algn="ctr"/>
            <a:r>
              <a:rPr lang="en-US" sz="4000" b="0" i="0" dirty="0">
                <a:solidFill>
                  <a:srgbClr val="000000"/>
                </a:solidFill>
              </a:rPr>
              <a:t>Let’s try ourselves:</a:t>
            </a:r>
            <a:br>
              <a:rPr lang="en-US" sz="4000" b="0" i="0" dirty="0">
                <a:solidFill>
                  <a:srgbClr val="000000"/>
                </a:solidFill>
              </a:rPr>
            </a:br>
            <a:r>
              <a:rPr sz="4000" b="0" i="1" dirty="0">
                <a:solidFill>
                  <a:srgbClr val="000000"/>
                </a:solidFill>
              </a:rPr>
              <a:t>Diagnose </a:t>
            </a:r>
            <a:r>
              <a:rPr lang="en-US" sz="4000" b="0" i="1" dirty="0">
                <a:solidFill>
                  <a:srgbClr val="000000"/>
                </a:solidFill>
              </a:rPr>
              <a:t>a </a:t>
            </a:r>
            <a:r>
              <a:rPr sz="4000" b="0" i="1" dirty="0">
                <a:solidFill>
                  <a:srgbClr val="000000"/>
                </a:solidFill>
              </a:rPr>
              <a:t>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19</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3</a:t>
            </a:r>
            <a:endParaRPr sz="2000" b="1" i="0" dirty="0">
              <a:solidFill>
                <a:srgbClr val="8E6F3E"/>
              </a:solidFill>
            </a:endParaRPr>
          </a:p>
        </p:txBody>
      </p:sp>
      <p:sp>
        <p:nvSpPr>
          <p:cNvPr id="902" name="Question"/>
          <p:cNvSpPr txBox="1"/>
          <p:nvPr/>
        </p:nvSpPr>
        <p:spPr>
          <a:xfrm>
            <a:off x="685800" y="3429000"/>
            <a:ext cx="7772400" cy="475488"/>
          </a:xfrm>
          <a:prstGeom prst="rect">
            <a:avLst/>
          </a:prstGeom>
          <a:noFill/>
        </p:spPr>
        <p:txBody>
          <a:bodyPr wrap="square" lIns="27432" tIns="22860" rIns="27432" bIns="22860" anchor="ctr">
            <a:spAutoFit/>
          </a:bodyPr>
          <a:lstStyle/>
          <a:p>
            <a:pPr algn="ctr"/>
            <a:r>
              <a:rPr sz="2400" b="0" i="0" dirty="0">
                <a:solidFill>
                  <a:srgbClr val="5C4826"/>
                </a:solidFill>
              </a:rPr>
              <a:t>What failed, and why didn't we know?</a:t>
            </a:r>
          </a:p>
        </p:txBody>
      </p:sp>
      <p:sp>
        <p:nvSpPr>
          <p:cNvPr id="903" name="Rule"/>
          <p:cNvSpPr/>
          <p:nvPr/>
        </p:nvSpPr>
        <p:spPr>
          <a:xfrm>
            <a:off x="3429000" y="4215384"/>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Instagram: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20</a:t>
            </a:fld>
            <a:endParaRPr lang="en-US"/>
          </a:p>
        </p:txBody>
      </p:sp>
      <p:sp>
        <p:nvSpPr>
          <p:cNvPr id="901" name="Lead"/>
          <p:cNvSpPr txBox="1"/>
          <p:nvPr/>
        </p:nvSpPr>
        <p:spPr>
          <a:xfrm>
            <a:off x="548640" y="1051560"/>
            <a:ext cx="8046720" cy="4727448"/>
          </a:xfrm>
          <a:prstGeom prst="rect">
            <a:avLst/>
          </a:prstGeom>
          <a:noFill/>
        </p:spPr>
        <p:txBody>
          <a:bodyPr wrap="square" lIns="27432" tIns="22860" rIns="27432" bIns="22860" anchor="t">
            <a:spAutoFit/>
          </a:bodyPr>
          <a:lstStyle/>
          <a:p>
            <a:pPr algn="l"/>
            <a:r>
              <a:rPr sz="2000" b="1" i="0">
                <a:solidFill>
                  <a:srgbClr val="5C4826"/>
                </a:solidFill>
              </a:rPr>
              <a:t>Instagram is a social-media platform whose recommendation and engagement mechanisms influence what users see and how they interact.</a:t>
            </a:r>
          </a:p>
          <a:p>
            <a:pPr algn="l"/>
            <a:r>
              <a:rPr sz="2000" b="1" i="0">
                <a:solidFill>
                  <a:srgbClr val="5C4826"/>
                </a:solidFill>
              </a:rPr>
              <a:t>Internal research examined how Instagram use related to teenage users’ well-being, including body-image concerns. Some participants reported that using Instagram made particular experiences worse.</a:t>
            </a:r>
          </a:p>
          <a:p>
            <a:pPr algn="l"/>
            <a:r>
              <a:rPr sz="2000" b="1" i="0">
                <a:solidFill>
                  <a:srgbClr val="5C4826"/>
                </a:solidFill>
              </a:rPr>
              <a:t>These findings raised questions about whether the platform’s design and product objectives adequately accounted for harmful outcomes, and how evidence about those outcomes should inform engineering and management decisions.</a:t>
            </a:r>
          </a:p>
          <a:p>
            <a:pPr algn="l"/>
            <a:r>
              <a:rPr sz="2000" b="1" i="0">
                <a:solidFill>
                  <a:srgbClr val="5C4826"/>
                </a:solidFill>
              </a:rPr>
              <a:t>The research did not establish that Instagram caused all the reported harms. The engineering question is how an organization should interpret consequential evidence about a system that may be operating as designed.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system can work as designed and still produce harmful outcomes</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lIns="27432" tIns="22860" rIns="27432" bIns="22860" anchor="t">
            <a:spAutoFit/>
          </a:bodyPr>
          <a:lstStyle/>
          <a:p>
            <a:pPr algn="ctr"/>
            <a:r>
              <a:rPr sz="2200" b="0" i="0">
                <a:solidFill>
                  <a:srgbClr val="5C4826"/>
                </a:solidFill>
              </a:rPr>
              <a:t>The observed outcome raises a question about what the system should optimize, not necessarily whether its implementation was correct.</a:t>
            </a:r>
          </a:p>
        </p:txBody>
      </p:sp>
      <p:sp>
        <p:nvSpPr>
          <p:cNvPr id="909" name="Label"/>
          <p:cNvSpPr txBox="1"/>
          <p:nvPr/>
        </p:nvSpPr>
        <p:spPr>
          <a:xfrm>
            <a:off x="548640" y="4023360"/>
            <a:ext cx="8046720" cy="1005840"/>
          </a:xfrm>
          <a:prstGeom prst="rect">
            <a:avLst/>
          </a:prstGeom>
          <a:noFill/>
        </p:spPr>
        <p:txBody>
          <a:bodyPr wrap="square" lIns="27432" tIns="22860" rIns="27432" bIns="22860" anchor="t">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kind of engineering failure could this be?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Which theory explains the Instagram outcome?</a:t>
            </a:r>
          </a:p>
        </p:txBody>
      </p:sp>
      <p:sp>
        <p:nvSpPr>
          <p:cNvPr id="900" name="Slide Number Placeholder 900"/>
          <p:cNvSpPr>
            <a:spLocks noGrp="1"/>
          </p:cNvSpPr>
          <p:nvPr>
            <p:ph type="sldNum" sz="quarter" idx="4"/>
          </p:nvPr>
        </p:nvSpPr>
        <p:spPr/>
        <p:txBody>
          <a:bodyPr/>
          <a:lstStyle/>
          <a:p>
            <a:fld id="{3DC31DEB-C161-48EB-8EC4-D4D18487B0EB}" type="slidenum">
              <a:rPr lang="en-US" smtClean="0"/>
              <a:t>22</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WHICH THEORY?</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a:p>
            <a:pPr algn="ctr"/>
            <a:r>
              <a:rPr sz="2000" b="0" i="0">
                <a:solidFill>
                  <a:srgbClr val="555960"/>
                </a:solidFill>
              </a:rPr>
              <a:t>Decisions by particular engineers, designers, or managers</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a:p>
            <a:pPr algn="ctr"/>
            <a:r>
              <a:rPr sz="2000" b="0" i="0">
                <a:solidFill>
                  <a:srgbClr val="555960"/>
                </a:solidFill>
              </a:rPr>
              <a:t>Which safeguards failed to prevent harmful experiences</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a:p>
            <a:pPr algn="ctr"/>
            <a:r>
              <a:rPr sz="2000" b="0" i="0">
                <a:solidFill>
                  <a:srgbClr val="555960"/>
                </a:solidFill>
              </a:rPr>
              <a:t>How product objectives, incentives, and authority shaped decisions</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a:p>
            <a:pPr algn="ctr"/>
            <a:r>
              <a:rPr sz="2000" b="0" i="0">
                <a:solidFill>
                  <a:srgbClr val="555960"/>
                </a:solidFill>
              </a:rPr>
              <a:t>Whether feedback about harmful outcomes reached product control</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These are hypotheses. Which model would you use, and what further evidence would you need?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failed, and why didn’t we know?</a:t>
            </a:r>
          </a:p>
        </p:txBody>
      </p:sp>
      <p:sp>
        <p:nvSpPr>
          <p:cNvPr id="900" name="Slide Number Placeholder 900"/>
          <p:cNvSpPr>
            <a:spLocks noGrp="1"/>
          </p:cNvSpPr>
          <p:nvPr>
            <p:ph type="sldNum" sz="quarter" idx="4"/>
          </p:nvPr>
        </p:nvSpPr>
        <p:spPr/>
        <p:txBody>
          <a:bodyPr/>
          <a:lstStyle/>
          <a:p>
            <a:fld id="{CB54B3D1-5BA3-40A8-8017-74A0DF3C7182}" type="slidenum">
              <a:rPr lang="en-US" smtClean="0"/>
              <a:t>23</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SPECIFICATION / DESIGN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IMPLEMENTATION</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82219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66344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Were the intended outcomes appropriate?</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the system optimize the right properties?</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it behave as intended?</a:t>
            </a:r>
          </a:p>
        </p:txBody>
      </p:sp>
      <p:sp>
        <p:nvSpPr>
          <p:cNvPr id="923" name="LevelQuestion"/>
          <p:cNvSpPr/>
          <p:nvPr/>
        </p:nvSpPr>
        <p:spPr>
          <a:xfrm>
            <a:off x="3840480" y="382219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did the research establish, and who received it?</a:t>
            </a:r>
          </a:p>
        </p:txBody>
      </p:sp>
      <p:sp>
        <p:nvSpPr>
          <p:cNvPr id="924" name="LevelQuestion"/>
          <p:cNvSpPr/>
          <p:nvPr/>
        </p:nvSpPr>
        <p:spPr>
          <a:xfrm>
            <a:off x="3840480" y="466344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decisions did it inform, and what further evidence was needed?</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failure analysis must examine both the system’s behavior and the engineering decisions that permitted it.</a:t>
            </a:r>
          </a:p>
        </p:txBody>
      </p:sp>
      <p:sp>
        <p:nvSpPr>
          <p:cNvPr id="2" name="GroupLabel"/>
          <p:cNvSpPr/>
          <p:nvPr/>
        </p:nvSpPr>
        <p:spPr>
          <a:xfrm>
            <a:off x="731520" y="914400"/>
            <a:ext cx="7863840" cy="23774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WHAT FAILED?</a:t>
            </a:r>
          </a:p>
        </p:txBody>
      </p:sp>
      <p:sp>
        <p:nvSpPr>
          <p:cNvPr id="4" name="GroupLabel"/>
          <p:cNvSpPr/>
          <p:nvPr/>
        </p:nvSpPr>
        <p:spPr>
          <a:xfrm>
            <a:off x="731520" y="3438144"/>
            <a:ext cx="7863840" cy="23774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WHY DIDN’T WE KNOW?</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24</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4</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25</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OBSERVED</a:t>
            </a:r>
          </a:p>
          <a:p>
            <a:pPr algn="ctr"/>
            <a:r>
              <a:rPr sz="2000" b="1" i="0">
                <a:solidFill>
                  <a:srgbClr val="5C4826"/>
                </a:solidFill>
              </a:rPr>
              <a:t>Two workers believed they owned the same job after a timeout.</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GENERALIZED MECHANISM</a:t>
            </a:r>
          </a:p>
          <a:p>
            <a:pPr algn="ctr"/>
            <a:r>
              <a:rPr sz="2000" b="1" i="0">
                <a:solidFill>
                  <a:srgbClr val="5C4826"/>
                </a:solidFill>
              </a:rPr>
              <a:t>A stale worker may modify a job after another worker has acquired its lease.</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UNSUPPORTED GENERALIZATION</a:t>
            </a:r>
          </a:p>
          <a:p>
            <a:pPr algn="ctr"/>
            <a:r>
              <a:rPr sz="2000" b="1" i="0">
                <a:solidFill>
                  <a:srgbClr val="5C4826"/>
                </a:solidFill>
              </a:rPr>
              <a:t>Every asynchronous operation must be idempotent.</a:t>
            </a:r>
          </a:p>
        </p:txBody>
      </p:sp>
      <p:sp>
        <p:nvSpPr>
          <p:cNvPr id="904" name="Label"/>
          <p:cNvSpPr txBox="1"/>
          <p:nvPr/>
        </p:nvSpPr>
        <p:spPr>
          <a:xfrm>
            <a:off x="731520" y="4754880"/>
            <a:ext cx="7498079" cy="502920"/>
          </a:xfrm>
          <a:prstGeom prst="rect">
            <a:avLst/>
          </a:prstGeom>
          <a:noFill/>
        </p:spPr>
        <p:txBody>
          <a:bodyPr wrap="square" lIns="27432" tIns="22860" rIns="27432" bIns="22860" anchor="t">
            <a:spAutoFit/>
          </a:bodyPr>
          <a:lstStyle/>
          <a:p>
            <a:pPr algn="ctr"/>
            <a:r>
              <a:rPr sz="2200" b="0" i="0">
                <a:solidFill>
                  <a:srgbClr val="5C4826"/>
                </a:solidFill>
              </a:rPr>
              <a:t>The question is which causal mechanism can recur — not whether a claim sounds narrow or broad.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do we establish the lesson?</a:t>
            </a:r>
          </a:p>
        </p:txBody>
      </p:sp>
      <p:sp>
        <p:nvSpPr>
          <p:cNvPr id="900" name="Slide Number Placeholder 900"/>
          <p:cNvSpPr>
            <a:spLocks noGrp="1"/>
          </p:cNvSpPr>
          <p:nvPr>
            <p:ph type="sldNum" sz="quarter" idx="4"/>
          </p:nvPr>
        </p:nvSpPr>
        <p:spPr/>
        <p:txBody>
          <a:bodyPr/>
          <a:lstStyle/>
          <a:p>
            <a:fld id="{F164AA00-212F-409D-8EDE-8F6B572B597D}" type="slidenum">
              <a:rPr lang="en-US" smtClean="0"/>
              <a:t>26</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1   What happened</a:t>
            </a:r>
          </a:p>
          <a:p>
            <a:pPr algn="ctr">
              <a:spcBef>
                <a:spcPts val="1400"/>
              </a:spcBef>
            </a:pPr>
            <a:r>
              <a:rPr sz="2000" b="0" i="0">
                <a:solidFill>
                  <a:srgbClr val="555960"/>
                </a:solidFill>
              </a:rPr>
              <a:t>the sequence of events and conditions</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2   What mechanism produced it</a:t>
            </a:r>
          </a:p>
          <a:p>
            <a:pPr algn="ctr">
              <a:spcBef>
                <a:spcPts val="1400"/>
              </a:spcBef>
            </a:pPr>
            <a:r>
              <a:rPr sz="2000" b="0" i="0">
                <a:solidFill>
                  <a:srgbClr val="555960"/>
                </a:solidFill>
              </a:rPr>
              <a:t>the causal account</a:t>
            </a:r>
          </a:p>
        </p:txBody>
      </p:sp>
      <p:sp>
        <p:nvSpPr>
          <p:cNvPr id="903" name="Label"/>
          <p:cNvSpPr txBox="1"/>
          <p:nvPr/>
        </p:nvSpPr>
        <p:spPr>
          <a:xfrm>
            <a:off x="548640" y="4983480"/>
            <a:ext cx="8046720" cy="502920"/>
          </a:xfrm>
          <a:prstGeom prst="rect">
            <a:avLst/>
          </a:prstGeom>
          <a:noFill/>
        </p:spPr>
        <p:txBody>
          <a:bodyPr wrap="square" lIns="27432" tIns="22860" rIns="27432" bIns="22860" anchor="t">
            <a:spAutoFit/>
          </a:bodyPr>
          <a:lstStyle/>
          <a:p>
            <a:pPr algn="ctr"/>
            <a:r>
              <a:rPr sz="2200" b="0" i="0">
                <a:solidFill>
                  <a:srgbClr val="5C4826"/>
                </a:solidFill>
              </a:rPr>
              <a:t>A defensible lesson is not the same as 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3   What engineers believed, and why</a:t>
            </a:r>
          </a:p>
          <a:p>
            <a:pPr algn="ctr">
              <a:spcBef>
                <a:spcPts val="1400"/>
              </a:spcBef>
            </a:pPr>
            <a:r>
              <a:rPr sz="2000" b="0" i="0">
                <a:solidFill>
                  <a:srgbClr val="555960"/>
                </a:solidFill>
              </a:rPr>
              <a:t>the reflective account</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4   What should change</a:t>
            </a:r>
          </a:p>
          <a:p>
            <a:pPr algn="ctr">
              <a:spcBef>
                <a:spcPts val="1400"/>
              </a:spcBef>
            </a:pPr>
            <a:r>
              <a:rPr sz="2000" b="0" i="0">
                <a:solidFill>
                  <a:srgbClr val="555960"/>
                </a:solidFill>
              </a:rPr>
              <a:t>the defensible lesson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27</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the one interleaving we observed — that execution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LESSON</a:t>
            </a:r>
          </a:p>
          <a:p>
            <a:pPr algn="ctr">
              <a:spcBef>
                <a:spcPts val="1200"/>
              </a:spcBef>
            </a:pPr>
            <a:r>
              <a:rPr sz="2000" b="1" i="0">
                <a:solidFill>
                  <a:srgbClr val="8E6F3E"/>
                </a:solidFill>
              </a:rPr>
              <a:t>Lease-generation invariant</a:t>
            </a:r>
          </a:p>
          <a:p>
            <a:pPr algn="ctr">
              <a:spcBef>
                <a:spcPts val="1200"/>
              </a:spcBef>
            </a:pPr>
            <a:r>
              <a:rPr sz="2000" b="0" i="0">
                <a:solidFill>
                  <a:srgbClr val="555960"/>
                </a:solidFill>
              </a:rPr>
              <a:t>covers every path that mutates a job — the whole class becomes checkable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Diagnosis reopens the design space</a:t>
            </a:r>
          </a:p>
        </p:txBody>
      </p:sp>
      <p:sp>
        <p:nvSpPr>
          <p:cNvPr id="900" name="Slide Number Placeholder 900"/>
          <p:cNvSpPr>
            <a:spLocks noGrp="1"/>
          </p:cNvSpPr>
          <p:nvPr>
            <p:ph type="sldNum" sz="quarter" idx="4"/>
          </p:nvPr>
        </p:nvSpPr>
        <p:spPr/>
        <p:txBody>
          <a:bodyPr/>
          <a:lstStyle/>
          <a:p>
            <a:fld id="{54DE72B0-FFEB-4C83-B4BD-F25961BEDFCA}" type="slidenum">
              <a:rPr lang="en-US" smtClean="0"/>
              <a:t>28</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that particular timeout failure</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reintroduction of that execution pattern</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Fix the observed timeout handling</a:t>
            </a: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Regression-test the interleaving</a:t>
            </a: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 a current lease generation</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Make all job processing idempotent</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Which intervention addresses the consequential failure class at an acceptable cost?</a:t>
            </a:r>
            <a:endParaRPr sz="2800" b="1" i="0" dirty="0">
              <a:solidFill>
                <a:schemeClr val="bg1"/>
              </a:solidFill>
            </a:endParaRP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stale-owner mutations across timing and recovery paths</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some duplicate effects, including unrelated ones</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CANDIDATE 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FAILURE CLASS ADDRESSED</a:t>
            </a:r>
            <a:endParaRPr sz="2800" b="1" i="0" dirty="0">
              <a:solidFill>
                <a:schemeClr val="bg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Where must the lesson live to reach the next decision?</a:t>
            </a:r>
          </a:p>
        </p:txBody>
      </p:sp>
      <p:sp>
        <p:nvSpPr>
          <p:cNvPr id="900" name="Slide Number Placeholder 900"/>
          <p:cNvSpPr>
            <a:spLocks noGrp="1"/>
          </p:cNvSpPr>
          <p:nvPr>
            <p:ph type="sldNum" sz="quarter" idx="4"/>
          </p:nvPr>
        </p:nvSpPr>
        <p:spPr/>
        <p:txBody>
          <a:bodyPr/>
          <a:lstStyle/>
          <a:p>
            <a:fld id="{AFA6771E-93A8-4AA7-A54D-D336B382D315}" type="slidenum">
              <a:rPr lang="en-US" smtClean="0"/>
              <a:t>29</a:t>
            </a:fld>
            <a:endParaRPr lang="en-US"/>
          </a:p>
        </p:txBody>
      </p:sp>
      <p:sp>
        <p:nvSpPr>
          <p:cNvPr id="901" name="Card"/>
          <p:cNvSpPr/>
          <p:nvPr/>
        </p:nvSpPr>
        <p:spPr>
          <a:xfrm>
            <a:off x="54864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POSTMORTEM</a:t>
            </a:r>
          </a:p>
          <a:p>
            <a:pPr algn="ctr"/>
            <a:r>
              <a:rPr sz="2200" b="1" i="0">
                <a:solidFill>
                  <a:srgbClr val="5C4826"/>
                </a:solidFill>
              </a:rPr>
              <a:t>read once, by the people already in the room</a:t>
            </a:r>
          </a:p>
        </p:txBody>
      </p:sp>
      <p:sp>
        <p:nvSpPr>
          <p:cNvPr id="902" name="Card"/>
          <p:cNvSpPr/>
          <p:nvPr/>
        </p:nvSpPr>
        <p:spPr>
          <a:xfrm>
            <a:off x="338328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MODEL</a:t>
            </a:r>
          </a:p>
          <a:p>
            <a:pPr algn="ctr"/>
            <a:r>
              <a:rPr sz="2200" b="1" i="0">
                <a:solidFill>
                  <a:srgbClr val="5C4826"/>
                </a:solidFill>
              </a:rPr>
              <a:t>present when someone next changes the worker</a:t>
            </a:r>
          </a:p>
        </p:txBody>
      </p:sp>
      <p:sp>
        <p:nvSpPr>
          <p:cNvPr id="903" name="Card"/>
          <p:cNvSpPr/>
          <p:nvPr/>
        </p:nvSpPr>
        <p:spPr>
          <a:xfrm>
            <a:off x="6217920" y="2103120"/>
            <a:ext cx="265176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IN THE GATE</a:t>
            </a:r>
          </a:p>
          <a:p>
            <a:pPr algn="ctr"/>
            <a:r>
              <a:rPr sz="2200" b="1" i="0">
                <a:solidFill>
                  <a:srgbClr val="5C4826"/>
                </a:solidFill>
              </a:rPr>
              <a:t>refuses a change that violates it</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Durable engineering knowledge must be available when future decisions depend on 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normAutofit fontScale="90000"/>
          </a:bodyPr>
          <a:lstStyle/>
          <a:p>
            <a:pPr algn="ctr"/>
            <a:r>
              <a:rPr lang="en-US" sz="4000" b="0" i="0" dirty="0">
                <a:solidFill>
                  <a:srgbClr val="000000"/>
                </a:solidFill>
              </a:rPr>
              <a:t>Knowledge Management:</a:t>
            </a:r>
            <a:br>
              <a:rPr lang="en-US" sz="4000" b="0" i="0" dirty="0">
                <a:solidFill>
                  <a:srgbClr val="000000"/>
                </a:solidFill>
              </a:rPr>
            </a:br>
            <a:r>
              <a:rPr sz="4000" b="0" i="0" dirty="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30</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5</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How will the next engineer — or agent — encounter it?</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next engineer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31</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NEW ENGINEER</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asked to change the worker’s recovery behavior</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LEASE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How would they know it exists?</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A worker may modify a job only while holding its current lease generation.</a:t>
            </a:r>
            <a:endParaRPr sz="2800" b="1" i="0" dirty="0">
              <a:solidFill>
                <a:schemeClr val="bg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agent 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CHANGE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an agent is asked to optimize the queue</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SAME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Supplied during the task, or merely hoped for?</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The obligation cannot depend on the recipient remembering an instruction.</a:t>
            </a:r>
            <a:endParaRPr sz="2800" b="1" i="0" dirty="0">
              <a:solidFill>
                <a:schemeClr val="bg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Convert the lesson into engineering structure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33</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State the invariant</a:t>
            </a:r>
          </a:p>
        </p:txBody>
      </p:sp>
      <p:sp>
        <p:nvSpPr>
          <p:cNvPr id="907" name="Card"/>
          <p:cNvSpPr/>
          <p:nvPr/>
        </p:nvSpPr>
        <p:spPr>
          <a:xfrm>
            <a:off x="3840480" y="216712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Build or revise the model</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16712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300837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84962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913" name="FooterBand"/>
          <p:cNvSpPr/>
          <p:nvPr/>
        </p:nvSpPr>
        <p:spPr>
          <a:xfrm>
            <a:off x="274320" y="5817933"/>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 failure is not a request for another gate. Diagnose what was missing, then encode it.</a:t>
            </a:r>
            <a:endParaRPr sz="2800" b="1" i="0" dirty="0">
              <a:solidFill>
                <a:schemeClr val="bg1"/>
              </a:solidFill>
            </a:endParaRPr>
          </a:p>
        </p:txBody>
      </p:sp>
      <p:sp>
        <p:nvSpPr>
          <p:cNvPr id="2" name="Block"/>
          <p:cNvSpPr/>
          <p:nvPr/>
        </p:nvSpPr>
        <p:spPr>
          <a:xfrm>
            <a:off x="731520" y="469087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300837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sensor</a:t>
            </a:r>
          </a:p>
        </p:txBody>
      </p:sp>
      <p:sp>
        <p:nvSpPr>
          <p:cNvPr id="5" name="Card"/>
          <p:cNvSpPr/>
          <p:nvPr/>
        </p:nvSpPr>
        <p:spPr>
          <a:xfrm>
            <a:off x="3840480" y="384962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validator</a:t>
            </a:r>
          </a:p>
        </p:txBody>
      </p:sp>
      <p:sp>
        <p:nvSpPr>
          <p:cNvPr id="6" name="Card"/>
          <p:cNvSpPr/>
          <p:nvPr/>
        </p:nvSpPr>
        <p:spPr>
          <a:xfrm>
            <a:off x="3840480" y="469087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constraint or gate</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WAS MISSING?</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a:t>
            </a:r>
            <a:endParaRPr sz="2800" b="1" i="0" dirty="0">
              <a:solidFill>
                <a:schemeClr val="bg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34</a:t>
            </a:fld>
            <a:endParaRPr lang="en-US"/>
          </a:p>
        </p:txBody>
      </p:sp>
      <p:sp>
        <p:nvSpPr>
          <p:cNvPr id="901" name="Lead"/>
          <p:cNvSpPr txBox="1"/>
          <p:nvPr/>
        </p:nvSpPr>
        <p:spPr>
          <a:xfrm>
            <a:off x="411480" y="868680"/>
            <a:ext cx="8321040" cy="914400"/>
          </a:xfrm>
          <a:prstGeom prst="rect">
            <a:avLst/>
          </a:prstGeom>
          <a:noFill/>
        </p:spPr>
        <p:txBody>
          <a:bodyPr wrap="square" lIns="27432" tIns="22860" rIns="27432" bIns="22860" anchor="t">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RELEASE GATE</a:t>
            </a:r>
          </a:p>
        </p:txBody>
      </p:sp>
      <p:sp>
        <p:nvSpPr>
          <p:cNvPr id="2" name="FooterBand">
            <a:extLst>
              <a:ext uri="{FF2B5EF4-FFF2-40B4-BE49-F238E27FC236}">
                <a16:creationId xmlns:a16="http://schemas.microsoft.com/office/drawing/2014/main" id="{A01D4652-4B3B-10DE-B286-362A6003B509}"/>
              </a:ext>
            </a:extLst>
          </p:cNvPr>
          <p:cNvSpPr/>
          <p:nvPr/>
        </p:nvSpPr>
        <p:spPr>
          <a:xfrm>
            <a:off x="274320" y="5943600"/>
            <a:ext cx="8595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1" dirty="0">
                <a:solidFill>
                  <a:schemeClr val="bg1"/>
                </a:solidFill>
              </a:rPr>
              <a:t>Recurring failure should leave structure behind.</a:t>
            </a:r>
            <a:endParaRPr sz="2000" b="1" i="1" dirty="0">
              <a:solidFill>
                <a:schemeClr val="bg1"/>
              </a:solidFill>
            </a:endParaRPr>
          </a:p>
        </p:txBody>
      </p:sp>
      <p:sp>
        <p:nvSpPr>
          <p:cNvPr id="4" name="Qualification"/>
          <p:cNvSpPr txBox="1"/>
          <p:nvPr/>
        </p:nvSpPr>
        <p:spPr>
          <a:xfrm>
            <a:off x="411480" y="5029200"/>
            <a:ext cx="8321040" cy="566928"/>
          </a:xfrm>
          <a:prstGeom prst="rect">
            <a:avLst/>
          </a:prstGeom>
          <a:noFill/>
        </p:spPr>
        <p:txBody>
          <a:bodyPr wrap="square" lIns="27432" tIns="22860" rIns="27432" bIns="22860" anchor="t">
            <a:spAutoFit/>
          </a:bodyPr>
          <a:lstStyle/>
          <a:p>
            <a:pPr algn="l"/>
            <a:r>
              <a:rPr sz="2000" b="1" i="0">
                <a:solidFill>
                  <a:srgbClr val="5C4826"/>
                </a:solidFill>
              </a:rPr>
              <a:t>Controls can constrain engineering work. They cannot guarantee compliance when the organization controlling them intends to circumvent them.</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8600</TotalTime>
  <Words>5950</Words>
  <Application>Microsoft Macintosh PowerPoint</Application>
  <PresentationFormat>On-screen Show (4:3)</PresentationFormat>
  <Paragraphs>497</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Times</vt:lpstr>
      <vt:lpstr>Arial</vt:lpstr>
      <vt:lpstr>Calibri</vt:lpstr>
      <vt:lpstr>Purdue1</vt:lpstr>
      <vt:lpstr>PowerPoint Presentation</vt:lpstr>
      <vt:lpstr>Dieselgate</vt:lpstr>
      <vt:lpstr>Dieselgate: read this first</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2009–2016: The engineering system keeps producing the result</vt:lpstr>
      <vt:lpstr>2012: Reality provides another observation</vt:lpstr>
      <vt:lpstr>2014–15: Someone outside the system measures reality</vt:lpstr>
      <vt:lpstr>What theory explains it?</vt:lpstr>
      <vt:lpstr>Human error</vt:lpstr>
      <vt:lpstr>Swiss cheese</vt:lpstr>
      <vt:lpstr>Organizational causation</vt:lpstr>
      <vt:lpstr>STAMP: Model the control structure</vt:lpstr>
      <vt:lpstr>A broader model is not automatically a better model</vt:lpstr>
      <vt:lpstr>Match causal breadth to the decision</vt:lpstr>
      <vt:lpstr>Let’s try ourselves: Diagnose a failure</vt:lpstr>
      <vt:lpstr>Instagram: read this first</vt:lpstr>
      <vt:lpstr>A system can work as designed and still produce harmful outcomes</vt:lpstr>
      <vt:lpstr>Which theory explains the Instagram outcome?</vt:lpstr>
      <vt:lpstr>What failed, and why didn’t we know?</vt:lpstr>
      <vt:lpstr>Convert failure into engineering knowledge</vt:lpstr>
      <vt:lpstr>What does the evidence actually support?</vt:lpstr>
      <vt:lpstr>How do we establish the lesson?</vt:lpstr>
      <vt:lpstr>Preserve the example or preserve the lesson?</vt:lpstr>
      <vt:lpstr>Diagnosis reopens the design space</vt:lpstr>
      <vt:lpstr>Where must the lesson live to reach the next decision?</vt:lpstr>
      <vt:lpstr>Knowledge Management: Make the organization harder to surprise the same way twice</vt:lpstr>
      <vt:lpstr>How will the next engineer know?</vt:lpstr>
      <vt:lpstr>How will the agent know?</vt:lpstr>
      <vt:lpstr>Convert the lesson into engineering structure</vt:lpstr>
      <vt:lpstr>Volkswagen, one last time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Steve France</cp:lastModifiedBy>
  <cp:revision>463</cp:revision>
  <dcterms:created xsi:type="dcterms:W3CDTF">2020-02-21T23:00:33Z</dcterms:created>
  <dcterms:modified xsi:type="dcterms:W3CDTF">2026-10-15T12:29:40Z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