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two slides answer it by making the gap grow.</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 third and final appearance.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two sections back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last slide: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2060000"/>
            <a:ext cx="4100000" cy="200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14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20000"/>
            <a:ext cx="2600000" cy="1080000"/>
          </a:xfrm>
          <a:prstGeom prst="rect">
            <a:avLst/>
          </a:prstGeom>
          <a:solidFill>
            <a:srgbClr val="F5F1E8"/>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35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2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19050">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200" b="0" i="1" dirty="0">
                <a:solidFill>
                  <a:srgbClr val="5C4826"/>
                </a:solidFill>
              </a:rPr>
              <a:t xml:space="preserve">depends on the delegate</a:t>
            </a:r>
          </a:p>
        </p:txBody>
      </p:sp>
      <p:sp>
        <p:nvSpPr>
          <p:cNvPr id="120" name="Ital"/>
          <p:cNvSpPr txBox="1"/>
          <p:nvPr/>
        </p:nvSpPr>
        <p:spPr>
          <a:xfrm>
            <a:off x="365760" y="4790000"/>
            <a:ext cx="533424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350000"/>
            <a:ext cx="8412480" cy="94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 xml:space="preserve">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 xml:space="preserve">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 xml:space="preserve">ACCOUNT</a:t>
            </a:r>
          </a:p>
          <a:p>
            <a:pPr algn="l">
              <a:spcAft>
                <a:spcPts val="250"/>
              </a:spcAft>
              <a:buNone/>
            </a:pPr>
            <a:r>
              <a:rPr lang="en-US" sz="1050" b="0" i="0" dirty="0">
                <a:solidFill>
                  <a:srgbClr val="5C4826"/>
                </a:solidFill>
              </a:rPr>
              <a:t xml:space="preserve">quota_type {metered, unlimited}</a:t>
            </a:r>
          </a:p>
          <a:p>
            <a:pPr algn="l">
              <a:spcAft>
                <a:spcPts val="250"/>
              </a:spcAft>
              <a:buNone/>
            </a:pPr>
            <a:r>
              <a:rPr lang="en-US" sz="1050" b="0" i="0" dirty="0">
                <a:solidFill>
                  <a:srgbClr val="5C4826"/>
                </a:solidFill>
              </a:rPr>
              <a:t xml:space="preserve">credits_remaining</a:t>
            </a:r>
          </a:p>
          <a:p>
            <a:pPr algn="l">
              <a:spcAft>
                <a:spcPts val="0"/>
              </a:spcAft>
              <a:buNone/>
            </a:pPr>
            <a:r>
              <a:rPr lang="en-US" sz="1050" b="0" i="0" dirty="0">
                <a:solidFill>
                  <a:srgbClr val="5C4826"/>
                </a:solidFill>
              </a:rPr>
              <a:t xml:space="preserve">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 xml:space="preserve">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 xml:space="preserve">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200" b="1" i="0" dirty="0">
                <a:solidFill>
                  <a:srgbClr val="8E6F3E"/>
                </a:solidFill>
              </a:rPr>
              <a:t xml:space="preserve">EVERYTHING ABOUT THE IMPLEMENTATION</a:t>
            </a:r>
          </a:p>
          <a:p>
            <a:pPr algn="ctr">
              <a:spcAft>
                <a:spcPts val="0"/>
              </a:spcAft>
              <a:buNone/>
            </a:pPr>
            <a:r>
              <a:rPr lang="en-US" sz="1100" b="0" i="1" dirty="0">
                <a:solidFill>
                  <a:srgbClr val="5C4826"/>
                </a:solidFill>
              </a:rPr>
              <a:t xml:space="preserve">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persistence choice</a:t>
            </a:r>
          </a:p>
        </p:txBody>
      </p:sp>
      <p:sp>
        <p:nvSpPr>
          <p:cNvPr id="121" name="AgentBox2"/>
          <p:cNvSpPr txBox="1"/>
          <p:nvPr/>
        </p:nvSpPr>
        <p:spPr>
          <a:xfrm>
            <a:off x="3900000" y="2280000"/>
            <a:ext cx="4878240" cy="252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query performance</a:t>
            </a:r>
          </a:p>
        </p:txBody>
      </p:sp>
      <p:sp>
        <p:nvSpPr>
          <p:cNvPr id="122" name="AgentBox3"/>
          <p:cNvSpPr txBox="1"/>
          <p:nvPr/>
        </p:nvSpPr>
        <p:spPr>
          <a:xfrm>
            <a:off x="3900000" y="2620000"/>
            <a:ext cx="4878240" cy="218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join choice</a:t>
            </a:r>
          </a:p>
        </p:txBody>
      </p:sp>
      <p:sp>
        <p:nvSpPr>
          <p:cNvPr id="123" name="AgentBox4"/>
          <p:cNvSpPr txBox="1"/>
          <p:nvPr/>
        </p:nvSpPr>
        <p:spPr>
          <a:xfrm>
            <a:off x="3900000" y="2960000"/>
            <a:ext cx="4878240" cy="184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this transaction boundary</a:t>
            </a:r>
          </a:p>
          <a:p>
            <a:pPr algn="l">
              <a:spcAft>
                <a:spcPts val="0"/>
              </a:spcAft>
              <a:buNone/>
            </a:pPr>
            <a:r>
              <a:rPr lang="en-US" sz="1200" b="0" i="0" dirty="0">
                <a:solidFill>
                  <a:srgbClr val="5C4826"/>
                </a:solidFill>
              </a:rPr>
              <a:t xml:space="preserve">+ Structure the query this way</a:t>
            </a:r>
          </a:p>
          <a:p>
            <a:pPr algn="l">
              <a:spcAft>
                <a:spcPts val="0"/>
              </a:spcAft>
              <a:buNone/>
            </a:pPr>
            <a:r>
              <a:rPr lang="en-US" sz="1200" b="0" i="0" dirty="0">
                <a:solidFill>
                  <a:srgbClr val="5C4826"/>
                </a:solidFill>
              </a:rPr>
              <a:t xml:space="preserve">+ Put this logic in…</a:t>
            </a:r>
          </a:p>
        </p:txBody>
      </p:sp>
      <p:sp>
        <p:nvSpPr>
          <p:cNvPr id="124" name="AgentBox5"/>
          <p:cNvSpPr txBox="1"/>
          <p:nvPr/>
        </p:nvSpPr>
        <p:spPr>
          <a:xfrm>
            <a:off x="3900000" y="3610000"/>
            <a:ext cx="4878240" cy="119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Name this variable quota_mode</a:t>
            </a:r>
          </a:p>
        </p:txBody>
      </p:sp>
      <p:sp>
        <p:nvSpPr>
          <p:cNvPr id="125" name="AgentBox6"/>
          <p:cNvSpPr txBox="1"/>
          <p:nvPr/>
        </p:nvSpPr>
        <p:spPr>
          <a:xfrm>
            <a:off x="3900000" y="3890000"/>
            <a:ext cx="4878240" cy="91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60" name="Oops"/>
          <p:cNvSpPr txBox="1"/>
          <p:nvPr/>
        </p:nvSpPr>
        <p:spPr>
          <a:xfrm>
            <a:off x="365760" y="5010000"/>
            <a:ext cx="8412480" cy="82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 xml:space="preserve">Oops. We are writing the implementation again.</a:t>
            </a:r>
          </a:p>
        </p:txBody>
      </p:sp>
      <p:sp>
        <p:nvSpPr>
          <p:cNvPr id="161" name="Close"/>
          <p:cNvSpPr txBox="1"/>
          <p:nvPr/>
        </p:nvSpPr>
        <p:spPr>
          <a:xfrm>
            <a:off x="365760" y="5890000"/>
            <a:ext cx="8412480" cy="50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Axis"/>
          <p:cNvSpPr/>
          <p:nvPr/>
        </p:nvSpPr>
        <p:spPr>
          <a:xfrm>
            <a:off x="365760" y="168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185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 xml:space="preserve">TOO LITTLE</a:t>
            </a:r>
            <a:r>
              <a:rPr lang="en-US" sz="1100" b="0" i="1" dirty="0">
                <a:solidFill>
                  <a:srgbClr val="5C4826"/>
                </a:solidFill>
              </a:rPr>
              <a:t xml:space="preserve">   product model</a:t>
            </a:r>
          </a:p>
        </p:txBody>
      </p:sp>
      <p:sp>
        <p:nvSpPr>
          <p:cNvPr id="102" name="TooMuch"/>
          <p:cNvSpPr txBox="1"/>
          <p:nvPr/>
        </p:nvSpPr>
        <p:spPr>
          <a:xfrm>
            <a:off x="5778240" y="1850000"/>
            <a:ext cx="3000000" cy="380000"/>
          </a:xfrm>
          <a:prstGeom prst="rect">
            <a:avLst/>
          </a:prstGeom>
          <a:noFill/>
          <a:ln>
            <a:noFill/>
          </a:ln>
        </p:spPr>
        <p:txBody>
          <a:bodyPr wrap="square" lIns="0" tIns="0" rIns="0" bIns="0" anchor="ctr"/>
          <a:lstStyle/>
          <a:p>
            <a:pPr algn="r">
              <a:spcAft>
                <a:spcPts val="0"/>
              </a:spcAft>
              <a:buNone/>
            </a:pPr>
            <a:r>
              <a:rPr lang="en-US" sz="1100" b="0" i="1" dirty="0">
                <a:solidFill>
                  <a:srgbClr val="5C4826"/>
                </a:solidFill>
              </a:rPr>
              <a:t xml:space="preserve">code   </a:t>
            </a:r>
            <a:r>
              <a:rPr lang="en-US" sz="1400" b="1" i="0" dirty="0">
                <a:solidFill>
                  <a:srgbClr val="8E6F3E"/>
                </a:solidFill>
              </a:rPr>
              <a:t xml:space="preserve">TOO MUCH</a:t>
            </a:r>
          </a:p>
        </p:txBody>
      </p:sp>
      <p:sp>
        <p:nvSpPr>
          <p:cNvPr id="103" name="WarnLeft"/>
          <p:cNvSpPr txBox="1"/>
          <p:nvPr/>
        </p:nvSpPr>
        <p:spPr>
          <a:xfrm>
            <a:off x="365760" y="1000000"/>
            <a:ext cx="3800000" cy="60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 xml:space="preserve">Under-specify the delegate — repeated bad realization choices, correction and rework, unreliable outcomes.</a:t>
            </a:r>
          </a:p>
        </p:txBody>
      </p:sp>
      <p:sp>
        <p:nvSpPr>
          <p:cNvPr id="104" name="WarnRight"/>
          <p:cNvSpPr txBox="1"/>
          <p:nvPr/>
        </p:nvSpPr>
        <p:spPr>
          <a:xfrm>
            <a:off x="4978240" y="1000000"/>
            <a:ext cx="3800000" cy="60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 xml:space="preserve">Over-specify the delegate — modeling becomes implementation, freedom disappears, delegation savings disappear.</a:t>
            </a:r>
          </a:p>
        </p:txBody>
      </p:sp>
      <p:sp>
        <p:nvSpPr>
          <p:cNvPr id="105" name="Center"/>
          <p:cNvSpPr txBox="1"/>
          <p:nvPr/>
        </p:nvSpPr>
        <p:spPr>
          <a:xfrm>
            <a:off x="365760" y="233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 xml:space="preserve">What is the least scaffolding this delegate needs for reliable realization?</a:t>
            </a:r>
          </a:p>
        </p:txBody>
      </p:sp>
      <p:sp>
        <p:nvSpPr>
          <p:cNvPr id="106" name="ProdQ"/>
          <p:cNvSpPr txBox="1"/>
          <p:nvPr/>
        </p:nvSpPr>
        <p:spPr>
          <a:xfrm>
            <a:off x="36576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PRODUCT QUESTION</a:t>
            </a:r>
          </a:p>
          <a:p>
            <a:pPr algn="ctr">
              <a:spcAft>
                <a:spcPts val="0"/>
              </a:spcAft>
              <a:buNone/>
            </a:pPr>
            <a:r>
              <a:rPr lang="en-US" sz="1200" b="0" i="0" dirty="0">
                <a:solidFill>
                  <a:srgbClr val="5C4826"/>
                </a:solidFill>
              </a:rPr>
              <a:t xml:space="preserve">What distinctions must the model preserve?</a:t>
            </a:r>
          </a:p>
        </p:txBody>
      </p:sp>
      <p:sp>
        <p:nvSpPr>
          <p:cNvPr id="107" name="DelQ"/>
          <p:cNvSpPr txBox="1"/>
          <p:nvPr/>
        </p:nvSpPr>
        <p:spPr>
          <a:xfrm>
            <a:off x="467824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DELEGATION QUESTION</a:t>
            </a:r>
          </a:p>
          <a:p>
            <a:pPr algn="ctr">
              <a:spcAft>
                <a:spcPts val="0"/>
              </a:spcAft>
              <a:buNone/>
            </a:pPr>
            <a:r>
              <a:rPr lang="en-US" sz="1200" b="0" i="0" dirty="0">
                <a:solidFill>
                  <a:srgbClr val="5C4826"/>
                </a:solidFill>
              </a:rPr>
              <a:t xml:space="preserve">What additional distinctions must this fabricator be given?</a:t>
            </a:r>
          </a:p>
        </p:txBody>
      </p:sp>
      <p:sp>
        <p:nvSpPr>
          <p:cNvPr id="110" name="Cap1"/>
          <p:cNvSpPr txBox="1"/>
          <p:nvPr/>
        </p:nvSpPr>
        <p:spPr>
          <a:xfrm>
            <a:off x="36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CAPABLE</a:t>
            </a:r>
          </a:p>
          <a:p>
            <a:pPr algn="ctr">
              <a:spcAft>
                <a:spcPts val="0"/>
              </a:spcAft>
              <a:buNone/>
            </a:pPr>
            <a:r>
              <a:rPr lang="en-US" sz="1100" b="1" i="0" dirty="0">
                <a:solidFill>
                  <a:srgbClr val="5C4826"/>
                </a:solidFill>
              </a:rPr>
              <a:t xml:space="preserve">DELEGATE</a:t>
            </a:r>
          </a:p>
        </p:txBody>
      </p:sp>
      <p:sp>
        <p:nvSpPr>
          <p:cNvPr id="111" name="Cap2"/>
          <p:cNvSpPr txBox="1"/>
          <p:nvPr/>
        </p:nvSpPr>
        <p:spPr>
          <a:xfrm>
            <a:off x="214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LESS SCAFFOLDING</a:t>
            </a:r>
          </a:p>
          <a:p>
            <a:pPr algn="ctr">
              <a:spcAft>
                <a:spcPts val="0"/>
              </a:spcAft>
              <a:buNone/>
            </a:pPr>
            <a:r>
              <a:rPr lang="en-US" sz="1100" b="1" i="0" dirty="0">
                <a:solidFill>
                  <a:srgbClr val="5C4826"/>
                </a:solidFill>
              </a:rPr>
              <a:t xml:space="preserve">NEEDED</a:t>
            </a:r>
          </a:p>
        </p:txBody>
      </p:sp>
      <p:sp>
        <p:nvSpPr>
          <p:cNvPr id="112" name="Cap3"/>
          <p:cNvSpPr txBox="1"/>
          <p:nvPr/>
        </p:nvSpPr>
        <p:spPr>
          <a:xfrm>
            <a:off x="392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LEGITIMATE</a:t>
            </a:r>
          </a:p>
          <a:p>
            <a:pPr algn="ctr">
              <a:spcAft>
                <a:spcPts val="0"/>
              </a:spcAft>
              <a:buNone/>
            </a:pPr>
            <a:r>
              <a:rPr lang="en-US" sz="1100" b="1" i="0" dirty="0">
                <a:solidFill>
                  <a:srgbClr val="5C4826"/>
                </a:solidFill>
              </a:rPr>
              <a:t xml:space="preserve">FREEDOM</a:t>
            </a:r>
          </a:p>
        </p:txBody>
      </p:sp>
      <p:sp>
        <p:nvSpPr>
          <p:cNvPr id="116" name="Arr1"/>
          <p:cNvSpPr/>
          <p:nvPr/>
        </p:nvSpPr>
        <p:spPr>
          <a:xfrm>
            <a:off x="192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1"/>
          <p:cNvSpPr txBox="1"/>
          <p:nvPr/>
        </p:nvSpPr>
        <p:spPr>
          <a:xfrm>
            <a:off x="56843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08" name="Wall2"/>
          <p:cNvSpPr txBox="1"/>
          <p:nvPr/>
        </p:nvSpPr>
        <p:spPr>
          <a:xfrm>
            <a:off x="57224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27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 xml:space="preserve">PRODUCT OBLIGATION</a:t>
            </a:r>
          </a:p>
          <a:p>
            <a:pPr algn="ctr">
              <a:spcAft>
                <a:spcPts val="0"/>
              </a:spcAft>
              <a:buNone/>
            </a:pPr>
            <a:r>
              <a:rPr lang="en-US" sz="1600" b="1" i="0" dirty="0">
                <a:solidFill>
                  <a:srgbClr val="5C4826"/>
                </a:solidFill>
              </a:rPr>
              <a:t xml:space="preserve">unchanged</a:t>
            </a:r>
          </a:p>
        </p:txBody>
      </p:sp>
      <p:sp>
        <p:nvSpPr>
          <p:cNvPr id="130" name="QRPlaceholder" descr="Dashed outline marking the slot where the feedback form's QR code will go."/>
          <p:cNvSpPr txBox="1"/>
          <p:nvPr/>
        </p:nvSpPr>
        <p:spPr>
          <a:xfrm>
            <a:off x="7878240" y="5300000"/>
            <a:ext cx="900000" cy="980000"/>
          </a:xfrm>
          <a:prstGeom prst="rect">
            <a:avLst/>
          </a:prstGeom>
          <a:solidFill>
            <a:srgbClr val="FBF8F2"/>
          </a:solidFill>
          <a:ln w="15875">
            <a:solidFill>
              <a:srgbClr val="C9B991"/>
            </a:solidFill>
            <a:prstDash val="dash"/>
          </a:ln>
        </p:spPr>
        <p:txBody>
          <a:bodyPr wrap="square" lIns="27432" tIns="27432" rIns="27432" bIns="22860" anchor="b"/>
          <a:lstStyle/>
          <a:p>
            <a:pPr algn="ctr">
              <a:spcAft>
                <a:spcPts val="0"/>
              </a:spcAft>
              <a:buNone/>
            </a:pPr>
            <a:r>
              <a:rPr lang="en-US" sz="900" b="0" i="0" dirty="0">
                <a:solidFill>
                  <a:srgbClr val="5C4826"/>
                </a:solidFill>
              </a:rPr>
              <a:t xml:space="preserve">Feedback QR</a:t>
            </a:r>
          </a:p>
        </p:txBody>
      </p:sp>
      <p:grpSp>
        <p:nvGrpSpPr>
          <p:cNvPr id="131" name="QRVoidMark" descr="A large red X across the slot: the feedback form QR code has not been added yet."/>
          <p:cNvGrpSpPr/>
          <p:nvPr/>
        </p:nvGrpSpPr>
        <p:grpSpPr>
          <a:xfrm>
            <a:off x="8018240" y="5390000"/>
            <a:ext cx="620000" cy="620000"/>
            <a:chOff x="8018240" y="5390000"/>
            <a:chExt cx="620000" cy="620000"/>
          </a:xfrm>
        </p:grpSpPr>
        <p:cxnSp>
          <p:nvCxnSpPr>
            <p:cNvPr id="132" name="QRVoidStrokeTLBR"/>
            <p:cNvCxnSpPr/>
            <p:nvPr/>
          </p:nvCxnSpPr>
          <p:spPr>
            <a:xfrm>
              <a:off x="8018240" y="5390000"/>
              <a:ext cx="620000" cy="620000"/>
            </a:xfrm>
            <a:prstGeom prst="straightConnector1">
              <a:avLst/>
            </a:prstGeom>
            <a:ln w="25400" cap="rnd">
              <a:solidFill>
                <a:srgbClr val="C00000"/>
              </a:solidFill>
              <a:round/>
            </a:ln>
          </p:spPr>
        </p:cxnSp>
        <p:cxnSp>
          <p:nvCxnSpPr>
            <p:cNvPr id="133" name="QRVoidStrokeTRBL"/>
            <p:cNvCxnSpPr/>
            <p:nvPr/>
          </p:nvCxnSpPr>
          <p:spPr>
            <a:xfrm flipH="1">
              <a:off x="8018240" y="5390000"/>
              <a:ext cx="620000" cy="620000"/>
            </a:xfrm>
            <a:prstGeom prst="straightConnector1">
              <a:avLst/>
            </a:prstGeom>
            <a:ln w="25400" cap="rnd">
              <a:solidFill>
                <a:srgbClr val="C00000"/>
              </a:solidFill>
              <a:roun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08"/>
                                        </p:tgtEl>
                                        <p:attrNameLst>
                                          <p:attrName>style.visibility</p:attrName>
                                        </p:attrNameLst>
                                      </p:cBhvr>
                                      <p:to>
                                        <p:strVal val="visible"/>
                                      </p:to>
                                    </p:set>
                                    <p:animEffect transition="in" filter="fade">
                                      <p:cBhvr>
                                        <p:cTn id="52" dur="500"/>
                                        <p:tgtEl>
                                          <p:spTgt spid="108"/>
                                        </p:tgtEl>
                                      </p:cBhvr>
                                    </p:animEffect>
                                  </p:childTnLst>
                                </p:cTn>
                              </p:par>
                              <p:par>
                                <p:cTn id="53" presetID="10" presetClass="entr" presetSubtype="0" fill="hold" nodeType="withEffect">
                                  <p:stCondLst>
                                    <p:cond delay="0"/>
                                  </p:stCondLst>
                                  <p:childTnLst>
                                    <p:set>
                                      <p:cBhvr>
                                        <p:cTn id="54" dur="1" fill="hold">
                                          <p:stCondLst>
                                            <p:cond delay="0"/>
                                          </p:stCondLst>
                                        </p:cTn>
                                        <p:tgtEl>
                                          <p:spTgt spid="119"/>
                                        </p:tgtEl>
                                        <p:attrNameLst>
                                          <p:attrName>style.visibility</p:attrName>
                                        </p:attrNameLst>
                                      </p:cBhvr>
                                      <p:to>
                                        <p:strVal val="visible"/>
                                      </p:to>
                                    </p:set>
                                    <p:animEffect transition="in" filter="fade">
                                      <p:cBhvr>
                                        <p:cTn id="55" dur="500"/>
                                        <p:tgtEl>
                                          <p:spTgt spid="119"/>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30"/>
                                        </p:tgtEl>
                                        <p:attrNameLst>
                                          <p:attrName>style.visibility</p:attrName>
                                        </p:attrNameLst>
                                      </p:cBhvr>
                                      <p:to>
                                        <p:strVal val="visible"/>
                                      </p:to>
                                    </p:set>
                                    <p:animEffect transition="in" filter="fade">
                                      <p:cBhvr>
                                        <p:cTn id="60" dur="500"/>
                                        <p:tgtEl>
                                          <p:spTgt spid="130"/>
                                        </p:tgtEl>
                                      </p:cBhvr>
                                    </p:animEffect>
                                  </p:childTnLst>
                                </p:cTn>
                              </p:par>
                              <p:par>
                                <p:cTn id="61" presetID="10" presetClass="entr" presetSubtype="0" fill="hold" nodeType="withEffect">
                                  <p:stCondLst>
                                    <p:cond delay="0"/>
                                  </p:stCondLst>
                                  <p:childTnLst>
                                    <p:set>
                                      <p:cBhvr>
                                        <p:cTn id="62" dur="1" fill="hold">
                                          <p:stCondLst>
                                            <p:cond delay="0"/>
                                          </p:stCondLst>
                                        </p:cTn>
                                        <p:tgtEl>
                                          <p:spTgt spid="131"/>
                                        </p:tgtEl>
                                        <p:attrNameLst>
                                          <p:attrName>style.visibility</p:attrName>
                                        </p:attrNameLst>
                                      </p:cBhvr>
                                      <p:to>
                                        <p:strVal val="visible"/>
                                      </p:to>
                                    </p:set>
                                    <p:animEffect transition="in" filter="fade">
                                      <p:cBhvr>
                                        <p:cTn id="63"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