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3's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two slides answer it by making the gap grow.</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Spine strip: QUALITY highlighted, the fourth of the four questions — is the reduction adequate for the question, and does its representation make the intended interpretation sufficiently likely? That is exactly what correspondence tests, and it is the last cell the lecture lights.</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Placed after the synthesis — “Modeling is purposeful reduction” — and immediately before “The cost discussion”. Its original anchor was the mid-lecture Reduce activity, which has been cut, so the break now separates the four sections from the closing cost argument.</a:t>
            </a:r>
          </a:p>
          <a:p>
            <a:r>
              <a:rPr dirty="0"/>
              <a:t>[OPEN QUESTION for the author: the content brief never asked for a stretch break. Both its existence and this placement are recommendations, still unratified.]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Spine strip: PROPERTY highlighted — the claim this section makes expressible is that the model's constraints hold across every realization of it. The strip does not advance in section order and is not meant to: each header golds the one cell its section is about, so Section 3 golds MODEL after this one golds PROPERTY.</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on “Too much reduction loses the obligation”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ENDING. Nothing follows this slide — no summary, no outro. Land the close and stop.</a:t>
            </a:r>
          </a:p>
          <a:p>
            <a:r>
              <a:rPr lang="en-US" dirty="0"/>
              <a:t>ON ARRIVAL — the continuum only: too little at one end, too much at the other. Too little is the product model on its own; too much is the code itself.</a:t>
            </a:r>
          </a:p>
          <a:p>
            <a:r>
              <a:rPr lang="en-US" dirty="0"/>
              <a:t>CLICK 1 — the two failure modes, one at each end. Under-specify and you get the previous slide — “What if the agent keeps choosing badly?”: repeated bad realization choices, correction, rework, unreliable outcomes. Over-specify and modeling becomes implementation, the freedom disappears, and the savings you delegated for disappear with it.</a:t>
            </a:r>
          </a:p>
          <a:p>
            <a:r>
              <a:rPr lang="en-US" dirty="0"/>
              <a:t>CLICK 2 — the question the whole lecture has been walking toward. Read it out. It is the largest thing on the slide because it is the thing to remember.</a:t>
            </a:r>
          </a:p>
          <a:p>
            <a:r>
              <a:rPr lang="en-US" dirty="0"/>
              <a:t>CLICK 3 — and these are two different questions, not one. The product question asks what distinctions the model must preserve. The delegation question asks what additional distinctions THIS fabricator must be given. Section 3's per-distinction move — make every distinction earn its place, ask what this one buys us — belongs to the first question; the second is new.</a:t>
            </a:r>
          </a:p>
          <a:p>
            <a:r>
              <a:rPr lang="en-US" dirty="0"/>
              <a:t>CLICKS 4–7 — the recovered claim, and the only optimistic note in the coda. A more capable delegate needs less scaffolding, which gives back more legitimate freedom. Then the wall: the product obligation did not move. Capability can reduce scaffolding. It cannot reduce what must be true.</a:t>
            </a:r>
          </a:p>
          <a:p>
            <a:r>
              <a:rPr lang="en-US" dirty="0"/>
              <a:t>Better reasoning cannot recover consequential intent the representation failed to encode.</a:t>
            </a:r>
          </a:p>
          <a:p>
            <a:r>
              <a:rPr lang="en-US" dirty="0"/>
              <a:t>THE SPOKEN CLOSE. GenAI does not make modeling disappear. It changes the economic question. There are two sets of distinctions now — the ones the product requires, and the extra ones this delegate needs — and if the second set grows until we are specifying every implementation choice, we have lost the economic advantage we were trying to get from delegation. Point back at the center question and leave it with them.</a:t>
            </a:r>
          </a:p>
          <a:p>
            <a:r>
              <a:rPr lang="en-US" dirty="0"/>
              <a:t>Then one sentence of next time: Lecture 2 moves from one model to systems of models — how models refine into other models, and how a set of them stays trustworthy together. Stop there.</a:t>
            </a:r>
          </a:p>
          <a:p>
            <a:r>
              <a:rPr lang="en-US" dirty="0"/>
              <a:t>[QR placeholder — the feedback form URL does not exist yet; the void mark stands in. A finisher unit drops in the real QR PNG with alt text = URL. This is the deck's only QR mark: both activity slides' marks were deleted with the activities.]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2060000"/>
            <a:ext cx="4100000" cy="200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14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SCAFFOLDING</a:t>
            </a:r>
            <a:r>
              <a:rPr lang="en-US" sz="1200" b="0" i="0" dirty="0">
                <a:solidFill>
                  <a:srgbClr val="5C4826"/>
                </a:solidFill>
              </a:rPr>
              <a:t xml:space="preserve">  —  what this agent needs</a:t>
            </a:r>
          </a:p>
        </p:txBody>
      </p:sp>
      <p:sp>
        <p:nvSpPr>
          <p:cNvPr id="104" name="ObligCore"/>
          <p:cNvSpPr txBox="1"/>
          <p:nvPr/>
        </p:nvSpPr>
        <p:spPr>
          <a:xfrm>
            <a:off x="1732880" y="2520000"/>
            <a:ext cx="2600000" cy="1080000"/>
          </a:xfrm>
          <a:prstGeom prst="rect">
            <a:avLst/>
          </a:prstGeom>
          <a:solidFill>
            <a:srgbClr val="F5F1E8"/>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 xml:space="preserve">OBLIGATION</a:t>
            </a:r>
          </a:p>
          <a:p>
            <a:pPr algn="ctr">
              <a:spcAft>
                <a:spcPts val="0"/>
              </a:spcAft>
              <a:buNone/>
            </a:pPr>
            <a:r>
              <a:rPr lang="en-US" sz="1200" b="0" i="0" dirty="0">
                <a:solidFill>
                  <a:srgbClr val="555960"/>
                </a:solidFill>
              </a:rPr>
              <a:t xml:space="preserve">what must be true</a:t>
            </a:r>
          </a:p>
        </p:txBody>
      </p:sp>
      <p:sp>
        <p:nvSpPr>
          <p:cNvPr id="105" name="DofL"/>
          <p:cNvSpPr txBox="1"/>
          <p:nvPr/>
        </p:nvSpPr>
        <p:spPr>
          <a:xfrm>
            <a:off x="465760" y="4235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DEGREES OF FREEDOM</a:t>
            </a:r>
            <a:r>
              <a:rPr lang="en-US" sz="1200" b="0" i="0" dirty="0">
                <a:solidFill>
                  <a:srgbClr val="5C4826"/>
                </a:solidFill>
              </a:rPr>
              <a:t xml:space="preserve">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Obligation boundary</a:t>
            </a:r>
          </a:p>
          <a:p>
            <a:pPr algn="l">
              <a:spcAft>
                <a:spcPts val="0"/>
              </a:spcAft>
              <a:buNone/>
            </a:pPr>
            <a:r>
              <a:rPr lang="en-US" sz="1200" b="0" i="1" dirty="0">
                <a:solidFill>
                  <a:srgbClr val="5C4826"/>
                </a:solidFill>
              </a:rPr>
              <a:t xml:space="preserve">fixed by the product</a:t>
            </a:r>
          </a:p>
        </p:txBody>
      </p:sp>
      <p:sp>
        <p:nvSpPr>
          <p:cNvPr id="112" name="LegSwatchSp"/>
          <p:cNvSpPr/>
          <p:nvPr/>
        </p:nvSpPr>
        <p:spPr>
          <a:xfrm>
            <a:off x="5943600" y="3280000"/>
            <a:ext cx="560000" cy="0"/>
          </a:xfrm>
          <a:prstGeom prst="line">
            <a:avLst/>
          </a:prstGeom>
          <a:noFill/>
          <a:ln w="19050">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Specification boundary</a:t>
            </a:r>
          </a:p>
          <a:p>
            <a:pPr algn="l">
              <a:spcAft>
                <a:spcPts val="0"/>
              </a:spcAft>
              <a:buNone/>
            </a:pPr>
            <a:r>
              <a:rPr lang="en-US" sz="1200" b="0" i="1" dirty="0">
                <a:solidFill>
                  <a:srgbClr val="5C4826"/>
                </a:solidFill>
              </a:rPr>
              <a:t xml:space="preserve">depends on the delegate</a:t>
            </a:r>
          </a:p>
        </p:txBody>
      </p:sp>
      <p:sp>
        <p:nvSpPr>
          <p:cNvPr id="120" name="Ital"/>
          <p:cNvSpPr txBox="1"/>
          <p:nvPr/>
        </p:nvSpPr>
        <p:spPr>
          <a:xfrm>
            <a:off x="365760" y="4790000"/>
            <a:ext cx="533424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Specified region = obligation + scaffolding; outside it, degrees of freedom.</a:t>
            </a:r>
          </a:p>
        </p:txBody>
      </p:sp>
      <p:sp>
        <p:nvSpPr>
          <p:cNvPr id="121" name="Punch"/>
          <p:cNvSpPr txBox="1"/>
          <p:nvPr/>
        </p:nvSpPr>
        <p:spPr>
          <a:xfrm>
            <a:off x="365760" y="5350000"/>
            <a:ext cx="8412480" cy="94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 xml:space="preserve">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 xml:space="preserve">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 xml:space="preserve">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 xml:space="preserve">ACCOUNT</a:t>
            </a:r>
          </a:p>
          <a:p>
            <a:pPr algn="l">
              <a:spcAft>
                <a:spcPts val="250"/>
              </a:spcAft>
              <a:buNone/>
            </a:pPr>
            <a:r>
              <a:rPr lang="en-US" sz="1050" b="0" i="0" dirty="0">
                <a:solidFill>
                  <a:srgbClr val="5C4826"/>
                </a:solidFill>
              </a:rPr>
              <a:t xml:space="preserve">quota_type {metered, unlimited}</a:t>
            </a:r>
          </a:p>
          <a:p>
            <a:pPr algn="l">
              <a:spcAft>
                <a:spcPts val="250"/>
              </a:spcAft>
              <a:buNone/>
            </a:pPr>
            <a:r>
              <a:rPr lang="en-US" sz="1050" b="0" i="0" dirty="0">
                <a:solidFill>
                  <a:srgbClr val="5C4826"/>
                </a:solidFill>
              </a:rPr>
              <a:t xml:space="preserve">credits_remaining</a:t>
            </a:r>
          </a:p>
          <a:p>
            <a:pPr algn="l">
              <a:spcAft>
                <a:spcPts val="0"/>
              </a:spcAft>
              <a:buNone/>
            </a:pPr>
            <a:r>
              <a:rPr lang="en-US" sz="1050" b="0" i="0" dirty="0">
                <a:solidFill>
                  <a:srgbClr val="5C4826"/>
                </a:solidFill>
              </a:rPr>
              <a:t xml:space="preserve">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 xml:space="preserve">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 xml:space="preserve">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200" b="1" i="0" dirty="0">
                <a:solidFill>
                  <a:srgbClr val="8E6F3E"/>
                </a:solidFill>
              </a:rPr>
              <a:t xml:space="preserve">EVERYTHING ABOUT THE IMPLEMENTATION</a:t>
            </a:r>
          </a:p>
          <a:p>
            <a:pPr algn="ctr">
              <a:spcAft>
                <a:spcPts val="0"/>
              </a:spcAft>
              <a:buNone/>
            </a:pPr>
            <a:r>
              <a:rPr lang="en-US" sz="1100" b="0" i="1" dirty="0">
                <a:solidFill>
                  <a:srgbClr val="5C4826"/>
                </a:solidFill>
              </a:rPr>
              <a:t xml:space="preserve">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persistence choice</a:t>
            </a:r>
          </a:p>
        </p:txBody>
      </p:sp>
      <p:sp>
        <p:nvSpPr>
          <p:cNvPr id="121" name="AgentBox2"/>
          <p:cNvSpPr txBox="1"/>
          <p:nvPr/>
        </p:nvSpPr>
        <p:spPr>
          <a:xfrm>
            <a:off x="3900000" y="2280000"/>
            <a:ext cx="4878240" cy="252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query performance</a:t>
            </a:r>
          </a:p>
        </p:txBody>
      </p:sp>
      <p:sp>
        <p:nvSpPr>
          <p:cNvPr id="122" name="AgentBox3"/>
          <p:cNvSpPr txBox="1"/>
          <p:nvPr/>
        </p:nvSpPr>
        <p:spPr>
          <a:xfrm>
            <a:off x="3900000" y="2620000"/>
            <a:ext cx="4878240" cy="218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join choice</a:t>
            </a:r>
          </a:p>
        </p:txBody>
      </p:sp>
      <p:sp>
        <p:nvSpPr>
          <p:cNvPr id="123" name="AgentBox4"/>
          <p:cNvSpPr txBox="1"/>
          <p:nvPr/>
        </p:nvSpPr>
        <p:spPr>
          <a:xfrm>
            <a:off x="3900000" y="2960000"/>
            <a:ext cx="4878240" cy="184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this transaction boundary</a:t>
            </a:r>
          </a:p>
          <a:p>
            <a:pPr algn="l">
              <a:spcAft>
                <a:spcPts val="0"/>
              </a:spcAft>
              <a:buNone/>
            </a:pPr>
            <a:r>
              <a:rPr lang="en-US" sz="1200" b="0" i="0" dirty="0">
                <a:solidFill>
                  <a:srgbClr val="5C4826"/>
                </a:solidFill>
              </a:rPr>
              <a:t xml:space="preserve">+ Structure the query this way</a:t>
            </a:r>
          </a:p>
          <a:p>
            <a:pPr algn="l">
              <a:spcAft>
                <a:spcPts val="0"/>
              </a:spcAft>
              <a:buNone/>
            </a:pPr>
            <a:r>
              <a:rPr lang="en-US" sz="1200" b="0" i="0" dirty="0">
                <a:solidFill>
                  <a:srgbClr val="5C4826"/>
                </a:solidFill>
              </a:rPr>
              <a:t xml:space="preserve">+ Put this logic in…</a:t>
            </a:r>
          </a:p>
        </p:txBody>
      </p:sp>
      <p:sp>
        <p:nvSpPr>
          <p:cNvPr id="124" name="AgentBox5"/>
          <p:cNvSpPr txBox="1"/>
          <p:nvPr/>
        </p:nvSpPr>
        <p:spPr>
          <a:xfrm>
            <a:off x="3900000" y="3610000"/>
            <a:ext cx="4878240" cy="119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Name this variable quota_mode</a:t>
            </a:r>
          </a:p>
        </p:txBody>
      </p:sp>
      <p:sp>
        <p:nvSpPr>
          <p:cNvPr id="125" name="AgentBox6"/>
          <p:cNvSpPr txBox="1"/>
          <p:nvPr/>
        </p:nvSpPr>
        <p:spPr>
          <a:xfrm>
            <a:off x="3900000" y="3890000"/>
            <a:ext cx="4878240" cy="91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60" name="Oops"/>
          <p:cNvSpPr txBox="1"/>
          <p:nvPr/>
        </p:nvSpPr>
        <p:spPr>
          <a:xfrm>
            <a:off x="365760" y="5010000"/>
            <a:ext cx="8412480" cy="82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 xml:space="preserve">Oops. We are writing the implementation again.</a:t>
            </a:r>
          </a:p>
        </p:txBody>
      </p:sp>
      <p:sp>
        <p:nvSpPr>
          <p:cNvPr id="161" name="Close"/>
          <p:cNvSpPr txBox="1"/>
          <p:nvPr/>
        </p:nvSpPr>
        <p:spPr>
          <a:xfrm>
            <a:off x="365760" y="5890000"/>
            <a:ext cx="8412480" cy="50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Axis"/>
          <p:cNvSpPr/>
          <p:nvPr/>
        </p:nvSpPr>
        <p:spPr>
          <a:xfrm>
            <a:off x="365760" y="1680000"/>
            <a:ext cx="8412480" cy="120000"/>
          </a:xfrm>
          <a:prstGeom prst="leftRightArrow">
            <a:avLst/>
          </a:prstGeom>
          <a:solidFill>
            <a:srgbClr val="C9B991"/>
          </a:solidFill>
          <a:ln w="12700">
            <a:solidFill>
              <a:srgbClr val="8E6F3E"/>
            </a:solidFill>
          </a:ln>
        </p:spPr>
        <p:txBody>
          <a:bodyPr wrap="square" lIns="91440" tIns="45720" rIns="91440" bIns="45720" anchor="ctr"/>
          <a:lstStyle/>
          <a:p>
            <a:pPr>
              <a:buNone/>
            </a:pPr>
            <a:endParaRPr lang="en-US"/>
          </a:p>
        </p:txBody>
      </p:sp>
      <p:sp>
        <p:nvSpPr>
          <p:cNvPr id="101" name="TooLittle"/>
          <p:cNvSpPr txBox="1"/>
          <p:nvPr/>
        </p:nvSpPr>
        <p:spPr>
          <a:xfrm>
            <a:off x="365760" y="1850000"/>
            <a:ext cx="3000000" cy="380000"/>
          </a:xfrm>
          <a:prstGeom prst="rect">
            <a:avLst/>
          </a:prstGeom>
          <a:noFill/>
          <a:ln>
            <a:noFill/>
          </a:ln>
        </p:spPr>
        <p:txBody>
          <a:bodyPr wrap="square" lIns="0" tIns="0" rIns="0" bIns="0" anchor="ctr"/>
          <a:lstStyle/>
          <a:p>
            <a:pPr algn="l">
              <a:spcAft>
                <a:spcPts val="0"/>
              </a:spcAft>
              <a:buNone/>
            </a:pPr>
            <a:r>
              <a:rPr lang="en-US" sz="1400" b="1" i="0" dirty="0">
                <a:solidFill>
                  <a:srgbClr val="8E6F3E"/>
                </a:solidFill>
              </a:rPr>
              <a:t xml:space="preserve">TOO LITTLE</a:t>
            </a:r>
            <a:r>
              <a:rPr lang="en-US" sz="1100" b="0" i="1" dirty="0">
                <a:solidFill>
                  <a:srgbClr val="5C4826"/>
                </a:solidFill>
              </a:rPr>
              <a:t xml:space="preserve">   product model</a:t>
            </a:r>
          </a:p>
        </p:txBody>
      </p:sp>
      <p:sp>
        <p:nvSpPr>
          <p:cNvPr id="102" name="TooMuch"/>
          <p:cNvSpPr txBox="1"/>
          <p:nvPr/>
        </p:nvSpPr>
        <p:spPr>
          <a:xfrm>
            <a:off x="5778240" y="1850000"/>
            <a:ext cx="3000000" cy="380000"/>
          </a:xfrm>
          <a:prstGeom prst="rect">
            <a:avLst/>
          </a:prstGeom>
          <a:noFill/>
          <a:ln>
            <a:noFill/>
          </a:ln>
        </p:spPr>
        <p:txBody>
          <a:bodyPr wrap="square" lIns="0" tIns="0" rIns="0" bIns="0" anchor="ctr"/>
          <a:lstStyle/>
          <a:p>
            <a:pPr algn="r">
              <a:spcAft>
                <a:spcPts val="0"/>
              </a:spcAft>
              <a:buNone/>
            </a:pPr>
            <a:r>
              <a:rPr lang="en-US" sz="1100" b="0" i="1" dirty="0">
                <a:solidFill>
                  <a:srgbClr val="5C4826"/>
                </a:solidFill>
              </a:rPr>
              <a:t xml:space="preserve">code   </a:t>
            </a:r>
            <a:r>
              <a:rPr lang="en-US" sz="1400" b="1" i="0" dirty="0">
                <a:solidFill>
                  <a:srgbClr val="8E6F3E"/>
                </a:solidFill>
              </a:rPr>
              <a:t xml:space="preserve">TOO MUCH</a:t>
            </a:r>
          </a:p>
        </p:txBody>
      </p:sp>
      <p:sp>
        <p:nvSpPr>
          <p:cNvPr id="103" name="WarnLeft"/>
          <p:cNvSpPr txBox="1"/>
          <p:nvPr/>
        </p:nvSpPr>
        <p:spPr>
          <a:xfrm>
            <a:off x="365760" y="1000000"/>
            <a:ext cx="3800000" cy="600000"/>
          </a:xfrm>
          <a:prstGeom prst="rect">
            <a:avLst/>
          </a:prstGeom>
          <a:noFill/>
          <a:ln>
            <a:noFill/>
          </a:ln>
        </p:spPr>
        <p:txBody>
          <a:bodyPr wrap="square" lIns="0" tIns="0" rIns="0" bIns="0" anchor="b"/>
          <a:lstStyle/>
          <a:p>
            <a:pPr algn="l">
              <a:spcAft>
                <a:spcPts val="0"/>
              </a:spcAft>
              <a:buNone/>
            </a:pPr>
            <a:r>
              <a:rPr lang="en-US" sz="1100" b="0" i="0" dirty="0">
                <a:solidFill>
                  <a:srgbClr val="5C4826"/>
                </a:solidFill>
              </a:rPr>
              <a:t xml:space="preserve">Under-specify the delegate — repeated bad realization choices, correction and rework, unreliable outcomes.</a:t>
            </a:r>
          </a:p>
        </p:txBody>
      </p:sp>
      <p:sp>
        <p:nvSpPr>
          <p:cNvPr id="104" name="WarnRight"/>
          <p:cNvSpPr txBox="1"/>
          <p:nvPr/>
        </p:nvSpPr>
        <p:spPr>
          <a:xfrm>
            <a:off x="4978240" y="1000000"/>
            <a:ext cx="3800000" cy="600000"/>
          </a:xfrm>
          <a:prstGeom prst="rect">
            <a:avLst/>
          </a:prstGeom>
          <a:noFill/>
          <a:ln>
            <a:noFill/>
          </a:ln>
        </p:spPr>
        <p:txBody>
          <a:bodyPr wrap="square" lIns="0" tIns="0" rIns="0" bIns="0" anchor="b"/>
          <a:lstStyle/>
          <a:p>
            <a:pPr algn="r">
              <a:spcAft>
                <a:spcPts val="0"/>
              </a:spcAft>
              <a:buNone/>
            </a:pPr>
            <a:r>
              <a:rPr lang="en-US" sz="1100" b="0" i="0" dirty="0">
                <a:solidFill>
                  <a:srgbClr val="5C4826"/>
                </a:solidFill>
              </a:rPr>
              <a:t xml:space="preserve">Over-specify the delegate — modeling becomes implementation, freedom disappears, delegation savings disappear.</a:t>
            </a:r>
          </a:p>
        </p:txBody>
      </p:sp>
      <p:sp>
        <p:nvSpPr>
          <p:cNvPr id="105" name="Center"/>
          <p:cNvSpPr txBox="1"/>
          <p:nvPr/>
        </p:nvSpPr>
        <p:spPr>
          <a:xfrm>
            <a:off x="365760" y="2330000"/>
            <a:ext cx="8412480" cy="10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800" b="1" i="0" dirty="0">
                <a:solidFill>
                  <a:srgbClr val="8E6F3E"/>
                </a:solidFill>
              </a:rPr>
              <a:t xml:space="preserve">What is the least scaffolding this delegate needs for reliable realization?</a:t>
            </a:r>
          </a:p>
        </p:txBody>
      </p:sp>
      <p:sp>
        <p:nvSpPr>
          <p:cNvPr id="106" name="ProdQ"/>
          <p:cNvSpPr txBox="1"/>
          <p:nvPr/>
        </p:nvSpPr>
        <p:spPr>
          <a:xfrm>
            <a:off x="36576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PRODUCT QUESTION</a:t>
            </a:r>
          </a:p>
          <a:p>
            <a:pPr algn="ctr">
              <a:spcAft>
                <a:spcPts val="0"/>
              </a:spcAft>
              <a:buNone/>
            </a:pPr>
            <a:r>
              <a:rPr lang="en-US" sz="1200" b="0" i="0" dirty="0">
                <a:solidFill>
                  <a:srgbClr val="5C4826"/>
                </a:solidFill>
              </a:rPr>
              <a:t xml:space="preserve">What distinctions must the model preserve?</a:t>
            </a:r>
          </a:p>
        </p:txBody>
      </p:sp>
      <p:sp>
        <p:nvSpPr>
          <p:cNvPr id="107" name="DelQ"/>
          <p:cNvSpPr txBox="1"/>
          <p:nvPr/>
        </p:nvSpPr>
        <p:spPr>
          <a:xfrm>
            <a:off x="467824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DELEGATION QUESTION</a:t>
            </a:r>
          </a:p>
          <a:p>
            <a:pPr algn="ctr">
              <a:spcAft>
                <a:spcPts val="0"/>
              </a:spcAft>
              <a:buNone/>
            </a:pPr>
            <a:r>
              <a:rPr lang="en-US" sz="1200" b="0" i="0" dirty="0">
                <a:solidFill>
                  <a:srgbClr val="5C4826"/>
                </a:solidFill>
              </a:rPr>
              <a:t xml:space="preserve">What additional distinctions must this fabricator be given?</a:t>
            </a:r>
          </a:p>
        </p:txBody>
      </p:sp>
      <p:sp>
        <p:nvSpPr>
          <p:cNvPr id="110" name="Cap1"/>
          <p:cNvSpPr txBox="1"/>
          <p:nvPr/>
        </p:nvSpPr>
        <p:spPr>
          <a:xfrm>
            <a:off x="36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CAPABLE</a:t>
            </a:r>
          </a:p>
          <a:p>
            <a:pPr algn="ctr">
              <a:spcAft>
                <a:spcPts val="0"/>
              </a:spcAft>
              <a:buNone/>
            </a:pPr>
            <a:r>
              <a:rPr lang="en-US" sz="1100" b="1" i="0" dirty="0">
                <a:solidFill>
                  <a:srgbClr val="5C4826"/>
                </a:solidFill>
              </a:rPr>
              <a:t xml:space="preserve">DELEGATE</a:t>
            </a:r>
          </a:p>
        </p:txBody>
      </p:sp>
      <p:sp>
        <p:nvSpPr>
          <p:cNvPr id="111" name="Cap2"/>
          <p:cNvSpPr txBox="1"/>
          <p:nvPr/>
        </p:nvSpPr>
        <p:spPr>
          <a:xfrm>
            <a:off x="214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LESS SCAFFOLDING</a:t>
            </a:r>
          </a:p>
          <a:p>
            <a:pPr algn="ctr">
              <a:spcAft>
                <a:spcPts val="0"/>
              </a:spcAft>
              <a:buNone/>
            </a:pPr>
            <a:r>
              <a:rPr lang="en-US" sz="1100" b="1" i="0" dirty="0">
                <a:solidFill>
                  <a:srgbClr val="5C4826"/>
                </a:solidFill>
              </a:rPr>
              <a:t xml:space="preserve">NEEDED</a:t>
            </a:r>
          </a:p>
        </p:txBody>
      </p:sp>
      <p:sp>
        <p:nvSpPr>
          <p:cNvPr id="112" name="Cap3"/>
          <p:cNvSpPr txBox="1"/>
          <p:nvPr/>
        </p:nvSpPr>
        <p:spPr>
          <a:xfrm>
            <a:off x="392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LEGITIMATE</a:t>
            </a:r>
          </a:p>
          <a:p>
            <a:pPr algn="ctr">
              <a:spcAft>
                <a:spcPts val="0"/>
              </a:spcAft>
              <a:buNone/>
            </a:pPr>
            <a:r>
              <a:rPr lang="en-US" sz="1100" b="1" i="0" dirty="0">
                <a:solidFill>
                  <a:srgbClr val="5C4826"/>
                </a:solidFill>
              </a:rPr>
              <a:t xml:space="preserve">FREEDOM</a:t>
            </a:r>
          </a:p>
        </p:txBody>
      </p:sp>
      <p:sp>
        <p:nvSpPr>
          <p:cNvPr id="116" name="Arr1"/>
          <p:cNvSpPr/>
          <p:nvPr/>
        </p:nvSpPr>
        <p:spPr>
          <a:xfrm>
            <a:off x="192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7" name="Arr2"/>
          <p:cNvSpPr/>
          <p:nvPr/>
        </p:nvSpPr>
        <p:spPr>
          <a:xfrm>
            <a:off x="370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8" name="Wall1"/>
          <p:cNvSpPr txBox="1"/>
          <p:nvPr/>
        </p:nvSpPr>
        <p:spPr>
          <a:xfrm>
            <a:off x="56843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08" name="Wall2"/>
          <p:cNvSpPr txBox="1"/>
          <p:nvPr/>
        </p:nvSpPr>
        <p:spPr>
          <a:xfrm>
            <a:off x="57224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19" name="OblBox"/>
          <p:cNvSpPr txBox="1"/>
          <p:nvPr/>
        </p:nvSpPr>
        <p:spPr>
          <a:xfrm>
            <a:off x="5940000" y="4270000"/>
            <a:ext cx="2838240" cy="820000"/>
          </a:xfrm>
          <a:prstGeom prst="rect">
            <a:avLst/>
          </a:prstGeom>
          <a:solidFill>
            <a:srgbClr val="FBF8F2"/>
          </a:solidFill>
          <a:ln w="19050">
            <a:solidFill>
              <a:srgbClr val="8E6F3E"/>
            </a:solidFill>
          </a:ln>
        </p:spPr>
        <p:txBody>
          <a:bodyPr wrap="square" lIns="91440" tIns="45720" rIns="91440" bIns="45720" anchor="ctr"/>
          <a:lstStyle/>
          <a:p>
            <a:pPr algn="ctr">
              <a:spcAft>
                <a:spcPts val="250"/>
              </a:spcAft>
              <a:buNone/>
            </a:pPr>
            <a:r>
              <a:rPr lang="en-US" sz="1100" b="1" i="0" dirty="0">
                <a:solidFill>
                  <a:srgbClr val="8E6F3E"/>
                </a:solidFill>
              </a:rPr>
              <a:t xml:space="preserve">PRODUCT OBLIGATION</a:t>
            </a:r>
          </a:p>
          <a:p>
            <a:pPr algn="ctr">
              <a:spcAft>
                <a:spcPts val="0"/>
              </a:spcAft>
              <a:buNone/>
            </a:pPr>
            <a:r>
              <a:rPr lang="en-US" sz="1600" b="1" i="0" dirty="0">
                <a:solidFill>
                  <a:srgbClr val="5C4826"/>
                </a:solidFill>
              </a:rPr>
              <a:t xml:space="preserve">unchanged</a:t>
            </a:r>
          </a:p>
        </p:txBody>
      </p:sp>
      <p:sp>
        <p:nvSpPr>
          <p:cNvPr id="130" name="QRPlaceholder" descr="Dashed outline marking the slot where the feedback form's QR code will go."/>
          <p:cNvSpPr txBox="1"/>
          <p:nvPr/>
        </p:nvSpPr>
        <p:spPr>
          <a:xfrm>
            <a:off x="7878240" y="5300000"/>
            <a:ext cx="900000" cy="980000"/>
          </a:xfrm>
          <a:prstGeom prst="rect">
            <a:avLst/>
          </a:prstGeom>
          <a:solidFill>
            <a:srgbClr val="FBF8F2"/>
          </a:solidFill>
          <a:ln w="15875">
            <a:solidFill>
              <a:srgbClr val="C9B991"/>
            </a:solidFill>
            <a:prstDash val="dash"/>
          </a:ln>
        </p:spPr>
        <p:txBody>
          <a:bodyPr wrap="square" lIns="27432" tIns="27432" rIns="27432" bIns="22860" anchor="b"/>
          <a:lstStyle/>
          <a:p>
            <a:pPr algn="ctr">
              <a:spcAft>
                <a:spcPts val="0"/>
              </a:spcAft>
              <a:buNone/>
            </a:pPr>
            <a:r>
              <a:rPr lang="en-US" sz="900" b="0" i="0" dirty="0">
                <a:solidFill>
                  <a:srgbClr val="5C4826"/>
                </a:solidFill>
              </a:rPr>
              <a:t xml:space="preserve">Feedback QR</a:t>
            </a:r>
          </a:p>
        </p:txBody>
      </p:sp>
      <p:grpSp>
        <p:nvGrpSpPr>
          <p:cNvPr id="131" name="QRVoidMark" descr="A large red X across the slot: the feedback form QR code has not been added yet."/>
          <p:cNvGrpSpPr/>
          <p:nvPr/>
        </p:nvGrpSpPr>
        <p:grpSpPr>
          <a:xfrm>
            <a:off x="8018240" y="5390000"/>
            <a:ext cx="620000" cy="620000"/>
            <a:chOff x="8018240" y="5390000"/>
            <a:chExt cx="620000" cy="620000"/>
          </a:xfrm>
        </p:grpSpPr>
        <p:cxnSp>
          <p:nvCxnSpPr>
            <p:cNvPr id="132" name="QRVoidStrokeTLBR"/>
            <p:cNvCxnSpPr/>
            <p:nvPr/>
          </p:nvCxnSpPr>
          <p:spPr>
            <a:xfrm>
              <a:off x="8018240" y="5390000"/>
              <a:ext cx="620000" cy="620000"/>
            </a:xfrm>
            <a:prstGeom prst="straightConnector1">
              <a:avLst/>
            </a:prstGeom>
            <a:ln w="25400" cap="rnd">
              <a:solidFill>
                <a:srgbClr val="C00000"/>
              </a:solidFill>
              <a:round/>
            </a:ln>
          </p:spPr>
        </p:cxnSp>
        <p:cxnSp>
          <p:nvCxnSpPr>
            <p:cNvPr id="133" name="QRVoidStrokeTRBL"/>
            <p:cNvCxnSpPr/>
            <p:nvPr/>
          </p:nvCxnSpPr>
          <p:spPr>
            <a:xfrm flipH="1">
              <a:off x="8018240" y="5390000"/>
              <a:ext cx="620000" cy="620000"/>
            </a:xfrm>
            <a:prstGeom prst="straightConnector1">
              <a:avLst/>
            </a:prstGeom>
            <a:ln w="25400" cap="rnd">
              <a:solidFill>
                <a:srgbClr val="C00000"/>
              </a:solidFill>
              <a:roun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par>
                                <p:cTn id="21" presetID="10" presetClass="entr" presetSubtype="0" fill="hold" nodeType="withEffect">
                                  <p:stCondLst>
                                    <p:cond delay="0"/>
                                  </p:stCondLst>
                                  <p:childTnLst>
                                    <p:set>
                                      <p:cBhvr>
                                        <p:cTn id="22" dur="1" fill="hold">
                                          <p:stCondLst>
                                            <p:cond delay="0"/>
                                          </p:stCondLst>
                                        </p:cTn>
                                        <p:tgtEl>
                                          <p:spTgt spid="107"/>
                                        </p:tgtEl>
                                        <p:attrNameLst>
                                          <p:attrName>style.visibility</p:attrName>
                                        </p:attrNameLst>
                                      </p:cBhvr>
                                      <p:to>
                                        <p:strVal val="visible"/>
                                      </p:to>
                                    </p:set>
                                    <p:animEffect transition="in" filter="fade">
                                      <p:cBhvr>
                                        <p:cTn id="23" dur="500"/>
                                        <p:tgtEl>
                                          <p:spTgt spid="10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par>
                                <p:cTn id="34" presetID="10" presetClass="entr" presetSubtype="0" fill="hold" nodeType="withEffect">
                                  <p:stCondLst>
                                    <p:cond delay="0"/>
                                  </p:stCondLst>
                                  <p:childTnLst>
                                    <p:set>
                                      <p:cBhvr>
                                        <p:cTn id="35" dur="1" fill="hold">
                                          <p:stCondLst>
                                            <p:cond delay="0"/>
                                          </p:stCondLst>
                                        </p:cTn>
                                        <p:tgtEl>
                                          <p:spTgt spid="111"/>
                                        </p:tgtEl>
                                        <p:attrNameLst>
                                          <p:attrName>style.visibility</p:attrName>
                                        </p:attrNameLst>
                                      </p:cBhvr>
                                      <p:to>
                                        <p:strVal val="visible"/>
                                      </p:to>
                                    </p:set>
                                    <p:animEffect transition="in" filter="fade">
                                      <p:cBhvr>
                                        <p:cTn id="36" dur="500"/>
                                        <p:tgtEl>
                                          <p:spTgt spid="1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112"/>
                                        </p:tgtEl>
                                        <p:attrNameLst>
                                          <p:attrName>style.visibility</p:attrName>
                                        </p:attrNameLst>
                                      </p:cBhvr>
                                      <p:to>
                                        <p:strVal val="visible"/>
                                      </p:to>
                                    </p:set>
                                    <p:animEffect transition="in" filter="fade">
                                      <p:cBhvr>
                                        <p:cTn id="44" dur="500"/>
                                        <p:tgtEl>
                                          <p:spTgt spid="11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8"/>
                                        </p:tgtEl>
                                        <p:attrNameLst>
                                          <p:attrName>style.visibility</p:attrName>
                                        </p:attrNameLst>
                                      </p:cBhvr>
                                      <p:to>
                                        <p:strVal val="visible"/>
                                      </p:to>
                                    </p:set>
                                    <p:animEffect transition="in" filter="fade">
                                      <p:cBhvr>
                                        <p:cTn id="49" dur="500"/>
                                        <p:tgtEl>
                                          <p:spTgt spid="118"/>
                                        </p:tgtEl>
                                      </p:cBhvr>
                                    </p:animEffect>
                                  </p:childTnLst>
                                </p:cTn>
                              </p:par>
                              <p:par>
                                <p:cTn id="50" presetID="10" presetClass="entr" presetSubtype="0" fill="hold" nodeType="withEffect">
                                  <p:stCondLst>
                                    <p:cond delay="0"/>
                                  </p:stCondLst>
                                  <p:childTnLst>
                                    <p:set>
                                      <p:cBhvr>
                                        <p:cTn id="51" dur="1" fill="hold">
                                          <p:stCondLst>
                                            <p:cond delay="0"/>
                                          </p:stCondLst>
                                        </p:cTn>
                                        <p:tgtEl>
                                          <p:spTgt spid="108"/>
                                        </p:tgtEl>
                                        <p:attrNameLst>
                                          <p:attrName>style.visibility</p:attrName>
                                        </p:attrNameLst>
                                      </p:cBhvr>
                                      <p:to>
                                        <p:strVal val="visible"/>
                                      </p:to>
                                    </p:set>
                                    <p:animEffect transition="in" filter="fade">
                                      <p:cBhvr>
                                        <p:cTn id="52" dur="500"/>
                                        <p:tgtEl>
                                          <p:spTgt spid="108"/>
                                        </p:tgtEl>
                                      </p:cBhvr>
                                    </p:animEffect>
                                  </p:childTnLst>
                                </p:cTn>
                              </p:par>
                              <p:par>
                                <p:cTn id="53" presetID="10" presetClass="entr" presetSubtype="0" fill="hold" nodeType="withEffect">
                                  <p:stCondLst>
                                    <p:cond delay="0"/>
                                  </p:stCondLst>
                                  <p:childTnLst>
                                    <p:set>
                                      <p:cBhvr>
                                        <p:cTn id="54" dur="1" fill="hold">
                                          <p:stCondLst>
                                            <p:cond delay="0"/>
                                          </p:stCondLst>
                                        </p:cTn>
                                        <p:tgtEl>
                                          <p:spTgt spid="119"/>
                                        </p:tgtEl>
                                        <p:attrNameLst>
                                          <p:attrName>style.visibility</p:attrName>
                                        </p:attrNameLst>
                                      </p:cBhvr>
                                      <p:to>
                                        <p:strVal val="visible"/>
                                      </p:to>
                                    </p:set>
                                    <p:animEffect transition="in" filter="fade">
                                      <p:cBhvr>
                                        <p:cTn id="55" dur="500"/>
                                        <p:tgtEl>
                                          <p:spTgt spid="119"/>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30"/>
                                        </p:tgtEl>
                                        <p:attrNameLst>
                                          <p:attrName>style.visibility</p:attrName>
                                        </p:attrNameLst>
                                      </p:cBhvr>
                                      <p:to>
                                        <p:strVal val="visible"/>
                                      </p:to>
                                    </p:set>
                                    <p:animEffect transition="in" filter="fade">
                                      <p:cBhvr>
                                        <p:cTn id="60" dur="500"/>
                                        <p:tgtEl>
                                          <p:spTgt spid="130"/>
                                        </p:tgtEl>
                                      </p:cBhvr>
                                    </p:animEffect>
                                  </p:childTnLst>
                                </p:cTn>
                              </p:par>
                              <p:par>
                                <p:cTn id="61" presetID="10" presetClass="entr" presetSubtype="0" fill="hold" nodeType="withEffect">
                                  <p:stCondLst>
                                    <p:cond delay="0"/>
                                  </p:stCondLst>
                                  <p:childTnLst>
                                    <p:set>
                                      <p:cBhvr>
                                        <p:cTn id="62" dur="1" fill="hold">
                                          <p:stCondLst>
                                            <p:cond delay="0"/>
                                          </p:stCondLst>
                                        </p:cTn>
                                        <p:tgtEl>
                                          <p:spTgt spid="131"/>
                                        </p:tgtEl>
                                        <p:attrNameLst>
                                          <p:attrName>style.visibility</p:attrName>
                                        </p:attrNameLst>
                                      </p:cBhvr>
                                      <p:to>
                                        <p:strVal val="visible"/>
                                      </p:to>
                                    </p:set>
                                    <p:animEffect transition="in" filter="fade">
                                      <p:cBhvr>
                                        <p:cTn id="63" dur="500"/>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