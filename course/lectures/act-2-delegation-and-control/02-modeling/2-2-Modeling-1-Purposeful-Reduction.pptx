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8"/>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14"/>
    <p:sldId id="295" r:id="rId15"/>
    <p:sldId id="296" r:id="rId16"/>
    <p:sldId id="292" r:id="rId17"/>
    <p:sldId id="297" r:id="rId18"/>
    <p:sldId id="269" r:id="rId19"/>
    <p:sldId id="298" r:id="rId20"/>
    <p:sldId id="272" r:id="rId21"/>
    <p:sldId id="270" r:id="rId22"/>
    <p:sldId id="273" r:id="rId23"/>
    <p:sldId id="276" r:id="rId24"/>
    <p:sldId id="277" r:id="rId25"/>
    <p:sldId id="278" r:id="rId26"/>
    <p:sldId id="268" r:id="rId27"/>
    <p:sldId id="284" r:id="rId28"/>
    <p:sldId id="306" r:id="rId29"/>
    <p:sldId id="299" r:id="rId30"/>
    <p:sldId id="305" r:id="rId31"/>
    <p:sldId id="300" r:id="rId32"/>
    <p:sldId id="301" r:id="rId33"/>
    <p:sldId id="302" r:id="rId34"/>
    <p:sldId id="280" r:id="rId35"/>
    <p:sldId id="303" r:id="rId36"/>
    <p:sldId id="304"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7936" autoAdjust="0"/>
    <p:restoredTop sz="56137"/>
  </p:normalViewPr>
  <p:slideViewPr>
    <p:cSldViewPr snapToGrid="0" snapToObjects="1">
      <p:cViewPr>
        <p:scale>
          <a:sx n="55" d="100"/>
          <a:sy n="55" d="100"/>
        </p:scale>
        <p:origin x="416" y="47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reuse slide. The definition is held back to the synthesis at the end of the lecture, where the four sections will have earned it.</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state, branching,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3's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Spine strip: PROPERTY highlighted — the claim this section makes expressible is that the model's constraints hold across every realization of it. The strip does not advance in section order and is not meant to: each header golds the one cell its section is about, so Section 3 golds MODEL after this one golds PROPERTY.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highlighted - the cell this section is about. The strip runs in the discipline's order, not the lecture's, so the highlight steps back left from Section 2's PROPERTY; say so if the room notices.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This is where the property itself gets written down - point at the line on the slide, not at the spine strip, whose PROPERTY cell belongs to Section 2. Same property, same notation, as the previous slide's rail.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Spine strip: QUALITY highlighted, the fourth of the four questions — is the reduction adequate for the question, and does its representation make the intended interpretation sufficiently likely? That is exactly what correspondence tests, and it is the last cell the lecture lights.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Placed after the synthesis — “Modeling is purposeful reduction” — and immediately before “The cost discussion”. Its original anchor was the mid-lecture Reduce activity, which has been cut, so the break now separates the four sections from the closing cost argument.</a:t>
            </a:r>
          </a:p>
          <a:p>
            <a:r>
              <a:rPr dirty="0"/>
              <a:t>[OPEN QUESTION for the author: the content brief never asked for a stretch break. Both its existence and this placement are recommendations, still unratified.]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D80E-ED0D-9631-7FA2-0166B5B3ADCE}"/>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AF5746C7-F3D7-50BE-FB42-6FD8036E2032}"/>
              </a:ext>
            </a:extLst>
          </p:cNvPr>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Spine strip: QUALITY highlighted, the fourth of the four questions — is the reduction adequate for the question, and does its representation make the intended interpretation sufficiently likely? That is exactly what correspondence tests, and it is the last cell the lecture lights.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extLst>
      <p:ext uri="{BB962C8B-B14F-4D97-AF65-F5344CB8AC3E}">
        <p14:creationId xmlns:p14="http://schemas.microsoft.com/office/powerpoint/2010/main" val="415669777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Note: Modeling -&gt; Agent costs us when we delegate and then make sure the delegation works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The line to end on, if the room has earned it: a good model is not a small copy of the system. It preserves the distinctions worth paying to preserve.</a:t>
            </a:r>
          </a:p>
          <a:p>
            <a:r>
              <a:rPr lang="en-US" dirty="0"/>
              <a:t>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Picks up the hand-off from the previous slide: we have been asking what the model costs. Now the other side of the ledger — how cheap can we make the implementer? The title is the answer to the question they were left holding.</a:t>
            </a:r>
          </a:p>
          <a:p>
            <a:r>
              <a:rPr lang="en-US" dirty="0"/>
              <a:t>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So the first line: more scaffolding can compensate for less capability, but only up to a point. And then the claim the rest of the coda depends on: scaffolding does not create capability. Land that one and stop talking.</a:t>
            </a:r>
          </a:p>
          <a:p>
            <a:r>
              <a:rPr lang="en-US" dirty="0"/>
              <a:t>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quietest slide in the deck and it is sparse on purpose. No boxes, no borders, nothing to read but the three terms. Do not fill the silence — let each one land and let the room do the arithmetic.</a:t>
            </a:r>
          </a:p>
          <a:p>
            <a:r>
              <a:rPr lang="en-US" dirty="0"/>
              <a:t>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So say the next line with the room's own disbelief in it: it sure seems like this should work. Not that it does work — that it seems like it should, which is a different and more honest claim.</a:t>
            </a:r>
          </a:p>
          <a:p>
            <a:r>
              <a:rPr lang="en-US" dirty="0"/>
              <a:t>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optimistic economic story, told straight. Do not hedge it here — the reversal has its own slides and arrives soon enough. For ninety seconds let the good version of the argument stand undefended.</a:t>
            </a:r>
          </a:p>
          <a:p>
            <a:r>
              <a:rPr lang="en-US" dirty="0"/>
              <a:t>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slide answers it by making the gap grow, and the one after that asks how small it can get.</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on “Too much reduction loses the obligation”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previous slide — “What if the agent keeps choosing badly?”: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277" y="136525"/>
            <a:ext cx="9724102" cy="638175"/>
          </a:xfrm>
        </p:spPr>
        <p:txBody>
          <a:bodyPr>
            <a:noAutofit/>
          </a:bodyPr>
          <a:lstStyle/>
          <a:p>
            <a:pPr>
              <a:buNone/>
              <a:defRPr b="0"/>
            </a:pPr>
            <a:r>
              <a:rPr lang="en-US" sz="2000" b="0" i="0" dirty="0">
                <a:solidFill>
                  <a:srgbClr val="000000"/>
                </a:solidFill>
              </a:rPr>
              <a:t>Our delegate, the agent, works inside an engineer-able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5732587" y="3406140"/>
            <a:ext cx="1884365" cy="45719"/>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equation of production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animEffect transition="in" filter="fade">
                                      <p:cBhvr>
                                        <p:cTn id="11" dur="500"/>
                                        <p:tgtEl>
                                          <p:spTgt spid="10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99"/>
                                        </p:tgtEl>
                                        <p:attrNameLst>
                                          <p:attrName>style.visibility</p:attrName>
                                        </p:attrNameLst>
                                      </p:cBhvr>
                                      <p:to>
                                        <p:strVal val="visible"/>
                                      </p:to>
                                    </p:set>
                                    <p:animEffect transition="in" filter="fade">
                                      <p:cBhvr>
                                        <p:cTn id="16"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2179249"/>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251572" y="2636449"/>
            <a:ext cx="8640855" cy="1005840"/>
          </a:xfrm>
        </p:spPr>
        <p:txBody>
          <a:bodyPr>
            <a:normAutofit/>
          </a:bodyPr>
          <a:lstStyle/>
          <a:p>
            <a:pPr algn="ctr">
              <a:buNone/>
              <a:defRPr b="0"/>
            </a:pPr>
            <a:r>
              <a:rPr lang="en-US" sz="4000" b="0" i="0" dirty="0">
                <a:solidFill>
                  <a:srgbClr val="000000"/>
                </a:solidFill>
              </a:rPr>
              <a:t>Representations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3733729"/>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Let’s look at some engineering models</a:t>
            </a:r>
          </a:p>
        </p:txBody>
      </p:sp>
      <p:sp>
        <p:nvSpPr>
          <p:cNvPr id="103" name="Rule"/>
          <p:cNvSpPr/>
          <p:nvPr/>
        </p:nvSpPr>
        <p:spPr>
          <a:xfrm>
            <a:off x="3429000" y="4520113"/>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7148" y="829755"/>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Do not invent a new kind every time you need a </a:t>
            </a:r>
            <a:r>
              <a:rPr lang="en-US" sz="2000" dirty="0">
                <a:solidFill>
                  <a:srgbClr val="5C4826"/>
                </a:solidFill>
              </a:rPr>
              <a:t>new </a:t>
            </a:r>
            <a:r>
              <a:rPr lang="en-US" sz="2000" b="0" i="0" dirty="0">
                <a:solidFill>
                  <a:srgbClr val="5C4826"/>
                </a:solidFill>
              </a:rPr>
              <a:t>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6876" y="2056861"/>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6923" y="2056861"/>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11033" y="2056861"/>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3362" y="2056861"/>
            <a:ext cx="1869418" cy="2560320"/>
          </a:xfrm>
          <a:prstGeom prst="rect">
            <a:avLst/>
          </a:prstGeom>
          <a:ln w="12700">
            <a:solidFill>
              <a:srgbClr val="C9B991"/>
            </a:solidFill>
          </a:ln>
        </p:spPr>
      </p:pic>
      <p:sp>
        <p:nvSpPr>
          <p:cNvPr id="100" name="CaptionStrip"/>
          <p:cNvSpPr/>
          <p:nvPr/>
        </p:nvSpPr>
        <p:spPr>
          <a:xfrm>
            <a:off x="277148" y="4781773"/>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11281" y="4854925"/>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3778" y="4854925"/>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4369" y="4854925"/>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3724" y="4781773"/>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7857" y="4781773"/>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900354" y="4781773"/>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80945" y="4781773"/>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36704" y="6502654"/>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220051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2657714"/>
            <a:ext cx="7772400" cy="1005840"/>
          </a:xfrm>
        </p:spPr>
        <p:txBody>
          <a:bodyPr>
            <a:normAutofit/>
          </a:bodyPr>
          <a:lstStyle/>
          <a:p>
            <a:pPr algn="ctr">
              <a:buNone/>
              <a:defRPr b="0"/>
            </a:pPr>
            <a:r>
              <a:rPr lang="en-US" sz="4000" b="0" i="0" dirty="0">
                <a:solidFill>
                  <a:srgbClr val="000000"/>
                </a:solidFill>
              </a:rPr>
              <a:t>MODELS ENABLE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375499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4541378"/>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A  STATE ENUM</a:t>
            </a:r>
          </a:p>
          <a:p>
            <a:pPr algn="ctr">
              <a:spcAft>
                <a:spcPts val="0"/>
              </a:spcAft>
              <a:buNone/>
            </a:pPr>
            <a:r>
              <a:rPr lang="en-US" sz="1400" b="0" i="0" dirty="0">
                <a:solidFill>
                  <a:srgbClr val="5C4826"/>
                </a:solidFill>
              </a:rPr>
              <a:t>status = Draft</a:t>
            </a:r>
          </a:p>
          <a:p>
            <a:pPr algn="ctr">
              <a:spcAft>
                <a:spcPts val="0"/>
              </a:spcAft>
              <a:buNone/>
            </a:pPr>
            <a:r>
              <a:rPr lang="en-US" sz="1400" b="0" i="0" dirty="0">
                <a:solidFill>
                  <a:srgbClr val="5C4826"/>
                </a:solidFill>
              </a:rPr>
              <a:t>status = Submitted</a:t>
            </a:r>
          </a:p>
          <a:p>
            <a:pPr algn="ctr">
              <a:spcAft>
                <a:spcPts val="0"/>
              </a:spcAft>
              <a:buNone/>
            </a:pPr>
            <a:r>
              <a:rPr lang="en-US" sz="1400" b="0" i="1" dirty="0">
                <a:solidFill>
                  <a:srgbClr val="555960"/>
                </a:solidFill>
              </a:rPr>
              <a:t>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B  STATE OBJECTS</a:t>
            </a:r>
          </a:p>
          <a:p>
            <a:pPr algn="ctr">
              <a:spcAft>
                <a:spcPts val="0"/>
              </a:spcAft>
              <a:buNone/>
            </a:pPr>
            <a:r>
              <a:rPr lang="en-US" sz="1400" b="0" i="0" dirty="0">
                <a:solidFill>
                  <a:srgbClr val="5C4826"/>
                </a:solidFill>
              </a:rPr>
              <a:t>class DraftState:</a:t>
            </a:r>
          </a:p>
          <a:p>
            <a:pPr algn="ctr">
              <a:spcAft>
                <a:spcPts val="0"/>
              </a:spcAft>
              <a:buNone/>
            </a:pPr>
            <a:r>
              <a:rPr lang="en-US" sz="1400" b="0" i="0" dirty="0">
                <a:solidFill>
                  <a:srgbClr val="5C4826"/>
                </a:solidFill>
              </a:rPr>
              <a:t>def submit(self): …</a:t>
            </a:r>
          </a:p>
          <a:p>
            <a:pPr algn="ctr">
              <a:spcAft>
                <a:spcPts val="0"/>
              </a:spcAft>
              <a:buNone/>
            </a:pPr>
            <a:r>
              <a:rPr lang="en-US" sz="1400" b="0" i="1" dirty="0">
                <a:solidFill>
                  <a:srgbClr val="555960"/>
                </a:solidFill>
              </a:rPr>
              <a:t>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C  TRANSITION TABLE</a:t>
            </a:r>
          </a:p>
          <a:p>
            <a:pPr algn="ctr">
              <a:spcAft>
                <a:spcPts val="0"/>
              </a:spcAft>
              <a:buNone/>
            </a:pPr>
            <a:r>
              <a:rPr lang="en-US" sz="1400" b="0" i="0" dirty="0">
                <a:solidFill>
                  <a:srgbClr val="5C4826"/>
                </a:solidFill>
              </a:rPr>
              <a:t>(Draft, submit) → Submitted</a:t>
            </a:r>
          </a:p>
          <a:p>
            <a:pPr algn="ctr">
              <a:spcAft>
                <a:spcPts val="0"/>
              </a:spcAft>
              <a:buNone/>
            </a:pPr>
            <a:r>
              <a:rPr lang="en-US" sz="1400" b="0" i="0" dirty="0">
                <a:solidFill>
                  <a:srgbClr val="5C4826"/>
                </a:solidFill>
              </a:rPr>
              <a:t>(Submitted, approve) → Approved</a:t>
            </a:r>
          </a:p>
          <a:p>
            <a:pPr algn="ctr">
              <a:spcAft>
                <a:spcPts val="0"/>
              </a:spcAft>
              <a:buNone/>
            </a:pPr>
            <a:r>
              <a:rPr lang="en-US" sz="1400" b="0" i="1" dirty="0">
                <a:solidFill>
                  <a:srgbClr val="555960"/>
                </a:solidFill>
              </a:rPr>
              <a:t>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do this already in SWE?</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If this works, why do </a:t>
            </a:r>
            <a:r>
              <a:rPr lang="en-US" dirty="0">
                <a:solidFill>
                  <a:srgbClr val="5C4826"/>
                </a:solidFill>
              </a:rPr>
              <a:t>SWEs d</a:t>
            </a:r>
            <a:r>
              <a:rPr lang="en-US" sz="1800" b="0" i="0" dirty="0">
                <a:solidFill>
                  <a:srgbClr val="5C4826"/>
                </a:solidFill>
              </a:rPr>
              <a:t>raw boxes and arrows for a day, then code for a week?</a:t>
            </a:r>
          </a:p>
        </p:txBody>
      </p:sp>
      <p:sp>
        <p:nvSpPr>
          <p:cNvPr id="101" name="Q2"/>
          <p:cNvSpPr txBox="1"/>
          <p:nvPr/>
        </p:nvSpPr>
        <p:spPr>
          <a:xfrm>
            <a:off x="274320" y="257556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Why is outsourcing software development so hard?</a:t>
            </a:r>
          </a:p>
        </p:txBody>
      </p:sp>
      <p:sp>
        <p:nvSpPr>
          <p:cNvPr id="130" name="EncodeLbl"/>
          <p:cNvSpPr txBox="1"/>
          <p:nvPr/>
        </p:nvSpPr>
        <p:spPr>
          <a:xfrm>
            <a:off x="2286000" y="351739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ENCODE</a:t>
            </a:r>
          </a:p>
        </p:txBody>
      </p:sp>
      <p:sp>
        <p:nvSpPr>
          <p:cNvPr id="131" name="InterpretLbl"/>
          <p:cNvSpPr txBox="1"/>
          <p:nvPr/>
        </p:nvSpPr>
        <p:spPr>
          <a:xfrm>
            <a:off x="5440680" y="351739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INTERPRET</a:t>
            </a:r>
          </a:p>
        </p:txBody>
      </p:sp>
      <p:sp>
        <p:nvSpPr>
          <p:cNvPr id="110" name="EngineerA"/>
          <p:cNvSpPr txBox="1"/>
          <p:nvPr/>
        </p:nvSpPr>
        <p:spPr>
          <a:xfrm>
            <a:off x="274320" y="385572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ENGINEER A</a:t>
            </a:r>
          </a:p>
        </p:txBody>
      </p:sp>
      <p:cxnSp>
        <p:nvCxnSpPr>
          <p:cNvPr id="120" name="Hop1"/>
          <p:cNvCxnSpPr/>
          <p:nvPr/>
        </p:nvCxnSpPr>
        <p:spPr>
          <a:xfrm>
            <a:off x="2651760" y="419862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85572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REPRESENTATION</a:t>
            </a:r>
          </a:p>
        </p:txBody>
      </p:sp>
      <p:cxnSp>
        <p:nvCxnSpPr>
          <p:cNvPr id="121" name="Hop2"/>
          <p:cNvCxnSpPr/>
          <p:nvPr/>
        </p:nvCxnSpPr>
        <p:spPr>
          <a:xfrm>
            <a:off x="5806440" y="4198620"/>
            <a:ext cx="685800" cy="0"/>
          </a:xfrm>
          <a:prstGeom prst="straightConnector1">
            <a:avLst/>
          </a:prstGeom>
          <a:ln w="28575">
            <a:solidFill>
              <a:srgbClr val="8E6F3E"/>
            </a:solidFill>
            <a:tailEnd type="triangle" w="med" len="med"/>
          </a:ln>
        </p:spPr>
      </p:cxnSp>
      <p:sp>
        <p:nvSpPr>
          <p:cNvPr id="112" name="EngineerB"/>
          <p:cNvSpPr txBox="1"/>
          <p:nvPr/>
        </p:nvSpPr>
        <p:spPr>
          <a:xfrm>
            <a:off x="6583680" y="385572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ENGINEER B</a:t>
            </a:r>
          </a:p>
        </p:txBody>
      </p:sp>
      <p:sp>
        <p:nvSpPr>
          <p:cNvPr id="113" name="EngineerACaption"/>
          <p:cNvSpPr txBox="1"/>
          <p:nvPr/>
        </p:nvSpPr>
        <p:spPr>
          <a:xfrm>
            <a:off x="274320" y="459638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intent · context · judgment</a:t>
            </a:r>
          </a:p>
        </p:txBody>
      </p:sp>
      <p:sp>
        <p:nvSpPr>
          <p:cNvPr id="140" name="Claim"/>
          <p:cNvSpPr txBox="1"/>
          <p:nvPr/>
        </p:nvSpPr>
        <p:spPr>
          <a:xfrm>
            <a:off x="274320" y="509016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Delegation requires consequential knowledge to survive encoding and interpretation.</a:t>
            </a:r>
          </a:p>
        </p:txBody>
      </p:sp>
      <p:sp>
        <p:nvSpPr>
          <p:cNvPr id="150" name="Q3"/>
          <p:cNvSpPr txBox="1"/>
          <p:nvPr/>
        </p:nvSpPr>
        <p:spPr>
          <a:xfrm>
            <a:off x="1463040" y="593140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And does GenAI change this?</a:t>
            </a:r>
          </a:p>
        </p:txBody>
      </p:sp>
      <p:pic>
        <p:nvPicPr>
          <p:cNvPr id="4" name="Picture 3">
            <a:extLst>
              <a:ext uri="{FF2B5EF4-FFF2-40B4-BE49-F238E27FC236}">
                <a16:creationId xmlns:a16="http://schemas.microsoft.com/office/drawing/2014/main" id="{C4B4B8C4-2F43-B28D-B1C4-C3A08B643AB0}"/>
              </a:ext>
            </a:extLst>
          </p:cNvPr>
          <p:cNvPicPr>
            <a:picLocks noChangeAspect="1"/>
          </p:cNvPicPr>
          <p:nvPr/>
        </p:nvPicPr>
        <p:blipFill>
          <a:blip r:embed="rId3"/>
          <a:stretch>
            <a:fillRect/>
          </a:stretch>
        </p:blipFill>
        <p:spPr>
          <a:xfrm>
            <a:off x="2184400" y="1457821"/>
            <a:ext cx="4673600" cy="1266876"/>
          </a:xfrm>
          <a:prstGeom prst="rect">
            <a:avLst/>
          </a:prstGeom>
        </p:spPr>
      </p:pic>
      <p:sp>
        <p:nvSpPr>
          <p:cNvPr id="5" name="TextBox 4">
            <a:extLst>
              <a:ext uri="{FF2B5EF4-FFF2-40B4-BE49-F238E27FC236}">
                <a16:creationId xmlns:a16="http://schemas.microsoft.com/office/drawing/2014/main" id="{A49B866E-5A9B-C678-0AAD-1FC3582DB69E}"/>
              </a:ext>
            </a:extLst>
          </p:cNvPr>
          <p:cNvSpPr txBox="1"/>
          <p:nvPr/>
        </p:nvSpPr>
        <p:spPr>
          <a:xfrm>
            <a:off x="6959600" y="1931747"/>
            <a:ext cx="1916615" cy="369332"/>
          </a:xfrm>
          <a:prstGeom prst="rect">
            <a:avLst/>
          </a:prstGeom>
          <a:noFill/>
        </p:spPr>
        <p:txBody>
          <a:bodyPr wrap="none" rtlCol="0">
            <a:spAutoFit/>
          </a:bodyPr>
          <a:lstStyle/>
          <a:p>
            <a:r>
              <a:rPr lang="en-US" i="1" dirty="0" err="1"/>
              <a:t>Baltes&amp;Diehl</a:t>
            </a:r>
            <a:r>
              <a:rPr lang="en-US" i="1" dirty="0"/>
              <a:t> 2014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2009129"/>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2466329"/>
            <a:ext cx="7772400" cy="1005840"/>
          </a:xfrm>
        </p:spPr>
        <p:txBody>
          <a:bodyPr>
            <a:normAutofit/>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3563609"/>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4349993"/>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obligation decides what be modeled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486400"/>
            <a:ext cx="7772400" cy="365760"/>
          </a:xfrm>
          <a:prstGeom prst="rect">
            <a:avLst/>
          </a:prstGeom>
          <a:noFill/>
          <a:ln>
            <a:noFill/>
          </a:ln>
        </p:spPr>
        <p:txBody>
          <a:bodyPr wrap="square" lIns="0" tIns="0" rIns="0" bIns="0" anchor="t"/>
          <a:lstStyle/>
          <a:p>
            <a:pPr algn="ctr">
              <a:spcAft>
                <a:spcPts val="0"/>
              </a:spcAft>
              <a:buNone/>
            </a:pPr>
            <a:r>
              <a:rPr lang="en-US" sz="2400" b="0" i="1" dirty="0">
                <a:solidFill>
                  <a:srgbClr val="555960"/>
                </a:solidFill>
              </a:rPr>
              <a:t>Degrees of freedom are known freedom, not ignorance.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Let’s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 QUALITY</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3" name="Rule"/>
          <p:cNvSpPr/>
          <p:nvPr/>
        </p:nvSpPr>
        <p:spPr>
          <a:xfrm>
            <a:off x="3429000" y="3458607"/>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30" name="SubLine"/>
          <p:cNvSpPr txBox="1"/>
          <p:nvPr/>
        </p:nvSpPr>
        <p:spPr>
          <a:xfrm>
            <a:off x="274320" y="2808295"/>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in the right things?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2E37B-E779-9984-4ACB-76844DC8CEAC}"/>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38E173AB-AB95-B84E-5866-71C33DA07EFD}"/>
              </a:ext>
            </a:extLst>
          </p:cNvPr>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5</a:t>
            </a:r>
          </a:p>
        </p:txBody>
      </p:sp>
      <p:sp>
        <p:nvSpPr>
          <p:cNvPr id="2" name="Title 1">
            <a:extLst>
              <a:ext uri="{FF2B5EF4-FFF2-40B4-BE49-F238E27FC236}">
                <a16:creationId xmlns:a16="http://schemas.microsoft.com/office/drawing/2014/main" id="{7398C1B7-8695-7B85-0557-BFB1EE58A8C9}"/>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COST</a:t>
            </a:r>
          </a:p>
        </p:txBody>
      </p:sp>
      <p:sp>
        <p:nvSpPr>
          <p:cNvPr id="3" name="Slide Number Placeholder 3">
            <a:extLst>
              <a:ext uri="{FF2B5EF4-FFF2-40B4-BE49-F238E27FC236}">
                <a16:creationId xmlns:a16="http://schemas.microsoft.com/office/drawing/2014/main" id="{92DC0E80-2461-F2A9-BDB5-60EEC562A08E}"/>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103" name="Rule">
            <a:extLst>
              <a:ext uri="{FF2B5EF4-FFF2-40B4-BE49-F238E27FC236}">
                <a16:creationId xmlns:a16="http://schemas.microsoft.com/office/drawing/2014/main" id="{44417FAC-1787-E1F5-46EF-6585A0A7C1E1}"/>
              </a:ext>
            </a:extLst>
          </p:cNvPr>
          <p:cNvSpPr/>
          <p:nvPr/>
        </p:nvSpPr>
        <p:spPr>
          <a:xfrm>
            <a:off x="3429000" y="3458607"/>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30" name="SubLine">
            <a:extLst>
              <a:ext uri="{FF2B5EF4-FFF2-40B4-BE49-F238E27FC236}">
                <a16:creationId xmlns:a16="http://schemas.microsoft.com/office/drawing/2014/main" id="{80BEE496-3BC2-E5D7-3D0C-4145EAC7EDE6}"/>
              </a:ext>
            </a:extLst>
          </p:cNvPr>
          <p:cNvSpPr txBox="1"/>
          <p:nvPr/>
        </p:nvSpPr>
        <p:spPr>
          <a:xfrm>
            <a:off x="274320" y="2808295"/>
            <a:ext cx="8595360" cy="274320"/>
          </a:xfrm>
          <a:prstGeom prst="rect">
            <a:avLst/>
          </a:prstGeom>
          <a:noFill/>
          <a:ln>
            <a:noFill/>
          </a:ln>
        </p:spPr>
        <p:txBody>
          <a:bodyPr wrap="square" lIns="0" tIns="0" rIns="0" bIns="0" anchor="t"/>
          <a:lstStyle/>
          <a:p>
            <a:pPr algn="ctr">
              <a:spcAft>
                <a:spcPts val="0"/>
              </a:spcAft>
              <a:buNone/>
            </a:pPr>
            <a:r>
              <a:rPr lang="en-US" dirty="0">
                <a:solidFill>
                  <a:srgbClr val="555960"/>
                </a:solidFill>
              </a:rPr>
              <a:t>We’ve talked about probability. Now let’s add cost.</a:t>
            </a:r>
            <a:endParaRPr lang="en-US" sz="1800" b="0" dirty="0">
              <a:solidFill>
                <a:srgbClr val="555960"/>
              </a:solidFill>
            </a:endParaRPr>
          </a:p>
        </p:txBody>
      </p:sp>
    </p:spTree>
    <p:extLst>
      <p:ext uri="{BB962C8B-B14F-4D97-AF65-F5344CB8AC3E}">
        <p14:creationId xmlns:p14="http://schemas.microsoft.com/office/powerpoint/2010/main" val="26835852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2532" cy="638175"/>
          </a:xfrm>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WE ASKED EARLIER</a:t>
            </a:r>
          </a:p>
        </p:txBody>
      </p:sp>
      <p:sp>
        <p:nvSpPr>
          <p:cNvPr id="105" name="Recall1"/>
          <p:cNvSpPr txBox="1"/>
          <p:nvPr/>
        </p:nvSpPr>
        <p:spPr>
          <a:xfrm>
            <a:off x="274320" y="1463040"/>
            <a:ext cx="2682240" cy="118872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600" b="0" i="0" dirty="0">
                <a:solidFill>
                  <a:srgbClr val="555960"/>
                </a:solidFill>
              </a:rPr>
              <a:t>If this works, why do software engineers draw boxes and arrows for a day, then go code for a week?</a:t>
            </a:r>
          </a:p>
        </p:txBody>
      </p:sp>
      <p:sp>
        <p:nvSpPr>
          <p:cNvPr id="106" name="Recall2"/>
          <p:cNvSpPr txBox="1"/>
          <p:nvPr/>
        </p:nvSpPr>
        <p:spPr>
          <a:xfrm>
            <a:off x="3230880" y="1463040"/>
            <a:ext cx="2682240" cy="118872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600" b="0" i="0" dirty="0">
                <a:solidFill>
                  <a:srgbClr val="555960"/>
                </a:solidFill>
              </a:rPr>
              <a:t>Why is outsourcing software development so hard?</a:t>
            </a:r>
          </a:p>
        </p:txBody>
      </p:sp>
      <p:sp>
        <p:nvSpPr>
          <p:cNvPr id="107" name="Recall3"/>
          <p:cNvSpPr txBox="1"/>
          <p:nvPr/>
        </p:nvSpPr>
        <p:spPr>
          <a:xfrm>
            <a:off x="6187440" y="1463040"/>
            <a:ext cx="2682240" cy="118872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600" b="0" i="0" dirty="0">
                <a:solidFill>
                  <a:srgbClr val="555960"/>
                </a:solidFill>
              </a:rPr>
              <a:t>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When is whiteboard + code economically rational,</a:t>
            </a:r>
          </a:p>
          <a:p>
            <a:pPr algn="ctr">
              <a:spcAft>
                <a:spcPts val="0"/>
              </a:spcAft>
              <a:buNone/>
            </a:pPr>
            <a:r>
              <a:rPr lang="en-US" sz="2400" b="0" i="1" dirty="0">
                <a:solidFill>
                  <a:srgbClr val="5C4826"/>
                </a:solidFill>
              </a:rPr>
              <a:t>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endParaR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a:endParaRPr/>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senior</a:t>
            </a:r>
            <a:br>
              <a:rPr lang="en-US" sz="1200" b="1" i="0"/>
            </a:br>
            <a:r>
              <a:rPr lang="en-US" sz="1200" b="1" i="0" dirty="0">
                <a:solidFill>
                  <a:srgbClr val="5C4826"/>
                </a:solidFill>
              </a:rPr>
              <a:t>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a:endParaRPr/>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junior</a:t>
            </a:r>
            <a:br>
              <a:rPr lang="en-US" sz="1200" b="1" i="0"/>
            </a:br>
            <a:r>
              <a:rPr lang="en-US" sz="1200" b="1" i="0" dirty="0">
                <a:solidFill>
                  <a:srgbClr val="5C4826"/>
                </a:solidFill>
              </a:rPr>
              <a:t>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a:endParaRPr/>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Purdue</a:t>
            </a:r>
            <a:br>
              <a:rPr lang="en-US" sz="1200" b="1" i="0"/>
            </a:br>
            <a:r>
              <a:rPr lang="en-US" sz="1200" b="1" i="0" dirty="0">
                <a:solidFill>
                  <a:srgbClr val="5C4826"/>
                </a:solidFill>
              </a:rPr>
              <a:t>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a:endParaRPr/>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a:t>
            </a:r>
            <a:r>
              <a:rPr lang="en-US" sz="1200" b="1" dirty="0">
                <a:solidFill>
                  <a:srgbClr val="5C4826"/>
                </a:solidFill>
              </a:rPr>
              <a:t>UIUC or GT</a:t>
            </a:r>
          </a:p>
          <a:p>
            <a:pPr algn="ctr">
              <a:spcAft>
                <a:spcPts val="0"/>
              </a:spcAft>
              <a:buNone/>
            </a:pPr>
            <a:r>
              <a:rPr lang="en-US" sz="1200" b="1" i="0" dirty="0">
                <a:solidFill>
                  <a:srgbClr val="5C4826"/>
                </a:solidFill>
              </a:rPr>
              <a:t>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a:endParaRPr/>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high-school</a:t>
            </a:r>
            <a:br>
              <a:rPr lang="en-US" sz="1200" b="1" i="0"/>
            </a:br>
            <a:r>
              <a:rPr lang="en-US" sz="1200" b="1" i="0" dirty="0">
                <a:solidFill>
                  <a:srgbClr val="5C4826"/>
                </a:solidFill>
              </a:rPr>
              <a:t>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a:endParaRPr/>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a:endParaRPr/>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1,000</a:t>
            </a:r>
            <a:br>
              <a:rPr lang="en-US" sz="1200" b="1" i="0"/>
            </a:br>
            <a:r>
              <a:rPr lang="en-US" sz="1200" b="1" i="0" dirty="0">
                <a:solidFill>
                  <a:srgbClr val="5C4826"/>
                </a:solidFill>
              </a:rPr>
              <a:t>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a:endParaRPr/>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waves hitting</a:t>
            </a:r>
            <a:br>
              <a:rPr lang="en-US" sz="1200" b="1" i="0"/>
            </a:br>
            <a:r>
              <a:rPr lang="en-US" sz="1200" b="1" i="0" dirty="0">
                <a:solidFill>
                  <a:srgbClr val="5C4826"/>
                </a:solidFill>
              </a:rPr>
              <a:t>a rock</a:t>
            </a:r>
            <a:br>
              <a:rPr lang="en-US" sz="1200" b="1" i="0"/>
            </a:br>
            <a:r>
              <a:rPr lang="en-US" sz="1200" b="1" i="0" dirty="0">
                <a:solidFill>
                  <a:srgbClr val="5C4826"/>
                </a:solidFill>
              </a:rPr>
              <a:t>connected to</a:t>
            </a:r>
            <a:br>
              <a:rPr lang="en-US" sz="1200" b="1" i="0"/>
            </a:br>
            <a:r>
              <a:rPr lang="en-US" sz="1200" b="1" i="0" dirty="0">
                <a:solidFill>
                  <a:srgbClr val="5C4826"/>
                </a:solidFill>
              </a:rPr>
              <a:t>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give them</a:t>
            </a:r>
            <a:br>
              <a:rPr lang="en-US" sz="1100" b="0" i="1"/>
            </a:br>
            <a:r>
              <a:rPr lang="en-US" sz="1100" b="0" i="1" dirty="0">
                <a:solidFill>
                  <a:srgbClr val="5C4826"/>
                </a:solidFill>
              </a:rPr>
              <a:t>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maybe add</a:t>
            </a:r>
            <a:br>
              <a:rPr lang="en-US" sz="1100" b="0" i="1"/>
            </a:br>
            <a:r>
              <a:rPr lang="en-US" sz="1100" b="0" i="1" dirty="0">
                <a:solidFill>
                  <a:srgbClr val="5C4826"/>
                </a:solidFill>
              </a:rPr>
              <a:t>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add examples</a:t>
            </a:r>
            <a:br>
              <a:rPr lang="en-US" sz="1100" b="0" i="1"/>
            </a:br>
            <a:r>
              <a:rPr lang="en-US" sz="1100" b="0" i="1" dirty="0">
                <a:solidFill>
                  <a:srgbClr val="5C4826"/>
                </a:solidFill>
              </a:rPr>
              <a:t>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add more</a:t>
            </a:r>
            <a:br>
              <a:rPr lang="en-US" sz="1100" b="0" i="1"/>
            </a:br>
            <a:r>
              <a:rPr lang="en-US" sz="1100" b="0" i="1" dirty="0">
                <a:solidFill>
                  <a:srgbClr val="5C4826"/>
                </a:solidFill>
              </a:rPr>
              <a:t>examples and</a:t>
            </a:r>
            <a:br>
              <a:rPr lang="en-US" sz="1100" b="0" i="1"/>
            </a:br>
            <a:r>
              <a:rPr lang="en-US" sz="1100" b="0" i="1" dirty="0">
                <a:solidFill>
                  <a:srgbClr val="5C4826"/>
                </a:solidFill>
              </a:rPr>
              <a:t>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a:endParaRPr/>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a:endParaRPr/>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PRODUCT MODEL</a:t>
            </a:r>
          </a:p>
          <a:p>
            <a:pPr algn="ctr">
              <a:spcAft>
                <a:spcPts val="0"/>
              </a:spcAft>
              <a:buNone/>
            </a:pPr>
            <a:r>
              <a:rPr lang="en-US" sz="1300" b="0" i="0" dirty="0">
                <a:solidFill>
                  <a:srgbClr val="555960"/>
                </a:solidFill>
              </a:rPr>
              <a:t>obligations</a:t>
            </a:r>
          </a:p>
          <a:p>
            <a:pPr algn="ctr">
              <a:spcAft>
                <a:spcPts val="0"/>
              </a:spcAft>
              <a:buNone/>
            </a:pPr>
            <a:r>
              <a:rPr lang="en-US" sz="1300" b="0" i="0" dirty="0">
                <a:solidFill>
                  <a:srgbClr val="555960"/>
                </a:solidFill>
              </a:rPr>
              <a:t>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WORKING SOFTWARE</a:t>
            </a:r>
          </a:p>
          <a:p>
            <a:pPr algn="ctr">
              <a:spcAft>
                <a:spcPts val="0"/>
              </a:spcAft>
              <a:buNone/>
            </a:pPr>
            <a:r>
              <a:rPr lang="en-US" sz="1400" b="0" i="0" dirty="0">
                <a:solidFill>
                  <a:srgbClr val="555960"/>
                </a:solidFill>
              </a:rPr>
              <a:t>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a:endParaRPr/>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SCAFFOLDING</a:t>
            </a:r>
            <a:r>
              <a:rPr lang="en-US" sz="1200" b="0" i="0" dirty="0">
                <a:solidFill>
                  <a:srgbClr val="5C4826"/>
                </a:solidFill>
              </a:rPr>
              <a:t>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OBLIGATION</a:t>
            </a:r>
          </a:p>
          <a:p>
            <a:pPr algn="ctr">
              <a:spcAft>
                <a:spcPts val="0"/>
              </a:spcAft>
              <a:buNone/>
            </a:pPr>
            <a:r>
              <a:rPr lang="en-US" sz="1200" b="0" i="0" dirty="0">
                <a:solidFill>
                  <a:srgbClr val="555960"/>
                </a:solidFill>
              </a:rPr>
              <a:t>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DEGREES OF FREEDOM</a:t>
            </a:r>
            <a:r>
              <a:rPr lang="en-US" sz="1200" b="0" i="0" dirty="0">
                <a:solidFill>
                  <a:srgbClr val="5C4826"/>
                </a:solidFill>
              </a:rPr>
              <a:t>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Obligation boundary</a:t>
            </a:r>
          </a:p>
          <a:p>
            <a:pPr algn="l">
              <a:spcAft>
                <a:spcPts val="0"/>
              </a:spcAft>
              <a:buNone/>
            </a:pPr>
            <a:r>
              <a:rPr lang="en-US" sz="1200" b="0" i="1" dirty="0">
                <a:solidFill>
                  <a:srgbClr val="5C4826"/>
                </a:solidFill>
              </a:rPr>
              <a:t>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Specification boundary</a:t>
            </a:r>
          </a:p>
          <a:p>
            <a:pPr algn="l">
              <a:spcAft>
                <a:spcPts val="0"/>
              </a:spcAft>
              <a:buNone/>
            </a:pPr>
            <a:r>
              <a:rPr lang="en-US" sz="1200" b="0" i="1" dirty="0">
                <a:solidFill>
                  <a:srgbClr val="5C4826"/>
                </a:solidFill>
              </a:rPr>
              <a:t>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200" b="1" i="0" dirty="0">
                <a:solidFill>
                  <a:srgbClr val="8E6F3E"/>
                </a:solidFill>
              </a:rPr>
              <a:t>EVERYTHING ABOUT THE IMPLEMENTATION</a:t>
            </a:r>
          </a:p>
          <a:p>
            <a:pPr algn="ctr">
              <a:spcAft>
                <a:spcPts val="0"/>
              </a:spcAft>
              <a:buNone/>
            </a:pPr>
            <a:r>
              <a:rPr lang="en-US" sz="1100" b="0" i="1" dirty="0">
                <a:solidFill>
                  <a:srgbClr val="5C4826"/>
                </a:solidFill>
              </a:rPr>
              <a:t>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bad persistence choice</a:t>
            </a:r>
          </a:p>
        </p:txBody>
      </p:sp>
      <p:sp>
        <p:nvSpPr>
          <p:cNvPr id="121" name="AgentBox2"/>
          <p:cNvSpPr txBox="1"/>
          <p:nvPr/>
        </p:nvSpPr>
        <p:spPr>
          <a:xfrm>
            <a:off x="3900000" y="2280000"/>
            <a:ext cx="4878240" cy="252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bad query performance</a:t>
            </a:r>
          </a:p>
        </p:txBody>
      </p:sp>
      <p:sp>
        <p:nvSpPr>
          <p:cNvPr id="122" name="AgentBox3"/>
          <p:cNvSpPr txBox="1"/>
          <p:nvPr/>
        </p:nvSpPr>
        <p:spPr>
          <a:xfrm>
            <a:off x="3900000" y="2620000"/>
            <a:ext cx="4878240" cy="218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bad join choice</a:t>
            </a:r>
          </a:p>
        </p:txBody>
      </p:sp>
      <p:sp>
        <p:nvSpPr>
          <p:cNvPr id="123" name="AgentBox4"/>
          <p:cNvSpPr txBox="1"/>
          <p:nvPr/>
        </p:nvSpPr>
        <p:spPr>
          <a:xfrm>
            <a:off x="3900000" y="2960000"/>
            <a:ext cx="4878240" cy="184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Use this transaction boundary</a:t>
            </a:r>
          </a:p>
          <a:p>
            <a:pPr algn="l">
              <a:spcAft>
                <a:spcPts val="0"/>
              </a:spcAft>
              <a:buNone/>
            </a:pPr>
            <a:r>
              <a:rPr lang="en-US" sz="1200" b="0" i="0" dirty="0">
                <a:solidFill>
                  <a:srgbClr val="5C4826"/>
                </a:solidFill>
              </a:rPr>
              <a:t>+ Structure the query this way</a:t>
            </a:r>
          </a:p>
          <a:p>
            <a:pPr algn="l">
              <a:spcAft>
                <a:spcPts val="0"/>
              </a:spcAft>
              <a:buNone/>
            </a:pPr>
            <a:r>
              <a:rPr lang="en-US" sz="1200" b="0" i="0" dirty="0">
                <a:solidFill>
                  <a:srgbClr val="5C4826"/>
                </a:solidFill>
              </a:rPr>
              <a:t>+ Put this logic in…</a:t>
            </a:r>
          </a:p>
        </p:txBody>
      </p:sp>
      <p:sp>
        <p:nvSpPr>
          <p:cNvPr id="124" name="AgentBox5"/>
          <p:cNvSpPr txBox="1"/>
          <p:nvPr/>
        </p:nvSpPr>
        <p:spPr>
          <a:xfrm>
            <a:off x="3900000" y="3610000"/>
            <a:ext cx="4878240" cy="119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Name this variable quota_mode</a:t>
            </a:r>
          </a:p>
        </p:txBody>
      </p:sp>
      <p:sp>
        <p:nvSpPr>
          <p:cNvPr id="125" name="AgentBox6"/>
          <p:cNvSpPr txBox="1"/>
          <p:nvPr/>
        </p:nvSpPr>
        <p:spPr>
          <a:xfrm>
            <a:off x="3900000" y="3890000"/>
            <a:ext cx="4878240" cy="91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60" name="Oops"/>
          <p:cNvSpPr txBox="1"/>
          <p:nvPr/>
        </p:nvSpPr>
        <p:spPr>
          <a:xfrm>
            <a:off x="365760" y="5010000"/>
            <a:ext cx="8412480" cy="82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Oops. We are writing the implementation again.</a:t>
            </a:r>
          </a:p>
        </p:txBody>
      </p:sp>
      <p:sp>
        <p:nvSpPr>
          <p:cNvPr id="161" name="Close"/>
          <p:cNvSpPr txBox="1"/>
          <p:nvPr/>
        </p:nvSpPr>
        <p:spPr>
          <a:xfrm>
            <a:off x="365760" y="5890000"/>
            <a:ext cx="8412480" cy="50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36</a:t>
            </a:fld>
            <a:endParaRPr lang="en-US"/>
          </a:p>
        </p:txBody>
      </p:sp>
      <p:sp>
        <p:nvSpPr>
          <p:cNvPr id="100" name="Axis"/>
          <p:cNvSpPr/>
          <p:nvPr/>
        </p:nvSpPr>
        <p:spPr>
          <a:xfrm>
            <a:off x="365760" y="168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185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TOO LITTLE</a:t>
            </a:r>
            <a:r>
              <a:rPr lang="en-US" sz="1100" b="0" i="1" dirty="0">
                <a:solidFill>
                  <a:srgbClr val="5C4826"/>
                </a:solidFill>
              </a:rPr>
              <a:t>   product model</a:t>
            </a:r>
          </a:p>
        </p:txBody>
      </p:sp>
      <p:sp>
        <p:nvSpPr>
          <p:cNvPr id="102" name="TooMuch"/>
          <p:cNvSpPr txBox="1"/>
          <p:nvPr/>
        </p:nvSpPr>
        <p:spPr>
          <a:xfrm>
            <a:off x="5778240" y="185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code   </a:t>
            </a:r>
            <a:r>
              <a:rPr lang="en-US" sz="1400" b="1" i="0" dirty="0">
                <a:solidFill>
                  <a:srgbClr val="8E6F3E"/>
                </a:solidFill>
              </a:rPr>
              <a:t>TOO MUCH</a:t>
            </a:r>
          </a:p>
        </p:txBody>
      </p:sp>
      <p:sp>
        <p:nvSpPr>
          <p:cNvPr id="103" name="WarnLeft"/>
          <p:cNvSpPr txBox="1"/>
          <p:nvPr/>
        </p:nvSpPr>
        <p:spPr>
          <a:xfrm>
            <a:off x="365760" y="1000000"/>
            <a:ext cx="3800000" cy="60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Under-specify the delegate — repeated bad realization choices, correction and rework, unreliable outcomes.</a:t>
            </a:r>
          </a:p>
        </p:txBody>
      </p:sp>
      <p:sp>
        <p:nvSpPr>
          <p:cNvPr id="104" name="WarnRight"/>
          <p:cNvSpPr txBox="1"/>
          <p:nvPr/>
        </p:nvSpPr>
        <p:spPr>
          <a:xfrm>
            <a:off x="4978240" y="1000000"/>
            <a:ext cx="3800000" cy="60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Over-specify the delegate — modeling becomes implementation, freedom disappears, delegation savings disappear.</a:t>
            </a:r>
          </a:p>
        </p:txBody>
      </p:sp>
      <p:sp>
        <p:nvSpPr>
          <p:cNvPr id="105" name="Center"/>
          <p:cNvSpPr txBox="1"/>
          <p:nvPr/>
        </p:nvSpPr>
        <p:spPr>
          <a:xfrm>
            <a:off x="365760" y="233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What is the least scaffolding this delegate needs for reliable realization?</a:t>
            </a:r>
          </a:p>
        </p:txBody>
      </p:sp>
      <p:sp>
        <p:nvSpPr>
          <p:cNvPr id="106" name="ProdQ"/>
          <p:cNvSpPr txBox="1"/>
          <p:nvPr/>
        </p:nvSpPr>
        <p:spPr>
          <a:xfrm>
            <a:off x="36576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PRODUCT QUESTION</a:t>
            </a:r>
          </a:p>
          <a:p>
            <a:pPr algn="ctr">
              <a:spcAft>
                <a:spcPts val="0"/>
              </a:spcAft>
              <a:buNone/>
            </a:pPr>
            <a:r>
              <a:rPr lang="en-US" sz="1200" b="0" i="0" dirty="0">
                <a:solidFill>
                  <a:srgbClr val="5C4826"/>
                </a:solidFill>
              </a:rPr>
              <a:t>What distinctions must the model preserve?</a:t>
            </a:r>
          </a:p>
        </p:txBody>
      </p:sp>
      <p:sp>
        <p:nvSpPr>
          <p:cNvPr id="107" name="DelQ"/>
          <p:cNvSpPr txBox="1"/>
          <p:nvPr/>
        </p:nvSpPr>
        <p:spPr>
          <a:xfrm>
            <a:off x="467824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DELEGATION QUESTION</a:t>
            </a:r>
          </a:p>
          <a:p>
            <a:pPr algn="ctr">
              <a:spcAft>
                <a:spcPts val="0"/>
              </a:spcAft>
              <a:buNone/>
            </a:pPr>
            <a:r>
              <a:rPr lang="en-US" sz="1200" b="0" i="0" dirty="0">
                <a:solidFill>
                  <a:srgbClr val="5C4826"/>
                </a:solidFill>
              </a:rPr>
              <a:t>What additional distinctions must this fabricator be given?</a:t>
            </a:r>
          </a:p>
        </p:txBody>
      </p:sp>
      <p:sp>
        <p:nvSpPr>
          <p:cNvPr id="110" name="Cap1"/>
          <p:cNvSpPr txBox="1"/>
          <p:nvPr/>
        </p:nvSpPr>
        <p:spPr>
          <a:xfrm>
            <a:off x="36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MORE CAPABLE</a:t>
            </a:r>
          </a:p>
          <a:p>
            <a:pPr algn="ctr">
              <a:spcAft>
                <a:spcPts val="0"/>
              </a:spcAft>
              <a:buNone/>
            </a:pPr>
            <a:r>
              <a:rPr lang="en-US" sz="1100" b="1" i="0" dirty="0">
                <a:solidFill>
                  <a:srgbClr val="5C4826"/>
                </a:solidFill>
              </a:rPr>
              <a:t>DELEGATE</a:t>
            </a:r>
          </a:p>
        </p:txBody>
      </p:sp>
      <p:sp>
        <p:nvSpPr>
          <p:cNvPr id="111" name="Cap2"/>
          <p:cNvSpPr txBox="1"/>
          <p:nvPr/>
        </p:nvSpPr>
        <p:spPr>
          <a:xfrm>
            <a:off x="214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LESS SCAFFOLDING</a:t>
            </a:r>
          </a:p>
          <a:p>
            <a:pPr algn="ctr">
              <a:spcAft>
                <a:spcPts val="0"/>
              </a:spcAft>
              <a:buNone/>
            </a:pPr>
            <a:r>
              <a:rPr lang="en-US" sz="1100" b="1" i="0" dirty="0">
                <a:solidFill>
                  <a:srgbClr val="5C4826"/>
                </a:solidFill>
              </a:rPr>
              <a:t>NEEDED</a:t>
            </a:r>
          </a:p>
        </p:txBody>
      </p:sp>
      <p:sp>
        <p:nvSpPr>
          <p:cNvPr id="112" name="Cap3"/>
          <p:cNvSpPr txBox="1"/>
          <p:nvPr/>
        </p:nvSpPr>
        <p:spPr>
          <a:xfrm>
            <a:off x="392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MORE LEGITIMATE</a:t>
            </a:r>
          </a:p>
          <a:p>
            <a:pPr algn="ctr">
              <a:spcAft>
                <a:spcPts val="0"/>
              </a:spcAft>
              <a:buNone/>
            </a:pPr>
            <a:r>
              <a:rPr lang="en-US" sz="1100" b="1" i="0" dirty="0">
                <a:solidFill>
                  <a:srgbClr val="5C4826"/>
                </a:solidFill>
              </a:rPr>
              <a:t>FREEDOM</a:t>
            </a:r>
          </a:p>
        </p:txBody>
      </p:sp>
      <p:sp>
        <p:nvSpPr>
          <p:cNvPr id="116" name="Arr1"/>
          <p:cNvSpPr/>
          <p:nvPr/>
        </p:nvSpPr>
        <p:spPr>
          <a:xfrm>
            <a:off x="192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1"/>
          <p:cNvSpPr txBox="1"/>
          <p:nvPr/>
        </p:nvSpPr>
        <p:spPr>
          <a:xfrm>
            <a:off x="56843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08" name="Wall2"/>
          <p:cNvSpPr txBox="1"/>
          <p:nvPr/>
        </p:nvSpPr>
        <p:spPr>
          <a:xfrm>
            <a:off x="57224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27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PRODUCT OBLIGATION</a:t>
            </a:r>
          </a:p>
          <a:p>
            <a:pPr algn="ctr">
              <a:spcAft>
                <a:spcPts val="0"/>
              </a:spcAft>
              <a:buNone/>
            </a:pPr>
            <a:r>
              <a:rPr lang="en-US" sz="1600" b="1" i="0" dirty="0">
                <a:solidFill>
                  <a:srgbClr val="5C4826"/>
                </a:solidFill>
              </a:rPr>
              <a:t>unchanged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08"/>
                                        </p:tgtEl>
                                        <p:attrNameLst>
                                          <p:attrName>style.visibility</p:attrName>
                                        </p:attrNameLst>
                                      </p:cBhvr>
                                      <p:to>
                                        <p:strVal val="visible"/>
                                      </p:to>
                                    </p:set>
                                    <p:animEffect transition="in" filter="fade">
                                      <p:cBhvr>
                                        <p:cTn id="52" dur="500"/>
                                        <p:tgtEl>
                                          <p:spTgt spid="108"/>
                                        </p:tgtEl>
                                      </p:cBhvr>
                                    </p:animEffect>
                                  </p:childTnLst>
                                </p:cTn>
                              </p:par>
                              <p:par>
                                <p:cTn id="53" presetID="10" presetClass="entr" presetSubtype="0" fill="hold" nodeType="withEffect">
                                  <p:stCondLst>
                                    <p:cond delay="0"/>
                                  </p:stCondLst>
                                  <p:childTnLst>
                                    <p:set>
                                      <p:cBhvr>
                                        <p:cTn id="54" dur="1" fill="hold">
                                          <p:stCondLst>
                                            <p:cond delay="0"/>
                                          </p:stCondLst>
                                        </p:cTn>
                                        <p:tgtEl>
                                          <p:spTgt spid="119"/>
                                        </p:tgtEl>
                                        <p:attrNameLst>
                                          <p:attrName>style.visibility</p:attrName>
                                        </p:attrNameLst>
                                      </p:cBhvr>
                                      <p:to>
                                        <p:strVal val="visible"/>
                                      </p:to>
                                    </p:set>
                                    <p:animEffect transition="in" filter="fade">
                                      <p:cBhvr>
                                        <p:cTn id="55"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8656</TotalTime>
  <Words>11246</Words>
  <Application>Microsoft Macintosh PowerPoint</Application>
  <PresentationFormat>On-screen Show (4:3)</PresentationFormat>
  <Paragraphs>619</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vt:lpstr>
      <vt:lpstr>Purdue1</vt:lpstr>
      <vt:lpstr>PowerPoint Presentation</vt:lpstr>
      <vt:lpstr>Our delegate, the agent, works inside an engineer-able environment</vt:lpstr>
      <vt:lpstr>The equation of production</vt:lpstr>
      <vt:lpstr>Open the box — where things can go wrong</vt:lpstr>
      <vt:lpstr>Delegation leaves a representation problem</vt:lpstr>
      <vt:lpstr>Representations</vt:lpstr>
      <vt:lpstr>What exists?</vt:lpstr>
      <vt:lpstr>Who talks to whom?</vt:lpstr>
      <vt:lpstr>What states?</vt:lpstr>
      <vt:lpstr>What paths?</vt:lpstr>
      <vt:lpstr>Who needs what?</vt:lpstr>
      <vt:lpstr>Same territory, different questions</vt:lpstr>
      <vt:lpstr>Good engineers reuse wherever appropriate</vt:lpstr>
      <vt:lpstr>MODELS ENABLE DELEGATION</vt:lpstr>
      <vt:lpstr>How would you implement this?</vt:lpstr>
      <vt:lpstr>One model, many implementations</vt:lpstr>
      <vt:lpstr>Why don’t we do this already in SWE?</vt:lpstr>
      <vt:lpstr>DESIGNING THE MODEL</vt:lpstr>
      <vt:lpstr>From requirement to specification</vt:lpstr>
      <vt:lpstr>Worked: protect the battery</vt:lpstr>
      <vt:lpstr>The obligation decides what be modeled</vt:lpstr>
      <vt:lpstr>Let’s preserve what the obligation requires</vt:lpstr>
      <vt:lpstr>MODEL QUALITY</vt:lpstr>
      <vt:lpstr>Too much reduction loses the obligation</vt:lpstr>
      <vt:lpstr>Good reduction leaves implementation free</vt:lpstr>
      <vt:lpstr>Modeling is purposeful reduction</vt:lpstr>
      <vt:lpstr>Stretch break</vt:lpstr>
      <vt:lpstr>COST</vt:lpstr>
      <vt:lpstr>The cost discussion</vt:lpstr>
      <vt:lpstr>If code gets cheaper, which side of the ledger changes?</vt:lpstr>
      <vt:lpstr>How cheap can we make the implementer?</vt:lpstr>
      <vt:lpstr>But this is weird</vt:lpstr>
      <vt:lpstr>GenAI changes the economics of delegation</vt:lpstr>
      <vt:lpstr>How much must we tell the agent?</vt:lpstr>
      <vt:lpstr>What if the agent keeps choosing badly?</vt:lpstr>
      <vt:lpstr>How much should we specify?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456</cp:revision>
  <dcterms:created xsi:type="dcterms:W3CDTF">2020-02-21T23:00:33Z</dcterms:created>
  <dcterms:modified xsi:type="dcterms:W3CDTF">2026-10-01T15:57:19Z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