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2.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2.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36.xml" ContentType="application/vnd.openxmlformats-officedocument.presentationml.slide+xml"/>
  <Override PartName="/ppt/notesSlides/notesSlide36.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7"/>
  </p:notesMasterIdLst>
  <p:sldIdLst>
    <p:sldId id="256" r:id="rId2"/>
    <p:sldId id="289" r:id="rId3"/>
    <p:sldId id="257" r:id="rId4"/>
    <p:sldId id="258" r:id="rId5"/>
    <p:sldId id="259" r:id="rId6"/>
    <p:sldId id="260" r:id="rId7"/>
    <p:sldId id="261" r:id="rId8"/>
    <p:sldId id="262" r:id="rId9"/>
    <p:sldId id="263" r:id="rId10"/>
    <p:sldId id="264" r:id="rId11"/>
    <p:sldId id="265" r:id="rId12"/>
    <p:sldId id="266" r:id="rId13"/>
    <p:sldId id="294" r:id="rId44"/>
    <p:sldId id="295" r:id="rId45"/>
    <p:sldId id="296" r:id="rId46"/>
    <p:sldId id="292" r:id="rId42"/>
    <p:sldId id="297" r:id="rId47"/>
    <p:sldId id="269" r:id="rId16"/>
    <p:sldId id="298" r:id="rId48"/>
    <p:sldId id="272" r:id="rId19"/>
    <p:sldId id="270" r:id="rId17"/>
    <p:sldId id="273" r:id="rId20"/>
    <p:sldId id="276" r:id="rId26"/>
    <p:sldId id="277" r:id="rId27"/>
    <p:sldId id="278" r:id="rId28"/>
    <p:sldId id="268" r:id="rId15"/>
    <p:sldId id="284" r:id="rId32"/>
    <p:sldId id="299" r:id="rId49"/>
    <p:sldId id="300" r:id="rId50"/>
    <p:sldId id="301" r:id="rId51"/>
    <p:sldId id="302" r:id="rId52"/>
    <p:sldId id="280" r:id="rId23"/>
    <p:sldId id="303" r:id="rId53"/>
    <p:sldId id="304" r:id="rId5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614" autoAdjust="0"/>
    <p:restoredTop sz="56164"/>
  </p:normalViewPr>
  <p:slideViewPr>
    <p:cSldViewPr snapToGrid="0" snapToObjects="1">
      <p:cViewPr>
        <p:scale>
          <a:sx n="52" d="100"/>
          <a:sy n="52" d="100"/>
        </p:scale>
        <p:origin x="3392" y="432"/>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26" Type="http://schemas.openxmlformats.org/officeDocument/2006/relationships/slide" Target="slides/slide25.xml"/><Relationship Id="rId39"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27" Type="http://schemas.openxmlformats.org/officeDocument/2006/relationships/slide" Target="slides/slide26.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38" Type="http://schemas.openxmlformats.org/officeDocument/2006/relationships/presProps" Target="presProps.xml"/><Relationship Id="rId42" Type="http://schemas.openxmlformats.org/officeDocument/2006/relationships/slide" Target="slides/slide36.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9/30/26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Lecture 1 of 2 on Modeling: one model, one question. Lecture 2 turns to systems of many models. Today is learning how to make a model, not a catalogue of model types. [ASSUMPTION per plan section 8.1: deck filename 2-2-Modeling-1-Purposeful-Reduction.pptx pending author ratification.]</a:t>
            </a:r>
          </a:p>
          <a:p>
            <a:r>
              <a:rPr dirty="0"/>
              <a:t>Today’s spine is the production equation from the theory chapter. Delegation introduced that picture qualitatively; today we bring it back quantified and point at the one term Modeling acts on; Alignment will return to the same drawing from the other side. Open on it deliberately: the environment picture, the production equation and “Open the box” are the map for the whole of Act II, not a warm-up.</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1.5 minutes — We ended Delegation with this picture. The agent does not work alone; it works inside an engineered environment.</a:t>
            </a:r>
          </a:p>
          <a:p>
            <a:endParaRPr dirty="0"/>
          </a:p>
          <a:p>
            <a:r>
              <a:rPr dirty="0"/>
              <a:t>- This is the master picture for the rest of Act II, and here it is still entirely qualitative. We are the ones bringing it back and putting numbers on it, starting today.</a:t>
            </a:r>
          </a:p>
          <a:p>
            <a:r>
              <a:rPr dirty="0"/>
              <a:t>- The path first. A task enters, a reasoner works, an artifact comes out. Nothing on this row is new — read it back, do not re-teach it.</a:t>
            </a:r>
          </a:p>
          <a:p>
            <a:r>
              <a:rPr dirty="0"/>
              <a:t>- Click one. MODELS is the one station drawn with a heavy rim, and its arrow enters the path BEFORE the reasoner runs. Leave the claim open: the arrow lands before the reasoner, and why that should matter is the question this lecture answers. Do NOT say what the models "set" — you have not earned it yet.</a:t>
            </a:r>
          </a:p>
          <a:p>
            <a:r>
              <a:rPr dirty="0"/>
              <a:t>- Today we are going to open up the left-hand side. In particular, what does putting a model between engineering intent and the reasoner actually change?</a:t>
            </a:r>
          </a:p>
          <a:p>
            <a:r>
              <a:rPr dirty="0"/>
              <a:t>- Click two. ALIGNMENT is the only annotation whose arrow crosses the boundary of the environment. We will return to the blue Alignment boundary later. For now, leave it in the picture but do not explain it — the on-slide gloss "governs what may pass" is all it gets, and declining to open a door you just revealed is a stronger deferral than never drawing it.</a:t>
            </a:r>
          </a:p>
          <a:p>
            <a:r>
              <a:rPr dirty="0"/>
              <a:t>- Click three raises the question the rest of the lecture answers. Ask it, then leave it standing: what must a representation preserve for this task?</a:t>
            </a:r>
          </a:p>
          <a:p>
            <a:r>
              <a:rPr dirty="0"/>
              <a:t>- The colour code belongs to this PICTURE, not to the deck: red is Modeling's lever, blue is Alignment's, and it returns whenever the picture returns. Nothing here rests on colour alone — the words carry it, and so does the drawing: Modeling's stroke is solid and lands on the path, Alignment's are dashed because passage is conditional, and only Alignment's crosses the boundary.</a:t>
            </a:r>
          </a:p>
          <a:p>
            <a:r>
              <a:rPr dirty="0"/>
              <a:t>- Leave the space under the station row empty and do not fill it. On "Open the box", that is exactly where the arithmetic arrives.</a:t>
            </a:r>
          </a:p>
          <a:p>
            <a:r>
              <a:rPr dirty="0"/>
              <a:t>- FORWARD HOOK, and you must say it out loud when you get there: on "Open the box", beat two, name this red arrow — "there it is: R is in the first two factors; that is what the arrow was pointing at." The visual rhyme will not connect itself.</a:t>
            </a:r>
          </a:p>
          <a:p>
            <a:r>
              <a:rPr dirty="0"/>
              <a:t>- Next we put a number on the production process.</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Whole system before the lever. Put the equation up and ask the class to name the four terms before you reveal the labels; give it about a minute, no more.</a:t>
            </a:r>
          </a:p>
          <a:p>
            <a:r>
              <a:rPr dirty="0"/>
              <a:t>T is an engineering task or task family, M the reasoning model, R the representation available to it, H the harness and process through which production is organized. For a fixed engineering environment, p(T,M,R,H) is the probability that one attempt produces an acceptable candidate.</a:t>
            </a:r>
          </a:p>
          <a:p>
            <a:r>
              <a:rPr dirty="0"/>
              <a:t>Keep the thing they care about on screen: does the engineering system produce the thing? Four levers sit inside that one number, and an engineering organization can reach for any of them.</a:t>
            </a:r>
          </a:p>
          <a:p>
            <a:r>
              <a:rPr dirty="0"/>
              <a:t>Modeling is named on the picture behind you, but do not yet say which term it acts on. Naming the lever here spends the move of “Open the box”, which is to open the probability and point at the one term Modeling acts on. About 2.5 minutes including the naming exchange.</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That single probability hides several distinct opportunities for failure. Open it: E is correct encoding of consequential intent, I correct interpretation of that encoding, L correct realization of the interpreted intent.</a:t>
            </a:r>
          </a:p>
          <a:p>
            <a:r>
              <a:rPr dirty="0"/>
              <a:t>Say the caveat out loud, and say it in these words: this is a chain decomposition, not an independence assumption. The stages will not in general be statistically independent. Students who have had a probability course will otherwise read the product as a claim of independence.</a:t>
            </a:r>
          </a:p>
          <a:p>
            <a:r>
              <a:rPr dirty="0"/>
              <a:t>LEVER DISTINCTION — the figure’s own annotations and the red arrow are about different levers, and a careless delivery makes the slide look self-contradicting. A better fabricator cannot raise P(E | R); a better representation can. Say exactly that. “Not raised by a better fabricator” sits under the first term, and the red arrow points at the same term, because the arrow is the representation lever and the annotation is the fabricator lever.</a:t>
            </a:r>
          </a:p>
          <a:p>
            <a:r>
              <a:rPr dirty="0"/>
              <a:t>R IN ALL THREE — long form puts an R in every factor, because one representation is held fixed across the whole chain. The overlay boxes only two. Name the asymmetry before a student asks: the lecture’s claim is about the two factors where representation does its work — did we manage to say the consequential thing, and did the agent manage to recover it. Realization is the agent doing work it already understood.</a:t>
            </a:r>
          </a:p>
          <a:p>
            <a:r>
              <a:rPr dirty="0"/>
              <a:t>The claim is deliberately twofold. Modeling helps the engineer encode consequential intent (P(E | R): did we manage to say it?) and helps the reasoner recover it (P(I | E, R): did the agent understand it?). After this slide, “we failed to say it” and “the agent failed to understand it” are two different failures with two different names.</a:t>
            </a:r>
          </a:p>
          <a:p>
            <a:r>
              <a:rPr dirty="0"/>
              <a:t>Do NOT show the limit equation here. It is held back to the capability slide later in the deck, where every symbol is already known.</a:t>
            </a:r>
          </a:p>
          <a:p>
            <a:r>
              <a:rPr dirty="0"/>
              <a:t>Click 2 brings in the red arrow and the closing question: so what makes one representation better than another? That question is the rest of the lecture. About 3 minutes.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Bridge from the Agents unit (2-1): implementation is cheap to delegate, and we cannot and should not specify every realization choice. Delegation therefore creates a problem of representation: what matters must survive the hop from engineer to agent. Modeling is the discipline that answers it.</a:t>
            </a:r>
          </a:p>
          <a:p>
            <a:r>
              <a:rPr dirty="0"/>
              <a:t>Retitle rationale: “The production equation” and “Open the box” just named the problem as representational, not merely informational. The hop is not a bandwidth shortage; it is an encode-and-recover chain. The engineer encodes (E), the agent interprets (I), so this picture is the first two factors of the decomposition drawn as people rather than as arithmetic. That is why the gap now carries E and I tags.</a:t>
            </a:r>
          </a:p>
          <a:p>
            <a:r>
              <a:rPr dirty="0"/>
              <a:t>The gap is a property of delegation, not a failure of the agent. Keep that line — students reach for “the agent was not smart enough” first, and the whole lecture depends on refusing it.</a:t>
            </a:r>
          </a:p>
          <a:p>
            <a:r>
              <a:rPr dirty="0"/>
              <a:t>Leave the question standing and do not answer it here: what must a representation preserve for this task? The rest of the lecture is the answer. About 1.5 minutes.</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Section 1 no longer argues that questions come first. It SHOWS it: five diagrams over one territory, then the thesis, then the definition.</a:t>
            </a:r>
          </a:p>
          <a:p>
            <a:r>
              <a:rPr lang="en-US" dirty="0"/>
              <a:t>State the tour's rule before starting it, so the pace does not read as rushing: the engineering question is the title, the diagram is the slide, and there is almost no prose. Forty-five to sixty seconds each. Five slides, about five minutes.</a:t>
            </a:r>
          </a:p>
          <a:p>
            <a:r>
              <a:rPr lang="en-US" dirty="0"/>
              <a:t>Do not teach notation syntax on any of them. If the room wants UML mechanics, that is what the reading is for.</a:t>
            </a:r>
          </a:p>
          <a:p>
            <a:r>
              <a:rPr lang="en-US" dirty="0"/>
              <a:t>The strip is the lecture's own discipline and it returns at every section break. This section is the ENGINEERING QUESTION beat — the highlighted box — because the tour's entire claim is that the question, not the notation, is what selects the model.</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Twenty to sixty seconds. Name the form aloud once — this is a class diagram, the repertoire's answer to the what-exists question — and then move.</a:t>
            </a:r>
          </a:p>
          <a:p>
            <a:r>
              <a:rPr lang="en-US" dirty="0"/>
              <a:t>Name the territory once, here, and never set it up again: the course-registration system every person in this room has fought. That is why it was chosen. Zero setup cost per slide is what buys us five diagrams in ten minutes.</a:t>
            </a:r>
          </a:p>
          <a:p>
            <a:r>
              <a:rPr lang="en-US" dirty="0"/>
              <a:t>Do NOT teach notation. If someone asks what the 0..* means, answer in four words and move on. The tour is an existence proof, not a syntax lesson.</a:t>
            </a:r>
          </a:p>
          <a:p>
            <a:r>
              <a:rPr lang="en-US" dirty="0"/>
              <a:t>What this diagram preserves: which things exist and how they connect. What it throws away: order, timing, state, who wants what. Every one of those omissions is deliberate, and the remaining four tour slides each rescue exactly one of them.</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Same territory. New question. Say that sentence, because it is the whole argument of the section and this is the first slide where students can verify it themselves.</a:t>
            </a:r>
          </a:p>
          <a:p>
            <a:r>
              <a:rPr lang="en-US" dirty="0"/>
              <a:t>Nothing about classes survives here. There is no inheritance, no attribute, no multiplicity. The entities appear only as lifelines — names with a timeline attached.</a:t>
            </a:r>
          </a:p>
          <a:p>
            <a:r>
              <a:rPr lang="en-US" dirty="0"/>
              <a:t>What this preserves that the class diagram could not: ORDER. The capacity check happens before the enrollment is created. That ordering is a fact about the system the previous diagram was structurally incapable of stating.</a:t>
            </a:r>
          </a:p>
          <a:p>
            <a:r>
              <a:rPr lang="en-US" dirty="0"/>
              <a:t>One breath, then move.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territory's catalog side, not its enrollment side: a course proposal moving through registrar approval into the published catalog.</a:t>
            </a:r>
          </a:p>
          <a:p>
            <a:r>
              <a:rPr lang="en-US" dirty="0"/>
              <a:t>The content is the ILLEGALITY, not the legality. There is no arrow from Draft to Published. A model of states is mostly a statement about what cannot happen, and that is the first hint of Section 2's obligation argument.</a:t>
            </a:r>
          </a:p>
          <a:p>
            <a:r>
              <a:rPr lang="en-US" dirty="0"/>
              <a:t>The revise edge back to Draft is what makes this a machine rather than a pipeline. Point at it for one second.</a:t>
            </a:r>
          </a:p>
          <a:p>
            <a:r>
              <a:rPr lang="en-US" dirty="0"/>
              <a:t>BUILD NOTE, not spoken: this exact artwork returns in Section 3 as the one-model-many-implementations anchor. Visual identity between the two placements is required — it is literally the same image file. Do not let a later edit re-draw either one.</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BRANCH is the content. Everything else on this slide is scaffolding for the diamond.</a:t>
            </a:r>
          </a:p>
          <a:p>
            <a:r>
              <a:rPr lang="en-US" dirty="0"/>
              <a:t>One breath on how this differs from the sequence view, because students reliably conflate them: the sequence diagram asked WHO participates and in what order; this asks which PATHS execution can take. Same capacity check, two different questions about it.</a:t>
            </a:r>
          </a:p>
          <a:p>
            <a:r>
              <a:rPr lang="en-US" dirty="0"/>
              <a:t>Both diagrams are correct. Neither is more true. They preserve different distinctions because they were built to answer different questions — which is the thesis of “Same territory, different questions”, arriving by demonstration rather than by assertion.</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Say this explicitly, because it is the beat students most often miss: this is a different ENGINEERING QUESTION, not merely a different notation. The previous four diagrams all described the system's insides. This one steps outside it and asks who wants something from it.</a:t>
            </a:r>
          </a:p>
          <a:p>
            <a:r>
              <a:rPr lang="en-US" dirty="0"/>
              <a:t>The actors are not classes. Registrar is not a table; it is a role that needs something.</a:t>
            </a:r>
          </a:p>
          <a:p>
            <a:r>
              <a:rPr lang="en-US" dirty="0"/>
              <a:t>Drop a course is drawn slightly accented on purpose — Section 3 starts its refinement chain from exactly that use case. Do not flag it now; it should feel like a callback later, not a forward reference now.</a:t>
            </a:r>
          </a:p>
          <a:p>
            <a:r>
              <a:rPr lang="en-US" dirty="0"/>
              <a:t>Last tour beat. “Same territory, different questions” is the punchline — do not deliver it here.</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Five artifacts. One territory. Not one of them is the system, and not one of them is wrong. The spoken line, and it is the section's thesis: hold the system constant, change the question, watch the model change. Different questions preserve different distinctions.</a:t>
            </a:r>
          </a:p>
          <a:p>
            <a:r>
              <a:rPr lang="en-US" dirty="0"/>
              <a:t>This is where COMPLETENESS stops being a measure of model quality. None of these five is trying to be complete, and a version of any of them that tried would be worse. That point was asserted on a slide in the old deck; here the students have just watched it happen five times, which is why the assertion has been deleted.</a:t>
            </a:r>
          </a:p>
          <a:p>
            <a:r>
              <a:rPr lang="en-US" dirty="0"/>
              <a:t>The evidence is on the slide now. Each card carries its question and, in the pill beneath it, what that view keeps: STRUCTURE, ORDER, LIFECYCLE, BRANCHING, INTENT. Read the pill row left to right, once — do not walk all five diagrams again. For one concrete beat, contrast the first two cards: the class view records that one Section has many Enrollments and nothing about when; the sequence view records that register precedes enrolled and nothing about how many. The pictures themselves are small on purpose, and their fine labels do not carry past the front rows, so do not ask the room to read them. They are recall of five slides just seen full-size; the pills carry the claim. Forty-five seconds. Point, land the thesis, move.</a:t>
            </a:r>
          </a:p>
          <a:p>
            <a:r>
              <a:rPr lang="en-US" dirty="0"/>
              <a:t>Callback anchor: this slide is what the embedded battery example later reprises. When the controller's energy model and thermal model arrive in Section 2, the line is — you have seen this already, in software, on the tour; here it is on territory you can feel.</a:t>
            </a:r>
          </a:p>
          <a:p>
            <a:r>
              <a:rPr lang="en-US" dirty="0"/>
              <a:t>Five questions, five things worth keeping, one territory.</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NOW the definition, and notice what just changed about it. It is no longer an assertion the students have to accept on faith — it is an explanation of five things they just watched. Every one of those diagrams left out almost everything, and every one of them was useful.</a:t>
            </a:r>
          </a:p>
          <a:p>
            <a:r>
              <a:rPr lang="en-US" dirty="0"/>
              <a:t>Read the definition aloud, slowly, once: a model is a representation in which some consequential question becomes cheap to answer. Both halves carry weight. CONSEQUENTIAL — not any question. CHEAP — not merely possible.</a:t>
            </a:r>
          </a:p>
          <a:p>
            <a:r>
              <a:rPr lang="en-US" dirty="0"/>
              <a:t>The premise line underneath is the pair of claims that used to open the lecture: a model is useful because it leaves things out, AND because it makes explicit what must remain. The tour earned both.</a:t>
            </a:r>
          </a:p>
          <a:p>
            <a:r>
              <a:rPr lang="en-US" dirty="0"/>
              <a:t>Say the strip line aloud once, here, because this is where the four questions are introduced and they return at every section break from now on: engineering question, model, property, quality.</a:t>
            </a:r>
          </a:p>
          <a:p>
            <a:r>
              <a:rPr lang="en-US" dirty="0"/>
              <a:t>A line worth keeping in your pocket if the room needs it: a reduction you can hold in view beats a faithful copy too large to reason through.</a:t>
            </a:r>
          </a:p>
          <a:p>
            <a:r>
              <a:rPr lang="en-US" dirty="0"/>
              <a:t>About two minutes. This slide closes Section 1 and hands off to Section 2, which stops asking WHAT models look like and starts asking how an engineer DECIDES what belongs in one.</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conceptual center of the lecture. One direction of reasoning, worked live on one embedded system: start from the engineering obligation, and let it decide what the model must preserve.</a:t>
            </a:r>
          </a:p>
          <a:p>
            <a:r>
              <a:rPr dirty="0"/>
              <a:t>There is no bottom-up section. The question it used to ask - does every distinction we kept earn its place? - returns at the end of the lecture, as the economics of delegation.</a:t>
            </a:r>
          </a:p>
          <a:p>
            <a:r>
              <a:rPr dirty="0"/>
              <a:t>Spine strip: MODEL stage highlighted, stage 2 of the four-question discipline. The synthesis slide near the end of the lecture names all four; do not promise it here.</a:t>
            </a:r>
          </a:p>
          <a:p>
            <a:r>
              <a:rPr dirty="0"/>
              <a:t>ASSUMPTION (plan section 8.3): spine strip motif ENGINEERING QUESTION - MODEL - PROPERTY - QUALITY per the plan recommendation; author ratification pending.</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This slide teaches the general pattern; the next one instantiates it. Walk the left column and the right rail together, one click at a time - the pattern, then its instance.</a:t>
            </a:r>
          </a:p>
          <a:p>
            <a:r>
              <a:rPr dirty="0"/>
              <a:t>Question to ask of every model: what must this model preserve?</a:t>
            </a:r>
          </a:p>
          <a:p>
            <a:r>
              <a:rPr dirty="0"/>
              <a:t>The MODEL row is the one to dwell on: the obligation picks the distinctions, and the distinctions decide what the model has to say. Nothing is in the model because it happened to be available. The rail compresses the property to fit the column; the next slide writes it out in full.</a:t>
            </a:r>
          </a:p>
          <a:p>
            <a:r>
              <a:rPr dirty="0"/>
              <a:t>Degrees of freedom, called back from the Architecture/Design unit: the obligation bounds acceptable realizations without choosing one.</a:t>
            </a:r>
          </a:p>
          <a:p>
            <a:r>
              <a:rPr dirty="0"/>
              <a:t>DOF is known freedom, not ignorance - we know these choices are open, and we leave them open on purpose.</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previous slide posed the question. This slide answers 'of what?' - here is the design the 8-hour obligation is about.</a:t>
            </a:r>
          </a:p>
          <a:p>
            <a:r>
              <a:rPr dirty="0"/>
              <a:t>Territory an ECE student grasps in thirty seconds - that is why it, and not a software system, carries the method.</a:t>
            </a:r>
          </a:p>
          <a:p>
            <a:r>
              <a:rPr dirty="0"/>
              <a:t>Present territory before model; the model does not exist yet.</a:t>
            </a:r>
          </a:p>
          <a:p>
            <a:r>
              <a:rPr dirty="0"/>
              <a:t>The footer restates the specification in the room's own words: can the battery run out before the 8 hours end? Same obligation, informal register.</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Ask the room: what do we need to reason about that? BEFORE revealing the model card.</a:t>
            </a:r>
          </a:p>
          <a:p>
            <a:r>
              <a:rPr dirty="0"/>
              <a:t>The obligation (8+ hours above minimum safe voltage) demands: battery usable energy, power by operating mode, time in each mode, the safety threshold. Nothing else.</a:t>
            </a:r>
          </a:p>
          <a:p>
            <a:r>
              <a:rPr dirty="0"/>
              <a:t>The system has become a small quantitative model; keep the math no harder than the sum. The PROPERTY beat of the spine happens here - point at it.</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CLICK 1 — the two boundaries. The obligation boundary encloses what must be true. The specification boundary encloses what we actually write down. Between them sits the scaffolding: what this particular agent needs to interpret and realize the obligation reliably — examples, decomposition, intermediate structure. Outside the specification boundary, degrees of freedom, left to the realization.</a:t>
            </a:r>
          </a:p>
          <a:p>
            <a:r>
              <a:rPr dirty="0"/>
              <a:t>CLICK 2 — parsimony restated for delegation: how little must we specify while still preserving the obligation and still enabling THIS agent to realize it? A more capable agent needs fewer examples, less decomposition, less intermediate structure, so the dashed boundary moves toward the obligation.</a:t>
            </a:r>
          </a:p>
          <a:p>
            <a:r>
              <a:rPr dirty="0"/>
              <a:t>Watch what did NOT move: the core. That is “Capability can reduce scaffolding”.</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ROLE CHANGE, stated aloud: Section 2 taught how to reason about a reduction. This section asks what connects a model to the things it deliberately left free, and how you find out whether that connection holds.</a:t>
            </a:r>
          </a:p>
          <a:p>
            <a:r>
              <a:rPr lang="en-US" dirty="0"/>
              <a:t>Three beats, in this order: one model with several legitimate implementations; models that refine into other models; then two production cases that graded a correspondence claim. The section is named for the claim, not for the evidence.</a:t>
            </a:r>
          </a:p>
          <a:p>
            <a:r>
              <a:rPr lang="en-US" dirty="0"/>
              <a:t>Both production cases come from the instructor's production system. The lease's omission was vindicated; the account quota's was refuted. A hypothetical can teach judgment; only production can grade it.</a:t>
            </a:r>
          </a:p>
          <a:p>
            <a:r>
              <a:rPr lang="en-US" dirty="0"/>
              <a:t>TERMINOLOGY GUARD, for your own speech as much as for the slides: model refinement, or a system of models. Never use the meta- prefix here — a model of a modeling language is a different idea and not what this section is about.</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account carried a quota; the reduction kept one scalar, credits_remaining. Unlimited and exhausted are two different states of that account, and a single integer has room for only one of them — both arrive at the model as 0.</a:t>
            </a:r>
          </a:p>
          <a:p>
            <a:r>
              <a:rPr dirty="0"/>
              <a:t>Keep this off the user: the failure is not that somebody was refused, it is that the representation could not express a distinction the obligation required. Bottom-up said removable; the obligation said no. This is refutation — the omitted distinction actually mattered, and production said so.</a:t>
            </a:r>
          </a:p>
          <a:p>
            <a:r>
              <a:rPr dirty="0"/>
              <a:t>Once a distinction is discarded, no downstream reasoning can recover it. That is the limit you stated on “Capability cannot reduce what must be true” — here it is reaching production.</a:t>
            </a:r>
          </a:p>
          <a:p>
            <a:r>
              <a:rPr lang="en-US" dirty="0"/>
              <a:t>Name it as correspondence: the model and the implementation disagreed about a distinction the obligation required, and production is where that disagreement surfaced. This is failed correspondence, not a bug.</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lease model preserved owner, generation, lifetime, reclamation, and the forbidden transition: releasing a lease under a stale generation. It omitted the processing topology on purpose.</a:t>
            </a:r>
          </a:p>
          <a:p>
            <a:r>
              <a:rPr dirty="0"/>
              <a:t>The topology then really changed — the work was re-chunked and services rearranged — and nothing in the model moved. Vindication: the omission was tested by reality and passed. The omitted detail really was a degree of freedom, not something forgotten.</a:t>
            </a:r>
          </a:p>
          <a:p>
            <a:r>
              <a:rPr dirty="0"/>
              <a:t>The footer line is verbatim from the team.</a:t>
            </a:r>
          </a:p>
          <a:p>
            <a:r>
              <a:rPr lang="en-US" dirty="0"/>
              <a:t>Name it as correspondence too, and tie it back three slides: the realization changed and the modeled property held. That is exactly what "one model, many implementations" claimed, now graded by production instead of asserted on a slide.</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~2-3 minutes. Post-Reduce placement; also the natural re-entry point if Reduce ran long.</a:t>
            </a:r>
          </a:p>
          <a:p>
            <a:r>
              <a:rPr dirty="0"/>
              <a:t>[ASSUMPTION per plan §8.4: the content brief never mentions a stretch break; one per deck recommended, placed after the mid-lecture activity.]</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This slide is the answer to the previous one. Before clicking anything, name the approaches the room just gave you and say that they are about to appear. The cards are not new information; they are the room’s own answers, tidied.</a:t>
            </a:r>
          </a:p>
          <a:p>
            <a:r>
              <a:rPr lang="en-US" dirty="0"/>
              <a:t>Same state machine again — the same image file, not a redrawing. Third sighting: the tour, the exercise, and now the reveal. Say so if it helps: the model has not changed once.</a:t>
            </a:r>
          </a:p>
          <a:p>
            <a:r>
              <a:rPr lang="en-US" dirty="0"/>
              <a:t>Click one: all three realizations at once, not in sequence. The simultaneity is the claim. A state field plus transition logic; State objects, one class per state; a transition table an engine reads at runtime. None is more correct than the others, and the model does not choose between them.</a:t>
            </a:r>
          </a:p>
          <a:p>
            <a:r>
              <a:rPr lang="en-US" dirty="0"/>
              <a:t>If a student supplied a fourth approach — a database row with a status column, a workflow service, an event log — credit it out loud and leave the slide alone. A fourth box would say the set is closed, which is the opposite of the point.</a:t>
            </a:r>
          </a:p>
          <a:p>
            <a:r>
              <a:rPr lang="en-US" dirty="0"/>
              <a:t>OPTIONAL, IF TIME — THE SUBTLE CLAIM, and a sharp student will push on it. We are NOT saying that every implementation compatible with the model’s syntax is good engineering; plenty of them would be bad code. We are saying the model deliberately leaves some realization decisions unconstrained, and that a reasonable engineer exercises judgment inside that space. The model bounds the judgment. It does not replace it.</a:t>
            </a:r>
          </a:p>
          <a:p>
            <a:r>
              <a:rPr lang="en-US" dirty="0"/>
              <a:t>Click two, then click three: “All are reasonable. All can correspond to the model,” then the footer. Read the footer; do not paraphrase it.</a:t>
            </a:r>
          </a:p>
          <a:p>
            <a:r>
              <a:rPr lang="en-US" dirty="0"/>
              <a:t>OPTIONAL, IF TIME — the correspondence question, asked orally and held to half a minute: what has to remain true for each of these to correspond to the model? The answers you are fishing for are that the four states exist and are distinguishable, that the legal transitions are exactly those and no others, and that there is no path from Draft to Published. It is off the slide on purpose — the room has just spent three minutes answering one question, and a second open question here costs a minute the section does not have.</a:t>
            </a:r>
          </a:p>
          <a:p>
            <a:r>
              <a:rPr lang="en-US" dirty="0"/>
              <a:t>This is what makes degrees of freedom concrete. Between the boundaries the model establishes, the implementation has enormous freedom — and that freedom is not sloppiness, it is what the reduction bought.</a:t>
            </a:r>
          </a:p>
          <a:p>
            <a:r>
              <a:rPr lang="en-US" dirty="0"/>
              <a:t>Hand off by asking the next slide’s own first question, in its words: if this works, why do software engineers draw boxes and arrows for a day, then go code for a week? Do not answer it here.</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N1: “Good engineers reuse wherever appropriate”. Content and speaker notes owed by U-6 per restructure plan v2 §2.</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Section 2 is the hinge between seeing models and designing them. It makes one claim and then tests it on the room: a model fixes what must be true and deliberately leaves the rest free.</a:t>
            </a:r>
          </a:p>
          <a:p>
            <a:r>
              <a:rPr lang="en-US" dirty="0"/>
              <a:t>Three slides, and the room does most of the work. First they implement a model they already know. Then we show three realizations of it. Then we ask why we do not simply hand the model over and skip the coding — and we leave that question open.</a:t>
            </a:r>
          </a:p>
          <a:p>
            <a:r>
              <a:rPr lang="en-US" dirty="0"/>
              <a:t>Say the section title and the line under it, and move. Thirty seconds. The claim is not argued here; it is demonstrated on the next three slides.</a:t>
            </a:r>
          </a:p>
          <a:p>
            <a:r>
              <a:rPr lang="en-US" dirty="0"/>
              <a:t>Budget: eleven minutes, twelve if you take both optional beats on the reveal. Header 0.5, the exercise 4-5, the reveal 1.5 (2.5 with the subtle claim and the correspondence question), the closing questions 4-5.</a:t>
            </a:r>
          </a:p>
          <a:p>
            <a:r>
              <a:rPr lang="en-US" dirty="0"/>
              <a:t>[PRODUCTION — not for delivery] Spine strip: the PROPERTY stage is highlighted, and Correspondence highlights PROPERTY too, so the strip does not advance monotonically across the four section headers. Open question Q-E; the tail reconciliation unit owns the ruling.</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figure is the same part as the state slide on the tour — literally the same image file, not a redrawing. Open with that: “you have seen this one.” The recognition is the setup. If they think it is a new diagram, the exercise loses its point.</a:t>
            </a:r>
          </a:p>
          <a:p>
            <a:r>
              <a:rPr lang="en-US" dirty="0"/>
              <a:t>Do not name an implementation. No enum, no State pattern, no transition table — those are the next slide, and naming one here collapses the exercise into a guessing game about what you have in mind. If the room stalls, ask one student what language they would reach for and build from there.</a:t>
            </a:r>
          </a:p>
          <a:p>
            <a:r>
              <a:rPr lang="en-US" dirty="0"/>
              <a:t>THINK, one minute, silent and written. Insist on the note; students who only think about it will not commit to anything, and the commitment is what makes the reveal land. “Concrete enough that another engineer could recognize your approach” is the bar — a data structure and a place the logic lives, not “I’d use objects.”</a:t>
            </a:r>
          </a:p>
          <a:p>
            <a:r>
              <a:rPr lang="en-US" dirty="0"/>
              <a:t>PAIR, one minute. The outcome you want is disagreement between neighbours. Walk one row, listen, and remember two names.</a:t>
            </a:r>
          </a:p>
          <a:p>
            <a:r>
              <a:rPr lang="en-US" dirty="0"/>
              <a:t>SHARE, one minute. Take two or three answers, no more. Write the approach names on the board — you will point back at them on the next slide. Do not evaluate any answer here; the next slide evaluates all of them at once by showing three side by side.</a:t>
            </a:r>
          </a:p>
          <a:p>
            <a:r>
              <a:rPr lang="en-US" dirty="0"/>
              <a:t>Three minutes of student work; four to five with setup and transitions. Timebox it and move even if the room is enjoying itself — the teaching is in the reveal, not in the share-out.</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First question, and let it sit. We have just argued that a model constrains implementation without determining it — so why does anybody spend a day on boxes and arrows and then a week writing code? Let them answer. Their answers are the content of this slide.</a:t>
            </a:r>
          </a:p>
          <a:p>
            <a:r>
              <a:rPr lang="en-US" dirty="0"/>
              <a:t>Answers to collect rather than supply: the model leaves out most of what has to be decided; the decisions it leaves free still have to be made by someone competent; the model says nothing about how to make them well; and nothing in the drawing tells you whether what you built actually matches it.</a:t>
            </a:r>
          </a:p>
          <a:p>
            <a:r>
              <a:rPr lang="en-US" dirty="0"/>
              <a:t>Second question: outsourcing. This one usually lands harder, because several students have lived it. Steer toward specification cost and recovered intent — not toward time zones, not toward language.</a:t>
            </a:r>
          </a:p>
          <a:p>
            <a:r>
              <a:rPr lang="en-US" dirty="0"/>
              <a:t>Then the figure. It is deliberately the slide-5 picture again, one layer finer. The first engineer’s intent, context and judgment do not travel. Only the representation travels. What arrives is whatever the second engineer can reconstruct from it, and the reconstruction is not guaranteed to recover the part that mattered.</a:t>
            </a:r>
          </a:p>
          <a:p>
            <a:r>
              <a:rPr lang="en-US" dirty="0"/>
              <a:t>Say the mind-meld line out loud and keep it off the slide: “We cannot merge minds. So we encode what we know, ship the encoding, and hope interpretation recovers the part that mattered.” That is the whole problem of delegation, human or otherwise.</a:t>
            </a:r>
          </a:p>
          <a:p>
            <a:r>
              <a:rPr lang="en-US" dirty="0"/>
              <a:t>Then the claim, on its own click, once the figure has been narrated: delegation requires consequential knowledge to survive encoding and interpretation. Read it, do not gloss it — the next two sections are its consequences.</a:t>
            </a:r>
          </a:p>
          <a:p>
            <a:r>
              <a:rPr lang="en-US" dirty="0"/>
              <a:t>Last click brings the GenAI question, and then you STOP. Do not answer “does GenAI change this?” here. The cost discussion and the coda are the answer, and the question earns its weight by staying open for the next half hour. If a student answers it, thank them and write it on the board unresolved.</a:t>
            </a:r>
          </a:p>
          <a:p>
            <a:r>
              <a:rPr lang="en-US" dirty="0"/>
              <a:t>No equation on this slide, on purpose. The production equation from the opening comes back once, at the cost discussion, where “but you forgot cost” is exactly the objection you want.</a:t>
            </a:r>
          </a:p>
          <a:p>
            <a:r>
              <a:rPr lang="en-US" dirty="0"/>
              <a:t>About four to five minutes, nearly all of it discussion. These three questions return verbatim at the cost discussion — keep the wording stable.</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Why this slide exists: the next slide drops the room into a controller and an 8-hour question. Without this, that question has no provenance.</a:t>
            </a:r>
          </a:p>
          <a:p>
            <a:r>
              <a:rPr dirty="0"/>
              <a:t>Read the three cards in order. The first sentence is what a customer says. The second is what engineers must be able to check. Only the third one is ours.</a:t>
            </a:r>
          </a:p>
          <a:p>
            <a:r>
              <a:rPr dirty="0"/>
              <a:t>Say it once: V_min is the minimum safe voltage - the phrase the next two slides use.</a:t>
            </a:r>
          </a:p>
          <a:p>
            <a:r>
              <a:rPr dirty="0"/>
              <a:t>The footer is the point: students already know requirement, specification, implementation. Modeling is not a new stage bolted on - it sits between the specification and the design, and it is how the obligation gets answered before anything is built.</a:t>
            </a:r>
          </a:p>
          <a:p>
            <a:r>
              <a:rPr dirty="0"/>
              <a:t>Do NOT teach this controller's architecture here. One click per card, then move on. 90 seconds.</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N8: “The cost discussion”. Content and speaker notes owed by U-7 per restructure plan v2 §2.</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C1: “How cheap can we make the implementer?”. Content and speaker notes owed by U-C1 per restructure plan v2 §2.</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C2: “But this is weird”. Content and speaker notes owed by U-C1 per restructure plan v2 §2.</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C3: “GenAI changes the economics of delegation”. Content and speaker notes owed by U-C1 per restructure plan v2 §2.</a:t>
            </a: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C5: “What if the agent keeps choosing badly?”. Content and speaker notes owed by U-C2 per restructure plan v2 §2.</a:t>
            </a: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C6: “How much should we specify?”. Content and speaker notes owed by U-C2 per restructure plan v2 §2.</a:t>
            </a: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4.xml"/></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4.xml"/></Relationships>
</file>

<file path=ppt/slides/_rels/slide40.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6.png"/></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DD7291C3-5AE9-477A-3F39-34A06A62D99C}"/>
              </a:ext>
            </a:extLst>
          </p:cNvPr>
          <p:cNvSpPr txBox="1">
            <a:spLocks/>
          </p:cNvSpPr>
          <p:nvPr/>
        </p:nvSpPr>
        <p:spPr bwMode="black">
          <a:xfrm>
            <a:off x="439339" y="565149"/>
            <a:ext cx="8265319" cy="1195411"/>
          </a:xfrm>
          <a:prstGeom prst="rect">
            <a:avLst/>
          </a:prstGeom>
          <a:solidFill>
            <a:srgbClr val="FFFFFF"/>
          </a:solidFill>
          <a:ln w="31750" cap="sq">
            <a:noFill/>
            <a:miter lim="800000"/>
          </a:ln>
        </p:spPr>
        <p:txBody>
          <a:bodyPr vert="horz" lIns="182880" tIns="182880" rIns="182880" bIns="182880" rtlCol="0" anchor="ctr">
            <a:normAutofit/>
          </a:bodyPr>
          <a:lstStyle>
            <a:lvl1pPr algn="ctr" defTabSz="914400" rtl="0" eaLnBrk="1" latinLnBrk="0" hangingPunct="1">
              <a:lnSpc>
                <a:spcPct val="90000"/>
              </a:lnSpc>
              <a:spcBef>
                <a:spcPct val="0"/>
              </a:spcBef>
              <a:buNone/>
              <a:defRPr sz="3600" kern="1200" cap="none" spc="200" baseline="0">
                <a:solidFill>
                  <a:srgbClr val="000000"/>
                </a:solidFill>
                <a:latin typeface="Calibri" panose="020F0502020204030204" pitchFamily="34" charset="0"/>
                <a:ea typeface="+mj-ea"/>
                <a:cs typeface="Calibri" panose="020F0502020204030204" pitchFamily="34" charset="0"/>
              </a:defRPr>
            </a:lvl1pPr>
          </a:lstStyle>
          <a:p>
            <a:r>
              <a:rPr lang="en-US" sz="2000" i="1" dirty="0"/>
              <a:t>Software Engineering</a:t>
            </a:r>
            <a:br>
              <a:rPr lang="en-US" sz="2000" i="1" dirty="0"/>
            </a:br>
            <a:br>
              <a:rPr lang="en-US" sz="2000" i="1" dirty="0"/>
            </a:br>
            <a:r>
              <a:rPr lang="en-US" sz="1600" i="1" dirty="0"/>
              <a:t>ECE 30861 / CSCI 45000</a:t>
            </a:r>
            <a:endParaRPr lang="en-US" sz="2000" i="1" dirty="0"/>
          </a:p>
        </p:txBody>
      </p:sp>
      <p:sp>
        <p:nvSpPr>
          <p:cNvPr id="3"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00" name="TitleBlock"/>
          <p:cNvSpPr txBox="1"/>
          <p:nvPr/>
        </p:nvSpPr>
        <p:spPr>
          <a:xfrm>
            <a:off x="224028" y="1829140"/>
            <a:ext cx="8695944" cy="2148840"/>
          </a:xfrm>
          <a:prstGeom prst="rect">
            <a:avLst/>
          </a:prstGeom>
          <a:noFill/>
          <a:ln>
            <a:noFill/>
          </a:ln>
        </p:spPr>
        <p:txBody>
          <a:bodyPr wrap="square" lIns="0" tIns="0" rIns="0" bIns="0" anchor="t"/>
          <a:lstStyle/>
          <a:p>
            <a:pPr algn="ctr">
              <a:buNone/>
            </a:pPr>
            <a:r>
              <a:rPr lang="en-US" sz="4000" b="0" i="0" dirty="0">
                <a:solidFill>
                  <a:srgbClr val="000000"/>
                </a:solidFill>
              </a:rPr>
              <a:t>Modeling: Purposeful Reduction</a:t>
            </a:r>
          </a:p>
          <a:p>
            <a:pPr algn="ctr">
              <a:buNone/>
            </a:pPr>
            <a:r>
              <a:rPr lang="en-US" sz="2300" b="0" i="1" dirty="0">
                <a:solidFill>
                  <a:srgbClr val="8E6F3E"/>
                </a:solidFill>
              </a:rPr>
              <a:t>What must the model preserve?</a:t>
            </a:r>
          </a:p>
          <a:p>
            <a:pPr algn="ctr">
              <a:buNone/>
            </a:pPr>
            <a:r>
              <a:rPr lang="en-US" sz="2000" b="0" i="1" dirty="0">
                <a:solidFill>
                  <a:srgbClr val="000000"/>
                </a:solidFill>
              </a:rPr>
              <a:t>Prof. James C. Davis</a:t>
            </a:r>
          </a:p>
          <a:p>
            <a:pPr algn="ctr">
              <a:buNone/>
            </a:pPr>
            <a:r>
              <a:rPr lang="en-US" sz="2000" b="0" i="1" dirty="0">
                <a:solidFill>
                  <a:srgbClr val="000000"/>
                </a:solidFill>
              </a:rPr>
              <a:t>Prof. Steve France</a:t>
            </a:r>
          </a:p>
        </p:txBody>
      </p:sp>
      <p:cxnSp>
        <p:nvCxnSpPr>
          <p:cNvPr id="212" name="RAr1"/>
          <p:cNvCxnSpPr/>
          <p:nvPr/>
        </p:nvCxnSpPr>
        <p:spPr>
          <a:xfrm>
            <a:off x="2903015" y="3963221"/>
            <a:ext cx="548640" cy="0"/>
          </a:xfrm>
          <a:prstGeom prst="straightConnector1">
            <a:avLst/>
          </a:prstGeom>
          <a:ln w="57150">
            <a:solidFill>
              <a:srgbClr val="8E6F3E"/>
            </a:solidFill>
            <a:tailEnd type="triangle" w="med" len="med"/>
          </a:ln>
        </p:spPr>
      </p:cxnSp>
      <p:cxnSp>
        <p:nvCxnSpPr>
          <p:cNvPr id="223" name="RAr2"/>
          <p:cNvCxnSpPr/>
          <p:nvPr/>
        </p:nvCxnSpPr>
        <p:spPr>
          <a:xfrm>
            <a:off x="5615862" y="3963221"/>
            <a:ext cx="548640" cy="0"/>
          </a:xfrm>
          <a:prstGeom prst="straightConnector1">
            <a:avLst/>
          </a:prstGeom>
          <a:ln w="57150">
            <a:solidFill>
              <a:srgbClr val="8E6F3E"/>
            </a:solidFill>
            <a:headEnd type="triangle" w="med" len="med"/>
          </a:ln>
        </p:spPr>
      </p:cxnSp>
      <p:grpSp>
        <p:nvGrpSpPr>
          <p:cNvPr id="17" name="Group 16">
            <a:extLst>
              <a:ext uri="{FF2B5EF4-FFF2-40B4-BE49-F238E27FC236}">
                <a16:creationId xmlns:a16="http://schemas.microsoft.com/office/drawing/2014/main" id="{AC5098E7-4E8B-C248-A6EB-785537FE5FB8}"/>
              </a:ext>
            </a:extLst>
          </p:cNvPr>
          <p:cNvGrpSpPr/>
          <p:nvPr/>
        </p:nvGrpSpPr>
        <p:grpSpPr>
          <a:xfrm>
            <a:off x="3928755" y="3870568"/>
            <a:ext cx="1371600" cy="684754"/>
            <a:chOff x="4606290" y="4254246"/>
            <a:chExt cx="1371600" cy="684754"/>
          </a:xfrm>
        </p:grpSpPr>
        <p:sp>
          <p:nvSpPr>
            <p:cNvPr id="220" name="MS0"/>
            <p:cNvSpPr/>
            <p:nvPr/>
          </p:nvSpPr>
          <p:spPr>
            <a:xfrm>
              <a:off x="4903470" y="4254246"/>
              <a:ext cx="182880" cy="182880"/>
            </a:xfrm>
            <a:prstGeom prst="rect">
              <a:avLst/>
            </a:prstGeom>
            <a:solidFill>
              <a:srgbClr val="C9B991"/>
            </a:solidFill>
            <a:ln>
              <a:noFill/>
            </a:ln>
          </p:spPr>
          <p:txBody>
            <a:bodyPr/>
            <a:lstStyle/>
            <a:p>
              <a:endParaRPr lang="en-US"/>
            </a:p>
          </p:txBody>
        </p:sp>
        <p:sp>
          <p:nvSpPr>
            <p:cNvPr id="221" name="MS1"/>
            <p:cNvSpPr/>
            <p:nvPr/>
          </p:nvSpPr>
          <p:spPr>
            <a:xfrm>
              <a:off x="5177790" y="4254246"/>
              <a:ext cx="182880" cy="182880"/>
            </a:xfrm>
            <a:prstGeom prst="ellipse">
              <a:avLst/>
            </a:prstGeom>
            <a:solidFill>
              <a:srgbClr val="C9B991"/>
            </a:solidFill>
            <a:ln>
              <a:noFill/>
            </a:ln>
          </p:spPr>
          <p:txBody>
            <a:bodyPr/>
            <a:lstStyle/>
            <a:p>
              <a:endParaRPr lang="en-US"/>
            </a:p>
          </p:txBody>
        </p:sp>
        <p:sp>
          <p:nvSpPr>
            <p:cNvPr id="222" name="MS2"/>
            <p:cNvSpPr/>
            <p:nvPr/>
          </p:nvSpPr>
          <p:spPr>
            <a:xfrm>
              <a:off x="5452110" y="4311396"/>
              <a:ext cx="228600" cy="68580"/>
            </a:xfrm>
            <a:prstGeom prst="rect">
              <a:avLst/>
            </a:prstGeom>
            <a:solidFill>
              <a:srgbClr val="C9B991"/>
            </a:solidFill>
            <a:ln>
              <a:noFill/>
            </a:ln>
          </p:spPr>
          <p:txBody>
            <a:bodyPr/>
            <a:lstStyle/>
            <a:p>
              <a:endParaRPr lang="en-US"/>
            </a:p>
          </p:txBody>
        </p:sp>
        <p:sp>
          <p:nvSpPr>
            <p:cNvPr id="226" name="LblModel"/>
            <p:cNvSpPr txBox="1"/>
            <p:nvPr/>
          </p:nvSpPr>
          <p:spPr>
            <a:xfrm>
              <a:off x="4606290" y="469900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MODEL</a:t>
              </a:r>
            </a:p>
          </p:txBody>
        </p:sp>
      </p:grpSp>
      <p:grpSp>
        <p:nvGrpSpPr>
          <p:cNvPr id="18" name="Group 17">
            <a:extLst>
              <a:ext uri="{FF2B5EF4-FFF2-40B4-BE49-F238E27FC236}">
                <a16:creationId xmlns:a16="http://schemas.microsoft.com/office/drawing/2014/main" id="{DD69ACE2-8677-E377-1F0F-4C6678A1F180}"/>
              </a:ext>
            </a:extLst>
          </p:cNvPr>
          <p:cNvGrpSpPr/>
          <p:nvPr/>
        </p:nvGrpSpPr>
        <p:grpSpPr>
          <a:xfrm>
            <a:off x="1262400" y="3757776"/>
            <a:ext cx="1371600" cy="753334"/>
            <a:chOff x="2146730" y="4130536"/>
            <a:chExt cx="1371600" cy="753334"/>
          </a:xfrm>
        </p:grpSpPr>
        <p:sp>
          <p:nvSpPr>
            <p:cNvPr id="224" name="ReqIcon"/>
            <p:cNvSpPr/>
            <p:nvPr/>
          </p:nvSpPr>
          <p:spPr>
            <a:xfrm>
              <a:off x="2672510" y="4130536"/>
              <a:ext cx="320040" cy="320040"/>
            </a:xfrm>
            <a:custGeom>
              <a:avLst/>
              <a:gdLst/>
              <a:ahLst/>
              <a:cxnLst/>
              <a:rect l="0" t="0" r="320040" b="320040"/>
              <a:pathLst>
                <a:path w="320040" h="320040" fill="none">
                  <a:moveTo>
                    <a:pt x="48006" y="176022"/>
                  </a:moveTo>
                  <a:lnTo>
                    <a:pt x="128016" y="264033"/>
                  </a:lnTo>
                  <a:lnTo>
                    <a:pt x="272034" y="64008"/>
                  </a:lnTo>
                </a:path>
              </a:pathLst>
            </a:custGeom>
            <a:noFill/>
            <a:ln w="57150" cap="rnd">
              <a:solidFill>
                <a:srgbClr val="8E6F3E"/>
              </a:solidFill>
              <a:round/>
            </a:ln>
          </p:spPr>
          <p:txBody>
            <a:bodyPr/>
            <a:lstStyle/>
            <a:p>
              <a:endParaRPr lang="en-US"/>
            </a:p>
          </p:txBody>
        </p:sp>
        <p:sp>
          <p:nvSpPr>
            <p:cNvPr id="227" name="LblObligation"/>
            <p:cNvSpPr txBox="1"/>
            <p:nvPr/>
          </p:nvSpPr>
          <p:spPr>
            <a:xfrm>
              <a:off x="2146730" y="464387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OBLIGATION</a:t>
              </a:r>
            </a:p>
          </p:txBody>
        </p:sp>
      </p:grpSp>
      <p:sp>
        <p:nvSpPr>
          <p:cNvPr id="109" name="TwoLines"/>
          <p:cNvSpPr txBox="1"/>
          <p:nvPr/>
        </p:nvSpPr>
        <p:spPr>
          <a:xfrm>
            <a:off x="224028" y="4956048"/>
            <a:ext cx="8695944" cy="822960"/>
          </a:xfrm>
          <a:prstGeom prst="rect">
            <a:avLst/>
          </a:prstGeom>
          <a:noFill/>
          <a:ln>
            <a:noFill/>
          </a:ln>
        </p:spPr>
        <p:txBody>
          <a:bodyPr wrap="square" lIns="0" tIns="0" rIns="0" bIns="0" anchor="t"/>
          <a:lstStyle/>
          <a:p>
            <a:pPr algn="ctr">
              <a:buNone/>
            </a:pPr>
            <a:r>
              <a:rPr lang="en-US" sz="2000" b="0" i="0" dirty="0">
                <a:solidFill>
                  <a:srgbClr val="555960"/>
                </a:solidFill>
              </a:rPr>
              <a:t>Lecture 1 </a:t>
            </a:r>
            <a:r>
              <a:rPr lang="en-US" sz="2000" dirty="0">
                <a:solidFill>
                  <a:srgbClr val="555960"/>
                </a:solidFill>
              </a:rPr>
              <a:t>(today)</a:t>
            </a:r>
            <a:r>
              <a:rPr lang="en-US" sz="2000" b="0" i="0" dirty="0">
                <a:solidFill>
                  <a:srgbClr val="555960"/>
                </a:solidFill>
              </a:rPr>
              <a:t>: </a:t>
            </a:r>
            <a:r>
              <a:rPr lang="en-US" sz="2000" dirty="0">
                <a:solidFill>
                  <a:srgbClr val="555960"/>
                </a:solidFill>
              </a:rPr>
              <a:t>O</a:t>
            </a:r>
            <a:r>
              <a:rPr lang="en-US" sz="2000" b="0" i="0" dirty="0">
                <a:solidFill>
                  <a:srgbClr val="555960"/>
                </a:solidFill>
              </a:rPr>
              <a:t>ne model, one question.</a:t>
            </a:r>
          </a:p>
          <a:p>
            <a:pPr algn="ctr">
              <a:spcBef>
                <a:spcPts val="160"/>
              </a:spcBef>
              <a:buNone/>
            </a:pPr>
            <a:r>
              <a:rPr lang="en-US" sz="2000" b="0" i="0" dirty="0">
                <a:solidFill>
                  <a:srgbClr val="555960"/>
                </a:solidFill>
              </a:rPr>
              <a:t>Lecture 2: Modeling larger systems</a:t>
            </a:r>
          </a:p>
        </p:txBody>
      </p:sp>
      <p:grpSp>
        <p:nvGrpSpPr>
          <p:cNvPr id="19" name="Group 18">
            <a:extLst>
              <a:ext uri="{FF2B5EF4-FFF2-40B4-BE49-F238E27FC236}">
                <a16:creationId xmlns:a16="http://schemas.microsoft.com/office/drawing/2014/main" id="{6F3A5A9A-02FE-680C-23F4-3B3CEC707CD7}"/>
              </a:ext>
            </a:extLst>
          </p:cNvPr>
          <p:cNvGrpSpPr/>
          <p:nvPr/>
        </p:nvGrpSpPr>
        <p:grpSpPr>
          <a:xfrm>
            <a:off x="6732270" y="3639682"/>
            <a:ext cx="1508760" cy="915640"/>
            <a:chOff x="6691685" y="4023360"/>
            <a:chExt cx="1508760" cy="915640"/>
          </a:xfrm>
        </p:grpSpPr>
        <p:sp>
          <p:nvSpPr>
            <p:cNvPr id="4" name="M0">
              <a:extLst>
                <a:ext uri="{FF2B5EF4-FFF2-40B4-BE49-F238E27FC236}">
                  <a16:creationId xmlns:a16="http://schemas.microsoft.com/office/drawing/2014/main" id="{E193AD8B-3A76-AD0C-5D1D-311D7DD87F69}"/>
                </a:ext>
              </a:extLst>
            </p:cNvPr>
            <p:cNvSpPr/>
            <p:nvPr/>
          </p:nvSpPr>
          <p:spPr>
            <a:xfrm>
              <a:off x="6691685" y="4050792"/>
              <a:ext cx="182880" cy="182880"/>
            </a:xfrm>
            <a:prstGeom prst="rect">
              <a:avLst/>
            </a:prstGeom>
            <a:solidFill>
              <a:srgbClr val="C9B991"/>
            </a:solidFill>
            <a:ln>
              <a:noFill/>
            </a:ln>
          </p:spPr>
          <p:txBody>
            <a:bodyPr/>
            <a:lstStyle/>
            <a:p>
              <a:endParaRPr lang="en-US"/>
            </a:p>
          </p:txBody>
        </p:sp>
        <p:sp>
          <p:nvSpPr>
            <p:cNvPr id="5" name="M1">
              <a:extLst>
                <a:ext uri="{FF2B5EF4-FFF2-40B4-BE49-F238E27FC236}">
                  <a16:creationId xmlns:a16="http://schemas.microsoft.com/office/drawing/2014/main" id="{0DC84FBB-88D2-3F25-9332-9C5D93E6ED90}"/>
                </a:ext>
              </a:extLst>
            </p:cNvPr>
            <p:cNvSpPr/>
            <p:nvPr/>
          </p:nvSpPr>
          <p:spPr>
            <a:xfrm>
              <a:off x="6920285" y="4279392"/>
              <a:ext cx="137160" cy="137160"/>
            </a:xfrm>
            <a:prstGeom prst="ellipse">
              <a:avLst/>
            </a:prstGeom>
            <a:solidFill>
              <a:srgbClr val="C9B991"/>
            </a:solidFill>
            <a:ln>
              <a:noFill/>
            </a:ln>
          </p:spPr>
          <p:txBody>
            <a:bodyPr/>
            <a:lstStyle/>
            <a:p>
              <a:endParaRPr lang="en-US"/>
            </a:p>
          </p:txBody>
        </p:sp>
        <p:sp>
          <p:nvSpPr>
            <p:cNvPr id="6" name="M2">
              <a:extLst>
                <a:ext uri="{FF2B5EF4-FFF2-40B4-BE49-F238E27FC236}">
                  <a16:creationId xmlns:a16="http://schemas.microsoft.com/office/drawing/2014/main" id="{8DA0E25E-2504-8971-F95B-6AD925DBEA12}"/>
                </a:ext>
              </a:extLst>
            </p:cNvPr>
            <p:cNvSpPr/>
            <p:nvPr/>
          </p:nvSpPr>
          <p:spPr>
            <a:xfrm>
              <a:off x="6794555" y="4576572"/>
              <a:ext cx="228600" cy="68580"/>
            </a:xfrm>
            <a:prstGeom prst="rect">
              <a:avLst/>
            </a:prstGeom>
            <a:solidFill>
              <a:srgbClr val="C9B991"/>
            </a:solidFill>
            <a:ln>
              <a:noFill/>
            </a:ln>
          </p:spPr>
          <p:txBody>
            <a:bodyPr/>
            <a:lstStyle/>
            <a:p>
              <a:endParaRPr lang="en-US"/>
            </a:p>
          </p:txBody>
        </p:sp>
        <p:sp>
          <p:nvSpPr>
            <p:cNvPr id="7" name="M3">
              <a:extLst>
                <a:ext uri="{FF2B5EF4-FFF2-40B4-BE49-F238E27FC236}">
                  <a16:creationId xmlns:a16="http://schemas.microsoft.com/office/drawing/2014/main" id="{1EACDCAA-95F5-D55D-4A87-F9995EFD0504}"/>
                </a:ext>
              </a:extLst>
            </p:cNvPr>
            <p:cNvSpPr/>
            <p:nvPr/>
          </p:nvSpPr>
          <p:spPr>
            <a:xfrm>
              <a:off x="7103165" y="4023360"/>
              <a:ext cx="205740" cy="137160"/>
            </a:xfrm>
            <a:prstGeom prst="rect">
              <a:avLst/>
            </a:prstGeom>
            <a:solidFill>
              <a:srgbClr val="C9B991"/>
            </a:solidFill>
            <a:ln>
              <a:noFill/>
            </a:ln>
          </p:spPr>
          <p:txBody>
            <a:bodyPr/>
            <a:lstStyle/>
            <a:p>
              <a:endParaRPr lang="en-US"/>
            </a:p>
          </p:txBody>
        </p:sp>
        <p:sp>
          <p:nvSpPr>
            <p:cNvPr id="8" name="M4">
              <a:extLst>
                <a:ext uri="{FF2B5EF4-FFF2-40B4-BE49-F238E27FC236}">
                  <a16:creationId xmlns:a16="http://schemas.microsoft.com/office/drawing/2014/main" id="{09EF95A2-2E68-EF3F-7FF4-9A978E1E2A29}"/>
                </a:ext>
              </a:extLst>
            </p:cNvPr>
            <p:cNvSpPr/>
            <p:nvPr/>
          </p:nvSpPr>
          <p:spPr>
            <a:xfrm>
              <a:off x="7194605" y="4416552"/>
              <a:ext cx="182880" cy="182880"/>
            </a:xfrm>
            <a:prstGeom prst="ellipse">
              <a:avLst/>
            </a:prstGeom>
            <a:solidFill>
              <a:srgbClr val="C9B991"/>
            </a:solidFill>
            <a:ln>
              <a:noFill/>
            </a:ln>
          </p:spPr>
          <p:txBody>
            <a:bodyPr/>
            <a:lstStyle/>
            <a:p>
              <a:endParaRPr lang="en-US"/>
            </a:p>
          </p:txBody>
        </p:sp>
        <p:sp>
          <p:nvSpPr>
            <p:cNvPr id="9" name="M5">
              <a:extLst>
                <a:ext uri="{FF2B5EF4-FFF2-40B4-BE49-F238E27FC236}">
                  <a16:creationId xmlns:a16="http://schemas.microsoft.com/office/drawing/2014/main" id="{F53C05BC-A0C0-1BBB-EFC3-2FB3993E0BF7}"/>
                </a:ext>
              </a:extLst>
            </p:cNvPr>
            <p:cNvSpPr/>
            <p:nvPr/>
          </p:nvSpPr>
          <p:spPr>
            <a:xfrm>
              <a:off x="7377485" y="4050792"/>
              <a:ext cx="137160" cy="205740"/>
            </a:xfrm>
            <a:prstGeom prst="rect">
              <a:avLst/>
            </a:prstGeom>
            <a:solidFill>
              <a:srgbClr val="C9B991"/>
            </a:solidFill>
            <a:ln>
              <a:noFill/>
            </a:ln>
          </p:spPr>
          <p:txBody>
            <a:bodyPr/>
            <a:lstStyle/>
            <a:p>
              <a:endParaRPr lang="en-US"/>
            </a:p>
          </p:txBody>
        </p:sp>
        <p:sp>
          <p:nvSpPr>
            <p:cNvPr id="10" name="M6">
              <a:extLst>
                <a:ext uri="{FF2B5EF4-FFF2-40B4-BE49-F238E27FC236}">
                  <a16:creationId xmlns:a16="http://schemas.microsoft.com/office/drawing/2014/main" id="{79FA4EDC-A64A-D907-D600-8253B15D50DD}"/>
                </a:ext>
              </a:extLst>
            </p:cNvPr>
            <p:cNvSpPr/>
            <p:nvPr/>
          </p:nvSpPr>
          <p:spPr>
            <a:xfrm>
              <a:off x="7514645" y="4462272"/>
              <a:ext cx="114300" cy="114300"/>
            </a:xfrm>
            <a:prstGeom prst="ellipse">
              <a:avLst/>
            </a:prstGeom>
            <a:solidFill>
              <a:srgbClr val="C9B991"/>
            </a:solidFill>
            <a:ln>
              <a:noFill/>
            </a:ln>
          </p:spPr>
          <p:txBody>
            <a:bodyPr/>
            <a:lstStyle/>
            <a:p>
              <a:endParaRPr lang="en-US"/>
            </a:p>
          </p:txBody>
        </p:sp>
        <p:sp>
          <p:nvSpPr>
            <p:cNvPr id="11" name="M7">
              <a:extLst>
                <a:ext uri="{FF2B5EF4-FFF2-40B4-BE49-F238E27FC236}">
                  <a16:creationId xmlns:a16="http://schemas.microsoft.com/office/drawing/2014/main" id="{CF75CA27-268A-39A9-6383-319BA9C46270}"/>
                </a:ext>
              </a:extLst>
            </p:cNvPr>
            <p:cNvSpPr/>
            <p:nvPr/>
          </p:nvSpPr>
          <p:spPr>
            <a:xfrm>
              <a:off x="7606085" y="4233672"/>
              <a:ext cx="160020" cy="160020"/>
            </a:xfrm>
            <a:prstGeom prst="rect">
              <a:avLst/>
            </a:prstGeom>
            <a:solidFill>
              <a:srgbClr val="C9B991"/>
            </a:solidFill>
            <a:ln>
              <a:noFill/>
            </a:ln>
          </p:spPr>
          <p:txBody>
            <a:bodyPr/>
            <a:lstStyle/>
            <a:p>
              <a:endParaRPr lang="en-US"/>
            </a:p>
          </p:txBody>
        </p:sp>
        <p:sp>
          <p:nvSpPr>
            <p:cNvPr id="12" name="M8">
              <a:extLst>
                <a:ext uri="{FF2B5EF4-FFF2-40B4-BE49-F238E27FC236}">
                  <a16:creationId xmlns:a16="http://schemas.microsoft.com/office/drawing/2014/main" id="{4A5BECD4-2388-9AD4-0481-7AB90168AA17}"/>
                </a:ext>
              </a:extLst>
            </p:cNvPr>
            <p:cNvSpPr/>
            <p:nvPr/>
          </p:nvSpPr>
          <p:spPr>
            <a:xfrm>
              <a:off x="7743245" y="4023360"/>
              <a:ext cx="137160" cy="137160"/>
            </a:xfrm>
            <a:prstGeom prst="rect">
              <a:avLst/>
            </a:prstGeom>
            <a:solidFill>
              <a:srgbClr val="C9B991"/>
            </a:solidFill>
            <a:ln>
              <a:noFill/>
            </a:ln>
          </p:spPr>
          <p:txBody>
            <a:bodyPr/>
            <a:lstStyle/>
            <a:p>
              <a:endParaRPr lang="en-US"/>
            </a:p>
          </p:txBody>
        </p:sp>
        <p:sp>
          <p:nvSpPr>
            <p:cNvPr id="13" name="M9">
              <a:extLst>
                <a:ext uri="{FF2B5EF4-FFF2-40B4-BE49-F238E27FC236}">
                  <a16:creationId xmlns:a16="http://schemas.microsoft.com/office/drawing/2014/main" id="{B0E6D59E-D285-754B-0E11-9D054B7C88D4}"/>
                </a:ext>
              </a:extLst>
            </p:cNvPr>
            <p:cNvSpPr/>
            <p:nvPr/>
          </p:nvSpPr>
          <p:spPr>
            <a:xfrm>
              <a:off x="7834685" y="4462272"/>
              <a:ext cx="137160" cy="137160"/>
            </a:xfrm>
            <a:prstGeom prst="ellipse">
              <a:avLst/>
            </a:prstGeom>
            <a:solidFill>
              <a:srgbClr val="C9B991"/>
            </a:solidFill>
            <a:ln>
              <a:noFill/>
            </a:ln>
          </p:spPr>
          <p:txBody>
            <a:bodyPr/>
            <a:lstStyle/>
            <a:p>
              <a:endParaRPr lang="en-US"/>
            </a:p>
          </p:txBody>
        </p:sp>
        <p:sp>
          <p:nvSpPr>
            <p:cNvPr id="14" name="M10">
              <a:extLst>
                <a:ext uri="{FF2B5EF4-FFF2-40B4-BE49-F238E27FC236}">
                  <a16:creationId xmlns:a16="http://schemas.microsoft.com/office/drawing/2014/main" id="{A2233ED2-5254-3491-BD9F-5B1D4BF7FC6A}"/>
                </a:ext>
              </a:extLst>
            </p:cNvPr>
            <p:cNvSpPr/>
            <p:nvPr/>
          </p:nvSpPr>
          <p:spPr>
            <a:xfrm>
              <a:off x="7971845" y="4279392"/>
              <a:ext cx="114300" cy="114300"/>
            </a:xfrm>
            <a:prstGeom prst="rect">
              <a:avLst/>
            </a:prstGeom>
            <a:solidFill>
              <a:srgbClr val="C9B991"/>
            </a:solidFill>
            <a:ln>
              <a:noFill/>
            </a:ln>
          </p:spPr>
          <p:txBody>
            <a:bodyPr/>
            <a:lstStyle/>
            <a:p>
              <a:endParaRPr lang="en-US"/>
            </a:p>
          </p:txBody>
        </p:sp>
        <p:sp>
          <p:nvSpPr>
            <p:cNvPr id="15" name="M11">
              <a:extLst>
                <a:ext uri="{FF2B5EF4-FFF2-40B4-BE49-F238E27FC236}">
                  <a16:creationId xmlns:a16="http://schemas.microsoft.com/office/drawing/2014/main" id="{BA4AA580-D524-D7D5-3646-1FB9EED67736}"/>
                </a:ext>
              </a:extLst>
            </p:cNvPr>
            <p:cNvSpPr/>
            <p:nvPr/>
          </p:nvSpPr>
          <p:spPr>
            <a:xfrm>
              <a:off x="8109005" y="4096512"/>
              <a:ext cx="91440" cy="91440"/>
            </a:xfrm>
            <a:prstGeom prst="ellipse">
              <a:avLst/>
            </a:prstGeom>
            <a:solidFill>
              <a:srgbClr val="C9B991"/>
            </a:solidFill>
            <a:ln>
              <a:noFill/>
            </a:ln>
          </p:spPr>
          <p:txBody>
            <a:bodyPr/>
            <a:lstStyle/>
            <a:p>
              <a:endParaRPr lang="en-US"/>
            </a:p>
          </p:txBody>
        </p:sp>
        <p:sp>
          <p:nvSpPr>
            <p:cNvPr id="16" name="LblTerritory">
              <a:extLst>
                <a:ext uri="{FF2B5EF4-FFF2-40B4-BE49-F238E27FC236}">
                  <a16:creationId xmlns:a16="http://schemas.microsoft.com/office/drawing/2014/main" id="{2A59FBC1-031C-6BC5-A6ED-2D11AE925F0C}"/>
                </a:ext>
              </a:extLst>
            </p:cNvPr>
            <p:cNvSpPr txBox="1"/>
            <p:nvPr/>
          </p:nvSpPr>
          <p:spPr>
            <a:xfrm>
              <a:off x="6760265" y="469900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TERRITORY</a:t>
              </a: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The agent works inside an engineered environment</a:t>
            </a:r>
          </a:p>
        </p:txBody>
      </p:sp>
      <p:sp>
        <p:nvSpPr>
          <p:cNvPr id="3" name="Slide Number Placeholder 3"/>
          <p:cNvSpPr>
            <a:spLocks noGrp="1"/>
          </p:cNvSpPr>
          <p:nvPr>
            <p:ph type="sldNum" sz="quarter" idx="4"/>
          </p:nvPr>
        </p:nvSpPr>
        <p:spPr/>
        <p:txBody>
          <a:bodyPr/>
          <a:lstStyle/>
          <a:p>
            <a:fld id="{B7EB45DA-9A0D-DC49-8E02-F30A5DDC21C3}" type="slidenum">
              <a:rPr lang="en-US" smtClean="0"/>
              <a:t>2</a:t>
            </a:fld>
            <a:endParaRPr lang="en-US"/>
          </a:p>
        </p:txBody>
      </p:sp>
      <p:sp>
        <p:nvSpPr>
          <p:cNvPr id="100" name="Env" descr="Enclosure labelled ENGINEERING ENVIRONMENT containing the whole delegation path: a task enters, a reasoner works, an artifact comes out, and a models station feeds the path before the reasoner runs."/>
          <p:cNvSpPr/>
          <p:nvPr/>
        </p:nvSpPr>
        <p:spPr>
          <a:xfrm>
            <a:off x="274320" y="896112"/>
            <a:ext cx="7498080" cy="4370832"/>
          </a:xfrm>
          <a:prstGeom prst="rect">
            <a:avLst/>
          </a:prstGeom>
          <a:noFill/>
          <a:ln w="25400">
            <a:solidFill>
              <a:srgbClr val="8E6F3E"/>
            </a:solidFill>
          </a:ln>
        </p:spPr>
        <p:txBody>
          <a:bodyPr/>
          <a:lstStyle/>
          <a:p>
            <a:endParaRPr/>
          </a:p>
        </p:txBody>
      </p:sp>
      <p:sp>
        <p:nvSpPr>
          <p:cNvPr id="101" name="EnvLbl" descr="Label: ENGINEERING ENVIRONMENT"/>
          <p:cNvSpPr txBox="1"/>
          <p:nvPr/>
        </p:nvSpPr>
        <p:spPr>
          <a:xfrm>
            <a:off x="548640" y="969264"/>
            <a:ext cx="6949440" cy="384048"/>
          </a:xfrm>
          <a:prstGeom prst="rect">
            <a:avLst/>
          </a:prstGeom>
          <a:noFill/>
          <a:ln>
            <a:noFill/>
          </a:ln>
        </p:spPr>
        <p:txBody>
          <a:bodyPr wrap="square" lIns="0" tIns="0" rIns="0" bIns="0" anchor="ctr"/>
          <a:lstStyle/>
          <a:p>
            <a:pPr algn="ctr">
              <a:buNone/>
            </a:pPr>
            <a:r>
              <a:rPr lang="en-US" sz="2000" b="1" i="0" dirty="0">
                <a:solidFill>
                  <a:srgbClr val="8E6F3E"/>
                </a:solidFill>
              </a:rPr>
              <a:t>ENGINEERING ENVIRONMENT</a:t>
            </a:r>
          </a:p>
        </p:txBody>
      </p:sp>
      <p:sp>
        <p:nvSpPr>
          <p:cNvPr id="102" name="Task" descr="Station 1 of 4: TASK, what we want done."/>
          <p:cNvSpPr/>
          <p:nvPr/>
        </p:nvSpPr>
        <p:spPr>
          <a:xfrm>
            <a:off x="54864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TASK</a:t>
            </a:r>
          </a:p>
        </p:txBody>
      </p:sp>
      <p:cxnSp>
        <p:nvCxnSpPr>
          <p:cNvPr id="103" name="Conn1" descr="Arrow from TASK to REASONER; the models station feeds this segment."/>
          <p:cNvCxnSpPr/>
          <p:nvPr/>
        </p:nvCxnSpPr>
        <p:spPr>
          <a:xfrm>
            <a:off x="2258568" y="3803904"/>
            <a:ext cx="886968" cy="0"/>
          </a:xfrm>
          <a:prstGeom prst="straightConnector1">
            <a:avLst/>
          </a:prstGeom>
          <a:ln w="34925">
            <a:solidFill>
              <a:srgbClr val="8E6F3E"/>
            </a:solidFill>
            <a:tailEnd type="triangle" w="lg" len="lg"/>
          </a:ln>
        </p:spPr>
      </p:cxnSp>
      <p:sp>
        <p:nvSpPr>
          <p:cNvPr id="104" name="Reasoner" descr="Station 3 of 4: REASONER, what does the work."/>
          <p:cNvSpPr/>
          <p:nvPr/>
        </p:nvSpPr>
        <p:spPr>
          <a:xfrm>
            <a:off x="320040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REASONER</a:t>
            </a:r>
          </a:p>
        </p:txBody>
      </p:sp>
      <p:sp>
        <p:nvSpPr>
          <p:cNvPr id="105" name="RealLbl" descr="Label on the arrow from REASONER to ARTIFACT: realization."/>
          <p:cNvSpPr txBox="1"/>
          <p:nvPr/>
        </p:nvSpPr>
        <p:spPr>
          <a:xfrm>
            <a:off x="4846320" y="3456432"/>
            <a:ext cx="1005840" cy="292608"/>
          </a:xfrm>
          <a:prstGeom prst="rect">
            <a:avLst/>
          </a:prstGeom>
          <a:noFill/>
          <a:ln>
            <a:noFill/>
          </a:ln>
        </p:spPr>
        <p:txBody>
          <a:bodyPr wrap="none" lIns="0" tIns="0" rIns="0" bIns="0" anchor="ctr"/>
          <a:lstStyle/>
          <a:p>
            <a:pPr algn="ctr">
              <a:buNone/>
            </a:pPr>
            <a:r>
              <a:rPr lang="en-US" sz="1500" b="0" i="1" dirty="0">
                <a:solidFill>
                  <a:srgbClr val="555960"/>
                </a:solidFill>
              </a:rPr>
              <a:t>realization</a:t>
            </a:r>
          </a:p>
        </p:txBody>
      </p:sp>
      <p:cxnSp>
        <p:nvCxnSpPr>
          <p:cNvPr id="106" name="Conn2" descr="Arrow from REASONER to ARTIFACT, labelled realization."/>
          <p:cNvCxnSpPr/>
          <p:nvPr/>
        </p:nvCxnSpPr>
        <p:spPr>
          <a:xfrm>
            <a:off x="4910328" y="3803904"/>
            <a:ext cx="886968" cy="0"/>
          </a:xfrm>
          <a:prstGeom prst="straightConnector1">
            <a:avLst/>
          </a:prstGeom>
          <a:ln w="34925">
            <a:solidFill>
              <a:srgbClr val="8E6F3E"/>
            </a:solidFill>
            <a:tailEnd type="triangle" w="lg" len="lg"/>
          </a:ln>
        </p:spPr>
      </p:cxnSp>
      <p:sp>
        <p:nvSpPr>
          <p:cNvPr id="107" name="Artifact" descr="Station 4 of 4: ARTIFACT, what comes out."/>
          <p:cNvSpPr/>
          <p:nvPr/>
        </p:nvSpPr>
        <p:spPr>
          <a:xfrm>
            <a:off x="585216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ARTIFACT</a:t>
            </a:r>
          </a:p>
        </p:txBody>
      </p:sp>
      <p:sp>
        <p:nvSpPr>
          <p:cNvPr id="110" name="ModAnn" descr="Annotation, left: MODELING changes the reasoning surface."/>
          <p:cNvSpPr txBox="1"/>
          <p:nvPr/>
        </p:nvSpPr>
        <p:spPr>
          <a:xfrm>
            <a:off x="1143000" y="1399032"/>
            <a:ext cx="3108960" cy="640080"/>
          </a:xfrm>
          <a:prstGeom prst="rect">
            <a:avLst/>
          </a:prstGeom>
          <a:noFill/>
          <a:ln>
            <a:noFill/>
          </a:ln>
        </p:spPr>
        <p:txBody>
          <a:bodyPr wrap="square" lIns="0" tIns="0" rIns="0" bIns="0" anchor="ctr"/>
          <a:lstStyle/>
          <a:p>
            <a:pPr algn="ctr">
              <a:buNone/>
            </a:pPr>
            <a:r>
              <a:rPr lang="en-US" sz="1800" b="1" i="0" dirty="0">
                <a:solidFill>
                  <a:srgbClr val="C8102E"/>
                </a:solidFill>
              </a:rPr>
              <a:t>MODELING</a:t>
            </a:r>
          </a:p>
          <a:p>
            <a:pPr algn="ctr">
              <a:spcBef>
                <a:spcPts val="120"/>
              </a:spcBef>
              <a:buNone/>
            </a:pPr>
            <a:r>
              <a:rPr lang="en-US" sz="1500" b="0" i="1" dirty="0">
                <a:solidFill>
                  <a:srgbClr val="555960"/>
                </a:solidFill>
              </a:rPr>
              <a:t>changes the reasoning surface</a:t>
            </a:r>
          </a:p>
        </p:txBody>
      </p:sp>
      <p:sp>
        <p:nvSpPr>
          <p:cNvPr id="111" name="Models" descr="Station 2 of 4, drawn with the heavy rim because it is the one station this lecture pair is about: MODELS, the representation."/>
          <p:cNvSpPr/>
          <p:nvPr/>
        </p:nvSpPr>
        <p:spPr>
          <a:xfrm>
            <a:off x="1874520" y="2148840"/>
            <a:ext cx="1645920" cy="731520"/>
          </a:xfrm>
          <a:prstGeom prst="rect">
            <a:avLst/>
          </a:prstGeom>
          <a:solidFill>
            <a:srgbClr val="FFFFFF"/>
          </a:solidFill>
          <a:ln w="28575">
            <a:solidFill>
              <a:srgbClr val="8E6F3E"/>
            </a:solidFill>
          </a:ln>
        </p:spPr>
        <p:txBody>
          <a:bodyPr wrap="square" lIns="27432" tIns="22860" rIns="27432" bIns="22860" anchor="ctr"/>
          <a:lstStyle/>
          <a:p>
            <a:pPr algn="ctr">
              <a:buNone/>
            </a:pPr>
            <a:r>
              <a:rPr lang="en-US" sz="1800" b="1" i="0" dirty="0">
                <a:solidFill>
                  <a:srgbClr val="5C4826"/>
                </a:solidFill>
              </a:rPr>
              <a:t>MODELS</a:t>
            </a:r>
          </a:p>
        </p:txBody>
      </p:sp>
      <p:cxnSp>
        <p:nvCxnSpPr>
          <p:cNvPr id="112" name="ModArrow" descr="Modeling's lever, one solid stroke ending in an arrowhead that lands on the segment between TASK and REASONER: the representation is on the path before the reasoner ever runs."/>
          <p:cNvCxnSpPr/>
          <p:nvPr/>
        </p:nvCxnSpPr>
        <p:spPr>
          <a:xfrm>
            <a:off x="2697480" y="2916936"/>
            <a:ext cx="0" cy="877824"/>
          </a:xfrm>
          <a:prstGeom prst="straightConnector1">
            <a:avLst/>
          </a:prstGeom>
          <a:ln w="34925">
            <a:solidFill>
              <a:srgbClr val="C8102E"/>
            </a:solidFill>
            <a:tailEnd type="triangle" w="lg" len="lg"/>
          </a:ln>
        </p:spPr>
      </p:cxnSp>
      <p:sp>
        <p:nvSpPr>
          <p:cNvPr id="120" name="AlnAnn" descr="Annotation, right: ALIGNMENT governs what may pass."/>
          <p:cNvSpPr txBox="1"/>
          <p:nvPr/>
        </p:nvSpPr>
        <p:spPr>
          <a:xfrm>
            <a:off x="5440680" y="1399032"/>
            <a:ext cx="2468880" cy="640080"/>
          </a:xfrm>
          <a:prstGeom prst="rect">
            <a:avLst/>
          </a:prstGeom>
          <a:noFill/>
          <a:ln>
            <a:noFill/>
          </a:ln>
        </p:spPr>
        <p:txBody>
          <a:bodyPr wrap="square" lIns="0" tIns="0" rIns="0" bIns="0" anchor="ctr"/>
          <a:lstStyle/>
          <a:p>
            <a:pPr algn="ctr">
              <a:buNone/>
            </a:pPr>
            <a:r>
              <a:rPr lang="en-US" sz="1800" b="1" i="0" dirty="0">
                <a:solidFill>
                  <a:srgbClr val="2E74B5"/>
                </a:solidFill>
              </a:rPr>
              <a:t>ALIGNMENT</a:t>
            </a:r>
          </a:p>
          <a:p>
            <a:pPr algn="ctr">
              <a:spcBef>
                <a:spcPts val="120"/>
              </a:spcBef>
              <a:buNone/>
            </a:pPr>
            <a:r>
              <a:rPr lang="en-US" sz="1500" b="0" i="1" dirty="0">
                <a:solidFill>
                  <a:srgbClr val="555960"/>
                </a:solidFill>
              </a:rPr>
              <a:t>governs what may pass</a:t>
            </a:r>
          </a:p>
        </p:txBody>
      </p:sp>
      <p:cxnSp>
        <p:nvCxnSpPr>
          <p:cNvPr id="121" name="AlnArrow" descr="Alignment's gate, part one: a solid stroke down from the annotation onto the ARTIFACT. It ends in a bar rather than an arrowhead because the gate always acts."/>
          <p:cNvCxnSpPr/>
          <p:nvPr/>
        </p:nvCxnSpPr>
        <p:spPr>
          <a:xfrm>
            <a:off x="6675120" y="2148840"/>
            <a:ext cx="0" cy="1261872"/>
          </a:xfrm>
          <a:prstGeom prst="straightConnector1">
            <a:avLst/>
          </a:prstGeom>
          <a:ln w="34925">
            <a:solidFill>
              <a:srgbClr val="2E74B5"/>
            </a:solidFill>
          </a:ln>
        </p:spPr>
      </p:cxnSp>
      <p:sp>
        <p:nvSpPr>
          <p:cNvPr id="124" name="AlnGate" descr="Alignment's gate, part two: a bar laid across the top edge of the ARTIFACT, the checkpoint every realization is judged at."/>
          <p:cNvSpPr/>
          <p:nvPr/>
        </p:nvSpPr>
        <p:spPr>
          <a:xfrm>
            <a:off x="6263640" y="3406140"/>
            <a:ext cx="822960" cy="64008"/>
          </a:xfrm>
          <a:prstGeom prst="rect">
            <a:avLst/>
          </a:prstGeom>
          <a:solidFill>
            <a:srgbClr val="2E74B5"/>
          </a:solidFill>
          <a:ln>
            <a:noFill/>
          </a:ln>
        </p:spPr>
        <p:txBody>
          <a:bodyPr/>
          <a:lstStyle/>
          <a:p>
            <a:endParaRPr/>
          </a:p>
        </p:txBody>
      </p:sp>
      <p:cxnSp>
        <p:nvCxnSpPr>
          <p:cNvPr id="122" name="ExitArrow" descr="The egress, and the only stroke that crosses the environment's boundary. It is dashed because that passage is the one conditional thing in the picture: the artifact leaves the engineering environment and acquires consequence only if Alignment's gate lets it."/>
          <p:cNvCxnSpPr/>
          <p:nvPr/>
        </p:nvCxnSpPr>
        <p:spPr>
          <a:xfrm>
            <a:off x="7562088" y="3803904"/>
            <a:ext cx="1170432" cy="0"/>
          </a:xfrm>
          <a:prstGeom prst="straightConnector1">
            <a:avLst/>
          </a:prstGeom>
          <a:ln w="34925">
            <a:solidFill>
              <a:srgbClr val="2E74B5"/>
            </a:solidFill>
            <a:prstDash val="dash"/>
            <a:tailEnd type="triangle" w="lg" len="lg"/>
          </a:ln>
        </p:spPr>
      </p:cxnSp>
      <p:sp>
        <p:nvSpPr>
          <p:cNvPr id="123" name="ExitLbl" descr="Label on the arrow leaving the environment: consequence."/>
          <p:cNvSpPr txBox="1"/>
          <p:nvPr/>
        </p:nvSpPr>
        <p:spPr>
          <a:xfrm>
            <a:off x="7891272" y="3456432"/>
            <a:ext cx="978408" cy="292608"/>
          </a:xfrm>
          <a:prstGeom prst="rect">
            <a:avLst/>
          </a:prstGeom>
          <a:noFill/>
          <a:ln>
            <a:noFill/>
          </a:ln>
        </p:spPr>
        <p:txBody>
          <a:bodyPr wrap="none" lIns="0" tIns="0" rIns="0" bIns="0" anchor="ctr"/>
          <a:lstStyle/>
          <a:p>
            <a:pPr algn="ctr">
              <a:buNone/>
            </a:pPr>
            <a:r>
              <a:rPr lang="en-US" sz="1500" b="0" i="1" dirty="0">
                <a:solidFill>
                  <a:srgbClr val="555960"/>
                </a:solidFill>
              </a:rPr>
              <a:t>consequence</a:t>
            </a:r>
          </a:p>
        </p:txBody>
      </p:sp>
      <p:sp>
        <p:nvSpPr>
          <p:cNvPr id="199" name="FooterBand" descr="Footer: Today: what does Modeling change about this production system?"/>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Today: what does Modeling change about this production system?</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11"/>
                                        </p:tgtEl>
                                        <p:attrNameLst>
                                          <p:attrName>style.visibility</p:attrName>
                                        </p:attrNameLst>
                                      </p:cBhvr>
                                      <p:to>
                                        <p:strVal val="visible"/>
                                      </p:to>
                                    </p:set>
                                    <p:animEffect transition="in" filter="fade">
                                      <p:cBhvr>
                                        <p:cTn id="10" dur="500"/>
                                        <p:tgtEl>
                                          <p:spTgt spid="111"/>
                                        </p:tgtEl>
                                      </p:cBhvr>
                                    </p:animEffect>
                                  </p:childTnLst>
                                </p:cTn>
                              </p:par>
                              <p:par>
                                <p:cTn id="11" presetID="10" presetClass="entr" presetSubtype="0" fill="hold" nodeType="withEffect">
                                  <p:stCondLst>
                                    <p:cond delay="0"/>
                                  </p:stCondLst>
                                  <p:childTnLst>
                                    <p:set>
                                      <p:cBhvr>
                                        <p:cTn id="12" dur="1" fill="hold">
                                          <p:stCondLst>
                                            <p:cond delay="0"/>
                                          </p:stCondLst>
                                        </p:cTn>
                                        <p:tgtEl>
                                          <p:spTgt spid="112"/>
                                        </p:tgtEl>
                                        <p:attrNameLst>
                                          <p:attrName>style.visibility</p:attrName>
                                        </p:attrNameLst>
                                      </p:cBhvr>
                                      <p:to>
                                        <p:strVal val="visible"/>
                                      </p:to>
                                    </p:set>
                                    <p:animEffect transition="in" filter="fade">
                                      <p:cBhvr>
                                        <p:cTn id="13" dur="500"/>
                                        <p:tgtEl>
                                          <p:spTgt spid="11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20"/>
                                        </p:tgtEl>
                                        <p:attrNameLst>
                                          <p:attrName>style.visibility</p:attrName>
                                        </p:attrNameLst>
                                      </p:cBhvr>
                                      <p:to>
                                        <p:strVal val="visible"/>
                                      </p:to>
                                    </p:set>
                                    <p:animEffect transition="in" filter="fade">
                                      <p:cBhvr>
                                        <p:cTn id="18" dur="500"/>
                                        <p:tgtEl>
                                          <p:spTgt spid="120"/>
                                        </p:tgtEl>
                                      </p:cBhvr>
                                    </p:animEffect>
                                  </p:childTnLst>
                                </p:cTn>
                              </p:par>
                              <p:par>
                                <p:cTn id="19" presetID="10" presetClass="entr" presetSubtype="0" fill="hold" nodeType="withEffect">
                                  <p:stCondLst>
                                    <p:cond delay="0"/>
                                  </p:stCondLst>
                                  <p:childTnLst>
                                    <p:set>
                                      <p:cBhvr>
                                        <p:cTn id="20" dur="1" fill="hold">
                                          <p:stCondLst>
                                            <p:cond delay="0"/>
                                          </p:stCondLst>
                                        </p:cTn>
                                        <p:tgtEl>
                                          <p:spTgt spid="121"/>
                                        </p:tgtEl>
                                        <p:attrNameLst>
                                          <p:attrName>style.visibility</p:attrName>
                                        </p:attrNameLst>
                                      </p:cBhvr>
                                      <p:to>
                                        <p:strVal val="visible"/>
                                      </p:to>
                                    </p:set>
                                    <p:animEffect transition="in" filter="fade">
                                      <p:cBhvr>
                                        <p:cTn id="21" dur="500"/>
                                        <p:tgtEl>
                                          <p:spTgt spid="121"/>
                                        </p:tgtEl>
                                      </p:cBhvr>
                                    </p:animEffect>
                                  </p:childTnLst>
                                </p:cTn>
                              </p:par>
                              <p:par>
                                <p:cTn id="22" presetID="10" presetClass="entr" presetSubtype="0" fill="hold" nodeType="withEffect">
                                  <p:stCondLst>
                                    <p:cond delay="0"/>
                                  </p:stCondLst>
                                  <p:childTnLst>
                                    <p:set>
                                      <p:cBhvr>
                                        <p:cTn id="23" dur="1" fill="hold">
                                          <p:stCondLst>
                                            <p:cond delay="0"/>
                                          </p:stCondLst>
                                        </p:cTn>
                                        <p:tgtEl>
                                          <p:spTgt spid="124"/>
                                        </p:tgtEl>
                                        <p:attrNameLst>
                                          <p:attrName>style.visibility</p:attrName>
                                        </p:attrNameLst>
                                      </p:cBhvr>
                                      <p:to>
                                        <p:strVal val="visible"/>
                                      </p:to>
                                    </p:set>
                                    <p:animEffect transition="in" filter="fade">
                                      <p:cBhvr>
                                        <p:cTn id="24" dur="500"/>
                                        <p:tgtEl>
                                          <p:spTgt spid="124"/>
                                        </p:tgtEl>
                                      </p:cBhvr>
                                    </p:animEffect>
                                  </p:childTnLst>
                                </p:cTn>
                              </p:par>
                              <p:par>
                                <p:cTn id="25" presetID="10" presetClass="entr" presetSubtype="0" fill="hold" nodeType="withEffect">
                                  <p:stCondLst>
                                    <p:cond delay="0"/>
                                  </p:stCondLst>
                                  <p:childTnLst>
                                    <p:set>
                                      <p:cBhvr>
                                        <p:cTn id="26" dur="1" fill="hold">
                                          <p:stCondLst>
                                            <p:cond delay="0"/>
                                          </p:stCondLst>
                                        </p:cTn>
                                        <p:tgtEl>
                                          <p:spTgt spid="122"/>
                                        </p:tgtEl>
                                        <p:attrNameLst>
                                          <p:attrName>style.visibility</p:attrName>
                                        </p:attrNameLst>
                                      </p:cBhvr>
                                      <p:to>
                                        <p:strVal val="visible"/>
                                      </p:to>
                                    </p:set>
                                    <p:animEffect transition="in" filter="fade">
                                      <p:cBhvr>
                                        <p:cTn id="27" dur="500"/>
                                        <p:tgtEl>
                                          <p:spTgt spid="122"/>
                                        </p:tgtEl>
                                      </p:cBhvr>
                                    </p:animEffect>
                                  </p:childTnLst>
                                </p:cTn>
                              </p:par>
                              <p:par>
                                <p:cTn id="28" presetID="10" presetClass="entr" presetSubtype="0" fill="hold" nodeType="withEffect">
                                  <p:stCondLst>
                                    <p:cond delay="0"/>
                                  </p:stCondLst>
                                  <p:childTnLst>
                                    <p:set>
                                      <p:cBhvr>
                                        <p:cTn id="29" dur="1" fill="hold">
                                          <p:stCondLst>
                                            <p:cond delay="0"/>
                                          </p:stCondLst>
                                        </p:cTn>
                                        <p:tgtEl>
                                          <p:spTgt spid="123"/>
                                        </p:tgtEl>
                                        <p:attrNameLst>
                                          <p:attrName>style.visibility</p:attrName>
                                        </p:attrNameLst>
                                      </p:cBhvr>
                                      <p:to>
                                        <p:strVal val="visible"/>
                                      </p:to>
                                    </p:set>
                                    <p:animEffect transition="in" filter="fade">
                                      <p:cBhvr>
                                        <p:cTn id="30" dur="500"/>
                                        <p:tgtEl>
                                          <p:spTgt spid="123"/>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199"/>
                                        </p:tgtEl>
                                        <p:attrNameLst>
                                          <p:attrName>style.visibility</p:attrName>
                                        </p:attrNameLst>
                                      </p:cBhvr>
                                      <p:to>
                                        <p:strVal val="visible"/>
                                      </p:to>
                                    </p:set>
                                    <p:animEffect transition="in" filter="fade">
                                      <p:cBhvr>
                                        <p:cTn id="35"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production equation</a:t>
            </a:r>
          </a:p>
        </p:txBody>
      </p:sp>
      <p:sp>
        <p:nvSpPr>
          <p:cNvPr id="3" name="Slide Number Placeholder 3"/>
          <p:cNvSpPr>
            <a:spLocks noGrp="1"/>
          </p:cNvSpPr>
          <p:nvPr>
            <p:ph type="sldNum" sz="quarter" idx="4"/>
          </p:nvPr>
        </p:nvSpPr>
        <p:spPr/>
        <p:txBody>
          <a:bodyPr/>
          <a:lstStyle/>
          <a:p>
            <a:fld id="{B7EB45DA-9A0D-DC49-8E02-F30A5DDC21C3}" type="slidenum">
              <a:rPr lang="en-US" smtClean="0"/>
              <a:t>3</a:t>
            </a:fld>
            <a:endParaRPr lang="en-US"/>
          </a:p>
        </p:txBody>
      </p:sp>
      <p:sp>
        <p:nvSpPr>
          <p:cNvPr id="10" name="Kicker"/>
          <p:cNvSpPr txBox="1"/>
          <p:nvPr/>
        </p:nvSpPr>
        <p:spPr>
          <a:xfrm>
            <a:off x="365760" y="1097280"/>
            <a:ext cx="8412480" cy="393192"/>
          </a:xfrm>
          <a:prstGeom prst="rect">
            <a:avLst/>
          </a:prstGeom>
          <a:noFill/>
          <a:ln>
            <a:noFill/>
          </a:ln>
        </p:spPr>
        <p:txBody>
          <a:bodyPr wrap="square" lIns="0" tIns="0" rIns="0" bIns="0" anchor="t"/>
          <a:lstStyle/>
          <a:p>
            <a:pPr algn="l">
              <a:spcAft>
                <a:spcPts val="0"/>
              </a:spcAft>
              <a:buNone/>
            </a:pPr>
            <a:r>
              <a:rPr lang="en-US" sz="2000" b="1" dirty="0">
                <a:solidFill>
                  <a:srgbClr val="8E6F3E"/>
                </a:solidFill>
              </a:rPr>
              <a:t>FOR A FIXED ENGINEERING ENVIRONMENT</a:t>
            </a:r>
          </a:p>
        </p:txBody>
      </p:sp>
      <p:sp>
        <p:nvSpPr>
          <p:cNvPr id="11" name="EqBox"/>
          <p:cNvSpPr txBox="1"/>
          <p:nvPr/>
        </p:nvSpPr>
        <p:spPr>
          <a:xfrm>
            <a:off x="274320" y="1554480"/>
            <a:ext cx="8595360" cy="822960"/>
          </a:xfrm>
          <a:prstGeom prst="rect">
            <a:avLst/>
          </a:prstGeom>
          <a:noFill/>
          <a:ln>
            <a:noFill/>
          </a:ln>
        </p:spPr>
        <p:txBody>
          <a:bodyPr wrap="square" lIns="0" tIns="0" rIns="0" bIns="0" anchor="ctr"/>
          <a:lstStyle/>
          <a:p>
            <a:pPr algn="ctr">
              <a:spcAft>
                <a:spcPts val="0"/>
              </a:spcAft>
              <a:buNone/>
            </a:pPr>
            <a:r>
              <a:rPr lang="en-US" sz="5400" b="0" i="1" dirty="0">
                <a:solidFill>
                  <a:srgbClr val="5C4826"/>
                </a:solidFill>
              </a:rPr>
              <a:t>p(T,M,R,H)</a:t>
            </a:r>
          </a:p>
        </p:txBody>
      </p:sp>
      <p:sp>
        <p:nvSpPr>
          <p:cNvPr id="12" name="EqGloss"/>
          <p:cNvSpPr txBox="1"/>
          <p:nvPr/>
        </p:nvSpPr>
        <p:spPr>
          <a:xfrm>
            <a:off x="274320" y="2423160"/>
            <a:ext cx="8595360" cy="365760"/>
          </a:xfrm>
          <a:prstGeom prst="rect">
            <a:avLst/>
          </a:prstGeom>
          <a:noFill/>
          <a:ln>
            <a:noFill/>
          </a:ln>
        </p:spPr>
        <p:txBody>
          <a:bodyPr wrap="square" lIns="0" tIns="0" rIns="0" bIns="0" anchor="t"/>
          <a:lstStyle/>
          <a:p>
            <a:pPr algn="ctr">
              <a:spcAft>
                <a:spcPts val="0"/>
              </a:spcAft>
              <a:buNone/>
            </a:pPr>
            <a:r>
              <a:rPr lang="en-US" sz="1800" b="0" i="1" dirty="0">
                <a:solidFill>
                  <a:srgbClr val="555960"/>
                </a:solidFill>
              </a:rPr>
              <a:t>the probability that one attempt produces an acceptable candidate</a:t>
            </a:r>
          </a:p>
        </p:txBody>
      </p:sp>
      <p:sp>
        <p:nvSpPr>
          <p:cNvPr id="20" name="N0"/>
          <p:cNvSpPr/>
          <p:nvPr/>
        </p:nvSpPr>
        <p:spPr>
          <a:xfrm>
            <a:off x="1508760" y="3017520"/>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T</a:t>
            </a:r>
          </a:p>
        </p:txBody>
      </p:sp>
      <p:sp>
        <p:nvSpPr>
          <p:cNvPr id="21" name="Q0"/>
          <p:cNvSpPr txBox="1"/>
          <p:nvPr/>
        </p:nvSpPr>
        <p:spPr>
          <a:xfrm>
            <a:off x="2148840" y="3017520"/>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an engineering task or task family</a:t>
            </a:r>
          </a:p>
        </p:txBody>
      </p:sp>
      <p:sp>
        <p:nvSpPr>
          <p:cNvPr id="22" name="N1"/>
          <p:cNvSpPr/>
          <p:nvPr/>
        </p:nvSpPr>
        <p:spPr>
          <a:xfrm>
            <a:off x="1508760" y="3465576"/>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M</a:t>
            </a:r>
          </a:p>
        </p:txBody>
      </p:sp>
      <p:sp>
        <p:nvSpPr>
          <p:cNvPr id="23" name="Q1"/>
          <p:cNvSpPr txBox="1"/>
          <p:nvPr/>
        </p:nvSpPr>
        <p:spPr>
          <a:xfrm>
            <a:off x="2148840" y="3465576"/>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reasoning model</a:t>
            </a:r>
          </a:p>
        </p:txBody>
      </p:sp>
      <p:sp>
        <p:nvSpPr>
          <p:cNvPr id="24" name="N2"/>
          <p:cNvSpPr/>
          <p:nvPr/>
        </p:nvSpPr>
        <p:spPr>
          <a:xfrm>
            <a:off x="1508760" y="3913632"/>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R</a:t>
            </a:r>
          </a:p>
        </p:txBody>
      </p:sp>
      <p:sp>
        <p:nvSpPr>
          <p:cNvPr id="25" name="Q2"/>
          <p:cNvSpPr txBox="1"/>
          <p:nvPr/>
        </p:nvSpPr>
        <p:spPr>
          <a:xfrm>
            <a:off x="2148840" y="3913632"/>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representation available to it</a:t>
            </a:r>
          </a:p>
        </p:txBody>
      </p:sp>
      <p:sp>
        <p:nvSpPr>
          <p:cNvPr id="26" name="N3"/>
          <p:cNvSpPr/>
          <p:nvPr/>
        </p:nvSpPr>
        <p:spPr>
          <a:xfrm>
            <a:off x="1508760" y="4361688"/>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H</a:t>
            </a:r>
          </a:p>
        </p:txBody>
      </p:sp>
      <p:sp>
        <p:nvSpPr>
          <p:cNvPr id="27" name="Q3"/>
          <p:cNvSpPr txBox="1"/>
          <p:nvPr/>
        </p:nvSpPr>
        <p:spPr>
          <a:xfrm>
            <a:off x="2148840" y="4361688"/>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harness and process through which production is organized</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buNone/>
            </a:pPr>
            <a:r>
              <a:rPr lang="en-US" sz="1700" b="0" i="1" dirty="0">
                <a:solidFill>
                  <a:srgbClr val="555960"/>
                </a:solidFill>
              </a:rPr>
              <a:t>Change any one of the four and the probability changes.</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Does the engineering system produce the thing?</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Open the box — where things can go wrong</a:t>
            </a:r>
          </a:p>
        </p:txBody>
      </p:sp>
      <p:sp>
        <p:nvSpPr>
          <p:cNvPr id="3" name="Slide Number Placeholder 3"/>
          <p:cNvSpPr>
            <a:spLocks noGrp="1"/>
          </p:cNvSpPr>
          <p:nvPr>
            <p:ph type="sldNum" sz="quarter" idx="4"/>
          </p:nvPr>
        </p:nvSpPr>
        <p:spPr/>
        <p:txBody>
          <a:bodyPr/>
          <a:lstStyle/>
          <a:p>
            <a:fld id="{B7EB45DA-9A0D-DC49-8E02-F30A5DDC21C3}" type="slidenum">
              <a:rPr lang="en-US" smtClean="0"/>
              <a:t>4</a:t>
            </a:fld>
            <a:endParaRPr lang="en-US"/>
          </a:p>
        </p:txBody>
      </p:sp>
      <p:sp>
        <p:nvSpPr>
          <p:cNvPr id="11" name="EqBox"/>
          <p:cNvSpPr txBox="1"/>
          <p:nvPr/>
        </p:nvSpPr>
        <p:spPr>
          <a:xfrm>
            <a:off x="274320" y="868680"/>
            <a:ext cx="8595360" cy="594360"/>
          </a:xfrm>
          <a:prstGeom prst="rect">
            <a:avLst/>
          </a:prstGeom>
          <a:noFill/>
          <a:ln>
            <a:noFill/>
          </a:ln>
        </p:spPr>
        <p:txBody>
          <a:bodyPr wrap="square" lIns="0" tIns="0" rIns="0" bIns="0" anchor="ctr"/>
          <a:lstStyle/>
          <a:p>
            <a:pPr algn="ctr">
              <a:spcAft>
                <a:spcPts val="0"/>
              </a:spcAft>
              <a:buNone/>
            </a:pPr>
            <a:r>
              <a:rPr lang="en-US" sz="3000" b="0" i="1" dirty="0">
                <a:solidFill>
                  <a:srgbClr val="5C4826"/>
                </a:solidFill>
              </a:rPr>
              <a:t>p</a:t>
            </a:r>
            <a:r>
              <a:rPr lang="en-US" sz="3000" b="0" i="1" baseline="-25000" dirty="0">
                <a:solidFill>
                  <a:srgbClr val="5C4826"/>
                </a:solidFill>
              </a:rPr>
              <a:t>R</a:t>
            </a:r>
            <a:r>
              <a:rPr lang="en-US" sz="3000" b="0" i="1" dirty="0">
                <a:solidFill>
                  <a:srgbClr val="5C4826"/>
                </a:solidFill>
              </a:rPr>
              <a:t> = P(E | R) · P(I | E, R) · P(L | I, E, R)</a:t>
            </a:r>
          </a:p>
        </p:txBody>
      </p:sp>
      <p:sp>
        <p:nvSpPr>
          <p:cNvPr id="20" name="N0"/>
          <p:cNvSpPr/>
          <p:nvPr/>
        </p:nvSpPr>
        <p:spPr>
          <a:xfrm>
            <a:off x="36576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ENCODE</a:t>
            </a:r>
          </a:p>
        </p:txBody>
      </p:sp>
      <p:cxnSp>
        <p:nvCxnSpPr>
          <p:cNvPr id="30" name="A0"/>
          <p:cNvCxnSpPr/>
          <p:nvPr/>
        </p:nvCxnSpPr>
        <p:spPr>
          <a:xfrm>
            <a:off x="2926080" y="1828800"/>
            <a:ext cx="274320" cy="0"/>
          </a:xfrm>
          <a:prstGeom prst="straightConnector1">
            <a:avLst/>
          </a:prstGeom>
          <a:ln w="19050">
            <a:solidFill>
              <a:srgbClr val="8E6F3E"/>
            </a:solidFill>
            <a:tailEnd type="triangle" w="med" len="med"/>
          </a:ln>
        </p:spPr>
      </p:cxnSp>
      <p:sp>
        <p:nvSpPr>
          <p:cNvPr id="21" name="N1"/>
          <p:cNvSpPr/>
          <p:nvPr/>
        </p:nvSpPr>
        <p:spPr>
          <a:xfrm>
            <a:off x="338328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INTERPRET</a:t>
            </a:r>
          </a:p>
        </p:txBody>
      </p:sp>
      <p:cxnSp>
        <p:nvCxnSpPr>
          <p:cNvPr id="31" name="A1"/>
          <p:cNvCxnSpPr/>
          <p:nvPr/>
        </p:nvCxnSpPr>
        <p:spPr>
          <a:xfrm>
            <a:off x="5943600" y="1828800"/>
            <a:ext cx="274320" cy="0"/>
          </a:xfrm>
          <a:prstGeom prst="straightConnector1">
            <a:avLst/>
          </a:prstGeom>
          <a:ln w="19050">
            <a:solidFill>
              <a:srgbClr val="8E6F3E"/>
            </a:solidFill>
            <a:tailEnd type="triangle" w="med" len="med"/>
          </a:ln>
        </p:spPr>
      </p:cxnSp>
      <p:sp>
        <p:nvSpPr>
          <p:cNvPr id="22" name="N2"/>
          <p:cNvSpPr/>
          <p:nvPr/>
        </p:nvSpPr>
        <p:spPr>
          <a:xfrm>
            <a:off x="640080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REALIZE</a:t>
            </a:r>
          </a:p>
        </p:txBody>
      </p:sp>
      <p:sp>
        <p:nvSpPr>
          <p:cNvPr id="40" name="ChainTag"/>
          <p:cNvSpPr txBox="1"/>
          <p:nvPr/>
        </p:nvSpPr>
        <p:spPr>
          <a:xfrm>
            <a:off x="274320" y="2194560"/>
            <a:ext cx="8595360" cy="32004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a chain decomposition, not an independence assumption</a:t>
            </a:r>
          </a:p>
        </p:txBody>
      </p:sp>
      <p:pic>
        <p:nvPicPr>
          <p:cNvPr id="60" name="BandFigure" descr="Production process band: Engineering intent to Encoded property to Fabricator to Realization, with the three probability terms P(E | R), P(I | E, R) and P(L | I, E, R) bracketed beneath."/>
          <p:cNvPicPr>
            <a:picLocks noChangeAspect="1"/>
          </p:cNvPicPr>
          <p:nvPr/>
        </p:nvPicPr>
        <p:blipFill>
          <a:blip r:embed="rId3"/>
          <a:stretch>
            <a:fillRect/>
          </a:stretch>
        </p:blipFill>
        <p:spPr>
          <a:xfrm>
            <a:off x="685800" y="2560320"/>
            <a:ext cx="7772400" cy="2878667"/>
          </a:xfrm>
          <a:prstGeom prst="rect">
            <a:avLst/>
          </a:prstGeom>
        </p:spPr>
      </p:pic>
      <p:grpSp>
        <p:nvGrpSpPr>
          <p:cNvPr id="100" name="ModelingLeverOverlay"/>
          <p:cNvGrpSpPr/>
          <p:nvPr/>
        </p:nvGrpSpPr>
        <p:grpSpPr>
          <a:xfrm>
            <a:off x="2908770" y="2624290"/>
            <a:ext cx="5213586" cy="2230967"/>
            <a:chOff x="2908770" y="2624290"/>
            <a:chExt cx="5213586" cy="2230967"/>
          </a:xfrm>
        </p:grpSpPr>
        <p:sp>
          <p:nvSpPr>
            <p:cNvPr id="101" name="LeverLabel"/>
            <p:cNvSpPr txBox="1"/>
            <p:nvPr/>
          </p:nvSpPr>
          <p:spPr>
            <a:xfrm>
              <a:off x="4572000" y="2624290"/>
              <a:ext cx="3550356" cy="655696"/>
            </a:xfrm>
            <a:prstGeom prst="rect">
              <a:avLst/>
            </a:prstGeom>
            <a:noFill/>
            <a:ln>
              <a:noFill/>
            </a:ln>
          </p:spPr>
          <p:txBody>
            <a:bodyPr wrap="square" lIns="0" tIns="0" rIns="0" bIns="0" anchor="ctr"/>
            <a:lstStyle/>
            <a:p>
              <a:pPr algn="l">
                <a:lnSpc>
                  <a:spcPct val="110000"/>
                </a:lnSpc>
                <a:spcAft>
                  <a:spcPts val="0"/>
                </a:spcAft>
                <a:buNone/>
              </a:pPr>
              <a:r>
                <a:rPr lang="en-US" sz="2100" b="1" spc="126" dirty="0">
                  <a:solidFill>
                    <a:srgbClr val="C8102E"/>
                  </a:solidFill>
                </a:rPr>
                <a:t>MODELING CHANGES</a:t>
              </a:r>
            </a:p>
            <a:p>
              <a:pPr algn="l">
                <a:lnSpc>
                  <a:spcPct val="110000"/>
                </a:lnSpc>
                <a:spcAft>
                  <a:spcPts val="0"/>
                </a:spcAft>
                <a:buNone/>
              </a:pPr>
              <a:r>
                <a:rPr lang="en-US" sz="2100" b="1" spc="126" dirty="0">
                  <a:solidFill>
                    <a:srgbClr val="C8102E"/>
                  </a:solidFill>
                </a:rPr>
                <a:t>THE REPRESENTATION</a:t>
              </a:r>
            </a:p>
          </p:txBody>
        </p:sp>
        <p:cxnSp>
          <p:nvCxnSpPr>
            <p:cNvPr id="102" name="LeverArrowH"/>
            <p:cNvCxnSpPr/>
            <p:nvPr/>
          </p:nvCxnSpPr>
          <p:spPr>
            <a:xfrm>
              <a:off x="3676415" y="2952139"/>
              <a:ext cx="895585" cy="0"/>
            </a:xfrm>
            <a:prstGeom prst="straightConnector1">
              <a:avLst/>
            </a:prstGeom>
            <a:ln w="44450" cap="sq">
              <a:solidFill>
                <a:srgbClr val="C8102E"/>
              </a:solidFill>
            </a:ln>
          </p:spPr>
        </p:cxnSp>
        <p:cxnSp>
          <p:nvCxnSpPr>
            <p:cNvPr id="103" name="LeverArrowV"/>
            <p:cNvCxnSpPr/>
            <p:nvPr/>
          </p:nvCxnSpPr>
          <p:spPr>
            <a:xfrm>
              <a:off x="3676415" y="2952139"/>
              <a:ext cx="0" cy="743655"/>
            </a:xfrm>
            <a:prstGeom prst="straightConnector1">
              <a:avLst/>
            </a:prstGeom>
            <a:ln w="44450" cap="sq">
              <a:solidFill>
                <a:srgbClr val="C8102E"/>
              </a:solidFill>
              <a:tailEnd type="triangle" w="med" len="med"/>
            </a:ln>
          </p:spPr>
        </p:cxnSp>
        <p:sp>
          <p:nvSpPr>
            <p:cNvPr id="104" name="LeverBoxA"/>
            <p:cNvSpPr/>
            <p:nvPr/>
          </p:nvSpPr>
          <p:spPr>
            <a:xfrm>
              <a:off x="2908770" y="4535405"/>
              <a:ext cx="319852" cy="319852"/>
            </a:xfrm>
            <a:prstGeom prst="roundRect">
              <a:avLst>
                <a:gd name="adj" fmla="val 15000"/>
              </a:avLst>
            </a:prstGeom>
            <a:noFill/>
            <a:ln w="28575">
              <a:solidFill>
                <a:srgbClr val="C8102E"/>
              </a:solidFill>
            </a:ln>
          </p:spPr>
          <p:txBody>
            <a:bodyPr/>
            <a:lstStyle/>
            <a:p>
              <a:endParaRPr lang="en-US"/>
            </a:p>
          </p:txBody>
        </p:sp>
        <p:sp>
          <p:nvSpPr>
            <p:cNvPr id="105" name="LeverBoxB"/>
            <p:cNvSpPr/>
            <p:nvPr/>
          </p:nvSpPr>
          <p:spPr>
            <a:xfrm>
              <a:off x="4827881" y="4535405"/>
              <a:ext cx="319852" cy="319852"/>
            </a:xfrm>
            <a:prstGeom prst="roundRect">
              <a:avLst>
                <a:gd name="adj" fmla="val 15000"/>
              </a:avLst>
            </a:prstGeom>
            <a:noFill/>
            <a:ln w="28575">
              <a:solidFill>
                <a:srgbClr val="C8102E"/>
              </a:solidFill>
            </a:ln>
          </p:spPr>
          <p:txBody>
            <a:bodyPr/>
            <a:lstStyle/>
            <a:p>
              <a:endParaRPr lang="en-US"/>
            </a:p>
          </p:txBody>
        </p:sp>
      </p:gr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So what makes one representation better than another?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99"/>
                                        </p:tgtEl>
                                        <p:attrNameLst>
                                          <p:attrName>style.visibility</p:attrName>
                                        </p:attrNameLst>
                                      </p:cBhvr>
                                      <p:to>
                                        <p:strVal val="visible"/>
                                      </p:to>
                                    </p:set>
                                    <p:animEffect transition="in" filter="fade">
                                      <p:cBhvr>
                                        <p:cTn id="10"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Delegation leaves a representation problem</a:t>
            </a:r>
          </a:p>
        </p:txBody>
      </p:sp>
      <p:sp>
        <p:nvSpPr>
          <p:cNvPr id="3" name="Slide Number Placeholder 3"/>
          <p:cNvSpPr>
            <a:spLocks noGrp="1"/>
          </p:cNvSpPr>
          <p:nvPr>
            <p:ph type="sldNum" sz="quarter" idx="4"/>
          </p:nvPr>
        </p:nvSpPr>
        <p:spPr/>
        <p:txBody>
          <a:bodyPr/>
          <a:lstStyle/>
          <a:p>
            <a:fld id="{B7EB45DA-9A0D-DC49-8E02-F30A5DDC21C3}" type="slidenum">
              <a:rPr lang="en-US" smtClean="0"/>
              <a:t>5</a:t>
            </a:fld>
            <a:endParaRPr lang="en-US"/>
          </a:p>
        </p:txBody>
      </p:sp>
      <p:sp>
        <p:nvSpPr>
          <p:cNvPr id="6" name="Kicker"/>
          <p:cNvSpPr txBox="1"/>
          <p:nvPr/>
        </p:nvSpPr>
        <p:spPr>
          <a:xfrm>
            <a:off x="365760" y="109728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FROM DELEGATION</a:t>
            </a:r>
          </a:p>
        </p:txBody>
      </p:sp>
      <p:sp>
        <p:nvSpPr>
          <p:cNvPr id="7" name="KickerBox"/>
          <p:cNvSpPr/>
          <p:nvPr/>
        </p:nvSpPr>
        <p:spPr>
          <a:xfrm>
            <a:off x="365760" y="1509720"/>
            <a:ext cx="8412480" cy="1920240"/>
          </a:xfrm>
          <a:prstGeom prst="rect">
            <a:avLst/>
          </a:prstGeom>
          <a:solidFill>
            <a:srgbClr val="F5F1E8"/>
          </a:solidFill>
          <a:ln w="12700">
            <a:solidFill>
              <a:srgbClr val="C9B991"/>
            </a:solidFill>
          </a:ln>
        </p:spPr>
        <p:style>
          <a:lnRef idx="1">
            <a:schemeClr val="accent1"/>
          </a:lnRef>
          <a:fillRef idx="3">
            <a:schemeClr val="accent1"/>
          </a:fillRef>
          <a:effectRef idx="2">
            <a:schemeClr val="accent1"/>
          </a:effectRef>
          <a:fontRef idx="minor">
            <a:schemeClr val="lt1"/>
          </a:fontRef>
        </p:style>
        <p:txBody>
          <a:bodyPr wrap="square" lIns="128016" tIns="91440" rIns="118872" bIns="91440" rtlCol="0" anchor="ctr"/>
          <a:lstStyle/>
          <a:p>
            <a:pPr algn="l">
              <a:spcAft>
                <a:spcPts val="1600"/>
              </a:spcAft>
              <a:buNone/>
            </a:pPr>
            <a:r>
              <a:rPr lang="en-US" sz="1800" b="0" dirty="0">
                <a:solidFill>
                  <a:srgbClr val="5C4826"/>
                </a:solidFill>
              </a:rPr>
              <a:t>Implementation is cheap to delegate: an agent can realize a design a hundred acceptable ways.</a:t>
            </a:r>
          </a:p>
          <a:p>
            <a:pPr algn="l">
              <a:spcAft>
                <a:spcPts val="1600"/>
              </a:spcAft>
              <a:buNone/>
            </a:pPr>
            <a:r>
              <a:rPr lang="en-US" sz="1800" b="0" dirty="0">
                <a:solidFill>
                  <a:srgbClr val="5C4826"/>
                </a:solidFill>
              </a:rPr>
              <a:t>We cannot specify every realization choice, and we should not try.</a:t>
            </a:r>
          </a:p>
          <a:p>
            <a:pPr algn="l">
              <a:spcAft>
                <a:spcPts val="0"/>
              </a:spcAft>
              <a:buNone/>
            </a:pPr>
            <a:r>
              <a:rPr lang="en-US" sz="1800" b="1" dirty="0">
                <a:solidFill>
                  <a:srgbClr val="5C4826"/>
                </a:solidFill>
              </a:rPr>
              <a:t>So what must a representation preserve for this task?</a:t>
            </a:r>
          </a:p>
        </p:txBody>
      </p:sp>
      <p:sp>
        <p:nvSpPr>
          <p:cNvPr id="200" name="EngineerBox"/>
          <p:cNvSpPr/>
          <p:nvPr/>
        </p:nvSpPr>
        <p:spPr>
          <a:xfrm>
            <a:off x="1371600" y="3810000"/>
            <a:ext cx="1828800" cy="548640"/>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ENGINEER</a:t>
            </a:r>
          </a:p>
        </p:txBody>
      </p:sp>
      <p:sp>
        <p:nvSpPr>
          <p:cNvPr id="201" name="AgentBox"/>
          <p:cNvSpPr/>
          <p:nvPr/>
        </p:nvSpPr>
        <p:spPr>
          <a:xfrm>
            <a:off x="5943600" y="3810000"/>
            <a:ext cx="1828800" cy="548640"/>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AGENT</a:t>
            </a:r>
          </a:p>
        </p:txBody>
      </p:sp>
      <p:cxnSp>
        <p:nvCxnSpPr>
          <p:cNvPr id="202" name="DAr1"/>
          <p:cNvCxnSpPr/>
          <p:nvPr/>
        </p:nvCxnSpPr>
        <p:spPr>
          <a:xfrm>
            <a:off x="3200400" y="4084320"/>
            <a:ext cx="1188720" cy="0"/>
          </a:xfrm>
          <a:prstGeom prst="straightConnector1">
            <a:avLst/>
          </a:prstGeom>
          <a:ln w="28575">
            <a:solidFill>
              <a:srgbClr val="8E6F3E"/>
            </a:solidFill>
          </a:ln>
        </p:spPr>
      </p:cxnSp>
      <p:cxnSp>
        <p:nvCxnSpPr>
          <p:cNvPr id="203" name="DAr2"/>
          <p:cNvCxnSpPr/>
          <p:nvPr/>
        </p:nvCxnSpPr>
        <p:spPr>
          <a:xfrm>
            <a:off x="4754880" y="4084320"/>
            <a:ext cx="1188720" cy="0"/>
          </a:xfrm>
          <a:prstGeom prst="straightConnector1">
            <a:avLst/>
          </a:prstGeom>
          <a:ln w="28575">
            <a:solidFill>
              <a:srgbClr val="8E6F3E"/>
            </a:solidFill>
            <a:tailEnd type="triangle" w="med" len="med"/>
          </a:ln>
        </p:spPr>
      </p:cxnSp>
      <p:sp>
        <p:nvSpPr>
          <p:cNvPr id="204" name="Gap1"/>
          <p:cNvSpPr/>
          <p:nvPr/>
        </p:nvSpPr>
        <p:spPr>
          <a:xfrm>
            <a:off x="4389120" y="3901440"/>
            <a:ext cx="365760" cy="365760"/>
          </a:xfrm>
          <a:prstGeom prst="rect">
            <a:avLst/>
          </a:prstGeom>
          <a:solidFill>
            <a:srgbClr val="FBF8F2"/>
          </a:solidFill>
          <a:ln w="12700">
            <a:solidFill>
              <a:srgbClr val="555960"/>
            </a:solidFill>
            <a:prstDash val="dash"/>
          </a:ln>
        </p:spPr>
        <p:txBody>
          <a:bodyPr/>
          <a:lstStyle/>
          <a:p>
            <a:endParaRPr lang="en-US"/>
          </a:p>
        </p:txBody>
      </p:sp>
      <p:sp>
        <p:nvSpPr>
          <p:cNvPr id="205" name="DelLbl"/>
          <p:cNvSpPr txBox="1"/>
          <p:nvPr/>
        </p:nvSpPr>
        <p:spPr>
          <a:xfrm>
            <a:off x="3657600" y="3626040"/>
            <a:ext cx="1828800" cy="274320"/>
          </a:xfrm>
          <a:prstGeom prst="rect">
            <a:avLst/>
          </a:prstGeom>
          <a:noFill/>
          <a:ln>
            <a:noFill/>
          </a:ln>
        </p:spPr>
        <p:txBody>
          <a:bodyPr wrap="square" lIns="0" tIns="0" rIns="0" bIns="0" anchor="t"/>
          <a:lstStyle/>
          <a:p>
            <a:pPr algn="ctr">
              <a:buNone/>
            </a:pPr>
            <a:r>
              <a:rPr lang="en-US" sz="1400" b="0" i="0" dirty="0">
                <a:solidFill>
                  <a:srgbClr val="555960"/>
                </a:solidFill>
              </a:rPr>
              <a:t>DELEGATION</a:t>
            </a:r>
          </a:p>
        </p:txBody>
      </p:sp>
      <p:sp>
        <p:nvSpPr>
          <p:cNvPr id="206" name="GapLbl"/>
          <p:cNvSpPr txBox="1"/>
          <p:nvPr/>
        </p:nvSpPr>
        <p:spPr>
          <a:xfrm>
            <a:off x="2743200" y="4419600"/>
            <a:ext cx="3657600" cy="274320"/>
          </a:xfrm>
          <a:prstGeom prst="rect">
            <a:avLst/>
          </a:prstGeom>
          <a:noFill/>
          <a:ln>
            <a:noFill/>
          </a:ln>
        </p:spPr>
        <p:txBody>
          <a:bodyPr wrap="square" lIns="0" tIns="0" rIns="0" bIns="0" anchor="t"/>
          <a:lstStyle/>
          <a:p>
            <a:pPr algn="ctr">
              <a:buNone/>
            </a:pPr>
            <a:r>
              <a:rPr lang="en-US" sz="1400" b="0" i="1" dirty="0">
                <a:solidFill>
                  <a:srgbClr val="555960"/>
                </a:solidFill>
              </a:rPr>
              <a:t>what matters must survive this hop</a:t>
            </a:r>
          </a:p>
        </p:txBody>
      </p:sp>
      <p:sp>
        <p:nvSpPr>
          <p:cNvPr id="210" name="ETag"/>
          <p:cNvSpPr txBox="1"/>
          <p:nvPr/>
        </p:nvSpPr>
        <p:spPr>
          <a:xfrm>
            <a:off x="3200400" y="4130040"/>
            <a:ext cx="1188720" cy="213360"/>
          </a:xfrm>
          <a:prstGeom prst="rect">
            <a:avLst/>
          </a:prstGeom>
          <a:noFill/>
          <a:ln>
            <a:noFill/>
          </a:ln>
        </p:spPr>
        <p:txBody>
          <a:bodyPr wrap="square" lIns="0" tIns="0" rIns="0" bIns="0" anchor="t"/>
          <a:lstStyle/>
          <a:p>
            <a:pPr algn="ctr">
              <a:spcAft>
                <a:spcPts val="0"/>
              </a:spcAft>
              <a:buNone/>
            </a:pPr>
            <a:r>
              <a:rPr lang="en-US" sz="1200" b="1" i="1" dirty="0">
                <a:solidFill>
                  <a:srgbClr val="8E6F3E"/>
                </a:solidFill>
              </a:rPr>
              <a:t>E</a:t>
            </a:r>
            <a:r>
              <a:rPr lang="en-US" sz="1200" b="0" i="0" dirty="0">
                <a:solidFill>
                  <a:srgbClr val="555960"/>
                </a:solidFill>
              </a:rPr>
              <a:t> encode</a:t>
            </a:r>
          </a:p>
        </p:txBody>
      </p:sp>
      <p:sp>
        <p:nvSpPr>
          <p:cNvPr id="211" name="ITag"/>
          <p:cNvSpPr txBox="1"/>
          <p:nvPr/>
        </p:nvSpPr>
        <p:spPr>
          <a:xfrm>
            <a:off x="4754880" y="4130040"/>
            <a:ext cx="1188720" cy="213360"/>
          </a:xfrm>
          <a:prstGeom prst="rect">
            <a:avLst/>
          </a:prstGeom>
          <a:noFill/>
          <a:ln>
            <a:noFill/>
          </a:ln>
        </p:spPr>
        <p:txBody>
          <a:bodyPr wrap="square" lIns="0" tIns="0" rIns="0" bIns="0" anchor="t"/>
          <a:lstStyle/>
          <a:p>
            <a:pPr algn="ctr">
              <a:spcAft>
                <a:spcPts val="0"/>
              </a:spcAft>
              <a:buNone/>
            </a:pPr>
            <a:r>
              <a:rPr lang="en-US" sz="1200" b="1" i="1" dirty="0">
                <a:solidFill>
                  <a:srgbClr val="8E6F3E"/>
                </a:solidFill>
              </a:rPr>
              <a:t>I</a:t>
            </a:r>
            <a:r>
              <a:rPr lang="en-US" sz="1200" b="0" i="0" dirty="0">
                <a:solidFill>
                  <a:srgbClr val="555960"/>
                </a:solidFill>
              </a:rPr>
              <a:t> interpret</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buNone/>
            </a:pPr>
            <a:r>
              <a:rPr lang="en-US" sz="1700" b="0" i="1" dirty="0">
                <a:solidFill>
                  <a:srgbClr val="555960"/>
                </a:solidFill>
              </a:rPr>
              <a:t>The gap is a property of delegation, not a failure of the agent.</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Modeling answers the question delegation leaves open.</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1</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SEE THE MODELS</a:t>
            </a:r>
          </a:p>
        </p:txBody>
      </p:sp>
      <p:sp>
        <p:nvSpPr>
          <p:cNvPr id="3" name="Slide Number Placeholder 3"/>
          <p:cNvSpPr>
            <a:spLocks noGrp="1"/>
          </p:cNvSpPr>
          <p:nvPr>
            <p:ph type="sldNum" sz="quarter" idx="4"/>
          </p:nvPr>
        </p:nvSpPr>
        <p:spPr/>
        <p:txBody>
          <a:bodyPr/>
          <a:lstStyle/>
          <a:p>
            <a:fld id="{B7EB45DA-9A0D-DC49-8E02-F30A5DDC21C3}" type="slidenum">
              <a:rPr lang="en-US" smtClean="0"/>
              <a:t>6</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One territory. Five engineering questions.</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8E6F3E"/>
          </a:solidFill>
          <a:ln>
            <a:noFill/>
          </a:ln>
        </p:spPr>
        <p:txBody>
          <a:bodyPr wrap="square" lIns="27432" tIns="0" rIns="27432" bIns="68580" anchor="ctr"/>
          <a:lstStyle/>
          <a:p>
            <a:pPr algn="ctr">
              <a:buNone/>
            </a:pPr>
            <a:r>
              <a:rPr lang="en-US" sz="1800" b="1" i="0" dirty="0">
                <a:solidFill>
                  <a:srgbClr val="FFFFFF"/>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exists?</a:t>
            </a:r>
          </a:p>
        </p:txBody>
      </p:sp>
      <p:sp>
        <p:nvSpPr>
          <p:cNvPr id="3" name="Slide Number Placeholder 3"/>
          <p:cNvSpPr>
            <a:spLocks noGrp="1"/>
          </p:cNvSpPr>
          <p:nvPr>
            <p:ph type="sldNum" sz="quarter" idx="4"/>
          </p:nvPr>
        </p:nvSpPr>
        <p:spPr/>
        <p:txBody>
          <a:bodyPr/>
          <a:lstStyle/>
          <a:p>
            <a:fld id="{B7EB45DA-9A0D-DC49-8E02-F30A5DDC21C3}" type="slidenum">
              <a:rPr lang="en-US" smtClean="0"/>
              <a:t>7</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things exist, and how are they related?</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class diagram of a course-registration system: Student, Enrollment, Section, Course and Instructor, with multiplicities on the Student-Enrollment-Section chain."/>
          <p:cNvPicPr>
            <a:picLocks noChangeAspect="1"/>
          </p:cNvPicPr>
          <p:nvPr/>
        </p:nvPicPr>
        <p:blipFill>
          <a:blip r:embed="rId3"/>
          <a:stretch>
            <a:fillRect/>
          </a:stretch>
        </p:blipFill>
        <p:spPr>
          <a:xfrm>
            <a:off x="274320" y="1795827"/>
            <a:ext cx="8595360" cy="3875945"/>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Who talks to whom?</a:t>
            </a:r>
          </a:p>
        </p:txBody>
      </p:sp>
      <p:sp>
        <p:nvSpPr>
          <p:cNvPr id="3" name="Slide Number Placeholder 3"/>
          <p:cNvSpPr>
            <a:spLocks noGrp="1"/>
          </p:cNvSpPr>
          <p:nvPr>
            <p:ph type="sldNum" sz="quarter" idx="4"/>
          </p:nvPr>
        </p:nvSpPr>
        <p:spPr/>
        <p:txBody>
          <a:bodyPr/>
          <a:lstStyle/>
          <a:p>
            <a:fld id="{B7EB45DA-9A0D-DC49-8E02-F30A5DDC21C3}" type="slidenum">
              <a:rPr lang="en-US" smtClean="0"/>
              <a:t>8</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In what order do the parts of one registration happen?</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sequence diagram: a Student registers for a Section; Registration asks Section whether seats are available; an alt fragment creates an Enrollment when seats exist and waitlists the student when the section is full."/>
          <p:cNvPicPr>
            <a:picLocks noChangeAspect="1"/>
          </p:cNvPicPr>
          <p:nvPr/>
        </p:nvPicPr>
        <p:blipFill>
          <a:blip r:embed="rId3"/>
          <a:stretch>
            <a:fillRect/>
          </a:stretch>
        </p:blipFill>
        <p:spPr>
          <a:xfrm>
            <a:off x="1016212" y="1341120"/>
            <a:ext cx="7111577" cy="478536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states?</a:t>
            </a:r>
          </a:p>
        </p:txBody>
      </p:sp>
      <p:sp>
        <p:nvSpPr>
          <p:cNvPr id="3" name="Slide Number Placeholder 3"/>
          <p:cNvSpPr>
            <a:spLocks noGrp="1"/>
          </p:cNvSpPr>
          <p:nvPr>
            <p:ph type="sldNum" sz="quarter" idx="4"/>
          </p:nvPr>
        </p:nvSpPr>
        <p:spPr/>
        <p:txBody>
          <a:bodyPr/>
          <a:lstStyle/>
          <a:p>
            <a:fld id="{B7EB45DA-9A0D-DC49-8E02-F30A5DDC21C3}" type="slidenum">
              <a:rPr lang="en-US" smtClean="0"/>
              <a:t>9</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states can a course proposal occupy, and which transitions are legal?</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state machine for a course proposal: Draft to Submitted to Approved to Published, with a revise transition returning Submitted to Draft, and a final state after Published."/>
          <p:cNvPicPr>
            <a:picLocks noChangeAspect="1"/>
          </p:cNvPicPr>
          <p:nvPr/>
        </p:nvPicPr>
        <p:blipFill>
          <a:blip r:embed="rId3"/>
          <a:stretch>
            <a:fillRect/>
          </a:stretch>
        </p:blipFill>
        <p:spPr>
          <a:xfrm>
            <a:off x="274320" y="1714062"/>
            <a:ext cx="8595360" cy="4039475"/>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paths?</a:t>
            </a:r>
          </a:p>
        </p:txBody>
      </p:sp>
      <p:sp>
        <p:nvSpPr>
          <p:cNvPr id="3" name="Slide Number Placeholder 3"/>
          <p:cNvSpPr>
            <a:spLocks noGrp="1"/>
          </p:cNvSpPr>
          <p:nvPr>
            <p:ph type="sldNum" sz="quarter" idx="4"/>
          </p:nvPr>
        </p:nvSpPr>
        <p:spPr/>
        <p:txBody>
          <a:bodyPr/>
          <a:lstStyle/>
          <a:p>
            <a:fld id="{B7EB45DA-9A0D-DC49-8E02-F30A5DDC21C3}" type="slidenum">
              <a:rPr lang="en-US" smtClean="0"/>
              <a:t>10</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paths can execution take?</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activity diagram: request a section, check capacity, then a decision — create an enrollment when seats are available, add to the waitlist when they are not — merging into notify student."/>
          <p:cNvPicPr>
            <a:picLocks noChangeAspect="1"/>
          </p:cNvPicPr>
          <p:nvPr/>
        </p:nvPicPr>
        <p:blipFill>
          <a:blip r:embed="rId3"/>
          <a:stretch>
            <a:fillRect/>
          </a:stretch>
        </p:blipFill>
        <p:spPr>
          <a:xfrm>
            <a:off x="1777275" y="1341120"/>
            <a:ext cx="5589450" cy="478536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Who needs what?</a:t>
            </a:r>
          </a:p>
        </p:txBody>
      </p:sp>
      <p:sp>
        <p:nvSpPr>
          <p:cNvPr id="3" name="Slide Number Placeholder 3"/>
          <p:cNvSpPr>
            <a:spLocks noGrp="1"/>
          </p:cNvSpPr>
          <p:nvPr>
            <p:ph type="sldNum" sz="quarter" idx="4"/>
          </p:nvPr>
        </p:nvSpPr>
        <p:spPr/>
        <p:txBody>
          <a:bodyPr/>
          <a:lstStyle/>
          <a:p>
            <a:fld id="{B7EB45DA-9A0D-DC49-8E02-F30A5DDC21C3}" type="slidenum">
              <a:rPr lang="en-US" smtClean="0"/>
              <a:t>11</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does each actor want from the system?</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use-case diagram: Student, Instructor and Registrar actors wired to the use cases drop a course, register for a section, view roster, and approve a course proposal, inside a course-registration system boundary."/>
          <p:cNvPicPr>
            <a:picLocks noChangeAspect="1"/>
          </p:cNvPicPr>
          <p:nvPr/>
        </p:nvPicPr>
        <p:blipFill>
          <a:blip r:embed="rId3"/>
          <a:stretch>
            <a:fillRect/>
          </a:stretch>
        </p:blipFill>
        <p:spPr>
          <a:xfrm>
            <a:off x="1533226" y="1341120"/>
            <a:ext cx="6077549" cy="478536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Same territory, different questions</a:t>
            </a:r>
          </a:p>
        </p:txBody>
      </p:sp>
      <p:sp>
        <p:nvSpPr>
          <p:cNvPr id="3" name="Slide Number Placeholder 3"/>
          <p:cNvSpPr>
            <a:spLocks noGrp="1"/>
          </p:cNvSpPr>
          <p:nvPr>
            <p:ph type="sldNum" sz="quarter" idx="4"/>
          </p:nvPr>
        </p:nvSpPr>
        <p:spPr/>
        <p:txBody>
          <a:bodyPr/>
          <a:lstStyle/>
          <a:p>
            <a:fld id="{B7EB45DA-9A0D-DC49-8E02-F30A5DDC21C3}" type="slidenum">
              <a:rPr lang="en-US" smtClean="0"/>
              <a:t>12</a:t>
            </a:fld>
            <a:endParaRPr lang="en-US"/>
          </a:p>
        </p:txBody>
      </p:sp>
      <p:pic>
        <p:nvPicPr>
          <p:cNvPr id="60" name="ThumbFigure" descr="Five views of one course-registration system side by side, each reduced to a readable fragment and captioned with the engineering question it answers: what exists, who talks to whom, what states, what paths, who needs what. The first view shows Course, Section and Enrollment as class boxes with an attribute compartment each; the last shows a Student wanting to drop a course, drawn in the same accent the full use-case diagram gives that goal. Beneath each view a pill names what that view preserves: structure, order, lifecycle, branching, intent."/>
          <p:cNvPicPr>
            <a:picLocks noChangeAspect="1"/>
          </p:cNvPicPr>
          <p:nvPr/>
        </p:nvPicPr>
        <p:blipFill>
          <a:blip r:embed="rId3"/>
          <a:stretch>
            <a:fillRect/>
          </a:stretch>
        </p:blipFill>
        <p:spPr>
          <a:xfrm>
            <a:off x="274320" y="1427453"/>
            <a:ext cx="8595360" cy="4338404"/>
          </a:xfrm>
          <a:prstGeom prst="rect">
            <a:avLst/>
          </a:prstGeom>
        </p:spPr>
      </p:pic>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Different questions preserve different distinctions.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Modeling is purposeful reduction</a:t>
            </a:r>
          </a:p>
        </p:txBody>
      </p:sp>
      <p:sp>
        <p:nvSpPr>
          <p:cNvPr id="3" name="Slide Number Placeholder 3"/>
          <p:cNvSpPr>
            <a:spLocks noGrp="1"/>
          </p:cNvSpPr>
          <p:nvPr>
            <p:ph type="sldNum" sz="quarter" idx="4"/>
          </p:nvPr>
        </p:nvSpPr>
        <p:spPr/>
        <p:txBody>
          <a:bodyPr/>
          <a:lstStyle/>
          <a:p>
            <a:fld id="{B7EB45DA-9A0D-DC49-8E02-F30A5DDC21C3}" type="slidenum">
              <a:rPr lang="en-US" smtClean="0"/>
              <a:t>26</a:t>
            </a:fld>
            <a:endParaRPr lang="en-US"/>
          </a:p>
        </p:txBody>
      </p:sp>
      <p:sp>
        <p:nvSpPr>
          <p:cNvPr id="6" name="Kicker"/>
          <p:cNvSpPr txBox="1"/>
          <p:nvPr/>
        </p:nvSpPr>
        <p:spPr>
          <a:xfrm>
            <a:off x="365760" y="109728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THE PREMISE</a:t>
            </a:r>
          </a:p>
        </p:txBody>
      </p:sp>
      <p:sp>
        <p:nvSpPr>
          <p:cNvPr id="7" name="KickerBox"/>
          <p:cNvSpPr/>
          <p:nvPr/>
        </p:nvSpPr>
        <p:spPr>
          <a:xfrm>
            <a:off x="365760" y="1554480"/>
            <a:ext cx="8412480" cy="1920240"/>
          </a:xfrm>
          <a:prstGeom prst="rect">
            <a:avLst/>
          </a:prstGeom>
          <a:solidFill>
            <a:srgbClr val="F5F1E8"/>
          </a:solidFill>
          <a:ln w="12700">
            <a:solidFill>
              <a:srgbClr val="C9B991"/>
            </a:solidFill>
          </a:ln>
        </p:spPr>
        <p:txBody>
          <a:bodyPr wrap="square" lIns="128016" tIns="91440" rIns="118872" bIns="91440" rtlCol="0" anchor="ctr"/>
          <a:lstStyle/>
          <a:p>
            <a:pPr algn="ctr">
              <a:spcAft>
                <a:spcPts val="1200"/>
              </a:spcAft>
              <a:buNone/>
            </a:pPr>
            <a:r>
              <a:rPr lang="en-US" sz="2000" b="0" dirty="0">
                <a:solidFill>
                  <a:srgbClr val="5C4826"/>
                </a:solidFill>
              </a:rPr>
              <a:t>The objective is not another copy of the system.</a:t>
            </a:r>
          </a:p>
          <a:p>
            <a:pPr algn="ctr">
              <a:spcAft>
                <a:spcPts val="1200"/>
              </a:spcAft>
              <a:buNone/>
            </a:pPr>
            <a:r>
              <a:rPr lang="en-US" sz="2000" b="1" dirty="0">
                <a:solidFill>
                  <a:srgbClr val="5C4826"/>
                </a:solidFill>
              </a:rPr>
              <a:t>A model is a representation in which some consequential question becomes cheap to answer.</a:t>
            </a:r>
          </a:p>
          <a:p>
            <a:pPr algn="ctr">
              <a:spcAft>
                <a:spcPts val="0"/>
              </a:spcAft>
              <a:buNone/>
            </a:pPr>
            <a:r>
              <a:rPr lang="en-US" sz="2000" b="0" dirty="0">
                <a:solidFill>
                  <a:srgbClr val="5C4826"/>
                </a:solidFill>
              </a:rPr>
              <a:t>It is useful because it leaves things out, and because it makes explicit what must remain.</a:t>
            </a:r>
          </a:p>
        </p:txBody>
      </p:sp>
      <p:sp>
        <p:nvSpPr>
          <p:cNvPr id="10" name="N0"/>
          <p:cNvSpPr/>
          <p:nvPr/>
        </p:nvSpPr>
        <p:spPr>
          <a:xfrm>
            <a:off x="297180" y="3749040"/>
            <a:ext cx="1965960" cy="9144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ENGINEERING QUESTION</a:t>
            </a:r>
          </a:p>
        </p:txBody>
      </p:sp>
      <p:sp>
        <p:nvSpPr>
          <p:cNvPr id="30" name="Q0"/>
          <p:cNvSpPr txBox="1"/>
          <p:nvPr/>
        </p:nvSpPr>
        <p:spPr>
          <a:xfrm>
            <a:off x="25146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do we need to know?</a:t>
            </a:r>
          </a:p>
        </p:txBody>
      </p:sp>
      <p:sp>
        <p:nvSpPr>
          <p:cNvPr id="11" name="N1"/>
          <p:cNvSpPr/>
          <p:nvPr/>
        </p:nvSpPr>
        <p:spPr>
          <a:xfrm>
            <a:off x="249174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MODEL</a:t>
            </a:r>
          </a:p>
        </p:txBody>
      </p:sp>
      <p:sp>
        <p:nvSpPr>
          <p:cNvPr id="31" name="Q1"/>
          <p:cNvSpPr txBox="1"/>
          <p:nvPr/>
        </p:nvSpPr>
        <p:spPr>
          <a:xfrm>
            <a:off x="244602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reduction makes it tractable?</a:t>
            </a:r>
          </a:p>
        </p:txBody>
      </p:sp>
      <p:sp>
        <p:nvSpPr>
          <p:cNvPr id="12" name="N2"/>
          <p:cNvSpPr/>
          <p:nvPr/>
        </p:nvSpPr>
        <p:spPr>
          <a:xfrm>
            <a:off x="468630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PROPERTY</a:t>
            </a:r>
          </a:p>
        </p:txBody>
      </p:sp>
      <p:sp>
        <p:nvSpPr>
          <p:cNvPr id="32" name="Q2"/>
          <p:cNvSpPr txBox="1"/>
          <p:nvPr/>
        </p:nvSpPr>
        <p:spPr>
          <a:xfrm>
            <a:off x="464058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claim becomes expressible?</a:t>
            </a:r>
          </a:p>
        </p:txBody>
      </p:sp>
      <p:sp>
        <p:nvSpPr>
          <p:cNvPr id="13" name="N3"/>
          <p:cNvSpPr/>
          <p:nvPr/>
        </p:nvSpPr>
        <p:spPr>
          <a:xfrm>
            <a:off x="688086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QUALITY</a:t>
            </a:r>
          </a:p>
        </p:txBody>
      </p:sp>
      <p:sp>
        <p:nvSpPr>
          <p:cNvPr id="33" name="Q3"/>
          <p:cNvSpPr txBox="1"/>
          <p:nvPr/>
        </p:nvSpPr>
        <p:spPr>
          <a:xfrm>
            <a:off x="683514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Is the reduction adequate, and its interpretation likely?</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Ask all four, every time — they return at every section break.</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3</a:t>
            </a:r>
          </a:p>
        </p:txBody>
      </p:sp>
      <p:sp>
        <p:nvSpPr>
          <p:cNvPr id="2" name="Title 1"/>
          <p:cNvSpPr>
            <a:spLocks noGrp="1"/>
          </p:cNvSpPr>
          <p:nvPr>
            <p:ph type="title"/>
          </p:nvPr>
        </p:nvSpPr>
        <p:spPr>
          <a:xfrm>
            <a:off x="685800" y="1700784"/>
            <a:ext cx="7772400" cy="1005840"/>
          </a:xfrm>
        </p:spPr>
        <p:txBody>
          <a:bodyPr>
            <a:normAutofit fontScale="90000"/>
          </a:bodyPr>
          <a:lstStyle/>
          <a:p>
            <a:pPr algn="ctr">
              <a:buNone/>
              <a:defRPr b="0"/>
            </a:pPr>
            <a:r>
              <a:rPr lang="en-US" sz="4000" b="0" i="0" dirty="0">
                <a:solidFill>
                  <a:srgbClr val="000000"/>
                </a:solidFill>
              </a:rPr>
              <a:t>DESIGNING THE MODEL</a:t>
            </a:r>
          </a:p>
        </p:txBody>
      </p:sp>
      <p:sp>
        <p:nvSpPr>
          <p:cNvPr id="3" name="Slide Number Placeholder 3"/>
          <p:cNvSpPr>
            <a:spLocks noGrp="1"/>
          </p:cNvSpPr>
          <p:nvPr>
            <p:ph type="sldNum" sz="quarter" idx="4"/>
          </p:nvPr>
        </p:nvSpPr>
        <p:spPr/>
        <p:txBody>
          <a:bodyPr/>
          <a:lstStyle/>
          <a:p>
            <a:fld id="{B7EB45DA-9A0D-DC49-8E02-F30A5DDC21C3}" type="slidenum">
              <a:rPr lang="en-US" smtClean="0"/>
              <a:t>18</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What must remain? What may remain free?</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Top-down: the obligation decides what must remain</a:t>
            </a:r>
          </a:p>
        </p:txBody>
      </p:sp>
      <p:sp>
        <p:nvSpPr>
          <p:cNvPr id="3" name="Slide Number Placeholder 3"/>
          <p:cNvSpPr>
            <a:spLocks noGrp="1"/>
          </p:cNvSpPr>
          <p:nvPr>
            <p:ph type="sldNum" sz="quarter" idx="4"/>
          </p:nvPr>
        </p:nvSpPr>
        <p:spPr/>
        <p:txBody>
          <a:bodyPr/>
          <a:lstStyle/>
          <a:p>
            <a:fld id="{B7EB45DA-9A0D-DC49-8E02-F30A5DDC21C3}" type="slidenum">
              <a:rPr lang="en-US" smtClean="0"/>
              <a:t>21</a:t>
            </a:fld>
            <a:endParaRPr lang="en-US"/>
          </a:p>
        </p:txBody>
      </p:sp>
      <p:sp>
        <p:nvSpPr>
          <p:cNvPr id="100" name="HeadL"/>
          <p:cNvSpPr txBox="1"/>
          <p:nvPr/>
        </p:nvSpPr>
        <p:spPr>
          <a:xfrm>
            <a:off x="685800" y="1188720"/>
            <a:ext cx="4983480" cy="251460"/>
          </a:xfrm>
          <a:prstGeom prst="rect">
            <a:avLst/>
          </a:prstGeom>
          <a:noFill/>
          <a:ln>
            <a:noFill/>
          </a:ln>
        </p:spPr>
        <p:txBody>
          <a:bodyPr wrap="square" lIns="0" tIns="0" rIns="0" bIns="0" anchor="t"/>
          <a:lstStyle/>
          <a:p>
            <a:pPr algn="l">
              <a:spcAft>
                <a:spcPts val="0"/>
              </a:spcAft>
              <a:buNone/>
            </a:pPr>
            <a:r>
              <a:rPr lang="en-US" sz="1300" b="1" i="0" dirty="0">
                <a:solidFill>
                  <a:srgbClr val="8E6F3E"/>
                </a:solidFill>
              </a:rPr>
              <a:t>THE PATTERN</a:t>
            </a:r>
          </a:p>
        </p:txBody>
      </p:sp>
      <p:sp>
        <p:nvSpPr>
          <p:cNvPr id="101" name="HeadR"/>
          <p:cNvSpPr txBox="1"/>
          <p:nvPr/>
        </p:nvSpPr>
        <p:spPr>
          <a:xfrm>
            <a:off x="5852160" y="1188720"/>
            <a:ext cx="2606040" cy="251460"/>
          </a:xfrm>
          <a:prstGeom prst="rect">
            <a:avLst/>
          </a:prstGeom>
          <a:noFill/>
          <a:ln>
            <a:noFill/>
          </a:ln>
        </p:spPr>
        <p:txBody>
          <a:bodyPr wrap="square" lIns="0" tIns="0" rIns="0" bIns="0" anchor="t"/>
          <a:lstStyle/>
          <a:p>
            <a:pPr algn="l">
              <a:spcAft>
                <a:spcPts val="0"/>
              </a:spcAft>
              <a:buNone/>
            </a:pPr>
            <a:r>
              <a:rPr lang="en-US" sz="1300" b="1" i="0" dirty="0">
                <a:solidFill>
                  <a:srgbClr val="8E6F3E"/>
                </a:solidFill>
              </a:rPr>
              <a:t>THE BATTERY</a:t>
            </a:r>
          </a:p>
        </p:txBody>
      </p:sp>
      <p:sp>
        <p:nvSpPr>
          <p:cNvPr id="105" name="Rail"/>
          <p:cNvSpPr/>
          <p:nvPr/>
        </p:nvSpPr>
        <p:spPr>
          <a:xfrm>
            <a:off x="5749290" y="1188720"/>
            <a:ext cx="22860" cy="3726180"/>
          </a:xfrm>
          <a:prstGeom prst="rect">
            <a:avLst/>
          </a:prstGeom>
          <a:solidFill>
            <a:srgbClr val="C9B991"/>
          </a:solidFill>
          <a:ln>
            <a:noFill/>
          </a:ln>
        </p:spPr>
        <p:txBody>
          <a:bodyPr wrap="square" lIns="27432" tIns="22860" rIns="27432" bIns="22860" anchor="ctr"/>
          <a:lstStyle/>
          <a:p>
            <a:pPr algn="l">
              <a:spcAft>
                <a:spcPts val="0"/>
              </a:spcAft>
              <a:buNone/>
            </a:pPr>
            <a:endParaRPr lang="en-US"/>
          </a:p>
        </p:txBody>
      </p:sp>
      <p:sp>
        <p:nvSpPr>
          <p:cNvPr id="110" name="B110"/>
          <p:cNvSpPr/>
          <p:nvPr/>
        </p:nvSpPr>
        <p:spPr>
          <a:xfrm>
            <a:off x="685800" y="1508760"/>
            <a:ext cx="4983480" cy="731520"/>
          </a:xfrm>
          <a:prstGeom prst="rect">
            <a:avLst/>
          </a:prstGeom>
          <a:solidFill>
            <a:srgbClr val="5C4826"/>
          </a:solidFill>
          <a:ln>
            <a:noFill/>
          </a:ln>
        </p:spPr>
        <p:txBody>
          <a:bodyPr wrap="square" lIns="27432" tIns="22860" rIns="27432" bIns="22860" anchor="ctr"/>
          <a:lstStyle/>
          <a:p>
            <a:pPr algn="ctr">
              <a:spcAft>
                <a:spcPts val="300"/>
              </a:spcAft>
              <a:buNone/>
            </a:pPr>
            <a:r>
              <a:rPr lang="en-US" sz="1800" b="1" i="0" dirty="0">
                <a:solidFill>
                  <a:srgbClr val="FFFFFF"/>
                </a:solidFill>
              </a:rPr>
              <a:t>ENGINEERING OBLIGATION</a:t>
            </a:r>
          </a:p>
          <a:p>
            <a:pPr algn="ctr">
              <a:spcAft>
                <a:spcPts val="0"/>
              </a:spcAft>
              <a:buNone/>
            </a:pPr>
            <a:r>
              <a:rPr lang="en-US" sz="1300" b="0" i="0" dirty="0">
                <a:solidFill>
                  <a:srgbClr val="FFFFFF"/>
                </a:solidFill>
              </a:rPr>
              <a:t>what the system must guarantee</a:t>
            </a:r>
          </a:p>
        </p:txBody>
      </p:sp>
      <p:sp>
        <p:nvSpPr>
          <p:cNvPr id="111" name="R111"/>
          <p:cNvSpPr/>
          <p:nvPr/>
        </p:nvSpPr>
        <p:spPr>
          <a:xfrm>
            <a:off x="5852160" y="1508760"/>
            <a:ext cx="2606040" cy="7315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400" b="1" i="0" dirty="0">
                <a:solidFill>
                  <a:srgbClr val="5C4826"/>
                </a:solidFill>
              </a:rPr>
              <a:t>≥ 8 h above V_min</a:t>
            </a:r>
          </a:p>
        </p:txBody>
      </p:sp>
      <p:sp>
        <p:nvSpPr>
          <p:cNvPr id="112" name="B112"/>
          <p:cNvSpPr/>
          <p:nvPr/>
        </p:nvSpPr>
        <p:spPr>
          <a:xfrm>
            <a:off x="685800" y="2400300"/>
            <a:ext cx="4983480" cy="731520"/>
          </a:xfrm>
          <a:prstGeom prst="rect">
            <a:avLst/>
          </a:prstGeom>
          <a:solidFill>
            <a:srgbClr val="555960"/>
          </a:solidFill>
          <a:ln>
            <a:noFill/>
          </a:ln>
        </p:spPr>
        <p:txBody>
          <a:bodyPr wrap="square" lIns="27432" tIns="22860" rIns="27432" bIns="22860" anchor="ctr"/>
          <a:lstStyle/>
          <a:p>
            <a:pPr algn="ctr">
              <a:spcAft>
                <a:spcPts val="300"/>
              </a:spcAft>
              <a:buNone/>
            </a:pPr>
            <a:r>
              <a:rPr lang="en-US" sz="1800" b="1" i="0" dirty="0">
                <a:solidFill>
                  <a:srgbClr val="FFFFFF"/>
                </a:solidFill>
              </a:rPr>
              <a:t>REQUIRED DISTINCTIONS</a:t>
            </a:r>
          </a:p>
          <a:p>
            <a:pPr algn="ctr">
              <a:spcAft>
                <a:spcPts val="0"/>
              </a:spcAft>
              <a:buNone/>
            </a:pPr>
            <a:r>
              <a:rPr lang="en-US" sz="1300" b="0" i="0" dirty="0">
                <a:solidFill>
                  <a:srgbClr val="FFFFFF"/>
                </a:solidFill>
              </a:rPr>
              <a:t>what the model must preserve</a:t>
            </a:r>
          </a:p>
        </p:txBody>
      </p:sp>
      <p:sp>
        <p:nvSpPr>
          <p:cNvPr id="113" name="R113"/>
          <p:cNvSpPr/>
          <p:nvPr/>
        </p:nvSpPr>
        <p:spPr>
          <a:xfrm>
            <a:off x="5852160" y="2400300"/>
            <a:ext cx="2606040" cy="7315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200" b="0" i="0" dirty="0">
                <a:solidFill>
                  <a:srgbClr val="5C4826"/>
                </a:solidFill>
              </a:rPr>
              <a:t>operating mode · power · duration · usable energy</a:t>
            </a:r>
          </a:p>
        </p:txBody>
      </p:sp>
      <p:sp>
        <p:nvSpPr>
          <p:cNvPr id="114" name="B114"/>
          <p:cNvSpPr/>
          <p:nvPr/>
        </p:nvSpPr>
        <p:spPr>
          <a:xfrm>
            <a:off x="685800" y="3291840"/>
            <a:ext cx="4983480" cy="731520"/>
          </a:xfrm>
          <a:prstGeom prst="rect">
            <a:avLst/>
          </a:prstGeom>
          <a:solidFill>
            <a:srgbClr val="8E6F3E"/>
          </a:solidFill>
          <a:ln>
            <a:noFill/>
          </a:ln>
        </p:spPr>
        <p:txBody>
          <a:bodyPr wrap="square" lIns="27432" tIns="22860" rIns="27432" bIns="22860" anchor="ctr"/>
          <a:lstStyle/>
          <a:p>
            <a:pPr algn="ctr">
              <a:spcAft>
                <a:spcPts val="300"/>
              </a:spcAft>
              <a:buNone/>
            </a:pPr>
            <a:r>
              <a:rPr lang="en-US" sz="1800" b="1" i="0" dirty="0">
                <a:solidFill>
                  <a:srgbClr val="FFFFFF"/>
                </a:solidFill>
              </a:rPr>
              <a:t>MODEL</a:t>
            </a:r>
          </a:p>
          <a:p>
            <a:pPr algn="ctr">
              <a:spcAft>
                <a:spcPts val="0"/>
              </a:spcAft>
              <a:buNone/>
            </a:pPr>
            <a:r>
              <a:rPr lang="en-US" sz="1300" b="0" i="0" dirty="0">
                <a:solidFill>
                  <a:srgbClr val="FFFFFF"/>
                </a:solidFill>
              </a:rPr>
              <a:t>the smallest statement that answers the question</a:t>
            </a:r>
          </a:p>
        </p:txBody>
      </p:sp>
      <p:sp>
        <p:nvSpPr>
          <p:cNvPr id="115" name="R115"/>
          <p:cNvSpPr/>
          <p:nvPr/>
        </p:nvSpPr>
        <p:spPr>
          <a:xfrm>
            <a:off x="5852160" y="3291840"/>
            <a:ext cx="2606040" cy="7315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300" b="1" i="0" dirty="0">
                <a:solidFill>
                  <a:srgbClr val="5C4826"/>
                </a:solidFill>
              </a:rPr>
              <a:t>Σ P(m)·t(m)  ≤  E_usable</a:t>
            </a:r>
          </a:p>
        </p:txBody>
      </p:sp>
      <p:sp>
        <p:nvSpPr>
          <p:cNvPr id="116" name="B116"/>
          <p:cNvSpPr/>
          <p:nvPr/>
        </p:nvSpPr>
        <p:spPr>
          <a:xfrm>
            <a:off x="685800" y="4183380"/>
            <a:ext cx="4983480" cy="731520"/>
          </a:xfrm>
          <a:prstGeom prst="rect">
            <a:avLst/>
          </a:prstGeom>
          <a:solidFill>
            <a:srgbClr val="C9B991"/>
          </a:solidFill>
          <a:ln>
            <a:noFill/>
          </a:ln>
        </p:spPr>
        <p:txBody>
          <a:bodyPr wrap="square" lIns="27432" tIns="22860" rIns="27432" bIns="22860" anchor="ctr"/>
          <a:lstStyle/>
          <a:p>
            <a:pPr algn="ctr">
              <a:spcAft>
                <a:spcPts val="300"/>
              </a:spcAft>
              <a:buNone/>
            </a:pPr>
            <a:r>
              <a:rPr lang="en-US" sz="1800" b="1" i="0" dirty="0">
                <a:solidFill>
                  <a:srgbClr val="5C4826"/>
                </a:solidFill>
              </a:rPr>
              <a:t>LEGITIMATE FREEDOM</a:t>
            </a:r>
          </a:p>
          <a:p>
            <a:pPr algn="ctr">
              <a:spcAft>
                <a:spcPts val="0"/>
              </a:spcAft>
              <a:buNone/>
            </a:pPr>
            <a:r>
              <a:rPr lang="en-US" sz="1300" b="0" i="0" dirty="0">
                <a:solidFill>
                  <a:srgbClr val="353638"/>
                </a:solidFill>
              </a:rPr>
              <a:t>everything else: the agent’s degrees of freedom</a:t>
            </a:r>
          </a:p>
        </p:txBody>
      </p:sp>
      <p:sp>
        <p:nvSpPr>
          <p:cNvPr id="117" name="R117"/>
          <p:cNvSpPr/>
          <p:nvPr/>
        </p:nvSpPr>
        <p:spPr>
          <a:xfrm>
            <a:off x="5852160" y="4183380"/>
            <a:ext cx="2606040" cy="7315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200" b="0" i="0" dirty="0">
                <a:solidFill>
                  <a:srgbClr val="5C4826"/>
                </a:solidFill>
              </a:rPr>
              <a:t>packet format · task names · PWM internals · display contents</a:t>
            </a:r>
          </a:p>
        </p:txBody>
      </p:sp>
      <p:cxnSp>
        <p:nvCxnSpPr>
          <p:cNvPr id="120" name="A0"/>
          <p:cNvCxnSpPr/>
          <p:nvPr/>
        </p:nvCxnSpPr>
        <p:spPr>
          <a:xfrm>
            <a:off x="3177540" y="2240280"/>
            <a:ext cx="0" cy="160020"/>
          </a:xfrm>
          <a:prstGeom prst="straightConnector1">
            <a:avLst/>
          </a:prstGeom>
          <a:ln w="28575">
            <a:solidFill>
              <a:srgbClr val="8E6F3E"/>
            </a:solidFill>
            <a:tailEnd type="triangle" w="med" len="med"/>
          </a:ln>
        </p:spPr>
      </p:cxnSp>
      <p:cxnSp>
        <p:nvCxnSpPr>
          <p:cNvPr id="121" name="A1"/>
          <p:cNvCxnSpPr/>
          <p:nvPr/>
        </p:nvCxnSpPr>
        <p:spPr>
          <a:xfrm>
            <a:off x="3177540" y="3131820"/>
            <a:ext cx="0" cy="160020"/>
          </a:xfrm>
          <a:prstGeom prst="straightConnector1">
            <a:avLst/>
          </a:prstGeom>
          <a:ln w="28575">
            <a:solidFill>
              <a:srgbClr val="8E6F3E"/>
            </a:solidFill>
            <a:tailEnd type="triangle" w="med" len="med"/>
          </a:ln>
        </p:spPr>
      </p:cxnSp>
      <p:cxnSp>
        <p:nvCxnSpPr>
          <p:cNvPr id="122" name="A2"/>
          <p:cNvCxnSpPr/>
          <p:nvPr/>
        </p:nvCxnSpPr>
        <p:spPr>
          <a:xfrm>
            <a:off x="3177540" y="4023360"/>
            <a:ext cx="0" cy="160020"/>
          </a:xfrm>
          <a:prstGeom prst="straightConnector1">
            <a:avLst/>
          </a:prstGeom>
          <a:ln w="28575">
            <a:solidFill>
              <a:srgbClr val="8E6F3E"/>
            </a:solidFill>
            <a:tailEnd type="triangle" w="med" len="med"/>
          </a:ln>
        </p:spPr>
      </p:cxnSp>
      <p:sp>
        <p:nvSpPr>
          <p:cNvPr id="130" name="Ital"/>
          <p:cNvSpPr txBox="1"/>
          <p:nvPr/>
        </p:nvSpPr>
        <p:spPr>
          <a:xfrm>
            <a:off x="685800" y="5120640"/>
            <a:ext cx="7772400" cy="36576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Degrees of freedom are known freedom, not ignorance.</a:t>
            </a:r>
          </a:p>
        </p:txBody>
      </p:sp>
      <p:sp>
        <p:nvSpPr>
          <p:cNvPr id="131"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Ask of every model: what must it preserve?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0"/>
                                        </p:tgtEl>
                                        <p:attrNameLst>
                                          <p:attrName>style.visibility</p:attrName>
                                        </p:attrNameLst>
                                      </p:cBhvr>
                                      <p:to>
                                        <p:strVal val="visible"/>
                                      </p:to>
                                    </p:set>
                                    <p:animEffect transition="in" filter="fade">
                                      <p:cBhvr>
                                        <p:cTn id="7" dur="500"/>
                                        <p:tgtEl>
                                          <p:spTgt spid="120"/>
                                        </p:tgtEl>
                                      </p:cBhvr>
                                    </p:animEffect>
                                  </p:childTnLst>
                                </p:cTn>
                              </p:par>
                              <p:par>
                                <p:cTn id="8" presetID="10" presetClass="entr" presetSubtype="0" fill="hold" nodeType="withEffect">
                                  <p:stCondLst>
                                    <p:cond delay="0"/>
                                  </p:stCondLst>
                                  <p:childTnLst>
                                    <p:set>
                                      <p:cBhvr>
                                        <p:cTn id="9" dur="1" fill="hold">
                                          <p:stCondLst>
                                            <p:cond delay="0"/>
                                          </p:stCondLst>
                                        </p:cTn>
                                        <p:tgtEl>
                                          <p:spTgt spid="112"/>
                                        </p:tgtEl>
                                        <p:attrNameLst>
                                          <p:attrName>style.visibility</p:attrName>
                                        </p:attrNameLst>
                                      </p:cBhvr>
                                      <p:to>
                                        <p:strVal val="visible"/>
                                      </p:to>
                                    </p:set>
                                    <p:animEffect transition="in" filter="fade">
                                      <p:cBhvr>
                                        <p:cTn id="10" dur="500"/>
                                        <p:tgtEl>
                                          <p:spTgt spid="112"/>
                                        </p:tgtEl>
                                      </p:cBhvr>
                                    </p:animEffect>
                                  </p:childTnLst>
                                </p:cTn>
                              </p:par>
                              <p:par>
                                <p:cTn id="11" presetID="10" presetClass="entr" presetSubtype="0" fill="hold" nodeType="withEffect">
                                  <p:stCondLst>
                                    <p:cond delay="0"/>
                                  </p:stCondLst>
                                  <p:childTnLst>
                                    <p:set>
                                      <p:cBhvr>
                                        <p:cTn id="12" dur="1" fill="hold">
                                          <p:stCondLst>
                                            <p:cond delay="0"/>
                                          </p:stCondLst>
                                        </p:cTn>
                                        <p:tgtEl>
                                          <p:spTgt spid="113"/>
                                        </p:tgtEl>
                                        <p:attrNameLst>
                                          <p:attrName>style.visibility</p:attrName>
                                        </p:attrNameLst>
                                      </p:cBhvr>
                                      <p:to>
                                        <p:strVal val="visible"/>
                                      </p:to>
                                    </p:set>
                                    <p:animEffect transition="in" filter="fade">
                                      <p:cBhvr>
                                        <p:cTn id="13" dur="500"/>
                                        <p:tgtEl>
                                          <p:spTgt spid="113"/>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21"/>
                                        </p:tgtEl>
                                        <p:attrNameLst>
                                          <p:attrName>style.visibility</p:attrName>
                                        </p:attrNameLst>
                                      </p:cBhvr>
                                      <p:to>
                                        <p:strVal val="visible"/>
                                      </p:to>
                                    </p:set>
                                    <p:animEffect transition="in" filter="fade">
                                      <p:cBhvr>
                                        <p:cTn id="18" dur="500"/>
                                        <p:tgtEl>
                                          <p:spTgt spid="121"/>
                                        </p:tgtEl>
                                      </p:cBhvr>
                                    </p:animEffect>
                                  </p:childTnLst>
                                </p:cTn>
                              </p:par>
                              <p:par>
                                <p:cTn id="19" presetID="10" presetClass="entr" presetSubtype="0" fill="hold" nodeType="withEffect">
                                  <p:stCondLst>
                                    <p:cond delay="0"/>
                                  </p:stCondLst>
                                  <p:childTnLst>
                                    <p:set>
                                      <p:cBhvr>
                                        <p:cTn id="20" dur="1" fill="hold">
                                          <p:stCondLst>
                                            <p:cond delay="0"/>
                                          </p:stCondLst>
                                        </p:cTn>
                                        <p:tgtEl>
                                          <p:spTgt spid="114"/>
                                        </p:tgtEl>
                                        <p:attrNameLst>
                                          <p:attrName>style.visibility</p:attrName>
                                        </p:attrNameLst>
                                      </p:cBhvr>
                                      <p:to>
                                        <p:strVal val="visible"/>
                                      </p:to>
                                    </p:set>
                                    <p:animEffect transition="in" filter="fade">
                                      <p:cBhvr>
                                        <p:cTn id="21" dur="500"/>
                                        <p:tgtEl>
                                          <p:spTgt spid="114"/>
                                        </p:tgtEl>
                                      </p:cBhvr>
                                    </p:animEffect>
                                  </p:childTnLst>
                                </p:cTn>
                              </p:par>
                              <p:par>
                                <p:cTn id="22" presetID="10" presetClass="entr" presetSubtype="0" fill="hold" nodeType="withEffect">
                                  <p:stCondLst>
                                    <p:cond delay="0"/>
                                  </p:stCondLst>
                                  <p:childTnLst>
                                    <p:set>
                                      <p:cBhvr>
                                        <p:cTn id="23" dur="1" fill="hold">
                                          <p:stCondLst>
                                            <p:cond delay="0"/>
                                          </p:stCondLst>
                                        </p:cTn>
                                        <p:tgtEl>
                                          <p:spTgt spid="115"/>
                                        </p:tgtEl>
                                        <p:attrNameLst>
                                          <p:attrName>style.visibility</p:attrName>
                                        </p:attrNameLst>
                                      </p:cBhvr>
                                      <p:to>
                                        <p:strVal val="visible"/>
                                      </p:to>
                                    </p:set>
                                    <p:animEffect transition="in" filter="fade">
                                      <p:cBhvr>
                                        <p:cTn id="24" dur="500"/>
                                        <p:tgtEl>
                                          <p:spTgt spid="115"/>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22"/>
                                        </p:tgtEl>
                                        <p:attrNameLst>
                                          <p:attrName>style.visibility</p:attrName>
                                        </p:attrNameLst>
                                      </p:cBhvr>
                                      <p:to>
                                        <p:strVal val="visible"/>
                                      </p:to>
                                    </p:set>
                                    <p:animEffect transition="in" filter="fade">
                                      <p:cBhvr>
                                        <p:cTn id="29" dur="500"/>
                                        <p:tgtEl>
                                          <p:spTgt spid="122"/>
                                        </p:tgtEl>
                                      </p:cBhvr>
                                    </p:animEffect>
                                  </p:childTnLst>
                                </p:cTn>
                              </p:par>
                              <p:par>
                                <p:cTn id="30" presetID="10" presetClass="entr" presetSubtype="0" fill="hold" nodeType="withEffect">
                                  <p:stCondLst>
                                    <p:cond delay="0"/>
                                  </p:stCondLst>
                                  <p:childTnLst>
                                    <p:set>
                                      <p:cBhvr>
                                        <p:cTn id="31" dur="1" fill="hold">
                                          <p:stCondLst>
                                            <p:cond delay="0"/>
                                          </p:stCondLst>
                                        </p:cTn>
                                        <p:tgtEl>
                                          <p:spTgt spid="116"/>
                                        </p:tgtEl>
                                        <p:attrNameLst>
                                          <p:attrName>style.visibility</p:attrName>
                                        </p:attrNameLst>
                                      </p:cBhvr>
                                      <p:to>
                                        <p:strVal val="visible"/>
                                      </p:to>
                                    </p:set>
                                    <p:animEffect transition="in" filter="fade">
                                      <p:cBhvr>
                                        <p:cTn id="32" dur="500"/>
                                        <p:tgtEl>
                                          <p:spTgt spid="116"/>
                                        </p:tgtEl>
                                      </p:cBhvr>
                                    </p:animEffect>
                                  </p:childTnLst>
                                </p:cTn>
                              </p:par>
                              <p:par>
                                <p:cTn id="33" presetID="10" presetClass="entr" presetSubtype="0" fill="hold" nodeType="withEffect">
                                  <p:stCondLst>
                                    <p:cond delay="0"/>
                                  </p:stCondLst>
                                  <p:childTnLst>
                                    <p:set>
                                      <p:cBhvr>
                                        <p:cTn id="34" dur="1" fill="hold">
                                          <p:stCondLst>
                                            <p:cond delay="0"/>
                                          </p:stCondLst>
                                        </p:cTn>
                                        <p:tgtEl>
                                          <p:spTgt spid="117"/>
                                        </p:tgtEl>
                                        <p:attrNameLst>
                                          <p:attrName>style.visibility</p:attrName>
                                        </p:attrNameLst>
                                      </p:cBhvr>
                                      <p:to>
                                        <p:strVal val="visible"/>
                                      </p:to>
                                    </p:set>
                                    <p:animEffect transition="in" filter="fade">
                                      <p:cBhvr>
                                        <p:cTn id="35" dur="500"/>
                                        <p:tgtEl>
                                          <p:spTgt spid="117"/>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130"/>
                                        </p:tgtEl>
                                        <p:attrNameLst>
                                          <p:attrName>style.visibility</p:attrName>
                                        </p:attrNameLst>
                                      </p:cBhvr>
                                      <p:to>
                                        <p:strVal val="visible"/>
                                      </p:to>
                                    </p:set>
                                    <p:animEffect transition="in" filter="fade">
                                      <p:cBhvr>
                                        <p:cTn id="40" dur="500"/>
                                        <p:tgtEl>
                                          <p:spTgt spid="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Worked: protect the battery</a:t>
            </a:r>
          </a:p>
        </p:txBody>
      </p:sp>
      <p:sp>
        <p:nvSpPr>
          <p:cNvPr id="3" name="Slide Number Placeholder 3"/>
          <p:cNvSpPr>
            <a:spLocks noGrp="1"/>
          </p:cNvSpPr>
          <p:nvPr>
            <p:ph type="sldNum" sz="quarter" idx="4"/>
          </p:nvPr>
        </p:nvSpPr>
        <p:spPr/>
        <p:txBody>
          <a:bodyPr/>
          <a:lstStyle/>
          <a:p>
            <a:fld id="{B7EB45DA-9A0D-DC49-8E02-F30A5DDC21C3}" type="slidenum">
              <a:rPr lang="en-US" smtClean="0"/>
              <a:t>20</a:t>
            </a:fld>
            <a:endParaRPr lang="en-US"/>
          </a:p>
        </p:txBody>
      </p:sp>
      <p:sp>
        <p:nvSpPr>
          <p:cNvPr id="124" name="Kicker"/>
          <p:cNvSpPr txBox="1"/>
          <p:nvPr/>
        </p:nvSpPr>
        <p:spPr>
          <a:xfrm>
            <a:off x="365760" y="1097280"/>
            <a:ext cx="8412480" cy="393192"/>
          </a:xfrm>
          <a:prstGeom prst="rect">
            <a:avLst/>
          </a:prstGeom>
          <a:noFill/>
          <a:ln>
            <a:noFill/>
          </a:ln>
        </p:spPr>
        <p:txBody>
          <a:bodyPr wrap="square" lIns="18288" tIns="18288" rIns="18288" bIns="18288" anchor="t">
            <a:spAutoFit/>
          </a:bodyPr>
          <a:lstStyle/>
          <a:p>
            <a:pPr algn="l">
              <a:spcAft>
                <a:spcPts val="0"/>
              </a:spcAft>
              <a:buNone/>
            </a:pPr>
            <a:r>
              <a:rPr lang="en-US" sz="2000" b="1" dirty="0">
                <a:solidFill>
                  <a:srgbClr val="8E6F3E"/>
                </a:solidFill>
              </a:rPr>
              <a:t>THE DESIGN, BEFORE ANY MODEL</a:t>
            </a:r>
          </a:p>
        </p:txBody>
      </p:sp>
      <p:sp>
        <p:nvSpPr>
          <p:cNvPr id="125" name="C0"/>
          <p:cNvSpPr/>
          <p:nvPr/>
        </p:nvSpPr>
        <p:spPr>
          <a:xfrm>
            <a:off x="685800" y="173736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TEMP SENSOR</a:t>
            </a:r>
          </a:p>
        </p:txBody>
      </p:sp>
      <p:sp>
        <p:nvSpPr>
          <p:cNvPr id="126" name="C1"/>
          <p:cNvSpPr/>
          <p:nvPr/>
        </p:nvSpPr>
        <p:spPr>
          <a:xfrm>
            <a:off x="685800" y="262890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WI-FI TELEMETRY</a:t>
            </a:r>
          </a:p>
        </p:txBody>
      </p:sp>
      <p:sp>
        <p:nvSpPr>
          <p:cNvPr id="127" name="C2"/>
          <p:cNvSpPr/>
          <p:nvPr/>
        </p:nvSpPr>
        <p:spPr>
          <a:xfrm>
            <a:off x="685800" y="352044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DISPLAY</a:t>
            </a:r>
          </a:p>
        </p:txBody>
      </p:sp>
      <p:sp>
        <p:nvSpPr>
          <p:cNvPr id="128" name="C3"/>
          <p:cNvSpPr/>
          <p:nvPr/>
        </p:nvSpPr>
        <p:spPr>
          <a:xfrm>
            <a:off x="6629400" y="173736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PWM FAN</a:t>
            </a:r>
          </a:p>
        </p:txBody>
      </p:sp>
      <p:sp>
        <p:nvSpPr>
          <p:cNvPr id="129" name="C4"/>
          <p:cNvSpPr/>
          <p:nvPr/>
        </p:nvSpPr>
        <p:spPr>
          <a:xfrm>
            <a:off x="6629400" y="262890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FLASH LOG</a:t>
            </a:r>
          </a:p>
        </p:txBody>
      </p:sp>
      <p:sp>
        <p:nvSpPr>
          <p:cNvPr id="130" name="C5"/>
          <p:cNvSpPr/>
          <p:nvPr/>
        </p:nvSpPr>
        <p:spPr>
          <a:xfrm>
            <a:off x="6629400" y="352044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LOW-POWER SLEEP</a:t>
            </a:r>
          </a:p>
        </p:txBody>
      </p:sp>
      <p:sp>
        <p:nvSpPr>
          <p:cNvPr id="131" name="Ctrl"/>
          <p:cNvSpPr/>
          <p:nvPr/>
        </p:nvSpPr>
        <p:spPr>
          <a:xfrm>
            <a:off x="3657600" y="2514600"/>
            <a:ext cx="1828800" cy="731520"/>
          </a:xfrm>
          <a:prstGeom prst="rect">
            <a:avLst/>
          </a:prstGeom>
          <a:solidFill>
            <a:srgbClr val="8E6F3E"/>
          </a:solidFill>
          <a:ln>
            <a:noFill/>
          </a:ln>
        </p:spPr>
        <p:txBody>
          <a:bodyPr wrap="square" lIns="27432" tIns="22860" rIns="27432" bIns="22860" anchor="ctr"/>
          <a:lstStyle/>
          <a:p>
            <a:pPr algn="ctr">
              <a:spcAft>
                <a:spcPts val="200"/>
              </a:spcAft>
              <a:buNone/>
            </a:pPr>
            <a:r>
              <a:rPr lang="en-US" sz="1800" b="1" dirty="0">
                <a:solidFill>
                  <a:srgbClr val="FFFFFF"/>
                </a:solidFill>
              </a:rPr>
              <a:t>CONTROLLER</a:t>
            </a:r>
          </a:p>
          <a:p>
            <a:pPr algn="ctr">
              <a:spcAft>
                <a:spcPts val="0"/>
              </a:spcAft>
              <a:buNone/>
            </a:pPr>
            <a:r>
              <a:rPr lang="en-US" sz="1400" b="0" dirty="0">
                <a:solidFill>
                  <a:srgbClr val="FFFFFF"/>
                </a:solidFill>
              </a:rPr>
              <a:t>one control loop</a:t>
            </a:r>
          </a:p>
        </p:txBody>
      </p:sp>
      <p:sp>
        <p:nvSpPr>
          <p:cNvPr id="132" name="Bat"/>
          <p:cNvSpPr/>
          <p:nvPr/>
        </p:nvSpPr>
        <p:spPr>
          <a:xfrm>
            <a:off x="3657600" y="4114800"/>
            <a:ext cx="1828800" cy="685800"/>
          </a:xfrm>
          <a:prstGeom prst="rect">
            <a:avLst/>
          </a:prstGeom>
          <a:solidFill>
            <a:srgbClr val="F5F1E8"/>
          </a:solidFill>
          <a:ln w="12700">
            <a:solidFill>
              <a:srgbClr val="C9B991"/>
            </a:solidFill>
          </a:ln>
        </p:spPr>
        <p:txBody>
          <a:bodyPr wrap="square" lIns="27432" tIns="22860" rIns="27432" bIns="22860" anchor="t"/>
          <a:lstStyle/>
          <a:p>
            <a:pPr algn="ctr">
              <a:spcAft>
                <a:spcPts val="0"/>
              </a:spcAft>
              <a:buNone/>
            </a:pPr>
            <a:r>
              <a:rPr lang="en-US" sz="1600" b="1" dirty="0">
                <a:solidFill>
                  <a:srgbClr val="5C4826"/>
                </a:solidFill>
              </a:rPr>
              <a:t>BATTERY</a:t>
            </a:r>
          </a:p>
        </p:txBody>
      </p:sp>
      <p:sp>
        <p:nvSpPr>
          <p:cNvPr id="133" name="VL0"/>
          <p:cNvSpPr/>
          <p:nvPr/>
        </p:nvSpPr>
        <p:spPr>
          <a:xfrm>
            <a:off x="3733800" y="4610100"/>
            <a:ext cx="1676400" cy="22860"/>
          </a:xfrm>
          <a:prstGeom prst="rect">
            <a:avLst/>
          </a:prstGeom>
          <a:solidFill>
            <a:srgbClr val="5C4826"/>
          </a:solidFill>
          <a:ln>
            <a:noFill/>
          </a:ln>
        </p:spPr>
        <p:txBody>
          <a:bodyPr wrap="square" lIns="27432" tIns="22860" rIns="27432" bIns="22860" anchor="ctr"/>
          <a:lstStyle/>
          <a:p>
            <a:pPr algn="ctr">
              <a:spcAft>
                <a:spcPts val="0"/>
              </a:spcAft>
              <a:buNone/>
            </a:pPr>
            <a:endParaRPr/>
          </a:p>
        </p:txBody>
      </p:sp>
      <p:sp>
        <p:nvSpPr>
          <p:cNvPr id="134" name="VL1"/>
          <p:cNvSpPr txBox="1"/>
          <p:nvPr/>
        </p:nvSpPr>
        <p:spPr>
          <a:xfrm>
            <a:off x="5638800" y="4495800"/>
            <a:ext cx="1828800" cy="274320"/>
          </a:xfrm>
          <a:prstGeom prst="rect">
            <a:avLst/>
          </a:prstGeom>
          <a:noFill/>
          <a:ln>
            <a:noFill/>
          </a:ln>
        </p:spPr>
        <p:txBody>
          <a:bodyPr wrap="square" lIns="0" tIns="0" rIns="0" bIns="0" anchor="t"/>
          <a:lstStyle/>
          <a:p>
            <a:pPr algn="l">
              <a:spcAft>
                <a:spcPts val="0"/>
              </a:spcAft>
              <a:buNone/>
            </a:pPr>
            <a:r>
              <a:rPr lang="en-US" sz="1400" b="0" dirty="0">
                <a:solidFill>
                  <a:srgbClr val="555960"/>
                </a:solidFill>
              </a:rPr>
              <a:t>minimum safe voltage</a:t>
            </a:r>
          </a:p>
        </p:txBody>
      </p:sp>
      <p:cxnSp>
        <p:nvCxnSpPr>
          <p:cNvPr id="135" name="PF0"/>
          <p:cNvCxnSpPr/>
          <p:nvPr/>
        </p:nvCxnSpPr>
        <p:spPr>
          <a:xfrm>
            <a:off x="4572000" y="3246120"/>
            <a:ext cx="0" cy="868680"/>
          </a:xfrm>
          <a:prstGeom prst="straightConnector1">
            <a:avLst/>
          </a:prstGeom>
          <a:ln w="28575">
            <a:solidFill>
              <a:srgbClr val="8E6F3E"/>
            </a:solidFill>
            <a:headEnd type="triangle" w="med" len="med"/>
          </a:ln>
        </p:spPr>
      </p:cxnSp>
      <p:cxnSp>
        <p:nvCxnSpPr>
          <p:cNvPr id="136" name="W0"/>
          <p:cNvCxnSpPr/>
          <p:nvPr/>
        </p:nvCxnSpPr>
        <p:spPr>
          <a:xfrm>
            <a:off x="2514600" y="2011680"/>
            <a:ext cx="1143000" cy="868680"/>
          </a:xfrm>
          <a:prstGeom prst="straightConnector1">
            <a:avLst/>
          </a:prstGeom>
          <a:ln w="19050">
            <a:solidFill>
              <a:srgbClr val="C9B991"/>
            </a:solidFill>
          </a:ln>
        </p:spPr>
      </p:cxnSp>
      <p:cxnSp>
        <p:nvCxnSpPr>
          <p:cNvPr id="137" name="W1"/>
          <p:cNvCxnSpPr/>
          <p:nvPr/>
        </p:nvCxnSpPr>
        <p:spPr>
          <a:xfrm flipV="1">
            <a:off x="2514600" y="2880360"/>
            <a:ext cx="1143000" cy="22860"/>
          </a:xfrm>
          <a:prstGeom prst="straightConnector1">
            <a:avLst/>
          </a:prstGeom>
          <a:ln w="19050">
            <a:solidFill>
              <a:srgbClr val="C9B991"/>
            </a:solidFill>
          </a:ln>
        </p:spPr>
      </p:cxnSp>
      <p:cxnSp>
        <p:nvCxnSpPr>
          <p:cNvPr id="138" name="W2"/>
          <p:cNvCxnSpPr/>
          <p:nvPr/>
        </p:nvCxnSpPr>
        <p:spPr>
          <a:xfrm flipV="1">
            <a:off x="2514600" y="2880360"/>
            <a:ext cx="1143000" cy="914400"/>
          </a:xfrm>
          <a:prstGeom prst="straightConnector1">
            <a:avLst/>
          </a:prstGeom>
          <a:ln w="19050">
            <a:solidFill>
              <a:srgbClr val="C9B991"/>
            </a:solidFill>
          </a:ln>
        </p:spPr>
      </p:cxnSp>
      <p:cxnSp>
        <p:nvCxnSpPr>
          <p:cNvPr id="139" name="W3"/>
          <p:cNvCxnSpPr/>
          <p:nvPr/>
        </p:nvCxnSpPr>
        <p:spPr>
          <a:xfrm flipV="1">
            <a:off x="5486400" y="2011680"/>
            <a:ext cx="1143000" cy="868680"/>
          </a:xfrm>
          <a:prstGeom prst="straightConnector1">
            <a:avLst/>
          </a:prstGeom>
          <a:ln w="19050">
            <a:solidFill>
              <a:srgbClr val="C9B991"/>
            </a:solidFill>
          </a:ln>
        </p:spPr>
      </p:cxnSp>
      <p:cxnSp>
        <p:nvCxnSpPr>
          <p:cNvPr id="140" name="W4"/>
          <p:cNvCxnSpPr/>
          <p:nvPr/>
        </p:nvCxnSpPr>
        <p:spPr>
          <a:xfrm>
            <a:off x="5486400" y="2880360"/>
            <a:ext cx="1143000" cy="22860"/>
          </a:xfrm>
          <a:prstGeom prst="straightConnector1">
            <a:avLst/>
          </a:prstGeom>
          <a:ln w="19050">
            <a:solidFill>
              <a:srgbClr val="C9B991"/>
            </a:solidFill>
          </a:ln>
        </p:spPr>
      </p:cxnSp>
      <p:cxnSp>
        <p:nvCxnSpPr>
          <p:cNvPr id="141" name="W5"/>
          <p:cNvCxnSpPr/>
          <p:nvPr/>
        </p:nvCxnSpPr>
        <p:spPr>
          <a:xfrm>
            <a:off x="5486400" y="2880360"/>
            <a:ext cx="1143000" cy="914400"/>
          </a:xfrm>
          <a:prstGeom prst="straightConnector1">
            <a:avLst/>
          </a:prstGeom>
          <a:ln w="19050">
            <a:solidFill>
              <a:srgbClr val="C9B991"/>
            </a:solidFill>
          </a:ln>
        </p:spPr>
      </p:cxnSp>
      <p:sp>
        <p:nvSpPr>
          <p:cNvPr id="142" name="Ital"/>
          <p:cNvSpPr txBox="1"/>
          <p:nvPr/>
        </p:nvSpPr>
        <p:spPr>
          <a:xfrm>
            <a:off x="685800" y="5120640"/>
            <a:ext cx="7772400" cy="32004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Every component draws from the one battery.</a:t>
            </a:r>
          </a:p>
        </p:txBody>
      </p:sp>
      <p:sp>
        <p:nvSpPr>
          <p:cNvPr id="143"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One question: can the battery run out before the 8 hours end?</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Top-down: preserve what the obligation requires</a:t>
            </a:r>
          </a:p>
        </p:txBody>
      </p:sp>
      <p:sp>
        <p:nvSpPr>
          <p:cNvPr id="3" name="Slide Number Placeholder 3"/>
          <p:cNvSpPr>
            <a:spLocks noGrp="1"/>
          </p:cNvSpPr>
          <p:nvPr>
            <p:ph type="sldNum" sz="quarter" idx="4"/>
          </p:nvPr>
        </p:nvSpPr>
        <p:spPr/>
        <p:txBody>
          <a:bodyPr/>
          <a:lstStyle/>
          <a:p>
            <a:fld id="{B7EB45DA-9A0D-DC49-8E02-F30A5DDC21C3}" type="slidenum">
              <a:rPr lang="en-US" smtClean="0"/>
              <a:t>22</a:t>
            </a:fld>
            <a:endParaRPr lang="en-US"/>
          </a:p>
        </p:txBody>
      </p:sp>
      <p:sp>
        <p:nvSpPr>
          <p:cNvPr id="144" name="Oblig"/>
          <p:cNvSpPr/>
          <p:nvPr/>
        </p:nvSpPr>
        <p:spPr>
          <a:xfrm>
            <a:off x="685800" y="1097280"/>
            <a:ext cx="7772400" cy="457200"/>
          </a:xfrm>
          <a:prstGeom prst="rect">
            <a:avLst/>
          </a:prstGeom>
          <a:solidFill>
            <a:srgbClr val="5C4826"/>
          </a:solidFill>
          <a:ln>
            <a:noFill/>
          </a:ln>
        </p:spPr>
        <p:txBody>
          <a:bodyPr wrap="square" lIns="27432" tIns="22860" rIns="27432" bIns="22860" anchor="ctr"/>
          <a:lstStyle/>
          <a:p>
            <a:pPr algn="ctr">
              <a:spcAft>
                <a:spcPts val="0"/>
              </a:spcAft>
              <a:buNone/>
            </a:pPr>
            <a:r>
              <a:rPr lang="en-US" sz="1800" b="1" dirty="0">
                <a:solidFill>
                  <a:srgbClr val="FFFFFF"/>
                </a:solidFill>
              </a:rPr>
              <a:t>OBLIGATION: 8 or more hours above minimum safe voltage</a:t>
            </a:r>
          </a:p>
        </p:txBody>
      </p:sp>
      <p:sp>
        <p:nvSpPr>
          <p:cNvPr id="145" name="D0"/>
          <p:cNvSpPr/>
          <p:nvPr/>
        </p:nvSpPr>
        <p:spPr>
          <a:xfrm>
            <a:off x="685800" y="17830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temperature sensor</a:t>
            </a:r>
          </a:p>
        </p:txBody>
      </p:sp>
      <p:sp>
        <p:nvSpPr>
          <p:cNvPr id="146" name="D1"/>
          <p:cNvSpPr/>
          <p:nvPr/>
        </p:nvSpPr>
        <p:spPr>
          <a:xfrm>
            <a:off x="685800" y="22402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PWM fan</a:t>
            </a:r>
          </a:p>
        </p:txBody>
      </p:sp>
      <p:sp>
        <p:nvSpPr>
          <p:cNvPr id="147" name="D2"/>
          <p:cNvSpPr/>
          <p:nvPr/>
        </p:nvSpPr>
        <p:spPr>
          <a:xfrm>
            <a:off x="685800" y="26974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Wi-Fi telemetry</a:t>
            </a:r>
          </a:p>
        </p:txBody>
      </p:sp>
      <p:sp>
        <p:nvSpPr>
          <p:cNvPr id="148" name="D3"/>
          <p:cNvSpPr/>
          <p:nvPr/>
        </p:nvSpPr>
        <p:spPr>
          <a:xfrm>
            <a:off x="685800" y="31546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flash logging</a:t>
            </a:r>
          </a:p>
        </p:txBody>
      </p:sp>
      <p:sp>
        <p:nvSpPr>
          <p:cNvPr id="149" name="D4"/>
          <p:cNvSpPr/>
          <p:nvPr/>
        </p:nvSpPr>
        <p:spPr>
          <a:xfrm>
            <a:off x="685800" y="36118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display</a:t>
            </a:r>
          </a:p>
        </p:txBody>
      </p:sp>
      <p:sp>
        <p:nvSpPr>
          <p:cNvPr id="150" name="D5"/>
          <p:cNvSpPr/>
          <p:nvPr/>
        </p:nvSpPr>
        <p:spPr>
          <a:xfrm>
            <a:off x="685800" y="40690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low-power sleep</a:t>
            </a:r>
          </a:p>
        </p:txBody>
      </p:sp>
      <p:cxnSp>
        <p:nvCxnSpPr>
          <p:cNvPr id="151" name="F0"/>
          <p:cNvCxnSpPr/>
          <p:nvPr/>
        </p:nvCxnSpPr>
        <p:spPr>
          <a:xfrm>
            <a:off x="2743200" y="1965960"/>
            <a:ext cx="2171700" cy="914400"/>
          </a:xfrm>
          <a:prstGeom prst="straightConnector1">
            <a:avLst/>
          </a:prstGeom>
          <a:ln w="19050">
            <a:solidFill>
              <a:srgbClr val="C9B991"/>
            </a:solidFill>
            <a:tailEnd type="triangle" w="med" len="med"/>
          </a:ln>
        </p:spPr>
      </p:cxnSp>
      <p:cxnSp>
        <p:nvCxnSpPr>
          <p:cNvPr id="152" name="F1"/>
          <p:cNvCxnSpPr/>
          <p:nvPr/>
        </p:nvCxnSpPr>
        <p:spPr>
          <a:xfrm>
            <a:off x="2743200" y="2423160"/>
            <a:ext cx="2171700" cy="457200"/>
          </a:xfrm>
          <a:prstGeom prst="straightConnector1">
            <a:avLst/>
          </a:prstGeom>
          <a:ln w="19050">
            <a:solidFill>
              <a:srgbClr val="C9B991"/>
            </a:solidFill>
            <a:tailEnd type="triangle" w="med" len="med"/>
          </a:ln>
        </p:spPr>
      </p:cxnSp>
      <p:cxnSp>
        <p:nvCxnSpPr>
          <p:cNvPr id="153" name="F2"/>
          <p:cNvCxnSpPr/>
          <p:nvPr/>
        </p:nvCxnSpPr>
        <p:spPr>
          <a:xfrm>
            <a:off x="2743200" y="2880360"/>
            <a:ext cx="2171700" cy="0"/>
          </a:xfrm>
          <a:prstGeom prst="straightConnector1">
            <a:avLst/>
          </a:prstGeom>
          <a:ln w="19050">
            <a:solidFill>
              <a:srgbClr val="C9B991"/>
            </a:solidFill>
            <a:tailEnd type="triangle" w="med" len="med"/>
          </a:ln>
        </p:spPr>
      </p:cxnSp>
      <p:cxnSp>
        <p:nvCxnSpPr>
          <p:cNvPr id="154" name="F3"/>
          <p:cNvCxnSpPr/>
          <p:nvPr/>
        </p:nvCxnSpPr>
        <p:spPr>
          <a:xfrm flipV="1">
            <a:off x="2743200" y="2880360"/>
            <a:ext cx="2171700" cy="457200"/>
          </a:xfrm>
          <a:prstGeom prst="straightConnector1">
            <a:avLst/>
          </a:prstGeom>
          <a:ln w="19050">
            <a:solidFill>
              <a:srgbClr val="C9B991"/>
            </a:solidFill>
            <a:tailEnd type="triangle" w="med" len="med"/>
          </a:ln>
        </p:spPr>
      </p:cxnSp>
      <p:cxnSp>
        <p:nvCxnSpPr>
          <p:cNvPr id="155" name="F4"/>
          <p:cNvCxnSpPr/>
          <p:nvPr/>
        </p:nvCxnSpPr>
        <p:spPr>
          <a:xfrm flipV="1">
            <a:off x="2743200" y="2880360"/>
            <a:ext cx="2171700" cy="914400"/>
          </a:xfrm>
          <a:prstGeom prst="straightConnector1">
            <a:avLst/>
          </a:prstGeom>
          <a:ln w="19050">
            <a:solidFill>
              <a:srgbClr val="C9B991"/>
            </a:solidFill>
            <a:tailEnd type="triangle" w="med" len="med"/>
          </a:ln>
        </p:spPr>
      </p:cxnSp>
      <p:cxnSp>
        <p:nvCxnSpPr>
          <p:cNvPr id="156" name="F5"/>
          <p:cNvCxnSpPr/>
          <p:nvPr/>
        </p:nvCxnSpPr>
        <p:spPr>
          <a:xfrm flipV="1">
            <a:off x="2743200" y="2880360"/>
            <a:ext cx="2171700" cy="1371600"/>
          </a:xfrm>
          <a:prstGeom prst="straightConnector1">
            <a:avLst/>
          </a:prstGeom>
          <a:ln w="19050">
            <a:solidFill>
              <a:srgbClr val="C9B991"/>
            </a:solidFill>
            <a:tailEnd type="triangle" w="med" len="med"/>
          </a:ln>
        </p:spPr>
      </p:cxnSp>
      <p:sp>
        <p:nvSpPr>
          <p:cNvPr id="157" name="CardHead"/>
          <p:cNvSpPr/>
          <p:nvPr/>
        </p:nvSpPr>
        <p:spPr>
          <a:xfrm>
            <a:off x="4914900" y="2011680"/>
            <a:ext cx="27432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ENERGY MODEL</a:t>
            </a:r>
          </a:p>
        </p:txBody>
      </p:sp>
      <p:sp>
        <p:nvSpPr>
          <p:cNvPr id="158" name="E0"/>
          <p:cNvSpPr/>
          <p:nvPr/>
        </p:nvSpPr>
        <p:spPr>
          <a:xfrm>
            <a:off x="4914900" y="242316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operating mode</a:t>
            </a:r>
          </a:p>
        </p:txBody>
      </p:sp>
      <p:sp>
        <p:nvSpPr>
          <p:cNvPr id="159" name="E1"/>
          <p:cNvSpPr/>
          <p:nvPr/>
        </p:nvSpPr>
        <p:spPr>
          <a:xfrm>
            <a:off x="4914900" y="283464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power(mode)</a:t>
            </a:r>
          </a:p>
        </p:txBody>
      </p:sp>
      <p:sp>
        <p:nvSpPr>
          <p:cNvPr id="160" name="E2"/>
          <p:cNvSpPr/>
          <p:nvPr/>
        </p:nvSpPr>
        <p:spPr>
          <a:xfrm>
            <a:off x="4914900" y="324612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duration(mode)</a:t>
            </a:r>
          </a:p>
        </p:txBody>
      </p:sp>
      <p:sp>
        <p:nvSpPr>
          <p:cNvPr id="161" name="E3"/>
          <p:cNvSpPr/>
          <p:nvPr/>
        </p:nvSpPr>
        <p:spPr>
          <a:xfrm>
            <a:off x="4914900" y="365760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usable energy</a:t>
            </a:r>
          </a:p>
        </p:txBody>
      </p:sp>
      <p:sp>
        <p:nvSpPr>
          <p:cNvPr id="162" name="TextBox 2"/>
          <p:cNvSpPr txBox="1"/>
          <p:nvPr/>
        </p:nvSpPr>
        <p:spPr>
          <a:xfrm>
            <a:off x="457200" y="4617720"/>
            <a:ext cx="8229600" cy="27432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not: temperature value · PWM internals · packet format · flash layout · display contents · task names</a:t>
            </a:r>
          </a:p>
        </p:txBody>
      </p:sp>
      <p:sp>
        <p:nvSpPr>
          <p:cNvPr id="163" name="Property"/>
          <p:cNvSpPr txBox="1"/>
          <p:nvPr/>
        </p:nvSpPr>
        <p:spPr>
          <a:xfrm>
            <a:off x="685800" y="4983480"/>
            <a:ext cx="7772400" cy="457200"/>
          </a:xfrm>
          <a:prstGeom prst="rect">
            <a:avLst/>
          </a:prstGeom>
          <a:noFill/>
          <a:ln>
            <a:noFill/>
          </a:ln>
        </p:spPr>
        <p:txBody>
          <a:bodyPr wrap="square" lIns="0" tIns="0" rIns="0" bIns="0" anchor="t"/>
          <a:lstStyle/>
          <a:p>
            <a:pPr algn="ctr">
              <a:spcAft>
                <a:spcPts val="0"/>
              </a:spcAft>
              <a:buNone/>
            </a:pPr>
            <a:r>
              <a:rPr lang="en-US" sz="2000" b="1" dirty="0">
                <a:solidFill>
                  <a:srgbClr val="8E6F3E"/>
                </a:solidFill>
              </a:rPr>
              <a:t>PROPERTY:  </a:t>
            </a:r>
            <a:r>
              <a:rPr lang="en-US" sz="2200" b="1" dirty="0">
                <a:solidFill>
                  <a:srgbClr val="5C4826"/>
                </a:solidFill>
              </a:rPr>
              <a:t>Σ P(mode) · t(mode)  ≤  E(usable)</a:t>
            </a:r>
          </a:p>
        </p:txBody>
      </p:sp>
      <p:sp>
        <p:nvSpPr>
          <p:cNvPr id="164"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The whole system collapses into four quantities.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Obligation and specification are different boundaries</a:t>
            </a:r>
          </a:p>
        </p:txBody>
      </p:sp>
      <p:sp>
        <p:nvSpPr>
          <p:cNvPr id="3" name="Slide Number Placeholder 3"/>
          <p:cNvSpPr>
            <a:spLocks noGrp="1"/>
          </p:cNvSpPr>
          <p:nvPr>
            <p:ph type="sldNum" sz="quarter" idx="4"/>
          </p:nvPr>
        </p:nvSpPr>
        <p:spPr/>
        <p:txBody>
          <a:bodyPr/>
          <a:lstStyle/>
          <a:p>
            <a:fld id="{B7EB45DA-9A0D-DC49-8E02-F30A5DDC21C3}" type="slidenum">
              <a:rPr lang="en-US" smtClean="0"/>
              <a:t>32</a:t>
            </a:fld>
            <a:endParaRPr lang="en-US"/>
          </a:p>
        </p:txBody>
      </p:sp>
      <p:sp>
        <p:nvSpPr>
          <p:cNvPr id="6" name="Kicker"/>
          <p:cNvSpPr txBox="1"/>
          <p:nvPr/>
        </p:nvSpPr>
        <p:spPr>
          <a:xfrm>
            <a:off x="365760" y="1097280"/>
            <a:ext cx="8412480" cy="393192"/>
          </a:xfrm>
          <a:prstGeom prst="rect">
            <a:avLst/>
          </a:prstGeom>
          <a:noFill/>
          <a:ln>
            <a:noFill/>
          </a:ln>
        </p:spPr>
        <p:txBody>
          <a:bodyPr wrap="square" lIns="18288" tIns="18288" rIns="18288" bIns="18288" anchor="t">
            <a:spAutoFit/>
          </a:bodyPr>
          <a:lstStyle/>
          <a:p>
            <a:pPr algn="l">
              <a:spcAft>
                <a:spcPts val="0"/>
              </a:spcAft>
              <a:buNone/>
            </a:pPr>
            <a:r>
              <a:rPr lang="en-US" sz="2000" b="1" dirty="0">
                <a:solidFill>
                  <a:srgbClr val="8E6F3E"/>
                </a:solidFill>
              </a:rPr>
              <a:t>HOW MUCH MUST WE SAY?</a:t>
            </a:r>
          </a:p>
        </p:txBody>
      </p:sp>
      <p:sp>
        <p:nvSpPr>
          <p:cNvPr id="10" name="DOF1"/>
          <p:cNvSpPr/>
          <p:nvPr/>
        </p:nvSpPr>
        <p:spPr>
          <a:xfrm>
            <a:off x="502920" y="1737360"/>
            <a:ext cx="5029200" cy="3108960"/>
          </a:xfrm>
          <a:prstGeom prst="rect">
            <a:avLst/>
          </a:prstGeom>
          <a:solidFill>
            <a:srgbClr val="FBF8F2"/>
          </a:solidFill>
          <a:ln w="12700">
            <a:solidFill>
              <a:srgbClr val="C9B991"/>
            </a:solidFill>
          </a:ln>
        </p:spPr>
        <p:txBody>
          <a:bodyPr wrap="square" lIns="27432" tIns="22860" rIns="27432" bIns="22860" anchor="ctr"/>
          <a:lstStyle/>
          <a:p>
            <a:pPr>
              <a:buNone/>
            </a:pPr>
            <a:endParaRPr lang="en-US"/>
          </a:p>
        </p:txBody>
      </p:sp>
      <p:sp>
        <p:nvSpPr>
          <p:cNvPr id="11" name="Scaf1"/>
          <p:cNvSpPr/>
          <p:nvPr/>
        </p:nvSpPr>
        <p:spPr>
          <a:xfrm>
            <a:off x="777240" y="1943100"/>
            <a:ext cx="4480560" cy="2697480"/>
          </a:xfrm>
          <a:prstGeom prst="rect">
            <a:avLst/>
          </a:prstGeom>
          <a:solidFill>
            <a:srgbClr val="C9B991"/>
          </a:solidFill>
          <a:ln w="28575">
            <a:solidFill>
              <a:srgbClr val="8E6F3E"/>
            </a:solidFill>
          </a:ln>
        </p:spPr>
        <p:txBody>
          <a:bodyPr wrap="square" lIns="27432" tIns="22860" rIns="27432" bIns="22860" anchor="ctr"/>
          <a:lstStyle/>
          <a:p>
            <a:pPr>
              <a:buNone/>
            </a:pPr>
            <a:endParaRPr lang="en-US"/>
          </a:p>
        </p:txBody>
      </p:sp>
      <p:sp>
        <p:nvSpPr>
          <p:cNvPr id="12" name="Oblig1"/>
          <p:cNvSpPr/>
          <p:nvPr/>
        </p:nvSpPr>
        <p:spPr>
          <a:xfrm>
            <a:off x="1737360" y="2743200"/>
            <a:ext cx="2606040" cy="1005840"/>
          </a:xfrm>
          <a:prstGeom prst="rect">
            <a:avLst/>
          </a:prstGeom>
          <a:solidFill>
            <a:srgbClr val="5C4826"/>
          </a:solidFill>
          <a:ln>
            <a:noFill/>
          </a:ln>
        </p:spPr>
        <p:txBody>
          <a:bodyPr wrap="square" lIns="27432" tIns="22860" rIns="27432" bIns="22860" anchor="ctr"/>
          <a:lstStyle/>
          <a:p>
            <a:pPr algn="ctr">
              <a:spcAft>
                <a:spcPts val="400"/>
              </a:spcAft>
              <a:buNone/>
            </a:pPr>
            <a:r>
              <a:rPr lang="en-US" sz="1600" b="1" dirty="0">
                <a:solidFill>
                  <a:srgbClr val="FFFFFF"/>
                </a:solidFill>
              </a:rPr>
              <a:t>OBLIGATION</a:t>
            </a:r>
          </a:p>
          <a:p>
            <a:pPr algn="ctr">
              <a:spcAft>
                <a:spcPts val="0"/>
              </a:spcAft>
              <a:buNone/>
            </a:pPr>
            <a:r>
              <a:rPr lang="en-US" sz="1400" b="0" dirty="0">
                <a:solidFill>
                  <a:srgbClr val="FFFFFF"/>
                </a:solidFill>
              </a:rPr>
              <a:t>what must be true</a:t>
            </a:r>
          </a:p>
        </p:txBody>
      </p:sp>
      <p:sp>
        <p:nvSpPr>
          <p:cNvPr id="13" name="ScafL"/>
          <p:cNvSpPr txBox="1"/>
          <p:nvPr/>
        </p:nvSpPr>
        <p:spPr>
          <a:xfrm>
            <a:off x="1280160" y="3886200"/>
            <a:ext cx="3520440" cy="329184"/>
          </a:xfrm>
          <a:prstGeom prst="rect">
            <a:avLst/>
          </a:prstGeom>
          <a:noFill/>
          <a:ln>
            <a:noFill/>
          </a:ln>
        </p:spPr>
        <p:txBody>
          <a:bodyPr wrap="square" lIns="0" tIns="0" rIns="0" bIns="0" anchor="t"/>
          <a:lstStyle/>
          <a:p>
            <a:pPr algn="ctr">
              <a:spcAft>
                <a:spcPts val="0"/>
              </a:spcAft>
              <a:buNone/>
            </a:pPr>
            <a:r>
              <a:rPr lang="en-US" sz="1400" b="1" dirty="0">
                <a:solidFill>
                  <a:srgbClr val="5C4826"/>
                </a:solidFill>
              </a:rPr>
              <a:t>SCAFFOLDING — what this agent needs</a:t>
            </a:r>
          </a:p>
        </p:txBody>
      </p:sp>
      <p:sp>
        <p:nvSpPr>
          <p:cNvPr id="14" name="DofL"/>
          <p:cNvSpPr txBox="1"/>
          <p:nvPr/>
        </p:nvSpPr>
        <p:spPr>
          <a:xfrm>
            <a:off x="502920" y="4640580"/>
            <a:ext cx="5029200" cy="205740"/>
          </a:xfrm>
          <a:prstGeom prst="rect">
            <a:avLst/>
          </a:prstGeom>
          <a:noFill/>
          <a:ln>
            <a:noFill/>
          </a:ln>
        </p:spPr>
        <p:txBody>
          <a:bodyPr wrap="square" lIns="0" tIns="0" rIns="0" bIns="0" anchor="ctr"/>
          <a:lstStyle/>
          <a:p>
            <a:pPr algn="ctr">
              <a:spcAft>
                <a:spcPts val="0"/>
              </a:spcAft>
              <a:buNone/>
            </a:pPr>
            <a:r>
              <a:rPr lang="en-US" sz="1300" b="0" dirty="0">
                <a:solidFill>
                  <a:srgbClr val="555960"/>
                </a:solidFill>
              </a:rPr>
              <a:t>DEGREES OF FREEDOM — the rest is the agent’s</a:t>
            </a:r>
          </a:p>
        </p:txBody>
      </p:sp>
      <p:sp>
        <p:nvSpPr>
          <p:cNvPr id="15" name="SpLbl"/>
          <p:cNvSpPr txBox="1"/>
          <p:nvPr/>
        </p:nvSpPr>
        <p:spPr>
          <a:xfrm>
            <a:off x="5806440" y="2011680"/>
            <a:ext cx="3017520" cy="548640"/>
          </a:xfrm>
          <a:prstGeom prst="rect">
            <a:avLst/>
          </a:prstGeom>
          <a:noFill/>
          <a:ln>
            <a:noFill/>
          </a:ln>
        </p:spPr>
        <p:txBody>
          <a:bodyPr wrap="square" lIns="0" tIns="0" rIns="0" bIns="0" anchor="t"/>
          <a:lstStyle/>
          <a:p>
            <a:pPr algn="l">
              <a:spcAft>
                <a:spcPts val="200"/>
              </a:spcAft>
              <a:buNone/>
            </a:pPr>
            <a:r>
              <a:rPr lang="en-US" sz="1500" b="1" dirty="0">
                <a:solidFill>
                  <a:srgbClr val="8E6F3E"/>
                </a:solidFill>
              </a:rPr>
              <a:t>specification boundary</a:t>
            </a:r>
          </a:p>
          <a:p>
            <a:pPr algn="l">
              <a:spcAft>
                <a:spcPts val="0"/>
              </a:spcAft>
              <a:buNone/>
            </a:pPr>
            <a:r>
              <a:rPr lang="en-US" sz="1400" b="0" dirty="0">
                <a:solidFill>
                  <a:srgbClr val="555960"/>
                </a:solidFill>
              </a:rPr>
              <a:t>the edge of what we write down</a:t>
            </a:r>
          </a:p>
        </p:txBody>
      </p:sp>
      <p:cxnSp>
        <p:nvCxnSpPr>
          <p:cNvPr id="16" name="SpLd"/>
          <p:cNvCxnSpPr/>
          <p:nvPr/>
        </p:nvCxnSpPr>
        <p:spPr>
          <a:xfrm>
            <a:off x="5303520" y="2286000"/>
            <a:ext cx="365760" cy="0"/>
          </a:xfrm>
          <a:prstGeom prst="straightConnector1">
            <a:avLst/>
          </a:prstGeom>
          <a:ln w="19050">
            <a:solidFill>
              <a:srgbClr val="8E6F3E"/>
            </a:solidFill>
            <a:headEnd type="triangle" w="med" len="med"/>
          </a:ln>
        </p:spPr>
      </p:cxnSp>
      <p:sp>
        <p:nvSpPr>
          <p:cNvPr id="17" name="ObLbl"/>
          <p:cNvSpPr txBox="1"/>
          <p:nvPr/>
        </p:nvSpPr>
        <p:spPr>
          <a:xfrm>
            <a:off x="5806440" y="2926080"/>
            <a:ext cx="3017520" cy="548640"/>
          </a:xfrm>
          <a:prstGeom prst="rect">
            <a:avLst/>
          </a:prstGeom>
          <a:noFill/>
          <a:ln>
            <a:noFill/>
          </a:ln>
        </p:spPr>
        <p:txBody>
          <a:bodyPr wrap="square" lIns="0" tIns="0" rIns="0" bIns="0" anchor="t"/>
          <a:lstStyle/>
          <a:p>
            <a:pPr algn="l">
              <a:spcAft>
                <a:spcPts val="200"/>
              </a:spcAft>
              <a:buNone/>
            </a:pPr>
            <a:r>
              <a:rPr lang="en-US" sz="1500" b="1" dirty="0">
                <a:solidFill>
                  <a:srgbClr val="5C4826"/>
                </a:solidFill>
              </a:rPr>
              <a:t>obligation boundary</a:t>
            </a:r>
          </a:p>
          <a:p>
            <a:pPr algn="l">
              <a:spcAft>
                <a:spcPts val="0"/>
              </a:spcAft>
              <a:buNone/>
            </a:pPr>
            <a:r>
              <a:rPr lang="en-US" sz="1400" b="0" dirty="0">
                <a:solidFill>
                  <a:srgbClr val="555960"/>
                </a:solidFill>
              </a:rPr>
              <a:t>fixed by what must be true</a:t>
            </a:r>
          </a:p>
        </p:txBody>
      </p:sp>
      <p:cxnSp>
        <p:nvCxnSpPr>
          <p:cNvPr id="18" name="ObLd"/>
          <p:cNvCxnSpPr/>
          <p:nvPr/>
        </p:nvCxnSpPr>
        <p:spPr>
          <a:xfrm>
            <a:off x="4389120" y="3200400"/>
            <a:ext cx="1280160" cy="0"/>
          </a:xfrm>
          <a:prstGeom prst="straightConnector1">
            <a:avLst/>
          </a:prstGeom>
          <a:ln w="19050">
            <a:solidFill>
              <a:srgbClr val="5C4826"/>
            </a:solidFill>
            <a:headEnd type="triangle" w="med" len="med"/>
          </a:ln>
        </p:spPr>
      </p:cxnSp>
      <p:sp>
        <p:nvSpPr>
          <p:cNvPr id="20" name="Scaf2"/>
          <p:cNvSpPr/>
          <p:nvPr/>
        </p:nvSpPr>
        <p:spPr>
          <a:xfrm>
            <a:off x="1280160" y="2286000"/>
            <a:ext cx="3520440" cy="2011680"/>
          </a:xfrm>
          <a:prstGeom prst="rect">
            <a:avLst/>
          </a:prstGeom>
          <a:noFill/>
          <a:ln w="28575">
            <a:solidFill>
              <a:srgbClr val="8E6F3E"/>
            </a:solidFill>
            <a:prstDash val="dash"/>
          </a:ln>
        </p:spPr>
        <p:txBody>
          <a:bodyPr wrap="square" lIns="27432" tIns="22860" rIns="27432" bIns="22860" anchor="ctr"/>
          <a:lstStyle/>
          <a:p>
            <a:pPr>
              <a:buNone/>
            </a:pPr>
            <a:endParaRPr lang="en-US"/>
          </a:p>
        </p:txBody>
      </p:sp>
      <p:cxnSp>
        <p:nvCxnSpPr>
          <p:cNvPr id="21" name="MvA"/>
          <p:cNvCxnSpPr/>
          <p:nvPr/>
        </p:nvCxnSpPr>
        <p:spPr>
          <a:xfrm>
            <a:off x="4846320" y="3931920"/>
            <a:ext cx="822960" cy="0"/>
          </a:xfrm>
          <a:prstGeom prst="straightConnector1">
            <a:avLst/>
          </a:prstGeom>
          <a:ln w="28575">
            <a:solidFill>
              <a:srgbClr val="8E6F3E"/>
            </a:solidFill>
            <a:headEnd type="triangle" w="med" len="med"/>
          </a:ln>
        </p:spPr>
      </p:cxnSp>
      <p:sp>
        <p:nvSpPr>
          <p:cNvPr id="22" name="CapLbl"/>
          <p:cNvSpPr txBox="1"/>
          <p:nvPr/>
        </p:nvSpPr>
        <p:spPr>
          <a:xfrm>
            <a:off x="5806440" y="3657600"/>
            <a:ext cx="3017520" cy="868680"/>
          </a:xfrm>
          <a:prstGeom prst="rect">
            <a:avLst/>
          </a:prstGeom>
          <a:noFill/>
          <a:ln>
            <a:noFill/>
          </a:ln>
        </p:spPr>
        <p:txBody>
          <a:bodyPr wrap="square" lIns="0" tIns="0" rIns="0" bIns="0" anchor="t"/>
          <a:lstStyle/>
          <a:p>
            <a:pPr algn="l">
              <a:spcAft>
                <a:spcPts val="200"/>
              </a:spcAft>
              <a:buNone/>
            </a:pPr>
            <a:r>
              <a:rPr lang="en-US" sz="1500" b="1" dirty="0">
                <a:solidFill>
                  <a:srgbClr val="8E6F3E"/>
                </a:solidFill>
              </a:rPr>
              <a:t>specification boundary</a:t>
            </a:r>
          </a:p>
          <a:p>
            <a:pPr algn="l">
              <a:spcAft>
                <a:spcPts val="0"/>
              </a:spcAft>
              <a:buNone/>
            </a:pPr>
            <a:r>
              <a:rPr lang="en-US" sz="1400" b="0" dirty="0">
                <a:solidFill>
                  <a:srgbClr val="555960"/>
                </a:solidFill>
              </a:rPr>
              <a:t>for a more capable agent, it moves in</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Specified region = obligation + scaffolding; outside it, degrees of freedom.</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Two boundaries, not one. Only one of them moves.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5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500"/>
                                        <p:tgtEl>
                                          <p:spTgt spid="21"/>
                                        </p:tgtEl>
                                      </p:cBhvr>
                                    </p:animEffect>
                                  </p:childTnLst>
                                </p:cTn>
                              </p:par>
                              <p:par>
                                <p:cTn id="11" presetID="10" presetClass="entr" presetSubtype="0" fill="hold" nodeType="with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fade">
                                      <p:cBhvr>
                                        <p:cTn id="13"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4</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CORRESPONDENCE</a:t>
            </a:r>
          </a:p>
        </p:txBody>
      </p:sp>
      <p:sp>
        <p:nvSpPr>
          <p:cNvPr id="3" name="Slide Number Placeholder 3"/>
          <p:cNvSpPr>
            <a:spLocks noGrp="1"/>
          </p:cNvSpPr>
          <p:nvPr>
            <p:ph type="sldNum" sz="quarter" idx="4"/>
          </p:nvPr>
        </p:nvSpPr>
        <p:spPr/>
        <p:txBody>
          <a:bodyPr/>
          <a:lstStyle/>
          <a:p>
            <a:fld id="{B7EB45DA-9A0D-DC49-8E02-F30A5DDC21C3}" type="slidenum">
              <a:rPr lang="en-US" smtClean="0"/>
              <a:t>23</a:t>
            </a:fld>
            <a:endParaRPr lang="en-US"/>
          </a:p>
        </p:txBody>
      </p:sp>
      <p:sp>
        <p:nvSpPr>
          <p:cNvPr id="101" name="Question"/>
          <p:cNvSpPr txBox="1"/>
          <p:nvPr/>
        </p:nvSpPr>
        <p:spPr>
          <a:xfrm>
            <a:off x="274320" y="2798064"/>
            <a:ext cx="8595360" cy="475488"/>
          </a:xfrm>
          <a:prstGeom prst="rect">
            <a:avLst/>
          </a:prstGeom>
          <a:noFill/>
          <a:ln>
            <a:noFill/>
          </a:ln>
        </p:spPr>
        <p:txBody>
          <a:bodyPr wrap="square" lIns="0" tIns="0" rIns="0" bIns="0" anchor="t"/>
          <a:lstStyle/>
          <a:p>
            <a:pPr algn="ctr">
              <a:buNone/>
            </a:pPr>
            <a:r>
              <a:rPr lang="en-US" sz="2400" b="0" i="0" dirty="0">
                <a:solidFill>
                  <a:srgbClr val="5C4826"/>
                </a:solidFill>
              </a:rPr>
              <a:t>A model is useful because something else corresponds to it.</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
        <p:nvSpPr>
          <p:cNvPr id="130" name="SubLine"/>
          <p:cNvSpPr txBox="1"/>
          <p:nvPr/>
        </p:nvSpPr>
        <p:spPr>
          <a:xfrm>
            <a:off x="274320" y="3657600"/>
            <a:ext cx="8595360" cy="274320"/>
          </a:xfrm>
          <a:prstGeom prst="rect">
            <a:avLst/>
          </a:prstGeom>
          <a:noFill/>
          <a:ln>
            <a:noFill/>
          </a:ln>
        </p:spPr>
        <p:txBody>
          <a:bodyPr wrap="square" lIns="0" tIns="0" rIns="0" bIns="0" anchor="t"/>
          <a:lstStyle/>
          <a:p>
            <a:pPr algn="ctr">
              <a:spcAft>
                <a:spcPts val="0"/>
              </a:spcAft>
              <a:buNone/>
            </a:pPr>
            <a:r>
              <a:rPr lang="en-US" sz="1800" b="0" dirty="0">
                <a:solidFill>
                  <a:srgbClr val="555960"/>
                </a:solidFill>
              </a:rPr>
              <a:t>How do you find out whether you left out the right things? Ask what corresponds.</a:t>
            </a:r>
          </a:p>
        </p:txBody>
      </p:sp>
      <p:sp>
        <p:nvSpPr>
          <p:cNvPr id="131" name="VTag1"/>
          <p:cNvSpPr txBox="1"/>
          <p:nvPr/>
        </p:nvSpPr>
        <p:spPr>
          <a:xfrm>
            <a:off x="274320" y="3977640"/>
            <a:ext cx="2743200" cy="640080"/>
          </a:xfrm>
          <a:prstGeom prst="rect">
            <a:avLst/>
          </a:prstGeom>
          <a:noFill/>
          <a:ln>
            <a:noFill/>
          </a:ln>
        </p:spPr>
        <p:txBody>
          <a:bodyPr wrap="square" lIns="0" tIns="0" rIns="0" bIns="0" anchor="ctr"/>
          <a:lstStyle/>
          <a:p>
            <a:pPr algn="ctr">
              <a:spcAft>
                <a:spcPts val="0"/>
              </a:spcAft>
              <a:buNone/>
            </a:pPr>
            <a:r>
              <a:rPr lang="en-US" sz="1600" b="1" i="0" dirty="0">
                <a:solidFill>
                  <a:srgbClr val="8E6F3E"/>
                </a:solidFill>
              </a:rPr>
              <a:t xml:space="preserve">MODEL → IMPLEMENTATIONS</a:t>
            </a:r>
          </a:p>
          <a:p>
            <a:pPr algn="ctr">
              <a:spcAft>
                <a:spcPts val="0"/>
              </a:spcAft>
              <a:buNone/>
            </a:pPr>
            <a:r>
              <a:rPr lang="en-US" sz="1400" b="0" i="0" dirty="0">
                <a:solidFill>
                  <a:srgbClr val="555960"/>
                </a:solidFill>
              </a:rPr>
              <a:t xml:space="preserve">one model, many implementations</a:t>
            </a:r>
          </a:p>
        </p:txBody>
      </p:sp>
      <p:sp>
        <p:nvSpPr>
          <p:cNvPr id="132" name="VTag2"/>
          <p:cNvSpPr txBox="1"/>
          <p:nvPr/>
        </p:nvSpPr>
        <p:spPr>
          <a:xfrm>
            <a:off x="3200400" y="3977640"/>
            <a:ext cx="2743200" cy="640080"/>
          </a:xfrm>
          <a:prstGeom prst="rect">
            <a:avLst/>
          </a:prstGeom>
          <a:noFill/>
          <a:ln>
            <a:noFill/>
          </a:ln>
        </p:spPr>
        <p:txBody>
          <a:bodyPr wrap="square" lIns="0" tIns="0" rIns="0" bIns="0" anchor="ctr"/>
          <a:lstStyle/>
          <a:p>
            <a:pPr algn="ctr">
              <a:spcAft>
                <a:spcPts val="0"/>
              </a:spcAft>
              <a:buNone/>
            </a:pPr>
            <a:r>
              <a:rPr lang="en-US" sz="1600" b="1" i="0" dirty="0">
                <a:solidFill>
                  <a:srgbClr val="8E6F3E"/>
                </a:solidFill>
              </a:rPr>
              <a:t xml:space="preserve">MODEL → MODEL</a:t>
            </a:r>
          </a:p>
          <a:p>
            <a:pPr algn="ctr">
              <a:spcAft>
                <a:spcPts val="0"/>
              </a:spcAft>
              <a:buNone/>
            </a:pPr>
            <a:r>
              <a:rPr lang="en-US" sz="1400" b="0" i="0" dirty="0">
                <a:solidFill>
                  <a:srgbClr val="555960"/>
                </a:solidFill>
              </a:rPr>
              <a:t xml:space="preserve">refinement into a system of models</a:t>
            </a:r>
          </a:p>
        </p:txBody>
      </p:sp>
      <p:sp>
        <p:nvSpPr>
          <p:cNvPr id="133" name="VTag3"/>
          <p:cNvSpPr txBox="1"/>
          <p:nvPr/>
        </p:nvSpPr>
        <p:spPr>
          <a:xfrm>
            <a:off x="6126480" y="3977640"/>
            <a:ext cx="2743200" cy="640080"/>
          </a:xfrm>
          <a:prstGeom prst="rect">
            <a:avLst/>
          </a:prstGeom>
          <a:noFill/>
          <a:ln>
            <a:noFill/>
          </a:ln>
        </p:spPr>
        <p:txBody>
          <a:bodyPr wrap="square" lIns="0" tIns="0" rIns="0" bIns="0" anchor="ctr"/>
          <a:lstStyle/>
          <a:p>
            <a:pPr algn="ctr">
              <a:spcAft>
                <a:spcPts val="0"/>
              </a:spcAft>
              <a:buNone/>
            </a:pPr>
            <a:r>
              <a:rPr lang="en-US" sz="1600" b="1" i="0" dirty="0">
                <a:solidFill>
                  <a:srgbClr val="8E6F3E"/>
                </a:solidFill>
              </a:rPr>
              <a:t xml:space="preserve">MODEL → EVIDENCE</a:t>
            </a:r>
          </a:p>
          <a:p>
            <a:pPr algn="ctr">
              <a:spcAft>
                <a:spcPts val="0"/>
              </a:spcAft>
              <a:buNone/>
            </a:pPr>
            <a:r>
              <a:rPr lang="en-US" sz="1400" b="0" i="0" dirty="0">
                <a:solidFill>
                  <a:srgbClr val="555960"/>
                </a:solidFill>
              </a:rPr>
              <a:t xml:space="preserve">✗ the quota  ·  ✓ the lease</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Too much reduction loses the obligation</a:t>
            </a:r>
          </a:p>
        </p:txBody>
      </p:sp>
      <p:sp>
        <p:nvSpPr>
          <p:cNvPr id="3" name="Slide Number Placeholder 3"/>
          <p:cNvSpPr>
            <a:spLocks noGrp="1"/>
          </p:cNvSpPr>
          <p:nvPr>
            <p:ph type="sldNum" sz="quarter" idx="4"/>
          </p:nvPr>
        </p:nvSpPr>
        <p:spPr/>
        <p:txBody>
          <a:bodyPr/>
          <a:lstStyle/>
          <a:p>
            <a:fld id="{B7EB45DA-9A0D-DC49-8E02-F30A5DDC21C3}" type="slidenum">
              <a:rPr lang="en-US" smtClean="0"/>
              <a:t>24</a:t>
            </a:fld>
            <a:endParaRPr lang="en-US"/>
          </a:p>
        </p:txBody>
      </p:sp>
      <p:sp>
        <p:nvSpPr>
          <p:cNvPr id="10" name="Intro"/>
          <p:cNvSpPr txBox="1"/>
          <p:nvPr/>
        </p:nvSpPr>
        <p:spPr>
          <a:xfrm>
            <a:off x="365760" y="1097280"/>
            <a:ext cx="8412480" cy="365760"/>
          </a:xfrm>
          <a:prstGeom prst="rect">
            <a:avLst/>
          </a:prstGeom>
          <a:noFill/>
          <a:ln>
            <a:noFill/>
          </a:ln>
        </p:spPr>
        <p:txBody>
          <a:bodyPr wrap="square" lIns="18288" tIns="18288" rIns="18288" bIns="18288" anchor="t">
            <a:spAutoFit/>
          </a:bodyPr>
          <a:lstStyle/>
          <a:p>
            <a:pPr algn="l">
              <a:spcAft>
                <a:spcPts val="0"/>
              </a:spcAft>
              <a:buNone/>
            </a:pPr>
            <a:r>
              <a:rPr lang="en-US" sz="1800" b="0" dirty="0">
                <a:solidFill>
                  <a:srgbClr val="555960"/>
                </a:solidFill>
              </a:rPr>
              <a:t>An account quota was reduced to a single credit count.</a:t>
            </a:r>
          </a:p>
        </p:txBody>
      </p:sp>
      <p:sp>
        <p:nvSpPr>
          <p:cNvPr id="11" name="Acct1"/>
          <p:cNvSpPr/>
          <p:nvPr/>
        </p:nvSpPr>
        <p:spPr>
          <a:xfrm>
            <a:off x="411480" y="1691640"/>
            <a:ext cx="2971800" cy="2468880"/>
          </a:xfrm>
          <a:prstGeom prst="rect">
            <a:avLst/>
          </a:prstGeom>
          <a:solidFill>
            <a:srgbClr val="F5F1E8"/>
          </a:solidFill>
          <a:ln w="12700">
            <a:solidFill>
              <a:srgbClr val="C9B991"/>
            </a:solidFill>
          </a:ln>
        </p:spPr>
        <p:txBody>
          <a:bodyPr wrap="square" lIns="27432" tIns="22860" rIns="27432" bIns="22860" anchor="ctr"/>
          <a:lstStyle/>
          <a:p>
            <a:pPr algn="ctr">
              <a:spcAft>
                <a:spcPts val="800"/>
              </a:spcAft>
              <a:buNone/>
            </a:pPr>
            <a:r>
              <a:rPr lang="en-US" sz="1600" b="1" dirty="0">
                <a:solidFill>
                  <a:srgbClr val="8E6F3E"/>
                </a:solidFill>
              </a:rPr>
              <a:t>THE ACCOUNT</a:t>
            </a:r>
          </a:p>
          <a:p>
            <a:pPr algn="ctr">
              <a:spcAft>
                <a:spcPts val="600"/>
              </a:spcAft>
              <a:buNone/>
            </a:pPr>
            <a:r>
              <a:rPr lang="en-US" sz="1500" b="1" dirty="0">
                <a:solidFill>
                  <a:srgbClr val="5C4826"/>
                </a:solidFill>
              </a:rPr>
              <a:t>quota: unlimited</a:t>
            </a:r>
          </a:p>
          <a:p>
            <a:pPr algn="ctr">
              <a:spcAft>
                <a:spcPts val="600"/>
              </a:spcAft>
              <a:buNone/>
            </a:pPr>
            <a:r>
              <a:rPr lang="en-US" sz="1500" b="0" dirty="0">
                <a:solidFill>
                  <a:srgbClr val="555960"/>
                </a:solidFill>
              </a:rPr>
              <a:t>renewal: monthly</a:t>
            </a:r>
          </a:p>
          <a:p>
            <a:pPr algn="ctr">
              <a:spcAft>
                <a:spcPts val="0"/>
              </a:spcAft>
              <a:buNone/>
            </a:pPr>
            <a:r>
              <a:rPr lang="en-US" sz="1500" b="0" dirty="0">
                <a:solidFill>
                  <a:srgbClr val="555960"/>
                </a:solidFill>
              </a:rPr>
              <a:t>usage history …</a:t>
            </a:r>
          </a:p>
        </p:txBody>
      </p:sp>
      <p:sp>
        <p:nvSpPr>
          <p:cNvPr id="12" name="ArrLbl"/>
          <p:cNvSpPr txBox="1"/>
          <p:nvPr/>
        </p:nvSpPr>
        <p:spPr>
          <a:xfrm>
            <a:off x="3474720" y="2560320"/>
            <a:ext cx="2057400" cy="27432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REDUCE TO A SCALAR</a:t>
            </a:r>
          </a:p>
        </p:txBody>
      </p:sp>
      <p:cxnSp>
        <p:nvCxnSpPr>
          <p:cNvPr id="13" name="AR1"/>
          <p:cNvCxnSpPr/>
          <p:nvPr/>
        </p:nvCxnSpPr>
        <p:spPr>
          <a:xfrm>
            <a:off x="3474720" y="2926080"/>
            <a:ext cx="2057400" cy="0"/>
          </a:xfrm>
          <a:prstGeom prst="straightConnector1">
            <a:avLst/>
          </a:prstGeom>
          <a:ln w="28575">
            <a:solidFill>
              <a:srgbClr val="8E6F3E"/>
            </a:solidFill>
            <a:tailEnd type="triangle" w="med" len="med"/>
          </a:ln>
        </p:spPr>
      </p:cxnSp>
      <p:sp>
        <p:nvSpPr>
          <p:cNvPr id="14" name="Card1"/>
          <p:cNvSpPr/>
          <p:nvPr/>
        </p:nvSpPr>
        <p:spPr>
          <a:xfrm>
            <a:off x="5623560" y="2560320"/>
            <a:ext cx="3062280" cy="731520"/>
          </a:xfrm>
          <a:prstGeom prst="rect">
            <a:avLst/>
          </a:prstGeom>
          <a:solidFill>
            <a:srgbClr val="5C4826"/>
          </a:solidFill>
          <a:ln>
            <a:noFill/>
          </a:ln>
        </p:spPr>
        <p:txBody>
          <a:bodyPr wrap="square" lIns="27432" tIns="22860" rIns="27432" bIns="22860" anchor="ctr"/>
          <a:lstStyle/>
          <a:p>
            <a:pPr algn="ctr">
              <a:spcAft>
                <a:spcPts val="0"/>
              </a:spcAft>
              <a:buNone/>
            </a:pPr>
            <a:r>
              <a:rPr lang="en-US" sz="1800" b="1" dirty="0">
                <a:solidFill>
                  <a:srgbClr val="FFFFFF"/>
                </a:solidFill>
              </a:rPr>
              <a:t>credits_remaining: 0</a:t>
            </a:r>
          </a:p>
        </p:txBody>
      </p:sp>
      <p:sp>
        <p:nvSpPr>
          <p:cNvPr id="15" name="CLbl1"/>
          <p:cNvSpPr txBox="1"/>
          <p:nvPr/>
        </p:nvSpPr>
        <p:spPr>
          <a:xfrm>
            <a:off x="5623560" y="3383280"/>
            <a:ext cx="3062280" cy="274320"/>
          </a:xfrm>
          <a:prstGeom prst="rect">
            <a:avLst/>
          </a:prstGeom>
          <a:noFill/>
          <a:ln>
            <a:noFill/>
          </a:ln>
        </p:spPr>
        <p:txBody>
          <a:bodyPr wrap="square" lIns="0" tIns="0" rIns="0" bIns="0" anchor="t"/>
          <a:lstStyle/>
          <a:p>
            <a:pPr algn="ctr">
              <a:spcAft>
                <a:spcPts val="0"/>
              </a:spcAft>
              <a:buNone/>
            </a:pPr>
            <a:r>
              <a:rPr lang="en-US" sz="1400" b="0" i="1" dirty="0">
                <a:solidFill>
                  <a:srgbClr val="555960"/>
                </a:solidFill>
              </a:rPr>
              <a:t>the whole model of the quota</a:t>
            </a:r>
          </a:p>
        </p:txBody>
      </p:sp>
      <p:cxnSp>
        <p:nvCxnSpPr>
          <p:cNvPr id="16" name="DropC"/>
          <p:cNvCxnSpPr/>
          <p:nvPr/>
        </p:nvCxnSpPr>
        <p:spPr>
          <a:xfrm>
            <a:off x="4503420" y="2926080"/>
            <a:ext cx="0" cy="868680"/>
          </a:xfrm>
          <a:prstGeom prst="straightConnector1">
            <a:avLst/>
          </a:prstGeom>
          <a:ln w="12700">
            <a:solidFill>
              <a:srgbClr val="8E6F3E"/>
            </a:solidFill>
            <a:prstDash val="dash"/>
            <a:tailEnd type="triangle" w="med" len="med"/>
          </a:ln>
        </p:spPr>
      </p:cxnSp>
      <p:sp>
        <p:nvSpPr>
          <p:cNvPr id="17" name="Drop1"/>
          <p:cNvSpPr/>
          <p:nvPr/>
        </p:nvSpPr>
        <p:spPr>
          <a:xfrm>
            <a:off x="3611880" y="3886200"/>
            <a:ext cx="1783080" cy="402336"/>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600" b="1" dirty="0">
                <a:solidFill>
                  <a:srgbClr val="8E6F3E"/>
                </a:solidFill>
              </a:rPr>
              <a:t>✗ unlimited</a:t>
            </a:r>
          </a:p>
        </p:txBody>
      </p:sp>
      <p:sp>
        <p:nvSpPr>
          <p:cNvPr id="18" name="Note1"/>
          <p:cNvSpPr txBox="1"/>
          <p:nvPr/>
        </p:nvSpPr>
        <p:spPr>
          <a:xfrm>
            <a:off x="5486400" y="3931920"/>
            <a:ext cx="3200400" cy="365760"/>
          </a:xfrm>
          <a:prstGeom prst="rect">
            <a:avLst/>
          </a:prstGeom>
          <a:noFill/>
          <a:ln>
            <a:noFill/>
          </a:ln>
        </p:spPr>
        <p:txBody>
          <a:bodyPr wrap="square" lIns="0" tIns="0" rIns="0" bIns="0" anchor="t"/>
          <a:lstStyle/>
          <a:p>
            <a:pPr algn="l">
              <a:spcAft>
                <a:spcPts val="0"/>
              </a:spcAft>
              <a:buNone/>
            </a:pPr>
            <a:r>
              <a:rPr lang="en-US" sz="1500" b="0" i="1" dirty="0">
                <a:solidFill>
                  <a:srgbClr val="555960"/>
                </a:solidFill>
              </a:rPr>
              <a:t>has nowhere to live in a scalar</a:t>
            </a:r>
          </a:p>
        </p:txBody>
      </p:sp>
      <p:sp>
        <p:nvSpPr>
          <p:cNvPr id="19" name="Outcome"/>
          <p:cNvSpPr txBox="1"/>
          <p:nvPr/>
        </p:nvSpPr>
        <p:spPr>
          <a:xfrm>
            <a:off x="365760" y="4709160"/>
            <a:ext cx="8412480" cy="640080"/>
          </a:xfrm>
          <a:prstGeom prst="rect">
            <a:avLst/>
          </a:prstGeom>
          <a:noFill/>
          <a:ln>
            <a:noFill/>
          </a:ln>
        </p:spPr>
        <p:txBody>
          <a:bodyPr wrap="square" lIns="18288" tIns="18288" rIns="18288" bIns="18288" anchor="t"/>
          <a:lstStyle/>
          <a:p>
            <a:pPr algn="ctr">
              <a:spcAft>
                <a:spcPts val="0"/>
              </a:spcAft>
              <a:buNone/>
            </a:pPr>
            <a:r>
              <a:rPr lang="en-US" sz="1800" b="0" dirty="0">
                <a:solidFill>
                  <a:srgbClr val="555960"/>
                </a:solidFill>
              </a:rPr>
              <a:t>The implementation distinguished unlimited from exhausted. The model represented both as 0.</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The reduction erased a distinction the obligation required.</a:t>
            </a:r>
          </a:p>
        </p:txBody>
      </p:sp>
      <p:sp>
        <p:nvSpPr>
          <p:cNvPr id="140" name="EvTag"/>
          <p:cNvSpPr txBox="1"/>
          <p:nvPr/>
        </p:nvSpPr>
        <p:spPr>
          <a:xfrm>
            <a:off x="5943600" y="5440680"/>
            <a:ext cx="2926080" cy="274320"/>
          </a:xfrm>
          <a:prstGeom prst="rect">
            <a:avLst/>
          </a:prstGeom>
          <a:noFill/>
          <a:ln>
            <a:noFill/>
          </a:ln>
        </p:spPr>
        <p:txBody>
          <a:bodyPr wrap="square" lIns="0" tIns="0" rIns="0" bIns="0" anchor="t"/>
          <a:lstStyle/>
          <a:p>
            <a:pPr algn="r">
              <a:spcAft>
                <a:spcPts val="0"/>
              </a:spcAft>
              <a:buNone/>
            </a:pPr>
            <a:r>
              <a:rPr lang="en-US" sz="1400" b="1" i="0" dirty="0">
                <a:solidFill>
                  <a:srgbClr val="8E6F3E"/>
                </a:solidFill>
              </a:rPr>
              <a:t xml:space="preserve">CORRESPONDENCE FAILED</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Good reduction leaves implementation free</a:t>
            </a:r>
          </a:p>
        </p:txBody>
      </p:sp>
      <p:sp>
        <p:nvSpPr>
          <p:cNvPr id="3" name="Slide Number Placeholder 3"/>
          <p:cNvSpPr>
            <a:spLocks noGrp="1"/>
          </p:cNvSpPr>
          <p:nvPr>
            <p:ph type="sldNum" sz="quarter" idx="4"/>
          </p:nvPr>
        </p:nvSpPr>
        <p:spPr/>
        <p:txBody>
          <a:bodyPr/>
          <a:lstStyle/>
          <a:p>
            <a:fld id="{B7EB45DA-9A0D-DC49-8E02-F30A5DDC21C3}" type="slidenum">
              <a:rPr lang="en-US" smtClean="0"/>
              <a:t>25</a:t>
            </a:fld>
            <a:endParaRPr lang="en-US"/>
          </a:p>
        </p:txBody>
      </p:sp>
      <p:sp>
        <p:nvSpPr>
          <p:cNvPr id="10" name="LeaseC"/>
          <p:cNvSpPr/>
          <p:nvPr/>
        </p:nvSpPr>
        <p:spPr>
          <a:xfrm>
            <a:off x="1874520" y="1188720"/>
            <a:ext cx="5394960" cy="1234440"/>
          </a:xfrm>
          <a:prstGeom prst="rect">
            <a:avLst/>
          </a:prstGeom>
          <a:solidFill>
            <a:srgbClr val="F5F1E8"/>
          </a:solidFill>
          <a:ln w="12700">
            <a:solidFill>
              <a:srgbClr val="C9B991"/>
            </a:solidFill>
          </a:ln>
        </p:spPr>
        <p:txBody>
          <a:bodyPr wrap="square" lIns="27432" tIns="22860" rIns="27432" bIns="22860" anchor="ctr"/>
          <a:lstStyle/>
          <a:p>
            <a:pPr algn="ctr">
              <a:spcAft>
                <a:spcPts val="600"/>
              </a:spcAft>
              <a:buNone/>
            </a:pPr>
            <a:r>
              <a:rPr lang="en-US" sz="1600" b="1" dirty="0">
                <a:solidFill>
                  <a:srgbClr val="8E6F3E"/>
                </a:solidFill>
              </a:rPr>
              <a:t>THE LEASE MODEL</a:t>
            </a:r>
          </a:p>
          <a:p>
            <a:pPr algn="ctr">
              <a:spcAft>
                <a:spcPts val="600"/>
              </a:spcAft>
              <a:buNone/>
            </a:pPr>
            <a:r>
              <a:rPr lang="en-US" sz="1500" b="1" dirty="0">
                <a:solidFill>
                  <a:srgbClr val="5C4826"/>
                </a:solidFill>
              </a:rPr>
              <a:t>owner · generation · lifetime · reclamation</a:t>
            </a:r>
          </a:p>
          <a:p>
            <a:pPr algn="ctr">
              <a:spcAft>
                <a:spcPts val="0"/>
              </a:spcAft>
              <a:buNone/>
            </a:pPr>
            <a:r>
              <a:rPr lang="en-US" sz="1500" b="0" dirty="0">
                <a:solidFill>
                  <a:srgbClr val="555960"/>
                </a:solidFill>
              </a:rPr>
              <a:t>forbidden: releasing a lease under a stale generation</a:t>
            </a:r>
          </a:p>
        </p:txBody>
      </p:sp>
      <p:sp>
        <p:nvSpPr>
          <p:cNvPr id="11" name="CapC"/>
          <p:cNvSpPr txBox="1"/>
          <p:nvPr/>
        </p:nvSpPr>
        <p:spPr>
          <a:xfrm>
            <a:off x="1874520" y="2514600"/>
            <a:ext cx="5394960" cy="274320"/>
          </a:xfrm>
          <a:prstGeom prst="rect">
            <a:avLst/>
          </a:prstGeom>
          <a:noFill/>
          <a:ln>
            <a:noFill/>
          </a:ln>
        </p:spPr>
        <p:txBody>
          <a:bodyPr wrap="square" lIns="0" tIns="0" rIns="0" bIns="0" anchor="t"/>
          <a:lstStyle/>
          <a:p>
            <a:pPr algn="ctr">
              <a:spcAft>
                <a:spcPts val="0"/>
              </a:spcAft>
              <a:buNone/>
            </a:pPr>
            <a:r>
              <a:rPr lang="en-US" sz="1500" b="1" dirty="0">
                <a:solidFill>
                  <a:srgbClr val="8E6F3E"/>
                </a:solidFill>
              </a:rPr>
              <a:t>✓ unchanged — the model did not move</a:t>
            </a:r>
          </a:p>
        </p:txBody>
      </p:sp>
      <p:sp>
        <p:nvSpPr>
          <p:cNvPr id="12" name="OmitL"/>
          <p:cNvSpPr txBox="1"/>
          <p:nvPr/>
        </p:nvSpPr>
        <p:spPr>
          <a:xfrm>
            <a:off x="365760" y="2971800"/>
            <a:ext cx="8412480" cy="27432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omitted from the model: the processing topology</a:t>
            </a:r>
          </a:p>
        </p:txBody>
      </p:sp>
      <p:sp>
        <p:nvSpPr>
          <p:cNvPr id="13" name="PanB"/>
          <p:cNvSpPr/>
          <p:nvPr/>
        </p:nvSpPr>
        <p:spPr>
          <a:xfrm>
            <a:off x="640080" y="3337560"/>
            <a:ext cx="3383280" cy="1371600"/>
          </a:xfrm>
          <a:prstGeom prst="rect">
            <a:avLst/>
          </a:prstGeom>
          <a:solidFill>
            <a:srgbClr val="FBF8F2"/>
          </a:solidFill>
          <a:ln w="12700">
            <a:solidFill>
              <a:srgbClr val="C9B991"/>
            </a:solidFill>
          </a:ln>
        </p:spPr>
        <p:txBody>
          <a:bodyPr wrap="square" lIns="27432" tIns="22860" rIns="27432" bIns="22860" anchor="t"/>
          <a:lstStyle/>
          <a:p>
            <a:pPr algn="ctr">
              <a:spcAft>
                <a:spcPts val="0"/>
              </a:spcAft>
              <a:buNone/>
            </a:pPr>
            <a:r>
              <a:rPr lang="en-US" sz="1400" b="1" dirty="0">
                <a:solidFill>
                  <a:srgbClr val="555960"/>
                </a:solidFill>
              </a:rPr>
              <a:t>BEFORE</a:t>
            </a:r>
          </a:p>
        </p:txBody>
      </p:sp>
      <p:sp>
        <p:nvSpPr>
          <p:cNvPr id="14" name="Mb1"/>
          <p:cNvSpPr/>
          <p:nvPr/>
        </p:nvSpPr>
        <p:spPr>
          <a:xfrm>
            <a:off x="868680" y="3908520"/>
            <a:ext cx="292608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one service, one pass over the document</a:t>
            </a:r>
          </a:p>
        </p:txBody>
      </p:sp>
      <p:sp>
        <p:nvSpPr>
          <p:cNvPr id="15" name="PanA"/>
          <p:cNvSpPr/>
          <p:nvPr/>
        </p:nvSpPr>
        <p:spPr>
          <a:xfrm>
            <a:off x="5120640" y="3337560"/>
            <a:ext cx="3383280" cy="1371600"/>
          </a:xfrm>
          <a:prstGeom prst="rect">
            <a:avLst/>
          </a:prstGeom>
          <a:solidFill>
            <a:srgbClr val="FBF8F2"/>
          </a:solidFill>
          <a:ln w="12700">
            <a:solidFill>
              <a:srgbClr val="C9B991"/>
            </a:solidFill>
          </a:ln>
        </p:spPr>
        <p:txBody>
          <a:bodyPr wrap="square" lIns="27432" tIns="22860" rIns="27432" bIns="22860" anchor="t"/>
          <a:lstStyle/>
          <a:p>
            <a:pPr algn="ctr">
              <a:spcAft>
                <a:spcPts val="0"/>
              </a:spcAft>
              <a:buNone/>
            </a:pPr>
            <a:r>
              <a:rPr lang="en-US" sz="1400" b="1" dirty="0">
                <a:solidFill>
                  <a:srgbClr val="555960"/>
                </a:solidFill>
              </a:rPr>
              <a:t>AFTER</a:t>
            </a:r>
          </a:p>
        </p:txBody>
      </p:sp>
      <p:sp>
        <p:nvSpPr>
          <p:cNvPr id="16" name="Mb2"/>
          <p:cNvSpPr/>
          <p:nvPr/>
        </p:nvSpPr>
        <p:spPr>
          <a:xfrm>
            <a:off x="5349240" y="3794760"/>
            <a:ext cx="2926080" cy="384048"/>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fan out across chunk workers</a:t>
            </a:r>
          </a:p>
        </p:txBody>
      </p:sp>
      <p:sp>
        <p:nvSpPr>
          <p:cNvPr id="17" name="Mb3"/>
          <p:cNvSpPr/>
          <p:nvPr/>
        </p:nvSpPr>
        <p:spPr>
          <a:xfrm>
            <a:off x="5349240" y="4270248"/>
            <a:ext cx="2926080" cy="384048"/>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merge the results</a:t>
            </a:r>
          </a:p>
        </p:txBody>
      </p:sp>
      <p:cxnSp>
        <p:nvCxnSpPr>
          <p:cNvPr id="18" name="ChgA"/>
          <p:cNvCxnSpPr/>
          <p:nvPr/>
        </p:nvCxnSpPr>
        <p:spPr>
          <a:xfrm>
            <a:off x="4023360" y="4023360"/>
            <a:ext cx="1097280" cy="0"/>
          </a:xfrm>
          <a:prstGeom prst="straightConnector1">
            <a:avLst/>
          </a:prstGeom>
          <a:ln w="28575">
            <a:solidFill>
              <a:srgbClr val="8E6F3E"/>
            </a:solidFill>
            <a:tailEnd type="triangle" w="med" len="med"/>
          </a:ln>
        </p:spPr>
      </p:cxnSp>
      <p:sp>
        <p:nvSpPr>
          <p:cNvPr id="19" name="ChgL"/>
          <p:cNvSpPr txBox="1"/>
          <p:nvPr/>
        </p:nvSpPr>
        <p:spPr>
          <a:xfrm>
            <a:off x="4046220" y="3437890"/>
            <a:ext cx="1051560" cy="54864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the topology changed</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The omission was tested by reality, and passed.</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“We changed the pointers to the code, but not the model.”</a:t>
            </a:r>
          </a:p>
        </p:txBody>
      </p:sp>
      <p:sp>
        <p:nvSpPr>
          <p:cNvPr id="140" name="EvTag"/>
          <p:cNvSpPr txBox="1"/>
          <p:nvPr/>
        </p:nvSpPr>
        <p:spPr>
          <a:xfrm>
            <a:off x="5943600" y="5532120"/>
            <a:ext cx="2926080" cy="274320"/>
          </a:xfrm>
          <a:prstGeom prst="rect">
            <a:avLst/>
          </a:prstGeom>
          <a:noFill/>
          <a:ln>
            <a:noFill/>
          </a:ln>
        </p:spPr>
        <p:txBody>
          <a:bodyPr wrap="square" lIns="0" tIns="0" rIns="0" bIns="0" anchor="t"/>
          <a:lstStyle/>
          <a:p>
            <a:pPr algn="r">
              <a:spcAft>
                <a:spcPts val="0"/>
              </a:spcAft>
              <a:buNone/>
            </a:pPr>
            <a:r>
              <a:rPr lang="en-US" sz="1400" b="1" i="0" dirty="0">
                <a:solidFill>
                  <a:srgbClr val="8E6F3E"/>
                </a:solidFill>
              </a:rPr>
              <a:t xml:space="preserve">CORRESPONDENCE HELD</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139696"/>
            <a:ext cx="7772400" cy="1444752"/>
          </a:xfrm>
        </p:spPr>
        <p:txBody>
          <a:bodyPr>
            <a:normAutofit/>
          </a:bodyPr>
          <a:lstStyle/>
          <a:p>
            <a:pPr algn="ctr">
              <a:buNone/>
              <a:defRPr b="0"/>
            </a:pPr>
            <a:r>
              <a:rPr lang="en-US" sz="3400" b="0" i="0" dirty="0">
                <a:solidFill>
                  <a:srgbClr val="000000"/>
                </a:solidFill>
              </a:rPr>
              <a:t>Stretch break</a:t>
            </a:r>
          </a:p>
        </p:txBody>
      </p:sp>
      <p:sp>
        <p:nvSpPr>
          <p:cNvPr id="3" name="Slide Number Placeholder 3"/>
          <p:cNvSpPr>
            <a:spLocks noGrp="1"/>
          </p:cNvSpPr>
          <p:nvPr>
            <p:ph type="sldNum" sz="quarter" idx="4"/>
          </p:nvPr>
        </p:nvSpPr>
        <p:spPr/>
        <p:txBody>
          <a:bodyPr/>
          <a:lstStyle/>
          <a:p>
            <a:fld id="{B7EB45DA-9A0D-DC49-8E02-F30A5DDC21C3}" type="slidenum">
              <a:rPr lang="en-US" smtClean="0"/>
              <a:t>27</a:t>
            </a:fld>
            <a:endParaRPr lang="en-US"/>
          </a:p>
        </p:txBody>
      </p:sp>
      <p:sp>
        <p:nvSpPr>
          <p:cNvPr id="101" name="Rule"/>
          <p:cNvSpPr/>
          <p:nvPr/>
        </p:nvSpPr>
        <p:spPr>
          <a:xfrm>
            <a:off x="3429000" y="3383280"/>
            <a:ext cx="2286000" cy="51206"/>
          </a:xfrm>
          <a:prstGeom prst="rect">
            <a:avLst/>
          </a:prstGeom>
          <a:solidFill>
            <a:srgbClr val="8E6F3E"/>
          </a:solidFill>
          <a:ln>
            <a:noFill/>
          </a:ln>
        </p:spPr>
        <p:txBody>
          <a:bodyPr wrap="square" lIns="27432" tIns="22860" rIns="27432" bIns="22860" anchor="ctr"/>
          <a:lstStyle/>
          <a:p>
            <a:pPr>
              <a:buNone/>
            </a:pPr>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One model, many implementations</a:t>
            </a:r>
          </a:p>
        </p:txBody>
      </p:sp>
      <p:sp>
        <p:nvSpPr>
          <p:cNvPr id="3" name="Slide Number Placeholder 3"/>
          <p:cNvSpPr>
            <a:spLocks noGrp="1"/>
          </p:cNvSpPr>
          <p:nvPr>
            <p:ph type="sldNum" sz="quarter" idx="4"/>
          </p:nvPr>
        </p:nvSpPr>
        <p:spPr/>
        <p:txBody>
          <a:bodyPr/>
          <a:lstStyle/>
          <a:p>
            <a:fld id="{B7EB45DA-9A0D-DC49-8E02-F30A5DDC21C3}" type="slidenum">
              <a:rPr lang="en-US" smtClean="0"/>
              <a:t>16</a:t>
            </a:fld>
            <a:endParaRPr lang="en-US"/>
          </a:p>
        </p:txBody>
      </p:sp>
      <p:sp>
        <p:nvSpPr>
          <p:cNvPr id="20" name="ModelKick"/>
          <p:cNvSpPr txBox="1"/>
          <p:nvPr/>
        </p:nvSpPr>
        <p:spPr>
          <a:xfrm>
            <a:off x="274320" y="868680"/>
            <a:ext cx="8595360" cy="256032"/>
          </a:xfrm>
          <a:prstGeom prst="rect">
            <a:avLst/>
          </a:prstGeom>
          <a:noFill/>
          <a:ln>
            <a:noFill/>
          </a:ln>
        </p:spPr>
        <p:txBody>
          <a:bodyPr wrap="square" lIns="0" tIns="0" rIns="0" bIns="0" anchor="t"/>
          <a:lstStyle/>
          <a:p>
            <a:pPr algn="ctr">
              <a:spcAft>
                <a:spcPts val="0"/>
              </a:spcAft>
              <a:buNone/>
            </a:pPr>
            <a:r>
              <a:rPr lang="en-US" sz="1600" b="1" i="0" dirty="0">
                <a:solidFill>
                  <a:srgbClr val="8E6F3E"/>
                </a:solidFill>
              </a:rPr>
              <a:t xml:space="preserve">THE MODEL  ·  the one you just worked on</a:t>
            </a:r>
          </a:p>
        </p:txBody>
      </p:sp>
      <p:sp>
        <p:nvSpPr>
          <p:cNvPr id="50" name="FigPanel"/>
          <p:cNvSpPr/>
          <p:nvPr/>
        </p:nvSpPr>
        <p:spPr>
          <a:xfrm>
            <a:off x="2437130" y="1115568"/>
            <a:ext cx="4269740" cy="2103120"/>
          </a:xfrm>
          <a:prstGeom prst="rect">
            <a:avLst/>
          </a:prstGeom>
          <a:solidFill>
            <a:srgbClr val="FDFCF9"/>
          </a:solidFill>
          <a:ln>
            <a:noFill/>
          </a:ln>
        </p:spPr>
        <p:txBody>
          <a:bodyPr wrap="square" lIns="27432" tIns="22860" rIns="27432" bIns="22860" anchor="ctr"/>
          <a:lstStyle/>
          <a:p>
            <a:pPr>
              <a:buNone/>
            </a:pPr>
            <a:endParaRPr lang="en-US"/>
          </a:p>
        </p:txBody>
      </p:sp>
      <p:pic>
        <p:nvPicPr>
          <p:cNvPr id="60" name="TourFigure" descr="A UML state machine for a course proposal: Draft to Submitted to Approved to Published, with a revise transition returning Submitted to Draft, and a final state after Published."/>
          <p:cNvPicPr>
            <a:picLocks noChangeAspect="1"/>
          </p:cNvPicPr>
          <p:nvPr/>
        </p:nvPicPr>
        <p:blipFill>
          <a:blip r:embed="rId2"/>
          <a:stretch>
            <a:fillRect/>
          </a:stretch>
        </p:blipFill>
        <p:spPr>
          <a:xfrm>
            <a:off x="2529070" y="1207008"/>
            <a:ext cx="4085860" cy="1920240"/>
          </a:xfrm>
          <a:prstGeom prst="rect">
            <a:avLst/>
          </a:prstGeom>
        </p:spPr>
      </p:pic>
      <p:sp>
        <p:nvSpPr>
          <p:cNvPr id="70" name="CardA"/>
          <p:cNvSpPr/>
          <p:nvPr/>
        </p:nvSpPr>
        <p:spPr>
          <a:xfrm>
            <a:off x="274320" y="3364992"/>
            <a:ext cx="2743200" cy="1481328"/>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600" b="1" i="0" dirty="0">
                <a:solidFill>
                  <a:srgbClr val="8E6F3E"/>
                </a:solidFill>
              </a:rPr>
              <a:t xml:space="preserve">A  STATE ENUM</a:t>
            </a:r>
          </a:p>
          <a:p>
            <a:pPr algn="ctr">
              <a:spcAft>
                <a:spcPts val="0"/>
              </a:spcAft>
              <a:buNone/>
            </a:pPr>
            <a:r>
              <a:rPr lang="en-US" sz="1400" b="0" i="0" dirty="0">
                <a:solidFill>
                  <a:srgbClr val="5C4826"/>
                </a:solidFill>
              </a:rPr>
              <a:t xml:space="preserve">status = Draft</a:t>
            </a:r>
          </a:p>
          <a:p>
            <a:pPr algn="ctr">
              <a:spcAft>
                <a:spcPts val="0"/>
              </a:spcAft>
              <a:buNone/>
            </a:pPr>
            <a:r>
              <a:rPr lang="en-US" sz="1400" b="0" i="0" dirty="0">
                <a:solidFill>
                  <a:srgbClr val="5C4826"/>
                </a:solidFill>
              </a:rPr>
              <a:t xml:space="preserve">status = Submitted</a:t>
            </a:r>
          </a:p>
          <a:p>
            <a:pPr algn="ctr">
              <a:spcAft>
                <a:spcPts val="0"/>
              </a:spcAft>
              <a:buNone/>
            </a:pPr>
            <a:r>
              <a:rPr lang="en-US" sz="1400" b="0" i="1" dirty="0">
                <a:solidFill>
                  <a:srgbClr val="555960"/>
                </a:solidFill>
              </a:rPr>
              <a:t xml:space="preserve">one field, plus transition logic</a:t>
            </a:r>
          </a:p>
        </p:txBody>
      </p:sp>
      <p:sp>
        <p:nvSpPr>
          <p:cNvPr id="71" name="CardB"/>
          <p:cNvSpPr/>
          <p:nvPr/>
        </p:nvSpPr>
        <p:spPr>
          <a:xfrm>
            <a:off x="3200400" y="3364992"/>
            <a:ext cx="2743200" cy="1481328"/>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600" b="1" i="0" dirty="0">
                <a:solidFill>
                  <a:srgbClr val="8E6F3E"/>
                </a:solidFill>
              </a:rPr>
              <a:t xml:space="preserve">B  STATE OBJECTS</a:t>
            </a:r>
          </a:p>
          <a:p>
            <a:pPr algn="ctr">
              <a:spcAft>
                <a:spcPts val="0"/>
              </a:spcAft>
              <a:buNone/>
            </a:pPr>
            <a:r>
              <a:rPr lang="en-US" sz="1400" b="0" i="0" dirty="0">
                <a:solidFill>
                  <a:srgbClr val="5C4826"/>
                </a:solidFill>
              </a:rPr>
              <a:t xml:space="preserve">class DraftState:</a:t>
            </a:r>
          </a:p>
          <a:p>
            <a:pPr algn="ctr">
              <a:spcAft>
                <a:spcPts val="0"/>
              </a:spcAft>
              <a:buNone/>
            </a:pPr>
            <a:r>
              <a:rPr lang="en-US" sz="1400" b="0" i="0" dirty="0">
                <a:solidFill>
                  <a:srgbClr val="5C4826"/>
                </a:solidFill>
              </a:rPr>
              <a:t xml:space="preserve">def submit(self): …</a:t>
            </a:r>
          </a:p>
          <a:p>
            <a:pPr algn="ctr">
              <a:spcAft>
                <a:spcPts val="0"/>
              </a:spcAft>
              <a:buNone/>
            </a:pPr>
            <a:r>
              <a:rPr lang="en-US" sz="1400" b="0" i="1" dirty="0">
                <a:solidFill>
                  <a:srgbClr val="555960"/>
                </a:solidFill>
              </a:rPr>
              <a:t xml:space="preserve">one class per state</a:t>
            </a:r>
          </a:p>
        </p:txBody>
      </p:sp>
      <p:sp>
        <p:nvSpPr>
          <p:cNvPr id="72" name="CardC"/>
          <p:cNvSpPr/>
          <p:nvPr/>
        </p:nvSpPr>
        <p:spPr>
          <a:xfrm>
            <a:off x="6126480" y="3364992"/>
            <a:ext cx="2743200" cy="1481328"/>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600" b="1" i="0" dirty="0">
                <a:solidFill>
                  <a:srgbClr val="8E6F3E"/>
                </a:solidFill>
              </a:rPr>
              <a:t xml:space="preserve">C  TRANSITION TABLE</a:t>
            </a:r>
          </a:p>
          <a:p>
            <a:pPr algn="ctr">
              <a:spcAft>
                <a:spcPts val="0"/>
              </a:spcAft>
              <a:buNone/>
            </a:pPr>
            <a:r>
              <a:rPr lang="en-US" sz="1400" b="0" i="0" dirty="0">
                <a:solidFill>
                  <a:srgbClr val="5C4826"/>
                </a:solidFill>
              </a:rPr>
              <a:t xml:space="preserve">(Draft, submit) → Submitted</a:t>
            </a:r>
          </a:p>
          <a:p>
            <a:pPr algn="ctr">
              <a:spcAft>
                <a:spcPts val="0"/>
              </a:spcAft>
              <a:buNone/>
            </a:pPr>
            <a:r>
              <a:rPr lang="en-US" sz="1400" b="0" i="0" dirty="0">
                <a:solidFill>
                  <a:srgbClr val="5C4826"/>
                </a:solidFill>
              </a:rPr>
              <a:t xml:space="preserve">(Submitted, approve) → Approved</a:t>
            </a:r>
          </a:p>
          <a:p>
            <a:pPr algn="ctr">
              <a:spcAft>
                <a:spcPts val="0"/>
              </a:spcAft>
              <a:buNone/>
            </a:pPr>
            <a:r>
              <a:rPr lang="en-US" sz="1400" b="0" i="1" dirty="0">
                <a:solidFill>
                  <a:srgbClr val="555960"/>
                </a:solidFill>
              </a:rPr>
              <a:t xml:space="preserve">read by a workflow engine</a:t>
            </a:r>
          </a:p>
        </p:txBody>
      </p:sp>
      <p:sp>
        <p:nvSpPr>
          <p:cNvPr id="80" name="PunchA"/>
          <p:cNvSpPr txBox="1"/>
          <p:nvPr/>
        </p:nvSpPr>
        <p:spPr>
          <a:xfrm>
            <a:off x="274320" y="4983480"/>
            <a:ext cx="8595360" cy="502920"/>
          </a:xfrm>
          <a:prstGeom prst="rect">
            <a:avLst/>
          </a:prstGeom>
          <a:solidFill>
            <a:srgbClr val="FBF8F2"/>
          </a:solidFill>
          <a:ln w="19050">
            <a:solidFill>
              <a:srgbClr val="8E6F3E"/>
            </a:solidFill>
          </a:ln>
        </p:spPr>
        <p:txBody>
          <a:bodyPr wrap="square" lIns="27432" tIns="22860" rIns="27432" bIns="22860" anchor="ctr"/>
          <a:lstStyle/>
          <a:p>
            <a:pPr algn="ctr">
              <a:spcAft>
                <a:spcPts val="0"/>
              </a:spcAft>
              <a:buNone/>
            </a:pPr>
            <a:r>
              <a:rPr lang="en-US" sz="2000" b="1" i="0" dirty="0">
                <a:solidFill>
                  <a:srgbClr val="8E6F3E"/>
                </a:solidFill>
              </a:rPr>
              <a:t xml:space="preserve">All are reasonable. All can correspond to the model.</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 xml:space="preserve">A model constrains implementation without determining implementation.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0"/>
                                        </p:tgtEl>
                                        <p:attrNameLst>
                                          <p:attrName>style.visibility</p:attrName>
                                        </p:attrNameLst>
                                      </p:cBhvr>
                                      <p:to>
                                        <p:strVal val="visible"/>
                                      </p:to>
                                    </p:set>
                                    <p:animEffect transition="in" filter="fade">
                                      <p:cBhvr>
                                        <p:cTn id="7" dur="500"/>
                                        <p:tgtEl>
                                          <p:spTgt spid="70"/>
                                        </p:tgtEl>
                                      </p:cBhvr>
                                    </p:animEffect>
                                  </p:childTnLst>
                                </p:cTn>
                              </p:par>
                              <p:par>
                                <p:cTn id="8" presetID="10" presetClass="entr" presetSubtype="0" fill="hold" nodeType="withEffect">
                                  <p:stCondLst>
                                    <p:cond delay="0"/>
                                  </p:stCondLst>
                                  <p:childTnLst>
                                    <p:set>
                                      <p:cBhvr>
                                        <p:cTn id="9" dur="1" fill="hold">
                                          <p:stCondLst>
                                            <p:cond delay="0"/>
                                          </p:stCondLst>
                                        </p:cTn>
                                        <p:tgtEl>
                                          <p:spTgt spid="71"/>
                                        </p:tgtEl>
                                        <p:attrNameLst>
                                          <p:attrName>style.visibility</p:attrName>
                                        </p:attrNameLst>
                                      </p:cBhvr>
                                      <p:to>
                                        <p:strVal val="visible"/>
                                      </p:to>
                                    </p:set>
                                    <p:animEffect transition="in" filter="fade">
                                      <p:cBhvr>
                                        <p:cTn id="10" dur="500"/>
                                        <p:tgtEl>
                                          <p:spTgt spid="71"/>
                                        </p:tgtEl>
                                      </p:cBhvr>
                                    </p:animEffect>
                                  </p:childTnLst>
                                </p:cTn>
                              </p:par>
                              <p:par>
                                <p:cTn id="11" presetID="10" presetClass="entr" presetSubtype="0" fill="hold" nodeType="withEffect">
                                  <p:stCondLst>
                                    <p:cond delay="0"/>
                                  </p:stCondLst>
                                  <p:childTnLst>
                                    <p:set>
                                      <p:cBhvr>
                                        <p:cTn id="12" dur="1" fill="hold">
                                          <p:stCondLst>
                                            <p:cond delay="0"/>
                                          </p:stCondLst>
                                        </p:cTn>
                                        <p:tgtEl>
                                          <p:spTgt spid="72"/>
                                        </p:tgtEl>
                                        <p:attrNameLst>
                                          <p:attrName>style.visibility</p:attrName>
                                        </p:attrNameLst>
                                      </p:cBhvr>
                                      <p:to>
                                        <p:strVal val="visible"/>
                                      </p:to>
                                    </p:set>
                                    <p:animEffect transition="in" filter="fade">
                                      <p:cBhvr>
                                        <p:cTn id="13" dur="500"/>
                                        <p:tgtEl>
                                          <p:spTgt spid="7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80"/>
                                        </p:tgtEl>
                                        <p:attrNameLst>
                                          <p:attrName>style.visibility</p:attrName>
                                        </p:attrNameLst>
                                      </p:cBhvr>
                                      <p:to>
                                        <p:strVal val="visible"/>
                                      </p:to>
                                    </p:set>
                                    <p:animEffect transition="in" filter="fade">
                                      <p:cBhvr>
                                        <p:cTn id="18" dur="500"/>
                                        <p:tgtEl>
                                          <p:spTgt spid="80"/>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99"/>
                                        </p:tgtEl>
                                        <p:attrNameLst>
                                          <p:attrName>style.visibility</p:attrName>
                                        </p:attrNameLst>
                                      </p:cBhvr>
                                      <p:to>
                                        <p:strVal val="visible"/>
                                      </p:to>
                                    </p:set>
                                    <p:animEffect transition="in" filter="fade">
                                      <p:cBhvr>
                                        <p:cTn id="23"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Good engineers reuse wherever appropriate</a:t>
            </a:r>
          </a:p>
        </p:txBody>
      </p:sp>
      <p:sp>
        <p:nvSpPr>
          <p:cNvPr id="3" name="Slide Number Placeholder 3"/>
          <p:cNvSpPr>
            <a:spLocks noGrp="1"/>
          </p:cNvSpPr>
          <p:nvPr>
            <p:ph type="sldNum" sz="quarter" idx="4"/>
          </p:nvPr>
        </p:nvSpPr>
        <p:spPr/>
        <p:txBody>
          <a:bodyPr/>
          <a:lstStyle/>
          <a:p>
            <a:fld id="{B7EB45DA-9A0D-DC49-8E02-F30A5DDC21C3}" type="slidenum">
              <a:rPr lang="en-US" smtClean="0"/>
              <a:t>13</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2</a:t>
            </a:r>
          </a:p>
        </p:txBody>
      </p:sp>
      <p:sp>
        <p:nvSpPr>
          <p:cNvPr id="2" name="Title 1"/>
          <p:cNvSpPr>
            <a:spLocks noGrp="1"/>
          </p:cNvSpPr>
          <p:nvPr>
            <p:ph type="title"/>
          </p:nvPr>
        </p:nvSpPr>
        <p:spPr>
          <a:xfrm>
            <a:off x="685800" y="1700784"/>
            <a:ext cx="7772400" cy="1005840"/>
          </a:xfrm>
        </p:spPr>
        <p:txBody>
          <a:bodyPr>
            <a:normAutofit fontScale="90000"/>
          </a:bodyPr>
          <a:lstStyle/>
          <a:p>
            <a:pPr algn="ctr">
              <a:buNone/>
              <a:defRPr b="0"/>
            </a:pPr>
            <a:r>
              <a:rPr lang="en-US" sz="4000" b="0" i="0" dirty="0">
                <a:solidFill>
                  <a:srgbClr val="000000"/>
                </a:solidFill>
              </a:rPr>
              <a:t>MODELS CONSTRAIN IMPLEMENTATION</a:t>
            </a:r>
          </a:p>
        </p:txBody>
      </p:sp>
      <p:sp>
        <p:nvSpPr>
          <p:cNvPr id="3" name="Slide Number Placeholder 3"/>
          <p:cNvSpPr>
            <a:spLocks noGrp="1"/>
          </p:cNvSpPr>
          <p:nvPr>
            <p:ph type="sldNum" sz="quarter" idx="4"/>
          </p:nvPr>
        </p:nvSpPr>
        <p:spPr/>
        <p:txBody>
          <a:bodyPr/>
          <a:lstStyle/>
          <a:p>
            <a:fld id="{B7EB45DA-9A0D-DC49-8E02-F30A5DDC21C3}" type="slidenum">
              <a:rPr lang="en-US" smtClean="0"/>
              <a:t>14</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A model constrains implementation without determining it.</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How would you implement this?</a:t>
            </a:r>
          </a:p>
        </p:txBody>
      </p:sp>
      <p:sp>
        <p:nvSpPr>
          <p:cNvPr id="3" name="Slide Number Placeholder 3"/>
          <p:cNvSpPr>
            <a:spLocks noGrp="1"/>
          </p:cNvSpPr>
          <p:nvPr>
            <p:ph type="sldNum" sz="quarter" idx="4"/>
          </p:nvPr>
        </p:nvSpPr>
        <p:spPr/>
        <p:txBody>
          <a:bodyPr/>
          <a:lstStyle/>
          <a:p>
            <a:fld id="{B7EB45DA-9A0D-DC49-8E02-F30A5DDC21C3}" type="slidenum">
              <a:rPr lang="en-US" smtClean="0"/>
              <a:t>15</a:t>
            </a:fld>
            <a:endParaRPr lang="en-US"/>
          </a:p>
        </p:txBody>
      </p:sp>
      <p:sp>
        <p:nvSpPr>
          <p:cNvPr id="50" name="FigPanel"/>
          <p:cNvSpPr/>
          <p:nvPr/>
        </p:nvSpPr>
        <p:spPr>
          <a:xfrm>
            <a:off x="274320" y="868680"/>
            <a:ext cx="8595360" cy="3429000"/>
          </a:xfrm>
          <a:prstGeom prst="rect">
            <a:avLst/>
          </a:prstGeom>
          <a:solidFill>
            <a:srgbClr val="FDFCF9"/>
          </a:solidFill>
          <a:ln>
            <a:noFill/>
          </a:ln>
        </p:spPr>
        <p:txBody>
          <a:bodyPr/>
          <a:lstStyle/>
          <a:p>
            <a:pPr>
              <a:buNone/>
            </a:pPr>
            <a:endParaRPr lang="en-US"/>
          </a:p>
        </p:txBody>
      </p:sp>
      <p:pic>
        <p:nvPicPr>
          <p:cNvPr id="60" name="TourFigure" descr="A UML state machine for a course proposal: Draft to Submitted to Approved to Published, with a revise transition returning Submitted to Draft, and a final state after Published."/>
          <p:cNvPicPr>
            <a:picLocks noChangeAspect="1"/>
          </p:cNvPicPr>
          <p:nvPr/>
        </p:nvPicPr>
        <p:blipFill>
          <a:blip r:embed="rId3"/>
          <a:stretch>
            <a:fillRect/>
          </a:stretch>
        </p:blipFill>
        <p:spPr>
          <a:xfrm>
            <a:off x="1118387" y="960120"/>
            <a:ext cx="6907227" cy="3246120"/>
          </a:xfrm>
          <a:prstGeom prst="rect">
            <a:avLst/>
          </a:prstGeom>
        </p:spPr>
      </p:pic>
      <p:sp>
        <p:nvSpPr>
          <p:cNvPr id="110" name="Chip110"/>
          <p:cNvSpPr txBox="1"/>
          <p:nvPr/>
        </p:nvSpPr>
        <p:spPr>
          <a:xfrm>
            <a:off x="274320" y="4389120"/>
            <a:ext cx="1920240" cy="713232"/>
          </a:xfrm>
          <a:prstGeom prst="rect">
            <a:avLst/>
          </a:prstGeom>
          <a:solidFill>
            <a:srgbClr val="8E6F3E"/>
          </a:solidFill>
          <a:ln>
            <a:noFill/>
          </a:ln>
        </p:spPr>
        <p:txBody>
          <a:bodyPr wrap="square" lIns="27432" tIns="22860" rIns="27432" bIns="22860" anchor="ctr"/>
          <a:lstStyle/>
          <a:p>
            <a:pPr algn="ctr">
              <a:spcAft>
                <a:spcPts val="0"/>
              </a:spcAft>
              <a:buNone/>
            </a:pPr>
            <a:r>
              <a:rPr lang="en-US" sz="1600" b="1" i="0" dirty="0">
                <a:solidFill>
                  <a:srgbClr val="FFFFFF"/>
                </a:solidFill>
              </a:rPr>
              <a:t xml:space="preserve">THINK  ·  1 minute</a:t>
            </a:r>
          </a:p>
        </p:txBody>
      </p:sp>
      <p:sp>
        <p:nvSpPr>
          <p:cNvPr id="120" name="Prompt120"/>
          <p:cNvSpPr txBox="1"/>
          <p:nvPr/>
        </p:nvSpPr>
        <p:spPr>
          <a:xfrm>
            <a:off x="2331720" y="4389120"/>
            <a:ext cx="6537960" cy="713232"/>
          </a:xfrm>
          <a:prstGeom prst="rect">
            <a:avLst/>
          </a:prstGeom>
          <a:solidFill>
            <a:srgbClr val="FBF8F2"/>
          </a:solidFill>
          <a:ln w="12700">
            <a:solidFill>
              <a:srgbClr val="C9B991"/>
            </a:solidFill>
          </a:ln>
        </p:spPr>
        <p:txBody>
          <a:bodyPr wrap="square" lIns="27432" tIns="22860" rIns="27432" bIns="22860" anchor="ctr"/>
          <a:lstStyle/>
          <a:p>
            <a:pPr algn="l">
              <a:spcAft>
                <a:spcPts val="0"/>
              </a:spcAft>
              <a:buNone/>
            </a:pPr>
            <a:r>
              <a:rPr lang="en-US" sz="1400" b="0" i="0" dirty="0">
                <a:solidFill>
                  <a:srgbClr val="5C4826"/>
                </a:solidFill>
              </a:rPr>
              <a:t xml:space="preserve">How would you implement this model? Take a note. Be concrete enough that another engineer could recognize your approach.</a:t>
            </a:r>
          </a:p>
        </p:txBody>
      </p:sp>
      <p:sp>
        <p:nvSpPr>
          <p:cNvPr id="111" name="Chip111"/>
          <p:cNvSpPr txBox="1"/>
          <p:nvPr/>
        </p:nvSpPr>
        <p:spPr>
          <a:xfrm>
            <a:off x="274320" y="5193792"/>
            <a:ext cx="1920240" cy="493776"/>
          </a:xfrm>
          <a:prstGeom prst="rect">
            <a:avLst/>
          </a:prstGeom>
          <a:solidFill>
            <a:srgbClr val="8E6F3E"/>
          </a:solidFill>
          <a:ln>
            <a:noFill/>
          </a:ln>
        </p:spPr>
        <p:txBody>
          <a:bodyPr wrap="square" lIns="27432" tIns="22860" rIns="27432" bIns="22860" anchor="ctr"/>
          <a:lstStyle/>
          <a:p>
            <a:pPr algn="ctr">
              <a:spcAft>
                <a:spcPts val="0"/>
              </a:spcAft>
              <a:buNone/>
            </a:pPr>
            <a:r>
              <a:rPr lang="en-US" sz="1600" b="1" i="0" dirty="0">
                <a:solidFill>
                  <a:srgbClr val="FFFFFF"/>
                </a:solidFill>
              </a:rPr>
              <a:t xml:space="preserve">PAIR  ·  1 minute</a:t>
            </a:r>
          </a:p>
        </p:txBody>
      </p:sp>
      <p:sp>
        <p:nvSpPr>
          <p:cNvPr id="121" name="Prompt121"/>
          <p:cNvSpPr txBox="1"/>
          <p:nvPr/>
        </p:nvSpPr>
        <p:spPr>
          <a:xfrm>
            <a:off x="2331720" y="5193792"/>
            <a:ext cx="6537960" cy="493776"/>
          </a:xfrm>
          <a:prstGeom prst="rect">
            <a:avLst/>
          </a:prstGeom>
          <a:solidFill>
            <a:srgbClr val="FBF8F2"/>
          </a:solidFill>
          <a:ln w="12700">
            <a:solidFill>
              <a:srgbClr val="C9B991"/>
            </a:solidFill>
          </a:ln>
        </p:spPr>
        <p:txBody>
          <a:bodyPr wrap="square" lIns="27432" tIns="22860" rIns="27432" bIns="22860" anchor="ctr"/>
          <a:lstStyle/>
          <a:p>
            <a:pPr algn="l">
              <a:spcAft>
                <a:spcPts val="0"/>
              </a:spcAft>
              <a:buNone/>
            </a:pPr>
            <a:r>
              <a:rPr lang="en-US" sz="1400" b="0" i="0" dirty="0">
                <a:solidFill>
                  <a:srgbClr val="5C4826"/>
                </a:solidFill>
              </a:rPr>
              <a:t xml:space="preserve">Compare with your neighbour. Did you choose the same implementation?</a:t>
            </a:r>
          </a:p>
        </p:txBody>
      </p:sp>
      <p:sp>
        <p:nvSpPr>
          <p:cNvPr id="112" name="Chip112"/>
          <p:cNvSpPr txBox="1"/>
          <p:nvPr/>
        </p:nvSpPr>
        <p:spPr>
          <a:xfrm>
            <a:off x="274320" y="5779008"/>
            <a:ext cx="1920240" cy="493776"/>
          </a:xfrm>
          <a:prstGeom prst="rect">
            <a:avLst/>
          </a:prstGeom>
          <a:solidFill>
            <a:srgbClr val="8E6F3E"/>
          </a:solidFill>
          <a:ln>
            <a:noFill/>
          </a:ln>
        </p:spPr>
        <p:txBody>
          <a:bodyPr wrap="square" lIns="27432" tIns="22860" rIns="27432" bIns="22860" anchor="ctr"/>
          <a:lstStyle/>
          <a:p>
            <a:pPr algn="ctr">
              <a:spcAft>
                <a:spcPts val="0"/>
              </a:spcAft>
              <a:buNone/>
            </a:pPr>
            <a:r>
              <a:rPr lang="en-US" sz="1600" b="1" i="0" dirty="0">
                <a:solidFill>
                  <a:srgbClr val="FFFFFF"/>
                </a:solidFill>
              </a:rPr>
              <a:t xml:space="preserve">SHARE  ·  1 minute</a:t>
            </a:r>
          </a:p>
        </p:txBody>
      </p:sp>
      <p:sp>
        <p:nvSpPr>
          <p:cNvPr id="122" name="Prompt122"/>
          <p:cNvSpPr txBox="1"/>
          <p:nvPr/>
        </p:nvSpPr>
        <p:spPr>
          <a:xfrm>
            <a:off x="2331720" y="5779008"/>
            <a:ext cx="6537960" cy="493776"/>
          </a:xfrm>
          <a:prstGeom prst="rect">
            <a:avLst/>
          </a:prstGeom>
          <a:solidFill>
            <a:srgbClr val="FBF8F2"/>
          </a:solidFill>
          <a:ln w="12700">
            <a:solidFill>
              <a:srgbClr val="C9B991"/>
            </a:solidFill>
          </a:ln>
        </p:spPr>
        <p:txBody>
          <a:bodyPr wrap="square" lIns="27432" tIns="22860" rIns="27432" bIns="22860" anchor="ctr"/>
          <a:lstStyle/>
          <a:p>
            <a:pPr algn="l">
              <a:spcAft>
                <a:spcPts val="0"/>
              </a:spcAft>
              <a:buNone/>
            </a:pPr>
            <a:r>
              <a:rPr lang="en-US" sz="1400" b="0" i="0" dirty="0">
                <a:solidFill>
                  <a:srgbClr val="5C4826"/>
                </a:solidFill>
              </a:rPr>
              <a:t xml:space="preserve">What did you choose? (two or three)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20"/>
                                        </p:tgtEl>
                                        <p:attrNameLst>
                                          <p:attrName>style.visibility</p:attrName>
                                        </p:attrNameLst>
                                      </p:cBhvr>
                                      <p:to>
                                        <p:strVal val="visible"/>
                                      </p:to>
                                    </p:set>
                                    <p:animEffect transition="in" filter="fade">
                                      <p:cBhvr>
                                        <p:cTn id="10" dur="500"/>
                                        <p:tgtEl>
                                          <p:spTgt spid="1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11"/>
                                        </p:tgtEl>
                                        <p:attrNameLst>
                                          <p:attrName>style.visibility</p:attrName>
                                        </p:attrNameLst>
                                      </p:cBhvr>
                                      <p:to>
                                        <p:strVal val="visible"/>
                                      </p:to>
                                    </p:set>
                                    <p:animEffect transition="in" filter="fade">
                                      <p:cBhvr>
                                        <p:cTn id="15" dur="500"/>
                                        <p:tgtEl>
                                          <p:spTgt spid="111"/>
                                        </p:tgtEl>
                                      </p:cBhvr>
                                    </p:animEffect>
                                  </p:childTnLst>
                                </p:cTn>
                              </p:par>
                              <p:par>
                                <p:cTn id="16" presetID="10" presetClass="entr" presetSubtype="0" fill="hold" nodeType="withEffect">
                                  <p:stCondLst>
                                    <p:cond delay="0"/>
                                  </p:stCondLst>
                                  <p:childTnLst>
                                    <p:set>
                                      <p:cBhvr>
                                        <p:cTn id="17" dur="1" fill="hold">
                                          <p:stCondLst>
                                            <p:cond delay="0"/>
                                          </p:stCondLst>
                                        </p:cTn>
                                        <p:tgtEl>
                                          <p:spTgt spid="121"/>
                                        </p:tgtEl>
                                        <p:attrNameLst>
                                          <p:attrName>style.visibility</p:attrName>
                                        </p:attrNameLst>
                                      </p:cBhvr>
                                      <p:to>
                                        <p:strVal val="visible"/>
                                      </p:to>
                                    </p:set>
                                    <p:animEffect transition="in" filter="fade">
                                      <p:cBhvr>
                                        <p:cTn id="18" dur="500"/>
                                        <p:tgtEl>
                                          <p:spTgt spid="1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12"/>
                                        </p:tgtEl>
                                        <p:attrNameLst>
                                          <p:attrName>style.visibility</p:attrName>
                                        </p:attrNameLst>
                                      </p:cBhvr>
                                      <p:to>
                                        <p:strVal val="visible"/>
                                      </p:to>
                                    </p:set>
                                    <p:animEffect transition="in" filter="fade">
                                      <p:cBhvr>
                                        <p:cTn id="23" dur="500"/>
                                        <p:tgtEl>
                                          <p:spTgt spid="112"/>
                                        </p:tgtEl>
                                      </p:cBhvr>
                                    </p:animEffect>
                                  </p:childTnLst>
                                </p:cTn>
                              </p:par>
                              <p:par>
                                <p:cTn id="24" presetID="10" presetClass="entr" presetSubtype="0" fill="hold" nodeType="withEffect">
                                  <p:stCondLst>
                                    <p:cond delay="0"/>
                                  </p:stCondLst>
                                  <p:childTnLst>
                                    <p:set>
                                      <p:cBhvr>
                                        <p:cTn id="25" dur="1" fill="hold">
                                          <p:stCondLst>
                                            <p:cond delay="0"/>
                                          </p:stCondLst>
                                        </p:cTn>
                                        <p:tgtEl>
                                          <p:spTgt spid="122"/>
                                        </p:tgtEl>
                                        <p:attrNameLst>
                                          <p:attrName>style.visibility</p:attrName>
                                        </p:attrNameLst>
                                      </p:cBhvr>
                                      <p:to>
                                        <p:strVal val="visible"/>
                                      </p:to>
                                    </p:set>
                                    <p:animEffect transition="in" filter="fade">
                                      <p:cBhvr>
                                        <p:cTn id="26" dur="500"/>
                                        <p:tgtEl>
                                          <p:spTgt spid="1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Why don’t we just hand off the model?</a:t>
            </a:r>
          </a:p>
        </p:txBody>
      </p:sp>
      <p:sp>
        <p:nvSpPr>
          <p:cNvPr id="3" name="Slide Number Placeholder 3"/>
          <p:cNvSpPr>
            <a:spLocks noGrp="1"/>
          </p:cNvSpPr>
          <p:nvPr>
            <p:ph type="sldNum" sz="quarter" idx="4"/>
          </p:nvPr>
        </p:nvSpPr>
        <p:spPr/>
        <p:txBody>
          <a:bodyPr/>
          <a:lstStyle/>
          <a:p>
            <a:fld id="{B7EB45DA-9A0D-DC49-8E02-F30A5DDC21C3}" type="slidenum">
              <a:rPr lang="en-US" smtClean="0"/>
              <a:t>17</a:t>
            </a:fld>
            <a:endParaRPr lang="en-US"/>
          </a:p>
        </p:txBody>
      </p:sp>
      <p:sp>
        <p:nvSpPr>
          <p:cNvPr id="100" name="Q1"/>
          <p:cNvSpPr txBox="1"/>
          <p:nvPr/>
        </p:nvSpPr>
        <p:spPr>
          <a:xfrm>
            <a:off x="274320" y="896112"/>
            <a:ext cx="8595360" cy="77724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0" i="0" dirty="0">
                <a:solidFill>
                  <a:srgbClr val="5C4826"/>
                </a:solidFill>
              </a:rPr>
              <a:t xml:space="preserve">If this works, why do software engineers draw boxes and arrows for a day, then go code for a week?</a:t>
            </a:r>
          </a:p>
        </p:txBody>
      </p:sp>
      <p:sp>
        <p:nvSpPr>
          <p:cNvPr id="101" name="Q2"/>
          <p:cNvSpPr txBox="1"/>
          <p:nvPr/>
        </p:nvSpPr>
        <p:spPr>
          <a:xfrm>
            <a:off x="274320" y="1783080"/>
            <a:ext cx="8595360" cy="530352"/>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0" i="0" dirty="0">
                <a:solidFill>
                  <a:srgbClr val="5C4826"/>
                </a:solidFill>
              </a:rPr>
              <a:t xml:space="preserve">Why is outsourcing software development so hard?</a:t>
            </a:r>
          </a:p>
        </p:txBody>
      </p:sp>
      <p:sp>
        <p:nvSpPr>
          <p:cNvPr id="130" name="EncodeLbl"/>
          <p:cNvSpPr txBox="1"/>
          <p:nvPr/>
        </p:nvSpPr>
        <p:spPr>
          <a:xfrm>
            <a:off x="2286000" y="2724912"/>
            <a:ext cx="1417320" cy="27432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 xml:space="preserve">ENCODE</a:t>
            </a:r>
          </a:p>
        </p:txBody>
      </p:sp>
      <p:sp>
        <p:nvSpPr>
          <p:cNvPr id="131" name="InterpretLbl"/>
          <p:cNvSpPr txBox="1"/>
          <p:nvPr/>
        </p:nvSpPr>
        <p:spPr>
          <a:xfrm>
            <a:off x="5440680" y="2724912"/>
            <a:ext cx="1417320" cy="27432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 xml:space="preserve">INTERPRET</a:t>
            </a:r>
          </a:p>
        </p:txBody>
      </p:sp>
      <p:sp>
        <p:nvSpPr>
          <p:cNvPr id="110" name="EngineerA"/>
          <p:cNvSpPr txBox="1"/>
          <p:nvPr/>
        </p:nvSpPr>
        <p:spPr>
          <a:xfrm>
            <a:off x="274320" y="3063240"/>
            <a:ext cx="2286000" cy="6858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800" b="1" i="0" dirty="0">
                <a:solidFill>
                  <a:srgbClr val="5C4826"/>
                </a:solidFill>
              </a:rPr>
              <a:t xml:space="preserve">ENGINEER A</a:t>
            </a:r>
          </a:p>
        </p:txBody>
      </p:sp>
      <p:cxnSp>
        <p:nvCxnSpPr>
          <p:cNvPr id="120" name="Hop1"/>
          <p:cNvCxnSpPr/>
          <p:nvPr/>
        </p:nvCxnSpPr>
        <p:spPr>
          <a:xfrm>
            <a:off x="2651760" y="3406140"/>
            <a:ext cx="685800" cy="0"/>
          </a:xfrm>
          <a:prstGeom prst="straightConnector1">
            <a:avLst/>
          </a:prstGeom>
          <a:ln w="28575">
            <a:solidFill>
              <a:srgbClr val="8E6F3E"/>
            </a:solidFill>
            <a:tailEnd type="triangle" w="med" len="med"/>
          </a:ln>
        </p:spPr>
      </p:cxnSp>
      <p:sp>
        <p:nvSpPr>
          <p:cNvPr id="111" name="Representation"/>
          <p:cNvSpPr txBox="1"/>
          <p:nvPr/>
        </p:nvSpPr>
        <p:spPr>
          <a:xfrm>
            <a:off x="3429000" y="3063240"/>
            <a:ext cx="2286000" cy="685800"/>
          </a:xfrm>
          <a:prstGeom prst="rect">
            <a:avLst/>
          </a:prstGeom>
          <a:solidFill>
            <a:srgbClr val="F5F1E8"/>
          </a:solidFill>
          <a:ln w="19050">
            <a:solidFill>
              <a:srgbClr val="8E6F3E"/>
            </a:solidFill>
          </a:ln>
        </p:spPr>
        <p:txBody>
          <a:bodyPr wrap="square" lIns="27432" tIns="22860" rIns="27432" bIns="22860" anchor="ctr"/>
          <a:lstStyle/>
          <a:p>
            <a:pPr algn="ctr">
              <a:spcAft>
                <a:spcPts val="0"/>
              </a:spcAft>
              <a:buNone/>
            </a:pPr>
            <a:r>
              <a:rPr lang="en-US" sz="1800" b="1" i="0" dirty="0">
                <a:solidFill>
                  <a:srgbClr val="5C4826"/>
                </a:solidFill>
              </a:rPr>
              <a:t xml:space="preserve">REPRESENTATION</a:t>
            </a:r>
          </a:p>
        </p:txBody>
      </p:sp>
      <p:cxnSp>
        <p:nvCxnSpPr>
          <p:cNvPr id="121" name="Hop2"/>
          <p:cNvCxnSpPr/>
          <p:nvPr/>
        </p:nvCxnSpPr>
        <p:spPr>
          <a:xfrm>
            <a:off x="5806440" y="3406140"/>
            <a:ext cx="685800" cy="0"/>
          </a:xfrm>
          <a:prstGeom prst="straightConnector1">
            <a:avLst/>
          </a:prstGeom>
          <a:ln w="28575">
            <a:solidFill>
              <a:srgbClr val="8E6F3E"/>
            </a:solidFill>
            <a:tailEnd type="triangle" w="med" len="med"/>
          </a:ln>
        </p:spPr>
      </p:cxnSp>
      <p:sp>
        <p:nvSpPr>
          <p:cNvPr id="112" name="EngineerB"/>
          <p:cNvSpPr txBox="1"/>
          <p:nvPr/>
        </p:nvSpPr>
        <p:spPr>
          <a:xfrm>
            <a:off x="6583680" y="3063240"/>
            <a:ext cx="2286000" cy="6858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800" b="1" i="0" dirty="0">
                <a:solidFill>
                  <a:srgbClr val="5C4826"/>
                </a:solidFill>
              </a:rPr>
              <a:t xml:space="preserve">ENGINEER B</a:t>
            </a:r>
          </a:p>
        </p:txBody>
      </p:sp>
      <p:sp>
        <p:nvSpPr>
          <p:cNvPr id="113" name="EngineerACaption"/>
          <p:cNvSpPr txBox="1"/>
          <p:nvPr/>
        </p:nvSpPr>
        <p:spPr>
          <a:xfrm>
            <a:off x="274320" y="3803904"/>
            <a:ext cx="2286000" cy="274320"/>
          </a:xfrm>
          <a:prstGeom prst="rect">
            <a:avLst/>
          </a:prstGeom>
          <a:noFill/>
          <a:ln>
            <a:noFill/>
          </a:ln>
        </p:spPr>
        <p:txBody>
          <a:bodyPr wrap="square" lIns="0" tIns="0" rIns="0" bIns="0" anchor="t"/>
          <a:lstStyle/>
          <a:p>
            <a:pPr algn="ctr">
              <a:spcAft>
                <a:spcPts val="0"/>
              </a:spcAft>
              <a:buNone/>
            </a:pPr>
            <a:r>
              <a:rPr lang="en-US" sz="1300" b="0" i="1" dirty="0">
                <a:solidFill>
                  <a:srgbClr val="5C4826"/>
                </a:solidFill>
              </a:rPr>
              <a:t xml:space="preserve">intent · context · judgment</a:t>
            </a:r>
          </a:p>
        </p:txBody>
      </p:sp>
      <p:sp>
        <p:nvSpPr>
          <p:cNvPr id="140" name="Claim"/>
          <p:cNvSpPr txBox="1"/>
          <p:nvPr/>
        </p:nvSpPr>
        <p:spPr>
          <a:xfrm>
            <a:off x="274320" y="4297680"/>
            <a:ext cx="8595360" cy="603504"/>
          </a:xfrm>
          <a:prstGeom prst="rect">
            <a:avLst/>
          </a:prstGeom>
          <a:noFill/>
          <a:ln>
            <a:noFill/>
          </a:ln>
        </p:spPr>
        <p:txBody>
          <a:bodyPr wrap="square" lIns="0" tIns="0" rIns="0" bIns="0" anchor="ctr"/>
          <a:lstStyle/>
          <a:p>
            <a:pPr algn="ctr">
              <a:spcAft>
                <a:spcPts val="0"/>
              </a:spcAft>
              <a:buNone/>
            </a:pPr>
            <a:r>
              <a:rPr lang="en-US" sz="1800" b="1" i="0" dirty="0">
                <a:solidFill>
                  <a:srgbClr val="5C4826"/>
                </a:solidFill>
              </a:rPr>
              <a:t xml:space="preserve">Delegation requires consequential knowledge to survive encoding and interpretation.</a:t>
            </a:r>
          </a:p>
        </p:txBody>
      </p:sp>
      <p:sp>
        <p:nvSpPr>
          <p:cNvPr id="150" name="Q3"/>
          <p:cNvSpPr txBox="1"/>
          <p:nvPr/>
        </p:nvSpPr>
        <p:spPr>
          <a:xfrm>
            <a:off x="1463040" y="5138928"/>
            <a:ext cx="6217920" cy="822960"/>
          </a:xfrm>
          <a:prstGeom prst="rect">
            <a:avLst/>
          </a:prstGeom>
          <a:solidFill>
            <a:srgbClr val="FBF8F2"/>
          </a:solidFill>
          <a:ln w="19050">
            <a:solidFill>
              <a:srgbClr val="8E6F3E"/>
            </a:solidFill>
          </a:ln>
        </p:spPr>
        <p:txBody>
          <a:bodyPr wrap="square" lIns="27432" tIns="22860" rIns="27432" bIns="22860" anchor="ctr"/>
          <a:lstStyle/>
          <a:p>
            <a:pPr algn="ctr">
              <a:spcAft>
                <a:spcPts val="0"/>
              </a:spcAft>
              <a:buNone/>
            </a:pPr>
            <a:r>
              <a:rPr lang="en-US" sz="2400" b="1" i="0" dirty="0">
                <a:solidFill>
                  <a:srgbClr val="8E6F3E"/>
                </a:solidFill>
              </a:rPr>
              <a:t xml:space="preserve">And does GenAI change this?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1"/>
                                        </p:tgtEl>
                                        <p:attrNameLst>
                                          <p:attrName>style.visibility</p:attrName>
                                        </p:attrNameLst>
                                      </p:cBhvr>
                                      <p:to>
                                        <p:strVal val="visible"/>
                                      </p:to>
                                    </p:set>
                                    <p:animEffect transition="in" filter="fade">
                                      <p:cBhvr>
                                        <p:cTn id="7" dur="500"/>
                                        <p:tgtEl>
                                          <p:spTgt spid="10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30"/>
                                        </p:tgtEl>
                                        <p:attrNameLst>
                                          <p:attrName>style.visibility</p:attrName>
                                        </p:attrNameLst>
                                      </p:cBhvr>
                                      <p:to>
                                        <p:strVal val="visible"/>
                                      </p:to>
                                    </p:set>
                                    <p:animEffect transition="in" filter="fade">
                                      <p:cBhvr>
                                        <p:cTn id="12" dur="500"/>
                                        <p:tgtEl>
                                          <p:spTgt spid="130"/>
                                        </p:tgtEl>
                                      </p:cBhvr>
                                    </p:animEffect>
                                  </p:childTnLst>
                                </p:cTn>
                              </p:par>
                              <p:par>
                                <p:cTn id="13" presetID="10" presetClass="entr" presetSubtype="0" fill="hold" nodeType="withEffect">
                                  <p:stCondLst>
                                    <p:cond delay="0"/>
                                  </p:stCondLst>
                                  <p:childTnLst>
                                    <p:set>
                                      <p:cBhvr>
                                        <p:cTn id="14" dur="1" fill="hold">
                                          <p:stCondLst>
                                            <p:cond delay="0"/>
                                          </p:stCondLst>
                                        </p:cTn>
                                        <p:tgtEl>
                                          <p:spTgt spid="110"/>
                                        </p:tgtEl>
                                        <p:attrNameLst>
                                          <p:attrName>style.visibility</p:attrName>
                                        </p:attrNameLst>
                                      </p:cBhvr>
                                      <p:to>
                                        <p:strVal val="visible"/>
                                      </p:to>
                                    </p:set>
                                    <p:animEffect transition="in" filter="fade">
                                      <p:cBhvr>
                                        <p:cTn id="15" dur="500"/>
                                        <p:tgtEl>
                                          <p:spTgt spid="110"/>
                                        </p:tgtEl>
                                      </p:cBhvr>
                                    </p:animEffect>
                                  </p:childTnLst>
                                </p:cTn>
                              </p:par>
                              <p:par>
                                <p:cTn id="16" presetID="10" presetClass="entr" presetSubtype="0" fill="hold" nodeType="withEffect">
                                  <p:stCondLst>
                                    <p:cond delay="0"/>
                                  </p:stCondLst>
                                  <p:childTnLst>
                                    <p:set>
                                      <p:cBhvr>
                                        <p:cTn id="17" dur="1" fill="hold">
                                          <p:stCondLst>
                                            <p:cond delay="0"/>
                                          </p:stCondLst>
                                        </p:cTn>
                                        <p:tgtEl>
                                          <p:spTgt spid="113"/>
                                        </p:tgtEl>
                                        <p:attrNameLst>
                                          <p:attrName>style.visibility</p:attrName>
                                        </p:attrNameLst>
                                      </p:cBhvr>
                                      <p:to>
                                        <p:strVal val="visible"/>
                                      </p:to>
                                    </p:set>
                                    <p:animEffect transition="in" filter="fade">
                                      <p:cBhvr>
                                        <p:cTn id="18" dur="500"/>
                                        <p:tgtEl>
                                          <p:spTgt spid="113"/>
                                        </p:tgtEl>
                                      </p:cBhvr>
                                    </p:animEffect>
                                  </p:childTnLst>
                                </p:cTn>
                              </p:par>
                              <p:par>
                                <p:cTn id="19" presetID="10" presetClass="entr" presetSubtype="0" fill="hold" nodeType="withEffect">
                                  <p:stCondLst>
                                    <p:cond delay="0"/>
                                  </p:stCondLst>
                                  <p:childTnLst>
                                    <p:set>
                                      <p:cBhvr>
                                        <p:cTn id="20" dur="1" fill="hold">
                                          <p:stCondLst>
                                            <p:cond delay="0"/>
                                          </p:stCondLst>
                                        </p:cTn>
                                        <p:tgtEl>
                                          <p:spTgt spid="120"/>
                                        </p:tgtEl>
                                        <p:attrNameLst>
                                          <p:attrName>style.visibility</p:attrName>
                                        </p:attrNameLst>
                                      </p:cBhvr>
                                      <p:to>
                                        <p:strVal val="visible"/>
                                      </p:to>
                                    </p:set>
                                    <p:animEffect transition="in" filter="fade">
                                      <p:cBhvr>
                                        <p:cTn id="21" dur="500"/>
                                        <p:tgtEl>
                                          <p:spTgt spid="120"/>
                                        </p:tgtEl>
                                      </p:cBhvr>
                                    </p:animEffect>
                                  </p:childTnLst>
                                </p:cTn>
                              </p:par>
                              <p:par>
                                <p:cTn id="22" presetID="10" presetClass="entr" presetSubtype="0" fill="hold" nodeType="withEffect">
                                  <p:stCondLst>
                                    <p:cond delay="0"/>
                                  </p:stCondLst>
                                  <p:childTnLst>
                                    <p:set>
                                      <p:cBhvr>
                                        <p:cTn id="23" dur="1" fill="hold">
                                          <p:stCondLst>
                                            <p:cond delay="0"/>
                                          </p:stCondLst>
                                        </p:cTn>
                                        <p:tgtEl>
                                          <p:spTgt spid="111"/>
                                        </p:tgtEl>
                                        <p:attrNameLst>
                                          <p:attrName>style.visibility</p:attrName>
                                        </p:attrNameLst>
                                      </p:cBhvr>
                                      <p:to>
                                        <p:strVal val="visible"/>
                                      </p:to>
                                    </p:set>
                                    <p:animEffect transition="in" filter="fade">
                                      <p:cBhvr>
                                        <p:cTn id="24" dur="500"/>
                                        <p:tgtEl>
                                          <p:spTgt spid="111"/>
                                        </p:tgtEl>
                                      </p:cBhvr>
                                    </p:animEffect>
                                  </p:childTnLst>
                                </p:cTn>
                              </p:par>
                              <p:par>
                                <p:cTn id="25" presetID="10" presetClass="entr" presetSubtype="0" fill="hold" nodeType="withEffect">
                                  <p:stCondLst>
                                    <p:cond delay="0"/>
                                  </p:stCondLst>
                                  <p:childTnLst>
                                    <p:set>
                                      <p:cBhvr>
                                        <p:cTn id="26" dur="1" fill="hold">
                                          <p:stCondLst>
                                            <p:cond delay="0"/>
                                          </p:stCondLst>
                                        </p:cTn>
                                        <p:tgtEl>
                                          <p:spTgt spid="121"/>
                                        </p:tgtEl>
                                        <p:attrNameLst>
                                          <p:attrName>style.visibility</p:attrName>
                                        </p:attrNameLst>
                                      </p:cBhvr>
                                      <p:to>
                                        <p:strVal val="visible"/>
                                      </p:to>
                                    </p:set>
                                    <p:animEffect transition="in" filter="fade">
                                      <p:cBhvr>
                                        <p:cTn id="27" dur="500"/>
                                        <p:tgtEl>
                                          <p:spTgt spid="121"/>
                                        </p:tgtEl>
                                      </p:cBhvr>
                                    </p:animEffect>
                                  </p:childTnLst>
                                </p:cTn>
                              </p:par>
                              <p:par>
                                <p:cTn id="28" presetID="10" presetClass="entr" presetSubtype="0" fill="hold" nodeType="withEffect">
                                  <p:stCondLst>
                                    <p:cond delay="0"/>
                                  </p:stCondLst>
                                  <p:childTnLst>
                                    <p:set>
                                      <p:cBhvr>
                                        <p:cTn id="29" dur="1" fill="hold">
                                          <p:stCondLst>
                                            <p:cond delay="0"/>
                                          </p:stCondLst>
                                        </p:cTn>
                                        <p:tgtEl>
                                          <p:spTgt spid="112"/>
                                        </p:tgtEl>
                                        <p:attrNameLst>
                                          <p:attrName>style.visibility</p:attrName>
                                        </p:attrNameLst>
                                      </p:cBhvr>
                                      <p:to>
                                        <p:strVal val="visible"/>
                                      </p:to>
                                    </p:set>
                                    <p:animEffect transition="in" filter="fade">
                                      <p:cBhvr>
                                        <p:cTn id="30" dur="500"/>
                                        <p:tgtEl>
                                          <p:spTgt spid="112"/>
                                        </p:tgtEl>
                                      </p:cBhvr>
                                    </p:animEffect>
                                  </p:childTnLst>
                                </p:cTn>
                              </p:par>
                              <p:par>
                                <p:cTn id="31" presetID="10" presetClass="entr" presetSubtype="0" fill="hold" nodeType="withEffect">
                                  <p:stCondLst>
                                    <p:cond delay="0"/>
                                  </p:stCondLst>
                                  <p:childTnLst>
                                    <p:set>
                                      <p:cBhvr>
                                        <p:cTn id="32" dur="1" fill="hold">
                                          <p:stCondLst>
                                            <p:cond delay="0"/>
                                          </p:stCondLst>
                                        </p:cTn>
                                        <p:tgtEl>
                                          <p:spTgt spid="131"/>
                                        </p:tgtEl>
                                        <p:attrNameLst>
                                          <p:attrName>style.visibility</p:attrName>
                                        </p:attrNameLst>
                                      </p:cBhvr>
                                      <p:to>
                                        <p:strVal val="visible"/>
                                      </p:to>
                                    </p:set>
                                    <p:animEffect transition="in" filter="fade">
                                      <p:cBhvr>
                                        <p:cTn id="33" dur="500"/>
                                        <p:tgtEl>
                                          <p:spTgt spid="131"/>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140"/>
                                        </p:tgtEl>
                                        <p:attrNameLst>
                                          <p:attrName>style.visibility</p:attrName>
                                        </p:attrNameLst>
                                      </p:cBhvr>
                                      <p:to>
                                        <p:strVal val="visible"/>
                                      </p:to>
                                    </p:set>
                                    <p:animEffect transition="in" filter="fade">
                                      <p:cBhvr>
                                        <p:cTn id="38" dur="500"/>
                                        <p:tgtEl>
                                          <p:spTgt spid="140"/>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150"/>
                                        </p:tgtEl>
                                        <p:attrNameLst>
                                          <p:attrName>style.visibility</p:attrName>
                                        </p:attrNameLst>
                                      </p:cBhvr>
                                      <p:to>
                                        <p:strVal val="visible"/>
                                      </p:to>
                                    </p:set>
                                    <p:animEffect transition="in" filter="fade">
                                      <p:cBhvr>
                                        <p:cTn id="43" dur="500"/>
                                        <p:tgtEl>
                                          <p:spTgt spid="1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From requirement to specification</a:t>
            </a:r>
          </a:p>
        </p:txBody>
      </p:sp>
      <p:sp>
        <p:nvSpPr>
          <p:cNvPr id="3" name="Slide Number Placeholder 3"/>
          <p:cNvSpPr>
            <a:spLocks noGrp="1"/>
          </p:cNvSpPr>
          <p:nvPr>
            <p:ph type="sldNum" sz="quarter" idx="4"/>
          </p:nvPr>
        </p:nvSpPr>
        <p:spPr/>
        <p:txBody>
          <a:bodyPr/>
          <a:lstStyle/>
          <a:p>
            <a:fld id="{B7EB45DA-9A0D-DC49-8E02-F30A5DDC21C3}" type="slidenum">
              <a:rPr lang="en-US" smtClean="0"/>
              <a:t>19</a:t>
            </a:fld>
            <a:endParaRPr lang="en-US"/>
          </a:p>
        </p:txBody>
      </p:sp>
      <p:sp>
        <p:nvSpPr>
          <p:cNvPr id="110" name="Kicker"/>
          <p:cNvSpPr txBox="1"/>
          <p:nvPr/>
        </p:nvSpPr>
        <p:spPr>
          <a:xfrm>
            <a:off x="365760" y="1097280"/>
            <a:ext cx="8412480" cy="393192"/>
          </a:xfrm>
          <a:prstGeom prst="rect">
            <a:avLst/>
          </a:prstGeom>
          <a:noFill/>
          <a:ln>
            <a:noFill/>
          </a:ln>
        </p:spPr>
        <p:txBody>
          <a:bodyPr wrap="square" lIns="18288" tIns="18288" rIns="18288" bIns="18288" anchor="t"/>
          <a:lstStyle/>
          <a:p>
            <a:pPr algn="l">
              <a:spcAft>
                <a:spcPts val="0"/>
              </a:spcAft>
              <a:buNone/>
            </a:pPr>
            <a:r>
              <a:rPr lang="en-US" sz="2000" b="1" i="0" dirty="0">
                <a:solidFill>
                  <a:srgbClr val="8E6F3E"/>
                </a:solidFill>
              </a:rPr>
              <a:t>BEFORE THE MODEL</a:t>
            </a:r>
          </a:p>
        </p:txBody>
      </p:sp>
      <p:sp>
        <p:nvSpPr>
          <p:cNvPr id="111" name="C1"/>
          <p:cNvSpPr/>
          <p:nvPr/>
        </p:nvSpPr>
        <p:spPr>
          <a:xfrm>
            <a:off x="685800" y="1554480"/>
            <a:ext cx="7772400" cy="777240"/>
          </a:xfrm>
          <a:prstGeom prst="rect">
            <a:avLst/>
          </a:prstGeom>
          <a:solidFill>
            <a:srgbClr val="F5F1E8"/>
          </a:solidFill>
          <a:ln w="12700">
            <a:solidFill>
              <a:srgbClr val="C9B991"/>
            </a:solidFill>
          </a:ln>
        </p:spPr>
        <p:txBody>
          <a:bodyPr wrap="square" lIns="27432" tIns="22860" rIns="27432" bIns="22860" anchor="ctr"/>
          <a:lstStyle/>
          <a:p>
            <a:pPr algn="l">
              <a:spcAft>
                <a:spcPts val="300"/>
              </a:spcAft>
              <a:buNone/>
            </a:pPr>
            <a:r>
              <a:rPr lang="en-US" sz="1300" b="1" i="0" dirty="0">
                <a:solidFill>
                  <a:srgbClr val="8E6F3E"/>
                </a:solidFill>
              </a:rPr>
              <a:t>CUSTOMER REQUIREMENT</a:t>
            </a:r>
          </a:p>
          <a:p>
            <a:pPr algn="l">
              <a:spcAft>
                <a:spcPts val="0"/>
              </a:spcAft>
              <a:buNone/>
            </a:pPr>
            <a:r>
              <a:rPr lang="en-US" sz="1600" b="0" i="0" dirty="0">
                <a:solidFill>
                  <a:srgbClr val="5C4826"/>
                </a:solidFill>
              </a:rPr>
              <a:t>The controller must operate for a full 8-hour shift without battery replacement.</a:t>
            </a:r>
          </a:p>
        </p:txBody>
      </p:sp>
      <p:cxnSp>
        <p:nvCxnSpPr>
          <p:cNvPr id="112" name="A1"/>
          <p:cNvCxnSpPr/>
          <p:nvPr/>
        </p:nvCxnSpPr>
        <p:spPr>
          <a:xfrm>
            <a:off x="4572000" y="2331720"/>
            <a:ext cx="0" cy="228600"/>
          </a:xfrm>
          <a:prstGeom prst="straightConnector1">
            <a:avLst/>
          </a:prstGeom>
          <a:ln w="28575">
            <a:solidFill>
              <a:srgbClr val="8E6F3E"/>
            </a:solidFill>
            <a:tailEnd type="triangle" w="med" len="med"/>
          </a:ln>
        </p:spPr>
      </p:cxnSp>
      <p:sp>
        <p:nvSpPr>
          <p:cNvPr id="113" name="C2"/>
          <p:cNvSpPr/>
          <p:nvPr/>
        </p:nvSpPr>
        <p:spPr>
          <a:xfrm>
            <a:off x="685800" y="2560320"/>
            <a:ext cx="7772400" cy="822960"/>
          </a:xfrm>
          <a:prstGeom prst="rect">
            <a:avLst/>
          </a:prstGeom>
          <a:solidFill>
            <a:srgbClr val="F5F1E8"/>
          </a:solidFill>
          <a:ln w="12700">
            <a:solidFill>
              <a:srgbClr val="C9B991"/>
            </a:solidFill>
          </a:ln>
        </p:spPr>
        <p:txBody>
          <a:bodyPr wrap="square" lIns="27432" tIns="22860" rIns="27432" bIns="22860" anchor="ctr"/>
          <a:lstStyle/>
          <a:p>
            <a:pPr algn="l">
              <a:spcAft>
                <a:spcPts val="300"/>
              </a:spcAft>
              <a:buNone/>
            </a:pPr>
            <a:r>
              <a:rPr lang="en-US" sz="1300" b="1" i="0" dirty="0">
                <a:solidFill>
                  <a:srgbClr val="8E6F3E"/>
                </a:solidFill>
              </a:rPr>
              <a:t>TOP-LEVEL SPECIFICATION</a:t>
            </a:r>
          </a:p>
          <a:p>
            <a:pPr algn="l">
              <a:spcAft>
                <a:spcPts val="0"/>
              </a:spcAft>
              <a:buNone/>
            </a:pPr>
            <a:r>
              <a:rPr lang="en-US" sz="1600" b="0" i="0" dirty="0">
                <a:solidFill>
                  <a:srgbClr val="5C4826"/>
                </a:solidFill>
              </a:rPr>
              <a:t>Under the specified operating profile, battery voltage shall remain above V_min for at least 8 hours.</a:t>
            </a:r>
          </a:p>
        </p:txBody>
      </p:sp>
      <p:cxnSp>
        <p:nvCxnSpPr>
          <p:cNvPr id="114" name="A2"/>
          <p:cNvCxnSpPr/>
          <p:nvPr/>
        </p:nvCxnSpPr>
        <p:spPr>
          <a:xfrm>
            <a:off x="4572000" y="3383280"/>
            <a:ext cx="0" cy="228600"/>
          </a:xfrm>
          <a:prstGeom prst="straightConnector1">
            <a:avLst/>
          </a:prstGeom>
          <a:ln w="28575">
            <a:solidFill>
              <a:srgbClr val="8E6F3E"/>
            </a:solidFill>
            <a:tailEnd type="triangle" w="med" len="med"/>
          </a:ln>
        </p:spPr>
      </p:cxnSp>
      <p:sp>
        <p:nvSpPr>
          <p:cNvPr id="115" name="C3"/>
          <p:cNvSpPr/>
          <p:nvPr/>
        </p:nvSpPr>
        <p:spPr>
          <a:xfrm>
            <a:off x="685800" y="3611880"/>
            <a:ext cx="5029200" cy="685800"/>
          </a:xfrm>
          <a:prstGeom prst="rect">
            <a:avLst/>
          </a:prstGeom>
          <a:solidFill>
            <a:srgbClr val="8E6F3E"/>
          </a:solidFill>
          <a:ln>
            <a:noFill/>
          </a:ln>
        </p:spPr>
        <p:txBody>
          <a:bodyPr wrap="square" lIns="27432" tIns="22860" rIns="27432" bIns="22860" anchor="ctr"/>
          <a:lstStyle/>
          <a:p>
            <a:pPr algn="l">
              <a:spcAft>
                <a:spcPts val="300"/>
              </a:spcAft>
              <a:buNone/>
            </a:pPr>
            <a:r>
              <a:rPr lang="en-US" sz="1300" b="1" i="0" dirty="0">
                <a:solidFill>
                  <a:srgbClr val="F5F1E8"/>
                </a:solidFill>
              </a:rPr>
              <a:t>ENGINEERING QUESTION</a:t>
            </a:r>
          </a:p>
          <a:p>
            <a:pPr algn="l">
              <a:spcAft>
                <a:spcPts val="0"/>
              </a:spcAft>
              <a:buNone/>
            </a:pPr>
            <a:r>
              <a:rPr lang="en-US" sz="1800" b="1" i="0" dirty="0">
                <a:solidFill>
                  <a:srgbClr val="FFFFFF"/>
                </a:solidFill>
              </a:rPr>
              <a:t>Can this design satisfy the 8-hour obligation?</a:t>
            </a:r>
          </a:p>
        </p:txBody>
      </p:sp>
      <p:sp>
        <p:nvSpPr>
          <p:cNvPr id="116" name="Ctrl"/>
          <p:cNvSpPr/>
          <p:nvPr/>
        </p:nvSpPr>
        <p:spPr>
          <a:xfrm>
            <a:off x="5943600" y="3726180"/>
            <a:ext cx="1143000" cy="457200"/>
          </a:xfrm>
          <a:prstGeom prst="rect">
            <a:avLst/>
          </a:prstGeom>
          <a:solidFill>
            <a:srgbClr val="5C4826"/>
          </a:solidFill>
          <a:ln>
            <a:noFill/>
          </a:ln>
        </p:spPr>
        <p:txBody>
          <a:bodyPr wrap="square" lIns="27432" tIns="22860" rIns="27432" bIns="22860" anchor="ctr"/>
          <a:lstStyle/>
          <a:p>
            <a:pPr algn="ctr">
              <a:spcAft>
                <a:spcPts val="0"/>
              </a:spcAft>
              <a:buNone/>
            </a:pPr>
            <a:r>
              <a:rPr lang="en-US" sz="1200" b="1" i="0" dirty="0">
                <a:solidFill>
                  <a:srgbClr val="FFFFFF"/>
                </a:solidFill>
              </a:rPr>
              <a:t>CONTROLLER</a:t>
            </a:r>
          </a:p>
        </p:txBody>
      </p:sp>
      <p:cxnSp>
        <p:nvCxnSpPr>
          <p:cNvPr id="117" name="CB"/>
          <p:cNvCxnSpPr/>
          <p:nvPr/>
        </p:nvCxnSpPr>
        <p:spPr>
          <a:xfrm>
            <a:off x="7086600" y="3954780"/>
            <a:ext cx="228600" cy="0"/>
          </a:xfrm>
          <a:prstGeom prst="straightConnector1">
            <a:avLst/>
          </a:prstGeom>
          <a:ln w="19050">
            <a:solidFill>
              <a:srgbClr val="C9B991"/>
            </a:solidFill>
            <a:tailEnd type="triangle" w="med" len="med"/>
          </a:ln>
        </p:spPr>
      </p:cxnSp>
      <p:sp>
        <p:nvSpPr>
          <p:cNvPr id="118" name="Bat"/>
          <p:cNvSpPr/>
          <p:nvPr/>
        </p:nvSpPr>
        <p:spPr>
          <a:xfrm>
            <a:off x="7315200" y="3726180"/>
            <a:ext cx="1143000" cy="4572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200" b="1" i="0" dirty="0">
                <a:solidFill>
                  <a:srgbClr val="5C4826"/>
                </a:solidFill>
              </a:rPr>
              <a:t>BATTERY</a:t>
            </a:r>
          </a:p>
        </p:txBody>
      </p:sp>
      <p:sp>
        <p:nvSpPr>
          <p:cNvPr id="119" name="Ital"/>
          <p:cNvSpPr txBox="1"/>
          <p:nvPr/>
        </p:nvSpPr>
        <p:spPr>
          <a:xfrm>
            <a:off x="685800" y="4663440"/>
            <a:ext cx="7772400" cy="594360"/>
          </a:xfrm>
          <a:prstGeom prst="rect">
            <a:avLst/>
          </a:prstGeom>
          <a:noFill/>
          <a:ln>
            <a:noFill/>
          </a:ln>
        </p:spPr>
        <p:txBody>
          <a:bodyPr wrap="square" lIns="0" tIns="0" rIns="0" bIns="0" anchor="t"/>
          <a:lstStyle/>
          <a:p>
            <a:pPr algn="ctr">
              <a:spcAft>
                <a:spcPts val="0"/>
              </a:spcAft>
              <a:buNone/>
            </a:pPr>
            <a:r>
              <a:rPr lang="en-US" sz="1500" b="0" i="1" dirty="0">
                <a:solidFill>
                  <a:srgbClr val="555960"/>
                </a:solidFill>
              </a:rPr>
              <a:t>The specification states the obligation. A model is how we find out whether the design meets it.</a:t>
            </a:r>
          </a:p>
        </p:txBody>
      </p:sp>
      <p:sp>
        <p:nvSpPr>
          <p:cNvPr id="120"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1600" b="1" i="0" dirty="0">
                <a:solidFill>
                  <a:srgbClr val="FFFFFF"/>
                </a:solidFill>
              </a:rPr>
              <a:t>REQUIREMENT  →  SPECIFICATION  →  [ </a:t>
            </a:r>
            <a:r>
              <a:rPr lang="en-US" sz="2000" b="1" i="0" dirty="0">
                <a:solidFill>
                  <a:srgbClr val="FFFFFF"/>
                </a:solidFill>
              </a:rPr>
              <a:t>MODELING</a:t>
            </a:r>
            <a:r>
              <a:rPr lang="en-US" sz="1600" b="1" i="0" dirty="0">
                <a:solidFill>
                  <a:srgbClr val="FFFFFF"/>
                </a:solidFill>
              </a:rPr>
              <a:t> ]  →  IMPLEMENTATION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2"/>
                                        </p:tgtEl>
                                        <p:attrNameLst>
                                          <p:attrName>style.visibility</p:attrName>
                                        </p:attrNameLst>
                                      </p:cBhvr>
                                      <p:to>
                                        <p:strVal val="visible"/>
                                      </p:to>
                                    </p:set>
                                    <p:animEffect transition="in" filter="fade">
                                      <p:cBhvr>
                                        <p:cTn id="7" dur="500"/>
                                        <p:tgtEl>
                                          <p:spTgt spid="112"/>
                                        </p:tgtEl>
                                      </p:cBhvr>
                                    </p:animEffect>
                                  </p:childTnLst>
                                </p:cTn>
                              </p:par>
                              <p:par>
                                <p:cTn id="8" presetID="10" presetClass="entr" presetSubtype="0" fill="hold" nodeType="withEffect">
                                  <p:stCondLst>
                                    <p:cond delay="0"/>
                                  </p:stCondLst>
                                  <p:childTnLst>
                                    <p:set>
                                      <p:cBhvr>
                                        <p:cTn id="9" dur="1" fill="hold">
                                          <p:stCondLst>
                                            <p:cond delay="0"/>
                                          </p:stCondLst>
                                        </p:cTn>
                                        <p:tgtEl>
                                          <p:spTgt spid="113"/>
                                        </p:tgtEl>
                                        <p:attrNameLst>
                                          <p:attrName>style.visibility</p:attrName>
                                        </p:attrNameLst>
                                      </p:cBhvr>
                                      <p:to>
                                        <p:strVal val="visible"/>
                                      </p:to>
                                    </p:set>
                                    <p:animEffect transition="in" filter="fade">
                                      <p:cBhvr>
                                        <p:cTn id="10" dur="500"/>
                                        <p:tgtEl>
                                          <p:spTgt spid="113"/>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14"/>
                                        </p:tgtEl>
                                        <p:attrNameLst>
                                          <p:attrName>style.visibility</p:attrName>
                                        </p:attrNameLst>
                                      </p:cBhvr>
                                      <p:to>
                                        <p:strVal val="visible"/>
                                      </p:to>
                                    </p:set>
                                    <p:animEffect transition="in" filter="fade">
                                      <p:cBhvr>
                                        <p:cTn id="15" dur="500"/>
                                        <p:tgtEl>
                                          <p:spTgt spid="114"/>
                                        </p:tgtEl>
                                      </p:cBhvr>
                                    </p:animEffect>
                                  </p:childTnLst>
                                </p:cTn>
                              </p:par>
                              <p:par>
                                <p:cTn id="16" presetID="10" presetClass="entr" presetSubtype="0" fill="hold" nodeType="withEffect">
                                  <p:stCondLst>
                                    <p:cond delay="0"/>
                                  </p:stCondLst>
                                  <p:childTnLst>
                                    <p:set>
                                      <p:cBhvr>
                                        <p:cTn id="17" dur="1" fill="hold">
                                          <p:stCondLst>
                                            <p:cond delay="0"/>
                                          </p:stCondLst>
                                        </p:cTn>
                                        <p:tgtEl>
                                          <p:spTgt spid="115"/>
                                        </p:tgtEl>
                                        <p:attrNameLst>
                                          <p:attrName>style.visibility</p:attrName>
                                        </p:attrNameLst>
                                      </p:cBhvr>
                                      <p:to>
                                        <p:strVal val="visible"/>
                                      </p:to>
                                    </p:set>
                                    <p:animEffect transition="in" filter="fade">
                                      <p:cBhvr>
                                        <p:cTn id="18" dur="500"/>
                                        <p:tgtEl>
                                          <p:spTgt spid="115"/>
                                        </p:tgtEl>
                                      </p:cBhvr>
                                    </p:animEffect>
                                  </p:childTnLst>
                                </p:cTn>
                              </p:par>
                              <p:par>
                                <p:cTn id="19" presetID="10" presetClass="entr" presetSubtype="0" fill="hold" nodeType="withEffect">
                                  <p:stCondLst>
                                    <p:cond delay="0"/>
                                  </p:stCondLst>
                                  <p:childTnLst>
                                    <p:set>
                                      <p:cBhvr>
                                        <p:cTn id="20" dur="1" fill="hold">
                                          <p:stCondLst>
                                            <p:cond delay="0"/>
                                          </p:stCondLst>
                                        </p:cTn>
                                        <p:tgtEl>
                                          <p:spTgt spid="116"/>
                                        </p:tgtEl>
                                        <p:attrNameLst>
                                          <p:attrName>style.visibility</p:attrName>
                                        </p:attrNameLst>
                                      </p:cBhvr>
                                      <p:to>
                                        <p:strVal val="visible"/>
                                      </p:to>
                                    </p:set>
                                    <p:animEffect transition="in" filter="fade">
                                      <p:cBhvr>
                                        <p:cTn id="21" dur="500"/>
                                        <p:tgtEl>
                                          <p:spTgt spid="116"/>
                                        </p:tgtEl>
                                      </p:cBhvr>
                                    </p:animEffect>
                                  </p:childTnLst>
                                </p:cTn>
                              </p:par>
                              <p:par>
                                <p:cTn id="22" presetID="10" presetClass="entr" presetSubtype="0" fill="hold" nodeType="withEffect">
                                  <p:stCondLst>
                                    <p:cond delay="0"/>
                                  </p:stCondLst>
                                  <p:childTnLst>
                                    <p:set>
                                      <p:cBhvr>
                                        <p:cTn id="23" dur="1" fill="hold">
                                          <p:stCondLst>
                                            <p:cond delay="0"/>
                                          </p:stCondLst>
                                        </p:cTn>
                                        <p:tgtEl>
                                          <p:spTgt spid="117"/>
                                        </p:tgtEl>
                                        <p:attrNameLst>
                                          <p:attrName>style.visibility</p:attrName>
                                        </p:attrNameLst>
                                      </p:cBhvr>
                                      <p:to>
                                        <p:strVal val="visible"/>
                                      </p:to>
                                    </p:set>
                                    <p:animEffect transition="in" filter="fade">
                                      <p:cBhvr>
                                        <p:cTn id="24" dur="500"/>
                                        <p:tgtEl>
                                          <p:spTgt spid="117"/>
                                        </p:tgtEl>
                                      </p:cBhvr>
                                    </p:animEffect>
                                  </p:childTnLst>
                                </p:cTn>
                              </p:par>
                              <p:par>
                                <p:cTn id="25" presetID="10" presetClass="entr" presetSubtype="0" fill="hold" nodeType="withEffect">
                                  <p:stCondLst>
                                    <p:cond delay="0"/>
                                  </p:stCondLst>
                                  <p:childTnLst>
                                    <p:set>
                                      <p:cBhvr>
                                        <p:cTn id="26" dur="1" fill="hold">
                                          <p:stCondLst>
                                            <p:cond delay="0"/>
                                          </p:stCondLst>
                                        </p:cTn>
                                        <p:tgtEl>
                                          <p:spTgt spid="118"/>
                                        </p:tgtEl>
                                        <p:attrNameLst>
                                          <p:attrName>style.visibility</p:attrName>
                                        </p:attrNameLst>
                                      </p:cBhvr>
                                      <p:to>
                                        <p:strVal val="visible"/>
                                      </p:to>
                                    </p:set>
                                    <p:animEffect transition="in" filter="fade">
                                      <p:cBhvr>
                                        <p:cTn id="27" dur="500"/>
                                        <p:tgtEl>
                                          <p:spTgt spid="118"/>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19"/>
                                        </p:tgtEl>
                                        <p:attrNameLst>
                                          <p:attrName>style.visibility</p:attrName>
                                        </p:attrNameLst>
                                      </p:cBhvr>
                                      <p:to>
                                        <p:strVal val="visible"/>
                                      </p:to>
                                    </p:set>
                                    <p:animEffect transition="in" filter="fade">
                                      <p:cBhvr>
                                        <p:cTn id="32" dur="500"/>
                                        <p:tgtEl>
                                          <p:spTgt spid="119"/>
                                        </p:tgtEl>
                                      </p:cBhvr>
                                    </p:animEffect>
                                  </p:childTnLst>
                                </p:cTn>
                              </p:par>
                              <p:par>
                                <p:cTn id="33" presetID="10" presetClass="entr" presetSubtype="0" fill="hold" nodeType="withEffect">
                                  <p:stCondLst>
                                    <p:cond delay="0"/>
                                  </p:stCondLst>
                                  <p:childTnLst>
                                    <p:set>
                                      <p:cBhvr>
                                        <p:cTn id="34" dur="1" fill="hold">
                                          <p:stCondLst>
                                            <p:cond delay="0"/>
                                          </p:stCondLst>
                                        </p:cTn>
                                        <p:tgtEl>
                                          <p:spTgt spid="120"/>
                                        </p:tgtEl>
                                        <p:attrNameLst>
                                          <p:attrName>style.visibility</p:attrName>
                                        </p:attrNameLst>
                                      </p:cBhvr>
                                      <p:to>
                                        <p:strVal val="visible"/>
                                      </p:to>
                                    </p:set>
                                    <p:animEffect transition="in" filter="fade">
                                      <p:cBhvr>
                                        <p:cTn id="35" dur="500"/>
                                        <p:tgtEl>
                                          <p:spTgt spid="1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cost discussion</a:t>
            </a:r>
          </a:p>
        </p:txBody>
      </p:sp>
      <p:sp>
        <p:nvSpPr>
          <p:cNvPr id="3" name="Slide Number Placeholder 3"/>
          <p:cNvSpPr>
            <a:spLocks noGrp="1"/>
          </p:cNvSpPr>
          <p:nvPr>
            <p:ph type="sldNum" sz="quarter" idx="4"/>
          </p:nvPr>
        </p:nvSpPr>
        <p:spPr/>
        <p:txBody>
          <a:bodyPr/>
          <a:lstStyle/>
          <a:p>
            <a:fld id="{B7EB45DA-9A0D-DC49-8E02-F30A5DDC21C3}" type="slidenum">
              <a:rPr lang="en-US" smtClean="0"/>
              <a:t>28</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How cheap can we make the implementer?</a:t>
            </a:r>
          </a:p>
        </p:txBody>
      </p:sp>
      <p:sp>
        <p:nvSpPr>
          <p:cNvPr id="3" name="Slide Number Placeholder 3"/>
          <p:cNvSpPr>
            <a:spLocks noGrp="1"/>
          </p:cNvSpPr>
          <p:nvPr>
            <p:ph type="sldNum" sz="quarter" idx="4"/>
          </p:nvPr>
        </p:nvSpPr>
        <p:spPr/>
        <p:txBody>
          <a:bodyPr/>
          <a:lstStyle/>
          <a:p>
            <a:fld id="{B7EB45DA-9A0D-DC49-8E02-F30A5DDC21C3}" type="slidenum">
              <a:rPr lang="en-US" smtClean="0"/>
              <a:t>29</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But this is weird</a:t>
            </a:r>
          </a:p>
        </p:txBody>
      </p:sp>
      <p:sp>
        <p:nvSpPr>
          <p:cNvPr id="3" name="Slide Number Placeholder 3"/>
          <p:cNvSpPr>
            <a:spLocks noGrp="1"/>
          </p:cNvSpPr>
          <p:nvPr>
            <p:ph type="sldNum" sz="quarter" idx="4"/>
          </p:nvPr>
        </p:nvSpPr>
        <p:spPr/>
        <p:txBody>
          <a:bodyPr/>
          <a:lstStyle/>
          <a:p>
            <a:fld id="{B7EB45DA-9A0D-DC49-8E02-F30A5DDC21C3}" type="slidenum">
              <a:rPr lang="en-US" smtClean="0"/>
              <a:t>30</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GenAI changes the economics of delegation</a:t>
            </a:r>
          </a:p>
        </p:txBody>
      </p:sp>
      <p:sp>
        <p:nvSpPr>
          <p:cNvPr id="3" name="Slide Number Placeholder 3"/>
          <p:cNvSpPr>
            <a:spLocks noGrp="1"/>
          </p:cNvSpPr>
          <p:nvPr>
            <p:ph type="sldNum" sz="quarter" idx="4"/>
          </p:nvPr>
        </p:nvSpPr>
        <p:spPr/>
        <p:txBody>
          <a:bodyPr/>
          <a:lstStyle/>
          <a:p>
            <a:fld id="{B7EB45DA-9A0D-DC49-8E02-F30A5DDC21C3}" type="slidenum">
              <a:rPr lang="en-US" smtClean="0"/>
              <a:t>31</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What if the agent keeps choosing badly?</a:t>
            </a:r>
          </a:p>
        </p:txBody>
      </p:sp>
      <p:sp>
        <p:nvSpPr>
          <p:cNvPr id="3" name="Slide Number Placeholder 3"/>
          <p:cNvSpPr>
            <a:spLocks noGrp="1"/>
          </p:cNvSpPr>
          <p:nvPr>
            <p:ph type="sldNum" sz="quarter" idx="4"/>
          </p:nvPr>
        </p:nvSpPr>
        <p:spPr/>
        <p:txBody>
          <a:bodyPr/>
          <a:lstStyle/>
          <a:p>
            <a:fld id="{B7EB45DA-9A0D-DC49-8E02-F30A5DDC21C3}" type="slidenum">
              <a:rPr lang="en-US" smtClean="0"/>
              <a:t>33</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How much should we specify?</a:t>
            </a:r>
          </a:p>
        </p:txBody>
      </p:sp>
      <p:sp>
        <p:nvSpPr>
          <p:cNvPr id="3" name="Slide Number Placeholder 3"/>
          <p:cNvSpPr>
            <a:spLocks noGrp="1"/>
          </p:cNvSpPr>
          <p:nvPr>
            <p:ph type="sldNum" sz="quarter" idx="4"/>
          </p:nvPr>
        </p:nvSpPr>
        <p:spPr/>
        <p:txBody>
          <a:bodyPr/>
          <a:lstStyle/>
          <a:p>
            <a:fld id="{B7EB45DA-9A0D-DC49-8E02-F30A5DDC21C3}" type="slidenum">
              <a:rPr lang="en-US" smtClean="0"/>
              <a:t>34</a:t>
            </a:fld>
            <a:endParaRPr lang="en-US"/>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8577</TotalTime>
  <Words>7239</Words>
  <Application>Microsoft Macintosh PowerPoint</Application>
  <PresentationFormat>On-screen Show (4:3)</PresentationFormat>
  <Paragraphs>545</Paragraphs>
  <Slides>35</Slides>
  <Notes>35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35</vt:i4>
      </vt:variant>
    </vt:vector>
  </HeadingPairs>
  <TitlesOfParts>
    <vt:vector size="39" baseType="lpstr">
      <vt:lpstr>Arial</vt:lpstr>
      <vt:lpstr>Calibri</vt:lpstr>
      <vt:lpstr>Times</vt:lpstr>
      <vt:lpstr>Purdue1</vt:lpstr>
      <vt:lpstr>PowerPoint Presentation</vt:lpstr>
      <vt:lpstr>The agent works inside an engineered environment</vt:lpstr>
      <vt:lpstr>The production equation</vt:lpstr>
      <vt:lpstr>Open the box — where things can go wrong</vt:lpstr>
      <vt:lpstr>Delegation leaves a representation problem</vt:lpstr>
      <vt:lpstr>SEE THE MODELS</vt:lpstr>
      <vt:lpstr>What exists?</vt:lpstr>
      <vt:lpstr>Who talks to whom?</vt:lpstr>
      <vt:lpstr>What states?</vt:lpstr>
      <vt:lpstr>What paths?</vt:lpstr>
      <vt:lpstr>Who needs what?</vt:lpstr>
      <vt:lpstr>Same territory, different questions</vt:lpstr>
      <vt:lpstr>Modeling is a living practice</vt:lpstr>
      <vt:lpstr>Modeling is purposeful reduction</vt:lpstr>
      <vt:lpstr>REDUCTION REQUIRES JUDGMENT</vt:lpstr>
      <vt:lpstr>Top-down: the obligation decides what must remain</vt:lpstr>
      <vt:lpstr>Bottom-up: parsimony challenges what we kept</vt:lpstr>
      <vt:lpstr>Worked: protect the battery</vt:lpstr>
      <vt:lpstr>Top-down: preserve what the obligation requires</vt:lpstr>
      <vt:lpstr>Bottom-up: make every distinction earn its place</vt:lpstr>
      <vt:lpstr>The territory did not change. The question did.</vt:lpstr>
      <vt:lpstr>Obligation and specification are different boundaries</vt:lpstr>
      <vt:lpstr>Capability can reduce scaffolding</vt:lpstr>
      <vt:lpstr>Capability cannot reduce what must be true</vt:lpstr>
      <vt:lpstr>THE EVIDENCE</vt:lpstr>
      <vt:lpstr>Too much reduction loses the obligation</vt:lpstr>
      <vt:lpstr>Good reduction leaves implementation free</vt:lpstr>
      <vt:lpstr>The evidence, side by side</vt:lpstr>
      <vt:lpstr>Where do the probabilities move?</vt:lpstr>
      <vt:lpstr>Activity: Reduce</vt:lpstr>
      <vt:lpstr>Stretch break</vt:lpstr>
      <vt:lpstr>A model is not its representation</vt:lpstr>
      <vt:lpstr>Representation changes interpretation</vt:lpstr>
      <vt:lpstr>Activity: Interpret</vt:lpstr>
      <vt:lpstr>A good model is not a small copy of the system</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407</cp:revision>
  <dcterms:created xsi:type="dcterms:W3CDTF">2020-02-21T23:00:33Z</dcterms:created>
  <dcterms:modified xsi:type="dcterms:W3CDTF">2026-09-30T20:58:17Z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