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2.xml" ContentType="application/vnd.openxmlformats-officedocument.presentationml.slide+xml"/>
  <Override PartName="/ppt/slides/slide6.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Slides/notesSlide1.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Types>
</file>

<file path=_rels/.rels><?xml version="1.0" encoding="UTF-8"?><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4"/>
  </p:notesMasterIdLst>
  <p:sldIdLst>
    <p:sldId id="256" r:id="rId41"/>
    <p:sldId id="257" r:id="rId42"/>
    <p:sldId id="258" r:id="rId43"/>
    <p:sldId id="259" r:id="rId44"/>
    <p:sldId id="260" r:id="rId45"/>
    <p:sldId id="261" r:id="rId46"/>
    <p:sldId id="262" r:id="rId47"/>
    <p:sldId id="263" r:id="rId48"/>
    <p:sldId id="264" r:id="rId49"/>
    <p:sldId id="265" r:id="rId50"/>
    <p:sldId id="266" r:id="rId51"/>
    <p:sldId id="267" r:id="rId52"/>
    <p:sldId id="268" r:id="rId53"/>
    <p:sldId id="269" r:id="rId54"/>
    <p:sldId id="270" r:id="rId55"/>
    <p:sldId id="271" r:id="rId56"/>
    <p:sldId id="272" r:id="rId57"/>
    <p:sldId id="273" r:id="rId58"/>
    <p:sldId id="274" r:id="rId59"/>
    <p:sldId id="275" r:id="rId60"/>
    <p:sldId id="280" r:id="rId65"/>
    <p:sldId id="282" r:id="rId67"/>
    <p:sldId id="283" r:id="rId68"/>
    <p:sldId id="284" r:id="rId69"/>
    <p:sldId id="276" r:id="rId61"/>
    <p:sldId id="277" r:id="rId62"/>
    <p:sldId id="278" r:id="rId63"/>
    <p:sldId id="279" r:id="rId64"/>
    <p:sldId id="285" r:id="rId70"/>
    <p:sldId id="286" r:id="rId71"/>
    <p:sldId id="287" r:id="rId72"/>
    <p:sldId id="288" r:id="rId7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p:scale>
          <a:sx n="61" d="100"/>
          <a:sy n="61" d="100"/>
        </p:scale>
        <p:origin x="3152" y="256"/>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34" Type="http://schemas.openxmlformats.org/officeDocument/2006/relationships/notesMaster" Target="notesMasters/notesMaster1.xml"/><Relationship Id="rId38" Type="http://schemas.openxmlformats.org/officeDocument/2006/relationships/tableStyles" Target="tableStyles.xml"/><Relationship Id="rId1" Type="http://schemas.openxmlformats.org/officeDocument/2006/relationships/slideMaster" Target="slideMasters/slideMaster1.xml"/><Relationship Id="rId37" Type="http://schemas.openxmlformats.org/officeDocument/2006/relationships/theme" Target="theme/theme1.xml"/><Relationship Id="rId36" Type="http://schemas.openxmlformats.org/officeDocument/2006/relationships/viewProps" Target="viewProps.xml"/><Relationship Id="rId35" Type="http://schemas.openxmlformats.org/officeDocument/2006/relationships/presProps" Target="presProps.xml"/><Relationship Id="rId41" Type="http://schemas.openxmlformats.org/officeDocument/2006/relationships/slide" Target="slides/slide1.xml"/><Relationship Id="rId42" Type="http://schemas.openxmlformats.org/officeDocument/2006/relationships/slide" Target="slides/slide33.xml"/><Relationship Id="rId43" Type="http://schemas.openxmlformats.org/officeDocument/2006/relationships/slide" Target="slides/slide34.xml"/><Relationship Id="rId44" Type="http://schemas.openxmlformats.org/officeDocument/2006/relationships/slide" Target="slides/slide2.xml"/><Relationship Id="rId45" Type="http://schemas.openxmlformats.org/officeDocument/2006/relationships/slide" Target="slides/slide6.xml"/><Relationship Id="rId46" Type="http://schemas.openxmlformats.org/officeDocument/2006/relationships/slide" Target="slides/slide35.xml"/><Relationship Id="rId47" Type="http://schemas.openxmlformats.org/officeDocument/2006/relationships/slide" Target="slides/slide36.xml"/><Relationship Id="rId48" Type="http://schemas.openxmlformats.org/officeDocument/2006/relationships/slide" Target="slides/slide37.xml"/><Relationship Id="rId49" Type="http://schemas.openxmlformats.org/officeDocument/2006/relationships/slide" Target="slides/slide38.xml"/><Relationship Id="rId50" Type="http://schemas.openxmlformats.org/officeDocument/2006/relationships/slide" Target="slides/slide39.xml"/><Relationship Id="rId51" Type="http://schemas.openxmlformats.org/officeDocument/2006/relationships/slide" Target="slides/slide40.xml"/><Relationship Id="rId52" Type="http://schemas.openxmlformats.org/officeDocument/2006/relationships/slide" Target="slides/slide41.xml"/><Relationship Id="rId53" Type="http://schemas.openxmlformats.org/officeDocument/2006/relationships/slide" Target="slides/slide5.xml"/><Relationship Id="rId54" Type="http://schemas.openxmlformats.org/officeDocument/2006/relationships/slide" Target="slides/slide13.xml"/><Relationship Id="rId55" Type="http://schemas.openxmlformats.org/officeDocument/2006/relationships/slide" Target="slides/slide14.xml"/><Relationship Id="rId56" Type="http://schemas.openxmlformats.org/officeDocument/2006/relationships/slide" Target="slides/slide15.xml"/><Relationship Id="rId57" Type="http://schemas.openxmlformats.org/officeDocument/2006/relationships/slide" Target="slides/slide16.xml"/><Relationship Id="rId58" Type="http://schemas.openxmlformats.org/officeDocument/2006/relationships/slide" Target="slides/slide17.xml"/><Relationship Id="rId59" Type="http://schemas.openxmlformats.org/officeDocument/2006/relationships/slide" Target="slides/slide18.xml"/><Relationship Id="rId60" Type="http://schemas.openxmlformats.org/officeDocument/2006/relationships/slide" Target="slides/slide19.xml"/><Relationship Id="rId61" Type="http://schemas.openxmlformats.org/officeDocument/2006/relationships/slide" Target="slides/slide20.xml"/><Relationship Id="rId62" Type="http://schemas.openxmlformats.org/officeDocument/2006/relationships/slide" Target="slides/slide21.xml"/><Relationship Id="rId63" Type="http://schemas.openxmlformats.org/officeDocument/2006/relationships/slide" Target="slides/slide22.xml"/><Relationship Id="rId64" Type="http://schemas.openxmlformats.org/officeDocument/2006/relationships/slide" Target="slides/slide23.xml"/><Relationship Id="rId65" Type="http://schemas.openxmlformats.org/officeDocument/2006/relationships/slide" Target="slides/slide24.xml"/><Relationship Id="rId67" Type="http://schemas.openxmlformats.org/officeDocument/2006/relationships/slide" Target="slides/slide26.xml"/><Relationship Id="rId68" Type="http://schemas.openxmlformats.org/officeDocument/2006/relationships/slide" Target="slides/slide27.xml"/><Relationship Id="rId69" Type="http://schemas.openxmlformats.org/officeDocument/2006/relationships/slide" Target="slides/slide28.xml"/><Relationship Id="rId70" Type="http://schemas.openxmlformats.org/officeDocument/2006/relationships/slide" Target="slides/slide29.xml"/><Relationship Id="rId71" Type="http://schemas.openxmlformats.org/officeDocument/2006/relationships/slide" Target="slides/slide30.xml"/><Relationship Id="rId72" Type="http://schemas.openxmlformats.org/officeDocument/2006/relationships/slide" Target="slides/slide31.xml"/><Relationship Id="rId73" Type="http://schemas.openxmlformats.org/officeDocument/2006/relationships/slide" Target="slides/slide32.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next two slides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previous two slides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NOW the definition, and notice what just changed about it. It is no longer an assertion the students have to accept on faith — it is an explanation of five things they just watched. Every one of those diagrams left out almost everything, and every one of them was useful.</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tour earned both.</a:t>
            </a:r>
          </a:p>
          <a:p>
            <a:r>
              <a:rPr lang="en-US" dirty="0"/>
              <a:t>Say the strip line aloud once, here, because this is where the four questions are introduced and they return at every section break from now on: engineering question, model, property, quality.</a:t>
            </a:r>
          </a:p>
          <a:p>
            <a:r>
              <a:rPr lang="en-US" dirty="0"/>
              <a:t>A line worth keeping in your pocket if the room needs it: a reduction you can hold in view beats a faithful copy too large to reason through.</a:t>
            </a:r>
          </a:p>
          <a:p>
            <a:r>
              <a:rPr lang="en-US" dirty="0"/>
              <a:t>About two minutes. This slide closes Section 1 and hands off to Section 2, which stops asking WHAT models look like and starts asking how an engineer DECIDES what belongs in one.</a:t>
            </a:r>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Two directions of reasoning - top-down from the obligation, bottom-up from the proposed model - then both worked live on one embedded system.</a:t>
            </a:r>
          </a:p>
          <a:p>
            <a:r>
              <a:rPr dirty="0"/>
              <a:t>Spine strip: MODEL stage highlighted (stage 2 of the recurring discipline from slide 9).</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Question to ask of every model: what must this model preserve? (R1.s15)</a:t>
            </a:r>
          </a:p>
          <a:p>
            <a:r>
              <a:rPr dirty="0"/>
              <a:t>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For every represented distinction: what engineering question requires this? If none, why carry it?</a:t>
            </a:r>
          </a:p>
          <a:p>
            <a:r>
              <a:rPr dirty="0"/>
              <a:t>The correction matters (R1.s17): the target is the smallest model adequate to purpose, not the smallest model. Below adequate, the obligation is lost.</a:t>
            </a:r>
          </a:p>
          <a:p>
            <a:r>
              <a:rPr dirty="0"/>
              <a:t>Top-down finds what must remain; bottom-up challenges what we chose to keep (the couplet returns on the closing slide). Now we work both, live.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Territory an ECE student grasps in thirty seconds - that is why it, and not a software system, carries the method (plan section 7).</a:t>
            </a:r>
          </a:p>
          <a:p>
            <a:r>
              <a:rPr dirty="0"/>
              <a:t>Present territory before model; the model does not exist yet.</a:t>
            </a:r>
          </a:p>
          <a:p>
            <a:r>
              <a:rPr dirty="0"/>
              <a:t>Exactly one engineering question (R4 verbatim): can the controller exhaust the battery before completing an 8-hour operating period?</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Ask the room: what do we need to reason about that? BEFORE revealing the model card.</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(R4). The PROPERTY beat of the spine happens here - point at it.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genuinely useful discussion (R4): if estimated power already incorporates CPU frequency, fan PWM, and Wi-Fi state, those details may be needed to DERIVE the estimate without living in THIS model.</a:t>
            </a:r>
          </a:p>
          <a:p>
            <a:r>
              <a:rPr dirty="0"/>
              <a:t>Not an obvious right answer; let the room argue briefly. That argument is the bottom-up test being practiced.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Worded as a CALLBACK to the diagram tour that closed on “Same territory, different questions”: the software version made this point across five models of one registration system; the embedded version closes the loop on territory you can feel. Say the callback aloud, do not re-teach it.</a:t>
            </a:r>
          </a:p>
          <a:p>
            <a:r>
              <a:rPr dirty="0"/>
              <a:t>Suddenly thermal mass, ambient temperature, heat generation and airflow matter — and battery capacity largely disappears.</a:t>
            </a:r>
          </a:p>
          <a:p>
            <a:r>
              <a:rPr dirty="0"/>
              <a:t>Closing hinge, spoken over the slide: we have judged what must remain. The next question is not whether we judged right — correspondence answers that, later — but how much of what must remain we are obliged to write down. That is the boundaries slide.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ROLE CHANGE, stated aloud: Section 2's controller taught how to reason. These two cases show how you find out whether the reasoning was right — a different job, not a second pass of the same lesson.</a:t>
            </a:r>
          </a:p>
          <a:p>
            <a:r>
              <a:rPr dirty="0"/>
              <a:t>Both are production cases from DocAble. The lease's omission was vindicated; entitlement's was refuted. A hypothetical can teach judgment; only production can grade it. (Plan §7 — this section break exists to make the method/evidence split visible.)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account object carried the entitlement; the reduction kept one scalar, credits_remaining. The implementation knew the account was unlimited, but the scalar had nowhere to keep the distinction: an unlimited user hit zero credits and was refused.</a:t>
            </a:r>
          </a:p>
          <a:p>
            <a:r>
              <a:rPr dirty="0"/>
              <a:t>Bottom-up said removable; the obligation said no. This is refutation — the omitted distinction actually mattered, and production said so.</a:t>
            </a:r>
          </a:p>
          <a:p>
            <a:r>
              <a:rPr dirty="0"/>
              <a:t>Once a distinction is discarded, no downstream reasoning can recover it. That limit returns at the end of this section.</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lease model preserved owner, generation, lifetime, reclamation, and the forbidden transition: releasing a lease under a stale generation. It omitted the processing topology on purpose.</a:t>
            </a:r>
          </a:p>
          <a:p>
            <a:r>
              <a:rPr dirty="0"/>
              <a:t>The topology then really changed — the work was re-chunked and services rearranged — and nothing in the model moved. Vindication: the omission was tested by reality and passed. The omitted detail really was a degree of freedom, not something forgotten.</a:t>
            </a:r>
          </a:p>
          <a:p>
            <a:r>
              <a:rPr dirty="0"/>
              <a:t>The footer line is verbatim from the team.</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first three rows are Section 2's vocabulary — candidate omission, top-down judgment, bottom-up judgment. The room has already used each of them on the controller. Only the evidence row is new: the method produces judgments; production grades them. That is the method/evidence split on one screen.</a:t>
            </a:r>
          </a:p>
          <a:p>
            <a:r>
              <a:rPr dirty="0"/>
              <a:t>One sentence on revision: a model is a provisional judgment, revised when evidence arrives. The richer account of how designs explored with agents harden into durable models stays in the book — mention it, do not slide it.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CLICK 1 — the two boundaries. The obligation boundary encloses what must be true. The specification boundary encloses what we actually write down. Between them sits the scaffolding: what this particular agent needs to interpret and realize the obligation reliably — examples, decomposition, intermediate structure. Outside the specification boundary, degrees of freedom, left to the realization.</a:t>
            </a:r>
          </a:p>
          <a:p>
            <a:r>
              <a:rPr dirty="0"/>
              <a:t>CLICK 2 — parsimony restated for delegation: how little must we specify while still preserving the obligation and still enabling THIS agent to realize it? A more capable agent needs fewer examples, less decomposition, less intermediate structure, so the dashed boundary moves toward the obligation.</a:t>
            </a:r>
          </a:p>
          <a:p>
            <a:r>
              <a:rPr dirty="0"/>
              <a:t>Watch what did NOT move: the core. That is the next slide.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reduction happened upstream. However capable the downstream agent, nothing arrives for it to recover — the distinction no longer exists in the model. The obligation boundary is capability-invariant; the specification boundary is not. The limit is semantic, not a capability shortfall.</a:t>
            </a:r>
          </a:p>
          <a:p>
            <a:r>
              <a:rPr dirty="0"/>
              <a:t>THE REVEAL. The limit case makes the asymmetry exact: for a fixed representation R, as M approaches a perfect reasoner and the interpretation and realization factors approach one, p_R goes to P(E | R). Every symbol is already known — T, M, R and H from the production equation, E, I and L from the chain decomposition, obligation and scaffolding and degrees of freedom from the argument just made. That is why it was held back until here.</a:t>
            </a:r>
          </a:p>
          <a:p>
            <a:r>
              <a:rPr dirty="0"/>
              <a:t>Say it in these words: a better M cannot recover a distinction that R failed to carry. An organization that has not determined and externalized the obligations governing its work cannot discharge them by purchasing a more capable reasoner.</a:t>
            </a:r>
          </a:p>
          <a:p>
            <a:r>
              <a:rPr dirty="0"/>
              <a:t>The band is the figure from “Open the box” and it is deliberately BARE here — no red MODELING CHANGES THE REPRESENTATION overlay. This slide argues that even a perfect reasoner stays bounded by P(E | R); the Modeling-lever annotation would fight that claim. Point at the FIRST term as you read the limit.</a:t>
            </a:r>
          </a:p>
          <a:p>
            <a:r>
              <a:rPr dirty="0"/>
              <a:t>Forward tag: you will watch this limit reach production in the correspondence section, on the account-quota case — a distinction the model could not express, and production said so.</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Deck slide 27. ~10 minutes including debrief. Students re-enter the controller cold — that is the retention test.</a:t>
            </a:r>
          </a:p>
          <a:p>
            <a:r>
              <a:rPr dirty="0"/>
              <a:t>Debrief challenge sequence (R4, verbatim): Do you need the RTOS scheduler algorithm? Maybe — not if a justified worst-case delay is already carried. The temperature? Only as the trigger. Wi-Fi? Only if it can interfere with timing. Battery voltage? Not for this question — unless voltage affects actuator response inside the envelope. That last chain is the judgment being practiced.</a:t>
            </a:r>
          </a:p>
          <a:p>
            <a:r>
              <a:rPr dirty="0"/>
              <a:t>The DEBRIEF label, the convergence chain, and the bound are hidden until the click — reveal only after teams have committed. The bound is the PROPERTY beat of the spine.</a:t>
            </a:r>
          </a:p>
          <a:p>
            <a:r>
              <a:rPr dirty="0"/>
              <a:t>[QR placeholder — form URL pending per plan §8.2; a finisher unit drops in the real QR PNG with alt text = URL.]</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Deck slide 28. ~2-3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Deck slide 29. A diagram is a representation, not a synonym for a model. The same recovery relation renders as a state diagram, a transition table, or structured text; the property — publication precedes the record — is statable whatever the encoding.</a:t>
            </a:r>
          </a:p>
          <a:p>
            <a:r>
              <a:rPr dirty="0"/>
              <a:t>Quiet setup for Deck 2: the same model can have several representations without making each representation an independent source of truth. Do not develop it further here.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Deck slide 30. Merged R1.s25+s26 — the probabilistic seed motivates the asymmetry in one move. Seed P(agent correctly interprets c | r) and STOP THERE: no expected loss, no utility, no economics. Two representations of the same intended model differ in how reliably the claim is recovered.</a:t>
            </a:r>
          </a:p>
          <a:p>
            <a:r>
              <a:rPr dirty="0"/>
              <a:t>The fourth question — Quality — just became concrete: does the representation make the consequential interpretation sufficiently likely? Later units use this probabilistic view systematically; today the seed is enough.</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Deck slide 31. ~9 minutes. Makes P(interpret) tangible without estimating a number — do not ask students for a number.</a:t>
            </a:r>
          </a:p>
          <a:p>
            <a:r>
              <a:rPr dirty="0"/>
              <a:t>Both directions on purpose, because the lecture just taught that a model is not its representation: (a) one drawing under two stated semantics — different models from the same picture; (b) two different representations intended to express one model — the same model from different pictures.</a:t>
            </a:r>
          </a:p>
          <a:p>
            <a:r>
              <a:rPr dirty="0"/>
              <a:t>Debrief flexes 2 minutes either way — the deck's main timing valve.</a:t>
            </a:r>
          </a:p>
          <a:p>
            <a:r>
              <a:rPr dirty="0"/>
              <a:t>[QR placeholder — form URL pending per plan §8.2; a finisher unit drops in the real QR PNG with alt text = URL.]</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Deck slide 32. ~2 minutes; compresses to 1 if needed. Reprise, not new content — the couplet was earned at slides 15/17/18 and adjudicated at 23. Read the couplet, land the ital line, then the teaser names Deck 2's problem in one sentence and stops.</a:t>
            </a:r>
          </a:p>
          <a:p>
            <a:r>
              <a:rPr dirty="0"/>
              <a:t>[QR placeholder — feedback form URL pending per plan §8.2; a finisher unit drops in the real QR PNG with alt text = URL.]</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Do not say “Modeling” yet. Naming the lever here spends the next slide’s move, which is to open the probability and point at the one term Modeling acts on. About 2.5 minutes including the naming exchange.</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next four slides each rescue exactly one of them.</a:t>
            </a:r>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2's obligation argument.</a:t>
            </a:r>
          </a:p>
          <a:p>
            <a:r>
              <a:rPr lang="en-US" dirty="0"/>
              <a:t>The revise edge back to Draft is what makes this a machine rather than a pipeline. Point at it for one second.</a:t>
            </a:r>
          </a:p>
          <a:p>
            <a:r>
              <a:rPr lang="en-US" dirty="0"/>
              <a:t>BUILD NOTE, not spoken: this exact artwork returns in Section 3 as the one-model-many-implementations anchor. Visual identity between the two placements is required — it is literally the same image file. Do not let a later edit re-draw either one.</a:t>
            </a:r>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two slides from now, arriving by demonstration rather than by assertion.</a:t>
            </a:r>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The next slide is the punchline — do not deliver it here.</a:t>
            </a:r>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a:t>
            </a:r>
          </a:p>
          <a:p>
            <a:r>
              <a:rPr lang="en-US" dirty="0"/>
              <a:t>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Do not walk all five again. Point, land the thesis, move. Forty-five seconds.</a:t>
            </a:r>
          </a:p>
          <a:p>
            <a:r>
              <a:rPr lang="en-US" dirty="0"/>
              <a:t>Callback anchor: this slide is what the embedded battery example later reprises. When the controller's energy model and thermal model arrive in Section 2, the line is — you have seen this already, in software, on the tour; here it is on territory you can feel.</a:t>
            </a:r>
          </a:p>
          <a:p>
            <a:r>
              <a:rPr lang="en-US" dirty="0"/>
              <a:t>NAME THE FIVE DISTINCTIONS ALOUD while pointing, one per card — this is the evidence for the second half of the thesis, and the thumbnails are too small to carry it on their own: structure, order, lifecycle, branching, intent. Five questions, five things worth keeping, one territory.</a:t>
            </a:r>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One slide, ninety seconds, and a named flex point — this is the first thing to compress if the room is running long.</a:t>
            </a:r>
          </a:p>
          <a:p>
            <a:r>
              <a:rPr lang="en-US" dirty="0"/>
              <a:t>The job is one claim and one claim only: modeling is an extant engineering practice with living tools, not a conceptual vocabulary invented last year for agents. The UML tradition and the MBSE tradition are decades old and still under active development.</a:t>
            </a:r>
          </a:p>
          <a:p>
            <a:r>
              <a:rPr lang="en-US" dirty="0"/>
              <a:t>BESSER comes out of Jordi Cabot's group — the same tradition as the Model-Driven Software Engineering in Practice textbook. It is MIT-licensed and current.</a:t>
            </a:r>
          </a:p>
          <a:p>
            <a:r>
              <a:rPr lang="en-US" dirty="0"/>
              <a:t>Do NOT teach the tool, and do NOT catalogue Cabot's work. Read the tagline off the screen — build software from a model, draw it in the browser or define it in Python, then generate the code — and let that be the argument. The students can go find it themselves.</a:t>
            </a:r>
          </a:p>
          <a:p>
            <a:r>
              <a:rPr lang="en-US" dirty="0"/>
              <a:t>The takeaway line is the survivor of two deleted catalog slides: the forms already exist, so select before you invent. That is the practical instruction the old six-box gallery was trying to deliver, minus the gallery.</a:t>
            </a:r>
          </a:p>
          <a:p>
            <a:r>
              <a:rPr lang="en-US" dirty="0"/>
              <a:t>Screenshot provenance: besser.readthedocs.io, captured 2026-09-30, used for teaching and attributed on the slide.</a:t>
            </a:r>
          </a:p>
        </p:txBody>
      </p:sp>
    </p:spTree>
  </p:cSld>
</p:notes>
</file>

<file path=ppt/slideLayouts/_rels/slideLayout1.xml.rels><?xml version="1.0" encoding="UTF-8"?><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13.xml.rels><?xml version="1.0" encoding="UTF-8"?><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 Id="rId3" Type="http://schemas.openxmlformats.org/officeDocument/2006/relationships/image" Target="../media/image3.png"/></Relationships>
</file>

<file path=ppt/slides/_rels/slide27.xml.rels><?xml version="1.0" encoding="UTF-8"?><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Relationships xmlns="http://schemas.openxmlformats.org/package/2006/relationships"><Relationship Id="rId3" Type="http://schemas.openxmlformats.org/officeDocument/2006/relationships/notesSlide" Target="../notesSlides/notesSlide34.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35.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notesSlide" Target="../notesSlides/notesSlide36.xml"/></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7.xml"/></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38.xml"/></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notesSlide" Target="../notesSlides/notesSlide39.xml"/></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notesSlide" Target="../notesSlides/notesSlide40.xml"/></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 xml:space="preserve">Lecture 1 </a:t>
            </a:r>
            <a:r>
              <a:rPr lang="en-US" sz="2000" dirty="0">
                <a:solidFill>
                  <a:srgbClr val="555960"/>
                </a:solidFill>
              </a:rPr>
              <a:t>(today)</a:t>
            </a:r>
            <a:r>
              <a:rPr lang="en-US" sz="2000" b="0" i="0" dirty="0">
                <a:solidFill>
                  <a:srgbClr val="555960"/>
                </a:solidFill>
              </a:rPr>
              <a:t xml:space="preserve">: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xml:space="preserve">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xml:space="preserve">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THE PREMISE</a:t>
            </a:r>
          </a:p>
        </p:txBody>
      </p:sp>
      <p:sp>
        <p:nvSpPr>
          <p:cNvPr id="7" name="KickerBox"/>
          <p:cNvSpPr/>
          <p:nvPr/>
        </p:nvSpPr>
        <p:spPr>
          <a:xfrm>
            <a:off x="1371600" y="1554480"/>
            <a:ext cx="640080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Ask all four, every time — they return at every section break.</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REDUCTION REQUIRES JUDGMENT</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1" name="B0"/>
          <p:cNvSpPr/>
          <p:nvPr/>
        </p:nvSpPr>
        <p:spPr>
          <a:xfrm>
            <a:off x="914400" y="1143000"/>
            <a:ext cx="7315200" cy="822960"/>
          </a:xfrm>
          <a:prstGeom prst="rect">
            <a:avLst/>
          </a:prstGeom>
          <a:solidFill>
            <a:srgbClr val="5C4826"/>
          </a:solidFill>
          <a:ln>
            <a:noFill/>
          </a:ln>
        </p:spPr>
        <p:txBody>
          <a:bodyPr wrap="square" lIns="27432" tIns="22860" rIns="27432" bIns="22860" anchor="ctr"/>
          <a:lstStyle/>
          <a:p>
            <a:pPr algn="ctr">
              <a:spcAft>
                <a:spcPts val="400"/>
              </a:spcAft>
              <a:buNone/>
            </a:pPr>
            <a:r>
              <a:rPr lang="en-US" sz="2000" b="1" dirty="0">
                <a:solidFill>
                  <a:srgbClr val="FFFFFF"/>
                </a:solidFill>
              </a:rPr>
              <a:t>ENGINEERING OBLIGATION</a:t>
            </a:r>
          </a:p>
          <a:p>
            <a:pPr algn="ctr">
              <a:spcAft>
                <a:spcPts val="0"/>
              </a:spcAft>
              <a:buNone/>
            </a:pPr>
            <a:r>
              <a:rPr lang="en-US" sz="1600" b="0" dirty="0">
                <a:solidFill>
                  <a:srgbClr val="FFFFFF"/>
                </a:solidFill>
              </a:rPr>
              <a:t>what the system must guarantee</a:t>
            </a:r>
          </a:p>
        </p:txBody>
      </p:sp>
      <p:cxnSp>
        <p:nvCxnSpPr>
          <p:cNvPr id="102" name="AR0"/>
          <p:cNvCxnSpPr/>
          <p:nvPr/>
        </p:nvCxnSpPr>
        <p:spPr>
          <a:xfrm>
            <a:off x="4572000" y="1965960"/>
            <a:ext cx="0" cy="320040"/>
          </a:xfrm>
          <a:prstGeom prst="straightConnector1">
            <a:avLst/>
          </a:prstGeom>
          <a:ln w="28575">
            <a:solidFill>
              <a:srgbClr val="8E6F3E"/>
            </a:solidFill>
            <a:tailEnd type="triangle" w="med" len="med"/>
          </a:ln>
        </p:spPr>
      </p:cxnSp>
      <p:sp>
        <p:nvSpPr>
          <p:cNvPr id="103" name="B1"/>
          <p:cNvSpPr/>
          <p:nvPr/>
        </p:nvSpPr>
        <p:spPr>
          <a:xfrm>
            <a:off x="914400" y="2286000"/>
            <a:ext cx="7315200" cy="822960"/>
          </a:xfrm>
          <a:prstGeom prst="rect">
            <a:avLst/>
          </a:prstGeom>
          <a:solidFill>
            <a:srgbClr val="555960"/>
          </a:solidFill>
          <a:ln>
            <a:noFill/>
          </a:ln>
        </p:spPr>
        <p:txBody>
          <a:bodyPr wrap="square" lIns="27432" tIns="22860" rIns="27432" bIns="22860" anchor="ctr"/>
          <a:lstStyle/>
          <a:p>
            <a:pPr algn="ctr">
              <a:spcAft>
                <a:spcPts val="400"/>
              </a:spcAft>
              <a:buNone/>
            </a:pPr>
            <a:r>
              <a:rPr lang="en-US" sz="2000" b="1" dirty="0">
                <a:solidFill>
                  <a:srgbClr val="FFFFFF"/>
                </a:solidFill>
              </a:rPr>
              <a:t>REQUIRED DISTINCTIONS</a:t>
            </a:r>
          </a:p>
          <a:p>
            <a:pPr algn="ctr">
              <a:spcAft>
                <a:spcPts val="0"/>
              </a:spcAft>
              <a:buNone/>
            </a:pPr>
            <a:r>
              <a:rPr lang="en-US" sz="1600" b="0" dirty="0">
                <a:solidFill>
                  <a:srgbClr val="FFFFFF"/>
                </a:solidFill>
              </a:rPr>
              <a:t>what the model must preserve</a:t>
            </a:r>
          </a:p>
        </p:txBody>
      </p:sp>
      <p:cxnSp>
        <p:nvCxnSpPr>
          <p:cNvPr id="104" name="AR1"/>
          <p:cNvCxnSpPr/>
          <p:nvPr/>
        </p:nvCxnSpPr>
        <p:spPr>
          <a:xfrm>
            <a:off x="4572000" y="3108960"/>
            <a:ext cx="0" cy="320040"/>
          </a:xfrm>
          <a:prstGeom prst="straightConnector1">
            <a:avLst/>
          </a:prstGeom>
          <a:ln w="28575">
            <a:solidFill>
              <a:srgbClr val="8E6F3E"/>
            </a:solidFill>
            <a:tailEnd type="triangle" w="med" len="med"/>
          </a:ln>
        </p:spPr>
      </p:cxnSp>
      <p:sp>
        <p:nvSpPr>
          <p:cNvPr id="105" name="B2"/>
          <p:cNvSpPr/>
          <p:nvPr/>
        </p:nvSpPr>
        <p:spPr>
          <a:xfrm>
            <a:off x="914400" y="3429000"/>
            <a:ext cx="7315200" cy="822960"/>
          </a:xfrm>
          <a:prstGeom prst="rect">
            <a:avLst/>
          </a:prstGeom>
          <a:solidFill>
            <a:srgbClr val="C9B991"/>
          </a:solidFill>
          <a:ln>
            <a:noFill/>
          </a:ln>
        </p:spPr>
        <p:txBody>
          <a:bodyPr wrap="square" lIns="27432" tIns="22860" rIns="27432" bIns="22860" anchor="ctr"/>
          <a:lstStyle/>
          <a:p>
            <a:pPr algn="ctr">
              <a:spcAft>
                <a:spcPts val="400"/>
              </a:spcAft>
              <a:buNone/>
            </a:pPr>
            <a:r>
              <a:rPr lang="en-US" sz="2000" b="1" dirty="0">
                <a:solidFill>
                  <a:srgbClr val="5C4826"/>
                </a:solidFill>
              </a:rPr>
              <a:t>LEGITIMATE FREEDOM</a:t>
            </a:r>
          </a:p>
          <a:p>
            <a:pPr algn="ctr">
              <a:spcAft>
                <a:spcPts val="0"/>
              </a:spcAft>
              <a:buNone/>
            </a:pPr>
            <a:r>
              <a:rPr lang="en-US" sz="1600" dirty="0">
                <a:solidFill>
                  <a:srgbClr val="353638"/>
                </a:solidFill>
              </a:rPr>
              <a:t>everything else: the agent’s degrees of freedom</a:t>
            </a:r>
          </a:p>
        </p:txBody>
      </p:sp>
      <p:sp>
        <p:nvSpPr>
          <p:cNvPr id="106" name="Ital"/>
          <p:cNvSpPr txBox="1"/>
          <p:nvPr/>
        </p:nvSpPr>
        <p:spPr>
          <a:xfrm>
            <a:off x="685800" y="4526280"/>
            <a:ext cx="7772400" cy="4114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07"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Ask of every model: what must it preserve?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Bottom-up: parsimony challenges what we kept</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108" name="CardHead"/>
          <p:cNvSpPr/>
          <p:nvPr/>
        </p:nvSpPr>
        <p:spPr>
          <a:xfrm>
            <a:off x="685800" y="1257300"/>
            <a:ext cx="320040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CANDIDATE MODEL</a:t>
            </a:r>
          </a:p>
        </p:txBody>
      </p:sp>
      <p:sp>
        <p:nvSpPr>
          <p:cNvPr id="109" name="R0"/>
          <p:cNvSpPr/>
          <p:nvPr/>
        </p:nvSpPr>
        <p:spPr>
          <a:xfrm>
            <a:off x="685800" y="17145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components</a:t>
            </a:r>
          </a:p>
        </p:txBody>
      </p:sp>
      <p:sp>
        <p:nvSpPr>
          <p:cNvPr id="110" name="R1"/>
          <p:cNvSpPr/>
          <p:nvPr/>
        </p:nvSpPr>
        <p:spPr>
          <a:xfrm>
            <a:off x="685800" y="21717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depends-on edges</a:t>
            </a:r>
          </a:p>
        </p:txBody>
      </p:sp>
      <p:sp>
        <p:nvSpPr>
          <p:cNvPr id="111" name="R2"/>
          <p:cNvSpPr/>
          <p:nvPr/>
        </p:nvSpPr>
        <p:spPr>
          <a:xfrm>
            <a:off x="685800" y="26289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edge direction</a:t>
            </a:r>
          </a:p>
        </p:txBody>
      </p:sp>
      <p:sp>
        <p:nvSpPr>
          <p:cNvPr id="112" name="R3"/>
          <p:cNvSpPr/>
          <p:nvPr/>
        </p:nvSpPr>
        <p:spPr>
          <a:xfrm>
            <a:off x="685800" y="30861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i="1" strike="sngStrike" dirty="0">
                <a:solidFill>
                  <a:srgbClr val="555960"/>
                </a:solidFill>
              </a:rPr>
              <a:t>deploy schedule</a:t>
            </a:r>
          </a:p>
        </p:txBody>
      </p:sp>
      <p:sp>
        <p:nvSpPr>
          <p:cNvPr id="113" name="Ital"/>
          <p:cNvSpPr txBox="1"/>
          <p:nvPr/>
        </p:nvSpPr>
        <p:spPr>
          <a:xfrm>
            <a:off x="457200" y="3752850"/>
            <a:ext cx="3657600" cy="6400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For every row: what engineering question requires this? If none, why carry it?</a:t>
            </a:r>
          </a:p>
        </p:txBody>
      </p:sp>
      <p:sp>
        <p:nvSpPr>
          <p:cNvPr id="114" name="ScaleHead"/>
          <p:cNvSpPr txBox="1"/>
          <p:nvPr/>
        </p:nvSpPr>
        <p:spPr>
          <a:xfrm>
            <a:off x="4800600" y="1257300"/>
            <a:ext cx="3657600" cy="411480"/>
          </a:xfrm>
          <a:prstGeom prst="rect">
            <a:avLst/>
          </a:prstGeom>
          <a:noFill/>
          <a:ln>
            <a:noFill/>
          </a:ln>
        </p:spPr>
        <p:txBody>
          <a:bodyPr wrap="square" lIns="18288" tIns="18288" rIns="18288" bIns="18288" anchor="t"/>
          <a:lstStyle/>
          <a:p>
            <a:pPr algn="ctr">
              <a:spcAft>
                <a:spcPts val="0"/>
              </a:spcAft>
              <a:buNone/>
            </a:pPr>
            <a:r>
              <a:rPr lang="en-US" sz="1800" b="1" dirty="0">
                <a:solidFill>
                  <a:srgbClr val="8E6F3E"/>
                </a:solidFill>
              </a:rPr>
              <a:t>SMALLEST DOES NOT MEAN BEST</a:t>
            </a:r>
          </a:p>
        </p:txBody>
      </p:sp>
      <p:sp>
        <p:nvSpPr>
          <p:cNvPr id="115" name="Bar0"/>
          <p:cNvSpPr/>
          <p:nvPr/>
        </p:nvSpPr>
        <p:spPr>
          <a:xfrm>
            <a:off x="4800600" y="2286000"/>
            <a:ext cx="3657600" cy="38100"/>
          </a:xfrm>
          <a:prstGeom prst="rect">
            <a:avLst/>
          </a:prstGeom>
          <a:solidFill>
            <a:srgbClr val="C9B991"/>
          </a:solidFill>
          <a:ln>
            <a:noFill/>
          </a:ln>
        </p:spPr>
        <p:txBody>
          <a:bodyPr wrap="square" lIns="27432" tIns="22860" rIns="27432" bIns="22860" anchor="ctr"/>
          <a:lstStyle/>
          <a:p>
            <a:pPr algn="ctr">
              <a:spcAft>
                <a:spcPts val="0"/>
              </a:spcAft>
              <a:buNone/>
            </a:pPr>
            <a:endParaRPr/>
          </a:p>
        </p:txBody>
      </p:sp>
      <p:sp>
        <p:nvSpPr>
          <p:cNvPr id="116" name="T0"/>
          <p:cNvSpPr/>
          <p:nvPr/>
        </p:nvSpPr>
        <p:spPr>
          <a:xfrm>
            <a:off x="4788700" y="2217420"/>
            <a:ext cx="25400" cy="175260"/>
          </a:xfrm>
          <a:prstGeom prst="rect">
            <a:avLst/>
          </a:prstGeom>
          <a:solidFill>
            <a:srgbClr val="555960"/>
          </a:solidFill>
          <a:ln>
            <a:noFill/>
          </a:ln>
        </p:spPr>
        <p:txBody>
          <a:bodyPr wrap="square" lIns="27432" tIns="22860" rIns="27432" bIns="22860" anchor="ctr"/>
          <a:lstStyle/>
          <a:p>
            <a:pPr algn="ctr">
              <a:spcAft>
                <a:spcPts val="0"/>
              </a:spcAft>
              <a:buNone/>
            </a:pPr>
            <a:endParaRPr/>
          </a:p>
        </p:txBody>
      </p:sp>
      <p:sp>
        <p:nvSpPr>
          <p:cNvPr id="117" name="T2"/>
          <p:cNvSpPr/>
          <p:nvPr/>
        </p:nvSpPr>
        <p:spPr>
          <a:xfrm>
            <a:off x="8445500" y="2217420"/>
            <a:ext cx="25400" cy="175260"/>
          </a:xfrm>
          <a:prstGeom prst="rect">
            <a:avLst/>
          </a:prstGeom>
          <a:solidFill>
            <a:srgbClr val="555960"/>
          </a:solidFill>
          <a:ln>
            <a:noFill/>
          </a:ln>
        </p:spPr>
        <p:txBody>
          <a:bodyPr wrap="square" lIns="27432" tIns="22860" rIns="27432" bIns="22860" anchor="ctr"/>
          <a:lstStyle/>
          <a:p>
            <a:pPr algn="ctr">
              <a:spcAft>
                <a:spcPts val="0"/>
              </a:spcAft>
              <a:buNone/>
            </a:pPr>
            <a:endParaRPr/>
          </a:p>
        </p:txBody>
      </p:sp>
      <p:sp>
        <p:nvSpPr>
          <p:cNvPr id="118" name="M0"/>
          <p:cNvSpPr/>
          <p:nvPr/>
        </p:nvSpPr>
        <p:spPr>
          <a:xfrm>
            <a:off x="5989320" y="2113280"/>
            <a:ext cx="182880" cy="182880"/>
          </a:xfrm>
          <a:prstGeom prst="diamond">
            <a:avLst/>
          </a:prstGeom>
          <a:solidFill>
            <a:srgbClr val="8E6F3E"/>
          </a:solidFill>
          <a:ln>
            <a:noFill/>
          </a:ln>
        </p:spPr>
        <p:txBody>
          <a:bodyPr/>
          <a:lstStyle/>
          <a:p>
            <a:endParaRPr lang="en-US"/>
          </a:p>
        </p:txBody>
      </p:sp>
      <p:sp>
        <p:nvSpPr>
          <p:cNvPr id="119" name="T1"/>
          <p:cNvSpPr txBox="1"/>
          <p:nvPr/>
        </p:nvSpPr>
        <p:spPr>
          <a:xfrm>
            <a:off x="5257800" y="1668780"/>
            <a:ext cx="1645920" cy="41148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smallest adequate to purpose</a:t>
            </a:r>
          </a:p>
        </p:txBody>
      </p:sp>
      <p:sp>
        <p:nvSpPr>
          <p:cNvPr id="120" name="T3"/>
          <p:cNvSpPr txBox="1"/>
          <p:nvPr/>
        </p:nvSpPr>
        <p:spPr>
          <a:xfrm>
            <a:off x="4389120" y="2453640"/>
            <a:ext cx="822960" cy="54864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smallest possible</a:t>
            </a:r>
          </a:p>
        </p:txBody>
      </p:sp>
      <p:sp>
        <p:nvSpPr>
          <p:cNvPr id="121" name="T4"/>
          <p:cNvSpPr txBox="1"/>
          <p:nvPr/>
        </p:nvSpPr>
        <p:spPr>
          <a:xfrm>
            <a:off x="8046720" y="2453640"/>
            <a:ext cx="822960" cy="54864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faithful copy</a:t>
            </a:r>
          </a:p>
        </p:txBody>
      </p:sp>
      <p:sp>
        <p:nvSpPr>
          <p:cNvPr id="122" name="Corr"/>
          <p:cNvSpPr txBox="1"/>
          <p:nvPr/>
        </p:nvSpPr>
        <p:spPr>
          <a:xfrm>
            <a:off x="685800" y="4457700"/>
            <a:ext cx="7772400" cy="73152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The target is the smallest model adequate to purpose,</a:t>
            </a:r>
          </a:p>
          <a:p>
            <a:pPr algn="ctr">
              <a:spcAft>
                <a:spcPts val="0"/>
              </a:spcAft>
              <a:buNone/>
            </a:pPr>
            <a:r>
              <a:rPr lang="en-US" sz="2000" b="1" dirty="0">
                <a:solidFill>
                  <a:srgbClr val="5C4826"/>
                </a:solidFill>
              </a:rPr>
              <a:t>not the smallest model.</a:t>
            </a:r>
          </a:p>
        </p:txBody>
      </p:sp>
      <p:sp>
        <p:nvSpPr>
          <p:cNvPr id="12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Top-down: what must remain. Bottom-up: why is this still here?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METHOD, WORKED</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 xml:space="preserve">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Bottom-up: make every distinction earn its place</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65" name="CardHead"/>
          <p:cNvSpPr/>
          <p:nvPr/>
        </p:nvSpPr>
        <p:spPr>
          <a:xfrm>
            <a:off x="685800" y="11887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CANDIDATE: MODE</a:t>
            </a:r>
          </a:p>
        </p:txBody>
      </p:sp>
      <p:sp>
        <p:nvSpPr>
          <p:cNvPr id="166" name="L0"/>
          <p:cNvSpPr/>
          <p:nvPr/>
        </p:nvSpPr>
        <p:spPr>
          <a:xfrm>
            <a:off x="685800" y="16002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CPU frequency</a:t>
            </a:r>
          </a:p>
        </p:txBody>
      </p:sp>
      <p:sp>
        <p:nvSpPr>
          <p:cNvPr id="167" name="L1"/>
          <p:cNvSpPr/>
          <p:nvPr/>
        </p:nvSpPr>
        <p:spPr>
          <a:xfrm>
            <a:off x="685800" y="19659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CPU utilization</a:t>
            </a:r>
          </a:p>
        </p:txBody>
      </p:sp>
      <p:sp>
        <p:nvSpPr>
          <p:cNvPr id="168" name="L2"/>
          <p:cNvSpPr/>
          <p:nvPr/>
        </p:nvSpPr>
        <p:spPr>
          <a:xfrm>
            <a:off x="685800" y="23317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fan PWM %</a:t>
            </a:r>
          </a:p>
        </p:txBody>
      </p:sp>
      <p:sp>
        <p:nvSpPr>
          <p:cNvPr id="169" name="L3"/>
          <p:cNvSpPr/>
          <p:nvPr/>
        </p:nvSpPr>
        <p:spPr>
          <a:xfrm>
            <a:off x="685800" y="26974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Wi-Fi state</a:t>
            </a:r>
          </a:p>
        </p:txBody>
      </p:sp>
      <p:sp>
        <p:nvSpPr>
          <p:cNvPr id="170" name="L4"/>
          <p:cNvSpPr/>
          <p:nvPr/>
        </p:nvSpPr>
        <p:spPr>
          <a:xfrm>
            <a:off x="685800" y="306324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flash writes per second</a:t>
            </a:r>
          </a:p>
        </p:txBody>
      </p:sp>
      <p:sp>
        <p:nvSpPr>
          <p:cNvPr id="171" name="L5"/>
          <p:cNvSpPr/>
          <p:nvPr/>
        </p:nvSpPr>
        <p:spPr>
          <a:xfrm>
            <a:off x="6858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display brightness</a:t>
            </a:r>
          </a:p>
        </p:txBody>
      </p:sp>
      <p:sp>
        <p:nvSpPr>
          <p:cNvPr id="172" name="L6"/>
          <p:cNvSpPr/>
          <p:nvPr/>
        </p:nvSpPr>
        <p:spPr>
          <a:xfrm>
            <a:off x="6858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sample rate</a:t>
            </a:r>
          </a:p>
        </p:txBody>
      </p:sp>
      <p:sp>
        <p:nvSpPr>
          <p:cNvPr id="173" name="L7"/>
          <p:cNvSpPr/>
          <p:nvPr/>
        </p:nvSpPr>
        <p:spPr>
          <a:xfrm>
            <a:off x="6858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estimated power</a:t>
            </a:r>
          </a:p>
        </p:txBody>
      </p:sp>
      <p:sp>
        <p:nvSpPr>
          <p:cNvPr id="174" name="L8"/>
          <p:cNvSpPr/>
          <p:nvPr/>
        </p:nvSpPr>
        <p:spPr>
          <a:xfrm>
            <a:off x="6858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duration</a:t>
            </a:r>
          </a:p>
        </p:txBody>
      </p:sp>
      <p:cxnSp>
        <p:nvCxnSpPr>
          <p:cNvPr id="175" name="AR0"/>
          <p:cNvCxnSpPr/>
          <p:nvPr/>
        </p:nvCxnSpPr>
        <p:spPr>
          <a:xfrm>
            <a:off x="3771900" y="3000375"/>
            <a:ext cx="1485900" cy="0"/>
          </a:xfrm>
          <a:prstGeom prst="straightConnector1">
            <a:avLst/>
          </a:prstGeom>
          <a:ln w="28575">
            <a:solidFill>
              <a:srgbClr val="8E6F3E"/>
            </a:solidFill>
            <a:tailEnd type="triangle" w="med" len="med"/>
          </a:ln>
        </p:spPr>
      </p:cxnSp>
      <p:sp>
        <p:nvSpPr>
          <p:cNvPr id="176" name="KeptHead"/>
          <p:cNvSpPr/>
          <p:nvPr/>
        </p:nvSpPr>
        <p:spPr>
          <a:xfrm>
            <a:off x="5257800" y="2194560"/>
            <a:ext cx="29718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MODE</a:t>
            </a:r>
          </a:p>
        </p:txBody>
      </p:sp>
      <p:sp>
        <p:nvSpPr>
          <p:cNvPr id="177" name="K0"/>
          <p:cNvSpPr/>
          <p:nvPr/>
        </p:nvSpPr>
        <p:spPr>
          <a:xfrm>
            <a:off x="5257800" y="2606040"/>
            <a:ext cx="29718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a:t>
            </a:r>
          </a:p>
        </p:txBody>
      </p:sp>
      <p:sp>
        <p:nvSpPr>
          <p:cNvPr id="178" name="K1"/>
          <p:cNvSpPr/>
          <p:nvPr/>
        </p:nvSpPr>
        <p:spPr>
          <a:xfrm>
            <a:off x="5257800" y="3017520"/>
            <a:ext cx="29718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a:t>
            </a:r>
          </a:p>
        </p:txBody>
      </p:sp>
      <p:sp>
        <p:nvSpPr>
          <p:cNvPr id="179" name="TextBox 2"/>
          <p:cNvSpPr txBox="1"/>
          <p:nvPr/>
        </p:nvSpPr>
        <p:spPr>
          <a:xfrm>
            <a:off x="5029200" y="3611880"/>
            <a:ext cx="3429000" cy="548640"/>
          </a:xfrm>
          <a:prstGeom prst="rect">
            <a:avLst/>
          </a:prstGeom>
          <a:noFill/>
          <a:ln>
            <a:noFill/>
          </a:ln>
        </p:spPr>
        <p:txBody>
          <a:bodyPr wrap="square" lIns="0" tIns="0" rIns="0" bIns="0" anchor="t"/>
          <a:lstStyle/>
          <a:p>
            <a:pPr algn="ctr">
              <a:spcAft>
                <a:spcPts val="0"/>
              </a:spcAft>
              <a:buNone/>
            </a:pPr>
            <a:r>
              <a:rPr lang="en-US" sz="1600" b="0" dirty="0">
                <a:solidFill>
                  <a:srgbClr val="555960"/>
                </a:solidFill>
              </a:rPr>
              <a:t>plus two model-level facts:</a:t>
            </a:r>
          </a:p>
          <a:p>
            <a:pPr algn="ctr">
              <a:spcAft>
                <a:spcPts val="0"/>
              </a:spcAft>
              <a:buNone/>
            </a:pPr>
            <a:r>
              <a:rPr lang="en-US" sz="1600" b="0" dirty="0">
                <a:solidFill>
                  <a:srgbClr val="555960"/>
                </a:solidFill>
              </a:rPr>
              <a:t>usable energy · safety threshold</a:t>
            </a:r>
          </a:p>
        </p:txBody>
      </p:sp>
      <p:sp>
        <p:nvSpPr>
          <p:cNvPr id="180" name="Ital"/>
          <p:cNvSpPr txBox="1"/>
          <p:nvPr/>
        </p:nvSpPr>
        <p:spPr>
          <a:xfrm>
            <a:off x="685800" y="5029200"/>
            <a:ext cx="7772400" cy="5943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CPU frequency, fan PWM, Wi-Fi state: needed to derive the power estimate,</a:t>
            </a:r>
          </a:p>
          <a:p>
            <a:pPr algn="ctr">
              <a:spcAft>
                <a:spcPts val="0"/>
              </a:spcAft>
              <a:buNone/>
            </a:pPr>
            <a:r>
              <a:rPr lang="en-US" sz="1700" b="0" i="1" dirty="0">
                <a:solidFill>
                  <a:srgbClr val="555960"/>
                </a:solidFill>
              </a:rPr>
              <a:t>not to live in the model.</a:t>
            </a:r>
          </a:p>
        </p:txBody>
      </p:sp>
      <p:sp>
        <p:nvSpPr>
          <p:cNvPr id="18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Nine distinctions walked in. Three survived.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territory did not change. The question did.</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82" name="SubLine"/>
          <p:cNvSpPr txBox="1"/>
          <p:nvPr/>
        </p:nvSpPr>
        <p:spPr>
          <a:xfrm>
            <a:off x="685800" y="1005840"/>
            <a:ext cx="7772400" cy="41148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New question: can the fan keep the device below 70 °C under peak load?</a:t>
            </a:r>
          </a:p>
        </p:txBody>
      </p:sp>
      <p:sp>
        <p:nvSpPr>
          <p:cNvPr id="183" name="Chip"/>
          <p:cNvSpPr/>
          <p:nvPr/>
        </p:nvSpPr>
        <p:spPr>
          <a:xfrm>
            <a:off x="3886200" y="1737360"/>
            <a:ext cx="1371600" cy="54864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SAME CONTROLLER</a:t>
            </a:r>
          </a:p>
        </p:txBody>
      </p:sp>
      <p:cxnSp>
        <p:nvCxnSpPr>
          <p:cNvPr id="184" name="AL0"/>
          <p:cNvCxnSpPr/>
          <p:nvPr/>
        </p:nvCxnSpPr>
        <p:spPr>
          <a:xfrm flipH="1">
            <a:off x="2228850" y="2286000"/>
            <a:ext cx="1657350" cy="457200"/>
          </a:xfrm>
          <a:prstGeom prst="straightConnector1">
            <a:avLst/>
          </a:prstGeom>
          <a:ln w="19050">
            <a:solidFill>
              <a:srgbClr val="C9B991"/>
            </a:solidFill>
            <a:tailEnd type="triangle" w="med" len="med"/>
          </a:ln>
        </p:spPr>
      </p:cxnSp>
      <p:cxnSp>
        <p:nvCxnSpPr>
          <p:cNvPr id="185" name="AL1"/>
          <p:cNvCxnSpPr/>
          <p:nvPr/>
        </p:nvCxnSpPr>
        <p:spPr>
          <a:xfrm>
            <a:off x="5257800" y="2286000"/>
            <a:ext cx="1657350" cy="457200"/>
          </a:xfrm>
          <a:prstGeom prst="straightConnector1">
            <a:avLst/>
          </a:prstGeom>
          <a:ln w="19050">
            <a:solidFill>
              <a:srgbClr val="C9B991"/>
            </a:solidFill>
            <a:tailEnd type="triangle" w="med" len="med"/>
          </a:ln>
        </p:spPr>
      </p:cxnSp>
      <p:sp>
        <p:nvSpPr>
          <p:cNvPr id="186" name="OL0"/>
          <p:cNvSpPr txBox="1"/>
          <p:nvPr/>
        </p:nvSpPr>
        <p:spPr>
          <a:xfrm>
            <a:off x="685800" y="2743200"/>
            <a:ext cx="3086100" cy="27432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THE 8-HOUR BATTERY QUESTION</a:t>
            </a:r>
          </a:p>
        </p:txBody>
      </p:sp>
      <p:sp>
        <p:nvSpPr>
          <p:cNvPr id="187" name="H0"/>
          <p:cNvSpPr/>
          <p:nvPr/>
        </p:nvSpPr>
        <p:spPr>
          <a:xfrm>
            <a:off x="685800" y="30175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88" name="E0"/>
          <p:cNvSpPr/>
          <p:nvPr/>
        </p:nvSpPr>
        <p:spPr>
          <a:xfrm>
            <a:off x="6858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operating mode</a:t>
            </a:r>
          </a:p>
        </p:txBody>
      </p:sp>
      <p:sp>
        <p:nvSpPr>
          <p:cNvPr id="189" name="E1"/>
          <p:cNvSpPr/>
          <p:nvPr/>
        </p:nvSpPr>
        <p:spPr>
          <a:xfrm>
            <a:off x="6858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power(mode)</a:t>
            </a:r>
          </a:p>
        </p:txBody>
      </p:sp>
      <p:sp>
        <p:nvSpPr>
          <p:cNvPr id="190" name="E2"/>
          <p:cNvSpPr/>
          <p:nvPr/>
        </p:nvSpPr>
        <p:spPr>
          <a:xfrm>
            <a:off x="6858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duration(mode)</a:t>
            </a:r>
          </a:p>
        </p:txBody>
      </p:sp>
      <p:sp>
        <p:nvSpPr>
          <p:cNvPr id="191" name="E3"/>
          <p:cNvSpPr/>
          <p:nvPr/>
        </p:nvSpPr>
        <p:spPr>
          <a:xfrm>
            <a:off x="6858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usable energy</a:t>
            </a:r>
          </a:p>
        </p:txBody>
      </p:sp>
      <p:sp>
        <p:nvSpPr>
          <p:cNvPr id="192" name="OL1"/>
          <p:cNvSpPr txBox="1"/>
          <p:nvPr/>
        </p:nvSpPr>
        <p:spPr>
          <a:xfrm>
            <a:off x="5372100" y="2743200"/>
            <a:ext cx="3086100" cy="27432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THE 70 °C THERMAL QUESTION</a:t>
            </a:r>
          </a:p>
        </p:txBody>
      </p:sp>
      <p:sp>
        <p:nvSpPr>
          <p:cNvPr id="193" name="H1"/>
          <p:cNvSpPr/>
          <p:nvPr/>
        </p:nvSpPr>
        <p:spPr>
          <a:xfrm>
            <a:off x="5372100" y="30175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THERMAL MODEL</a:t>
            </a:r>
          </a:p>
        </p:txBody>
      </p:sp>
      <p:sp>
        <p:nvSpPr>
          <p:cNvPr id="194" name="T0"/>
          <p:cNvSpPr/>
          <p:nvPr/>
        </p:nvSpPr>
        <p:spPr>
          <a:xfrm>
            <a:off x="53721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heat generation</a:t>
            </a:r>
          </a:p>
        </p:txBody>
      </p:sp>
      <p:sp>
        <p:nvSpPr>
          <p:cNvPr id="195" name="T1"/>
          <p:cNvSpPr/>
          <p:nvPr/>
        </p:nvSpPr>
        <p:spPr>
          <a:xfrm>
            <a:off x="53721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thermal mass</a:t>
            </a:r>
          </a:p>
        </p:txBody>
      </p:sp>
      <p:sp>
        <p:nvSpPr>
          <p:cNvPr id="196" name="T2"/>
          <p:cNvSpPr/>
          <p:nvPr/>
        </p:nvSpPr>
        <p:spPr>
          <a:xfrm>
            <a:off x="53721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ambient temperature</a:t>
            </a:r>
          </a:p>
        </p:txBody>
      </p:sp>
      <p:sp>
        <p:nvSpPr>
          <p:cNvPr id="197" name="T3"/>
          <p:cNvSpPr/>
          <p:nvPr/>
        </p:nvSpPr>
        <p:spPr>
          <a:xfrm>
            <a:off x="53721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airflow</a:t>
            </a:r>
          </a:p>
        </p:txBody>
      </p:sp>
      <p:sp>
        <p:nvSpPr>
          <p:cNvPr id="198" name="T4"/>
          <p:cNvSpPr/>
          <p:nvPr/>
        </p:nvSpPr>
        <p:spPr>
          <a:xfrm>
            <a:off x="5372100" y="4892040"/>
            <a:ext cx="3086100" cy="365760"/>
          </a:xfrm>
          <a:prstGeom prst="rect">
            <a:avLst/>
          </a:prstGeom>
          <a:solidFill>
            <a:srgbClr val="FFFFFF"/>
          </a:solidFill>
          <a:ln w="12700">
            <a:solidFill>
              <a:srgbClr val="C9B991"/>
            </a:solidFill>
            <a:prstDash val="dash"/>
          </a:ln>
        </p:spPr>
        <p:txBody>
          <a:bodyPr wrap="square" lIns="27432" tIns="22860" rIns="27432" bIns="22860" anchor="ctr"/>
          <a:lstStyle/>
          <a:p>
            <a:pPr algn="ctr">
              <a:spcAft>
                <a:spcPts val="0"/>
              </a:spcAft>
              <a:buNone/>
            </a:pPr>
            <a:r>
              <a:rPr lang="en-US" sz="1500" b="0" i="1" strike="sngStrike" dirty="0">
                <a:solidFill>
                  <a:srgbClr val="555960"/>
                </a:solidFill>
              </a:rPr>
              <a:t>battery capacity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We judged what must remain. How much of it must we write down?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THE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How do you find out whether you left out the right things?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QUALITY</a:t>
            </a:r>
          </a:p>
        </p:txBody>
      </p:sp>
      <p:sp>
        <p:nvSpPr>
          <p:cNvPr id="130" name="SubLine"/>
          <p:cNvSpPr txBox="1"/>
          <p:nvPr/>
        </p:nvSpPr>
        <p:spPr>
          <a:xfrm>
            <a:off x="685800" y="3657600"/>
            <a:ext cx="777240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Two production cases from DocAble — one vindicated, one refuted.</a:t>
            </a:r>
          </a:p>
        </p:txBody>
      </p:sp>
      <p:sp>
        <p:nvSpPr>
          <p:cNvPr id="131" name="VTagL"/>
          <p:cNvSpPr/>
          <p:nvPr/>
        </p:nvSpPr>
        <p:spPr>
          <a:xfrm>
            <a:off x="2011680" y="3977640"/>
            <a:ext cx="2286000" cy="365760"/>
          </a:xfrm>
          <a:prstGeom prst="rect">
            <a:avLst/>
          </a:prstGeom>
          <a:noFill/>
          <a:ln>
            <a:noFill/>
          </a:ln>
        </p:spPr>
        <p:txBody>
          <a:bodyPr wrap="square" lIns="27432" tIns="22860" rIns="27432" bIns="22860" anchor="ctr"/>
          <a:lstStyle/>
          <a:p>
            <a:pPr algn="ctr">
              <a:spcAft>
                <a:spcPts val="0"/>
              </a:spcAft>
              <a:buNone/>
            </a:pPr>
            <a:r>
              <a:rPr lang="en-US" sz="1600" b="1" dirty="0">
                <a:solidFill>
                  <a:srgbClr val="8E6F3E"/>
                </a:solidFill>
              </a:rPr>
              <a:t>✓ THE LEASE</a:t>
            </a:r>
          </a:p>
        </p:txBody>
      </p:sp>
      <p:sp>
        <p:nvSpPr>
          <p:cNvPr id="132" name="VTagR"/>
          <p:cNvSpPr/>
          <p:nvPr/>
        </p:nvSpPr>
        <p:spPr>
          <a:xfrm>
            <a:off x="4846320" y="3977640"/>
            <a:ext cx="2286000" cy="365760"/>
          </a:xfrm>
          <a:prstGeom prst="rect">
            <a:avLst/>
          </a:prstGeom>
          <a:noFill/>
          <a:ln>
            <a:noFill/>
          </a:ln>
        </p:spPr>
        <p:txBody>
          <a:bodyPr wrap="square" lIns="27432" tIns="22860" rIns="27432" bIns="22860" anchor="ctr"/>
          <a:lstStyle/>
          <a:p>
            <a:pPr algn="ctr">
              <a:spcAft>
                <a:spcPts val="0"/>
              </a:spcAft>
              <a:buNone/>
            </a:pPr>
            <a:r>
              <a:rPr lang="en-US" sz="1600" b="1" dirty="0">
                <a:solidFill>
                  <a:srgbClr val="8E6F3E"/>
                </a:solidFill>
              </a:rPr>
              <a:t>✗ ENTITLEMENT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 name="Intro"/>
          <p:cNvSpPr txBox="1"/>
          <p:nvPr/>
        </p:nvSpPr>
        <p:spPr>
          <a:xfrm>
            <a:off x="365760" y="1097280"/>
            <a:ext cx="8412480" cy="365760"/>
          </a:xfrm>
          <a:prstGeom prst="rect">
            <a:avLst/>
          </a:prstGeom>
          <a:noFill/>
          <a:ln>
            <a:noFill/>
          </a:ln>
        </p:spPr>
        <p:txBody>
          <a:bodyPr wrap="square" lIns="18288" tIns="18288" rIns="18288" bIns="18288" anchor="t">
            <a:spAutoFit/>
          </a:bodyPr>
          <a:lstStyle/>
          <a:p>
            <a:pPr algn="l">
              <a:spcAft>
                <a:spcPts val="0"/>
              </a:spcAft>
              <a:buNone/>
            </a:pPr>
            <a:r>
              <a:rPr lang="en-US" sz="1800" b="0" dirty="0">
                <a:solidFill>
                  <a:srgbClr val="555960"/>
                </a:solidFill>
              </a:rPr>
              <a:t>An admission decision reduced entitlement to a single credit count.</a:t>
            </a:r>
          </a:p>
        </p:txBody>
      </p:sp>
      <p:sp>
        <p:nvSpPr>
          <p:cNvPr id="11" name="Acct1"/>
          <p:cNvSpPr/>
          <p:nvPr/>
        </p:nvSpPr>
        <p:spPr>
          <a:xfrm>
            <a:off x="411480" y="1691640"/>
            <a:ext cx="2971800" cy="2468880"/>
          </a:xfrm>
          <a:prstGeom prst="rect">
            <a:avLst/>
          </a:prstGeom>
          <a:solidFill>
            <a:srgbClr val="F5F1E8"/>
          </a:solidFill>
          <a:ln w="12700">
            <a:solidFill>
              <a:srgbClr val="C9B991"/>
            </a:solidFill>
          </a:ln>
        </p:spPr>
        <p:txBody>
          <a:bodyPr wrap="square" lIns="27432" tIns="22860" rIns="27432" bIns="22860" anchor="ctr"/>
          <a:lstStyle/>
          <a:p>
            <a:pPr algn="ctr">
              <a:spcAft>
                <a:spcPts val="800"/>
              </a:spcAft>
              <a:buNone/>
            </a:pPr>
            <a:r>
              <a:rPr lang="en-US" sz="1600" b="1" dirty="0">
                <a:solidFill>
                  <a:srgbClr val="8E6F3E"/>
                </a:solidFill>
              </a:rPr>
              <a:t>THE ACCOUNT</a:t>
            </a:r>
          </a:p>
          <a:p>
            <a:pPr algn="ctr">
              <a:spcAft>
                <a:spcPts val="600"/>
              </a:spcAft>
              <a:buNone/>
            </a:pPr>
            <a:r>
              <a:rPr lang="en-US" sz="1500" b="0" dirty="0">
                <a:solidFill>
                  <a:srgbClr val="555960"/>
                </a:solidFill>
              </a:rPr>
              <a:t>plan: professional</a:t>
            </a:r>
          </a:p>
          <a:p>
            <a:pPr algn="ctr">
              <a:spcAft>
                <a:spcPts val="600"/>
              </a:spcAft>
              <a:buNone/>
            </a:pPr>
            <a:r>
              <a:rPr lang="en-US" sz="1500" b="1" dirty="0">
                <a:solidFill>
                  <a:srgbClr val="5C4826"/>
                </a:solidFill>
              </a:rPr>
              <a:t>entitlement: unlimited</a:t>
            </a:r>
          </a:p>
          <a:p>
            <a:pPr algn="ctr">
              <a:spcAft>
                <a:spcPts val="600"/>
              </a:spcAft>
              <a:buNone/>
            </a:pPr>
            <a:r>
              <a:rPr lang="en-US" sz="1500" b="0" dirty="0">
                <a:solidFill>
                  <a:srgbClr val="555960"/>
                </a:solidFill>
              </a:rPr>
              <a:t>renewal: monthly</a:t>
            </a:r>
          </a:p>
          <a:p>
            <a:pPr algn="ctr">
              <a:spcAft>
                <a:spcPts val="0"/>
              </a:spcAft>
              <a:buNone/>
            </a:pPr>
            <a:r>
              <a:rPr lang="en-US" sz="1500" b="0" dirty="0">
                <a:solidFill>
                  <a:srgbClr val="555960"/>
                </a:solidFill>
              </a:rPr>
              <a:t>org, roles, history …</a:t>
            </a:r>
          </a:p>
        </p:txBody>
      </p:sp>
      <p:sp>
        <p:nvSpPr>
          <p:cNvPr id="12" name="ArrLbl"/>
          <p:cNvSpPr txBox="1"/>
          <p:nvPr/>
        </p:nvSpPr>
        <p:spPr>
          <a:xfrm>
            <a:off x="3474720" y="2560320"/>
            <a:ext cx="2057400" cy="27432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REDUCE TO A SCALAR</a:t>
            </a:r>
          </a:p>
        </p:txBody>
      </p:sp>
      <p:cxnSp>
        <p:nvCxnSpPr>
          <p:cNvPr id="13" name="AR1"/>
          <p:cNvCxnSpPr/>
          <p:nvPr/>
        </p:nvCxnSpPr>
        <p:spPr>
          <a:xfrm>
            <a:off x="3474720" y="2926080"/>
            <a:ext cx="2057400" cy="0"/>
          </a:xfrm>
          <a:prstGeom prst="straightConnector1">
            <a:avLst/>
          </a:prstGeom>
          <a:ln w="28575">
            <a:solidFill>
              <a:srgbClr val="8E6F3E"/>
            </a:solidFill>
            <a:tailEnd type="triangle" w="med" len="med"/>
          </a:ln>
        </p:spPr>
      </p:cxnSp>
      <p:sp>
        <p:nvSpPr>
          <p:cNvPr id="14" name="Card1"/>
          <p:cNvSpPr/>
          <p:nvPr/>
        </p:nvSpPr>
        <p:spPr>
          <a:xfrm>
            <a:off x="5623560" y="2560320"/>
            <a:ext cx="3062280" cy="73152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credits_remaining: 0</a:t>
            </a:r>
          </a:p>
        </p:txBody>
      </p:sp>
      <p:sp>
        <p:nvSpPr>
          <p:cNvPr id="15" name="CLbl1"/>
          <p:cNvSpPr txBox="1"/>
          <p:nvPr/>
        </p:nvSpPr>
        <p:spPr>
          <a:xfrm>
            <a:off x="5623560" y="3383280"/>
            <a:ext cx="306228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the whole model of entitlement</a:t>
            </a:r>
          </a:p>
        </p:txBody>
      </p:sp>
      <p:cxnSp>
        <p:nvCxnSpPr>
          <p:cNvPr id="16" name="DropC"/>
          <p:cNvCxnSpPr/>
          <p:nvPr/>
        </p:nvCxnSpPr>
        <p:spPr>
          <a:xfrm>
            <a:off x="4503420" y="2926080"/>
            <a:ext cx="0" cy="868680"/>
          </a:xfrm>
          <a:prstGeom prst="straightConnector1">
            <a:avLst/>
          </a:prstGeom>
          <a:ln w="12700">
            <a:solidFill>
              <a:srgbClr val="8E6F3E"/>
            </a:solidFill>
            <a:prstDash val="dash"/>
            <a:tailEnd type="triangle" w="med" len="med"/>
          </a:ln>
        </p:spPr>
      </p:cxnSp>
      <p:sp>
        <p:nvSpPr>
          <p:cNvPr id="17" name="Drop1"/>
          <p:cNvSpPr/>
          <p:nvPr/>
        </p:nvSpPr>
        <p:spPr>
          <a:xfrm>
            <a:off x="3611880" y="388620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Note1"/>
          <p:cNvSpPr txBox="1"/>
          <p:nvPr/>
        </p:nvSpPr>
        <p:spPr>
          <a:xfrm>
            <a:off x="5486400" y="3931920"/>
            <a:ext cx="3200400" cy="365760"/>
          </a:xfrm>
          <a:prstGeom prst="rect">
            <a:avLst/>
          </a:prstGeom>
          <a:noFill/>
          <a:ln>
            <a:noFill/>
          </a:ln>
        </p:spPr>
        <p:txBody>
          <a:bodyPr wrap="square" lIns="0" tIns="0" rIns="0" bIns="0" anchor="t"/>
          <a:lstStyle/>
          <a:p>
            <a:pPr algn="l">
              <a:spcAft>
                <a:spcPts val="0"/>
              </a:spcAft>
              <a:buNone/>
            </a:pPr>
            <a:r>
              <a:rPr lang="en-US" sz="1500" b="0" i="1" dirty="0">
                <a:solidFill>
                  <a:srgbClr val="555960"/>
                </a:solidFill>
              </a:rPr>
              <a:t>nowhere to live in a scalar</a:t>
            </a:r>
          </a:p>
        </p:txBody>
      </p:sp>
      <p:sp>
        <p:nvSpPr>
          <p:cNvPr id="19" name="Outcome"/>
          <p:cNvSpPr txBox="1"/>
          <p:nvPr/>
        </p:nvSpPr>
        <p:spPr>
          <a:xfrm>
            <a:off x="365760" y="4709160"/>
            <a:ext cx="8412480" cy="548640"/>
          </a:xfrm>
          <a:prstGeom prst="rect">
            <a:avLst/>
          </a:prstGeom>
          <a:noFill/>
          <a:ln>
            <a:noFill/>
          </a:ln>
        </p:spPr>
        <p:txBody>
          <a:bodyPr wrap="square" lIns="18288" tIns="18288" rIns="18288" bIns="18288" anchor="t"/>
          <a:lstStyle/>
          <a:p>
            <a:pPr algn="ctr">
              <a:spcAft>
                <a:spcPts val="0"/>
              </a:spcAft>
              <a:buNone/>
            </a:pPr>
            <a:r>
              <a:rPr lang="en-US" sz="1800" b="0" dirty="0">
                <a:solidFill>
                  <a:srgbClr val="555960"/>
                </a:solidFill>
              </a:rPr>
              <a:t>The implementation knew the account was unlimited. The model could not say so.</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An unlimited user became zero credits.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0" name="LeaseC"/>
          <p:cNvSpPr/>
          <p:nvPr/>
        </p:nvSpPr>
        <p:spPr>
          <a:xfrm>
            <a:off x="1874520" y="1188720"/>
            <a:ext cx="5394960" cy="1234440"/>
          </a:xfrm>
          <a:prstGeom prst="rect">
            <a:avLst/>
          </a:prstGeom>
          <a:solidFill>
            <a:srgbClr val="F5F1E8"/>
          </a:solidFill>
          <a:ln w="12700">
            <a:solidFill>
              <a:srgbClr val="C9B991"/>
            </a:solidFill>
          </a:ln>
        </p:spPr>
        <p:txBody>
          <a:bodyPr wrap="square" lIns="27432" tIns="22860" rIns="27432" bIns="22860" anchor="ctr"/>
          <a:lstStyle/>
          <a:p>
            <a:pPr algn="ctr">
              <a:spcAft>
                <a:spcPts val="600"/>
              </a:spcAft>
              <a:buNone/>
            </a:pPr>
            <a:r>
              <a:rPr lang="en-US" sz="1600" b="1" dirty="0">
                <a:solidFill>
                  <a:srgbClr val="8E6F3E"/>
                </a:solidFill>
              </a:rPr>
              <a:t>THE LEASE MODEL</a:t>
            </a:r>
          </a:p>
          <a:p>
            <a:pPr algn="ctr">
              <a:spcAft>
                <a:spcPts val="600"/>
              </a:spcAft>
              <a:buNone/>
            </a:pPr>
            <a:r>
              <a:rPr lang="en-US" sz="1500" b="1" dirty="0">
                <a:solidFill>
                  <a:srgbClr val="5C4826"/>
                </a:solidFill>
              </a:rPr>
              <a:t>owner · generation · lifetime · reclamation</a:t>
            </a:r>
          </a:p>
          <a:p>
            <a:pPr algn="ctr">
              <a:spcAft>
                <a:spcPts val="0"/>
              </a:spcAft>
              <a:buNone/>
            </a:pPr>
            <a:r>
              <a:rPr lang="en-US" sz="1500" b="0" dirty="0">
                <a:solidFill>
                  <a:srgbClr val="555960"/>
                </a:solidFill>
              </a:rPr>
              <a:t>forbidden: releasing a lease under a stale generation</a:t>
            </a:r>
          </a:p>
        </p:txBody>
      </p:sp>
      <p:sp>
        <p:nvSpPr>
          <p:cNvPr id="11" name="CapC"/>
          <p:cNvSpPr txBox="1"/>
          <p:nvPr/>
        </p:nvSpPr>
        <p:spPr>
          <a:xfrm>
            <a:off x="1874520" y="2514600"/>
            <a:ext cx="5394960" cy="274320"/>
          </a:xfrm>
          <a:prstGeom prst="rect">
            <a:avLst/>
          </a:prstGeom>
          <a:noFill/>
          <a:ln>
            <a:noFill/>
          </a:ln>
        </p:spPr>
        <p:txBody>
          <a:bodyPr wrap="square" lIns="0" tIns="0" rIns="0" bIns="0" anchor="t"/>
          <a:lstStyle/>
          <a:p>
            <a:pPr algn="ctr">
              <a:spcAft>
                <a:spcPts val="0"/>
              </a:spcAft>
              <a:buNone/>
            </a:pPr>
            <a:r>
              <a:rPr lang="en-US" sz="1500" b="1" dirty="0">
                <a:solidFill>
                  <a:srgbClr val="8E6F3E"/>
                </a:solidFill>
              </a:rPr>
              <a:t>✓ unchanged — the model did not move</a:t>
            </a:r>
          </a:p>
        </p:txBody>
      </p:sp>
      <p:sp>
        <p:nvSpPr>
          <p:cNvPr id="12" name="OmitL"/>
          <p:cNvSpPr txBox="1"/>
          <p:nvPr/>
        </p:nvSpPr>
        <p:spPr>
          <a:xfrm>
            <a:off x="365760" y="2971800"/>
            <a:ext cx="841248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omitted from the model: the processing topology</a:t>
            </a:r>
          </a:p>
        </p:txBody>
      </p:sp>
      <p:sp>
        <p:nvSpPr>
          <p:cNvPr id="13" name="PanB"/>
          <p:cNvSpPr/>
          <p:nvPr/>
        </p:nvSpPr>
        <p:spPr>
          <a:xfrm>
            <a:off x="64008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BEFORE</a:t>
            </a:r>
          </a:p>
        </p:txBody>
      </p:sp>
      <p:sp>
        <p:nvSpPr>
          <p:cNvPr id="14" name="Mb1"/>
          <p:cNvSpPr/>
          <p:nvPr/>
        </p:nvSpPr>
        <p:spPr>
          <a:xfrm>
            <a:off x="868680" y="3908520"/>
            <a:ext cx="292608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one service, one pass over the document</a:t>
            </a:r>
          </a:p>
        </p:txBody>
      </p:sp>
      <p:sp>
        <p:nvSpPr>
          <p:cNvPr id="15" name="PanA"/>
          <p:cNvSpPr/>
          <p:nvPr/>
        </p:nvSpPr>
        <p:spPr>
          <a:xfrm>
            <a:off x="512064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AFTER</a:t>
            </a:r>
          </a:p>
        </p:txBody>
      </p:sp>
      <p:sp>
        <p:nvSpPr>
          <p:cNvPr id="16" name="Mb2"/>
          <p:cNvSpPr/>
          <p:nvPr/>
        </p:nvSpPr>
        <p:spPr>
          <a:xfrm>
            <a:off x="5349240" y="3794760"/>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fan out across chunk workers</a:t>
            </a:r>
          </a:p>
        </p:txBody>
      </p:sp>
      <p:sp>
        <p:nvSpPr>
          <p:cNvPr id="17" name="Mb3"/>
          <p:cNvSpPr/>
          <p:nvPr/>
        </p:nvSpPr>
        <p:spPr>
          <a:xfrm>
            <a:off x="5349240" y="4270248"/>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merge the results</a:t>
            </a:r>
          </a:p>
        </p:txBody>
      </p:sp>
      <p:cxnSp>
        <p:nvCxnSpPr>
          <p:cNvPr id="18" name="ChgA"/>
          <p:cNvCxnSpPr/>
          <p:nvPr/>
        </p:nvCxnSpPr>
        <p:spPr>
          <a:xfrm>
            <a:off x="4023360" y="4023360"/>
            <a:ext cx="1097280" cy="0"/>
          </a:xfrm>
          <a:prstGeom prst="straightConnector1">
            <a:avLst/>
          </a:prstGeom>
          <a:ln w="28575">
            <a:solidFill>
              <a:srgbClr val="8E6F3E"/>
            </a:solidFill>
            <a:tailEnd type="triangle" w="med" len="med"/>
          </a:ln>
        </p:spPr>
      </p:cxnSp>
      <p:sp>
        <p:nvSpPr>
          <p:cNvPr id="19" name="ChgL"/>
          <p:cNvSpPr txBox="1"/>
          <p:nvPr/>
        </p:nvSpPr>
        <p:spPr>
          <a:xfrm>
            <a:off x="4046220" y="3437890"/>
            <a:ext cx="1051560" cy="54864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the topology changed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omission was tested by reality, and passed.</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“We changed the pointers to the code, but not the model.”</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evidence, side by side</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 name="H1"/>
          <p:cNvSpPr/>
          <p:nvPr/>
        </p:nvSpPr>
        <p:spPr>
          <a:xfrm>
            <a:off x="2743200" y="1280160"/>
            <a:ext cx="292608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600" b="1" dirty="0">
                <a:solidFill>
                  <a:srgbClr val="FFFFFF"/>
                </a:solidFill>
              </a:rPr>
              <a:t>THE LEASE</a:t>
            </a:r>
          </a:p>
        </p:txBody>
      </p:sp>
      <p:sp>
        <p:nvSpPr>
          <p:cNvPr id="11" name="H2"/>
          <p:cNvSpPr/>
          <p:nvPr/>
        </p:nvSpPr>
        <p:spPr>
          <a:xfrm>
            <a:off x="5715000" y="1280160"/>
            <a:ext cx="292608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600" b="1" dirty="0">
                <a:solidFill>
                  <a:srgbClr val="FFFFFF"/>
                </a:solidFill>
              </a:rPr>
              <a:t>ENTITLEMENT</a:t>
            </a:r>
          </a:p>
        </p:txBody>
      </p:sp>
      <p:sp>
        <p:nvSpPr>
          <p:cNvPr id="20" name="L1"/>
          <p:cNvSpPr/>
          <p:nvPr/>
        </p:nvSpPr>
        <p:spPr>
          <a:xfrm>
            <a:off x="502920" y="178308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candidate omission</a:t>
            </a:r>
          </a:p>
        </p:txBody>
      </p:sp>
      <p:sp>
        <p:nvSpPr>
          <p:cNvPr id="21" name="C11"/>
          <p:cNvSpPr/>
          <p:nvPr/>
        </p:nvSpPr>
        <p:spPr>
          <a:xfrm>
            <a:off x="2743200" y="178308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processing topology</a:t>
            </a:r>
          </a:p>
        </p:txBody>
      </p:sp>
      <p:sp>
        <p:nvSpPr>
          <p:cNvPr id="22" name="C12"/>
          <p:cNvSpPr/>
          <p:nvPr/>
        </p:nvSpPr>
        <p:spPr>
          <a:xfrm>
            <a:off x="5715000" y="178308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the unlimited plan</a:t>
            </a:r>
          </a:p>
        </p:txBody>
      </p:sp>
      <p:sp>
        <p:nvSpPr>
          <p:cNvPr id="23" name="L2"/>
          <p:cNvSpPr/>
          <p:nvPr/>
        </p:nvSpPr>
        <p:spPr>
          <a:xfrm>
            <a:off x="502920" y="242316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top-down judgment</a:t>
            </a:r>
          </a:p>
        </p:txBody>
      </p:sp>
      <p:sp>
        <p:nvSpPr>
          <p:cNvPr id="24" name="C21"/>
          <p:cNvSpPr/>
          <p:nvPr/>
        </p:nvSpPr>
        <p:spPr>
          <a:xfrm>
            <a:off x="2743200" y="242316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not required by the question</a:t>
            </a:r>
          </a:p>
        </p:txBody>
      </p:sp>
      <p:sp>
        <p:nvSpPr>
          <p:cNvPr id="25" name="C22"/>
          <p:cNvSpPr/>
          <p:nvPr/>
        </p:nvSpPr>
        <p:spPr>
          <a:xfrm>
            <a:off x="5715000" y="242316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required by the obligation</a:t>
            </a:r>
          </a:p>
        </p:txBody>
      </p:sp>
      <p:sp>
        <p:nvSpPr>
          <p:cNvPr id="26" name="L3"/>
          <p:cNvSpPr/>
          <p:nvPr/>
        </p:nvSpPr>
        <p:spPr>
          <a:xfrm>
            <a:off x="502920" y="306324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bottom-up judgment</a:t>
            </a:r>
          </a:p>
        </p:txBody>
      </p:sp>
      <p:sp>
        <p:nvSpPr>
          <p:cNvPr id="27" name="C31"/>
          <p:cNvSpPr/>
          <p:nvPr/>
        </p:nvSpPr>
        <p:spPr>
          <a:xfrm>
            <a:off x="2743200" y="306324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safe to remove</a:t>
            </a:r>
          </a:p>
        </p:txBody>
      </p:sp>
      <p:sp>
        <p:nvSpPr>
          <p:cNvPr id="28" name="C32"/>
          <p:cNvSpPr/>
          <p:nvPr/>
        </p:nvSpPr>
        <p:spPr>
          <a:xfrm>
            <a:off x="5715000" y="306324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cannot remove</a:t>
            </a:r>
          </a:p>
        </p:txBody>
      </p:sp>
      <p:sp>
        <p:nvSpPr>
          <p:cNvPr id="29" name="L4"/>
          <p:cNvSpPr/>
          <p:nvPr/>
        </p:nvSpPr>
        <p:spPr>
          <a:xfrm>
            <a:off x="502920" y="3703320"/>
            <a:ext cx="219456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evidence</a:t>
            </a:r>
          </a:p>
        </p:txBody>
      </p:sp>
      <p:sp>
        <p:nvSpPr>
          <p:cNvPr id="30" name="C41"/>
          <p:cNvSpPr/>
          <p:nvPr/>
        </p:nvSpPr>
        <p:spPr>
          <a:xfrm>
            <a:off x="2743200" y="3703320"/>
            <a:ext cx="292608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topology changed; model held ✓</a:t>
            </a:r>
          </a:p>
        </p:txBody>
      </p:sp>
      <p:sp>
        <p:nvSpPr>
          <p:cNvPr id="31" name="C42"/>
          <p:cNvSpPr/>
          <p:nvPr/>
        </p:nvSpPr>
        <p:spPr>
          <a:xfrm>
            <a:off x="5715000" y="3703320"/>
            <a:ext cx="292608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a wrong production decision ✗</a:t>
            </a:r>
          </a:p>
        </p:txBody>
      </p:sp>
      <p:sp>
        <p:nvSpPr>
          <p:cNvPr id="150" name="Ital"/>
          <p:cNvSpPr txBox="1"/>
          <p:nvPr/>
        </p:nvSpPr>
        <p:spPr>
          <a:xfrm>
            <a:off x="274320" y="47548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Represent no more than the question requires, but no less than the obligation requires.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Three rows of method. One row of evidence.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Obligation and specification are different boundaries</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6"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HOW MUCH MUST WE SAY?</a:t>
            </a:r>
          </a:p>
        </p:txBody>
      </p:sp>
      <p:sp>
        <p:nvSpPr>
          <p:cNvPr id="10" name="DOF1"/>
          <p:cNvSpPr/>
          <p:nvPr/>
        </p:nvSpPr>
        <p:spPr>
          <a:xfrm>
            <a:off x="502920" y="1737360"/>
            <a:ext cx="5029200" cy="31089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Scaf1"/>
          <p:cNvSpPr/>
          <p:nvPr/>
        </p:nvSpPr>
        <p:spPr>
          <a:xfrm>
            <a:off x="1005840" y="2103120"/>
            <a:ext cx="4023360" cy="2377440"/>
          </a:xfrm>
          <a:prstGeom prst="rect">
            <a:avLst/>
          </a:prstGeom>
          <a:solidFill>
            <a:srgbClr val="C9B991"/>
          </a:solidFill>
          <a:ln>
            <a:noFill/>
          </a:ln>
        </p:spPr>
        <p:txBody>
          <a:bodyPr wrap="square" lIns="27432" tIns="22860" rIns="27432" bIns="22860" anchor="ctr"/>
          <a:lstStyle/>
          <a:p>
            <a:pPr>
              <a:buNone/>
            </a:pPr>
            <a:endParaRPr lang="en-US"/>
          </a:p>
        </p:txBody>
      </p:sp>
      <p:sp>
        <p:nvSpPr>
          <p:cNvPr id="12" name="Oblig1"/>
          <p:cNvSpPr/>
          <p:nvPr/>
        </p:nvSpPr>
        <p:spPr>
          <a:xfrm>
            <a:off x="1508760" y="2560320"/>
            <a:ext cx="3017520" cy="1005840"/>
          </a:xfrm>
          <a:prstGeom prst="rect">
            <a:avLst/>
          </a:prstGeom>
          <a:solidFill>
            <a:srgbClr val="5C4826"/>
          </a:solidFill>
          <a:ln>
            <a:noFill/>
          </a:ln>
        </p:spPr>
        <p:txBody>
          <a:bodyPr wrap="square" lIns="27432" tIns="22860" rIns="27432" bIns="22860" anchor="ctr"/>
          <a:lstStyle/>
          <a:p>
            <a:pPr algn="ctr">
              <a:spcAft>
                <a:spcPts val="400"/>
              </a:spcAft>
              <a:buNone/>
            </a:pPr>
            <a:r>
              <a:rPr lang="en-US" sz="1600" b="1" dirty="0">
                <a:solidFill>
                  <a:srgbClr val="FFFFFF"/>
                </a:solidFill>
              </a:rPr>
              <a:t>OBLIGATION</a:t>
            </a:r>
          </a:p>
          <a:p>
            <a:pPr algn="ctr">
              <a:spcAft>
                <a:spcPts val="0"/>
              </a:spcAft>
              <a:buNone/>
            </a:pPr>
            <a:r>
              <a:rPr lang="en-US" sz="1400" b="0" dirty="0">
                <a:solidFill>
                  <a:srgbClr val="FFFFFF"/>
                </a:solidFill>
              </a:rPr>
              <a:t>what must be true</a:t>
            </a:r>
          </a:p>
        </p:txBody>
      </p:sp>
      <p:sp>
        <p:nvSpPr>
          <p:cNvPr id="13" name="ScafL"/>
          <p:cNvSpPr txBox="1"/>
          <p:nvPr/>
        </p:nvSpPr>
        <p:spPr>
          <a:xfrm>
            <a:off x="1005840" y="3794760"/>
            <a:ext cx="4023360" cy="329184"/>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SCAFFOLDING — what this agent needs</a:t>
            </a:r>
          </a:p>
        </p:txBody>
      </p:sp>
      <p:sp>
        <p:nvSpPr>
          <p:cNvPr id="14" name="DofL"/>
          <p:cNvSpPr txBox="1"/>
          <p:nvPr/>
        </p:nvSpPr>
        <p:spPr>
          <a:xfrm>
            <a:off x="502920" y="4526280"/>
            <a:ext cx="5029200" cy="27432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DEGREES OF FREEDOM — the rest is the agent’s</a:t>
            </a:r>
          </a:p>
        </p:txBody>
      </p:sp>
      <p:sp>
        <p:nvSpPr>
          <p:cNvPr id="15" name="SpLbl"/>
          <p:cNvSpPr txBox="1"/>
          <p:nvPr/>
        </p:nvSpPr>
        <p:spPr>
          <a:xfrm>
            <a:off x="5806440" y="1965960"/>
            <a:ext cx="3017520" cy="548640"/>
          </a:xfrm>
          <a:prstGeom prst="rect">
            <a:avLst/>
          </a:prstGeom>
          <a:noFill/>
          <a:ln>
            <a:noFill/>
          </a:ln>
        </p:spPr>
        <p:txBody>
          <a:bodyPr wrap="square" lIns="0" tIns="0" rIns="0" bIns="0" anchor="t"/>
          <a:lstStyle/>
          <a:p>
            <a:pPr algn="l">
              <a:spcAft>
                <a:spcPts val="200"/>
              </a:spcAft>
              <a:buNone/>
            </a:pPr>
            <a:r>
              <a:rPr lang="en-US" sz="1600" b="1" dirty="0">
                <a:solidFill>
                  <a:srgbClr val="8E6F3E"/>
                </a:solidFill>
              </a:rPr>
              <a:t>specification boundary</a:t>
            </a:r>
          </a:p>
          <a:p>
            <a:pPr algn="l">
              <a:spcAft>
                <a:spcPts val="0"/>
              </a:spcAft>
              <a:buNone/>
            </a:pPr>
            <a:r>
              <a:rPr lang="en-US" sz="1400" b="0" dirty="0">
                <a:solidFill>
                  <a:srgbClr val="555960"/>
                </a:solidFill>
              </a:rPr>
              <a:t>the edge of what we write down</a:t>
            </a:r>
          </a:p>
        </p:txBody>
      </p:sp>
      <p:cxnSp>
        <p:nvCxnSpPr>
          <p:cNvPr id="16" name="SpLd"/>
          <p:cNvCxnSpPr/>
          <p:nvPr/>
        </p:nvCxnSpPr>
        <p:spPr>
          <a:xfrm>
            <a:off x="5074920" y="2240280"/>
            <a:ext cx="685800" cy="0"/>
          </a:xfrm>
          <a:prstGeom prst="straightConnector1">
            <a:avLst/>
          </a:prstGeom>
          <a:ln w="12700">
            <a:solidFill>
              <a:srgbClr val="555960"/>
            </a:solidFill>
            <a:headEnd type="triangle" w="med" len="med"/>
          </a:ln>
        </p:spPr>
      </p:cxnSp>
      <p:sp>
        <p:nvSpPr>
          <p:cNvPr id="17" name="ObLbl"/>
          <p:cNvSpPr txBox="1"/>
          <p:nvPr/>
        </p:nvSpPr>
        <p:spPr>
          <a:xfrm>
            <a:off x="5806440" y="2743200"/>
            <a:ext cx="3017520" cy="548640"/>
          </a:xfrm>
          <a:prstGeom prst="rect">
            <a:avLst/>
          </a:prstGeom>
          <a:noFill/>
          <a:ln>
            <a:noFill/>
          </a:ln>
        </p:spPr>
        <p:txBody>
          <a:bodyPr wrap="square" lIns="0" tIns="0" rIns="0" bIns="0" anchor="t"/>
          <a:lstStyle/>
          <a:p>
            <a:pPr algn="l">
              <a:spcAft>
                <a:spcPts val="200"/>
              </a:spcAft>
              <a:buNone/>
            </a:pPr>
            <a:r>
              <a:rPr lang="en-US" sz="1600" b="1" dirty="0">
                <a:solidFill>
                  <a:srgbClr val="5C4826"/>
                </a:solidFill>
              </a:rPr>
              <a:t>obligation boundary</a:t>
            </a:r>
          </a:p>
          <a:p>
            <a:pPr algn="l">
              <a:spcAft>
                <a:spcPts val="0"/>
              </a:spcAft>
              <a:buNone/>
            </a:pPr>
            <a:r>
              <a:rPr lang="en-US" sz="1400" b="0" dirty="0">
                <a:solidFill>
                  <a:srgbClr val="555960"/>
                </a:solidFill>
              </a:rPr>
              <a:t>fixed by what must be true</a:t>
            </a:r>
          </a:p>
        </p:txBody>
      </p:sp>
      <p:cxnSp>
        <p:nvCxnSpPr>
          <p:cNvPr id="18" name="ObLd"/>
          <p:cNvCxnSpPr/>
          <p:nvPr/>
        </p:nvCxnSpPr>
        <p:spPr>
          <a:xfrm>
            <a:off x="4572000" y="3017520"/>
            <a:ext cx="1188720" cy="0"/>
          </a:xfrm>
          <a:prstGeom prst="straightConnector1">
            <a:avLst/>
          </a:prstGeom>
          <a:ln w="12700">
            <a:solidFill>
              <a:srgbClr val="555960"/>
            </a:solidFill>
            <a:headEnd type="triangle" w="med" len="med"/>
          </a:ln>
        </p:spPr>
      </p:cxnSp>
      <p:sp>
        <p:nvSpPr>
          <p:cNvPr id="20" name="Scaf2"/>
          <p:cNvSpPr/>
          <p:nvPr/>
        </p:nvSpPr>
        <p:spPr>
          <a:xfrm>
            <a:off x="1371600" y="2331720"/>
            <a:ext cx="3291840" cy="1965960"/>
          </a:xfrm>
          <a:prstGeom prst="rect">
            <a:avLst/>
          </a:prstGeom>
          <a:noFill/>
          <a:ln w="19050">
            <a:solidFill>
              <a:srgbClr val="5C4826"/>
            </a:solidFill>
            <a:prstDash val="dash"/>
          </a:ln>
        </p:spPr>
        <p:txBody>
          <a:bodyPr wrap="square" lIns="27432" tIns="22860" rIns="27432" bIns="22860" anchor="ctr"/>
          <a:lstStyle/>
          <a:p>
            <a:pPr>
              <a:buNone/>
            </a:pPr>
            <a:endParaRPr lang="en-US"/>
          </a:p>
        </p:txBody>
      </p:sp>
      <p:cxnSp>
        <p:nvCxnSpPr>
          <p:cNvPr id="21" name="MvA"/>
          <p:cNvCxnSpPr/>
          <p:nvPr/>
        </p:nvCxnSpPr>
        <p:spPr>
          <a:xfrm>
            <a:off x="4663440" y="3566160"/>
            <a:ext cx="1005840" cy="0"/>
          </a:xfrm>
          <a:prstGeom prst="straightConnector1">
            <a:avLst/>
          </a:prstGeom>
          <a:ln w="28575">
            <a:solidFill>
              <a:srgbClr val="5C4826"/>
            </a:solidFill>
            <a:headEnd type="triangle" w="med" len="med"/>
          </a:ln>
        </p:spPr>
      </p:cxnSp>
      <p:sp>
        <p:nvSpPr>
          <p:cNvPr id="22" name="CapLbl"/>
          <p:cNvSpPr txBox="1"/>
          <p:nvPr/>
        </p:nvSpPr>
        <p:spPr>
          <a:xfrm>
            <a:off x="5806440" y="3429000"/>
            <a:ext cx="3017520" cy="868680"/>
          </a:xfrm>
          <a:prstGeom prst="rect">
            <a:avLst/>
          </a:prstGeom>
          <a:noFill/>
          <a:ln>
            <a:noFill/>
          </a:ln>
        </p:spPr>
        <p:txBody>
          <a:bodyPr wrap="square" lIns="0" tIns="0" rIns="0" bIns="0" anchor="t"/>
          <a:lstStyle/>
          <a:p>
            <a:pPr algn="l">
              <a:spcAft>
                <a:spcPts val="200"/>
              </a:spcAft>
              <a:buNone/>
            </a:pPr>
            <a:r>
              <a:rPr lang="en-US" sz="1500" b="1" dirty="0">
                <a:solidFill>
                  <a:srgbClr val="5C4826"/>
                </a:solidFill>
              </a:rPr>
              <a:t>a more capable agent</a:t>
            </a:r>
          </a:p>
          <a:p>
            <a:pPr algn="l">
              <a:spcAft>
                <a:spcPts val="0"/>
              </a:spcAft>
              <a:buNone/>
            </a:pPr>
            <a:r>
              <a:rPr lang="en-US" sz="1400" b="0" dirty="0">
                <a:solidFill>
                  <a:srgbClr val="555960"/>
                </a:solidFill>
              </a:rPr>
              <a:t>needs less scaffolding, so this boundary moves in</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Specified region = obligation + scaffolding; outside it, degrees of freedom.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Two boundaries, not one. Only one of them moves.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Capability cannot reduce what must be true</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10" name="LeadLn"/>
          <p:cNvSpPr txBox="1"/>
          <p:nvPr/>
        </p:nvSpPr>
        <p:spPr>
          <a:xfrm>
            <a:off x="365760" y="914400"/>
            <a:ext cx="8412480" cy="365760"/>
          </a:xfrm>
          <a:prstGeom prst="rect">
            <a:avLst/>
          </a:prstGeom>
          <a:noFill/>
          <a:ln>
            <a:noFill/>
          </a:ln>
        </p:spPr>
        <p:txBody>
          <a:bodyPr wrap="square" lIns="18288" tIns="18288" rIns="18288" bIns="18288" anchor="t">
            <a:spAutoFit/>
          </a:bodyPr>
          <a:lstStyle/>
          <a:p>
            <a:pPr algn="ctr">
              <a:spcAft>
                <a:spcPts val="0"/>
              </a:spcAft>
              <a:buNone/>
            </a:pPr>
            <a:r>
              <a:rPr lang="en-US" sz="1800" b="0" dirty="0">
                <a:solidFill>
                  <a:srgbClr val="555960"/>
                </a:solidFill>
              </a:rPr>
              <a:t>The specification boundary moves with capability. The obligation boundary does not.</a:t>
            </a:r>
          </a:p>
        </p:txBody>
      </p:sp>
      <p:sp>
        <p:nvSpPr>
          <p:cNvPr id="11" name="St1"/>
          <p:cNvSpPr/>
          <p:nvPr/>
        </p:nvSpPr>
        <p:spPr>
          <a:xfrm>
            <a:off x="548640" y="1508760"/>
            <a:ext cx="2377440" cy="731520"/>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400" b="1" dirty="0">
                <a:solidFill>
                  <a:srgbClr val="8E6F3E"/>
                </a:solidFill>
              </a:rPr>
              <a:t>UPSTREAM</a:t>
            </a:r>
          </a:p>
          <a:p>
            <a:pPr algn="ctr">
              <a:spcAft>
                <a:spcPts val="0"/>
              </a:spcAft>
              <a:buNone/>
            </a:pPr>
            <a:r>
              <a:rPr lang="en-US" sz="1500" b="0" dirty="0">
                <a:solidFill>
                  <a:srgbClr val="5C4826"/>
                </a:solidFill>
              </a:rPr>
              <a:t>the reduction happens here</a:t>
            </a:r>
          </a:p>
        </p:txBody>
      </p:sp>
      <p:cxnSp>
        <p:nvCxnSpPr>
          <p:cNvPr id="12" name="Ar1"/>
          <p:cNvCxnSpPr/>
          <p:nvPr/>
        </p:nvCxnSpPr>
        <p:spPr>
          <a:xfrm>
            <a:off x="2971800" y="1874520"/>
            <a:ext cx="594360" cy="0"/>
          </a:xfrm>
          <a:prstGeom prst="straightConnector1">
            <a:avLst/>
          </a:prstGeom>
          <a:ln w="28575">
            <a:solidFill>
              <a:srgbClr val="8E6F3E"/>
            </a:solidFill>
            <a:tailEnd type="triangle" w="med" len="med"/>
          </a:ln>
        </p:spPr>
      </p:cxnSp>
      <p:sp>
        <p:nvSpPr>
          <p:cNvPr id="13" name="St2"/>
          <p:cNvSpPr/>
          <p:nvPr/>
        </p:nvSpPr>
        <p:spPr>
          <a:xfrm>
            <a:off x="3611880" y="1508760"/>
            <a:ext cx="1874520" cy="731520"/>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400" b="1" dirty="0">
                <a:solidFill>
                  <a:srgbClr val="555960"/>
                </a:solidFill>
              </a:rPr>
              <a:t>THE PIPELINE</a:t>
            </a:r>
          </a:p>
          <a:p>
            <a:pPr algn="ctr">
              <a:spcAft>
                <a:spcPts val="0"/>
              </a:spcAft>
              <a:buNone/>
            </a:pPr>
            <a:r>
              <a:rPr lang="en-US" sz="1400" b="0" dirty="0">
                <a:solidFill>
                  <a:srgbClr val="555960"/>
                </a:solidFill>
              </a:rPr>
              <a:t>stage after stage</a:t>
            </a:r>
          </a:p>
        </p:txBody>
      </p:sp>
      <p:cxnSp>
        <p:nvCxnSpPr>
          <p:cNvPr id="14" name="Ar2"/>
          <p:cNvCxnSpPr/>
          <p:nvPr/>
        </p:nvCxnSpPr>
        <p:spPr>
          <a:xfrm>
            <a:off x="5532120" y="1874520"/>
            <a:ext cx="594360" cy="0"/>
          </a:xfrm>
          <a:prstGeom prst="straightConnector1">
            <a:avLst/>
          </a:prstGeom>
          <a:ln w="28575">
            <a:solidFill>
              <a:srgbClr val="8E6F3E"/>
            </a:solidFill>
            <a:tailEnd type="triangle" w="med" len="med"/>
          </a:ln>
        </p:spPr>
      </p:cxnSp>
      <p:sp>
        <p:nvSpPr>
          <p:cNvPr id="15" name="St3"/>
          <p:cNvSpPr/>
          <p:nvPr/>
        </p:nvSpPr>
        <p:spPr>
          <a:xfrm>
            <a:off x="6172200" y="1508760"/>
            <a:ext cx="2423160" cy="731520"/>
          </a:xfrm>
          <a:prstGeom prst="rect">
            <a:avLst/>
          </a:prstGeom>
          <a:solidFill>
            <a:srgbClr val="5C4826"/>
          </a:solidFill>
          <a:ln>
            <a:noFill/>
          </a:ln>
        </p:spPr>
        <p:txBody>
          <a:bodyPr wrap="square" lIns="27432" tIns="22860" rIns="27432" bIns="22860" anchor="ctr"/>
          <a:lstStyle/>
          <a:p>
            <a:pPr algn="ctr">
              <a:spcAft>
                <a:spcPts val="400"/>
              </a:spcAft>
              <a:buNone/>
            </a:pPr>
            <a:r>
              <a:rPr lang="en-US" sz="1400" b="1" dirty="0">
                <a:solidFill>
                  <a:srgbClr val="FFFFFF"/>
                </a:solidFill>
              </a:rPr>
              <a:t>DOWNSTREAM</a:t>
            </a:r>
          </a:p>
          <a:p>
            <a:pPr algn="ctr">
              <a:spcAft>
                <a:spcPts val="0"/>
              </a:spcAft>
              <a:buNone/>
            </a:pPr>
            <a:r>
              <a:rPr lang="en-US" sz="1500" b="0" dirty="0">
                <a:solidFill>
                  <a:srgbClr val="FFFFFF"/>
                </a:solidFill>
              </a:rPr>
              <a:t>an arbitrarily capable agent</a:t>
            </a:r>
          </a:p>
        </p:txBody>
      </p:sp>
      <p:cxnSp>
        <p:nvCxnSpPr>
          <p:cNvPr id="16" name="DropC"/>
          <p:cNvCxnSpPr/>
          <p:nvPr/>
        </p:nvCxnSpPr>
        <p:spPr>
          <a:xfrm>
            <a:off x="1737360" y="2240280"/>
            <a:ext cx="0" cy="411480"/>
          </a:xfrm>
          <a:prstGeom prst="straightConnector1">
            <a:avLst/>
          </a:prstGeom>
          <a:ln w="12700">
            <a:solidFill>
              <a:srgbClr val="8E6F3E"/>
            </a:solidFill>
            <a:prstDash val="dash"/>
            <a:tailEnd type="triangle" w="med" len="med"/>
          </a:ln>
        </p:spPr>
      </p:cxnSp>
      <p:sp>
        <p:nvSpPr>
          <p:cNvPr id="17" name="Drop1"/>
          <p:cNvSpPr/>
          <p:nvPr/>
        </p:nvSpPr>
        <p:spPr>
          <a:xfrm>
            <a:off x="845820" y="269748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✗ a distinction</a:t>
            </a:r>
          </a:p>
        </p:txBody>
      </p:sp>
      <p:sp>
        <p:nvSpPr>
          <p:cNvPr id="18" name="DropL"/>
          <p:cNvSpPr txBox="1"/>
          <p:nvPr/>
        </p:nvSpPr>
        <p:spPr>
          <a:xfrm>
            <a:off x="685800" y="3154680"/>
            <a:ext cx="210312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dropped here, in the model</a:t>
            </a:r>
          </a:p>
        </p:txBody>
      </p:sp>
      <p:sp>
        <p:nvSpPr>
          <p:cNvPr id="19" name="EmptyL"/>
          <p:cNvSpPr txBox="1"/>
          <p:nvPr/>
        </p:nvSpPr>
        <p:spPr>
          <a:xfrm>
            <a:off x="6126480" y="2423160"/>
            <a:ext cx="2743200" cy="548640"/>
          </a:xfrm>
          <a:prstGeom prst="rect">
            <a:avLst/>
          </a:prstGeom>
          <a:noFill/>
          <a:ln>
            <a:noFill/>
          </a:ln>
        </p:spPr>
        <p:txBody>
          <a:bodyPr wrap="square" lIns="0" tIns="0" rIns="0" bIns="0" anchor="t"/>
          <a:lstStyle/>
          <a:p>
            <a:pPr algn="l">
              <a:spcAft>
                <a:spcPts val="0"/>
              </a:spcAft>
              <a:buNone/>
            </a:pPr>
            <a:r>
              <a:rPr lang="en-US" sz="1400" b="0" i="1" dirty="0">
                <a:solidFill>
                  <a:srgbClr val="555960"/>
                </a:solidFill>
              </a:rPr>
              <a:t>nothing arrives to recover; the distinction no longer exists</a:t>
            </a:r>
          </a:p>
        </p:txBody>
      </p:sp>
      <p:sp>
        <p:nvSpPr>
          <p:cNvPr id="150" name="Ital"/>
          <p:cNvSpPr txBox="1"/>
          <p:nvPr/>
        </p:nvSpPr>
        <p:spPr>
          <a:xfrm>
            <a:off x="274320" y="3566160"/>
            <a:ext cx="8595360" cy="3657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limit is semantic, not a shortfall of intelligence.</a:t>
            </a:r>
          </a:p>
        </p:txBody>
      </p:sp>
      <p:pic>
        <p:nvPicPr>
          <p:cNvPr id="30" name="BandPic" descr="Small reprise of the production process band: Engineering intent to Encoded property to Fabricator to Realization, with the three probability terms P(E | R), P(I | E, R) and P(L | I, E, R) bracketed beneath."/>
          <p:cNvPicPr>
            <a:picLocks noChangeAspect="1"/>
          </p:cNvPicPr>
          <p:nvPr/>
        </p:nvPicPr>
        <p:blipFill>
          <a:blip r:embed="rId3"/>
          <a:stretch>
            <a:fillRect/>
          </a:stretch>
        </p:blipFill>
        <p:spPr>
          <a:xfrm>
            <a:off x="365760" y="4200000"/>
            <a:ext cx="3200400" cy="1185206"/>
          </a:xfrm>
          <a:prstGeom prst="rect">
            <a:avLst/>
          </a:prstGeom>
        </p:spPr>
      </p:pic>
      <p:sp>
        <p:nvSpPr>
          <p:cNvPr id="31" name="LimK"/>
          <p:cNvSpPr txBox="1"/>
          <p:nvPr/>
        </p:nvSpPr>
        <p:spPr>
          <a:xfrm>
            <a:off x="3886200" y="4114800"/>
            <a:ext cx="4983480" cy="274320"/>
          </a:xfrm>
          <a:prstGeom prst="rect">
            <a:avLst/>
          </a:prstGeom>
          <a:noFill/>
          <a:ln>
            <a:noFill/>
          </a:ln>
        </p:spPr>
        <p:txBody>
          <a:bodyPr wrap="square" lIns="0" tIns="0" rIns="0" bIns="0" anchor="t"/>
          <a:lstStyle/>
          <a:p>
            <a:pPr algn="l">
              <a:spcAft>
                <a:spcPts val="0"/>
              </a:spcAft>
              <a:buNone/>
            </a:pPr>
            <a:r>
              <a:rPr lang="en-US" sz="1400" b="1" dirty="0">
                <a:solidFill>
                  <a:srgbClr val="8E6F3E"/>
                </a:solidFill>
              </a:rPr>
              <a:t>THE LIMIT CASE</a:t>
            </a:r>
          </a:p>
        </p:txBody>
      </p:sp>
      <p:sp>
        <p:nvSpPr>
          <p:cNvPr id="32" name="LimEq"/>
          <p:cNvSpPr txBox="1"/>
          <p:nvPr/>
        </p:nvSpPr>
        <p:spPr>
          <a:xfrm>
            <a:off x="3886200" y="4457700"/>
            <a:ext cx="4983480" cy="594360"/>
          </a:xfrm>
          <a:prstGeom prst="rect">
            <a:avLst/>
          </a:prstGeom>
          <a:noFill/>
          <a:ln>
            <a:noFill/>
          </a:ln>
        </p:spPr>
        <p:txBody>
          <a:bodyPr wrap="square" lIns="0" tIns="0" rIns="0" bIns="0" anchor="ctr"/>
          <a:lstStyle/>
          <a:p>
            <a:pPr algn="l">
              <a:spcAft>
                <a:spcPts val="0"/>
              </a:spcAft>
              <a:buNone/>
            </a:pPr>
            <a:r>
              <a:rPr lang="en-US" sz="2600" b="0" i="1" dirty="0">
                <a:solidFill>
                  <a:srgbClr val="5C4826"/>
                </a:solidFill>
              </a:rPr>
              <a:t>lim</a:t>
            </a:r>
            <a:r>
              <a:rPr lang="en-US" sz="1500" b="0" i="1" baseline="-25000" dirty="0">
                <a:solidFill>
                  <a:srgbClr val="5C4826"/>
                </a:solidFill>
              </a:rPr>
              <a:t xml:space="preserve">M → perfect reasoner</a:t>
            </a:r>
            <a:r>
              <a:rPr lang="en-US" sz="2600" b="0" i="1" dirty="0">
                <a:solidFill>
                  <a:srgbClr val="5C4826"/>
                </a:solidFill>
              </a:rPr>
              <a:t xml:space="preserve">  p</a:t>
            </a:r>
            <a:r>
              <a:rPr lang="en-US" sz="2600" b="0" i="1" baseline="-25000" dirty="0">
                <a:solidFill>
                  <a:srgbClr val="5C4826"/>
                </a:solidFill>
              </a:rPr>
              <a:t>R</a:t>
            </a:r>
            <a:r>
              <a:rPr lang="en-US" sz="2600" b="0" i="1" dirty="0">
                <a:solidFill>
                  <a:srgbClr val="5C4826"/>
                </a:solidFill>
              </a:rPr>
              <a:t xml:space="preserve"> = P(E | R)</a:t>
            </a:r>
          </a:p>
        </p:txBody>
      </p:sp>
      <p:sp>
        <p:nvSpPr>
          <p:cNvPr id="33" name="LimCap"/>
          <p:cNvSpPr txBox="1"/>
          <p:nvPr/>
        </p:nvSpPr>
        <p:spPr>
          <a:xfrm>
            <a:off x="3886200" y="5111750"/>
            <a:ext cx="4983480" cy="45720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Even perfect interpretation and realization remain bounded by what was encoded.</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What reduction removed, no capability restores.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500"/>
                                        <p:tgtEl>
                                          <p:spTgt spid="30"/>
                                        </p:tgtEl>
                                      </p:cBhvr>
                                    </p:animEffect>
                                  </p:childTnLst>
                                </p:cTn>
                              </p:par>
                              <p:par>
                                <p:cTn id="8" presetID="10" presetClass="entr" presetSubtype="0" fill="hold"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500"/>
                                        <p:tgtEl>
                                          <p:spTgt spid="31"/>
                                        </p:tgtEl>
                                      </p:cBhvr>
                                    </p:animEffect>
                                  </p:childTnLst>
                                </p:cTn>
                              </p:par>
                              <p:par>
                                <p:cTn id="11" presetID="10" presetClass="entr" presetSubtype="0" fill="hold" nodeType="withEffect">
                                  <p:stCondLst>
                                    <p:cond delay="0"/>
                                  </p:stCondLst>
                                  <p:childTnLst>
                                    <p:set>
                                      <p:cBhvr>
                                        <p:cTn id="12" dur="1" fill="hold">
                                          <p:stCondLst>
                                            <p:cond delay="0"/>
                                          </p:stCondLst>
                                        </p:cTn>
                                        <p:tgtEl>
                                          <p:spTgt spid="32"/>
                                        </p:tgtEl>
                                        <p:attrNameLst>
                                          <p:attrName>style.visibility</p:attrName>
                                        </p:attrNameLst>
                                      </p:cBhvr>
                                      <p:to>
                                        <p:strVal val="visible"/>
                                      </p:to>
                                    </p:set>
                                    <p:animEffect transition="in" filter="fade">
                                      <p:cBhvr>
                                        <p:cTn id="13" dur="500"/>
                                        <p:tgtEl>
                                          <p:spTgt spid="32"/>
                                        </p:tgtEl>
                                      </p:cBhvr>
                                    </p:animEffect>
                                  </p:childTnLst>
                                </p:cTn>
                              </p:par>
                              <p:par>
                                <p:cTn id="14" presetID="10" presetClass="entr" presetSubtype="0" fill="hold" nodeType="withEffect">
                                  <p:stCondLst>
                                    <p:cond delay="0"/>
                                  </p:stCondLst>
                                  <p:childTnLst>
                                    <p:set>
                                      <p:cBhvr>
                                        <p:cTn id="15" dur="1" fill="hold">
                                          <p:stCondLst>
                                            <p:cond delay="0"/>
                                          </p:stCondLst>
                                        </p:cTn>
                                        <p:tgtEl>
                                          <p:spTgt spid="33"/>
                                        </p:tgtEl>
                                        <p:attrNameLst>
                                          <p:attrName>style.visibility</p:attrName>
                                        </p:attrNameLst>
                                      </p:cBhvr>
                                      <p:to>
                                        <p:strVal val="visible"/>
                                      </p:to>
                                    </p:set>
                                    <p:animEffect transition="in" filter="fade">
                                      <p:cBhvr>
                                        <p:cTn id="16"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Activity: Reduce</a:t>
            </a:r>
            <a:endParaRPr dirty="0"/>
          </a:p>
        </p:txBody>
      </p:sp>
      <p:sp>
        <p:nvSpPr>
          <p:cNvPr id="4"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5" name="TextBox 4"/>
          <p:cNvSpPr txBox="1"/>
          <p:nvPr/>
        </p:nvSpPr>
        <p:spPr>
          <a:xfrm>
            <a:off x="365760" y="932688"/>
            <a:ext cx="8412480" cy="590931"/>
          </a:xfrm>
          <a:prstGeom prst="rect">
            <a:avLst/>
          </a:prstGeom>
          <a:noFill/>
        </p:spPr>
        <p:txBody>
          <a:bodyPr wrap="square" lIns="18288" tIns="18288" rIns="18288" bIns="18288">
            <a:spAutoFit/>
          </a:bodyPr>
          <a:lstStyle/>
          <a:p>
            <a:r>
              <a:rPr lang="en-US" dirty="0"/>
              <a:t xml:space="preserve">Same controller, new question: </a:t>
            </a:r>
            <a:r>
              <a:rPr lang="en-US" sz="1800" b="1" dirty="0">
                <a:solidFill>
                  <a:srgbClr val="5C4826"/>
                </a:solidFill>
              </a:rPr>
              <a:t>can the device respond to an over-temperature condition within 50 ms?</a:t>
            </a:r>
            <a:endParaRPr sz="1800" b="0" dirty="0">
              <a:solidFill>
                <a:srgbClr val="555960"/>
              </a:solidFill>
            </a:endParaRPr>
          </a:p>
        </p:txBody>
      </p:sp>
      <p:sp>
        <p:nvSpPr>
          <p:cNvPr id="6" name="TextBox 5"/>
          <p:cNvSpPr txBox="1"/>
          <p:nvPr/>
        </p:nvSpPr>
        <p:spPr>
          <a:xfrm>
            <a:off x="365760" y="1645920"/>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YOUR TASK — TOP-DOWN, THEN BOTTOM-UP</a:t>
            </a:r>
          </a:p>
        </p:txBody>
      </p:sp>
      <p:sp>
        <p:nvSpPr>
          <p:cNvPr id="7" name="Rectangle 6"/>
          <p:cNvSpPr/>
          <p:nvPr/>
        </p:nvSpPr>
        <p:spPr>
          <a:xfrm>
            <a:off x="365760" y="2048256"/>
            <a:ext cx="6080760" cy="1755648"/>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marL="228600" indent="-228600" algn="l">
              <a:spcAft>
                <a:spcPts val="1600"/>
              </a:spcAft>
              <a:buNone/>
            </a:pPr>
            <a:r>
              <a:rPr lang="en-US" sz="1800" b="0" dirty="0">
                <a:solidFill>
                  <a:srgbClr val="5C4826"/>
                </a:solidFill>
              </a:rPr>
              <a:t>1.  Top-down: what distinctions must your model preserve?</a:t>
            </a:r>
          </a:p>
          <a:p>
            <a:pPr marL="228600" indent="-228600" algn="l">
              <a:spcAft>
                <a:spcPts val="1600"/>
              </a:spcAft>
              <a:buNone/>
            </a:pPr>
            <a:r>
              <a:rPr lang="en-US" sz="1800" b="0" dirty="0">
                <a:solidFill>
                  <a:srgbClr val="5C4826"/>
                </a:solidFill>
              </a:rPr>
              <a:t>2.  Bottom-up: justify every distinction you kept.</a:t>
            </a:r>
          </a:p>
          <a:p>
            <a:pPr marL="228600" indent="-228600" algn="l">
              <a:spcAft>
                <a:spcPts val="0"/>
              </a:spcAft>
              <a:buNone/>
            </a:pPr>
            <a:r>
              <a:rPr lang="en-US" sz="1800" b="0" dirty="0">
                <a:solidFill>
                  <a:srgbClr val="5C4826"/>
                </a:solidFill>
              </a:rPr>
              <a:t>3.  Name at least three facts about the real system your model deliberately omits.</a:t>
            </a:r>
          </a:p>
        </p:txBody>
      </p:sp>
      <p:sp>
        <p:nvSpPr>
          <p:cNvPr id="8" name="DbfL"/>
          <p:cNvSpPr txBox="1"/>
          <p:nvPr/>
        </p:nvSpPr>
        <p:spPr>
          <a:xfrm>
            <a:off x="365760" y="3895344"/>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DEBRIEF</a:t>
            </a:r>
          </a:p>
        </p:txBody>
      </p:sp>
      <p:sp>
        <p:nvSpPr>
          <p:cNvPr id="9" name="DBox"/>
          <p:cNvSpPr/>
          <p:nvPr/>
        </p:nvSpPr>
        <p:spPr>
          <a:xfrm>
            <a:off x="365760" y="4306824"/>
            <a:ext cx="6080760" cy="1389888"/>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1800" b="0" dirty="0">
                <a:solidFill>
                  <a:srgbClr val="5C4826"/>
                </a:solidFill>
              </a:rPr>
              <a:t>Everything converges on one chain: sample → schedule → compute → actuate</a:t>
            </a:r>
          </a:p>
          <a:p>
            <a:pPr algn="ctr">
              <a:spcAft>
                <a:spcPts val="0"/>
              </a:spcAft>
              <a:buNone/>
            </a:pPr>
            <a:r>
              <a:rPr lang="en-US" sz="2000" b="1" dirty="0">
                <a:solidFill>
                  <a:srgbClr val="5C4826"/>
                </a:solidFill>
              </a:rPr>
              <a:t>T</a:t>
            </a:r>
            <a:r>
              <a:rPr lang="en-US" sz="1400" b="1" baseline="-25000" dirty="0">
                <a:solidFill>
                  <a:srgbClr val="5C4826"/>
                </a:solidFill>
              </a:rPr>
              <a:t>sample</a:t>
            </a:r>
            <a:r>
              <a:rPr lang="en-US" sz="2000" b="1" dirty="0">
                <a:solidFill>
                  <a:srgbClr val="5C4826"/>
                </a:solidFill>
              </a:rPr>
              <a:t xml:space="preserve"> + T</a:t>
            </a:r>
            <a:r>
              <a:rPr lang="en-US" sz="1400" b="1" baseline="-25000" dirty="0">
                <a:solidFill>
                  <a:srgbClr val="5C4826"/>
                </a:solidFill>
              </a:rPr>
              <a:t>schedule</a:t>
            </a:r>
            <a:r>
              <a:rPr lang="en-US" sz="2000" b="1" dirty="0">
                <a:solidFill>
                  <a:srgbClr val="5C4826"/>
                </a:solidFill>
              </a:rPr>
              <a:t xml:space="preserve"> + T</a:t>
            </a:r>
            <a:r>
              <a:rPr lang="en-US" sz="1400" b="1" baseline="-25000" dirty="0">
                <a:solidFill>
                  <a:srgbClr val="5C4826"/>
                </a:solidFill>
              </a:rPr>
              <a:t>compute</a:t>
            </a:r>
            <a:r>
              <a:rPr lang="en-US" sz="2000" b="1" dirty="0">
                <a:solidFill>
                  <a:srgbClr val="5C4826"/>
                </a:solidFill>
              </a:rPr>
              <a:t xml:space="preserve"> + T</a:t>
            </a:r>
            <a:r>
              <a:rPr lang="en-US" sz="1400" b="1" baseline="-25000" dirty="0">
                <a:solidFill>
                  <a:srgbClr val="5C4826"/>
                </a:solidFill>
              </a:rPr>
              <a:t>actuate</a:t>
            </a:r>
            <a:r>
              <a:rPr lang="en-US" sz="2000" b="1" dirty="0">
                <a:solidFill>
                  <a:srgbClr val="5C4826"/>
                </a:solidFill>
              </a:rPr>
              <a:t xml:space="preserve"> ≤ 50 ms</a:t>
            </a:r>
          </a:p>
        </p:txBody>
      </p:sp>
      <p:sp>
        <p:nvSpPr>
          <p:cNvPr id="15" name="QRPlaceholder" descr="Dashed outline marking the slot where the activity's QR code will go."/>
          <p:cNvSpPr/>
          <p:nvPr/>
        </p:nvSpPr>
        <p:spPr>
          <a:xfrm>
            <a:off x="6605016" y="1891094"/>
            <a:ext cx="2264664" cy="2264664"/>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Activity QR</a:t>
            </a:r>
          </a:p>
        </p:txBody>
      </p:sp>
      <p:grpSp>
        <p:nvGrpSpPr>
          <p:cNvPr id="16" name="QRVoidMark" descr="A large red X across the slot: the activity QR code has not been added yet."/>
          <p:cNvGrpSpPr/>
          <p:nvPr/>
        </p:nvGrpSpPr>
        <p:grpSpPr>
          <a:xfrm>
            <a:off x="6763542" y="2049620"/>
            <a:ext cx="1947612" cy="1947612"/>
            <a:chOff x="6763542" y="2049620"/>
            <a:chExt cx="1947612" cy="1947612"/>
          </a:xfrm>
        </p:grpSpPr>
        <p:cxnSp>
          <p:nvCxnSpPr>
            <p:cNvPr id="17" name="QRVoidStrokeTLBR"/>
            <p:cNvCxnSpPr/>
            <p:nvPr/>
          </p:nvCxnSpPr>
          <p:spPr>
            <a:xfrm>
              <a:off x="6763542" y="2049620"/>
              <a:ext cx="1947612" cy="1947612"/>
            </a:xfrm>
            <a:prstGeom prst="straightConnector1">
              <a:avLst/>
            </a:prstGeom>
            <a:ln w="101600" cap="rnd">
              <a:solidFill>
                <a:srgbClr val="C00000"/>
              </a:solidFill>
              <a:round/>
            </a:ln>
          </p:spPr>
        </p:cxnSp>
        <p:cxnSp>
          <p:nvCxnSpPr>
            <p:cNvPr id="18" name="QRVoidStrokeTRBL"/>
            <p:cNvCxnSpPr/>
            <p:nvPr/>
          </p:nvCxnSpPr>
          <p:spPr>
            <a:xfrm flipH="1">
              <a:off x="6763542" y="2049620"/>
              <a:ext cx="1947612" cy="1947612"/>
            </a:xfrm>
            <a:prstGeom prst="straightConnector1">
              <a:avLst/>
            </a:prstGeom>
            <a:ln w="101600" cap="rnd">
              <a:solidFill>
                <a:srgbClr val="C00000"/>
              </a:solidFill>
              <a:round/>
            </a:ln>
          </p:spPr>
        </p:cxnSp>
      </p:grpSp>
      <p:sp>
        <p:nvSpPr>
          <p:cNvPr id="12" name="TextBox 11"/>
          <p:cNvSpPr txBox="1"/>
          <p:nvPr/>
        </p:nvSpPr>
        <p:spPr>
          <a:xfrm>
            <a:off x="6743700" y="4389989"/>
            <a:ext cx="1984248" cy="685800"/>
          </a:xfrm>
          <a:prstGeom prst="rect">
            <a:avLst/>
          </a:prstGeom>
          <a:noFill/>
        </p:spPr>
        <p:txBody>
          <a:bodyPr wrap="square" lIns="18288" tIns="18288" rIns="18288" bIns="18288">
            <a:spAutoFit/>
          </a:bodyPr>
          <a:lstStyle/>
          <a:p>
            <a:pPr algn="ctr">
              <a:spcAft>
                <a:spcPts val="0"/>
              </a:spcAft>
            </a:pPr>
            <a:r>
              <a:rPr sz="1600" b="0" dirty="0">
                <a:solidFill>
                  <a:srgbClr val="555960"/>
                </a:solidFill>
              </a:rPr>
              <a:t>Team response</a:t>
            </a:r>
          </a:p>
          <a:p>
            <a:pPr algn="ctr">
              <a:spcAft>
                <a:spcPts val="0"/>
              </a:spcAft>
            </a:pPr>
            <a:r>
              <a:rPr sz="1600" b="0" dirty="0">
                <a:solidFill>
                  <a:srgbClr val="555960"/>
                </a:solidFill>
              </a:rPr>
              <a:t>Google Form</a:t>
            </a:r>
          </a:p>
        </p:txBody>
      </p:sp>
      <p:sp>
        <p:nvSpPr>
          <p:cNvPr id="13" name="FooterBand"/>
          <p:cNvSpPr/>
          <p:nvPr/>
        </p:nvSpPr>
        <p:spPr>
          <a:xfrm>
            <a:off x="274320" y="5852160"/>
            <a:ext cx="8595360" cy="566928"/>
          </a:xfrm>
          <a:prstGeom prst="rect">
            <a:avLst/>
          </a:prstGeom>
          <a:solidFill>
            <a:srgbClr val="8E6F3E"/>
          </a:solidFill>
          <a:ln>
            <a:no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r>
              <a:rPr lang="en-US" sz="2000" b="1" dirty="0">
                <a:solidFill>
                  <a:srgbClr val="FFFFFF"/>
                </a:solidFill>
              </a:rPr>
              <a:t>Work the model as a team. Then submit one response per team.</a:t>
            </a:r>
          </a:p>
        </p:txBody>
      </p:sp>
      <p:sp>
        <p:nvSpPr>
          <p:cNvPr id="14"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10 MINUTES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A model is not its representation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
        <p:nvSpPr>
          <p:cNvPr id="6" name="Kicker"/>
          <p:cNvSpPr txBox="1"/>
          <p:nvPr/>
        </p:nvSpPr>
        <p:spPr>
          <a:xfrm>
            <a:off x="365760" y="100584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MODEL ≠ REPRESENTATION</a:t>
            </a:r>
          </a:p>
        </p:txBody>
      </p:sp>
      <p:sp>
        <p:nvSpPr>
          <p:cNvPr id="7" name="Definitions"/>
          <p:cNvSpPr txBox="1"/>
          <p:nvPr/>
        </p:nvSpPr>
        <p:spPr>
          <a:xfrm>
            <a:off x="365760" y="1414780"/>
            <a:ext cx="8412480" cy="731520"/>
          </a:xfrm>
          <a:prstGeom prst="rect">
            <a:avLst/>
          </a:prstGeom>
          <a:noFill/>
        </p:spPr>
        <p:txBody>
          <a:bodyPr wrap="square" lIns="18288" tIns="18288" rIns="18288" bIns="18288">
            <a:spAutoFit/>
          </a:bodyPr>
          <a:lstStyle/>
          <a:p>
            <a:pPr algn="l">
              <a:spcAft>
                <a:spcPts val="600"/>
              </a:spcAft>
              <a:buNone/>
            </a:pPr>
            <a:r>
              <a:rPr lang="en-US" sz="1800" b="1" dirty="0">
                <a:solidFill>
                  <a:srgbClr val="5C4826"/>
                </a:solidFill>
              </a:rPr>
              <a:t>Model</a:t>
            </a:r>
            <a:r>
              <a:rPr lang="en-US" sz="1800" b="0" dirty="0">
                <a:solidFill>
                  <a:srgbClr val="555960"/>
                </a:solidFill>
              </a:rPr>
              <a:t xml:space="preserve"> — a purposeful reduction of some territory that preserves selected properties for engineering questions.</a:t>
            </a:r>
          </a:p>
          <a:p>
            <a:pPr algn="l">
              <a:spcAft>
                <a:spcPts val="0"/>
              </a:spcAft>
              <a:buNone/>
            </a:pPr>
            <a:r>
              <a:rPr lang="en-US" sz="1800" b="1" dirty="0">
                <a:solidFill>
                  <a:srgbClr val="5C4826"/>
                </a:solidFill>
              </a:rPr>
              <a:t>Representation</a:t>
            </a:r>
            <a:r>
              <a:rPr lang="en-US" sz="1800" b="0" dirty="0">
                <a:solidFill>
                  <a:srgbClr val="555960"/>
                </a:solidFill>
              </a:rPr>
              <a:t xml:space="preserve"> — a concrete form in which a model is inspected, manipulated, analyzed, or consumed.</a:t>
            </a:r>
          </a:p>
        </p:txBody>
      </p:sp>
      <p:sp>
        <p:nvSpPr>
          <p:cNvPr id="8" name="Card"/>
          <p:cNvSpPr/>
          <p:nvPr/>
        </p:nvSpPr>
        <p:spPr>
          <a:xfrm>
            <a:off x="3429000" y="2560320"/>
            <a:ext cx="2286000" cy="457200"/>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ONE MODEL</a:t>
            </a:r>
          </a:p>
        </p:txBody>
      </p:sp>
      <p:cxnSp>
        <p:nvCxnSpPr>
          <p:cNvPr id="20" name="L1"/>
          <p:cNvCxnSpPr/>
          <p:nvPr/>
        </p:nvCxnSpPr>
        <p:spPr>
          <a:xfrm flipH="1">
            <a:off x="1709760" y="3017520"/>
            <a:ext cx="2862240" cy="320040"/>
          </a:xfrm>
          <a:prstGeom prst="line">
            <a:avLst/>
          </a:prstGeom>
          <a:ln w="19050">
            <a:solidFill>
              <a:srgbClr val="C9B991"/>
            </a:solidFill>
          </a:ln>
        </p:spPr>
      </p:cxnSp>
      <p:cxnSp>
        <p:nvCxnSpPr>
          <p:cNvPr id="21" name="L2"/>
          <p:cNvCxnSpPr/>
          <p:nvPr/>
        </p:nvCxnSpPr>
        <p:spPr>
          <a:xfrm>
            <a:off x="4572000" y="3017520"/>
            <a:ext cx="0" cy="320040"/>
          </a:xfrm>
          <a:prstGeom prst="line">
            <a:avLst/>
          </a:prstGeom>
          <a:ln w="19050">
            <a:solidFill>
              <a:srgbClr val="C9B991"/>
            </a:solidFill>
          </a:ln>
        </p:spPr>
      </p:cxnSp>
      <p:cxnSp>
        <p:nvCxnSpPr>
          <p:cNvPr id="22" name="L3"/>
          <p:cNvCxnSpPr/>
          <p:nvPr/>
        </p:nvCxnSpPr>
        <p:spPr>
          <a:xfrm>
            <a:off x="4572000" y="3017520"/>
            <a:ext cx="2862240" cy="320040"/>
          </a:xfrm>
          <a:prstGeom prst="line">
            <a:avLst/>
          </a:prstGeom>
          <a:ln w="19050">
            <a:solidFill>
              <a:srgbClr val="C9B991"/>
            </a:solidFill>
          </a:ln>
        </p:spPr>
      </p:cxnSp>
      <p:sp>
        <p:nvSpPr>
          <p:cNvPr id="30" name="P1"/>
          <p:cNvSpPr/>
          <p:nvPr/>
        </p:nvSpPr>
        <p:spPr>
          <a:xfrm>
            <a:off x="365760" y="3337560"/>
            <a:ext cx="2688000" cy="2050000"/>
          </a:xfrm>
          <a:prstGeom prst="rect">
            <a:avLst/>
          </a:prstGeom>
          <a:solidFill>
            <a:srgbClr val="F5F1E8"/>
          </a:solidFill>
          <a:ln w="12700">
            <a:solidFill>
              <a:srgbClr val="C9B991"/>
            </a:solidFill>
          </a:ln>
        </p:spPr>
        <p:txBody>
          <a:bodyPr wrap="square" lIns="91440" tIns="68580" rIns="91440" bIns="68580" anchor="t"/>
          <a:lstStyle/>
          <a:p>
            <a:pPr algn="ctr">
              <a:buNone/>
            </a:pPr>
            <a:r>
              <a:rPr lang="en-US" sz="1400" b="1" dirty="0">
                <a:solidFill>
                  <a:srgbClr val="5C4826"/>
                </a:solidFill>
              </a:rPr>
              <a:t>STATE DIAGRAM</a:t>
            </a:r>
          </a:p>
        </p:txBody>
      </p:sp>
      <p:sp>
        <p:nvSpPr>
          <p:cNvPr id="31" name="N1"/>
          <p:cNvSpPr/>
          <p:nvPr/>
        </p:nvSpPr>
        <p:spPr>
          <a:xfrm>
            <a:off x="909760" y="374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staged</a:t>
            </a:r>
          </a:p>
        </p:txBody>
      </p:sp>
      <p:cxnSp>
        <p:nvCxnSpPr>
          <p:cNvPr id="32" name="A1"/>
          <p:cNvCxnSpPr/>
          <p:nvPr/>
        </p:nvCxnSpPr>
        <p:spPr>
          <a:xfrm>
            <a:off x="1709760" y="4022560"/>
            <a:ext cx="0" cy="280000"/>
          </a:xfrm>
          <a:prstGeom prst="line">
            <a:avLst/>
          </a:prstGeom>
          <a:ln w="19050">
            <a:solidFill>
              <a:srgbClr val="8E6F3E"/>
            </a:solidFill>
            <a:tailEnd type="triangle"/>
          </a:ln>
        </p:spPr>
      </p:cxnSp>
      <p:sp>
        <p:nvSpPr>
          <p:cNvPr id="33" name="N2"/>
          <p:cNvSpPr/>
          <p:nvPr/>
        </p:nvSpPr>
        <p:spPr>
          <a:xfrm>
            <a:off x="909760" y="430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published</a:t>
            </a:r>
          </a:p>
        </p:txBody>
      </p:sp>
      <p:cxnSp>
        <p:nvCxnSpPr>
          <p:cNvPr id="34" name="A2"/>
          <p:cNvCxnSpPr/>
          <p:nvPr/>
        </p:nvCxnSpPr>
        <p:spPr>
          <a:xfrm>
            <a:off x="1709760" y="4582560"/>
            <a:ext cx="0" cy="280000"/>
          </a:xfrm>
          <a:prstGeom prst="line">
            <a:avLst/>
          </a:prstGeom>
          <a:ln w="19050">
            <a:solidFill>
              <a:srgbClr val="8E6F3E"/>
            </a:solidFill>
            <a:tailEnd type="triangle"/>
          </a:ln>
        </p:spPr>
      </p:cxnSp>
      <p:sp>
        <p:nvSpPr>
          <p:cNvPr id="35" name="N3"/>
          <p:cNvSpPr/>
          <p:nvPr/>
        </p:nvSpPr>
        <p:spPr>
          <a:xfrm>
            <a:off x="909760" y="486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recorded</a:t>
            </a:r>
          </a:p>
        </p:txBody>
      </p:sp>
      <p:sp>
        <p:nvSpPr>
          <p:cNvPr id="40" name="P2"/>
          <p:cNvSpPr/>
          <p:nvPr/>
        </p:nvSpPr>
        <p:spPr>
          <a:xfrm>
            <a:off x="3228000" y="3337560"/>
            <a:ext cx="2688000" cy="2050000"/>
          </a:xfrm>
          <a:prstGeom prst="rect">
            <a:avLst/>
          </a:prstGeom>
          <a:solidFill>
            <a:srgbClr val="F5F1E8"/>
          </a:solidFill>
          <a:ln w="12700">
            <a:solidFill>
              <a:srgbClr val="C9B991"/>
            </a:solidFill>
          </a:ln>
        </p:spPr>
        <p:txBody>
          <a:bodyPr wrap="square" lIns="91440" tIns="68580" rIns="91440" bIns="68580" anchor="t"/>
          <a:lstStyle/>
          <a:p>
            <a:pPr algn="ctr">
              <a:spcAft>
                <a:spcPts val="1000"/>
              </a:spcAft>
              <a:buNone/>
            </a:pPr>
            <a:r>
              <a:rPr lang="en-US" sz="1400" b="1" dirty="0">
                <a:solidFill>
                  <a:srgbClr val="5C4826"/>
                </a:solidFill>
              </a:rPr>
              <a:t>TRANSITION TABLE</a:t>
            </a:r>
          </a:p>
          <a:p>
            <a:pPr algn="ctr">
              <a:spcAft>
                <a:spcPts val="600"/>
              </a:spcAft>
              <a:buNone/>
            </a:pPr>
            <a:r>
              <a:rPr lang="en-US" sz="1400" b="1" dirty="0">
                <a:solidFill>
                  <a:srgbClr val="8E6F3E"/>
                </a:solidFill>
              </a:rPr>
              <a:t>from  →  to</a:t>
            </a:r>
          </a:p>
          <a:p>
            <a:pPr algn="ctr">
              <a:spcAft>
                <a:spcPts val="600"/>
              </a:spcAft>
              <a:buNone/>
            </a:pPr>
            <a:r>
              <a:rPr lang="en-US" sz="1500" b="0" dirty="0">
                <a:solidFill>
                  <a:srgbClr val="5C4826"/>
                </a:solidFill>
              </a:rPr>
              <a:t>staged  →  published</a:t>
            </a:r>
          </a:p>
          <a:p>
            <a:pPr algn="ctr">
              <a:spcAft>
                <a:spcPts val="1000"/>
              </a:spcAft>
              <a:buNone/>
            </a:pPr>
            <a:r>
              <a:rPr lang="en-US" sz="1500" b="0" dirty="0">
                <a:solidFill>
                  <a:srgbClr val="5C4826"/>
                </a:solidFill>
              </a:rPr>
              <a:t>published  →  recorded</a:t>
            </a:r>
          </a:p>
          <a:p>
            <a:pPr algn="ctr">
              <a:spcAft>
                <a:spcPts val="0"/>
              </a:spcAft>
              <a:buNone/>
            </a:pPr>
            <a:r>
              <a:rPr lang="en-US" sz="1400" b="0" i="1" dirty="0">
                <a:solidFill>
                  <a:srgbClr val="555960"/>
                </a:solidFill>
              </a:rPr>
              <a:t>no other rows</a:t>
            </a:r>
          </a:p>
        </p:txBody>
      </p:sp>
      <p:sp>
        <p:nvSpPr>
          <p:cNvPr id="41" name="P3"/>
          <p:cNvSpPr/>
          <p:nvPr/>
        </p:nvSpPr>
        <p:spPr>
          <a:xfrm>
            <a:off x="6090240" y="3337560"/>
            <a:ext cx="2688000" cy="2050000"/>
          </a:xfrm>
          <a:prstGeom prst="rect">
            <a:avLst/>
          </a:prstGeom>
          <a:solidFill>
            <a:srgbClr val="F5F1E8"/>
          </a:solidFill>
          <a:ln w="12700">
            <a:solidFill>
              <a:srgbClr val="C9B991"/>
            </a:solidFill>
          </a:ln>
        </p:spPr>
        <p:txBody>
          <a:bodyPr wrap="square" lIns="137160" tIns="68580" rIns="91440" bIns="68580" anchor="t"/>
          <a:lstStyle/>
          <a:p>
            <a:pPr algn="ctr">
              <a:spcAft>
                <a:spcPts val="1000"/>
              </a:spcAft>
              <a:buNone/>
            </a:pPr>
            <a:r>
              <a:rPr lang="en-US" sz="1400" b="1" dirty="0">
                <a:solidFill>
                  <a:srgbClr val="5C4826"/>
                </a:solidFill>
              </a:rPr>
              <a:t>STRUCTURED TEXT</a:t>
            </a:r>
          </a:p>
          <a:p>
            <a:pPr algn="l">
              <a:spcAft>
                <a:spcPts val="600"/>
              </a:spcAft>
              <a:buNone/>
            </a:pPr>
            <a:r>
              <a:rPr lang="en-US" sz="1500" b="0" dirty="0">
                <a:solidFill>
                  <a:srgbClr val="5C4826"/>
                </a:solidFill>
              </a:rPr>
              <a:t>transitions:</a:t>
            </a:r>
          </a:p>
          <a:p>
            <a:pPr algn="l">
              <a:spcAft>
                <a:spcPts val="600"/>
              </a:spcAft>
              <a:buNone/>
            </a:pPr>
            <a:r>
              <a:rPr lang="en-US" sz="1500" b="0" dirty="0">
                <a:solidFill>
                  <a:srgbClr val="5C4826"/>
                </a:solidFill>
              </a:rPr>
              <a:t xml:space="preserve">  staged: published</a:t>
            </a:r>
          </a:p>
          <a:p>
            <a:pPr algn="l">
              <a:spcAft>
                <a:spcPts val="1000"/>
              </a:spcAft>
              <a:buNone/>
            </a:pPr>
            <a:r>
              <a:rPr lang="en-US" sz="1500" b="0" dirty="0">
                <a:solidFill>
                  <a:srgbClr val="5C4826"/>
                </a:solidFill>
              </a:rPr>
              <a:t xml:space="preserve">  published: recorded</a:t>
            </a:r>
          </a:p>
          <a:p>
            <a:pPr algn="ctr">
              <a:spcAft>
                <a:spcPts val="0"/>
              </a:spcAft>
              <a:buNone/>
            </a:pPr>
            <a:r>
              <a:rPr lang="en-US" sz="1400" b="0" i="1" dirty="0">
                <a:solidFill>
                  <a:srgbClr val="555960"/>
                </a:solidFill>
              </a:rPr>
              <a:t>nothing else declared</a:t>
            </a:r>
          </a:p>
        </p:txBody>
      </p:sp>
      <p:sp>
        <p:nvSpPr>
          <p:cNvPr id="150" name="Ital"/>
          <p:cNvSpPr txBox="1"/>
          <p:nvPr/>
        </p:nvSpPr>
        <p:spPr>
          <a:xfrm>
            <a:off x="274320" y="5480000"/>
            <a:ext cx="8595360" cy="330000"/>
          </a:xfrm>
          <a:prstGeom prst="rect">
            <a:avLst/>
          </a:prstGeom>
          <a:noFill/>
          <a:ln>
            <a:noFill/>
          </a:ln>
        </p:spPr>
        <p:txBody>
          <a:bodyPr wrap="square" lIns="0" tIns="0" rIns="0" bIns="0" anchor="t"/>
          <a:lstStyle/>
          <a:p>
            <a:pPr algn="ctr">
              <a:buNone/>
            </a:pPr>
            <a:r>
              <a:rPr lang="en-US" sz="1700" b="0" i="1" dirty="0">
                <a:solidFill>
                  <a:srgbClr val="555960"/>
                </a:solidFill>
              </a:rPr>
              <a:t>The property — publication precedes the record — is statable in every one of them.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Three representations. One model.</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Representation changes interpretation</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6" name="PCard"/>
          <p:cNvSpPr/>
          <p:nvPr/>
        </p:nvSpPr>
        <p:spPr>
          <a:xfrm>
            <a:off x="365760" y="1097280"/>
            <a:ext cx="8412480" cy="822960"/>
          </a:xfrm>
          <a:prstGeom prst="rect">
            <a:avLst/>
          </a:prstGeom>
          <a:solidFill>
            <a:srgbClr val="F5F1E8"/>
          </a:solidFill>
          <a:ln w="12700">
            <a:solidFill>
              <a:srgbClr val="C9B991"/>
            </a:solidFill>
          </a:ln>
        </p:spPr>
        <p:txBody>
          <a:bodyPr wrap="square" lIns="91440" tIns="45720" rIns="91440" bIns="45720" anchor="ctr"/>
          <a:lstStyle/>
          <a:p>
            <a:pPr algn="ctr">
              <a:spcAft>
                <a:spcPts val="400"/>
              </a:spcAft>
              <a:buNone/>
            </a:pPr>
            <a:r>
              <a:rPr lang="en-US" sz="2000" b="1" dirty="0">
                <a:solidFill>
                  <a:srgbClr val="5C4826"/>
                </a:solidFill>
              </a:rPr>
              <a:t>P( agent correctly interprets claim c  |  representation r )</a:t>
            </a:r>
          </a:p>
          <a:p>
            <a:pPr algn="ctr">
              <a:spcAft>
                <a:spcPts val="0"/>
              </a:spcAft>
              <a:buNone/>
            </a:pPr>
            <a:r>
              <a:rPr lang="en-US" sz="1400" b="0" i="1" dirty="0">
                <a:solidFill>
                  <a:srgbClr val="555960"/>
                </a:solidFill>
              </a:rPr>
              <a:t>one intended claim c — representations differ in how reliably a reader recovers it</a:t>
            </a:r>
          </a:p>
        </p:txBody>
      </p:sp>
      <p:sp>
        <p:nvSpPr>
          <p:cNvPr id="7" name="RA"/>
          <p:cNvSpPr/>
          <p:nvPr/>
        </p:nvSpPr>
        <p:spPr>
          <a:xfrm>
            <a:off x="365760" y="2286000"/>
            <a:ext cx="3657600" cy="1143000"/>
          </a:xfrm>
          <a:prstGeom prst="rect">
            <a:avLst/>
          </a:prstGeom>
          <a:solidFill>
            <a:srgbClr val="F5F1E8"/>
          </a:solidFill>
          <a:ln w="12700">
            <a:solidFill>
              <a:srgbClr val="C9B991"/>
            </a:solidFill>
          </a:ln>
        </p:spPr>
        <p:txBody>
          <a:bodyPr wrap="square" lIns="91440" tIns="68580" rIns="91440" bIns="68580" anchor="t"/>
          <a:lstStyle/>
          <a:p>
            <a:pPr algn="ctr">
              <a:spcAft>
                <a:spcPts val="800"/>
              </a:spcAft>
              <a:buNone/>
            </a:pPr>
            <a:r>
              <a:rPr lang="en-US" sz="1400" b="1" dirty="0">
                <a:solidFill>
                  <a:srgbClr val="5C4826"/>
                </a:solidFill>
              </a:rPr>
              <a:t>REPRESENTATION A — TYPED RELATION</a:t>
            </a:r>
          </a:p>
          <a:p>
            <a:pPr algn="ctr">
              <a:spcAft>
                <a:spcPts val="400"/>
              </a:spcAft>
              <a:buNone/>
            </a:pPr>
            <a:r>
              <a:rPr lang="en-US" sz="1500" b="0" dirty="0">
                <a:solidFill>
                  <a:srgbClr val="5C4826"/>
                </a:solidFill>
              </a:rPr>
              <a:t>staged → published → recorded</a:t>
            </a:r>
          </a:p>
          <a:p>
            <a:pPr algn="ctr">
              <a:spcAft>
                <a:spcPts val="0"/>
              </a:spcAft>
              <a:buNone/>
            </a:pPr>
            <a:r>
              <a:rPr lang="en-US" sz="1400" b="0" i="1" dirty="0">
                <a:solidFill>
                  <a:srgbClr val="555960"/>
                </a:solidFill>
              </a:rPr>
              <a:t>no other transitions</a:t>
            </a:r>
          </a:p>
        </p:txBody>
      </p:sp>
      <p:sp>
        <p:nvSpPr>
          <p:cNvPr id="8" name="RB"/>
          <p:cNvSpPr/>
          <p:nvPr/>
        </p:nvSpPr>
        <p:spPr>
          <a:xfrm>
            <a:off x="365760" y="3749040"/>
            <a:ext cx="3657600" cy="1143000"/>
          </a:xfrm>
          <a:prstGeom prst="rect">
            <a:avLst/>
          </a:prstGeom>
          <a:solidFill>
            <a:srgbClr val="F5F1E8"/>
          </a:solidFill>
          <a:ln w="12700">
            <a:solidFill>
              <a:srgbClr val="C9B991"/>
            </a:solidFill>
          </a:ln>
        </p:spPr>
        <p:txBody>
          <a:bodyPr wrap="square" lIns="91440" tIns="68580" rIns="91440" bIns="68580" anchor="t"/>
          <a:lstStyle/>
          <a:p>
            <a:pPr algn="ctr">
              <a:spcAft>
                <a:spcPts val="800"/>
              </a:spcAft>
              <a:buNone/>
            </a:pPr>
            <a:r>
              <a:rPr lang="en-US" sz="1400" b="1" dirty="0">
                <a:solidFill>
                  <a:srgbClr val="5C4826"/>
                </a:solidFill>
              </a:rPr>
              <a:t>REPRESENTATION B — INFORMAL PROSE</a:t>
            </a:r>
          </a:p>
          <a:p>
            <a:pPr algn="ctr">
              <a:spcAft>
                <a:spcPts val="0"/>
              </a:spcAft>
              <a:buNone/>
            </a:pPr>
            <a:r>
              <a:rPr lang="en-US" sz="1500" b="0" i="1" dirty="0">
                <a:solidFill>
                  <a:srgbClr val="5C4826"/>
                </a:solidFill>
              </a:rPr>
              <a:t>“Files usually get staged before they show up in the database.”</a:t>
            </a:r>
          </a:p>
        </p:txBody>
      </p:sp>
      <p:sp>
        <p:nvSpPr>
          <p:cNvPr id="9" name="RD"/>
          <p:cNvSpPr/>
          <p:nvPr/>
        </p:nvSpPr>
        <p:spPr>
          <a:xfrm>
            <a:off x="6858000" y="3200400"/>
            <a:ext cx="1828800" cy="822960"/>
          </a:xfrm>
          <a:prstGeom prst="rect">
            <a:avLst/>
          </a:prstGeom>
          <a:solidFill>
            <a:srgbClr val="8E6F3E"/>
          </a:solidFill>
          <a:ln>
            <a:noFill/>
          </a:ln>
        </p:spPr>
        <p:txBody>
          <a:bodyPr wrap="square" lIns="27432" tIns="22860" rIns="27432" bIns="22860" anchor="ctr"/>
          <a:lstStyle/>
          <a:p>
            <a:pPr algn="ctr">
              <a:spcAft>
                <a:spcPts val="200"/>
              </a:spcAft>
              <a:buNone/>
            </a:pPr>
            <a:r>
              <a:rPr lang="en-US" sz="2000" b="1" i="0" dirty="0">
                <a:solidFill>
                  <a:srgbClr val="FFFFFF"/>
                </a:solidFill>
              </a:rPr>
              <a:t>READER</a:t>
            </a:r>
          </a:p>
          <a:p>
            <a:pPr algn="ctr">
              <a:spcAft>
                <a:spcPts val="0"/>
              </a:spcAft>
              <a:buNone/>
            </a:pPr>
            <a:r>
              <a:rPr lang="en-US" sz="1400" b="0" i="0" dirty="0">
                <a:solidFill>
                  <a:srgbClr val="FFFFFF"/>
                </a:solidFill>
              </a:rPr>
              <a:t>human or agent</a:t>
            </a:r>
          </a:p>
        </p:txBody>
      </p:sp>
      <p:cxnSp>
        <p:nvCxnSpPr>
          <p:cNvPr id="20" name="AR1"/>
          <p:cNvCxnSpPr/>
          <p:nvPr/>
        </p:nvCxnSpPr>
        <p:spPr>
          <a:xfrm>
            <a:off x="4023360" y="2857500"/>
            <a:ext cx="2834640" cy="548640"/>
          </a:xfrm>
          <a:prstGeom prst="line">
            <a:avLst/>
          </a:prstGeom>
          <a:ln w="28575">
            <a:solidFill>
              <a:srgbClr val="8E6F3E"/>
            </a:solidFill>
            <a:tailEnd type="triangle"/>
          </a:ln>
        </p:spPr>
      </p:cxnSp>
      <p:cxnSp>
        <p:nvCxnSpPr>
          <p:cNvPr id="21" name="AR2"/>
          <p:cNvCxnSpPr/>
          <p:nvPr/>
        </p:nvCxnSpPr>
        <p:spPr>
          <a:xfrm flipV="1">
            <a:off x="4023360" y="3817620"/>
            <a:ext cx="2834640" cy="502920"/>
          </a:xfrm>
          <a:prstGeom prst="line">
            <a:avLst/>
          </a:prstGeom>
          <a:ln w="28575">
            <a:solidFill>
              <a:srgbClr val="8E6F3E"/>
            </a:solidFill>
            <a:tailEnd type="triangle"/>
          </a:ln>
        </p:spPr>
      </p:cxnSp>
      <p:sp>
        <p:nvSpPr>
          <p:cNvPr id="22" name="AN1"/>
          <p:cNvSpPr txBox="1"/>
          <p:nvPr/>
        </p:nvSpPr>
        <p:spPr>
          <a:xfrm>
            <a:off x="4206240" y="2505710"/>
            <a:ext cx="2560320" cy="300000"/>
          </a:xfrm>
          <a:prstGeom prst="rect">
            <a:avLst/>
          </a:prstGeom>
          <a:noFill/>
        </p:spPr>
        <p:txBody>
          <a:bodyPr wrap="square" lIns="0" tIns="0" rIns="0" bIns="0" anchor="t"/>
          <a:lstStyle/>
          <a:p>
            <a:pPr algn="ctr">
              <a:buNone/>
            </a:pPr>
            <a:r>
              <a:rPr lang="en-US" sz="1400" b="0" dirty="0">
                <a:solidFill>
                  <a:srgbClr val="555960"/>
                </a:solidFill>
              </a:rPr>
              <a:t>P(interpret c) higher</a:t>
            </a:r>
          </a:p>
        </p:txBody>
      </p:sp>
      <p:sp>
        <p:nvSpPr>
          <p:cNvPr id="23" name="AN2"/>
          <p:cNvSpPr txBox="1"/>
          <p:nvPr/>
        </p:nvSpPr>
        <p:spPr>
          <a:xfrm>
            <a:off x="4206240" y="4404360"/>
            <a:ext cx="2560320" cy="300000"/>
          </a:xfrm>
          <a:prstGeom prst="rect">
            <a:avLst/>
          </a:prstGeom>
          <a:noFill/>
        </p:spPr>
        <p:txBody>
          <a:bodyPr wrap="square" lIns="0" tIns="0" rIns="0" bIns="0" anchor="t"/>
          <a:lstStyle/>
          <a:p>
            <a:pPr algn="ctr">
              <a:buNone/>
            </a:pPr>
            <a:r>
              <a:rPr lang="en-US" sz="1400" b="0" dirty="0">
                <a:solidFill>
                  <a:srgbClr val="555960"/>
                </a:solidFill>
              </a:rPr>
              <a:t>P(interpret c) lower</a:t>
            </a:r>
          </a:p>
        </p:txBody>
      </p:sp>
      <p:sp>
        <p:nvSpPr>
          <p:cNvPr id="24" name="Couplet"/>
          <p:cNvSpPr txBox="1"/>
          <p:nvPr/>
        </p:nvSpPr>
        <p:spPr>
          <a:xfrm>
            <a:off x="365760" y="5029200"/>
            <a:ext cx="8412480" cy="731520"/>
          </a:xfrm>
          <a:prstGeom prst="rect">
            <a:avLst/>
          </a:prstGeom>
          <a:noFill/>
        </p:spPr>
        <p:txBody>
          <a:bodyPr wrap="square" lIns="18288" tIns="18288" rIns="18288" bIns="18288">
            <a:spAutoFit/>
          </a:bodyPr>
          <a:lstStyle/>
          <a:p>
            <a:pPr algn="ctr">
              <a:spcAft>
                <a:spcPts val="400"/>
              </a:spcAft>
              <a:buNone/>
            </a:pPr>
            <a:r>
              <a:rPr lang="en-US" sz="1800" b="1" dirty="0">
                <a:solidFill>
                  <a:srgbClr val="5C4826"/>
                </a:solidFill>
              </a:rPr>
              <a:t>Reduce freedom of interpretation</a:t>
            </a:r>
            <a:r>
              <a:rPr lang="en-US" sz="1800" b="0" dirty="0">
                <a:solidFill>
                  <a:srgbClr val="555960"/>
                </a:solidFill>
              </a:rPr>
              <a:t xml:space="preserve"> where meaning is consequential.</a:t>
            </a:r>
          </a:p>
          <a:p>
            <a:pPr algn="ctr">
              <a:spcAft>
                <a:spcPts val="0"/>
              </a:spcAft>
              <a:buNone/>
            </a:pPr>
            <a:r>
              <a:rPr lang="en-US" sz="1800" b="1" dirty="0">
                <a:solidFill>
                  <a:srgbClr val="5C4826"/>
                </a:solidFill>
              </a:rPr>
              <a:t>Preserve freedom of realization</a:t>
            </a:r>
            <a:r>
              <a:rPr lang="en-US" sz="1800" b="0" dirty="0">
                <a:solidFill>
                  <a:srgbClr val="555960"/>
                </a:solidFill>
              </a:rPr>
              <a:t xml:space="preserve"> where it is not.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fourth question — Quality — just became concrete.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Activity: Interpret</a:t>
            </a:r>
            <a:endParaRPr dirty="0"/>
          </a:p>
        </p:txBody>
      </p:sp>
      <p:sp>
        <p:nvSpPr>
          <p:cNvPr id="4"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5" name="TextBox 4"/>
          <p:cNvSpPr txBox="1"/>
          <p:nvPr/>
        </p:nvSpPr>
        <p:spPr>
          <a:xfrm>
            <a:off x="365760" y="932688"/>
            <a:ext cx="8412480" cy="590931"/>
          </a:xfrm>
          <a:prstGeom prst="rect">
            <a:avLst/>
          </a:prstGeom>
          <a:noFill/>
        </p:spPr>
        <p:txBody>
          <a:bodyPr wrap="square" lIns="18288" tIns="18288" rIns="18288" bIns="18288">
            <a:spAutoFit/>
          </a:bodyPr>
          <a:lstStyle/>
          <a:p>
            <a:r>
              <a:rPr lang="en-US" dirty="0"/>
              <a:t>For each item: what model does this representation appear to express, what claim does it make, and what remains ambiguous?</a:t>
            </a:r>
            <a:endParaRPr sz="1800" b="0" dirty="0">
              <a:solidFill>
                <a:srgbClr val="555960"/>
              </a:solidFill>
            </a:endParaRPr>
          </a:p>
        </p:txBody>
      </p:sp>
      <p:sp>
        <p:nvSpPr>
          <p:cNvPr id="6" name="TextBox 5"/>
          <p:cNvSpPr txBox="1"/>
          <p:nvPr/>
        </p:nvSpPr>
        <p:spPr>
          <a:xfrm>
            <a:off x="365760" y="1645920"/>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ONE DRAWING, TWO SEMANTICS</a:t>
            </a:r>
          </a:p>
        </p:txBody>
      </p:sp>
      <p:sp>
        <p:nvSpPr>
          <p:cNvPr id="7" name="Rectangle 6"/>
          <p:cNvSpPr/>
          <p:nvPr/>
        </p:nvSpPr>
        <p:spPr>
          <a:xfrm>
            <a:off x="365760" y="2048256"/>
            <a:ext cx="6080760" cy="1755648"/>
          </a:xfrm>
          <a:prstGeom prst="rect">
            <a:avLst/>
          </a:prstGeom>
          <a:solidFill>
            <a:srgbClr val="F5F1E8"/>
          </a:solidFill>
          <a:ln w="12700">
            <a:solidFill>
              <a:srgbClr val="C9B991"/>
            </a:solidFill>
          </a:ln>
        </p:spPr>
        <p:txBody>
          <a:bodyPr wrap="square" lIns="128016" tIns="91440" rIns="118872" bIns="91440" rtlCol="0" anchor="ctr"/>
          <a:lstStyle/>
          <a:p>
            <a:endParaRPr lang="en-US"/>
          </a:p>
        </p:txBody>
      </p:sp>
      <p:sp>
        <p:nvSpPr>
          <p:cNvPr id="16" name="C1"/>
          <p:cNvSpPr/>
          <p:nvPr/>
        </p:nvSpPr>
        <p:spPr>
          <a:xfrm>
            <a:off x="626140" y="2276856"/>
            <a:ext cx="2680000" cy="1300000"/>
          </a:xfrm>
          <a:prstGeom prst="rect">
            <a:avLst/>
          </a:prstGeom>
          <a:solidFill>
            <a:srgbClr val="FFFFFF"/>
          </a:solidFill>
          <a:ln w="12700">
            <a:solidFill>
              <a:srgbClr val="C9B991"/>
            </a:solidFill>
          </a:ln>
        </p:spPr>
        <p:txBody>
          <a:bodyPr wrap="square" lIns="68580" tIns="68580" rIns="68580" bIns="68580" anchor="t"/>
          <a:lstStyle/>
          <a:p>
            <a:pPr algn="ctr">
              <a:spcAft>
                <a:spcPts val="600"/>
              </a:spcAft>
              <a:buNone/>
            </a:pPr>
            <a:r>
              <a:rPr lang="en-US" sz="2400" b="1" dirty="0">
                <a:solidFill>
                  <a:srgbClr val="5C4826"/>
                </a:solidFill>
              </a:rPr>
              <a:t>A → B</a:t>
            </a:r>
          </a:p>
          <a:p>
            <a:pPr algn="ctr">
              <a:spcAft>
                <a:spcPts val="200"/>
              </a:spcAft>
              <a:buNone/>
            </a:pPr>
            <a:r>
              <a:rPr lang="en-US" sz="1400" b="0" i="1" dirty="0">
                <a:solidFill>
                  <a:srgbClr val="555960"/>
                </a:solidFill>
              </a:rPr>
              <a:t>the arrow means: A may call B</a:t>
            </a:r>
          </a:p>
          <a:p>
            <a:pPr algn="ctr">
              <a:spcAft>
                <a:spcPts val="0"/>
              </a:spcAft>
              <a:buNone/>
            </a:pPr>
            <a:r>
              <a:rPr lang="en-US" sz="1400" b="0" dirty="0">
                <a:solidFill>
                  <a:srgbClr val="555960"/>
                </a:solidFill>
              </a:rPr>
              <a:t>(a design decision)</a:t>
            </a:r>
          </a:p>
        </p:txBody>
      </p:sp>
      <p:sp>
        <p:nvSpPr>
          <p:cNvPr id="17" name="C2"/>
          <p:cNvSpPr/>
          <p:nvPr/>
        </p:nvSpPr>
        <p:spPr>
          <a:xfrm>
            <a:off x="3506140" y="2276856"/>
            <a:ext cx="2680000" cy="1300000"/>
          </a:xfrm>
          <a:prstGeom prst="rect">
            <a:avLst/>
          </a:prstGeom>
          <a:solidFill>
            <a:srgbClr val="FFFFFF"/>
          </a:solidFill>
          <a:ln w="12700">
            <a:solidFill>
              <a:srgbClr val="C9B991"/>
            </a:solidFill>
          </a:ln>
        </p:spPr>
        <p:txBody>
          <a:bodyPr wrap="square" lIns="68580" tIns="68580" rIns="68580" bIns="68580" anchor="t"/>
          <a:lstStyle/>
          <a:p>
            <a:pPr algn="ctr">
              <a:spcAft>
                <a:spcPts val="600"/>
              </a:spcAft>
              <a:buNone/>
            </a:pPr>
            <a:r>
              <a:rPr lang="en-US" sz="2400" b="1" dirty="0">
                <a:solidFill>
                  <a:srgbClr val="5C4826"/>
                </a:solidFill>
              </a:rPr>
              <a:t>A → B</a:t>
            </a:r>
          </a:p>
          <a:p>
            <a:pPr algn="ctr">
              <a:spcAft>
                <a:spcPts val="200"/>
              </a:spcAft>
              <a:buNone/>
            </a:pPr>
            <a:r>
              <a:rPr lang="en-US" sz="1400" b="0" i="1" dirty="0">
                <a:solidFill>
                  <a:srgbClr val="555960"/>
                </a:solidFill>
              </a:rPr>
              <a:t>the arrow means: A was observed calling B</a:t>
            </a:r>
          </a:p>
          <a:p>
            <a:pPr algn="ctr">
              <a:spcAft>
                <a:spcPts val="0"/>
              </a:spcAft>
              <a:buNone/>
            </a:pPr>
            <a:r>
              <a:rPr lang="en-US" sz="1400" b="0" dirty="0">
                <a:solidFill>
                  <a:srgbClr val="555960"/>
                </a:solidFill>
              </a:rPr>
              <a:t>(a runtime observation)</a:t>
            </a:r>
          </a:p>
        </p:txBody>
      </p:sp>
      <p:sp>
        <p:nvSpPr>
          <p:cNvPr id="8" name="TextBox 7"/>
          <p:cNvSpPr txBox="1"/>
          <p:nvPr/>
        </p:nvSpPr>
        <p:spPr>
          <a:xfrm>
            <a:off x="365760" y="3895344"/>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TWO REPRESENTATIONS, ONE INTENDED MODEL</a:t>
            </a:r>
          </a:p>
        </p:txBody>
      </p:sp>
      <p:sp>
        <p:nvSpPr>
          <p:cNvPr id="9" name="Rectangle 8"/>
          <p:cNvSpPr/>
          <p:nvPr/>
        </p:nvSpPr>
        <p:spPr>
          <a:xfrm>
            <a:off x="365760" y="4306824"/>
            <a:ext cx="6080760" cy="1389888"/>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You also receive two different representations intended to express the same model.</a:t>
            </a:r>
          </a:p>
          <a:p>
            <a:pPr algn="l">
              <a:spcAft>
                <a:spcPts val="0"/>
              </a:spcAft>
              <a:buNone/>
            </a:pPr>
            <a:r>
              <a:rPr lang="en-US" sz="1800" b="0" dirty="0">
                <a:solidFill>
                  <a:srgbClr val="5C4826"/>
                </a:solidFill>
              </a:rPr>
              <a:t>Do they? What claim survives in both? What remains ambiguous in each?</a:t>
            </a:r>
          </a:p>
        </p:txBody>
      </p:sp>
      <p:sp>
        <p:nvSpPr>
          <p:cNvPr id="15" name="QRPlaceholder" descr="Dashed outline marking the slot where the activity's QR code will go."/>
          <p:cNvSpPr/>
          <p:nvPr/>
        </p:nvSpPr>
        <p:spPr>
          <a:xfrm>
            <a:off x="6605016" y="1891094"/>
            <a:ext cx="2264664" cy="2264664"/>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Activity QR</a:t>
            </a:r>
          </a:p>
        </p:txBody>
      </p:sp>
      <p:grpSp>
        <p:nvGrpSpPr>
          <p:cNvPr id="18" name="QRVoidMark" descr="A large red X across the slot: the activity QR code has not been added yet."/>
          <p:cNvGrpSpPr/>
          <p:nvPr/>
        </p:nvGrpSpPr>
        <p:grpSpPr>
          <a:xfrm>
            <a:off x="6763542" y="2049620"/>
            <a:ext cx="1947612" cy="1947612"/>
            <a:chOff x="6763542" y="2049620"/>
            <a:chExt cx="1947612" cy="1947612"/>
          </a:xfrm>
        </p:grpSpPr>
        <p:cxnSp>
          <p:nvCxnSpPr>
            <p:cNvPr id="19" name="QRVoidStrokeTLBR"/>
            <p:cNvCxnSpPr/>
            <p:nvPr/>
          </p:nvCxnSpPr>
          <p:spPr>
            <a:xfrm>
              <a:off x="6763542" y="2049620"/>
              <a:ext cx="1947612" cy="1947612"/>
            </a:xfrm>
            <a:prstGeom prst="straightConnector1">
              <a:avLst/>
            </a:prstGeom>
            <a:ln w="101600" cap="rnd">
              <a:solidFill>
                <a:srgbClr val="C00000"/>
              </a:solidFill>
              <a:round/>
            </a:ln>
          </p:spPr>
        </p:cxnSp>
        <p:cxnSp>
          <p:nvCxnSpPr>
            <p:cNvPr id="20" name="QRVoidStrokeTRBL"/>
            <p:cNvCxnSpPr/>
            <p:nvPr/>
          </p:nvCxnSpPr>
          <p:spPr>
            <a:xfrm flipH="1">
              <a:off x="6763542" y="2049620"/>
              <a:ext cx="1947612" cy="1947612"/>
            </a:xfrm>
            <a:prstGeom prst="straightConnector1">
              <a:avLst/>
            </a:prstGeom>
            <a:ln w="101600" cap="rnd">
              <a:solidFill>
                <a:srgbClr val="C00000"/>
              </a:solidFill>
              <a:round/>
            </a:ln>
          </p:spPr>
        </p:cxnSp>
      </p:grpSp>
      <p:sp>
        <p:nvSpPr>
          <p:cNvPr id="12" name="TextBox 11"/>
          <p:cNvSpPr txBox="1"/>
          <p:nvPr/>
        </p:nvSpPr>
        <p:spPr>
          <a:xfrm>
            <a:off x="6743700" y="4389989"/>
            <a:ext cx="1984248" cy="685800"/>
          </a:xfrm>
          <a:prstGeom prst="rect">
            <a:avLst/>
          </a:prstGeom>
          <a:noFill/>
        </p:spPr>
        <p:txBody>
          <a:bodyPr wrap="square" lIns="18288" tIns="18288" rIns="18288" bIns="18288">
            <a:spAutoFit/>
          </a:bodyPr>
          <a:lstStyle/>
          <a:p>
            <a:pPr algn="ctr">
              <a:spcAft>
                <a:spcPts val="0"/>
              </a:spcAft>
            </a:pPr>
            <a:r>
              <a:rPr sz="1600" b="0" dirty="0">
                <a:solidFill>
                  <a:srgbClr val="555960"/>
                </a:solidFill>
              </a:rPr>
              <a:t>Team response</a:t>
            </a:r>
          </a:p>
          <a:p>
            <a:pPr algn="ctr">
              <a:spcAft>
                <a:spcPts val="0"/>
              </a:spcAft>
            </a:pPr>
            <a:r>
              <a:rPr sz="1600" b="0" dirty="0">
                <a:solidFill>
                  <a:srgbClr val="555960"/>
                </a:solidFill>
              </a:rPr>
              <a:t>Google Form</a:t>
            </a:r>
          </a:p>
        </p:txBody>
      </p:sp>
      <p:sp>
        <p:nvSpPr>
          <p:cNvPr id="13" name="FooterBand"/>
          <p:cNvSpPr/>
          <p:nvPr/>
        </p:nvSpPr>
        <p:spPr>
          <a:xfrm>
            <a:off x="274320" y="5852160"/>
            <a:ext cx="8595360" cy="566928"/>
          </a:xfrm>
          <a:prstGeom prst="rect">
            <a:avLst/>
          </a:prstGeom>
          <a:solidFill>
            <a:srgbClr val="8E6F3E"/>
          </a:solidFill>
          <a:ln>
            <a:no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r>
              <a:rPr lang="en-US" sz="2000" b="1" dirty="0">
                <a:solidFill>
                  <a:srgbClr val="FFFFFF"/>
                </a:solidFill>
              </a:rPr>
              <a:t>Discuss each item. Then submit one response per team.</a:t>
            </a:r>
          </a:p>
        </p:txBody>
      </p:sp>
      <p:sp>
        <p:nvSpPr>
          <p:cNvPr id="14"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9 MINUTES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b="1" dirty="0"/>
              <a:t>Top-down:</a:t>
            </a:r>
            <a:r>
              <a:rPr lang="en-US" dirty="0"/>
              <a:t xml:space="preserve"> what must I preserve to answer the engineering question?</a:t>
            </a:r>
          </a:p>
          <a:p>
            <a:r>
              <a:rPr lang="en-US" b="1" dirty="0"/>
              <a:t>Bottom-up:</a:t>
            </a:r>
            <a:r>
              <a:rPr lang="en-US" dirty="0"/>
              <a:t xml:space="preserve"> why am I carrying each distinction that remains?</a:t>
            </a:r>
          </a:p>
        </p:txBody>
      </p:sp>
      <p:sp>
        <p:nvSpPr>
          <p:cNvPr id="3" name="Title 2"/>
          <p:cNvSpPr>
            <a:spLocks noGrp="1"/>
          </p:cNvSpPr>
          <p:nvPr>
            <p:ph type="title"/>
          </p:nvPr>
        </p:nvSpPr>
        <p:spPr/>
        <p:txBody>
          <a:bodyPr>
            <a:normAutofit fontScale="90000"/>
          </a:bodyPr>
          <a:lstStyle/>
          <a:p>
            <a:r>
              <a:rPr lang="en-US" dirty="0"/>
              <a:t>A good model is not a small copy of the system</a:t>
            </a:r>
          </a:p>
        </p:txBody>
      </p:sp>
      <p:sp>
        <p:nvSpPr>
          <p:cNvPr id="4"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5" name="QRPlaceholder" descr="Dashed outline marking the slot where the feedback form's QR code will go."/>
          <p:cNvSpPr/>
          <p:nvPr/>
        </p:nvSpPr>
        <p:spPr>
          <a:xfrm>
            <a:off x="3441192" y="2743200"/>
            <a:ext cx="2261616" cy="2261616"/>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Feedback QR</a:t>
            </a:r>
          </a:p>
        </p:txBody>
      </p:sp>
      <p:grpSp>
        <p:nvGrpSpPr>
          <p:cNvPr id="152" name="QRVoidMark" descr="A large red X across the slot: the feedback form QR code has not been added yet."/>
          <p:cNvGrpSpPr/>
          <p:nvPr/>
        </p:nvGrpSpPr>
        <p:grpSpPr>
          <a:xfrm>
            <a:off x="3599505" y="2901513"/>
            <a:ext cx="1944990" cy="1944990"/>
            <a:chOff x="3599505" y="2901513"/>
            <a:chExt cx="1944990" cy="1944990"/>
          </a:xfrm>
        </p:grpSpPr>
        <p:cxnSp>
          <p:nvCxnSpPr>
            <p:cNvPr id="153" name="QRVoidStrokeTLBR"/>
            <p:cNvCxnSpPr/>
            <p:nvPr/>
          </p:nvCxnSpPr>
          <p:spPr>
            <a:xfrm>
              <a:off x="3599505" y="2901513"/>
              <a:ext cx="1944990" cy="1944990"/>
            </a:xfrm>
            <a:prstGeom prst="straightConnector1">
              <a:avLst/>
            </a:prstGeom>
            <a:ln w="101600" cap="rnd">
              <a:solidFill>
                <a:srgbClr val="C00000"/>
              </a:solidFill>
              <a:round/>
            </a:ln>
          </p:spPr>
        </p:cxnSp>
        <p:cxnSp>
          <p:nvCxnSpPr>
            <p:cNvPr id="154" name="QRVoidStrokeTRBL"/>
            <p:cNvCxnSpPr/>
            <p:nvPr/>
          </p:nvCxnSpPr>
          <p:spPr>
            <a:xfrm flipH="1">
              <a:off x="3599505" y="2901513"/>
              <a:ext cx="1944990" cy="1944990"/>
            </a:xfrm>
            <a:prstGeom prst="straightConnector1">
              <a:avLst/>
            </a:prstGeom>
            <a:ln w="101600" cap="rnd">
              <a:solidFill>
                <a:srgbClr val="C00000"/>
              </a:solidFill>
              <a:round/>
            </a:ln>
          </p:spPr>
        </p:cxnSp>
      </p:grpSp>
      <p:sp>
        <p:nvSpPr>
          <p:cNvPr id="150" name="Ital"/>
          <p:cNvSpPr txBox="1"/>
          <p:nvPr/>
        </p:nvSpPr>
        <p:spPr>
          <a:xfrm>
            <a:off x="365760" y="2103120"/>
            <a:ext cx="8412480" cy="330000"/>
          </a:xfrm>
          <a:prstGeom prst="rect">
            <a:avLst/>
          </a:prstGeom>
          <a:noFill/>
          <a:ln>
            <a:noFill/>
          </a:ln>
        </p:spPr>
        <p:txBody>
          <a:bodyPr wrap="square" lIns="0" tIns="0" rIns="0" bIns="0" anchor="t"/>
          <a:lstStyle/>
          <a:p>
            <a:pPr algn="ctr">
              <a:buNone/>
            </a:pPr>
            <a:r>
              <a:rPr lang="en-US" sz="1700" b="0" i="1" dirty="0">
                <a:solidFill>
                  <a:srgbClr val="555960"/>
                </a:solidFill>
              </a:rPr>
              <a:t>Different questions produce different purposeful reductions of the same territory.</a:t>
            </a:r>
          </a:p>
        </p:txBody>
      </p:sp>
      <p:sp>
        <p:nvSpPr>
          <p:cNvPr id="151" name="Teaser"/>
          <p:cNvSpPr txBox="1"/>
          <p:nvPr/>
        </p:nvSpPr>
        <p:spPr>
          <a:xfrm>
            <a:off x="365760" y="5715000"/>
            <a:ext cx="8412480" cy="585216"/>
          </a:xfrm>
          <a:prstGeom prst="rect">
            <a:avLst/>
          </a:prstGeom>
          <a:noFill/>
        </p:spPr>
        <p:txBody>
          <a:bodyPr wrap="square" lIns="18288" tIns="18288" rIns="18288" bIns="18288">
            <a:spAutoFit/>
          </a:bodyPr>
          <a:lstStyle/>
          <a:p>
            <a:pPr algn="ctr">
              <a:buNone/>
            </a:pPr>
            <a:r>
              <a:rPr lang="en-US" sz="1800" b="1" dirty="0">
                <a:solidFill>
                  <a:srgbClr val="5C4826"/>
                </a:solidFill>
              </a:rPr>
              <a:t xml:space="preserve">Tomorrow: </a:t>
            </a:r>
            <a:r>
              <a:rPr lang="en-US" sz="1800" b="0" i="1" dirty="0">
                <a:solidFill>
                  <a:srgbClr val="555960"/>
                </a:solidFill>
              </a:rPr>
              <a:t>one model can be useful. How do many models remain trustworthy together?</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xml:space="preserve">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2"/>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2"/>
          <a:stretch>
            <a:fillRect/>
          </a:stretch>
        </p:blipFill>
        <p:spPr>
          <a:xfrm>
            <a:off x="274320" y="1795827"/>
            <a:ext cx="8595360" cy="3875945"/>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2"/>
          <a:stretch>
            <a:fillRect/>
          </a:stretch>
        </p:blipFill>
        <p:spPr>
          <a:xfrm>
            <a:off x="1016212" y="1341120"/>
            <a:ext cx="7111577" cy="478536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this thing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2"/>
          <a:stretch>
            <a:fillRect/>
          </a:stretch>
        </p:blipFill>
        <p:spPr>
          <a:xfrm>
            <a:off x="274320" y="1714062"/>
            <a:ext cx="8595360" cy="4039475"/>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2"/>
          <a:stretch>
            <a:fillRect/>
          </a:stretch>
        </p:blipFill>
        <p:spPr>
          <a:xfrm>
            <a:off x="1777275" y="1341120"/>
            <a:ext cx="5589450" cy="4785360"/>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2"/>
          <a:stretch>
            <a:fillRect/>
          </a:stretch>
        </p:blipFill>
        <p:spPr>
          <a:xfrm>
            <a:off x="1533226" y="1341120"/>
            <a:ext cx="6077549" cy="4785360"/>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pic>
        <p:nvPicPr>
          <p:cNvPr id="60" name="ThumbFigure" descr="Five models of one course-registration system shown together: the class diagram, the sequence diagram, the state machine, the activity diagram and the use-case diagram, each captioned with the question it answers."/>
          <p:cNvPicPr>
            <a:picLocks noChangeAspect="1"/>
          </p:cNvPicPr>
          <p:nvPr/>
        </p:nvPicPr>
        <p:blipFill>
          <a:blip r:embed="rId2"/>
          <a:stretch>
            <a:fillRect/>
          </a:stretch>
        </p:blipFill>
        <p:spPr>
          <a:xfrm>
            <a:off x="1349594" y="1341120"/>
            <a:ext cx="6444813" cy="4373880"/>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a living practice</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An engineering practice with living tools, decades older than the agents.</a:t>
            </a:r>
          </a:p>
        </p:txBody>
      </p:sp>
      <p:pic>
        <p:nvPicPr>
          <p:cNvPr id="60" name="BesserFigure" descr="A screenshot of the BESSER documentation site. The page reads: build software from a model — draw your system in the browser or define it in Python, then generate the code for your application."/>
          <p:cNvPicPr>
            <a:picLocks noChangeAspect="1"/>
          </p:cNvPicPr>
          <p:nvPr/>
        </p:nvPicPr>
        <p:blipFill>
          <a:blip r:embed="rId2"/>
          <a:stretch>
            <a:fillRect/>
          </a:stretch>
        </p:blipFill>
        <p:spPr>
          <a:xfrm>
            <a:off x="274320" y="1454369"/>
            <a:ext cx="8595360" cy="3507302"/>
          </a:xfrm>
          <a:prstGeom prst="rect">
            <a:avLst/>
          </a:prstGeom>
          <a:ln w="12700">
            <a:solidFill>
              <a:srgbClr val="C9B991"/>
            </a:solidFill>
          </a:ln>
        </p:spPr>
      </p:pic>
      <p:sp>
        <p:nvSpPr>
          <p:cNvPr id="70" name="Src"/>
          <p:cNvSpPr txBox="1"/>
          <p:nvPr/>
        </p:nvSpPr>
        <p:spPr>
          <a:xfrm>
            <a:off x="274320" y="5151120"/>
            <a:ext cx="8595360" cy="274320"/>
          </a:xfrm>
          <a:prstGeom prst="rect">
            <a:avLst/>
          </a:prstGeom>
          <a:noFill/>
          <a:ln>
            <a:noFill/>
          </a:ln>
        </p:spPr>
        <p:txBody>
          <a:bodyPr wrap="square" lIns="0" tIns="0" rIns="0" bIns="0" anchor="t"/>
          <a:lstStyle/>
          <a:p>
            <a:pPr algn="ctr">
              <a:spcAft>
                <a:spcPts val="0"/>
              </a:spcAft>
              <a:buNone/>
            </a:pPr>
            <a:r>
              <a:rPr lang="en-US" sz="1400" b="0" i="0" dirty="0">
                <a:solidFill>
                  <a:srgbClr val="555960"/>
                </a:solidFill>
              </a:rPr>
              <a:t>BESSER — BESSER-PEARL (Jordi Cabot's group), MIT licence · github.com/BESSER-PEARL/BESSER</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forms already exist. Select before you invent.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4329</Words>
  <Application>Microsoft Macintosh PowerPoint</Application>
  <PresentationFormat>On-screen Show (4:3)</PresentationFormat>
  <Paragraphs>494</Paragraphs>
  <Slides>32</Slides>
  <Notes>32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32</vt:i4>
      </vt:variant>
    </vt:vector>
  </HeadingPairs>
  <TitlesOfParts>
    <vt:vector size="36" baseType="lpstr">
      <vt:lpstr>Arial</vt:lpstr>
      <vt:lpstr>Calibri</vt:lpstr>
      <vt:lpstr>Times</vt:lpstr>
      <vt:lpstr>Purdue1</vt:lpstr>
      <vt:lpstr>PowerPoint Presentation</vt:lpstr>
      <vt:lpstr>Delegation leaves an information problem</vt:lpstr>
      <vt:lpstr>A model is useful because it leaves things out</vt:lpstr>
      <vt:lpstr>…and makes explicit what must remain</vt:lpstr>
      <vt:lpstr>Modeling is purposeful reduction</vt:lpstr>
      <vt:lpstr>QUESTIONS COME FIRST</vt:lpstr>
      <vt:lpstr>One territory, three questions</vt:lpstr>
      <vt:lpstr>No model is simply “the system”</vt:lpstr>
      <vt:lpstr>Four questions for every model</vt:lpstr>
      <vt:lpstr>Engineers have seen these questions before</vt:lpstr>
      <vt:lpstr>Select before you invent</vt:lpstr>
      <vt:lpstr>UML is a repertoire, not the theory of Modeling</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THE EVIDENCE</vt:lpstr>
      <vt:lpstr>Too much reduction loses the obligation</vt:lpstr>
      <vt:lpstr>Good reduction leaves implementation free</vt:lpstr>
      <vt:lpstr>The evidence, side by side</vt:lpstr>
      <vt:lpstr>Obligation and specification are different boundaries</vt:lpstr>
      <vt:lpstr>Capability can reduce scaffolding</vt:lpstr>
      <vt:lpstr>Capability cannot reduce what must be true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405</cp:revision>
  <dcterms:created xsi:type="dcterms:W3CDTF">2020-02-21T23:00:33Z</dcterms:created>
  <dcterms:modified xsi:type="dcterms:W3CDTF">2026-09-30T14:47:15Z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