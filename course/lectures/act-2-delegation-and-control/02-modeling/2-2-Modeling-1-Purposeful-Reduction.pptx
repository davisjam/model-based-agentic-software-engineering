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2.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2.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slides/slide36.xml" ContentType="application/vnd.openxmlformats-officedocument.presentationml.slide+xml"/>
  <Override PartName="/ppt/notesSlides/notesSlide36.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7"/>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44"/>
    <p:sldId id="295" r:id="rId45"/>
    <p:sldId id="296" r:id="rId46"/>
    <p:sldId id="292" r:id="rId42"/>
    <p:sldId id="297" r:id="rId47"/>
    <p:sldId id="269" r:id="rId16"/>
    <p:sldId id="298" r:id="rId48"/>
    <p:sldId id="272" r:id="rId19"/>
    <p:sldId id="270" r:id="rId17"/>
    <p:sldId id="273" r:id="rId20"/>
    <p:sldId id="276" r:id="rId26"/>
    <p:sldId id="277" r:id="rId27"/>
    <p:sldId id="278" r:id="rId28"/>
    <p:sldId id="268" r:id="rId15"/>
    <p:sldId id="284" r:id="rId32"/>
    <p:sldId id="299" r:id="rId49"/>
    <p:sldId id="300" r:id="rId50"/>
    <p:sldId id="301" r:id="rId51"/>
    <p:sldId id="302" r:id="rId52"/>
    <p:sldId id="280" r:id="rId23"/>
    <p:sldId id="303" r:id="rId53"/>
    <p:sldId id="304" r:id="rId5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6614" autoAdjust="0"/>
    <p:restoredTop sz="56164"/>
  </p:normalViewPr>
  <p:slideViewPr>
    <p:cSldViewPr snapToGrid="0" snapToObjects="1">
      <p:cViewPr>
        <p:scale>
          <a:sx n="52" d="100"/>
          <a:sy n="52" d="100"/>
        </p:scale>
        <p:origin x="3392" y="432"/>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26" Type="http://schemas.openxmlformats.org/officeDocument/2006/relationships/slide" Target="slides/slide25.xml"/><Relationship Id="rId39"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27" Type="http://schemas.openxmlformats.org/officeDocument/2006/relationships/slide" Target="slides/slide26.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8" Type="http://schemas.openxmlformats.org/officeDocument/2006/relationships/presProps" Target="presProps.xml"/><Relationship Id="rId42" Type="http://schemas.openxmlformats.org/officeDocument/2006/relationships/slide" Target="slides/slide36.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9/30/26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6.xml.rels><?xml version="1.0" encoding="UTF-8"?><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definition.</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timing, state,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2's obligation argument.</a:t>
            </a:r>
          </a:p>
          <a:p>
            <a:r>
              <a:rPr lang="en-US" dirty="0"/>
              <a:t>The revise edge back to Draft is what makes this a machine rather than a pipeline. Point at it for one second.</a:t>
            </a:r>
          </a:p>
          <a:p>
            <a:r>
              <a:rPr lang="en-US" dirty="0"/>
              <a:t>BUILD NOTE, not spoken: this exact artwork returns in Section 3 as the one-model-many-implementations anchor.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and thermal model arrive in Section 2,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NOW the definition, and notice what just changed about it. It is no longer an assertion the students have to accept on faith — it is an explanation of five things they just watched. Every one of those diagrams left out almost everything, and every one of them was useful.</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tour earned both.</a:t>
            </a:r>
          </a:p>
          <a:p>
            <a:r>
              <a:rPr lang="en-US" dirty="0"/>
              <a:t>Say the strip line aloud once, here, because this is where the four questions are introduced and they return at every section break from now on: engineering question, model, property, quality.</a:t>
            </a:r>
          </a:p>
          <a:p>
            <a:r>
              <a:rPr lang="en-US" dirty="0"/>
              <a:t>A line worth keeping in your pocket if the room needs it: a reduction you can hold in view beats a faithful copy too large to reason through.</a:t>
            </a:r>
          </a:p>
          <a:p>
            <a:r>
              <a:rPr lang="en-US" dirty="0"/>
              <a:t>About two minutes. This slide closes Section 1 and hands off to Section 2, which stops asking WHAT models look like and starts asking how an engineer DECIDES what belongs in one.</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stage highlighted, stage 2 of the four-question discipline.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The PROPERTY beat of the spine happens here - point at it. Same property, same notation, as the previous slide's rail.</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CLICK 1 — the two boundaries. The obligation boundary encloses what must be true. The specification boundary encloses what we actually write down. Between them sits the scaffolding: what this particular agent needs to interpret and realize the obligation reliably — examples, decomposition, intermediate structure. Outside the specification boundary, degrees of freedom, left to the realization.</a:t>
            </a:r>
          </a:p>
          <a:p>
            <a:r>
              <a:rPr dirty="0"/>
              <a:t>CLICK 2 — parsimony restated for delegation: how little must we specify while still preserving the obligation and still enabling THIS agent to realize it? A more capable agent needs fewer examples, less decomposition, less intermediate structure, so the dashed boundary moves toward the obligation.</a:t>
            </a:r>
          </a:p>
          <a:p>
            <a:r>
              <a:rPr dirty="0"/>
              <a:t>Watch what did NOT move: the core. That is “Capability can reduce scaffolding”.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Post-Reduce placement; also the natural re-entry point if Reduce ran long.</a:t>
            </a:r>
          </a:p>
          <a:p>
            <a:r>
              <a:rPr dirty="0"/>
              <a:t>[ASSUMPTION per plan §8.4: the content brief never mentions a stretch break; one per deck recommended, placed after the mid-lecture activity.]</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N1: “Good engineers reuse wherever appropriate”. Content and speaker notes owed by U-6 per restructure plan v2 §2.</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[PRODUCTION — not for delivery] Spine strip: the PROPERTY stage is highlighted, and Correspondence highlights PROPERTY too, so the strip does not advance monotonically across the four section headers. Open question Q-E; the tail reconciliation unit owns the ruling.</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N8: “The cost discussion”. Content and speaker notes owed by U-7 per restructure plan v2 §2.</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C1: “How cheap can we make the implementer?”. Content and speaker notes owed by U-C1 per restructure plan v2 §2.</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C2: “But this is weird”. Content and speaker notes owed by U-C1 per restructure plan v2 §2.</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C3: “GenAI changes the economics of delegation”. Content and speaker notes owed by U-C1 per restructure plan v2 §2.</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C5: “What if the agent keeps choosing badly?”. Content and speaker notes owed by U-C2 per restructure plan v2 §2.</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PLACEHOLDER — skeleton only (U-1′). C6: “How much should we specify?”. Content and speaker notes owed by U-C2 per restructure plan v2 §2.</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 Id="rId3"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40.xml.rels><?xml version="1.0" encoding="UTF-8" standalone="yes"?><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6.png"/></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fontScale="90000"/>
          </a:bodyPr>
          <a:lstStyle/>
          <a:p>
            <a:pPr>
              <a:buNone/>
              <a:defRPr b="0"/>
            </a:pPr>
            <a:r>
              <a:rPr lang="en-US" sz="2400" b="0" i="0" dirty="0">
                <a:solidFill>
                  <a:srgbClr val="000000"/>
                </a:solidFill>
              </a:rPr>
              <a:t>The agent works inside an engineered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6263640" y="3406140"/>
            <a:ext cx="822960" cy="64008"/>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production equation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one attempt produces an acceptable candidate</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99"/>
                                        </p:tgtEl>
                                        <p:attrNameLst>
                                          <p:attrName>style.visibility</p:attrName>
                                        </p:attrNameLst>
                                      </p:cBhvr>
                                      <p:to>
                                        <p:strVal val="visible"/>
                                      </p:to>
                                    </p:set>
                                    <p:animEffect transition="in" filter="fade">
                                      <p:cBhvr>
                                        <p:cTn id="10"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SEE THE MODELS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One territory. Five engineering questions.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8E6F3E"/>
          </a:solidFill>
          <a:ln>
            <a:noFill/>
          </a:ln>
        </p:spPr>
        <p:txBody>
          <a:bodyPr wrap="square" lIns="27432" tIns="0" rIns="27432" bIns="68580" anchor="ctr"/>
          <a:lstStyle/>
          <a:p>
            <a:pPr algn="ctr">
              <a:buNone/>
            </a:pPr>
            <a:r>
              <a:rPr lang="en-US" sz="1800" b="1" i="0" dirty="0">
                <a:solidFill>
                  <a:srgbClr val="FFFFFF"/>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THE PREMISE</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Ask all four, every time — they return at every section break.</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the obligation decides what must remain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120640"/>
            <a:ext cx="7772400" cy="36576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Degrees of freedom are known freedom, not ignorance.</a:t>
            </a:r>
          </a:p>
        </p:txBody>
      </p:sp>
      <p:sp>
        <p:nvSpPr>
          <p:cNvPr id="131"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Ask of every model: what must it preserve?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Top-down: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Obligation and specification are different boundaries</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6"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HOW MUCH MUST WE SAY?</a:t>
            </a:r>
          </a:p>
        </p:txBody>
      </p:sp>
      <p:sp>
        <p:nvSpPr>
          <p:cNvPr id="10" name="DOF1"/>
          <p:cNvSpPr/>
          <p:nvPr/>
        </p:nvSpPr>
        <p:spPr>
          <a:xfrm>
            <a:off x="502920" y="1737360"/>
            <a:ext cx="5029200" cy="31089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1" name="Scaf1"/>
          <p:cNvSpPr/>
          <p:nvPr/>
        </p:nvSpPr>
        <p:spPr>
          <a:xfrm>
            <a:off x="777240" y="1943100"/>
            <a:ext cx="4480560" cy="2697480"/>
          </a:xfrm>
          <a:prstGeom prst="rect">
            <a:avLst/>
          </a:prstGeom>
          <a:solidFill>
            <a:srgbClr val="C9B991"/>
          </a:solidFill>
          <a:ln w="28575">
            <a:solidFill>
              <a:srgbClr val="8E6F3E"/>
            </a:solidFill>
          </a:ln>
        </p:spPr>
        <p:txBody>
          <a:bodyPr wrap="square" lIns="27432" tIns="22860" rIns="27432" bIns="22860" anchor="ctr"/>
          <a:lstStyle/>
          <a:p>
            <a:pPr>
              <a:buNone/>
            </a:pPr>
            <a:endParaRPr lang="en-US"/>
          </a:p>
        </p:txBody>
      </p:sp>
      <p:sp>
        <p:nvSpPr>
          <p:cNvPr id="12" name="Oblig1"/>
          <p:cNvSpPr/>
          <p:nvPr/>
        </p:nvSpPr>
        <p:spPr>
          <a:xfrm>
            <a:off x="1737360" y="2743200"/>
            <a:ext cx="2606040" cy="1005840"/>
          </a:xfrm>
          <a:prstGeom prst="rect">
            <a:avLst/>
          </a:prstGeom>
          <a:solidFill>
            <a:srgbClr val="5C4826"/>
          </a:solidFill>
          <a:ln>
            <a:noFill/>
          </a:ln>
        </p:spPr>
        <p:txBody>
          <a:bodyPr wrap="square" lIns="27432" tIns="22860" rIns="27432" bIns="22860" anchor="ctr"/>
          <a:lstStyle/>
          <a:p>
            <a:pPr algn="ctr">
              <a:spcAft>
                <a:spcPts val="400"/>
              </a:spcAft>
              <a:buNone/>
            </a:pPr>
            <a:r>
              <a:rPr lang="en-US" sz="1600" b="1" dirty="0">
                <a:solidFill>
                  <a:srgbClr val="FFFFFF"/>
                </a:solidFill>
              </a:rPr>
              <a:t>OBLIGATION</a:t>
            </a:r>
          </a:p>
          <a:p>
            <a:pPr algn="ctr">
              <a:spcAft>
                <a:spcPts val="0"/>
              </a:spcAft>
              <a:buNone/>
            </a:pPr>
            <a:r>
              <a:rPr lang="en-US" sz="1400" b="0" dirty="0">
                <a:solidFill>
                  <a:srgbClr val="FFFFFF"/>
                </a:solidFill>
              </a:rPr>
              <a:t>what must be true</a:t>
            </a:r>
          </a:p>
        </p:txBody>
      </p:sp>
      <p:sp>
        <p:nvSpPr>
          <p:cNvPr id="13" name="ScafL"/>
          <p:cNvSpPr txBox="1"/>
          <p:nvPr/>
        </p:nvSpPr>
        <p:spPr>
          <a:xfrm>
            <a:off x="1280160" y="3886200"/>
            <a:ext cx="3520440" cy="329184"/>
          </a:xfrm>
          <a:prstGeom prst="rect">
            <a:avLst/>
          </a:prstGeom>
          <a:noFill/>
          <a:ln>
            <a:noFill/>
          </a:ln>
        </p:spPr>
        <p:txBody>
          <a:bodyPr wrap="square" lIns="0" tIns="0" rIns="0" bIns="0" anchor="t"/>
          <a:lstStyle/>
          <a:p>
            <a:pPr algn="ctr">
              <a:spcAft>
                <a:spcPts val="0"/>
              </a:spcAft>
              <a:buNone/>
            </a:pPr>
            <a:r>
              <a:rPr lang="en-US" sz="1400" b="1" dirty="0">
                <a:solidFill>
                  <a:srgbClr val="5C4826"/>
                </a:solidFill>
              </a:rPr>
              <a:t>SCAFFOLDING — what this agent needs</a:t>
            </a:r>
          </a:p>
        </p:txBody>
      </p:sp>
      <p:sp>
        <p:nvSpPr>
          <p:cNvPr id="14" name="DofL"/>
          <p:cNvSpPr txBox="1"/>
          <p:nvPr/>
        </p:nvSpPr>
        <p:spPr>
          <a:xfrm>
            <a:off x="502920" y="4640580"/>
            <a:ext cx="5029200" cy="205740"/>
          </a:xfrm>
          <a:prstGeom prst="rect">
            <a:avLst/>
          </a:prstGeom>
          <a:noFill/>
          <a:ln>
            <a:noFill/>
          </a:ln>
        </p:spPr>
        <p:txBody>
          <a:bodyPr wrap="square" lIns="0" tIns="0" rIns="0" bIns="0" anchor="ctr"/>
          <a:lstStyle/>
          <a:p>
            <a:pPr algn="ctr">
              <a:spcAft>
                <a:spcPts val="0"/>
              </a:spcAft>
              <a:buNone/>
            </a:pPr>
            <a:r>
              <a:rPr lang="en-US" sz="1300" b="0" dirty="0">
                <a:solidFill>
                  <a:srgbClr val="555960"/>
                </a:solidFill>
              </a:rPr>
              <a:t>DEGREES OF FREEDOM — the rest is the agent’s</a:t>
            </a:r>
          </a:p>
        </p:txBody>
      </p:sp>
      <p:sp>
        <p:nvSpPr>
          <p:cNvPr id="15" name="SpLbl"/>
          <p:cNvSpPr txBox="1"/>
          <p:nvPr/>
        </p:nvSpPr>
        <p:spPr>
          <a:xfrm>
            <a:off x="5806440" y="20116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the edge of what we write down</a:t>
            </a:r>
          </a:p>
        </p:txBody>
      </p:sp>
      <p:cxnSp>
        <p:nvCxnSpPr>
          <p:cNvPr id="16" name="SpLd"/>
          <p:cNvCxnSpPr/>
          <p:nvPr/>
        </p:nvCxnSpPr>
        <p:spPr>
          <a:xfrm>
            <a:off x="5303520" y="2286000"/>
            <a:ext cx="365760" cy="0"/>
          </a:xfrm>
          <a:prstGeom prst="straightConnector1">
            <a:avLst/>
          </a:prstGeom>
          <a:ln w="19050">
            <a:solidFill>
              <a:srgbClr val="8E6F3E"/>
            </a:solidFill>
            <a:headEnd type="triangle" w="med" len="med"/>
          </a:ln>
        </p:spPr>
      </p:cxnSp>
      <p:sp>
        <p:nvSpPr>
          <p:cNvPr id="17" name="ObLbl"/>
          <p:cNvSpPr txBox="1"/>
          <p:nvPr/>
        </p:nvSpPr>
        <p:spPr>
          <a:xfrm>
            <a:off x="5806440" y="2926080"/>
            <a:ext cx="3017520" cy="548640"/>
          </a:xfrm>
          <a:prstGeom prst="rect">
            <a:avLst/>
          </a:prstGeom>
          <a:noFill/>
          <a:ln>
            <a:noFill/>
          </a:ln>
        </p:spPr>
        <p:txBody>
          <a:bodyPr wrap="square" lIns="0" tIns="0" rIns="0" bIns="0" anchor="t"/>
          <a:lstStyle/>
          <a:p>
            <a:pPr algn="l">
              <a:spcAft>
                <a:spcPts val="200"/>
              </a:spcAft>
              <a:buNone/>
            </a:pPr>
            <a:r>
              <a:rPr lang="en-US" sz="1500" b="1" dirty="0">
                <a:solidFill>
                  <a:srgbClr val="5C4826"/>
                </a:solidFill>
              </a:rPr>
              <a:t>obligation boundary</a:t>
            </a:r>
          </a:p>
          <a:p>
            <a:pPr algn="l">
              <a:spcAft>
                <a:spcPts val="0"/>
              </a:spcAft>
              <a:buNone/>
            </a:pPr>
            <a:r>
              <a:rPr lang="en-US" sz="1400" b="0" dirty="0">
                <a:solidFill>
                  <a:srgbClr val="555960"/>
                </a:solidFill>
              </a:rPr>
              <a:t>fixed by what must be true</a:t>
            </a:r>
          </a:p>
        </p:txBody>
      </p:sp>
      <p:cxnSp>
        <p:nvCxnSpPr>
          <p:cNvPr id="18" name="ObLd"/>
          <p:cNvCxnSpPr/>
          <p:nvPr/>
        </p:nvCxnSpPr>
        <p:spPr>
          <a:xfrm>
            <a:off x="4389120" y="3200400"/>
            <a:ext cx="1280160" cy="0"/>
          </a:xfrm>
          <a:prstGeom prst="straightConnector1">
            <a:avLst/>
          </a:prstGeom>
          <a:ln w="19050">
            <a:solidFill>
              <a:srgbClr val="5C4826"/>
            </a:solidFill>
            <a:headEnd type="triangle" w="med" len="med"/>
          </a:ln>
        </p:spPr>
      </p:cxnSp>
      <p:sp>
        <p:nvSpPr>
          <p:cNvPr id="20" name="Scaf2"/>
          <p:cNvSpPr/>
          <p:nvPr/>
        </p:nvSpPr>
        <p:spPr>
          <a:xfrm>
            <a:off x="1280160" y="2286000"/>
            <a:ext cx="3520440" cy="2011680"/>
          </a:xfrm>
          <a:prstGeom prst="rect">
            <a:avLst/>
          </a:prstGeom>
          <a:noFill/>
          <a:ln w="28575">
            <a:solidFill>
              <a:srgbClr val="8E6F3E"/>
            </a:solidFill>
            <a:prstDash val="dash"/>
          </a:ln>
        </p:spPr>
        <p:txBody>
          <a:bodyPr wrap="square" lIns="27432" tIns="22860" rIns="27432" bIns="22860" anchor="ctr"/>
          <a:lstStyle/>
          <a:p>
            <a:pPr>
              <a:buNone/>
            </a:pPr>
            <a:endParaRPr lang="en-US"/>
          </a:p>
        </p:txBody>
      </p:sp>
      <p:cxnSp>
        <p:nvCxnSpPr>
          <p:cNvPr id="21" name="MvA"/>
          <p:cNvCxnSpPr/>
          <p:nvPr/>
        </p:nvCxnSpPr>
        <p:spPr>
          <a:xfrm>
            <a:off x="4846320" y="3931920"/>
            <a:ext cx="822960" cy="0"/>
          </a:xfrm>
          <a:prstGeom prst="straightConnector1">
            <a:avLst/>
          </a:prstGeom>
          <a:ln w="28575">
            <a:solidFill>
              <a:srgbClr val="8E6F3E"/>
            </a:solidFill>
            <a:headEnd type="triangle" w="med" len="med"/>
          </a:ln>
        </p:spPr>
      </p:cxnSp>
      <p:sp>
        <p:nvSpPr>
          <p:cNvPr id="22" name="CapLbl"/>
          <p:cNvSpPr txBox="1"/>
          <p:nvPr/>
        </p:nvSpPr>
        <p:spPr>
          <a:xfrm>
            <a:off x="5806440" y="3657600"/>
            <a:ext cx="3017520" cy="868680"/>
          </a:xfrm>
          <a:prstGeom prst="rect">
            <a:avLst/>
          </a:prstGeom>
          <a:noFill/>
          <a:ln>
            <a:noFill/>
          </a:ln>
        </p:spPr>
        <p:txBody>
          <a:bodyPr wrap="square" lIns="0" tIns="0" rIns="0" bIns="0" anchor="t"/>
          <a:lstStyle/>
          <a:p>
            <a:pPr algn="l">
              <a:spcAft>
                <a:spcPts val="200"/>
              </a:spcAft>
              <a:buNone/>
            </a:pPr>
            <a:r>
              <a:rPr lang="en-US" sz="1500" b="1" dirty="0">
                <a:solidFill>
                  <a:srgbClr val="8E6F3E"/>
                </a:solidFill>
              </a:rPr>
              <a:t>specification boundary</a:t>
            </a:r>
          </a:p>
          <a:p>
            <a:pPr algn="l">
              <a:spcAft>
                <a:spcPts val="0"/>
              </a:spcAft>
              <a:buNone/>
            </a:pPr>
            <a:r>
              <a:rPr lang="en-US" sz="1400" b="0" dirty="0">
                <a:solidFill>
                  <a:srgbClr val="555960"/>
                </a:solidFill>
              </a:rPr>
              <a:t>for a more capable agent, it moves in</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Specified region = obligation + scaffolding; outside it, degrees of freedom.</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Two boundaries, not one. Only one of them moves.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5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5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CORRESPONDENCE</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1" name="Question"/>
          <p:cNvSpPr txBox="1"/>
          <p:nvPr/>
        </p:nvSpPr>
        <p:spPr>
          <a:xfrm>
            <a:off x="274320" y="2798064"/>
            <a:ext cx="8595360" cy="475488"/>
          </a:xfrm>
          <a:prstGeom prst="rect">
            <a:avLst/>
          </a:prstGeom>
          <a:noFill/>
          <a:ln>
            <a:noFill/>
          </a:ln>
        </p:spPr>
        <p:txBody>
          <a:bodyPr wrap="square" lIns="0" tIns="0" rIns="0" bIns="0" anchor="t"/>
          <a:lstStyle/>
          <a:p>
            <a:pPr algn="ctr">
              <a:buNone/>
            </a:pPr>
            <a:r>
              <a:rPr lang="en-US" sz="2400" b="0" i="0" dirty="0">
                <a:solidFill>
                  <a:srgbClr val="5C4826"/>
                </a:solidFill>
              </a:rPr>
              <a:t>A model is useful because something else corresponds to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
        <p:nvSpPr>
          <p:cNvPr id="130" name="SubLine"/>
          <p:cNvSpPr txBox="1"/>
          <p:nvPr/>
        </p:nvSpPr>
        <p:spPr>
          <a:xfrm>
            <a:off x="274320" y="3657600"/>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out the right things? Ask what corresponds.</a:t>
            </a:r>
          </a:p>
        </p:txBody>
      </p:sp>
      <p:sp>
        <p:nvSpPr>
          <p:cNvPr id="131" name="VTag1"/>
          <p:cNvSpPr txBox="1"/>
          <p:nvPr/>
        </p:nvSpPr>
        <p:spPr>
          <a:xfrm>
            <a:off x="1143000" y="3977640"/>
            <a:ext cx="32004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  TOO MUCH REDUCTION</a:t>
            </a:r>
          </a:p>
          <a:p>
            <a:pPr algn="ctr">
              <a:spcAft>
                <a:spcPts val="0"/>
              </a:spcAft>
              <a:buNone/>
            </a:pPr>
            <a:r>
              <a:rPr lang="en-US" sz="1400" b="0" i="0" dirty="0">
                <a:solidFill>
                  <a:srgbClr val="555960"/>
                </a:solidFill>
              </a:rPr>
              <a:t xml:space="preserve">a required distinction, erased</a:t>
            </a:r>
          </a:p>
        </p:txBody>
      </p:sp>
      <p:sp>
        <p:nvSpPr>
          <p:cNvPr id="133" name="VTag3"/>
          <p:cNvSpPr txBox="1"/>
          <p:nvPr/>
        </p:nvSpPr>
        <p:spPr>
          <a:xfrm>
            <a:off x="4800600" y="3977640"/>
            <a:ext cx="3200400" cy="64008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 xml:space="preserve">✓  GOOD REDUCTION</a:t>
            </a:r>
          </a:p>
          <a:p>
            <a:pPr algn="ctr">
              <a:spcAft>
                <a:spcPts val="0"/>
              </a:spcAft>
              <a:buNone/>
            </a:pPr>
            <a:r>
              <a:rPr lang="en-US" sz="1400" b="0" i="0" dirty="0">
                <a:solidFill>
                  <a:srgbClr val="555960"/>
                </a:solidFill>
              </a:rPr>
              <a:t xml:space="preserve">a free choice, safely changed</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19456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00" b="0" i="0" dirty="0">
                <a:solidFill>
                  <a:srgbClr val="5C4826"/>
                </a:solidFill>
              </a:rPr>
              <a:t>quota_type  {metered, unlimited}</a:t>
            </a:r>
          </a:p>
          <a:p>
            <a:pPr algn="l">
              <a:spcAft>
                <a:spcPts val="250"/>
              </a:spcAft>
              <a:buNone/>
            </a:pPr>
            <a:r>
              <a:rPr lang="en-US" sz="1000" b="0" i="0" dirty="0">
                <a:solidFill>
                  <a:srgbClr val="5C4826"/>
                </a:solidFill>
              </a:rPr>
              <a:t>credits_remaining</a:t>
            </a:r>
          </a:p>
          <a:p>
            <a:pPr algn="l">
              <a:spcAft>
                <a:spcPts val="0"/>
              </a:spcAft>
              <a:buNone/>
            </a:pPr>
            <a:r>
              <a:rPr lang="en-US" sz="1000" b="0" i="0" dirty="0">
                <a:solidFill>
                  <a:srgbClr val="5C4826"/>
                </a:solidFill>
              </a:rPr>
              <a:t>renewal</a:t>
            </a:r>
          </a:p>
        </p:txBody>
      </p:sp>
      <p:sp>
        <p:nvSpPr>
          <p:cNvPr id="121" name="SchemaRule"/>
          <p:cNvSpPr/>
          <p:nvPr/>
        </p:nvSpPr>
        <p:spPr>
          <a:xfrm>
            <a:off x="1280160" y="2649220"/>
            <a:ext cx="201168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474720" y="2362200"/>
            <a:ext cx="82296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474720" y="2865120"/>
            <a:ext cx="822960" cy="0"/>
          </a:xfrm>
          <a:prstGeom prst="straightConnector1">
            <a:avLst/>
          </a:prstGeom>
          <a:ln w="28575">
            <a:solidFill>
              <a:srgbClr val="8E6F3E"/>
            </a:solidFill>
            <a:tailEnd type="triangle" w="med" len="med"/>
          </a:ln>
        </p:spPr>
      </p:cxnSp>
      <p:sp>
        <p:nvSpPr>
          <p:cNvPr id="124" name="ScalarBox"/>
          <p:cNvSpPr/>
          <p:nvPr/>
        </p:nvSpPr>
        <p:spPr>
          <a:xfrm>
            <a:off x="4389120" y="2651760"/>
            <a:ext cx="201168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050" b="1" i="0" dirty="0">
                <a:solidFill>
                  <a:srgbClr val="FFFFFF"/>
                </a:solidFill>
              </a:rPr>
              <a:t>credits_remaining : integer</a:t>
            </a:r>
          </a:p>
        </p:txBody>
      </p:sp>
      <p:sp>
        <p:nvSpPr>
          <p:cNvPr id="125" name="ScalarCap"/>
          <p:cNvSpPr txBox="1"/>
          <p:nvPr/>
        </p:nvSpPr>
        <p:spPr>
          <a:xfrm>
            <a:off x="4389120" y="3246120"/>
            <a:ext cx="2011680" cy="182880"/>
          </a:xfrm>
          <a:prstGeom prst="rect">
            <a:avLst/>
          </a:prstGeom>
          <a:noFill/>
          <a:ln>
            <a:noFill/>
          </a:ln>
        </p:spPr>
        <p:txBody>
          <a:bodyPr wrap="square" lIns="0" tIns="0" rIns="0" bIns="0" anchor="t"/>
          <a:lstStyle/>
          <a:p>
            <a:pPr algn="ctr">
              <a:spcAft>
                <a:spcPts val="0"/>
              </a:spcAft>
              <a:buNone/>
            </a:pPr>
            <a:r>
              <a:rPr lang="en-US" sz="1000" b="0" i="1" dirty="0">
                <a:solidFill>
                  <a:srgbClr val="555960"/>
                </a:solidFill>
              </a:rPr>
              <a:t>the whole model of the account</a:t>
            </a:r>
          </a:p>
        </p:txBody>
      </p:sp>
      <p:sp>
        <p:nvSpPr>
          <p:cNvPr id="126" name="Callout"/>
          <p:cNvSpPr/>
          <p:nvPr/>
        </p:nvSpPr>
        <p:spPr>
          <a:xfrm>
            <a:off x="6492240" y="2362200"/>
            <a:ext cx="2377440" cy="105156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050" b="1" i="0" dirty="0">
                <a:solidFill>
                  <a:srgbClr val="8E6F3E"/>
                </a:solidFill>
              </a:rPr>
              <a:t>Yes, this is a model.</a:t>
            </a:r>
          </a:p>
          <a:p>
            <a:pPr algn="l">
              <a:spcAft>
                <a:spcPts val="0"/>
              </a:spcAft>
              <a:buNone/>
            </a:pPr>
            <a:r>
              <a:rPr lang="en-US" sz="100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Zero0"/>
          <p:cNvSpPr txBox="1"/>
          <p:nvPr/>
        </p:nvSpPr>
        <p:spPr>
          <a:xfrm>
            <a:off x="6080760" y="3520440"/>
            <a:ext cx="640080" cy="320040"/>
          </a:xfrm>
          <a:prstGeom prst="rect">
            <a:avLst/>
          </a:prstGeom>
          <a:noFill/>
          <a:ln>
            <a:noFill/>
          </a:ln>
        </p:spPr>
        <p:txBody>
          <a:bodyPr wrap="square" lIns="0" tIns="0" rIns="0" bIns="0" anchor="ctr"/>
          <a:lstStyle/>
          <a:p>
            <a:pPr algn="ctr">
              <a:spcAft>
                <a:spcPts val="0"/>
              </a:spcAft>
              <a:buNone/>
            </a:pPr>
            <a:r>
              <a:rPr lang="en-US" sz="2000" b="1" i="0" dirty="0">
                <a:solidFill>
                  <a:srgbClr val="5C4826"/>
                </a:solidFill>
              </a:rPr>
              <a:t>0</a:t>
            </a:r>
          </a:p>
        </p:txBody>
      </p:sp>
      <p:sp>
        <p:nvSpPr>
          <p:cNvPr id="135"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6"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7" name="CZero1"/>
          <p:cNvSpPr txBox="1"/>
          <p:nvPr/>
        </p:nvSpPr>
        <p:spPr>
          <a:xfrm>
            <a:off x="6080760" y="3886200"/>
            <a:ext cx="640080" cy="320040"/>
          </a:xfrm>
          <a:prstGeom prst="rect">
            <a:avLst/>
          </a:prstGeom>
          <a:noFill/>
          <a:ln>
            <a:noFill/>
          </a:ln>
        </p:spPr>
        <p:txBody>
          <a:bodyPr wrap="square" lIns="0" tIns="0" rIns="0" bIns="0" anchor="ctr"/>
          <a:lstStyle/>
          <a:p>
            <a:pPr algn="ctr">
              <a:spcAft>
                <a:spcPts val="0"/>
              </a:spcAft>
              <a:buNone/>
            </a:pPr>
            <a:r>
              <a:rPr lang="en-US" sz="2000" b="1" i="0" dirty="0">
                <a:solidFill>
                  <a:srgbClr val="5C4826"/>
                </a:solidFill>
              </a:rPr>
              <a:t>0</a:t>
            </a:r>
          </a:p>
        </p:txBody>
      </p:sp>
      <p:cxnSp>
        <p:nvCxnSpPr>
          <p:cNvPr id="140" name="SameUp"/>
          <p:cNvCxnSpPr/>
          <p:nvPr/>
        </p:nvCxnSpPr>
        <p:spPr>
          <a:xfrm flipV="1">
            <a:off x="6400800" y="4206240"/>
            <a:ext cx="0" cy="91440"/>
          </a:xfrm>
          <a:prstGeom prst="straightConnector1">
            <a:avLst/>
          </a:prstGeom>
          <a:ln w="19050">
            <a:solidFill>
              <a:srgbClr val="8E6F3E"/>
            </a:solidFill>
            <a:tailEnd type="triangle" w="med" len="med"/>
          </a:ln>
        </p:spPr>
      </p:cxnSp>
      <p:sp>
        <p:nvSpPr>
          <p:cNvPr id="141" name="SameLbl"/>
          <p:cNvSpPr txBox="1"/>
          <p:nvPr/>
        </p:nvSpPr>
        <p:spPr>
          <a:xfrm>
            <a:off x="5181600" y="4297680"/>
            <a:ext cx="2438400" cy="182880"/>
          </a:xfrm>
          <a:prstGeom prst="rect">
            <a:avLst/>
          </a:prstGeom>
          <a:noFill/>
          <a:ln>
            <a:noFill/>
          </a:ln>
        </p:spPr>
        <p:txBody>
          <a:bodyPr wrap="square" lIns="0" tIns="0" rIns="0" bIns="0" anchor="t"/>
          <a:lstStyle/>
          <a:p>
            <a:pPr algn="ctr">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with different required behavior.</a:t>
            </a:r>
          </a:p>
        </p:txBody>
      </p:sp>
      <p:sp>
        <p:nvSpPr>
          <p:cNvPr id="151"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9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ForbidMark"/>
          <p:cNvSpPr txBox="1"/>
          <p:nvPr/>
        </p:nvSpPr>
        <p:spPr>
          <a:xfrm>
            <a:off x="6035040" y="2468880"/>
            <a:ext cx="548640" cy="182880"/>
          </a:xfrm>
          <a:prstGeom prst="rect">
            <a:avLst/>
          </a:prstGeom>
          <a:noFill/>
          <a:ln>
            <a:noFill/>
          </a:ln>
        </p:spPr>
        <p:txBody>
          <a:bodyPr wrap="square" lIns="0" tIns="0" rIns="0" bIns="0" anchor="t"/>
          <a:lstStyle/>
          <a:p>
            <a:pPr algn="ctr">
              <a:spcAft>
                <a:spcPts val="0"/>
              </a:spcAft>
              <a:buNone/>
            </a:pPr>
            <a:r>
              <a:rPr lang="en-US" sz="16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900" b="0" i="1" dirty="0">
                <a:solidFill>
                  <a:srgbClr val="555960"/>
                </a:solidFill>
              </a:rPr>
              <a:t>cannot release the current lease</a:t>
            </a:r>
          </a:p>
        </p:txBody>
      </p:sp>
      <p:cxnSp>
        <p:nvCxnSpPr>
          <p:cNvPr id="130" name="RbStem"/>
          <p:cNvCxnSpPr/>
          <p:nvPr/>
        </p:nvCxnSpPr>
        <p:spPr>
          <a:xfrm>
            <a:off x="4663440" y="3063240"/>
            <a:ext cx="0" cy="137160"/>
          </a:xfrm>
          <a:prstGeom prst="straightConnector1">
            <a:avLst/>
          </a:prstGeom>
          <a:ln w="12700">
            <a:solidFill>
              <a:srgbClr val="C9B991"/>
            </a:solidFill>
            <a:prstDash val="dash"/>
          </a:ln>
        </p:spPr>
      </p:cxnSp>
      <p:cxnSp>
        <p:nvCxnSpPr>
          <p:cNvPr id="131" name="RbBus"/>
          <p:cNvCxnSpPr/>
          <p:nvPr/>
        </p:nvCxnSpPr>
        <p:spPr>
          <a:xfrm>
            <a:off x="2971800" y="3200400"/>
            <a:ext cx="4114800" cy="0"/>
          </a:xfrm>
          <a:prstGeom prst="straightConnector1">
            <a:avLst/>
          </a:prstGeom>
          <a:ln w="12700">
            <a:solidFill>
              <a:srgbClr val="C9B991"/>
            </a:solidFill>
            <a:prstDash val="dash"/>
          </a:ln>
        </p:spPr>
      </p:cxnSp>
      <p:cxnSp>
        <p:nvCxnSpPr>
          <p:cNvPr id="132" name="RbDropL"/>
          <p:cNvCxnSpPr/>
          <p:nvPr/>
        </p:nvCxnSpPr>
        <p:spPr>
          <a:xfrm>
            <a:off x="2971800" y="3200400"/>
            <a:ext cx="0" cy="13716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00400"/>
            <a:ext cx="0" cy="137160"/>
          </a:xfrm>
          <a:prstGeom prst="straightConnector1">
            <a:avLst/>
          </a:prstGeom>
          <a:ln w="12700">
            <a:solidFill>
              <a:srgbClr val="C9B991"/>
            </a:solidFill>
            <a:prstDash val="dash"/>
            <a:tailEnd type="triangle" w="med" len="med"/>
          </a:ln>
        </p:spPr>
      </p:cxnSp>
      <p:sp>
        <p:nvSpPr>
          <p:cNvPr id="134" name="RbLbl"/>
          <p:cNvSpPr txBox="1"/>
          <p:nvPr/>
        </p:nvSpPr>
        <p:spPr>
          <a:xfrm>
            <a:off x="1188720" y="3131880"/>
            <a:ext cx="1600200" cy="182880"/>
          </a:xfrm>
          <a:prstGeom prst="rect">
            <a:avLst/>
          </a:prstGeom>
          <a:noFill/>
          <a:ln>
            <a:noFill/>
          </a:ln>
        </p:spPr>
        <p:txBody>
          <a:bodyPr wrap="square" lIns="0" tIns="0" rIns="0" bIns="0" anchor="t"/>
          <a:lstStyle/>
          <a:p>
            <a:pPr algn="l">
              <a:spcAft>
                <a:spcPts val="0"/>
              </a:spcAft>
              <a:buNone/>
            </a:pPr>
            <a:r>
              <a:rPr lang="en-US" sz="9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0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0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9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9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9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44068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 xml:space="preserve">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 xml:space="preserve">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2"/>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A  STATE ENUM</a:t>
            </a:r>
          </a:p>
          <a:p>
            <a:pPr algn="ctr">
              <a:spcAft>
                <a:spcPts val="0"/>
              </a:spcAft>
              <a:buNone/>
            </a:pPr>
            <a:r>
              <a:rPr lang="en-US" sz="1400" b="0" i="0" dirty="0">
                <a:solidFill>
                  <a:srgbClr val="5C4826"/>
                </a:solidFill>
              </a:rPr>
              <a:t xml:space="preserve">status = Draft</a:t>
            </a:r>
          </a:p>
          <a:p>
            <a:pPr algn="ctr">
              <a:spcAft>
                <a:spcPts val="0"/>
              </a:spcAft>
              <a:buNone/>
            </a:pPr>
            <a:r>
              <a:rPr lang="en-US" sz="1400" b="0" i="0" dirty="0">
                <a:solidFill>
                  <a:srgbClr val="5C4826"/>
                </a:solidFill>
              </a:rPr>
              <a:t xml:space="preserve">status = Submitted</a:t>
            </a:r>
          </a:p>
          <a:p>
            <a:pPr algn="ctr">
              <a:spcAft>
                <a:spcPts val="0"/>
              </a:spcAft>
              <a:buNone/>
            </a:pPr>
            <a:r>
              <a:rPr lang="en-US" sz="1400" b="0" i="1" dirty="0">
                <a:solidFill>
                  <a:srgbClr val="555960"/>
                </a:solidFill>
              </a:rPr>
              <a:t xml:space="preserve">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B  STATE OBJECTS</a:t>
            </a:r>
          </a:p>
          <a:p>
            <a:pPr algn="ctr">
              <a:spcAft>
                <a:spcPts val="0"/>
              </a:spcAft>
              <a:buNone/>
            </a:pPr>
            <a:r>
              <a:rPr lang="en-US" sz="1400" b="0" i="0" dirty="0">
                <a:solidFill>
                  <a:srgbClr val="5C4826"/>
                </a:solidFill>
              </a:rPr>
              <a:t xml:space="preserve">class DraftState:</a:t>
            </a:r>
          </a:p>
          <a:p>
            <a:pPr algn="ctr">
              <a:spcAft>
                <a:spcPts val="0"/>
              </a:spcAft>
              <a:buNone/>
            </a:pPr>
            <a:r>
              <a:rPr lang="en-US" sz="1400" b="0" i="0" dirty="0">
                <a:solidFill>
                  <a:srgbClr val="5C4826"/>
                </a:solidFill>
              </a:rPr>
              <a:t xml:space="preserve">def submit(self): …</a:t>
            </a:r>
          </a:p>
          <a:p>
            <a:pPr algn="ctr">
              <a:spcAft>
                <a:spcPts val="0"/>
              </a:spcAft>
              <a:buNone/>
            </a:pPr>
            <a:r>
              <a:rPr lang="en-US" sz="1400" b="0" i="1" dirty="0">
                <a:solidFill>
                  <a:srgbClr val="555960"/>
                </a:solidFill>
              </a:rPr>
              <a:t xml:space="preserve">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 xml:space="preserve">C  TRANSITION TABLE</a:t>
            </a:r>
          </a:p>
          <a:p>
            <a:pPr algn="ctr">
              <a:spcAft>
                <a:spcPts val="0"/>
              </a:spcAft>
              <a:buNone/>
            </a:pPr>
            <a:r>
              <a:rPr lang="en-US" sz="1400" b="0" i="0" dirty="0">
                <a:solidFill>
                  <a:srgbClr val="5C4826"/>
                </a:solidFill>
              </a:rPr>
              <a:t xml:space="preserve">(Draft, submit) → Submitted</a:t>
            </a:r>
          </a:p>
          <a:p>
            <a:pPr algn="ctr">
              <a:spcAft>
                <a:spcPts val="0"/>
              </a:spcAft>
              <a:buNone/>
            </a:pPr>
            <a:r>
              <a:rPr lang="en-US" sz="1400" b="0" i="0" dirty="0">
                <a:solidFill>
                  <a:srgbClr val="5C4826"/>
                </a:solidFill>
              </a:rPr>
              <a:t xml:space="preserve">(Submitted, approve) → Approved</a:t>
            </a:r>
          </a:p>
          <a:p>
            <a:pPr algn="ctr">
              <a:spcAft>
                <a:spcPts val="0"/>
              </a:spcAft>
              <a:buNone/>
            </a:pPr>
            <a:r>
              <a:rPr lang="en-US" sz="1400" b="0" i="1" dirty="0">
                <a:solidFill>
                  <a:srgbClr val="555960"/>
                </a:solidFill>
              </a:rPr>
              <a:t xml:space="preserve">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 xml:space="preserve">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 xml:space="preserve">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1700784"/>
            <a:ext cx="7772400" cy="1005840"/>
          </a:xfrm>
        </p:spPr>
        <p:txBody>
          <a:bodyPr>
            <a:normAutofit fontScale="90000"/>
          </a:bodyPr>
          <a:lstStyle/>
          <a:p>
            <a:pPr algn="ctr">
              <a:buNone/>
              <a:defRPr b="0"/>
            </a:pPr>
            <a:r>
              <a:rPr lang="en-US" sz="4000" b="0" i="0" dirty="0">
                <a:solidFill>
                  <a:srgbClr val="000000"/>
                </a:solidFill>
              </a:rPr>
              <a:t>MODELS CONSTRAIN IMPLEMENTATION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10" name="N0"/>
          <p:cNvSpPr/>
          <p:nvPr/>
        </p:nvSpPr>
        <p:spPr>
          <a:xfrm>
            <a:off x="722376" y="4718304"/>
            <a:ext cx="1700784" cy="566928"/>
          </a:xfrm>
          <a:prstGeom prst="rect">
            <a:avLst/>
          </a:prstGeom>
          <a:solidFill>
            <a:srgbClr val="FBF8F2"/>
          </a:solidFill>
          <a:ln w="12700">
            <a:solidFill>
              <a:srgbClr val="C9B991"/>
            </a:solidFill>
          </a:ln>
        </p:spPr>
        <p:txBody>
          <a:bodyPr wrap="square" lIns="27432" tIns="0" rIns="27432" bIns="68580" anchor="ctr"/>
          <a:lstStyle/>
          <a:p>
            <a:pPr algn="ctr">
              <a:buNone/>
            </a:pPr>
            <a:r>
              <a:rPr lang="en-US" sz="1800" b="1" i="0" dirty="0">
                <a:solidFill>
                  <a:srgbClr val="555960"/>
                </a:solidFill>
              </a:rPr>
              <a:t>ENGINEERING QUESTION</a:t>
            </a:r>
          </a:p>
        </p:txBody>
      </p:sp>
      <p:cxnSp>
        <p:nvCxnSpPr>
          <p:cNvPr id="120" name="NA0"/>
          <p:cNvCxnSpPr/>
          <p:nvPr/>
        </p:nvCxnSpPr>
        <p:spPr>
          <a:xfrm>
            <a:off x="2432304" y="5001768"/>
            <a:ext cx="274320" cy="0"/>
          </a:xfrm>
          <a:prstGeom prst="straightConnector1">
            <a:avLst/>
          </a:prstGeom>
          <a:ln w="19050">
            <a:solidFill>
              <a:srgbClr val="C9B991"/>
            </a:solidFill>
            <a:tailEnd type="triangle" w="med" len="med"/>
          </a:ln>
        </p:spPr>
      </p:cxnSp>
      <p:sp>
        <p:nvSpPr>
          <p:cNvPr id="111" name="N1"/>
          <p:cNvSpPr/>
          <p:nvPr/>
        </p:nvSpPr>
        <p:spPr>
          <a:xfrm>
            <a:off x="2724912"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MODEL</a:t>
            </a:r>
          </a:p>
        </p:txBody>
      </p:sp>
      <p:cxnSp>
        <p:nvCxnSpPr>
          <p:cNvPr id="121" name="NA1"/>
          <p:cNvCxnSpPr/>
          <p:nvPr/>
        </p:nvCxnSpPr>
        <p:spPr>
          <a:xfrm>
            <a:off x="4434840" y="5001768"/>
            <a:ext cx="274320" cy="0"/>
          </a:xfrm>
          <a:prstGeom prst="straightConnector1">
            <a:avLst/>
          </a:prstGeom>
          <a:ln w="19050">
            <a:solidFill>
              <a:srgbClr val="C9B991"/>
            </a:solidFill>
            <a:tailEnd type="triangle" w="med" len="med"/>
          </a:ln>
        </p:spPr>
      </p:cxnSp>
      <p:sp>
        <p:nvSpPr>
          <p:cNvPr id="112" name="N2"/>
          <p:cNvSpPr/>
          <p:nvPr/>
        </p:nvSpPr>
        <p:spPr>
          <a:xfrm>
            <a:off x="4727448" y="4718304"/>
            <a:ext cx="1700784" cy="566928"/>
          </a:xfrm>
          <a:prstGeom prst="rect">
            <a:avLst/>
          </a:prstGeom>
          <a:solidFill>
            <a:srgbClr val="8E6F3E"/>
          </a:solidFill>
          <a:ln>
            <a:noFill/>
          </a:ln>
        </p:spPr>
        <p:txBody>
          <a:bodyPr wrap="square" lIns="27432" tIns="22860" rIns="27432" bIns="22860" anchor="ctr"/>
          <a:lstStyle/>
          <a:p>
            <a:pPr algn="ctr">
              <a:buNone/>
            </a:pPr>
            <a:r>
              <a:rPr lang="en-US" sz="1800" b="1" i="0" dirty="0">
                <a:solidFill>
                  <a:srgbClr val="FFFFFF"/>
                </a:solidFill>
              </a:rPr>
              <a:t>PROPERTY</a:t>
            </a:r>
          </a:p>
        </p:txBody>
      </p:sp>
      <p:cxnSp>
        <p:nvCxnSpPr>
          <p:cNvPr id="122" name="NA2"/>
          <p:cNvCxnSpPr/>
          <p:nvPr/>
        </p:nvCxnSpPr>
        <p:spPr>
          <a:xfrm>
            <a:off x="6437376" y="5001768"/>
            <a:ext cx="274320" cy="0"/>
          </a:xfrm>
          <a:prstGeom prst="straightConnector1">
            <a:avLst/>
          </a:prstGeom>
          <a:ln w="19050">
            <a:solidFill>
              <a:srgbClr val="C9B991"/>
            </a:solidFill>
            <a:tailEnd type="triangle" w="med" len="med"/>
          </a:ln>
        </p:spPr>
      </p:cxnSp>
      <p:sp>
        <p:nvSpPr>
          <p:cNvPr id="113" name="N3"/>
          <p:cNvSpPr/>
          <p:nvPr/>
        </p:nvSpPr>
        <p:spPr>
          <a:xfrm>
            <a:off x="6729984" y="4718304"/>
            <a:ext cx="1700784" cy="566928"/>
          </a:xfrm>
          <a:prstGeom prst="rect">
            <a:avLst/>
          </a:prstGeom>
          <a:solidFill>
            <a:srgbClr val="FBF8F2"/>
          </a:solidFill>
          <a:ln w="12700">
            <a:solidFill>
              <a:srgbClr val="C9B991"/>
            </a:solidFill>
          </a:ln>
        </p:spPr>
        <p:txBody>
          <a:bodyPr wrap="square" lIns="27432" tIns="22860" rIns="27432" bIns="22860" anchor="ctr"/>
          <a:lstStyle/>
          <a:p>
            <a:pPr algn="ctr">
              <a:buNone/>
            </a:pPr>
            <a:r>
              <a:rPr lang="en-US" sz="1800" b="1" i="0" dirty="0">
                <a:solidFill>
                  <a:srgbClr val="555960"/>
                </a:solidFill>
              </a:rPr>
              <a:t>QUALITY</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 xml:space="preserve">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 xml:space="preserve">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 xml:space="preserve">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 xml:space="preserve">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 xml:space="preserve">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 xml:space="preserve">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 xml:space="preserve">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 xml:space="preserve">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 xml:space="preserve">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8577</TotalTime>
  <Words>7239</Words>
  <Application>Microsoft Macintosh PowerPoint</Application>
  <PresentationFormat>On-screen Show (4:3)</PresentationFormat>
  <Paragraphs>545</Paragraphs>
  <Slides>35</Slides>
  <Notes>35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35</vt:i4>
      </vt:variant>
    </vt:vector>
  </HeadingPairs>
  <TitlesOfParts>
    <vt:vector size="39" baseType="lpstr">
      <vt:lpstr>Arial</vt:lpstr>
      <vt:lpstr>Calibri</vt:lpstr>
      <vt:lpstr>Times</vt:lpstr>
      <vt:lpstr>Purdue1</vt:lpstr>
      <vt:lpstr>PowerPoint Presentation</vt:lpstr>
      <vt:lpstr>The agent works inside an engineered environment</vt:lpstr>
      <vt:lpstr>The production equation</vt:lpstr>
      <vt:lpstr>Open the box — where things can go wrong</vt:lpstr>
      <vt:lpstr>Delegation leaves a representation problem</vt:lpstr>
      <vt:lpstr>SEE THE MODELS</vt:lpstr>
      <vt:lpstr>What exists?</vt:lpstr>
      <vt:lpstr>Who talks to whom?</vt:lpstr>
      <vt:lpstr>What states?</vt:lpstr>
      <vt:lpstr>What paths?</vt:lpstr>
      <vt:lpstr>Who needs what?</vt:lpstr>
      <vt:lpstr>Same territory, different questions</vt:lpstr>
      <vt:lpstr>Modeling is a living practice</vt:lpstr>
      <vt:lpstr>Modeling is purposeful reduction</vt:lpstr>
      <vt:lpstr>REDUCTION REQUIRES JUDGMENT</vt:lpstr>
      <vt:lpstr>Top-down: the obligation decides what must remain</vt:lpstr>
      <vt:lpstr>Bottom-up: parsimony challenges what we kept</vt:lpstr>
      <vt:lpstr>Worked: protect the battery</vt:lpstr>
      <vt:lpstr>Top-down: preserve what the obligation requires</vt:lpstr>
      <vt:lpstr>Bottom-up: make every distinction earn its place</vt:lpstr>
      <vt:lpstr>The territory did not change. The question did.</vt:lpstr>
      <vt:lpstr>Obligation and specification are different boundaries</vt:lpstr>
      <vt:lpstr>Capability can reduce scaffolding</vt:lpstr>
      <vt:lpstr>Capability cannot reduce what must be true</vt:lpstr>
      <vt:lpstr>THE EVIDENCE</vt:lpstr>
      <vt:lpstr>Too much reduction loses the obligation</vt:lpstr>
      <vt:lpstr>Good reduction leaves implementation free</vt:lpstr>
      <vt:lpstr>The evidence, side by side</vt:lpstr>
      <vt:lpstr>Where do the probabilities move?</vt:lpstr>
      <vt:lpstr>Activity: Reduce</vt:lpstr>
      <vt:lpstr>Stretch break</vt:lpstr>
      <vt:lpstr>A model is not its representation</vt:lpstr>
      <vt:lpstr>Representation changes interpretation</vt:lpstr>
      <vt:lpstr>Activity: Interpret</vt:lpstr>
      <vt:lpstr>A good model is not a small copy of the system</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407</cp:revision>
  <dcterms:created xsi:type="dcterms:W3CDTF">2020-02-21T23:00:33Z</dcterms:created>
  <dcterms:modified xsi:type="dcterms:W3CDTF">2026-09-30T20:58:17Z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