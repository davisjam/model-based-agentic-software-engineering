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4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MOVE THIS LECTURE TEACHES</a:t>
            </a:r>
          </a:p>
        </p:txBody>
      </p:sp>
      <p:sp>
        <p:nvSpPr>
          <p:cNvPr id="200" name="M0"/>
          <p:cNvSpPr/>
          <p:nvPr/>
        </p:nvSpPr>
        <p:spPr>
          <a:xfrm>
            <a:off x="2331720" y="4050792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M1"/>
          <p:cNvSpPr/>
          <p:nvPr/>
        </p:nvSpPr>
        <p:spPr>
          <a:xfrm>
            <a:off x="2560320" y="4279392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M2"/>
          <p:cNvSpPr/>
          <p:nvPr/>
        </p:nvSpPr>
        <p:spPr>
          <a:xfrm>
            <a:off x="2434590" y="4576572"/>
            <a:ext cx="228600" cy="685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M3"/>
          <p:cNvSpPr/>
          <p:nvPr/>
        </p:nvSpPr>
        <p:spPr>
          <a:xfrm>
            <a:off x="2743200" y="4023360"/>
            <a:ext cx="20574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M4"/>
          <p:cNvSpPr/>
          <p:nvPr/>
        </p:nvSpPr>
        <p:spPr>
          <a:xfrm>
            <a:off x="2834640" y="4416552"/>
            <a:ext cx="182880" cy="18288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M5"/>
          <p:cNvSpPr/>
          <p:nvPr/>
        </p:nvSpPr>
        <p:spPr>
          <a:xfrm>
            <a:off x="3017520" y="4050792"/>
            <a:ext cx="137160" cy="2057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M6"/>
          <p:cNvSpPr/>
          <p:nvPr/>
        </p:nvSpPr>
        <p:spPr>
          <a:xfrm>
            <a:off x="3154680" y="4462272"/>
            <a:ext cx="114300" cy="11430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M7"/>
          <p:cNvSpPr/>
          <p:nvPr/>
        </p:nvSpPr>
        <p:spPr>
          <a:xfrm>
            <a:off x="3246120" y="4233672"/>
            <a:ext cx="16002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M8"/>
          <p:cNvSpPr/>
          <p:nvPr/>
        </p:nvSpPr>
        <p:spPr>
          <a:xfrm>
            <a:off x="3383280" y="4023360"/>
            <a:ext cx="13716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M9"/>
          <p:cNvSpPr/>
          <p:nvPr/>
        </p:nvSpPr>
        <p:spPr>
          <a:xfrm>
            <a:off x="3474720" y="4462272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M10"/>
          <p:cNvSpPr/>
          <p:nvPr/>
        </p:nvSpPr>
        <p:spPr>
          <a:xfrm>
            <a:off x="3611880" y="4279392"/>
            <a:ext cx="11430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M11"/>
          <p:cNvSpPr/>
          <p:nvPr/>
        </p:nvSpPr>
        <p:spPr>
          <a:xfrm>
            <a:off x="3749040" y="4096512"/>
            <a:ext cx="91440" cy="9144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12" name="RAr1"/>
          <p:cNvCxnSpPr/>
          <p:nvPr/>
        </p:nvCxnSpPr>
        <p:spPr>
          <a:xfrm>
            <a:off x="4097655" y="4345686"/>
            <a:ext cx="5486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20" name="MS0"/>
          <p:cNvSpPr/>
          <p:nvPr/>
        </p:nvSpPr>
        <p:spPr>
          <a:xfrm>
            <a:off x="4903470" y="4254246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1" name="MS1"/>
          <p:cNvSpPr/>
          <p:nvPr/>
        </p:nvSpPr>
        <p:spPr>
          <a:xfrm>
            <a:off x="5177790" y="4254246"/>
            <a:ext cx="182880" cy="18288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2" name="MS2"/>
          <p:cNvSpPr/>
          <p:nvPr/>
        </p:nvSpPr>
        <p:spPr>
          <a:xfrm>
            <a:off x="5452110" y="4311396"/>
            <a:ext cx="228600" cy="685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23" name="RAr2"/>
          <p:cNvCxnSpPr/>
          <p:nvPr/>
        </p:nvCxnSpPr>
        <p:spPr>
          <a:xfrm>
            <a:off x="5829840" y="4345686"/>
            <a:ext cx="54864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24" name="ReqIcon"/>
          <p:cNvSpPr/>
          <p:nvPr/>
        </p:nvSpPr>
        <p:spPr>
          <a:xfrm>
            <a:off x="6515640" y="4185666"/>
            <a:ext cx="320040" cy="320040"/>
          </a:xfrm>
          <a:custGeom>
            <a:avLst/>
            <a:gdLst/>
            <a:ahLst/>
            <a:cxnLst/>
            <a:rect l="0" t="0" r="320040" b="320040"/>
            <a:pathLst>
              <a:path w="320040" h="320040" fill="none">
                <a:moveTo>
                  <a:pt x="48006" y="176022"/>
                </a:moveTo>
                <a:lnTo>
                  <a:pt x="128016" y="264033"/>
                </a:lnTo>
                <a:lnTo>
                  <a:pt x="272034" y="64008"/>
                </a:lnTo>
              </a:path>
            </a:pathLst>
          </a:custGeom>
          <a:noFill/>
          <a:ln w="57150" cap="rnd">
            <a:solidFill>
              <a:srgbClr val="8E6F3E"/>
            </a:solidFill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25" name="LblTerritory"/>
          <p:cNvSpPr txBox="1"/>
          <p:nvPr/>
        </p:nvSpPr>
        <p:spPr>
          <a:xfrm>
            <a:off x="2400300" y="4699000"/>
            <a:ext cx="1371600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TERRITORY</a:t>
            </a:r>
          </a:p>
        </p:txBody>
      </p:sp>
      <p:sp>
        <p:nvSpPr>
          <p:cNvPr id="226" name="LblModel"/>
          <p:cNvSpPr txBox="1"/>
          <p:nvPr/>
        </p:nvSpPr>
        <p:spPr>
          <a:xfrm>
            <a:off x="4606290" y="4699000"/>
            <a:ext cx="1371600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MODEL</a:t>
            </a:r>
          </a:p>
        </p:txBody>
      </p:sp>
      <p:sp>
        <p:nvSpPr>
          <p:cNvPr id="227" name="LblObligation"/>
          <p:cNvSpPr txBox="1"/>
          <p:nvPr/>
        </p:nvSpPr>
        <p:spPr>
          <a:xfrm>
            <a:off x="5989860" y="4699000"/>
            <a:ext cx="1371600" cy="2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OBLIGATION</a:t>
            </a:r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</a:t>
            </a:r>
            <a:r>
              <a:rPr lang="en-US" sz="2000" dirty="0">
                <a:solidFill>
                  <a:srgbClr val="555960"/>
                </a:solidFill>
              </a:rPr>
              <a:t>(today)</a:t>
            </a:r>
            <a:r>
              <a:rPr lang="en-US" sz="2000" b="0" i="0" dirty="0">
                <a:solidFill>
                  <a:srgbClr val="555960"/>
                </a:solidFill>
              </a:rPr>
              <a:t>: </a:t>
            </a:r>
            <a:r>
              <a:rPr lang="en-US" sz="2000" dirty="0">
                <a:solidFill>
                  <a:srgbClr val="555960"/>
                </a:solidFill>
              </a:rPr>
              <a:t>O</a:t>
            </a:r>
            <a:r>
              <a:rPr lang="en-US" sz="2000" b="0" i="0" dirty="0">
                <a:solidFill>
                  <a:srgbClr val="555960"/>
                </a:solidFill>
              </a:rPr>
              <a:t>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2: Modeling larger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40" name="Ital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They return at every section break in this unit.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> ≤ 50 ms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5" name="QRPlaceholder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feedback form pending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8567</TotalTime>
  <Words>4337</Words>
  <Application>Microsoft Macintosh PowerPoint</Application>
  <PresentationFormat>On-screen Show (4:3)</PresentationFormat>
  <Paragraphs>493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Times</vt:lpstr>
      <vt:lpstr>Purdue1</vt:lpstr>
      <vt:lpstr>PowerPoint Presentation</vt:lpstr>
      <vt:lpstr>Delegation leaves an information problem</vt:lpstr>
      <vt:lpstr>A model is useful because it leaves things out</vt:lpstr>
      <vt:lpstr>…and makes explicit what must remain</vt:lpstr>
      <vt:lpstr>Modeling is purposeful reduction</vt:lpstr>
      <vt:lpstr>QUESTIONS COME FIRST</vt:lpstr>
      <vt:lpstr>One territory, three questions</vt:lpstr>
      <vt:lpstr>No model is simply “the system”</vt:lpstr>
      <vt:lpstr>Four questions for every model</vt:lpstr>
      <vt:lpstr>Engineers have seen these questions before</vt:lpstr>
      <vt:lpstr>Select before you invent</vt:lpstr>
      <vt:lpstr>UML is a repertoire, not the theory of Modeling</vt:lpstr>
      <vt:lpstr>REDUCTION REQUIRES JUDGMENT</vt:lpstr>
      <vt:lpstr>Top-down: the obligation decides what must remain</vt:lpstr>
      <vt:lpstr>Bottom-up: parsimony challenges what we kept</vt:lpstr>
      <vt:lpstr>Worked: protect the battery</vt:lpstr>
      <vt:lpstr>Top-down: preserve what the obligation requires</vt:lpstr>
      <vt:lpstr>Bottom-up: make every distinction earn its place</vt:lpstr>
      <vt:lpstr>The territory did not change. The question did.</vt:lpstr>
      <vt:lpstr>THE EVIDENCE</vt:lpstr>
      <vt:lpstr>Too much reduction loses the obligation</vt:lpstr>
      <vt:lpstr>Good reduction leaves implementation free</vt:lpstr>
      <vt:lpstr>The evidence, side by side</vt:lpstr>
      <vt:lpstr>Obligation and specification are different boundaries</vt:lpstr>
      <vt:lpstr>Capability can reduce scaffolding</vt:lpstr>
      <vt:lpstr>Capability cannot reduce what must be true</vt:lpstr>
      <vt:lpstr>Activity: Reduce</vt:lpstr>
      <vt:lpstr>Stretch break</vt:lpstr>
      <vt:lpstr>A model is not its representation</vt:lpstr>
      <vt:lpstr>Representation changes interpretation</vt:lpstr>
      <vt:lpstr>Activity: Interpret</vt:lpstr>
      <vt:lpstr>A good model is not a small copy of the system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400</cp:revision>
  <dcterms:created xsi:type="dcterms:W3CDTF">2020-02-21T23:00:33Z</dcterms:created>
  <dcterms:modified xsi:type="dcterms:W3CDTF">2026-09-30T12:42:12Z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