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xml version="1.0" encoding="UTF-8"?><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4"/>
  </p:notesMasterIdLst>
  <p:sldIdLst>
    <p:sldId id="256" r:id="rId41"/>
    <p:sldId id="289" r:id="rId74"/>
    <p:sldId id="257" r:id="rId42"/>
    <p:sldId id="258" r:id="rId43"/>
    <p:sldId id="259" r:id="rId44"/>
    <p:sldId id="260" r:id="rId45"/>
    <p:sldId id="261" r:id="rId46"/>
    <p:sldId id="262" r:id="rId47"/>
    <p:sldId id="263" r:id="rId48"/>
    <p:sldId id="264" r:id="rId49"/>
    <p:sldId id="265" r:id="rId50"/>
    <p:sldId id="266" r:id="rId51"/>
    <p:sldId id="267" r:id="rId52"/>
    <p:sldId id="268" r:id="rId53"/>
    <p:sldId id="269" r:id="rId54"/>
    <p:sldId id="270" r:id="rId55"/>
    <p:sldId id="271" r:id="rId56"/>
    <p:sldId id="272" r:id="rId57"/>
    <p:sldId id="273" r:id="rId58"/>
    <p:sldId id="274" r:id="rId59"/>
    <p:sldId id="275" r:id="rId60"/>
    <p:sldId id="280" r:id="rId65"/>
    <p:sldId id="282" r:id="rId67"/>
    <p:sldId id="276" r:id="rId61"/>
    <p:sldId id="277" r:id="rId62"/>
    <p:sldId id="278" r:id="rId63"/>
    <p:sldId id="279" r:id="rId64"/>
    <p:sldId id="283" r:id="rId68"/>
    <p:sldId id="284" r:id="rId69"/>
    <p:sldId id="285" r:id="rId70"/>
    <p:sldId id="286" r:id="rId71"/>
    <p:sldId id="287" r:id="rId72"/>
    <p:sldId id="288" r:id="rId7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4" autoAdjust="0"/>
    <p:restoredTop sz="56164"/>
  </p:normalViewPr>
  <p:slideViewPr>
    <p:cSldViewPr snapToGrid="0" snapToObjects="1">
      <p:cViewPr>
        <p:scale>
          <a:sx n="61" d="100"/>
          <a:sy n="61" d="100"/>
        </p:scale>
        <p:origin x="3152" y="25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Relationships xmlns="http://schemas.openxmlformats.org/package/2006/relationships"><Relationship Id="rId34" Type="http://schemas.openxmlformats.org/officeDocument/2006/relationships/notesMaster" Target="notesMasters/notesMaster1.xml"/><Relationship Id="rId38" Type="http://schemas.openxmlformats.org/officeDocument/2006/relationships/tableStyles" Target="tableStyles.xml"/><Relationship Id="rId1" Type="http://schemas.openxmlformats.org/officeDocument/2006/relationships/slideMaster" Target="slideMasters/slideMaster1.xml"/><Relationship Id="rId37" Type="http://schemas.openxmlformats.org/officeDocument/2006/relationships/theme" Target="theme/theme1.xml"/><Relationship Id="rId36" Type="http://schemas.openxmlformats.org/officeDocument/2006/relationships/viewProps" Target="viewProps.xml"/><Relationship Id="rId35" Type="http://schemas.openxmlformats.org/officeDocument/2006/relationships/presProps" Target="presProps.xml"/><Relationship Id="rId41" Type="http://schemas.openxmlformats.org/officeDocument/2006/relationships/slide" Target="slides/slide1.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2.xml"/><Relationship Id="rId45" Type="http://schemas.openxmlformats.org/officeDocument/2006/relationships/slide" Target="slides/slide6.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5.xml"/><Relationship Id="rId54" Type="http://schemas.openxmlformats.org/officeDocument/2006/relationships/slide" Target="slides/slide13.xml"/><Relationship Id="rId55" Type="http://schemas.openxmlformats.org/officeDocument/2006/relationships/slide" Target="slides/slide14.xml"/><Relationship Id="rId56" Type="http://schemas.openxmlformats.org/officeDocument/2006/relationships/slide" Target="slides/slide15.xml"/><Relationship Id="rId57" Type="http://schemas.openxmlformats.org/officeDocument/2006/relationships/slide" Target="slides/slide16.xml"/><Relationship Id="rId58" Type="http://schemas.openxmlformats.org/officeDocument/2006/relationships/slide" Target="slides/slide17.xml"/><Relationship Id="rId59" Type="http://schemas.openxmlformats.org/officeDocument/2006/relationships/slide" Target="slides/slide18.xml"/><Relationship Id="rId60" Type="http://schemas.openxmlformats.org/officeDocument/2006/relationships/slide" Target="slides/slide19.xml"/><Relationship Id="rId61" Type="http://schemas.openxmlformats.org/officeDocument/2006/relationships/slide" Target="slides/slide20.xml"/><Relationship Id="rId62" Type="http://schemas.openxmlformats.org/officeDocument/2006/relationships/slide" Target="slides/slide21.xml"/><Relationship Id="rId63" Type="http://schemas.openxmlformats.org/officeDocument/2006/relationships/slide" Target="slides/slide22.xml"/><Relationship Id="rId64" Type="http://schemas.openxmlformats.org/officeDocument/2006/relationships/slide" Target="slides/slide23.xml"/><Relationship Id="rId65" Type="http://schemas.openxmlformats.org/officeDocument/2006/relationships/slide" Target="slides/slide24.xml"/><Relationship Id="rId67" Type="http://schemas.openxmlformats.org/officeDocument/2006/relationships/slide" Target="slides/slide26.xml"/><Relationship Id="rId68" Type="http://schemas.openxmlformats.org/officeDocument/2006/relationships/slide" Target="slides/slide27.xml"/><Relationship Id="rId69" Type="http://schemas.openxmlformats.org/officeDocument/2006/relationships/slide" Target="slides/slide28.xml"/><Relationship Id="rId70" Type="http://schemas.openxmlformats.org/officeDocument/2006/relationships/slide" Target="slides/slide29.xml"/><Relationship Id="rId71" Type="http://schemas.openxmlformats.org/officeDocument/2006/relationships/slide" Target="slides/slide30.xml"/><Relationship Id="rId72" Type="http://schemas.openxmlformats.org/officeDocument/2006/relationships/slide" Target="slides/slide31.xml"/><Relationship Id="rId73" Type="http://schemas.openxmlformats.org/officeDocument/2006/relationships/slide" Target="slides/slide32.xml"/><Relationship Id="rId74" Type="http://schemas.openxmlformats.org/officeDocument/2006/relationships/slide" Target="slides/slide42.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9/30/26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Lecture 1 of 2 on Modeling: one model, one question. Lecture 2 turns to systems of many models. Today is learning how to make a model, not a catalogue of model types. [ASSUMPTION per plan section 8.1: deck filename 2-2-Modeling-1-Purposeful-Reduction.pptx pending author ratification.]</a:t>
            </a:r>
          </a:p>
          <a:p>
            <a:r>
              <a:rPr dirty="0"/>
              <a:t>Today’s spine is the production equation from the theory chapter. Delegation introduced that picture qualitatively; today we bring it back quantified and point at the one term Modeling acts on; Alignment will return to the same drawing from the other side. Open on it deliberately: the next three slides are the map for the whole of Act II, not a warm-up.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Bridge from the Agents unit (2-1): implementation is cheap to delegate, and we cannot and should not specify every realization choice. Delegation therefore creates a problem of representation: what matters must survive the hop from engineer to agent. Modeling is the discipline that answers it.</a:t>
            </a:r>
          </a:p>
          <a:p>
            <a:r>
              <a:rPr dirty="0"/>
              <a:t>Retitle rationale: the previous two slides just named the problem as representational, not merely informational. The hop is not a bandwidth shortage; it is an encode-and-recover chain. The engineer encodes (E), the agent interprets (I), so this picture is the first two factors of the decomposition drawn as people rather than as arithmetic. That is why the gap now carries E and I tags.</a:t>
            </a:r>
          </a:p>
          <a:p>
            <a:r>
              <a:rPr dirty="0"/>
              <a:t>The gap is a property of delegation, not a failure of the agent. Keep that line — students reach for “the agent was not smart enough” first, and the whole lecture depends on refusing it.</a:t>
            </a:r>
          </a:p>
          <a:p>
            <a:r>
              <a:rPr dirty="0"/>
              <a:t>Leave the question standing and do not answer it here: what must a representation preserve for this task? The rest of the lecture is the answer. About 1.5 minutes.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NOW the definition, and notice what just changed about it. It is no longer an assertion the students have to accept on faith — it is an explanation of five things they just watched. Every one of those diagrams left out almost everything, and every one of them was useful.</a:t>
            </a:r>
          </a:p>
          <a:p>
            <a:r>
              <a:rPr lang="en-US" dirty="0"/>
              <a:t>Read the definition aloud, slowly, once: a model is a representation in which some consequential question becomes cheap to answer. Both halves carry weight. CONSEQUENTIAL — not any question. CHEAP — not merely possible.</a:t>
            </a:r>
          </a:p>
          <a:p>
            <a:r>
              <a:rPr lang="en-US" dirty="0"/>
              <a:t>The premise line underneath is the pair of claims that used to open the lecture: a model is useful because it leaves things out, AND because it makes explicit what must remain. The tour earned both.</a:t>
            </a:r>
          </a:p>
          <a:p>
            <a:r>
              <a:rPr lang="en-US" dirty="0"/>
              <a:t>Say the strip line aloud once, here, because this is where the four questions are introduced and they return at every section break from now on: engineering question, model, property, quality.</a:t>
            </a:r>
          </a:p>
          <a:p>
            <a:r>
              <a:rPr lang="en-US" dirty="0"/>
              <a:t>A line worth keeping in your pocket if the room needs it: a reduction you can hold in view beats a faithful copy too large to reason through.</a:t>
            </a:r>
          </a:p>
          <a:p>
            <a:r>
              <a:rPr lang="en-US" dirty="0"/>
              <a:t>About two minutes. This slide closes Section 1 and hands off to Section 2, which stops asking WHAT models look like and starts asking how an engineer DECIDES what belongs in one.</a:t>
            </a: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Section 1 no longer argues that questions come first. It SHOWS it: five diagrams over one territory, then the thesis, then the definition.</a:t>
            </a:r>
          </a:p>
          <a:p>
            <a:r>
              <a:rPr lang="en-US" dirty="0"/>
              <a:t>State the tour's rule before starting it, so the pace does not read as rushing: the engineering question is the title, the diagram is the slide, and there is almost no prose. Forty-five to sixty seconds each. Five slides, about five minutes.</a:t>
            </a:r>
          </a:p>
          <a:p>
            <a:r>
              <a:rPr lang="en-US" dirty="0"/>
              <a:t>Do not teach notation syntax on any of them. If the room wants UML mechanics, that is what the reading is for.</a:t>
            </a:r>
          </a:p>
          <a:p>
            <a:r>
              <a:rPr lang="en-US" dirty="0"/>
              <a:t>The strip is the lecture's own discipline and it returns at every section break. This section is the ENGINEERING QUESTION beat — the highlighted box — because the tour's entire claim is that the question, not the notation, is what selects the model.</a:t>
            </a: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The conceptual center of the lecture. Two directions of reasoning - top-down from the obligation, bottom-up from the proposed model - then both worked live on one embedded system.</a:t>
            </a:r>
          </a:p>
          <a:p>
            <a:r>
              <a:rPr dirty="0"/>
              <a:t>Spine strip: MODEL stage highlighted (stage 2 of the recurring discipline from slide 9).</a:t>
            </a:r>
          </a:p>
          <a:p>
            <a:r>
              <a:rPr dirty="0"/>
              <a:t>ASSUMPTION (plan section 8.3): spine strip motif ENGINEERING QUESTION - MODEL - PROPERTY - QUALITY per the plan recommendation; author ratification pending.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Question to ask of every model: what must this model preserve? (R1.s15)</a:t>
            </a:r>
          </a:p>
          <a:p>
            <a:r>
              <a:rPr dirty="0"/>
              <a:t>Degrees of freedom, called back from the Architecture/Design unit: the obligation bounds acceptable realizations without choosing one.</a:t>
            </a:r>
          </a:p>
          <a:p>
            <a:r>
              <a:rPr dirty="0"/>
              <a:t>DOF is known freedom, not ignorance - we know these choices are open, and we leave them open on purpose.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For every represented distinction: what engineering question requires this? If none, why carry it?</a:t>
            </a:r>
          </a:p>
          <a:p>
            <a:r>
              <a:rPr dirty="0"/>
              <a:t>The correction matters (R1.s17): the target is the smallest model adequate to purpose, not the smallest model. Below adequate, the obligation is lost.</a:t>
            </a:r>
          </a:p>
          <a:p>
            <a:r>
              <a:rPr dirty="0"/>
              <a:t>Top-down finds what must remain; bottom-up challenges what we chose to keep (the couplet returns on the closing slide). Now we work both, live.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Territory an ECE student grasps in thirty seconds - that is why it, and not a software system, carries the method (plan section 7).</a:t>
            </a:r>
          </a:p>
          <a:p>
            <a:r>
              <a:rPr dirty="0"/>
              <a:t>Present territory before model; the model does not exist yet.</a:t>
            </a:r>
          </a:p>
          <a:p>
            <a:r>
              <a:rPr dirty="0"/>
              <a:t>Exactly one engineering question (R4 verbatim): can the controller exhaust the battery before completing an 8-hour operating period?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Ask the room: what do we need to reason about that? BEFORE revealing the model card.</a:t>
            </a:r>
          </a:p>
          <a:p>
            <a:r>
              <a:rPr dirty="0"/>
              <a:t>The obligation (8+ hours above minimum safe voltage) demands: battery usable energy, power by operating mode, time in each mode, the safety threshold. Nothing else.</a:t>
            </a:r>
          </a:p>
          <a:p>
            <a:r>
              <a:rPr dirty="0"/>
              <a:t>The system has become a small quantitative model; keep the math no harder than the sum (R4). The PROPERTY beat of the spine happens here - point at it.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The genuinely useful discussion (R4): if estimated power already incorporates CPU frequency, fan PWM, and Wi-Fi state, those details may be needed to DERIVE the estimate without living in THIS model.</a:t>
            </a:r>
          </a:p>
          <a:p>
            <a:r>
              <a:rPr dirty="0"/>
              <a:t>Not an obvious right answer; let the room argue briefly. That argument is the bottom-up test being practiced.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Worded as a CALLBACK to the diagram tour that closed on “Same territory, different questions”: the software version made this point across five models of one registration system; the embedded version closes the loop on territory you can feel. Say the callback aloud, do not re-teach it.</a:t>
            </a:r>
          </a:p>
          <a:p>
            <a:r>
              <a:rPr dirty="0"/>
              <a:t>Suddenly thermal mass, ambient temperature, heat generation and airflow matter — and battery capacity largely disappears.</a:t>
            </a:r>
          </a:p>
          <a:p>
            <a:r>
              <a:rPr dirty="0"/>
              <a:t>Closing hinge, spoken over the slide: we have judged what must remain. The next question is not whether we judged right — correspondence answers that, later — but how much of the answer we must tell the agent. That is the boundaries slide.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ROLE CHANGE, stated aloud: Section 2's controller taught how to reason. These two cases show how you find out whether the reasoning was right — a different job, not a second pass of the same lesson.</a:t>
            </a:r>
          </a:p>
          <a:p>
            <a:r>
              <a:rPr dirty="0"/>
              <a:t>Both production cases come from the instructor's production system. The lease's omission was vindicated; the account quota's was refuted. A hypothetical can teach judgment; only production can grade it. (Plan §7 — this section break exists to make the method/evidence split visible.)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The account carried a quota; the reduction kept one scalar, credits_remaining. Unlimited and exhausted are two different states of that account, and a single integer has room for only one of them — both arrive at the model as 0.</a:t>
            </a:r>
          </a:p>
          <a:p>
            <a:r>
              <a:rPr dirty="0"/>
              <a:t>Keep this off the user: the failure is not that somebody was refused, it is that the representation could not express a distinction the obligation required. Bottom-up said removable; the obligation said no. This is refutation — the omitted distinction actually mattered, and production said so.</a:t>
            </a:r>
          </a:p>
          <a:p>
            <a:r>
              <a:rPr dirty="0"/>
              <a:t>Once a distinction is discarded, no downstream reasoning can recover it. That is the limit you stated on “Capability cannot reduce what must be true” — here it is reaching production.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The lease model preserved owner, generation, lifetime, reclamation, and the forbidden transition: releasing a lease under a stale generation. It omitted the processing topology on purpose.</a:t>
            </a:r>
          </a:p>
          <a:p>
            <a:r>
              <a:rPr dirty="0"/>
              <a:t>The topology then really changed — the work was re-chunked and services rearranged — and nothing in the model moved. Vindication: the omission was tested by reality and passed. The omitted detail really was a degree of freedom, not something forgotten.</a:t>
            </a:r>
          </a:p>
          <a:p>
            <a:r>
              <a:rPr dirty="0"/>
              <a:t>The footer line is verbatim from the team.</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The first three rows are Section 2's vocabulary — candidate omission, top-down judgment, bottom-up judgment. The room has already used each of them on the controller. Only the evidence row is new: the method produces judgments; production grades them. That is the method/evidence split on one screen.</a:t>
            </a:r>
          </a:p>
          <a:p>
            <a:r>
              <a:rPr dirty="0"/>
              <a:t>One sentence on revision: a model is a provisional judgment, revised when evidence arrives. The richer account of how designs explored with agents harden into durable models stays in the book — mention it, do not slide it.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CLICK 1 — the two boundaries. The obligation boundary encloses what must be true. The specification boundary encloses what we actually write down. Between them sits the scaffolding: what this particular agent needs to interpret and realize the obligation reliably — examples, decomposition, intermediate structure. Outside the specification boundary, degrees of freedom, left to the realization.</a:t>
            </a:r>
          </a:p>
          <a:p>
            <a:r>
              <a:rPr dirty="0"/>
              <a:t>CLICK 2 — parsimony restated for delegation: how little must we specify while still preserving the obligation and still enabling THIS agent to realize it? A more capable agent needs fewer examples, less decomposition, less intermediate structure, so the dashed boundary moves toward the obligation.</a:t>
            </a:r>
          </a:p>
          <a:p>
            <a:r>
              <a:rPr dirty="0"/>
              <a:t>Watch what did NOT move: the core. That is the next slide.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The reduction happened upstream. However capable the downstream agent, nothing arrives for it to recover — the distinction no longer exists in the model. The obligation boundary is capability-invariant; the specification boundary is not. The limit is semantic, not a capability shortfall.</a:t>
            </a:r>
          </a:p>
          <a:p>
            <a:r>
              <a:rPr dirty="0"/>
              <a:t>THE REVEAL, in three beats. Beat 1: the chain from “Open the box”, unchanged, with the encoding factor set in bold. Beat 2: a perfect reasoner drives interpretation and realization to one. Beat 3: what is left is the limit — for a fixed representation R, p_R goes to P(E | R).</a:t>
            </a:r>
          </a:p>
          <a:p>
            <a:r>
              <a:rPr dirty="0"/>
              <a:t>Every symbol is already known: T, M, R and H from the production equation, E, I and L from the chain decomposition, obligation and scaffolding and degrees of freedom from the argument just made. That is why the limit was held back until here. Read it off the chain rather than announcing it — the room should watch the last two factors go to one.</a:t>
            </a:r>
          </a:p>
          <a:p>
            <a:r>
              <a:rPr dirty="0"/>
              <a:t>Say it in these words: a better M cannot recover a distinction that R failed to carry. An organization that has not determined and externalized the obligations governing its work cannot discharge them by purchasing a more capable reasoner.</a:t>
            </a:r>
          </a:p>
          <a:p>
            <a:r>
              <a:rPr dirty="0"/>
              <a:t>The opening band figure is deliberately NOT reprised here. At the size this slide can spare, its internal type projects at four to seven pixels, and its red MODELING CHANGES THE REPRESENTATION overlay would in any case fight a slide that argues a perfect reasoner stays bounded by P(E | R). The chain line carries the same recall at a size the back row can read.</a:t>
            </a:r>
          </a:p>
          <a:p>
            <a:r>
              <a:rPr dirty="0"/>
              <a:t>Forward tag: you will watch this limit reach production in the correspondence section, on the account-quota case — a distinction the model could not express, and production said so.</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~10 minutes including debrief. Students re-enter the controller cold — that is the retention test.</a:t>
            </a:r>
          </a:p>
          <a:p>
            <a:r>
              <a:rPr dirty="0"/>
              <a:t>Debrief challenge sequence (R4, verbatim): Do you need the RTOS scheduler algorithm? Maybe — not if a justified worst-case delay is already carried. The temperature? Only as the trigger. Wi-Fi? Only if it can interfere with timing. Battery voltage? Not for this question — unless voltage affects actuator response inside the envelope. That last chain is the judgment being practiced.</a:t>
            </a:r>
          </a:p>
          <a:p>
            <a:r>
              <a:rPr dirty="0"/>
              <a:t>The DEBRIEF label, the convergence chain, and the bound are hidden until the click — reveal only after teams have committed. The bound is the PROPERTY beat of the spine.</a:t>
            </a:r>
          </a:p>
          <a:p>
            <a:r>
              <a:rPr dirty="0"/>
              <a:t>[QR placeholder — form URL pending per plan §8.2; a finisher unit drops in the real QR PNG with alt text = URL.]</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~2-3 minutes. Post-Reduce placement; also the natural re-entry point if Reduce ran long.</a:t>
            </a:r>
          </a:p>
          <a:p>
            <a:r>
              <a:rPr dirty="0"/>
              <a:t>[ASSUMPTION per plan §8.4: the content brief never mentions a stretch break; one per deck recommended, placed after the mid-lecture activity.]</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A diagram is a representation, not a synonym for a model. The same recovery relation renders as a state diagram, a transition table, or structured text; the property — publication precedes the record — is statable whatever the encoding.</a:t>
            </a:r>
          </a:p>
          <a:p>
            <a:r>
              <a:rPr dirty="0"/>
              <a:t>Quiet setup for Deck 2: the same model can have several representations without making each representation an independent source of truth. Do not develop it further here.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Merged R1.s25+s26 — the probabilistic seed motivates the asymmetry in one move. Seed P(agent correctly interprets c | r) and STOP THERE: no expected loss, no utility, no economics. Two representations of the same intended model differ in how reliably the claim is recovered.</a:t>
            </a:r>
          </a:p>
          <a:p>
            <a:r>
              <a:rPr dirty="0"/>
              <a:t>The fourth question — Quality — just became concrete: does the representation make the consequential interpretation sufficiently likely? Later units use this probabilistic view systematically; today the seed is enough.</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~9 minutes. Makes P(interpret) tangible without estimating a number — do not ask students for a number.</a:t>
            </a:r>
          </a:p>
          <a:p>
            <a:r>
              <a:rPr dirty="0"/>
              <a:t>Both directions on purpose, because the lecture just taught that a model is not its representation: (a) one drawing under two stated semantics — different models from the same picture; (b) two different representations intended to express one model — the same model from different pictures.</a:t>
            </a:r>
          </a:p>
          <a:p>
            <a:r>
              <a:rPr dirty="0"/>
              <a:t>Debrief flexes 2 minutes either way — the deck's main timing valve.</a:t>
            </a:r>
          </a:p>
          <a:p>
            <a:r>
              <a:rPr dirty="0"/>
              <a:t>[QR placeholder — form URL pending per plan §8.2; a finisher unit drops in the real QR PNG with alt text = URL.]</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compresses to 1 if needed. Reprise, not new content — the couplet was earned in Section 2 — top-down, bottom-up, then the worked controller — and adjudicated on “Capability cannot reduce what must be true”. Read the couplet, land the ital line, then the teaser names Deck 2's problem in one sentence and stops.</a:t>
            </a:r>
          </a:p>
          <a:p>
            <a:r>
              <a:rPr dirty="0"/>
              <a:t>[QR placeholder — feedback form URL pending per plan §8.2; a finisher unit drops in the real QR PNG with alt text = URL.]</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Whole system before the lever. Put the equation up and ask the class to name the four terms before you reveal the labels; give it about a minute, no more.</a:t>
            </a:r>
          </a:p>
          <a:p>
            <a:r>
              <a:rPr dirty="0"/>
              <a:t>T is an engineering task or task family, M the reasoning model, R the representation available to it, H the harness and process through which production is organized. For a fixed engineering environment, p(T,M,R,H) is the probability that one attempt produces an acceptable candidate.</a:t>
            </a:r>
          </a:p>
          <a:p>
            <a:r>
              <a:rPr dirty="0"/>
              <a:t>Keep the thing they care about on screen: does the engineering system produce the thing? Four levers sit inside that one number, and an engineering organization can reach for any of them.</a:t>
            </a:r>
          </a:p>
          <a:p>
            <a:r>
              <a:rPr dirty="0"/>
              <a:t>Modeling is named on the picture behind you, but do not yet say which term it acts on. Naming the lever here spends the next slide’s move, which is to open the probability and point at the one term Modeling acts on. About 2.5 minutes including the naming exchange.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That single probability hides several distinct opportunities for failure. Open it: E is correct encoding of consequential intent, I correct interpretation of that encoding, L correct realization of the interpreted intent.</a:t>
            </a:r>
          </a:p>
          <a:p>
            <a:r>
              <a:rPr dirty="0"/>
              <a:t>Say the caveat out loud, and say it in these words: this is a chain decomposition, not an independence assumption. The stages will not in general be statistically independent. Students who have had a probability course will otherwise read the product as a claim of independence.</a:t>
            </a:r>
          </a:p>
          <a:p>
            <a:r>
              <a:rPr dirty="0"/>
              <a:t>LEVER DISTINCTION — the figure’s own annotations and the red arrow are about different levers, and a careless delivery makes the slide look self-contradicting. A better fabricator cannot raise P(E | R); a better representation can. Say exactly that. “Not raised by a better fabricator” sits under the first term, and the red arrow points at the same term, because the arrow is the representation lever and the annotation is the fabricator lever.</a:t>
            </a:r>
          </a:p>
          <a:p>
            <a:r>
              <a:rPr dirty="0"/>
              <a:t>R IN ALL THREE — long form puts an R in every factor, because one representation is held fixed across the whole chain. The overlay boxes only two. Name the asymmetry before a student asks: the lecture’s claim is about the two factors where representation does its work — did we manage to say the consequential thing, and did the agent manage to recover it. Realization is the agent doing work it already understood.</a:t>
            </a:r>
          </a:p>
          <a:p>
            <a:r>
              <a:rPr dirty="0"/>
              <a:t>The claim is deliberately twofold. Modeling helps the engineer encode consequential intent (P(E | R): did we manage to say it?) and helps the reasoner recover it (P(I | E, R): did the agent understand it?). After this slide, “we failed to say it” and “the agent failed to understand it” are two different failures with two different names.</a:t>
            </a:r>
          </a:p>
          <a:p>
            <a:r>
              <a:rPr dirty="0"/>
              <a:t>Do NOT show the limit equation here. It is held back to the capability slide later in the deck, where every symbol is already known.</a:t>
            </a:r>
          </a:p>
          <a:p>
            <a:r>
              <a:rPr dirty="0"/>
              <a:t>Click 2 brings in the red arrow and the closing question: so what makes one representation better than another? That question is the rest of the lecture. About 3 minutes.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Twenty to sixty seconds. Name the form aloud once — this is a class diagram, the repertoire's answer to the what-exists question — and then move.</a:t>
            </a:r>
          </a:p>
          <a:p>
            <a:r>
              <a:rPr lang="en-US" dirty="0"/>
              <a:t>Name the territory once, here, and never set it up again: the course-registration system every person in this room has fought. That is why it was chosen. Zero setup cost per slide is what buys us five diagrams in ten minutes.</a:t>
            </a:r>
          </a:p>
          <a:p>
            <a:r>
              <a:rPr lang="en-US" dirty="0"/>
              <a:t>Do NOT teach notation. If someone asks what the 0..* means, answer in four words and move on. The tour is an existence proof, not a syntax lesson.</a:t>
            </a:r>
          </a:p>
          <a:p>
            <a:r>
              <a:rPr lang="en-US" dirty="0"/>
              <a:t>What this diagram preserves: which things exist and how they connect. What it throws away: order, timing, state, who wants what. Every one of those omissions is deliberate, and the next four slides each rescue exactly one of them.</a:t>
            </a:r>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Same territory. New question. Say that sentence, because it is the whole argument of the section and this is the first slide where students can verify it themselves.</a:t>
            </a:r>
          </a:p>
          <a:p>
            <a:r>
              <a:rPr lang="en-US" dirty="0"/>
              <a:t>Nothing about classes survives here. There is no inheritance, no attribute, no multiplicity. The entities appear only as lifelines — names with a timeline attached.</a:t>
            </a:r>
          </a:p>
          <a:p>
            <a:r>
              <a:rPr lang="en-US" dirty="0"/>
              <a:t>What this preserves that the class diagram could not: ORDER. The capacity check happens before the enrollment is created. That ordering is a fact about the system the previous diagram was structurally incapable of stating.</a:t>
            </a:r>
          </a:p>
          <a:p>
            <a:r>
              <a:rPr lang="en-US" dirty="0"/>
              <a:t>One breath, then move.</a:t>
            </a:r>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territory's catalog side, not its enrollment side: a course proposal moving through registrar approval into the published catalog.</a:t>
            </a:r>
          </a:p>
          <a:p>
            <a:r>
              <a:rPr lang="en-US" dirty="0"/>
              <a:t>The content is the ILLEGALITY, not the legality. There is no arrow from Draft to Published. A model of states is mostly a statement about what cannot happen, and that is the first hint of Section 2's obligation argument.</a:t>
            </a:r>
          </a:p>
          <a:p>
            <a:r>
              <a:rPr lang="en-US" dirty="0"/>
              <a:t>The revise edge back to Draft is what makes this a machine rather than a pipeline. Point at it for one second.</a:t>
            </a:r>
          </a:p>
          <a:p>
            <a:r>
              <a:rPr lang="en-US" dirty="0"/>
              <a:t>BUILD NOTE, not spoken: this exact artwork returns in Section 3 as the one-model-many-implementations anchor. Visual identity between the two placements is required — it is literally the same image file. Do not let a later edit re-draw either one.</a:t>
            </a:r>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BRANCH is the content. Everything else on this slide is scaffolding for the diamond.</a:t>
            </a:r>
          </a:p>
          <a:p>
            <a:r>
              <a:rPr lang="en-US" dirty="0"/>
              <a:t>One breath on how this differs from the sequence view, because students reliably conflate them: the sequence diagram asked WHO participates and in what order; this asks which PATHS execution can take. Same capacity check, two different questions about it.</a:t>
            </a:r>
          </a:p>
          <a:p>
            <a:r>
              <a:rPr lang="en-US" dirty="0"/>
              <a:t>Both diagrams are correct. Neither is more true. They preserve different distinctions because they were built to answer different questions — which is the thesis two slides from now, arriving by demonstration rather than by assertion.</a:t>
            </a:r>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Say this explicitly, because it is the beat students most often miss: this is a different ENGINEERING QUESTION, not merely a different notation. The previous four diagrams all described the system's insides. This one steps outside it and asks who wants something from it.</a:t>
            </a:r>
          </a:p>
          <a:p>
            <a:r>
              <a:rPr lang="en-US" dirty="0"/>
              <a:t>The actors are not classes. Registrar is not a table; it is a role that needs something.</a:t>
            </a:r>
          </a:p>
          <a:p>
            <a:r>
              <a:rPr lang="en-US" dirty="0"/>
              <a:t>Drop a course is drawn slightly accented on purpose — Section 3 starts its refinement chain from exactly that use case. Do not flag it now; it should feel like a callback later, not a forward reference now.</a:t>
            </a:r>
          </a:p>
          <a:p>
            <a:r>
              <a:rPr lang="en-US" dirty="0"/>
              <a:t>Last tour beat. The next slide is the punchline — do not deliver it here.</a:t>
            </a:r>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Five artifacts. One territory. Not one of them is the system, and not one of them is wrong.</a:t>
            </a:r>
          </a:p>
          <a:p>
            <a:r>
              <a:rPr lang="en-US" dirty="0"/>
              <a:t>The spoken line, and it is the section's thesis: hold the system constant, change the question, watch the model change. Different questions preserve different distinctions.</a:t>
            </a:r>
          </a:p>
          <a:p>
            <a:r>
              <a:rPr lang="en-US" dirty="0"/>
              <a:t>This is where COMPLETENESS stops being a measure of model quality. None of these five is trying to be complete, and a version of any of them that tried would be worse. That point was asserted on a slide in the old deck; here the students have just watched it happen five times, which is why the assertion has been deleted.</a:t>
            </a:r>
          </a:p>
          <a:p>
            <a:r>
              <a:rPr lang="en-US" dirty="0"/>
              <a:t>Do not walk all five again. Point, land the thesis, move. Forty-five seconds.</a:t>
            </a:r>
          </a:p>
          <a:p>
            <a:r>
              <a:rPr lang="en-US" dirty="0"/>
              <a:t>Callback anchor: this slide is what the embedded battery example later reprises. When the controller's energy model and thermal model arrive in Section 2, the line is — you have seen this already, in software, on the tour; here it is on territory you can feel.</a:t>
            </a:r>
          </a:p>
          <a:p>
            <a:r>
              <a:rPr lang="en-US" dirty="0"/>
              <a:t>NAME THE FIVE DISTINCTIONS ALOUD while pointing, one per card — this is the evidence for the second half of the thesis, and the thumbnails are too small to carry it on their own: structure, order, lifecycle, branching, intent. Five questions, five things worth keeping, one territory.</a:t>
            </a:r>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One slide, ninety seconds, and a named flex point — this is the first thing to compress if the room is running long.</a:t>
            </a:r>
          </a:p>
          <a:p>
            <a:r>
              <a:rPr lang="en-US" dirty="0"/>
              <a:t>The job is one claim and one claim only: modeling is an extant engineering practice with living tools, not a conceptual vocabulary invented last year for agents. The UML tradition and the MBSE tradition are decades old and still under active development.</a:t>
            </a:r>
          </a:p>
          <a:p>
            <a:r>
              <a:rPr lang="en-US" dirty="0"/>
              <a:t>BESSER comes out of Jordi Cabot's group — the same tradition as the Model-Driven Software Engineering in Practice textbook. It is MIT-licensed and current.</a:t>
            </a:r>
          </a:p>
          <a:p>
            <a:r>
              <a:rPr lang="en-US" dirty="0"/>
              <a:t>Do NOT teach the tool, and do NOT catalogue Cabot's work. Read the tagline off the screen — build software from a model, draw it in the browser or define it in Python, then generate the code — and let that be the argument. The students can go find it themselves.</a:t>
            </a:r>
          </a:p>
          <a:p>
            <a:r>
              <a:rPr lang="en-US" dirty="0"/>
              <a:t>The takeaway line is the survivor of two deleted catalog slides: the forms already exist, so select before you invent. That is the practical instruction the old six-box gallery was trying to deliver, minus the gallery.</a:t>
            </a:r>
          </a:p>
          <a:p>
            <a:r>
              <a:rPr lang="en-US" dirty="0"/>
              <a:t>Screenshot provenance: besser.readthedocs.io, captured 2026-09-30, used for teaching and attributed on the slide.</a:t>
            </a:r>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1.5 minutes — We ended Delegation with this picture. The agent does not work alone; it works inside an engineered environment.</a:t>
            </a:r>
          </a:p>
          <a:p/>
          <a:p>
            <a:r>
              <a:rPr dirty="0"/>
              <a:t>- This is the master picture for the rest of Act II, and here it is still entirely qualitative. We are the ones bringing it back and putting numbers on it, starting today.</a:t>
            </a:r>
          </a:p>
          <a:p>
            <a:r>
              <a:rPr dirty="0"/>
              <a:t>- The path first. A task enters, a reasoner works, an artifact comes out. Nothing on this row is new — read it back, do not re-teach it.</a:t>
            </a:r>
          </a:p>
          <a:p>
            <a:r>
              <a:rPr dirty="0"/>
              <a:t>- Click one. MODELS is the one station drawn with a heavy rim, and its arrow enters the path BEFORE the reasoner runs. Leave the claim open: the arrow lands before the reasoner, and why that should matter is the question this lecture answers. Do NOT say what the models "set" — you have not earned it yet.</a:t>
            </a:r>
          </a:p>
          <a:p>
            <a:r>
              <a:rPr dirty="0"/>
              <a:t>- Today we are going to open up the left-hand side. In particular, what does putting a model between engineering intent and the reasoner actually change?</a:t>
            </a:r>
          </a:p>
          <a:p>
            <a:r>
              <a:rPr dirty="0"/>
              <a:t>- Click two. ALIGNMENT is the only annotation whose arrow crosses the boundary of the environment. We will return to the blue Alignment boundary later. For now, leave it in the picture but do not explain it — the on-slide gloss "governs what may pass" is all it gets, and declining to open a door you just revealed is a stronger deferral than never drawing it.</a:t>
            </a:r>
          </a:p>
          <a:p>
            <a:r>
              <a:rPr dirty="0"/>
              <a:t>- Click three raises the question the rest of the lecture answers. Ask it, then leave it standing: what must a representation preserve for this task?</a:t>
            </a:r>
          </a:p>
          <a:p>
            <a:r>
              <a:rPr dirty="0"/>
              <a:t>- The colour code belongs to this PICTURE, not to the deck: red is Modeling's lever, blue is Alignment's, and it returns whenever the picture returns. Nothing here rests on colour alone — the words carry it, and so does the drawing: Modeling's stroke is solid and lands on the path, Alignment's are dashed because passage is conditional, and only Alignment's crosses the boundary.</a:t>
            </a:r>
          </a:p>
          <a:p>
            <a:r>
              <a:rPr dirty="0"/>
              <a:t>- Leave the space under the station row empty and do not fill it. Two slides from here, on "Open the box", that is exactly where the arithmetic arrives.</a:t>
            </a:r>
          </a:p>
          <a:p>
            <a:r>
              <a:rPr dirty="0"/>
              <a:t>- FORWARD HOOK, and you must say it out loud when you get there: on "Open the box", beat two, name this red arrow — "there it is: R is in the first two factors; that is what the arrow was pointing at." The visual rhyme will not connect itself.</a:t>
            </a:r>
          </a:p>
          <a:p>
            <a:r>
              <a:rPr dirty="0"/>
              <a:t>- Next we put a number on the production process.</a:t>
            </a:r>
          </a:p>
        </p:txBody>
      </p:sp>
    </p:spTree>
  </p:cSld>
  <p:clrMapOvr>
    <a:masterClrMapping/>
  </p:clrMapOvr>
</p:notes>
</file>

<file path=ppt/slideLayouts/_rels/slideLayout1.xml.rels><?xml version="1.0" encoding="UTF-8"?><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xml:space="preserve">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xml:space="preserve">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400">
                <a:solidFill>
                  <a:srgbClr val="555960"/>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39.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40.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41.xml"/></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DD7291C3-5AE9-477A-3F39-34A06A62D99C}"/>
              </a:ext>
            </a:extLst>
          </p:cNvPr>
          <p:cNvSpPr txBox="1">
            <a:spLocks/>
          </p:cNvSpPr>
          <p:nvPr/>
        </p:nvSpPr>
        <p:spPr bwMode="black">
          <a:xfrm>
            <a:off x="439339" y="565149"/>
            <a:ext cx="8265319" cy="1195411"/>
          </a:xfrm>
          <a:prstGeom prst="rect">
            <a:avLst/>
          </a:prstGeom>
          <a:solidFill>
            <a:srgbClr val="FFFFFF"/>
          </a:solidFill>
          <a:ln w="31750" cap="sq">
            <a:no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3600" kern="1200" cap="none" spc="200" baseline="0">
                <a:solidFill>
                  <a:srgbClr val="000000"/>
                </a:solidFill>
                <a:latin typeface="Calibri" panose="020F0502020204030204" pitchFamily="34" charset="0"/>
                <a:ea typeface="+mj-ea"/>
                <a:cs typeface="Calibri" panose="020F0502020204030204" pitchFamily="34" charset="0"/>
              </a:defRPr>
            </a:lvl1pPr>
          </a:lstStyle>
          <a:p>
            <a:r>
              <a:rPr lang="en-US" sz="2000" i="1" dirty="0"/>
              <a:t>Software Engineering</a:t>
            </a:r>
            <a:br>
              <a:rPr lang="en-US" sz="2000" i="1" dirty="0"/>
            </a:br>
            <a:br>
              <a:rPr lang="en-US" sz="2000" i="1" dirty="0"/>
            </a:br>
            <a:r>
              <a:rPr lang="en-US" sz="1600" i="1" dirty="0"/>
              <a:t>ECE 30861 / CSCI 45000</a:t>
            </a:r>
            <a:endParaRPr lang="en-US" sz="2000" i="1" dirty="0"/>
          </a:p>
        </p:txBody>
      </p:sp>
      <p:sp>
        <p:nvSpPr>
          <p:cNvPr id="3" name="Slide Number Placeholder 5"/>
          <p:cNvSpPr>
            <a:spLocks noGrp="1"/>
          </p:cNvSpPr>
          <p:nvPr>
            <p:ph type="sldNum" sz="quarter" idx="4"/>
          </p:nvPr>
        </p:nvSpPr>
        <p:spPr/>
        <p:txBody>
          <a:bodyPr/>
          <a:lstStyle/>
          <a:p>
            <a:fld id="{B7EB45DA-9A0D-DC49-8E02-F30A5DDC21C3}" type="slidenum">
              <a:rPr lang="en-US" smtClean="0"/>
              <a:t>1</a:t>
            </a:fld>
            <a:endParaRPr lang="en-US"/>
          </a:p>
        </p:txBody>
      </p:sp>
      <p:sp>
        <p:nvSpPr>
          <p:cNvPr id="100" name="TitleBlock"/>
          <p:cNvSpPr txBox="1"/>
          <p:nvPr/>
        </p:nvSpPr>
        <p:spPr>
          <a:xfrm>
            <a:off x="224028" y="1829140"/>
            <a:ext cx="8695944" cy="2148840"/>
          </a:xfrm>
          <a:prstGeom prst="rect">
            <a:avLst/>
          </a:prstGeom>
          <a:noFill/>
          <a:ln>
            <a:noFill/>
          </a:ln>
        </p:spPr>
        <p:txBody>
          <a:bodyPr wrap="square" lIns="0" tIns="0" rIns="0" bIns="0" anchor="t"/>
          <a:lstStyle/>
          <a:p>
            <a:pPr algn="ctr">
              <a:buNone/>
            </a:pPr>
            <a:r>
              <a:rPr lang="en-US" sz="4000" b="0" i="0" dirty="0">
                <a:solidFill>
                  <a:srgbClr val="000000"/>
                </a:solidFill>
              </a:rPr>
              <a:t>Modeling: Purposeful Reduction</a:t>
            </a:r>
          </a:p>
          <a:p>
            <a:pPr algn="ctr">
              <a:buNone/>
            </a:pPr>
            <a:r>
              <a:rPr lang="en-US" sz="2300" b="0" i="1" dirty="0">
                <a:solidFill>
                  <a:srgbClr val="8E6F3E"/>
                </a:solidFill>
              </a:rPr>
              <a:t>What must the model preserve?</a:t>
            </a:r>
          </a:p>
          <a:p>
            <a:pPr algn="ctr">
              <a:buNone/>
            </a:pPr>
            <a:r>
              <a:rPr lang="en-US" sz="2000" b="0" i="1" dirty="0">
                <a:solidFill>
                  <a:srgbClr val="000000"/>
                </a:solidFill>
              </a:rPr>
              <a:t>Prof. James C. Davis</a:t>
            </a:r>
          </a:p>
          <a:p>
            <a:pPr algn="ctr">
              <a:buNone/>
            </a:pPr>
            <a:r>
              <a:rPr lang="en-US" sz="2000" b="0" i="1" dirty="0">
                <a:solidFill>
                  <a:srgbClr val="000000"/>
                </a:solidFill>
              </a:rPr>
              <a:t>Prof. Steve France</a:t>
            </a:r>
          </a:p>
        </p:txBody>
      </p:sp>
      <p:cxnSp>
        <p:nvCxnSpPr>
          <p:cNvPr id="212" name="RAr1"/>
          <p:cNvCxnSpPr/>
          <p:nvPr/>
        </p:nvCxnSpPr>
        <p:spPr>
          <a:xfrm>
            <a:off x="2903015" y="3963221"/>
            <a:ext cx="548640" cy="0"/>
          </a:xfrm>
          <a:prstGeom prst="straightConnector1">
            <a:avLst/>
          </a:prstGeom>
          <a:ln w="57150">
            <a:solidFill>
              <a:srgbClr val="8E6F3E"/>
            </a:solidFill>
            <a:tailEnd type="triangle" w="med" len="med"/>
          </a:ln>
        </p:spPr>
      </p:cxnSp>
      <p:cxnSp>
        <p:nvCxnSpPr>
          <p:cNvPr id="223" name="RAr2"/>
          <p:cNvCxnSpPr/>
          <p:nvPr/>
        </p:nvCxnSpPr>
        <p:spPr>
          <a:xfrm>
            <a:off x="5615862" y="3963221"/>
            <a:ext cx="548640" cy="0"/>
          </a:xfrm>
          <a:prstGeom prst="straightConnector1">
            <a:avLst/>
          </a:prstGeom>
          <a:ln w="57150">
            <a:solidFill>
              <a:srgbClr val="8E6F3E"/>
            </a:solidFill>
            <a:headEnd type="triangle" w="med" len="med"/>
          </a:ln>
        </p:spPr>
      </p:cxnSp>
      <p:grpSp>
        <p:nvGrpSpPr>
          <p:cNvPr id="17" name="Group 16">
            <a:extLst>
              <a:ext uri="{FF2B5EF4-FFF2-40B4-BE49-F238E27FC236}">
                <a16:creationId xmlns:a16="http://schemas.microsoft.com/office/drawing/2014/main" id="{AC5098E7-4E8B-C248-A6EB-785537FE5FB8}"/>
              </a:ext>
            </a:extLst>
          </p:cNvPr>
          <p:cNvGrpSpPr/>
          <p:nvPr/>
        </p:nvGrpSpPr>
        <p:grpSpPr>
          <a:xfrm>
            <a:off x="3928755" y="3870568"/>
            <a:ext cx="1371600" cy="684754"/>
            <a:chOff x="4606290" y="4254246"/>
            <a:chExt cx="1371600" cy="684754"/>
          </a:xfrm>
        </p:grpSpPr>
        <p:sp>
          <p:nvSpPr>
            <p:cNvPr id="220" name="MS0"/>
            <p:cNvSpPr/>
            <p:nvPr/>
          </p:nvSpPr>
          <p:spPr>
            <a:xfrm>
              <a:off x="4903470" y="4254246"/>
              <a:ext cx="182880" cy="182880"/>
            </a:xfrm>
            <a:prstGeom prst="rect">
              <a:avLst/>
            </a:prstGeom>
            <a:solidFill>
              <a:srgbClr val="C9B991"/>
            </a:solidFill>
            <a:ln>
              <a:noFill/>
            </a:ln>
          </p:spPr>
          <p:txBody>
            <a:bodyPr/>
            <a:lstStyle/>
            <a:p>
              <a:endParaRPr lang="en-US"/>
            </a:p>
          </p:txBody>
        </p:sp>
        <p:sp>
          <p:nvSpPr>
            <p:cNvPr id="221" name="MS1"/>
            <p:cNvSpPr/>
            <p:nvPr/>
          </p:nvSpPr>
          <p:spPr>
            <a:xfrm>
              <a:off x="5177790" y="4254246"/>
              <a:ext cx="182880" cy="182880"/>
            </a:xfrm>
            <a:prstGeom prst="ellipse">
              <a:avLst/>
            </a:prstGeom>
            <a:solidFill>
              <a:srgbClr val="C9B991"/>
            </a:solidFill>
            <a:ln>
              <a:noFill/>
            </a:ln>
          </p:spPr>
          <p:txBody>
            <a:bodyPr/>
            <a:lstStyle/>
            <a:p>
              <a:endParaRPr lang="en-US"/>
            </a:p>
          </p:txBody>
        </p:sp>
        <p:sp>
          <p:nvSpPr>
            <p:cNvPr id="222" name="MS2"/>
            <p:cNvSpPr/>
            <p:nvPr/>
          </p:nvSpPr>
          <p:spPr>
            <a:xfrm>
              <a:off x="5452110" y="4311396"/>
              <a:ext cx="228600" cy="68580"/>
            </a:xfrm>
            <a:prstGeom prst="rect">
              <a:avLst/>
            </a:prstGeom>
            <a:solidFill>
              <a:srgbClr val="C9B991"/>
            </a:solidFill>
            <a:ln>
              <a:noFill/>
            </a:ln>
          </p:spPr>
          <p:txBody>
            <a:bodyPr/>
            <a:lstStyle/>
            <a:p>
              <a:endParaRPr lang="en-US"/>
            </a:p>
          </p:txBody>
        </p:sp>
        <p:sp>
          <p:nvSpPr>
            <p:cNvPr id="226" name="LblModel"/>
            <p:cNvSpPr txBox="1"/>
            <p:nvPr/>
          </p:nvSpPr>
          <p:spPr>
            <a:xfrm>
              <a:off x="4606290" y="4699000"/>
              <a:ext cx="1371600" cy="240000"/>
            </a:xfrm>
            <a:prstGeom prst="rect">
              <a:avLst/>
            </a:prstGeom>
            <a:noFill/>
            <a:ln>
              <a:noFill/>
            </a:ln>
          </p:spPr>
          <p:txBody>
            <a:bodyPr wrap="square" lIns="0" tIns="0" rIns="0" bIns="0" anchor="t"/>
            <a:lstStyle/>
            <a:p>
              <a:pPr algn="ctr">
                <a:spcAft>
                  <a:spcPts val="0"/>
                </a:spcAft>
                <a:buNone/>
              </a:pPr>
              <a:r>
                <a:rPr lang="en-US" sz="1400" b="1" dirty="0">
                  <a:solidFill>
                    <a:srgbClr val="8E6F3E"/>
                  </a:solidFill>
                </a:rPr>
                <a:t>MODEL</a:t>
              </a:r>
            </a:p>
          </p:txBody>
        </p:sp>
      </p:grpSp>
      <p:grpSp>
        <p:nvGrpSpPr>
          <p:cNvPr id="18" name="Group 17">
            <a:extLst>
              <a:ext uri="{FF2B5EF4-FFF2-40B4-BE49-F238E27FC236}">
                <a16:creationId xmlns:a16="http://schemas.microsoft.com/office/drawing/2014/main" id="{DD69ACE2-8677-E377-1F0F-4C6678A1F180}"/>
              </a:ext>
            </a:extLst>
          </p:cNvPr>
          <p:cNvGrpSpPr/>
          <p:nvPr/>
        </p:nvGrpSpPr>
        <p:grpSpPr>
          <a:xfrm>
            <a:off x="1262400" y="3757776"/>
            <a:ext cx="1371600" cy="753334"/>
            <a:chOff x="2146730" y="4130536"/>
            <a:chExt cx="1371600" cy="753334"/>
          </a:xfrm>
        </p:grpSpPr>
        <p:sp>
          <p:nvSpPr>
            <p:cNvPr id="224" name="ReqIcon"/>
            <p:cNvSpPr/>
            <p:nvPr/>
          </p:nvSpPr>
          <p:spPr>
            <a:xfrm>
              <a:off x="2672510" y="4130536"/>
              <a:ext cx="320040" cy="320040"/>
            </a:xfrm>
            <a:custGeom>
              <a:avLst/>
              <a:gdLst/>
              <a:ahLst/>
              <a:cxnLst/>
              <a:rect l="0" t="0" r="320040" b="320040"/>
              <a:pathLst>
                <a:path w="320040" h="320040" fill="none">
                  <a:moveTo>
                    <a:pt x="48006" y="176022"/>
                  </a:moveTo>
                  <a:lnTo>
                    <a:pt x="128016" y="264033"/>
                  </a:lnTo>
                  <a:lnTo>
                    <a:pt x="272034" y="64008"/>
                  </a:lnTo>
                </a:path>
              </a:pathLst>
            </a:custGeom>
            <a:noFill/>
            <a:ln w="57150" cap="rnd">
              <a:solidFill>
                <a:srgbClr val="8E6F3E"/>
              </a:solidFill>
              <a:round/>
            </a:ln>
          </p:spPr>
          <p:txBody>
            <a:bodyPr/>
            <a:lstStyle/>
            <a:p>
              <a:endParaRPr lang="en-US"/>
            </a:p>
          </p:txBody>
        </p:sp>
        <p:sp>
          <p:nvSpPr>
            <p:cNvPr id="227" name="LblObligation"/>
            <p:cNvSpPr txBox="1"/>
            <p:nvPr/>
          </p:nvSpPr>
          <p:spPr>
            <a:xfrm>
              <a:off x="2146730" y="4643870"/>
              <a:ext cx="1371600" cy="240000"/>
            </a:xfrm>
            <a:prstGeom prst="rect">
              <a:avLst/>
            </a:prstGeom>
            <a:noFill/>
            <a:ln>
              <a:noFill/>
            </a:ln>
          </p:spPr>
          <p:txBody>
            <a:bodyPr wrap="square" lIns="0" tIns="0" rIns="0" bIns="0" anchor="t"/>
            <a:lstStyle/>
            <a:p>
              <a:pPr algn="ctr">
                <a:spcAft>
                  <a:spcPts val="0"/>
                </a:spcAft>
                <a:buNone/>
              </a:pPr>
              <a:r>
                <a:rPr lang="en-US" sz="1400" b="1" dirty="0">
                  <a:solidFill>
                    <a:srgbClr val="8E6F3E"/>
                  </a:solidFill>
                </a:rPr>
                <a:t>OBLIGATION</a:t>
              </a:r>
            </a:p>
          </p:txBody>
        </p:sp>
      </p:grpSp>
      <p:sp>
        <p:nvSpPr>
          <p:cNvPr id="109" name="TwoLines"/>
          <p:cNvSpPr txBox="1"/>
          <p:nvPr/>
        </p:nvSpPr>
        <p:spPr>
          <a:xfrm>
            <a:off x="224028" y="4956048"/>
            <a:ext cx="8695944" cy="822960"/>
          </a:xfrm>
          <a:prstGeom prst="rect">
            <a:avLst/>
          </a:prstGeom>
          <a:noFill/>
          <a:ln>
            <a:noFill/>
          </a:ln>
        </p:spPr>
        <p:txBody>
          <a:bodyPr wrap="square" lIns="0" tIns="0" rIns="0" bIns="0" anchor="t"/>
          <a:lstStyle/>
          <a:p>
            <a:pPr algn="ctr">
              <a:buNone/>
            </a:pPr>
            <a:r>
              <a:rPr lang="en-US" sz="2000" b="0" i="0" dirty="0">
                <a:solidFill>
                  <a:srgbClr val="555960"/>
                </a:solidFill>
              </a:rPr>
              <a:t xml:space="preserve">Lecture 1 </a:t>
            </a:r>
            <a:r>
              <a:rPr lang="en-US" sz="2000" dirty="0">
                <a:solidFill>
                  <a:srgbClr val="555960"/>
                </a:solidFill>
              </a:rPr>
              <a:t>(today)</a:t>
            </a:r>
            <a:r>
              <a:rPr lang="en-US" sz="2000" b="0" i="0" dirty="0">
                <a:solidFill>
                  <a:srgbClr val="555960"/>
                </a:solidFill>
              </a:rPr>
              <a:t xml:space="preserve">: </a:t>
            </a:r>
            <a:r>
              <a:rPr lang="en-US" sz="2000" dirty="0">
                <a:solidFill>
                  <a:srgbClr val="555960"/>
                </a:solidFill>
              </a:rPr>
              <a:t>O</a:t>
            </a:r>
            <a:r>
              <a:rPr lang="en-US" sz="2000" b="0" i="0" dirty="0">
                <a:solidFill>
                  <a:srgbClr val="555960"/>
                </a:solidFill>
              </a:rPr>
              <a:t>ne model, one question.</a:t>
            </a:r>
          </a:p>
          <a:p>
            <a:pPr algn="ctr">
              <a:spcBef>
                <a:spcPts val="160"/>
              </a:spcBef>
              <a:buNone/>
            </a:pPr>
            <a:r>
              <a:rPr lang="en-US" sz="2000" b="0" i="0" dirty="0">
                <a:solidFill>
                  <a:srgbClr val="555960"/>
                </a:solidFill>
              </a:rPr>
              <a:t>Lecture 2: Modeling larger systems</a:t>
            </a:r>
          </a:p>
        </p:txBody>
      </p:sp>
      <p:grpSp>
        <p:nvGrpSpPr>
          <p:cNvPr id="19" name="Group 18">
            <a:extLst>
              <a:ext uri="{FF2B5EF4-FFF2-40B4-BE49-F238E27FC236}">
                <a16:creationId xmlns:a16="http://schemas.microsoft.com/office/drawing/2014/main" id="{6F3A5A9A-02FE-680C-23F4-3B3CEC707CD7}"/>
              </a:ext>
            </a:extLst>
          </p:cNvPr>
          <p:cNvGrpSpPr/>
          <p:nvPr/>
        </p:nvGrpSpPr>
        <p:grpSpPr>
          <a:xfrm>
            <a:off x="6732270" y="3639682"/>
            <a:ext cx="1508760" cy="915640"/>
            <a:chOff x="6691685" y="4023360"/>
            <a:chExt cx="1508760" cy="915640"/>
          </a:xfrm>
        </p:grpSpPr>
        <p:sp>
          <p:nvSpPr>
            <p:cNvPr id="4" name="M0">
              <a:extLst>
                <a:ext uri="{FF2B5EF4-FFF2-40B4-BE49-F238E27FC236}">
                  <a16:creationId xmlns:a16="http://schemas.microsoft.com/office/drawing/2014/main" id="{E193AD8B-3A76-AD0C-5D1D-311D7DD87F69}"/>
                </a:ext>
              </a:extLst>
            </p:cNvPr>
            <p:cNvSpPr/>
            <p:nvPr/>
          </p:nvSpPr>
          <p:spPr>
            <a:xfrm>
              <a:off x="6691685" y="4050792"/>
              <a:ext cx="182880" cy="182880"/>
            </a:xfrm>
            <a:prstGeom prst="rect">
              <a:avLst/>
            </a:prstGeom>
            <a:solidFill>
              <a:srgbClr val="C9B991"/>
            </a:solidFill>
            <a:ln>
              <a:noFill/>
            </a:ln>
          </p:spPr>
          <p:txBody>
            <a:bodyPr/>
            <a:lstStyle/>
            <a:p>
              <a:endParaRPr lang="en-US"/>
            </a:p>
          </p:txBody>
        </p:sp>
        <p:sp>
          <p:nvSpPr>
            <p:cNvPr id="5" name="M1">
              <a:extLst>
                <a:ext uri="{FF2B5EF4-FFF2-40B4-BE49-F238E27FC236}">
                  <a16:creationId xmlns:a16="http://schemas.microsoft.com/office/drawing/2014/main" id="{0DC84FBB-88D2-3F25-9332-9C5D93E6ED90}"/>
                </a:ext>
              </a:extLst>
            </p:cNvPr>
            <p:cNvSpPr/>
            <p:nvPr/>
          </p:nvSpPr>
          <p:spPr>
            <a:xfrm>
              <a:off x="6920285" y="4279392"/>
              <a:ext cx="137160" cy="137160"/>
            </a:xfrm>
            <a:prstGeom prst="ellipse">
              <a:avLst/>
            </a:prstGeom>
            <a:solidFill>
              <a:srgbClr val="C9B991"/>
            </a:solidFill>
            <a:ln>
              <a:noFill/>
            </a:ln>
          </p:spPr>
          <p:txBody>
            <a:bodyPr/>
            <a:lstStyle/>
            <a:p>
              <a:endParaRPr lang="en-US"/>
            </a:p>
          </p:txBody>
        </p:sp>
        <p:sp>
          <p:nvSpPr>
            <p:cNvPr id="6" name="M2">
              <a:extLst>
                <a:ext uri="{FF2B5EF4-FFF2-40B4-BE49-F238E27FC236}">
                  <a16:creationId xmlns:a16="http://schemas.microsoft.com/office/drawing/2014/main" id="{8DA0E25E-2504-8971-F95B-6AD925DBEA12}"/>
                </a:ext>
              </a:extLst>
            </p:cNvPr>
            <p:cNvSpPr/>
            <p:nvPr/>
          </p:nvSpPr>
          <p:spPr>
            <a:xfrm>
              <a:off x="6794555" y="4576572"/>
              <a:ext cx="228600" cy="68580"/>
            </a:xfrm>
            <a:prstGeom prst="rect">
              <a:avLst/>
            </a:prstGeom>
            <a:solidFill>
              <a:srgbClr val="C9B991"/>
            </a:solidFill>
            <a:ln>
              <a:noFill/>
            </a:ln>
          </p:spPr>
          <p:txBody>
            <a:bodyPr/>
            <a:lstStyle/>
            <a:p>
              <a:endParaRPr lang="en-US"/>
            </a:p>
          </p:txBody>
        </p:sp>
        <p:sp>
          <p:nvSpPr>
            <p:cNvPr id="7" name="M3">
              <a:extLst>
                <a:ext uri="{FF2B5EF4-FFF2-40B4-BE49-F238E27FC236}">
                  <a16:creationId xmlns:a16="http://schemas.microsoft.com/office/drawing/2014/main" id="{1EACDCAA-95F5-D55D-4A87-F9995EFD0504}"/>
                </a:ext>
              </a:extLst>
            </p:cNvPr>
            <p:cNvSpPr/>
            <p:nvPr/>
          </p:nvSpPr>
          <p:spPr>
            <a:xfrm>
              <a:off x="7103165" y="4023360"/>
              <a:ext cx="205740" cy="137160"/>
            </a:xfrm>
            <a:prstGeom prst="rect">
              <a:avLst/>
            </a:prstGeom>
            <a:solidFill>
              <a:srgbClr val="C9B991"/>
            </a:solidFill>
            <a:ln>
              <a:noFill/>
            </a:ln>
          </p:spPr>
          <p:txBody>
            <a:bodyPr/>
            <a:lstStyle/>
            <a:p>
              <a:endParaRPr lang="en-US"/>
            </a:p>
          </p:txBody>
        </p:sp>
        <p:sp>
          <p:nvSpPr>
            <p:cNvPr id="8" name="M4">
              <a:extLst>
                <a:ext uri="{FF2B5EF4-FFF2-40B4-BE49-F238E27FC236}">
                  <a16:creationId xmlns:a16="http://schemas.microsoft.com/office/drawing/2014/main" id="{09EF95A2-2E68-EF3F-7FF4-9A978E1E2A29}"/>
                </a:ext>
              </a:extLst>
            </p:cNvPr>
            <p:cNvSpPr/>
            <p:nvPr/>
          </p:nvSpPr>
          <p:spPr>
            <a:xfrm>
              <a:off x="7194605" y="4416552"/>
              <a:ext cx="182880" cy="182880"/>
            </a:xfrm>
            <a:prstGeom prst="ellipse">
              <a:avLst/>
            </a:prstGeom>
            <a:solidFill>
              <a:srgbClr val="C9B991"/>
            </a:solidFill>
            <a:ln>
              <a:noFill/>
            </a:ln>
          </p:spPr>
          <p:txBody>
            <a:bodyPr/>
            <a:lstStyle/>
            <a:p>
              <a:endParaRPr lang="en-US"/>
            </a:p>
          </p:txBody>
        </p:sp>
        <p:sp>
          <p:nvSpPr>
            <p:cNvPr id="9" name="M5">
              <a:extLst>
                <a:ext uri="{FF2B5EF4-FFF2-40B4-BE49-F238E27FC236}">
                  <a16:creationId xmlns:a16="http://schemas.microsoft.com/office/drawing/2014/main" id="{F53C05BC-A0C0-1BBB-EFC3-2FB3993E0BF7}"/>
                </a:ext>
              </a:extLst>
            </p:cNvPr>
            <p:cNvSpPr/>
            <p:nvPr/>
          </p:nvSpPr>
          <p:spPr>
            <a:xfrm>
              <a:off x="7377485" y="4050792"/>
              <a:ext cx="137160" cy="205740"/>
            </a:xfrm>
            <a:prstGeom prst="rect">
              <a:avLst/>
            </a:prstGeom>
            <a:solidFill>
              <a:srgbClr val="C9B991"/>
            </a:solidFill>
            <a:ln>
              <a:noFill/>
            </a:ln>
          </p:spPr>
          <p:txBody>
            <a:bodyPr/>
            <a:lstStyle/>
            <a:p>
              <a:endParaRPr lang="en-US"/>
            </a:p>
          </p:txBody>
        </p:sp>
        <p:sp>
          <p:nvSpPr>
            <p:cNvPr id="10" name="M6">
              <a:extLst>
                <a:ext uri="{FF2B5EF4-FFF2-40B4-BE49-F238E27FC236}">
                  <a16:creationId xmlns:a16="http://schemas.microsoft.com/office/drawing/2014/main" id="{79FA4EDC-A64A-D907-D600-8253B15D50DD}"/>
                </a:ext>
              </a:extLst>
            </p:cNvPr>
            <p:cNvSpPr/>
            <p:nvPr/>
          </p:nvSpPr>
          <p:spPr>
            <a:xfrm>
              <a:off x="7514645" y="4462272"/>
              <a:ext cx="114300" cy="114300"/>
            </a:xfrm>
            <a:prstGeom prst="ellipse">
              <a:avLst/>
            </a:prstGeom>
            <a:solidFill>
              <a:srgbClr val="C9B991"/>
            </a:solidFill>
            <a:ln>
              <a:noFill/>
            </a:ln>
          </p:spPr>
          <p:txBody>
            <a:bodyPr/>
            <a:lstStyle/>
            <a:p>
              <a:endParaRPr lang="en-US"/>
            </a:p>
          </p:txBody>
        </p:sp>
        <p:sp>
          <p:nvSpPr>
            <p:cNvPr id="11" name="M7">
              <a:extLst>
                <a:ext uri="{FF2B5EF4-FFF2-40B4-BE49-F238E27FC236}">
                  <a16:creationId xmlns:a16="http://schemas.microsoft.com/office/drawing/2014/main" id="{CF75CA27-268A-39A9-6383-319BA9C46270}"/>
                </a:ext>
              </a:extLst>
            </p:cNvPr>
            <p:cNvSpPr/>
            <p:nvPr/>
          </p:nvSpPr>
          <p:spPr>
            <a:xfrm>
              <a:off x="7606085" y="4233672"/>
              <a:ext cx="160020" cy="160020"/>
            </a:xfrm>
            <a:prstGeom prst="rect">
              <a:avLst/>
            </a:prstGeom>
            <a:solidFill>
              <a:srgbClr val="C9B991"/>
            </a:solidFill>
            <a:ln>
              <a:noFill/>
            </a:ln>
          </p:spPr>
          <p:txBody>
            <a:bodyPr/>
            <a:lstStyle/>
            <a:p>
              <a:endParaRPr lang="en-US"/>
            </a:p>
          </p:txBody>
        </p:sp>
        <p:sp>
          <p:nvSpPr>
            <p:cNvPr id="12" name="M8">
              <a:extLst>
                <a:ext uri="{FF2B5EF4-FFF2-40B4-BE49-F238E27FC236}">
                  <a16:creationId xmlns:a16="http://schemas.microsoft.com/office/drawing/2014/main" id="{4A5BECD4-2388-9AD4-0481-7AB90168AA17}"/>
                </a:ext>
              </a:extLst>
            </p:cNvPr>
            <p:cNvSpPr/>
            <p:nvPr/>
          </p:nvSpPr>
          <p:spPr>
            <a:xfrm>
              <a:off x="7743245" y="4023360"/>
              <a:ext cx="137160" cy="137160"/>
            </a:xfrm>
            <a:prstGeom prst="rect">
              <a:avLst/>
            </a:prstGeom>
            <a:solidFill>
              <a:srgbClr val="C9B991"/>
            </a:solidFill>
            <a:ln>
              <a:noFill/>
            </a:ln>
          </p:spPr>
          <p:txBody>
            <a:bodyPr/>
            <a:lstStyle/>
            <a:p>
              <a:endParaRPr lang="en-US"/>
            </a:p>
          </p:txBody>
        </p:sp>
        <p:sp>
          <p:nvSpPr>
            <p:cNvPr id="13" name="M9">
              <a:extLst>
                <a:ext uri="{FF2B5EF4-FFF2-40B4-BE49-F238E27FC236}">
                  <a16:creationId xmlns:a16="http://schemas.microsoft.com/office/drawing/2014/main" id="{B0E6D59E-D285-754B-0E11-9D054B7C88D4}"/>
                </a:ext>
              </a:extLst>
            </p:cNvPr>
            <p:cNvSpPr/>
            <p:nvPr/>
          </p:nvSpPr>
          <p:spPr>
            <a:xfrm>
              <a:off x="7834685" y="4462272"/>
              <a:ext cx="137160" cy="137160"/>
            </a:xfrm>
            <a:prstGeom prst="ellipse">
              <a:avLst/>
            </a:prstGeom>
            <a:solidFill>
              <a:srgbClr val="C9B991"/>
            </a:solidFill>
            <a:ln>
              <a:noFill/>
            </a:ln>
          </p:spPr>
          <p:txBody>
            <a:bodyPr/>
            <a:lstStyle/>
            <a:p>
              <a:endParaRPr lang="en-US"/>
            </a:p>
          </p:txBody>
        </p:sp>
        <p:sp>
          <p:nvSpPr>
            <p:cNvPr id="14" name="M10">
              <a:extLst>
                <a:ext uri="{FF2B5EF4-FFF2-40B4-BE49-F238E27FC236}">
                  <a16:creationId xmlns:a16="http://schemas.microsoft.com/office/drawing/2014/main" id="{A2233ED2-5254-3491-BD9F-5B1D4BF7FC6A}"/>
                </a:ext>
              </a:extLst>
            </p:cNvPr>
            <p:cNvSpPr/>
            <p:nvPr/>
          </p:nvSpPr>
          <p:spPr>
            <a:xfrm>
              <a:off x="7971845" y="4279392"/>
              <a:ext cx="114300" cy="114300"/>
            </a:xfrm>
            <a:prstGeom prst="rect">
              <a:avLst/>
            </a:prstGeom>
            <a:solidFill>
              <a:srgbClr val="C9B991"/>
            </a:solidFill>
            <a:ln>
              <a:noFill/>
            </a:ln>
          </p:spPr>
          <p:txBody>
            <a:bodyPr/>
            <a:lstStyle/>
            <a:p>
              <a:endParaRPr lang="en-US"/>
            </a:p>
          </p:txBody>
        </p:sp>
        <p:sp>
          <p:nvSpPr>
            <p:cNvPr id="15" name="M11">
              <a:extLst>
                <a:ext uri="{FF2B5EF4-FFF2-40B4-BE49-F238E27FC236}">
                  <a16:creationId xmlns:a16="http://schemas.microsoft.com/office/drawing/2014/main" id="{BA4AA580-D524-D7D5-3646-1FB9EED67736}"/>
                </a:ext>
              </a:extLst>
            </p:cNvPr>
            <p:cNvSpPr/>
            <p:nvPr/>
          </p:nvSpPr>
          <p:spPr>
            <a:xfrm>
              <a:off x="8109005" y="4096512"/>
              <a:ext cx="91440" cy="91440"/>
            </a:xfrm>
            <a:prstGeom prst="ellipse">
              <a:avLst/>
            </a:prstGeom>
            <a:solidFill>
              <a:srgbClr val="C9B991"/>
            </a:solidFill>
            <a:ln>
              <a:noFill/>
            </a:ln>
          </p:spPr>
          <p:txBody>
            <a:bodyPr/>
            <a:lstStyle/>
            <a:p>
              <a:endParaRPr lang="en-US"/>
            </a:p>
          </p:txBody>
        </p:sp>
        <p:sp>
          <p:nvSpPr>
            <p:cNvPr id="16" name="LblTerritory">
              <a:extLst>
                <a:ext uri="{FF2B5EF4-FFF2-40B4-BE49-F238E27FC236}">
                  <a16:creationId xmlns:a16="http://schemas.microsoft.com/office/drawing/2014/main" id="{2A59FBC1-031C-6BC5-A6ED-2D11AE925F0C}"/>
                </a:ext>
              </a:extLst>
            </p:cNvPr>
            <p:cNvSpPr txBox="1"/>
            <p:nvPr/>
          </p:nvSpPr>
          <p:spPr>
            <a:xfrm>
              <a:off x="6760265" y="4699000"/>
              <a:ext cx="1371600" cy="240000"/>
            </a:xfrm>
            <a:prstGeom prst="rect">
              <a:avLst/>
            </a:prstGeom>
            <a:noFill/>
            <a:ln>
              <a:noFill/>
            </a:ln>
          </p:spPr>
          <p:txBody>
            <a:bodyPr wrap="square" lIns="0" tIns="0" rIns="0" bIns="0" anchor="t"/>
            <a:lstStyle/>
            <a:p>
              <a:pPr algn="ctr">
                <a:spcAft>
                  <a:spcPts val="0"/>
                </a:spcAft>
                <a:buNone/>
              </a:pPr>
              <a:r>
                <a:rPr lang="en-US" sz="1400" b="1" dirty="0">
                  <a:solidFill>
                    <a:srgbClr val="8E6F3E"/>
                  </a:solidFill>
                </a:rPr>
                <a:t>TERRITORY</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Delegation leaves a representation problem</a:t>
            </a:r>
          </a:p>
        </p:txBody>
      </p:sp>
      <p:sp>
        <p:nvSpPr>
          <p:cNvPr id="3" name="Slide Number Placeholder 3"/>
          <p:cNvSpPr>
            <a:spLocks noGrp="1"/>
          </p:cNvSpPr>
          <p:nvPr>
            <p:ph type="sldNum" sz="quarter" idx="4"/>
          </p:nvPr>
        </p:nvSpPr>
        <p:spPr/>
        <p:txBody>
          <a:bodyPr/>
          <a:lstStyle/>
          <a:p>
            <a:fld id="{B7EB45DA-9A0D-DC49-8E02-F30A5DDC21C3}" type="slidenum">
              <a:rPr lang="en-US" smtClean="0"/>
              <a:t>2</a:t>
            </a:fld>
            <a:endParaRPr lang="en-US"/>
          </a:p>
        </p:txBody>
      </p:sp>
      <p:sp>
        <p:nvSpPr>
          <p:cNvPr id="6" name="Kicker"/>
          <p:cNvSpPr txBox="1"/>
          <p:nvPr/>
        </p:nvSpPr>
        <p:spPr>
          <a:xfrm>
            <a:off x="365760" y="1097280"/>
            <a:ext cx="8412480" cy="393192"/>
          </a:xfrm>
          <a:prstGeom prst="rect">
            <a:avLst/>
          </a:prstGeom>
          <a:noFill/>
        </p:spPr>
        <p:txBody>
          <a:bodyPr wrap="square" lIns="18288" tIns="18288" rIns="18288" bIns="18288">
            <a:spAutoFit/>
          </a:bodyPr>
          <a:lstStyle/>
          <a:p>
            <a:pPr algn="l">
              <a:spcAft>
                <a:spcPts val="0"/>
              </a:spcAft>
            </a:pPr>
            <a:r>
              <a:rPr sz="2000" b="1" dirty="0">
                <a:solidFill>
                  <a:srgbClr val="8E6F3E"/>
                </a:solidFill>
              </a:rPr>
              <a:t>FROM DELEGATION</a:t>
            </a:r>
          </a:p>
        </p:txBody>
      </p:sp>
      <p:sp>
        <p:nvSpPr>
          <p:cNvPr id="7" name="KickerBox"/>
          <p:cNvSpPr/>
          <p:nvPr/>
        </p:nvSpPr>
        <p:spPr>
          <a:xfrm>
            <a:off x="365760" y="1509720"/>
            <a:ext cx="8412480" cy="1920240"/>
          </a:xfrm>
          <a:prstGeom prst="rect">
            <a:avLst/>
          </a:prstGeom>
          <a:solidFill>
            <a:srgbClr val="F5F1E8"/>
          </a:solidFill>
          <a:ln w="12700">
            <a:solidFill>
              <a:srgbClr val="C9B991"/>
            </a:solidFill>
          </a:ln>
        </p:spPr>
        <p:style>
          <a:lnRef idx="1">
            <a:schemeClr val="accent1"/>
          </a:lnRef>
          <a:fillRef idx="3">
            <a:schemeClr val="accent1"/>
          </a:fillRef>
          <a:effectRef idx="2">
            <a:schemeClr val="accent1"/>
          </a:effectRef>
          <a:fontRef idx="minor">
            <a:schemeClr val="lt1"/>
          </a:fontRef>
        </p:style>
        <p:txBody>
          <a:bodyPr wrap="square" lIns="128016" tIns="91440" rIns="118872" bIns="91440" rtlCol="0" anchor="ctr"/>
          <a:lstStyle/>
          <a:p>
            <a:pPr algn="l">
              <a:spcAft>
                <a:spcPts val="1600"/>
              </a:spcAft>
              <a:buNone/>
            </a:pPr>
            <a:r>
              <a:rPr lang="en-US" sz="1800" b="0" dirty="0">
                <a:solidFill>
                  <a:srgbClr val="5C4826"/>
                </a:solidFill>
              </a:rPr>
              <a:t>Implementation is cheap to delegate: an agent can realize a design a hundred acceptable ways.</a:t>
            </a:r>
          </a:p>
          <a:p>
            <a:pPr algn="l">
              <a:spcAft>
                <a:spcPts val="1600"/>
              </a:spcAft>
              <a:buNone/>
            </a:pPr>
            <a:r>
              <a:rPr lang="en-US" sz="1800" b="0" dirty="0">
                <a:solidFill>
                  <a:srgbClr val="5C4826"/>
                </a:solidFill>
              </a:rPr>
              <a:t>We cannot specify every realization choice, and we should not try.</a:t>
            </a:r>
          </a:p>
          <a:p>
            <a:pPr algn="l">
              <a:spcAft>
                <a:spcPts val="0"/>
              </a:spcAft>
              <a:buNone/>
            </a:pPr>
            <a:r>
              <a:rPr lang="en-US" sz="1800" b="1" dirty="0">
                <a:solidFill>
                  <a:srgbClr val="5C4826"/>
                </a:solidFill>
              </a:rPr>
              <a:t>So what must a representation preserve for this task?</a:t>
            </a:r>
          </a:p>
        </p:txBody>
      </p:sp>
      <p:sp>
        <p:nvSpPr>
          <p:cNvPr id="200" name="EngineerBox"/>
          <p:cNvSpPr/>
          <p:nvPr/>
        </p:nvSpPr>
        <p:spPr>
          <a:xfrm>
            <a:off x="1371600" y="3810000"/>
            <a:ext cx="1828800" cy="548640"/>
          </a:xfrm>
          <a:prstGeom prst="rect">
            <a:avLst/>
          </a:prstGeom>
          <a:solidFill>
            <a:srgbClr val="F5F1E8"/>
          </a:solidFill>
          <a:ln w="12700">
            <a:solidFill>
              <a:srgbClr val="C9B991"/>
            </a:solidFill>
          </a:ln>
        </p:spPr>
        <p:txBody>
          <a:bodyPr wrap="square" lIns="27432" tIns="22860" rIns="27432" bIns="22860" anchor="ctr"/>
          <a:lstStyle/>
          <a:p>
            <a:pPr algn="ctr">
              <a:buNone/>
            </a:pPr>
            <a:r>
              <a:rPr lang="en-US" sz="2000" b="1" i="0" dirty="0">
                <a:solidFill>
                  <a:srgbClr val="5C4826"/>
                </a:solidFill>
              </a:rPr>
              <a:t>ENGINEER</a:t>
            </a:r>
          </a:p>
        </p:txBody>
      </p:sp>
      <p:sp>
        <p:nvSpPr>
          <p:cNvPr id="201" name="AgentBox"/>
          <p:cNvSpPr/>
          <p:nvPr/>
        </p:nvSpPr>
        <p:spPr>
          <a:xfrm>
            <a:off x="5943600" y="3810000"/>
            <a:ext cx="1828800" cy="548640"/>
          </a:xfrm>
          <a:prstGeom prst="rect">
            <a:avLst/>
          </a:prstGeom>
          <a:solidFill>
            <a:srgbClr val="F5F1E8"/>
          </a:solidFill>
          <a:ln w="12700">
            <a:solidFill>
              <a:srgbClr val="C9B991"/>
            </a:solidFill>
          </a:ln>
        </p:spPr>
        <p:txBody>
          <a:bodyPr wrap="square" lIns="27432" tIns="22860" rIns="27432" bIns="22860" anchor="ctr"/>
          <a:lstStyle/>
          <a:p>
            <a:pPr algn="ctr">
              <a:buNone/>
            </a:pPr>
            <a:r>
              <a:rPr lang="en-US" sz="2000" b="1" i="0" dirty="0">
                <a:solidFill>
                  <a:srgbClr val="5C4826"/>
                </a:solidFill>
              </a:rPr>
              <a:t>AGENT</a:t>
            </a:r>
          </a:p>
        </p:txBody>
      </p:sp>
      <p:cxnSp>
        <p:nvCxnSpPr>
          <p:cNvPr id="202" name="DAr1"/>
          <p:cNvCxnSpPr/>
          <p:nvPr/>
        </p:nvCxnSpPr>
        <p:spPr>
          <a:xfrm>
            <a:off x="3200400" y="4084320"/>
            <a:ext cx="1188720" cy="0"/>
          </a:xfrm>
          <a:prstGeom prst="straightConnector1">
            <a:avLst/>
          </a:prstGeom>
          <a:ln w="28575">
            <a:solidFill>
              <a:srgbClr val="8E6F3E"/>
            </a:solidFill>
          </a:ln>
        </p:spPr>
      </p:cxnSp>
      <p:cxnSp>
        <p:nvCxnSpPr>
          <p:cNvPr id="203" name="DAr2"/>
          <p:cNvCxnSpPr/>
          <p:nvPr/>
        </p:nvCxnSpPr>
        <p:spPr>
          <a:xfrm>
            <a:off x="4754880" y="4084320"/>
            <a:ext cx="1188720" cy="0"/>
          </a:xfrm>
          <a:prstGeom prst="straightConnector1">
            <a:avLst/>
          </a:prstGeom>
          <a:ln w="28575">
            <a:solidFill>
              <a:srgbClr val="8E6F3E"/>
            </a:solidFill>
            <a:tailEnd type="triangle" w="med" len="med"/>
          </a:ln>
        </p:spPr>
      </p:cxnSp>
      <p:sp>
        <p:nvSpPr>
          <p:cNvPr id="204" name="Gap1"/>
          <p:cNvSpPr/>
          <p:nvPr/>
        </p:nvSpPr>
        <p:spPr>
          <a:xfrm>
            <a:off x="4389120" y="3901440"/>
            <a:ext cx="365760" cy="365760"/>
          </a:xfrm>
          <a:prstGeom prst="rect">
            <a:avLst/>
          </a:prstGeom>
          <a:solidFill>
            <a:srgbClr val="FBF8F2"/>
          </a:solidFill>
          <a:ln w="12700">
            <a:solidFill>
              <a:srgbClr val="555960"/>
            </a:solidFill>
            <a:prstDash val="dash"/>
          </a:ln>
        </p:spPr>
        <p:txBody>
          <a:bodyPr/>
          <a:lstStyle/>
          <a:p>
            <a:endParaRPr lang="en-US"/>
          </a:p>
        </p:txBody>
      </p:sp>
      <p:sp>
        <p:nvSpPr>
          <p:cNvPr id="205" name="DelLbl"/>
          <p:cNvSpPr txBox="1"/>
          <p:nvPr/>
        </p:nvSpPr>
        <p:spPr>
          <a:xfrm>
            <a:off x="3657600" y="3626040"/>
            <a:ext cx="1828800" cy="274320"/>
          </a:xfrm>
          <a:prstGeom prst="rect">
            <a:avLst/>
          </a:prstGeom>
          <a:noFill/>
          <a:ln>
            <a:noFill/>
          </a:ln>
        </p:spPr>
        <p:txBody>
          <a:bodyPr wrap="square" lIns="0" tIns="0" rIns="0" bIns="0" anchor="t"/>
          <a:lstStyle/>
          <a:p>
            <a:pPr algn="ctr">
              <a:buNone/>
            </a:pPr>
            <a:r>
              <a:rPr lang="en-US" sz="1400" b="0" i="0" dirty="0">
                <a:solidFill>
                  <a:srgbClr val="555960"/>
                </a:solidFill>
              </a:rPr>
              <a:t>DELEGATION</a:t>
            </a:r>
          </a:p>
        </p:txBody>
      </p:sp>
      <p:sp>
        <p:nvSpPr>
          <p:cNvPr id="206" name="GapLbl"/>
          <p:cNvSpPr txBox="1"/>
          <p:nvPr/>
        </p:nvSpPr>
        <p:spPr>
          <a:xfrm>
            <a:off x="2743200" y="4419600"/>
            <a:ext cx="3657600" cy="274320"/>
          </a:xfrm>
          <a:prstGeom prst="rect">
            <a:avLst/>
          </a:prstGeom>
          <a:noFill/>
          <a:ln>
            <a:noFill/>
          </a:ln>
        </p:spPr>
        <p:txBody>
          <a:bodyPr wrap="square" lIns="0" tIns="0" rIns="0" bIns="0" anchor="t"/>
          <a:lstStyle/>
          <a:p>
            <a:pPr algn="ctr">
              <a:buNone/>
            </a:pPr>
            <a:r>
              <a:rPr lang="en-US" sz="1400" b="0" i="1" dirty="0">
                <a:solidFill>
                  <a:srgbClr val="555960"/>
                </a:solidFill>
              </a:rPr>
              <a:t>what matters must survive this hop</a:t>
            </a:r>
          </a:p>
        </p:txBody>
      </p:sp>
      <p:sp>
        <p:nvSpPr>
          <p:cNvPr id="210" name="ETag"/>
          <p:cNvSpPr txBox="1"/>
          <p:nvPr/>
        </p:nvSpPr>
        <p:spPr>
          <a:xfrm>
            <a:off x="3200400" y="4130040"/>
            <a:ext cx="1188720" cy="213360"/>
          </a:xfrm>
          <a:prstGeom prst="rect">
            <a:avLst/>
          </a:prstGeom>
          <a:noFill/>
          <a:ln>
            <a:noFill/>
          </a:ln>
        </p:spPr>
        <p:txBody>
          <a:bodyPr wrap="square" lIns="0" tIns="0" rIns="0" bIns="0" anchor="t"/>
          <a:lstStyle/>
          <a:p>
            <a:pPr algn="ctr">
              <a:spcAft>
                <a:spcPts val="0"/>
              </a:spcAft>
              <a:buNone/>
            </a:pPr>
            <a:r>
              <a:rPr lang="en-US" sz="1200" b="1" i="1" dirty="0">
                <a:solidFill>
                  <a:srgbClr val="8E6F3E"/>
                </a:solidFill>
              </a:rPr>
              <a:t>E</a:t>
            </a:r>
            <a:r>
              <a:rPr lang="en-US" sz="1200" b="0" i="0" dirty="0">
                <a:solidFill>
                  <a:srgbClr val="555960"/>
                </a:solidFill>
              </a:rPr>
              <a:t xml:space="preserve"> encode</a:t>
            </a:r>
          </a:p>
        </p:txBody>
      </p:sp>
      <p:sp>
        <p:nvSpPr>
          <p:cNvPr id="211" name="ITag"/>
          <p:cNvSpPr txBox="1"/>
          <p:nvPr/>
        </p:nvSpPr>
        <p:spPr>
          <a:xfrm>
            <a:off x="4754880" y="4130040"/>
            <a:ext cx="1188720" cy="213360"/>
          </a:xfrm>
          <a:prstGeom prst="rect">
            <a:avLst/>
          </a:prstGeom>
          <a:noFill/>
          <a:ln>
            <a:noFill/>
          </a:ln>
        </p:spPr>
        <p:txBody>
          <a:bodyPr wrap="square" lIns="0" tIns="0" rIns="0" bIns="0" anchor="t"/>
          <a:lstStyle/>
          <a:p>
            <a:pPr algn="ctr">
              <a:spcAft>
                <a:spcPts val="0"/>
              </a:spcAft>
              <a:buNone/>
            </a:pPr>
            <a:r>
              <a:rPr lang="en-US" sz="1200" b="1" i="1" dirty="0">
                <a:solidFill>
                  <a:srgbClr val="8E6F3E"/>
                </a:solidFill>
              </a:rPr>
              <a:t>I</a:t>
            </a:r>
            <a:r>
              <a:rPr lang="en-US" sz="1200" b="0" i="0" dirty="0">
                <a:solidFill>
                  <a:srgbClr val="555960"/>
                </a:solidFill>
              </a:rPr>
              <a:t xml:space="preserve"> interpret</a:t>
            </a:r>
          </a:p>
        </p:txBody>
      </p:sp>
      <p:sp>
        <p:nvSpPr>
          <p:cNvPr id="150" name="Ital"/>
          <p:cNvSpPr txBox="1"/>
          <p:nvPr/>
        </p:nvSpPr>
        <p:spPr>
          <a:xfrm>
            <a:off x="274320" y="4983480"/>
            <a:ext cx="8595360" cy="457200"/>
          </a:xfrm>
          <a:prstGeom prst="rect">
            <a:avLst/>
          </a:prstGeom>
          <a:noFill/>
          <a:ln>
            <a:noFill/>
          </a:ln>
        </p:spPr>
        <p:txBody>
          <a:bodyPr wrap="square" lIns="0" tIns="0" rIns="0" bIns="0" anchor="t"/>
          <a:lstStyle/>
          <a:p>
            <a:pPr algn="ctr">
              <a:buNone/>
            </a:pPr>
            <a:r>
              <a:rPr lang="en-US" sz="1700" b="0" i="1" dirty="0">
                <a:solidFill>
                  <a:srgbClr val="555960"/>
                </a:solidFill>
              </a:rPr>
              <a:t>The gap is a property of delegation, not a failure of the agent.</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buNone/>
            </a:pPr>
            <a:r>
              <a:rPr lang="en-US" sz="2000" b="1" i="0" dirty="0">
                <a:solidFill>
                  <a:srgbClr val="FFFFFF"/>
                </a:solidFill>
              </a:rPr>
              <a:t>Modeling answers the question delegation leaves open.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Modeling is purposeful reduction</a:t>
            </a:r>
          </a:p>
        </p:txBody>
      </p:sp>
      <p:sp>
        <p:nvSpPr>
          <p:cNvPr id="3" name="Slide Number Placeholder 3"/>
          <p:cNvSpPr>
            <a:spLocks noGrp="1"/>
          </p:cNvSpPr>
          <p:nvPr>
            <p:ph type="sldNum" sz="quarter" idx="4"/>
          </p:nvPr>
        </p:nvSpPr>
        <p:spPr/>
        <p:txBody>
          <a:bodyPr/>
          <a:lstStyle/>
          <a:p>
            <a:fld id="{B7EB45DA-9A0D-DC49-8E02-F30A5DDC21C3}" type="slidenum">
              <a:rPr lang="en-US" smtClean="0"/>
              <a:t>13</a:t>
            </a:fld>
            <a:endParaRPr lang="en-US"/>
          </a:p>
        </p:txBody>
      </p:sp>
      <p:sp>
        <p:nvSpPr>
          <p:cNvPr id="6" name="Kicker"/>
          <p:cNvSpPr txBox="1"/>
          <p:nvPr/>
        </p:nvSpPr>
        <p:spPr>
          <a:xfrm>
            <a:off x="365760" y="1097280"/>
            <a:ext cx="8412480" cy="393192"/>
          </a:xfrm>
          <a:prstGeom prst="rect">
            <a:avLst/>
          </a:prstGeom>
          <a:noFill/>
        </p:spPr>
        <p:txBody>
          <a:bodyPr wrap="square" lIns="18288" tIns="18288" rIns="18288" bIns="18288">
            <a:spAutoFit/>
          </a:bodyPr>
          <a:lstStyle/>
          <a:p>
            <a:pPr algn="l">
              <a:spcAft>
                <a:spcPts val="0"/>
              </a:spcAft>
            </a:pPr>
            <a:r>
              <a:rPr sz="2000" b="1" dirty="0">
                <a:solidFill>
                  <a:srgbClr val="8E6F3E"/>
                </a:solidFill>
              </a:rPr>
              <a:t>THE PREMISE</a:t>
            </a:r>
          </a:p>
        </p:txBody>
      </p:sp>
      <p:sp>
        <p:nvSpPr>
          <p:cNvPr id="7" name="KickerBox"/>
          <p:cNvSpPr/>
          <p:nvPr/>
        </p:nvSpPr>
        <p:spPr>
          <a:xfrm>
            <a:off x="1371600" y="1554480"/>
            <a:ext cx="6400800" cy="1920240"/>
          </a:xfrm>
          <a:prstGeom prst="rect">
            <a:avLst/>
          </a:prstGeom>
          <a:solidFill>
            <a:srgbClr val="F5F1E8"/>
          </a:solidFill>
          <a:ln w="12700">
            <a:solidFill>
              <a:srgbClr val="C9B991"/>
            </a:solidFill>
          </a:ln>
        </p:spPr>
        <p:txBody>
          <a:bodyPr wrap="square" lIns="128016" tIns="91440" rIns="118872" bIns="91440" rtlCol="0" anchor="ctr"/>
          <a:lstStyle/>
          <a:p>
            <a:pPr algn="ctr">
              <a:spcAft>
                <a:spcPts val="1200"/>
              </a:spcAft>
              <a:buNone/>
            </a:pPr>
            <a:r>
              <a:rPr lang="en-US" sz="2000" b="0" dirty="0">
                <a:solidFill>
                  <a:srgbClr val="5C4826"/>
                </a:solidFill>
              </a:rPr>
              <a:t>The objective is not another copy of the system.</a:t>
            </a:r>
          </a:p>
          <a:p>
            <a:pPr algn="ctr">
              <a:spcAft>
                <a:spcPts val="1200"/>
              </a:spcAft>
              <a:buNone/>
            </a:pPr>
            <a:r>
              <a:rPr lang="en-US" sz="2000" b="1" dirty="0">
                <a:solidFill>
                  <a:srgbClr val="5C4826"/>
                </a:solidFill>
              </a:rPr>
              <a:t>A model is a representation in which some consequential question becomes cheap to answer.</a:t>
            </a:r>
          </a:p>
          <a:p>
            <a:pPr algn="ctr">
              <a:spcAft>
                <a:spcPts val="0"/>
              </a:spcAft>
              <a:buNone/>
            </a:pPr>
            <a:r>
              <a:rPr lang="en-US" sz="2000" b="0" dirty="0">
                <a:solidFill>
                  <a:srgbClr val="5C4826"/>
                </a:solidFill>
              </a:rPr>
              <a:t>It is useful because it leaves things out, and because it makes explicit what must remain.</a:t>
            </a:r>
          </a:p>
        </p:txBody>
      </p:sp>
      <p:sp>
        <p:nvSpPr>
          <p:cNvPr id="10" name="N0"/>
          <p:cNvSpPr/>
          <p:nvPr/>
        </p:nvSpPr>
        <p:spPr>
          <a:xfrm>
            <a:off x="297180" y="3749040"/>
            <a:ext cx="1965960" cy="914400"/>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ENGINEERING QUESTION</a:t>
            </a:r>
          </a:p>
        </p:txBody>
      </p:sp>
      <p:sp>
        <p:nvSpPr>
          <p:cNvPr id="30" name="Q0"/>
          <p:cNvSpPr txBox="1"/>
          <p:nvPr/>
        </p:nvSpPr>
        <p:spPr>
          <a:xfrm>
            <a:off x="251460" y="4800600"/>
            <a:ext cx="2057400" cy="822960"/>
          </a:xfrm>
          <a:prstGeom prst="rect">
            <a:avLst/>
          </a:prstGeom>
          <a:noFill/>
          <a:ln>
            <a:noFill/>
          </a:ln>
        </p:spPr>
        <p:txBody>
          <a:bodyPr wrap="square" lIns="0" tIns="0" rIns="0" bIns="0" anchor="t"/>
          <a:lstStyle/>
          <a:p>
            <a:pPr algn="ctr">
              <a:spcAft>
                <a:spcPts val="0"/>
              </a:spcAft>
              <a:buNone/>
            </a:pPr>
            <a:r>
              <a:rPr lang="en-US" sz="1500" b="0" i="0" dirty="0">
                <a:solidFill>
                  <a:srgbClr val="555960"/>
                </a:solidFill>
              </a:rPr>
              <a:t>What do we need to know?</a:t>
            </a:r>
          </a:p>
        </p:txBody>
      </p:sp>
      <p:sp>
        <p:nvSpPr>
          <p:cNvPr id="11" name="N1"/>
          <p:cNvSpPr/>
          <p:nvPr/>
        </p:nvSpPr>
        <p:spPr>
          <a:xfrm>
            <a:off x="2491740" y="3749040"/>
            <a:ext cx="1965960" cy="9144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555960"/>
                </a:solidFill>
              </a:rPr>
              <a:t>MODEL</a:t>
            </a:r>
          </a:p>
        </p:txBody>
      </p:sp>
      <p:sp>
        <p:nvSpPr>
          <p:cNvPr id="31" name="Q1"/>
          <p:cNvSpPr txBox="1"/>
          <p:nvPr/>
        </p:nvSpPr>
        <p:spPr>
          <a:xfrm>
            <a:off x="2446020" y="4800600"/>
            <a:ext cx="2057400" cy="822960"/>
          </a:xfrm>
          <a:prstGeom prst="rect">
            <a:avLst/>
          </a:prstGeom>
          <a:noFill/>
          <a:ln>
            <a:noFill/>
          </a:ln>
        </p:spPr>
        <p:txBody>
          <a:bodyPr wrap="square" lIns="0" tIns="0" rIns="0" bIns="0" anchor="t"/>
          <a:lstStyle/>
          <a:p>
            <a:pPr algn="ctr">
              <a:spcAft>
                <a:spcPts val="0"/>
              </a:spcAft>
              <a:buNone/>
            </a:pPr>
            <a:r>
              <a:rPr lang="en-US" sz="1500" b="0" i="0" dirty="0">
                <a:solidFill>
                  <a:srgbClr val="555960"/>
                </a:solidFill>
              </a:rPr>
              <a:t>What reduction makes it tractable?</a:t>
            </a:r>
          </a:p>
        </p:txBody>
      </p:sp>
      <p:sp>
        <p:nvSpPr>
          <p:cNvPr id="12" name="N2"/>
          <p:cNvSpPr/>
          <p:nvPr/>
        </p:nvSpPr>
        <p:spPr>
          <a:xfrm>
            <a:off x="4686300" y="3749040"/>
            <a:ext cx="1965960" cy="9144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555960"/>
                </a:solidFill>
              </a:rPr>
              <a:t>PROPERTY</a:t>
            </a:r>
          </a:p>
        </p:txBody>
      </p:sp>
      <p:sp>
        <p:nvSpPr>
          <p:cNvPr id="32" name="Q2"/>
          <p:cNvSpPr txBox="1"/>
          <p:nvPr/>
        </p:nvSpPr>
        <p:spPr>
          <a:xfrm>
            <a:off x="4640580" y="4800600"/>
            <a:ext cx="2057400" cy="822960"/>
          </a:xfrm>
          <a:prstGeom prst="rect">
            <a:avLst/>
          </a:prstGeom>
          <a:noFill/>
          <a:ln>
            <a:noFill/>
          </a:ln>
        </p:spPr>
        <p:txBody>
          <a:bodyPr wrap="square" lIns="0" tIns="0" rIns="0" bIns="0" anchor="t"/>
          <a:lstStyle/>
          <a:p>
            <a:pPr algn="ctr">
              <a:spcAft>
                <a:spcPts val="0"/>
              </a:spcAft>
              <a:buNone/>
            </a:pPr>
            <a:r>
              <a:rPr lang="en-US" sz="1500" b="0" i="0" dirty="0">
                <a:solidFill>
                  <a:srgbClr val="555960"/>
                </a:solidFill>
              </a:rPr>
              <a:t>What claim becomes expressible?</a:t>
            </a:r>
          </a:p>
        </p:txBody>
      </p:sp>
      <p:sp>
        <p:nvSpPr>
          <p:cNvPr id="13" name="N3"/>
          <p:cNvSpPr/>
          <p:nvPr/>
        </p:nvSpPr>
        <p:spPr>
          <a:xfrm>
            <a:off x="6880860" y="3749040"/>
            <a:ext cx="1965960" cy="91440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800" b="1" dirty="0">
                <a:solidFill>
                  <a:srgbClr val="555960"/>
                </a:solidFill>
              </a:rPr>
              <a:t>QUALITY</a:t>
            </a:r>
          </a:p>
        </p:txBody>
      </p:sp>
      <p:sp>
        <p:nvSpPr>
          <p:cNvPr id="33" name="Q3"/>
          <p:cNvSpPr txBox="1"/>
          <p:nvPr/>
        </p:nvSpPr>
        <p:spPr>
          <a:xfrm>
            <a:off x="6835140" y="4800600"/>
            <a:ext cx="2057400" cy="822960"/>
          </a:xfrm>
          <a:prstGeom prst="rect">
            <a:avLst/>
          </a:prstGeom>
          <a:noFill/>
          <a:ln>
            <a:noFill/>
          </a:ln>
        </p:spPr>
        <p:txBody>
          <a:bodyPr wrap="square" lIns="0" tIns="0" rIns="0" bIns="0" anchor="t"/>
          <a:lstStyle/>
          <a:p>
            <a:pPr algn="ctr">
              <a:spcAft>
                <a:spcPts val="0"/>
              </a:spcAft>
              <a:buNone/>
            </a:pPr>
            <a:r>
              <a:rPr lang="en-US" sz="1500" b="0" i="0" dirty="0">
                <a:solidFill>
                  <a:srgbClr val="555960"/>
                </a:solidFill>
              </a:rPr>
              <a:t>Is the reduction adequate, and its interpretation likely?</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buNone/>
            </a:pPr>
            <a:r>
              <a:rPr lang="en-US" sz="2000" b="1" i="0" dirty="0">
                <a:solidFill>
                  <a:srgbClr val="FFFFFF"/>
                </a:solidFill>
              </a:rPr>
              <a:t>Ask all four, every time — they return at every section break.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tionLabel"/>
          <p:cNvSpPr txBox="1"/>
          <p:nvPr/>
        </p:nvSpPr>
        <p:spPr>
          <a:xfrm>
            <a:off x="685800" y="1243584"/>
            <a:ext cx="7772400" cy="365760"/>
          </a:xfrm>
          <a:prstGeom prst="rect">
            <a:avLst/>
          </a:prstGeom>
          <a:noFill/>
          <a:ln>
            <a:noFill/>
          </a:ln>
        </p:spPr>
        <p:txBody>
          <a:bodyPr wrap="square" lIns="0" tIns="0" rIns="0" bIns="0" anchor="t"/>
          <a:lstStyle/>
          <a:p>
            <a:pPr algn="ctr">
              <a:buNone/>
            </a:pPr>
            <a:r>
              <a:rPr lang="en-US" sz="2000" b="1" i="0" dirty="0">
                <a:solidFill>
                  <a:srgbClr val="8E6F3E"/>
                </a:solidFill>
              </a:rPr>
              <a:t>SECTION 1</a:t>
            </a:r>
          </a:p>
        </p:txBody>
      </p:sp>
      <p:sp>
        <p:nvSpPr>
          <p:cNvPr id="2" name="Title 1"/>
          <p:cNvSpPr>
            <a:spLocks noGrp="1"/>
          </p:cNvSpPr>
          <p:nvPr>
            <p:ph type="title"/>
          </p:nvPr>
        </p:nvSpPr>
        <p:spPr>
          <a:xfrm>
            <a:off x="685800" y="1700784"/>
            <a:ext cx="7772400" cy="1005840"/>
          </a:xfrm>
        </p:spPr>
        <p:txBody>
          <a:bodyPr>
            <a:normAutofit/>
          </a:bodyPr>
          <a:lstStyle/>
          <a:p>
            <a:pPr algn="ctr">
              <a:buNone/>
              <a:defRPr b="0"/>
            </a:pPr>
            <a:r>
              <a:rPr lang="en-US" sz="4000" b="0" i="0" dirty="0">
                <a:solidFill>
                  <a:srgbClr val="000000"/>
                </a:solidFill>
              </a:rPr>
              <a:t>SEE THE MODELS</a:t>
            </a:r>
          </a:p>
        </p:txBody>
      </p:sp>
      <p:sp>
        <p:nvSpPr>
          <p:cNvPr id="3" name="Slide Number Placeholder 3"/>
          <p:cNvSpPr>
            <a:spLocks noGrp="1"/>
          </p:cNvSpPr>
          <p:nvPr>
            <p:ph type="sldNum" sz="quarter" idx="4"/>
          </p:nvPr>
        </p:nvSpPr>
        <p:spPr/>
        <p:txBody>
          <a:bodyPr/>
          <a:lstStyle/>
          <a:p>
            <a:fld id="{B7EB45DA-9A0D-DC49-8E02-F30A5DDC21C3}" type="slidenum">
              <a:rPr lang="en-US" smtClean="0"/>
              <a:t>6</a:t>
            </a:fld>
            <a:endParaRPr lang="en-US"/>
          </a:p>
        </p:txBody>
      </p:sp>
      <p:sp>
        <p:nvSpPr>
          <p:cNvPr id="101" name="Question"/>
          <p:cNvSpPr txBox="1"/>
          <p:nvPr/>
        </p:nvSpPr>
        <p:spPr>
          <a:xfrm>
            <a:off x="685800" y="2798064"/>
            <a:ext cx="7772400" cy="475488"/>
          </a:xfrm>
          <a:prstGeom prst="rect">
            <a:avLst/>
          </a:prstGeom>
          <a:noFill/>
          <a:ln>
            <a:noFill/>
          </a:ln>
        </p:spPr>
        <p:txBody>
          <a:bodyPr wrap="square" lIns="0" tIns="0" rIns="0" bIns="0" anchor="t"/>
          <a:lstStyle/>
          <a:p>
            <a:pPr algn="ctr">
              <a:buNone/>
            </a:pPr>
            <a:r>
              <a:rPr lang="en-US" sz="2400" b="0" i="0" dirty="0">
                <a:solidFill>
                  <a:srgbClr val="5C4826"/>
                </a:solidFill>
              </a:rPr>
              <a:t>One territory. Five engineering questions.</a:t>
            </a:r>
          </a:p>
        </p:txBody>
      </p:sp>
      <p:sp>
        <p:nvSpPr>
          <p:cNvPr id="103" name="Rule"/>
          <p:cNvSpPr/>
          <p:nvPr/>
        </p:nvSpPr>
        <p:spPr>
          <a:xfrm>
            <a:off x="3429000" y="3584448"/>
            <a:ext cx="2286000" cy="51206"/>
          </a:xfrm>
          <a:prstGeom prst="rect">
            <a:avLst/>
          </a:prstGeom>
          <a:solidFill>
            <a:srgbClr val="8E6F3E"/>
          </a:solidFill>
          <a:ln>
            <a:noFill/>
          </a:ln>
        </p:spPr>
        <p:txBody>
          <a:bodyPr wrap="square" lIns="27432" tIns="22860" rIns="27432" bIns="22860" anchor="ctr"/>
          <a:lstStyle/>
          <a:p>
            <a:pPr>
              <a:buNone/>
            </a:pPr>
            <a:endParaRPr lang="en-US"/>
          </a:p>
        </p:txBody>
      </p:sp>
      <p:sp>
        <p:nvSpPr>
          <p:cNvPr id="110" name="N0"/>
          <p:cNvSpPr/>
          <p:nvPr/>
        </p:nvSpPr>
        <p:spPr>
          <a:xfrm>
            <a:off x="722376" y="4718304"/>
            <a:ext cx="1700784" cy="566928"/>
          </a:xfrm>
          <a:prstGeom prst="rect">
            <a:avLst/>
          </a:prstGeom>
          <a:solidFill>
            <a:srgbClr val="8E6F3E"/>
          </a:solidFill>
          <a:ln>
            <a:noFill/>
          </a:ln>
        </p:spPr>
        <p:txBody>
          <a:bodyPr wrap="square" lIns="27432" tIns="0" rIns="27432" bIns="68580" anchor="ctr"/>
          <a:lstStyle/>
          <a:p>
            <a:pPr algn="ctr">
              <a:buNone/>
            </a:pPr>
            <a:r>
              <a:rPr lang="en-US" sz="1800" b="1" i="0" dirty="0">
                <a:solidFill>
                  <a:srgbClr val="FFFFFF"/>
                </a:solidFill>
              </a:rPr>
              <a:t>ENGINEERING QUESTION</a:t>
            </a:r>
          </a:p>
        </p:txBody>
      </p:sp>
      <p:cxnSp>
        <p:nvCxnSpPr>
          <p:cNvPr id="120" name="NA0"/>
          <p:cNvCxnSpPr/>
          <p:nvPr/>
        </p:nvCxnSpPr>
        <p:spPr>
          <a:xfrm>
            <a:off x="2432304" y="5001768"/>
            <a:ext cx="274320" cy="0"/>
          </a:xfrm>
          <a:prstGeom prst="straightConnector1">
            <a:avLst/>
          </a:prstGeom>
          <a:ln w="19050">
            <a:solidFill>
              <a:srgbClr val="C9B991"/>
            </a:solidFill>
            <a:tailEnd type="triangle" w="med" len="med"/>
          </a:ln>
        </p:spPr>
      </p:cxnSp>
      <p:sp>
        <p:nvSpPr>
          <p:cNvPr id="111" name="N1"/>
          <p:cNvSpPr/>
          <p:nvPr/>
        </p:nvSpPr>
        <p:spPr>
          <a:xfrm>
            <a:off x="2724912" y="4718304"/>
            <a:ext cx="1700784" cy="566928"/>
          </a:xfrm>
          <a:prstGeom prst="rect">
            <a:avLst/>
          </a:prstGeom>
          <a:solidFill>
            <a:srgbClr val="FBF8F2"/>
          </a:solidFill>
          <a:ln w="12700">
            <a:solidFill>
              <a:srgbClr val="C9B991"/>
            </a:solidFill>
          </a:ln>
        </p:spPr>
        <p:txBody>
          <a:bodyPr wrap="square" lIns="27432" tIns="22860" rIns="27432" bIns="22860" anchor="ctr"/>
          <a:lstStyle/>
          <a:p>
            <a:pPr algn="ctr">
              <a:buNone/>
            </a:pPr>
            <a:r>
              <a:rPr lang="en-US" sz="1800" b="1" i="0" dirty="0">
                <a:solidFill>
                  <a:srgbClr val="555960"/>
                </a:solidFill>
              </a:rPr>
              <a:t>MODEL</a:t>
            </a:r>
          </a:p>
        </p:txBody>
      </p:sp>
      <p:cxnSp>
        <p:nvCxnSpPr>
          <p:cNvPr id="121" name="NA1"/>
          <p:cNvCxnSpPr/>
          <p:nvPr/>
        </p:nvCxnSpPr>
        <p:spPr>
          <a:xfrm>
            <a:off x="4434840" y="5001768"/>
            <a:ext cx="274320" cy="0"/>
          </a:xfrm>
          <a:prstGeom prst="straightConnector1">
            <a:avLst/>
          </a:prstGeom>
          <a:ln w="19050">
            <a:solidFill>
              <a:srgbClr val="C9B991"/>
            </a:solidFill>
            <a:tailEnd type="triangle" w="med" len="med"/>
          </a:ln>
        </p:spPr>
      </p:cxnSp>
      <p:sp>
        <p:nvSpPr>
          <p:cNvPr id="112" name="N2"/>
          <p:cNvSpPr/>
          <p:nvPr/>
        </p:nvSpPr>
        <p:spPr>
          <a:xfrm>
            <a:off x="4727448" y="4718304"/>
            <a:ext cx="1700784" cy="566928"/>
          </a:xfrm>
          <a:prstGeom prst="rect">
            <a:avLst/>
          </a:prstGeom>
          <a:solidFill>
            <a:srgbClr val="FBF8F2"/>
          </a:solidFill>
          <a:ln w="12700">
            <a:solidFill>
              <a:srgbClr val="C9B991"/>
            </a:solidFill>
          </a:ln>
        </p:spPr>
        <p:txBody>
          <a:bodyPr wrap="square" lIns="27432" tIns="22860" rIns="27432" bIns="22860" anchor="ctr"/>
          <a:lstStyle/>
          <a:p>
            <a:pPr algn="ctr">
              <a:buNone/>
            </a:pPr>
            <a:r>
              <a:rPr lang="en-US" sz="1800" b="1" i="0" dirty="0">
                <a:solidFill>
                  <a:srgbClr val="555960"/>
                </a:solidFill>
              </a:rPr>
              <a:t>PROPERTY</a:t>
            </a:r>
          </a:p>
        </p:txBody>
      </p:sp>
      <p:cxnSp>
        <p:nvCxnSpPr>
          <p:cNvPr id="122" name="NA2"/>
          <p:cNvCxnSpPr/>
          <p:nvPr/>
        </p:nvCxnSpPr>
        <p:spPr>
          <a:xfrm>
            <a:off x="6437376" y="5001768"/>
            <a:ext cx="274320" cy="0"/>
          </a:xfrm>
          <a:prstGeom prst="straightConnector1">
            <a:avLst/>
          </a:prstGeom>
          <a:ln w="19050">
            <a:solidFill>
              <a:srgbClr val="C9B991"/>
            </a:solidFill>
            <a:tailEnd type="triangle" w="med" len="med"/>
          </a:ln>
        </p:spPr>
      </p:cxnSp>
      <p:sp>
        <p:nvSpPr>
          <p:cNvPr id="113" name="N3"/>
          <p:cNvSpPr/>
          <p:nvPr/>
        </p:nvSpPr>
        <p:spPr>
          <a:xfrm>
            <a:off x="6729984" y="4718304"/>
            <a:ext cx="1700784" cy="566928"/>
          </a:xfrm>
          <a:prstGeom prst="rect">
            <a:avLst/>
          </a:prstGeom>
          <a:solidFill>
            <a:srgbClr val="FBF8F2"/>
          </a:solidFill>
          <a:ln w="12700">
            <a:solidFill>
              <a:srgbClr val="C9B991"/>
            </a:solidFill>
          </a:ln>
        </p:spPr>
        <p:txBody>
          <a:bodyPr wrap="square" lIns="27432" tIns="22860" rIns="27432" bIns="22860" anchor="ctr"/>
          <a:lstStyle/>
          <a:p>
            <a:pPr algn="ctr">
              <a:buNone/>
            </a:pPr>
            <a:r>
              <a:rPr lang="en-US" sz="1800" b="1" i="0" dirty="0">
                <a:solidFill>
                  <a:srgbClr val="555960"/>
                </a:solidFill>
              </a:rPr>
              <a:t>QUALITY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tionLabel"/>
          <p:cNvSpPr txBox="1"/>
          <p:nvPr/>
        </p:nvSpPr>
        <p:spPr>
          <a:xfrm>
            <a:off x="685800" y="1243584"/>
            <a:ext cx="7772400" cy="365760"/>
          </a:xfrm>
          <a:prstGeom prst="rect">
            <a:avLst/>
          </a:prstGeom>
          <a:noFill/>
          <a:ln>
            <a:noFill/>
          </a:ln>
        </p:spPr>
        <p:txBody>
          <a:bodyPr wrap="square" lIns="0" tIns="0" rIns="0" bIns="0" anchor="t"/>
          <a:lstStyle/>
          <a:p>
            <a:pPr algn="ctr">
              <a:buNone/>
            </a:pPr>
            <a:r>
              <a:rPr lang="en-US" sz="2000" b="1" i="0" dirty="0">
                <a:solidFill>
                  <a:srgbClr val="8E6F3E"/>
                </a:solidFill>
              </a:rPr>
              <a:t>SECTION 2</a:t>
            </a:r>
          </a:p>
        </p:txBody>
      </p:sp>
      <p:sp>
        <p:nvSpPr>
          <p:cNvPr id="2" name="Title 1"/>
          <p:cNvSpPr>
            <a:spLocks noGrp="1"/>
          </p:cNvSpPr>
          <p:nvPr>
            <p:ph type="title"/>
          </p:nvPr>
        </p:nvSpPr>
        <p:spPr>
          <a:xfrm>
            <a:off x="685800" y="1700784"/>
            <a:ext cx="7772400" cy="1005840"/>
          </a:xfrm>
        </p:spPr>
        <p:txBody>
          <a:bodyPr>
            <a:normAutofit fontScale="90000"/>
          </a:bodyPr>
          <a:lstStyle/>
          <a:p>
            <a:pPr algn="ctr">
              <a:buNone/>
              <a:defRPr b="0"/>
            </a:pPr>
            <a:r>
              <a:rPr lang="en-US" sz="4000" b="0" i="0" dirty="0">
                <a:solidFill>
                  <a:srgbClr val="000000"/>
                </a:solidFill>
              </a:rPr>
              <a:t>REDUCTION REQUIRES JUDGMENT</a:t>
            </a:r>
          </a:p>
        </p:txBody>
      </p:sp>
      <p:sp>
        <p:nvSpPr>
          <p:cNvPr id="3" name="Slide Number Placeholder 3"/>
          <p:cNvSpPr>
            <a:spLocks noGrp="1"/>
          </p:cNvSpPr>
          <p:nvPr>
            <p:ph type="sldNum" sz="quarter" idx="4"/>
          </p:nvPr>
        </p:nvSpPr>
        <p:spPr/>
        <p:txBody>
          <a:bodyPr/>
          <a:lstStyle/>
          <a:p>
            <a:fld id="{B7EB45DA-9A0D-DC49-8E02-F30A5DDC21C3}" type="slidenum">
              <a:rPr lang="en-US" smtClean="0"/>
              <a:t>13</a:t>
            </a:fld>
            <a:endParaRPr lang="en-US"/>
          </a:p>
        </p:txBody>
      </p:sp>
      <p:sp>
        <p:nvSpPr>
          <p:cNvPr id="101" name="Question"/>
          <p:cNvSpPr txBox="1"/>
          <p:nvPr/>
        </p:nvSpPr>
        <p:spPr>
          <a:xfrm>
            <a:off x="685800" y="2798064"/>
            <a:ext cx="7772400" cy="475488"/>
          </a:xfrm>
          <a:prstGeom prst="rect">
            <a:avLst/>
          </a:prstGeom>
          <a:noFill/>
          <a:ln>
            <a:noFill/>
          </a:ln>
        </p:spPr>
        <p:txBody>
          <a:bodyPr wrap="square" lIns="0" tIns="0" rIns="0" bIns="0" anchor="t"/>
          <a:lstStyle/>
          <a:p>
            <a:pPr algn="ctr">
              <a:buNone/>
            </a:pPr>
            <a:r>
              <a:rPr lang="en-US" sz="2400" b="0" i="0" dirty="0">
                <a:solidFill>
                  <a:srgbClr val="5C4826"/>
                </a:solidFill>
              </a:rPr>
              <a:t>What must remain? What may remain free?</a:t>
            </a:r>
          </a:p>
        </p:txBody>
      </p:sp>
      <p:sp>
        <p:nvSpPr>
          <p:cNvPr id="103" name="Rule"/>
          <p:cNvSpPr/>
          <p:nvPr/>
        </p:nvSpPr>
        <p:spPr>
          <a:xfrm>
            <a:off x="3429000" y="3584448"/>
            <a:ext cx="2286000" cy="51206"/>
          </a:xfrm>
          <a:prstGeom prst="rect">
            <a:avLst/>
          </a:prstGeom>
          <a:solidFill>
            <a:srgbClr val="8E6F3E"/>
          </a:solidFill>
          <a:ln>
            <a:noFill/>
          </a:ln>
        </p:spPr>
        <p:txBody>
          <a:bodyPr wrap="square" lIns="27432" tIns="22860" rIns="27432" bIns="22860" anchor="ctr"/>
          <a:lstStyle/>
          <a:p>
            <a:pPr>
              <a:buNone/>
            </a:pPr>
            <a:endParaRPr lang="en-US"/>
          </a:p>
        </p:txBody>
      </p:sp>
      <p:sp>
        <p:nvSpPr>
          <p:cNvPr id="110" name="N0"/>
          <p:cNvSpPr/>
          <p:nvPr/>
        </p:nvSpPr>
        <p:spPr>
          <a:xfrm>
            <a:off x="722376" y="4718304"/>
            <a:ext cx="1700784" cy="566928"/>
          </a:xfrm>
          <a:prstGeom prst="rect">
            <a:avLst/>
          </a:prstGeom>
          <a:solidFill>
            <a:srgbClr val="FBF8F2"/>
          </a:solidFill>
          <a:ln w="12700">
            <a:solidFill>
              <a:srgbClr val="C9B991"/>
            </a:solidFill>
          </a:ln>
        </p:spPr>
        <p:txBody>
          <a:bodyPr wrap="square" lIns="27432" tIns="0" rIns="27432" bIns="68580" anchor="ctr"/>
          <a:lstStyle/>
          <a:p>
            <a:pPr algn="ctr">
              <a:buNone/>
            </a:pPr>
            <a:r>
              <a:rPr lang="en-US" sz="1800" b="1" i="0" dirty="0">
                <a:solidFill>
                  <a:srgbClr val="555960"/>
                </a:solidFill>
              </a:rPr>
              <a:t>ENGINEERING QUESTION</a:t>
            </a:r>
          </a:p>
        </p:txBody>
      </p:sp>
      <p:cxnSp>
        <p:nvCxnSpPr>
          <p:cNvPr id="120" name="NA0"/>
          <p:cNvCxnSpPr/>
          <p:nvPr/>
        </p:nvCxnSpPr>
        <p:spPr>
          <a:xfrm>
            <a:off x="2432304" y="5001768"/>
            <a:ext cx="274320" cy="0"/>
          </a:xfrm>
          <a:prstGeom prst="straightConnector1">
            <a:avLst/>
          </a:prstGeom>
          <a:ln w="19050">
            <a:solidFill>
              <a:srgbClr val="C9B991"/>
            </a:solidFill>
            <a:tailEnd type="triangle" w="med" len="med"/>
          </a:ln>
        </p:spPr>
      </p:cxnSp>
      <p:sp>
        <p:nvSpPr>
          <p:cNvPr id="111" name="N1"/>
          <p:cNvSpPr/>
          <p:nvPr/>
        </p:nvSpPr>
        <p:spPr>
          <a:xfrm>
            <a:off x="2724912" y="4718304"/>
            <a:ext cx="1700784" cy="566928"/>
          </a:xfrm>
          <a:prstGeom prst="rect">
            <a:avLst/>
          </a:prstGeom>
          <a:solidFill>
            <a:srgbClr val="8E6F3E"/>
          </a:solidFill>
          <a:ln>
            <a:noFill/>
          </a:ln>
        </p:spPr>
        <p:txBody>
          <a:bodyPr wrap="square" lIns="27432" tIns="22860" rIns="27432" bIns="22860" anchor="ctr"/>
          <a:lstStyle/>
          <a:p>
            <a:pPr algn="ctr">
              <a:buNone/>
            </a:pPr>
            <a:r>
              <a:rPr lang="en-US" sz="1800" b="1" i="0" dirty="0">
                <a:solidFill>
                  <a:srgbClr val="FFFFFF"/>
                </a:solidFill>
              </a:rPr>
              <a:t>MODEL</a:t>
            </a:r>
          </a:p>
        </p:txBody>
      </p:sp>
      <p:cxnSp>
        <p:nvCxnSpPr>
          <p:cNvPr id="121" name="NA1"/>
          <p:cNvCxnSpPr/>
          <p:nvPr/>
        </p:nvCxnSpPr>
        <p:spPr>
          <a:xfrm>
            <a:off x="4434840" y="5001768"/>
            <a:ext cx="274320" cy="0"/>
          </a:xfrm>
          <a:prstGeom prst="straightConnector1">
            <a:avLst/>
          </a:prstGeom>
          <a:ln w="19050">
            <a:solidFill>
              <a:srgbClr val="C9B991"/>
            </a:solidFill>
            <a:tailEnd type="triangle" w="med" len="med"/>
          </a:ln>
        </p:spPr>
      </p:cxnSp>
      <p:sp>
        <p:nvSpPr>
          <p:cNvPr id="112" name="N2"/>
          <p:cNvSpPr/>
          <p:nvPr/>
        </p:nvSpPr>
        <p:spPr>
          <a:xfrm>
            <a:off x="4727448" y="4718304"/>
            <a:ext cx="1700784" cy="566928"/>
          </a:xfrm>
          <a:prstGeom prst="rect">
            <a:avLst/>
          </a:prstGeom>
          <a:solidFill>
            <a:srgbClr val="FBF8F2"/>
          </a:solidFill>
          <a:ln w="12700">
            <a:solidFill>
              <a:srgbClr val="C9B991"/>
            </a:solidFill>
          </a:ln>
        </p:spPr>
        <p:txBody>
          <a:bodyPr wrap="square" lIns="27432" tIns="22860" rIns="27432" bIns="22860" anchor="ctr"/>
          <a:lstStyle/>
          <a:p>
            <a:pPr algn="ctr">
              <a:buNone/>
            </a:pPr>
            <a:r>
              <a:rPr lang="en-US" sz="1800" b="1" i="0" dirty="0">
                <a:solidFill>
                  <a:srgbClr val="555960"/>
                </a:solidFill>
              </a:rPr>
              <a:t>PROPERTY</a:t>
            </a:r>
          </a:p>
        </p:txBody>
      </p:sp>
      <p:cxnSp>
        <p:nvCxnSpPr>
          <p:cNvPr id="122" name="NA2"/>
          <p:cNvCxnSpPr/>
          <p:nvPr/>
        </p:nvCxnSpPr>
        <p:spPr>
          <a:xfrm>
            <a:off x="6437376" y="5001768"/>
            <a:ext cx="274320" cy="0"/>
          </a:xfrm>
          <a:prstGeom prst="straightConnector1">
            <a:avLst/>
          </a:prstGeom>
          <a:ln w="19050">
            <a:solidFill>
              <a:srgbClr val="C9B991"/>
            </a:solidFill>
            <a:tailEnd type="triangle" w="med" len="med"/>
          </a:ln>
        </p:spPr>
      </p:cxnSp>
      <p:sp>
        <p:nvSpPr>
          <p:cNvPr id="113" name="N3"/>
          <p:cNvSpPr/>
          <p:nvPr/>
        </p:nvSpPr>
        <p:spPr>
          <a:xfrm>
            <a:off x="6729984" y="4718304"/>
            <a:ext cx="1700784" cy="566928"/>
          </a:xfrm>
          <a:prstGeom prst="rect">
            <a:avLst/>
          </a:prstGeom>
          <a:solidFill>
            <a:srgbClr val="FBF8F2"/>
          </a:solidFill>
          <a:ln w="12700">
            <a:solidFill>
              <a:srgbClr val="C9B991"/>
            </a:solidFill>
          </a:ln>
        </p:spPr>
        <p:txBody>
          <a:bodyPr wrap="square" lIns="27432" tIns="22860" rIns="27432" bIns="22860" anchor="ctr"/>
          <a:lstStyle/>
          <a:p>
            <a:pPr algn="ctr">
              <a:buNone/>
            </a:pPr>
            <a:r>
              <a:rPr lang="en-US" sz="1800" b="1" i="0" dirty="0">
                <a:solidFill>
                  <a:srgbClr val="555960"/>
                </a:solidFill>
              </a:rPr>
              <a:t>QUALITY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Top-down: the obligation decides what must remain</a:t>
            </a:r>
          </a:p>
        </p:txBody>
      </p:sp>
      <p:sp>
        <p:nvSpPr>
          <p:cNvPr id="3" name="Slide Number Placeholder 3"/>
          <p:cNvSpPr>
            <a:spLocks noGrp="1"/>
          </p:cNvSpPr>
          <p:nvPr>
            <p:ph type="sldNum" sz="quarter" idx="4"/>
          </p:nvPr>
        </p:nvSpPr>
        <p:spPr/>
        <p:txBody>
          <a:bodyPr/>
          <a:lstStyle/>
          <a:p>
            <a:fld id="{B7EB45DA-9A0D-DC49-8E02-F30A5DDC21C3}" type="slidenum">
              <a:rPr lang="en-US" smtClean="0"/>
              <a:t>14</a:t>
            </a:fld>
            <a:endParaRPr lang="en-US"/>
          </a:p>
        </p:txBody>
      </p:sp>
      <p:sp>
        <p:nvSpPr>
          <p:cNvPr id="101" name="B0"/>
          <p:cNvSpPr/>
          <p:nvPr/>
        </p:nvSpPr>
        <p:spPr>
          <a:xfrm>
            <a:off x="914400" y="1143000"/>
            <a:ext cx="7315200" cy="822960"/>
          </a:xfrm>
          <a:prstGeom prst="rect">
            <a:avLst/>
          </a:prstGeom>
          <a:solidFill>
            <a:srgbClr val="5C4826"/>
          </a:solidFill>
          <a:ln>
            <a:noFill/>
          </a:ln>
        </p:spPr>
        <p:txBody>
          <a:bodyPr wrap="square" lIns="27432" tIns="22860" rIns="27432" bIns="22860" anchor="ctr"/>
          <a:lstStyle/>
          <a:p>
            <a:pPr algn="ctr">
              <a:spcAft>
                <a:spcPts val="400"/>
              </a:spcAft>
              <a:buNone/>
            </a:pPr>
            <a:r>
              <a:rPr lang="en-US" sz="2000" b="1" dirty="0">
                <a:solidFill>
                  <a:srgbClr val="FFFFFF"/>
                </a:solidFill>
              </a:rPr>
              <a:t>ENGINEERING OBLIGATION</a:t>
            </a:r>
          </a:p>
          <a:p>
            <a:pPr algn="ctr">
              <a:spcAft>
                <a:spcPts val="0"/>
              </a:spcAft>
              <a:buNone/>
            </a:pPr>
            <a:r>
              <a:rPr lang="en-US" sz="1600" b="0" dirty="0">
                <a:solidFill>
                  <a:srgbClr val="FFFFFF"/>
                </a:solidFill>
              </a:rPr>
              <a:t>what the system must guarantee</a:t>
            </a:r>
          </a:p>
        </p:txBody>
      </p:sp>
      <p:cxnSp>
        <p:nvCxnSpPr>
          <p:cNvPr id="102" name="AR0"/>
          <p:cNvCxnSpPr/>
          <p:nvPr/>
        </p:nvCxnSpPr>
        <p:spPr>
          <a:xfrm>
            <a:off x="4572000" y="1965960"/>
            <a:ext cx="0" cy="320040"/>
          </a:xfrm>
          <a:prstGeom prst="straightConnector1">
            <a:avLst/>
          </a:prstGeom>
          <a:ln w="28575">
            <a:solidFill>
              <a:srgbClr val="8E6F3E"/>
            </a:solidFill>
            <a:tailEnd type="triangle" w="med" len="med"/>
          </a:ln>
        </p:spPr>
      </p:cxnSp>
      <p:sp>
        <p:nvSpPr>
          <p:cNvPr id="103" name="B1"/>
          <p:cNvSpPr/>
          <p:nvPr/>
        </p:nvSpPr>
        <p:spPr>
          <a:xfrm>
            <a:off x="914400" y="2286000"/>
            <a:ext cx="7315200" cy="822960"/>
          </a:xfrm>
          <a:prstGeom prst="rect">
            <a:avLst/>
          </a:prstGeom>
          <a:solidFill>
            <a:srgbClr val="555960"/>
          </a:solidFill>
          <a:ln>
            <a:noFill/>
          </a:ln>
        </p:spPr>
        <p:txBody>
          <a:bodyPr wrap="square" lIns="27432" tIns="22860" rIns="27432" bIns="22860" anchor="ctr"/>
          <a:lstStyle/>
          <a:p>
            <a:pPr algn="ctr">
              <a:spcAft>
                <a:spcPts val="400"/>
              </a:spcAft>
              <a:buNone/>
            </a:pPr>
            <a:r>
              <a:rPr lang="en-US" sz="2000" b="1" dirty="0">
                <a:solidFill>
                  <a:srgbClr val="FFFFFF"/>
                </a:solidFill>
              </a:rPr>
              <a:t>REQUIRED DISTINCTIONS</a:t>
            </a:r>
          </a:p>
          <a:p>
            <a:pPr algn="ctr">
              <a:spcAft>
                <a:spcPts val="0"/>
              </a:spcAft>
              <a:buNone/>
            </a:pPr>
            <a:r>
              <a:rPr lang="en-US" sz="1600" b="0" dirty="0">
                <a:solidFill>
                  <a:srgbClr val="FFFFFF"/>
                </a:solidFill>
              </a:rPr>
              <a:t>what the model must preserve</a:t>
            </a:r>
          </a:p>
        </p:txBody>
      </p:sp>
      <p:cxnSp>
        <p:nvCxnSpPr>
          <p:cNvPr id="104" name="AR1"/>
          <p:cNvCxnSpPr/>
          <p:nvPr/>
        </p:nvCxnSpPr>
        <p:spPr>
          <a:xfrm>
            <a:off x="4572000" y="3108960"/>
            <a:ext cx="0" cy="320040"/>
          </a:xfrm>
          <a:prstGeom prst="straightConnector1">
            <a:avLst/>
          </a:prstGeom>
          <a:ln w="28575">
            <a:solidFill>
              <a:srgbClr val="8E6F3E"/>
            </a:solidFill>
            <a:tailEnd type="triangle" w="med" len="med"/>
          </a:ln>
        </p:spPr>
      </p:cxnSp>
      <p:sp>
        <p:nvSpPr>
          <p:cNvPr id="105" name="B2"/>
          <p:cNvSpPr/>
          <p:nvPr/>
        </p:nvSpPr>
        <p:spPr>
          <a:xfrm>
            <a:off x="914400" y="3429000"/>
            <a:ext cx="7315200" cy="822960"/>
          </a:xfrm>
          <a:prstGeom prst="rect">
            <a:avLst/>
          </a:prstGeom>
          <a:solidFill>
            <a:srgbClr val="C9B991"/>
          </a:solidFill>
          <a:ln>
            <a:noFill/>
          </a:ln>
        </p:spPr>
        <p:txBody>
          <a:bodyPr wrap="square" lIns="27432" tIns="22860" rIns="27432" bIns="22860" anchor="ctr"/>
          <a:lstStyle/>
          <a:p>
            <a:pPr algn="ctr">
              <a:spcAft>
                <a:spcPts val="400"/>
              </a:spcAft>
              <a:buNone/>
            </a:pPr>
            <a:r>
              <a:rPr lang="en-US" sz="2000" b="1" dirty="0">
                <a:solidFill>
                  <a:srgbClr val="5C4826"/>
                </a:solidFill>
              </a:rPr>
              <a:t>LEGITIMATE FREEDOM</a:t>
            </a:r>
          </a:p>
          <a:p>
            <a:pPr algn="ctr">
              <a:spcAft>
                <a:spcPts val="0"/>
              </a:spcAft>
              <a:buNone/>
            </a:pPr>
            <a:r>
              <a:rPr lang="en-US" sz="1600" dirty="0">
                <a:solidFill>
                  <a:srgbClr val="353638"/>
                </a:solidFill>
              </a:rPr>
              <a:t>everything else: the agent’s degrees of freedom</a:t>
            </a:r>
          </a:p>
        </p:txBody>
      </p:sp>
      <p:sp>
        <p:nvSpPr>
          <p:cNvPr id="106" name="Ital"/>
          <p:cNvSpPr txBox="1"/>
          <p:nvPr/>
        </p:nvSpPr>
        <p:spPr>
          <a:xfrm>
            <a:off x="685800" y="4526280"/>
            <a:ext cx="7772400" cy="41148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Degrees of freedom are known freedom, not ignorance.</a:t>
            </a:r>
          </a:p>
        </p:txBody>
      </p:sp>
      <p:sp>
        <p:nvSpPr>
          <p:cNvPr id="107"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Ask of every model: what must it preserve?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Bottom-up: parsimony challenges what we kept</a:t>
            </a:r>
          </a:p>
        </p:txBody>
      </p:sp>
      <p:sp>
        <p:nvSpPr>
          <p:cNvPr id="3" name="Slide Number Placeholder 3"/>
          <p:cNvSpPr>
            <a:spLocks noGrp="1"/>
          </p:cNvSpPr>
          <p:nvPr>
            <p:ph type="sldNum" sz="quarter" idx="4"/>
          </p:nvPr>
        </p:nvSpPr>
        <p:spPr/>
        <p:txBody>
          <a:bodyPr/>
          <a:lstStyle/>
          <a:p>
            <a:fld id="{B7EB45DA-9A0D-DC49-8E02-F30A5DDC21C3}" type="slidenum">
              <a:rPr lang="en-US" smtClean="0"/>
              <a:t>15</a:t>
            </a:fld>
            <a:endParaRPr lang="en-US"/>
          </a:p>
        </p:txBody>
      </p:sp>
      <p:sp>
        <p:nvSpPr>
          <p:cNvPr id="108" name="CardHead"/>
          <p:cNvSpPr/>
          <p:nvPr/>
        </p:nvSpPr>
        <p:spPr>
          <a:xfrm>
            <a:off x="685800" y="1257300"/>
            <a:ext cx="3200400" cy="457200"/>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CANDIDATE MODEL</a:t>
            </a:r>
          </a:p>
        </p:txBody>
      </p:sp>
      <p:sp>
        <p:nvSpPr>
          <p:cNvPr id="109" name="R0"/>
          <p:cNvSpPr/>
          <p:nvPr/>
        </p:nvSpPr>
        <p:spPr>
          <a:xfrm>
            <a:off x="685800" y="1714500"/>
            <a:ext cx="3200400" cy="45720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0" dirty="0">
                <a:solidFill>
                  <a:srgbClr val="5C4826"/>
                </a:solidFill>
              </a:rPr>
              <a:t>components</a:t>
            </a:r>
          </a:p>
        </p:txBody>
      </p:sp>
      <p:sp>
        <p:nvSpPr>
          <p:cNvPr id="110" name="R1"/>
          <p:cNvSpPr/>
          <p:nvPr/>
        </p:nvSpPr>
        <p:spPr>
          <a:xfrm>
            <a:off x="685800" y="2171700"/>
            <a:ext cx="3200400" cy="45720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0" dirty="0">
                <a:solidFill>
                  <a:srgbClr val="5C4826"/>
                </a:solidFill>
              </a:rPr>
              <a:t>depends-on edges</a:t>
            </a:r>
          </a:p>
        </p:txBody>
      </p:sp>
      <p:sp>
        <p:nvSpPr>
          <p:cNvPr id="111" name="R2"/>
          <p:cNvSpPr/>
          <p:nvPr/>
        </p:nvSpPr>
        <p:spPr>
          <a:xfrm>
            <a:off x="685800" y="2628900"/>
            <a:ext cx="3200400" cy="45720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0" dirty="0">
                <a:solidFill>
                  <a:srgbClr val="5C4826"/>
                </a:solidFill>
              </a:rPr>
              <a:t>edge direction</a:t>
            </a:r>
          </a:p>
        </p:txBody>
      </p:sp>
      <p:sp>
        <p:nvSpPr>
          <p:cNvPr id="112" name="R3"/>
          <p:cNvSpPr/>
          <p:nvPr/>
        </p:nvSpPr>
        <p:spPr>
          <a:xfrm>
            <a:off x="685800" y="3086100"/>
            <a:ext cx="3200400" cy="45720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0" i="1" strike="sngStrike" dirty="0">
                <a:solidFill>
                  <a:srgbClr val="555960"/>
                </a:solidFill>
              </a:rPr>
              <a:t>deploy schedule</a:t>
            </a:r>
          </a:p>
        </p:txBody>
      </p:sp>
      <p:sp>
        <p:nvSpPr>
          <p:cNvPr id="113" name="Ital"/>
          <p:cNvSpPr txBox="1"/>
          <p:nvPr/>
        </p:nvSpPr>
        <p:spPr>
          <a:xfrm>
            <a:off x="457200" y="3752850"/>
            <a:ext cx="3657600" cy="64008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For every row: what engineering question requires this? If none, why carry it?</a:t>
            </a:r>
          </a:p>
        </p:txBody>
      </p:sp>
      <p:sp>
        <p:nvSpPr>
          <p:cNvPr id="114" name="ScaleHead"/>
          <p:cNvSpPr txBox="1"/>
          <p:nvPr/>
        </p:nvSpPr>
        <p:spPr>
          <a:xfrm>
            <a:off x="4800600" y="1257300"/>
            <a:ext cx="3657600" cy="411480"/>
          </a:xfrm>
          <a:prstGeom prst="rect">
            <a:avLst/>
          </a:prstGeom>
          <a:noFill/>
          <a:ln>
            <a:noFill/>
          </a:ln>
        </p:spPr>
        <p:txBody>
          <a:bodyPr wrap="square" lIns="18288" tIns="18288" rIns="18288" bIns="18288" anchor="t"/>
          <a:lstStyle/>
          <a:p>
            <a:pPr algn="ctr">
              <a:spcAft>
                <a:spcPts val="0"/>
              </a:spcAft>
              <a:buNone/>
            </a:pPr>
            <a:r>
              <a:rPr lang="en-US" sz="1800" b="1" dirty="0">
                <a:solidFill>
                  <a:srgbClr val="8E6F3E"/>
                </a:solidFill>
              </a:rPr>
              <a:t>SMALLEST DOES NOT MEAN BEST</a:t>
            </a:r>
          </a:p>
        </p:txBody>
      </p:sp>
      <p:sp>
        <p:nvSpPr>
          <p:cNvPr id="115" name="Bar0"/>
          <p:cNvSpPr/>
          <p:nvPr/>
        </p:nvSpPr>
        <p:spPr>
          <a:xfrm>
            <a:off x="4800600" y="2286000"/>
            <a:ext cx="3657600" cy="38100"/>
          </a:xfrm>
          <a:prstGeom prst="rect">
            <a:avLst/>
          </a:prstGeom>
          <a:solidFill>
            <a:srgbClr val="C9B991"/>
          </a:solidFill>
          <a:ln>
            <a:noFill/>
          </a:ln>
        </p:spPr>
        <p:txBody>
          <a:bodyPr wrap="square" lIns="27432" tIns="22860" rIns="27432" bIns="22860" anchor="ctr"/>
          <a:lstStyle/>
          <a:p>
            <a:pPr algn="ctr">
              <a:spcAft>
                <a:spcPts val="0"/>
              </a:spcAft>
              <a:buNone/>
            </a:pPr>
            <a:endParaRPr/>
          </a:p>
        </p:txBody>
      </p:sp>
      <p:sp>
        <p:nvSpPr>
          <p:cNvPr id="116" name="T0"/>
          <p:cNvSpPr/>
          <p:nvPr/>
        </p:nvSpPr>
        <p:spPr>
          <a:xfrm>
            <a:off x="4788700" y="2217420"/>
            <a:ext cx="25400" cy="175260"/>
          </a:xfrm>
          <a:prstGeom prst="rect">
            <a:avLst/>
          </a:prstGeom>
          <a:solidFill>
            <a:srgbClr val="555960"/>
          </a:solidFill>
          <a:ln>
            <a:noFill/>
          </a:ln>
        </p:spPr>
        <p:txBody>
          <a:bodyPr wrap="square" lIns="27432" tIns="22860" rIns="27432" bIns="22860" anchor="ctr"/>
          <a:lstStyle/>
          <a:p>
            <a:pPr algn="ctr">
              <a:spcAft>
                <a:spcPts val="0"/>
              </a:spcAft>
              <a:buNone/>
            </a:pPr>
            <a:endParaRPr/>
          </a:p>
        </p:txBody>
      </p:sp>
      <p:sp>
        <p:nvSpPr>
          <p:cNvPr id="117" name="T2"/>
          <p:cNvSpPr/>
          <p:nvPr/>
        </p:nvSpPr>
        <p:spPr>
          <a:xfrm>
            <a:off x="8445500" y="2217420"/>
            <a:ext cx="25400" cy="175260"/>
          </a:xfrm>
          <a:prstGeom prst="rect">
            <a:avLst/>
          </a:prstGeom>
          <a:solidFill>
            <a:srgbClr val="555960"/>
          </a:solidFill>
          <a:ln>
            <a:noFill/>
          </a:ln>
        </p:spPr>
        <p:txBody>
          <a:bodyPr wrap="square" lIns="27432" tIns="22860" rIns="27432" bIns="22860" anchor="ctr"/>
          <a:lstStyle/>
          <a:p>
            <a:pPr algn="ctr">
              <a:spcAft>
                <a:spcPts val="0"/>
              </a:spcAft>
              <a:buNone/>
            </a:pPr>
            <a:endParaRPr/>
          </a:p>
        </p:txBody>
      </p:sp>
      <p:sp>
        <p:nvSpPr>
          <p:cNvPr id="118" name="M0"/>
          <p:cNvSpPr/>
          <p:nvPr/>
        </p:nvSpPr>
        <p:spPr>
          <a:xfrm>
            <a:off x="5989320" y="2113280"/>
            <a:ext cx="182880" cy="182880"/>
          </a:xfrm>
          <a:prstGeom prst="diamond">
            <a:avLst/>
          </a:prstGeom>
          <a:solidFill>
            <a:srgbClr val="8E6F3E"/>
          </a:solidFill>
          <a:ln>
            <a:noFill/>
          </a:ln>
        </p:spPr>
        <p:txBody>
          <a:bodyPr/>
          <a:lstStyle/>
          <a:p>
            <a:endParaRPr lang="en-US"/>
          </a:p>
        </p:txBody>
      </p:sp>
      <p:sp>
        <p:nvSpPr>
          <p:cNvPr id="119" name="T1"/>
          <p:cNvSpPr txBox="1"/>
          <p:nvPr/>
        </p:nvSpPr>
        <p:spPr>
          <a:xfrm>
            <a:off x="5257800" y="1668780"/>
            <a:ext cx="1645920" cy="411480"/>
          </a:xfrm>
          <a:prstGeom prst="rect">
            <a:avLst/>
          </a:prstGeom>
          <a:noFill/>
          <a:ln>
            <a:noFill/>
          </a:ln>
        </p:spPr>
        <p:txBody>
          <a:bodyPr wrap="square" lIns="0" tIns="0" rIns="0" bIns="0" anchor="b"/>
          <a:lstStyle/>
          <a:p>
            <a:pPr algn="ctr">
              <a:spcAft>
                <a:spcPts val="0"/>
              </a:spcAft>
              <a:buNone/>
            </a:pPr>
            <a:r>
              <a:rPr lang="en-US" sz="1400" b="1" dirty="0">
                <a:solidFill>
                  <a:srgbClr val="8E6F3E"/>
                </a:solidFill>
              </a:rPr>
              <a:t>smallest adequate to purpose</a:t>
            </a:r>
          </a:p>
        </p:txBody>
      </p:sp>
      <p:sp>
        <p:nvSpPr>
          <p:cNvPr id="120" name="T3"/>
          <p:cNvSpPr txBox="1"/>
          <p:nvPr/>
        </p:nvSpPr>
        <p:spPr>
          <a:xfrm>
            <a:off x="4389120" y="2453640"/>
            <a:ext cx="822960" cy="548640"/>
          </a:xfrm>
          <a:prstGeom prst="rect">
            <a:avLst/>
          </a:prstGeom>
          <a:noFill/>
          <a:ln>
            <a:noFill/>
          </a:ln>
        </p:spPr>
        <p:txBody>
          <a:bodyPr wrap="square" lIns="0" tIns="0" rIns="0" bIns="0" anchor="t"/>
          <a:lstStyle/>
          <a:p>
            <a:pPr algn="ctr">
              <a:spcAft>
                <a:spcPts val="0"/>
              </a:spcAft>
              <a:buNone/>
            </a:pPr>
            <a:r>
              <a:rPr lang="en-US" sz="1400" b="0" dirty="0">
                <a:solidFill>
                  <a:srgbClr val="555960"/>
                </a:solidFill>
              </a:rPr>
              <a:t>smallest possible</a:t>
            </a:r>
          </a:p>
        </p:txBody>
      </p:sp>
      <p:sp>
        <p:nvSpPr>
          <p:cNvPr id="121" name="T4"/>
          <p:cNvSpPr txBox="1"/>
          <p:nvPr/>
        </p:nvSpPr>
        <p:spPr>
          <a:xfrm>
            <a:off x="8046720" y="2453640"/>
            <a:ext cx="822960" cy="548640"/>
          </a:xfrm>
          <a:prstGeom prst="rect">
            <a:avLst/>
          </a:prstGeom>
          <a:noFill/>
          <a:ln>
            <a:noFill/>
          </a:ln>
        </p:spPr>
        <p:txBody>
          <a:bodyPr wrap="square" lIns="0" tIns="0" rIns="0" bIns="0" anchor="t"/>
          <a:lstStyle/>
          <a:p>
            <a:pPr algn="ctr">
              <a:spcAft>
                <a:spcPts val="0"/>
              </a:spcAft>
              <a:buNone/>
            </a:pPr>
            <a:r>
              <a:rPr lang="en-US" sz="1400" b="0" dirty="0">
                <a:solidFill>
                  <a:srgbClr val="555960"/>
                </a:solidFill>
              </a:rPr>
              <a:t>faithful copy</a:t>
            </a:r>
          </a:p>
        </p:txBody>
      </p:sp>
      <p:sp>
        <p:nvSpPr>
          <p:cNvPr id="122" name="Corr"/>
          <p:cNvSpPr txBox="1"/>
          <p:nvPr/>
        </p:nvSpPr>
        <p:spPr>
          <a:xfrm>
            <a:off x="685800" y="4457700"/>
            <a:ext cx="7772400" cy="731520"/>
          </a:xfrm>
          <a:prstGeom prst="rect">
            <a:avLst/>
          </a:prstGeom>
          <a:noFill/>
          <a:ln>
            <a:noFill/>
          </a:ln>
        </p:spPr>
        <p:txBody>
          <a:bodyPr wrap="square" lIns="0" tIns="0" rIns="0" bIns="0" anchor="t"/>
          <a:lstStyle/>
          <a:p>
            <a:pPr algn="ctr">
              <a:spcAft>
                <a:spcPts val="0"/>
              </a:spcAft>
              <a:buNone/>
            </a:pPr>
            <a:r>
              <a:rPr lang="en-US" sz="2000" b="1" dirty="0">
                <a:solidFill>
                  <a:srgbClr val="5C4826"/>
                </a:solidFill>
              </a:rPr>
              <a:t>The target is the smallest model adequate to purpose,</a:t>
            </a:r>
          </a:p>
          <a:p>
            <a:pPr algn="ctr">
              <a:spcAft>
                <a:spcPts val="0"/>
              </a:spcAft>
              <a:buNone/>
            </a:pPr>
            <a:r>
              <a:rPr lang="en-US" sz="2000" b="1" dirty="0">
                <a:solidFill>
                  <a:srgbClr val="5C4826"/>
                </a:solidFill>
              </a:rPr>
              <a:t>not the smallest model.</a:t>
            </a:r>
          </a:p>
        </p:txBody>
      </p:sp>
      <p:sp>
        <p:nvSpPr>
          <p:cNvPr id="123"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Top-down: what must remain. Bottom-up: why is this still here?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Worked: protect the battery</a:t>
            </a:r>
          </a:p>
        </p:txBody>
      </p:sp>
      <p:sp>
        <p:nvSpPr>
          <p:cNvPr id="3" name="Slide Number Placeholder 3"/>
          <p:cNvSpPr>
            <a:spLocks noGrp="1"/>
          </p:cNvSpPr>
          <p:nvPr>
            <p:ph type="sldNum" sz="quarter" idx="4"/>
          </p:nvPr>
        </p:nvSpPr>
        <p:spPr/>
        <p:txBody>
          <a:bodyPr/>
          <a:lstStyle/>
          <a:p>
            <a:fld id="{B7EB45DA-9A0D-DC49-8E02-F30A5DDC21C3}" type="slidenum">
              <a:rPr lang="en-US" smtClean="0"/>
              <a:t>16</a:t>
            </a:fld>
            <a:endParaRPr lang="en-US"/>
          </a:p>
        </p:txBody>
      </p:sp>
      <p:sp>
        <p:nvSpPr>
          <p:cNvPr id="124" name="Kicker"/>
          <p:cNvSpPr txBox="1"/>
          <p:nvPr/>
        </p:nvSpPr>
        <p:spPr>
          <a:xfrm>
            <a:off x="365760" y="1097280"/>
            <a:ext cx="8412480" cy="393192"/>
          </a:xfrm>
          <a:prstGeom prst="rect">
            <a:avLst/>
          </a:prstGeom>
          <a:noFill/>
          <a:ln>
            <a:noFill/>
          </a:ln>
        </p:spPr>
        <p:txBody>
          <a:bodyPr wrap="square" lIns="18288" tIns="18288" rIns="18288" bIns="18288" anchor="t">
            <a:spAutoFit/>
          </a:bodyPr>
          <a:lstStyle/>
          <a:p>
            <a:pPr algn="l">
              <a:spcAft>
                <a:spcPts val="0"/>
              </a:spcAft>
              <a:buNone/>
            </a:pPr>
            <a:r>
              <a:rPr lang="en-US" sz="2000" b="1" dirty="0">
                <a:solidFill>
                  <a:srgbClr val="8E6F3E"/>
                </a:solidFill>
              </a:rPr>
              <a:t>THE METHOD, WORKED</a:t>
            </a:r>
          </a:p>
        </p:txBody>
      </p:sp>
      <p:sp>
        <p:nvSpPr>
          <p:cNvPr id="125" name="C0"/>
          <p:cNvSpPr/>
          <p:nvPr/>
        </p:nvSpPr>
        <p:spPr>
          <a:xfrm>
            <a:off x="685800" y="1737360"/>
            <a:ext cx="1828800" cy="54864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TEMP SENSOR</a:t>
            </a:r>
          </a:p>
        </p:txBody>
      </p:sp>
      <p:sp>
        <p:nvSpPr>
          <p:cNvPr id="126" name="C1"/>
          <p:cNvSpPr/>
          <p:nvPr/>
        </p:nvSpPr>
        <p:spPr>
          <a:xfrm>
            <a:off x="685800" y="2628900"/>
            <a:ext cx="1828800" cy="54864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WI-FI TELEMETRY</a:t>
            </a:r>
          </a:p>
        </p:txBody>
      </p:sp>
      <p:sp>
        <p:nvSpPr>
          <p:cNvPr id="127" name="C2"/>
          <p:cNvSpPr/>
          <p:nvPr/>
        </p:nvSpPr>
        <p:spPr>
          <a:xfrm>
            <a:off x="685800" y="3520440"/>
            <a:ext cx="1828800" cy="54864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DISPLAY</a:t>
            </a:r>
          </a:p>
        </p:txBody>
      </p:sp>
      <p:sp>
        <p:nvSpPr>
          <p:cNvPr id="128" name="C3"/>
          <p:cNvSpPr/>
          <p:nvPr/>
        </p:nvSpPr>
        <p:spPr>
          <a:xfrm>
            <a:off x="6629400" y="1737360"/>
            <a:ext cx="1828800" cy="54864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PWM FAN</a:t>
            </a:r>
          </a:p>
        </p:txBody>
      </p:sp>
      <p:sp>
        <p:nvSpPr>
          <p:cNvPr id="129" name="C4"/>
          <p:cNvSpPr/>
          <p:nvPr/>
        </p:nvSpPr>
        <p:spPr>
          <a:xfrm>
            <a:off x="6629400" y="2628900"/>
            <a:ext cx="1828800" cy="54864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FLASH LOG</a:t>
            </a:r>
          </a:p>
        </p:txBody>
      </p:sp>
      <p:sp>
        <p:nvSpPr>
          <p:cNvPr id="130" name="C5"/>
          <p:cNvSpPr/>
          <p:nvPr/>
        </p:nvSpPr>
        <p:spPr>
          <a:xfrm>
            <a:off x="6629400" y="3520440"/>
            <a:ext cx="1828800" cy="54864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LOW-POWER SLEEP</a:t>
            </a:r>
          </a:p>
        </p:txBody>
      </p:sp>
      <p:sp>
        <p:nvSpPr>
          <p:cNvPr id="131" name="Ctrl"/>
          <p:cNvSpPr/>
          <p:nvPr/>
        </p:nvSpPr>
        <p:spPr>
          <a:xfrm>
            <a:off x="3657600" y="2514600"/>
            <a:ext cx="1828800" cy="731520"/>
          </a:xfrm>
          <a:prstGeom prst="rect">
            <a:avLst/>
          </a:prstGeom>
          <a:solidFill>
            <a:srgbClr val="8E6F3E"/>
          </a:solidFill>
          <a:ln>
            <a:noFill/>
          </a:ln>
        </p:spPr>
        <p:txBody>
          <a:bodyPr wrap="square" lIns="27432" tIns="22860" rIns="27432" bIns="22860" anchor="ctr"/>
          <a:lstStyle/>
          <a:p>
            <a:pPr algn="ctr">
              <a:spcAft>
                <a:spcPts val="200"/>
              </a:spcAft>
              <a:buNone/>
            </a:pPr>
            <a:r>
              <a:rPr lang="en-US" sz="1800" b="1" dirty="0">
                <a:solidFill>
                  <a:srgbClr val="FFFFFF"/>
                </a:solidFill>
              </a:rPr>
              <a:t>CONTROLLER</a:t>
            </a:r>
          </a:p>
          <a:p>
            <a:pPr algn="ctr">
              <a:spcAft>
                <a:spcPts val="0"/>
              </a:spcAft>
              <a:buNone/>
            </a:pPr>
            <a:r>
              <a:rPr lang="en-US" sz="1400" b="0" dirty="0">
                <a:solidFill>
                  <a:srgbClr val="FFFFFF"/>
                </a:solidFill>
              </a:rPr>
              <a:t>one control loop</a:t>
            </a:r>
          </a:p>
        </p:txBody>
      </p:sp>
      <p:sp>
        <p:nvSpPr>
          <p:cNvPr id="132" name="Bat"/>
          <p:cNvSpPr/>
          <p:nvPr/>
        </p:nvSpPr>
        <p:spPr>
          <a:xfrm>
            <a:off x="3657600" y="4114800"/>
            <a:ext cx="1828800" cy="685800"/>
          </a:xfrm>
          <a:prstGeom prst="rect">
            <a:avLst/>
          </a:prstGeom>
          <a:solidFill>
            <a:srgbClr val="F5F1E8"/>
          </a:solidFill>
          <a:ln w="12700">
            <a:solidFill>
              <a:srgbClr val="C9B991"/>
            </a:solidFill>
          </a:ln>
        </p:spPr>
        <p:txBody>
          <a:bodyPr wrap="square" lIns="27432" tIns="22860" rIns="27432" bIns="22860" anchor="t"/>
          <a:lstStyle/>
          <a:p>
            <a:pPr algn="ctr">
              <a:spcAft>
                <a:spcPts val="0"/>
              </a:spcAft>
              <a:buNone/>
            </a:pPr>
            <a:r>
              <a:rPr lang="en-US" sz="1600" b="1" dirty="0">
                <a:solidFill>
                  <a:srgbClr val="5C4826"/>
                </a:solidFill>
              </a:rPr>
              <a:t>BATTERY</a:t>
            </a:r>
          </a:p>
        </p:txBody>
      </p:sp>
      <p:sp>
        <p:nvSpPr>
          <p:cNvPr id="133" name="VL0"/>
          <p:cNvSpPr/>
          <p:nvPr/>
        </p:nvSpPr>
        <p:spPr>
          <a:xfrm>
            <a:off x="3733800" y="4610100"/>
            <a:ext cx="1676400" cy="22860"/>
          </a:xfrm>
          <a:prstGeom prst="rect">
            <a:avLst/>
          </a:prstGeom>
          <a:solidFill>
            <a:srgbClr val="5C4826"/>
          </a:solidFill>
          <a:ln>
            <a:noFill/>
          </a:ln>
        </p:spPr>
        <p:txBody>
          <a:bodyPr wrap="square" lIns="27432" tIns="22860" rIns="27432" bIns="22860" anchor="ctr"/>
          <a:lstStyle/>
          <a:p>
            <a:pPr algn="ctr">
              <a:spcAft>
                <a:spcPts val="0"/>
              </a:spcAft>
              <a:buNone/>
            </a:pPr>
            <a:endParaRPr/>
          </a:p>
        </p:txBody>
      </p:sp>
      <p:sp>
        <p:nvSpPr>
          <p:cNvPr id="134" name="VL1"/>
          <p:cNvSpPr txBox="1"/>
          <p:nvPr/>
        </p:nvSpPr>
        <p:spPr>
          <a:xfrm>
            <a:off x="5638800" y="4495800"/>
            <a:ext cx="1828800" cy="274320"/>
          </a:xfrm>
          <a:prstGeom prst="rect">
            <a:avLst/>
          </a:prstGeom>
          <a:noFill/>
          <a:ln>
            <a:noFill/>
          </a:ln>
        </p:spPr>
        <p:txBody>
          <a:bodyPr wrap="square" lIns="0" tIns="0" rIns="0" bIns="0" anchor="t"/>
          <a:lstStyle/>
          <a:p>
            <a:pPr algn="l">
              <a:spcAft>
                <a:spcPts val="0"/>
              </a:spcAft>
              <a:buNone/>
            </a:pPr>
            <a:r>
              <a:rPr lang="en-US" sz="1400" b="0" dirty="0">
                <a:solidFill>
                  <a:srgbClr val="555960"/>
                </a:solidFill>
              </a:rPr>
              <a:t>minimum safe voltage</a:t>
            </a:r>
          </a:p>
        </p:txBody>
      </p:sp>
      <p:cxnSp>
        <p:nvCxnSpPr>
          <p:cNvPr id="135" name="PF0"/>
          <p:cNvCxnSpPr/>
          <p:nvPr/>
        </p:nvCxnSpPr>
        <p:spPr>
          <a:xfrm>
            <a:off x="4572000" y="3246120"/>
            <a:ext cx="0" cy="868680"/>
          </a:xfrm>
          <a:prstGeom prst="straightConnector1">
            <a:avLst/>
          </a:prstGeom>
          <a:ln w="28575">
            <a:solidFill>
              <a:srgbClr val="8E6F3E"/>
            </a:solidFill>
            <a:headEnd type="triangle" w="med" len="med"/>
          </a:ln>
        </p:spPr>
      </p:cxnSp>
      <p:cxnSp>
        <p:nvCxnSpPr>
          <p:cNvPr id="136" name="W0"/>
          <p:cNvCxnSpPr/>
          <p:nvPr/>
        </p:nvCxnSpPr>
        <p:spPr>
          <a:xfrm>
            <a:off x="2514600" y="2011680"/>
            <a:ext cx="1143000" cy="868680"/>
          </a:xfrm>
          <a:prstGeom prst="straightConnector1">
            <a:avLst/>
          </a:prstGeom>
          <a:ln w="19050">
            <a:solidFill>
              <a:srgbClr val="C9B991"/>
            </a:solidFill>
          </a:ln>
        </p:spPr>
      </p:cxnSp>
      <p:cxnSp>
        <p:nvCxnSpPr>
          <p:cNvPr id="137" name="W1"/>
          <p:cNvCxnSpPr/>
          <p:nvPr/>
        </p:nvCxnSpPr>
        <p:spPr>
          <a:xfrm flipV="1">
            <a:off x="2514600" y="2880360"/>
            <a:ext cx="1143000" cy="22860"/>
          </a:xfrm>
          <a:prstGeom prst="straightConnector1">
            <a:avLst/>
          </a:prstGeom>
          <a:ln w="19050">
            <a:solidFill>
              <a:srgbClr val="C9B991"/>
            </a:solidFill>
          </a:ln>
        </p:spPr>
      </p:cxnSp>
      <p:cxnSp>
        <p:nvCxnSpPr>
          <p:cNvPr id="138" name="W2"/>
          <p:cNvCxnSpPr/>
          <p:nvPr/>
        </p:nvCxnSpPr>
        <p:spPr>
          <a:xfrm flipV="1">
            <a:off x="2514600" y="2880360"/>
            <a:ext cx="1143000" cy="914400"/>
          </a:xfrm>
          <a:prstGeom prst="straightConnector1">
            <a:avLst/>
          </a:prstGeom>
          <a:ln w="19050">
            <a:solidFill>
              <a:srgbClr val="C9B991"/>
            </a:solidFill>
          </a:ln>
        </p:spPr>
      </p:cxnSp>
      <p:cxnSp>
        <p:nvCxnSpPr>
          <p:cNvPr id="139" name="W3"/>
          <p:cNvCxnSpPr/>
          <p:nvPr/>
        </p:nvCxnSpPr>
        <p:spPr>
          <a:xfrm flipV="1">
            <a:off x="5486400" y="2011680"/>
            <a:ext cx="1143000" cy="868680"/>
          </a:xfrm>
          <a:prstGeom prst="straightConnector1">
            <a:avLst/>
          </a:prstGeom>
          <a:ln w="19050">
            <a:solidFill>
              <a:srgbClr val="C9B991"/>
            </a:solidFill>
          </a:ln>
        </p:spPr>
      </p:cxnSp>
      <p:cxnSp>
        <p:nvCxnSpPr>
          <p:cNvPr id="140" name="W4"/>
          <p:cNvCxnSpPr/>
          <p:nvPr/>
        </p:nvCxnSpPr>
        <p:spPr>
          <a:xfrm>
            <a:off x="5486400" y="2880360"/>
            <a:ext cx="1143000" cy="22860"/>
          </a:xfrm>
          <a:prstGeom prst="straightConnector1">
            <a:avLst/>
          </a:prstGeom>
          <a:ln w="19050">
            <a:solidFill>
              <a:srgbClr val="C9B991"/>
            </a:solidFill>
          </a:ln>
        </p:spPr>
      </p:cxnSp>
      <p:cxnSp>
        <p:nvCxnSpPr>
          <p:cNvPr id="141" name="W5"/>
          <p:cNvCxnSpPr/>
          <p:nvPr/>
        </p:nvCxnSpPr>
        <p:spPr>
          <a:xfrm>
            <a:off x="5486400" y="2880360"/>
            <a:ext cx="1143000" cy="914400"/>
          </a:xfrm>
          <a:prstGeom prst="straightConnector1">
            <a:avLst/>
          </a:prstGeom>
          <a:ln w="19050">
            <a:solidFill>
              <a:srgbClr val="C9B991"/>
            </a:solidFill>
          </a:ln>
        </p:spPr>
      </p:cxnSp>
      <p:sp>
        <p:nvSpPr>
          <p:cNvPr id="142" name="Ital"/>
          <p:cNvSpPr txBox="1"/>
          <p:nvPr/>
        </p:nvSpPr>
        <p:spPr>
          <a:xfrm>
            <a:off x="685800" y="5120640"/>
            <a:ext cx="7772400" cy="32004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Every component draws from the one battery.</a:t>
            </a:r>
          </a:p>
        </p:txBody>
      </p:sp>
      <p:sp>
        <p:nvSpPr>
          <p:cNvPr id="143"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One question: can the battery run out before the 8 hours end?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Top-down: preserve what the obligation requires</a:t>
            </a:r>
          </a:p>
        </p:txBody>
      </p:sp>
      <p:sp>
        <p:nvSpPr>
          <p:cNvPr id="3" name="Slide Number Placeholder 3"/>
          <p:cNvSpPr>
            <a:spLocks noGrp="1"/>
          </p:cNvSpPr>
          <p:nvPr>
            <p:ph type="sldNum" sz="quarter" idx="4"/>
          </p:nvPr>
        </p:nvSpPr>
        <p:spPr/>
        <p:txBody>
          <a:bodyPr/>
          <a:lstStyle/>
          <a:p>
            <a:fld id="{B7EB45DA-9A0D-DC49-8E02-F30A5DDC21C3}" type="slidenum">
              <a:rPr lang="en-US" smtClean="0"/>
              <a:t>17</a:t>
            </a:fld>
            <a:endParaRPr lang="en-US"/>
          </a:p>
        </p:txBody>
      </p:sp>
      <p:sp>
        <p:nvSpPr>
          <p:cNvPr id="144" name="Oblig"/>
          <p:cNvSpPr/>
          <p:nvPr/>
        </p:nvSpPr>
        <p:spPr>
          <a:xfrm>
            <a:off x="685800" y="1097280"/>
            <a:ext cx="7772400" cy="457200"/>
          </a:xfrm>
          <a:prstGeom prst="rect">
            <a:avLst/>
          </a:prstGeom>
          <a:solidFill>
            <a:srgbClr val="5C4826"/>
          </a:solidFill>
          <a:ln>
            <a:noFill/>
          </a:ln>
        </p:spPr>
        <p:txBody>
          <a:bodyPr wrap="square" lIns="27432" tIns="22860" rIns="27432" bIns="22860" anchor="ctr"/>
          <a:lstStyle/>
          <a:p>
            <a:pPr algn="ctr">
              <a:spcAft>
                <a:spcPts val="0"/>
              </a:spcAft>
              <a:buNone/>
            </a:pPr>
            <a:r>
              <a:rPr lang="en-US" sz="1800" b="1" dirty="0">
                <a:solidFill>
                  <a:srgbClr val="FFFFFF"/>
                </a:solidFill>
              </a:rPr>
              <a:t>OBLIGATION: 8 or more hours above minimum safe voltage</a:t>
            </a:r>
          </a:p>
        </p:txBody>
      </p:sp>
      <p:sp>
        <p:nvSpPr>
          <p:cNvPr id="145" name="D0"/>
          <p:cNvSpPr/>
          <p:nvPr/>
        </p:nvSpPr>
        <p:spPr>
          <a:xfrm>
            <a:off x="685800" y="1783080"/>
            <a:ext cx="20574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temperature sensor</a:t>
            </a:r>
          </a:p>
        </p:txBody>
      </p:sp>
      <p:sp>
        <p:nvSpPr>
          <p:cNvPr id="146" name="D1"/>
          <p:cNvSpPr/>
          <p:nvPr/>
        </p:nvSpPr>
        <p:spPr>
          <a:xfrm>
            <a:off x="685800" y="2240280"/>
            <a:ext cx="20574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PWM fan</a:t>
            </a:r>
          </a:p>
        </p:txBody>
      </p:sp>
      <p:sp>
        <p:nvSpPr>
          <p:cNvPr id="147" name="D2"/>
          <p:cNvSpPr/>
          <p:nvPr/>
        </p:nvSpPr>
        <p:spPr>
          <a:xfrm>
            <a:off x="685800" y="2697480"/>
            <a:ext cx="20574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Wi-Fi telemetry</a:t>
            </a:r>
          </a:p>
        </p:txBody>
      </p:sp>
      <p:sp>
        <p:nvSpPr>
          <p:cNvPr id="148" name="D3"/>
          <p:cNvSpPr/>
          <p:nvPr/>
        </p:nvSpPr>
        <p:spPr>
          <a:xfrm>
            <a:off x="685800" y="3154680"/>
            <a:ext cx="20574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flash logging</a:t>
            </a:r>
          </a:p>
        </p:txBody>
      </p:sp>
      <p:sp>
        <p:nvSpPr>
          <p:cNvPr id="149" name="D4"/>
          <p:cNvSpPr/>
          <p:nvPr/>
        </p:nvSpPr>
        <p:spPr>
          <a:xfrm>
            <a:off x="685800" y="3611880"/>
            <a:ext cx="20574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display</a:t>
            </a:r>
          </a:p>
        </p:txBody>
      </p:sp>
      <p:sp>
        <p:nvSpPr>
          <p:cNvPr id="150" name="D5"/>
          <p:cNvSpPr/>
          <p:nvPr/>
        </p:nvSpPr>
        <p:spPr>
          <a:xfrm>
            <a:off x="685800" y="4069080"/>
            <a:ext cx="20574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low-power sleep</a:t>
            </a:r>
          </a:p>
        </p:txBody>
      </p:sp>
      <p:cxnSp>
        <p:nvCxnSpPr>
          <p:cNvPr id="151" name="F0"/>
          <p:cNvCxnSpPr/>
          <p:nvPr/>
        </p:nvCxnSpPr>
        <p:spPr>
          <a:xfrm>
            <a:off x="2743200" y="1965960"/>
            <a:ext cx="2171700" cy="914400"/>
          </a:xfrm>
          <a:prstGeom prst="straightConnector1">
            <a:avLst/>
          </a:prstGeom>
          <a:ln w="19050">
            <a:solidFill>
              <a:srgbClr val="C9B991"/>
            </a:solidFill>
            <a:tailEnd type="triangle" w="med" len="med"/>
          </a:ln>
        </p:spPr>
      </p:cxnSp>
      <p:cxnSp>
        <p:nvCxnSpPr>
          <p:cNvPr id="152" name="F1"/>
          <p:cNvCxnSpPr/>
          <p:nvPr/>
        </p:nvCxnSpPr>
        <p:spPr>
          <a:xfrm>
            <a:off x="2743200" y="2423160"/>
            <a:ext cx="2171700" cy="457200"/>
          </a:xfrm>
          <a:prstGeom prst="straightConnector1">
            <a:avLst/>
          </a:prstGeom>
          <a:ln w="19050">
            <a:solidFill>
              <a:srgbClr val="C9B991"/>
            </a:solidFill>
            <a:tailEnd type="triangle" w="med" len="med"/>
          </a:ln>
        </p:spPr>
      </p:cxnSp>
      <p:cxnSp>
        <p:nvCxnSpPr>
          <p:cNvPr id="153" name="F2"/>
          <p:cNvCxnSpPr/>
          <p:nvPr/>
        </p:nvCxnSpPr>
        <p:spPr>
          <a:xfrm>
            <a:off x="2743200" y="2880360"/>
            <a:ext cx="2171700" cy="0"/>
          </a:xfrm>
          <a:prstGeom prst="straightConnector1">
            <a:avLst/>
          </a:prstGeom>
          <a:ln w="19050">
            <a:solidFill>
              <a:srgbClr val="C9B991"/>
            </a:solidFill>
            <a:tailEnd type="triangle" w="med" len="med"/>
          </a:ln>
        </p:spPr>
      </p:cxnSp>
      <p:cxnSp>
        <p:nvCxnSpPr>
          <p:cNvPr id="154" name="F3"/>
          <p:cNvCxnSpPr/>
          <p:nvPr/>
        </p:nvCxnSpPr>
        <p:spPr>
          <a:xfrm flipV="1">
            <a:off x="2743200" y="2880360"/>
            <a:ext cx="2171700" cy="457200"/>
          </a:xfrm>
          <a:prstGeom prst="straightConnector1">
            <a:avLst/>
          </a:prstGeom>
          <a:ln w="19050">
            <a:solidFill>
              <a:srgbClr val="C9B991"/>
            </a:solidFill>
            <a:tailEnd type="triangle" w="med" len="med"/>
          </a:ln>
        </p:spPr>
      </p:cxnSp>
      <p:cxnSp>
        <p:nvCxnSpPr>
          <p:cNvPr id="155" name="F4"/>
          <p:cNvCxnSpPr/>
          <p:nvPr/>
        </p:nvCxnSpPr>
        <p:spPr>
          <a:xfrm flipV="1">
            <a:off x="2743200" y="2880360"/>
            <a:ext cx="2171700" cy="914400"/>
          </a:xfrm>
          <a:prstGeom prst="straightConnector1">
            <a:avLst/>
          </a:prstGeom>
          <a:ln w="19050">
            <a:solidFill>
              <a:srgbClr val="C9B991"/>
            </a:solidFill>
            <a:tailEnd type="triangle" w="med" len="med"/>
          </a:ln>
        </p:spPr>
      </p:cxnSp>
      <p:cxnSp>
        <p:nvCxnSpPr>
          <p:cNvPr id="156" name="F5"/>
          <p:cNvCxnSpPr/>
          <p:nvPr/>
        </p:nvCxnSpPr>
        <p:spPr>
          <a:xfrm flipV="1">
            <a:off x="2743200" y="2880360"/>
            <a:ext cx="2171700" cy="1371600"/>
          </a:xfrm>
          <a:prstGeom prst="straightConnector1">
            <a:avLst/>
          </a:prstGeom>
          <a:ln w="19050">
            <a:solidFill>
              <a:srgbClr val="C9B991"/>
            </a:solidFill>
            <a:tailEnd type="triangle" w="med" len="med"/>
          </a:ln>
        </p:spPr>
      </p:cxnSp>
      <p:sp>
        <p:nvSpPr>
          <p:cNvPr id="157" name="CardHead"/>
          <p:cNvSpPr/>
          <p:nvPr/>
        </p:nvSpPr>
        <p:spPr>
          <a:xfrm>
            <a:off x="4914900" y="2011680"/>
            <a:ext cx="2743200" cy="411480"/>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ENERGY MODEL</a:t>
            </a:r>
          </a:p>
        </p:txBody>
      </p:sp>
      <p:sp>
        <p:nvSpPr>
          <p:cNvPr id="158" name="E0"/>
          <p:cNvSpPr/>
          <p:nvPr/>
        </p:nvSpPr>
        <p:spPr>
          <a:xfrm>
            <a:off x="4914900" y="2423160"/>
            <a:ext cx="2743200" cy="41148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operating mode</a:t>
            </a:r>
          </a:p>
        </p:txBody>
      </p:sp>
      <p:sp>
        <p:nvSpPr>
          <p:cNvPr id="159" name="E1"/>
          <p:cNvSpPr/>
          <p:nvPr/>
        </p:nvSpPr>
        <p:spPr>
          <a:xfrm>
            <a:off x="4914900" y="2834640"/>
            <a:ext cx="2743200" cy="41148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power(mode)</a:t>
            </a:r>
          </a:p>
        </p:txBody>
      </p:sp>
      <p:sp>
        <p:nvSpPr>
          <p:cNvPr id="160" name="E2"/>
          <p:cNvSpPr/>
          <p:nvPr/>
        </p:nvSpPr>
        <p:spPr>
          <a:xfrm>
            <a:off x="4914900" y="3246120"/>
            <a:ext cx="2743200" cy="41148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duration(mode)</a:t>
            </a:r>
          </a:p>
        </p:txBody>
      </p:sp>
      <p:sp>
        <p:nvSpPr>
          <p:cNvPr id="161" name="E3"/>
          <p:cNvSpPr/>
          <p:nvPr/>
        </p:nvSpPr>
        <p:spPr>
          <a:xfrm>
            <a:off x="4914900" y="3657600"/>
            <a:ext cx="2743200" cy="41148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usable energy</a:t>
            </a:r>
          </a:p>
        </p:txBody>
      </p:sp>
      <p:sp>
        <p:nvSpPr>
          <p:cNvPr id="162" name="TextBox 2"/>
          <p:cNvSpPr txBox="1"/>
          <p:nvPr/>
        </p:nvSpPr>
        <p:spPr>
          <a:xfrm>
            <a:off x="457200" y="4617720"/>
            <a:ext cx="8229600" cy="274320"/>
          </a:xfrm>
          <a:prstGeom prst="rect">
            <a:avLst/>
          </a:prstGeom>
          <a:noFill/>
          <a:ln>
            <a:noFill/>
          </a:ln>
        </p:spPr>
        <p:txBody>
          <a:bodyPr wrap="square" lIns="0" tIns="0" rIns="0" bIns="0" anchor="t"/>
          <a:lstStyle/>
          <a:p>
            <a:pPr algn="ctr">
              <a:spcAft>
                <a:spcPts val="0"/>
              </a:spcAft>
              <a:buNone/>
            </a:pPr>
            <a:r>
              <a:rPr lang="en-US" sz="1600" b="0" i="1" dirty="0">
                <a:solidFill>
                  <a:srgbClr val="555960"/>
                </a:solidFill>
              </a:rPr>
              <a:t>not: temperature value · PWM internals · packet format · flash layout · display contents · task names</a:t>
            </a:r>
          </a:p>
        </p:txBody>
      </p:sp>
      <p:sp>
        <p:nvSpPr>
          <p:cNvPr id="163" name="Property"/>
          <p:cNvSpPr txBox="1"/>
          <p:nvPr/>
        </p:nvSpPr>
        <p:spPr>
          <a:xfrm>
            <a:off x="685800" y="4983480"/>
            <a:ext cx="7772400" cy="457200"/>
          </a:xfrm>
          <a:prstGeom prst="rect">
            <a:avLst/>
          </a:prstGeom>
          <a:noFill/>
          <a:ln>
            <a:noFill/>
          </a:ln>
        </p:spPr>
        <p:txBody>
          <a:bodyPr wrap="square" lIns="0" tIns="0" rIns="0" bIns="0" anchor="t"/>
          <a:lstStyle/>
          <a:p>
            <a:pPr algn="ctr">
              <a:spcAft>
                <a:spcPts val="0"/>
              </a:spcAft>
              <a:buNone/>
            </a:pPr>
            <a:r>
              <a:rPr lang="en-US" sz="2000" b="1" dirty="0">
                <a:solidFill>
                  <a:srgbClr val="8E6F3E"/>
                </a:solidFill>
              </a:rPr>
              <a:t xml:space="preserve">PROPERTY:  </a:t>
            </a:r>
            <a:r>
              <a:rPr lang="en-US" sz="2200" b="1" dirty="0">
                <a:solidFill>
                  <a:srgbClr val="5C4826"/>
                </a:solidFill>
              </a:rPr>
              <a:t>Σ P(mode) · t(mode)  ≤  E(usable)</a:t>
            </a:r>
          </a:p>
        </p:txBody>
      </p:sp>
      <p:sp>
        <p:nvSpPr>
          <p:cNvPr id="164"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The whole system collapses into four quantities.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Bottom-up: make every distinction earn its place</a:t>
            </a:r>
          </a:p>
        </p:txBody>
      </p:sp>
      <p:sp>
        <p:nvSpPr>
          <p:cNvPr id="3" name="Slide Number Placeholder 3"/>
          <p:cNvSpPr>
            <a:spLocks noGrp="1"/>
          </p:cNvSpPr>
          <p:nvPr>
            <p:ph type="sldNum" sz="quarter" idx="4"/>
          </p:nvPr>
        </p:nvSpPr>
        <p:spPr/>
        <p:txBody>
          <a:bodyPr/>
          <a:lstStyle/>
          <a:p>
            <a:fld id="{B7EB45DA-9A0D-DC49-8E02-F30A5DDC21C3}" type="slidenum">
              <a:rPr lang="en-US" smtClean="0"/>
              <a:t>18</a:t>
            </a:fld>
            <a:endParaRPr lang="en-US"/>
          </a:p>
        </p:txBody>
      </p:sp>
      <p:sp>
        <p:nvSpPr>
          <p:cNvPr id="165" name="CardHead"/>
          <p:cNvSpPr/>
          <p:nvPr/>
        </p:nvSpPr>
        <p:spPr>
          <a:xfrm>
            <a:off x="685800" y="1188720"/>
            <a:ext cx="3086100" cy="411480"/>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CANDIDATE: MODE</a:t>
            </a:r>
          </a:p>
        </p:txBody>
      </p:sp>
      <p:sp>
        <p:nvSpPr>
          <p:cNvPr id="166" name="L0"/>
          <p:cNvSpPr/>
          <p:nvPr/>
        </p:nvSpPr>
        <p:spPr>
          <a:xfrm>
            <a:off x="685800" y="160020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strike="sngStrike" dirty="0">
                <a:solidFill>
                  <a:srgbClr val="555960"/>
                </a:solidFill>
              </a:rPr>
              <a:t>CPU frequency</a:t>
            </a:r>
          </a:p>
        </p:txBody>
      </p:sp>
      <p:sp>
        <p:nvSpPr>
          <p:cNvPr id="167" name="L1"/>
          <p:cNvSpPr/>
          <p:nvPr/>
        </p:nvSpPr>
        <p:spPr>
          <a:xfrm>
            <a:off x="685800" y="196596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strike="sngStrike" dirty="0">
                <a:solidFill>
                  <a:srgbClr val="555960"/>
                </a:solidFill>
              </a:rPr>
              <a:t>CPU utilization</a:t>
            </a:r>
          </a:p>
        </p:txBody>
      </p:sp>
      <p:sp>
        <p:nvSpPr>
          <p:cNvPr id="168" name="L2"/>
          <p:cNvSpPr/>
          <p:nvPr/>
        </p:nvSpPr>
        <p:spPr>
          <a:xfrm>
            <a:off x="685800" y="233172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strike="sngStrike" dirty="0">
                <a:solidFill>
                  <a:srgbClr val="555960"/>
                </a:solidFill>
              </a:rPr>
              <a:t>fan PWM %</a:t>
            </a:r>
          </a:p>
        </p:txBody>
      </p:sp>
      <p:sp>
        <p:nvSpPr>
          <p:cNvPr id="169" name="L3"/>
          <p:cNvSpPr/>
          <p:nvPr/>
        </p:nvSpPr>
        <p:spPr>
          <a:xfrm>
            <a:off x="685800" y="269748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strike="sngStrike" dirty="0">
                <a:solidFill>
                  <a:srgbClr val="555960"/>
                </a:solidFill>
              </a:rPr>
              <a:t>Wi-Fi state</a:t>
            </a:r>
          </a:p>
        </p:txBody>
      </p:sp>
      <p:sp>
        <p:nvSpPr>
          <p:cNvPr id="170" name="L4"/>
          <p:cNvSpPr/>
          <p:nvPr/>
        </p:nvSpPr>
        <p:spPr>
          <a:xfrm>
            <a:off x="685800" y="306324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strike="sngStrike" dirty="0">
                <a:solidFill>
                  <a:srgbClr val="555960"/>
                </a:solidFill>
              </a:rPr>
              <a:t>flash writes per second</a:t>
            </a:r>
          </a:p>
        </p:txBody>
      </p:sp>
      <p:sp>
        <p:nvSpPr>
          <p:cNvPr id="171" name="L5"/>
          <p:cNvSpPr/>
          <p:nvPr/>
        </p:nvSpPr>
        <p:spPr>
          <a:xfrm>
            <a:off x="685800" y="342900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strike="sngStrike" dirty="0">
                <a:solidFill>
                  <a:srgbClr val="555960"/>
                </a:solidFill>
              </a:rPr>
              <a:t>display brightness</a:t>
            </a:r>
          </a:p>
        </p:txBody>
      </p:sp>
      <p:sp>
        <p:nvSpPr>
          <p:cNvPr id="172" name="L6"/>
          <p:cNvSpPr/>
          <p:nvPr/>
        </p:nvSpPr>
        <p:spPr>
          <a:xfrm>
            <a:off x="685800" y="379476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strike="sngStrike" dirty="0">
                <a:solidFill>
                  <a:srgbClr val="555960"/>
                </a:solidFill>
              </a:rPr>
              <a:t>sample rate</a:t>
            </a:r>
          </a:p>
        </p:txBody>
      </p:sp>
      <p:sp>
        <p:nvSpPr>
          <p:cNvPr id="173" name="L7"/>
          <p:cNvSpPr/>
          <p:nvPr/>
        </p:nvSpPr>
        <p:spPr>
          <a:xfrm>
            <a:off x="685800" y="416052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1" dirty="0">
                <a:solidFill>
                  <a:srgbClr val="5C4826"/>
                </a:solidFill>
              </a:rPr>
              <a:t>estimated power</a:t>
            </a:r>
          </a:p>
        </p:txBody>
      </p:sp>
      <p:sp>
        <p:nvSpPr>
          <p:cNvPr id="174" name="L8"/>
          <p:cNvSpPr/>
          <p:nvPr/>
        </p:nvSpPr>
        <p:spPr>
          <a:xfrm>
            <a:off x="685800" y="452628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1" dirty="0">
                <a:solidFill>
                  <a:srgbClr val="5C4826"/>
                </a:solidFill>
              </a:rPr>
              <a:t>duration</a:t>
            </a:r>
          </a:p>
        </p:txBody>
      </p:sp>
      <p:cxnSp>
        <p:nvCxnSpPr>
          <p:cNvPr id="175" name="AR0"/>
          <p:cNvCxnSpPr/>
          <p:nvPr/>
        </p:nvCxnSpPr>
        <p:spPr>
          <a:xfrm>
            <a:off x="3771900" y="3000375"/>
            <a:ext cx="1485900" cy="0"/>
          </a:xfrm>
          <a:prstGeom prst="straightConnector1">
            <a:avLst/>
          </a:prstGeom>
          <a:ln w="28575">
            <a:solidFill>
              <a:srgbClr val="8E6F3E"/>
            </a:solidFill>
            <a:tailEnd type="triangle" w="med" len="med"/>
          </a:ln>
        </p:spPr>
      </p:cxnSp>
      <p:sp>
        <p:nvSpPr>
          <p:cNvPr id="176" name="KeptHead"/>
          <p:cNvSpPr/>
          <p:nvPr/>
        </p:nvSpPr>
        <p:spPr>
          <a:xfrm>
            <a:off x="5257800" y="2194560"/>
            <a:ext cx="2971800" cy="411480"/>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MODE</a:t>
            </a:r>
          </a:p>
        </p:txBody>
      </p:sp>
      <p:sp>
        <p:nvSpPr>
          <p:cNvPr id="177" name="K0"/>
          <p:cNvSpPr/>
          <p:nvPr/>
        </p:nvSpPr>
        <p:spPr>
          <a:xfrm>
            <a:off x="5257800" y="2606040"/>
            <a:ext cx="2971800" cy="41148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power</a:t>
            </a:r>
          </a:p>
        </p:txBody>
      </p:sp>
      <p:sp>
        <p:nvSpPr>
          <p:cNvPr id="178" name="K1"/>
          <p:cNvSpPr/>
          <p:nvPr/>
        </p:nvSpPr>
        <p:spPr>
          <a:xfrm>
            <a:off x="5257800" y="3017520"/>
            <a:ext cx="2971800" cy="41148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600" b="1" dirty="0">
                <a:solidFill>
                  <a:srgbClr val="5C4826"/>
                </a:solidFill>
              </a:rPr>
              <a:t>duration</a:t>
            </a:r>
          </a:p>
        </p:txBody>
      </p:sp>
      <p:sp>
        <p:nvSpPr>
          <p:cNvPr id="179" name="TextBox 2"/>
          <p:cNvSpPr txBox="1"/>
          <p:nvPr/>
        </p:nvSpPr>
        <p:spPr>
          <a:xfrm>
            <a:off x="5029200" y="3611880"/>
            <a:ext cx="3429000" cy="548640"/>
          </a:xfrm>
          <a:prstGeom prst="rect">
            <a:avLst/>
          </a:prstGeom>
          <a:noFill/>
          <a:ln>
            <a:noFill/>
          </a:ln>
        </p:spPr>
        <p:txBody>
          <a:bodyPr wrap="square" lIns="0" tIns="0" rIns="0" bIns="0" anchor="t"/>
          <a:lstStyle/>
          <a:p>
            <a:pPr algn="ctr">
              <a:spcAft>
                <a:spcPts val="0"/>
              </a:spcAft>
              <a:buNone/>
            </a:pPr>
            <a:r>
              <a:rPr lang="en-US" sz="1600" b="0" dirty="0">
                <a:solidFill>
                  <a:srgbClr val="555960"/>
                </a:solidFill>
              </a:rPr>
              <a:t>plus two model-level facts:</a:t>
            </a:r>
          </a:p>
          <a:p>
            <a:pPr algn="ctr">
              <a:spcAft>
                <a:spcPts val="0"/>
              </a:spcAft>
              <a:buNone/>
            </a:pPr>
            <a:r>
              <a:rPr lang="en-US" sz="1600" b="0" dirty="0">
                <a:solidFill>
                  <a:srgbClr val="555960"/>
                </a:solidFill>
              </a:rPr>
              <a:t>usable energy · safety threshold</a:t>
            </a:r>
          </a:p>
        </p:txBody>
      </p:sp>
      <p:sp>
        <p:nvSpPr>
          <p:cNvPr id="180" name="Ital"/>
          <p:cNvSpPr txBox="1"/>
          <p:nvPr/>
        </p:nvSpPr>
        <p:spPr>
          <a:xfrm>
            <a:off x="685800" y="5029200"/>
            <a:ext cx="7772400" cy="59436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CPU frequency, fan PWM, Wi-Fi state: needed to derive the power estimate,</a:t>
            </a:r>
          </a:p>
          <a:p>
            <a:pPr algn="ctr">
              <a:spcAft>
                <a:spcPts val="0"/>
              </a:spcAft>
              <a:buNone/>
            </a:pPr>
            <a:r>
              <a:rPr lang="en-US" sz="1700" b="0" i="1" dirty="0">
                <a:solidFill>
                  <a:srgbClr val="555960"/>
                </a:solidFill>
              </a:rPr>
              <a:t>not to live in the model.</a:t>
            </a:r>
          </a:p>
        </p:txBody>
      </p:sp>
      <p:sp>
        <p:nvSpPr>
          <p:cNvPr id="181"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Nine distinctions walked in. Three survived.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territory did not change. The question did.</a:t>
            </a:r>
          </a:p>
        </p:txBody>
      </p:sp>
      <p:sp>
        <p:nvSpPr>
          <p:cNvPr id="3" name="Slide Number Placeholder 3"/>
          <p:cNvSpPr>
            <a:spLocks noGrp="1"/>
          </p:cNvSpPr>
          <p:nvPr>
            <p:ph type="sldNum" sz="quarter" idx="4"/>
          </p:nvPr>
        </p:nvSpPr>
        <p:spPr/>
        <p:txBody>
          <a:bodyPr/>
          <a:lstStyle/>
          <a:p>
            <a:fld id="{B7EB45DA-9A0D-DC49-8E02-F30A5DDC21C3}" type="slidenum">
              <a:rPr lang="en-US" smtClean="0"/>
              <a:t>19</a:t>
            </a:fld>
            <a:endParaRPr lang="en-US"/>
          </a:p>
        </p:txBody>
      </p:sp>
      <p:sp>
        <p:nvSpPr>
          <p:cNvPr id="182" name="SubLine"/>
          <p:cNvSpPr txBox="1"/>
          <p:nvPr/>
        </p:nvSpPr>
        <p:spPr>
          <a:xfrm>
            <a:off x="685800" y="1005840"/>
            <a:ext cx="7772400" cy="411480"/>
          </a:xfrm>
          <a:prstGeom prst="rect">
            <a:avLst/>
          </a:prstGeom>
          <a:noFill/>
          <a:ln>
            <a:noFill/>
          </a:ln>
        </p:spPr>
        <p:txBody>
          <a:bodyPr wrap="square" lIns="0" tIns="0" rIns="0" bIns="0" anchor="t"/>
          <a:lstStyle/>
          <a:p>
            <a:pPr algn="ctr">
              <a:spcAft>
                <a:spcPts val="0"/>
              </a:spcAft>
              <a:buNone/>
            </a:pPr>
            <a:r>
              <a:rPr lang="en-US" sz="2000" b="1" dirty="0">
                <a:solidFill>
                  <a:srgbClr val="5C4826"/>
                </a:solidFill>
              </a:rPr>
              <a:t>New question: can the fan keep the device below 70 °C under peak load?</a:t>
            </a:r>
          </a:p>
        </p:txBody>
      </p:sp>
      <p:sp>
        <p:nvSpPr>
          <p:cNvPr id="183" name="Chip"/>
          <p:cNvSpPr/>
          <p:nvPr/>
        </p:nvSpPr>
        <p:spPr>
          <a:xfrm>
            <a:off x="3886200" y="1737360"/>
            <a:ext cx="1371600" cy="548640"/>
          </a:xfrm>
          <a:prstGeom prst="rect">
            <a:avLst/>
          </a:prstGeom>
          <a:solidFill>
            <a:srgbClr val="8E6F3E"/>
          </a:solidFill>
          <a:ln>
            <a:noFill/>
          </a:ln>
        </p:spPr>
        <p:txBody>
          <a:bodyPr wrap="square" lIns="27432" tIns="22860" rIns="27432" bIns="22860" anchor="ctr"/>
          <a:lstStyle/>
          <a:p>
            <a:pPr algn="ctr">
              <a:spcAft>
                <a:spcPts val="0"/>
              </a:spcAft>
              <a:buNone/>
            </a:pPr>
            <a:r>
              <a:rPr lang="en-US" sz="1500" b="1" dirty="0">
                <a:solidFill>
                  <a:srgbClr val="FFFFFF"/>
                </a:solidFill>
              </a:rPr>
              <a:t>SAME CONTROLLER</a:t>
            </a:r>
          </a:p>
        </p:txBody>
      </p:sp>
      <p:cxnSp>
        <p:nvCxnSpPr>
          <p:cNvPr id="184" name="AL0"/>
          <p:cNvCxnSpPr/>
          <p:nvPr/>
        </p:nvCxnSpPr>
        <p:spPr>
          <a:xfrm flipH="1">
            <a:off x="2228850" y="2286000"/>
            <a:ext cx="1657350" cy="457200"/>
          </a:xfrm>
          <a:prstGeom prst="straightConnector1">
            <a:avLst/>
          </a:prstGeom>
          <a:ln w="19050">
            <a:solidFill>
              <a:srgbClr val="C9B991"/>
            </a:solidFill>
            <a:tailEnd type="triangle" w="med" len="med"/>
          </a:ln>
        </p:spPr>
      </p:cxnSp>
      <p:cxnSp>
        <p:nvCxnSpPr>
          <p:cNvPr id="185" name="AL1"/>
          <p:cNvCxnSpPr/>
          <p:nvPr/>
        </p:nvCxnSpPr>
        <p:spPr>
          <a:xfrm>
            <a:off x="5257800" y="2286000"/>
            <a:ext cx="1657350" cy="457200"/>
          </a:xfrm>
          <a:prstGeom prst="straightConnector1">
            <a:avLst/>
          </a:prstGeom>
          <a:ln w="19050">
            <a:solidFill>
              <a:srgbClr val="C9B991"/>
            </a:solidFill>
            <a:tailEnd type="triangle" w="med" len="med"/>
          </a:ln>
        </p:spPr>
      </p:cxnSp>
      <p:sp>
        <p:nvSpPr>
          <p:cNvPr id="186" name="OL0"/>
          <p:cNvSpPr txBox="1"/>
          <p:nvPr/>
        </p:nvSpPr>
        <p:spPr>
          <a:xfrm>
            <a:off x="685800" y="2743200"/>
            <a:ext cx="3086100" cy="274320"/>
          </a:xfrm>
          <a:prstGeom prst="rect">
            <a:avLst/>
          </a:prstGeom>
          <a:noFill/>
          <a:ln>
            <a:noFill/>
          </a:ln>
        </p:spPr>
        <p:txBody>
          <a:bodyPr wrap="square" lIns="0" tIns="0" rIns="0" bIns="0" anchor="b"/>
          <a:lstStyle/>
          <a:p>
            <a:pPr algn="ctr">
              <a:spcAft>
                <a:spcPts val="0"/>
              </a:spcAft>
              <a:buNone/>
            </a:pPr>
            <a:r>
              <a:rPr lang="en-US" sz="1400" b="1" dirty="0">
                <a:solidFill>
                  <a:srgbClr val="8E6F3E"/>
                </a:solidFill>
              </a:rPr>
              <a:t>THE 8-HOUR BATTERY QUESTION</a:t>
            </a:r>
          </a:p>
        </p:txBody>
      </p:sp>
      <p:sp>
        <p:nvSpPr>
          <p:cNvPr id="187" name="H0"/>
          <p:cNvSpPr/>
          <p:nvPr/>
        </p:nvSpPr>
        <p:spPr>
          <a:xfrm>
            <a:off x="685800" y="3017520"/>
            <a:ext cx="3086100" cy="411480"/>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ENERGY MODEL</a:t>
            </a:r>
          </a:p>
        </p:txBody>
      </p:sp>
      <p:sp>
        <p:nvSpPr>
          <p:cNvPr id="188" name="E0"/>
          <p:cNvSpPr/>
          <p:nvPr/>
        </p:nvSpPr>
        <p:spPr>
          <a:xfrm>
            <a:off x="685800" y="342900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dirty="0">
                <a:solidFill>
                  <a:srgbClr val="5C4826"/>
                </a:solidFill>
              </a:rPr>
              <a:t>operating mode</a:t>
            </a:r>
          </a:p>
        </p:txBody>
      </p:sp>
      <p:sp>
        <p:nvSpPr>
          <p:cNvPr id="189" name="E1"/>
          <p:cNvSpPr/>
          <p:nvPr/>
        </p:nvSpPr>
        <p:spPr>
          <a:xfrm>
            <a:off x="685800" y="379476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dirty="0">
                <a:solidFill>
                  <a:srgbClr val="5C4826"/>
                </a:solidFill>
              </a:rPr>
              <a:t>power(mode)</a:t>
            </a:r>
          </a:p>
        </p:txBody>
      </p:sp>
      <p:sp>
        <p:nvSpPr>
          <p:cNvPr id="190" name="E2"/>
          <p:cNvSpPr/>
          <p:nvPr/>
        </p:nvSpPr>
        <p:spPr>
          <a:xfrm>
            <a:off x="685800" y="416052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dirty="0">
                <a:solidFill>
                  <a:srgbClr val="5C4826"/>
                </a:solidFill>
              </a:rPr>
              <a:t>duration(mode)</a:t>
            </a:r>
          </a:p>
        </p:txBody>
      </p:sp>
      <p:sp>
        <p:nvSpPr>
          <p:cNvPr id="191" name="E3"/>
          <p:cNvSpPr/>
          <p:nvPr/>
        </p:nvSpPr>
        <p:spPr>
          <a:xfrm>
            <a:off x="685800" y="452628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dirty="0">
                <a:solidFill>
                  <a:srgbClr val="5C4826"/>
                </a:solidFill>
              </a:rPr>
              <a:t>usable energy</a:t>
            </a:r>
          </a:p>
        </p:txBody>
      </p:sp>
      <p:sp>
        <p:nvSpPr>
          <p:cNvPr id="192" name="OL1"/>
          <p:cNvSpPr txBox="1"/>
          <p:nvPr/>
        </p:nvSpPr>
        <p:spPr>
          <a:xfrm>
            <a:off x="5372100" y="2743200"/>
            <a:ext cx="3086100" cy="274320"/>
          </a:xfrm>
          <a:prstGeom prst="rect">
            <a:avLst/>
          </a:prstGeom>
          <a:noFill/>
          <a:ln>
            <a:noFill/>
          </a:ln>
        </p:spPr>
        <p:txBody>
          <a:bodyPr wrap="square" lIns="0" tIns="0" rIns="0" bIns="0" anchor="b"/>
          <a:lstStyle/>
          <a:p>
            <a:pPr algn="ctr">
              <a:spcAft>
                <a:spcPts val="0"/>
              </a:spcAft>
              <a:buNone/>
            </a:pPr>
            <a:r>
              <a:rPr lang="en-US" sz="1400" b="1" dirty="0">
                <a:solidFill>
                  <a:srgbClr val="8E6F3E"/>
                </a:solidFill>
              </a:rPr>
              <a:t>THE 70 °C THERMAL QUESTION</a:t>
            </a:r>
          </a:p>
        </p:txBody>
      </p:sp>
      <p:sp>
        <p:nvSpPr>
          <p:cNvPr id="193" name="H1"/>
          <p:cNvSpPr/>
          <p:nvPr/>
        </p:nvSpPr>
        <p:spPr>
          <a:xfrm>
            <a:off x="5372100" y="3017520"/>
            <a:ext cx="3086100" cy="411480"/>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THERMAL MODEL</a:t>
            </a:r>
          </a:p>
        </p:txBody>
      </p:sp>
      <p:sp>
        <p:nvSpPr>
          <p:cNvPr id="194" name="T0"/>
          <p:cNvSpPr/>
          <p:nvPr/>
        </p:nvSpPr>
        <p:spPr>
          <a:xfrm>
            <a:off x="5372100" y="342900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dirty="0">
                <a:solidFill>
                  <a:srgbClr val="5C4826"/>
                </a:solidFill>
              </a:rPr>
              <a:t>heat generation</a:t>
            </a:r>
          </a:p>
        </p:txBody>
      </p:sp>
      <p:sp>
        <p:nvSpPr>
          <p:cNvPr id="195" name="T1"/>
          <p:cNvSpPr/>
          <p:nvPr/>
        </p:nvSpPr>
        <p:spPr>
          <a:xfrm>
            <a:off x="5372100" y="379476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dirty="0">
                <a:solidFill>
                  <a:srgbClr val="5C4826"/>
                </a:solidFill>
              </a:rPr>
              <a:t>thermal mass</a:t>
            </a:r>
          </a:p>
        </p:txBody>
      </p:sp>
      <p:sp>
        <p:nvSpPr>
          <p:cNvPr id="196" name="T2"/>
          <p:cNvSpPr/>
          <p:nvPr/>
        </p:nvSpPr>
        <p:spPr>
          <a:xfrm>
            <a:off x="5372100" y="416052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dirty="0">
                <a:solidFill>
                  <a:srgbClr val="5C4826"/>
                </a:solidFill>
              </a:rPr>
              <a:t>ambient temperature</a:t>
            </a:r>
          </a:p>
        </p:txBody>
      </p:sp>
      <p:sp>
        <p:nvSpPr>
          <p:cNvPr id="197" name="T3"/>
          <p:cNvSpPr/>
          <p:nvPr/>
        </p:nvSpPr>
        <p:spPr>
          <a:xfrm>
            <a:off x="5372100" y="4526280"/>
            <a:ext cx="3086100" cy="3657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0" dirty="0">
                <a:solidFill>
                  <a:srgbClr val="5C4826"/>
                </a:solidFill>
              </a:rPr>
              <a:t>airflow</a:t>
            </a:r>
          </a:p>
        </p:txBody>
      </p:sp>
      <p:sp>
        <p:nvSpPr>
          <p:cNvPr id="198" name="T4"/>
          <p:cNvSpPr/>
          <p:nvPr/>
        </p:nvSpPr>
        <p:spPr>
          <a:xfrm>
            <a:off x="5372100" y="4892040"/>
            <a:ext cx="3086100" cy="365760"/>
          </a:xfrm>
          <a:prstGeom prst="rect">
            <a:avLst/>
          </a:prstGeom>
          <a:solidFill>
            <a:srgbClr val="FFFFFF"/>
          </a:solidFill>
          <a:ln w="12700">
            <a:solidFill>
              <a:srgbClr val="C9B991"/>
            </a:solidFill>
            <a:prstDash val="dash"/>
          </a:ln>
        </p:spPr>
        <p:txBody>
          <a:bodyPr wrap="square" lIns="27432" tIns="22860" rIns="27432" bIns="22860" anchor="ctr"/>
          <a:lstStyle/>
          <a:p>
            <a:pPr algn="ctr">
              <a:spcAft>
                <a:spcPts val="0"/>
              </a:spcAft>
              <a:buNone/>
            </a:pPr>
            <a:r>
              <a:rPr lang="en-US" sz="1500" b="0" i="1" strike="sngStrike" dirty="0">
                <a:solidFill>
                  <a:srgbClr val="555960"/>
                </a:solidFill>
              </a:rPr>
              <a:t>battery capacity</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How much of the answer must we tell the agent?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tionLabel"/>
          <p:cNvSpPr txBox="1"/>
          <p:nvPr/>
        </p:nvSpPr>
        <p:spPr>
          <a:xfrm>
            <a:off x="685800" y="1243584"/>
            <a:ext cx="7772400" cy="365760"/>
          </a:xfrm>
          <a:prstGeom prst="rect">
            <a:avLst/>
          </a:prstGeom>
          <a:noFill/>
          <a:ln>
            <a:noFill/>
          </a:ln>
        </p:spPr>
        <p:txBody>
          <a:bodyPr wrap="square" lIns="0" tIns="0" rIns="0" bIns="0" anchor="t"/>
          <a:lstStyle/>
          <a:p>
            <a:pPr algn="ctr">
              <a:buNone/>
            </a:pPr>
            <a:r>
              <a:rPr lang="en-US" sz="2000" b="1" i="0" dirty="0">
                <a:solidFill>
                  <a:srgbClr val="8E6F3E"/>
                </a:solidFill>
              </a:rPr>
              <a:t>SECTION 3</a:t>
            </a:r>
          </a:p>
        </p:txBody>
      </p:sp>
      <p:sp>
        <p:nvSpPr>
          <p:cNvPr id="2" name="Title 1"/>
          <p:cNvSpPr>
            <a:spLocks noGrp="1"/>
          </p:cNvSpPr>
          <p:nvPr>
            <p:ph type="title"/>
          </p:nvPr>
        </p:nvSpPr>
        <p:spPr>
          <a:xfrm>
            <a:off x="685800" y="1700784"/>
            <a:ext cx="7772400" cy="1005840"/>
          </a:xfrm>
        </p:spPr>
        <p:txBody>
          <a:bodyPr>
            <a:normAutofit/>
          </a:bodyPr>
          <a:lstStyle/>
          <a:p>
            <a:pPr algn="ctr">
              <a:buNone/>
              <a:defRPr b="0"/>
            </a:pPr>
            <a:r>
              <a:rPr lang="en-US" sz="4000" b="0" i="0" dirty="0">
                <a:solidFill>
                  <a:srgbClr val="000000"/>
                </a:solidFill>
              </a:rPr>
              <a:t>THE EVIDENCE</a:t>
            </a:r>
          </a:p>
        </p:txBody>
      </p:sp>
      <p:sp>
        <p:nvSpPr>
          <p:cNvPr id="3" name="Slide Number Placeholder 3"/>
          <p:cNvSpPr>
            <a:spLocks noGrp="1"/>
          </p:cNvSpPr>
          <p:nvPr>
            <p:ph type="sldNum" sz="quarter" idx="4"/>
          </p:nvPr>
        </p:nvSpPr>
        <p:spPr/>
        <p:txBody>
          <a:bodyPr/>
          <a:lstStyle/>
          <a:p>
            <a:fld id="{B7EB45DA-9A0D-DC49-8E02-F30A5DDC21C3}" type="slidenum">
              <a:rPr lang="en-US" smtClean="0"/>
              <a:t>20</a:t>
            </a:fld>
            <a:endParaRPr lang="en-US"/>
          </a:p>
        </p:txBody>
      </p:sp>
      <p:sp>
        <p:nvSpPr>
          <p:cNvPr id="101" name="Question"/>
          <p:cNvSpPr txBox="1"/>
          <p:nvPr/>
        </p:nvSpPr>
        <p:spPr>
          <a:xfrm>
            <a:off x="685800" y="2798064"/>
            <a:ext cx="7772400" cy="475488"/>
          </a:xfrm>
          <a:prstGeom prst="rect">
            <a:avLst/>
          </a:prstGeom>
          <a:noFill/>
          <a:ln>
            <a:noFill/>
          </a:ln>
        </p:spPr>
        <p:txBody>
          <a:bodyPr wrap="square" lIns="0" tIns="0" rIns="0" bIns="0" anchor="t"/>
          <a:lstStyle/>
          <a:p>
            <a:pPr algn="ctr">
              <a:buNone/>
            </a:pPr>
            <a:r>
              <a:rPr lang="en-US" sz="2400" b="0" i="0" dirty="0">
                <a:solidFill>
                  <a:srgbClr val="5C4826"/>
                </a:solidFill>
              </a:rPr>
              <a:t>How do you find out whether you left out the right things?</a:t>
            </a:r>
          </a:p>
        </p:txBody>
      </p:sp>
      <p:sp>
        <p:nvSpPr>
          <p:cNvPr id="103" name="Rule"/>
          <p:cNvSpPr/>
          <p:nvPr/>
        </p:nvSpPr>
        <p:spPr>
          <a:xfrm>
            <a:off x="3429000" y="3584448"/>
            <a:ext cx="2286000" cy="51206"/>
          </a:xfrm>
          <a:prstGeom prst="rect">
            <a:avLst/>
          </a:prstGeom>
          <a:solidFill>
            <a:srgbClr val="8E6F3E"/>
          </a:solidFill>
          <a:ln>
            <a:noFill/>
          </a:ln>
        </p:spPr>
        <p:txBody>
          <a:bodyPr wrap="square" lIns="27432" tIns="22860" rIns="27432" bIns="22860" anchor="ctr"/>
          <a:lstStyle/>
          <a:p>
            <a:pPr>
              <a:buNone/>
            </a:pPr>
            <a:endParaRPr lang="en-US"/>
          </a:p>
        </p:txBody>
      </p:sp>
      <p:sp>
        <p:nvSpPr>
          <p:cNvPr id="110" name="N0"/>
          <p:cNvSpPr/>
          <p:nvPr/>
        </p:nvSpPr>
        <p:spPr>
          <a:xfrm>
            <a:off x="722376" y="4718304"/>
            <a:ext cx="1700784" cy="566928"/>
          </a:xfrm>
          <a:prstGeom prst="rect">
            <a:avLst/>
          </a:prstGeom>
          <a:solidFill>
            <a:srgbClr val="FBF8F2"/>
          </a:solidFill>
          <a:ln w="12700">
            <a:solidFill>
              <a:srgbClr val="C9B991"/>
            </a:solidFill>
          </a:ln>
        </p:spPr>
        <p:txBody>
          <a:bodyPr wrap="square" lIns="27432" tIns="0" rIns="27432" bIns="68580" anchor="ctr"/>
          <a:lstStyle/>
          <a:p>
            <a:pPr algn="ctr">
              <a:buNone/>
            </a:pPr>
            <a:r>
              <a:rPr lang="en-US" sz="1800" b="1" i="0" dirty="0">
                <a:solidFill>
                  <a:srgbClr val="555960"/>
                </a:solidFill>
              </a:rPr>
              <a:t>ENGINEERING QUESTION</a:t>
            </a:r>
          </a:p>
        </p:txBody>
      </p:sp>
      <p:cxnSp>
        <p:nvCxnSpPr>
          <p:cNvPr id="120" name="NA0"/>
          <p:cNvCxnSpPr/>
          <p:nvPr/>
        </p:nvCxnSpPr>
        <p:spPr>
          <a:xfrm>
            <a:off x="2432304" y="5001768"/>
            <a:ext cx="274320" cy="0"/>
          </a:xfrm>
          <a:prstGeom prst="straightConnector1">
            <a:avLst/>
          </a:prstGeom>
          <a:ln w="19050">
            <a:solidFill>
              <a:srgbClr val="C9B991"/>
            </a:solidFill>
            <a:tailEnd type="triangle" w="med" len="med"/>
          </a:ln>
        </p:spPr>
      </p:cxnSp>
      <p:sp>
        <p:nvSpPr>
          <p:cNvPr id="111" name="N1"/>
          <p:cNvSpPr/>
          <p:nvPr/>
        </p:nvSpPr>
        <p:spPr>
          <a:xfrm>
            <a:off x="2724912" y="4718304"/>
            <a:ext cx="1700784" cy="566928"/>
          </a:xfrm>
          <a:prstGeom prst="rect">
            <a:avLst/>
          </a:prstGeom>
          <a:solidFill>
            <a:srgbClr val="FBF8F2"/>
          </a:solidFill>
          <a:ln w="12700">
            <a:solidFill>
              <a:srgbClr val="C9B991"/>
            </a:solidFill>
          </a:ln>
        </p:spPr>
        <p:txBody>
          <a:bodyPr wrap="square" lIns="27432" tIns="22860" rIns="27432" bIns="22860" anchor="ctr"/>
          <a:lstStyle/>
          <a:p>
            <a:pPr algn="ctr">
              <a:buNone/>
            </a:pPr>
            <a:r>
              <a:rPr lang="en-US" sz="1800" b="1" i="0" dirty="0">
                <a:solidFill>
                  <a:srgbClr val="555960"/>
                </a:solidFill>
              </a:rPr>
              <a:t>MODEL</a:t>
            </a:r>
          </a:p>
        </p:txBody>
      </p:sp>
      <p:cxnSp>
        <p:nvCxnSpPr>
          <p:cNvPr id="121" name="NA1"/>
          <p:cNvCxnSpPr/>
          <p:nvPr/>
        </p:nvCxnSpPr>
        <p:spPr>
          <a:xfrm>
            <a:off x="4434840" y="5001768"/>
            <a:ext cx="274320" cy="0"/>
          </a:xfrm>
          <a:prstGeom prst="straightConnector1">
            <a:avLst/>
          </a:prstGeom>
          <a:ln w="19050">
            <a:solidFill>
              <a:srgbClr val="C9B991"/>
            </a:solidFill>
            <a:tailEnd type="triangle" w="med" len="med"/>
          </a:ln>
        </p:spPr>
      </p:cxnSp>
      <p:sp>
        <p:nvSpPr>
          <p:cNvPr id="112" name="N2"/>
          <p:cNvSpPr/>
          <p:nvPr/>
        </p:nvSpPr>
        <p:spPr>
          <a:xfrm>
            <a:off x="4727448" y="4718304"/>
            <a:ext cx="1700784" cy="566928"/>
          </a:xfrm>
          <a:prstGeom prst="rect">
            <a:avLst/>
          </a:prstGeom>
          <a:solidFill>
            <a:srgbClr val="FBF8F2"/>
          </a:solidFill>
          <a:ln w="12700">
            <a:solidFill>
              <a:srgbClr val="C9B991"/>
            </a:solidFill>
          </a:ln>
        </p:spPr>
        <p:txBody>
          <a:bodyPr wrap="square" lIns="27432" tIns="22860" rIns="27432" bIns="22860" anchor="ctr"/>
          <a:lstStyle/>
          <a:p>
            <a:pPr algn="ctr">
              <a:buNone/>
            </a:pPr>
            <a:r>
              <a:rPr lang="en-US" sz="1800" b="1" i="0" dirty="0">
                <a:solidFill>
                  <a:srgbClr val="555960"/>
                </a:solidFill>
              </a:rPr>
              <a:t>PROPERTY</a:t>
            </a:r>
          </a:p>
        </p:txBody>
      </p:sp>
      <p:cxnSp>
        <p:nvCxnSpPr>
          <p:cNvPr id="122" name="NA2"/>
          <p:cNvCxnSpPr/>
          <p:nvPr/>
        </p:nvCxnSpPr>
        <p:spPr>
          <a:xfrm>
            <a:off x="6437376" y="5001768"/>
            <a:ext cx="274320" cy="0"/>
          </a:xfrm>
          <a:prstGeom prst="straightConnector1">
            <a:avLst/>
          </a:prstGeom>
          <a:ln w="19050">
            <a:solidFill>
              <a:srgbClr val="C9B991"/>
            </a:solidFill>
            <a:tailEnd type="triangle" w="med" len="med"/>
          </a:ln>
        </p:spPr>
      </p:cxnSp>
      <p:sp>
        <p:nvSpPr>
          <p:cNvPr id="113" name="N3"/>
          <p:cNvSpPr/>
          <p:nvPr/>
        </p:nvSpPr>
        <p:spPr>
          <a:xfrm>
            <a:off x="6729984" y="4718304"/>
            <a:ext cx="1700784" cy="566928"/>
          </a:xfrm>
          <a:prstGeom prst="rect">
            <a:avLst/>
          </a:prstGeom>
          <a:solidFill>
            <a:srgbClr val="8E6F3E"/>
          </a:solidFill>
          <a:ln>
            <a:noFill/>
          </a:ln>
        </p:spPr>
        <p:txBody>
          <a:bodyPr wrap="square" lIns="27432" tIns="22860" rIns="27432" bIns="22860" anchor="ctr"/>
          <a:lstStyle/>
          <a:p>
            <a:pPr algn="ctr">
              <a:buNone/>
            </a:pPr>
            <a:r>
              <a:rPr lang="en-US" sz="1800" b="1" i="0" dirty="0">
                <a:solidFill>
                  <a:srgbClr val="FFFFFF"/>
                </a:solidFill>
              </a:rPr>
              <a:t>QUALITY</a:t>
            </a:r>
          </a:p>
        </p:txBody>
      </p:sp>
      <p:sp>
        <p:nvSpPr>
          <p:cNvPr id="130" name="SubLine"/>
          <p:cNvSpPr txBox="1"/>
          <p:nvPr/>
        </p:nvSpPr>
        <p:spPr>
          <a:xfrm>
            <a:off x="685800" y="3657600"/>
            <a:ext cx="7772400" cy="274320"/>
          </a:xfrm>
          <a:prstGeom prst="rect">
            <a:avLst/>
          </a:prstGeom>
          <a:noFill/>
          <a:ln>
            <a:noFill/>
          </a:ln>
        </p:spPr>
        <p:txBody>
          <a:bodyPr wrap="square" lIns="0" tIns="0" rIns="0" bIns="0" anchor="t"/>
          <a:lstStyle/>
          <a:p>
            <a:pPr algn="ctr">
              <a:spcAft>
                <a:spcPts val="0"/>
              </a:spcAft>
              <a:buNone/>
            </a:pPr>
            <a:r>
              <a:rPr lang="en-US" sz="1800" b="0" dirty="0">
                <a:solidFill>
                  <a:srgbClr val="555960"/>
                </a:solidFill>
              </a:rPr>
              <a:t>Two production reductions — one vindicated, one refuted.</a:t>
            </a:r>
          </a:p>
        </p:txBody>
      </p:sp>
      <p:sp>
        <p:nvSpPr>
          <p:cNvPr id="131" name="VTagL"/>
          <p:cNvSpPr/>
          <p:nvPr/>
        </p:nvSpPr>
        <p:spPr>
          <a:xfrm>
            <a:off x="2011680" y="3977640"/>
            <a:ext cx="2286000" cy="365760"/>
          </a:xfrm>
          <a:prstGeom prst="rect">
            <a:avLst/>
          </a:prstGeom>
          <a:noFill/>
          <a:ln>
            <a:noFill/>
          </a:ln>
        </p:spPr>
        <p:txBody>
          <a:bodyPr wrap="square" lIns="27432" tIns="22860" rIns="27432" bIns="22860" anchor="ctr"/>
          <a:lstStyle/>
          <a:p>
            <a:pPr algn="ctr">
              <a:spcAft>
                <a:spcPts val="0"/>
              </a:spcAft>
              <a:buNone/>
            </a:pPr>
            <a:r>
              <a:rPr lang="en-US" sz="1600" b="1" dirty="0">
                <a:solidFill>
                  <a:srgbClr val="8E6F3E"/>
                </a:solidFill>
              </a:rPr>
              <a:t>✓ THE LEASE</a:t>
            </a:r>
          </a:p>
        </p:txBody>
      </p:sp>
      <p:sp>
        <p:nvSpPr>
          <p:cNvPr id="132" name="VTagR"/>
          <p:cNvSpPr/>
          <p:nvPr/>
        </p:nvSpPr>
        <p:spPr>
          <a:xfrm>
            <a:off x="4846320" y="3977640"/>
            <a:ext cx="2286000" cy="365760"/>
          </a:xfrm>
          <a:prstGeom prst="rect">
            <a:avLst/>
          </a:prstGeom>
          <a:noFill/>
          <a:ln>
            <a:noFill/>
          </a:ln>
        </p:spPr>
        <p:txBody>
          <a:bodyPr wrap="square" lIns="27432" tIns="22860" rIns="27432" bIns="22860" anchor="ctr"/>
          <a:lstStyle/>
          <a:p>
            <a:pPr algn="ctr">
              <a:spcAft>
                <a:spcPts val="0"/>
              </a:spcAft>
              <a:buNone/>
            </a:pPr>
            <a:r>
              <a:rPr lang="en-US" sz="1600" b="1" dirty="0">
                <a:solidFill>
                  <a:srgbClr val="8E6F3E"/>
                </a:solidFill>
              </a:rPr>
              <a:t>✗ ACCOUNT QUOTA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Too much reduction loses the obligation</a:t>
            </a:r>
          </a:p>
        </p:txBody>
      </p:sp>
      <p:sp>
        <p:nvSpPr>
          <p:cNvPr id="3" name="Slide Number Placeholder 3"/>
          <p:cNvSpPr>
            <a:spLocks noGrp="1"/>
          </p:cNvSpPr>
          <p:nvPr>
            <p:ph type="sldNum" sz="quarter" idx="4"/>
          </p:nvPr>
        </p:nvSpPr>
        <p:spPr/>
        <p:txBody>
          <a:bodyPr/>
          <a:lstStyle/>
          <a:p>
            <a:fld id="{B7EB45DA-9A0D-DC49-8E02-F30A5DDC21C3}" type="slidenum">
              <a:rPr lang="en-US" smtClean="0"/>
              <a:t>21</a:t>
            </a:fld>
            <a:endParaRPr lang="en-US"/>
          </a:p>
        </p:txBody>
      </p:sp>
      <p:sp>
        <p:nvSpPr>
          <p:cNvPr id="10" name="Intro"/>
          <p:cNvSpPr txBox="1"/>
          <p:nvPr/>
        </p:nvSpPr>
        <p:spPr>
          <a:xfrm>
            <a:off x="365760" y="1097280"/>
            <a:ext cx="8412480" cy="365760"/>
          </a:xfrm>
          <a:prstGeom prst="rect">
            <a:avLst/>
          </a:prstGeom>
          <a:noFill/>
          <a:ln>
            <a:noFill/>
          </a:ln>
        </p:spPr>
        <p:txBody>
          <a:bodyPr wrap="square" lIns="18288" tIns="18288" rIns="18288" bIns="18288" anchor="t">
            <a:spAutoFit/>
          </a:bodyPr>
          <a:lstStyle/>
          <a:p>
            <a:pPr algn="l">
              <a:spcAft>
                <a:spcPts val="0"/>
              </a:spcAft>
              <a:buNone/>
            </a:pPr>
            <a:r>
              <a:rPr lang="en-US" sz="1800" b="0" dirty="0">
                <a:solidFill>
                  <a:srgbClr val="555960"/>
                </a:solidFill>
              </a:rPr>
              <a:t>An account quota was reduced to a single credit count.</a:t>
            </a:r>
          </a:p>
        </p:txBody>
      </p:sp>
      <p:sp>
        <p:nvSpPr>
          <p:cNvPr id="11" name="Acct1"/>
          <p:cNvSpPr/>
          <p:nvPr/>
        </p:nvSpPr>
        <p:spPr>
          <a:xfrm>
            <a:off x="411480" y="1691640"/>
            <a:ext cx="2971800" cy="2468880"/>
          </a:xfrm>
          <a:prstGeom prst="rect">
            <a:avLst/>
          </a:prstGeom>
          <a:solidFill>
            <a:srgbClr val="F5F1E8"/>
          </a:solidFill>
          <a:ln w="12700">
            <a:solidFill>
              <a:srgbClr val="C9B991"/>
            </a:solidFill>
          </a:ln>
        </p:spPr>
        <p:txBody>
          <a:bodyPr wrap="square" lIns="27432" tIns="22860" rIns="27432" bIns="22860" anchor="ctr"/>
          <a:lstStyle/>
          <a:p>
            <a:pPr algn="ctr">
              <a:spcAft>
                <a:spcPts val="800"/>
              </a:spcAft>
              <a:buNone/>
            </a:pPr>
            <a:r>
              <a:rPr lang="en-US" sz="1600" b="1" dirty="0">
                <a:solidFill>
                  <a:srgbClr val="8E6F3E"/>
                </a:solidFill>
              </a:rPr>
              <a:t>THE ACCOUNT</a:t>
            </a:r>
          </a:p>
          <a:p>
            <a:pPr algn="ctr">
              <a:spcAft>
                <a:spcPts val="600"/>
              </a:spcAft>
              <a:buNone/>
            </a:pPr>
            <a:r>
              <a:rPr lang="en-US" sz="1500" b="1" dirty="0">
                <a:solidFill>
                  <a:srgbClr val="5C4826"/>
                </a:solidFill>
              </a:rPr>
              <a:t>quota: unlimited</a:t>
            </a:r>
          </a:p>
          <a:p>
            <a:pPr algn="ctr">
              <a:spcAft>
                <a:spcPts val="600"/>
              </a:spcAft>
              <a:buNone/>
            </a:pPr>
            <a:r>
              <a:rPr lang="en-US" sz="1500" b="0" dirty="0">
                <a:solidFill>
                  <a:srgbClr val="555960"/>
                </a:solidFill>
              </a:rPr>
              <a:t>renewal: monthly</a:t>
            </a:r>
          </a:p>
          <a:p>
            <a:pPr algn="ctr">
              <a:spcAft>
                <a:spcPts val="0"/>
              </a:spcAft>
              <a:buNone/>
            </a:pPr>
            <a:r>
              <a:rPr lang="en-US" sz="1500" b="0" dirty="0">
                <a:solidFill>
                  <a:srgbClr val="555960"/>
                </a:solidFill>
              </a:rPr>
              <a:t>usage history …</a:t>
            </a:r>
          </a:p>
        </p:txBody>
      </p:sp>
      <p:sp>
        <p:nvSpPr>
          <p:cNvPr id="12" name="ArrLbl"/>
          <p:cNvSpPr txBox="1"/>
          <p:nvPr/>
        </p:nvSpPr>
        <p:spPr>
          <a:xfrm>
            <a:off x="3474720" y="2560320"/>
            <a:ext cx="2057400" cy="274320"/>
          </a:xfrm>
          <a:prstGeom prst="rect">
            <a:avLst/>
          </a:prstGeom>
          <a:noFill/>
          <a:ln>
            <a:noFill/>
          </a:ln>
        </p:spPr>
        <p:txBody>
          <a:bodyPr wrap="square" lIns="0" tIns="0" rIns="0" bIns="0" anchor="t"/>
          <a:lstStyle/>
          <a:p>
            <a:pPr algn="ctr">
              <a:spcAft>
                <a:spcPts val="0"/>
              </a:spcAft>
              <a:buNone/>
            </a:pPr>
            <a:r>
              <a:rPr lang="en-US" sz="1400" b="1" dirty="0">
                <a:solidFill>
                  <a:srgbClr val="8E6F3E"/>
                </a:solidFill>
              </a:rPr>
              <a:t>REDUCE TO A SCALAR</a:t>
            </a:r>
          </a:p>
        </p:txBody>
      </p:sp>
      <p:cxnSp>
        <p:nvCxnSpPr>
          <p:cNvPr id="13" name="AR1"/>
          <p:cNvCxnSpPr/>
          <p:nvPr/>
        </p:nvCxnSpPr>
        <p:spPr>
          <a:xfrm>
            <a:off x="3474720" y="2926080"/>
            <a:ext cx="2057400" cy="0"/>
          </a:xfrm>
          <a:prstGeom prst="straightConnector1">
            <a:avLst/>
          </a:prstGeom>
          <a:ln w="28575">
            <a:solidFill>
              <a:srgbClr val="8E6F3E"/>
            </a:solidFill>
            <a:tailEnd type="triangle" w="med" len="med"/>
          </a:ln>
        </p:spPr>
      </p:cxnSp>
      <p:sp>
        <p:nvSpPr>
          <p:cNvPr id="14" name="Card1"/>
          <p:cNvSpPr/>
          <p:nvPr/>
        </p:nvSpPr>
        <p:spPr>
          <a:xfrm>
            <a:off x="5623560" y="2560320"/>
            <a:ext cx="3062280" cy="731520"/>
          </a:xfrm>
          <a:prstGeom prst="rect">
            <a:avLst/>
          </a:prstGeom>
          <a:solidFill>
            <a:srgbClr val="5C4826"/>
          </a:solidFill>
          <a:ln>
            <a:noFill/>
          </a:ln>
        </p:spPr>
        <p:txBody>
          <a:bodyPr wrap="square" lIns="27432" tIns="22860" rIns="27432" bIns="22860" anchor="ctr"/>
          <a:lstStyle/>
          <a:p>
            <a:pPr algn="ctr">
              <a:spcAft>
                <a:spcPts val="0"/>
              </a:spcAft>
              <a:buNone/>
            </a:pPr>
            <a:r>
              <a:rPr lang="en-US" sz="1800" b="1" dirty="0">
                <a:solidFill>
                  <a:srgbClr val="FFFFFF"/>
                </a:solidFill>
              </a:rPr>
              <a:t>credits_remaining: 0</a:t>
            </a:r>
          </a:p>
        </p:txBody>
      </p:sp>
      <p:sp>
        <p:nvSpPr>
          <p:cNvPr id="15" name="CLbl1"/>
          <p:cNvSpPr txBox="1"/>
          <p:nvPr/>
        </p:nvSpPr>
        <p:spPr>
          <a:xfrm>
            <a:off x="5623560" y="3383280"/>
            <a:ext cx="3062280" cy="274320"/>
          </a:xfrm>
          <a:prstGeom prst="rect">
            <a:avLst/>
          </a:prstGeom>
          <a:noFill/>
          <a:ln>
            <a:noFill/>
          </a:ln>
        </p:spPr>
        <p:txBody>
          <a:bodyPr wrap="square" lIns="0" tIns="0" rIns="0" bIns="0" anchor="t"/>
          <a:lstStyle/>
          <a:p>
            <a:pPr algn="ctr">
              <a:spcAft>
                <a:spcPts val="0"/>
              </a:spcAft>
              <a:buNone/>
            </a:pPr>
            <a:r>
              <a:rPr lang="en-US" sz="1400" b="0" i="1" dirty="0">
                <a:solidFill>
                  <a:srgbClr val="555960"/>
                </a:solidFill>
              </a:rPr>
              <a:t>the whole model of the quota</a:t>
            </a:r>
          </a:p>
        </p:txBody>
      </p:sp>
      <p:cxnSp>
        <p:nvCxnSpPr>
          <p:cNvPr id="16" name="DropC"/>
          <p:cNvCxnSpPr/>
          <p:nvPr/>
        </p:nvCxnSpPr>
        <p:spPr>
          <a:xfrm>
            <a:off x="4503420" y="2926080"/>
            <a:ext cx="0" cy="868680"/>
          </a:xfrm>
          <a:prstGeom prst="straightConnector1">
            <a:avLst/>
          </a:prstGeom>
          <a:ln w="12700">
            <a:solidFill>
              <a:srgbClr val="8E6F3E"/>
            </a:solidFill>
            <a:prstDash val="dash"/>
            <a:tailEnd type="triangle" w="med" len="med"/>
          </a:ln>
        </p:spPr>
      </p:cxnSp>
      <p:sp>
        <p:nvSpPr>
          <p:cNvPr id="17" name="Drop1"/>
          <p:cNvSpPr/>
          <p:nvPr/>
        </p:nvSpPr>
        <p:spPr>
          <a:xfrm>
            <a:off x="3611880" y="3886200"/>
            <a:ext cx="1783080" cy="402336"/>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600" b="1" dirty="0">
                <a:solidFill>
                  <a:srgbClr val="8E6F3E"/>
                </a:solidFill>
              </a:rPr>
              <a:t>✗ unlimited</a:t>
            </a:r>
          </a:p>
        </p:txBody>
      </p:sp>
      <p:sp>
        <p:nvSpPr>
          <p:cNvPr id="18" name="Note1"/>
          <p:cNvSpPr txBox="1"/>
          <p:nvPr/>
        </p:nvSpPr>
        <p:spPr>
          <a:xfrm>
            <a:off x="5486400" y="3931920"/>
            <a:ext cx="3200400" cy="365760"/>
          </a:xfrm>
          <a:prstGeom prst="rect">
            <a:avLst/>
          </a:prstGeom>
          <a:noFill/>
          <a:ln>
            <a:noFill/>
          </a:ln>
        </p:spPr>
        <p:txBody>
          <a:bodyPr wrap="square" lIns="0" tIns="0" rIns="0" bIns="0" anchor="t"/>
          <a:lstStyle/>
          <a:p>
            <a:pPr algn="l">
              <a:spcAft>
                <a:spcPts val="0"/>
              </a:spcAft>
              <a:buNone/>
            </a:pPr>
            <a:r>
              <a:rPr lang="en-US" sz="1500" b="0" i="1" dirty="0">
                <a:solidFill>
                  <a:srgbClr val="555960"/>
                </a:solidFill>
              </a:rPr>
              <a:t>has nowhere to live in a scalar</a:t>
            </a:r>
          </a:p>
        </p:txBody>
      </p:sp>
      <p:sp>
        <p:nvSpPr>
          <p:cNvPr id="19" name="Outcome"/>
          <p:cNvSpPr txBox="1"/>
          <p:nvPr/>
        </p:nvSpPr>
        <p:spPr>
          <a:xfrm>
            <a:off x="365760" y="4709160"/>
            <a:ext cx="8412480" cy="640080"/>
          </a:xfrm>
          <a:prstGeom prst="rect">
            <a:avLst/>
          </a:prstGeom>
          <a:noFill/>
          <a:ln>
            <a:noFill/>
          </a:ln>
        </p:spPr>
        <p:txBody>
          <a:bodyPr wrap="square" lIns="18288" tIns="18288" rIns="18288" bIns="18288" anchor="t"/>
          <a:lstStyle/>
          <a:p>
            <a:pPr algn="ctr">
              <a:spcAft>
                <a:spcPts val="0"/>
              </a:spcAft>
              <a:buNone/>
            </a:pPr>
            <a:r>
              <a:rPr lang="en-US" sz="1800" b="0" dirty="0">
                <a:solidFill>
                  <a:srgbClr val="555960"/>
                </a:solidFill>
              </a:rPr>
              <a:t>The implementation distinguished unlimited from exhausted. The model represented both as 0.</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The reduction erased a distinction the obligation required.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Good reduction leaves implementation free</a:t>
            </a:r>
          </a:p>
        </p:txBody>
      </p:sp>
      <p:sp>
        <p:nvSpPr>
          <p:cNvPr id="3" name="Slide Number Placeholder 3"/>
          <p:cNvSpPr>
            <a:spLocks noGrp="1"/>
          </p:cNvSpPr>
          <p:nvPr>
            <p:ph type="sldNum" sz="quarter" idx="4"/>
          </p:nvPr>
        </p:nvSpPr>
        <p:spPr/>
        <p:txBody>
          <a:bodyPr/>
          <a:lstStyle/>
          <a:p>
            <a:fld id="{B7EB45DA-9A0D-DC49-8E02-F30A5DDC21C3}" type="slidenum">
              <a:rPr lang="en-US" smtClean="0"/>
              <a:t>22</a:t>
            </a:fld>
            <a:endParaRPr lang="en-US"/>
          </a:p>
        </p:txBody>
      </p:sp>
      <p:sp>
        <p:nvSpPr>
          <p:cNvPr id="10" name="LeaseC"/>
          <p:cNvSpPr/>
          <p:nvPr/>
        </p:nvSpPr>
        <p:spPr>
          <a:xfrm>
            <a:off x="1874520" y="1188720"/>
            <a:ext cx="5394960" cy="1234440"/>
          </a:xfrm>
          <a:prstGeom prst="rect">
            <a:avLst/>
          </a:prstGeom>
          <a:solidFill>
            <a:srgbClr val="F5F1E8"/>
          </a:solidFill>
          <a:ln w="12700">
            <a:solidFill>
              <a:srgbClr val="C9B991"/>
            </a:solidFill>
          </a:ln>
        </p:spPr>
        <p:txBody>
          <a:bodyPr wrap="square" lIns="27432" tIns="22860" rIns="27432" bIns="22860" anchor="ctr"/>
          <a:lstStyle/>
          <a:p>
            <a:pPr algn="ctr">
              <a:spcAft>
                <a:spcPts val="600"/>
              </a:spcAft>
              <a:buNone/>
            </a:pPr>
            <a:r>
              <a:rPr lang="en-US" sz="1600" b="1" dirty="0">
                <a:solidFill>
                  <a:srgbClr val="8E6F3E"/>
                </a:solidFill>
              </a:rPr>
              <a:t>THE LEASE MODEL</a:t>
            </a:r>
          </a:p>
          <a:p>
            <a:pPr algn="ctr">
              <a:spcAft>
                <a:spcPts val="600"/>
              </a:spcAft>
              <a:buNone/>
            </a:pPr>
            <a:r>
              <a:rPr lang="en-US" sz="1500" b="1" dirty="0">
                <a:solidFill>
                  <a:srgbClr val="5C4826"/>
                </a:solidFill>
              </a:rPr>
              <a:t>owner · generation · lifetime · reclamation</a:t>
            </a:r>
          </a:p>
          <a:p>
            <a:pPr algn="ctr">
              <a:spcAft>
                <a:spcPts val="0"/>
              </a:spcAft>
              <a:buNone/>
            </a:pPr>
            <a:r>
              <a:rPr lang="en-US" sz="1500" b="0" dirty="0">
                <a:solidFill>
                  <a:srgbClr val="555960"/>
                </a:solidFill>
              </a:rPr>
              <a:t>forbidden: releasing a lease under a stale generation</a:t>
            </a:r>
          </a:p>
        </p:txBody>
      </p:sp>
      <p:sp>
        <p:nvSpPr>
          <p:cNvPr id="11" name="CapC"/>
          <p:cNvSpPr txBox="1"/>
          <p:nvPr/>
        </p:nvSpPr>
        <p:spPr>
          <a:xfrm>
            <a:off x="1874520" y="2514600"/>
            <a:ext cx="5394960" cy="274320"/>
          </a:xfrm>
          <a:prstGeom prst="rect">
            <a:avLst/>
          </a:prstGeom>
          <a:noFill/>
          <a:ln>
            <a:noFill/>
          </a:ln>
        </p:spPr>
        <p:txBody>
          <a:bodyPr wrap="square" lIns="0" tIns="0" rIns="0" bIns="0" anchor="t"/>
          <a:lstStyle/>
          <a:p>
            <a:pPr algn="ctr">
              <a:spcAft>
                <a:spcPts val="0"/>
              </a:spcAft>
              <a:buNone/>
            </a:pPr>
            <a:r>
              <a:rPr lang="en-US" sz="1500" b="1" dirty="0">
                <a:solidFill>
                  <a:srgbClr val="8E6F3E"/>
                </a:solidFill>
              </a:rPr>
              <a:t>✓ unchanged — the model did not move</a:t>
            </a:r>
          </a:p>
        </p:txBody>
      </p:sp>
      <p:sp>
        <p:nvSpPr>
          <p:cNvPr id="12" name="OmitL"/>
          <p:cNvSpPr txBox="1"/>
          <p:nvPr/>
        </p:nvSpPr>
        <p:spPr>
          <a:xfrm>
            <a:off x="365760" y="2971800"/>
            <a:ext cx="8412480" cy="274320"/>
          </a:xfrm>
          <a:prstGeom prst="rect">
            <a:avLst/>
          </a:prstGeom>
          <a:noFill/>
          <a:ln>
            <a:noFill/>
          </a:ln>
        </p:spPr>
        <p:txBody>
          <a:bodyPr wrap="square" lIns="0" tIns="0" rIns="0" bIns="0" anchor="t"/>
          <a:lstStyle/>
          <a:p>
            <a:pPr algn="ctr">
              <a:spcAft>
                <a:spcPts val="0"/>
              </a:spcAft>
              <a:buNone/>
            </a:pPr>
            <a:r>
              <a:rPr lang="en-US" sz="1600" b="0" i="1" dirty="0">
                <a:solidFill>
                  <a:srgbClr val="555960"/>
                </a:solidFill>
              </a:rPr>
              <a:t>omitted from the model: the processing topology</a:t>
            </a:r>
          </a:p>
        </p:txBody>
      </p:sp>
      <p:sp>
        <p:nvSpPr>
          <p:cNvPr id="13" name="PanB"/>
          <p:cNvSpPr/>
          <p:nvPr/>
        </p:nvSpPr>
        <p:spPr>
          <a:xfrm>
            <a:off x="640080" y="3337560"/>
            <a:ext cx="3383280" cy="1371600"/>
          </a:xfrm>
          <a:prstGeom prst="rect">
            <a:avLst/>
          </a:prstGeom>
          <a:solidFill>
            <a:srgbClr val="FBF8F2"/>
          </a:solidFill>
          <a:ln w="12700">
            <a:solidFill>
              <a:srgbClr val="C9B991"/>
            </a:solidFill>
          </a:ln>
        </p:spPr>
        <p:txBody>
          <a:bodyPr wrap="square" lIns="27432" tIns="22860" rIns="27432" bIns="22860" anchor="t"/>
          <a:lstStyle/>
          <a:p>
            <a:pPr algn="ctr">
              <a:spcAft>
                <a:spcPts val="0"/>
              </a:spcAft>
              <a:buNone/>
            </a:pPr>
            <a:r>
              <a:rPr lang="en-US" sz="1400" b="1" dirty="0">
                <a:solidFill>
                  <a:srgbClr val="555960"/>
                </a:solidFill>
              </a:rPr>
              <a:t>BEFORE</a:t>
            </a:r>
          </a:p>
        </p:txBody>
      </p:sp>
      <p:sp>
        <p:nvSpPr>
          <p:cNvPr id="14" name="Mb1"/>
          <p:cNvSpPr/>
          <p:nvPr/>
        </p:nvSpPr>
        <p:spPr>
          <a:xfrm>
            <a:off x="868680" y="3908520"/>
            <a:ext cx="2926080" cy="54864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one service, one pass over the document</a:t>
            </a:r>
          </a:p>
        </p:txBody>
      </p:sp>
      <p:sp>
        <p:nvSpPr>
          <p:cNvPr id="15" name="PanA"/>
          <p:cNvSpPr/>
          <p:nvPr/>
        </p:nvSpPr>
        <p:spPr>
          <a:xfrm>
            <a:off x="5120640" y="3337560"/>
            <a:ext cx="3383280" cy="1371600"/>
          </a:xfrm>
          <a:prstGeom prst="rect">
            <a:avLst/>
          </a:prstGeom>
          <a:solidFill>
            <a:srgbClr val="FBF8F2"/>
          </a:solidFill>
          <a:ln w="12700">
            <a:solidFill>
              <a:srgbClr val="C9B991"/>
            </a:solidFill>
          </a:ln>
        </p:spPr>
        <p:txBody>
          <a:bodyPr wrap="square" lIns="27432" tIns="22860" rIns="27432" bIns="22860" anchor="t"/>
          <a:lstStyle/>
          <a:p>
            <a:pPr algn="ctr">
              <a:spcAft>
                <a:spcPts val="0"/>
              </a:spcAft>
              <a:buNone/>
            </a:pPr>
            <a:r>
              <a:rPr lang="en-US" sz="1400" b="1" dirty="0">
                <a:solidFill>
                  <a:srgbClr val="555960"/>
                </a:solidFill>
              </a:rPr>
              <a:t>AFTER</a:t>
            </a:r>
          </a:p>
        </p:txBody>
      </p:sp>
      <p:sp>
        <p:nvSpPr>
          <p:cNvPr id="16" name="Mb2"/>
          <p:cNvSpPr/>
          <p:nvPr/>
        </p:nvSpPr>
        <p:spPr>
          <a:xfrm>
            <a:off x="5349240" y="3794760"/>
            <a:ext cx="2926080" cy="384048"/>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fan out across chunk workers</a:t>
            </a:r>
          </a:p>
        </p:txBody>
      </p:sp>
      <p:sp>
        <p:nvSpPr>
          <p:cNvPr id="17" name="Mb3"/>
          <p:cNvSpPr/>
          <p:nvPr/>
        </p:nvSpPr>
        <p:spPr>
          <a:xfrm>
            <a:off x="5349240" y="4270248"/>
            <a:ext cx="2926080" cy="384048"/>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400" b="0" dirty="0">
                <a:solidFill>
                  <a:srgbClr val="5C4826"/>
                </a:solidFill>
              </a:rPr>
              <a:t>merge the results</a:t>
            </a:r>
          </a:p>
        </p:txBody>
      </p:sp>
      <p:cxnSp>
        <p:nvCxnSpPr>
          <p:cNvPr id="18" name="ChgA"/>
          <p:cNvCxnSpPr/>
          <p:nvPr/>
        </p:nvCxnSpPr>
        <p:spPr>
          <a:xfrm>
            <a:off x="4023360" y="4023360"/>
            <a:ext cx="1097280" cy="0"/>
          </a:xfrm>
          <a:prstGeom prst="straightConnector1">
            <a:avLst/>
          </a:prstGeom>
          <a:ln w="28575">
            <a:solidFill>
              <a:srgbClr val="8E6F3E"/>
            </a:solidFill>
            <a:tailEnd type="triangle" w="med" len="med"/>
          </a:ln>
        </p:spPr>
      </p:cxnSp>
      <p:sp>
        <p:nvSpPr>
          <p:cNvPr id="19" name="ChgL"/>
          <p:cNvSpPr txBox="1"/>
          <p:nvPr/>
        </p:nvSpPr>
        <p:spPr>
          <a:xfrm>
            <a:off x="4046220" y="3437890"/>
            <a:ext cx="1051560" cy="548640"/>
          </a:xfrm>
          <a:prstGeom prst="rect">
            <a:avLst/>
          </a:prstGeom>
          <a:noFill/>
          <a:ln>
            <a:noFill/>
          </a:ln>
        </p:spPr>
        <p:txBody>
          <a:bodyPr wrap="square" lIns="0" tIns="0" rIns="0" bIns="0" anchor="t"/>
          <a:lstStyle/>
          <a:p>
            <a:pPr algn="ctr">
              <a:spcAft>
                <a:spcPts val="0"/>
              </a:spcAft>
              <a:buNone/>
            </a:pPr>
            <a:r>
              <a:rPr lang="en-US" sz="1400" b="1" dirty="0">
                <a:solidFill>
                  <a:srgbClr val="8E6F3E"/>
                </a:solidFill>
              </a:rPr>
              <a:t>the topology changed</a:t>
            </a:r>
          </a:p>
        </p:txBody>
      </p:sp>
      <p:sp>
        <p:nvSpPr>
          <p:cNvPr id="150" name="Ital"/>
          <p:cNvSpPr txBox="1"/>
          <p:nvPr/>
        </p:nvSpPr>
        <p:spPr>
          <a:xfrm>
            <a:off x="274320" y="4983480"/>
            <a:ext cx="8595360" cy="45720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The omission was tested by reality, and passed.</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“We changed the pointers to the code, but not the model.”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evidence, side by side</a:t>
            </a:r>
          </a:p>
        </p:txBody>
      </p:sp>
      <p:sp>
        <p:nvSpPr>
          <p:cNvPr id="3" name="Slide Number Placeholder 3"/>
          <p:cNvSpPr>
            <a:spLocks noGrp="1"/>
          </p:cNvSpPr>
          <p:nvPr>
            <p:ph type="sldNum" sz="quarter" idx="4"/>
          </p:nvPr>
        </p:nvSpPr>
        <p:spPr/>
        <p:txBody>
          <a:bodyPr/>
          <a:lstStyle/>
          <a:p>
            <a:fld id="{B7EB45DA-9A0D-DC49-8E02-F30A5DDC21C3}" type="slidenum">
              <a:rPr lang="en-US" smtClean="0"/>
              <a:t>23</a:t>
            </a:fld>
            <a:endParaRPr lang="en-US"/>
          </a:p>
        </p:txBody>
      </p:sp>
      <p:sp>
        <p:nvSpPr>
          <p:cNvPr id="10" name="H1"/>
          <p:cNvSpPr/>
          <p:nvPr/>
        </p:nvSpPr>
        <p:spPr>
          <a:xfrm>
            <a:off x="2743200" y="1280160"/>
            <a:ext cx="2926080" cy="457200"/>
          </a:xfrm>
          <a:prstGeom prst="rect">
            <a:avLst/>
          </a:prstGeom>
          <a:solidFill>
            <a:srgbClr val="8E6F3E"/>
          </a:solidFill>
          <a:ln>
            <a:noFill/>
          </a:ln>
        </p:spPr>
        <p:txBody>
          <a:bodyPr wrap="square" lIns="27432" tIns="22860" rIns="27432" bIns="22860" anchor="ctr"/>
          <a:lstStyle/>
          <a:p>
            <a:pPr algn="ctr">
              <a:spcAft>
                <a:spcPts val="0"/>
              </a:spcAft>
              <a:buNone/>
            </a:pPr>
            <a:r>
              <a:rPr lang="en-US" sz="1600" b="1" dirty="0">
                <a:solidFill>
                  <a:srgbClr val="FFFFFF"/>
                </a:solidFill>
              </a:rPr>
              <a:t>THE LEASE</a:t>
            </a:r>
          </a:p>
        </p:txBody>
      </p:sp>
      <p:sp>
        <p:nvSpPr>
          <p:cNvPr id="11" name="H2"/>
          <p:cNvSpPr/>
          <p:nvPr/>
        </p:nvSpPr>
        <p:spPr>
          <a:xfrm>
            <a:off x="5715000" y="1280160"/>
            <a:ext cx="2926080" cy="457200"/>
          </a:xfrm>
          <a:prstGeom prst="rect">
            <a:avLst/>
          </a:prstGeom>
          <a:solidFill>
            <a:srgbClr val="8E6F3E"/>
          </a:solidFill>
          <a:ln>
            <a:noFill/>
          </a:ln>
        </p:spPr>
        <p:txBody>
          <a:bodyPr wrap="square" lIns="27432" tIns="22860" rIns="27432" bIns="22860" anchor="ctr"/>
          <a:lstStyle/>
          <a:p>
            <a:pPr algn="ctr">
              <a:spcAft>
                <a:spcPts val="0"/>
              </a:spcAft>
              <a:buNone/>
            </a:pPr>
            <a:r>
              <a:rPr lang="en-US" sz="1600" b="1" dirty="0">
                <a:solidFill>
                  <a:srgbClr val="FFFFFF"/>
                </a:solidFill>
              </a:rPr>
              <a:t>ACCOUNT QUOTA</a:t>
            </a:r>
          </a:p>
        </p:txBody>
      </p:sp>
      <p:sp>
        <p:nvSpPr>
          <p:cNvPr id="20" name="L1"/>
          <p:cNvSpPr/>
          <p:nvPr/>
        </p:nvSpPr>
        <p:spPr>
          <a:xfrm>
            <a:off x="502920" y="1783080"/>
            <a:ext cx="2194560" cy="5943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1" dirty="0">
                <a:solidFill>
                  <a:srgbClr val="5C4826"/>
                </a:solidFill>
              </a:rPr>
              <a:t>candidate omission</a:t>
            </a:r>
          </a:p>
        </p:txBody>
      </p:sp>
      <p:sp>
        <p:nvSpPr>
          <p:cNvPr id="21" name="C11"/>
          <p:cNvSpPr/>
          <p:nvPr/>
        </p:nvSpPr>
        <p:spPr>
          <a:xfrm>
            <a:off x="2743200" y="1783080"/>
            <a:ext cx="2926080" cy="59436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500" b="0" dirty="0">
                <a:solidFill>
                  <a:srgbClr val="555960"/>
                </a:solidFill>
              </a:rPr>
              <a:t>processing topology</a:t>
            </a:r>
          </a:p>
        </p:txBody>
      </p:sp>
      <p:sp>
        <p:nvSpPr>
          <p:cNvPr id="22" name="C12"/>
          <p:cNvSpPr/>
          <p:nvPr/>
        </p:nvSpPr>
        <p:spPr>
          <a:xfrm>
            <a:off x="5715000" y="1783080"/>
            <a:ext cx="2926080" cy="59436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500" b="0" dirty="0">
                <a:solidFill>
                  <a:srgbClr val="555960"/>
                </a:solidFill>
              </a:rPr>
              <a:t>unlimited vs. exhausted</a:t>
            </a:r>
          </a:p>
        </p:txBody>
      </p:sp>
      <p:sp>
        <p:nvSpPr>
          <p:cNvPr id="23" name="L2"/>
          <p:cNvSpPr/>
          <p:nvPr/>
        </p:nvSpPr>
        <p:spPr>
          <a:xfrm>
            <a:off x="502920" y="2423160"/>
            <a:ext cx="2194560" cy="5943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1" dirty="0">
                <a:solidFill>
                  <a:srgbClr val="5C4826"/>
                </a:solidFill>
              </a:rPr>
              <a:t>top-down judgment</a:t>
            </a:r>
          </a:p>
        </p:txBody>
      </p:sp>
      <p:sp>
        <p:nvSpPr>
          <p:cNvPr id="24" name="C21"/>
          <p:cNvSpPr/>
          <p:nvPr/>
        </p:nvSpPr>
        <p:spPr>
          <a:xfrm>
            <a:off x="2743200" y="2423160"/>
            <a:ext cx="2926080" cy="59436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500" b="0" dirty="0">
                <a:solidFill>
                  <a:srgbClr val="555960"/>
                </a:solidFill>
              </a:rPr>
              <a:t>not required by the question</a:t>
            </a:r>
          </a:p>
        </p:txBody>
      </p:sp>
      <p:sp>
        <p:nvSpPr>
          <p:cNvPr id="25" name="C22"/>
          <p:cNvSpPr/>
          <p:nvPr/>
        </p:nvSpPr>
        <p:spPr>
          <a:xfrm>
            <a:off x="5715000" y="2423160"/>
            <a:ext cx="2926080" cy="59436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500" b="0" dirty="0">
                <a:solidFill>
                  <a:srgbClr val="555960"/>
                </a:solidFill>
              </a:rPr>
              <a:t>required by the obligation</a:t>
            </a:r>
          </a:p>
        </p:txBody>
      </p:sp>
      <p:sp>
        <p:nvSpPr>
          <p:cNvPr id="26" name="L3"/>
          <p:cNvSpPr/>
          <p:nvPr/>
        </p:nvSpPr>
        <p:spPr>
          <a:xfrm>
            <a:off x="502920" y="3063240"/>
            <a:ext cx="2194560" cy="594360"/>
          </a:xfrm>
          <a:prstGeom prst="rect">
            <a:avLst/>
          </a:prstGeom>
          <a:solidFill>
            <a:srgbClr val="F5F1E8"/>
          </a:solidFill>
          <a:ln w="12700">
            <a:solidFill>
              <a:srgbClr val="C9B991"/>
            </a:solidFill>
          </a:ln>
        </p:spPr>
        <p:txBody>
          <a:bodyPr wrap="square" lIns="27432" tIns="22860" rIns="27432" bIns="22860" anchor="ctr"/>
          <a:lstStyle/>
          <a:p>
            <a:pPr algn="ctr">
              <a:spcAft>
                <a:spcPts val="0"/>
              </a:spcAft>
              <a:buNone/>
            </a:pPr>
            <a:r>
              <a:rPr lang="en-US" sz="1500" b="1" dirty="0">
                <a:solidFill>
                  <a:srgbClr val="5C4826"/>
                </a:solidFill>
              </a:rPr>
              <a:t>bottom-up judgment</a:t>
            </a:r>
          </a:p>
        </p:txBody>
      </p:sp>
      <p:sp>
        <p:nvSpPr>
          <p:cNvPr id="27" name="C31"/>
          <p:cNvSpPr/>
          <p:nvPr/>
        </p:nvSpPr>
        <p:spPr>
          <a:xfrm>
            <a:off x="2743200" y="3063240"/>
            <a:ext cx="2926080" cy="59436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500" b="0" dirty="0">
                <a:solidFill>
                  <a:srgbClr val="555960"/>
                </a:solidFill>
              </a:rPr>
              <a:t>safe to remove</a:t>
            </a:r>
          </a:p>
        </p:txBody>
      </p:sp>
      <p:sp>
        <p:nvSpPr>
          <p:cNvPr id="28" name="C32"/>
          <p:cNvSpPr/>
          <p:nvPr/>
        </p:nvSpPr>
        <p:spPr>
          <a:xfrm>
            <a:off x="5715000" y="3063240"/>
            <a:ext cx="2926080" cy="594360"/>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500" b="0" dirty="0">
                <a:solidFill>
                  <a:srgbClr val="555960"/>
                </a:solidFill>
              </a:rPr>
              <a:t>cannot remove</a:t>
            </a:r>
          </a:p>
        </p:txBody>
      </p:sp>
      <p:sp>
        <p:nvSpPr>
          <p:cNvPr id="29" name="L4"/>
          <p:cNvSpPr/>
          <p:nvPr/>
        </p:nvSpPr>
        <p:spPr>
          <a:xfrm>
            <a:off x="502920" y="3703320"/>
            <a:ext cx="2194560" cy="685800"/>
          </a:xfrm>
          <a:prstGeom prst="rect">
            <a:avLst/>
          </a:prstGeom>
          <a:solidFill>
            <a:srgbClr val="8E6F3E"/>
          </a:solidFill>
          <a:ln>
            <a:noFill/>
          </a:ln>
        </p:spPr>
        <p:txBody>
          <a:bodyPr wrap="square" lIns="27432" tIns="22860" rIns="27432" bIns="22860" anchor="ctr"/>
          <a:lstStyle/>
          <a:p>
            <a:pPr algn="ctr">
              <a:spcAft>
                <a:spcPts val="0"/>
              </a:spcAft>
              <a:buNone/>
            </a:pPr>
            <a:r>
              <a:rPr lang="en-US" sz="1500" b="1" dirty="0">
                <a:solidFill>
                  <a:srgbClr val="FFFFFF"/>
                </a:solidFill>
              </a:rPr>
              <a:t>evidence</a:t>
            </a:r>
          </a:p>
        </p:txBody>
      </p:sp>
      <p:sp>
        <p:nvSpPr>
          <p:cNvPr id="30" name="C41"/>
          <p:cNvSpPr/>
          <p:nvPr/>
        </p:nvSpPr>
        <p:spPr>
          <a:xfrm>
            <a:off x="2743200" y="3703320"/>
            <a:ext cx="2926080" cy="685800"/>
          </a:xfrm>
          <a:prstGeom prst="rect">
            <a:avLst/>
          </a:prstGeom>
          <a:solidFill>
            <a:srgbClr val="8E6F3E"/>
          </a:solidFill>
          <a:ln>
            <a:noFill/>
          </a:ln>
        </p:spPr>
        <p:txBody>
          <a:bodyPr wrap="square" lIns="27432" tIns="22860" rIns="27432" bIns="22860" anchor="ctr"/>
          <a:lstStyle/>
          <a:p>
            <a:pPr algn="ctr">
              <a:spcAft>
                <a:spcPts val="0"/>
              </a:spcAft>
              <a:buNone/>
            </a:pPr>
            <a:r>
              <a:rPr lang="en-US" sz="1500" b="1" dirty="0">
                <a:solidFill>
                  <a:srgbClr val="FFFFFF"/>
                </a:solidFill>
              </a:rPr>
              <a:t>topology changed; model held ✓</a:t>
            </a:r>
          </a:p>
        </p:txBody>
      </p:sp>
      <p:sp>
        <p:nvSpPr>
          <p:cNvPr id="31" name="C42"/>
          <p:cNvSpPr/>
          <p:nvPr/>
        </p:nvSpPr>
        <p:spPr>
          <a:xfrm>
            <a:off x="5715000" y="3703320"/>
            <a:ext cx="2926080" cy="685800"/>
          </a:xfrm>
          <a:prstGeom prst="rect">
            <a:avLst/>
          </a:prstGeom>
          <a:solidFill>
            <a:srgbClr val="8E6F3E"/>
          </a:solidFill>
          <a:ln>
            <a:noFill/>
          </a:ln>
        </p:spPr>
        <p:txBody>
          <a:bodyPr wrap="square" lIns="27432" tIns="22860" rIns="27432" bIns="22860" anchor="ctr"/>
          <a:lstStyle/>
          <a:p>
            <a:pPr algn="ctr">
              <a:spcAft>
                <a:spcPts val="0"/>
              </a:spcAft>
              <a:buNone/>
            </a:pPr>
            <a:r>
              <a:rPr lang="en-US" sz="1500" b="1" dirty="0">
                <a:solidFill>
                  <a:srgbClr val="FFFFFF"/>
                </a:solidFill>
              </a:rPr>
              <a:t>production decision exposed the loss ✗</a:t>
            </a:r>
          </a:p>
        </p:txBody>
      </p:sp>
      <p:sp>
        <p:nvSpPr>
          <p:cNvPr id="150" name="Ital"/>
          <p:cNvSpPr txBox="1"/>
          <p:nvPr/>
        </p:nvSpPr>
        <p:spPr>
          <a:xfrm>
            <a:off x="274320" y="4754880"/>
            <a:ext cx="8595360" cy="45720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Represent no more than the question requires, but no less than the obligation requires.</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Three rows of method. One row of evidence.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Obligation and specification are different boundaries</a:t>
            </a:r>
          </a:p>
        </p:txBody>
      </p:sp>
      <p:sp>
        <p:nvSpPr>
          <p:cNvPr id="3" name="Slide Number Placeholder 3"/>
          <p:cNvSpPr>
            <a:spLocks noGrp="1"/>
          </p:cNvSpPr>
          <p:nvPr>
            <p:ph type="sldNum" sz="quarter" idx="4"/>
          </p:nvPr>
        </p:nvSpPr>
        <p:spPr/>
        <p:txBody>
          <a:bodyPr/>
          <a:lstStyle/>
          <a:p>
            <a:fld id="{B7EB45DA-9A0D-DC49-8E02-F30A5DDC21C3}" type="slidenum">
              <a:rPr lang="en-US" smtClean="0"/>
              <a:t>24</a:t>
            </a:fld>
            <a:endParaRPr lang="en-US"/>
          </a:p>
        </p:txBody>
      </p:sp>
      <p:sp>
        <p:nvSpPr>
          <p:cNvPr id="6" name="Kicker"/>
          <p:cNvSpPr txBox="1"/>
          <p:nvPr/>
        </p:nvSpPr>
        <p:spPr>
          <a:xfrm>
            <a:off x="365760" y="1097280"/>
            <a:ext cx="8412480" cy="393192"/>
          </a:xfrm>
          <a:prstGeom prst="rect">
            <a:avLst/>
          </a:prstGeom>
          <a:noFill/>
          <a:ln>
            <a:noFill/>
          </a:ln>
        </p:spPr>
        <p:txBody>
          <a:bodyPr wrap="square" lIns="18288" tIns="18288" rIns="18288" bIns="18288" anchor="t">
            <a:spAutoFit/>
          </a:bodyPr>
          <a:lstStyle/>
          <a:p>
            <a:pPr algn="l">
              <a:spcAft>
                <a:spcPts val="0"/>
              </a:spcAft>
              <a:buNone/>
            </a:pPr>
            <a:r>
              <a:rPr lang="en-US" sz="2000" b="1" dirty="0">
                <a:solidFill>
                  <a:srgbClr val="8E6F3E"/>
                </a:solidFill>
              </a:rPr>
              <a:t>HOW MUCH MUST WE SAY?</a:t>
            </a:r>
          </a:p>
        </p:txBody>
      </p:sp>
      <p:sp>
        <p:nvSpPr>
          <p:cNvPr id="10" name="DOF1"/>
          <p:cNvSpPr/>
          <p:nvPr/>
        </p:nvSpPr>
        <p:spPr>
          <a:xfrm>
            <a:off x="502920" y="1737360"/>
            <a:ext cx="5029200" cy="3108960"/>
          </a:xfrm>
          <a:prstGeom prst="rect">
            <a:avLst/>
          </a:prstGeom>
          <a:solidFill>
            <a:srgbClr val="FBF8F2"/>
          </a:solidFill>
          <a:ln w="12700">
            <a:solidFill>
              <a:srgbClr val="C9B991"/>
            </a:solidFill>
          </a:ln>
        </p:spPr>
        <p:txBody>
          <a:bodyPr wrap="square" lIns="27432" tIns="22860" rIns="27432" bIns="22860" anchor="ctr"/>
          <a:lstStyle/>
          <a:p>
            <a:pPr>
              <a:buNone/>
            </a:pPr>
            <a:endParaRPr lang="en-US"/>
          </a:p>
        </p:txBody>
      </p:sp>
      <p:sp>
        <p:nvSpPr>
          <p:cNvPr id="11" name="Scaf1"/>
          <p:cNvSpPr/>
          <p:nvPr/>
        </p:nvSpPr>
        <p:spPr>
          <a:xfrm>
            <a:off x="777240" y="1943100"/>
            <a:ext cx="4480560" cy="2697480"/>
          </a:xfrm>
          <a:prstGeom prst="rect">
            <a:avLst/>
          </a:prstGeom>
          <a:solidFill>
            <a:srgbClr val="C9B991"/>
          </a:solidFill>
          <a:ln>
            <a:noFill/>
          </a:ln>
        </p:spPr>
        <p:txBody>
          <a:bodyPr wrap="square" lIns="27432" tIns="22860" rIns="27432" bIns="22860" anchor="ctr"/>
          <a:lstStyle/>
          <a:p>
            <a:pPr>
              <a:buNone/>
            </a:pPr>
            <a:endParaRPr lang="en-US"/>
          </a:p>
        </p:txBody>
      </p:sp>
      <p:sp>
        <p:nvSpPr>
          <p:cNvPr id="12" name="Oblig1"/>
          <p:cNvSpPr/>
          <p:nvPr/>
        </p:nvSpPr>
        <p:spPr>
          <a:xfrm>
            <a:off x="1737360" y="2743200"/>
            <a:ext cx="2606040" cy="1005840"/>
          </a:xfrm>
          <a:prstGeom prst="rect">
            <a:avLst/>
          </a:prstGeom>
          <a:solidFill>
            <a:srgbClr val="5C4826"/>
          </a:solidFill>
          <a:ln>
            <a:noFill/>
          </a:ln>
        </p:spPr>
        <p:txBody>
          <a:bodyPr wrap="square" lIns="27432" tIns="22860" rIns="27432" bIns="22860" anchor="ctr"/>
          <a:lstStyle/>
          <a:p>
            <a:pPr algn="ctr">
              <a:spcAft>
                <a:spcPts val="400"/>
              </a:spcAft>
              <a:buNone/>
            </a:pPr>
            <a:r>
              <a:rPr lang="en-US" sz="1600" b="1" dirty="0">
                <a:solidFill>
                  <a:srgbClr val="FFFFFF"/>
                </a:solidFill>
              </a:rPr>
              <a:t xml:space="preserve">OBLIGATION</a:t>
            </a:r>
          </a:p>
          <a:p>
            <a:pPr algn="ctr">
              <a:spcAft>
                <a:spcPts val="0"/>
              </a:spcAft>
              <a:buNone/>
            </a:pPr>
            <a:r>
              <a:rPr lang="en-US" sz="1400" b="0" dirty="0">
                <a:solidFill>
                  <a:srgbClr val="FFFFFF"/>
                </a:solidFill>
              </a:rPr>
              <a:t xml:space="preserve">what must be true</a:t>
            </a:r>
          </a:p>
        </p:txBody>
      </p:sp>
      <p:sp>
        <p:nvSpPr>
          <p:cNvPr id="13" name="ScafL"/>
          <p:cNvSpPr txBox="1"/>
          <p:nvPr/>
        </p:nvSpPr>
        <p:spPr>
          <a:xfrm>
            <a:off x="1280160" y="3886200"/>
            <a:ext cx="3520440" cy="329184"/>
          </a:xfrm>
          <a:prstGeom prst="rect">
            <a:avLst/>
          </a:prstGeom>
          <a:noFill/>
          <a:ln>
            <a:noFill/>
          </a:ln>
        </p:spPr>
        <p:txBody>
          <a:bodyPr wrap="square" lIns="0" tIns="0" rIns="0" bIns="0" anchor="t"/>
          <a:lstStyle/>
          <a:p>
            <a:pPr algn="ctr">
              <a:spcAft>
                <a:spcPts val="0"/>
              </a:spcAft>
              <a:buNone/>
            </a:pPr>
            <a:r>
              <a:rPr lang="en-US" sz="1400" b="1" dirty="0">
                <a:solidFill>
                  <a:srgbClr val="5C4826"/>
                </a:solidFill>
              </a:rPr>
              <a:t xml:space="preserve">SCAFFOLDING — what this agent needs</a:t>
            </a:r>
          </a:p>
        </p:txBody>
      </p:sp>
      <p:sp>
        <p:nvSpPr>
          <p:cNvPr id="14" name="DofL"/>
          <p:cNvSpPr txBox="1"/>
          <p:nvPr/>
        </p:nvSpPr>
        <p:spPr>
          <a:xfrm>
            <a:off x="502920" y="4640580"/>
            <a:ext cx="5029200" cy="205740"/>
          </a:xfrm>
          <a:prstGeom prst="rect">
            <a:avLst/>
          </a:prstGeom>
          <a:noFill/>
          <a:ln>
            <a:noFill/>
          </a:ln>
        </p:spPr>
        <p:txBody>
          <a:bodyPr wrap="square" lIns="0" tIns="0" rIns="0" bIns="0" anchor="ctr"/>
          <a:lstStyle/>
          <a:p>
            <a:pPr algn="ctr">
              <a:spcAft>
                <a:spcPts val="0"/>
              </a:spcAft>
              <a:buNone/>
            </a:pPr>
            <a:r>
              <a:rPr lang="en-US" sz="1300" b="0" dirty="0">
                <a:solidFill>
                  <a:srgbClr val="555960"/>
                </a:solidFill>
              </a:rPr>
              <a:t xml:space="preserve">DEGREES OF FREEDOM — the rest is the agent’s</a:t>
            </a:r>
          </a:p>
        </p:txBody>
      </p:sp>
      <p:sp>
        <p:nvSpPr>
          <p:cNvPr id="15" name="SpLbl"/>
          <p:cNvSpPr txBox="1"/>
          <p:nvPr/>
        </p:nvSpPr>
        <p:spPr>
          <a:xfrm>
            <a:off x="5806440" y="1897380"/>
            <a:ext cx="3017520" cy="548640"/>
          </a:xfrm>
          <a:prstGeom prst="rect">
            <a:avLst/>
          </a:prstGeom>
          <a:noFill/>
          <a:ln>
            <a:noFill/>
          </a:ln>
        </p:spPr>
        <p:txBody>
          <a:bodyPr wrap="square" lIns="0" tIns="0" rIns="0" bIns="0" anchor="t"/>
          <a:lstStyle/>
          <a:p>
            <a:pPr algn="l">
              <a:spcAft>
                <a:spcPts val="200"/>
              </a:spcAft>
              <a:buNone/>
            </a:pPr>
            <a:r>
              <a:rPr lang="en-US" sz="1500" b="1" dirty="0">
                <a:solidFill>
                  <a:srgbClr val="8E6F3E"/>
                </a:solidFill>
              </a:rPr>
              <a:t xml:space="preserve">specification boundary</a:t>
            </a:r>
          </a:p>
          <a:p>
            <a:pPr algn="l">
              <a:spcAft>
                <a:spcPts val="0"/>
              </a:spcAft>
              <a:buNone/>
            </a:pPr>
            <a:r>
              <a:rPr lang="en-US" sz="1400" b="0" dirty="0">
                <a:solidFill>
                  <a:srgbClr val="555960"/>
                </a:solidFill>
              </a:rPr>
              <a:t xml:space="preserve">the edge of what we write down</a:t>
            </a:r>
          </a:p>
        </p:txBody>
      </p:sp>
      <p:cxnSp>
        <p:nvCxnSpPr>
          <p:cNvPr id="16" name="SpLd"/>
          <p:cNvCxnSpPr/>
          <p:nvPr/>
        </p:nvCxnSpPr>
        <p:spPr>
          <a:xfrm>
            <a:off x="5303520" y="2171700"/>
            <a:ext cx="457200" cy="0"/>
          </a:xfrm>
          <a:prstGeom prst="straightConnector1">
            <a:avLst/>
          </a:prstGeom>
          <a:ln w="12700">
            <a:solidFill>
              <a:srgbClr val="555960"/>
            </a:solidFill>
            <a:headEnd type="triangle" w="med" len="med"/>
          </a:ln>
        </p:spPr>
      </p:cxnSp>
      <p:sp>
        <p:nvSpPr>
          <p:cNvPr id="17" name="ObLbl"/>
          <p:cNvSpPr txBox="1"/>
          <p:nvPr/>
        </p:nvSpPr>
        <p:spPr>
          <a:xfrm>
            <a:off x="5806440" y="2651760"/>
            <a:ext cx="3017520" cy="548640"/>
          </a:xfrm>
          <a:prstGeom prst="rect">
            <a:avLst/>
          </a:prstGeom>
          <a:noFill/>
          <a:ln>
            <a:noFill/>
          </a:ln>
        </p:spPr>
        <p:txBody>
          <a:bodyPr wrap="square" lIns="0" tIns="0" rIns="0" bIns="0" anchor="t"/>
          <a:lstStyle/>
          <a:p>
            <a:pPr algn="l">
              <a:spcAft>
                <a:spcPts val="200"/>
              </a:spcAft>
              <a:buNone/>
            </a:pPr>
            <a:r>
              <a:rPr lang="en-US" sz="1500" b="1" dirty="0">
                <a:solidFill>
                  <a:srgbClr val="5C4826"/>
                </a:solidFill>
              </a:rPr>
              <a:t xml:space="preserve">obligation boundary</a:t>
            </a:r>
          </a:p>
          <a:p>
            <a:pPr algn="l">
              <a:spcAft>
                <a:spcPts val="0"/>
              </a:spcAft>
              <a:buNone/>
            </a:pPr>
            <a:r>
              <a:rPr lang="en-US" sz="1400" b="0" dirty="0">
                <a:solidFill>
                  <a:srgbClr val="555960"/>
                </a:solidFill>
              </a:rPr>
              <a:t xml:space="preserve">fixed by what must be true</a:t>
            </a:r>
          </a:p>
        </p:txBody>
      </p:sp>
      <p:cxnSp>
        <p:nvCxnSpPr>
          <p:cNvPr id="18" name="ObLd"/>
          <p:cNvCxnSpPr/>
          <p:nvPr/>
        </p:nvCxnSpPr>
        <p:spPr>
          <a:xfrm>
            <a:off x="4389120" y="2926080"/>
            <a:ext cx="1371600" cy="0"/>
          </a:xfrm>
          <a:prstGeom prst="straightConnector1">
            <a:avLst/>
          </a:prstGeom>
          <a:ln w="12700">
            <a:solidFill>
              <a:srgbClr val="555960"/>
            </a:solidFill>
            <a:headEnd type="triangle" w="med" len="med"/>
          </a:ln>
        </p:spPr>
      </p:cxnSp>
      <p:sp>
        <p:nvSpPr>
          <p:cNvPr id="20" name="Scaf2"/>
          <p:cNvSpPr/>
          <p:nvPr/>
        </p:nvSpPr>
        <p:spPr>
          <a:xfrm>
            <a:off x="1280160" y="2286000"/>
            <a:ext cx="3520440" cy="2011680"/>
          </a:xfrm>
          <a:prstGeom prst="rect">
            <a:avLst/>
          </a:prstGeom>
          <a:noFill/>
          <a:ln w="19050">
            <a:solidFill>
              <a:srgbClr val="5C4826"/>
            </a:solidFill>
            <a:prstDash val="dash"/>
          </a:ln>
        </p:spPr>
        <p:txBody>
          <a:bodyPr wrap="square" lIns="27432" tIns="22860" rIns="27432" bIns="22860" anchor="ctr"/>
          <a:lstStyle/>
          <a:p>
            <a:pPr>
              <a:buNone/>
            </a:pPr>
            <a:endParaRPr lang="en-US"/>
          </a:p>
        </p:txBody>
      </p:sp>
      <p:cxnSp>
        <p:nvCxnSpPr>
          <p:cNvPr id="21" name="MvA"/>
          <p:cNvCxnSpPr/>
          <p:nvPr/>
        </p:nvCxnSpPr>
        <p:spPr>
          <a:xfrm>
            <a:off x="4846320" y="3520440"/>
            <a:ext cx="822960" cy="0"/>
          </a:xfrm>
          <a:prstGeom prst="straightConnector1">
            <a:avLst/>
          </a:prstGeom>
          <a:ln w="28575">
            <a:solidFill>
              <a:srgbClr val="5C4826"/>
            </a:solidFill>
            <a:headEnd type="triangle" w="med" len="med"/>
          </a:ln>
        </p:spPr>
      </p:cxnSp>
      <p:sp>
        <p:nvSpPr>
          <p:cNvPr id="22" name="CapLbl"/>
          <p:cNvSpPr txBox="1"/>
          <p:nvPr/>
        </p:nvSpPr>
        <p:spPr>
          <a:xfrm>
            <a:off x="5806440" y="3383280"/>
            <a:ext cx="3017520" cy="868680"/>
          </a:xfrm>
          <a:prstGeom prst="rect">
            <a:avLst/>
          </a:prstGeom>
          <a:noFill/>
          <a:ln>
            <a:noFill/>
          </a:ln>
        </p:spPr>
        <p:txBody>
          <a:bodyPr wrap="square" lIns="0" tIns="0" rIns="0" bIns="0" anchor="t"/>
          <a:lstStyle/>
          <a:p>
            <a:pPr algn="l">
              <a:spcAft>
                <a:spcPts val="200"/>
              </a:spcAft>
              <a:buNone/>
            </a:pPr>
            <a:r>
              <a:rPr lang="en-US" sz="1500" b="1" dirty="0">
                <a:solidFill>
                  <a:srgbClr val="8E6F3E"/>
                </a:solidFill>
              </a:rPr>
              <a:t xml:space="preserve">specification boundary</a:t>
            </a:r>
          </a:p>
          <a:p>
            <a:pPr algn="l">
              <a:spcAft>
                <a:spcPts val="0"/>
              </a:spcAft>
              <a:buNone/>
            </a:pPr>
            <a:r>
              <a:rPr lang="en-US" sz="1400" b="0" dirty="0">
                <a:solidFill>
                  <a:srgbClr val="555960"/>
                </a:solidFill>
              </a:rPr>
              <a:t xml:space="preserve">for a more capable agent, it moves in</a:t>
            </a:r>
          </a:p>
        </p:txBody>
      </p:sp>
      <p:sp>
        <p:nvSpPr>
          <p:cNvPr id="150" name="Ital"/>
          <p:cNvSpPr txBox="1"/>
          <p:nvPr/>
        </p:nvSpPr>
        <p:spPr>
          <a:xfrm>
            <a:off x="274320" y="4983480"/>
            <a:ext cx="8595360" cy="45720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Specified region = obligation + scaffolding; outside it, degrees of freedom.</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Two boundaries, not one. Only one of them moves.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Capability cannot reduce what must be true</a:t>
            </a:r>
          </a:p>
        </p:txBody>
      </p:sp>
      <p:sp>
        <p:nvSpPr>
          <p:cNvPr id="3" name="Slide Number Placeholder 3"/>
          <p:cNvSpPr>
            <a:spLocks noGrp="1"/>
          </p:cNvSpPr>
          <p:nvPr>
            <p:ph type="sldNum" sz="quarter" idx="4"/>
          </p:nvPr>
        </p:nvSpPr>
        <p:spPr/>
        <p:txBody>
          <a:bodyPr/>
          <a:lstStyle/>
          <a:p>
            <a:fld id="{B7EB45DA-9A0D-DC49-8E02-F30A5DDC21C3}" type="slidenum">
              <a:rPr lang="en-US" smtClean="0"/>
              <a:t>26</a:t>
            </a:fld>
            <a:endParaRPr lang="en-US"/>
          </a:p>
        </p:txBody>
      </p:sp>
      <p:sp>
        <p:nvSpPr>
          <p:cNvPr id="10" name="LeadLn"/>
          <p:cNvSpPr txBox="1"/>
          <p:nvPr/>
        </p:nvSpPr>
        <p:spPr>
          <a:xfrm>
            <a:off x="365760" y="914400"/>
            <a:ext cx="8412480" cy="365760"/>
          </a:xfrm>
          <a:prstGeom prst="rect">
            <a:avLst/>
          </a:prstGeom>
          <a:noFill/>
          <a:ln>
            <a:noFill/>
          </a:ln>
        </p:spPr>
        <p:txBody>
          <a:bodyPr wrap="square" lIns="18288" tIns="18288" rIns="18288" bIns="18288" anchor="t">
            <a:spAutoFit/>
          </a:bodyPr>
          <a:lstStyle/>
          <a:p>
            <a:pPr algn="ctr">
              <a:spcAft>
                <a:spcPts val="0"/>
              </a:spcAft>
              <a:buNone/>
            </a:pPr>
            <a:r>
              <a:rPr lang="en-US" sz="1800" b="0" dirty="0">
                <a:solidFill>
                  <a:srgbClr val="555960"/>
                </a:solidFill>
              </a:rPr>
              <a:t>The specification boundary moves with capability. The obligation boundary does not.</a:t>
            </a:r>
          </a:p>
        </p:txBody>
      </p:sp>
      <p:sp>
        <p:nvSpPr>
          <p:cNvPr id="11" name="St1"/>
          <p:cNvSpPr/>
          <p:nvPr/>
        </p:nvSpPr>
        <p:spPr>
          <a:xfrm>
            <a:off x="548640" y="1508760"/>
            <a:ext cx="2377440" cy="731520"/>
          </a:xfrm>
          <a:prstGeom prst="rect">
            <a:avLst/>
          </a:prstGeom>
          <a:solidFill>
            <a:srgbClr val="FBF8F2"/>
          </a:solidFill>
          <a:ln w="12700">
            <a:solidFill>
              <a:srgbClr val="C9B991"/>
            </a:solidFill>
          </a:ln>
        </p:spPr>
        <p:txBody>
          <a:bodyPr wrap="square" lIns="27432" tIns="22860" rIns="27432" bIns="22860" anchor="ctr"/>
          <a:lstStyle/>
          <a:p>
            <a:pPr algn="ctr">
              <a:spcAft>
                <a:spcPts val="400"/>
              </a:spcAft>
              <a:buNone/>
            </a:pPr>
            <a:r>
              <a:rPr lang="en-US" sz="1400" b="1" dirty="0">
                <a:solidFill>
                  <a:srgbClr val="8E6F3E"/>
                </a:solidFill>
              </a:rPr>
              <a:t>UPSTREAM</a:t>
            </a:r>
          </a:p>
          <a:p>
            <a:pPr algn="ctr">
              <a:spcAft>
                <a:spcPts val="0"/>
              </a:spcAft>
              <a:buNone/>
            </a:pPr>
            <a:r>
              <a:rPr lang="en-US" sz="1500" b="0" dirty="0">
                <a:solidFill>
                  <a:srgbClr val="5C4826"/>
                </a:solidFill>
              </a:rPr>
              <a:t>the reduction happens here</a:t>
            </a:r>
          </a:p>
        </p:txBody>
      </p:sp>
      <p:cxnSp>
        <p:nvCxnSpPr>
          <p:cNvPr id="12" name="Ar1"/>
          <p:cNvCxnSpPr/>
          <p:nvPr/>
        </p:nvCxnSpPr>
        <p:spPr>
          <a:xfrm>
            <a:off x="2971800" y="1874520"/>
            <a:ext cx="594360" cy="0"/>
          </a:xfrm>
          <a:prstGeom prst="straightConnector1">
            <a:avLst/>
          </a:prstGeom>
          <a:ln w="28575">
            <a:solidFill>
              <a:srgbClr val="8E6F3E"/>
            </a:solidFill>
            <a:tailEnd type="triangle" w="med" len="med"/>
          </a:ln>
        </p:spPr>
      </p:cxnSp>
      <p:sp>
        <p:nvSpPr>
          <p:cNvPr id="13" name="St2"/>
          <p:cNvSpPr/>
          <p:nvPr/>
        </p:nvSpPr>
        <p:spPr>
          <a:xfrm>
            <a:off x="3611880" y="1508760"/>
            <a:ext cx="1874520" cy="731520"/>
          </a:xfrm>
          <a:prstGeom prst="rect">
            <a:avLst/>
          </a:prstGeom>
          <a:solidFill>
            <a:srgbClr val="FBF8F2"/>
          </a:solidFill>
          <a:ln w="12700">
            <a:solidFill>
              <a:srgbClr val="C9B991"/>
            </a:solidFill>
          </a:ln>
        </p:spPr>
        <p:txBody>
          <a:bodyPr wrap="square" lIns="27432" tIns="22860" rIns="27432" bIns="22860" anchor="ctr"/>
          <a:lstStyle/>
          <a:p>
            <a:pPr algn="ctr">
              <a:spcAft>
                <a:spcPts val="400"/>
              </a:spcAft>
              <a:buNone/>
            </a:pPr>
            <a:r>
              <a:rPr lang="en-US" sz="1400" b="1" dirty="0">
                <a:solidFill>
                  <a:srgbClr val="555960"/>
                </a:solidFill>
              </a:rPr>
              <a:t>THE PIPELINE</a:t>
            </a:r>
          </a:p>
          <a:p>
            <a:pPr algn="ctr">
              <a:spcAft>
                <a:spcPts val="0"/>
              </a:spcAft>
              <a:buNone/>
            </a:pPr>
            <a:r>
              <a:rPr lang="en-US" sz="1400" b="0" dirty="0">
                <a:solidFill>
                  <a:srgbClr val="555960"/>
                </a:solidFill>
              </a:rPr>
              <a:t>stage after stage</a:t>
            </a:r>
          </a:p>
        </p:txBody>
      </p:sp>
      <p:cxnSp>
        <p:nvCxnSpPr>
          <p:cNvPr id="14" name="Ar2"/>
          <p:cNvCxnSpPr/>
          <p:nvPr/>
        </p:nvCxnSpPr>
        <p:spPr>
          <a:xfrm>
            <a:off x="5532120" y="1874520"/>
            <a:ext cx="594360" cy="0"/>
          </a:xfrm>
          <a:prstGeom prst="straightConnector1">
            <a:avLst/>
          </a:prstGeom>
          <a:ln w="28575">
            <a:solidFill>
              <a:srgbClr val="8E6F3E"/>
            </a:solidFill>
            <a:tailEnd type="triangle" w="med" len="med"/>
          </a:ln>
        </p:spPr>
      </p:cxnSp>
      <p:sp>
        <p:nvSpPr>
          <p:cNvPr id="15" name="St3"/>
          <p:cNvSpPr/>
          <p:nvPr/>
        </p:nvSpPr>
        <p:spPr>
          <a:xfrm>
            <a:off x="6172200" y="1508760"/>
            <a:ext cx="2423160" cy="731520"/>
          </a:xfrm>
          <a:prstGeom prst="rect">
            <a:avLst/>
          </a:prstGeom>
          <a:solidFill>
            <a:srgbClr val="5C4826"/>
          </a:solidFill>
          <a:ln>
            <a:noFill/>
          </a:ln>
        </p:spPr>
        <p:txBody>
          <a:bodyPr wrap="square" lIns="27432" tIns="22860" rIns="27432" bIns="22860" anchor="ctr"/>
          <a:lstStyle/>
          <a:p>
            <a:pPr algn="ctr">
              <a:spcAft>
                <a:spcPts val="400"/>
              </a:spcAft>
              <a:buNone/>
            </a:pPr>
            <a:r>
              <a:rPr lang="en-US" sz="1400" b="1" dirty="0">
                <a:solidFill>
                  <a:srgbClr val="FFFFFF"/>
                </a:solidFill>
              </a:rPr>
              <a:t>DOWNSTREAM</a:t>
            </a:r>
          </a:p>
          <a:p>
            <a:pPr algn="ctr">
              <a:spcAft>
                <a:spcPts val="0"/>
              </a:spcAft>
              <a:buNone/>
            </a:pPr>
            <a:r>
              <a:rPr lang="en-US" sz="1500" b="0" dirty="0">
                <a:solidFill>
                  <a:srgbClr val="FFFFFF"/>
                </a:solidFill>
              </a:rPr>
              <a:t>an arbitrarily capable agent</a:t>
            </a:r>
          </a:p>
        </p:txBody>
      </p:sp>
      <p:cxnSp>
        <p:nvCxnSpPr>
          <p:cNvPr id="16" name="DropC"/>
          <p:cNvCxnSpPr/>
          <p:nvPr/>
        </p:nvCxnSpPr>
        <p:spPr>
          <a:xfrm>
            <a:off x="1737360" y="2240280"/>
            <a:ext cx="0" cy="320040"/>
          </a:xfrm>
          <a:prstGeom prst="straightConnector1">
            <a:avLst/>
          </a:prstGeom>
          <a:ln w="12700">
            <a:solidFill>
              <a:srgbClr val="8E6F3E"/>
            </a:solidFill>
            <a:prstDash val="dash"/>
            <a:tailEnd type="triangle" w="med" len="med"/>
          </a:ln>
        </p:spPr>
      </p:cxnSp>
      <p:sp>
        <p:nvSpPr>
          <p:cNvPr id="17" name="Drop1"/>
          <p:cNvSpPr/>
          <p:nvPr/>
        </p:nvSpPr>
        <p:spPr>
          <a:xfrm>
            <a:off x="845820" y="2606040"/>
            <a:ext cx="1783080" cy="402336"/>
          </a:xfrm>
          <a:prstGeom prst="rect">
            <a:avLst/>
          </a:prstGeom>
          <a:solidFill>
            <a:srgbClr val="FBF8F2"/>
          </a:solidFill>
          <a:ln w="12700">
            <a:solidFill>
              <a:srgbClr val="C9B991"/>
            </a:solidFill>
          </a:ln>
        </p:spPr>
        <p:txBody>
          <a:bodyPr wrap="square" lIns="27432" tIns="22860" rIns="27432" bIns="22860" anchor="ctr"/>
          <a:lstStyle/>
          <a:p>
            <a:pPr algn="ctr">
              <a:spcAft>
                <a:spcPts val="0"/>
              </a:spcAft>
              <a:buNone/>
            </a:pPr>
            <a:r>
              <a:rPr lang="en-US" sz="1600" b="1" dirty="0">
                <a:solidFill>
                  <a:srgbClr val="8E6F3E"/>
                </a:solidFill>
              </a:rPr>
              <a:t>✗ a distinction</a:t>
            </a:r>
          </a:p>
        </p:txBody>
      </p:sp>
      <p:sp>
        <p:nvSpPr>
          <p:cNvPr id="18" name="DropL"/>
          <p:cNvSpPr txBox="1"/>
          <p:nvPr/>
        </p:nvSpPr>
        <p:spPr>
          <a:xfrm>
            <a:off x="685800" y="3063240"/>
            <a:ext cx="2103120" cy="274320"/>
          </a:xfrm>
          <a:prstGeom prst="rect">
            <a:avLst/>
          </a:prstGeom>
          <a:noFill/>
          <a:ln>
            <a:noFill/>
          </a:ln>
        </p:spPr>
        <p:txBody>
          <a:bodyPr wrap="square" lIns="0" tIns="0" rIns="0" bIns="0" anchor="t"/>
          <a:lstStyle/>
          <a:p>
            <a:pPr algn="ctr">
              <a:spcAft>
                <a:spcPts val="0"/>
              </a:spcAft>
              <a:buNone/>
            </a:pPr>
            <a:r>
              <a:rPr lang="en-US" sz="1400" b="0" i="1" dirty="0">
                <a:solidFill>
                  <a:srgbClr val="555960"/>
                </a:solidFill>
              </a:rPr>
              <a:t>dropped here, in the model</a:t>
            </a:r>
          </a:p>
        </p:txBody>
      </p:sp>
      <p:sp>
        <p:nvSpPr>
          <p:cNvPr id="19" name="EmptyL"/>
          <p:cNvSpPr txBox="1"/>
          <p:nvPr/>
        </p:nvSpPr>
        <p:spPr>
          <a:xfrm>
            <a:off x="6172200" y="2514600"/>
            <a:ext cx="2697480" cy="548640"/>
          </a:xfrm>
          <a:prstGeom prst="rect">
            <a:avLst/>
          </a:prstGeom>
          <a:noFill/>
          <a:ln>
            <a:noFill/>
          </a:ln>
        </p:spPr>
        <p:txBody>
          <a:bodyPr wrap="square" lIns="0" tIns="0" rIns="0" bIns="0" anchor="t"/>
          <a:lstStyle/>
          <a:p>
            <a:pPr algn="l">
              <a:spcAft>
                <a:spcPts val="0"/>
              </a:spcAft>
              <a:buNone/>
            </a:pPr>
            <a:r>
              <a:rPr lang="en-US" sz="1400" b="0" i="1" dirty="0">
                <a:solidFill>
                  <a:srgbClr val="555960"/>
                </a:solidFill>
              </a:rPr>
              <a:t>nothing arrives to recover; the distinction no longer exists</a:t>
            </a:r>
          </a:p>
        </p:txBody>
      </p:sp>
      <p:sp>
        <p:nvSpPr>
          <p:cNvPr id="150" name="Ital"/>
          <p:cNvSpPr txBox="1"/>
          <p:nvPr/>
        </p:nvSpPr>
        <p:spPr>
          <a:xfrm>
            <a:off x="274320" y="3474720"/>
            <a:ext cx="8595360" cy="365760"/>
          </a:xfrm>
          <a:prstGeom prst="rect">
            <a:avLst/>
          </a:prstGeom>
          <a:noFill/>
          <a:ln>
            <a:noFill/>
          </a:ln>
        </p:spPr>
        <p:txBody>
          <a:bodyPr wrap="square" lIns="0" tIns="0" rIns="0" bIns="0" anchor="t"/>
          <a:lstStyle/>
          <a:p>
            <a:pPr algn="ctr">
              <a:spcAft>
                <a:spcPts val="0"/>
              </a:spcAft>
              <a:buNone/>
            </a:pPr>
            <a:r>
              <a:rPr lang="en-US" sz="1700" b="0" i="1" dirty="0">
                <a:solidFill>
                  <a:srgbClr val="555960"/>
                </a:solidFill>
              </a:rPr>
              <a:t>The limit is semantic, not a shortfall of intelligence.</a:t>
            </a:r>
          </a:p>
        </p:txBody>
      </p:sp>
      <p:sp>
        <p:nvSpPr>
          <p:cNvPr id="30" name="ChEq"/>
          <p:cNvSpPr txBox="1"/>
          <p:nvPr/>
        </p:nvSpPr>
        <p:spPr>
          <a:xfrm>
            <a:off x="274320" y="4023360"/>
            <a:ext cx="8595360" cy="365760"/>
          </a:xfrm>
          <a:prstGeom prst="rect">
            <a:avLst/>
          </a:prstGeom>
          <a:noFill/>
          <a:ln>
            <a:noFill/>
          </a:ln>
        </p:spPr>
        <p:txBody>
          <a:bodyPr wrap="square" lIns="0" tIns="0" rIns="0" bIns="0" anchor="ctr"/>
          <a:lstStyle/>
          <a:p>
            <a:pPr algn="ctr">
              <a:spcAft>
                <a:spcPts val="0"/>
              </a:spcAft>
              <a:buNone/>
            </a:pPr>
            <a:r>
              <a:rPr lang="en-US" sz="1600" b="0" i="1" dirty="0">
                <a:solidFill>
                  <a:srgbClr val="5C4826"/>
                </a:solidFill>
              </a:rPr>
              <a:t xml:space="preserve">p</a:t>
            </a:r>
            <a:r>
              <a:rPr lang="en-US" sz="1600" b="0" i="1" baseline="-25000" dirty="0">
                <a:solidFill>
                  <a:srgbClr val="5C4826"/>
                </a:solidFill>
              </a:rPr>
              <a:t xml:space="preserve">R</a:t>
            </a:r>
            <a:r>
              <a:rPr lang="en-US" sz="1600" b="0" i="1" dirty="0">
                <a:solidFill>
                  <a:srgbClr val="5C4826"/>
                </a:solidFill>
              </a:rPr>
              <a:t xml:space="preserve"> = </a:t>
            </a:r>
            <a:r>
              <a:rPr lang="en-US" sz="1600" b="1" i="1" dirty="0">
                <a:solidFill>
                  <a:srgbClr val="5C4826"/>
                </a:solidFill>
              </a:rPr>
              <a:t xml:space="preserve">P(E | R)</a:t>
            </a:r>
            <a:r>
              <a:rPr lang="en-US" sz="1600" b="0" i="1" dirty="0">
                <a:solidFill>
                  <a:srgbClr val="555960"/>
                </a:solidFill>
              </a:rPr>
              <a:t xml:space="preserve"> · P(I | E, R) · P(L | I, E, R)</a:t>
            </a:r>
          </a:p>
        </p:txBody>
      </p:sp>
      <p:sp>
        <p:nvSpPr>
          <p:cNvPr id="31" name="ChCap"/>
          <p:cNvSpPr txBox="1"/>
          <p:nvPr/>
        </p:nvSpPr>
        <p:spPr>
          <a:xfrm>
            <a:off x="274320" y="4389120"/>
            <a:ext cx="8595360" cy="274320"/>
          </a:xfrm>
          <a:prstGeom prst="rect">
            <a:avLst/>
          </a:prstGeom>
          <a:noFill/>
          <a:ln>
            <a:noFill/>
          </a:ln>
        </p:spPr>
        <p:txBody>
          <a:bodyPr wrap="square" lIns="0" tIns="0" rIns="0" bIns="0" anchor="t"/>
          <a:lstStyle/>
          <a:p>
            <a:pPr algn="ctr">
              <a:spcAft>
                <a:spcPts val="0"/>
              </a:spcAft>
              <a:buNone/>
            </a:pPr>
            <a:r>
              <a:rPr lang="en-US" sz="1400" b="0" i="1" dirty="0">
                <a:solidFill>
                  <a:srgbClr val="555960"/>
                </a:solidFill>
              </a:rPr>
              <a:t xml:space="preserve">a perfect reasoner drives the last two factors to one</a:t>
            </a:r>
          </a:p>
        </p:txBody>
      </p:sp>
      <p:sp>
        <p:nvSpPr>
          <p:cNvPr id="32" name="LimEq"/>
          <p:cNvSpPr txBox="1"/>
          <p:nvPr/>
        </p:nvSpPr>
        <p:spPr>
          <a:xfrm>
            <a:off x="274320" y="4800600"/>
            <a:ext cx="8595360" cy="685800"/>
          </a:xfrm>
          <a:prstGeom prst="rect">
            <a:avLst/>
          </a:prstGeom>
          <a:noFill/>
          <a:ln>
            <a:noFill/>
          </a:ln>
        </p:spPr>
        <p:txBody>
          <a:bodyPr wrap="square" lIns="0" tIns="0" rIns="0" bIns="0" anchor="ctr"/>
          <a:lstStyle/>
          <a:p>
            <a:pPr algn="ctr">
              <a:spcAft>
                <a:spcPts val="0"/>
              </a:spcAft>
              <a:buNone/>
            </a:pPr>
            <a:r>
              <a:rPr lang="en-US" sz="3000" b="0" i="1" dirty="0">
                <a:solidFill>
                  <a:srgbClr val="5C4826"/>
                </a:solidFill>
              </a:rPr>
              <a:t xml:space="preserve">lim</a:t>
            </a:r>
            <a:r>
              <a:rPr lang="en-US" sz="3000" b="0" i="1" baseline="-25000" dirty="0">
                <a:solidFill>
                  <a:srgbClr val="5C4826"/>
                </a:solidFill>
              </a:rPr>
              <a:t xml:space="preserve">M → perfect reasoner</a:t>
            </a:r>
            <a:r>
              <a:rPr lang="en-US" sz="3000" b="0" i="1" dirty="0">
                <a:solidFill>
                  <a:srgbClr val="5C4826"/>
                </a:solidFill>
              </a:rPr>
              <a:t xml:space="preserve">  p</a:t>
            </a:r>
            <a:r>
              <a:rPr lang="en-US" sz="3000" b="0" i="1" baseline="-25000" dirty="0">
                <a:solidFill>
                  <a:srgbClr val="5C4826"/>
                </a:solidFill>
              </a:rPr>
              <a:t xml:space="preserve">R</a:t>
            </a:r>
            <a:r>
              <a:rPr lang="en-US" sz="3000" b="0" i="1" dirty="0">
                <a:solidFill>
                  <a:srgbClr val="5C4826"/>
                </a:solidFill>
              </a:rPr>
              <a:t xml:space="preserve"> = P(E | R)</a:t>
            </a:r>
          </a:p>
        </p:txBody>
      </p:sp>
      <p:sp>
        <p:nvSpPr>
          <p:cNvPr id="33" name="LimCap"/>
          <p:cNvSpPr txBox="1"/>
          <p:nvPr/>
        </p:nvSpPr>
        <p:spPr>
          <a:xfrm>
            <a:off x="274320" y="5486400"/>
            <a:ext cx="8595360" cy="274320"/>
          </a:xfrm>
          <a:prstGeom prst="rect">
            <a:avLst/>
          </a:prstGeom>
          <a:noFill/>
          <a:ln>
            <a:noFill/>
          </a:ln>
        </p:spPr>
        <p:txBody>
          <a:bodyPr wrap="square" lIns="0" tIns="0" rIns="0" bIns="0" anchor="t"/>
          <a:lstStyle/>
          <a:p>
            <a:pPr algn="ctr">
              <a:spcAft>
                <a:spcPts val="0"/>
              </a:spcAft>
              <a:buNone/>
            </a:pPr>
            <a:r>
              <a:rPr lang="en-US" sz="1400" b="0" i="1" dirty="0">
                <a:solidFill>
                  <a:srgbClr val="555960"/>
                </a:solidFill>
              </a:rPr>
              <a:t>Better reasoning cannot recover consequential intent the representation failed to encode.</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spcAft>
                <a:spcPts val="0"/>
              </a:spcAft>
              <a:buNone/>
            </a:pPr>
            <a:r>
              <a:rPr lang="en-US" sz="2000" b="1" dirty="0">
                <a:solidFill>
                  <a:srgbClr val="FFFFFF"/>
                </a:solidFill>
              </a:rPr>
              <a:t>What reduction removed, no capability restores.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Activity: Reduce</a:t>
            </a:r>
            <a:endParaRPr dirty="0"/>
          </a:p>
        </p:txBody>
      </p:sp>
      <p:sp>
        <p:nvSpPr>
          <p:cNvPr id="4" name="Slide Number Placeholder 3"/>
          <p:cNvSpPr>
            <a:spLocks noGrp="1"/>
          </p:cNvSpPr>
          <p:nvPr>
            <p:ph type="sldNum" sz="quarter" idx="4"/>
          </p:nvPr>
        </p:nvSpPr>
        <p:spPr/>
        <p:txBody>
          <a:bodyPr/>
          <a:lstStyle/>
          <a:p>
            <a:fld id="{B7EB45DA-9A0D-DC49-8E02-F30A5DDC21C3}" type="slidenum">
              <a:rPr lang="en-US" smtClean="0"/>
              <a:t>27</a:t>
            </a:fld>
            <a:endParaRPr lang="en-US"/>
          </a:p>
        </p:txBody>
      </p:sp>
      <p:sp>
        <p:nvSpPr>
          <p:cNvPr id="5" name="TextBox 4"/>
          <p:cNvSpPr txBox="1"/>
          <p:nvPr/>
        </p:nvSpPr>
        <p:spPr>
          <a:xfrm>
            <a:off x="365760" y="932688"/>
            <a:ext cx="8412480" cy="590931"/>
          </a:xfrm>
          <a:prstGeom prst="rect">
            <a:avLst/>
          </a:prstGeom>
          <a:noFill/>
        </p:spPr>
        <p:txBody>
          <a:bodyPr wrap="square" lIns="18288" tIns="18288" rIns="18288" bIns="18288">
            <a:spAutoFit/>
          </a:bodyPr>
          <a:lstStyle/>
          <a:p>
            <a:r>
              <a:rPr lang="en-US" dirty="0"/>
              <a:t xml:space="preserve">Same controller, new question: </a:t>
            </a:r>
            <a:r>
              <a:rPr lang="en-US" sz="1800" b="1" dirty="0">
                <a:solidFill>
                  <a:srgbClr val="5C4826"/>
                </a:solidFill>
              </a:rPr>
              <a:t>can the device respond to an over-temperature condition within 50 ms?</a:t>
            </a:r>
            <a:endParaRPr sz="1800" b="0" dirty="0">
              <a:solidFill>
                <a:srgbClr val="555960"/>
              </a:solidFill>
            </a:endParaRPr>
          </a:p>
        </p:txBody>
      </p:sp>
      <p:sp>
        <p:nvSpPr>
          <p:cNvPr id="6" name="TextBox 5"/>
          <p:cNvSpPr txBox="1"/>
          <p:nvPr/>
        </p:nvSpPr>
        <p:spPr>
          <a:xfrm>
            <a:off x="365760" y="1645920"/>
            <a:ext cx="6080760" cy="393192"/>
          </a:xfrm>
          <a:prstGeom prst="rect">
            <a:avLst/>
          </a:prstGeom>
          <a:noFill/>
        </p:spPr>
        <p:txBody>
          <a:bodyPr wrap="square" lIns="18288" tIns="18288" rIns="18288" bIns="18288">
            <a:spAutoFit/>
          </a:bodyPr>
          <a:lstStyle/>
          <a:p>
            <a:pPr algn="l">
              <a:spcAft>
                <a:spcPts val="0"/>
              </a:spcAft>
            </a:pPr>
            <a:r>
              <a:rPr sz="2000" b="1" dirty="0">
                <a:solidFill>
                  <a:srgbClr val="8E6F3E"/>
                </a:solidFill>
              </a:rPr>
              <a:t>YOUR TASK — TOP-DOWN, THEN BOTTOM-UP</a:t>
            </a:r>
          </a:p>
        </p:txBody>
      </p:sp>
      <p:sp>
        <p:nvSpPr>
          <p:cNvPr id="7" name="Rectangle 6"/>
          <p:cNvSpPr/>
          <p:nvPr/>
        </p:nvSpPr>
        <p:spPr>
          <a:xfrm>
            <a:off x="365760" y="2048256"/>
            <a:ext cx="6080760" cy="1755648"/>
          </a:xfrm>
          <a:prstGeom prst="rect">
            <a:avLst/>
          </a:prstGeom>
          <a:solidFill>
            <a:srgbClr val="F5F1E8"/>
          </a:solidFill>
          <a:ln w="12700">
            <a:solidFill>
              <a:srgbClr val="C9B991"/>
            </a:solidFill>
          </a:ln>
        </p:spPr>
        <p:style>
          <a:lnRef idx="1">
            <a:schemeClr val="accent1"/>
          </a:lnRef>
          <a:fillRef idx="3">
            <a:schemeClr val="accent1"/>
          </a:fillRef>
          <a:effectRef idx="2">
            <a:schemeClr val="accent1"/>
          </a:effectRef>
          <a:fontRef idx="minor">
            <a:schemeClr val="lt1"/>
          </a:fontRef>
        </p:style>
        <p:txBody>
          <a:bodyPr wrap="square" lIns="128016" tIns="91440" rIns="118872" bIns="91440" rtlCol="0" anchor="ctr"/>
          <a:lstStyle/>
          <a:p>
            <a:pPr marL="228600" indent="-228600" algn="l">
              <a:spcAft>
                <a:spcPts val="1600"/>
              </a:spcAft>
              <a:buNone/>
            </a:pPr>
            <a:r>
              <a:rPr lang="en-US" sz="1800" b="0" dirty="0">
                <a:solidFill>
                  <a:srgbClr val="5C4826"/>
                </a:solidFill>
              </a:rPr>
              <a:t>1.  Top-down: what distinctions must your model preserve?</a:t>
            </a:r>
          </a:p>
          <a:p>
            <a:pPr marL="228600" indent="-228600" algn="l">
              <a:spcAft>
                <a:spcPts val="1600"/>
              </a:spcAft>
              <a:buNone/>
            </a:pPr>
            <a:r>
              <a:rPr lang="en-US" sz="1800" b="0" dirty="0">
                <a:solidFill>
                  <a:srgbClr val="5C4826"/>
                </a:solidFill>
              </a:rPr>
              <a:t>2.  Bottom-up: justify every distinction you kept.</a:t>
            </a:r>
          </a:p>
          <a:p>
            <a:pPr marL="228600" indent="-228600" algn="l">
              <a:spcAft>
                <a:spcPts val="0"/>
              </a:spcAft>
              <a:buNone/>
            </a:pPr>
            <a:r>
              <a:rPr lang="en-US" sz="1800" b="0" dirty="0">
                <a:solidFill>
                  <a:srgbClr val="5C4826"/>
                </a:solidFill>
              </a:rPr>
              <a:t>3.  Name at least three facts about the real system your model deliberately omits.</a:t>
            </a:r>
          </a:p>
        </p:txBody>
      </p:sp>
      <p:sp>
        <p:nvSpPr>
          <p:cNvPr id="8" name="DbfL"/>
          <p:cNvSpPr txBox="1"/>
          <p:nvPr/>
        </p:nvSpPr>
        <p:spPr>
          <a:xfrm>
            <a:off x="365760" y="3895344"/>
            <a:ext cx="6080760" cy="393192"/>
          </a:xfrm>
          <a:prstGeom prst="rect">
            <a:avLst/>
          </a:prstGeom>
          <a:noFill/>
        </p:spPr>
        <p:txBody>
          <a:bodyPr wrap="square" lIns="18288" tIns="18288" rIns="18288" bIns="18288">
            <a:spAutoFit/>
          </a:bodyPr>
          <a:lstStyle/>
          <a:p>
            <a:pPr algn="l">
              <a:spcAft>
                <a:spcPts val="0"/>
              </a:spcAft>
            </a:pPr>
            <a:r>
              <a:rPr sz="2000" b="1" dirty="0">
                <a:solidFill>
                  <a:srgbClr val="8E6F3E"/>
                </a:solidFill>
              </a:rPr>
              <a:t>DEBRIEF</a:t>
            </a:r>
          </a:p>
        </p:txBody>
      </p:sp>
      <p:sp>
        <p:nvSpPr>
          <p:cNvPr id="9" name="DBox"/>
          <p:cNvSpPr/>
          <p:nvPr/>
        </p:nvSpPr>
        <p:spPr>
          <a:xfrm>
            <a:off x="365760" y="4306824"/>
            <a:ext cx="6080760" cy="1389888"/>
          </a:xfrm>
          <a:prstGeom prst="rect">
            <a:avLst/>
          </a:prstGeom>
          <a:solidFill>
            <a:srgbClr val="F5F1E8"/>
          </a:solidFill>
          <a:ln w="12700">
            <a:solidFill>
              <a:srgbClr val="C9B991"/>
            </a:solidFill>
          </a:ln>
        </p:spPr>
        <p:txBody>
          <a:bodyPr wrap="square" lIns="128016" tIns="91440" rIns="118872" bIns="91440" rtlCol="0" anchor="ctr"/>
          <a:lstStyle/>
          <a:p>
            <a:pPr algn="ctr">
              <a:spcAft>
                <a:spcPts val="1200"/>
              </a:spcAft>
              <a:buNone/>
            </a:pPr>
            <a:r>
              <a:rPr lang="en-US" sz="1800" b="0" dirty="0">
                <a:solidFill>
                  <a:srgbClr val="5C4826"/>
                </a:solidFill>
              </a:rPr>
              <a:t>Everything converges on one chain: sample → schedule → compute → actuate</a:t>
            </a:r>
          </a:p>
          <a:p>
            <a:pPr algn="ctr">
              <a:spcAft>
                <a:spcPts val="0"/>
              </a:spcAft>
              <a:buNone/>
            </a:pPr>
            <a:r>
              <a:rPr lang="en-US" sz="2000" b="1" dirty="0">
                <a:solidFill>
                  <a:srgbClr val="5C4826"/>
                </a:solidFill>
              </a:rPr>
              <a:t>T</a:t>
            </a:r>
            <a:r>
              <a:rPr lang="en-US" sz="1400" b="1" baseline="-25000" dirty="0">
                <a:solidFill>
                  <a:srgbClr val="5C4826"/>
                </a:solidFill>
              </a:rPr>
              <a:t>sample</a:t>
            </a:r>
            <a:r>
              <a:rPr lang="en-US" sz="2000" b="1" dirty="0">
                <a:solidFill>
                  <a:srgbClr val="5C4826"/>
                </a:solidFill>
              </a:rPr>
              <a:t xml:space="preserve"> + T</a:t>
            </a:r>
            <a:r>
              <a:rPr lang="en-US" sz="1400" b="1" baseline="-25000" dirty="0">
                <a:solidFill>
                  <a:srgbClr val="5C4826"/>
                </a:solidFill>
              </a:rPr>
              <a:t>schedule</a:t>
            </a:r>
            <a:r>
              <a:rPr lang="en-US" sz="2000" b="1" dirty="0">
                <a:solidFill>
                  <a:srgbClr val="5C4826"/>
                </a:solidFill>
              </a:rPr>
              <a:t xml:space="preserve"> + T</a:t>
            </a:r>
            <a:r>
              <a:rPr lang="en-US" sz="1400" b="1" baseline="-25000" dirty="0">
                <a:solidFill>
                  <a:srgbClr val="5C4826"/>
                </a:solidFill>
              </a:rPr>
              <a:t>compute</a:t>
            </a:r>
            <a:r>
              <a:rPr lang="en-US" sz="2000" b="1" dirty="0">
                <a:solidFill>
                  <a:srgbClr val="5C4826"/>
                </a:solidFill>
              </a:rPr>
              <a:t xml:space="preserve"> + T</a:t>
            </a:r>
            <a:r>
              <a:rPr lang="en-US" sz="1400" b="1" baseline="-25000" dirty="0">
                <a:solidFill>
                  <a:srgbClr val="5C4826"/>
                </a:solidFill>
              </a:rPr>
              <a:t>actuate</a:t>
            </a:r>
            <a:r>
              <a:rPr lang="en-US" sz="2000" b="1" dirty="0">
                <a:solidFill>
                  <a:srgbClr val="5C4826"/>
                </a:solidFill>
              </a:rPr>
              <a:t xml:space="preserve"> ≤ 50 ms</a:t>
            </a:r>
          </a:p>
        </p:txBody>
      </p:sp>
      <p:sp>
        <p:nvSpPr>
          <p:cNvPr id="15" name="QRPlaceholder" descr="Dashed outline marking the slot where the activity's QR code will go."/>
          <p:cNvSpPr/>
          <p:nvPr/>
        </p:nvSpPr>
        <p:spPr>
          <a:xfrm>
            <a:off x="6605016" y="1891094"/>
            <a:ext cx="2264664" cy="2264664"/>
          </a:xfrm>
          <a:prstGeom prst="rect">
            <a:avLst/>
          </a:prstGeom>
          <a:solidFill>
            <a:srgbClr val="FBF8F2"/>
          </a:solidFill>
          <a:ln w="15875">
            <a:solidFill>
              <a:srgbClr val="C9B991"/>
            </a:solidFill>
            <a:prstDash val="dash"/>
          </a:ln>
        </p:spPr>
        <p:txBody>
          <a:bodyPr wrap="square" lIns="91440" tIns="91440" rIns="91440" bIns="91440" anchor="b"/>
          <a:lstStyle/>
          <a:p>
            <a:pPr algn="ctr">
              <a:buNone/>
            </a:pPr>
            <a:r>
              <a:rPr lang="en-US" sz="1800" b="0" i="0" dirty="0">
                <a:solidFill>
                  <a:srgbClr val="555960"/>
                </a:solidFill>
              </a:rPr>
              <a:t>Activity QR</a:t>
            </a:r>
          </a:p>
        </p:txBody>
      </p:sp>
      <p:grpSp>
        <p:nvGrpSpPr>
          <p:cNvPr id="16" name="QRVoidMark" descr="A large red X across the slot: the activity QR code has not been added yet."/>
          <p:cNvGrpSpPr/>
          <p:nvPr/>
        </p:nvGrpSpPr>
        <p:grpSpPr>
          <a:xfrm>
            <a:off x="6763542" y="2049620"/>
            <a:ext cx="1947612" cy="1947612"/>
            <a:chOff x="6763542" y="2049620"/>
            <a:chExt cx="1947612" cy="1947612"/>
          </a:xfrm>
        </p:grpSpPr>
        <p:cxnSp>
          <p:nvCxnSpPr>
            <p:cNvPr id="17" name="QRVoidStrokeTLBR"/>
            <p:cNvCxnSpPr/>
            <p:nvPr/>
          </p:nvCxnSpPr>
          <p:spPr>
            <a:xfrm>
              <a:off x="6763542" y="2049620"/>
              <a:ext cx="1947612" cy="1947612"/>
            </a:xfrm>
            <a:prstGeom prst="straightConnector1">
              <a:avLst/>
            </a:prstGeom>
            <a:ln w="101600" cap="rnd">
              <a:solidFill>
                <a:srgbClr val="C00000"/>
              </a:solidFill>
              <a:round/>
            </a:ln>
          </p:spPr>
        </p:cxnSp>
        <p:cxnSp>
          <p:nvCxnSpPr>
            <p:cNvPr id="18" name="QRVoidStrokeTRBL"/>
            <p:cNvCxnSpPr/>
            <p:nvPr/>
          </p:nvCxnSpPr>
          <p:spPr>
            <a:xfrm flipH="1">
              <a:off x="6763542" y="2049620"/>
              <a:ext cx="1947612" cy="1947612"/>
            </a:xfrm>
            <a:prstGeom prst="straightConnector1">
              <a:avLst/>
            </a:prstGeom>
            <a:ln w="101600" cap="rnd">
              <a:solidFill>
                <a:srgbClr val="C00000"/>
              </a:solidFill>
              <a:round/>
            </a:ln>
          </p:spPr>
        </p:cxnSp>
      </p:grpSp>
      <p:sp>
        <p:nvSpPr>
          <p:cNvPr id="12" name="TextBox 11"/>
          <p:cNvSpPr txBox="1"/>
          <p:nvPr/>
        </p:nvSpPr>
        <p:spPr>
          <a:xfrm>
            <a:off x="6743700" y="4389989"/>
            <a:ext cx="1984248" cy="685800"/>
          </a:xfrm>
          <a:prstGeom prst="rect">
            <a:avLst/>
          </a:prstGeom>
          <a:noFill/>
        </p:spPr>
        <p:txBody>
          <a:bodyPr wrap="square" lIns="18288" tIns="18288" rIns="18288" bIns="18288">
            <a:spAutoFit/>
          </a:bodyPr>
          <a:lstStyle/>
          <a:p>
            <a:pPr algn="ctr">
              <a:spcAft>
                <a:spcPts val="0"/>
              </a:spcAft>
            </a:pPr>
            <a:r>
              <a:rPr sz="1600" b="0" dirty="0">
                <a:solidFill>
                  <a:srgbClr val="555960"/>
                </a:solidFill>
              </a:rPr>
              <a:t>Team response</a:t>
            </a:r>
          </a:p>
          <a:p>
            <a:pPr algn="ctr">
              <a:spcAft>
                <a:spcPts val="0"/>
              </a:spcAft>
            </a:pPr>
            <a:r>
              <a:rPr sz="1600" b="0" dirty="0">
                <a:solidFill>
                  <a:srgbClr val="555960"/>
                </a:solidFill>
              </a:rPr>
              <a:t>Google Form</a:t>
            </a:r>
          </a:p>
        </p:txBody>
      </p:sp>
      <p:sp>
        <p:nvSpPr>
          <p:cNvPr id="13" name="FooterBand"/>
          <p:cNvSpPr/>
          <p:nvPr/>
        </p:nvSpPr>
        <p:spPr>
          <a:xfrm>
            <a:off x="274320" y="5852160"/>
            <a:ext cx="8595360" cy="566928"/>
          </a:xfrm>
          <a:prstGeom prst="rect">
            <a:avLst/>
          </a:prstGeom>
          <a:solidFill>
            <a:srgbClr val="8E6F3E"/>
          </a:solidFill>
          <a:ln>
            <a:noFill/>
          </a:ln>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r>
              <a:rPr lang="en-US" sz="2000" b="1" dirty="0">
                <a:solidFill>
                  <a:srgbClr val="FFFFFF"/>
                </a:solidFill>
              </a:rPr>
              <a:t>Work the model as a team. Then submit one response per team.</a:t>
            </a:r>
          </a:p>
        </p:txBody>
      </p:sp>
      <p:sp>
        <p:nvSpPr>
          <p:cNvPr id="14" name="KickerBadge"/>
          <p:cNvSpPr/>
          <p:nvPr/>
        </p:nvSpPr>
        <p:spPr>
          <a:xfrm>
            <a:off x="5620000" y="205000"/>
            <a:ext cx="3249680" cy="470000"/>
          </a:xfrm>
          <a:prstGeom prst="roundRect">
            <a:avLst/>
          </a:prstGeom>
          <a:solidFill>
            <a:srgbClr val="FBF8F2"/>
          </a:solidFill>
          <a:ln w="15875">
            <a:solidFill>
              <a:srgbClr val="8E6F3E"/>
            </a:solidFill>
          </a:ln>
        </p:spPr>
        <p:txBody>
          <a:bodyPr wrap="square" lIns="91440" tIns="27432" rIns="91440" bIns="27432" anchor="ctr"/>
          <a:lstStyle/>
          <a:p>
            <a:pPr algn="ctr">
              <a:buNone/>
            </a:pPr>
            <a:r>
              <a:rPr lang="en-US" b="1" i="0" dirty="0">
                <a:solidFill>
                  <a:srgbClr val="8E6F3E"/>
                </a:solidFill>
              </a:rPr>
              <a:t>TEAM ACTIVITY  ·  10 MINUTES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139696"/>
            <a:ext cx="7772400" cy="1444752"/>
          </a:xfrm>
        </p:spPr>
        <p:txBody>
          <a:bodyPr>
            <a:normAutofit/>
          </a:bodyPr>
          <a:lstStyle/>
          <a:p>
            <a:pPr algn="ctr">
              <a:buNone/>
              <a:defRPr b="0"/>
            </a:pPr>
            <a:r>
              <a:rPr lang="en-US" sz="3400" b="0" i="0" dirty="0">
                <a:solidFill>
                  <a:srgbClr val="000000"/>
                </a:solidFill>
              </a:rPr>
              <a:t>Stretch break</a:t>
            </a:r>
          </a:p>
        </p:txBody>
      </p:sp>
      <p:sp>
        <p:nvSpPr>
          <p:cNvPr id="3" name="Slide Number Placeholder 3"/>
          <p:cNvSpPr>
            <a:spLocks noGrp="1"/>
          </p:cNvSpPr>
          <p:nvPr>
            <p:ph type="sldNum" sz="quarter" idx="4"/>
          </p:nvPr>
        </p:nvSpPr>
        <p:spPr/>
        <p:txBody>
          <a:bodyPr/>
          <a:lstStyle/>
          <a:p>
            <a:fld id="{B7EB45DA-9A0D-DC49-8E02-F30A5DDC21C3}" type="slidenum">
              <a:rPr lang="en-US" smtClean="0"/>
              <a:t>28</a:t>
            </a:fld>
            <a:endParaRPr lang="en-US"/>
          </a:p>
        </p:txBody>
      </p:sp>
      <p:sp>
        <p:nvSpPr>
          <p:cNvPr id="101" name="Rule"/>
          <p:cNvSpPr/>
          <p:nvPr/>
        </p:nvSpPr>
        <p:spPr>
          <a:xfrm>
            <a:off x="3429000" y="3383280"/>
            <a:ext cx="2286000" cy="51206"/>
          </a:xfrm>
          <a:prstGeom prst="rect">
            <a:avLst/>
          </a:prstGeom>
          <a:solidFill>
            <a:srgbClr val="8E6F3E"/>
          </a:solidFill>
          <a:ln>
            <a:noFill/>
          </a:ln>
        </p:spPr>
        <p:txBody>
          <a:bodyPr wrap="square" lIns="27432" tIns="22860" rIns="27432" bIns="22860" anchor="ctr"/>
          <a:lstStyle/>
          <a:p>
            <a:pPr>
              <a:buNone/>
            </a:pP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model is not its representation</a:t>
            </a:r>
          </a:p>
        </p:txBody>
      </p:sp>
      <p:sp>
        <p:nvSpPr>
          <p:cNvPr id="3" name="Slide Number Placeholder 3"/>
          <p:cNvSpPr>
            <a:spLocks noGrp="1"/>
          </p:cNvSpPr>
          <p:nvPr>
            <p:ph type="sldNum" sz="quarter" idx="4"/>
          </p:nvPr>
        </p:nvSpPr>
        <p:spPr/>
        <p:txBody>
          <a:bodyPr/>
          <a:lstStyle/>
          <a:p>
            <a:fld id="{B7EB45DA-9A0D-DC49-8E02-F30A5DDC21C3}" type="slidenum">
              <a:rPr lang="en-US" smtClean="0"/>
              <a:t>29</a:t>
            </a:fld>
            <a:endParaRPr lang="en-US"/>
          </a:p>
        </p:txBody>
      </p:sp>
      <p:sp>
        <p:nvSpPr>
          <p:cNvPr id="6" name="Kicker"/>
          <p:cNvSpPr txBox="1"/>
          <p:nvPr/>
        </p:nvSpPr>
        <p:spPr>
          <a:xfrm>
            <a:off x="365760" y="1005840"/>
            <a:ext cx="8412480" cy="393192"/>
          </a:xfrm>
          <a:prstGeom prst="rect">
            <a:avLst/>
          </a:prstGeom>
          <a:noFill/>
        </p:spPr>
        <p:txBody>
          <a:bodyPr wrap="square" lIns="18288" tIns="18288" rIns="18288" bIns="18288">
            <a:spAutoFit/>
          </a:bodyPr>
          <a:lstStyle/>
          <a:p>
            <a:pPr algn="l">
              <a:spcAft>
                <a:spcPts val="0"/>
              </a:spcAft>
            </a:pPr>
            <a:r>
              <a:rPr sz="2000" b="1" dirty="0">
                <a:solidFill>
                  <a:srgbClr val="8E6F3E"/>
                </a:solidFill>
              </a:rPr>
              <a:t>MODEL ≠ REPRESENTATION</a:t>
            </a:r>
          </a:p>
        </p:txBody>
      </p:sp>
      <p:sp>
        <p:nvSpPr>
          <p:cNvPr id="7" name="Definitions"/>
          <p:cNvSpPr txBox="1"/>
          <p:nvPr/>
        </p:nvSpPr>
        <p:spPr>
          <a:xfrm>
            <a:off x="365760" y="1414780"/>
            <a:ext cx="8412480" cy="731520"/>
          </a:xfrm>
          <a:prstGeom prst="rect">
            <a:avLst/>
          </a:prstGeom>
          <a:noFill/>
        </p:spPr>
        <p:txBody>
          <a:bodyPr wrap="square" lIns="18288" tIns="18288" rIns="18288" bIns="18288">
            <a:spAutoFit/>
          </a:bodyPr>
          <a:lstStyle/>
          <a:p>
            <a:pPr algn="l">
              <a:spcAft>
                <a:spcPts val="600"/>
              </a:spcAft>
              <a:buNone/>
            </a:pPr>
            <a:r>
              <a:rPr lang="en-US" sz="1800" b="1" dirty="0">
                <a:solidFill>
                  <a:srgbClr val="5C4826"/>
                </a:solidFill>
              </a:rPr>
              <a:t>Model</a:t>
            </a:r>
            <a:r>
              <a:rPr lang="en-US" sz="1800" b="0" dirty="0">
                <a:solidFill>
                  <a:srgbClr val="555960"/>
                </a:solidFill>
              </a:rPr>
              <a:t xml:space="preserve"> — a purposeful reduction of some territory that preserves selected properties for engineering questions.</a:t>
            </a:r>
          </a:p>
          <a:p>
            <a:pPr algn="l">
              <a:spcAft>
                <a:spcPts val="0"/>
              </a:spcAft>
              <a:buNone/>
            </a:pPr>
            <a:r>
              <a:rPr lang="en-US" sz="1800" b="1" dirty="0">
                <a:solidFill>
                  <a:srgbClr val="5C4826"/>
                </a:solidFill>
              </a:rPr>
              <a:t>Representation</a:t>
            </a:r>
            <a:r>
              <a:rPr lang="en-US" sz="1800" b="0" dirty="0">
                <a:solidFill>
                  <a:srgbClr val="555960"/>
                </a:solidFill>
              </a:rPr>
              <a:t xml:space="preserve"> — a concrete form in which a model is inspected, manipulated, analyzed, or consumed.</a:t>
            </a:r>
          </a:p>
        </p:txBody>
      </p:sp>
      <p:sp>
        <p:nvSpPr>
          <p:cNvPr id="8" name="Card"/>
          <p:cNvSpPr/>
          <p:nvPr/>
        </p:nvSpPr>
        <p:spPr>
          <a:xfrm>
            <a:off x="3429000" y="2560320"/>
            <a:ext cx="2286000" cy="457200"/>
          </a:xfrm>
          <a:prstGeom prst="rect">
            <a:avLst/>
          </a:prstGeom>
          <a:solidFill>
            <a:srgbClr val="8E6F3E"/>
          </a:solidFill>
          <a:ln>
            <a:noFill/>
          </a:ln>
        </p:spPr>
        <p:txBody>
          <a:bodyPr wrap="square" lIns="27432" tIns="22860" rIns="27432" bIns="22860" anchor="ctr"/>
          <a:lstStyle/>
          <a:p>
            <a:pPr algn="ctr">
              <a:buNone/>
            </a:pPr>
            <a:r>
              <a:rPr lang="en-US" sz="2000" b="1" i="0" dirty="0">
                <a:solidFill>
                  <a:srgbClr val="FFFFFF"/>
                </a:solidFill>
              </a:rPr>
              <a:t>ONE MODEL</a:t>
            </a:r>
          </a:p>
        </p:txBody>
      </p:sp>
      <p:cxnSp>
        <p:nvCxnSpPr>
          <p:cNvPr id="20" name="L1"/>
          <p:cNvCxnSpPr/>
          <p:nvPr/>
        </p:nvCxnSpPr>
        <p:spPr>
          <a:xfrm flipH="1">
            <a:off x="1709760" y="3017520"/>
            <a:ext cx="2862240" cy="320040"/>
          </a:xfrm>
          <a:prstGeom prst="line">
            <a:avLst/>
          </a:prstGeom>
          <a:ln w="19050">
            <a:solidFill>
              <a:srgbClr val="C9B991"/>
            </a:solidFill>
          </a:ln>
        </p:spPr>
      </p:cxnSp>
      <p:cxnSp>
        <p:nvCxnSpPr>
          <p:cNvPr id="21" name="L2"/>
          <p:cNvCxnSpPr/>
          <p:nvPr/>
        </p:nvCxnSpPr>
        <p:spPr>
          <a:xfrm>
            <a:off x="4572000" y="3017520"/>
            <a:ext cx="0" cy="320040"/>
          </a:xfrm>
          <a:prstGeom prst="line">
            <a:avLst/>
          </a:prstGeom>
          <a:ln w="19050">
            <a:solidFill>
              <a:srgbClr val="C9B991"/>
            </a:solidFill>
          </a:ln>
        </p:spPr>
      </p:cxnSp>
      <p:cxnSp>
        <p:nvCxnSpPr>
          <p:cNvPr id="22" name="L3"/>
          <p:cNvCxnSpPr/>
          <p:nvPr/>
        </p:nvCxnSpPr>
        <p:spPr>
          <a:xfrm>
            <a:off x="4572000" y="3017520"/>
            <a:ext cx="2862240" cy="320040"/>
          </a:xfrm>
          <a:prstGeom prst="line">
            <a:avLst/>
          </a:prstGeom>
          <a:ln w="19050">
            <a:solidFill>
              <a:srgbClr val="C9B991"/>
            </a:solidFill>
          </a:ln>
        </p:spPr>
      </p:cxnSp>
      <p:sp>
        <p:nvSpPr>
          <p:cNvPr id="30" name="P1"/>
          <p:cNvSpPr/>
          <p:nvPr/>
        </p:nvSpPr>
        <p:spPr>
          <a:xfrm>
            <a:off x="365760" y="3337560"/>
            <a:ext cx="2688000" cy="2050000"/>
          </a:xfrm>
          <a:prstGeom prst="rect">
            <a:avLst/>
          </a:prstGeom>
          <a:solidFill>
            <a:srgbClr val="F5F1E8"/>
          </a:solidFill>
          <a:ln w="12700">
            <a:solidFill>
              <a:srgbClr val="C9B991"/>
            </a:solidFill>
          </a:ln>
        </p:spPr>
        <p:txBody>
          <a:bodyPr wrap="square" lIns="91440" tIns="68580" rIns="91440" bIns="68580" anchor="t"/>
          <a:lstStyle/>
          <a:p>
            <a:pPr algn="ctr">
              <a:buNone/>
            </a:pPr>
            <a:r>
              <a:rPr lang="en-US" sz="1400" b="1" dirty="0">
                <a:solidFill>
                  <a:srgbClr val="5C4826"/>
                </a:solidFill>
              </a:rPr>
              <a:t>STATE DIAGRAM</a:t>
            </a:r>
          </a:p>
        </p:txBody>
      </p:sp>
      <p:sp>
        <p:nvSpPr>
          <p:cNvPr id="31" name="N1"/>
          <p:cNvSpPr/>
          <p:nvPr/>
        </p:nvSpPr>
        <p:spPr>
          <a:xfrm>
            <a:off x="909760" y="3742560"/>
            <a:ext cx="1600000" cy="280000"/>
          </a:xfrm>
          <a:prstGeom prst="rect">
            <a:avLst/>
          </a:prstGeom>
          <a:solidFill>
            <a:srgbClr val="FBF8F2"/>
          </a:solidFill>
          <a:ln w="12700">
            <a:solidFill>
              <a:srgbClr val="C9B991"/>
            </a:solidFill>
          </a:ln>
        </p:spPr>
        <p:txBody>
          <a:bodyPr wrap="square" lIns="0" tIns="0" rIns="0" bIns="0" anchor="ctr"/>
          <a:lstStyle/>
          <a:p>
            <a:pPr algn="ctr">
              <a:buNone/>
            </a:pPr>
            <a:r>
              <a:rPr lang="en-US" sz="1400" b="0" dirty="0">
                <a:solidFill>
                  <a:srgbClr val="5C4826"/>
                </a:solidFill>
              </a:rPr>
              <a:t>staged</a:t>
            </a:r>
          </a:p>
        </p:txBody>
      </p:sp>
      <p:cxnSp>
        <p:nvCxnSpPr>
          <p:cNvPr id="32" name="A1"/>
          <p:cNvCxnSpPr/>
          <p:nvPr/>
        </p:nvCxnSpPr>
        <p:spPr>
          <a:xfrm>
            <a:off x="1709760" y="4022560"/>
            <a:ext cx="0" cy="280000"/>
          </a:xfrm>
          <a:prstGeom prst="line">
            <a:avLst/>
          </a:prstGeom>
          <a:ln w="19050">
            <a:solidFill>
              <a:srgbClr val="8E6F3E"/>
            </a:solidFill>
            <a:tailEnd type="triangle"/>
          </a:ln>
        </p:spPr>
      </p:cxnSp>
      <p:sp>
        <p:nvSpPr>
          <p:cNvPr id="33" name="N2"/>
          <p:cNvSpPr/>
          <p:nvPr/>
        </p:nvSpPr>
        <p:spPr>
          <a:xfrm>
            <a:off x="909760" y="4302560"/>
            <a:ext cx="1600000" cy="280000"/>
          </a:xfrm>
          <a:prstGeom prst="rect">
            <a:avLst/>
          </a:prstGeom>
          <a:solidFill>
            <a:srgbClr val="FBF8F2"/>
          </a:solidFill>
          <a:ln w="12700">
            <a:solidFill>
              <a:srgbClr val="C9B991"/>
            </a:solidFill>
          </a:ln>
        </p:spPr>
        <p:txBody>
          <a:bodyPr wrap="square" lIns="0" tIns="0" rIns="0" bIns="0" anchor="ctr"/>
          <a:lstStyle/>
          <a:p>
            <a:pPr algn="ctr">
              <a:buNone/>
            </a:pPr>
            <a:r>
              <a:rPr lang="en-US" sz="1400" b="0" dirty="0">
                <a:solidFill>
                  <a:srgbClr val="5C4826"/>
                </a:solidFill>
              </a:rPr>
              <a:t>published</a:t>
            </a:r>
          </a:p>
        </p:txBody>
      </p:sp>
      <p:cxnSp>
        <p:nvCxnSpPr>
          <p:cNvPr id="34" name="A2"/>
          <p:cNvCxnSpPr/>
          <p:nvPr/>
        </p:nvCxnSpPr>
        <p:spPr>
          <a:xfrm>
            <a:off x="1709760" y="4582560"/>
            <a:ext cx="0" cy="280000"/>
          </a:xfrm>
          <a:prstGeom prst="line">
            <a:avLst/>
          </a:prstGeom>
          <a:ln w="19050">
            <a:solidFill>
              <a:srgbClr val="8E6F3E"/>
            </a:solidFill>
            <a:tailEnd type="triangle"/>
          </a:ln>
        </p:spPr>
      </p:cxnSp>
      <p:sp>
        <p:nvSpPr>
          <p:cNvPr id="35" name="N3"/>
          <p:cNvSpPr/>
          <p:nvPr/>
        </p:nvSpPr>
        <p:spPr>
          <a:xfrm>
            <a:off x="909760" y="4862560"/>
            <a:ext cx="1600000" cy="280000"/>
          </a:xfrm>
          <a:prstGeom prst="rect">
            <a:avLst/>
          </a:prstGeom>
          <a:solidFill>
            <a:srgbClr val="FBF8F2"/>
          </a:solidFill>
          <a:ln w="12700">
            <a:solidFill>
              <a:srgbClr val="C9B991"/>
            </a:solidFill>
          </a:ln>
        </p:spPr>
        <p:txBody>
          <a:bodyPr wrap="square" lIns="0" tIns="0" rIns="0" bIns="0" anchor="ctr"/>
          <a:lstStyle/>
          <a:p>
            <a:pPr algn="ctr">
              <a:buNone/>
            </a:pPr>
            <a:r>
              <a:rPr lang="en-US" sz="1400" b="0" dirty="0">
                <a:solidFill>
                  <a:srgbClr val="5C4826"/>
                </a:solidFill>
              </a:rPr>
              <a:t>recorded</a:t>
            </a:r>
          </a:p>
        </p:txBody>
      </p:sp>
      <p:sp>
        <p:nvSpPr>
          <p:cNvPr id="40" name="P2"/>
          <p:cNvSpPr/>
          <p:nvPr/>
        </p:nvSpPr>
        <p:spPr>
          <a:xfrm>
            <a:off x="3228000" y="3337560"/>
            <a:ext cx="2688000" cy="2050000"/>
          </a:xfrm>
          <a:prstGeom prst="rect">
            <a:avLst/>
          </a:prstGeom>
          <a:solidFill>
            <a:srgbClr val="F5F1E8"/>
          </a:solidFill>
          <a:ln w="12700">
            <a:solidFill>
              <a:srgbClr val="C9B991"/>
            </a:solidFill>
          </a:ln>
        </p:spPr>
        <p:txBody>
          <a:bodyPr wrap="square" lIns="91440" tIns="68580" rIns="91440" bIns="68580" anchor="t"/>
          <a:lstStyle/>
          <a:p>
            <a:pPr algn="ctr">
              <a:spcAft>
                <a:spcPts val="1000"/>
              </a:spcAft>
              <a:buNone/>
            </a:pPr>
            <a:r>
              <a:rPr lang="en-US" sz="1400" b="1" dirty="0">
                <a:solidFill>
                  <a:srgbClr val="5C4826"/>
                </a:solidFill>
              </a:rPr>
              <a:t>TRANSITION TABLE</a:t>
            </a:r>
          </a:p>
          <a:p>
            <a:pPr algn="ctr">
              <a:spcAft>
                <a:spcPts val="600"/>
              </a:spcAft>
              <a:buNone/>
            </a:pPr>
            <a:r>
              <a:rPr lang="en-US" sz="1400" b="1" dirty="0">
                <a:solidFill>
                  <a:srgbClr val="8E6F3E"/>
                </a:solidFill>
              </a:rPr>
              <a:t>from  →  to</a:t>
            </a:r>
          </a:p>
          <a:p>
            <a:pPr algn="ctr">
              <a:spcAft>
                <a:spcPts val="600"/>
              </a:spcAft>
              <a:buNone/>
            </a:pPr>
            <a:r>
              <a:rPr lang="en-US" sz="1500" b="0" dirty="0">
                <a:solidFill>
                  <a:srgbClr val="5C4826"/>
                </a:solidFill>
              </a:rPr>
              <a:t>staged  →  published</a:t>
            </a:r>
          </a:p>
          <a:p>
            <a:pPr algn="ctr">
              <a:spcAft>
                <a:spcPts val="1000"/>
              </a:spcAft>
              <a:buNone/>
            </a:pPr>
            <a:r>
              <a:rPr lang="en-US" sz="1500" b="0" dirty="0">
                <a:solidFill>
                  <a:srgbClr val="5C4826"/>
                </a:solidFill>
              </a:rPr>
              <a:t>published  →  recorded</a:t>
            </a:r>
          </a:p>
          <a:p>
            <a:pPr algn="ctr">
              <a:spcAft>
                <a:spcPts val="0"/>
              </a:spcAft>
              <a:buNone/>
            </a:pPr>
            <a:r>
              <a:rPr lang="en-US" sz="1400" b="0" i="1" dirty="0">
                <a:solidFill>
                  <a:srgbClr val="555960"/>
                </a:solidFill>
              </a:rPr>
              <a:t>no other rows</a:t>
            </a:r>
          </a:p>
        </p:txBody>
      </p:sp>
      <p:sp>
        <p:nvSpPr>
          <p:cNvPr id="41" name="P3"/>
          <p:cNvSpPr/>
          <p:nvPr/>
        </p:nvSpPr>
        <p:spPr>
          <a:xfrm>
            <a:off x="6090240" y="3337560"/>
            <a:ext cx="2688000" cy="2050000"/>
          </a:xfrm>
          <a:prstGeom prst="rect">
            <a:avLst/>
          </a:prstGeom>
          <a:solidFill>
            <a:srgbClr val="F5F1E8"/>
          </a:solidFill>
          <a:ln w="12700">
            <a:solidFill>
              <a:srgbClr val="C9B991"/>
            </a:solidFill>
          </a:ln>
        </p:spPr>
        <p:txBody>
          <a:bodyPr wrap="square" lIns="137160" tIns="68580" rIns="91440" bIns="68580" anchor="t"/>
          <a:lstStyle/>
          <a:p>
            <a:pPr algn="ctr">
              <a:spcAft>
                <a:spcPts val="1000"/>
              </a:spcAft>
              <a:buNone/>
            </a:pPr>
            <a:r>
              <a:rPr lang="en-US" sz="1400" b="1" dirty="0">
                <a:solidFill>
                  <a:srgbClr val="5C4826"/>
                </a:solidFill>
              </a:rPr>
              <a:t>STRUCTURED TEXT</a:t>
            </a:r>
          </a:p>
          <a:p>
            <a:pPr algn="l">
              <a:spcAft>
                <a:spcPts val="600"/>
              </a:spcAft>
              <a:buNone/>
            </a:pPr>
            <a:r>
              <a:rPr lang="en-US" sz="1500" b="0" dirty="0">
                <a:solidFill>
                  <a:srgbClr val="5C4826"/>
                </a:solidFill>
              </a:rPr>
              <a:t>transitions:</a:t>
            </a:r>
          </a:p>
          <a:p>
            <a:pPr algn="l">
              <a:spcAft>
                <a:spcPts val="600"/>
              </a:spcAft>
              <a:buNone/>
            </a:pPr>
            <a:r>
              <a:rPr lang="en-US" sz="1500" b="0" dirty="0">
                <a:solidFill>
                  <a:srgbClr val="5C4826"/>
                </a:solidFill>
              </a:rPr>
              <a:t xml:space="preserve">  staged: published</a:t>
            </a:r>
          </a:p>
          <a:p>
            <a:pPr algn="l">
              <a:spcAft>
                <a:spcPts val="1000"/>
              </a:spcAft>
              <a:buNone/>
            </a:pPr>
            <a:r>
              <a:rPr lang="en-US" sz="1500" b="0" dirty="0">
                <a:solidFill>
                  <a:srgbClr val="5C4826"/>
                </a:solidFill>
              </a:rPr>
              <a:t xml:space="preserve">  published: recorded</a:t>
            </a:r>
          </a:p>
          <a:p>
            <a:pPr algn="ctr">
              <a:spcAft>
                <a:spcPts val="0"/>
              </a:spcAft>
              <a:buNone/>
            </a:pPr>
            <a:r>
              <a:rPr lang="en-US" sz="1400" b="0" i="1" dirty="0">
                <a:solidFill>
                  <a:srgbClr val="555960"/>
                </a:solidFill>
              </a:rPr>
              <a:t>nothing else declared</a:t>
            </a:r>
          </a:p>
        </p:txBody>
      </p:sp>
      <p:sp>
        <p:nvSpPr>
          <p:cNvPr id="150" name="Ital"/>
          <p:cNvSpPr txBox="1"/>
          <p:nvPr/>
        </p:nvSpPr>
        <p:spPr>
          <a:xfrm>
            <a:off x="274320" y="5480000"/>
            <a:ext cx="8595360" cy="330000"/>
          </a:xfrm>
          <a:prstGeom prst="rect">
            <a:avLst/>
          </a:prstGeom>
          <a:noFill/>
          <a:ln>
            <a:noFill/>
          </a:ln>
        </p:spPr>
        <p:txBody>
          <a:bodyPr wrap="square" lIns="0" tIns="0" rIns="0" bIns="0" anchor="t"/>
          <a:lstStyle/>
          <a:p>
            <a:pPr algn="ctr">
              <a:buNone/>
            </a:pPr>
            <a:r>
              <a:rPr lang="en-US" sz="1700" b="0" i="1" dirty="0">
                <a:solidFill>
                  <a:srgbClr val="555960"/>
                </a:solidFill>
              </a:rPr>
              <a:t>The property — publication precedes the record — is statable in every one of them.</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buNone/>
            </a:pPr>
            <a:r>
              <a:rPr lang="en-US" sz="2000" b="1" i="0" dirty="0">
                <a:solidFill>
                  <a:srgbClr val="FFFFFF"/>
                </a:solidFill>
              </a:rPr>
              <a:t>Three representations. One model.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Representation changes interpretation</a:t>
            </a:r>
          </a:p>
        </p:txBody>
      </p:sp>
      <p:sp>
        <p:nvSpPr>
          <p:cNvPr id="3" name="Slide Number Placeholder 3"/>
          <p:cNvSpPr>
            <a:spLocks noGrp="1"/>
          </p:cNvSpPr>
          <p:nvPr>
            <p:ph type="sldNum" sz="quarter" idx="4"/>
          </p:nvPr>
        </p:nvSpPr>
        <p:spPr/>
        <p:txBody>
          <a:bodyPr/>
          <a:lstStyle/>
          <a:p>
            <a:fld id="{B7EB45DA-9A0D-DC49-8E02-F30A5DDC21C3}" type="slidenum">
              <a:rPr lang="en-US" smtClean="0"/>
              <a:t>30</a:t>
            </a:fld>
            <a:endParaRPr lang="en-US"/>
          </a:p>
        </p:txBody>
      </p:sp>
      <p:sp>
        <p:nvSpPr>
          <p:cNvPr id="6" name="PCard"/>
          <p:cNvSpPr/>
          <p:nvPr/>
        </p:nvSpPr>
        <p:spPr>
          <a:xfrm>
            <a:off x="365760" y="1097280"/>
            <a:ext cx="8412480" cy="822960"/>
          </a:xfrm>
          <a:prstGeom prst="rect">
            <a:avLst/>
          </a:prstGeom>
          <a:solidFill>
            <a:srgbClr val="F5F1E8"/>
          </a:solidFill>
          <a:ln w="12700">
            <a:solidFill>
              <a:srgbClr val="C9B991"/>
            </a:solidFill>
          </a:ln>
        </p:spPr>
        <p:txBody>
          <a:bodyPr wrap="square" lIns="91440" tIns="45720" rIns="91440" bIns="45720" anchor="ctr"/>
          <a:lstStyle/>
          <a:p>
            <a:pPr algn="ctr">
              <a:spcAft>
                <a:spcPts val="400"/>
              </a:spcAft>
              <a:buNone/>
            </a:pPr>
            <a:r>
              <a:rPr lang="en-US" sz="2000" b="1" dirty="0">
                <a:solidFill>
                  <a:srgbClr val="5C4826"/>
                </a:solidFill>
              </a:rPr>
              <a:t>P( agent correctly interprets claim c  |  representation r )</a:t>
            </a:r>
          </a:p>
          <a:p>
            <a:pPr algn="ctr">
              <a:spcAft>
                <a:spcPts val="0"/>
              </a:spcAft>
              <a:buNone/>
            </a:pPr>
            <a:r>
              <a:rPr lang="en-US" sz="1400" b="0" i="1" dirty="0">
                <a:solidFill>
                  <a:srgbClr val="555960"/>
                </a:solidFill>
              </a:rPr>
              <a:t>one intended claim c — representations differ in how reliably a reader recovers it</a:t>
            </a:r>
          </a:p>
        </p:txBody>
      </p:sp>
      <p:sp>
        <p:nvSpPr>
          <p:cNvPr id="7" name="RA"/>
          <p:cNvSpPr/>
          <p:nvPr/>
        </p:nvSpPr>
        <p:spPr>
          <a:xfrm>
            <a:off x="365760" y="2286000"/>
            <a:ext cx="3657600" cy="1143000"/>
          </a:xfrm>
          <a:prstGeom prst="rect">
            <a:avLst/>
          </a:prstGeom>
          <a:solidFill>
            <a:srgbClr val="F5F1E8"/>
          </a:solidFill>
          <a:ln w="12700">
            <a:solidFill>
              <a:srgbClr val="C9B991"/>
            </a:solidFill>
          </a:ln>
        </p:spPr>
        <p:txBody>
          <a:bodyPr wrap="square" lIns="91440" tIns="68580" rIns="91440" bIns="68580" anchor="t"/>
          <a:lstStyle/>
          <a:p>
            <a:pPr algn="ctr">
              <a:spcAft>
                <a:spcPts val="800"/>
              </a:spcAft>
              <a:buNone/>
            </a:pPr>
            <a:r>
              <a:rPr lang="en-US" sz="1400" b="1" dirty="0">
                <a:solidFill>
                  <a:srgbClr val="5C4826"/>
                </a:solidFill>
              </a:rPr>
              <a:t>REPRESENTATION A — TYPED RELATION</a:t>
            </a:r>
          </a:p>
          <a:p>
            <a:pPr algn="ctr">
              <a:spcAft>
                <a:spcPts val="400"/>
              </a:spcAft>
              <a:buNone/>
            </a:pPr>
            <a:r>
              <a:rPr lang="en-US" sz="1500" b="0" dirty="0">
                <a:solidFill>
                  <a:srgbClr val="5C4826"/>
                </a:solidFill>
              </a:rPr>
              <a:t>staged → published → recorded</a:t>
            </a:r>
          </a:p>
          <a:p>
            <a:pPr algn="ctr">
              <a:spcAft>
                <a:spcPts val="0"/>
              </a:spcAft>
              <a:buNone/>
            </a:pPr>
            <a:r>
              <a:rPr lang="en-US" sz="1400" b="0" i="1" dirty="0">
                <a:solidFill>
                  <a:srgbClr val="555960"/>
                </a:solidFill>
              </a:rPr>
              <a:t>no other transitions</a:t>
            </a:r>
          </a:p>
        </p:txBody>
      </p:sp>
      <p:sp>
        <p:nvSpPr>
          <p:cNvPr id="8" name="RB"/>
          <p:cNvSpPr/>
          <p:nvPr/>
        </p:nvSpPr>
        <p:spPr>
          <a:xfrm>
            <a:off x="365760" y="3749040"/>
            <a:ext cx="3657600" cy="1143000"/>
          </a:xfrm>
          <a:prstGeom prst="rect">
            <a:avLst/>
          </a:prstGeom>
          <a:solidFill>
            <a:srgbClr val="F5F1E8"/>
          </a:solidFill>
          <a:ln w="12700">
            <a:solidFill>
              <a:srgbClr val="C9B991"/>
            </a:solidFill>
          </a:ln>
        </p:spPr>
        <p:txBody>
          <a:bodyPr wrap="square" lIns="91440" tIns="68580" rIns="91440" bIns="68580" anchor="t"/>
          <a:lstStyle/>
          <a:p>
            <a:pPr algn="ctr">
              <a:spcAft>
                <a:spcPts val="800"/>
              </a:spcAft>
              <a:buNone/>
            </a:pPr>
            <a:r>
              <a:rPr lang="en-US" sz="1400" b="1" dirty="0">
                <a:solidFill>
                  <a:srgbClr val="5C4826"/>
                </a:solidFill>
              </a:rPr>
              <a:t>REPRESENTATION B — INFORMAL PROSE</a:t>
            </a:r>
          </a:p>
          <a:p>
            <a:pPr algn="ctr">
              <a:spcAft>
                <a:spcPts val="0"/>
              </a:spcAft>
              <a:buNone/>
            </a:pPr>
            <a:r>
              <a:rPr lang="en-US" sz="1500" b="0" i="1" dirty="0">
                <a:solidFill>
                  <a:srgbClr val="5C4826"/>
                </a:solidFill>
              </a:rPr>
              <a:t>“Files usually get staged before they show up in the database.”</a:t>
            </a:r>
          </a:p>
        </p:txBody>
      </p:sp>
      <p:sp>
        <p:nvSpPr>
          <p:cNvPr id="9" name="RD"/>
          <p:cNvSpPr/>
          <p:nvPr/>
        </p:nvSpPr>
        <p:spPr>
          <a:xfrm>
            <a:off x="6858000" y="3200400"/>
            <a:ext cx="1828800" cy="822960"/>
          </a:xfrm>
          <a:prstGeom prst="rect">
            <a:avLst/>
          </a:prstGeom>
          <a:solidFill>
            <a:srgbClr val="8E6F3E"/>
          </a:solidFill>
          <a:ln>
            <a:noFill/>
          </a:ln>
        </p:spPr>
        <p:txBody>
          <a:bodyPr wrap="square" lIns="27432" tIns="22860" rIns="27432" bIns="22860" anchor="ctr"/>
          <a:lstStyle/>
          <a:p>
            <a:pPr algn="ctr">
              <a:spcAft>
                <a:spcPts val="200"/>
              </a:spcAft>
              <a:buNone/>
            </a:pPr>
            <a:r>
              <a:rPr lang="en-US" sz="2000" b="1" i="0" dirty="0">
                <a:solidFill>
                  <a:srgbClr val="FFFFFF"/>
                </a:solidFill>
              </a:rPr>
              <a:t>READER</a:t>
            </a:r>
          </a:p>
          <a:p>
            <a:pPr algn="ctr">
              <a:spcAft>
                <a:spcPts val="0"/>
              </a:spcAft>
              <a:buNone/>
            </a:pPr>
            <a:r>
              <a:rPr lang="en-US" sz="1400" b="0" i="0" dirty="0">
                <a:solidFill>
                  <a:srgbClr val="FFFFFF"/>
                </a:solidFill>
              </a:rPr>
              <a:t>human or agent</a:t>
            </a:r>
          </a:p>
        </p:txBody>
      </p:sp>
      <p:cxnSp>
        <p:nvCxnSpPr>
          <p:cNvPr id="20" name="AR1"/>
          <p:cNvCxnSpPr/>
          <p:nvPr/>
        </p:nvCxnSpPr>
        <p:spPr>
          <a:xfrm>
            <a:off x="4023360" y="2857500"/>
            <a:ext cx="2834640" cy="548640"/>
          </a:xfrm>
          <a:prstGeom prst="line">
            <a:avLst/>
          </a:prstGeom>
          <a:ln w="28575">
            <a:solidFill>
              <a:srgbClr val="8E6F3E"/>
            </a:solidFill>
            <a:tailEnd type="triangle"/>
          </a:ln>
        </p:spPr>
      </p:cxnSp>
      <p:cxnSp>
        <p:nvCxnSpPr>
          <p:cNvPr id="21" name="AR2"/>
          <p:cNvCxnSpPr/>
          <p:nvPr/>
        </p:nvCxnSpPr>
        <p:spPr>
          <a:xfrm flipV="1">
            <a:off x="4023360" y="3817620"/>
            <a:ext cx="2834640" cy="502920"/>
          </a:xfrm>
          <a:prstGeom prst="line">
            <a:avLst/>
          </a:prstGeom>
          <a:ln w="28575">
            <a:solidFill>
              <a:srgbClr val="8E6F3E"/>
            </a:solidFill>
            <a:tailEnd type="triangle"/>
          </a:ln>
        </p:spPr>
      </p:cxnSp>
      <p:sp>
        <p:nvSpPr>
          <p:cNvPr id="22" name="AN1"/>
          <p:cNvSpPr txBox="1"/>
          <p:nvPr/>
        </p:nvSpPr>
        <p:spPr>
          <a:xfrm>
            <a:off x="4206240" y="2505710"/>
            <a:ext cx="2560320" cy="300000"/>
          </a:xfrm>
          <a:prstGeom prst="rect">
            <a:avLst/>
          </a:prstGeom>
          <a:noFill/>
        </p:spPr>
        <p:txBody>
          <a:bodyPr wrap="square" lIns="0" tIns="0" rIns="0" bIns="0" anchor="t"/>
          <a:lstStyle/>
          <a:p>
            <a:pPr algn="ctr">
              <a:buNone/>
            </a:pPr>
            <a:r>
              <a:rPr lang="en-US" sz="1400" b="0" dirty="0">
                <a:solidFill>
                  <a:srgbClr val="555960"/>
                </a:solidFill>
              </a:rPr>
              <a:t>P(interpret c) higher</a:t>
            </a:r>
          </a:p>
        </p:txBody>
      </p:sp>
      <p:sp>
        <p:nvSpPr>
          <p:cNvPr id="23" name="AN2"/>
          <p:cNvSpPr txBox="1"/>
          <p:nvPr/>
        </p:nvSpPr>
        <p:spPr>
          <a:xfrm>
            <a:off x="4206240" y="4404360"/>
            <a:ext cx="2560320" cy="300000"/>
          </a:xfrm>
          <a:prstGeom prst="rect">
            <a:avLst/>
          </a:prstGeom>
          <a:noFill/>
        </p:spPr>
        <p:txBody>
          <a:bodyPr wrap="square" lIns="0" tIns="0" rIns="0" bIns="0" anchor="t"/>
          <a:lstStyle/>
          <a:p>
            <a:pPr algn="ctr">
              <a:buNone/>
            </a:pPr>
            <a:r>
              <a:rPr lang="en-US" sz="1400" b="0" dirty="0">
                <a:solidFill>
                  <a:srgbClr val="555960"/>
                </a:solidFill>
              </a:rPr>
              <a:t>P(interpret c) lower</a:t>
            </a:r>
          </a:p>
        </p:txBody>
      </p:sp>
      <p:sp>
        <p:nvSpPr>
          <p:cNvPr id="24" name="Couplet"/>
          <p:cNvSpPr txBox="1"/>
          <p:nvPr/>
        </p:nvSpPr>
        <p:spPr>
          <a:xfrm>
            <a:off x="365760" y="5029200"/>
            <a:ext cx="8412480" cy="731520"/>
          </a:xfrm>
          <a:prstGeom prst="rect">
            <a:avLst/>
          </a:prstGeom>
          <a:noFill/>
        </p:spPr>
        <p:txBody>
          <a:bodyPr wrap="square" lIns="18288" tIns="18288" rIns="18288" bIns="18288">
            <a:spAutoFit/>
          </a:bodyPr>
          <a:lstStyle/>
          <a:p>
            <a:pPr algn="ctr">
              <a:spcAft>
                <a:spcPts val="400"/>
              </a:spcAft>
              <a:buNone/>
            </a:pPr>
            <a:r>
              <a:rPr lang="en-US" sz="1800" b="1" dirty="0">
                <a:solidFill>
                  <a:srgbClr val="5C4826"/>
                </a:solidFill>
              </a:rPr>
              <a:t>Reduce freedom of interpretation</a:t>
            </a:r>
            <a:r>
              <a:rPr lang="en-US" sz="1800" b="0" dirty="0">
                <a:solidFill>
                  <a:srgbClr val="555960"/>
                </a:solidFill>
              </a:rPr>
              <a:t xml:space="preserve"> where meaning is consequential.</a:t>
            </a:r>
          </a:p>
          <a:p>
            <a:pPr algn="ctr">
              <a:spcAft>
                <a:spcPts val="0"/>
              </a:spcAft>
              <a:buNone/>
            </a:pPr>
            <a:r>
              <a:rPr lang="en-US" sz="1800" b="1" dirty="0">
                <a:solidFill>
                  <a:srgbClr val="5C4826"/>
                </a:solidFill>
              </a:rPr>
              <a:t>Preserve freedom of realization</a:t>
            </a:r>
            <a:r>
              <a:rPr lang="en-US" sz="1800" b="0" dirty="0">
                <a:solidFill>
                  <a:srgbClr val="555960"/>
                </a:solidFill>
              </a:rPr>
              <a:t xml:space="preserve"> where it is not.</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buNone/>
            </a:pPr>
            <a:r>
              <a:rPr lang="en-US" sz="2000" b="1" i="0" dirty="0">
                <a:solidFill>
                  <a:srgbClr val="FFFFFF"/>
                </a:solidFill>
              </a:rPr>
              <a:t>The fourth question — Quality — just became concrete.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Activity: Interpret</a:t>
            </a:r>
            <a:endParaRPr dirty="0"/>
          </a:p>
        </p:txBody>
      </p:sp>
      <p:sp>
        <p:nvSpPr>
          <p:cNvPr id="4" name="Slide Number Placeholder 3"/>
          <p:cNvSpPr>
            <a:spLocks noGrp="1"/>
          </p:cNvSpPr>
          <p:nvPr>
            <p:ph type="sldNum" sz="quarter" idx="4"/>
          </p:nvPr>
        </p:nvSpPr>
        <p:spPr/>
        <p:txBody>
          <a:bodyPr/>
          <a:lstStyle/>
          <a:p>
            <a:fld id="{B7EB45DA-9A0D-DC49-8E02-F30A5DDC21C3}" type="slidenum">
              <a:rPr lang="en-US" smtClean="0"/>
              <a:t>31</a:t>
            </a:fld>
            <a:endParaRPr lang="en-US"/>
          </a:p>
        </p:txBody>
      </p:sp>
      <p:sp>
        <p:nvSpPr>
          <p:cNvPr id="5" name="TextBox 4"/>
          <p:cNvSpPr txBox="1"/>
          <p:nvPr/>
        </p:nvSpPr>
        <p:spPr>
          <a:xfrm>
            <a:off x="365760" y="932688"/>
            <a:ext cx="8412480" cy="590931"/>
          </a:xfrm>
          <a:prstGeom prst="rect">
            <a:avLst/>
          </a:prstGeom>
          <a:noFill/>
        </p:spPr>
        <p:txBody>
          <a:bodyPr wrap="square" lIns="18288" tIns="18288" rIns="18288" bIns="18288">
            <a:spAutoFit/>
          </a:bodyPr>
          <a:lstStyle/>
          <a:p>
            <a:r>
              <a:rPr lang="en-US" dirty="0"/>
              <a:t>For each item: what model does this representation appear to express, what claim does it make, and what remains ambiguous?</a:t>
            </a:r>
            <a:endParaRPr sz="1800" b="0" dirty="0">
              <a:solidFill>
                <a:srgbClr val="555960"/>
              </a:solidFill>
            </a:endParaRPr>
          </a:p>
        </p:txBody>
      </p:sp>
      <p:sp>
        <p:nvSpPr>
          <p:cNvPr id="6" name="TextBox 5"/>
          <p:cNvSpPr txBox="1"/>
          <p:nvPr/>
        </p:nvSpPr>
        <p:spPr>
          <a:xfrm>
            <a:off x="365760" y="1645920"/>
            <a:ext cx="6080760" cy="393192"/>
          </a:xfrm>
          <a:prstGeom prst="rect">
            <a:avLst/>
          </a:prstGeom>
          <a:noFill/>
        </p:spPr>
        <p:txBody>
          <a:bodyPr wrap="square" lIns="18288" tIns="18288" rIns="18288" bIns="18288">
            <a:spAutoFit/>
          </a:bodyPr>
          <a:lstStyle/>
          <a:p>
            <a:pPr algn="l">
              <a:spcAft>
                <a:spcPts val="0"/>
              </a:spcAft>
            </a:pPr>
            <a:r>
              <a:rPr sz="2000" b="1" dirty="0">
                <a:solidFill>
                  <a:srgbClr val="8E6F3E"/>
                </a:solidFill>
              </a:rPr>
              <a:t>ONE DRAWING, TWO SEMANTICS</a:t>
            </a:r>
          </a:p>
        </p:txBody>
      </p:sp>
      <p:sp>
        <p:nvSpPr>
          <p:cNvPr id="7" name="Rectangle 6"/>
          <p:cNvSpPr/>
          <p:nvPr/>
        </p:nvSpPr>
        <p:spPr>
          <a:xfrm>
            <a:off x="365760" y="2048256"/>
            <a:ext cx="6080760" cy="1755648"/>
          </a:xfrm>
          <a:prstGeom prst="rect">
            <a:avLst/>
          </a:prstGeom>
          <a:solidFill>
            <a:srgbClr val="F5F1E8"/>
          </a:solidFill>
          <a:ln w="12700">
            <a:solidFill>
              <a:srgbClr val="C9B991"/>
            </a:solidFill>
          </a:ln>
        </p:spPr>
        <p:txBody>
          <a:bodyPr wrap="square" lIns="128016" tIns="91440" rIns="118872" bIns="91440" rtlCol="0" anchor="ctr"/>
          <a:lstStyle/>
          <a:p>
            <a:endParaRPr lang="en-US"/>
          </a:p>
        </p:txBody>
      </p:sp>
      <p:sp>
        <p:nvSpPr>
          <p:cNvPr id="16" name="C1"/>
          <p:cNvSpPr/>
          <p:nvPr/>
        </p:nvSpPr>
        <p:spPr>
          <a:xfrm>
            <a:off x="626140" y="2276856"/>
            <a:ext cx="2680000" cy="1300000"/>
          </a:xfrm>
          <a:prstGeom prst="rect">
            <a:avLst/>
          </a:prstGeom>
          <a:solidFill>
            <a:srgbClr val="FFFFFF"/>
          </a:solidFill>
          <a:ln w="12700">
            <a:solidFill>
              <a:srgbClr val="C9B991"/>
            </a:solidFill>
          </a:ln>
        </p:spPr>
        <p:txBody>
          <a:bodyPr wrap="square" lIns="68580" tIns="68580" rIns="68580" bIns="68580" anchor="t"/>
          <a:lstStyle/>
          <a:p>
            <a:pPr algn="ctr">
              <a:spcAft>
                <a:spcPts val="600"/>
              </a:spcAft>
              <a:buNone/>
            </a:pPr>
            <a:r>
              <a:rPr lang="en-US" sz="2400" b="1" dirty="0">
                <a:solidFill>
                  <a:srgbClr val="5C4826"/>
                </a:solidFill>
              </a:rPr>
              <a:t>A → B</a:t>
            </a:r>
          </a:p>
          <a:p>
            <a:pPr algn="ctr">
              <a:spcAft>
                <a:spcPts val="200"/>
              </a:spcAft>
              <a:buNone/>
            </a:pPr>
            <a:r>
              <a:rPr lang="en-US" sz="1400" b="0" i="1" dirty="0">
                <a:solidFill>
                  <a:srgbClr val="555960"/>
                </a:solidFill>
              </a:rPr>
              <a:t>the arrow means: A may call B</a:t>
            </a:r>
          </a:p>
          <a:p>
            <a:pPr algn="ctr">
              <a:spcAft>
                <a:spcPts val="0"/>
              </a:spcAft>
              <a:buNone/>
            </a:pPr>
            <a:r>
              <a:rPr lang="en-US" sz="1400" b="0" dirty="0">
                <a:solidFill>
                  <a:srgbClr val="555960"/>
                </a:solidFill>
              </a:rPr>
              <a:t>(a design decision)</a:t>
            </a:r>
          </a:p>
        </p:txBody>
      </p:sp>
      <p:sp>
        <p:nvSpPr>
          <p:cNvPr id="17" name="C2"/>
          <p:cNvSpPr/>
          <p:nvPr/>
        </p:nvSpPr>
        <p:spPr>
          <a:xfrm>
            <a:off x="3506140" y="2276856"/>
            <a:ext cx="2680000" cy="1300000"/>
          </a:xfrm>
          <a:prstGeom prst="rect">
            <a:avLst/>
          </a:prstGeom>
          <a:solidFill>
            <a:srgbClr val="FFFFFF"/>
          </a:solidFill>
          <a:ln w="12700">
            <a:solidFill>
              <a:srgbClr val="C9B991"/>
            </a:solidFill>
          </a:ln>
        </p:spPr>
        <p:txBody>
          <a:bodyPr wrap="square" lIns="68580" tIns="68580" rIns="68580" bIns="68580" anchor="t"/>
          <a:lstStyle/>
          <a:p>
            <a:pPr algn="ctr">
              <a:spcAft>
                <a:spcPts val="600"/>
              </a:spcAft>
              <a:buNone/>
            </a:pPr>
            <a:r>
              <a:rPr lang="en-US" sz="2400" b="1" dirty="0">
                <a:solidFill>
                  <a:srgbClr val="5C4826"/>
                </a:solidFill>
              </a:rPr>
              <a:t>A → B</a:t>
            </a:r>
          </a:p>
          <a:p>
            <a:pPr algn="ctr">
              <a:spcAft>
                <a:spcPts val="200"/>
              </a:spcAft>
              <a:buNone/>
            </a:pPr>
            <a:r>
              <a:rPr lang="en-US" sz="1400" b="0" i="1" dirty="0">
                <a:solidFill>
                  <a:srgbClr val="555960"/>
                </a:solidFill>
              </a:rPr>
              <a:t>the arrow means: A was observed calling B</a:t>
            </a:r>
          </a:p>
          <a:p>
            <a:pPr algn="ctr">
              <a:spcAft>
                <a:spcPts val="0"/>
              </a:spcAft>
              <a:buNone/>
            </a:pPr>
            <a:r>
              <a:rPr lang="en-US" sz="1400" b="0" dirty="0">
                <a:solidFill>
                  <a:srgbClr val="555960"/>
                </a:solidFill>
              </a:rPr>
              <a:t>(a runtime observation)</a:t>
            </a:r>
          </a:p>
        </p:txBody>
      </p:sp>
      <p:sp>
        <p:nvSpPr>
          <p:cNvPr id="8" name="TextBox 7"/>
          <p:cNvSpPr txBox="1"/>
          <p:nvPr/>
        </p:nvSpPr>
        <p:spPr>
          <a:xfrm>
            <a:off x="365760" y="3895344"/>
            <a:ext cx="6080760" cy="393192"/>
          </a:xfrm>
          <a:prstGeom prst="rect">
            <a:avLst/>
          </a:prstGeom>
          <a:noFill/>
        </p:spPr>
        <p:txBody>
          <a:bodyPr wrap="square" lIns="18288" tIns="18288" rIns="18288" bIns="18288">
            <a:spAutoFit/>
          </a:bodyPr>
          <a:lstStyle/>
          <a:p>
            <a:pPr algn="l">
              <a:spcAft>
                <a:spcPts val="0"/>
              </a:spcAft>
            </a:pPr>
            <a:r>
              <a:rPr sz="2000" b="1" dirty="0">
                <a:solidFill>
                  <a:srgbClr val="8E6F3E"/>
                </a:solidFill>
              </a:rPr>
              <a:t>TWO REPRESENTATIONS, ONE INTENDED MODEL</a:t>
            </a:r>
          </a:p>
        </p:txBody>
      </p:sp>
      <p:sp>
        <p:nvSpPr>
          <p:cNvPr id="9" name="Rectangle 8"/>
          <p:cNvSpPr/>
          <p:nvPr/>
        </p:nvSpPr>
        <p:spPr>
          <a:xfrm>
            <a:off x="365760" y="4306824"/>
            <a:ext cx="6080760" cy="1389888"/>
          </a:xfrm>
          <a:prstGeom prst="rect">
            <a:avLst/>
          </a:prstGeom>
          <a:solidFill>
            <a:srgbClr val="F5F1E8"/>
          </a:solidFill>
          <a:ln w="12700">
            <a:solidFill>
              <a:srgbClr val="C9B991"/>
            </a:solidFill>
          </a:ln>
        </p:spPr>
        <p:style>
          <a:lnRef idx="1">
            <a:schemeClr val="accent1"/>
          </a:lnRef>
          <a:fillRef idx="3">
            <a:schemeClr val="accent1"/>
          </a:fillRef>
          <a:effectRef idx="2">
            <a:schemeClr val="accent1"/>
          </a:effectRef>
          <a:fontRef idx="minor">
            <a:schemeClr val="lt1"/>
          </a:fontRef>
        </p:style>
        <p:txBody>
          <a:bodyPr wrap="square" lIns="128016" tIns="91440" rIns="118872" bIns="91440" rtlCol="0" anchor="ctr"/>
          <a:lstStyle/>
          <a:p>
            <a:pPr algn="l">
              <a:spcAft>
                <a:spcPts val="1600"/>
              </a:spcAft>
              <a:buNone/>
            </a:pPr>
            <a:r>
              <a:rPr lang="en-US" sz="1800" b="0" dirty="0">
                <a:solidFill>
                  <a:srgbClr val="5C4826"/>
                </a:solidFill>
              </a:rPr>
              <a:t>You also receive two different representations intended to express the same model.</a:t>
            </a:r>
          </a:p>
          <a:p>
            <a:pPr algn="l">
              <a:spcAft>
                <a:spcPts val="0"/>
              </a:spcAft>
              <a:buNone/>
            </a:pPr>
            <a:r>
              <a:rPr lang="en-US" sz="1800" b="0" dirty="0">
                <a:solidFill>
                  <a:srgbClr val="5C4826"/>
                </a:solidFill>
              </a:rPr>
              <a:t>Do they? What claim survives in both? What remains ambiguous in each?</a:t>
            </a:r>
          </a:p>
        </p:txBody>
      </p:sp>
      <p:sp>
        <p:nvSpPr>
          <p:cNvPr id="15" name="QRPlaceholder" descr="Dashed outline marking the slot where the activity's QR code will go."/>
          <p:cNvSpPr/>
          <p:nvPr/>
        </p:nvSpPr>
        <p:spPr>
          <a:xfrm>
            <a:off x="6605016" y="1891094"/>
            <a:ext cx="2264664" cy="2264664"/>
          </a:xfrm>
          <a:prstGeom prst="rect">
            <a:avLst/>
          </a:prstGeom>
          <a:solidFill>
            <a:srgbClr val="FBF8F2"/>
          </a:solidFill>
          <a:ln w="15875">
            <a:solidFill>
              <a:srgbClr val="C9B991"/>
            </a:solidFill>
            <a:prstDash val="dash"/>
          </a:ln>
        </p:spPr>
        <p:txBody>
          <a:bodyPr wrap="square" lIns="91440" tIns="91440" rIns="91440" bIns="91440" anchor="b"/>
          <a:lstStyle/>
          <a:p>
            <a:pPr algn="ctr">
              <a:buNone/>
            </a:pPr>
            <a:r>
              <a:rPr lang="en-US" sz="1800" b="0" i="0" dirty="0">
                <a:solidFill>
                  <a:srgbClr val="555960"/>
                </a:solidFill>
              </a:rPr>
              <a:t>Activity QR</a:t>
            </a:r>
          </a:p>
        </p:txBody>
      </p:sp>
      <p:grpSp>
        <p:nvGrpSpPr>
          <p:cNvPr id="18" name="QRVoidMark" descr="A large red X across the slot: the activity QR code has not been added yet."/>
          <p:cNvGrpSpPr/>
          <p:nvPr/>
        </p:nvGrpSpPr>
        <p:grpSpPr>
          <a:xfrm>
            <a:off x="6763542" y="2049620"/>
            <a:ext cx="1947612" cy="1947612"/>
            <a:chOff x="6763542" y="2049620"/>
            <a:chExt cx="1947612" cy="1947612"/>
          </a:xfrm>
        </p:grpSpPr>
        <p:cxnSp>
          <p:nvCxnSpPr>
            <p:cNvPr id="19" name="QRVoidStrokeTLBR"/>
            <p:cNvCxnSpPr/>
            <p:nvPr/>
          </p:nvCxnSpPr>
          <p:spPr>
            <a:xfrm>
              <a:off x="6763542" y="2049620"/>
              <a:ext cx="1947612" cy="1947612"/>
            </a:xfrm>
            <a:prstGeom prst="straightConnector1">
              <a:avLst/>
            </a:prstGeom>
            <a:ln w="101600" cap="rnd">
              <a:solidFill>
                <a:srgbClr val="C00000"/>
              </a:solidFill>
              <a:round/>
            </a:ln>
          </p:spPr>
        </p:cxnSp>
        <p:cxnSp>
          <p:nvCxnSpPr>
            <p:cNvPr id="20" name="QRVoidStrokeTRBL"/>
            <p:cNvCxnSpPr/>
            <p:nvPr/>
          </p:nvCxnSpPr>
          <p:spPr>
            <a:xfrm flipH="1">
              <a:off x="6763542" y="2049620"/>
              <a:ext cx="1947612" cy="1947612"/>
            </a:xfrm>
            <a:prstGeom prst="straightConnector1">
              <a:avLst/>
            </a:prstGeom>
            <a:ln w="101600" cap="rnd">
              <a:solidFill>
                <a:srgbClr val="C00000"/>
              </a:solidFill>
              <a:round/>
            </a:ln>
          </p:spPr>
        </p:cxnSp>
      </p:grpSp>
      <p:sp>
        <p:nvSpPr>
          <p:cNvPr id="12" name="TextBox 11"/>
          <p:cNvSpPr txBox="1"/>
          <p:nvPr/>
        </p:nvSpPr>
        <p:spPr>
          <a:xfrm>
            <a:off x="6743700" y="4389989"/>
            <a:ext cx="1984248" cy="685800"/>
          </a:xfrm>
          <a:prstGeom prst="rect">
            <a:avLst/>
          </a:prstGeom>
          <a:noFill/>
        </p:spPr>
        <p:txBody>
          <a:bodyPr wrap="square" lIns="18288" tIns="18288" rIns="18288" bIns="18288">
            <a:spAutoFit/>
          </a:bodyPr>
          <a:lstStyle/>
          <a:p>
            <a:pPr algn="ctr">
              <a:spcAft>
                <a:spcPts val="0"/>
              </a:spcAft>
            </a:pPr>
            <a:r>
              <a:rPr sz="1600" b="0" dirty="0">
                <a:solidFill>
                  <a:srgbClr val="555960"/>
                </a:solidFill>
              </a:rPr>
              <a:t>Team response</a:t>
            </a:r>
          </a:p>
          <a:p>
            <a:pPr algn="ctr">
              <a:spcAft>
                <a:spcPts val="0"/>
              </a:spcAft>
            </a:pPr>
            <a:r>
              <a:rPr sz="1600" b="0" dirty="0">
                <a:solidFill>
                  <a:srgbClr val="555960"/>
                </a:solidFill>
              </a:rPr>
              <a:t>Google Form</a:t>
            </a:r>
          </a:p>
        </p:txBody>
      </p:sp>
      <p:sp>
        <p:nvSpPr>
          <p:cNvPr id="13" name="FooterBand"/>
          <p:cNvSpPr/>
          <p:nvPr/>
        </p:nvSpPr>
        <p:spPr>
          <a:xfrm>
            <a:off x="274320" y="5852160"/>
            <a:ext cx="8595360" cy="566928"/>
          </a:xfrm>
          <a:prstGeom prst="rect">
            <a:avLst/>
          </a:prstGeom>
          <a:solidFill>
            <a:srgbClr val="8E6F3E"/>
          </a:solidFill>
          <a:ln>
            <a:noFill/>
          </a:ln>
        </p:spPr>
        <p:style>
          <a:lnRef idx="1">
            <a:schemeClr val="accent1"/>
          </a:lnRef>
          <a:fillRef idx="3">
            <a:schemeClr val="accent1"/>
          </a:fillRef>
          <a:effectRef idx="2">
            <a:schemeClr val="accent1"/>
          </a:effectRef>
          <a:fontRef idx="minor">
            <a:schemeClr val="lt1"/>
          </a:fontRef>
        </p:style>
        <p:txBody>
          <a:bodyPr wrap="square" lIns="109728" tIns="27432" rIns="109728" bIns="27432" rtlCol="0" anchor="ctr"/>
          <a:lstStyle/>
          <a:p>
            <a:pPr algn="ctr"/>
            <a:r>
              <a:rPr lang="en-US" sz="2000" b="1" dirty="0">
                <a:solidFill>
                  <a:srgbClr val="FFFFFF"/>
                </a:solidFill>
              </a:rPr>
              <a:t>Discuss each item. Then submit one response per team.</a:t>
            </a:r>
          </a:p>
        </p:txBody>
      </p:sp>
      <p:sp>
        <p:nvSpPr>
          <p:cNvPr id="14" name="KickerBadge"/>
          <p:cNvSpPr/>
          <p:nvPr/>
        </p:nvSpPr>
        <p:spPr>
          <a:xfrm>
            <a:off x="5620000" y="205000"/>
            <a:ext cx="3249680" cy="470000"/>
          </a:xfrm>
          <a:prstGeom prst="roundRect">
            <a:avLst/>
          </a:prstGeom>
          <a:solidFill>
            <a:srgbClr val="FBF8F2"/>
          </a:solidFill>
          <a:ln w="15875">
            <a:solidFill>
              <a:srgbClr val="8E6F3E"/>
            </a:solidFill>
          </a:ln>
        </p:spPr>
        <p:txBody>
          <a:bodyPr wrap="square" lIns="91440" tIns="27432" rIns="91440" bIns="27432" anchor="ctr"/>
          <a:lstStyle/>
          <a:p>
            <a:pPr algn="ctr">
              <a:buNone/>
            </a:pPr>
            <a:r>
              <a:rPr lang="en-US" b="1" i="0" dirty="0">
                <a:solidFill>
                  <a:srgbClr val="8E6F3E"/>
                </a:solidFill>
              </a:rPr>
              <a:t>TEAM ACTIVITY  ·  9 MINUTES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Top-down:</a:t>
            </a:r>
            <a:r>
              <a:rPr lang="en-US" dirty="0"/>
              <a:t xml:space="preserve"> what must I preserve to answer the engineering question?</a:t>
            </a:r>
          </a:p>
          <a:p>
            <a:r>
              <a:rPr lang="en-US" b="1" dirty="0"/>
              <a:t>Bottom-up:</a:t>
            </a:r>
            <a:r>
              <a:rPr lang="en-US" dirty="0"/>
              <a:t xml:space="preserve"> why am I carrying each distinction that remains?</a:t>
            </a:r>
          </a:p>
        </p:txBody>
      </p:sp>
      <p:sp>
        <p:nvSpPr>
          <p:cNvPr id="3" name="Title 2"/>
          <p:cNvSpPr>
            <a:spLocks noGrp="1"/>
          </p:cNvSpPr>
          <p:nvPr>
            <p:ph type="title"/>
          </p:nvPr>
        </p:nvSpPr>
        <p:spPr/>
        <p:txBody>
          <a:bodyPr>
            <a:normAutofit fontScale="90000"/>
          </a:bodyPr>
          <a:lstStyle/>
          <a:p>
            <a:r>
              <a:rPr lang="en-US" dirty="0"/>
              <a:t>A good model is not a small copy of the system</a:t>
            </a:r>
          </a:p>
        </p:txBody>
      </p:sp>
      <p:sp>
        <p:nvSpPr>
          <p:cNvPr id="4" name="Slide Number Placeholder 3"/>
          <p:cNvSpPr>
            <a:spLocks noGrp="1"/>
          </p:cNvSpPr>
          <p:nvPr>
            <p:ph type="sldNum" sz="quarter" idx="4"/>
          </p:nvPr>
        </p:nvSpPr>
        <p:spPr/>
        <p:txBody>
          <a:bodyPr/>
          <a:lstStyle/>
          <a:p>
            <a:fld id="{B7EB45DA-9A0D-DC49-8E02-F30A5DDC21C3}" type="slidenum">
              <a:rPr lang="en-US" smtClean="0"/>
              <a:t>32</a:t>
            </a:fld>
            <a:endParaRPr lang="en-US"/>
          </a:p>
        </p:txBody>
      </p:sp>
      <p:sp>
        <p:nvSpPr>
          <p:cNvPr id="5" name="QRPlaceholder" descr="Dashed outline marking the slot where the feedback form's QR code will go."/>
          <p:cNvSpPr/>
          <p:nvPr/>
        </p:nvSpPr>
        <p:spPr>
          <a:xfrm>
            <a:off x="3441192" y="2743200"/>
            <a:ext cx="2261616" cy="2261616"/>
          </a:xfrm>
          <a:prstGeom prst="rect">
            <a:avLst/>
          </a:prstGeom>
          <a:solidFill>
            <a:srgbClr val="FBF8F2"/>
          </a:solidFill>
          <a:ln w="15875">
            <a:solidFill>
              <a:srgbClr val="C9B991"/>
            </a:solidFill>
            <a:prstDash val="dash"/>
          </a:ln>
        </p:spPr>
        <p:txBody>
          <a:bodyPr wrap="square" lIns="91440" tIns="91440" rIns="91440" bIns="91440" anchor="b"/>
          <a:lstStyle/>
          <a:p>
            <a:pPr algn="ctr">
              <a:buNone/>
            </a:pPr>
            <a:r>
              <a:rPr lang="en-US" sz="1800" b="0" i="0" dirty="0">
                <a:solidFill>
                  <a:srgbClr val="555960"/>
                </a:solidFill>
              </a:rPr>
              <a:t>Feedback QR</a:t>
            </a:r>
          </a:p>
        </p:txBody>
      </p:sp>
      <p:grpSp>
        <p:nvGrpSpPr>
          <p:cNvPr id="152" name="QRVoidMark" descr="A large red X across the slot: the feedback form QR code has not been added yet."/>
          <p:cNvGrpSpPr/>
          <p:nvPr/>
        </p:nvGrpSpPr>
        <p:grpSpPr>
          <a:xfrm>
            <a:off x="3599505" y="2901513"/>
            <a:ext cx="1944990" cy="1944990"/>
            <a:chOff x="3599505" y="2901513"/>
            <a:chExt cx="1944990" cy="1944990"/>
          </a:xfrm>
        </p:grpSpPr>
        <p:cxnSp>
          <p:nvCxnSpPr>
            <p:cNvPr id="153" name="QRVoidStrokeTLBR"/>
            <p:cNvCxnSpPr/>
            <p:nvPr/>
          </p:nvCxnSpPr>
          <p:spPr>
            <a:xfrm>
              <a:off x="3599505" y="2901513"/>
              <a:ext cx="1944990" cy="1944990"/>
            </a:xfrm>
            <a:prstGeom prst="straightConnector1">
              <a:avLst/>
            </a:prstGeom>
            <a:ln w="101600" cap="rnd">
              <a:solidFill>
                <a:srgbClr val="C00000"/>
              </a:solidFill>
              <a:round/>
            </a:ln>
          </p:spPr>
        </p:cxnSp>
        <p:cxnSp>
          <p:nvCxnSpPr>
            <p:cNvPr id="154" name="QRVoidStrokeTRBL"/>
            <p:cNvCxnSpPr/>
            <p:nvPr/>
          </p:nvCxnSpPr>
          <p:spPr>
            <a:xfrm flipH="1">
              <a:off x="3599505" y="2901513"/>
              <a:ext cx="1944990" cy="1944990"/>
            </a:xfrm>
            <a:prstGeom prst="straightConnector1">
              <a:avLst/>
            </a:prstGeom>
            <a:ln w="101600" cap="rnd">
              <a:solidFill>
                <a:srgbClr val="C00000"/>
              </a:solidFill>
              <a:round/>
            </a:ln>
          </p:spPr>
        </p:cxnSp>
      </p:grpSp>
      <p:sp>
        <p:nvSpPr>
          <p:cNvPr id="150" name="Ital"/>
          <p:cNvSpPr txBox="1"/>
          <p:nvPr/>
        </p:nvSpPr>
        <p:spPr>
          <a:xfrm>
            <a:off x="365760" y="2103120"/>
            <a:ext cx="8412480" cy="330000"/>
          </a:xfrm>
          <a:prstGeom prst="rect">
            <a:avLst/>
          </a:prstGeom>
          <a:noFill/>
          <a:ln>
            <a:noFill/>
          </a:ln>
        </p:spPr>
        <p:txBody>
          <a:bodyPr wrap="square" lIns="0" tIns="0" rIns="0" bIns="0" anchor="t"/>
          <a:lstStyle/>
          <a:p>
            <a:pPr algn="ctr">
              <a:buNone/>
            </a:pPr>
            <a:r>
              <a:rPr lang="en-US" sz="1700" b="0" i="1" dirty="0">
                <a:solidFill>
                  <a:srgbClr val="555960"/>
                </a:solidFill>
              </a:rPr>
              <a:t>Different questions produce different purposeful reductions of the same territory.</a:t>
            </a:r>
          </a:p>
        </p:txBody>
      </p:sp>
      <p:sp>
        <p:nvSpPr>
          <p:cNvPr id="151" name="Teaser"/>
          <p:cNvSpPr txBox="1"/>
          <p:nvPr/>
        </p:nvSpPr>
        <p:spPr>
          <a:xfrm>
            <a:off x="365760" y="5715000"/>
            <a:ext cx="8412480" cy="585216"/>
          </a:xfrm>
          <a:prstGeom prst="rect">
            <a:avLst/>
          </a:prstGeom>
          <a:noFill/>
        </p:spPr>
        <p:txBody>
          <a:bodyPr wrap="square" lIns="18288" tIns="18288" rIns="18288" bIns="18288">
            <a:spAutoFit/>
          </a:bodyPr>
          <a:lstStyle/>
          <a:p>
            <a:pPr algn="ctr">
              <a:buNone/>
            </a:pPr>
            <a:r>
              <a:rPr lang="en-US" sz="1800" b="1" dirty="0">
                <a:solidFill>
                  <a:srgbClr val="5C4826"/>
                </a:solidFill>
              </a:rPr>
              <a:t xml:space="preserve">Tomorrow: </a:t>
            </a:r>
            <a:r>
              <a:rPr lang="en-US" sz="1800" b="0" i="1" dirty="0">
                <a:solidFill>
                  <a:srgbClr val="555960"/>
                </a:solidFill>
              </a:rPr>
              <a:t>one model can be useful. How do many models remain trustworthy together?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production equation</a:t>
            </a:r>
          </a:p>
        </p:txBody>
      </p:sp>
      <p:sp>
        <p:nvSpPr>
          <p:cNvPr id="3" name="Slide Number Placeholder 3"/>
          <p:cNvSpPr>
            <a:spLocks noGrp="1"/>
          </p:cNvSpPr>
          <p:nvPr>
            <p:ph type="sldNum" sz="quarter" idx="4"/>
          </p:nvPr>
        </p:nvSpPr>
        <p:spPr/>
        <p:txBody>
          <a:bodyPr/>
          <a:lstStyle/>
          <a:p>
            <a:fld id="{B7EB45DA-9A0D-DC49-8E02-F30A5DDC21C3}" type="slidenum">
              <a:rPr lang="en-US" smtClean="0"/>
              <a:t>2</a:t>
            </a:fld>
            <a:endParaRPr lang="en-US"/>
          </a:p>
        </p:txBody>
      </p:sp>
      <p:sp>
        <p:nvSpPr>
          <p:cNvPr id="10" name="Kicker"/>
          <p:cNvSpPr txBox="1"/>
          <p:nvPr/>
        </p:nvSpPr>
        <p:spPr>
          <a:xfrm>
            <a:off x="365760" y="1097280"/>
            <a:ext cx="8412480" cy="393192"/>
          </a:xfrm>
          <a:prstGeom prst="rect">
            <a:avLst/>
          </a:prstGeom>
          <a:noFill/>
          <a:ln>
            <a:noFill/>
          </a:ln>
        </p:spPr>
        <p:txBody>
          <a:bodyPr wrap="square" lIns="0" tIns="0" rIns="0" bIns="0" anchor="t"/>
          <a:lstStyle/>
          <a:p>
            <a:pPr algn="l">
              <a:spcAft>
                <a:spcPts val="0"/>
              </a:spcAft>
              <a:buNone/>
            </a:pPr>
            <a:r>
              <a:rPr lang="en-US" sz="2000" b="1" dirty="0">
                <a:solidFill>
                  <a:srgbClr val="8E6F3E"/>
                </a:solidFill>
              </a:rPr>
              <a:t>FOR A FIXED ENGINEERING ENVIRONMENT</a:t>
            </a:r>
          </a:p>
        </p:txBody>
      </p:sp>
      <p:sp>
        <p:nvSpPr>
          <p:cNvPr id="11" name="EqBox"/>
          <p:cNvSpPr txBox="1"/>
          <p:nvPr/>
        </p:nvSpPr>
        <p:spPr>
          <a:xfrm>
            <a:off x="274320" y="1554480"/>
            <a:ext cx="8595360" cy="822960"/>
          </a:xfrm>
          <a:prstGeom prst="rect">
            <a:avLst/>
          </a:prstGeom>
          <a:noFill/>
          <a:ln>
            <a:noFill/>
          </a:ln>
        </p:spPr>
        <p:txBody>
          <a:bodyPr wrap="square" lIns="0" tIns="0" rIns="0" bIns="0" anchor="ctr"/>
          <a:lstStyle/>
          <a:p>
            <a:pPr algn="ctr">
              <a:spcAft>
                <a:spcPts val="0"/>
              </a:spcAft>
              <a:buNone/>
            </a:pPr>
            <a:r>
              <a:rPr lang="en-US" sz="5400" b="0" i="1" dirty="0">
                <a:solidFill>
                  <a:srgbClr val="5C4826"/>
                </a:solidFill>
              </a:rPr>
              <a:t>p(T,M,R,H)</a:t>
            </a:r>
          </a:p>
        </p:txBody>
      </p:sp>
      <p:sp>
        <p:nvSpPr>
          <p:cNvPr id="12" name="EqGloss"/>
          <p:cNvSpPr txBox="1"/>
          <p:nvPr/>
        </p:nvSpPr>
        <p:spPr>
          <a:xfrm>
            <a:off x="274320" y="2423160"/>
            <a:ext cx="8595360" cy="365760"/>
          </a:xfrm>
          <a:prstGeom prst="rect">
            <a:avLst/>
          </a:prstGeom>
          <a:noFill/>
          <a:ln>
            <a:noFill/>
          </a:ln>
        </p:spPr>
        <p:txBody>
          <a:bodyPr wrap="square" lIns="0" tIns="0" rIns="0" bIns="0" anchor="t"/>
          <a:lstStyle/>
          <a:p>
            <a:pPr algn="ctr">
              <a:spcAft>
                <a:spcPts val="0"/>
              </a:spcAft>
              <a:buNone/>
            </a:pPr>
            <a:r>
              <a:rPr lang="en-US" sz="1800" b="0" i="1" dirty="0">
                <a:solidFill>
                  <a:srgbClr val="555960"/>
                </a:solidFill>
              </a:rPr>
              <a:t>the probability that one attempt produces an acceptable candidate</a:t>
            </a:r>
          </a:p>
        </p:txBody>
      </p:sp>
      <p:sp>
        <p:nvSpPr>
          <p:cNvPr id="20" name="N0"/>
          <p:cNvSpPr/>
          <p:nvPr/>
        </p:nvSpPr>
        <p:spPr>
          <a:xfrm>
            <a:off x="1508760" y="3017520"/>
            <a:ext cx="548640" cy="320040"/>
          </a:xfrm>
          <a:prstGeom prst="rect">
            <a:avLst/>
          </a:prstGeom>
          <a:solidFill>
            <a:srgbClr val="8E6F3E"/>
          </a:solidFill>
          <a:ln>
            <a:noFill/>
          </a:ln>
        </p:spPr>
        <p:txBody>
          <a:bodyPr wrap="square" lIns="27432" tIns="22860" rIns="27432" bIns="22860" anchor="ctr"/>
          <a:lstStyle/>
          <a:p>
            <a:pPr algn="ctr">
              <a:spcAft>
                <a:spcPts val="0"/>
              </a:spcAft>
              <a:buNone/>
            </a:pPr>
            <a:r>
              <a:rPr lang="en-US" sz="2000" b="1" i="1" dirty="0">
                <a:solidFill>
                  <a:srgbClr val="FFFFFF"/>
                </a:solidFill>
              </a:rPr>
              <a:t>T</a:t>
            </a:r>
          </a:p>
        </p:txBody>
      </p:sp>
      <p:sp>
        <p:nvSpPr>
          <p:cNvPr id="21" name="Q0"/>
          <p:cNvSpPr txBox="1"/>
          <p:nvPr/>
        </p:nvSpPr>
        <p:spPr>
          <a:xfrm>
            <a:off x="2148840" y="3017520"/>
            <a:ext cx="5486400" cy="320040"/>
          </a:xfrm>
          <a:prstGeom prst="rect">
            <a:avLst/>
          </a:prstGeom>
          <a:noFill/>
          <a:ln>
            <a:noFill/>
          </a:ln>
        </p:spPr>
        <p:txBody>
          <a:bodyPr wrap="square" lIns="0" tIns="0" rIns="0" bIns="0" anchor="ctr"/>
          <a:lstStyle/>
          <a:p>
            <a:pPr algn="l">
              <a:spcAft>
                <a:spcPts val="0"/>
              </a:spcAft>
              <a:buNone/>
            </a:pPr>
            <a:r>
              <a:rPr lang="en-US" sz="1600" b="0" dirty="0">
                <a:solidFill>
                  <a:srgbClr val="555960"/>
                </a:solidFill>
              </a:rPr>
              <a:t>an engineering task or task family</a:t>
            </a:r>
          </a:p>
        </p:txBody>
      </p:sp>
      <p:sp>
        <p:nvSpPr>
          <p:cNvPr id="22" name="N1"/>
          <p:cNvSpPr/>
          <p:nvPr/>
        </p:nvSpPr>
        <p:spPr>
          <a:xfrm>
            <a:off x="1508760" y="3465576"/>
            <a:ext cx="548640" cy="320040"/>
          </a:xfrm>
          <a:prstGeom prst="rect">
            <a:avLst/>
          </a:prstGeom>
          <a:solidFill>
            <a:srgbClr val="8E6F3E"/>
          </a:solidFill>
          <a:ln>
            <a:noFill/>
          </a:ln>
        </p:spPr>
        <p:txBody>
          <a:bodyPr wrap="square" lIns="27432" tIns="22860" rIns="27432" bIns="22860" anchor="ctr"/>
          <a:lstStyle/>
          <a:p>
            <a:pPr algn="ctr">
              <a:spcAft>
                <a:spcPts val="0"/>
              </a:spcAft>
              <a:buNone/>
            </a:pPr>
            <a:r>
              <a:rPr lang="en-US" sz="2000" b="1" i="1" dirty="0">
                <a:solidFill>
                  <a:srgbClr val="FFFFFF"/>
                </a:solidFill>
              </a:rPr>
              <a:t>M</a:t>
            </a:r>
          </a:p>
        </p:txBody>
      </p:sp>
      <p:sp>
        <p:nvSpPr>
          <p:cNvPr id="23" name="Q1"/>
          <p:cNvSpPr txBox="1"/>
          <p:nvPr/>
        </p:nvSpPr>
        <p:spPr>
          <a:xfrm>
            <a:off x="2148840" y="3465576"/>
            <a:ext cx="5486400" cy="320040"/>
          </a:xfrm>
          <a:prstGeom prst="rect">
            <a:avLst/>
          </a:prstGeom>
          <a:noFill/>
          <a:ln>
            <a:noFill/>
          </a:ln>
        </p:spPr>
        <p:txBody>
          <a:bodyPr wrap="square" lIns="0" tIns="0" rIns="0" bIns="0" anchor="ctr"/>
          <a:lstStyle/>
          <a:p>
            <a:pPr algn="l">
              <a:spcAft>
                <a:spcPts val="0"/>
              </a:spcAft>
              <a:buNone/>
            </a:pPr>
            <a:r>
              <a:rPr lang="en-US" sz="1600" b="0" dirty="0">
                <a:solidFill>
                  <a:srgbClr val="555960"/>
                </a:solidFill>
              </a:rPr>
              <a:t>the reasoning model</a:t>
            </a:r>
          </a:p>
        </p:txBody>
      </p:sp>
      <p:sp>
        <p:nvSpPr>
          <p:cNvPr id="24" name="N2"/>
          <p:cNvSpPr/>
          <p:nvPr/>
        </p:nvSpPr>
        <p:spPr>
          <a:xfrm>
            <a:off x="1508760" y="3913632"/>
            <a:ext cx="548640" cy="320040"/>
          </a:xfrm>
          <a:prstGeom prst="rect">
            <a:avLst/>
          </a:prstGeom>
          <a:solidFill>
            <a:srgbClr val="8E6F3E"/>
          </a:solidFill>
          <a:ln>
            <a:noFill/>
          </a:ln>
        </p:spPr>
        <p:txBody>
          <a:bodyPr wrap="square" lIns="27432" tIns="22860" rIns="27432" bIns="22860" anchor="ctr"/>
          <a:lstStyle/>
          <a:p>
            <a:pPr algn="ctr">
              <a:spcAft>
                <a:spcPts val="0"/>
              </a:spcAft>
              <a:buNone/>
            </a:pPr>
            <a:r>
              <a:rPr lang="en-US" sz="2000" b="1" i="1" dirty="0">
                <a:solidFill>
                  <a:srgbClr val="FFFFFF"/>
                </a:solidFill>
              </a:rPr>
              <a:t>R</a:t>
            </a:r>
          </a:p>
        </p:txBody>
      </p:sp>
      <p:sp>
        <p:nvSpPr>
          <p:cNvPr id="25" name="Q2"/>
          <p:cNvSpPr txBox="1"/>
          <p:nvPr/>
        </p:nvSpPr>
        <p:spPr>
          <a:xfrm>
            <a:off x="2148840" y="3913632"/>
            <a:ext cx="5486400" cy="320040"/>
          </a:xfrm>
          <a:prstGeom prst="rect">
            <a:avLst/>
          </a:prstGeom>
          <a:noFill/>
          <a:ln>
            <a:noFill/>
          </a:ln>
        </p:spPr>
        <p:txBody>
          <a:bodyPr wrap="square" lIns="0" tIns="0" rIns="0" bIns="0" anchor="ctr"/>
          <a:lstStyle/>
          <a:p>
            <a:pPr algn="l">
              <a:spcAft>
                <a:spcPts val="0"/>
              </a:spcAft>
              <a:buNone/>
            </a:pPr>
            <a:r>
              <a:rPr lang="en-US" sz="1600" b="0" dirty="0">
                <a:solidFill>
                  <a:srgbClr val="555960"/>
                </a:solidFill>
              </a:rPr>
              <a:t>the representation available to it</a:t>
            </a:r>
          </a:p>
        </p:txBody>
      </p:sp>
      <p:sp>
        <p:nvSpPr>
          <p:cNvPr id="26" name="N3"/>
          <p:cNvSpPr/>
          <p:nvPr/>
        </p:nvSpPr>
        <p:spPr>
          <a:xfrm>
            <a:off x="1508760" y="4361688"/>
            <a:ext cx="548640" cy="320040"/>
          </a:xfrm>
          <a:prstGeom prst="rect">
            <a:avLst/>
          </a:prstGeom>
          <a:solidFill>
            <a:srgbClr val="8E6F3E"/>
          </a:solidFill>
          <a:ln>
            <a:noFill/>
          </a:ln>
        </p:spPr>
        <p:txBody>
          <a:bodyPr wrap="square" lIns="27432" tIns="22860" rIns="27432" bIns="22860" anchor="ctr"/>
          <a:lstStyle/>
          <a:p>
            <a:pPr algn="ctr">
              <a:spcAft>
                <a:spcPts val="0"/>
              </a:spcAft>
              <a:buNone/>
            </a:pPr>
            <a:r>
              <a:rPr lang="en-US" sz="2000" b="1" i="1" dirty="0">
                <a:solidFill>
                  <a:srgbClr val="FFFFFF"/>
                </a:solidFill>
              </a:rPr>
              <a:t>H</a:t>
            </a:r>
          </a:p>
        </p:txBody>
      </p:sp>
      <p:sp>
        <p:nvSpPr>
          <p:cNvPr id="27" name="Q3"/>
          <p:cNvSpPr txBox="1"/>
          <p:nvPr/>
        </p:nvSpPr>
        <p:spPr>
          <a:xfrm>
            <a:off x="2148840" y="4361688"/>
            <a:ext cx="5486400" cy="320040"/>
          </a:xfrm>
          <a:prstGeom prst="rect">
            <a:avLst/>
          </a:prstGeom>
          <a:noFill/>
          <a:ln>
            <a:noFill/>
          </a:ln>
        </p:spPr>
        <p:txBody>
          <a:bodyPr wrap="square" lIns="0" tIns="0" rIns="0" bIns="0" anchor="ctr"/>
          <a:lstStyle/>
          <a:p>
            <a:pPr algn="l">
              <a:spcAft>
                <a:spcPts val="0"/>
              </a:spcAft>
              <a:buNone/>
            </a:pPr>
            <a:r>
              <a:rPr lang="en-US" sz="1600" b="0" dirty="0">
                <a:solidFill>
                  <a:srgbClr val="555960"/>
                </a:solidFill>
              </a:rPr>
              <a:t>the harness and process through which production is organized</a:t>
            </a:r>
          </a:p>
        </p:txBody>
      </p:sp>
      <p:sp>
        <p:nvSpPr>
          <p:cNvPr id="150" name="Ital"/>
          <p:cNvSpPr txBox="1"/>
          <p:nvPr/>
        </p:nvSpPr>
        <p:spPr>
          <a:xfrm>
            <a:off x="274320" y="4983480"/>
            <a:ext cx="8595360" cy="457200"/>
          </a:xfrm>
          <a:prstGeom prst="rect">
            <a:avLst/>
          </a:prstGeom>
          <a:noFill/>
          <a:ln>
            <a:noFill/>
          </a:ln>
        </p:spPr>
        <p:txBody>
          <a:bodyPr wrap="square" lIns="0" tIns="0" rIns="0" bIns="0" anchor="t"/>
          <a:lstStyle/>
          <a:p>
            <a:pPr algn="ctr">
              <a:buNone/>
            </a:pPr>
            <a:r>
              <a:rPr lang="en-US" sz="1700" b="0" i="1" dirty="0">
                <a:solidFill>
                  <a:srgbClr val="555960"/>
                </a:solidFill>
              </a:rPr>
              <a:t>Change any one of the four and the probability changes.</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buNone/>
            </a:pPr>
            <a:r>
              <a:rPr lang="en-US" sz="2000" b="1" i="0" dirty="0">
                <a:solidFill>
                  <a:srgbClr val="FFFFFF"/>
                </a:solidFill>
              </a:rPr>
              <a:t>Does the engineering system produce the thing?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Open the box — where things can go wrong</a:t>
            </a:r>
          </a:p>
        </p:txBody>
      </p:sp>
      <p:sp>
        <p:nvSpPr>
          <p:cNvPr id="3" name="Slide Number Placeholder 3"/>
          <p:cNvSpPr>
            <a:spLocks noGrp="1"/>
          </p:cNvSpPr>
          <p:nvPr>
            <p:ph type="sldNum" sz="quarter" idx="4"/>
          </p:nvPr>
        </p:nvSpPr>
        <p:spPr/>
        <p:txBody>
          <a:bodyPr/>
          <a:lstStyle/>
          <a:p>
            <a:fld id="{B7EB45DA-9A0D-DC49-8E02-F30A5DDC21C3}" type="slidenum">
              <a:rPr lang="en-US" smtClean="0"/>
              <a:t>3</a:t>
            </a:fld>
            <a:endParaRPr lang="en-US"/>
          </a:p>
        </p:txBody>
      </p:sp>
      <p:sp>
        <p:nvSpPr>
          <p:cNvPr id="11" name="EqBox"/>
          <p:cNvSpPr txBox="1"/>
          <p:nvPr/>
        </p:nvSpPr>
        <p:spPr>
          <a:xfrm>
            <a:off x="274320" y="868680"/>
            <a:ext cx="8595360" cy="594360"/>
          </a:xfrm>
          <a:prstGeom prst="rect">
            <a:avLst/>
          </a:prstGeom>
          <a:noFill/>
          <a:ln>
            <a:noFill/>
          </a:ln>
        </p:spPr>
        <p:txBody>
          <a:bodyPr wrap="square" lIns="0" tIns="0" rIns="0" bIns="0" anchor="ctr"/>
          <a:lstStyle/>
          <a:p>
            <a:pPr algn="ctr">
              <a:spcAft>
                <a:spcPts val="0"/>
              </a:spcAft>
              <a:buNone/>
            </a:pPr>
            <a:r>
              <a:rPr lang="en-US" sz="3000" b="0" i="1" dirty="0">
                <a:solidFill>
                  <a:srgbClr val="5C4826"/>
                </a:solidFill>
              </a:rPr>
              <a:t>p</a:t>
            </a:r>
            <a:r>
              <a:rPr lang="en-US" sz="3000" b="0" i="1" baseline="-25000" dirty="0">
                <a:solidFill>
                  <a:srgbClr val="5C4826"/>
                </a:solidFill>
              </a:rPr>
              <a:t>R</a:t>
            </a:r>
            <a:r>
              <a:rPr lang="en-US" sz="3000" b="0" i="1" dirty="0">
                <a:solidFill>
                  <a:srgbClr val="5C4826"/>
                </a:solidFill>
              </a:rPr>
              <a:t xml:space="preserve"> = P(E | R) · P(I | E, R) · P(L | I, E, R)</a:t>
            </a:r>
          </a:p>
        </p:txBody>
      </p:sp>
      <p:sp>
        <p:nvSpPr>
          <p:cNvPr id="20" name="N0"/>
          <p:cNvSpPr/>
          <p:nvPr/>
        </p:nvSpPr>
        <p:spPr>
          <a:xfrm>
            <a:off x="365760" y="1600200"/>
            <a:ext cx="2377440" cy="457200"/>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ENCODE</a:t>
            </a:r>
          </a:p>
        </p:txBody>
      </p:sp>
      <p:cxnSp>
        <p:nvCxnSpPr>
          <p:cNvPr id="30" name="A0"/>
          <p:cNvCxnSpPr/>
          <p:nvPr/>
        </p:nvCxnSpPr>
        <p:spPr>
          <a:xfrm>
            <a:off x="2926080" y="1828800"/>
            <a:ext cx="274320" cy="0"/>
          </a:xfrm>
          <a:prstGeom prst="straightConnector1">
            <a:avLst/>
          </a:prstGeom>
          <a:ln w="19050">
            <a:solidFill>
              <a:srgbClr val="8E6F3E"/>
            </a:solidFill>
            <a:tailEnd type="triangle" w="med" len="med"/>
          </a:ln>
        </p:spPr>
      </p:cxnSp>
      <p:sp>
        <p:nvSpPr>
          <p:cNvPr id="21" name="N1"/>
          <p:cNvSpPr/>
          <p:nvPr/>
        </p:nvSpPr>
        <p:spPr>
          <a:xfrm>
            <a:off x="3383280" y="1600200"/>
            <a:ext cx="2377440" cy="457200"/>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INTERPRET</a:t>
            </a:r>
          </a:p>
        </p:txBody>
      </p:sp>
      <p:cxnSp>
        <p:nvCxnSpPr>
          <p:cNvPr id="31" name="A1"/>
          <p:cNvCxnSpPr/>
          <p:nvPr/>
        </p:nvCxnSpPr>
        <p:spPr>
          <a:xfrm>
            <a:off x="5943600" y="1828800"/>
            <a:ext cx="274320" cy="0"/>
          </a:xfrm>
          <a:prstGeom prst="straightConnector1">
            <a:avLst/>
          </a:prstGeom>
          <a:ln w="19050">
            <a:solidFill>
              <a:srgbClr val="8E6F3E"/>
            </a:solidFill>
            <a:tailEnd type="triangle" w="med" len="med"/>
          </a:ln>
        </p:spPr>
      </p:cxnSp>
      <p:sp>
        <p:nvSpPr>
          <p:cNvPr id="22" name="N2"/>
          <p:cNvSpPr/>
          <p:nvPr/>
        </p:nvSpPr>
        <p:spPr>
          <a:xfrm>
            <a:off x="6400800" y="1600200"/>
            <a:ext cx="2377440" cy="457200"/>
          </a:xfrm>
          <a:prstGeom prst="rect">
            <a:avLst/>
          </a:prstGeom>
          <a:solidFill>
            <a:srgbClr val="8E6F3E"/>
          </a:solidFill>
          <a:ln>
            <a:noFill/>
          </a:ln>
        </p:spPr>
        <p:txBody>
          <a:bodyPr wrap="square" lIns="27432" tIns="22860" rIns="27432" bIns="22860" anchor="ctr"/>
          <a:lstStyle/>
          <a:p>
            <a:pPr algn="ctr">
              <a:spcAft>
                <a:spcPts val="0"/>
              </a:spcAft>
              <a:buNone/>
            </a:pPr>
            <a:r>
              <a:rPr lang="en-US" sz="1800" b="1" dirty="0">
                <a:solidFill>
                  <a:srgbClr val="FFFFFF"/>
                </a:solidFill>
              </a:rPr>
              <a:t>REALIZE</a:t>
            </a:r>
          </a:p>
        </p:txBody>
      </p:sp>
      <p:sp>
        <p:nvSpPr>
          <p:cNvPr id="40" name="ChainTag"/>
          <p:cNvSpPr txBox="1"/>
          <p:nvPr/>
        </p:nvSpPr>
        <p:spPr>
          <a:xfrm>
            <a:off x="274320" y="2194560"/>
            <a:ext cx="8595360" cy="320040"/>
          </a:xfrm>
          <a:prstGeom prst="rect">
            <a:avLst/>
          </a:prstGeom>
          <a:noFill/>
          <a:ln>
            <a:noFill/>
          </a:ln>
        </p:spPr>
        <p:txBody>
          <a:bodyPr wrap="square" lIns="0" tIns="0" rIns="0" bIns="0" anchor="t"/>
          <a:lstStyle/>
          <a:p>
            <a:pPr algn="ctr">
              <a:spcAft>
                <a:spcPts val="0"/>
              </a:spcAft>
              <a:buNone/>
            </a:pPr>
            <a:r>
              <a:rPr lang="en-US" sz="1600" b="0" i="1" dirty="0">
                <a:solidFill>
                  <a:srgbClr val="555960"/>
                </a:solidFill>
              </a:rPr>
              <a:t>a chain decomposition, not an independence assumption</a:t>
            </a:r>
          </a:p>
        </p:txBody>
      </p:sp>
      <p:pic>
        <p:nvPicPr>
          <p:cNvPr id="60" name="BandFigure" descr="Production process band: Engineering intent to Encoded property to Fabricator to Realization, with the three probability terms P(E | R), P(I | E, R) and P(L | I, E, R) bracketed beneath."/>
          <p:cNvPicPr>
            <a:picLocks noChangeAspect="1"/>
          </p:cNvPicPr>
          <p:nvPr/>
        </p:nvPicPr>
        <p:blipFill>
          <a:blip r:embed="rId2"/>
          <a:stretch>
            <a:fillRect/>
          </a:stretch>
        </p:blipFill>
        <p:spPr>
          <a:xfrm>
            <a:off x="685800" y="2560320"/>
            <a:ext cx="7772400" cy="2878667"/>
          </a:xfrm>
          <a:prstGeom prst="rect">
            <a:avLst/>
          </a:prstGeom>
        </p:spPr>
      </p:pic>
      <p:grpSp>
        <p:nvGrpSpPr>
          <p:cNvPr id="100" name="ModelingLeverOverlay"/>
          <p:cNvGrpSpPr/>
          <p:nvPr/>
        </p:nvGrpSpPr>
        <p:grpSpPr>
          <a:xfrm>
            <a:off x="2908770" y="2624290"/>
            <a:ext cx="5213586" cy="2230967"/>
            <a:chOff x="2908770" y="2624290"/>
            <a:chExt cx="5213586" cy="2230967"/>
          </a:xfrm>
        </p:grpSpPr>
        <p:sp>
          <p:nvSpPr>
            <p:cNvPr id="101" name="LeverLabel"/>
            <p:cNvSpPr txBox="1"/>
            <p:nvPr/>
          </p:nvSpPr>
          <p:spPr>
            <a:xfrm>
              <a:off x="4572000" y="2624290"/>
              <a:ext cx="3550356" cy="655696"/>
            </a:xfrm>
            <a:prstGeom prst="rect">
              <a:avLst/>
            </a:prstGeom>
            <a:noFill/>
            <a:ln>
              <a:noFill/>
            </a:ln>
          </p:spPr>
          <p:txBody>
            <a:bodyPr wrap="square" lIns="0" tIns="0" rIns="0" bIns="0" anchor="ctr"/>
            <a:lstStyle/>
            <a:p>
              <a:pPr algn="l">
                <a:lnSpc>
                  <a:spcPct val="110000"/>
                </a:lnSpc>
                <a:spcAft>
                  <a:spcPts val="0"/>
                </a:spcAft>
                <a:buNone/>
              </a:pPr>
              <a:r>
                <a:rPr lang="en-US" sz="2100" b="1" spc="126" dirty="0">
                  <a:solidFill>
                    <a:srgbClr val="C8102E"/>
                  </a:solidFill>
                </a:rPr>
                <a:t>MODELING CHANGES</a:t>
              </a:r>
            </a:p>
            <a:p>
              <a:pPr algn="l">
                <a:lnSpc>
                  <a:spcPct val="110000"/>
                </a:lnSpc>
                <a:spcAft>
                  <a:spcPts val="0"/>
                </a:spcAft>
                <a:buNone/>
              </a:pPr>
              <a:r>
                <a:rPr lang="en-US" sz="2100" b="1" spc="126" dirty="0">
                  <a:solidFill>
                    <a:srgbClr val="C8102E"/>
                  </a:solidFill>
                </a:rPr>
                <a:t>THE REPRESENTATION</a:t>
              </a:r>
            </a:p>
          </p:txBody>
        </p:sp>
        <p:cxnSp>
          <p:nvCxnSpPr>
            <p:cNvPr id="102" name="LeverArrowH"/>
            <p:cNvCxnSpPr/>
            <p:nvPr/>
          </p:nvCxnSpPr>
          <p:spPr>
            <a:xfrm>
              <a:off x="3676415" y="2952139"/>
              <a:ext cx="895585" cy="0"/>
            </a:xfrm>
            <a:prstGeom prst="straightConnector1">
              <a:avLst/>
            </a:prstGeom>
            <a:ln w="44450" cap="sq">
              <a:solidFill>
                <a:srgbClr val="C8102E"/>
              </a:solidFill>
            </a:ln>
          </p:spPr>
        </p:cxnSp>
        <p:cxnSp>
          <p:nvCxnSpPr>
            <p:cNvPr id="103" name="LeverArrowV"/>
            <p:cNvCxnSpPr/>
            <p:nvPr/>
          </p:nvCxnSpPr>
          <p:spPr>
            <a:xfrm>
              <a:off x="3676415" y="2952139"/>
              <a:ext cx="0" cy="743655"/>
            </a:xfrm>
            <a:prstGeom prst="straightConnector1">
              <a:avLst/>
            </a:prstGeom>
            <a:ln w="44450" cap="sq">
              <a:solidFill>
                <a:srgbClr val="C8102E"/>
              </a:solidFill>
              <a:tailEnd type="triangle" w="med" len="med"/>
            </a:ln>
          </p:spPr>
        </p:cxnSp>
        <p:sp>
          <p:nvSpPr>
            <p:cNvPr id="104" name="LeverBoxA"/>
            <p:cNvSpPr/>
            <p:nvPr/>
          </p:nvSpPr>
          <p:spPr>
            <a:xfrm>
              <a:off x="2908770" y="4535405"/>
              <a:ext cx="319852" cy="319852"/>
            </a:xfrm>
            <a:prstGeom prst="roundRect">
              <a:avLst>
                <a:gd name="adj" fmla="val 15000"/>
              </a:avLst>
            </a:prstGeom>
            <a:noFill/>
            <a:ln w="28575">
              <a:solidFill>
                <a:srgbClr val="C8102E"/>
              </a:solidFill>
            </a:ln>
          </p:spPr>
          <p:txBody>
            <a:bodyPr/>
            <a:lstStyle/>
            <a:p>
              <a:endParaRPr lang="en-US"/>
            </a:p>
          </p:txBody>
        </p:sp>
        <p:sp>
          <p:nvSpPr>
            <p:cNvPr id="105" name="LeverBoxB"/>
            <p:cNvSpPr/>
            <p:nvPr/>
          </p:nvSpPr>
          <p:spPr>
            <a:xfrm>
              <a:off x="4827881" y="4535405"/>
              <a:ext cx="319852" cy="319852"/>
            </a:xfrm>
            <a:prstGeom prst="roundRect">
              <a:avLst>
                <a:gd name="adj" fmla="val 15000"/>
              </a:avLst>
            </a:prstGeom>
            <a:noFill/>
            <a:ln w="28575">
              <a:solidFill>
                <a:srgbClr val="C8102E"/>
              </a:solidFill>
            </a:ln>
          </p:spPr>
          <p:txBody>
            <a:bodyPr/>
            <a:lstStyle/>
            <a:p>
              <a:endParaRPr lang="en-US"/>
            </a:p>
          </p:txBody>
        </p:sp>
      </p:gr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buNone/>
            </a:pPr>
            <a:r>
              <a:rPr lang="en-US" sz="2000" b="1" i="0" dirty="0">
                <a:solidFill>
                  <a:srgbClr val="FFFFFF"/>
                </a:solidFill>
              </a:rPr>
              <a:t>So what makes one representation better than another?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par>
                                <p:cTn id="8" presetID="10" presetClass="entr" presetSubtype="0" fill="hold" nodeType="withEffect">
                                  <p:stCondLst>
                                    <p:cond delay="0"/>
                                  </p:stCondLst>
                                  <p:childTnLst>
                                    <p:set>
                                      <p:cBhvr>
                                        <p:cTn id="9" dur="1" fill="hold">
                                          <p:stCondLst>
                                            <p:cond delay="0"/>
                                          </p:stCondLst>
                                        </p:cTn>
                                        <p:tgtEl>
                                          <p:spTgt spid="199"/>
                                        </p:tgtEl>
                                        <p:attrNameLst>
                                          <p:attrName>style.visibility</p:attrName>
                                        </p:attrNameLst>
                                      </p:cBhvr>
                                      <p:to>
                                        <p:strVal val="visible"/>
                                      </p:to>
                                    </p:set>
                                    <p:animEffect transition="in" filter="fade">
                                      <p:cBhvr>
                                        <p:cTn id="10" dur="5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exists?</a:t>
            </a:r>
          </a:p>
        </p:txBody>
      </p:sp>
      <p:sp>
        <p:nvSpPr>
          <p:cNvPr id="3" name="Slide Number Placeholder 3"/>
          <p:cNvSpPr>
            <a:spLocks noGrp="1"/>
          </p:cNvSpPr>
          <p:nvPr>
            <p:ph type="sldNum" sz="quarter" idx="4"/>
          </p:nvPr>
        </p:nvSpPr>
        <p:spPr/>
        <p:txBody>
          <a:bodyPr/>
          <a:lstStyle/>
          <a:p>
            <a:fld id="{B7EB45DA-9A0D-DC49-8E02-F30A5DDC21C3}" type="slidenum">
              <a:rPr lang="en-US" smtClean="0"/>
              <a:t>6</a:t>
            </a:fld>
            <a:endParaRPr lang="en-US"/>
          </a:p>
        </p:txBody>
      </p:sp>
      <p:sp>
        <p:nvSpPr>
          <p:cNvPr id="20" name="SubQ"/>
          <p:cNvSpPr txBox="1"/>
          <p:nvPr/>
        </p:nvSpPr>
        <p:spPr>
          <a:xfrm>
            <a:off x="274320" y="868680"/>
            <a:ext cx="8595360" cy="381000"/>
          </a:xfrm>
          <a:prstGeom prst="rect">
            <a:avLst/>
          </a:prstGeom>
          <a:noFill/>
          <a:ln>
            <a:noFill/>
          </a:ln>
        </p:spPr>
        <p:txBody>
          <a:bodyPr wrap="square" lIns="0" tIns="0" rIns="0" bIns="0" anchor="t"/>
          <a:lstStyle/>
          <a:p>
            <a:pPr algn="ctr">
              <a:spcAft>
                <a:spcPts val="0"/>
              </a:spcAft>
              <a:buNone/>
            </a:pPr>
            <a:r>
              <a:rPr lang="en-US" sz="2000" b="0" i="0" dirty="0">
                <a:solidFill>
                  <a:srgbClr val="5C4826"/>
                </a:solidFill>
              </a:rPr>
              <a:t>What things exist, and how are they related?</a:t>
            </a:r>
          </a:p>
        </p:txBody>
      </p:sp>
      <p:sp>
        <p:nvSpPr>
          <p:cNvPr id="50" name="FigPanel"/>
          <p:cNvSpPr/>
          <p:nvPr/>
        </p:nvSpPr>
        <p:spPr>
          <a:xfrm>
            <a:off x="274320" y="1341120"/>
            <a:ext cx="8595360" cy="4785360"/>
          </a:xfrm>
          <a:prstGeom prst="rect">
            <a:avLst/>
          </a:prstGeom>
          <a:solidFill>
            <a:srgbClr val="FDFCF9"/>
          </a:solidFill>
          <a:ln>
            <a:noFill/>
          </a:ln>
        </p:spPr>
        <p:txBody>
          <a:bodyPr wrap="square" lIns="0" tIns="0" rIns="0" bIns="0" anchor="ctr"/>
          <a:lstStyle/>
          <a:p>
            <a:pPr>
              <a:buNone/>
            </a:pPr>
            <a:endParaRPr lang="en-US"/>
          </a:p>
        </p:txBody>
      </p:sp>
      <p:pic>
        <p:nvPicPr>
          <p:cNvPr id="60" name="TourFigure" descr="A UML class diagram of a course-registration system: Student, Enrollment, Section, Course and Instructor, with multiplicities on the Student-Enrollment-Section chain."/>
          <p:cNvPicPr>
            <a:picLocks noChangeAspect="1"/>
          </p:cNvPicPr>
          <p:nvPr/>
        </p:nvPicPr>
        <p:blipFill>
          <a:blip r:embed="rId2"/>
          <a:stretch>
            <a:fillRect/>
          </a:stretch>
        </p:blipFill>
        <p:spPr>
          <a:xfrm>
            <a:off x="274320" y="1795827"/>
            <a:ext cx="8595360" cy="387594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Who talks to whom?</a:t>
            </a:r>
          </a:p>
        </p:txBody>
      </p:sp>
      <p:sp>
        <p:nvSpPr>
          <p:cNvPr id="3" name="Slide Number Placeholder 3"/>
          <p:cNvSpPr>
            <a:spLocks noGrp="1"/>
          </p:cNvSpPr>
          <p:nvPr>
            <p:ph type="sldNum" sz="quarter" idx="4"/>
          </p:nvPr>
        </p:nvSpPr>
        <p:spPr/>
        <p:txBody>
          <a:bodyPr/>
          <a:lstStyle/>
          <a:p>
            <a:fld id="{B7EB45DA-9A0D-DC49-8E02-F30A5DDC21C3}" type="slidenum">
              <a:rPr lang="en-US" smtClean="0"/>
              <a:t>7</a:t>
            </a:fld>
            <a:endParaRPr lang="en-US"/>
          </a:p>
        </p:txBody>
      </p:sp>
      <p:sp>
        <p:nvSpPr>
          <p:cNvPr id="20" name="SubQ"/>
          <p:cNvSpPr txBox="1"/>
          <p:nvPr/>
        </p:nvSpPr>
        <p:spPr>
          <a:xfrm>
            <a:off x="274320" y="868680"/>
            <a:ext cx="8595360" cy="381000"/>
          </a:xfrm>
          <a:prstGeom prst="rect">
            <a:avLst/>
          </a:prstGeom>
          <a:noFill/>
          <a:ln>
            <a:noFill/>
          </a:ln>
        </p:spPr>
        <p:txBody>
          <a:bodyPr wrap="square" lIns="0" tIns="0" rIns="0" bIns="0" anchor="t"/>
          <a:lstStyle/>
          <a:p>
            <a:pPr algn="ctr">
              <a:spcAft>
                <a:spcPts val="0"/>
              </a:spcAft>
              <a:buNone/>
            </a:pPr>
            <a:r>
              <a:rPr lang="en-US" sz="2000" b="0" i="0" dirty="0">
                <a:solidFill>
                  <a:srgbClr val="5C4826"/>
                </a:solidFill>
              </a:rPr>
              <a:t>In what order do the parts of one registration happen?</a:t>
            </a:r>
          </a:p>
        </p:txBody>
      </p:sp>
      <p:sp>
        <p:nvSpPr>
          <p:cNvPr id="50" name="FigPanel"/>
          <p:cNvSpPr/>
          <p:nvPr/>
        </p:nvSpPr>
        <p:spPr>
          <a:xfrm>
            <a:off x="274320" y="1341120"/>
            <a:ext cx="8595360" cy="4785360"/>
          </a:xfrm>
          <a:prstGeom prst="rect">
            <a:avLst/>
          </a:prstGeom>
          <a:solidFill>
            <a:srgbClr val="FDFCF9"/>
          </a:solidFill>
          <a:ln>
            <a:noFill/>
          </a:ln>
        </p:spPr>
        <p:txBody>
          <a:bodyPr wrap="square" lIns="0" tIns="0" rIns="0" bIns="0" anchor="ctr"/>
          <a:lstStyle/>
          <a:p>
            <a:pPr>
              <a:buNone/>
            </a:pPr>
            <a:endParaRPr lang="en-US"/>
          </a:p>
        </p:txBody>
      </p:sp>
      <p:pic>
        <p:nvPicPr>
          <p:cNvPr id="60" name="TourFigure" descr="A UML sequence diagram: a Student registers for a Section; Registration asks Section whether seats are available; an alt fragment creates an Enrollment when seats exist and waitlists the student when the section is full."/>
          <p:cNvPicPr>
            <a:picLocks noChangeAspect="1"/>
          </p:cNvPicPr>
          <p:nvPr/>
        </p:nvPicPr>
        <p:blipFill>
          <a:blip r:embed="rId2"/>
          <a:stretch>
            <a:fillRect/>
          </a:stretch>
        </p:blipFill>
        <p:spPr>
          <a:xfrm>
            <a:off x="1016212" y="1341120"/>
            <a:ext cx="7111577" cy="478536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states?</a:t>
            </a:r>
          </a:p>
        </p:txBody>
      </p:sp>
      <p:sp>
        <p:nvSpPr>
          <p:cNvPr id="3" name="Slide Number Placeholder 3"/>
          <p:cNvSpPr>
            <a:spLocks noGrp="1"/>
          </p:cNvSpPr>
          <p:nvPr>
            <p:ph type="sldNum" sz="quarter" idx="4"/>
          </p:nvPr>
        </p:nvSpPr>
        <p:spPr/>
        <p:txBody>
          <a:bodyPr/>
          <a:lstStyle/>
          <a:p>
            <a:fld id="{B7EB45DA-9A0D-DC49-8E02-F30A5DDC21C3}" type="slidenum">
              <a:rPr lang="en-US" smtClean="0"/>
              <a:t>8</a:t>
            </a:fld>
            <a:endParaRPr lang="en-US"/>
          </a:p>
        </p:txBody>
      </p:sp>
      <p:sp>
        <p:nvSpPr>
          <p:cNvPr id="20" name="SubQ"/>
          <p:cNvSpPr txBox="1"/>
          <p:nvPr/>
        </p:nvSpPr>
        <p:spPr>
          <a:xfrm>
            <a:off x="274320" y="868680"/>
            <a:ext cx="8595360" cy="381000"/>
          </a:xfrm>
          <a:prstGeom prst="rect">
            <a:avLst/>
          </a:prstGeom>
          <a:noFill/>
          <a:ln>
            <a:noFill/>
          </a:ln>
        </p:spPr>
        <p:txBody>
          <a:bodyPr wrap="square" lIns="0" tIns="0" rIns="0" bIns="0" anchor="t"/>
          <a:lstStyle/>
          <a:p>
            <a:pPr algn="ctr">
              <a:spcAft>
                <a:spcPts val="0"/>
              </a:spcAft>
              <a:buNone/>
            </a:pPr>
            <a:r>
              <a:rPr lang="en-US" sz="2000" b="0" i="0" dirty="0">
                <a:solidFill>
                  <a:srgbClr val="5C4826"/>
                </a:solidFill>
              </a:rPr>
              <a:t>What states can this thing occupy, and which transitions are legal?</a:t>
            </a:r>
          </a:p>
        </p:txBody>
      </p:sp>
      <p:sp>
        <p:nvSpPr>
          <p:cNvPr id="50" name="FigPanel"/>
          <p:cNvSpPr/>
          <p:nvPr/>
        </p:nvSpPr>
        <p:spPr>
          <a:xfrm>
            <a:off x="274320" y="1341120"/>
            <a:ext cx="8595360" cy="4785360"/>
          </a:xfrm>
          <a:prstGeom prst="rect">
            <a:avLst/>
          </a:prstGeom>
          <a:solidFill>
            <a:srgbClr val="FDFCF9"/>
          </a:solidFill>
          <a:ln>
            <a:noFill/>
          </a:ln>
        </p:spPr>
        <p:txBody>
          <a:bodyPr wrap="square" lIns="0" tIns="0" rIns="0" bIns="0" anchor="ctr"/>
          <a:lstStyle/>
          <a:p>
            <a:pPr>
              <a:buNone/>
            </a:pPr>
            <a:endParaRPr lang="en-US"/>
          </a:p>
        </p:txBody>
      </p:sp>
      <p:pic>
        <p:nvPicPr>
          <p:cNvPr id="60" name="TourFigure" descr="A UML state machine for a course proposal: Draft to Submitted to Approved to Published, with a revise transition returning Submitted to Draft, and a final state after Published."/>
          <p:cNvPicPr>
            <a:picLocks noChangeAspect="1"/>
          </p:cNvPicPr>
          <p:nvPr/>
        </p:nvPicPr>
        <p:blipFill>
          <a:blip r:embed="rId2"/>
          <a:stretch>
            <a:fillRect/>
          </a:stretch>
        </p:blipFill>
        <p:spPr>
          <a:xfrm>
            <a:off x="274320" y="1714062"/>
            <a:ext cx="8595360" cy="40394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paths?</a:t>
            </a:r>
          </a:p>
        </p:txBody>
      </p:sp>
      <p:sp>
        <p:nvSpPr>
          <p:cNvPr id="3" name="Slide Number Placeholder 3"/>
          <p:cNvSpPr>
            <a:spLocks noGrp="1"/>
          </p:cNvSpPr>
          <p:nvPr>
            <p:ph type="sldNum" sz="quarter" idx="4"/>
          </p:nvPr>
        </p:nvSpPr>
        <p:spPr/>
        <p:txBody>
          <a:bodyPr/>
          <a:lstStyle/>
          <a:p>
            <a:fld id="{B7EB45DA-9A0D-DC49-8E02-F30A5DDC21C3}" type="slidenum">
              <a:rPr lang="en-US" smtClean="0"/>
              <a:t>9</a:t>
            </a:fld>
            <a:endParaRPr lang="en-US"/>
          </a:p>
        </p:txBody>
      </p:sp>
      <p:sp>
        <p:nvSpPr>
          <p:cNvPr id="20" name="SubQ"/>
          <p:cNvSpPr txBox="1"/>
          <p:nvPr/>
        </p:nvSpPr>
        <p:spPr>
          <a:xfrm>
            <a:off x="274320" y="868680"/>
            <a:ext cx="8595360" cy="381000"/>
          </a:xfrm>
          <a:prstGeom prst="rect">
            <a:avLst/>
          </a:prstGeom>
          <a:noFill/>
          <a:ln>
            <a:noFill/>
          </a:ln>
        </p:spPr>
        <p:txBody>
          <a:bodyPr wrap="square" lIns="0" tIns="0" rIns="0" bIns="0" anchor="t"/>
          <a:lstStyle/>
          <a:p>
            <a:pPr algn="ctr">
              <a:spcAft>
                <a:spcPts val="0"/>
              </a:spcAft>
              <a:buNone/>
            </a:pPr>
            <a:r>
              <a:rPr lang="en-US" sz="2000" b="0" i="0" dirty="0">
                <a:solidFill>
                  <a:srgbClr val="5C4826"/>
                </a:solidFill>
              </a:rPr>
              <a:t>What paths can execution take?</a:t>
            </a:r>
          </a:p>
        </p:txBody>
      </p:sp>
      <p:sp>
        <p:nvSpPr>
          <p:cNvPr id="50" name="FigPanel"/>
          <p:cNvSpPr/>
          <p:nvPr/>
        </p:nvSpPr>
        <p:spPr>
          <a:xfrm>
            <a:off x="274320" y="1341120"/>
            <a:ext cx="8595360" cy="4785360"/>
          </a:xfrm>
          <a:prstGeom prst="rect">
            <a:avLst/>
          </a:prstGeom>
          <a:solidFill>
            <a:srgbClr val="FDFCF9"/>
          </a:solidFill>
          <a:ln>
            <a:noFill/>
          </a:ln>
        </p:spPr>
        <p:txBody>
          <a:bodyPr wrap="square" lIns="0" tIns="0" rIns="0" bIns="0" anchor="ctr"/>
          <a:lstStyle/>
          <a:p>
            <a:pPr>
              <a:buNone/>
            </a:pPr>
            <a:endParaRPr lang="en-US"/>
          </a:p>
        </p:txBody>
      </p:sp>
      <p:pic>
        <p:nvPicPr>
          <p:cNvPr id="60" name="TourFigure" descr="A UML activity diagram: request a section, check capacity, then a decision — create an enrollment when seats are available, add to the waitlist when they are not — merging into notify student."/>
          <p:cNvPicPr>
            <a:picLocks noChangeAspect="1"/>
          </p:cNvPicPr>
          <p:nvPr/>
        </p:nvPicPr>
        <p:blipFill>
          <a:blip r:embed="rId2"/>
          <a:stretch>
            <a:fillRect/>
          </a:stretch>
        </p:blipFill>
        <p:spPr>
          <a:xfrm>
            <a:off x="1777275" y="1341120"/>
            <a:ext cx="5589450" cy="478536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Who needs what?</a:t>
            </a:r>
          </a:p>
        </p:txBody>
      </p:sp>
      <p:sp>
        <p:nvSpPr>
          <p:cNvPr id="3" name="Slide Number Placeholder 3"/>
          <p:cNvSpPr>
            <a:spLocks noGrp="1"/>
          </p:cNvSpPr>
          <p:nvPr>
            <p:ph type="sldNum" sz="quarter" idx="4"/>
          </p:nvPr>
        </p:nvSpPr>
        <p:spPr/>
        <p:txBody>
          <a:bodyPr/>
          <a:lstStyle/>
          <a:p>
            <a:fld id="{B7EB45DA-9A0D-DC49-8E02-F30A5DDC21C3}" type="slidenum">
              <a:rPr lang="en-US" smtClean="0"/>
              <a:t>10</a:t>
            </a:fld>
            <a:endParaRPr lang="en-US"/>
          </a:p>
        </p:txBody>
      </p:sp>
      <p:sp>
        <p:nvSpPr>
          <p:cNvPr id="20" name="SubQ"/>
          <p:cNvSpPr txBox="1"/>
          <p:nvPr/>
        </p:nvSpPr>
        <p:spPr>
          <a:xfrm>
            <a:off x="274320" y="868680"/>
            <a:ext cx="8595360" cy="381000"/>
          </a:xfrm>
          <a:prstGeom prst="rect">
            <a:avLst/>
          </a:prstGeom>
          <a:noFill/>
          <a:ln>
            <a:noFill/>
          </a:ln>
        </p:spPr>
        <p:txBody>
          <a:bodyPr wrap="square" lIns="0" tIns="0" rIns="0" bIns="0" anchor="t"/>
          <a:lstStyle/>
          <a:p>
            <a:pPr algn="ctr">
              <a:spcAft>
                <a:spcPts val="0"/>
              </a:spcAft>
              <a:buNone/>
            </a:pPr>
            <a:r>
              <a:rPr lang="en-US" sz="2000" b="0" i="0" dirty="0">
                <a:solidFill>
                  <a:srgbClr val="5C4826"/>
                </a:solidFill>
              </a:rPr>
              <a:t>What does each actor want from the system?</a:t>
            </a:r>
          </a:p>
        </p:txBody>
      </p:sp>
      <p:sp>
        <p:nvSpPr>
          <p:cNvPr id="50" name="FigPanel"/>
          <p:cNvSpPr/>
          <p:nvPr/>
        </p:nvSpPr>
        <p:spPr>
          <a:xfrm>
            <a:off x="274320" y="1341120"/>
            <a:ext cx="8595360" cy="4785360"/>
          </a:xfrm>
          <a:prstGeom prst="rect">
            <a:avLst/>
          </a:prstGeom>
          <a:solidFill>
            <a:srgbClr val="FDFCF9"/>
          </a:solidFill>
          <a:ln>
            <a:noFill/>
          </a:ln>
        </p:spPr>
        <p:txBody>
          <a:bodyPr wrap="square" lIns="0" tIns="0" rIns="0" bIns="0" anchor="ctr"/>
          <a:lstStyle/>
          <a:p>
            <a:pPr>
              <a:buNone/>
            </a:pPr>
            <a:endParaRPr lang="en-US"/>
          </a:p>
        </p:txBody>
      </p:sp>
      <p:pic>
        <p:nvPicPr>
          <p:cNvPr id="60" name="TourFigure" descr="A UML use-case diagram: Student, Instructor and Registrar actors wired to the use cases drop a course, register for a section, view roster, and approve a course proposal, inside a course-registration system boundary."/>
          <p:cNvPicPr>
            <a:picLocks noChangeAspect="1"/>
          </p:cNvPicPr>
          <p:nvPr/>
        </p:nvPicPr>
        <p:blipFill>
          <a:blip r:embed="rId2"/>
          <a:stretch>
            <a:fillRect/>
          </a:stretch>
        </p:blipFill>
        <p:spPr>
          <a:xfrm>
            <a:off x="1533226" y="1341120"/>
            <a:ext cx="6077549" cy="47853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Same territory, different questions</a:t>
            </a:r>
          </a:p>
        </p:txBody>
      </p:sp>
      <p:sp>
        <p:nvSpPr>
          <p:cNvPr id="3" name="Slide Number Placeholder 3"/>
          <p:cNvSpPr>
            <a:spLocks noGrp="1"/>
          </p:cNvSpPr>
          <p:nvPr>
            <p:ph type="sldNum" sz="quarter" idx="4"/>
          </p:nvPr>
        </p:nvSpPr>
        <p:spPr/>
        <p:txBody>
          <a:bodyPr/>
          <a:lstStyle/>
          <a:p>
            <a:fld id="{B7EB45DA-9A0D-DC49-8E02-F30A5DDC21C3}" type="slidenum">
              <a:rPr lang="en-US" smtClean="0"/>
              <a:t>11</a:t>
            </a:fld>
            <a:endParaRPr lang="en-US"/>
          </a:p>
        </p:txBody>
      </p:sp>
      <p:pic>
        <p:nvPicPr>
          <p:cNvPr id="60" name="ThumbFigure" descr="Five models of one course-registration system shown together: the class diagram, the sequence diagram, the state machine, the activity diagram and the use-case diagram, each captioned with the question it answers."/>
          <p:cNvPicPr>
            <a:picLocks noChangeAspect="1"/>
          </p:cNvPicPr>
          <p:nvPr/>
        </p:nvPicPr>
        <p:blipFill>
          <a:blip r:embed="rId2"/>
          <a:stretch>
            <a:fillRect/>
          </a:stretch>
        </p:blipFill>
        <p:spPr>
          <a:xfrm>
            <a:off x="1349594" y="1341120"/>
            <a:ext cx="6444813" cy="4373880"/>
          </a:xfrm>
          <a:prstGeom prst="rect">
            <a:avLst/>
          </a:prstGeom>
        </p:spPr>
      </p:pic>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buNone/>
            </a:pPr>
            <a:r>
              <a:rPr lang="en-US" sz="2000" b="1" i="0" dirty="0">
                <a:solidFill>
                  <a:srgbClr val="FFFFFF"/>
                </a:solidFill>
              </a:rPr>
              <a:t>Different questions preserve different distinctions.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Modeling is a living practice</a:t>
            </a:r>
          </a:p>
        </p:txBody>
      </p:sp>
      <p:sp>
        <p:nvSpPr>
          <p:cNvPr id="3" name="Slide Number Placeholder 3"/>
          <p:cNvSpPr>
            <a:spLocks noGrp="1"/>
          </p:cNvSpPr>
          <p:nvPr>
            <p:ph type="sldNum" sz="quarter" idx="4"/>
          </p:nvPr>
        </p:nvSpPr>
        <p:spPr/>
        <p:txBody>
          <a:bodyPr/>
          <a:lstStyle/>
          <a:p>
            <a:fld id="{B7EB45DA-9A0D-DC49-8E02-F30A5DDC21C3}" type="slidenum">
              <a:rPr lang="en-US" smtClean="0"/>
              <a:t>12</a:t>
            </a:fld>
            <a:endParaRPr lang="en-US"/>
          </a:p>
        </p:txBody>
      </p:sp>
      <p:sp>
        <p:nvSpPr>
          <p:cNvPr id="20" name="SubQ"/>
          <p:cNvSpPr txBox="1"/>
          <p:nvPr/>
        </p:nvSpPr>
        <p:spPr>
          <a:xfrm>
            <a:off x="274320" y="868680"/>
            <a:ext cx="8595360" cy="381000"/>
          </a:xfrm>
          <a:prstGeom prst="rect">
            <a:avLst/>
          </a:prstGeom>
          <a:noFill/>
          <a:ln>
            <a:noFill/>
          </a:ln>
        </p:spPr>
        <p:txBody>
          <a:bodyPr wrap="square" lIns="0" tIns="0" rIns="0" bIns="0" anchor="t"/>
          <a:lstStyle/>
          <a:p>
            <a:pPr algn="ctr">
              <a:spcAft>
                <a:spcPts val="0"/>
              </a:spcAft>
              <a:buNone/>
            </a:pPr>
            <a:r>
              <a:rPr lang="en-US" sz="2000" b="0" i="0" dirty="0">
                <a:solidFill>
                  <a:srgbClr val="5C4826"/>
                </a:solidFill>
              </a:rPr>
              <a:t>An engineering practice with living tools, decades older than the agents.</a:t>
            </a:r>
          </a:p>
        </p:txBody>
      </p:sp>
      <p:pic>
        <p:nvPicPr>
          <p:cNvPr id="60" name="BesserFigure" descr="A screenshot of the BESSER documentation site. The page reads: build software from a model — draw your system in the browser or define it in Python, then generate the code for your application."/>
          <p:cNvPicPr>
            <a:picLocks noChangeAspect="1"/>
          </p:cNvPicPr>
          <p:nvPr/>
        </p:nvPicPr>
        <p:blipFill>
          <a:blip r:embed="rId2"/>
          <a:stretch>
            <a:fillRect/>
          </a:stretch>
        </p:blipFill>
        <p:spPr>
          <a:xfrm>
            <a:off x="274320" y="1454369"/>
            <a:ext cx="8595360" cy="3507302"/>
          </a:xfrm>
          <a:prstGeom prst="rect">
            <a:avLst/>
          </a:prstGeom>
          <a:ln w="12700">
            <a:solidFill>
              <a:srgbClr val="C9B991"/>
            </a:solidFill>
          </a:ln>
        </p:spPr>
      </p:pic>
      <p:sp>
        <p:nvSpPr>
          <p:cNvPr id="70" name="Src"/>
          <p:cNvSpPr txBox="1"/>
          <p:nvPr/>
        </p:nvSpPr>
        <p:spPr>
          <a:xfrm>
            <a:off x="274320" y="5151120"/>
            <a:ext cx="8595360" cy="274320"/>
          </a:xfrm>
          <a:prstGeom prst="rect">
            <a:avLst/>
          </a:prstGeom>
          <a:noFill/>
          <a:ln>
            <a:noFill/>
          </a:ln>
        </p:spPr>
        <p:txBody>
          <a:bodyPr wrap="square" lIns="0" tIns="0" rIns="0" bIns="0" anchor="t"/>
          <a:lstStyle/>
          <a:p>
            <a:pPr algn="ctr">
              <a:spcAft>
                <a:spcPts val="0"/>
              </a:spcAft>
              <a:buNone/>
            </a:pPr>
            <a:r>
              <a:rPr lang="en-US" sz="1400" b="0" i="0" dirty="0">
                <a:solidFill>
                  <a:srgbClr val="555960"/>
                </a:solidFill>
              </a:rPr>
              <a:t>BESSER — BESSER-PEARL (Jordi Cabot's group), MIT licence · github.com/BESSER-PEARL/BESSER</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buNone/>
            </a:pPr>
            <a:r>
              <a:rPr lang="en-US" sz="2000" b="1" i="0" dirty="0">
                <a:solidFill>
                  <a:srgbClr val="FFFFFF"/>
                </a:solidFill>
              </a:rPr>
              <a:t>The forms already exist. Select before you invent.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The agent works inside an engineered environment</a:t>
            </a:r>
          </a:p>
        </p:txBody>
      </p:sp>
      <p:sp>
        <p:nvSpPr>
          <p:cNvPr id="3" name="Slide Number Placeholder 3"/>
          <p:cNvSpPr>
            <a:spLocks noGrp="1"/>
          </p:cNvSpPr>
          <p:nvPr>
            <p:ph type="sldNum" sz="quarter" idx="4"/>
          </p:nvPr>
        </p:nvSpPr>
        <p:spPr/>
        <p:txBody>
          <a:bodyPr/>
          <a:lstStyle/>
          <a:p>
            <a:fld id="{B7EB45DA-9A0D-DC49-8E02-F30A5DDC21C3}" type="slidenum">
              <a:rPr lang="en-US" smtClean="0"/>
              <a:t>2</a:t>
            </a:fld>
            <a:endParaRPr lang="en-US"/>
          </a:p>
        </p:txBody>
      </p:sp>
      <p:sp>
        <p:nvSpPr>
          <p:cNvPr id="100" name="Env" descr="Enclosure labelled ENGINEERING ENVIRONMENT containing the whole delegation path: a task enters, a reasoner works, an artifact comes out, and a models station feeds the path before the reasoner runs."/>
          <p:cNvSpPr/>
          <p:nvPr/>
        </p:nvSpPr>
        <p:spPr>
          <a:xfrm>
            <a:off x="274320" y="896112"/>
            <a:ext cx="7498080" cy="4370832"/>
          </a:xfrm>
          <a:prstGeom prst="rect">
            <a:avLst/>
          </a:prstGeom>
          <a:noFill/>
          <a:ln w="25400">
            <a:solidFill>
              <a:srgbClr val="8E6F3E"/>
            </a:solidFill>
          </a:ln>
        </p:spPr>
        <p:txBody>
          <a:bodyPr/>
          <a:lstStyle/>
          <a:p>
            <a:endParaRPr/>
          </a:p>
        </p:txBody>
      </p:sp>
      <p:sp>
        <p:nvSpPr>
          <p:cNvPr id="101" name="EnvLbl" descr="Label: ENGINEERING ENVIRONMENT"/>
          <p:cNvSpPr txBox="1"/>
          <p:nvPr/>
        </p:nvSpPr>
        <p:spPr>
          <a:xfrm>
            <a:off x="548640" y="969264"/>
            <a:ext cx="6949440" cy="384048"/>
          </a:xfrm>
          <a:prstGeom prst="rect">
            <a:avLst/>
          </a:prstGeom>
          <a:noFill/>
          <a:ln>
            <a:noFill/>
          </a:ln>
        </p:spPr>
        <p:txBody>
          <a:bodyPr wrap="square" lIns="0" tIns="0" rIns="0" bIns="0" anchor="ctr"/>
          <a:lstStyle/>
          <a:p>
            <a:pPr algn="ctr">
              <a:buNone/>
            </a:pPr>
            <a:r>
              <a:rPr lang="en-US" sz="2000" b="1" i="0" dirty="0">
                <a:solidFill>
                  <a:srgbClr val="8E6F3E"/>
                </a:solidFill>
              </a:rPr>
              <a:t>ENGINEERING ENVIRONMENT</a:t>
            </a:r>
          </a:p>
        </p:txBody>
      </p:sp>
      <p:sp>
        <p:nvSpPr>
          <p:cNvPr id="102" name="Task" descr="Station 1 of 4: TASK, what we want done."/>
          <p:cNvSpPr/>
          <p:nvPr/>
        </p:nvSpPr>
        <p:spPr>
          <a:xfrm>
            <a:off x="548640" y="3438144"/>
            <a:ext cx="1645920" cy="731520"/>
          </a:xfrm>
          <a:prstGeom prst="rect">
            <a:avLst/>
          </a:prstGeom>
          <a:solidFill>
            <a:srgbClr val="F5F1E8"/>
          </a:solidFill>
          <a:ln w="19050">
            <a:solidFill>
              <a:srgbClr val="C9B991"/>
            </a:solidFill>
          </a:ln>
        </p:spPr>
        <p:txBody>
          <a:bodyPr wrap="square" lIns="27432" tIns="22860" rIns="27432" bIns="22860" anchor="ctr"/>
          <a:lstStyle/>
          <a:p>
            <a:pPr algn="ctr">
              <a:buNone/>
            </a:pPr>
            <a:r>
              <a:rPr lang="en-US" sz="1800" b="1" i="0" dirty="0">
                <a:solidFill>
                  <a:srgbClr val="5C4826"/>
                </a:solidFill>
              </a:rPr>
              <a:t>TASK</a:t>
            </a:r>
          </a:p>
        </p:txBody>
      </p:sp>
      <p:cxnSp>
        <p:nvCxnSpPr>
          <p:cNvPr id="103" name="Conn1" descr="Arrow from TASK to REASONER; the models station feeds this segment."/>
          <p:cNvCxnSpPr/>
          <p:nvPr/>
        </p:nvCxnSpPr>
        <p:spPr>
          <a:xfrm>
            <a:off x="2258568" y="3803904"/>
            <a:ext cx="886968" cy="0"/>
          </a:xfrm>
          <a:prstGeom prst="straightConnector1">
            <a:avLst/>
          </a:prstGeom>
          <a:ln w="34925">
            <a:solidFill>
              <a:srgbClr val="8E6F3E"/>
            </a:solidFill>
            <a:tailEnd type="triangle" w="lg" len="lg"/>
          </a:ln>
        </p:spPr>
      </p:cxnSp>
      <p:sp>
        <p:nvSpPr>
          <p:cNvPr id="104" name="Reasoner" descr="Station 3 of 4: REASONER, what does the work."/>
          <p:cNvSpPr/>
          <p:nvPr/>
        </p:nvSpPr>
        <p:spPr>
          <a:xfrm>
            <a:off x="3200400" y="3438144"/>
            <a:ext cx="1645920" cy="731520"/>
          </a:xfrm>
          <a:prstGeom prst="rect">
            <a:avLst/>
          </a:prstGeom>
          <a:solidFill>
            <a:srgbClr val="F5F1E8"/>
          </a:solidFill>
          <a:ln w="19050">
            <a:solidFill>
              <a:srgbClr val="C9B991"/>
            </a:solidFill>
          </a:ln>
        </p:spPr>
        <p:txBody>
          <a:bodyPr wrap="square" lIns="27432" tIns="22860" rIns="27432" bIns="22860" anchor="ctr"/>
          <a:lstStyle/>
          <a:p>
            <a:pPr algn="ctr">
              <a:buNone/>
            </a:pPr>
            <a:r>
              <a:rPr lang="en-US" sz="1800" b="1" i="0" dirty="0">
                <a:solidFill>
                  <a:srgbClr val="5C4826"/>
                </a:solidFill>
              </a:rPr>
              <a:t>REASONER</a:t>
            </a:r>
          </a:p>
        </p:txBody>
      </p:sp>
      <p:sp>
        <p:nvSpPr>
          <p:cNvPr id="105" name="RealLbl" descr="Label on the arrow from REASONER to ARTIFACT: realization."/>
          <p:cNvSpPr txBox="1"/>
          <p:nvPr/>
        </p:nvSpPr>
        <p:spPr>
          <a:xfrm>
            <a:off x="4846320" y="3456432"/>
            <a:ext cx="1005840" cy="292608"/>
          </a:xfrm>
          <a:prstGeom prst="rect">
            <a:avLst/>
          </a:prstGeom>
          <a:noFill/>
          <a:ln>
            <a:noFill/>
          </a:ln>
        </p:spPr>
        <p:txBody>
          <a:bodyPr wrap="none" lIns="0" tIns="0" rIns="0" bIns="0" anchor="ctr"/>
          <a:lstStyle/>
          <a:p>
            <a:pPr algn="ctr">
              <a:buNone/>
            </a:pPr>
            <a:r>
              <a:rPr lang="en-US" sz="1500" b="0" i="1" dirty="0">
                <a:solidFill>
                  <a:srgbClr val="555960"/>
                </a:solidFill>
              </a:rPr>
              <a:t>realization</a:t>
            </a:r>
          </a:p>
        </p:txBody>
      </p:sp>
      <p:cxnSp>
        <p:nvCxnSpPr>
          <p:cNvPr id="106" name="Conn2" descr="Arrow from REASONER to ARTIFACT, labelled realization."/>
          <p:cNvCxnSpPr/>
          <p:nvPr/>
        </p:nvCxnSpPr>
        <p:spPr>
          <a:xfrm>
            <a:off x="4910328" y="3803904"/>
            <a:ext cx="886968" cy="0"/>
          </a:xfrm>
          <a:prstGeom prst="straightConnector1">
            <a:avLst/>
          </a:prstGeom>
          <a:ln w="34925">
            <a:solidFill>
              <a:srgbClr val="8E6F3E"/>
            </a:solidFill>
            <a:tailEnd type="triangle" w="lg" len="lg"/>
          </a:ln>
        </p:spPr>
      </p:cxnSp>
      <p:sp>
        <p:nvSpPr>
          <p:cNvPr id="107" name="Artifact" descr="Station 4 of 4: ARTIFACT, what comes out."/>
          <p:cNvSpPr/>
          <p:nvPr/>
        </p:nvSpPr>
        <p:spPr>
          <a:xfrm>
            <a:off x="5852160" y="3438144"/>
            <a:ext cx="1645920" cy="731520"/>
          </a:xfrm>
          <a:prstGeom prst="rect">
            <a:avLst/>
          </a:prstGeom>
          <a:solidFill>
            <a:srgbClr val="F5F1E8"/>
          </a:solidFill>
          <a:ln w="19050">
            <a:solidFill>
              <a:srgbClr val="C9B991"/>
            </a:solidFill>
          </a:ln>
        </p:spPr>
        <p:txBody>
          <a:bodyPr wrap="square" lIns="27432" tIns="22860" rIns="27432" bIns="22860" anchor="ctr"/>
          <a:lstStyle/>
          <a:p>
            <a:pPr algn="ctr">
              <a:buNone/>
            </a:pPr>
            <a:r>
              <a:rPr lang="en-US" sz="1800" b="1" i="0" dirty="0">
                <a:solidFill>
                  <a:srgbClr val="5C4826"/>
                </a:solidFill>
              </a:rPr>
              <a:t>ARTIFACT</a:t>
            </a:r>
          </a:p>
        </p:txBody>
      </p:sp>
      <p:sp>
        <p:nvSpPr>
          <p:cNvPr id="110" name="ModAnn" descr="Annotation, left: MODELING changes the reasoning surface."/>
          <p:cNvSpPr txBox="1"/>
          <p:nvPr/>
        </p:nvSpPr>
        <p:spPr>
          <a:xfrm>
            <a:off x="1143000" y="1399032"/>
            <a:ext cx="3108960" cy="640080"/>
          </a:xfrm>
          <a:prstGeom prst="rect">
            <a:avLst/>
          </a:prstGeom>
          <a:noFill/>
          <a:ln>
            <a:noFill/>
          </a:ln>
        </p:spPr>
        <p:txBody>
          <a:bodyPr wrap="square" lIns="0" tIns="0" rIns="0" bIns="0" anchor="ctr"/>
          <a:lstStyle/>
          <a:p>
            <a:pPr algn="ctr">
              <a:buNone/>
            </a:pPr>
            <a:r>
              <a:rPr lang="en-US" sz="1800" b="1" i="0" dirty="0">
                <a:solidFill>
                  <a:srgbClr val="C8102E"/>
                </a:solidFill>
              </a:rPr>
              <a:t>MODELING</a:t>
            </a:r>
          </a:p>
          <a:p>
            <a:pPr algn="ctr">
              <a:spcBef>
                <a:spcPts val="120"/>
              </a:spcBef>
              <a:buNone/>
            </a:pPr>
            <a:r>
              <a:rPr lang="en-US" sz="1500" b="0" i="1" dirty="0">
                <a:solidFill>
                  <a:srgbClr val="555960"/>
                </a:solidFill>
              </a:rPr>
              <a:t>changes the reasoning surface</a:t>
            </a:r>
          </a:p>
        </p:txBody>
      </p:sp>
      <p:sp>
        <p:nvSpPr>
          <p:cNvPr id="111" name="Models" descr="Station 2 of 4, drawn with the heavy rim because it is the one station this lecture pair is about: MODELS, the representation."/>
          <p:cNvSpPr/>
          <p:nvPr/>
        </p:nvSpPr>
        <p:spPr>
          <a:xfrm>
            <a:off x="1874520" y="2148840"/>
            <a:ext cx="1645920" cy="731520"/>
          </a:xfrm>
          <a:prstGeom prst="rect">
            <a:avLst/>
          </a:prstGeom>
          <a:solidFill>
            <a:srgbClr val="FFFFFF"/>
          </a:solidFill>
          <a:ln w="28575">
            <a:solidFill>
              <a:srgbClr val="8E6F3E"/>
            </a:solidFill>
          </a:ln>
        </p:spPr>
        <p:txBody>
          <a:bodyPr wrap="square" lIns="27432" tIns="22860" rIns="27432" bIns="22860" anchor="ctr"/>
          <a:lstStyle/>
          <a:p>
            <a:pPr algn="ctr">
              <a:buNone/>
            </a:pPr>
            <a:r>
              <a:rPr lang="en-US" sz="1800" b="1" i="0" dirty="0">
                <a:solidFill>
                  <a:srgbClr val="5C4826"/>
                </a:solidFill>
              </a:rPr>
              <a:t>MODELS</a:t>
            </a:r>
          </a:p>
        </p:txBody>
      </p:sp>
      <p:cxnSp>
        <p:nvCxnSpPr>
          <p:cNvPr id="112" name="ModArrow" descr="Modeling's lever, one solid stroke ending in an arrowhead that lands on the segment between TASK and REASONER: the representation is on the path before the reasoner ever runs."/>
          <p:cNvCxnSpPr/>
          <p:nvPr/>
        </p:nvCxnSpPr>
        <p:spPr>
          <a:xfrm>
            <a:off x="2697480" y="2916936"/>
            <a:ext cx="0" cy="877824"/>
          </a:xfrm>
          <a:prstGeom prst="straightConnector1">
            <a:avLst/>
          </a:prstGeom>
          <a:ln w="34925">
            <a:solidFill>
              <a:srgbClr val="C8102E"/>
            </a:solidFill>
            <a:tailEnd type="triangle" w="lg" len="lg"/>
          </a:ln>
        </p:spPr>
      </p:cxnSp>
      <p:sp>
        <p:nvSpPr>
          <p:cNvPr id="120" name="AlnAnn" descr="Annotation, right: ALIGNMENT governs what may pass."/>
          <p:cNvSpPr txBox="1"/>
          <p:nvPr/>
        </p:nvSpPr>
        <p:spPr>
          <a:xfrm>
            <a:off x="5440680" y="1399032"/>
            <a:ext cx="2468880" cy="640080"/>
          </a:xfrm>
          <a:prstGeom prst="rect">
            <a:avLst/>
          </a:prstGeom>
          <a:noFill/>
          <a:ln>
            <a:noFill/>
          </a:ln>
        </p:spPr>
        <p:txBody>
          <a:bodyPr wrap="square" lIns="0" tIns="0" rIns="0" bIns="0" anchor="ctr"/>
          <a:lstStyle/>
          <a:p>
            <a:pPr algn="ctr">
              <a:buNone/>
            </a:pPr>
            <a:r>
              <a:rPr lang="en-US" sz="1800" b="1" i="0" dirty="0">
                <a:solidFill>
                  <a:srgbClr val="2E74B5"/>
                </a:solidFill>
              </a:rPr>
              <a:t>ALIGNMENT</a:t>
            </a:r>
          </a:p>
          <a:p>
            <a:pPr algn="ctr">
              <a:spcBef>
                <a:spcPts val="120"/>
              </a:spcBef>
              <a:buNone/>
            </a:pPr>
            <a:r>
              <a:rPr lang="en-US" sz="1500" b="0" i="1" dirty="0">
                <a:solidFill>
                  <a:srgbClr val="555960"/>
                </a:solidFill>
              </a:rPr>
              <a:t>governs what may pass</a:t>
            </a:r>
          </a:p>
        </p:txBody>
      </p:sp>
      <p:cxnSp>
        <p:nvCxnSpPr>
          <p:cNvPr id="121" name="AlnArrow" descr="Alignment's gate, part one: a solid stroke down from the annotation onto the ARTIFACT. It ends in a bar rather than an arrowhead because the gate always acts."/>
          <p:cNvCxnSpPr/>
          <p:nvPr/>
        </p:nvCxnSpPr>
        <p:spPr>
          <a:xfrm>
            <a:off x="6675120" y="2148840"/>
            <a:ext cx="0" cy="1261872"/>
          </a:xfrm>
          <a:prstGeom prst="straightConnector1">
            <a:avLst/>
          </a:prstGeom>
          <a:ln w="34925">
            <a:solidFill>
              <a:srgbClr val="2E74B5"/>
            </a:solidFill>
          </a:ln>
        </p:spPr>
      </p:cxnSp>
      <p:sp>
        <p:nvSpPr>
          <p:cNvPr id="124" name="AlnGate" descr="Alignment's gate, part two: a bar laid across the top edge of the ARTIFACT, the checkpoint every realization is judged at."/>
          <p:cNvSpPr/>
          <p:nvPr/>
        </p:nvSpPr>
        <p:spPr>
          <a:xfrm>
            <a:off x="6263640" y="3406140"/>
            <a:ext cx="822960" cy="64008"/>
          </a:xfrm>
          <a:prstGeom prst="rect">
            <a:avLst/>
          </a:prstGeom>
          <a:solidFill>
            <a:srgbClr val="2E74B5"/>
          </a:solidFill>
          <a:ln>
            <a:noFill/>
          </a:ln>
        </p:spPr>
        <p:txBody>
          <a:bodyPr/>
          <a:lstStyle/>
          <a:p>
            <a:endParaRPr/>
          </a:p>
        </p:txBody>
      </p:sp>
      <p:cxnSp>
        <p:nvCxnSpPr>
          <p:cNvPr id="122" name="ExitArrow" descr="The egress, and the only stroke that crosses the environment's boundary. It is dashed because that passage is the one conditional thing in the picture: the artifact leaves the engineering environment and acquires consequence only if Alignment's gate lets it."/>
          <p:cNvCxnSpPr/>
          <p:nvPr/>
        </p:nvCxnSpPr>
        <p:spPr>
          <a:xfrm>
            <a:off x="7562088" y="3803904"/>
            <a:ext cx="1170432" cy="0"/>
          </a:xfrm>
          <a:prstGeom prst="straightConnector1">
            <a:avLst/>
          </a:prstGeom>
          <a:ln w="34925">
            <a:solidFill>
              <a:srgbClr val="2E74B5"/>
            </a:solidFill>
            <a:prstDash val="dash"/>
            <a:tailEnd type="triangle" w="lg" len="lg"/>
          </a:ln>
        </p:spPr>
      </p:cxnSp>
      <p:sp>
        <p:nvSpPr>
          <p:cNvPr id="123" name="ExitLbl" descr="Label on the arrow leaving the environment: consequence."/>
          <p:cNvSpPr txBox="1"/>
          <p:nvPr/>
        </p:nvSpPr>
        <p:spPr>
          <a:xfrm>
            <a:off x="7891272" y="3456432"/>
            <a:ext cx="978408" cy="292608"/>
          </a:xfrm>
          <a:prstGeom prst="rect">
            <a:avLst/>
          </a:prstGeom>
          <a:noFill/>
          <a:ln>
            <a:noFill/>
          </a:ln>
        </p:spPr>
        <p:txBody>
          <a:bodyPr wrap="none" lIns="0" tIns="0" rIns="0" bIns="0" anchor="ctr"/>
          <a:lstStyle/>
          <a:p>
            <a:pPr algn="ctr">
              <a:buNone/>
            </a:pPr>
            <a:r>
              <a:rPr lang="en-US" sz="1500" b="0" i="1" dirty="0">
                <a:solidFill>
                  <a:srgbClr val="555960"/>
                </a:solidFill>
              </a:rPr>
              <a:t>consequence</a:t>
            </a:r>
          </a:p>
        </p:txBody>
      </p:sp>
      <p:sp>
        <p:nvSpPr>
          <p:cNvPr id="199" name="FooterBand" descr="Footer: Today: what does Modeling change about this production system?"/>
          <p:cNvSpPr/>
          <p:nvPr/>
        </p:nvSpPr>
        <p:spPr>
          <a:xfrm>
            <a:off x="274320" y="5603443"/>
            <a:ext cx="8595360" cy="777240"/>
          </a:xfrm>
          <a:prstGeom prst="rect">
            <a:avLst/>
          </a:prstGeom>
          <a:solidFill>
            <a:srgbClr val="8E6F3E"/>
          </a:solidFill>
          <a:ln>
            <a:noFill/>
          </a:ln>
        </p:spPr>
        <p:txBody>
          <a:bodyPr wrap="square" lIns="27432" tIns="22860" rIns="27432" bIns="22860" anchor="ctr"/>
          <a:lstStyle/>
          <a:p>
            <a:pPr algn="ctr">
              <a:buNone/>
            </a:pPr>
            <a:r>
              <a:rPr lang="en-US" sz="2000" b="1" i="0" dirty="0">
                <a:solidFill>
                  <a:srgbClr val="FFFFFF"/>
                </a:solidFill>
              </a:rPr>
              <a:t>Today: what does Modeling change about this production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500"/>
                                        <p:tgtEl>
                                          <p:spTgt spid="110"/>
                                        </p:tgtEl>
                                      </p:cBhvr>
                                    </p:animEffect>
                                  </p:childTnLst>
                                </p:cTn>
                              </p:par>
                              <p:par>
                                <p:cTn id="8" presetID="10" presetClass="entr" presetSubtype="0" fill="hold" nodeType="withEffect">
                                  <p:stCondLst>
                                    <p:cond delay="0"/>
                                  </p:stCondLst>
                                  <p:childTnLst>
                                    <p:set>
                                      <p:cBhvr>
                                        <p:cTn id="9" dur="1" fill="hold">
                                          <p:stCondLst>
                                            <p:cond delay="0"/>
                                          </p:stCondLst>
                                        </p:cTn>
                                        <p:tgtEl>
                                          <p:spTgt spid="111"/>
                                        </p:tgtEl>
                                        <p:attrNameLst>
                                          <p:attrName>style.visibility</p:attrName>
                                        </p:attrNameLst>
                                      </p:cBhvr>
                                      <p:to>
                                        <p:strVal val="visible"/>
                                      </p:to>
                                    </p:set>
                                    <p:animEffect transition="in" filter="fade">
                                      <p:cBhvr>
                                        <p:cTn id="10" dur="500"/>
                                        <p:tgtEl>
                                          <p:spTgt spid="111"/>
                                        </p:tgtEl>
                                      </p:cBhvr>
                                    </p:animEffect>
                                  </p:childTnLst>
                                </p:cTn>
                              </p:par>
                              <p:par>
                                <p:cTn id="11" presetID="10" presetClass="entr" presetSubtype="0" fill="hold" nodeType="withEffect">
                                  <p:stCondLst>
                                    <p:cond delay="0"/>
                                  </p:stCondLst>
                                  <p:childTnLst>
                                    <p:set>
                                      <p:cBhvr>
                                        <p:cTn id="12" dur="1" fill="hold">
                                          <p:stCondLst>
                                            <p:cond delay="0"/>
                                          </p:stCondLst>
                                        </p:cTn>
                                        <p:tgtEl>
                                          <p:spTgt spid="112"/>
                                        </p:tgtEl>
                                        <p:attrNameLst>
                                          <p:attrName>style.visibility</p:attrName>
                                        </p:attrNameLst>
                                      </p:cBhvr>
                                      <p:to>
                                        <p:strVal val="visible"/>
                                      </p:to>
                                    </p:set>
                                    <p:animEffect transition="in" filter="fade">
                                      <p:cBhvr>
                                        <p:cTn id="13" dur="500"/>
                                        <p:tgtEl>
                                          <p:spTgt spid="1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0"/>
                                        </p:tgtEl>
                                        <p:attrNameLst>
                                          <p:attrName>style.visibility</p:attrName>
                                        </p:attrNameLst>
                                      </p:cBhvr>
                                      <p:to>
                                        <p:strVal val="visible"/>
                                      </p:to>
                                    </p:set>
                                    <p:animEffect transition="in" filter="fade">
                                      <p:cBhvr>
                                        <p:cTn id="18" dur="500"/>
                                        <p:tgtEl>
                                          <p:spTgt spid="120"/>
                                        </p:tgtEl>
                                      </p:cBhvr>
                                    </p:animEffect>
                                  </p:childTnLst>
                                </p:cTn>
                              </p:par>
                              <p:par>
                                <p:cTn id="19" presetID="10" presetClass="entr" presetSubtype="0" fill="hold" nodeType="withEffect">
                                  <p:stCondLst>
                                    <p:cond delay="0"/>
                                  </p:stCondLst>
                                  <p:childTnLst>
                                    <p:set>
                                      <p:cBhvr>
                                        <p:cTn id="20" dur="1" fill="hold">
                                          <p:stCondLst>
                                            <p:cond delay="0"/>
                                          </p:stCondLst>
                                        </p:cTn>
                                        <p:tgtEl>
                                          <p:spTgt spid="121"/>
                                        </p:tgtEl>
                                        <p:attrNameLst>
                                          <p:attrName>style.visibility</p:attrName>
                                        </p:attrNameLst>
                                      </p:cBhvr>
                                      <p:to>
                                        <p:strVal val="visible"/>
                                      </p:to>
                                    </p:set>
                                    <p:animEffect transition="in" filter="fade">
                                      <p:cBhvr>
                                        <p:cTn id="21" dur="500"/>
                                        <p:tgtEl>
                                          <p:spTgt spid="121"/>
                                        </p:tgtEl>
                                      </p:cBhvr>
                                    </p:animEffect>
                                  </p:childTnLst>
                                </p:cTn>
                              </p:par>
                              <p:par>
                                <p:cTn id="22" presetID="10" presetClass="entr" presetSubtype="0" fill="hold" nodeType="withEffect">
                                  <p:stCondLst>
                                    <p:cond delay="0"/>
                                  </p:stCondLst>
                                  <p:childTnLst>
                                    <p:set>
                                      <p:cBhvr>
                                        <p:cTn id="23" dur="1" fill="hold">
                                          <p:stCondLst>
                                            <p:cond delay="0"/>
                                          </p:stCondLst>
                                        </p:cTn>
                                        <p:tgtEl>
                                          <p:spTgt spid="124"/>
                                        </p:tgtEl>
                                        <p:attrNameLst>
                                          <p:attrName>style.visibility</p:attrName>
                                        </p:attrNameLst>
                                      </p:cBhvr>
                                      <p:to>
                                        <p:strVal val="visible"/>
                                      </p:to>
                                    </p:set>
                                    <p:animEffect transition="in" filter="fade">
                                      <p:cBhvr>
                                        <p:cTn id="24" dur="500"/>
                                        <p:tgtEl>
                                          <p:spTgt spid="124"/>
                                        </p:tgtEl>
                                      </p:cBhvr>
                                    </p:animEffect>
                                  </p:childTnLst>
                                </p:cTn>
                              </p:par>
                              <p:par>
                                <p:cTn id="25" presetID="10" presetClass="entr" presetSubtype="0" fill="hold" nodeType="withEffect">
                                  <p:stCondLst>
                                    <p:cond delay="0"/>
                                  </p:stCondLst>
                                  <p:childTnLst>
                                    <p:set>
                                      <p:cBhvr>
                                        <p:cTn id="26" dur="1" fill="hold">
                                          <p:stCondLst>
                                            <p:cond delay="0"/>
                                          </p:stCondLst>
                                        </p:cTn>
                                        <p:tgtEl>
                                          <p:spTgt spid="122"/>
                                        </p:tgtEl>
                                        <p:attrNameLst>
                                          <p:attrName>style.visibility</p:attrName>
                                        </p:attrNameLst>
                                      </p:cBhvr>
                                      <p:to>
                                        <p:strVal val="visible"/>
                                      </p:to>
                                    </p:set>
                                    <p:animEffect transition="in" filter="fade">
                                      <p:cBhvr>
                                        <p:cTn id="27" dur="500"/>
                                        <p:tgtEl>
                                          <p:spTgt spid="122"/>
                                        </p:tgtEl>
                                      </p:cBhvr>
                                    </p:animEffect>
                                  </p:childTnLst>
                                </p:cTn>
                              </p:par>
                              <p:par>
                                <p:cTn id="28" presetID="10" presetClass="entr" presetSubtype="0" fill="hold" nodeType="withEffect">
                                  <p:stCondLst>
                                    <p:cond delay="0"/>
                                  </p:stCondLst>
                                  <p:childTnLst>
                                    <p:set>
                                      <p:cBhvr>
                                        <p:cTn id="29" dur="1" fill="hold">
                                          <p:stCondLst>
                                            <p:cond delay="0"/>
                                          </p:stCondLst>
                                        </p:cTn>
                                        <p:tgtEl>
                                          <p:spTgt spid="123"/>
                                        </p:tgtEl>
                                        <p:attrNameLst>
                                          <p:attrName>style.visibility</p:attrName>
                                        </p:attrNameLst>
                                      </p:cBhvr>
                                      <p:to>
                                        <p:strVal val="visible"/>
                                      </p:to>
                                    </p:set>
                                    <p:animEffect transition="in" filter="fade">
                                      <p:cBhvr>
                                        <p:cTn id="30" dur="500"/>
                                        <p:tgtEl>
                                          <p:spTgt spid="12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99"/>
                                        </p:tgtEl>
                                        <p:attrNameLst>
                                          <p:attrName>style.visibility</p:attrName>
                                        </p:attrNameLst>
                                      </p:cBhvr>
                                      <p:to>
                                        <p:strVal val="visible"/>
                                      </p:to>
                                    </p:set>
                                    <p:animEffect transition="in" filter="fade">
                                      <p:cBhvr>
                                        <p:cTn id="35" dur="5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2F6451B-05D5-964F-AC61-763C973265E8}">
  <we:reference id="WA200010001" version="1.0.0.1" store="Omex" storeType="OMEX"/>
  <we:alternateReferences>
    <we:reference id="WA200010001" version="1.0.0.1" store="WA200010001" storeType="OMEX"/>
  </we:alternateReferences>
  <we:properties>
    <we:property name="claude.fileId" value="&quot;1299b91e-8e0b-4b63-ab37-4fd482b317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8577</TotalTime>
  <Words>4329</Words>
  <Application>Microsoft Macintosh PowerPoint</Application>
  <PresentationFormat>On-screen Show (4:3)</PresentationFormat>
  <Paragraphs>494</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Times</vt:lpstr>
      <vt:lpstr>Purdue1</vt:lpstr>
      <vt:lpstr>PowerPoint Presentation</vt:lpstr>
      <vt:lpstr>Delegation leaves an information problem</vt:lpstr>
      <vt:lpstr>A model is useful because it leaves things out</vt:lpstr>
      <vt:lpstr>…and makes explicit what must remain</vt:lpstr>
      <vt:lpstr>Modeling is purposeful reduction</vt:lpstr>
      <vt:lpstr>QUESTIONS COME FIRST</vt:lpstr>
      <vt:lpstr>One territory, three questions</vt:lpstr>
      <vt:lpstr>No model is simply “the system”</vt:lpstr>
      <vt:lpstr>Four questions for every model</vt:lpstr>
      <vt:lpstr>Engineers have seen these questions before</vt:lpstr>
      <vt:lpstr>Select before you invent</vt:lpstr>
      <vt:lpstr>UML is a repertoire, not the theory of Modeling</vt:lpstr>
      <vt:lpstr>REDUCTION REQUIRES JUDGMENT</vt:lpstr>
      <vt:lpstr>Top-down: the obligation decides what must remain</vt:lpstr>
      <vt:lpstr>Bottom-up: parsimony challenges what we kept</vt:lpstr>
      <vt:lpstr>Worked: protect the battery</vt:lpstr>
      <vt:lpstr>Top-down: preserve what the obligation requires</vt:lpstr>
      <vt:lpstr>Bottom-up: make every distinction earn its place</vt:lpstr>
      <vt:lpstr>The territory did not change. The question did.</vt:lpstr>
      <vt:lpstr>THE EVIDENCE</vt:lpstr>
      <vt:lpstr>Too much reduction loses the obligation</vt:lpstr>
      <vt:lpstr>Good reduction leaves implementation free</vt:lpstr>
      <vt:lpstr>The evidence, side by side</vt:lpstr>
      <vt:lpstr>Obligation and specification are different boundaries</vt:lpstr>
      <vt:lpstr>Capability can reduce scaffolding</vt:lpstr>
      <vt:lpstr>Capability cannot reduce what must be true</vt:lpstr>
      <vt:lpstr>Activity: Reduce</vt:lpstr>
      <vt:lpstr>Stretch break</vt:lpstr>
      <vt:lpstr>A model is not its representation</vt:lpstr>
      <vt:lpstr>Representation changes interpretation</vt:lpstr>
      <vt:lpstr>Activity: Interpret</vt:lpstr>
      <vt:lpstr>A good model is not a small copy of the system</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405</cp:revision>
  <dcterms:created xsi:type="dcterms:W3CDTF">2020-02-21T23:00:33Z</dcterms:created>
  <dcterms:modified xsi:type="dcterms:W3CDTF">2026-09-30T14:47:15Z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