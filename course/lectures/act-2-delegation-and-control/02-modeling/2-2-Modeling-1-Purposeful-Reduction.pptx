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2.xml" ContentType="application/vnd.openxmlformats-officedocument.presentationml.slide+xml"/>
  <Override PartName="/ppt/slides/slide6.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Slides/notesSlide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Types>
</file>

<file path=_rels/.rels><?xml version="1.0" encoding="UTF-8"?><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4"/>
  </p:notesMasterIdLst>
  <p:sldIdLst>
    <p:sldId id="256" r:id="rId41"/>
    <p:sldId id="289" r:id="rId74"/>
    <p:sldId id="257" r:id="rId42"/>
    <p:sldId id="258" r:id="rId43"/>
    <p:sldId id="259" r:id="rId44"/>
    <p:sldId id="260" r:id="rId45"/>
    <p:sldId id="261" r:id="rId46"/>
    <p:sldId id="262" r:id="rId47"/>
    <p:sldId id="263" r:id="rId48"/>
    <p:sldId id="264" r:id="rId49"/>
    <p:sldId id="265" r:id="rId50"/>
    <p:sldId id="266" r:id="rId51"/>
    <p:sldId id="267" r:id="rId52"/>
    <p:sldId id="268" r:id="rId53"/>
    <p:sldId id="269" r:id="rId54"/>
    <p:sldId id="270" r:id="rId55"/>
    <p:sldId id="271" r:id="rId56"/>
    <p:sldId id="272" r:id="rId57"/>
    <p:sldId id="273" r:id="rId58"/>
    <p:sldId id="274" r:id="rId59"/>
    <p:sldId id="275" r:id="rId60"/>
    <p:sldId id="280" r:id="rId65"/>
    <p:sldId id="282" r:id="rId67"/>
    <p:sldId id="276" r:id="rId61"/>
    <p:sldId id="277" r:id="rId62"/>
    <p:sldId id="278" r:id="rId63"/>
    <p:sldId id="279" r:id="rId64"/>
    <p:sldId id="283" r:id="rId68"/>
    <p:sldId id="284" r:id="rId69"/>
    <p:sldId id="285" r:id="rId70"/>
    <p:sldId id="286" r:id="rId71"/>
    <p:sldId id="287" r:id="rId72"/>
    <p:sldId id="288" r:id="rId7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p:scale>
          <a:sx n="61" d="100"/>
          <a:sy n="61" d="100"/>
        </p:scale>
        <p:origin x="3152" y="25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Relationships xmlns="http://schemas.openxmlformats.org/package/2006/relationships"><Relationship Id="rId34" Type="http://schemas.openxmlformats.org/officeDocument/2006/relationships/notesMaster" Target="notesMasters/notesMaster1.xml"/><Relationship Id="rId38" Type="http://schemas.openxmlformats.org/officeDocument/2006/relationships/tableStyles" Target="tableStyles.xml"/><Relationship Id="rId1" Type="http://schemas.openxmlformats.org/officeDocument/2006/relationships/slideMaster" Target="slideMasters/slideMaster1.xml"/><Relationship Id="rId37" Type="http://schemas.openxmlformats.org/officeDocument/2006/relationships/theme" Target="theme/theme1.xml"/><Relationship Id="rId36" Type="http://schemas.openxmlformats.org/officeDocument/2006/relationships/viewProps" Target="viewProps.xml"/><Relationship Id="rId35" Type="http://schemas.openxmlformats.org/officeDocument/2006/relationships/presProps" Target="presProps.xml"/><Relationship Id="rId41" Type="http://schemas.openxmlformats.org/officeDocument/2006/relationships/slide" Target="slides/slide1.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2.xml"/><Relationship Id="rId45" Type="http://schemas.openxmlformats.org/officeDocument/2006/relationships/slide" Target="slides/slide6.xml"/><Relationship Id="rId46" Type="http://schemas.openxmlformats.org/officeDocument/2006/relationships/slide" Target="slides/slide35.xml"/><Relationship Id="rId47" Type="http://schemas.openxmlformats.org/officeDocument/2006/relationships/slide" Target="slides/slide36.xml"/><Relationship Id="rId48" Type="http://schemas.openxmlformats.org/officeDocument/2006/relationships/slide" Target="slides/slide37.xml"/><Relationship Id="rId49" Type="http://schemas.openxmlformats.org/officeDocument/2006/relationships/slide" Target="slides/slide38.xml"/><Relationship Id="rId50" Type="http://schemas.openxmlformats.org/officeDocument/2006/relationships/slide" Target="slides/slide39.xml"/><Relationship Id="rId51" Type="http://schemas.openxmlformats.org/officeDocument/2006/relationships/slide" Target="slides/slide40.xml"/><Relationship Id="rId52" Type="http://schemas.openxmlformats.org/officeDocument/2006/relationships/slide" Target="slides/slide41.xml"/><Relationship Id="rId53" Type="http://schemas.openxmlformats.org/officeDocument/2006/relationships/slide" Target="slides/slide5.xml"/><Relationship Id="rId54" Type="http://schemas.openxmlformats.org/officeDocument/2006/relationships/slide" Target="slides/slide13.xml"/><Relationship Id="rId55" Type="http://schemas.openxmlformats.org/officeDocument/2006/relationships/slide" Target="slides/slide14.xml"/><Relationship Id="rId56" Type="http://schemas.openxmlformats.org/officeDocument/2006/relationships/slide" Target="slides/slide15.xml"/><Relationship Id="rId57" Type="http://schemas.openxmlformats.org/officeDocument/2006/relationships/slide" Target="slides/slide16.xml"/><Relationship Id="rId58" Type="http://schemas.openxmlformats.org/officeDocument/2006/relationships/slide" Target="slides/slide17.xml"/><Relationship Id="rId59" Type="http://schemas.openxmlformats.org/officeDocument/2006/relationships/slide" Target="slides/slide18.xml"/><Relationship Id="rId60" Type="http://schemas.openxmlformats.org/officeDocument/2006/relationships/slide" Target="slides/slide19.xml"/><Relationship Id="rId61" Type="http://schemas.openxmlformats.org/officeDocument/2006/relationships/slide" Target="slides/slide20.xml"/><Relationship Id="rId62" Type="http://schemas.openxmlformats.org/officeDocument/2006/relationships/slide" Target="slides/slide21.xml"/><Relationship Id="rId63" Type="http://schemas.openxmlformats.org/officeDocument/2006/relationships/slide" Target="slides/slide22.xml"/><Relationship Id="rId64" Type="http://schemas.openxmlformats.org/officeDocument/2006/relationships/slide" Target="slides/slide23.xml"/><Relationship Id="rId65" Type="http://schemas.openxmlformats.org/officeDocument/2006/relationships/slide" Target="slides/slide24.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8.xml"/><Relationship Id="rId70" Type="http://schemas.openxmlformats.org/officeDocument/2006/relationships/slide" Target="slides/slide29.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32.xml"/><Relationship Id="rId74" Type="http://schemas.openxmlformats.org/officeDocument/2006/relationships/slide" Target="slides/slide42.xml"/></Relationships>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next three slides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previous two slides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Two directions of reasoning - top-down from the obligation, bottom-up from the proposed model - then both worked live on one embedded system.</a:t>
            </a:r>
          </a:p>
          <a:p>
            <a:r>
              <a:rPr dirty="0"/>
              <a:t>Spine strip: MODEL stage highlighted (stage 2 of the recurring discipline from slide 9).</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Question to ask of every model: what must this model preserve? (R1.s15)</a:t>
            </a:r>
          </a:p>
          <a:p>
            <a:r>
              <a:rPr dirty="0"/>
              <a:t>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For every represented distinction: what engineering question requires this? If none, why carry it?</a:t>
            </a:r>
          </a:p>
          <a:p>
            <a:r>
              <a:rPr dirty="0"/>
              <a:t>The correction matters (R1.s17): the target is the smallest model adequate to purpose, not the smallest model. Below adequate, the obligation is lost.</a:t>
            </a:r>
          </a:p>
          <a:p>
            <a:r>
              <a:rPr dirty="0"/>
              <a:t>Top-down finds what must remain; bottom-up challenges what we chose to keep (the couplet returns on the closing slide). Now we work both, live.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Territory an ECE student grasps in thirty seconds - that is why it, and not a software system, carries the method (plan section 7).</a:t>
            </a:r>
          </a:p>
          <a:p>
            <a:r>
              <a:rPr dirty="0"/>
              <a:t>Present territory before model; the model does not exist yet.</a:t>
            </a:r>
          </a:p>
          <a:p>
            <a:r>
              <a:rPr dirty="0"/>
              <a:t>Exactly one engineering question (R4 verbatim): can the controller exhaust the battery before completing an 8-hour operating period?</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Ask the room: what do we need to reason about that? BEFORE revealing the model card.</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(R4). The PROPERTY beat of the spine happens here - point at it.</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genuinely useful discussion (R4): if estimated power already incorporates CPU frequency, fan PWM, and Wi-Fi state, those details may be needed to DERIVE the estimate without living in THIS model.</a:t>
            </a:r>
          </a:p>
          <a:p>
            <a:r>
              <a:rPr dirty="0"/>
              <a:t>Not an obvious right answer; let the room argue briefly. That argument is the bottom-up test being practiced.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Worded as a CALLBACK to the diagram tour that closed on “Same territory, different questions”: the software version made this point across five models of one registration system; the embedded version closes the loop on territory you can feel. Say the callback aloud, do not re-teach it.</a:t>
            </a:r>
          </a:p>
          <a:p>
            <a:r>
              <a:rPr dirty="0"/>
              <a:t>Suddenly thermal mass, ambient temperature, heat generation and airflow matter — and battery capacity largely disappears.</a:t>
            </a:r>
          </a:p>
          <a:p>
            <a:r>
              <a:rPr dirty="0"/>
              <a:t>Closing hinge, spoken over the slide: we have judged what must remain. The next question is not whether we judged right — correspondence answers that, later — but how much of the answer we must tell the agent. That is the boundaries slide.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ROLE CHANGE, stated aloud: Section 2's controller taught how to reason. These two cases show how you find out whether the reasoning was right — a different job, not a second pass of the same lesson.</a:t>
            </a:r>
          </a:p>
          <a:p>
            <a:r>
              <a:rPr dirty="0"/>
              <a:t>Both production cases come from the instructor's production system. The lease's omission was vindicated; the account quota's was refuted. A hypothetical can teach judgment; only production can grade it. (Plan §7 — this section break exists to make the method/evidence split visible.)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account carried a quota; the reduction kept one scalar, credits_remaining. Unlimited and exhausted are two different states of that account, and a single integer has room for only one of them — both arrive at the model as 0.</a:t>
            </a:r>
          </a:p>
          <a:p>
            <a:r>
              <a:rPr dirty="0"/>
              <a:t>Keep this off the user: the failure is not that somebody was refused, it is that the representation could not express a distinction the obligation required. Bottom-up said removable; the obligation said no. This is refutation — the omitted distinction actually mattered, and production said so.</a:t>
            </a:r>
          </a:p>
          <a:p>
            <a:r>
              <a:rPr dirty="0"/>
              <a:t>Once a distinction is discarded, no downstream reasoning can recover it. That is the limit you stated on “Capability cannot reduce what must be true” — here it is reaching production.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lease model preserved owner, generation, lifetime, reclamation, and the forbidden transition: releasing a lease under a stale generation. It omitted the processing topology on purpose.</a:t>
            </a:r>
          </a:p>
          <a:p>
            <a:r>
              <a:rPr dirty="0"/>
              <a:t>The topology then really changed — the work was re-chunked and services rearranged — and nothing in the model moved. Vindication: the omission was tested by reality and passed. The omitted detail really was a degree of freedom, not something forgotten.</a:t>
            </a:r>
          </a:p>
          <a:p>
            <a:r>
              <a:rPr dirty="0"/>
              <a:t>The footer line is verbatim from the team.</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first three rows are Section 2's vocabulary — candidate omission, top-down judgment, bottom-up judgment. The room has already used each of them on the controller. Only the evidence row is new: the method produces judgments; production grades them. That is the method/evidence split on one screen.</a:t>
            </a:r>
          </a:p>
          <a:p>
            <a:r>
              <a:rPr dirty="0"/>
              <a:t>One sentence on revision: a model is a provisional judgment, revised when evidence arrives. The richer account of how designs explored with agents harden into durable models stays in the book — mention it, do not slide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the next slide.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reduction happened upstream. However capable the downstream agent, nothing arrives for it to recover — the distinction no longer exists in the model. The obligation boundary is capability-invariant; the specification boundary is not. The limit is semantic, not a capability shortfall.</a:t>
            </a:r>
          </a:p>
          <a:p>
            <a:r>
              <a:rPr dirty="0"/>
              <a:t>THE REVEAL, in three beats. Beat 1: the chain from “Open the box”, unchanged, with the encoding factor set in bold. Beat 2: a perfect reasoner drives interpretation and realization to one. Beat 3: what is left is the limit — for a fixed representation R, p_R goes to P(E | R).</a:t>
            </a:r>
          </a:p>
          <a:p>
            <a:r>
              <a:rPr dirty="0"/>
              <a:t>Every symbol is already known: T, M, R and H from the production equation, E, I and L from the chain decomposition, obligation and scaffolding and degrees of freedom from the argument just made. That is why the limit was held back until here. Read it off the chain rather than announcing it — the room should watch the last two factors go to one.</a:t>
            </a:r>
          </a:p>
          <a:p>
            <a:r>
              <a:rPr dirty="0"/>
              <a:t>Say it in these words: a better M cannot recover a distinction that R failed to carry. An organization that has not determined and externalized the obligations governing its work cannot discharge them by purchasing a more capable reasoner.</a:t>
            </a:r>
          </a:p>
          <a:p>
            <a:r>
              <a:rPr dirty="0"/>
              <a:t>The opening band figure is deliberately NOT reprised here. At the size this slide can spare, its internal type projects at four to seven pixels, and its red MODELING CHANGES THE REPRESENTATION overlay would in any case fight a slide that argues a perfect reasoner stays bounded by P(E | R). The chain line carries the same recall at a size the back row can read.</a:t>
            </a:r>
          </a:p>
          <a:p>
            <a:r>
              <a:rPr dirty="0"/>
              <a:t>Forward tag: you will watch this limit reach production in the correspondence section, on the account-quota case — a distinction the model could not express, and production said so.</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~10 minutes including debrief. Students re-enter the controller cold — that is the retention test.</a:t>
            </a:r>
          </a:p>
          <a:p>
            <a:r>
              <a:rPr dirty="0"/>
              <a:t>Debrief challenge sequence (R4, verbatim): Do you need the RTOS scheduler algorithm? Maybe — not if a justified worst-case delay is already carried. The temperature? Only as the trigger. Wi-Fi? Only if it can interfere with timing. Battery voltage? Not for this question — unless voltage affects actuator response inside the envelope. That last chain is the judgment being practiced.</a:t>
            </a:r>
          </a:p>
          <a:p>
            <a:r>
              <a:rPr dirty="0"/>
              <a:t>The DEBRIEF label, the convergence chain, and the bound are hidden until the click — reveal only after teams have committed. The bound is the PROPERTY beat of the spine.</a:t>
            </a:r>
          </a:p>
          <a:p>
            <a:r>
              <a:rPr dirty="0"/>
              <a:t>[QR placeholder — form URL pending per plan §8.2; a finisher unit drops in the real QR PNG with alt text = URL.]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A diagram is a representation, not a synonym for a model. The same recovery relation renders as a state diagram, a transition table, or structured text; the property — publication precedes the record — is statable whatever the encoding.</a:t>
            </a:r>
          </a:p>
          <a:p>
            <a:r>
              <a:rPr dirty="0"/>
              <a:t>Quiet setup for Deck 2: the same model can have several representations without making each representation an independent source of truth. Do not develop it further here.</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Merged R1.s25+s26 — the probabilistic seed motivates the asymmetry in one move. Seed P(agent correctly interprets c | r) and STOP THERE: no expected loss, no utility, no economics. Two representations of the same intended model differ in how reliably the claim is recovered.</a:t>
            </a:r>
          </a:p>
          <a:p>
            <a:r>
              <a:rPr dirty="0"/>
              <a:t>The fourth question — Quality — just became concrete: does the representation make the consequential interpretation sufficiently likely? Later units use this probabilistic view systematically; today the seed is enough.</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~9 minutes. Makes P(interpret) tangible without estimating a number — do not ask students for a number.</a:t>
            </a:r>
          </a:p>
          <a:p>
            <a:r>
              <a:rPr dirty="0"/>
              <a:t>Both directions on purpose, because the lecture just taught that a model is not its representation: (a) one drawing under two stated semantics — different models from the same picture; (b) two different representations intended to express one model — the same model from different pictures.</a:t>
            </a:r>
          </a:p>
          <a:p>
            <a:r>
              <a:rPr dirty="0"/>
              <a:t>Debrief flexes 2 minutes either way — the deck's main timing valve.</a:t>
            </a:r>
          </a:p>
          <a:p>
            <a:r>
              <a:rPr dirty="0"/>
              <a:t>[QR placeholder — form URL pending per plan §8.2; a finisher unit drops in the real QR PNG with alt text = URL.]</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compresses to 1 if needed. Reprise, not new content — the couplet was earned in Section 2 — top-down, bottom-up, then the worked controller — and adjudicated on “Capability cannot reduce what must be true”. Read the couplet, land the ital line, then the teaser names Deck 2's problem in one sentence and stops.</a:t>
            </a:r>
          </a:p>
          <a:p>
            <a:r>
              <a:rPr dirty="0"/>
              <a:t>[QR placeholder — feedback form URL pending per plan §8.2; a finisher unit drops in the real QR PNG with alt text = URL.]</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next slide’s move, which is to open the probability and point at the one term Modeling acts on. About 2.5 minutes including the naming exchange.</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next four slides each rescue exactly one of them.</a:t>
            </a:r>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two slides from now, arriving by demonstration rather than by assertion.</a:t>
            </a:r>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The next slide is the punchline — do not deliver it here.</a:t>
            </a:r>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a:t>
            </a:r>
          </a:p>
          <a:p>
            <a:r>
              <a:rPr lang="en-US" dirty="0"/>
              <a:t>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Do not walk all five again. Point, land the thesis, move. Forty-five seconds.</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NAME THE FIVE DISTINCTIONS ALOUD while pointing, one per card — this is the evidence for the second half of the thesis, and the thumbnails are too small to carry it on their own: structure, order, lifecycle, branching, intent. Five questions, five things worth keeping, one territory.</a:t>
            </a:r>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The job is one claim and one claim only: modeling is an extant engineering practice with living tools, not a conceptual vocabulary invented last year for agents. The UML tradition and the MBSE tradition are decades old and still under active development.</a:t>
            </a:r>
          </a:p>
          <a:p>
            <a:r>
              <a:rPr lang="en-US" dirty="0"/>
              <a:t>BESSER comes out of Jordi Cabot's group — the same tradition as the Model-Driven Software Engineering in Practice textbook. It is MIT-licensed and current.</a:t>
            </a:r>
          </a:p>
          <a:p>
            <a:r>
              <a:rPr lang="en-US" dirty="0"/>
              <a:t>Do NOT teach the tool, and do NOT catalogue Cabot's work. Read the tagline off the screen — build software from a model, draw it in the browser or define it in Python, then generate the code — and let that be the argument. The students can go find it themselves.</a:t>
            </a:r>
          </a:p>
          <a:p>
            <a:r>
              <a:rPr lang="en-US" dirty="0"/>
              <a:t>The takeaway line is the survivor of two deleted catalog slides: the forms already exist, so select before you invent. That is the practical instruction the old six-box gallery was trying to deliver, minus the gallery.</a:t>
            </a:r>
          </a:p>
          <a:p>
            <a:r>
              <a:rPr lang="en-US" dirty="0"/>
              <a:t>Screenshot provenance: besser.readthedocs.io, captured 2026-09-30, used for teaching and attributed on the slide.</a:t>
            </a:r>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Two slides from here,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slideLayouts/_rels/slideLayout1.xml.rels><?xml version="1.0" encoding="UTF-8"?><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Relationships xmlns="http://schemas.openxmlformats.org/package/2006/relationships"><Relationship Id="rId3" Type="http://schemas.openxmlformats.org/officeDocument/2006/relationships/notesSlide" Target="../notesSlides/notesSlide34.xml"/><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notesSlide" Target="../notesSlides/notesSlide35.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png"/><Relationship Id="rId3" Type="http://schemas.openxmlformats.org/officeDocument/2006/relationships/notesSlide" Target="../notesSlides/notesSlide36.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7.xml"/></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notesSlide" Target="../notesSlides/notesSlide38.xml"/></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 Id="rId3" Type="http://schemas.openxmlformats.org/officeDocument/2006/relationships/notesSlide" Target="../notesSlides/notesSlide39.xml"/></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notesSlide" Target="../notesSlides/notesSlide40.xml"/></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notesSlide" Target="../notesSlides/notesSlide41.xml"/></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 xml:space="preserve">Lecture 1 </a:t>
            </a:r>
            <a:r>
              <a:rPr lang="en-US" sz="2000" dirty="0">
                <a:solidFill>
                  <a:srgbClr val="555960"/>
                </a:solidFill>
              </a:rPr>
              <a:t>(today)</a:t>
            </a:r>
            <a:r>
              <a:rPr lang="en-US" sz="2000" b="0" i="0" dirty="0">
                <a:solidFill>
                  <a:srgbClr val="555960"/>
                </a:solidFill>
              </a:rPr>
              <a:t xml:space="preserve">: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xml:space="preserve">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xml:space="preserve">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1371600" y="1554480"/>
            <a:ext cx="640080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REDUCTION REQUIRES JUDGMENT</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B0"/>
          <p:cNvSpPr/>
          <p:nvPr/>
        </p:nvSpPr>
        <p:spPr>
          <a:xfrm>
            <a:off x="914400" y="1143000"/>
            <a:ext cx="7315200" cy="822960"/>
          </a:xfrm>
          <a:prstGeom prst="rect">
            <a:avLst/>
          </a:prstGeom>
          <a:solidFill>
            <a:srgbClr val="5C4826"/>
          </a:solidFill>
          <a:ln>
            <a:noFill/>
          </a:ln>
        </p:spPr>
        <p:txBody>
          <a:bodyPr wrap="square" lIns="27432" tIns="22860" rIns="27432" bIns="22860" anchor="ctr"/>
          <a:lstStyle/>
          <a:p>
            <a:pPr algn="ctr">
              <a:spcAft>
                <a:spcPts val="400"/>
              </a:spcAft>
              <a:buNone/>
            </a:pPr>
            <a:r>
              <a:rPr lang="en-US" sz="2000" b="1" dirty="0">
                <a:solidFill>
                  <a:srgbClr val="FFFFFF"/>
                </a:solidFill>
              </a:rPr>
              <a:t>ENGINEERING OBLIGATION</a:t>
            </a:r>
          </a:p>
          <a:p>
            <a:pPr algn="ctr">
              <a:spcAft>
                <a:spcPts val="0"/>
              </a:spcAft>
              <a:buNone/>
            </a:pPr>
            <a:r>
              <a:rPr lang="en-US" sz="1600" b="0" dirty="0">
                <a:solidFill>
                  <a:srgbClr val="FFFFFF"/>
                </a:solidFill>
              </a:rPr>
              <a:t>what the system must guarantee</a:t>
            </a:r>
          </a:p>
        </p:txBody>
      </p:sp>
      <p:cxnSp>
        <p:nvCxnSpPr>
          <p:cNvPr id="102" name="AR0"/>
          <p:cNvCxnSpPr/>
          <p:nvPr/>
        </p:nvCxnSpPr>
        <p:spPr>
          <a:xfrm>
            <a:off x="4572000" y="1965960"/>
            <a:ext cx="0" cy="320040"/>
          </a:xfrm>
          <a:prstGeom prst="straightConnector1">
            <a:avLst/>
          </a:prstGeom>
          <a:ln w="28575">
            <a:solidFill>
              <a:srgbClr val="8E6F3E"/>
            </a:solidFill>
            <a:tailEnd type="triangle" w="med" len="med"/>
          </a:ln>
        </p:spPr>
      </p:cxnSp>
      <p:sp>
        <p:nvSpPr>
          <p:cNvPr id="103" name="B1"/>
          <p:cNvSpPr/>
          <p:nvPr/>
        </p:nvSpPr>
        <p:spPr>
          <a:xfrm>
            <a:off x="914400" y="2286000"/>
            <a:ext cx="7315200" cy="822960"/>
          </a:xfrm>
          <a:prstGeom prst="rect">
            <a:avLst/>
          </a:prstGeom>
          <a:solidFill>
            <a:srgbClr val="555960"/>
          </a:solidFill>
          <a:ln>
            <a:noFill/>
          </a:ln>
        </p:spPr>
        <p:txBody>
          <a:bodyPr wrap="square" lIns="27432" tIns="22860" rIns="27432" bIns="22860" anchor="ctr"/>
          <a:lstStyle/>
          <a:p>
            <a:pPr algn="ctr">
              <a:spcAft>
                <a:spcPts val="400"/>
              </a:spcAft>
              <a:buNone/>
            </a:pPr>
            <a:r>
              <a:rPr lang="en-US" sz="2000" b="1" dirty="0">
                <a:solidFill>
                  <a:srgbClr val="FFFFFF"/>
                </a:solidFill>
              </a:rPr>
              <a:t>REQUIRED DISTINCTIONS</a:t>
            </a:r>
          </a:p>
          <a:p>
            <a:pPr algn="ctr">
              <a:spcAft>
                <a:spcPts val="0"/>
              </a:spcAft>
              <a:buNone/>
            </a:pPr>
            <a:r>
              <a:rPr lang="en-US" sz="1600" b="0" dirty="0">
                <a:solidFill>
                  <a:srgbClr val="FFFFFF"/>
                </a:solidFill>
              </a:rPr>
              <a:t>what the model must preserve</a:t>
            </a:r>
          </a:p>
        </p:txBody>
      </p:sp>
      <p:cxnSp>
        <p:nvCxnSpPr>
          <p:cNvPr id="104" name="AR1"/>
          <p:cNvCxnSpPr/>
          <p:nvPr/>
        </p:nvCxnSpPr>
        <p:spPr>
          <a:xfrm>
            <a:off x="4572000" y="3108960"/>
            <a:ext cx="0" cy="320040"/>
          </a:xfrm>
          <a:prstGeom prst="straightConnector1">
            <a:avLst/>
          </a:prstGeom>
          <a:ln w="28575">
            <a:solidFill>
              <a:srgbClr val="8E6F3E"/>
            </a:solidFill>
            <a:tailEnd type="triangle" w="med" len="med"/>
          </a:ln>
        </p:spPr>
      </p:cxnSp>
      <p:sp>
        <p:nvSpPr>
          <p:cNvPr id="105" name="B2"/>
          <p:cNvSpPr/>
          <p:nvPr/>
        </p:nvSpPr>
        <p:spPr>
          <a:xfrm>
            <a:off x="914400" y="3429000"/>
            <a:ext cx="7315200" cy="822960"/>
          </a:xfrm>
          <a:prstGeom prst="rect">
            <a:avLst/>
          </a:prstGeom>
          <a:solidFill>
            <a:srgbClr val="C9B991"/>
          </a:solidFill>
          <a:ln>
            <a:noFill/>
          </a:ln>
        </p:spPr>
        <p:txBody>
          <a:bodyPr wrap="square" lIns="27432" tIns="22860" rIns="27432" bIns="22860" anchor="ctr"/>
          <a:lstStyle/>
          <a:p>
            <a:pPr algn="ctr">
              <a:spcAft>
                <a:spcPts val="400"/>
              </a:spcAft>
              <a:buNone/>
            </a:pPr>
            <a:r>
              <a:rPr lang="en-US" sz="2000" b="1" dirty="0">
                <a:solidFill>
                  <a:srgbClr val="5C4826"/>
                </a:solidFill>
              </a:rPr>
              <a:t>LEGITIMATE FREEDOM</a:t>
            </a:r>
          </a:p>
          <a:p>
            <a:pPr algn="ctr">
              <a:spcAft>
                <a:spcPts val="0"/>
              </a:spcAft>
              <a:buNone/>
            </a:pPr>
            <a:r>
              <a:rPr lang="en-US" sz="1600" dirty="0">
                <a:solidFill>
                  <a:srgbClr val="353638"/>
                </a:solidFill>
              </a:rPr>
              <a:t>everything else: the agent’s degrees of freedom</a:t>
            </a:r>
          </a:p>
        </p:txBody>
      </p:sp>
      <p:sp>
        <p:nvSpPr>
          <p:cNvPr id="106" name="Ital"/>
          <p:cNvSpPr txBox="1"/>
          <p:nvPr/>
        </p:nvSpPr>
        <p:spPr>
          <a:xfrm>
            <a:off x="685800" y="4526280"/>
            <a:ext cx="7772400" cy="4114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07"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Ask of every model: what must it 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parsimony challenges what we kept</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08" name="CardHead"/>
          <p:cNvSpPr/>
          <p:nvPr/>
        </p:nvSpPr>
        <p:spPr>
          <a:xfrm>
            <a:off x="685800" y="1257300"/>
            <a:ext cx="320040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MODEL</a:t>
            </a:r>
          </a:p>
        </p:txBody>
      </p:sp>
      <p:sp>
        <p:nvSpPr>
          <p:cNvPr id="109" name="R0"/>
          <p:cNvSpPr/>
          <p:nvPr/>
        </p:nvSpPr>
        <p:spPr>
          <a:xfrm>
            <a:off x="685800" y="17145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components</a:t>
            </a:r>
          </a:p>
        </p:txBody>
      </p:sp>
      <p:sp>
        <p:nvSpPr>
          <p:cNvPr id="110" name="R1"/>
          <p:cNvSpPr/>
          <p:nvPr/>
        </p:nvSpPr>
        <p:spPr>
          <a:xfrm>
            <a:off x="685800" y="21717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depends-on edges</a:t>
            </a:r>
          </a:p>
        </p:txBody>
      </p:sp>
      <p:sp>
        <p:nvSpPr>
          <p:cNvPr id="111" name="R2"/>
          <p:cNvSpPr/>
          <p:nvPr/>
        </p:nvSpPr>
        <p:spPr>
          <a:xfrm>
            <a:off x="685800" y="26289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dirty="0">
                <a:solidFill>
                  <a:srgbClr val="5C4826"/>
                </a:solidFill>
              </a:rPr>
              <a:t>edge direction</a:t>
            </a:r>
          </a:p>
        </p:txBody>
      </p:sp>
      <p:sp>
        <p:nvSpPr>
          <p:cNvPr id="112" name="R3"/>
          <p:cNvSpPr/>
          <p:nvPr/>
        </p:nvSpPr>
        <p:spPr>
          <a:xfrm>
            <a:off x="685800" y="3086100"/>
            <a:ext cx="32004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0" i="1" strike="sngStrike" dirty="0">
                <a:solidFill>
                  <a:srgbClr val="555960"/>
                </a:solidFill>
              </a:rPr>
              <a:t>deploy schedule</a:t>
            </a:r>
          </a:p>
        </p:txBody>
      </p:sp>
      <p:sp>
        <p:nvSpPr>
          <p:cNvPr id="113" name="Ital"/>
          <p:cNvSpPr txBox="1"/>
          <p:nvPr/>
        </p:nvSpPr>
        <p:spPr>
          <a:xfrm>
            <a:off x="457200" y="3752850"/>
            <a:ext cx="3657600" cy="64008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For every row: what engineering question requires this? If none, why carry it?</a:t>
            </a:r>
          </a:p>
        </p:txBody>
      </p:sp>
      <p:sp>
        <p:nvSpPr>
          <p:cNvPr id="114" name="ScaleHead"/>
          <p:cNvSpPr txBox="1"/>
          <p:nvPr/>
        </p:nvSpPr>
        <p:spPr>
          <a:xfrm>
            <a:off x="4800600" y="1257300"/>
            <a:ext cx="3657600" cy="411480"/>
          </a:xfrm>
          <a:prstGeom prst="rect">
            <a:avLst/>
          </a:prstGeom>
          <a:noFill/>
          <a:ln>
            <a:noFill/>
          </a:ln>
        </p:spPr>
        <p:txBody>
          <a:bodyPr wrap="square" lIns="18288" tIns="18288" rIns="18288" bIns="18288" anchor="t"/>
          <a:lstStyle/>
          <a:p>
            <a:pPr algn="ctr">
              <a:spcAft>
                <a:spcPts val="0"/>
              </a:spcAft>
              <a:buNone/>
            </a:pPr>
            <a:r>
              <a:rPr lang="en-US" sz="1800" b="1" dirty="0">
                <a:solidFill>
                  <a:srgbClr val="8E6F3E"/>
                </a:solidFill>
              </a:rPr>
              <a:t>SMALLEST DOES NOT MEAN BEST</a:t>
            </a:r>
          </a:p>
        </p:txBody>
      </p:sp>
      <p:sp>
        <p:nvSpPr>
          <p:cNvPr id="115" name="Bar0"/>
          <p:cNvSpPr/>
          <p:nvPr/>
        </p:nvSpPr>
        <p:spPr>
          <a:xfrm>
            <a:off x="4800600" y="2286000"/>
            <a:ext cx="3657600" cy="38100"/>
          </a:xfrm>
          <a:prstGeom prst="rect">
            <a:avLst/>
          </a:prstGeom>
          <a:solidFill>
            <a:srgbClr val="C9B991"/>
          </a:solidFill>
          <a:ln>
            <a:noFill/>
          </a:ln>
        </p:spPr>
        <p:txBody>
          <a:bodyPr wrap="square" lIns="27432" tIns="22860" rIns="27432" bIns="22860" anchor="ctr"/>
          <a:lstStyle/>
          <a:p>
            <a:pPr algn="ctr">
              <a:spcAft>
                <a:spcPts val="0"/>
              </a:spcAft>
              <a:buNone/>
            </a:pPr>
            <a:endParaRPr/>
          </a:p>
        </p:txBody>
      </p:sp>
      <p:sp>
        <p:nvSpPr>
          <p:cNvPr id="116" name="T0"/>
          <p:cNvSpPr/>
          <p:nvPr/>
        </p:nvSpPr>
        <p:spPr>
          <a:xfrm>
            <a:off x="47887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7" name="T2"/>
          <p:cNvSpPr/>
          <p:nvPr/>
        </p:nvSpPr>
        <p:spPr>
          <a:xfrm>
            <a:off x="8445500" y="2217420"/>
            <a:ext cx="25400" cy="175260"/>
          </a:xfrm>
          <a:prstGeom prst="rect">
            <a:avLst/>
          </a:prstGeom>
          <a:solidFill>
            <a:srgbClr val="555960"/>
          </a:solidFill>
          <a:ln>
            <a:noFill/>
          </a:ln>
        </p:spPr>
        <p:txBody>
          <a:bodyPr wrap="square" lIns="27432" tIns="22860" rIns="27432" bIns="22860" anchor="ctr"/>
          <a:lstStyle/>
          <a:p>
            <a:pPr algn="ctr">
              <a:spcAft>
                <a:spcPts val="0"/>
              </a:spcAft>
              <a:buNone/>
            </a:pPr>
            <a:endParaRPr/>
          </a:p>
        </p:txBody>
      </p:sp>
      <p:sp>
        <p:nvSpPr>
          <p:cNvPr id="118" name="M0"/>
          <p:cNvSpPr/>
          <p:nvPr/>
        </p:nvSpPr>
        <p:spPr>
          <a:xfrm>
            <a:off x="5989320" y="2113280"/>
            <a:ext cx="182880" cy="182880"/>
          </a:xfrm>
          <a:prstGeom prst="diamond">
            <a:avLst/>
          </a:prstGeom>
          <a:solidFill>
            <a:srgbClr val="8E6F3E"/>
          </a:solidFill>
          <a:ln>
            <a:noFill/>
          </a:ln>
        </p:spPr>
        <p:txBody>
          <a:bodyPr/>
          <a:lstStyle/>
          <a:p>
            <a:endParaRPr lang="en-US"/>
          </a:p>
        </p:txBody>
      </p:sp>
      <p:sp>
        <p:nvSpPr>
          <p:cNvPr id="119" name="T1"/>
          <p:cNvSpPr txBox="1"/>
          <p:nvPr/>
        </p:nvSpPr>
        <p:spPr>
          <a:xfrm>
            <a:off x="5257800" y="1668780"/>
            <a:ext cx="1645920" cy="41148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smallest adequate to purpose</a:t>
            </a:r>
          </a:p>
        </p:txBody>
      </p:sp>
      <p:sp>
        <p:nvSpPr>
          <p:cNvPr id="120" name="T3"/>
          <p:cNvSpPr txBox="1"/>
          <p:nvPr/>
        </p:nvSpPr>
        <p:spPr>
          <a:xfrm>
            <a:off x="43891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smallest possible</a:t>
            </a:r>
          </a:p>
        </p:txBody>
      </p:sp>
      <p:sp>
        <p:nvSpPr>
          <p:cNvPr id="121" name="T4"/>
          <p:cNvSpPr txBox="1"/>
          <p:nvPr/>
        </p:nvSpPr>
        <p:spPr>
          <a:xfrm>
            <a:off x="8046720" y="2453640"/>
            <a:ext cx="822960" cy="548640"/>
          </a:xfrm>
          <a:prstGeom prst="rect">
            <a:avLst/>
          </a:prstGeom>
          <a:noFill/>
          <a:ln>
            <a:noFill/>
          </a:ln>
        </p:spPr>
        <p:txBody>
          <a:bodyPr wrap="square" lIns="0" tIns="0" rIns="0" bIns="0" anchor="t"/>
          <a:lstStyle/>
          <a:p>
            <a:pPr algn="ctr">
              <a:spcAft>
                <a:spcPts val="0"/>
              </a:spcAft>
              <a:buNone/>
            </a:pPr>
            <a:r>
              <a:rPr lang="en-US" sz="1400" b="0" dirty="0">
                <a:solidFill>
                  <a:srgbClr val="555960"/>
                </a:solidFill>
              </a:rPr>
              <a:t>faithful copy</a:t>
            </a:r>
          </a:p>
        </p:txBody>
      </p:sp>
      <p:sp>
        <p:nvSpPr>
          <p:cNvPr id="122" name="Corr"/>
          <p:cNvSpPr txBox="1"/>
          <p:nvPr/>
        </p:nvSpPr>
        <p:spPr>
          <a:xfrm>
            <a:off x="685800" y="4457700"/>
            <a:ext cx="7772400" cy="73152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The target is the smallest model adequate to purpose,</a:t>
            </a:r>
          </a:p>
          <a:p>
            <a:pPr algn="ctr">
              <a:spcAft>
                <a:spcPts val="0"/>
              </a:spcAft>
              <a:buNone/>
            </a:pPr>
            <a:r>
              <a:rPr lang="en-US" sz="2000" b="1" dirty="0">
                <a:solidFill>
                  <a:srgbClr val="5C4826"/>
                </a:solidFill>
              </a:rPr>
              <a:t>not the smallest model.</a:t>
            </a:r>
          </a:p>
        </p:txBody>
      </p:sp>
      <p:sp>
        <p:nvSpPr>
          <p:cNvPr id="12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Top-down: what must remain. Bottom-up: why is this still here?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METHOD, WORKED</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 xml:space="preserve">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Bottom-up: make every distinction earn its place</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65" name="CardHead"/>
          <p:cNvSpPr/>
          <p:nvPr/>
        </p:nvSpPr>
        <p:spPr>
          <a:xfrm>
            <a:off x="685800" y="11887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CANDIDATE: MODE</a:t>
            </a:r>
          </a:p>
        </p:txBody>
      </p:sp>
      <p:sp>
        <p:nvSpPr>
          <p:cNvPr id="166" name="L0"/>
          <p:cNvSpPr/>
          <p:nvPr/>
        </p:nvSpPr>
        <p:spPr>
          <a:xfrm>
            <a:off x="685800" y="16002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frequency</a:t>
            </a:r>
          </a:p>
        </p:txBody>
      </p:sp>
      <p:sp>
        <p:nvSpPr>
          <p:cNvPr id="167" name="L1"/>
          <p:cNvSpPr/>
          <p:nvPr/>
        </p:nvSpPr>
        <p:spPr>
          <a:xfrm>
            <a:off x="685800" y="19659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CPU utilization</a:t>
            </a:r>
          </a:p>
        </p:txBody>
      </p:sp>
      <p:sp>
        <p:nvSpPr>
          <p:cNvPr id="168" name="L2"/>
          <p:cNvSpPr/>
          <p:nvPr/>
        </p:nvSpPr>
        <p:spPr>
          <a:xfrm>
            <a:off x="685800" y="23317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fan PWM %</a:t>
            </a:r>
          </a:p>
        </p:txBody>
      </p:sp>
      <p:sp>
        <p:nvSpPr>
          <p:cNvPr id="169" name="L3"/>
          <p:cNvSpPr/>
          <p:nvPr/>
        </p:nvSpPr>
        <p:spPr>
          <a:xfrm>
            <a:off x="685800" y="26974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Wi-Fi state</a:t>
            </a:r>
          </a:p>
        </p:txBody>
      </p:sp>
      <p:sp>
        <p:nvSpPr>
          <p:cNvPr id="170" name="L4"/>
          <p:cNvSpPr/>
          <p:nvPr/>
        </p:nvSpPr>
        <p:spPr>
          <a:xfrm>
            <a:off x="685800" y="306324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flash writes per second</a:t>
            </a:r>
          </a:p>
        </p:txBody>
      </p:sp>
      <p:sp>
        <p:nvSpPr>
          <p:cNvPr id="171" name="L5"/>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display brightness</a:t>
            </a:r>
          </a:p>
        </p:txBody>
      </p:sp>
      <p:sp>
        <p:nvSpPr>
          <p:cNvPr id="172" name="L6"/>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strike="sngStrike" dirty="0">
                <a:solidFill>
                  <a:srgbClr val="555960"/>
                </a:solidFill>
              </a:rPr>
              <a:t>sample rate</a:t>
            </a:r>
          </a:p>
        </p:txBody>
      </p:sp>
      <p:sp>
        <p:nvSpPr>
          <p:cNvPr id="173" name="L7"/>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estimated power</a:t>
            </a:r>
          </a:p>
        </p:txBody>
      </p:sp>
      <p:sp>
        <p:nvSpPr>
          <p:cNvPr id="174" name="L8"/>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duration</a:t>
            </a:r>
          </a:p>
        </p:txBody>
      </p:sp>
      <p:cxnSp>
        <p:nvCxnSpPr>
          <p:cNvPr id="175" name="AR0"/>
          <p:cNvCxnSpPr/>
          <p:nvPr/>
        </p:nvCxnSpPr>
        <p:spPr>
          <a:xfrm>
            <a:off x="3771900" y="3000375"/>
            <a:ext cx="1485900" cy="0"/>
          </a:xfrm>
          <a:prstGeom prst="straightConnector1">
            <a:avLst/>
          </a:prstGeom>
          <a:ln w="28575">
            <a:solidFill>
              <a:srgbClr val="8E6F3E"/>
            </a:solidFill>
            <a:tailEnd type="triangle" w="med" len="med"/>
          </a:ln>
        </p:spPr>
      </p:cxnSp>
      <p:sp>
        <p:nvSpPr>
          <p:cNvPr id="176" name="KeptHead"/>
          <p:cNvSpPr/>
          <p:nvPr/>
        </p:nvSpPr>
        <p:spPr>
          <a:xfrm>
            <a:off x="5257800" y="2194560"/>
            <a:ext cx="29718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MODE</a:t>
            </a:r>
          </a:p>
        </p:txBody>
      </p:sp>
      <p:sp>
        <p:nvSpPr>
          <p:cNvPr id="177" name="K0"/>
          <p:cNvSpPr/>
          <p:nvPr/>
        </p:nvSpPr>
        <p:spPr>
          <a:xfrm>
            <a:off x="5257800" y="260604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a:t>
            </a:r>
          </a:p>
        </p:txBody>
      </p:sp>
      <p:sp>
        <p:nvSpPr>
          <p:cNvPr id="178" name="K1"/>
          <p:cNvSpPr/>
          <p:nvPr/>
        </p:nvSpPr>
        <p:spPr>
          <a:xfrm>
            <a:off x="5257800" y="3017520"/>
            <a:ext cx="29718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a:t>
            </a:r>
          </a:p>
        </p:txBody>
      </p:sp>
      <p:sp>
        <p:nvSpPr>
          <p:cNvPr id="179" name="TextBox 2"/>
          <p:cNvSpPr txBox="1"/>
          <p:nvPr/>
        </p:nvSpPr>
        <p:spPr>
          <a:xfrm>
            <a:off x="5029200" y="3611880"/>
            <a:ext cx="3429000" cy="548640"/>
          </a:xfrm>
          <a:prstGeom prst="rect">
            <a:avLst/>
          </a:prstGeom>
          <a:noFill/>
          <a:ln>
            <a:noFill/>
          </a:ln>
        </p:spPr>
        <p:txBody>
          <a:bodyPr wrap="square" lIns="0" tIns="0" rIns="0" bIns="0" anchor="t"/>
          <a:lstStyle/>
          <a:p>
            <a:pPr algn="ctr">
              <a:spcAft>
                <a:spcPts val="0"/>
              </a:spcAft>
              <a:buNone/>
            </a:pPr>
            <a:r>
              <a:rPr lang="en-US" sz="1600" b="0" dirty="0">
                <a:solidFill>
                  <a:srgbClr val="555960"/>
                </a:solidFill>
              </a:rPr>
              <a:t>plus two model-level facts:</a:t>
            </a:r>
          </a:p>
          <a:p>
            <a:pPr algn="ctr">
              <a:spcAft>
                <a:spcPts val="0"/>
              </a:spcAft>
              <a:buNone/>
            </a:pPr>
            <a:r>
              <a:rPr lang="en-US" sz="1600" b="0" dirty="0">
                <a:solidFill>
                  <a:srgbClr val="555960"/>
                </a:solidFill>
              </a:rPr>
              <a:t>usable energy · safety threshold</a:t>
            </a:r>
          </a:p>
        </p:txBody>
      </p:sp>
      <p:sp>
        <p:nvSpPr>
          <p:cNvPr id="180" name="Ital"/>
          <p:cNvSpPr txBox="1"/>
          <p:nvPr/>
        </p:nvSpPr>
        <p:spPr>
          <a:xfrm>
            <a:off x="685800" y="5029200"/>
            <a:ext cx="7772400" cy="5943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CPU frequency, fan PWM, Wi-Fi state: needed to derive the power estimate,</a:t>
            </a:r>
          </a:p>
          <a:p>
            <a:pPr algn="ctr">
              <a:spcAft>
                <a:spcPts val="0"/>
              </a:spcAft>
              <a:buNone/>
            </a:pPr>
            <a:r>
              <a:rPr lang="en-US" sz="1700" b="0" i="1" dirty="0">
                <a:solidFill>
                  <a:srgbClr val="555960"/>
                </a:solidFill>
              </a:rPr>
              <a:t>not to live in the model.</a:t>
            </a:r>
          </a:p>
        </p:txBody>
      </p:sp>
      <p:sp>
        <p:nvSpPr>
          <p:cNvPr id="18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Nine distinctions walked in. Three survived.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territory did not change. The question did.</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82" name="SubLine"/>
          <p:cNvSpPr txBox="1"/>
          <p:nvPr/>
        </p:nvSpPr>
        <p:spPr>
          <a:xfrm>
            <a:off x="685800" y="1005840"/>
            <a:ext cx="7772400" cy="411480"/>
          </a:xfrm>
          <a:prstGeom prst="rect">
            <a:avLst/>
          </a:prstGeom>
          <a:noFill/>
          <a:ln>
            <a:noFill/>
          </a:ln>
        </p:spPr>
        <p:txBody>
          <a:bodyPr wrap="square" lIns="0" tIns="0" rIns="0" bIns="0" anchor="t"/>
          <a:lstStyle/>
          <a:p>
            <a:pPr algn="ctr">
              <a:spcAft>
                <a:spcPts val="0"/>
              </a:spcAft>
              <a:buNone/>
            </a:pPr>
            <a:r>
              <a:rPr lang="en-US" sz="2000" b="1" dirty="0">
                <a:solidFill>
                  <a:srgbClr val="5C4826"/>
                </a:solidFill>
              </a:rPr>
              <a:t>New question: can the fan keep the device below 70 °C under peak load?</a:t>
            </a:r>
          </a:p>
        </p:txBody>
      </p:sp>
      <p:sp>
        <p:nvSpPr>
          <p:cNvPr id="183" name="Chip"/>
          <p:cNvSpPr/>
          <p:nvPr/>
        </p:nvSpPr>
        <p:spPr>
          <a:xfrm>
            <a:off x="3886200" y="1737360"/>
            <a:ext cx="1371600" cy="54864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SAME CONTROLLER</a:t>
            </a:r>
          </a:p>
        </p:txBody>
      </p:sp>
      <p:cxnSp>
        <p:nvCxnSpPr>
          <p:cNvPr id="184" name="AL0"/>
          <p:cNvCxnSpPr/>
          <p:nvPr/>
        </p:nvCxnSpPr>
        <p:spPr>
          <a:xfrm flipH="1">
            <a:off x="2228850" y="2286000"/>
            <a:ext cx="1657350" cy="457200"/>
          </a:xfrm>
          <a:prstGeom prst="straightConnector1">
            <a:avLst/>
          </a:prstGeom>
          <a:ln w="19050">
            <a:solidFill>
              <a:srgbClr val="C9B991"/>
            </a:solidFill>
            <a:tailEnd type="triangle" w="med" len="med"/>
          </a:ln>
        </p:spPr>
      </p:cxnSp>
      <p:cxnSp>
        <p:nvCxnSpPr>
          <p:cNvPr id="185" name="AL1"/>
          <p:cNvCxnSpPr/>
          <p:nvPr/>
        </p:nvCxnSpPr>
        <p:spPr>
          <a:xfrm>
            <a:off x="5257800" y="2286000"/>
            <a:ext cx="1657350" cy="457200"/>
          </a:xfrm>
          <a:prstGeom prst="straightConnector1">
            <a:avLst/>
          </a:prstGeom>
          <a:ln w="19050">
            <a:solidFill>
              <a:srgbClr val="C9B991"/>
            </a:solidFill>
            <a:tailEnd type="triangle" w="med" len="med"/>
          </a:ln>
        </p:spPr>
      </p:cxnSp>
      <p:sp>
        <p:nvSpPr>
          <p:cNvPr id="186" name="OL0"/>
          <p:cNvSpPr txBox="1"/>
          <p:nvPr/>
        </p:nvSpPr>
        <p:spPr>
          <a:xfrm>
            <a:off x="6858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8-HOUR BATTERY QUESTION</a:t>
            </a:r>
          </a:p>
        </p:txBody>
      </p:sp>
      <p:sp>
        <p:nvSpPr>
          <p:cNvPr id="187" name="H0"/>
          <p:cNvSpPr/>
          <p:nvPr/>
        </p:nvSpPr>
        <p:spPr>
          <a:xfrm>
            <a:off x="6858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88" name="E0"/>
          <p:cNvSpPr/>
          <p:nvPr/>
        </p:nvSpPr>
        <p:spPr>
          <a:xfrm>
            <a:off x="6858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operating mode</a:t>
            </a:r>
          </a:p>
        </p:txBody>
      </p:sp>
      <p:sp>
        <p:nvSpPr>
          <p:cNvPr id="189" name="E1"/>
          <p:cNvSpPr/>
          <p:nvPr/>
        </p:nvSpPr>
        <p:spPr>
          <a:xfrm>
            <a:off x="6858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power(mode)</a:t>
            </a:r>
          </a:p>
        </p:txBody>
      </p:sp>
      <p:sp>
        <p:nvSpPr>
          <p:cNvPr id="190" name="E2"/>
          <p:cNvSpPr/>
          <p:nvPr/>
        </p:nvSpPr>
        <p:spPr>
          <a:xfrm>
            <a:off x="6858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duration(mode)</a:t>
            </a:r>
          </a:p>
        </p:txBody>
      </p:sp>
      <p:sp>
        <p:nvSpPr>
          <p:cNvPr id="191" name="E3"/>
          <p:cNvSpPr/>
          <p:nvPr/>
        </p:nvSpPr>
        <p:spPr>
          <a:xfrm>
            <a:off x="6858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usable energy</a:t>
            </a:r>
          </a:p>
        </p:txBody>
      </p:sp>
      <p:sp>
        <p:nvSpPr>
          <p:cNvPr id="192" name="OL1"/>
          <p:cNvSpPr txBox="1"/>
          <p:nvPr/>
        </p:nvSpPr>
        <p:spPr>
          <a:xfrm>
            <a:off x="5372100" y="2743200"/>
            <a:ext cx="3086100" cy="274320"/>
          </a:xfrm>
          <a:prstGeom prst="rect">
            <a:avLst/>
          </a:prstGeom>
          <a:noFill/>
          <a:ln>
            <a:noFill/>
          </a:ln>
        </p:spPr>
        <p:txBody>
          <a:bodyPr wrap="square" lIns="0" tIns="0" rIns="0" bIns="0" anchor="b"/>
          <a:lstStyle/>
          <a:p>
            <a:pPr algn="ctr">
              <a:spcAft>
                <a:spcPts val="0"/>
              </a:spcAft>
              <a:buNone/>
            </a:pPr>
            <a:r>
              <a:rPr lang="en-US" sz="1400" b="1" dirty="0">
                <a:solidFill>
                  <a:srgbClr val="8E6F3E"/>
                </a:solidFill>
              </a:rPr>
              <a:t>THE 70 °C THERMAL QUESTION</a:t>
            </a:r>
          </a:p>
        </p:txBody>
      </p:sp>
      <p:sp>
        <p:nvSpPr>
          <p:cNvPr id="193" name="H1"/>
          <p:cNvSpPr/>
          <p:nvPr/>
        </p:nvSpPr>
        <p:spPr>
          <a:xfrm>
            <a:off x="5372100" y="3017520"/>
            <a:ext cx="30861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THERMAL MODEL</a:t>
            </a:r>
          </a:p>
        </p:txBody>
      </p:sp>
      <p:sp>
        <p:nvSpPr>
          <p:cNvPr id="194" name="T0"/>
          <p:cNvSpPr/>
          <p:nvPr/>
        </p:nvSpPr>
        <p:spPr>
          <a:xfrm>
            <a:off x="5372100" y="342900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heat generation</a:t>
            </a:r>
          </a:p>
        </p:txBody>
      </p:sp>
      <p:sp>
        <p:nvSpPr>
          <p:cNvPr id="195" name="T1"/>
          <p:cNvSpPr/>
          <p:nvPr/>
        </p:nvSpPr>
        <p:spPr>
          <a:xfrm>
            <a:off x="5372100" y="379476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thermal mass</a:t>
            </a:r>
          </a:p>
        </p:txBody>
      </p:sp>
      <p:sp>
        <p:nvSpPr>
          <p:cNvPr id="196" name="T2"/>
          <p:cNvSpPr/>
          <p:nvPr/>
        </p:nvSpPr>
        <p:spPr>
          <a:xfrm>
            <a:off x="5372100" y="416052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ambient temperature</a:t>
            </a:r>
          </a:p>
        </p:txBody>
      </p:sp>
      <p:sp>
        <p:nvSpPr>
          <p:cNvPr id="197" name="T3"/>
          <p:cNvSpPr/>
          <p:nvPr/>
        </p:nvSpPr>
        <p:spPr>
          <a:xfrm>
            <a:off x="5372100" y="4526280"/>
            <a:ext cx="30861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0" dirty="0">
                <a:solidFill>
                  <a:srgbClr val="5C4826"/>
                </a:solidFill>
              </a:rPr>
              <a:t>airflow</a:t>
            </a:r>
          </a:p>
        </p:txBody>
      </p:sp>
      <p:sp>
        <p:nvSpPr>
          <p:cNvPr id="198" name="T4"/>
          <p:cNvSpPr/>
          <p:nvPr/>
        </p:nvSpPr>
        <p:spPr>
          <a:xfrm>
            <a:off x="5372100" y="4892040"/>
            <a:ext cx="3086100" cy="365760"/>
          </a:xfrm>
          <a:prstGeom prst="rect">
            <a:avLst/>
          </a:prstGeom>
          <a:solidFill>
            <a:srgbClr val="FFFFFF"/>
          </a:solidFill>
          <a:ln w="12700">
            <a:solidFill>
              <a:srgbClr val="C9B991"/>
            </a:solidFill>
            <a:prstDash val="dash"/>
          </a:ln>
        </p:spPr>
        <p:txBody>
          <a:bodyPr wrap="square" lIns="27432" tIns="22860" rIns="27432" bIns="22860" anchor="ctr"/>
          <a:lstStyle/>
          <a:p>
            <a:pPr algn="ctr">
              <a:spcAft>
                <a:spcPts val="0"/>
              </a:spcAft>
              <a:buNone/>
            </a:pPr>
            <a:r>
              <a:rPr lang="en-US" sz="1500" b="0" i="1" strike="sngStrike" dirty="0">
                <a:solidFill>
                  <a:srgbClr val="555960"/>
                </a:solidFill>
              </a:rPr>
              <a:t>battery capacity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How much of the answer must we tell the agent?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THE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How do you find out whether you left out the right things?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QUALITY</a:t>
            </a:r>
          </a:p>
        </p:txBody>
      </p:sp>
      <p:sp>
        <p:nvSpPr>
          <p:cNvPr id="130" name="SubLine"/>
          <p:cNvSpPr txBox="1"/>
          <p:nvPr/>
        </p:nvSpPr>
        <p:spPr>
          <a:xfrm>
            <a:off x="685800" y="3657600"/>
            <a:ext cx="777240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Two production reductions — one vindicated, one refuted.</a:t>
            </a:r>
          </a:p>
        </p:txBody>
      </p:sp>
      <p:sp>
        <p:nvSpPr>
          <p:cNvPr id="131" name="VTagL"/>
          <p:cNvSpPr/>
          <p:nvPr/>
        </p:nvSpPr>
        <p:spPr>
          <a:xfrm>
            <a:off x="201168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✓ THE LEASE</a:t>
            </a:r>
          </a:p>
        </p:txBody>
      </p:sp>
      <p:sp>
        <p:nvSpPr>
          <p:cNvPr id="132" name="VTagR"/>
          <p:cNvSpPr/>
          <p:nvPr/>
        </p:nvSpPr>
        <p:spPr>
          <a:xfrm>
            <a:off x="4846320" y="3977640"/>
            <a:ext cx="2286000" cy="365760"/>
          </a:xfrm>
          <a:prstGeom prst="rect">
            <a:avLst/>
          </a:prstGeom>
          <a:noFill/>
          <a:ln>
            <a:noFill/>
          </a:ln>
        </p:spPr>
        <p:txBody>
          <a:bodyPr wrap="square" lIns="27432" tIns="22860" rIns="27432" bIns="22860" anchor="ctr"/>
          <a:lstStyle/>
          <a:p>
            <a:pPr algn="ctr">
              <a:spcAft>
                <a:spcPts val="0"/>
              </a:spcAft>
              <a:buNone/>
            </a:pPr>
            <a:r>
              <a:rPr lang="en-US" sz="1600" b="1" dirty="0">
                <a:solidFill>
                  <a:srgbClr val="8E6F3E"/>
                </a:solidFill>
              </a:rPr>
              <a:t>✗ ACCOUNT QUOTA</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 name="Intro"/>
          <p:cNvSpPr txBox="1"/>
          <p:nvPr/>
        </p:nvSpPr>
        <p:spPr>
          <a:xfrm>
            <a:off x="365760" y="1097280"/>
            <a:ext cx="8412480" cy="365760"/>
          </a:xfrm>
          <a:prstGeom prst="rect">
            <a:avLst/>
          </a:prstGeom>
          <a:noFill/>
          <a:ln>
            <a:noFill/>
          </a:ln>
        </p:spPr>
        <p:txBody>
          <a:bodyPr wrap="square" lIns="18288" tIns="18288" rIns="18288" bIns="18288" anchor="t">
            <a:spAutoFit/>
          </a:bodyPr>
          <a:lstStyle/>
          <a:p>
            <a:pPr algn="l">
              <a:spcAft>
                <a:spcPts val="0"/>
              </a:spcAft>
              <a:buNone/>
            </a:pPr>
            <a:r>
              <a:rPr lang="en-US" sz="1800" b="0" dirty="0">
                <a:solidFill>
                  <a:srgbClr val="555960"/>
                </a:solidFill>
              </a:rPr>
              <a:t>An account quota was reduced to a single credit count.</a:t>
            </a:r>
          </a:p>
        </p:txBody>
      </p:sp>
      <p:sp>
        <p:nvSpPr>
          <p:cNvPr id="11" name="Acct1"/>
          <p:cNvSpPr/>
          <p:nvPr/>
        </p:nvSpPr>
        <p:spPr>
          <a:xfrm>
            <a:off x="411480" y="1691640"/>
            <a:ext cx="2971800" cy="2468880"/>
          </a:xfrm>
          <a:prstGeom prst="rect">
            <a:avLst/>
          </a:prstGeom>
          <a:solidFill>
            <a:srgbClr val="F5F1E8"/>
          </a:solidFill>
          <a:ln w="12700">
            <a:solidFill>
              <a:srgbClr val="C9B991"/>
            </a:solidFill>
          </a:ln>
        </p:spPr>
        <p:txBody>
          <a:bodyPr wrap="square" lIns="27432" tIns="22860" rIns="27432" bIns="22860" anchor="ctr"/>
          <a:lstStyle/>
          <a:p>
            <a:pPr algn="ctr">
              <a:spcAft>
                <a:spcPts val="800"/>
              </a:spcAft>
              <a:buNone/>
            </a:pPr>
            <a:r>
              <a:rPr lang="en-US" sz="1600" b="1" dirty="0">
                <a:solidFill>
                  <a:srgbClr val="8E6F3E"/>
                </a:solidFill>
              </a:rPr>
              <a:t>THE ACCOUNT</a:t>
            </a:r>
          </a:p>
          <a:p>
            <a:pPr algn="ctr">
              <a:spcAft>
                <a:spcPts val="600"/>
              </a:spcAft>
              <a:buNone/>
            </a:pPr>
            <a:r>
              <a:rPr lang="en-US" sz="1500" b="1" dirty="0">
                <a:solidFill>
                  <a:srgbClr val="5C4826"/>
                </a:solidFill>
              </a:rPr>
              <a:t>quota: unlimited</a:t>
            </a:r>
          </a:p>
          <a:p>
            <a:pPr algn="ctr">
              <a:spcAft>
                <a:spcPts val="600"/>
              </a:spcAft>
              <a:buNone/>
            </a:pPr>
            <a:r>
              <a:rPr lang="en-US" sz="1500" b="0" dirty="0">
                <a:solidFill>
                  <a:srgbClr val="555960"/>
                </a:solidFill>
              </a:rPr>
              <a:t>renewal: monthly</a:t>
            </a:r>
          </a:p>
          <a:p>
            <a:pPr algn="ctr">
              <a:spcAft>
                <a:spcPts val="0"/>
              </a:spcAft>
              <a:buNone/>
            </a:pPr>
            <a:r>
              <a:rPr lang="en-US" sz="1500" b="0" dirty="0">
                <a:solidFill>
                  <a:srgbClr val="555960"/>
                </a:solidFill>
              </a:rPr>
              <a:t>usage history …</a:t>
            </a:r>
          </a:p>
        </p:txBody>
      </p:sp>
      <p:sp>
        <p:nvSpPr>
          <p:cNvPr id="12" name="ArrLbl"/>
          <p:cNvSpPr txBox="1"/>
          <p:nvPr/>
        </p:nvSpPr>
        <p:spPr>
          <a:xfrm>
            <a:off x="3474720" y="2560320"/>
            <a:ext cx="2057400" cy="27432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REDUCE TO A SCALAR</a:t>
            </a:r>
          </a:p>
        </p:txBody>
      </p:sp>
      <p:cxnSp>
        <p:nvCxnSpPr>
          <p:cNvPr id="13" name="AR1"/>
          <p:cNvCxnSpPr/>
          <p:nvPr/>
        </p:nvCxnSpPr>
        <p:spPr>
          <a:xfrm>
            <a:off x="3474720" y="2926080"/>
            <a:ext cx="2057400" cy="0"/>
          </a:xfrm>
          <a:prstGeom prst="straightConnector1">
            <a:avLst/>
          </a:prstGeom>
          <a:ln w="28575">
            <a:solidFill>
              <a:srgbClr val="8E6F3E"/>
            </a:solidFill>
            <a:tailEnd type="triangle" w="med" len="med"/>
          </a:ln>
        </p:spPr>
      </p:cxnSp>
      <p:sp>
        <p:nvSpPr>
          <p:cNvPr id="14" name="Card1"/>
          <p:cNvSpPr/>
          <p:nvPr/>
        </p:nvSpPr>
        <p:spPr>
          <a:xfrm>
            <a:off x="5623560" y="2560320"/>
            <a:ext cx="3062280" cy="73152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credits_remaining: 0</a:t>
            </a:r>
          </a:p>
        </p:txBody>
      </p:sp>
      <p:sp>
        <p:nvSpPr>
          <p:cNvPr id="15" name="CLbl1"/>
          <p:cNvSpPr txBox="1"/>
          <p:nvPr/>
        </p:nvSpPr>
        <p:spPr>
          <a:xfrm>
            <a:off x="5623560" y="3383280"/>
            <a:ext cx="306228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the whole model of the quota</a:t>
            </a:r>
          </a:p>
        </p:txBody>
      </p:sp>
      <p:cxnSp>
        <p:nvCxnSpPr>
          <p:cNvPr id="16" name="DropC"/>
          <p:cNvCxnSpPr/>
          <p:nvPr/>
        </p:nvCxnSpPr>
        <p:spPr>
          <a:xfrm>
            <a:off x="4503420" y="2926080"/>
            <a:ext cx="0" cy="868680"/>
          </a:xfrm>
          <a:prstGeom prst="straightConnector1">
            <a:avLst/>
          </a:prstGeom>
          <a:ln w="12700">
            <a:solidFill>
              <a:srgbClr val="8E6F3E"/>
            </a:solidFill>
            <a:prstDash val="dash"/>
            <a:tailEnd type="triangle" w="med" len="med"/>
          </a:ln>
        </p:spPr>
      </p:cxnSp>
      <p:sp>
        <p:nvSpPr>
          <p:cNvPr id="17" name="Drop1"/>
          <p:cNvSpPr/>
          <p:nvPr/>
        </p:nvSpPr>
        <p:spPr>
          <a:xfrm>
            <a:off x="3611880" y="388620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✗ unlimited</a:t>
            </a:r>
          </a:p>
        </p:txBody>
      </p:sp>
      <p:sp>
        <p:nvSpPr>
          <p:cNvPr id="18" name="Note1"/>
          <p:cNvSpPr txBox="1"/>
          <p:nvPr/>
        </p:nvSpPr>
        <p:spPr>
          <a:xfrm>
            <a:off x="5486400" y="3931920"/>
            <a:ext cx="3200400" cy="365760"/>
          </a:xfrm>
          <a:prstGeom prst="rect">
            <a:avLst/>
          </a:prstGeom>
          <a:noFill/>
          <a:ln>
            <a:noFill/>
          </a:ln>
        </p:spPr>
        <p:txBody>
          <a:bodyPr wrap="square" lIns="0" tIns="0" rIns="0" bIns="0" anchor="t"/>
          <a:lstStyle/>
          <a:p>
            <a:pPr algn="l">
              <a:spcAft>
                <a:spcPts val="0"/>
              </a:spcAft>
              <a:buNone/>
            </a:pPr>
            <a:r>
              <a:rPr lang="en-US" sz="1500" b="0" i="1" dirty="0">
                <a:solidFill>
                  <a:srgbClr val="555960"/>
                </a:solidFill>
              </a:rPr>
              <a:t>has nowhere to live in a scalar</a:t>
            </a:r>
          </a:p>
        </p:txBody>
      </p:sp>
      <p:sp>
        <p:nvSpPr>
          <p:cNvPr id="19" name="Outcome"/>
          <p:cNvSpPr txBox="1"/>
          <p:nvPr/>
        </p:nvSpPr>
        <p:spPr>
          <a:xfrm>
            <a:off x="365760" y="4709160"/>
            <a:ext cx="8412480" cy="640080"/>
          </a:xfrm>
          <a:prstGeom prst="rect">
            <a:avLst/>
          </a:prstGeom>
          <a:noFill/>
          <a:ln>
            <a:noFill/>
          </a:ln>
        </p:spPr>
        <p:txBody>
          <a:bodyPr wrap="square" lIns="18288" tIns="18288" rIns="18288" bIns="18288" anchor="t"/>
          <a:lstStyle/>
          <a:p>
            <a:pPr algn="ctr">
              <a:spcAft>
                <a:spcPts val="0"/>
              </a:spcAft>
              <a:buNone/>
            </a:pPr>
            <a:r>
              <a:rPr lang="en-US" sz="1800" b="0" dirty="0">
                <a:solidFill>
                  <a:srgbClr val="555960"/>
                </a:solidFill>
              </a:rPr>
              <a:t>The implementation distinguished unlimited from exhausted. The model represented both as 0.</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reduction erased a distinction the obligation required.</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 name="LeaseC"/>
          <p:cNvSpPr/>
          <p:nvPr/>
        </p:nvSpPr>
        <p:spPr>
          <a:xfrm>
            <a:off x="1874520" y="1188720"/>
            <a:ext cx="5394960" cy="1234440"/>
          </a:xfrm>
          <a:prstGeom prst="rect">
            <a:avLst/>
          </a:prstGeom>
          <a:solidFill>
            <a:srgbClr val="F5F1E8"/>
          </a:solidFill>
          <a:ln w="12700">
            <a:solidFill>
              <a:srgbClr val="C9B991"/>
            </a:solidFill>
          </a:ln>
        </p:spPr>
        <p:txBody>
          <a:bodyPr wrap="square" lIns="27432" tIns="22860" rIns="27432" bIns="22860" anchor="ctr"/>
          <a:lstStyle/>
          <a:p>
            <a:pPr algn="ctr">
              <a:spcAft>
                <a:spcPts val="600"/>
              </a:spcAft>
              <a:buNone/>
            </a:pPr>
            <a:r>
              <a:rPr lang="en-US" sz="1600" b="1" dirty="0">
                <a:solidFill>
                  <a:srgbClr val="8E6F3E"/>
                </a:solidFill>
              </a:rPr>
              <a:t>THE LEASE MODEL</a:t>
            </a:r>
          </a:p>
          <a:p>
            <a:pPr algn="ctr">
              <a:spcAft>
                <a:spcPts val="600"/>
              </a:spcAft>
              <a:buNone/>
            </a:pPr>
            <a:r>
              <a:rPr lang="en-US" sz="1500" b="1" dirty="0">
                <a:solidFill>
                  <a:srgbClr val="5C4826"/>
                </a:solidFill>
              </a:rPr>
              <a:t>owner · generation · lifetime · reclamation</a:t>
            </a:r>
          </a:p>
          <a:p>
            <a:pPr algn="ctr">
              <a:spcAft>
                <a:spcPts val="0"/>
              </a:spcAft>
              <a:buNone/>
            </a:pPr>
            <a:r>
              <a:rPr lang="en-US" sz="1500" b="0" dirty="0">
                <a:solidFill>
                  <a:srgbClr val="555960"/>
                </a:solidFill>
              </a:rPr>
              <a:t>forbidden: releasing a lease under a stale generation</a:t>
            </a:r>
          </a:p>
        </p:txBody>
      </p:sp>
      <p:sp>
        <p:nvSpPr>
          <p:cNvPr id="11" name="CapC"/>
          <p:cNvSpPr txBox="1"/>
          <p:nvPr/>
        </p:nvSpPr>
        <p:spPr>
          <a:xfrm>
            <a:off x="1874520" y="2514600"/>
            <a:ext cx="5394960" cy="274320"/>
          </a:xfrm>
          <a:prstGeom prst="rect">
            <a:avLst/>
          </a:prstGeom>
          <a:noFill/>
          <a:ln>
            <a:noFill/>
          </a:ln>
        </p:spPr>
        <p:txBody>
          <a:bodyPr wrap="square" lIns="0" tIns="0" rIns="0" bIns="0" anchor="t"/>
          <a:lstStyle/>
          <a:p>
            <a:pPr algn="ctr">
              <a:spcAft>
                <a:spcPts val="0"/>
              </a:spcAft>
              <a:buNone/>
            </a:pPr>
            <a:r>
              <a:rPr lang="en-US" sz="1500" b="1" dirty="0">
                <a:solidFill>
                  <a:srgbClr val="8E6F3E"/>
                </a:solidFill>
              </a:rPr>
              <a:t>✓ unchanged — the model did not move</a:t>
            </a:r>
          </a:p>
        </p:txBody>
      </p:sp>
      <p:sp>
        <p:nvSpPr>
          <p:cNvPr id="12" name="OmitL"/>
          <p:cNvSpPr txBox="1"/>
          <p:nvPr/>
        </p:nvSpPr>
        <p:spPr>
          <a:xfrm>
            <a:off x="365760" y="2971800"/>
            <a:ext cx="841248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omitted from the model: the processing topology</a:t>
            </a:r>
          </a:p>
        </p:txBody>
      </p:sp>
      <p:sp>
        <p:nvSpPr>
          <p:cNvPr id="13" name="PanB"/>
          <p:cNvSpPr/>
          <p:nvPr/>
        </p:nvSpPr>
        <p:spPr>
          <a:xfrm>
            <a:off x="64008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BEFORE</a:t>
            </a:r>
          </a:p>
        </p:txBody>
      </p:sp>
      <p:sp>
        <p:nvSpPr>
          <p:cNvPr id="14" name="Mb1"/>
          <p:cNvSpPr/>
          <p:nvPr/>
        </p:nvSpPr>
        <p:spPr>
          <a:xfrm>
            <a:off x="868680" y="3908520"/>
            <a:ext cx="292608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one service, one pass over the document</a:t>
            </a:r>
          </a:p>
        </p:txBody>
      </p:sp>
      <p:sp>
        <p:nvSpPr>
          <p:cNvPr id="15" name="PanA"/>
          <p:cNvSpPr/>
          <p:nvPr/>
        </p:nvSpPr>
        <p:spPr>
          <a:xfrm>
            <a:off x="5120640" y="3337560"/>
            <a:ext cx="3383280" cy="1371600"/>
          </a:xfrm>
          <a:prstGeom prst="rect">
            <a:avLst/>
          </a:prstGeom>
          <a:solidFill>
            <a:srgbClr val="FBF8F2"/>
          </a:solidFill>
          <a:ln w="12700">
            <a:solidFill>
              <a:srgbClr val="C9B991"/>
            </a:solidFill>
          </a:ln>
        </p:spPr>
        <p:txBody>
          <a:bodyPr wrap="square" lIns="27432" tIns="22860" rIns="27432" bIns="22860" anchor="t"/>
          <a:lstStyle/>
          <a:p>
            <a:pPr algn="ctr">
              <a:spcAft>
                <a:spcPts val="0"/>
              </a:spcAft>
              <a:buNone/>
            </a:pPr>
            <a:r>
              <a:rPr lang="en-US" sz="1400" b="1" dirty="0">
                <a:solidFill>
                  <a:srgbClr val="555960"/>
                </a:solidFill>
              </a:rPr>
              <a:t>AFTER</a:t>
            </a:r>
          </a:p>
        </p:txBody>
      </p:sp>
      <p:sp>
        <p:nvSpPr>
          <p:cNvPr id="16" name="Mb2"/>
          <p:cNvSpPr/>
          <p:nvPr/>
        </p:nvSpPr>
        <p:spPr>
          <a:xfrm>
            <a:off x="5349240" y="3794760"/>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fan out across chunk workers</a:t>
            </a:r>
          </a:p>
        </p:txBody>
      </p:sp>
      <p:sp>
        <p:nvSpPr>
          <p:cNvPr id="17" name="Mb3"/>
          <p:cNvSpPr/>
          <p:nvPr/>
        </p:nvSpPr>
        <p:spPr>
          <a:xfrm>
            <a:off x="5349240" y="4270248"/>
            <a:ext cx="2926080" cy="384048"/>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merge the results</a:t>
            </a:r>
          </a:p>
        </p:txBody>
      </p:sp>
      <p:cxnSp>
        <p:nvCxnSpPr>
          <p:cNvPr id="18" name="ChgA"/>
          <p:cNvCxnSpPr/>
          <p:nvPr/>
        </p:nvCxnSpPr>
        <p:spPr>
          <a:xfrm>
            <a:off x="4023360" y="4023360"/>
            <a:ext cx="1097280" cy="0"/>
          </a:xfrm>
          <a:prstGeom prst="straightConnector1">
            <a:avLst/>
          </a:prstGeom>
          <a:ln w="28575">
            <a:solidFill>
              <a:srgbClr val="8E6F3E"/>
            </a:solidFill>
            <a:tailEnd type="triangle" w="med" len="med"/>
          </a:ln>
        </p:spPr>
      </p:cxnSp>
      <p:sp>
        <p:nvSpPr>
          <p:cNvPr id="19" name="ChgL"/>
          <p:cNvSpPr txBox="1"/>
          <p:nvPr/>
        </p:nvSpPr>
        <p:spPr>
          <a:xfrm>
            <a:off x="4046220" y="3437890"/>
            <a:ext cx="1051560" cy="54864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the topology changed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omission was tested by reality, and passed.</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“We changed the pointers to the code, but not the model.”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evidence, side by side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 name="H1"/>
          <p:cNvSpPr/>
          <p:nvPr/>
        </p:nvSpPr>
        <p:spPr>
          <a:xfrm>
            <a:off x="27432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THE LEASE</a:t>
            </a:r>
          </a:p>
        </p:txBody>
      </p:sp>
      <p:sp>
        <p:nvSpPr>
          <p:cNvPr id="11" name="H2"/>
          <p:cNvSpPr/>
          <p:nvPr/>
        </p:nvSpPr>
        <p:spPr>
          <a:xfrm>
            <a:off x="5715000" y="1280160"/>
            <a:ext cx="292608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600" b="1" dirty="0">
                <a:solidFill>
                  <a:srgbClr val="FFFFFF"/>
                </a:solidFill>
              </a:rPr>
              <a:t>ACCOUNT QUOTA</a:t>
            </a:r>
          </a:p>
        </p:txBody>
      </p:sp>
      <p:sp>
        <p:nvSpPr>
          <p:cNvPr id="20" name="L1"/>
          <p:cNvSpPr/>
          <p:nvPr/>
        </p:nvSpPr>
        <p:spPr>
          <a:xfrm>
            <a:off x="502920" y="178308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candidate omission</a:t>
            </a:r>
          </a:p>
        </p:txBody>
      </p:sp>
      <p:sp>
        <p:nvSpPr>
          <p:cNvPr id="21" name="C11"/>
          <p:cNvSpPr/>
          <p:nvPr/>
        </p:nvSpPr>
        <p:spPr>
          <a:xfrm>
            <a:off x="27432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processing topology</a:t>
            </a:r>
          </a:p>
        </p:txBody>
      </p:sp>
      <p:sp>
        <p:nvSpPr>
          <p:cNvPr id="22" name="C12"/>
          <p:cNvSpPr/>
          <p:nvPr/>
        </p:nvSpPr>
        <p:spPr>
          <a:xfrm>
            <a:off x="5715000" y="178308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unlimited vs. exhausted</a:t>
            </a:r>
          </a:p>
        </p:txBody>
      </p:sp>
      <p:sp>
        <p:nvSpPr>
          <p:cNvPr id="23" name="L2"/>
          <p:cNvSpPr/>
          <p:nvPr/>
        </p:nvSpPr>
        <p:spPr>
          <a:xfrm>
            <a:off x="502920" y="242316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top-down judgment</a:t>
            </a:r>
          </a:p>
        </p:txBody>
      </p:sp>
      <p:sp>
        <p:nvSpPr>
          <p:cNvPr id="24" name="C21"/>
          <p:cNvSpPr/>
          <p:nvPr/>
        </p:nvSpPr>
        <p:spPr>
          <a:xfrm>
            <a:off x="27432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not required by the question</a:t>
            </a:r>
          </a:p>
        </p:txBody>
      </p:sp>
      <p:sp>
        <p:nvSpPr>
          <p:cNvPr id="25" name="C22"/>
          <p:cNvSpPr/>
          <p:nvPr/>
        </p:nvSpPr>
        <p:spPr>
          <a:xfrm>
            <a:off x="5715000" y="242316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required by the obligation</a:t>
            </a:r>
          </a:p>
        </p:txBody>
      </p:sp>
      <p:sp>
        <p:nvSpPr>
          <p:cNvPr id="26" name="L3"/>
          <p:cNvSpPr/>
          <p:nvPr/>
        </p:nvSpPr>
        <p:spPr>
          <a:xfrm>
            <a:off x="502920" y="3063240"/>
            <a:ext cx="2194560" cy="5943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500" b="1" dirty="0">
                <a:solidFill>
                  <a:srgbClr val="5C4826"/>
                </a:solidFill>
              </a:rPr>
              <a:t>bottom-up judgment</a:t>
            </a:r>
          </a:p>
        </p:txBody>
      </p:sp>
      <p:sp>
        <p:nvSpPr>
          <p:cNvPr id="27" name="C31"/>
          <p:cNvSpPr/>
          <p:nvPr/>
        </p:nvSpPr>
        <p:spPr>
          <a:xfrm>
            <a:off x="27432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safe to remove</a:t>
            </a:r>
          </a:p>
        </p:txBody>
      </p:sp>
      <p:sp>
        <p:nvSpPr>
          <p:cNvPr id="28" name="C32"/>
          <p:cNvSpPr/>
          <p:nvPr/>
        </p:nvSpPr>
        <p:spPr>
          <a:xfrm>
            <a:off x="5715000" y="3063240"/>
            <a:ext cx="2926080" cy="59436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500" b="0" dirty="0">
                <a:solidFill>
                  <a:srgbClr val="555960"/>
                </a:solidFill>
              </a:rPr>
              <a:t>cannot remove</a:t>
            </a:r>
          </a:p>
        </p:txBody>
      </p:sp>
      <p:sp>
        <p:nvSpPr>
          <p:cNvPr id="29" name="L4"/>
          <p:cNvSpPr/>
          <p:nvPr/>
        </p:nvSpPr>
        <p:spPr>
          <a:xfrm>
            <a:off x="502920" y="3703320"/>
            <a:ext cx="219456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evidence</a:t>
            </a:r>
          </a:p>
        </p:txBody>
      </p:sp>
      <p:sp>
        <p:nvSpPr>
          <p:cNvPr id="30" name="C41"/>
          <p:cNvSpPr/>
          <p:nvPr/>
        </p:nvSpPr>
        <p:spPr>
          <a:xfrm>
            <a:off x="27432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topology changed; model held ✓</a:t>
            </a:r>
          </a:p>
        </p:txBody>
      </p:sp>
      <p:sp>
        <p:nvSpPr>
          <p:cNvPr id="31" name="C42"/>
          <p:cNvSpPr/>
          <p:nvPr/>
        </p:nvSpPr>
        <p:spPr>
          <a:xfrm>
            <a:off x="5715000" y="3703320"/>
            <a:ext cx="2926080" cy="685800"/>
          </a:xfrm>
          <a:prstGeom prst="rect">
            <a:avLst/>
          </a:prstGeom>
          <a:solidFill>
            <a:srgbClr val="8E6F3E"/>
          </a:solidFill>
          <a:ln>
            <a:noFill/>
          </a:ln>
        </p:spPr>
        <p:txBody>
          <a:bodyPr wrap="square" lIns="27432" tIns="22860" rIns="27432" bIns="22860" anchor="ctr"/>
          <a:lstStyle/>
          <a:p>
            <a:pPr algn="ctr">
              <a:spcAft>
                <a:spcPts val="0"/>
              </a:spcAft>
              <a:buNone/>
            </a:pPr>
            <a:r>
              <a:rPr lang="en-US" sz="1500" b="1" dirty="0">
                <a:solidFill>
                  <a:srgbClr val="FFFFFF"/>
                </a:solidFill>
              </a:rPr>
              <a:t>production decision exposed the loss ✗</a:t>
            </a:r>
          </a:p>
        </p:txBody>
      </p:sp>
      <p:sp>
        <p:nvSpPr>
          <p:cNvPr id="150" name="Ital"/>
          <p:cNvSpPr txBox="1"/>
          <p:nvPr/>
        </p:nvSpPr>
        <p:spPr>
          <a:xfrm>
            <a:off x="274320" y="47548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Represent no more than the question requires, but no less than the obligation requires.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Three rows of method. One row of evidence.</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 xml:space="preserve">OBLIGATION</a:t>
            </a:r>
          </a:p>
          <a:p>
            <a:pPr algn="ctr">
              <a:spcAft>
                <a:spcPts val="0"/>
              </a:spcAft>
              <a:buNone/>
            </a:pPr>
            <a:r>
              <a:rPr lang="en-US" sz="1400" b="0" dirty="0">
                <a:solidFill>
                  <a:srgbClr val="FFFFFF"/>
                </a:solidFill>
              </a:rPr>
              <a:t xml:space="preserve">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 xml:space="preserve">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 xml:space="preserve">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 xml:space="preserve">obligation boundary</a:t>
            </a:r>
          </a:p>
          <a:p>
            <a:pPr algn="l">
              <a:spcAft>
                <a:spcPts val="0"/>
              </a:spcAft>
              <a:buNone/>
            </a:pPr>
            <a:r>
              <a:rPr lang="en-US" sz="1400" b="0" dirty="0">
                <a:solidFill>
                  <a:srgbClr val="555960"/>
                </a:solidFill>
              </a:rPr>
              <a:t xml:space="preserve">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 xml:space="preserve">specification boundary</a:t>
            </a:r>
          </a:p>
          <a:p>
            <a:pPr algn="l">
              <a:spcAft>
                <a:spcPts val="0"/>
              </a:spcAft>
              <a:buNone/>
            </a:pPr>
            <a:r>
              <a:rPr lang="en-US" sz="1400" b="0" dirty="0">
                <a:solidFill>
                  <a:srgbClr val="555960"/>
                </a:solidFill>
              </a:rPr>
              <a:t xml:space="preserve">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Capability cannot reduce what must be true</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 name="LeadLn"/>
          <p:cNvSpPr txBox="1"/>
          <p:nvPr/>
        </p:nvSpPr>
        <p:spPr>
          <a:xfrm>
            <a:off x="365760" y="914400"/>
            <a:ext cx="8412480" cy="365760"/>
          </a:xfrm>
          <a:prstGeom prst="rect">
            <a:avLst/>
          </a:prstGeom>
          <a:noFill/>
          <a:ln>
            <a:noFill/>
          </a:ln>
        </p:spPr>
        <p:txBody>
          <a:bodyPr wrap="square" lIns="18288" tIns="18288" rIns="18288" bIns="18288" anchor="t">
            <a:spAutoFit/>
          </a:bodyPr>
          <a:lstStyle/>
          <a:p>
            <a:pPr algn="ctr">
              <a:spcAft>
                <a:spcPts val="0"/>
              </a:spcAft>
              <a:buNone/>
            </a:pPr>
            <a:r>
              <a:rPr lang="en-US" sz="1800" b="0" dirty="0">
                <a:solidFill>
                  <a:srgbClr val="555960"/>
                </a:solidFill>
              </a:rPr>
              <a:t>The specification boundary moves with capability. The obligation boundary does not.</a:t>
            </a:r>
          </a:p>
        </p:txBody>
      </p:sp>
      <p:sp>
        <p:nvSpPr>
          <p:cNvPr id="11" name="St1"/>
          <p:cNvSpPr/>
          <p:nvPr/>
        </p:nvSpPr>
        <p:spPr>
          <a:xfrm>
            <a:off x="548640" y="1508760"/>
            <a:ext cx="237744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8E6F3E"/>
                </a:solidFill>
              </a:rPr>
              <a:t>UPSTREAM</a:t>
            </a:r>
          </a:p>
          <a:p>
            <a:pPr algn="ctr">
              <a:spcAft>
                <a:spcPts val="0"/>
              </a:spcAft>
              <a:buNone/>
            </a:pPr>
            <a:r>
              <a:rPr lang="en-US" sz="1500" b="0" dirty="0">
                <a:solidFill>
                  <a:srgbClr val="5C4826"/>
                </a:solidFill>
              </a:rPr>
              <a:t>the reduction happens here</a:t>
            </a:r>
          </a:p>
        </p:txBody>
      </p:sp>
      <p:cxnSp>
        <p:nvCxnSpPr>
          <p:cNvPr id="12" name="Ar1"/>
          <p:cNvCxnSpPr/>
          <p:nvPr/>
        </p:nvCxnSpPr>
        <p:spPr>
          <a:xfrm>
            <a:off x="2971800" y="1874520"/>
            <a:ext cx="594360" cy="0"/>
          </a:xfrm>
          <a:prstGeom prst="straightConnector1">
            <a:avLst/>
          </a:prstGeom>
          <a:ln w="28575">
            <a:solidFill>
              <a:srgbClr val="8E6F3E"/>
            </a:solidFill>
            <a:tailEnd type="triangle" w="med" len="med"/>
          </a:ln>
        </p:spPr>
      </p:cxnSp>
      <p:sp>
        <p:nvSpPr>
          <p:cNvPr id="13" name="St2"/>
          <p:cNvSpPr/>
          <p:nvPr/>
        </p:nvSpPr>
        <p:spPr>
          <a:xfrm>
            <a:off x="3611880" y="1508760"/>
            <a:ext cx="1874520" cy="731520"/>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400" b="1" dirty="0">
                <a:solidFill>
                  <a:srgbClr val="555960"/>
                </a:solidFill>
              </a:rPr>
              <a:t>THE PIPELINE</a:t>
            </a:r>
          </a:p>
          <a:p>
            <a:pPr algn="ctr">
              <a:spcAft>
                <a:spcPts val="0"/>
              </a:spcAft>
              <a:buNone/>
            </a:pPr>
            <a:r>
              <a:rPr lang="en-US" sz="1400" b="0" dirty="0">
                <a:solidFill>
                  <a:srgbClr val="555960"/>
                </a:solidFill>
              </a:rPr>
              <a:t>stage after stage</a:t>
            </a:r>
          </a:p>
        </p:txBody>
      </p:sp>
      <p:cxnSp>
        <p:nvCxnSpPr>
          <p:cNvPr id="14" name="Ar2"/>
          <p:cNvCxnSpPr/>
          <p:nvPr/>
        </p:nvCxnSpPr>
        <p:spPr>
          <a:xfrm>
            <a:off x="5532120" y="1874520"/>
            <a:ext cx="594360" cy="0"/>
          </a:xfrm>
          <a:prstGeom prst="straightConnector1">
            <a:avLst/>
          </a:prstGeom>
          <a:ln w="28575">
            <a:solidFill>
              <a:srgbClr val="8E6F3E"/>
            </a:solidFill>
            <a:tailEnd type="triangle" w="med" len="med"/>
          </a:ln>
        </p:spPr>
      </p:cxnSp>
      <p:sp>
        <p:nvSpPr>
          <p:cNvPr id="15" name="St3"/>
          <p:cNvSpPr/>
          <p:nvPr/>
        </p:nvSpPr>
        <p:spPr>
          <a:xfrm>
            <a:off x="6172200" y="1508760"/>
            <a:ext cx="2423160" cy="731520"/>
          </a:xfrm>
          <a:prstGeom prst="rect">
            <a:avLst/>
          </a:prstGeom>
          <a:solidFill>
            <a:srgbClr val="5C4826"/>
          </a:solidFill>
          <a:ln>
            <a:noFill/>
          </a:ln>
        </p:spPr>
        <p:txBody>
          <a:bodyPr wrap="square" lIns="27432" tIns="22860" rIns="27432" bIns="22860" anchor="ctr"/>
          <a:lstStyle/>
          <a:p>
            <a:pPr algn="ctr">
              <a:spcAft>
                <a:spcPts val="400"/>
              </a:spcAft>
              <a:buNone/>
            </a:pPr>
            <a:r>
              <a:rPr lang="en-US" sz="1400" b="1" dirty="0">
                <a:solidFill>
                  <a:srgbClr val="FFFFFF"/>
                </a:solidFill>
              </a:rPr>
              <a:t>DOWNSTREAM</a:t>
            </a:r>
          </a:p>
          <a:p>
            <a:pPr algn="ctr">
              <a:spcAft>
                <a:spcPts val="0"/>
              </a:spcAft>
              <a:buNone/>
            </a:pPr>
            <a:r>
              <a:rPr lang="en-US" sz="1500" b="0" dirty="0">
                <a:solidFill>
                  <a:srgbClr val="FFFFFF"/>
                </a:solidFill>
              </a:rPr>
              <a:t>an arbitrarily capable agent</a:t>
            </a:r>
          </a:p>
        </p:txBody>
      </p:sp>
      <p:cxnSp>
        <p:nvCxnSpPr>
          <p:cNvPr id="16" name="DropC"/>
          <p:cNvCxnSpPr/>
          <p:nvPr/>
        </p:nvCxnSpPr>
        <p:spPr>
          <a:xfrm>
            <a:off x="1737360" y="2240280"/>
            <a:ext cx="0" cy="320040"/>
          </a:xfrm>
          <a:prstGeom prst="straightConnector1">
            <a:avLst/>
          </a:prstGeom>
          <a:ln w="12700">
            <a:solidFill>
              <a:srgbClr val="8E6F3E"/>
            </a:solidFill>
            <a:prstDash val="dash"/>
            <a:tailEnd type="triangle" w="med" len="med"/>
          </a:ln>
        </p:spPr>
      </p:cxnSp>
      <p:sp>
        <p:nvSpPr>
          <p:cNvPr id="17" name="Drop1"/>
          <p:cNvSpPr/>
          <p:nvPr/>
        </p:nvSpPr>
        <p:spPr>
          <a:xfrm>
            <a:off x="845820" y="2606040"/>
            <a:ext cx="1783080" cy="402336"/>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600" b="1" dirty="0">
                <a:solidFill>
                  <a:srgbClr val="8E6F3E"/>
                </a:solidFill>
              </a:rPr>
              <a:t>✗ a distinction</a:t>
            </a:r>
          </a:p>
        </p:txBody>
      </p:sp>
      <p:sp>
        <p:nvSpPr>
          <p:cNvPr id="18" name="DropL"/>
          <p:cNvSpPr txBox="1"/>
          <p:nvPr/>
        </p:nvSpPr>
        <p:spPr>
          <a:xfrm>
            <a:off x="685800" y="3063240"/>
            <a:ext cx="210312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dropped here, in the model</a:t>
            </a:r>
          </a:p>
        </p:txBody>
      </p:sp>
      <p:sp>
        <p:nvSpPr>
          <p:cNvPr id="19" name="EmptyL"/>
          <p:cNvSpPr txBox="1"/>
          <p:nvPr/>
        </p:nvSpPr>
        <p:spPr>
          <a:xfrm>
            <a:off x="6172200" y="2514600"/>
            <a:ext cx="2697480" cy="548640"/>
          </a:xfrm>
          <a:prstGeom prst="rect">
            <a:avLst/>
          </a:prstGeom>
          <a:noFill/>
          <a:ln>
            <a:noFill/>
          </a:ln>
        </p:spPr>
        <p:txBody>
          <a:bodyPr wrap="square" lIns="0" tIns="0" rIns="0" bIns="0" anchor="t"/>
          <a:lstStyle/>
          <a:p>
            <a:pPr algn="l">
              <a:spcAft>
                <a:spcPts val="0"/>
              </a:spcAft>
              <a:buNone/>
            </a:pPr>
            <a:r>
              <a:rPr lang="en-US" sz="1400" b="0" i="1" dirty="0">
                <a:solidFill>
                  <a:srgbClr val="555960"/>
                </a:solidFill>
              </a:rPr>
              <a:t>nothing arrives to recover; the distinction no longer exists</a:t>
            </a:r>
          </a:p>
        </p:txBody>
      </p:sp>
      <p:sp>
        <p:nvSpPr>
          <p:cNvPr id="150" name="Ital"/>
          <p:cNvSpPr txBox="1"/>
          <p:nvPr/>
        </p:nvSpPr>
        <p:spPr>
          <a:xfrm>
            <a:off x="274320" y="3474720"/>
            <a:ext cx="859536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The limit is semantic, not a shortfall of intelligence.</a:t>
            </a:r>
          </a:p>
        </p:txBody>
      </p:sp>
      <p:sp>
        <p:nvSpPr>
          <p:cNvPr id="30" name="ChEq"/>
          <p:cNvSpPr txBox="1"/>
          <p:nvPr/>
        </p:nvSpPr>
        <p:spPr>
          <a:xfrm>
            <a:off x="274320" y="3977640"/>
            <a:ext cx="8595360" cy="411480"/>
          </a:xfrm>
          <a:prstGeom prst="rect">
            <a:avLst/>
          </a:prstGeom>
          <a:noFill/>
          <a:ln>
            <a:noFill/>
          </a:ln>
        </p:spPr>
        <p:txBody>
          <a:bodyPr wrap="square" lIns="0" tIns="0" rIns="0" bIns="0" anchor="ctr"/>
          <a:lstStyle/>
          <a:p>
            <a:pPr algn="ctr">
              <a:spcAft>
                <a:spcPts val="0"/>
              </a:spcAft>
              <a:buNone/>
            </a:pPr>
            <a:r>
              <a:rPr lang="en-US" sz="2200" b="0" i="1" dirty="0">
                <a:solidFill>
                  <a:srgbClr val="5C4826"/>
                </a:solidFill>
              </a:rPr>
              <a:t xml:space="preserve">p</a:t>
            </a:r>
            <a:r>
              <a:rPr lang="en-US" sz="2200" b="0" i="1" baseline="-25000" dirty="0">
                <a:solidFill>
                  <a:srgbClr val="5C4826"/>
                </a:solidFill>
              </a:rPr>
              <a:t xml:space="preserve">R</a:t>
            </a:r>
            <a:r>
              <a:rPr lang="en-US" sz="2200" b="0" i="1" dirty="0">
                <a:solidFill>
                  <a:srgbClr val="5C4826"/>
                </a:solidFill>
              </a:rPr>
              <a:t xml:space="preserve"> = </a:t>
            </a:r>
            <a:r>
              <a:rPr lang="en-US" sz="2200" b="1" i="1" dirty="0">
                <a:solidFill>
                  <a:srgbClr val="5C4826"/>
                </a:solidFill>
              </a:rPr>
              <a:t xml:space="preserve">P(E | R)</a:t>
            </a:r>
            <a:r>
              <a:rPr lang="en-US" sz="2200" b="0" i="1" dirty="0">
                <a:solidFill>
                  <a:srgbClr val="5C4826"/>
                </a:solidFill>
              </a:rPr>
              <a:t xml:space="preserve"> · P(I | E, R) · P(L | I, E, R)</a:t>
            </a:r>
          </a:p>
        </p:txBody>
      </p:sp>
      <p:sp>
        <p:nvSpPr>
          <p:cNvPr id="31" name="ChCap"/>
          <p:cNvSpPr txBox="1"/>
          <p:nvPr/>
        </p:nvSpPr>
        <p:spPr>
          <a:xfrm>
            <a:off x="274320" y="438912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 xml:space="preserve">a perfect reasoner drives the last two factors to one</a:t>
            </a:r>
          </a:p>
        </p:txBody>
      </p:sp>
      <p:sp>
        <p:nvSpPr>
          <p:cNvPr id="32" name="LimEq"/>
          <p:cNvSpPr txBox="1"/>
          <p:nvPr/>
        </p:nvSpPr>
        <p:spPr>
          <a:xfrm>
            <a:off x="274320" y="4800600"/>
            <a:ext cx="8595360" cy="685800"/>
          </a:xfrm>
          <a:prstGeom prst="rect">
            <a:avLst/>
          </a:prstGeom>
          <a:noFill/>
          <a:ln>
            <a:noFill/>
          </a:ln>
        </p:spPr>
        <p:txBody>
          <a:bodyPr wrap="square" lIns="0" tIns="0" rIns="0" bIns="0" anchor="ctr"/>
          <a:lstStyle/>
          <a:p>
            <a:pPr algn="ctr">
              <a:spcAft>
                <a:spcPts val="0"/>
              </a:spcAft>
              <a:buNone/>
            </a:pPr>
            <a:r>
              <a:rPr lang="en-US" sz="3000" b="0" dirty="0">
                <a:solidFill>
                  <a:srgbClr val="5C4826"/>
                </a:solidFill>
              </a:rPr>
              <a:t xml:space="preserve">lim</a:t>
            </a:r>
            <a:r>
              <a:rPr lang="en-US" sz="3000" b="0" baseline="-25000" dirty="0">
                <a:solidFill>
                  <a:srgbClr val="5C4826"/>
                </a:solidFill>
              </a:rPr>
              <a:t xml:space="preserve">M → perfect reasoner</a:t>
            </a:r>
            <a:r>
              <a:rPr lang="en-US" sz="3000" b="0" i="1" dirty="0">
                <a:solidFill>
                  <a:srgbClr val="5C4826"/>
                </a:solidFill>
              </a:rPr>
              <a:t xml:space="preserve">     p</a:t>
            </a:r>
            <a:r>
              <a:rPr lang="en-US" sz="3000" b="0" i="1" baseline="-25000" dirty="0">
                <a:solidFill>
                  <a:srgbClr val="5C4826"/>
                </a:solidFill>
              </a:rPr>
              <a:t xml:space="preserve">R</a:t>
            </a:r>
            <a:r>
              <a:rPr lang="en-US" sz="3000" b="0" i="1" dirty="0">
                <a:solidFill>
                  <a:srgbClr val="5C4826"/>
                </a:solidFill>
              </a:rPr>
              <a:t xml:space="preserve"> = P(E | R)</a:t>
            </a:r>
          </a:p>
        </p:txBody>
      </p:sp>
      <p:sp>
        <p:nvSpPr>
          <p:cNvPr id="33" name="LimCap"/>
          <p:cNvSpPr txBox="1"/>
          <p:nvPr/>
        </p:nvSpPr>
        <p:spPr>
          <a:xfrm>
            <a:off x="274320" y="5486400"/>
            <a:ext cx="8595360" cy="274320"/>
          </a:xfrm>
          <a:prstGeom prst="rect">
            <a:avLst/>
          </a:prstGeom>
          <a:noFill/>
          <a:ln>
            <a:noFill/>
          </a:ln>
        </p:spPr>
        <p:txBody>
          <a:bodyPr wrap="square" lIns="0" tIns="0" rIns="0" bIns="0" anchor="t"/>
          <a:lstStyle/>
          <a:p>
            <a:pPr algn="ctr">
              <a:spcAft>
                <a:spcPts val="0"/>
              </a:spcAft>
              <a:buNone/>
            </a:pPr>
            <a:r>
              <a:rPr lang="en-US" sz="1400" b="0" i="1" dirty="0">
                <a:solidFill>
                  <a:srgbClr val="555960"/>
                </a:solidFill>
              </a:rPr>
              <a:t>Better reasoning cannot recover consequential intent the representation failed to encode.</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What reduction removed, no capability restores.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par>
                                <p:cTn id="8" presetID="10" presetClass="entr" presetSubtype="0" fill="hold"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500"/>
                                        <p:tgtEl>
                                          <p:spTgt spid="31"/>
                                        </p:tgtEl>
                                      </p:cBhvr>
                                    </p:animEffect>
                                  </p:childTnLst>
                                </p:cTn>
                              </p:par>
                              <p:par>
                                <p:cTn id="11" presetID="10"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Reduce</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 xml:space="preserve">Same controller, new question: </a:t>
            </a:r>
            <a:r>
              <a:rPr lang="en-US" sz="1800" b="1" dirty="0">
                <a:solidFill>
                  <a:srgbClr val="5C4826"/>
                </a:solidFill>
              </a:rPr>
              <a:t>can the device respond to an over-temperature condition within 50 ms?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YOUR TASK — TOP-DOWN, THEN BOTTOM-UP</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marL="228600" indent="-228600" algn="l">
              <a:spcAft>
                <a:spcPts val="1600"/>
              </a:spcAft>
              <a:buNone/>
            </a:pPr>
            <a:r>
              <a:rPr lang="en-US" sz="1800" b="0" dirty="0">
                <a:solidFill>
                  <a:srgbClr val="5C4826"/>
                </a:solidFill>
              </a:rPr>
              <a:t>1.  Top-down: what distinctions must your model preserve?</a:t>
            </a:r>
          </a:p>
          <a:p>
            <a:pPr marL="228600" indent="-228600" algn="l">
              <a:spcAft>
                <a:spcPts val="1600"/>
              </a:spcAft>
              <a:buNone/>
            </a:pPr>
            <a:r>
              <a:rPr lang="en-US" sz="1800" b="0" dirty="0">
                <a:solidFill>
                  <a:srgbClr val="5C4826"/>
                </a:solidFill>
              </a:rPr>
              <a:t>2.  Bottom-up: justify every distinction you kept.</a:t>
            </a:r>
          </a:p>
          <a:p>
            <a:pPr marL="228600" indent="-228600" algn="l">
              <a:spcAft>
                <a:spcPts val="0"/>
              </a:spcAft>
              <a:buNone/>
            </a:pPr>
            <a:r>
              <a:rPr lang="en-US" sz="1800" b="0" dirty="0">
                <a:solidFill>
                  <a:srgbClr val="5C4826"/>
                </a:solidFill>
              </a:rPr>
              <a:t>3.  Name at least three facts about the real system your model deliberately omits.</a:t>
            </a:r>
          </a:p>
        </p:txBody>
      </p:sp>
      <p:sp>
        <p:nvSpPr>
          <p:cNvPr id="8" name="DbfL"/>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DEBRIEF</a:t>
            </a:r>
          </a:p>
        </p:txBody>
      </p:sp>
      <p:sp>
        <p:nvSpPr>
          <p:cNvPr id="9" name="DBox"/>
          <p:cNvSpPr/>
          <p:nvPr/>
        </p:nvSpPr>
        <p:spPr>
          <a:xfrm>
            <a:off x="365760" y="4306824"/>
            <a:ext cx="6080760" cy="1389888"/>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1800" b="0" dirty="0">
                <a:solidFill>
                  <a:srgbClr val="5C4826"/>
                </a:solidFill>
              </a:rPr>
              <a:t>Everything converges on one chain: sample → schedule → compute → actuate</a:t>
            </a:r>
          </a:p>
          <a:p>
            <a:pPr algn="ctr">
              <a:spcAft>
                <a:spcPts val="0"/>
              </a:spcAft>
              <a:buNone/>
            </a:pPr>
            <a:r>
              <a:rPr lang="en-US" sz="2000" b="1" dirty="0">
                <a:solidFill>
                  <a:srgbClr val="5C4826"/>
                </a:solidFill>
              </a:rPr>
              <a:t>T</a:t>
            </a:r>
            <a:r>
              <a:rPr lang="en-US" sz="1400" b="1" baseline="-25000" dirty="0">
                <a:solidFill>
                  <a:srgbClr val="5C4826"/>
                </a:solidFill>
              </a:rPr>
              <a:t>sample</a:t>
            </a:r>
            <a:r>
              <a:rPr lang="en-US" sz="2000" b="1" dirty="0">
                <a:solidFill>
                  <a:srgbClr val="5C4826"/>
                </a:solidFill>
              </a:rPr>
              <a:t xml:space="preserve"> + T</a:t>
            </a:r>
            <a:r>
              <a:rPr lang="en-US" sz="1400" b="1" baseline="-25000" dirty="0">
                <a:solidFill>
                  <a:srgbClr val="5C4826"/>
                </a:solidFill>
              </a:rPr>
              <a:t>schedule</a:t>
            </a:r>
            <a:r>
              <a:rPr lang="en-US" sz="2000" b="1" dirty="0">
                <a:solidFill>
                  <a:srgbClr val="5C4826"/>
                </a:solidFill>
              </a:rPr>
              <a:t xml:space="preserve"> + T</a:t>
            </a:r>
            <a:r>
              <a:rPr lang="en-US" sz="1400" b="1" baseline="-25000" dirty="0">
                <a:solidFill>
                  <a:srgbClr val="5C4826"/>
                </a:solidFill>
              </a:rPr>
              <a:t>compute</a:t>
            </a:r>
            <a:r>
              <a:rPr lang="en-US" sz="2000" b="1" dirty="0">
                <a:solidFill>
                  <a:srgbClr val="5C4826"/>
                </a:solidFill>
              </a:rPr>
              <a:t xml:space="preserve"> + T</a:t>
            </a:r>
            <a:r>
              <a:rPr lang="en-US" sz="1400" b="1" baseline="-25000" dirty="0">
                <a:solidFill>
                  <a:srgbClr val="5C4826"/>
                </a:solidFill>
              </a:rPr>
              <a:t>actuate</a:t>
            </a:r>
            <a:r>
              <a:rPr lang="en-US" sz="2000" b="1" dirty="0">
                <a:solidFill>
                  <a:srgbClr val="5C4826"/>
                </a:solidFill>
              </a:rPr>
              <a:t xml:space="preserve"> ≤ 50 ms</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6"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7" name="QRVoidStrokeTLBR"/>
            <p:cNvCxnSpPr/>
            <p:nvPr/>
          </p:nvCxnSpPr>
          <p:spPr>
            <a:xfrm>
              <a:off x="6763542" y="2049620"/>
              <a:ext cx="1947612" cy="1947612"/>
            </a:xfrm>
            <a:prstGeom prst="straightConnector1">
              <a:avLst/>
            </a:prstGeom>
            <a:ln w="101600" cap="rnd">
              <a:solidFill>
                <a:srgbClr val="C00000"/>
              </a:solidFill>
              <a:round/>
            </a:ln>
          </p:spPr>
        </p:cxnSp>
        <p:cxnSp>
          <p:nvCxnSpPr>
            <p:cNvPr id="18"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Work the model as a team.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10 MINUTES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500"/>
                                        <p:tgtEl>
                                          <p:spTgt spid="8"/>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A model is not its representation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6" name="Kicker"/>
          <p:cNvSpPr txBox="1"/>
          <p:nvPr/>
        </p:nvSpPr>
        <p:spPr>
          <a:xfrm>
            <a:off x="365760" y="100584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MODEL ≠ REPRESENTATION</a:t>
            </a:r>
          </a:p>
        </p:txBody>
      </p:sp>
      <p:sp>
        <p:nvSpPr>
          <p:cNvPr id="7" name="Definitions"/>
          <p:cNvSpPr txBox="1"/>
          <p:nvPr/>
        </p:nvSpPr>
        <p:spPr>
          <a:xfrm>
            <a:off x="365760" y="1414780"/>
            <a:ext cx="8412480" cy="731520"/>
          </a:xfrm>
          <a:prstGeom prst="rect">
            <a:avLst/>
          </a:prstGeom>
          <a:noFill/>
        </p:spPr>
        <p:txBody>
          <a:bodyPr wrap="square" lIns="18288" tIns="18288" rIns="18288" bIns="18288">
            <a:spAutoFit/>
          </a:bodyPr>
          <a:lstStyle/>
          <a:p>
            <a:pPr algn="l">
              <a:spcAft>
                <a:spcPts val="600"/>
              </a:spcAft>
              <a:buNone/>
            </a:pPr>
            <a:r>
              <a:rPr lang="en-US" sz="1800" b="1" dirty="0">
                <a:solidFill>
                  <a:srgbClr val="5C4826"/>
                </a:solidFill>
              </a:rPr>
              <a:t>Model</a:t>
            </a:r>
            <a:r>
              <a:rPr lang="en-US" sz="1800" b="0" dirty="0">
                <a:solidFill>
                  <a:srgbClr val="555960"/>
                </a:solidFill>
              </a:rPr>
              <a:t xml:space="preserve"> — a purposeful reduction of some territory that preserves selected properties for engineering questions.</a:t>
            </a:r>
          </a:p>
          <a:p>
            <a:pPr algn="l">
              <a:spcAft>
                <a:spcPts val="0"/>
              </a:spcAft>
              <a:buNone/>
            </a:pPr>
            <a:r>
              <a:rPr lang="en-US" sz="1800" b="1" dirty="0">
                <a:solidFill>
                  <a:srgbClr val="5C4826"/>
                </a:solidFill>
              </a:rPr>
              <a:t>Representation</a:t>
            </a:r>
            <a:r>
              <a:rPr lang="en-US" sz="1800" b="0" dirty="0">
                <a:solidFill>
                  <a:srgbClr val="555960"/>
                </a:solidFill>
              </a:rPr>
              <a:t xml:space="preserve"> — a concrete form in which a model is inspected, manipulated, analyzed, or consumed.</a:t>
            </a:r>
          </a:p>
        </p:txBody>
      </p:sp>
      <p:sp>
        <p:nvSpPr>
          <p:cNvPr id="8" name="Card"/>
          <p:cNvSpPr/>
          <p:nvPr/>
        </p:nvSpPr>
        <p:spPr>
          <a:xfrm>
            <a:off x="3429000" y="2560320"/>
            <a:ext cx="2286000" cy="45720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ONE MODEL</a:t>
            </a:r>
          </a:p>
        </p:txBody>
      </p:sp>
      <p:cxnSp>
        <p:nvCxnSpPr>
          <p:cNvPr id="20" name="L1"/>
          <p:cNvCxnSpPr/>
          <p:nvPr/>
        </p:nvCxnSpPr>
        <p:spPr>
          <a:xfrm flipH="1">
            <a:off x="1709760" y="3017520"/>
            <a:ext cx="2862240" cy="320040"/>
          </a:xfrm>
          <a:prstGeom prst="line">
            <a:avLst/>
          </a:prstGeom>
          <a:ln w="19050">
            <a:solidFill>
              <a:srgbClr val="C9B991"/>
            </a:solidFill>
          </a:ln>
        </p:spPr>
      </p:cxnSp>
      <p:cxnSp>
        <p:nvCxnSpPr>
          <p:cNvPr id="21" name="L2"/>
          <p:cNvCxnSpPr/>
          <p:nvPr/>
        </p:nvCxnSpPr>
        <p:spPr>
          <a:xfrm>
            <a:off x="4572000" y="3017520"/>
            <a:ext cx="0" cy="320040"/>
          </a:xfrm>
          <a:prstGeom prst="line">
            <a:avLst/>
          </a:prstGeom>
          <a:ln w="19050">
            <a:solidFill>
              <a:srgbClr val="C9B991"/>
            </a:solidFill>
          </a:ln>
        </p:spPr>
      </p:cxnSp>
      <p:cxnSp>
        <p:nvCxnSpPr>
          <p:cNvPr id="22" name="L3"/>
          <p:cNvCxnSpPr/>
          <p:nvPr/>
        </p:nvCxnSpPr>
        <p:spPr>
          <a:xfrm>
            <a:off x="4572000" y="3017520"/>
            <a:ext cx="2862240" cy="320040"/>
          </a:xfrm>
          <a:prstGeom prst="line">
            <a:avLst/>
          </a:prstGeom>
          <a:ln w="19050">
            <a:solidFill>
              <a:srgbClr val="C9B991"/>
            </a:solidFill>
          </a:ln>
        </p:spPr>
      </p:cxnSp>
      <p:sp>
        <p:nvSpPr>
          <p:cNvPr id="30" name="P1"/>
          <p:cNvSpPr/>
          <p:nvPr/>
        </p:nvSpPr>
        <p:spPr>
          <a:xfrm>
            <a:off x="36576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1400" b="1" dirty="0">
                <a:solidFill>
                  <a:srgbClr val="5C4826"/>
                </a:solidFill>
              </a:rPr>
              <a:t>STATE DIAGRAM</a:t>
            </a:r>
          </a:p>
        </p:txBody>
      </p:sp>
      <p:sp>
        <p:nvSpPr>
          <p:cNvPr id="31" name="N1"/>
          <p:cNvSpPr/>
          <p:nvPr/>
        </p:nvSpPr>
        <p:spPr>
          <a:xfrm>
            <a:off x="909760" y="374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staged</a:t>
            </a:r>
          </a:p>
        </p:txBody>
      </p:sp>
      <p:cxnSp>
        <p:nvCxnSpPr>
          <p:cNvPr id="32" name="A1"/>
          <p:cNvCxnSpPr/>
          <p:nvPr/>
        </p:nvCxnSpPr>
        <p:spPr>
          <a:xfrm>
            <a:off x="1709760" y="4022560"/>
            <a:ext cx="0" cy="280000"/>
          </a:xfrm>
          <a:prstGeom prst="line">
            <a:avLst/>
          </a:prstGeom>
          <a:ln w="19050">
            <a:solidFill>
              <a:srgbClr val="8E6F3E"/>
            </a:solidFill>
            <a:tailEnd type="triangle"/>
          </a:ln>
        </p:spPr>
      </p:cxnSp>
      <p:sp>
        <p:nvSpPr>
          <p:cNvPr id="33" name="N2"/>
          <p:cNvSpPr/>
          <p:nvPr/>
        </p:nvSpPr>
        <p:spPr>
          <a:xfrm>
            <a:off x="909760" y="430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published</a:t>
            </a:r>
          </a:p>
        </p:txBody>
      </p:sp>
      <p:cxnSp>
        <p:nvCxnSpPr>
          <p:cNvPr id="34" name="A2"/>
          <p:cNvCxnSpPr/>
          <p:nvPr/>
        </p:nvCxnSpPr>
        <p:spPr>
          <a:xfrm>
            <a:off x="1709760" y="4582560"/>
            <a:ext cx="0" cy="280000"/>
          </a:xfrm>
          <a:prstGeom prst="line">
            <a:avLst/>
          </a:prstGeom>
          <a:ln w="19050">
            <a:solidFill>
              <a:srgbClr val="8E6F3E"/>
            </a:solidFill>
            <a:tailEnd type="triangle"/>
          </a:ln>
        </p:spPr>
      </p:cxnSp>
      <p:sp>
        <p:nvSpPr>
          <p:cNvPr id="35" name="N3"/>
          <p:cNvSpPr/>
          <p:nvPr/>
        </p:nvSpPr>
        <p:spPr>
          <a:xfrm>
            <a:off x="909760" y="4862560"/>
            <a:ext cx="1600000" cy="280000"/>
          </a:xfrm>
          <a:prstGeom prst="rect">
            <a:avLst/>
          </a:prstGeom>
          <a:solidFill>
            <a:srgbClr val="FBF8F2"/>
          </a:solidFill>
          <a:ln w="12700">
            <a:solidFill>
              <a:srgbClr val="C9B991"/>
            </a:solidFill>
          </a:ln>
        </p:spPr>
        <p:txBody>
          <a:bodyPr wrap="square" lIns="0" tIns="0" rIns="0" bIns="0" anchor="ctr"/>
          <a:lstStyle/>
          <a:p>
            <a:pPr algn="ctr">
              <a:buNone/>
            </a:pPr>
            <a:r>
              <a:rPr lang="en-US" sz="1400" b="0" dirty="0">
                <a:solidFill>
                  <a:srgbClr val="5C4826"/>
                </a:solidFill>
              </a:rPr>
              <a:t>recorded</a:t>
            </a:r>
          </a:p>
        </p:txBody>
      </p:sp>
      <p:sp>
        <p:nvSpPr>
          <p:cNvPr id="40" name="P2"/>
          <p:cNvSpPr/>
          <p:nvPr/>
        </p:nvSpPr>
        <p:spPr>
          <a:xfrm>
            <a:off x="3228000" y="3337560"/>
            <a:ext cx="2688000" cy="2050000"/>
          </a:xfrm>
          <a:prstGeom prst="rect">
            <a:avLst/>
          </a:prstGeom>
          <a:solidFill>
            <a:srgbClr val="F5F1E8"/>
          </a:solidFill>
          <a:ln w="12700">
            <a:solidFill>
              <a:srgbClr val="C9B991"/>
            </a:solidFill>
          </a:ln>
        </p:spPr>
        <p:txBody>
          <a:bodyPr wrap="square" lIns="91440" tIns="68580" rIns="91440" bIns="68580" anchor="t"/>
          <a:lstStyle/>
          <a:p>
            <a:pPr algn="ctr">
              <a:spcAft>
                <a:spcPts val="1000"/>
              </a:spcAft>
              <a:buNone/>
            </a:pPr>
            <a:r>
              <a:rPr lang="en-US" sz="1400" b="1" dirty="0">
                <a:solidFill>
                  <a:srgbClr val="5C4826"/>
                </a:solidFill>
              </a:rPr>
              <a:t>TRANSITION TABLE</a:t>
            </a:r>
          </a:p>
          <a:p>
            <a:pPr algn="ctr">
              <a:spcAft>
                <a:spcPts val="600"/>
              </a:spcAft>
              <a:buNone/>
            </a:pPr>
            <a:r>
              <a:rPr lang="en-US" sz="1400" b="1" dirty="0">
                <a:solidFill>
                  <a:srgbClr val="8E6F3E"/>
                </a:solidFill>
              </a:rPr>
              <a:t>from  →  to</a:t>
            </a:r>
          </a:p>
          <a:p>
            <a:pPr algn="ctr">
              <a:spcAft>
                <a:spcPts val="600"/>
              </a:spcAft>
              <a:buNone/>
            </a:pPr>
            <a:r>
              <a:rPr lang="en-US" sz="1500" b="0" dirty="0">
                <a:solidFill>
                  <a:srgbClr val="5C4826"/>
                </a:solidFill>
              </a:rPr>
              <a:t>staged  →  published</a:t>
            </a:r>
          </a:p>
          <a:p>
            <a:pPr algn="ctr">
              <a:spcAft>
                <a:spcPts val="1000"/>
              </a:spcAft>
              <a:buNone/>
            </a:pPr>
            <a:r>
              <a:rPr lang="en-US" sz="1500" b="0" dirty="0">
                <a:solidFill>
                  <a:srgbClr val="5C4826"/>
                </a:solidFill>
              </a:rPr>
              <a:t>published  →  recorded</a:t>
            </a:r>
          </a:p>
          <a:p>
            <a:pPr algn="ctr">
              <a:spcAft>
                <a:spcPts val="0"/>
              </a:spcAft>
              <a:buNone/>
            </a:pPr>
            <a:r>
              <a:rPr lang="en-US" sz="1400" b="0" i="1" dirty="0">
                <a:solidFill>
                  <a:srgbClr val="555960"/>
                </a:solidFill>
              </a:rPr>
              <a:t>no other rows</a:t>
            </a:r>
          </a:p>
        </p:txBody>
      </p:sp>
      <p:sp>
        <p:nvSpPr>
          <p:cNvPr id="41" name="P3"/>
          <p:cNvSpPr/>
          <p:nvPr/>
        </p:nvSpPr>
        <p:spPr>
          <a:xfrm>
            <a:off x="6090240" y="3337560"/>
            <a:ext cx="2688000" cy="2050000"/>
          </a:xfrm>
          <a:prstGeom prst="rect">
            <a:avLst/>
          </a:prstGeom>
          <a:solidFill>
            <a:srgbClr val="F5F1E8"/>
          </a:solidFill>
          <a:ln w="12700">
            <a:solidFill>
              <a:srgbClr val="C9B991"/>
            </a:solidFill>
          </a:ln>
        </p:spPr>
        <p:txBody>
          <a:bodyPr wrap="square" lIns="137160" tIns="68580" rIns="91440" bIns="68580" anchor="t"/>
          <a:lstStyle/>
          <a:p>
            <a:pPr algn="ctr">
              <a:spcAft>
                <a:spcPts val="1000"/>
              </a:spcAft>
              <a:buNone/>
            </a:pPr>
            <a:r>
              <a:rPr lang="en-US" sz="1400" b="1" dirty="0">
                <a:solidFill>
                  <a:srgbClr val="5C4826"/>
                </a:solidFill>
              </a:rPr>
              <a:t>STRUCTURED TEXT</a:t>
            </a:r>
          </a:p>
          <a:p>
            <a:pPr algn="l">
              <a:spcAft>
                <a:spcPts val="600"/>
              </a:spcAft>
              <a:buNone/>
            </a:pPr>
            <a:r>
              <a:rPr lang="en-US" sz="1500" b="0" dirty="0">
                <a:solidFill>
                  <a:srgbClr val="5C4826"/>
                </a:solidFill>
              </a:rPr>
              <a:t>transitions:</a:t>
            </a:r>
          </a:p>
          <a:p>
            <a:pPr algn="l">
              <a:spcAft>
                <a:spcPts val="600"/>
              </a:spcAft>
              <a:buNone/>
            </a:pPr>
            <a:r>
              <a:rPr lang="en-US" sz="1500" b="0" dirty="0">
                <a:solidFill>
                  <a:srgbClr val="5C4826"/>
                </a:solidFill>
              </a:rPr>
              <a:t xml:space="preserve">  staged: published</a:t>
            </a:r>
          </a:p>
          <a:p>
            <a:pPr algn="l">
              <a:spcAft>
                <a:spcPts val="1000"/>
              </a:spcAft>
              <a:buNone/>
            </a:pPr>
            <a:r>
              <a:rPr lang="en-US" sz="1500" b="0" dirty="0">
                <a:solidFill>
                  <a:srgbClr val="5C4826"/>
                </a:solidFill>
              </a:rPr>
              <a:t xml:space="preserve">  published: recorded</a:t>
            </a:r>
          </a:p>
          <a:p>
            <a:pPr algn="ctr">
              <a:spcAft>
                <a:spcPts val="0"/>
              </a:spcAft>
              <a:buNone/>
            </a:pPr>
            <a:r>
              <a:rPr lang="en-US" sz="1400" b="0" i="1" dirty="0">
                <a:solidFill>
                  <a:srgbClr val="555960"/>
                </a:solidFill>
              </a:rPr>
              <a:t>nothing else declared</a:t>
            </a:r>
          </a:p>
        </p:txBody>
      </p:sp>
      <p:sp>
        <p:nvSpPr>
          <p:cNvPr id="150" name="Ital"/>
          <p:cNvSpPr txBox="1"/>
          <p:nvPr/>
        </p:nvSpPr>
        <p:spPr>
          <a:xfrm>
            <a:off x="274320" y="5480000"/>
            <a:ext cx="8595360" cy="330000"/>
          </a:xfrm>
          <a:prstGeom prst="rect">
            <a:avLst/>
          </a:prstGeom>
          <a:noFill/>
          <a:ln>
            <a:noFill/>
          </a:ln>
        </p:spPr>
        <p:txBody>
          <a:bodyPr wrap="square" lIns="0" tIns="0" rIns="0" bIns="0" anchor="t"/>
          <a:lstStyle/>
          <a:p>
            <a:pPr algn="ctr">
              <a:buNone/>
            </a:pPr>
            <a:r>
              <a:rPr lang="en-US" sz="1700" b="0" i="1" dirty="0">
                <a:solidFill>
                  <a:srgbClr val="555960"/>
                </a:solidFill>
              </a:rPr>
              <a:t>The property — publication precedes the record — is statable in every one of them.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Three representations. One model.</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Representation changes interpretation</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6" name="PCard"/>
          <p:cNvSpPr/>
          <p:nvPr/>
        </p:nvSpPr>
        <p:spPr>
          <a:xfrm>
            <a:off x="365760" y="1097280"/>
            <a:ext cx="8412480" cy="822960"/>
          </a:xfrm>
          <a:prstGeom prst="rect">
            <a:avLst/>
          </a:prstGeom>
          <a:solidFill>
            <a:srgbClr val="F5F1E8"/>
          </a:solidFill>
          <a:ln w="12700">
            <a:solidFill>
              <a:srgbClr val="C9B991"/>
            </a:solidFill>
          </a:ln>
        </p:spPr>
        <p:txBody>
          <a:bodyPr wrap="square" lIns="91440" tIns="45720" rIns="91440" bIns="45720" anchor="ctr"/>
          <a:lstStyle/>
          <a:p>
            <a:pPr algn="ctr">
              <a:spcAft>
                <a:spcPts val="400"/>
              </a:spcAft>
              <a:buNone/>
            </a:pPr>
            <a:r>
              <a:rPr lang="en-US" sz="2000" b="1" dirty="0">
                <a:solidFill>
                  <a:srgbClr val="5C4826"/>
                </a:solidFill>
              </a:rPr>
              <a:t>P( agent correctly interprets claim c  |  representation r )</a:t>
            </a:r>
          </a:p>
          <a:p>
            <a:pPr algn="ctr">
              <a:spcAft>
                <a:spcPts val="0"/>
              </a:spcAft>
              <a:buNone/>
            </a:pPr>
            <a:r>
              <a:rPr lang="en-US" sz="1400" b="0" i="1" dirty="0">
                <a:solidFill>
                  <a:srgbClr val="555960"/>
                </a:solidFill>
              </a:rPr>
              <a:t>one intended claim c — representations differ in how reliably a reader recovers it</a:t>
            </a:r>
          </a:p>
        </p:txBody>
      </p:sp>
      <p:sp>
        <p:nvSpPr>
          <p:cNvPr id="7" name="RA"/>
          <p:cNvSpPr/>
          <p:nvPr/>
        </p:nvSpPr>
        <p:spPr>
          <a:xfrm>
            <a:off x="365760" y="228600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A — TYPED RELATION</a:t>
            </a:r>
          </a:p>
          <a:p>
            <a:pPr algn="ctr">
              <a:spcAft>
                <a:spcPts val="400"/>
              </a:spcAft>
              <a:buNone/>
            </a:pPr>
            <a:r>
              <a:rPr lang="en-US" sz="1500" b="0" dirty="0">
                <a:solidFill>
                  <a:srgbClr val="5C4826"/>
                </a:solidFill>
              </a:rPr>
              <a:t>staged → published → recorded</a:t>
            </a:r>
          </a:p>
          <a:p>
            <a:pPr algn="ctr">
              <a:spcAft>
                <a:spcPts val="0"/>
              </a:spcAft>
              <a:buNone/>
            </a:pPr>
            <a:r>
              <a:rPr lang="en-US" sz="1400" b="0" i="1" dirty="0">
                <a:solidFill>
                  <a:srgbClr val="555960"/>
                </a:solidFill>
              </a:rPr>
              <a:t>no other transitions</a:t>
            </a:r>
          </a:p>
        </p:txBody>
      </p:sp>
      <p:sp>
        <p:nvSpPr>
          <p:cNvPr id="8" name="RB"/>
          <p:cNvSpPr/>
          <p:nvPr/>
        </p:nvSpPr>
        <p:spPr>
          <a:xfrm>
            <a:off x="365760" y="3749040"/>
            <a:ext cx="3657600" cy="1143000"/>
          </a:xfrm>
          <a:prstGeom prst="rect">
            <a:avLst/>
          </a:prstGeom>
          <a:solidFill>
            <a:srgbClr val="F5F1E8"/>
          </a:solidFill>
          <a:ln w="12700">
            <a:solidFill>
              <a:srgbClr val="C9B991"/>
            </a:solidFill>
          </a:ln>
        </p:spPr>
        <p:txBody>
          <a:bodyPr wrap="square" lIns="91440" tIns="68580" rIns="91440" bIns="68580" anchor="t"/>
          <a:lstStyle/>
          <a:p>
            <a:pPr algn="ctr">
              <a:spcAft>
                <a:spcPts val="800"/>
              </a:spcAft>
              <a:buNone/>
            </a:pPr>
            <a:r>
              <a:rPr lang="en-US" sz="1400" b="1" dirty="0">
                <a:solidFill>
                  <a:srgbClr val="5C4826"/>
                </a:solidFill>
              </a:rPr>
              <a:t>REPRESENTATION B — INFORMAL PROSE</a:t>
            </a:r>
          </a:p>
          <a:p>
            <a:pPr algn="ctr">
              <a:spcAft>
                <a:spcPts val="0"/>
              </a:spcAft>
              <a:buNone/>
            </a:pPr>
            <a:r>
              <a:rPr lang="en-US" sz="1500" b="0" i="1" dirty="0">
                <a:solidFill>
                  <a:srgbClr val="5C4826"/>
                </a:solidFill>
              </a:rPr>
              <a:t>“Files usually get staged before they show up in the database.”</a:t>
            </a:r>
          </a:p>
        </p:txBody>
      </p:sp>
      <p:sp>
        <p:nvSpPr>
          <p:cNvPr id="9" name="RD"/>
          <p:cNvSpPr/>
          <p:nvPr/>
        </p:nvSpPr>
        <p:spPr>
          <a:xfrm>
            <a:off x="6858000" y="3200400"/>
            <a:ext cx="1828800" cy="822960"/>
          </a:xfrm>
          <a:prstGeom prst="rect">
            <a:avLst/>
          </a:prstGeom>
          <a:solidFill>
            <a:srgbClr val="8E6F3E"/>
          </a:solidFill>
          <a:ln>
            <a:noFill/>
          </a:ln>
        </p:spPr>
        <p:txBody>
          <a:bodyPr wrap="square" lIns="27432" tIns="22860" rIns="27432" bIns="22860" anchor="ctr"/>
          <a:lstStyle/>
          <a:p>
            <a:pPr algn="ctr">
              <a:spcAft>
                <a:spcPts val="200"/>
              </a:spcAft>
              <a:buNone/>
            </a:pPr>
            <a:r>
              <a:rPr lang="en-US" sz="2000" b="1" i="0" dirty="0">
                <a:solidFill>
                  <a:srgbClr val="FFFFFF"/>
                </a:solidFill>
              </a:rPr>
              <a:t>READER</a:t>
            </a:r>
          </a:p>
          <a:p>
            <a:pPr algn="ctr">
              <a:spcAft>
                <a:spcPts val="0"/>
              </a:spcAft>
              <a:buNone/>
            </a:pPr>
            <a:r>
              <a:rPr lang="en-US" sz="1400" b="0" i="0" dirty="0">
                <a:solidFill>
                  <a:srgbClr val="FFFFFF"/>
                </a:solidFill>
              </a:rPr>
              <a:t>human or agent</a:t>
            </a:r>
          </a:p>
        </p:txBody>
      </p:sp>
      <p:cxnSp>
        <p:nvCxnSpPr>
          <p:cNvPr id="20" name="AR1"/>
          <p:cNvCxnSpPr/>
          <p:nvPr/>
        </p:nvCxnSpPr>
        <p:spPr>
          <a:xfrm>
            <a:off x="4023360" y="2857500"/>
            <a:ext cx="2834640" cy="548640"/>
          </a:xfrm>
          <a:prstGeom prst="line">
            <a:avLst/>
          </a:prstGeom>
          <a:ln w="28575">
            <a:solidFill>
              <a:srgbClr val="8E6F3E"/>
            </a:solidFill>
            <a:tailEnd type="triangle"/>
          </a:ln>
        </p:spPr>
      </p:cxnSp>
      <p:cxnSp>
        <p:nvCxnSpPr>
          <p:cNvPr id="21" name="AR2"/>
          <p:cNvCxnSpPr/>
          <p:nvPr/>
        </p:nvCxnSpPr>
        <p:spPr>
          <a:xfrm flipV="1">
            <a:off x="4023360" y="3817620"/>
            <a:ext cx="2834640" cy="502920"/>
          </a:xfrm>
          <a:prstGeom prst="line">
            <a:avLst/>
          </a:prstGeom>
          <a:ln w="28575">
            <a:solidFill>
              <a:srgbClr val="8E6F3E"/>
            </a:solidFill>
            <a:tailEnd type="triangle"/>
          </a:ln>
        </p:spPr>
      </p:cxnSp>
      <p:sp>
        <p:nvSpPr>
          <p:cNvPr id="22" name="AN1"/>
          <p:cNvSpPr txBox="1"/>
          <p:nvPr/>
        </p:nvSpPr>
        <p:spPr>
          <a:xfrm>
            <a:off x="4206240" y="2505710"/>
            <a:ext cx="2560320" cy="300000"/>
          </a:xfrm>
          <a:prstGeom prst="rect">
            <a:avLst/>
          </a:prstGeom>
          <a:noFill/>
        </p:spPr>
        <p:txBody>
          <a:bodyPr wrap="square" lIns="0" tIns="0" rIns="0" bIns="0" anchor="t"/>
          <a:lstStyle/>
          <a:p>
            <a:pPr algn="ctr">
              <a:buNone/>
            </a:pPr>
            <a:r>
              <a:rPr lang="en-US" sz="1400" b="0" dirty="0">
                <a:solidFill>
                  <a:srgbClr val="555960"/>
                </a:solidFill>
              </a:rPr>
              <a:t>P(interpret c) higher</a:t>
            </a:r>
          </a:p>
        </p:txBody>
      </p:sp>
      <p:sp>
        <p:nvSpPr>
          <p:cNvPr id="23" name="AN2"/>
          <p:cNvSpPr txBox="1"/>
          <p:nvPr/>
        </p:nvSpPr>
        <p:spPr>
          <a:xfrm>
            <a:off x="4206240" y="4404360"/>
            <a:ext cx="2560320" cy="300000"/>
          </a:xfrm>
          <a:prstGeom prst="rect">
            <a:avLst/>
          </a:prstGeom>
          <a:noFill/>
        </p:spPr>
        <p:txBody>
          <a:bodyPr wrap="square" lIns="0" tIns="0" rIns="0" bIns="0" anchor="t"/>
          <a:lstStyle/>
          <a:p>
            <a:pPr algn="ctr">
              <a:buNone/>
            </a:pPr>
            <a:r>
              <a:rPr lang="en-US" sz="1400" b="0" dirty="0">
                <a:solidFill>
                  <a:srgbClr val="555960"/>
                </a:solidFill>
              </a:rPr>
              <a:t>P(interpret c) lower</a:t>
            </a:r>
          </a:p>
        </p:txBody>
      </p:sp>
      <p:sp>
        <p:nvSpPr>
          <p:cNvPr id="24" name="Couplet"/>
          <p:cNvSpPr txBox="1"/>
          <p:nvPr/>
        </p:nvSpPr>
        <p:spPr>
          <a:xfrm>
            <a:off x="365760" y="5029200"/>
            <a:ext cx="8412480" cy="731520"/>
          </a:xfrm>
          <a:prstGeom prst="rect">
            <a:avLst/>
          </a:prstGeom>
          <a:noFill/>
        </p:spPr>
        <p:txBody>
          <a:bodyPr wrap="square" lIns="18288" tIns="18288" rIns="18288" bIns="18288">
            <a:spAutoFit/>
          </a:bodyPr>
          <a:lstStyle/>
          <a:p>
            <a:pPr algn="ctr">
              <a:spcAft>
                <a:spcPts val="400"/>
              </a:spcAft>
              <a:buNone/>
            </a:pPr>
            <a:r>
              <a:rPr lang="en-US" sz="1800" b="1" dirty="0">
                <a:solidFill>
                  <a:srgbClr val="5C4826"/>
                </a:solidFill>
              </a:rPr>
              <a:t>Reduce freedom of interpretation</a:t>
            </a:r>
            <a:r>
              <a:rPr lang="en-US" sz="1800" b="0" dirty="0">
                <a:solidFill>
                  <a:srgbClr val="555960"/>
                </a:solidFill>
              </a:rPr>
              <a:t xml:space="preserve"> where meaning is consequential.</a:t>
            </a:r>
          </a:p>
          <a:p>
            <a:pPr algn="ctr">
              <a:spcAft>
                <a:spcPts val="0"/>
              </a:spcAft>
              <a:buNone/>
            </a:pPr>
            <a:r>
              <a:rPr lang="en-US" sz="1800" b="1" dirty="0">
                <a:solidFill>
                  <a:srgbClr val="5C4826"/>
                </a:solidFill>
              </a:rPr>
              <a:t>Preserve freedom of realization</a:t>
            </a:r>
            <a:r>
              <a:rPr lang="en-US" sz="1800" b="0" dirty="0">
                <a:solidFill>
                  <a:srgbClr val="555960"/>
                </a:solidFill>
              </a:rPr>
              <a:t xml:space="preserve"> where it is not.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fourth question — Quality — just became concrete.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lang="en-US" dirty="0"/>
              <a:t>Activity: Interpret</a:t>
            </a:r>
            <a:endParaRPr dirty="0"/>
          </a:p>
        </p:txBody>
      </p:sp>
      <p:sp>
        <p:nvSpPr>
          <p:cNvPr id="4"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5" name="TextBox 4"/>
          <p:cNvSpPr txBox="1"/>
          <p:nvPr/>
        </p:nvSpPr>
        <p:spPr>
          <a:xfrm>
            <a:off x="365760" y="932688"/>
            <a:ext cx="8412480" cy="590931"/>
          </a:xfrm>
          <a:prstGeom prst="rect">
            <a:avLst/>
          </a:prstGeom>
          <a:noFill/>
        </p:spPr>
        <p:txBody>
          <a:bodyPr wrap="square" lIns="18288" tIns="18288" rIns="18288" bIns="18288">
            <a:spAutoFit/>
          </a:bodyPr>
          <a:lstStyle/>
          <a:p>
            <a:r>
              <a:rPr lang="en-US" dirty="0"/>
              <a:t>For each item: what model does this representation appear to express, what claim does it make, and what remains ambiguous?</a:t>
            </a:r>
            <a:endParaRPr sz="1800" b="0" dirty="0">
              <a:solidFill>
                <a:srgbClr val="555960"/>
              </a:solidFill>
            </a:endParaRPr>
          </a:p>
        </p:txBody>
      </p:sp>
      <p:sp>
        <p:nvSpPr>
          <p:cNvPr id="6" name="TextBox 5"/>
          <p:cNvSpPr txBox="1"/>
          <p:nvPr/>
        </p:nvSpPr>
        <p:spPr>
          <a:xfrm>
            <a:off x="365760" y="1645920"/>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ONE DRAWING, TWO SEMANTICS</a:t>
            </a:r>
          </a:p>
        </p:txBody>
      </p:sp>
      <p:sp>
        <p:nvSpPr>
          <p:cNvPr id="7" name="Rectangle 6"/>
          <p:cNvSpPr/>
          <p:nvPr/>
        </p:nvSpPr>
        <p:spPr>
          <a:xfrm>
            <a:off x="365760" y="2048256"/>
            <a:ext cx="6080760" cy="1755648"/>
          </a:xfrm>
          <a:prstGeom prst="rect">
            <a:avLst/>
          </a:prstGeom>
          <a:solidFill>
            <a:srgbClr val="F5F1E8"/>
          </a:solidFill>
          <a:ln w="12700">
            <a:solidFill>
              <a:srgbClr val="C9B991"/>
            </a:solidFill>
          </a:ln>
        </p:spPr>
        <p:txBody>
          <a:bodyPr wrap="square" lIns="128016" tIns="91440" rIns="118872" bIns="91440" rtlCol="0" anchor="ctr"/>
          <a:lstStyle/>
          <a:p>
            <a:endParaRPr lang="en-US"/>
          </a:p>
        </p:txBody>
      </p:sp>
      <p:sp>
        <p:nvSpPr>
          <p:cNvPr id="16" name="C1"/>
          <p:cNvSpPr/>
          <p:nvPr/>
        </p:nvSpPr>
        <p:spPr>
          <a:xfrm>
            <a:off x="62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may call B</a:t>
            </a:r>
          </a:p>
          <a:p>
            <a:pPr algn="ctr">
              <a:spcAft>
                <a:spcPts val="0"/>
              </a:spcAft>
              <a:buNone/>
            </a:pPr>
            <a:r>
              <a:rPr lang="en-US" sz="1400" b="0" dirty="0">
                <a:solidFill>
                  <a:srgbClr val="555960"/>
                </a:solidFill>
              </a:rPr>
              <a:t>(a design decision)</a:t>
            </a:r>
          </a:p>
        </p:txBody>
      </p:sp>
      <p:sp>
        <p:nvSpPr>
          <p:cNvPr id="17" name="C2"/>
          <p:cNvSpPr/>
          <p:nvPr/>
        </p:nvSpPr>
        <p:spPr>
          <a:xfrm>
            <a:off x="3506140" y="2276856"/>
            <a:ext cx="2680000" cy="1300000"/>
          </a:xfrm>
          <a:prstGeom prst="rect">
            <a:avLst/>
          </a:prstGeom>
          <a:solidFill>
            <a:srgbClr val="FFFFFF"/>
          </a:solidFill>
          <a:ln w="12700">
            <a:solidFill>
              <a:srgbClr val="C9B991"/>
            </a:solidFill>
          </a:ln>
        </p:spPr>
        <p:txBody>
          <a:bodyPr wrap="square" lIns="68580" tIns="68580" rIns="68580" bIns="68580" anchor="t"/>
          <a:lstStyle/>
          <a:p>
            <a:pPr algn="ctr">
              <a:spcAft>
                <a:spcPts val="600"/>
              </a:spcAft>
              <a:buNone/>
            </a:pPr>
            <a:r>
              <a:rPr lang="en-US" sz="2400" b="1" dirty="0">
                <a:solidFill>
                  <a:srgbClr val="5C4826"/>
                </a:solidFill>
              </a:rPr>
              <a:t>A → B</a:t>
            </a:r>
          </a:p>
          <a:p>
            <a:pPr algn="ctr">
              <a:spcAft>
                <a:spcPts val="200"/>
              </a:spcAft>
              <a:buNone/>
            </a:pPr>
            <a:r>
              <a:rPr lang="en-US" sz="1400" b="0" i="1" dirty="0">
                <a:solidFill>
                  <a:srgbClr val="555960"/>
                </a:solidFill>
              </a:rPr>
              <a:t>the arrow means: A was observed calling B</a:t>
            </a:r>
          </a:p>
          <a:p>
            <a:pPr algn="ctr">
              <a:spcAft>
                <a:spcPts val="0"/>
              </a:spcAft>
              <a:buNone/>
            </a:pPr>
            <a:r>
              <a:rPr lang="en-US" sz="1400" b="0" dirty="0">
                <a:solidFill>
                  <a:srgbClr val="555960"/>
                </a:solidFill>
              </a:rPr>
              <a:t>(a runtime observation)</a:t>
            </a:r>
          </a:p>
        </p:txBody>
      </p:sp>
      <p:sp>
        <p:nvSpPr>
          <p:cNvPr id="8" name="TextBox 7"/>
          <p:cNvSpPr txBox="1"/>
          <p:nvPr/>
        </p:nvSpPr>
        <p:spPr>
          <a:xfrm>
            <a:off x="365760" y="3895344"/>
            <a:ext cx="608076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TWO REPRESENTATIONS, ONE INTENDED MODEL</a:t>
            </a:r>
          </a:p>
        </p:txBody>
      </p:sp>
      <p:sp>
        <p:nvSpPr>
          <p:cNvPr id="9" name="Rectangle 8"/>
          <p:cNvSpPr/>
          <p:nvPr/>
        </p:nvSpPr>
        <p:spPr>
          <a:xfrm>
            <a:off x="365760" y="4306824"/>
            <a:ext cx="6080760" cy="1389888"/>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You also receive two different representations intended to express the same model.</a:t>
            </a:r>
          </a:p>
          <a:p>
            <a:pPr algn="l">
              <a:spcAft>
                <a:spcPts val="0"/>
              </a:spcAft>
              <a:buNone/>
            </a:pPr>
            <a:r>
              <a:rPr lang="en-US" sz="1800" b="0" dirty="0">
                <a:solidFill>
                  <a:srgbClr val="5C4826"/>
                </a:solidFill>
              </a:rPr>
              <a:t>Do they? What claim survives in both? What remains ambiguous in each?</a:t>
            </a:r>
          </a:p>
        </p:txBody>
      </p:sp>
      <p:sp>
        <p:nvSpPr>
          <p:cNvPr id="15" name="QRPlaceholder" descr="Dashed outline marking the slot where the activity's QR code will go."/>
          <p:cNvSpPr/>
          <p:nvPr/>
        </p:nvSpPr>
        <p:spPr>
          <a:xfrm>
            <a:off x="6605016" y="1891094"/>
            <a:ext cx="2264664" cy="2264664"/>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Activity QR</a:t>
            </a:r>
          </a:p>
        </p:txBody>
      </p:sp>
      <p:grpSp>
        <p:nvGrpSpPr>
          <p:cNvPr id="18" name="QRVoidMark" descr="A large red X across the slot: the activity QR code has not been added yet."/>
          <p:cNvGrpSpPr/>
          <p:nvPr/>
        </p:nvGrpSpPr>
        <p:grpSpPr>
          <a:xfrm>
            <a:off x="6763542" y="2049620"/>
            <a:ext cx="1947612" cy="1947612"/>
            <a:chOff x="6763542" y="2049620"/>
            <a:chExt cx="1947612" cy="1947612"/>
          </a:xfrm>
        </p:grpSpPr>
        <p:cxnSp>
          <p:nvCxnSpPr>
            <p:cNvPr id="19" name="QRVoidStrokeTLBR"/>
            <p:cNvCxnSpPr/>
            <p:nvPr/>
          </p:nvCxnSpPr>
          <p:spPr>
            <a:xfrm>
              <a:off x="6763542" y="2049620"/>
              <a:ext cx="1947612" cy="1947612"/>
            </a:xfrm>
            <a:prstGeom prst="straightConnector1">
              <a:avLst/>
            </a:prstGeom>
            <a:ln w="101600" cap="rnd">
              <a:solidFill>
                <a:srgbClr val="C00000"/>
              </a:solidFill>
              <a:round/>
            </a:ln>
          </p:spPr>
        </p:cxnSp>
        <p:cxnSp>
          <p:nvCxnSpPr>
            <p:cNvPr id="20" name="QRVoidStrokeTRBL"/>
            <p:cNvCxnSpPr/>
            <p:nvPr/>
          </p:nvCxnSpPr>
          <p:spPr>
            <a:xfrm flipH="1">
              <a:off x="6763542" y="2049620"/>
              <a:ext cx="1947612" cy="1947612"/>
            </a:xfrm>
            <a:prstGeom prst="straightConnector1">
              <a:avLst/>
            </a:prstGeom>
            <a:ln w="101600" cap="rnd">
              <a:solidFill>
                <a:srgbClr val="C00000"/>
              </a:solidFill>
              <a:round/>
            </a:ln>
          </p:spPr>
        </p:cxnSp>
      </p:grpSp>
      <p:sp>
        <p:nvSpPr>
          <p:cNvPr id="12" name="TextBox 11"/>
          <p:cNvSpPr txBox="1"/>
          <p:nvPr/>
        </p:nvSpPr>
        <p:spPr>
          <a:xfrm>
            <a:off x="6743700" y="4389989"/>
            <a:ext cx="1984248" cy="685800"/>
          </a:xfrm>
          <a:prstGeom prst="rect">
            <a:avLst/>
          </a:prstGeom>
          <a:noFill/>
        </p:spPr>
        <p:txBody>
          <a:bodyPr wrap="square" lIns="18288" tIns="18288" rIns="18288" bIns="18288">
            <a:spAutoFit/>
          </a:bodyPr>
          <a:lstStyle/>
          <a:p>
            <a:pPr algn="ctr">
              <a:spcAft>
                <a:spcPts val="0"/>
              </a:spcAft>
            </a:pPr>
            <a:r>
              <a:rPr sz="1600" b="0" dirty="0">
                <a:solidFill>
                  <a:srgbClr val="555960"/>
                </a:solidFill>
              </a:rPr>
              <a:t>Team response</a:t>
            </a:r>
          </a:p>
          <a:p>
            <a:pPr algn="ctr">
              <a:spcAft>
                <a:spcPts val="0"/>
              </a:spcAft>
            </a:pPr>
            <a:r>
              <a:rPr sz="1600" b="0" dirty="0">
                <a:solidFill>
                  <a:srgbClr val="555960"/>
                </a:solidFill>
              </a:rPr>
              <a:t>Google Form</a:t>
            </a:r>
          </a:p>
        </p:txBody>
      </p:sp>
      <p:sp>
        <p:nvSpPr>
          <p:cNvPr id="13" name="FooterBand"/>
          <p:cNvSpPr/>
          <p:nvPr/>
        </p:nvSpPr>
        <p:spPr>
          <a:xfrm>
            <a:off x="274320" y="5852160"/>
            <a:ext cx="8595360" cy="566928"/>
          </a:xfrm>
          <a:prstGeom prst="rect">
            <a:avLst/>
          </a:prstGeom>
          <a:solidFill>
            <a:srgbClr val="8E6F3E"/>
          </a:solidFill>
          <a:ln>
            <a:noFill/>
          </a:ln>
        </p:spPr>
        <p:style>
          <a:lnRef idx="1">
            <a:schemeClr val="accent1"/>
          </a:lnRef>
          <a:fillRef idx="3">
            <a:schemeClr val="accent1"/>
          </a:fillRef>
          <a:effectRef idx="2">
            <a:schemeClr val="accent1"/>
          </a:effectRef>
          <a:fontRef idx="minor">
            <a:schemeClr val="lt1"/>
          </a:fontRef>
        </p:style>
        <p:txBody>
          <a:bodyPr wrap="square" lIns="109728" tIns="27432" rIns="109728" bIns="27432" rtlCol="0" anchor="ctr"/>
          <a:lstStyle/>
          <a:p>
            <a:pPr algn="ctr"/>
            <a:r>
              <a:rPr lang="en-US" sz="2000" b="1" dirty="0">
                <a:solidFill>
                  <a:srgbClr val="FFFFFF"/>
                </a:solidFill>
              </a:rPr>
              <a:t>Discuss each item. Then submit one response per team.</a:t>
            </a:r>
          </a:p>
        </p:txBody>
      </p:sp>
      <p:sp>
        <p:nvSpPr>
          <p:cNvPr id="14" name="KickerBadge"/>
          <p:cNvSpPr/>
          <p:nvPr/>
        </p:nvSpPr>
        <p:spPr>
          <a:xfrm>
            <a:off x="5620000" y="205000"/>
            <a:ext cx="324968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a:solidFill>
                  <a:srgbClr val="8E6F3E"/>
                </a:solidFill>
              </a:rPr>
              <a:t>TEAM ACTIVITY  ·  9 MINUTES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Top-down:</a:t>
            </a:r>
            <a:r>
              <a:rPr lang="en-US" dirty="0"/>
              <a:t xml:space="preserve"> what must I preserve to answer the engineering question?</a:t>
            </a:r>
          </a:p>
          <a:p>
            <a:r>
              <a:rPr lang="en-US" b="1" dirty="0"/>
              <a:t>Bottom-up:</a:t>
            </a:r>
            <a:r>
              <a:rPr lang="en-US" dirty="0"/>
              <a:t xml:space="preserve"> why am I carrying each distinction that remains?</a:t>
            </a:r>
          </a:p>
        </p:txBody>
      </p:sp>
      <p:sp>
        <p:nvSpPr>
          <p:cNvPr id="3" name="Title 2"/>
          <p:cNvSpPr>
            <a:spLocks noGrp="1"/>
          </p:cNvSpPr>
          <p:nvPr>
            <p:ph type="title"/>
          </p:nvPr>
        </p:nvSpPr>
        <p:spPr/>
        <p:txBody>
          <a:bodyPr>
            <a:normAutofit fontScale="90000"/>
          </a:bodyPr>
          <a:lstStyle/>
          <a:p>
            <a:r>
              <a:rPr lang="en-US" dirty="0"/>
              <a:t>A good model is not a small copy of the system</a:t>
            </a:r>
          </a:p>
        </p:txBody>
      </p:sp>
      <p:sp>
        <p:nvSpPr>
          <p:cNvPr id="4"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5" name="QRPlaceholder" descr="Dashed outline marking the slot where the feedback form's QR code will go."/>
          <p:cNvSpPr/>
          <p:nvPr/>
        </p:nvSpPr>
        <p:spPr>
          <a:xfrm>
            <a:off x="3441192" y="2743200"/>
            <a:ext cx="2261616" cy="2261616"/>
          </a:xfrm>
          <a:prstGeom prst="rect">
            <a:avLst/>
          </a:prstGeom>
          <a:solidFill>
            <a:srgbClr val="FBF8F2"/>
          </a:solidFill>
          <a:ln w="15875">
            <a:solidFill>
              <a:srgbClr val="C9B991"/>
            </a:solidFill>
            <a:prstDash val="dash"/>
          </a:ln>
        </p:spPr>
        <p:txBody>
          <a:bodyPr wrap="square" lIns="91440" tIns="91440" rIns="91440" bIns="91440" anchor="b"/>
          <a:lstStyle/>
          <a:p>
            <a:pPr algn="ctr">
              <a:buNone/>
            </a:pPr>
            <a:r>
              <a:rPr lang="en-US" sz="1800" b="0" i="0" dirty="0">
                <a:solidFill>
                  <a:srgbClr val="555960"/>
                </a:solidFill>
              </a:rPr>
              <a:t>Feedback QR</a:t>
            </a:r>
          </a:p>
        </p:txBody>
      </p:sp>
      <p:grpSp>
        <p:nvGrpSpPr>
          <p:cNvPr id="152" name="QRVoidMark" descr="A large red X across the slot: the feedback form QR code has not been added yet."/>
          <p:cNvGrpSpPr/>
          <p:nvPr/>
        </p:nvGrpSpPr>
        <p:grpSpPr>
          <a:xfrm>
            <a:off x="3599505" y="2901513"/>
            <a:ext cx="1944990" cy="1944990"/>
            <a:chOff x="3599505" y="2901513"/>
            <a:chExt cx="1944990" cy="1944990"/>
          </a:xfrm>
        </p:grpSpPr>
        <p:cxnSp>
          <p:nvCxnSpPr>
            <p:cNvPr id="153" name="QRVoidStrokeTLBR"/>
            <p:cNvCxnSpPr/>
            <p:nvPr/>
          </p:nvCxnSpPr>
          <p:spPr>
            <a:xfrm>
              <a:off x="3599505" y="2901513"/>
              <a:ext cx="1944990" cy="1944990"/>
            </a:xfrm>
            <a:prstGeom prst="straightConnector1">
              <a:avLst/>
            </a:prstGeom>
            <a:ln w="101600" cap="rnd">
              <a:solidFill>
                <a:srgbClr val="C00000"/>
              </a:solidFill>
              <a:round/>
            </a:ln>
          </p:spPr>
        </p:cxnSp>
        <p:cxnSp>
          <p:nvCxnSpPr>
            <p:cNvPr id="154" name="QRVoidStrokeTRBL"/>
            <p:cNvCxnSpPr/>
            <p:nvPr/>
          </p:nvCxnSpPr>
          <p:spPr>
            <a:xfrm flipH="1">
              <a:off x="3599505" y="2901513"/>
              <a:ext cx="1944990" cy="1944990"/>
            </a:xfrm>
            <a:prstGeom prst="straightConnector1">
              <a:avLst/>
            </a:prstGeom>
            <a:ln w="101600" cap="rnd">
              <a:solidFill>
                <a:srgbClr val="C00000"/>
              </a:solidFill>
              <a:round/>
            </a:ln>
          </p:spPr>
        </p:cxnSp>
      </p:grpSp>
      <p:sp>
        <p:nvSpPr>
          <p:cNvPr id="150" name="Ital"/>
          <p:cNvSpPr txBox="1"/>
          <p:nvPr/>
        </p:nvSpPr>
        <p:spPr>
          <a:xfrm>
            <a:off x="365760" y="2103120"/>
            <a:ext cx="8412480" cy="330000"/>
          </a:xfrm>
          <a:prstGeom prst="rect">
            <a:avLst/>
          </a:prstGeom>
          <a:noFill/>
          <a:ln>
            <a:noFill/>
          </a:ln>
        </p:spPr>
        <p:txBody>
          <a:bodyPr wrap="square" lIns="0" tIns="0" rIns="0" bIns="0" anchor="t"/>
          <a:lstStyle/>
          <a:p>
            <a:pPr algn="ctr">
              <a:buNone/>
            </a:pPr>
            <a:r>
              <a:rPr lang="en-US" sz="1700" b="0" i="1" dirty="0">
                <a:solidFill>
                  <a:srgbClr val="555960"/>
                </a:solidFill>
              </a:rPr>
              <a:t>Different questions produce different purposeful reductions of the same territory.</a:t>
            </a:r>
          </a:p>
        </p:txBody>
      </p:sp>
      <p:sp>
        <p:nvSpPr>
          <p:cNvPr id="151" name="Teaser"/>
          <p:cNvSpPr txBox="1"/>
          <p:nvPr/>
        </p:nvSpPr>
        <p:spPr>
          <a:xfrm>
            <a:off x="365760" y="5715000"/>
            <a:ext cx="8412480" cy="585216"/>
          </a:xfrm>
          <a:prstGeom prst="rect">
            <a:avLst/>
          </a:prstGeom>
          <a:noFill/>
        </p:spPr>
        <p:txBody>
          <a:bodyPr wrap="square" lIns="18288" tIns="18288" rIns="18288" bIns="18288">
            <a:spAutoFit/>
          </a:bodyPr>
          <a:lstStyle/>
          <a:p>
            <a:pPr algn="ctr">
              <a:buNone/>
            </a:pPr>
            <a:r>
              <a:rPr lang="en-US" sz="1800" b="1" dirty="0">
                <a:solidFill>
                  <a:srgbClr val="5C4826"/>
                </a:solidFill>
              </a:rPr>
              <a:t xml:space="preserve">Tomorrow: </a:t>
            </a:r>
            <a:r>
              <a:rPr lang="en-US" sz="1800" b="0" i="1" dirty="0">
                <a:solidFill>
                  <a:srgbClr val="555960"/>
                </a:solidFill>
              </a:rPr>
              <a:t>one model can be useful. How do many models remain trustworthy together?</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xml:space="preserve">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2"/>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2"/>
          <a:stretch>
            <a:fillRect/>
          </a:stretch>
        </p:blipFill>
        <p:spPr>
          <a:xfrm>
            <a:off x="274320" y="1795827"/>
            <a:ext cx="8595360" cy="3875945"/>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2"/>
          <a:stretch>
            <a:fillRect/>
          </a:stretch>
        </p:blipFill>
        <p:spPr>
          <a:xfrm>
            <a:off x="1016212" y="1341120"/>
            <a:ext cx="7111577" cy="478536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this thing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74320" y="1714062"/>
            <a:ext cx="8595360" cy="4039475"/>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2"/>
          <a:stretch>
            <a:fillRect/>
          </a:stretch>
        </p:blipFill>
        <p:spPr>
          <a:xfrm>
            <a:off x="1777275" y="1341120"/>
            <a:ext cx="5589450" cy="4785360"/>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2"/>
          <a:stretch>
            <a:fillRect/>
          </a:stretch>
        </p:blipFill>
        <p:spPr>
          <a:xfrm>
            <a:off x="1533226" y="1341120"/>
            <a:ext cx="6077549" cy="478536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pic>
        <p:nvPicPr>
          <p:cNvPr id="60" name="ThumbFigure" descr="Five models of one course-registration system shown together: the class diagram, the sequence diagram, the state machine, the activity diagram and the use-case diagram, each captioned with the question it answers."/>
          <p:cNvPicPr>
            <a:picLocks noChangeAspect="1"/>
          </p:cNvPicPr>
          <p:nvPr/>
        </p:nvPicPr>
        <p:blipFill>
          <a:blip r:embed="rId2"/>
          <a:stretch>
            <a:fillRect/>
          </a:stretch>
        </p:blipFill>
        <p:spPr>
          <a:xfrm>
            <a:off x="1349594" y="1341120"/>
            <a:ext cx="6444813" cy="4373880"/>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a living practice</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An engineering practice with living tools, decades older than the agents.</a:t>
            </a:r>
          </a:p>
        </p:txBody>
      </p:sp>
      <p:pic>
        <p:nvPicPr>
          <p:cNvPr id="60" name="BesserFigure" descr="A screenshot of the BESSER documentation site. The page reads: build software from a model — draw your system in the browser or define it in Python, then generate the code for your application."/>
          <p:cNvPicPr>
            <a:picLocks noChangeAspect="1"/>
          </p:cNvPicPr>
          <p:nvPr/>
        </p:nvPicPr>
        <p:blipFill>
          <a:blip r:embed="rId2"/>
          <a:stretch>
            <a:fillRect/>
          </a:stretch>
        </p:blipFill>
        <p:spPr>
          <a:xfrm>
            <a:off x="274320" y="1454369"/>
            <a:ext cx="8595360" cy="3507302"/>
          </a:xfrm>
          <a:prstGeom prst="rect">
            <a:avLst/>
          </a:prstGeom>
          <a:ln w="12700">
            <a:solidFill>
              <a:srgbClr val="C9B991"/>
            </a:solidFill>
          </a:ln>
        </p:spPr>
      </p:pic>
      <p:sp>
        <p:nvSpPr>
          <p:cNvPr id="70" name="Src"/>
          <p:cNvSpPr txBox="1"/>
          <p:nvPr/>
        </p:nvSpPr>
        <p:spPr>
          <a:xfrm>
            <a:off x="274320" y="5151120"/>
            <a:ext cx="8595360" cy="274320"/>
          </a:xfrm>
          <a:prstGeom prst="rect">
            <a:avLst/>
          </a:prstGeom>
          <a:noFill/>
          <a:ln>
            <a:noFill/>
          </a:ln>
        </p:spPr>
        <p:txBody>
          <a:bodyPr wrap="square" lIns="0" tIns="0" rIns="0" bIns="0" anchor="t"/>
          <a:lstStyle/>
          <a:p>
            <a:pPr algn="ctr">
              <a:spcAft>
                <a:spcPts val="0"/>
              </a:spcAft>
              <a:buNone/>
            </a:pPr>
            <a:r>
              <a:rPr lang="en-US" sz="1400" b="0" i="0" dirty="0">
                <a:solidFill>
                  <a:srgbClr val="555960"/>
                </a:solidFill>
              </a:rPr>
              <a:t>BESSER — BESSER-PEARL (Jordi Cabot's group), MIT licence · github.com/BESSER-PEARL/BESSER</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 forms already exist. Select before you invent.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603443"/>
            <a:ext cx="8595360" cy="777240"/>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4329</Words>
  <Application>Microsoft Macintosh PowerPoint</Application>
  <PresentationFormat>On-screen Show (4:3)</PresentationFormat>
  <Paragraphs>494</Paragraphs>
  <Slides>32</Slides>
  <Notes>32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32</vt:i4>
      </vt:variant>
    </vt:vector>
  </HeadingPairs>
  <TitlesOfParts>
    <vt:vector size="36" baseType="lpstr">
      <vt:lpstr>Arial</vt:lpstr>
      <vt:lpstr>Calibri</vt:lpstr>
      <vt:lpstr>Times</vt:lpstr>
      <vt:lpstr>Purdue1</vt:lpstr>
      <vt:lpstr>PowerPoint Presentation</vt:lpstr>
      <vt:lpstr>Delegation leaves an information problem</vt:lpstr>
      <vt:lpstr>A model is useful because it leaves things out</vt:lpstr>
      <vt:lpstr>…and makes explicit what must remain</vt:lpstr>
      <vt:lpstr>Modeling is purposeful reduction</vt:lpstr>
      <vt:lpstr>QUESTIONS COME FIRST</vt:lpstr>
      <vt:lpstr>One territory, three questions</vt:lpstr>
      <vt:lpstr>No model is simply “the system”</vt:lpstr>
      <vt:lpstr>Four questions for every model</vt:lpstr>
      <vt:lpstr>Engineers have seen these questions before</vt:lpstr>
      <vt:lpstr>Select before you invent</vt:lpstr>
      <vt:lpstr>UML is a repertoire, not the theory of Modeling</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THE EVIDENCE</vt:lpstr>
      <vt:lpstr>Too much reduction loses the obligation</vt:lpstr>
      <vt:lpstr>Good reduction leaves implementation free</vt:lpstr>
      <vt:lpstr>The evidence, side by side</vt:lpstr>
      <vt:lpstr>Obligation and specification are different boundaries</vt:lpstr>
      <vt:lpstr>Capability can reduce scaffolding</vt:lpstr>
      <vt:lpstr>Capability cannot reduce what must be true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405</cp:revision>
  <dcterms:created xsi:type="dcterms:W3CDTF">2020-02-21T23:00:33Z</dcterms:created>
  <dcterms:modified xsi:type="dcterms:W3CDTF">2026-09-30T14:47:15Z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