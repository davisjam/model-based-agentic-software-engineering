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slides 7-8: the software version made this point with three questions; the embedded version closes the loop on territory you can feel (plan section 7.5). Say callback aloud, not re-teach.</a:t>
            </a:r>
          </a:p>
          <a:p>
            <a:r>
              <a:rPr dirty="0"/>
              <a:t>Suddenly thermal mass, ambient temperature, heat generation, airflow matter - and battery capacity largely disappears.</a:t>
            </a:r>
          </a:p>
          <a:p>
            <a:r>
              <a:rPr dirty="0"/>
              <a:t>Closing hinge line, spoken over the slide: the method is judgment - and nothing in this room can tell us whether we judged right. A hypothetical cannot. Production can. That is Section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Scaffolding is what this particular agent needs to interpret and realize the obligation reliably — examples, decomposition, intermediate structure.</a:t>
            </a:r>
          </a:p>
          <a:p>
            <a:r>
              <a:rPr dirty="0"/>
              <a:t>The obligation boundary encloses what must be true. The specification boundary encloses what we actually write down. Between them: scaffolding. Outside the specification boundary: degrees of freedom, left to the realization.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Parsimony restated for delegation: how little must we specify while still preserving the obligation and enabling THIS agent to realize it (lander). A more capable agent needs fewer examples, less decomposition, less intermediate structure — the specification boundary moves toward the obligation boundary.</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Entitlement anchors this: the crossed-out tag is the same unlimited distinction the reduction dropped three slides ago. However capable the downstream agent, nothing arrives for it to recover — the distinction no longer exists in the model.</a:t>
            </a:r>
          </a:p>
          <a:p>
            <a:r>
              <a:rPr dirty="0"/>
              <a:t>The obligation boundary is capability-invariant; the specification boundary is not. The limit is semantic, not a capability shortfall. Second payoff of the evidence section.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do we find out whether we judged right?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OldB1"/>
          <p:cNvSpPr/>
          <p:nvPr/>
        </p:nvSpPr>
        <p:spPr>
          <a:xfrm>
            <a:off x="777240" y="1943100"/>
            <a:ext cx="4480560" cy="2697480"/>
          </a:xfrm>
          <a:prstGeom prst="rect">
            <a:avLst/>
          </a:prstGeom>
          <a:noFill/>
          <a:ln w="12700">
            <a:solidFill>
              <a:srgbClr val="8E6F3E"/>
            </a:solidFill>
            <a:prstDash val="dash"/>
          </a:ln>
        </p:spPr>
        <p:txBody>
          <a:bodyPr wrap="square" lIns="27432" tIns="22860" rIns="27432" bIns="22860" anchor="ctr"/>
          <a:lstStyle/>
          <a:p>
            <a:pPr>
              <a:buNone/>
            </a:pPr>
            <a:endParaRPr lang="en-US"/>
          </a:p>
        </p:txBody>
      </p:sp>
      <p:sp>
        <p:nvSpPr>
          <p:cNvPr id="12" name="Scaf1"/>
          <p:cNvSpPr/>
          <p:nvPr/>
        </p:nvSpPr>
        <p:spPr>
          <a:xfrm>
            <a:off x="1280160" y="2286000"/>
            <a:ext cx="3520440" cy="2011680"/>
          </a:xfrm>
          <a:prstGeom prst="rect">
            <a:avLst/>
          </a:prstGeom>
          <a:solidFill>
            <a:srgbClr val="C9B991"/>
          </a:solidFill>
          <a:ln>
            <a:noFill/>
          </a:ln>
        </p:spPr>
        <p:txBody>
          <a:bodyPr wrap="square" lIns="27432" tIns="22860" rIns="27432" bIns="22860" anchor="ctr"/>
          <a:lstStyle/>
          <a:p>
            <a:pPr>
              <a:buNone/>
            </a:pPr>
            <a:endParaRPr lang="en-US"/>
          </a:p>
        </p:txBody>
      </p:sp>
      <p:sp>
        <p:nvSpPr>
          <p:cNvPr id="13"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4"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5" name="Old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less capable agent</a:t>
            </a:r>
          </a:p>
        </p:txBody>
      </p:sp>
      <p:cxnSp>
        <p:nvCxnSpPr>
          <p:cNvPr id="16" name="OldLd"/>
          <p:cNvCxnSpPr/>
          <p:nvPr/>
        </p:nvCxnSpPr>
        <p:spPr>
          <a:xfrm>
            <a:off x="5303520" y="2171700"/>
            <a:ext cx="457200" cy="0"/>
          </a:xfrm>
          <a:prstGeom prst="straightConnector1">
            <a:avLst/>
          </a:prstGeom>
          <a:ln w="12700">
            <a:solidFill>
              <a:srgbClr val="555960"/>
            </a:solidFill>
            <a:headEnd type="triangle" w="med" len="med"/>
          </a:ln>
        </p:spPr>
      </p:cxnSp>
      <p:sp>
        <p:nvSpPr>
          <p:cNvPr id="17" name="New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more capable agent</a:t>
            </a:r>
          </a:p>
        </p:txBody>
      </p:sp>
      <p:cxnSp>
        <p:nvCxnSpPr>
          <p:cNvPr id="18" name="NewLd"/>
          <p:cNvCxnSpPr/>
          <p:nvPr/>
        </p:nvCxnSpPr>
        <p:spPr>
          <a:xfrm>
            <a:off x="4846320" y="2926080"/>
            <a:ext cx="914400" cy="0"/>
          </a:xfrm>
          <a:prstGeom prst="straightConnector1">
            <a:avLst/>
          </a:prstGeom>
          <a:ln w="12700">
            <a:solidFill>
              <a:srgbClr val="555960"/>
            </a:solidFill>
            <a:headEnd type="triangle" w="med" len="med"/>
          </a:ln>
        </p:spPr>
      </p:cxnSp>
      <p:cxnSp>
        <p:nvCxnSpPr>
          <p:cNvPr id="19" name="MvA"/>
          <p:cNvCxnSpPr/>
          <p:nvPr/>
        </p:nvCxnSpPr>
        <p:spPr>
          <a:xfrm>
            <a:off x="4800600" y="3520440"/>
            <a:ext cx="457200" cy="0"/>
          </a:xfrm>
          <a:prstGeom prst="straightConnector1">
            <a:avLst/>
          </a:prstGeom>
          <a:ln w="28575">
            <a:solidFill>
              <a:srgbClr val="8E6F3E"/>
            </a:solidFill>
            <a:headEnd type="triangle" w="med" len="med"/>
          </a:ln>
        </p:spPr>
      </p:cxnSp>
      <p:sp>
        <p:nvSpPr>
          <p:cNvPr id="20" name="MvLbl"/>
          <p:cNvSpPr txBox="1"/>
          <p:nvPr/>
        </p:nvSpPr>
        <p:spPr>
          <a:xfrm>
            <a:off x="5806440" y="3291840"/>
            <a:ext cx="3017520" cy="868680"/>
          </a:xfrm>
          <a:prstGeom prst="rect">
            <a:avLst/>
          </a:prstGeom>
          <a:noFill/>
          <a:ln>
            <a:noFill/>
          </a:ln>
        </p:spPr>
        <p:txBody>
          <a:bodyPr wrap="square" lIns="0" tIns="0" rIns="0" bIns="0" anchor="t"/>
          <a:lstStyle/>
          <a:p>
            <a:pPr algn="l">
              <a:spcAft>
                <a:spcPts val="0"/>
              </a:spcAft>
              <a:buNone/>
            </a:pPr>
            <a:r>
              <a:rPr lang="en-US" sz="1500" b="1" dirty="0">
                <a:solidFill>
                  <a:srgbClr val="5C4826"/>
                </a:solidFill>
              </a:rPr>
              <a:t>greater agent capability can reduce required scaffolding</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How little must we specify for this agent, while preserving the obligation?</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specification boundary moves inward.</a:t>
            </a:r>
          </a:p>
        </p:txBody>
      </p:sp>
      <p:sp>
        <p:nvSpPr>
          <p:cNvPr id="200" name="DofL25"/>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118872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2240280"/>
            <a:ext cx="237744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2674620"/>
            <a:ext cx="594360" cy="0"/>
          </a:xfrm>
          <a:prstGeom prst="straightConnector1">
            <a:avLst/>
          </a:prstGeom>
          <a:ln w="28575">
            <a:solidFill>
              <a:srgbClr val="8E6F3E"/>
            </a:solidFill>
            <a:tailEnd type="triangle" w="med" len="med"/>
          </a:ln>
        </p:spPr>
      </p:cxnSp>
      <p:sp>
        <p:nvSpPr>
          <p:cNvPr id="13" name="St2"/>
          <p:cNvSpPr/>
          <p:nvPr/>
        </p:nvSpPr>
        <p:spPr>
          <a:xfrm>
            <a:off x="3611880" y="2240280"/>
            <a:ext cx="187452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2674620"/>
            <a:ext cx="594360" cy="0"/>
          </a:xfrm>
          <a:prstGeom prst="straightConnector1">
            <a:avLst/>
          </a:prstGeom>
          <a:ln w="28575">
            <a:solidFill>
              <a:srgbClr val="8E6F3E"/>
            </a:solidFill>
            <a:tailEnd type="triangle" w="med" len="med"/>
          </a:ln>
        </p:spPr>
      </p:cxnSp>
      <p:sp>
        <p:nvSpPr>
          <p:cNvPr id="15" name="St3"/>
          <p:cNvSpPr/>
          <p:nvPr/>
        </p:nvSpPr>
        <p:spPr>
          <a:xfrm>
            <a:off x="6172200" y="2240280"/>
            <a:ext cx="2423160" cy="86868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3108960"/>
            <a:ext cx="0" cy="777240"/>
          </a:xfrm>
          <a:prstGeom prst="straightConnector1">
            <a:avLst/>
          </a:prstGeom>
          <a:ln w="12700">
            <a:solidFill>
              <a:srgbClr val="8E6F3E"/>
            </a:solidFill>
            <a:prstDash val="dash"/>
            <a:tailEnd type="triangle" w="med" len="med"/>
          </a:ln>
        </p:spPr>
      </p:cxnSp>
      <p:sp>
        <p:nvSpPr>
          <p:cNvPr id="17" name="Drop1"/>
          <p:cNvSpPr/>
          <p:nvPr/>
        </p:nvSpPr>
        <p:spPr>
          <a:xfrm>
            <a:off x="845820" y="393192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44348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329184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