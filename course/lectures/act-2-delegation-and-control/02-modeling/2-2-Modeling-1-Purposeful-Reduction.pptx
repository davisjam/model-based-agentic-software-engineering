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76" r:id="rId61"/>
    <p:sldId id="277" r:id="rId62"/>
    <p:sldId id="278" r:id="rId63"/>
    <p:sldId id="279" r:id="rId64"/>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The limit case makes the asymmetry exact: for a fixed representation R, as M approaches a perfect reasoner and the interpretation and realization factors approach one, p_R goes to P(E | R). Every symbol is already known — T, M, R and H from the production equation, E, I and L from the chain decomposition, obligation and scaffolding and degrees of freedom from the argument just made. That is why it was held back until here.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band is the figure from “Open the box” and it is deliberately BARE here — no red MODELING CHANGES THE REPRESENTATION overlay. This slide argues that even a perfect reasoner stays bounded by P(E | R); the Modeling-lever annotation would fight that claim. Point at the FIRST term as you read the limit.</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3" Type="http://schemas.openxmlformats.org/officeDocument/2006/relationships/image" Target="../media/image3.png"/></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20" name="Scaf2"/>
          <p:cNvSpPr/>
          <p:nvPr/>
        </p:nvSpPr>
        <p:spPr>
          <a:xfrm>
            <a:off x="1371600" y="2331720"/>
            <a:ext cx="3291840" cy="1965960"/>
          </a:xfrm>
          <a:prstGeom prst="rect">
            <a:avLst/>
          </a:prstGeom>
          <a:noFill/>
          <a:ln w="19050">
            <a:solidFill>
              <a:srgbClr val="5C4826"/>
            </a:solidFill>
            <a:prstDash val="dash"/>
          </a:ln>
        </p:spPr>
        <p:txBody>
          <a:bodyPr wrap="square" lIns="27432" tIns="22860" rIns="27432" bIns="22860" anchor="ctr"/>
          <a:lstStyle/>
          <a:p>
            <a:pPr>
              <a:buNone/>
            </a:pPr>
            <a:endParaRPr lang="en-US"/>
          </a:p>
        </p:txBody>
      </p:sp>
      <p:cxnSp>
        <p:nvCxnSpPr>
          <p:cNvPr id="21" name="MvA"/>
          <p:cNvCxnSpPr/>
          <p:nvPr/>
        </p:nvCxnSpPr>
        <p:spPr>
          <a:xfrm>
            <a:off x="4663440" y="3566160"/>
            <a:ext cx="1005840" cy="0"/>
          </a:xfrm>
          <a:prstGeom prst="straightConnector1">
            <a:avLst/>
          </a:prstGeom>
          <a:ln w="28575">
            <a:solidFill>
              <a:srgbClr val="5C4826"/>
            </a:solidFill>
            <a:headEnd type="triangle" w="med" len="med"/>
          </a:ln>
        </p:spPr>
      </p:cxnSp>
      <p:sp>
        <p:nvSpPr>
          <p:cNvPr id="22" name="CapLbl"/>
          <p:cNvSpPr txBox="1"/>
          <p:nvPr/>
        </p:nvSpPr>
        <p:spPr>
          <a:xfrm>
            <a:off x="5806440" y="34290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a more capable agent</a:t>
            </a:r>
          </a:p>
          <a:p>
            <a:pPr algn="l">
              <a:spcAft>
                <a:spcPts val="0"/>
              </a:spcAft>
              <a:buNone/>
            </a:pPr>
            <a:r>
              <a:rPr lang="en-US" sz="1400" b="0" dirty="0">
                <a:solidFill>
                  <a:srgbClr val="555960"/>
                </a:solidFill>
              </a:rPr>
              <a:t>needs less scaffolding, so this boundary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411480"/>
          </a:xfrm>
          <a:prstGeom prst="straightConnector1">
            <a:avLst/>
          </a:prstGeom>
          <a:ln w="12700">
            <a:solidFill>
              <a:srgbClr val="8E6F3E"/>
            </a:solidFill>
            <a:prstDash val="dash"/>
            <a:tailEnd type="triangle" w="med" len="med"/>
          </a:ln>
        </p:spPr>
      </p:cxnSp>
      <p:sp>
        <p:nvSpPr>
          <p:cNvPr id="17" name="Drop1"/>
          <p:cNvSpPr/>
          <p:nvPr/>
        </p:nvSpPr>
        <p:spPr>
          <a:xfrm>
            <a:off x="845820" y="269748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15468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242316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56616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pic>
        <p:nvPicPr>
          <p:cNvPr id="30" name="BandPic" descr="Small reprise of the 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365760" y="4200000"/>
            <a:ext cx="3200400" cy="1185206"/>
          </a:xfrm>
          <a:prstGeom prst="rect">
            <a:avLst/>
          </a:prstGeom>
        </p:spPr>
      </p:pic>
      <p:sp>
        <p:nvSpPr>
          <p:cNvPr id="31" name="LimK"/>
          <p:cNvSpPr txBox="1"/>
          <p:nvPr/>
        </p:nvSpPr>
        <p:spPr>
          <a:xfrm>
            <a:off x="3886200" y="4114800"/>
            <a:ext cx="4983480" cy="274320"/>
          </a:xfrm>
          <a:prstGeom prst="rect">
            <a:avLst/>
          </a:prstGeom>
          <a:noFill/>
          <a:ln>
            <a:noFill/>
          </a:ln>
        </p:spPr>
        <p:txBody>
          <a:bodyPr wrap="square" lIns="0" tIns="0" rIns="0" bIns="0" anchor="t"/>
          <a:lstStyle/>
          <a:p>
            <a:pPr algn="l">
              <a:spcAft>
                <a:spcPts val="0"/>
              </a:spcAft>
              <a:buNone/>
            </a:pPr>
            <a:r>
              <a:rPr lang="en-US" sz="1400" b="1" dirty="0">
                <a:solidFill>
                  <a:srgbClr val="8E6F3E"/>
                </a:solidFill>
              </a:rPr>
              <a:t>THE LIMIT CASE</a:t>
            </a:r>
          </a:p>
        </p:txBody>
      </p:sp>
      <p:sp>
        <p:nvSpPr>
          <p:cNvPr id="32" name="LimEq"/>
          <p:cNvSpPr txBox="1"/>
          <p:nvPr/>
        </p:nvSpPr>
        <p:spPr>
          <a:xfrm>
            <a:off x="3886200" y="4457700"/>
            <a:ext cx="4983480" cy="594360"/>
          </a:xfrm>
          <a:prstGeom prst="rect">
            <a:avLst/>
          </a:prstGeom>
          <a:noFill/>
          <a:ln>
            <a:noFill/>
          </a:ln>
        </p:spPr>
        <p:txBody>
          <a:bodyPr wrap="square" lIns="0" tIns="0" rIns="0" bIns="0" anchor="ctr"/>
          <a:lstStyle/>
          <a:p>
            <a:pPr algn="l">
              <a:spcAft>
                <a:spcPts val="0"/>
              </a:spcAft>
              <a:buNone/>
            </a:pPr>
            <a:r>
              <a:rPr lang="en-US" sz="2600" b="0" i="1" dirty="0">
                <a:solidFill>
                  <a:srgbClr val="5C4826"/>
                </a:solidFill>
              </a:rPr>
              <a:t>lim</a:t>
            </a:r>
            <a:r>
              <a:rPr lang="en-US" sz="1500" b="0" i="1" baseline="-25000" dirty="0">
                <a:solidFill>
                  <a:srgbClr val="5C4826"/>
                </a:solidFill>
              </a:rPr>
              <a:t xml:space="preserve">M → perfect reasoner</a:t>
            </a:r>
            <a:r>
              <a:rPr lang="en-US" sz="2600" b="0" i="1" dirty="0">
                <a:solidFill>
                  <a:srgbClr val="5C4826"/>
                </a:solidFill>
              </a:rPr>
              <a:t xml:space="preserve">  p</a:t>
            </a:r>
            <a:r>
              <a:rPr lang="en-US" sz="2600" b="0" i="1" baseline="-25000" dirty="0">
                <a:solidFill>
                  <a:srgbClr val="5C4826"/>
                </a:solidFill>
              </a:rPr>
              <a:t>R</a:t>
            </a:r>
            <a:r>
              <a:rPr lang="en-US" sz="2600" b="0" i="1" dirty="0">
                <a:solidFill>
                  <a:srgbClr val="5C4826"/>
                </a:solidFill>
              </a:rPr>
              <a:t xml:space="preserve"> = P(E | R)</a:t>
            </a:r>
          </a:p>
        </p:txBody>
      </p:sp>
      <p:sp>
        <p:nvSpPr>
          <p:cNvPr id="33" name="LimCap"/>
          <p:cNvSpPr txBox="1"/>
          <p:nvPr/>
        </p:nvSpPr>
        <p:spPr>
          <a:xfrm>
            <a:off x="3886200" y="5111750"/>
            <a:ext cx="4983480" cy="45720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