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2.xml" ContentType="application/vnd.openxmlformats-officedocument.presentationml.slide+xml"/>
  <Override PartName="/ppt/slides/slide6.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4"/>
  </p:notesMasterIdLst>
  <p:sldIdLst>
    <p:sldId id="256" r:id="rId41"/>
    <p:sldId id="289" r:id="rId74"/>
    <p:sldId id="257" r:id="rId42"/>
    <p:sldId id="258" r:id="rId43"/>
    <p:sldId id="259" r:id="rId44"/>
    <p:sldId id="260" r:id="rId45"/>
    <p:sldId id="261" r:id="rId46"/>
    <p:sldId id="262" r:id="rId47"/>
    <p:sldId id="263" r:id="rId48"/>
    <p:sldId id="264" r:id="rId49"/>
    <p:sldId id="265" r:id="rId50"/>
    <p:sldId id="266" r:id="rId51"/>
    <p:sldId id="267" r:id="rId52"/>
    <p:sldId id="268" r:id="rId53"/>
    <p:sldId id="269" r:id="rId54"/>
    <p:sldId id="270" r:id="rId55"/>
    <p:sldId id="271" r:id="rId56"/>
    <p:sldId id="272" r:id="rId57"/>
    <p:sldId id="273" r:id="rId58"/>
    <p:sldId id="274" r:id="rId59"/>
    <p:sldId id="275" r:id="rId60"/>
    <p:sldId id="280" r:id="rId65"/>
    <p:sldId id="290" r:id="rId75"/>
    <p:sldId id="282" r:id="rId67"/>
    <p:sldId id="276" r:id="rId61"/>
    <p:sldId id="277" r:id="rId62"/>
    <p:sldId id="278" r:id="rId63"/>
    <p:sldId id="279" r:id="rId64"/>
    <p:sldId id="291" r:id="rId76"/>
    <p:sldId id="283" r:id="rId68"/>
    <p:sldId id="284" r:id="rId69"/>
    <p:sldId id="285" r:id="rId70"/>
    <p:sldId id="286" r:id="rId71"/>
    <p:sldId id="287" r:id="rId72"/>
    <p:sldId id="288" r:id="rId7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p:scale>
          <a:sx n="61" d="100"/>
          <a:sy n="61" d="100"/>
        </p:scale>
        <p:origin x="3152" y="25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34" Type="http://schemas.openxmlformats.org/officeDocument/2006/relationships/notesMaster" Target="notesMasters/notesMaster1.xml"/><Relationship Id="rId38" Type="http://schemas.openxmlformats.org/officeDocument/2006/relationships/tableStyles" Target="tableStyles.xml"/><Relationship Id="rId1" Type="http://schemas.openxmlformats.org/officeDocument/2006/relationships/slideMaster" Target="slideMasters/slideMaster1.xml"/><Relationship Id="rId37" Type="http://schemas.openxmlformats.org/officeDocument/2006/relationships/theme" Target="theme/theme1.xml"/><Relationship Id="rId36" Type="http://schemas.openxmlformats.org/officeDocument/2006/relationships/viewProps" Target="viewProps.xml"/><Relationship Id="rId35" Type="http://schemas.openxmlformats.org/officeDocument/2006/relationships/presProps" Target="presProps.xml"/><Relationship Id="rId41" Type="http://schemas.openxmlformats.org/officeDocument/2006/relationships/slide" Target="slides/slide1.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2.xml"/><Relationship Id="rId45" Type="http://schemas.openxmlformats.org/officeDocument/2006/relationships/slide" Target="slides/slide6.xml"/><Relationship Id="rId46" Type="http://schemas.openxmlformats.org/officeDocument/2006/relationships/slide" Target="slides/slide35.xml"/><Relationship Id="rId47" Type="http://schemas.openxmlformats.org/officeDocument/2006/relationships/slide" Target="slides/slide36.xml"/><Relationship Id="rId48" Type="http://schemas.openxmlformats.org/officeDocument/2006/relationships/slide" Target="slides/slide37.xml"/><Relationship Id="rId49" Type="http://schemas.openxmlformats.org/officeDocument/2006/relationships/slide" Target="slides/slide38.xml"/><Relationship Id="rId50" Type="http://schemas.openxmlformats.org/officeDocument/2006/relationships/slide" Target="slides/slide39.xml"/><Relationship Id="rId51" Type="http://schemas.openxmlformats.org/officeDocument/2006/relationships/slide" Target="slides/slide40.xml"/><Relationship Id="rId52" Type="http://schemas.openxmlformats.org/officeDocument/2006/relationships/slide" Target="slides/slide41.xml"/><Relationship Id="rId53" Type="http://schemas.openxmlformats.org/officeDocument/2006/relationships/slide" Target="slides/slide5.xml"/><Relationship Id="rId54" Type="http://schemas.openxmlformats.org/officeDocument/2006/relationships/slide" Target="slides/slide13.xml"/><Relationship Id="rId55" Type="http://schemas.openxmlformats.org/officeDocument/2006/relationships/slide" Target="slides/slide14.xml"/><Relationship Id="rId56" Type="http://schemas.openxmlformats.org/officeDocument/2006/relationships/slide" Target="slides/slide15.xml"/><Relationship Id="rId57" Type="http://schemas.openxmlformats.org/officeDocument/2006/relationships/slide" Target="slides/slide16.xml"/><Relationship Id="rId58" Type="http://schemas.openxmlformats.org/officeDocument/2006/relationships/slide" Target="slides/slide17.xml"/><Relationship Id="rId59" Type="http://schemas.openxmlformats.org/officeDocument/2006/relationships/slide" Target="slides/slide18.xml"/><Relationship Id="rId60" Type="http://schemas.openxmlformats.org/officeDocument/2006/relationships/slide" Target="slides/slide19.xml"/><Relationship Id="rId61" Type="http://schemas.openxmlformats.org/officeDocument/2006/relationships/slide" Target="slides/slide20.xml"/><Relationship Id="rId62" Type="http://schemas.openxmlformats.org/officeDocument/2006/relationships/slide" Target="slides/slide21.xml"/><Relationship Id="rId63" Type="http://schemas.openxmlformats.org/officeDocument/2006/relationships/slide" Target="slides/slide22.xml"/><Relationship Id="rId64" Type="http://schemas.openxmlformats.org/officeDocument/2006/relationships/slide" Target="slides/slide23.xml"/><Relationship Id="rId65" Type="http://schemas.openxmlformats.org/officeDocument/2006/relationships/slide" Target="slides/slide24.xml"/><Relationship Id="rId67" Type="http://schemas.openxmlformats.org/officeDocument/2006/relationships/slide" Target="slides/slide26.xml"/><Relationship Id="rId68" Type="http://schemas.openxmlformats.org/officeDocument/2006/relationships/slide" Target="slides/slide27.xml"/><Relationship Id="rId69" Type="http://schemas.openxmlformats.org/officeDocument/2006/relationships/slide" Target="slides/slide28.xml"/><Relationship Id="rId70" Type="http://schemas.openxmlformats.org/officeDocument/2006/relationships/slide" Target="slides/slide29.xml"/><Relationship Id="rId71" Type="http://schemas.openxmlformats.org/officeDocument/2006/relationships/slide" Target="slides/slide30.xml"/><Relationship Id="rId72" Type="http://schemas.openxmlformats.org/officeDocument/2006/relationships/slide" Target="slides/slide31.xml"/><Relationship Id="rId73" Type="http://schemas.openxmlformats.org/officeDocument/2006/relationships/slide" Target="slides/slide32.xml"/><Relationship Id="rId74" Type="http://schemas.openxmlformats.org/officeDocument/2006/relationships/slide" Target="slides/slide42.xml"/><Relationship Id="rId75" Type="http://schemas.openxmlformats.org/officeDocument/2006/relationships/slide" Target="slides/slide43.xml"/><Relationship Id="rId76" Type="http://schemas.openxmlformats.org/officeDocument/2006/relationships/slide" Target="slides/slide44.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next three slides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previous two slides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recurring discipline from slide 9).</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 (R1.s15)</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(R1.s17):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 (plan section 7).</a:t>
            </a:r>
          </a:p>
          <a:p>
            <a:r>
              <a:rPr dirty="0"/>
              <a:t>Present territory before model; the model does not exist yet.</a:t>
            </a:r>
          </a:p>
          <a:p>
            <a:r>
              <a:rPr dirty="0"/>
              <a:t>Exactly one engineering question (R4 verbatim): can the controller exhaust the battery before completing an 8-hour operating period?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(R4). The PROPERTY beat of the spine happens here - point at 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(R4):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the diagram tour that closed on “Same territory, different questions”: the software version made this point across five models of one registration system; the embedded version closes the loop on territory you can feel. Say the callback aloud, do not re-teach it.</a:t>
            </a:r>
          </a:p>
          <a:p>
            <a:r>
              <a:rPr dirty="0"/>
              <a:t>Suddenly thermal mass, ambient temperature, heat generation and airflow matter — and battery capacity largely disappears.</a:t>
            </a:r>
          </a:p>
          <a:p>
            <a:r>
              <a:rPr dirty="0"/>
              <a:t>Closing hinge, spoken over the slide: we have judged what must remain. The next question is not whether we judged right — correspondence answers that, later — but how much of the answer we must tell the agent. That is the boundaries slide.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ROLE CHANGE, stated aloud: Section 2's controller taught how to reason. These two cases show how you find out whether the reasoning was right — a different job, not a second pass of the same lesson.</a:t>
            </a:r>
          </a:p>
          <a:p>
            <a:r>
              <a:rPr dirty="0"/>
              <a:t>Both production cases come from the instructor's production system. The lease's omission was vindicated; the account quota's was refuted. A hypothetical can teach judgment; only production can grade it. (Plan §7 — this section break exists to make the method/evidence split visible.)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the next slide.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reduction happened upstream. However capable the downstream agent, nothing arrives for it to recover — the distinction no longer exists in the model. The obligation boundary is capability-invariant; the specification boundary is not. The limit is semantic, not a capability shortfall.</a:t>
            </a:r>
          </a:p>
          <a:p>
            <a:r>
              <a:rPr dirty="0"/>
              <a:t>THE REVEAL, in three beats. Beat 1: the chain from “Open the box”, unchanged, with the encoding factor set in bold. Beat 2: a perfect reasoner drives interpretation and realization to one. Beat 3: what is left is the limit — for a fixed representation R, p_R goes to P(E | R).</a:t>
            </a:r>
          </a:p>
          <a:p>
            <a:r>
              <a:rPr dirty="0"/>
              <a:t>Every symbol is already known: T, M, R and H from the production equation, E, I and L from the chain decomposition, obligation and scaffolding and degrees of freedom from the argument just made. That is why the limit was held back until here. Read it off the chain rather than announcing it — the room should watch the last two factors go to one.</a:t>
            </a:r>
          </a:p>
          <a:p>
            <a:r>
              <a:rPr dirty="0"/>
              <a:t>Say it in these words: a better M cannot recover a distinction that R failed to carry. An organization that has not determined and externalized the obligations governing its work cannot discharge them by purchasing a more capable reasoner.</a:t>
            </a:r>
          </a:p>
          <a:p>
            <a:r>
              <a:rPr dirty="0"/>
              <a:t>The opening band figure is deliberately NOT reprised here. At the size this slide can spare, its internal type projects at four to seven pixels, and its red MODELING CHANGES THE REPRESENTATION overlay would in any case fight a slide that argues a perfect reasoner stays bounded by P(E | R). The chain line carries the same recall at a size the back row can read.</a:t>
            </a:r>
          </a:p>
          <a:p>
            <a:r>
              <a:rPr dirty="0"/>
              <a:t>Forward tag: you will watch this limit reach production in the correspondence section, on the account-quota case — a distinction the model could not express, and production said so.</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~10 minutes including debrief. Students re-enter the controller cold — that is the retention test.</a:t>
            </a:r>
          </a:p>
          <a:p>
            <a:r>
              <a:rPr dirty="0"/>
              <a:t>Debrief challenge sequence (R4,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compresses to 1 if needed. Reprise, not new content — the couplet was earned in Section 2 — top-down, bottom-up, then the worked controller — and adjudicated on “Capability cannot reduce what must be true”.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next slide’s move, which is to open the probability and point at the one term Modeling acts on. About 2.5 minutes including the naming exchange.</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next four slides each rescue exactly one of them.</a:t>
            </a:r>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two slides from now, arriving by demonstration rather than by assertion.</a:t>
            </a:r>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The next slide is the punchline — do not deliver it here.</a:t>
            </a:r>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a:t>
            </a:r>
          </a:p>
          <a:p>
            <a:r>
              <a:rPr lang="en-US" dirty="0"/>
              <a:t>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Do not walk all five again. Point, land the thesis, move. Forty-five seconds.</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NAME THE FIVE DISTINCTIONS ALOUD while pointing, one per card — this is the evidence for the second half of the thesis, and the thumbnails are too small to carry it on their own: structure, order, lifecycle, branching, intent. Five questions, five things worth keeping, one territory.</a:t>
            </a:r>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The job is one claim and one claim only: modeling is an extant engineering practice with living tools, not a conceptual vocabulary invented last year for agents. The UML tradition and the MBSE tradition are decades old and still under active development.</a:t>
            </a:r>
          </a:p>
          <a:p>
            <a:r>
              <a:rPr lang="en-US" dirty="0"/>
              <a:t>BESSER comes out of Jordi Cabot's group — the same tradition as the Model-Driven Software Engineering in Practice textbook. It is MIT-licensed and current.</a:t>
            </a:r>
          </a:p>
          <a:p>
            <a:r>
              <a:rPr lang="en-US" dirty="0"/>
              <a:t>Do NOT teach the tool, and do NOT catalogue Cabot's work. Read the tagline off the screen — build software from a model, draw it in the browser or define it in Python, then generate the code — and let that be the argument. The students can go find it themselves.</a:t>
            </a:r>
          </a:p>
          <a:p>
            <a:r>
              <a:rPr lang="en-US" dirty="0"/>
              <a:t>The takeaway line is the survivor of two deleted catalog slides: the forms already exist, so select before you invent. That is the practical instruction the old six-box gallery was trying to deliver, minus the gallery.</a:t>
            </a:r>
          </a:p>
          <a:p>
            <a:r>
              <a:rPr lang="en-US" dirty="0"/>
              <a:t>Screenshot provenance: besser.readthedocs.io, captured 2026-09-30, used for teaching and attributed on the slide.</a:t>
            </a:r>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Two slides from here,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why agent capability genuinely matters to Modeling. A stronger agent needs less realization scaffolding, so we can leave more legitimate degrees of freedom. But notice which boundary did not move.</a:t>
            </a:r>
          </a:p>
          <a:p>
            <a:r>
              <a:rPr lang="en-US" dirty="0"/>
              <a:t>Now take capability all the way to the limit.</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Cabot proposes keeping explicit software models central even when AI participates in production. Use our decomposition to analyze his process; do not start by deciding whether his proposal is right. Where is consequential intent encoded? Where must something interpret that encoding? Where is it realized?</a:t>
            </a:r>
          </a:p>
          <a:p>
            <a:r>
              <a:rPr lang="en-US" dirty="0"/>
              <a:t>In the model-to-deterministic-generator path, realization can become highly constrained. That does not establish that the model encoded the right consequential intent.</a:t>
            </a:r>
          </a:p>
          <a:p>
            <a:r>
              <a:rPr lang="en-US" dirty="0"/>
              <a:t>If AI helps construct the model, uncertainty can move upstream rather than disappear. If AI consumes the model to produce code, the model may improve interpretation or realization without making either deterministic.</a:t>
            </a:r>
          </a:p>
          <a:p>
            <a:r>
              <a:rPr lang="en-US" dirty="0"/>
              <a:t>The point is not that MDE wins. The point is that changing the representation changes where uncertainty lives in delegated production.</a:t>
            </a:r>
          </a:p>
          <a:p>
            <a:r>
              <a:rPr lang="en-US" dirty="0"/>
              <a:t>Then advance immediately to Activity: Reduce — "Now you choose the representation."</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35.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7.xml"/></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38.xml"/></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39.xml"/></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40.xml"/></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41.xml"/></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44.xml"/><Relationship Id="rId4" Type="http://schemas.openxmlformats.org/officeDocument/2006/relationships/hyperlink" Target="https://arxiv.org/pdf/2604.10645"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 xml:space="preserve">Lecture 1 </a:t>
            </a:r>
            <a:r>
              <a:rPr lang="en-US" sz="2000" dirty="0">
                <a:solidFill>
                  <a:srgbClr val="555960"/>
                </a:solidFill>
              </a:rPr>
              <a:t>(today)</a:t>
            </a:r>
            <a:r>
              <a:rPr lang="en-US" sz="2000" b="0" i="0" dirty="0">
                <a:solidFill>
                  <a:srgbClr val="555960"/>
                </a:solidFill>
              </a:rPr>
              <a:t xml:space="preserve">: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xml:space="preserve">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xml:space="preserve">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1371600" y="1554480"/>
            <a:ext cx="640080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 xml:space="preserve">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Three survived.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How much of the answer must we tell the agent?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THE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How do you find out whether you left out the right things?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685800" y="3657600"/>
            <a:ext cx="777240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Two production reductions — one vindicated, one refuted.</a:t>
            </a:r>
          </a:p>
        </p:txBody>
      </p:sp>
      <p:sp>
        <p:nvSpPr>
          <p:cNvPr id="131" name="VTagL"/>
          <p:cNvSpPr/>
          <p:nvPr/>
        </p:nvSpPr>
        <p:spPr>
          <a:xfrm>
            <a:off x="201168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✓ THE LEASE</a:t>
            </a:r>
          </a:p>
        </p:txBody>
      </p:sp>
      <p:sp>
        <p:nvSpPr>
          <p:cNvPr id="132" name="VTagR"/>
          <p:cNvSpPr/>
          <p:nvPr/>
        </p:nvSpPr>
        <p:spPr>
          <a:xfrm>
            <a:off x="484632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✗ ACCOUNT QUOTA</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ACCOUNT QUOTA</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unlimited vs. exhausted</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production decision exposed the loss ✗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 xml:space="preserve">OBLIGATION</a:t>
            </a:r>
          </a:p>
          <a:p>
            <a:pPr algn="ctr">
              <a:spcAft>
                <a:spcPts val="0"/>
              </a:spcAft>
              <a:buNone/>
            </a:pPr>
            <a:r>
              <a:rPr lang="en-US" sz="1400" b="0" dirty="0">
                <a:solidFill>
                  <a:srgbClr val="FFFFFF"/>
                </a:solidFill>
              </a:rPr>
              <a:t xml:space="preserve">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 xml:space="preserve">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 xml:space="preserve">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 xml:space="preserve">specification boundary</a:t>
            </a:r>
          </a:p>
          <a:p>
            <a:pPr algn="l">
              <a:spcAft>
                <a:spcPts val="0"/>
              </a:spcAft>
              <a:buNone/>
            </a:pPr>
            <a:r>
              <a:rPr lang="en-US" sz="1400" b="0" dirty="0">
                <a:solidFill>
                  <a:srgbClr val="555960"/>
                </a:solidFill>
              </a:rPr>
              <a:t xml:space="preserve">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 xml:space="preserve">obligation boundary</a:t>
            </a:r>
          </a:p>
          <a:p>
            <a:pPr algn="l">
              <a:spcAft>
                <a:spcPts val="0"/>
              </a:spcAft>
              <a:buNone/>
            </a:pPr>
            <a:r>
              <a:rPr lang="en-US" sz="1400" b="0" dirty="0">
                <a:solidFill>
                  <a:srgbClr val="555960"/>
                </a:solidFill>
              </a:rPr>
              <a:t xml:space="preserve">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 xml:space="preserve">specification boundary</a:t>
            </a:r>
          </a:p>
          <a:p>
            <a:pPr algn="l">
              <a:spcAft>
                <a:spcPts val="0"/>
              </a:spcAft>
              <a:buNone/>
            </a:pPr>
            <a:r>
              <a:rPr lang="en-US" sz="1400" b="0" dirty="0">
                <a:solidFill>
                  <a:srgbClr val="555960"/>
                </a:solidFill>
              </a:rPr>
              <a:t xml:space="preserve">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LeadLn"/>
          <p:cNvSpPr txBox="1"/>
          <p:nvPr/>
        </p:nvSpPr>
        <p:spPr>
          <a:xfrm>
            <a:off x="365760" y="91440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1508760"/>
            <a:ext cx="237744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1874520"/>
            <a:ext cx="594360" cy="0"/>
          </a:xfrm>
          <a:prstGeom prst="straightConnector1">
            <a:avLst/>
          </a:prstGeom>
          <a:ln w="28575">
            <a:solidFill>
              <a:srgbClr val="8E6F3E"/>
            </a:solidFill>
            <a:tailEnd type="triangle" w="med" len="med"/>
          </a:ln>
        </p:spPr>
      </p:cxnSp>
      <p:sp>
        <p:nvSpPr>
          <p:cNvPr id="13" name="St2"/>
          <p:cNvSpPr/>
          <p:nvPr/>
        </p:nvSpPr>
        <p:spPr>
          <a:xfrm>
            <a:off x="3611880" y="1508760"/>
            <a:ext cx="187452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1874520"/>
            <a:ext cx="594360" cy="0"/>
          </a:xfrm>
          <a:prstGeom prst="straightConnector1">
            <a:avLst/>
          </a:prstGeom>
          <a:ln w="28575">
            <a:solidFill>
              <a:srgbClr val="8E6F3E"/>
            </a:solidFill>
            <a:tailEnd type="triangle" w="med" len="med"/>
          </a:ln>
        </p:spPr>
      </p:cxnSp>
      <p:sp>
        <p:nvSpPr>
          <p:cNvPr id="15" name="St3"/>
          <p:cNvSpPr/>
          <p:nvPr/>
        </p:nvSpPr>
        <p:spPr>
          <a:xfrm>
            <a:off x="6172200" y="1508760"/>
            <a:ext cx="2423160" cy="73152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2240280"/>
            <a:ext cx="0" cy="320040"/>
          </a:xfrm>
          <a:prstGeom prst="straightConnector1">
            <a:avLst/>
          </a:prstGeom>
          <a:ln w="12700">
            <a:solidFill>
              <a:srgbClr val="8E6F3E"/>
            </a:solidFill>
            <a:prstDash val="dash"/>
            <a:tailEnd type="triangle" w="med" len="med"/>
          </a:ln>
        </p:spPr>
      </p:cxnSp>
      <p:sp>
        <p:nvSpPr>
          <p:cNvPr id="17" name="Drop1"/>
          <p:cNvSpPr/>
          <p:nvPr/>
        </p:nvSpPr>
        <p:spPr>
          <a:xfrm>
            <a:off x="845820" y="260604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✗ a distinction</a:t>
            </a:r>
          </a:p>
        </p:txBody>
      </p:sp>
      <p:sp>
        <p:nvSpPr>
          <p:cNvPr id="18" name="DropL"/>
          <p:cNvSpPr txBox="1"/>
          <p:nvPr/>
        </p:nvSpPr>
        <p:spPr>
          <a:xfrm>
            <a:off x="685800" y="306324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72200" y="2514600"/>
            <a:ext cx="269748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347472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sp>
        <p:nvSpPr>
          <p:cNvPr id="30" name="ChEq"/>
          <p:cNvSpPr txBox="1"/>
          <p:nvPr/>
        </p:nvSpPr>
        <p:spPr>
          <a:xfrm>
            <a:off x="274320" y="3977640"/>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 xml:space="preserve">p</a:t>
            </a:r>
            <a:r>
              <a:rPr lang="en-US" sz="2200" b="0" i="1" baseline="-25000" dirty="0">
                <a:solidFill>
                  <a:srgbClr val="5C4826"/>
                </a:solidFill>
              </a:rPr>
              <a:t xml:space="preserve">R</a:t>
            </a:r>
            <a:r>
              <a:rPr lang="en-US" sz="2200" b="0" i="1" dirty="0">
                <a:solidFill>
                  <a:srgbClr val="5C4826"/>
                </a:solidFill>
              </a:rPr>
              <a:t xml:space="preserve"> = </a:t>
            </a:r>
            <a:r>
              <a:rPr lang="en-US" sz="2200" b="1" i="1" dirty="0">
                <a:solidFill>
                  <a:srgbClr val="5C4826"/>
                </a:solidFill>
              </a:rPr>
              <a:t xml:space="preserve">P(E | R)</a:t>
            </a:r>
            <a:r>
              <a:rPr lang="en-US" sz="2200" b="0" i="1" dirty="0">
                <a:solidFill>
                  <a:srgbClr val="5C4826"/>
                </a:solidFill>
              </a:rPr>
              <a:t xml:space="preserve"> · P(I | E, R) · P(L | I, E, R)</a:t>
            </a:r>
          </a:p>
        </p:txBody>
      </p:sp>
      <p:sp>
        <p:nvSpPr>
          <p:cNvPr id="31" name="ChCap"/>
          <p:cNvSpPr txBox="1"/>
          <p:nvPr/>
        </p:nvSpPr>
        <p:spPr>
          <a:xfrm>
            <a:off x="274320" y="438912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 xml:space="preserve">a perfect reasoner drives the last two factors to one</a:t>
            </a:r>
          </a:p>
        </p:txBody>
      </p:sp>
      <p:sp>
        <p:nvSpPr>
          <p:cNvPr id="32" name="LimEq"/>
          <p:cNvSpPr txBox="1"/>
          <p:nvPr/>
        </p:nvSpPr>
        <p:spPr>
          <a:xfrm>
            <a:off x="274320" y="4800600"/>
            <a:ext cx="8595360" cy="685800"/>
          </a:xfrm>
          <a:prstGeom prst="rect">
            <a:avLst/>
          </a:prstGeom>
          <a:noFill/>
          <a:ln>
            <a:noFill/>
          </a:ln>
        </p:spPr>
        <p:txBody>
          <a:bodyPr wrap="square" lIns="0" tIns="0" rIns="0" bIns="0" anchor="ctr"/>
          <a:lstStyle/>
          <a:p>
            <a:pPr algn="ctr">
              <a:spcAft>
                <a:spcPts val="0"/>
              </a:spcAft>
              <a:buNone/>
            </a:pPr>
            <a:r>
              <a:rPr lang="en-US" sz="3000" b="0" dirty="0">
                <a:solidFill>
                  <a:srgbClr val="5C4826"/>
                </a:solidFill>
              </a:rPr>
              <a:t xml:space="preserve">lim</a:t>
            </a:r>
            <a:r>
              <a:rPr lang="en-US" sz="3000" b="0" baseline="-25000" dirty="0">
                <a:solidFill>
                  <a:srgbClr val="5C4826"/>
                </a:solidFill>
              </a:rPr>
              <a:t xml:space="preserve">M → perfect reasoner</a:t>
            </a:r>
            <a:r>
              <a:rPr lang="en-US" sz="3000" b="0" i="1" dirty="0">
                <a:solidFill>
                  <a:srgbClr val="5C4826"/>
                </a:solidFill>
              </a:rPr>
              <a:t xml:space="preserve">     p</a:t>
            </a:r>
            <a:r>
              <a:rPr lang="en-US" sz="3000" b="0" i="1" baseline="-25000" dirty="0">
                <a:solidFill>
                  <a:srgbClr val="5C4826"/>
                </a:solidFill>
              </a:rPr>
              <a:t xml:space="preserve">R</a:t>
            </a:r>
            <a:r>
              <a:rPr lang="en-US" sz="3000" b="0" i="1" dirty="0">
                <a:solidFill>
                  <a:srgbClr val="5C4826"/>
                </a:solidFill>
              </a:rPr>
              <a:t xml:space="preserve"> = P(E | R)</a:t>
            </a:r>
          </a:p>
        </p:txBody>
      </p:sp>
      <p:sp>
        <p:nvSpPr>
          <p:cNvPr id="33" name="LimCap"/>
          <p:cNvSpPr txBox="1"/>
          <p:nvPr/>
        </p:nvSpPr>
        <p:spPr>
          <a:xfrm>
            <a:off x="274320" y="548640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Better reasoning cannot recover consequential intent the representation failed to encode.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par>
                                <p:cTn id="8" presetID="10" presetClass="entr" presetSubtype="0" fill="hold"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 xml:space="preserve">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xml:space="preserve"> + T</a:t>
            </a:r>
            <a:r>
              <a:rPr lang="en-US" sz="1400" b="1" baseline="-25000" dirty="0">
                <a:solidFill>
                  <a:srgbClr val="5C4826"/>
                </a:solidFill>
              </a:rPr>
              <a:t>schedule</a:t>
            </a:r>
            <a:r>
              <a:rPr lang="en-US" sz="2000" b="1" dirty="0">
                <a:solidFill>
                  <a:srgbClr val="5C4826"/>
                </a:solidFill>
              </a:rPr>
              <a:t xml:space="preserve"> + T</a:t>
            </a:r>
            <a:r>
              <a:rPr lang="en-US" sz="1400" b="1" baseline="-25000" dirty="0">
                <a:solidFill>
                  <a:srgbClr val="5C4826"/>
                </a:solidFill>
              </a:rPr>
              <a:t>compute</a:t>
            </a:r>
            <a:r>
              <a:rPr lang="en-US" sz="2000" b="1" dirty="0">
                <a:solidFill>
                  <a:srgbClr val="5C4826"/>
                </a:solidFill>
              </a:rPr>
              <a:t xml:space="preserve"> + T</a:t>
            </a:r>
            <a:r>
              <a:rPr lang="en-US" sz="1400" b="1" baseline="-25000" dirty="0">
                <a:solidFill>
                  <a:srgbClr val="5C4826"/>
                </a:solidFill>
              </a:rPr>
              <a:t>actuate</a:t>
            </a:r>
            <a:r>
              <a:rPr lang="en-US" sz="2000" b="1" dirty="0">
                <a:solidFill>
                  <a:srgbClr val="5C4826"/>
                </a:solidFill>
              </a:rPr>
              <a:t xml:space="preserve">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xml:space="preserve">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xml:space="preserve">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xml:space="preserve">  staged: published</a:t>
            </a:r>
          </a:p>
          <a:p>
            <a:pPr algn="l">
              <a:spcAft>
                <a:spcPts val="1000"/>
              </a:spcAft>
              <a:buNone/>
            </a:pPr>
            <a:r>
              <a:rPr lang="en-US" sz="1500" b="0" dirty="0">
                <a:solidFill>
                  <a:srgbClr val="5C4826"/>
                </a:solidFill>
              </a:rPr>
              <a:t xml:space="preserve">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xml:space="preserve">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xml:space="preserve">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xml:space="preserve"> what must I preserve to answer the engineering question?</a:t>
            </a:r>
          </a:p>
          <a:p>
            <a:r>
              <a:rPr lang="en-US" b="1" dirty="0"/>
              <a:t>Bottom-up:</a:t>
            </a:r>
            <a:r>
              <a:rPr lang="en-US" dirty="0"/>
              <a:t xml:space="preserve">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 xml:space="preserve">Tomorrow: </a:t>
            </a:r>
            <a:r>
              <a:rPr lang="en-US" sz="1800" b="0" i="1" dirty="0">
                <a:solidFill>
                  <a:srgbClr val="555960"/>
                </a:solidFill>
              </a:rPr>
              <a:t>one model can be useful. How do many models remain trustworthy together?</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xml:space="preserve">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2"/>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2"/>
          <a:stretch>
            <a:fillRect/>
          </a:stretch>
        </p:blipFill>
        <p:spPr>
          <a:xfrm>
            <a:off x="274320" y="1795827"/>
            <a:ext cx="8595360" cy="3875945"/>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2"/>
          <a:stretch>
            <a:fillRect/>
          </a:stretch>
        </p:blipFill>
        <p:spPr>
          <a:xfrm>
            <a:off x="1016212" y="1341120"/>
            <a:ext cx="7111577" cy="478536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this thing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74320" y="1714062"/>
            <a:ext cx="8595360" cy="4039475"/>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2"/>
          <a:stretch>
            <a:fillRect/>
          </a:stretch>
        </p:blipFill>
        <p:spPr>
          <a:xfrm>
            <a:off x="1777275" y="1341120"/>
            <a:ext cx="5589450" cy="478536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2"/>
          <a:stretch>
            <a:fillRect/>
          </a:stretch>
        </p:blipFill>
        <p:spPr>
          <a:xfrm>
            <a:off x="1533226" y="1341120"/>
            <a:ext cx="6077549" cy="478536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pic>
        <p:nvPicPr>
          <p:cNvPr id="60" name="ThumbFigure" descr="Five models of one course-registration system shown together: the class diagram, the sequence diagram, the state machine, the activity diagram and the use-case diagram, each captioned with the question it answers."/>
          <p:cNvPicPr>
            <a:picLocks noChangeAspect="1"/>
          </p:cNvPicPr>
          <p:nvPr/>
        </p:nvPicPr>
        <p:blipFill>
          <a:blip r:embed="rId2"/>
          <a:stretch>
            <a:fillRect/>
          </a:stretch>
        </p:blipFill>
        <p:spPr>
          <a:xfrm>
            <a:off x="1349594" y="1341120"/>
            <a:ext cx="6444813" cy="4373880"/>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a living practice</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An engineering practice with living tools, decades older than the agents.</a:t>
            </a:r>
          </a:p>
        </p:txBody>
      </p:sp>
      <p:pic>
        <p:nvPicPr>
          <p:cNvPr id="60" name="BesserFigure" descr="A screenshot of the BESSER documentation site. The page reads: build software from a model — draw your system in the browser or define it in Python, then generate the code for your application."/>
          <p:cNvPicPr>
            <a:picLocks noChangeAspect="1"/>
          </p:cNvPicPr>
          <p:nvPr/>
        </p:nvPicPr>
        <p:blipFill>
          <a:blip r:embed="rId2"/>
          <a:stretch>
            <a:fillRect/>
          </a:stretch>
        </p:blipFill>
        <p:spPr>
          <a:xfrm>
            <a:off x="274320" y="1454369"/>
            <a:ext cx="8595360" cy="3507302"/>
          </a:xfrm>
          <a:prstGeom prst="rect">
            <a:avLst/>
          </a:prstGeom>
          <a:ln w="12700">
            <a:solidFill>
              <a:srgbClr val="C9B991"/>
            </a:solidFill>
          </a:ln>
        </p:spPr>
      </p:pic>
      <p:sp>
        <p:nvSpPr>
          <p:cNvPr id="70" name="Src"/>
          <p:cNvSpPr txBox="1"/>
          <p:nvPr/>
        </p:nvSpPr>
        <p:spPr>
          <a:xfrm>
            <a:off x="274320" y="5151120"/>
            <a:ext cx="859536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BESSER — BESSER-PEARL (Jordi Cabot's group), MIT licence · github.com/BESSER-PEARL/BESSER</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603443"/>
            <a:ext cx="8595360" cy="77724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Capability can reduce scaffolding</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LeadLn"/>
          <p:cNvSpPr txBox="1"/>
          <p:nvPr/>
        </p:nvSpPr>
        <p:spPr>
          <a:xfrm>
            <a:off x="365760" y="914400"/>
            <a:ext cx="841248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 xml:space="preserve">A more capable agent can infer more of the realization.</a:t>
            </a:r>
          </a:p>
        </p:txBody>
      </p:sp>
      <p:sp>
        <p:nvSpPr>
          <p:cNvPr id="20" name="ColHdr1"/>
          <p:cNvSpPr txBox="1"/>
          <p:nvPr/>
        </p:nvSpPr>
        <p:spPr>
          <a:xfrm>
            <a:off x="27432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 xml:space="preserve">LESS CAPABLE AGENT</a:t>
            </a:r>
          </a:p>
        </p:txBody>
      </p:sp>
      <p:sp>
        <p:nvSpPr>
          <p:cNvPr id="21" name="DOF1"/>
          <p:cNvSpPr/>
          <p:nvPr/>
        </p:nvSpPr>
        <p:spPr>
          <a:xfrm>
            <a:off x="342900" y="1783080"/>
            <a:ext cx="4023360" cy="252832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22" name="Scaf1"/>
          <p:cNvSpPr/>
          <p:nvPr/>
        </p:nvSpPr>
        <p:spPr>
          <a:xfrm>
            <a:off x="562360" y="1947680"/>
            <a:ext cx="3584440" cy="21579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23" name="Oblig1"/>
          <p:cNvSpPr/>
          <p:nvPr/>
        </p:nvSpPr>
        <p:spPr>
          <a:xfrm>
            <a:off x="1330460" y="258776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 xml:space="preserve">OBLIGATION</a:t>
            </a:r>
          </a:p>
        </p:txBody>
      </p:sp>
      <p:sp>
        <p:nvSpPr>
          <p:cNvPr id="24" name="ScafL1"/>
          <p:cNvSpPr txBox="1"/>
          <p:nvPr/>
        </p:nvSpPr>
        <p:spPr>
          <a:xfrm>
            <a:off x="1330460" y="3623320"/>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 xml:space="preserve">SCAFFOLDING</a:t>
            </a:r>
          </a:p>
        </p:txBody>
      </p:sp>
      <p:sp>
        <p:nvSpPr>
          <p:cNvPr id="25" name="DofL1"/>
          <p:cNvSpPr txBox="1"/>
          <p:nvPr/>
        </p:nvSpPr>
        <p:spPr>
          <a:xfrm>
            <a:off x="342900" y="4105660"/>
            <a:ext cx="4023360" cy="20574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 xml:space="preserve">DEGREES OF FREEDOM</a:t>
            </a:r>
          </a:p>
        </p:txBody>
      </p:sp>
      <p:sp>
        <p:nvSpPr>
          <p:cNvPr id="26" name="ColCap1"/>
          <p:cNvSpPr txBox="1"/>
          <p:nvPr/>
        </p:nvSpPr>
        <p:spPr>
          <a:xfrm>
            <a:off x="274320" y="44196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 xml:space="preserve">Larger specification boundary — more scaffolding</a:t>
            </a:r>
          </a:p>
        </p:txBody>
      </p:sp>
      <p:sp>
        <p:nvSpPr>
          <p:cNvPr id="40" name="ColHdr2"/>
          <p:cNvSpPr txBox="1"/>
          <p:nvPr/>
        </p:nvSpPr>
        <p:spPr>
          <a:xfrm>
            <a:off x="470916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 xml:space="preserve">MORE CAPABLE AGENT</a:t>
            </a:r>
          </a:p>
        </p:txBody>
      </p:sp>
      <p:sp>
        <p:nvSpPr>
          <p:cNvPr id="41" name="DOF2"/>
          <p:cNvSpPr/>
          <p:nvPr/>
        </p:nvSpPr>
        <p:spPr>
          <a:xfrm>
            <a:off x="4777740" y="1783080"/>
            <a:ext cx="4023360" cy="252832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42" name="Scaf2"/>
          <p:cNvSpPr/>
          <p:nvPr/>
        </p:nvSpPr>
        <p:spPr>
          <a:xfrm>
            <a:off x="5399540" y="2222000"/>
            <a:ext cx="2816360" cy="160934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43" name="Oblig2"/>
          <p:cNvSpPr/>
          <p:nvPr/>
        </p:nvSpPr>
        <p:spPr>
          <a:xfrm>
            <a:off x="5765300" y="258776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 xml:space="preserve">OBLIGATION</a:t>
            </a:r>
          </a:p>
        </p:txBody>
      </p:sp>
      <p:sp>
        <p:nvSpPr>
          <p:cNvPr id="44" name="ScafL2"/>
          <p:cNvSpPr txBox="1"/>
          <p:nvPr/>
        </p:nvSpPr>
        <p:spPr>
          <a:xfrm>
            <a:off x="5765300" y="3486160"/>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 xml:space="preserve">SCAFFOLDING</a:t>
            </a:r>
          </a:p>
        </p:txBody>
      </p:sp>
      <p:sp>
        <p:nvSpPr>
          <p:cNvPr id="45" name="DofL2"/>
          <p:cNvSpPr txBox="1"/>
          <p:nvPr/>
        </p:nvSpPr>
        <p:spPr>
          <a:xfrm>
            <a:off x="4777740" y="4105660"/>
            <a:ext cx="4023360" cy="20574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 xml:space="preserve">DEGREES OF FREEDOM</a:t>
            </a:r>
          </a:p>
        </p:txBody>
      </p:sp>
      <p:sp>
        <p:nvSpPr>
          <p:cNvPr id="46" name="ColCap2"/>
          <p:cNvSpPr txBox="1"/>
          <p:nvPr/>
        </p:nvSpPr>
        <p:spPr>
          <a:xfrm>
            <a:off x="4709160" y="44196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 xml:space="preserve">Smaller specification boundary — less scaffolding, more degrees of freedom</a:t>
            </a:r>
          </a:p>
        </p:txBody>
      </p:sp>
      <p:sp>
        <p:nvSpPr>
          <p:cNvPr id="150" name="Ital"/>
          <p:cNvSpPr txBox="1"/>
          <p:nvPr/>
        </p:nvSpPr>
        <p:spPr>
          <a:xfrm>
            <a:off x="274320" y="502920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 xml:space="preserve">Capability can reduce what we must specify about how.</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It does not reduce what must be true.</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Where do the probabilities move?</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pic>
        <p:nvPicPr>
          <p:cNvPr id="60" name="CabotFig1" descr="Cabot Figure 1: an engineer reaches an explicit software model either by modeling directly or by describing the system in natural language to a vibe modeling agent; from the model, code is reached either by code generation or by a vibe coding agent via spec-driven development."/>
          <p:cNvPicPr>
            <a:picLocks noChangeAspect="1"/>
          </p:cNvPicPr>
          <p:nvPr/>
        </p:nvPicPr>
        <p:blipFill>
          <a:blip r:embed="rId2"/>
          <a:stretch>
            <a:fillRect/>
          </a:stretch>
        </p:blipFill>
        <p:spPr>
          <a:xfrm>
            <a:off x="1231776" y="868680"/>
            <a:ext cx="6680447" cy="3200400"/>
          </a:xfrm>
          <a:prstGeom prst="rect">
            <a:avLst/>
          </a:prstGeom>
          <a:ln w="12700">
            <a:solidFill>
              <a:srgbClr val="C9B991"/>
            </a:solidFill>
          </a:ln>
        </p:spPr>
      </p:pic>
      <p:sp>
        <p:nvSpPr>
          <p:cNvPr id="70" name="Src"/>
          <p:cNvSpPr txBox="1"/>
          <p:nvPr/>
        </p:nvSpPr>
        <p:spPr>
          <a:xfrm>
            <a:off x="1231776" y="4114800"/>
            <a:ext cx="7637904" cy="251460"/>
          </a:xfrm>
          <a:prstGeom prst="rect">
            <a:avLst/>
          </a:prstGeom>
          <a:noFill/>
          <a:ln>
            <a:noFill/>
          </a:ln>
        </p:spPr>
        <p:txBody>
          <a:bodyPr wrap="square" lIns="0" tIns="0" rIns="0" bIns="0" anchor="t"/>
          <a:lstStyle/>
          <a:p>
            <a:pPr algn="l">
              <a:spcAft>
                <a:spcPts val="0"/>
              </a:spcAft>
              <a:buNone/>
            </a:pPr>
            <a:r>
              <a:rPr lang="en-US" sz="1300" b="0" i="0" dirty="0">
                <a:solidFill>
                  <a:srgbClr val="5C4826"/>
                </a:solidFill>
              </a:rPr>
              <a:t xml:space="preserve">Jordi Cabot, Vibe-driven model-based engineering (2026)  —  </a:t>
            </a:r>
            <a:r>
              <a:rPr lang="en-US" sz="1300" b="0" i="0" dirty="0">
                <a:solidFill>
                  <a:srgbClr val="555960"/>
                </a:solidFill>
                <a:hlinkClick r:id="rId4"/>
              </a:rPr>
              <a:t xml:space="preserve">https://arxiv.org/pdf/2604.10645</a:t>
            </a:r>
          </a:p>
        </p:txBody>
      </p:sp>
      <p:sp>
        <p:nvSpPr>
          <p:cNvPr id="80" name="RemHdr"/>
          <p:cNvSpPr txBox="1"/>
          <p:nvPr/>
        </p:nvSpPr>
        <p:spPr>
          <a:xfrm>
            <a:off x="365760" y="4434840"/>
            <a:ext cx="356616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 xml:space="preserve">REMINDER</a:t>
            </a:r>
          </a:p>
        </p:txBody>
      </p:sp>
      <p:sp>
        <p:nvSpPr>
          <p:cNvPr id="81" name="RemEq"/>
          <p:cNvSpPr txBox="1"/>
          <p:nvPr/>
        </p:nvSpPr>
        <p:spPr>
          <a:xfrm>
            <a:off x="365760" y="4686300"/>
            <a:ext cx="3566160" cy="320040"/>
          </a:xfrm>
          <a:prstGeom prst="rect">
            <a:avLst/>
          </a:prstGeom>
          <a:noFill/>
          <a:ln>
            <a:noFill/>
          </a:ln>
        </p:spPr>
        <p:txBody>
          <a:bodyPr wrap="square" lIns="0" tIns="0" rIns="0" bIns="0" anchor="ctr"/>
          <a:lstStyle/>
          <a:p>
            <a:pPr algn="l">
              <a:spcAft>
                <a:spcPts val="0"/>
              </a:spcAft>
              <a:buNone/>
            </a:pPr>
            <a:r>
              <a:rPr lang="en-US" sz="1300" b="0" i="1" dirty="0">
                <a:solidFill>
                  <a:srgbClr val="5C4826"/>
                </a:solidFill>
              </a:rPr>
              <a:t xml:space="preserve">p</a:t>
            </a:r>
            <a:r>
              <a:rPr lang="en-US" sz="1300" b="0" i="1" baseline="-25000" dirty="0">
                <a:solidFill>
                  <a:srgbClr val="5C4826"/>
                </a:solidFill>
              </a:rPr>
              <a:t xml:space="preserve">R</a:t>
            </a:r>
            <a:r>
              <a:rPr lang="en-US" sz="1300" b="0" i="1" dirty="0">
                <a:solidFill>
                  <a:srgbClr val="5C4826"/>
                </a:solidFill>
              </a:rPr>
              <a:t xml:space="preserve"> = </a:t>
            </a:r>
            <a:r>
              <a:rPr lang="en-US" sz="1300" b="1" i="1" dirty="0">
                <a:solidFill>
                  <a:srgbClr val="5C4826"/>
                </a:solidFill>
              </a:rPr>
              <a:t xml:space="preserve">P(E | R)</a:t>
            </a:r>
            <a:r>
              <a:rPr lang="en-US" sz="1300" b="0" i="1" dirty="0">
                <a:solidFill>
                  <a:srgbClr val="5C4826"/>
                </a:solidFill>
              </a:rPr>
              <a:t xml:space="preserve"> · P(I | E, R) · P(L | I, E, R)</a:t>
            </a:r>
          </a:p>
        </p:txBody>
      </p:sp>
      <p:sp>
        <p:nvSpPr>
          <p:cNvPr id="82" name="RemTrm"/>
          <p:cNvSpPr txBox="1"/>
          <p:nvPr/>
        </p:nvSpPr>
        <p:spPr>
          <a:xfrm>
            <a:off x="365760" y="5326380"/>
            <a:ext cx="3566160" cy="457200"/>
          </a:xfrm>
          <a:prstGeom prst="rect">
            <a:avLst/>
          </a:prstGeom>
          <a:noFill/>
          <a:ln>
            <a:noFill/>
          </a:ln>
        </p:spPr>
        <p:txBody>
          <a:bodyPr wrap="square" lIns="0" tIns="0" rIns="0" bIns="0" anchor="t"/>
          <a:lstStyle/>
          <a:p>
            <a:pPr algn="l">
              <a:lnSpc>
                <a:spcPct val="90000"/>
              </a:lnSpc>
              <a:spcAft>
                <a:spcPts val="0"/>
              </a:spcAft>
              <a:buNone/>
            </a:pPr>
            <a:r>
              <a:rPr lang="en-US" sz="1300" b="1" i="0" dirty="0">
                <a:solidFill>
                  <a:srgbClr val="5C4826"/>
                </a:solidFill>
              </a:rPr>
              <a:t xml:space="preserve">E</a:t>
            </a:r>
            <a:r>
              <a:rPr lang="en-US" sz="1300" b="0" i="0" dirty="0">
                <a:solidFill>
                  <a:srgbClr val="555960"/>
                </a:solidFill>
              </a:rPr>
              <a:t xml:space="preserve">  consequential intent is encoded</a:t>
            </a:r>
          </a:p>
          <a:p>
            <a:pPr algn="l">
              <a:lnSpc>
                <a:spcPct val="90000"/>
              </a:lnSpc>
              <a:spcAft>
                <a:spcPts val="0"/>
              </a:spcAft>
              <a:buNone/>
            </a:pPr>
            <a:r>
              <a:rPr lang="en-US" sz="1300" b="1" i="0" dirty="0">
                <a:solidFill>
                  <a:srgbClr val="5C4826"/>
                </a:solidFill>
              </a:rPr>
              <a:t xml:space="preserve">I</a:t>
            </a:r>
            <a:r>
              <a:rPr lang="en-US" sz="1300" b="0" i="0" dirty="0">
                <a:solidFill>
                  <a:srgbClr val="555960"/>
                </a:solidFill>
              </a:rPr>
              <a:t xml:space="preserve">  encoding is interpreted</a:t>
            </a:r>
          </a:p>
          <a:p>
            <a:pPr algn="l">
              <a:lnSpc>
                <a:spcPct val="90000"/>
              </a:lnSpc>
              <a:spcAft>
                <a:spcPts val="0"/>
              </a:spcAft>
              <a:buNone/>
            </a:pPr>
            <a:r>
              <a:rPr lang="en-US" sz="1300" b="1" i="0" dirty="0">
                <a:solidFill>
                  <a:srgbClr val="5C4826"/>
                </a:solidFill>
              </a:rPr>
              <a:t xml:space="preserve">L</a:t>
            </a:r>
            <a:r>
              <a:rPr lang="en-US" sz="1300" b="0" i="0" dirty="0">
                <a:solidFill>
                  <a:srgbClr val="555960"/>
                </a:solidFill>
              </a:rPr>
              <a:t xml:space="preserve">  interpretation is realized</a:t>
            </a:r>
          </a:p>
        </p:txBody>
      </p:sp>
      <p:sp>
        <p:nvSpPr>
          <p:cNvPr id="90" name="TPSbadge"/>
          <p:cNvSpPr/>
          <p:nvPr/>
        </p:nvSpPr>
        <p:spPr>
          <a:xfrm>
            <a:off x="4114800" y="4434840"/>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 xml:space="preserve">THINK</a:t>
            </a:r>
            <a:r>
              <a:rPr lang="en-US" sz="2000" b="1" i="0" dirty="0">
                <a:solidFill>
                  <a:srgbClr val="9A9A9A"/>
                </a:solidFill>
              </a:rPr>
              <a:t xml:space="preserve">  ·  </a:t>
            </a:r>
            <a:r>
              <a:rPr lang="en-US" sz="2000" b="1" i="0" dirty="0">
                <a:solidFill>
                  <a:srgbClr val="2E74B5"/>
                </a:solidFill>
              </a:rPr>
              <a:t xml:space="preserve">PAIR</a:t>
            </a:r>
            <a:r>
              <a:rPr lang="en-US" sz="2000" b="1" i="0" dirty="0">
                <a:solidFill>
                  <a:srgbClr val="9A9A9A"/>
                </a:solidFill>
              </a:rPr>
              <a:t xml:space="preserve">  ·  </a:t>
            </a:r>
            <a:r>
              <a:rPr lang="en-US" sz="2000" b="1" i="0" dirty="0">
                <a:solidFill>
                  <a:srgbClr val="B8860B"/>
                </a:solidFill>
              </a:rPr>
              <a:t xml:space="preserve">SHARE</a:t>
            </a:r>
          </a:p>
        </p:txBody>
      </p:sp>
      <p:sp>
        <p:nvSpPr>
          <p:cNvPr id="91" name="CabHdr"/>
          <p:cNvSpPr txBox="1"/>
          <p:nvPr/>
        </p:nvSpPr>
        <p:spPr>
          <a:xfrm>
            <a:off x="4114800" y="5074920"/>
            <a:ext cx="475488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 xml:space="preserve">IN CABOT'S PROCESS</a:t>
            </a:r>
          </a:p>
        </p:txBody>
      </p:sp>
      <p:sp>
        <p:nvSpPr>
          <p:cNvPr id="92" name="CabItm"/>
          <p:cNvSpPr txBox="1"/>
          <p:nvPr/>
        </p:nvSpPr>
        <p:spPr>
          <a:xfrm>
            <a:off x="4114800" y="5326380"/>
            <a:ext cx="4754880" cy="457200"/>
          </a:xfrm>
          <a:prstGeom prst="rect">
            <a:avLst/>
          </a:prstGeom>
          <a:noFill/>
          <a:ln>
            <a:noFill/>
          </a:ln>
        </p:spPr>
        <p:txBody>
          <a:bodyPr wrap="square" lIns="0" tIns="0" rIns="0" bIns="0" anchor="t"/>
          <a:lstStyle/>
          <a:p>
            <a:pPr algn="l">
              <a:lnSpc>
                <a:spcPct val="90000"/>
              </a:lnSpc>
              <a:spcAft>
                <a:spcPts val="0"/>
              </a:spcAft>
              <a:buNone/>
            </a:pPr>
            <a:r>
              <a:rPr lang="en-US" sz="1300" b="0" i="0" dirty="0">
                <a:solidFill>
                  <a:srgbClr val="555960"/>
                </a:solidFill>
              </a:rPr>
              <a:t xml:space="preserve">Where do encoding, interpretation, and realization happen?</a:t>
            </a:r>
          </a:p>
          <a:p>
            <a:pPr algn="l">
              <a:lnSpc>
                <a:spcPct val="90000"/>
              </a:lnSpc>
              <a:spcAft>
                <a:spcPts val="0"/>
              </a:spcAft>
              <a:buNone/>
            </a:pPr>
            <a:r>
              <a:rPr lang="en-US" sz="1300" b="0" i="0" dirty="0">
                <a:solidFill>
                  <a:srgbClr val="555960"/>
                </a:solidFill>
              </a:rPr>
              <a:t xml:space="preserve">Which transitions are probabilistic?</a:t>
            </a:r>
          </a:p>
          <a:p>
            <a:pPr algn="l">
              <a:lnSpc>
                <a:spcPct val="90000"/>
              </a:lnSpc>
              <a:spcAft>
                <a:spcPts val="0"/>
              </a:spcAft>
              <a:buNone/>
            </a:pPr>
            <a:r>
              <a:rPr lang="en-US" sz="1300" b="0" i="0" dirty="0">
                <a:solidFill>
                  <a:srgbClr val="555960"/>
                </a:solidFill>
              </a:rPr>
              <a:t xml:space="preserve">Which are engineered to be deterministic?</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What does putting an explicit model in the middle buy us?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500"/>
                                        <p:tgtEl>
                                          <p:spTgt spid="80"/>
                                        </p:tgtEl>
                                      </p:cBhvr>
                                    </p:animEffect>
                                  </p:childTnLst>
                                </p:cTn>
                              </p:par>
                              <p:par>
                                <p:cTn id="8" presetID="10" presetClass="entr" presetSubtype="0" fill="hold" nodeType="withEffect">
                                  <p:stCondLst>
                                    <p:cond delay="0"/>
                                  </p:stCondLst>
                                  <p:childTnLst>
                                    <p:set>
                                      <p:cBhvr>
                                        <p:cTn id="9" dur="1" fill="hold">
                                          <p:stCondLst>
                                            <p:cond delay="0"/>
                                          </p:stCondLst>
                                        </p:cTn>
                                        <p:tgtEl>
                                          <p:spTgt spid="81"/>
                                        </p:tgtEl>
                                        <p:attrNameLst>
                                          <p:attrName>style.visibility</p:attrName>
                                        </p:attrNameLst>
                                      </p:cBhvr>
                                      <p:to>
                                        <p:strVal val="visible"/>
                                      </p:to>
                                    </p:set>
                                    <p:animEffect transition="in" filter="fade">
                                      <p:cBhvr>
                                        <p:cTn id="10" dur="500"/>
                                        <p:tgtEl>
                                          <p:spTgt spid="81"/>
                                        </p:tgtEl>
                                      </p:cBhvr>
                                    </p:animEffect>
                                  </p:childTnLst>
                                </p:cTn>
                              </p:par>
                              <p:par>
                                <p:cTn id="11" presetID="10" presetClass="entr" presetSubtype="0" fill="hold" nodeType="withEffect">
                                  <p:stCondLst>
                                    <p:cond delay="0"/>
                                  </p:stCondLst>
                                  <p:childTnLst>
                                    <p:set>
                                      <p:cBhvr>
                                        <p:cTn id="12" dur="1" fill="hold">
                                          <p:stCondLst>
                                            <p:cond delay="0"/>
                                          </p:stCondLst>
                                        </p:cTn>
                                        <p:tgtEl>
                                          <p:spTgt spid="82"/>
                                        </p:tgtEl>
                                        <p:attrNameLst>
                                          <p:attrName>style.visibility</p:attrName>
                                        </p:attrNameLst>
                                      </p:cBhvr>
                                      <p:to>
                                        <p:strVal val="visible"/>
                                      </p:to>
                                    </p:set>
                                    <p:animEffect transition="in" filter="fade">
                                      <p:cBhvr>
                                        <p:cTn id="13" dur="500"/>
                                        <p:tgtEl>
                                          <p:spTgt spid="8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90"/>
                                        </p:tgtEl>
                                        <p:attrNameLst>
                                          <p:attrName>style.visibility</p:attrName>
                                        </p:attrNameLst>
                                      </p:cBhvr>
                                      <p:to>
                                        <p:strVal val="visible"/>
                                      </p:to>
                                    </p:set>
                                    <p:animEffect transition="in" filter="fade">
                                      <p:cBhvr>
                                        <p:cTn id="18" dur="500"/>
                                        <p:tgtEl>
                                          <p:spTgt spid="90"/>
                                        </p:tgtEl>
                                      </p:cBhvr>
                                    </p:animEffect>
                                  </p:childTnLst>
                                </p:cTn>
                              </p:par>
                              <p:par>
                                <p:cTn id="19" presetID="10" presetClass="entr" presetSubtype="0" fill="hold" nodeType="withEffect">
                                  <p:stCondLst>
                                    <p:cond delay="0"/>
                                  </p:stCondLst>
                                  <p:childTnLst>
                                    <p:set>
                                      <p:cBhvr>
                                        <p:cTn id="20" dur="1" fill="hold">
                                          <p:stCondLst>
                                            <p:cond delay="0"/>
                                          </p:stCondLst>
                                        </p:cTn>
                                        <p:tgtEl>
                                          <p:spTgt spid="91"/>
                                        </p:tgtEl>
                                        <p:attrNameLst>
                                          <p:attrName>style.visibility</p:attrName>
                                        </p:attrNameLst>
                                      </p:cBhvr>
                                      <p:to>
                                        <p:strVal val="visible"/>
                                      </p:to>
                                    </p:set>
                                    <p:animEffect transition="in" filter="fade">
                                      <p:cBhvr>
                                        <p:cTn id="21" dur="500"/>
                                        <p:tgtEl>
                                          <p:spTgt spid="91"/>
                                        </p:tgtEl>
                                      </p:cBhvr>
                                    </p:animEffect>
                                  </p:childTnLst>
                                </p:cTn>
                              </p:par>
                              <p:par>
                                <p:cTn id="22" presetID="10" presetClass="entr" presetSubtype="0" fill="hold" nodeType="withEffect">
                                  <p:stCondLst>
                                    <p:cond delay="0"/>
                                  </p:stCondLst>
                                  <p:childTnLst>
                                    <p:set>
                                      <p:cBhvr>
                                        <p:cTn id="23" dur="1" fill="hold">
                                          <p:stCondLst>
                                            <p:cond delay="0"/>
                                          </p:stCondLst>
                                        </p:cTn>
                                        <p:tgtEl>
                                          <p:spTgt spid="92"/>
                                        </p:tgtEl>
                                        <p:attrNameLst>
                                          <p:attrName>style.visibility</p:attrName>
                                        </p:attrNameLst>
                                      </p:cBhvr>
                                      <p:to>
                                        <p:strVal val="visible"/>
                                      </p:to>
                                    </p:set>
                                    <p:animEffect transition="in" filter="fade">
                                      <p:cBhvr>
                                        <p:cTn id="24" dur="5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4329</Words>
  <Application>Microsoft Macintosh PowerPoint</Application>
  <PresentationFormat>On-screen Show (4:3)</PresentationFormat>
  <Paragraphs>494</Paragraphs>
  <Slides>32</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Times</vt:lpstr>
      <vt:lpstr>Purdue1</vt:lpstr>
      <vt:lpstr>PowerPoint Presentation</vt:lpstr>
      <vt:lpstr>Delegation leaves an information problem</vt:lpstr>
      <vt:lpstr>A model is useful because it leaves things out</vt:lpstr>
      <vt:lpstr>…and makes explicit what must remain</vt:lpstr>
      <vt:lpstr>Modeling is purposeful reduction</vt:lpstr>
      <vt:lpstr>QUESTIONS COME FIRST</vt:lpstr>
      <vt:lpstr>One territory, three questions</vt:lpstr>
      <vt:lpstr>No model is simply “the system”</vt:lpstr>
      <vt:lpstr>Four questions for every model</vt:lpstr>
      <vt:lpstr>Engineers have seen these questions before</vt:lpstr>
      <vt:lpstr>Select before you invent</vt:lpstr>
      <vt:lpstr>UML is a repertoire, not the theory of Modeling</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THE EVIDENCE</vt:lpstr>
      <vt:lpstr>Too much reduction loses the obligation</vt:lpstr>
      <vt:lpstr>Good reduction leaves implementation free</vt:lpstr>
      <vt:lpstr>The evidence, side by side</vt:lpstr>
      <vt:lpstr>Obligation and specification are different boundaries</vt:lpstr>
      <vt:lpstr>Capability can reduce scaffolding</vt:lpstr>
      <vt:lpstr>Capability cannot reduce what must be true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405</cp:revision>
  <dcterms:created xsi:type="dcterms:W3CDTF">2020-02-21T23:00:33Z</dcterms:created>
  <dcterms:modified xsi:type="dcterms:W3CDTF">2026-09-30T14:47:15Z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