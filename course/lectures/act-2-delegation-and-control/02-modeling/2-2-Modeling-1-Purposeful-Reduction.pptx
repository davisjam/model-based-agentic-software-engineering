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4"/>
  </p:notesMasterIdLst>
  <p:sldIdLst>
    <p:sldId id="701" r:id="rId2"/>
    <p:sldId id="702" r:id="rId3"/>
    <p:sldId id="703" r:id="rId4"/>
    <p:sldId id="704" r:id="rId5"/>
    <p:sldId id="705" r:id="rId6"/>
    <p:sldId id="706" r:id="rId7"/>
    <p:sldId id="707" r:id="rId8"/>
    <p:sldId id="708" r:id="rId9"/>
    <p:sldId id="709" r:id="rId10"/>
    <p:sldId id="710" r:id="rId11"/>
    <p:sldId id="711" r:id="rId12"/>
    <p:sldId id="712" r:id="rId13"/>
    <p:sldId id="713" r:id="rId14"/>
    <p:sldId id="714" r:id="rId15"/>
    <p:sldId id="715" r:id="rId16"/>
    <p:sldId id="716" r:id="rId17"/>
    <p:sldId id="717" r:id="rId18"/>
    <p:sldId id="718" r:id="rId19"/>
    <p:sldId id="719" r:id="rId20"/>
    <p:sldId id="720" r:id="rId21"/>
    <p:sldId id="721" r:id="rId22"/>
    <p:sldId id="722" r:id="rId23"/>
    <p:sldId id="723" r:id="rId24"/>
    <p:sldId id="724" r:id="rId25"/>
    <p:sldId id="725" r:id="rId26"/>
    <p:sldId id="726" r:id="rId27"/>
    <p:sldId id="727" r:id="rId28"/>
    <p:sldId id="728" r:id="rId29"/>
    <p:sldId id="729" r:id="rId30"/>
    <p:sldId id="730" r:id="rId31"/>
    <p:sldId id="731" r:id="rId32"/>
    <p:sldId id="732" r:id="rId3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614" autoAdjust="0"/>
    <p:restoredTop sz="56164"/>
  </p:normalViewPr>
  <p:slideViewPr>
    <p:cSldViewPr snapToGrid="0" snapToObjects="1">
      <p:cViewPr varScale="1">
        <p:scale>
          <a:sx n="64" d="100"/>
          <a:sy n="64" d="100"/>
        </p:scale>
        <p:origin x="303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Lecture 1 of 2 on Modeling: one model, one question. Lecture 2 turns to systems of many models. Today is learning how to make a model, not a catalogue of model types. [ASSUMPTION per plan section 8.1: deck filename 2-2-Modeling-1-Purposeful-Reduction.pptx pending author ratification.]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Bridge from the Agents unit (2-1): implementation is cheap to delegate, and we cannot and should not specify every realization choice. Delegation therefore creates a communication problem: what matters must survive the hop from engineer to agent. Modeling is the discipline that answers it.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One rich system, three radically smaller representations. Each card discards most of the program: a dependency graph keeps relationships, a state machine keeps transitions, a quantitative model keeps bounds. Build order on the board: remove information from copies of the panel rather than adding.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other half of the premise, on the same base figure: the few preserved distinctions in each of the three models, now accented. The edge set; the forbidden transition; the bound. The unit's premise verbatim: a model is useful because it leaves things out and makes explicit what must remain.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central definition. Value is selective omission, not completeness; a reduction you can hold in view beats a faithful copy too large to reason through (chapter 2.1). The territory-to-model glyph from the title slide reprised small beneath the card.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modeling decision is the question, not the notation.</a:t>
            </a:r>
          </a:p>
          <a:p>
            <a:r>
              <a:rPr dirty="0"/>
              <a:t>ASSUMPTION (plan section 8.3): the spine strip uses ENGINEERING QUESTION / MODEL / PROPERTY / QUALITY per the plan's recommendation; author ratification pending.</a:t>
            </a:r>
          </a:p>
          <a:p>
            <a:r>
              <a:rPr dirty="0"/>
              <a:t>Spine boxes are 0.70 in tall here (vs 0.62 in in the sibling deck) so the two-line ENGINEERING QUESTION label fits - the STYLE-KIT sanctioned fallback, flagged in DONE.md for assembly QA.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 what each question needs before clicking each reduction in.</a:t>
            </a:r>
          </a:p>
          <a:p>
            <a:r>
              <a:rPr dirty="0"/>
              <a:t>Three clicks: one reduction per question. No single representation answers all three well; each preserves different facts about the same territory.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This is where students stop imagining completeness as model quality.</a:t>
            </a:r>
          </a:p>
          <a:p>
            <a:r>
              <a:rPr dirty="0"/>
              <a:t>The pull-quote is the chapter's: hold the system constant, change the question, watch the model change.</a:t>
            </a:r>
          </a:p>
          <a:p>
            <a:r>
              <a:rPr dirty="0"/>
              <a:t>Sets up the embedded reprise near the end of the lecture, where the territory again stays fixed while the question changes (callback, not re-teach).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Not a named framework. Simply the recurring discipline of the course; present it once, plainly (the brief bans branding these four).</a:t>
            </a:r>
          </a:p>
          <a:p>
            <a:r>
              <a:rPr dirty="0"/>
              <a:t>This strip recurs small on every section break; say so aloud once, here.</a:t>
            </a:r>
          </a:p>
          <a:p>
            <a:r>
              <a:rPr dirty="0"/>
              <a:t>ASSUMPTION (plan section 8.3): spine-strip motif per the plan's recommendation; author ratification pending.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Dependency graphs answer structural questions, state machines behavioral ones, quantitative models capacity and cost (lander wording).</a:t>
            </a:r>
          </a:p>
          <a:p>
            <a:r>
              <a:rPr dirty="0"/>
              <a:t>The point: the repertoire exists. The next slide is the gallery.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Do not teach all six. This is a gallery to select from, not a syllabus.</a:t>
            </a:r>
          </a:p>
          <a:p>
            <a:r>
              <a:rPr dirty="0"/>
              <a:t>Sorting-algorithm analogy from the chapter's repertoire inset: recognize the problem, select among established forms.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Give UML its due: it is the industry-standard starting point for structural and behavioral modeling, not merely one source among many. Select before you invent; the slide deliberately does not enumerate the fourteen diagram types.</a:t>
            </a:r>
          </a:p>
          <a:p>
            <a:r>
              <a:rPr dirty="0"/>
              <a:t>MBSE broadens the same tradition. The assigned readings say browse, not memorize.</a:t>
            </a:r>
          </a:p>
          <a:p>
            <a:r>
              <a:rPr dirty="0"/>
              <a:t>About a 60-second slide; a named flex point in the timing budget.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conceptual center of the lecture. Two directions of reasoning - top-down from the obligation, bottom-up from the proposed model - then both worked live on one embedded system.</a:t>
            </a:r>
          </a:p>
          <a:p>
            <a:r>
              <a:rPr dirty="0"/>
              <a:t>Spine strip: MODEL stage highlighted (stage 2 of the recurring discipline from slide 9).</a:t>
            </a:r>
          </a:p>
          <a:p>
            <a:r>
              <a:rPr dirty="0"/>
              <a:t>ASSUMPTION (plan section 8.3): spine strip motif ENGINEERING QUESTION - MODEL - PROPERTY - QUALITY per the plan recommendation; author ratification pending.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Question to ask of every model: what must this model preserve? (R1.s15)</a:t>
            </a:r>
          </a:p>
          <a:p>
            <a:r>
              <a:rPr dirty="0"/>
              <a:t>Degrees of freedom, called back from the Architecture/Design unit: the obligation bounds acceptable realizations without choosing one.</a:t>
            </a:r>
          </a:p>
          <a:p>
            <a:r>
              <a:rPr dirty="0"/>
              <a:t>DOF is known freedom, not ignorance - we know these choices are open, and we leave them open on purpose.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For every represented distinction: what engineering question requires this? If none, why carry it?</a:t>
            </a:r>
          </a:p>
          <a:p>
            <a:r>
              <a:rPr dirty="0"/>
              <a:t>The correction matters (R1.s17): the target is the smallest model adequate to purpose, not the smallest model. Below adequate, the obligation is lost.</a:t>
            </a:r>
          </a:p>
          <a:p>
            <a:r>
              <a:rPr dirty="0"/>
              <a:t>Top-down finds what must remain; bottom-up challenges what we chose to keep (the couplet returns on the closing slide). Now we work both, live.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Territory an ECE student grasps in thirty seconds - that is why it, and not a software system, carries the method (plan section 7).</a:t>
            </a:r>
          </a:p>
          <a:p>
            <a:r>
              <a:rPr dirty="0"/>
              <a:t>Present territory before model; the model does not exist yet.</a:t>
            </a:r>
          </a:p>
          <a:p>
            <a:r>
              <a:rPr dirty="0"/>
              <a:t>Exactly one engineering question (R4 verbatim): can the controller exhaust the battery before completing an 8-hour operating period?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Ask the room: what do we need to reason about that? BEFORE revealing the model card.</a:t>
            </a:r>
          </a:p>
          <a:p>
            <a:r>
              <a:rPr dirty="0"/>
              <a:t>The obligation (8+ hours above minimum safe voltage) demands: battery usable energy, power by operating mode, time in each mode, the safety threshold. Nothing else.</a:t>
            </a:r>
          </a:p>
          <a:p>
            <a:r>
              <a:rPr dirty="0"/>
              <a:t>The system has become a small quantitative model; keep the math no harder than the sum (R4). The PROPERTY beat of the spine happens here - point at it.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genuinely useful discussion (R4): if estimated power already incorporates CPU frequency, fan PWM, and Wi-Fi state, those details may be needed to DERIVE the estimate without living in THIS model.</a:t>
            </a:r>
          </a:p>
          <a:p>
            <a:r>
              <a:rPr dirty="0"/>
              <a:t>Not an obvious right answer; let the room argue briefly. That argument is the bottom-up test being practiced.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Worded as a CALLBACK to slides 7-8: the software version made this point with three questions; the embedded version closes the loop on territory you can feel (plan section 7.5). Say callback aloud, not re-teach.</a:t>
            </a:r>
          </a:p>
          <a:p>
            <a:r>
              <a:rPr dirty="0"/>
              <a:t>Suddenly thermal mass, ambient temperature, heat generation, airflow matter - and battery capacity largely disappears.</a:t>
            </a:r>
          </a:p>
          <a:p>
            <a:r>
              <a:rPr dirty="0"/>
              <a:t>Closing hinge line, spoken over the slide: the method is judgment - and nothing in this room can tell us whether we judged right. A hypothetical cannot. Production can. That is Section 3.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ROLE CHANGE, stated aloud: Section 2's controller taught how to reason. These two cases show how you find out whether the reasoning was right — a different job, not a second pass of the same lesson.</a:t>
            </a:r>
          </a:p>
          <a:p>
            <a:r>
              <a:rPr dirty="0"/>
              <a:t>Both are production cases from DocAble. The lease's omission was vindicated; entitlement's was refuted. A hypothetical can teach judgment; only production can grade it. (Plan §7 — this section break exists to make the method/evidence split visible.)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account object carried the entitlement; the reduction kept one scalar, credits_remaining. The implementation knew the account was unlimited, but the scalar had nowhere to keep the distinction: an unlimited user hit zero credits and was refused.</a:t>
            </a:r>
          </a:p>
          <a:p>
            <a:r>
              <a:rPr dirty="0"/>
              <a:t>Bottom-up said removable; the obligation said no. This is refutation — the omitted distinction actually mattered, and production said so.</a:t>
            </a:r>
          </a:p>
          <a:p>
            <a:r>
              <a:rPr dirty="0"/>
              <a:t>Once a distinction is discarded, no downstream reasoning can recover it. That limit returns at the end of this section.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lease model preserved owner, generation, lifetime, reclamation, and the forbidden transition: releasing a lease under a stale generation. It omitted the processing topology on purpose.</a:t>
            </a:r>
          </a:p>
          <a:p>
            <a:r>
              <a:rPr dirty="0"/>
              <a:t>The topology then really changed — the work was re-chunked and services rearranged — and nothing in the model moved. Vindication: the omission was tested by reality and passed. The omitted detail really was a degree of freedom, not something forgotten.</a:t>
            </a:r>
          </a:p>
          <a:p>
            <a:r>
              <a:rPr dirty="0"/>
              <a:t>The footer line is verbatim from the team.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The first three rows are Section 2's vocabulary — candidate omission, top-down judgment, bottom-up judgment. The room has already used each of them on the controller. Only the evidence row is new: the method produces judgments; production grades them. That is the method/evidence split on one screen.</a:t>
            </a:r>
          </a:p>
          <a:p>
            <a:r>
              <a:rPr dirty="0"/>
              <a:t>One sentence on revision: a model is a provisional judgment, revised when evidence arrives. The richer account of how designs explored with agents harden into durable models stays in the book — mention it, do not slide it.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Scaffolding is what this particular agent needs to interpret and realize the obligation reliably — examples, decomposition, intermediate structure.</a:t>
            </a:r>
          </a:p>
          <a:p>
            <a:r>
              <a:rPr dirty="0"/>
              <a:t>The obligation boundary encloses what must be true. The specification boundary encloses what we actually write down. Between them: scaffolding. Outside the specification boundary: degrees of freedom, left to the realization.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Parsimony restated for delegation: how little must we specify while still preserving the obligation and enabling THIS agent to realize it (lander). A more capable agent needs fewer examples, less decomposition, less intermediate structure — the specification boundary moves toward the obligation boundary.</a:t>
            </a:r>
          </a:p>
          <a:p>
            <a:r>
              <a:rPr dirty="0"/>
              <a:t>Watch what did not move: the core. That is the next slide.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Entitlement anchors this: the crossed-out tag is the same unlimited distinction the reduction dropped three slides ago. However capable the downstream agent, nothing arrives for it to recover — the distinction no longer exists in the model.</a:t>
            </a:r>
          </a:p>
          <a:p>
            <a:r>
              <a:rPr dirty="0"/>
              <a:t>The obligation boundary is capability-invariant; the specification boundary is not. The limit is semantic, not a capability shortfall. Second payoff of the evidence section.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27. ~10 minutes including debrief. Students re-enter the controller cold — that is the retention test.</a:t>
            </a:r>
          </a:p>
          <a:p>
            <a:r>
              <a:rPr dirty="0"/>
              <a:t>Debrief challenge sequence (R4, verbatim): Do you need the RTOS scheduler algorithm? Maybe — not if a justified worst-case delay is already carried. The temperature? Only as the trigger. Wi-Fi? Only if it can interfere with timing. Battery voltage? Not for this question — unless voltage affects actuator response inside the envelope. That last chain is the judgment being practiced.</a:t>
            </a:r>
          </a:p>
          <a:p>
            <a:r>
              <a:rPr dirty="0"/>
              <a:t>The DEBRIEF label, the convergence chain, and the bound are hidden until the click — reveal only after teams have committed. The bound is the PROPERTY beat of the spine.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28. ~2-3 minutes. Post-Reduce placement; also the natural re-entry point if Reduce ran long.</a:t>
            </a:r>
          </a:p>
          <a:p>
            <a:r>
              <a:rPr dirty="0"/>
              <a:t>[ASSUMPTION per plan §8.4: the content brief never mentions a stretch break; one per deck recommended, placed after the mid-lecture activity.]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29. A diagram is a representation, not a synonym for a model. The same recovery relation renders as a state diagram, a transition table, or structured text; the property — publication precedes the record — is statable whatever the encoding.</a:t>
            </a:r>
          </a:p>
          <a:p>
            <a:r>
              <a:rPr dirty="0"/>
              <a:t>Quiet setup for Deck 2: the same model can have several representations without making each representation an independent source of truth. Do not develop it further here.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30. Merged R1.s25+s26 — the probabilistic seed motivates the asymmetry in one move. Seed P(agent correctly interprets c | r) and STOP THERE: no expected loss, no utility, no economics. Two representations of the same intended model differ in how reliably the claim is recovered.</a:t>
            </a:r>
          </a:p>
          <a:p>
            <a:r>
              <a:rPr dirty="0"/>
              <a:t>The fourth question — Quality — just became concrete: does the representation make the consequential interpretation sufficiently likely? Later units use this probabilistic view systematically; today the seed is enough.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31. ~9 minutes. Makes P(interpret) tangible without estimating a number — do not ask students for a number.</a:t>
            </a:r>
          </a:p>
          <a:p>
            <a:r>
              <a:rPr dirty="0"/>
              <a:t>Both directions on purpose, because the lecture just taught that a model is not its representation: (a) one drawing under two stated semantics — different models from the same picture; (b) two different representations intended to express one model — the same model from different pictures.</a:t>
            </a:r>
          </a:p>
          <a:p>
            <a:r>
              <a:rPr dirty="0"/>
              <a:t>Debrief flexes 2 minutes either way — the deck's main timing valve.</a:t>
            </a:r>
          </a:p>
          <a:p>
            <a:r>
              <a:rPr dirty="0"/>
              <a:t>[QR placeholder —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Deck slide 32. ~2 minutes; compresses to 1 if needed. Reprise, not new content — the couplet was earned at slides 15/17/18 and adjudicated at 23. Read the couplet, land the ital line, then the teaser names Deck 2's problem in one sentence and stops.</a:t>
            </a:r>
          </a:p>
          <a:p>
            <a:r>
              <a:rPr dirty="0"/>
              <a:t>[QR placeholder — feedback form URL pending per plan §8.2; a finisher unit drops in the real QR PNG with alt text = URL.]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0">
                <a:solidFill>
                  <a:srgbClr val="555960"/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>
            <a:extLst>
              <a:ext uri="{FF2B5EF4-FFF2-40B4-BE49-F238E27FC236}">
                <a16:creationId xmlns:a16="http://schemas.microsoft.com/office/drawing/2014/main" id="{DD7291C3-5AE9-477A-3F39-34A06A62D99C}"/>
              </a:ext>
            </a:extLst>
          </p:cNvPr>
          <p:cNvSpPr txBox="1">
            <a:spLocks/>
          </p:cNvSpPr>
          <p:nvPr/>
        </p:nvSpPr>
        <p:spPr bwMode="black">
          <a:xfrm>
            <a:off x="439339" y="565149"/>
            <a:ext cx="8265319" cy="1195411"/>
          </a:xfrm>
          <a:prstGeom prst="rect">
            <a:avLst/>
          </a:prstGeom>
          <a:solidFill>
            <a:srgbClr val="FFFFFF"/>
          </a:solidFill>
          <a:ln w="31750" cap="sq">
            <a:noFill/>
            <a:miter lim="800000"/>
          </a:ln>
        </p:spPr>
        <p:txBody>
          <a:bodyPr vert="horz" lIns="182880" tIns="182880" rIns="182880" bIns="18288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none" spc="200" baseline="0">
                <a:solidFill>
                  <a:srgbClr val="000000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sz="2000" i="1" dirty="0"/>
              <a:t>Software Engineering</a:t>
            </a:r>
            <a:br>
              <a:rPr lang="en-US" sz="2000" i="1" dirty="0"/>
            </a:br>
            <a:br>
              <a:rPr lang="en-US" sz="2000" i="1" dirty="0"/>
            </a:br>
            <a:r>
              <a:rPr lang="en-US" sz="1600" i="1" dirty="0"/>
              <a:t>ECE 30861 / CSCI 45000</a:t>
            </a:r>
            <a:endParaRPr lang="en-US" sz="2000" i="1" dirty="0"/>
          </a:p>
        </p:txBody>
      </p:sp>
      <p:sp>
        <p:nvSpPr>
          <p:cNvPr id="3" name="Slide Number Placeholder 5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</a:t>
            </a:fld>
            <a:endParaRPr lang="en-US"/>
          </a:p>
        </p:txBody>
      </p:sp>
      <p:sp>
        <p:nvSpPr>
          <p:cNvPr id="100" name="TitleBlock"/>
          <p:cNvSpPr txBox="1"/>
          <p:nvPr/>
        </p:nvSpPr>
        <p:spPr>
          <a:xfrm>
            <a:off x="224028" y="1371600"/>
            <a:ext cx="8695944" cy="2148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4000" b="0" i="0" dirty="0">
                <a:solidFill>
                  <a:srgbClr val="000000"/>
                </a:solidFill>
              </a:rPr>
              <a:t>Modeling: Purposeful Reduction</a:t>
            </a:r>
          </a:p>
          <a:p>
            <a:pPr algn="ctr">
              <a:buNone/>
            </a:pPr>
            <a:r>
              <a:rPr lang="en-US" sz="2300" b="0" i="1" dirty="0">
                <a:solidFill>
                  <a:srgbClr val="8E6F3E"/>
                </a:solidFill>
              </a:rPr>
              <a:t>What must the model preserve?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James C. Davis</a:t>
            </a:r>
          </a:p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>Prof. Steve France</a:t>
            </a:r>
          </a:p>
        </p:txBody>
      </p:sp>
      <p:sp>
        <p:nvSpPr>
          <p:cNvPr id="101" name="Label"/>
          <p:cNvSpPr txBox="1"/>
          <p:nvPr/>
        </p:nvSpPr>
        <p:spPr>
          <a:xfrm>
            <a:off x="224028" y="3639312"/>
            <a:ext cx="8695944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THE MOVE THIS LECTURE TEACHES</a:t>
            </a:r>
          </a:p>
        </p:txBody>
      </p:sp>
      <p:sp>
        <p:nvSpPr>
          <p:cNvPr id="200" name="M0"/>
          <p:cNvSpPr/>
          <p:nvPr/>
        </p:nvSpPr>
        <p:spPr>
          <a:xfrm>
            <a:off x="2880360" y="41148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M1"/>
          <p:cNvSpPr/>
          <p:nvPr/>
        </p:nvSpPr>
        <p:spPr>
          <a:xfrm>
            <a:off x="3108960" y="434340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M2"/>
          <p:cNvSpPr/>
          <p:nvPr/>
        </p:nvSpPr>
        <p:spPr>
          <a:xfrm>
            <a:off x="3017520" y="4617720"/>
            <a:ext cx="16002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3" name="M3"/>
          <p:cNvSpPr/>
          <p:nvPr/>
        </p:nvSpPr>
        <p:spPr>
          <a:xfrm>
            <a:off x="3291840" y="4087368"/>
            <a:ext cx="20574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4" name="M4"/>
          <p:cNvSpPr/>
          <p:nvPr/>
        </p:nvSpPr>
        <p:spPr>
          <a:xfrm>
            <a:off x="3383280" y="4480560"/>
            <a:ext cx="182880" cy="18288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M5"/>
          <p:cNvSpPr/>
          <p:nvPr/>
        </p:nvSpPr>
        <p:spPr>
          <a:xfrm>
            <a:off x="3566160" y="4114800"/>
            <a:ext cx="137160" cy="2057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6" name="M6"/>
          <p:cNvSpPr/>
          <p:nvPr/>
        </p:nvSpPr>
        <p:spPr>
          <a:xfrm>
            <a:off x="3703320" y="4526280"/>
            <a:ext cx="114300" cy="11430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7" name="M7"/>
          <p:cNvSpPr/>
          <p:nvPr/>
        </p:nvSpPr>
        <p:spPr>
          <a:xfrm>
            <a:off x="3794760" y="4297680"/>
            <a:ext cx="16002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8" name="M8"/>
          <p:cNvSpPr/>
          <p:nvPr/>
        </p:nvSpPr>
        <p:spPr>
          <a:xfrm>
            <a:off x="3931920" y="4087368"/>
            <a:ext cx="13716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9" name="M9"/>
          <p:cNvSpPr/>
          <p:nvPr/>
        </p:nvSpPr>
        <p:spPr>
          <a:xfrm>
            <a:off x="4023360" y="4526280"/>
            <a:ext cx="137160" cy="13716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0" name="M10"/>
          <p:cNvSpPr/>
          <p:nvPr/>
        </p:nvSpPr>
        <p:spPr>
          <a:xfrm>
            <a:off x="4160520" y="4343400"/>
            <a:ext cx="114300" cy="1143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M11"/>
          <p:cNvSpPr/>
          <p:nvPr/>
        </p:nvSpPr>
        <p:spPr>
          <a:xfrm>
            <a:off x="4297680" y="4160520"/>
            <a:ext cx="91440" cy="9144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12" name="RAr1"/>
          <p:cNvCxnSpPr/>
          <p:nvPr/>
        </p:nvCxnSpPr>
        <p:spPr>
          <a:xfrm>
            <a:off x="4754880" y="4407408"/>
            <a:ext cx="54864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13" name="MdlM"/>
          <p:cNvSpPr/>
          <p:nvPr/>
        </p:nvSpPr>
        <p:spPr>
          <a:xfrm>
            <a:off x="5440680" y="4224528"/>
            <a:ext cx="731520" cy="3657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4" name="KM0"/>
          <p:cNvSpPr/>
          <p:nvPr/>
        </p:nvSpPr>
        <p:spPr>
          <a:xfrm>
            <a:off x="5577840" y="4315968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5" name="KM1"/>
          <p:cNvSpPr/>
          <p:nvPr/>
        </p:nvSpPr>
        <p:spPr>
          <a:xfrm>
            <a:off x="5577840" y="4389120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6" name="KM2"/>
          <p:cNvSpPr/>
          <p:nvPr/>
        </p:nvSpPr>
        <p:spPr>
          <a:xfrm>
            <a:off x="5577840" y="4462272"/>
            <a:ext cx="457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9" name="TwoLines"/>
          <p:cNvSpPr txBox="1"/>
          <p:nvPr/>
        </p:nvSpPr>
        <p:spPr>
          <a:xfrm>
            <a:off x="224028" y="4956048"/>
            <a:ext cx="8695944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1 </a:t>
            </a:r>
            <a:r>
              <a:rPr lang="en-US" sz="2000" dirty="0">
                <a:solidFill>
                  <a:srgbClr val="555960"/>
                </a:solidFill>
              </a:rPr>
              <a:t>(today)</a:t>
            </a:r>
            <a:r>
              <a:rPr lang="en-US" sz="2000" b="0" i="0" dirty="0">
                <a:solidFill>
                  <a:srgbClr val="555960"/>
                </a:solidFill>
              </a:rPr>
              <a:t>: </a:t>
            </a:r>
            <a:r>
              <a:rPr lang="en-US" sz="2000" dirty="0">
                <a:solidFill>
                  <a:srgbClr val="555960"/>
                </a:solidFill>
              </a:rPr>
              <a:t>O</a:t>
            </a:r>
            <a:r>
              <a:rPr lang="en-US" sz="2000" b="0" i="0" dirty="0">
                <a:solidFill>
                  <a:srgbClr val="555960"/>
                </a:solidFill>
              </a:rPr>
              <a:t>ne model, one question.</a:t>
            </a:r>
          </a:p>
          <a:p>
            <a:pPr algn="ctr">
              <a:spcBef>
                <a:spcPts val="160"/>
              </a:spcBef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Lecture 2: Modeling larger systems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Delegation leaves an information problem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FROM DELEGATION</a:t>
            </a:r>
          </a:p>
        </p:txBody>
      </p:sp>
      <p:sp>
        <p:nvSpPr>
          <p:cNvPr id="7" name="KickerBox"/>
          <p:cNvSpPr/>
          <p:nvPr/>
        </p:nvSpPr>
        <p:spPr>
          <a:xfrm>
            <a:off x="365760" y="1509720"/>
            <a:ext cx="8412480" cy="19202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Implementation is cheap to delegate: an agent can realize a design a hundred acceptable ways.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We cannot specify every realization choice, and we should not try.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So what must remain explicit?</a:t>
            </a:r>
          </a:p>
        </p:txBody>
      </p:sp>
      <p:sp>
        <p:nvSpPr>
          <p:cNvPr id="200" name="EngineerBox"/>
          <p:cNvSpPr/>
          <p:nvPr/>
        </p:nvSpPr>
        <p:spPr>
          <a:xfrm>
            <a:off x="1371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ENGINEER</a:t>
            </a:r>
          </a:p>
        </p:txBody>
      </p:sp>
      <p:sp>
        <p:nvSpPr>
          <p:cNvPr id="201" name="AgentBox"/>
          <p:cNvSpPr/>
          <p:nvPr/>
        </p:nvSpPr>
        <p:spPr>
          <a:xfrm>
            <a:off x="5943600" y="38100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>AGENT</a:t>
            </a:r>
          </a:p>
        </p:txBody>
      </p:sp>
      <p:cxnSp>
        <p:nvCxnSpPr>
          <p:cNvPr id="202" name="DAr1"/>
          <p:cNvCxnSpPr/>
          <p:nvPr/>
        </p:nvCxnSpPr>
        <p:spPr>
          <a:xfrm>
            <a:off x="320040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</a:ln>
        </p:spPr>
      </p:cxnSp>
      <p:cxnSp>
        <p:nvCxnSpPr>
          <p:cNvPr id="203" name="DAr2"/>
          <p:cNvCxnSpPr/>
          <p:nvPr/>
        </p:nvCxnSpPr>
        <p:spPr>
          <a:xfrm>
            <a:off x="4754880" y="4084320"/>
            <a:ext cx="118872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04" name="Gap1"/>
          <p:cNvSpPr/>
          <p:nvPr/>
        </p:nvSpPr>
        <p:spPr>
          <a:xfrm>
            <a:off x="4389120" y="3901440"/>
            <a:ext cx="365760" cy="36576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05" name="DelLbl"/>
          <p:cNvSpPr txBox="1"/>
          <p:nvPr/>
        </p:nvSpPr>
        <p:spPr>
          <a:xfrm>
            <a:off x="3657600" y="362604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DELEGATION</a:t>
            </a:r>
          </a:p>
        </p:txBody>
      </p:sp>
      <p:sp>
        <p:nvSpPr>
          <p:cNvPr id="206" name="GapLbl"/>
          <p:cNvSpPr txBox="1"/>
          <p:nvPr/>
        </p:nvSpPr>
        <p:spPr>
          <a:xfrm>
            <a:off x="2743200" y="4343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what matters must survive this hop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gap is a property of delegation, not a failure of the agent.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Modeling answers the question delegation leaves open.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useful because it leaves things out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927348" y="4068900"/>
            <a:ext cx="137160" cy="137160"/>
          </a:xfrm>
          <a:prstGeom prst="straightConnector1">
            <a:avLst/>
          </a:prstGeom>
          <a:ln w="19050">
            <a:solidFill>
              <a:srgbClr val="555960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12700">
            <a:solidFill>
              <a:srgbClr val="555960"/>
            </a:solidFill>
            <a:prstDash val="dash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Each model discards most of the program.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…and makes explicit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4</a:t>
            </a:fld>
            <a:endParaRPr lang="en-US"/>
          </a:p>
        </p:txBody>
      </p:sp>
      <p:sp>
        <p:nvSpPr>
          <p:cNvPr id="200" name="Panel"/>
          <p:cNvSpPr/>
          <p:nvPr/>
        </p:nvSpPr>
        <p:spPr>
          <a:xfrm>
            <a:off x="1371600" y="1005840"/>
            <a:ext cx="6400800" cy="1554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01" name="PL0"/>
          <p:cNvSpPr txBox="1"/>
          <p:nvPr/>
        </p:nvSpPr>
        <p:spPr>
          <a:xfrm>
            <a:off x="1463040" y="1051560"/>
            <a:ext cx="13716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THE SYSTEM</a:t>
            </a:r>
          </a:p>
        </p:txBody>
      </p:sp>
      <p:sp>
        <p:nvSpPr>
          <p:cNvPr id="210" name="SV0"/>
          <p:cNvSpPr/>
          <p:nvPr/>
        </p:nvSpPr>
        <p:spPr>
          <a:xfrm>
            <a:off x="1645920" y="13716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1" name="SV1"/>
          <p:cNvSpPr/>
          <p:nvPr/>
        </p:nvSpPr>
        <p:spPr>
          <a:xfrm>
            <a:off x="256032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2" name="SV2"/>
          <p:cNvSpPr/>
          <p:nvPr/>
        </p:nvSpPr>
        <p:spPr>
          <a:xfrm>
            <a:off x="2286000" y="182880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3" name="SV3"/>
          <p:cNvSpPr/>
          <p:nvPr/>
        </p:nvSpPr>
        <p:spPr>
          <a:xfrm>
            <a:off x="3108960" y="15087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4" name="SV4"/>
          <p:cNvSpPr/>
          <p:nvPr/>
        </p:nvSpPr>
        <p:spPr>
          <a:xfrm>
            <a:off x="3840480" y="118872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5" name="SV5"/>
          <p:cNvSpPr/>
          <p:nvPr/>
        </p:nvSpPr>
        <p:spPr>
          <a:xfrm>
            <a:off x="3657600" y="1965960"/>
            <a:ext cx="548640" cy="2743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16" name="Q0"/>
          <p:cNvSpPr/>
          <p:nvPr/>
        </p:nvSpPr>
        <p:spPr>
          <a:xfrm>
            <a:off x="48463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Q1"/>
          <p:cNvSpPr/>
          <p:nvPr/>
        </p:nvSpPr>
        <p:spPr>
          <a:xfrm>
            <a:off x="50749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8" name="Q2"/>
          <p:cNvSpPr/>
          <p:nvPr/>
        </p:nvSpPr>
        <p:spPr>
          <a:xfrm>
            <a:off x="5303520" y="1600200"/>
            <a:ext cx="18288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9" name="DB1"/>
          <p:cNvSpPr/>
          <p:nvPr/>
        </p:nvSpPr>
        <p:spPr>
          <a:xfrm>
            <a:off x="5943600" y="1280160"/>
            <a:ext cx="457200" cy="54864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0" name="U1"/>
          <p:cNvSpPr/>
          <p:nvPr/>
        </p:nvSpPr>
        <p:spPr>
          <a:xfrm>
            <a:off x="65836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1" name="U2"/>
          <p:cNvSpPr/>
          <p:nvPr/>
        </p:nvSpPr>
        <p:spPr>
          <a:xfrm>
            <a:off x="6812280" y="1965960"/>
            <a:ext cx="182880" cy="18288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22" name="PL1"/>
          <p:cNvSpPr txBox="1"/>
          <p:nvPr/>
        </p:nvSpPr>
        <p:spPr>
          <a:xfrm>
            <a:off x="1645920" y="219456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SERVICES</a:t>
            </a:r>
          </a:p>
        </p:txBody>
      </p:sp>
      <p:sp>
        <p:nvSpPr>
          <p:cNvPr id="223" name="PL2"/>
          <p:cNvSpPr txBox="1"/>
          <p:nvPr/>
        </p:nvSpPr>
        <p:spPr>
          <a:xfrm>
            <a:off x="4846320" y="182880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QUEUE</a:t>
            </a:r>
          </a:p>
        </p:txBody>
      </p:sp>
      <p:sp>
        <p:nvSpPr>
          <p:cNvPr id="224" name="PL3"/>
          <p:cNvSpPr txBox="1"/>
          <p:nvPr/>
        </p:nvSpPr>
        <p:spPr>
          <a:xfrm>
            <a:off x="5897880" y="187452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DB</a:t>
            </a:r>
          </a:p>
        </p:txBody>
      </p:sp>
      <p:sp>
        <p:nvSpPr>
          <p:cNvPr id="225" name="PL4"/>
          <p:cNvSpPr txBox="1"/>
          <p:nvPr/>
        </p:nvSpPr>
        <p:spPr>
          <a:xfrm>
            <a:off x="6492240" y="2194560"/>
            <a:ext cx="7315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en-US" sz="1400" b="0" i="0" dirty="0">
                <a:solidFill>
                  <a:srgbClr val="555960"/>
                </a:solidFill>
              </a:rPr>
              <a:t>USERS</a:t>
            </a:r>
          </a:p>
        </p:txBody>
      </p:sp>
      <p:cxnSp>
        <p:nvCxnSpPr>
          <p:cNvPr id="230" name="W0"/>
          <p:cNvCxnSpPr/>
          <p:nvPr/>
        </p:nvCxnSpPr>
        <p:spPr>
          <a:xfrm>
            <a:off x="3108960" y="1325880"/>
            <a:ext cx="73152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1" name="W1"/>
          <p:cNvCxnSpPr/>
          <p:nvPr/>
        </p:nvCxnSpPr>
        <p:spPr>
          <a:xfrm>
            <a:off x="2194560" y="1645920"/>
            <a:ext cx="365760" cy="18288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2" name="W2"/>
          <p:cNvCxnSpPr/>
          <p:nvPr/>
        </p:nvCxnSpPr>
        <p:spPr>
          <a:xfrm>
            <a:off x="3657600" y="1645920"/>
            <a:ext cx="1188720" cy="457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3" name="W3"/>
          <p:cNvCxnSpPr/>
          <p:nvPr/>
        </p:nvCxnSpPr>
        <p:spPr>
          <a:xfrm>
            <a:off x="4389120" y="1325880"/>
            <a:ext cx="1554480" cy="22860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4" name="W4"/>
          <p:cNvCxnSpPr/>
          <p:nvPr/>
        </p:nvCxnSpPr>
        <p:spPr>
          <a:xfrm>
            <a:off x="2834640" y="1965960"/>
            <a:ext cx="822960" cy="13716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5" name="W5"/>
          <p:cNvCxnSpPr/>
          <p:nvPr/>
        </p:nvCxnSpPr>
        <p:spPr>
          <a:xfrm flipV="1">
            <a:off x="5486400" y="1600200"/>
            <a:ext cx="457200" cy="9144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36" name="W6"/>
          <p:cNvCxnSpPr/>
          <p:nvPr/>
        </p:nvCxnSpPr>
        <p:spPr>
          <a:xfrm>
            <a:off x="6400800" y="1554480"/>
            <a:ext cx="182880" cy="50292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cxnSp>
        <p:nvCxnSpPr>
          <p:cNvPr id="240" name="AR0"/>
          <p:cNvCxnSpPr/>
          <p:nvPr/>
        </p:nvCxnSpPr>
        <p:spPr>
          <a:xfrm>
            <a:off x="1613916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1" name="AR1"/>
          <p:cNvCxnSpPr/>
          <p:nvPr/>
        </p:nvCxnSpPr>
        <p:spPr>
          <a:xfrm>
            <a:off x="4567428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42" name="AR2"/>
          <p:cNvCxnSpPr/>
          <p:nvPr/>
        </p:nvCxnSpPr>
        <p:spPr>
          <a:xfrm>
            <a:off x="7520940" y="2606040"/>
            <a:ext cx="0" cy="310896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50" name="H0"/>
          <p:cNvSpPr/>
          <p:nvPr/>
        </p:nvSpPr>
        <p:spPr>
          <a:xfrm>
            <a:off x="274320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DEPENDENCY</a:t>
            </a:r>
          </a:p>
        </p:txBody>
      </p:sp>
      <p:sp>
        <p:nvSpPr>
          <p:cNvPr id="253" name="B0"/>
          <p:cNvSpPr/>
          <p:nvPr/>
        </p:nvSpPr>
        <p:spPr>
          <a:xfrm>
            <a:off x="274320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1" name="H1"/>
          <p:cNvSpPr/>
          <p:nvPr/>
        </p:nvSpPr>
        <p:spPr>
          <a:xfrm>
            <a:off x="3227832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STATE MACHINE</a:t>
            </a:r>
          </a:p>
        </p:txBody>
      </p:sp>
      <p:sp>
        <p:nvSpPr>
          <p:cNvPr id="254" name="B1"/>
          <p:cNvSpPr/>
          <p:nvPr/>
        </p:nvSpPr>
        <p:spPr>
          <a:xfrm>
            <a:off x="3227832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52" name="H2"/>
          <p:cNvSpPr/>
          <p:nvPr/>
        </p:nvSpPr>
        <p:spPr>
          <a:xfrm>
            <a:off x="6181344" y="2926080"/>
            <a:ext cx="2679192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QUANTITATIVE</a:t>
            </a:r>
          </a:p>
        </p:txBody>
      </p:sp>
      <p:sp>
        <p:nvSpPr>
          <p:cNvPr id="255" name="B2"/>
          <p:cNvSpPr/>
          <p:nvPr/>
        </p:nvSpPr>
        <p:spPr>
          <a:xfrm>
            <a:off x="6181344" y="3429000"/>
            <a:ext cx="2679192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0" name="N0"/>
          <p:cNvSpPr/>
          <p:nvPr/>
        </p:nvSpPr>
        <p:spPr>
          <a:xfrm>
            <a:off x="9601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1" name="N1"/>
          <p:cNvSpPr/>
          <p:nvPr/>
        </p:nvSpPr>
        <p:spPr>
          <a:xfrm>
            <a:off x="1874520" y="361188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2" name="N2"/>
          <p:cNvSpPr/>
          <p:nvPr/>
        </p:nvSpPr>
        <p:spPr>
          <a:xfrm>
            <a:off x="5943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63" name="N3"/>
          <p:cNvSpPr/>
          <p:nvPr/>
        </p:nvSpPr>
        <p:spPr>
          <a:xfrm>
            <a:off x="1508760" y="4206240"/>
            <a:ext cx="228600" cy="2286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64" name="E0"/>
          <p:cNvCxnSpPr/>
          <p:nvPr/>
        </p:nvCxnSpPr>
        <p:spPr>
          <a:xfrm>
            <a:off x="1188720" y="372618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5" name="E1"/>
          <p:cNvCxnSpPr/>
          <p:nvPr/>
        </p:nvCxnSpPr>
        <p:spPr>
          <a:xfrm flipH="1">
            <a:off x="777240" y="3840480"/>
            <a:ext cx="22860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6" name="E2"/>
          <p:cNvCxnSpPr/>
          <p:nvPr/>
        </p:nvCxnSpPr>
        <p:spPr>
          <a:xfrm flipH="1">
            <a:off x="1691640" y="3840480"/>
            <a:ext cx="251460" cy="36576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67" name="E3"/>
          <p:cNvCxnSpPr/>
          <p:nvPr/>
        </p:nvCxnSpPr>
        <p:spPr>
          <a:xfrm>
            <a:off x="822960" y="4320540"/>
            <a:ext cx="6858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270" name="R0"/>
          <p:cNvSpPr/>
          <p:nvPr/>
        </p:nvSpPr>
        <p:spPr>
          <a:xfrm>
            <a:off x="3529584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1" name="R1"/>
          <p:cNvSpPr/>
          <p:nvPr/>
        </p:nvSpPr>
        <p:spPr>
          <a:xfrm>
            <a:off x="4754880" y="361188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72" name="R2"/>
          <p:cNvSpPr/>
          <p:nvPr/>
        </p:nvSpPr>
        <p:spPr>
          <a:xfrm>
            <a:off x="4142232" y="4389120"/>
            <a:ext cx="640080" cy="274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73" name="TR0"/>
          <p:cNvCxnSpPr/>
          <p:nvPr/>
        </p:nvCxnSpPr>
        <p:spPr>
          <a:xfrm>
            <a:off x="4169664" y="3749040"/>
            <a:ext cx="585216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4" name="TR1"/>
          <p:cNvCxnSpPr/>
          <p:nvPr/>
        </p:nvCxnSpPr>
        <p:spPr>
          <a:xfrm flipH="1">
            <a:off x="4462272" y="3886200"/>
            <a:ext cx="612648" cy="50292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275" name="TR2"/>
          <p:cNvCxnSpPr/>
          <p:nvPr/>
        </p:nvCxnSpPr>
        <p:spPr>
          <a:xfrm>
            <a:off x="3849624" y="3886200"/>
            <a:ext cx="292608" cy="50292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276" name="X1"/>
          <p:cNvCxnSpPr/>
          <p:nvPr/>
        </p:nvCxnSpPr>
        <p:spPr>
          <a:xfrm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77" name="X2"/>
          <p:cNvCxnSpPr/>
          <p:nvPr/>
        </p:nvCxnSpPr>
        <p:spPr>
          <a:xfrm flipV="1">
            <a:off x="3893058" y="4034610"/>
            <a:ext cx="205740" cy="205740"/>
          </a:xfrm>
          <a:prstGeom prst="straightConnector1">
            <a:avLst/>
          </a:prstGeom>
          <a:ln w="38100">
            <a:solidFill>
              <a:srgbClr val="5C4826"/>
            </a:solidFill>
          </a:ln>
        </p:spPr>
      </p:cxnSp>
      <p:cxnSp>
        <p:nvCxnSpPr>
          <p:cNvPr id="280" name="AX1"/>
          <p:cNvCxnSpPr/>
          <p:nvPr/>
        </p:nvCxnSpPr>
        <p:spPr>
          <a:xfrm>
            <a:off x="6400800" y="4617720"/>
            <a:ext cx="2240280" cy="0"/>
          </a:xfrm>
          <a:prstGeom prst="straightConnector1">
            <a:avLst/>
          </a:prstGeom>
          <a:ln w="9525">
            <a:solidFill>
              <a:srgbClr val="555960"/>
            </a:solidFill>
          </a:ln>
        </p:spPr>
      </p:cxnSp>
      <p:sp>
        <p:nvSpPr>
          <p:cNvPr id="281" name="BA0"/>
          <p:cNvSpPr/>
          <p:nvPr/>
        </p:nvSpPr>
        <p:spPr>
          <a:xfrm>
            <a:off x="6675120" y="4389120"/>
            <a:ext cx="228600" cy="22860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2" name="BA1"/>
          <p:cNvSpPr/>
          <p:nvPr/>
        </p:nvSpPr>
        <p:spPr>
          <a:xfrm>
            <a:off x="7086600" y="4206240"/>
            <a:ext cx="228600" cy="4114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283" name="BA2"/>
          <p:cNvSpPr/>
          <p:nvPr/>
        </p:nvSpPr>
        <p:spPr>
          <a:xfrm>
            <a:off x="7498080" y="3977640"/>
            <a:ext cx="228600" cy="64008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/>
          <a:lstStyle/>
          <a:p>
            <a:endParaRPr lang="en-US"/>
          </a:p>
        </p:txBody>
      </p:sp>
      <p:cxnSp>
        <p:nvCxnSpPr>
          <p:cNvPr id="284" name="BD1"/>
          <p:cNvCxnSpPr/>
          <p:nvPr/>
        </p:nvCxnSpPr>
        <p:spPr>
          <a:xfrm>
            <a:off x="6400800" y="3886200"/>
            <a:ext cx="2240280" cy="0"/>
          </a:xfrm>
          <a:prstGeom prst="straightConnector1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290" name="C0"/>
          <p:cNvSpPr txBox="1"/>
          <p:nvPr/>
        </p:nvSpPr>
        <p:spPr>
          <a:xfrm>
            <a:off x="274320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edge set</a:t>
            </a:r>
          </a:p>
        </p:txBody>
      </p:sp>
      <p:sp>
        <p:nvSpPr>
          <p:cNvPr id="291" name="C1"/>
          <p:cNvSpPr txBox="1"/>
          <p:nvPr/>
        </p:nvSpPr>
        <p:spPr>
          <a:xfrm>
            <a:off x="3227832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forbidden transition</a:t>
            </a:r>
          </a:p>
        </p:txBody>
      </p:sp>
      <p:sp>
        <p:nvSpPr>
          <p:cNvPr id="292" name="C2"/>
          <p:cNvSpPr txBox="1"/>
          <p:nvPr/>
        </p:nvSpPr>
        <p:spPr>
          <a:xfrm>
            <a:off x="6181344" y="489204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>the bound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kept distinctions do the model’s work.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Modeling is purposeful reduction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5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THE PREMISE</a:t>
            </a:r>
          </a:p>
        </p:txBody>
      </p:sp>
      <p:sp>
        <p:nvSpPr>
          <p:cNvPr id="7" name="KickerBox"/>
          <p:cNvSpPr/>
          <p:nvPr/>
        </p:nvSpPr>
        <p:spPr>
          <a:xfrm>
            <a:off x="1371600" y="1554480"/>
            <a:ext cx="6400800" cy="1737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ctr">
              <a:spcAft>
                <a:spcPts val="1600"/>
              </a:spcAft>
              <a:buNone/>
            </a:pPr>
            <a:r>
              <a:rPr lang="en-US" sz="2000" b="0" dirty="0">
                <a:solidFill>
                  <a:srgbClr val="5C4826"/>
                </a:solidFill>
              </a:rPr>
              <a:t>The objective is not another copy of the system.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A model is a representation in which some consequential question becomes cheap to answer.</a:t>
            </a:r>
          </a:p>
        </p:txBody>
      </p:sp>
      <p:sp>
        <p:nvSpPr>
          <p:cNvPr id="300" name="G0"/>
          <p:cNvSpPr/>
          <p:nvPr/>
        </p:nvSpPr>
        <p:spPr>
          <a:xfrm>
            <a:off x="3429000" y="3931554"/>
            <a:ext cx="113385" cy="113385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1" name="G1"/>
          <p:cNvSpPr/>
          <p:nvPr/>
        </p:nvSpPr>
        <p:spPr>
          <a:xfrm>
            <a:off x="3570732" y="4073286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2" name="G2"/>
          <p:cNvSpPr/>
          <p:nvPr/>
        </p:nvSpPr>
        <p:spPr>
          <a:xfrm>
            <a:off x="3514039" y="4243364"/>
            <a:ext cx="99212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3" name="G3"/>
          <p:cNvSpPr/>
          <p:nvPr/>
        </p:nvSpPr>
        <p:spPr>
          <a:xfrm>
            <a:off x="3684117" y="3914546"/>
            <a:ext cx="127558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4" name="G4"/>
          <p:cNvSpPr/>
          <p:nvPr/>
        </p:nvSpPr>
        <p:spPr>
          <a:xfrm>
            <a:off x="3740810" y="4158325"/>
            <a:ext cx="113385" cy="113385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5" name="G5"/>
          <p:cNvSpPr/>
          <p:nvPr/>
        </p:nvSpPr>
        <p:spPr>
          <a:xfrm>
            <a:off x="3854196" y="3931554"/>
            <a:ext cx="85039" cy="127558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6" name="G6"/>
          <p:cNvSpPr/>
          <p:nvPr/>
        </p:nvSpPr>
        <p:spPr>
          <a:xfrm>
            <a:off x="3939235" y="4186671"/>
            <a:ext cx="70866" cy="70866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7" name="G7"/>
          <p:cNvSpPr/>
          <p:nvPr/>
        </p:nvSpPr>
        <p:spPr>
          <a:xfrm>
            <a:off x="3995928" y="4044939"/>
            <a:ext cx="99212" cy="99212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8" name="G8"/>
          <p:cNvSpPr/>
          <p:nvPr/>
        </p:nvSpPr>
        <p:spPr>
          <a:xfrm>
            <a:off x="4080967" y="3914546"/>
            <a:ext cx="85039" cy="85039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09" name="G9"/>
          <p:cNvSpPr/>
          <p:nvPr/>
        </p:nvSpPr>
        <p:spPr>
          <a:xfrm>
            <a:off x="4137660" y="4186671"/>
            <a:ext cx="85039" cy="85039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0" name="G10"/>
          <p:cNvSpPr/>
          <p:nvPr/>
        </p:nvSpPr>
        <p:spPr>
          <a:xfrm>
            <a:off x="4222699" y="4073286"/>
            <a:ext cx="70866" cy="70866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1" name="G11"/>
          <p:cNvSpPr/>
          <p:nvPr/>
        </p:nvSpPr>
        <p:spPr>
          <a:xfrm>
            <a:off x="4307738" y="3959900"/>
            <a:ext cx="56692" cy="56692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312" name="RAr2"/>
          <p:cNvCxnSpPr/>
          <p:nvPr/>
        </p:nvCxnSpPr>
        <p:spPr>
          <a:xfrm>
            <a:off x="4591202" y="4112971"/>
            <a:ext cx="340156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313" name="MdlG"/>
          <p:cNvSpPr/>
          <p:nvPr/>
        </p:nvSpPr>
        <p:spPr>
          <a:xfrm>
            <a:off x="5016398" y="3999585"/>
            <a:ext cx="453542" cy="226771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4" name="KG0"/>
          <p:cNvSpPr/>
          <p:nvPr/>
        </p:nvSpPr>
        <p:spPr>
          <a:xfrm>
            <a:off x="5101437" y="4056277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5" name="KG1"/>
          <p:cNvSpPr/>
          <p:nvPr/>
        </p:nvSpPr>
        <p:spPr>
          <a:xfrm>
            <a:off x="5101437" y="4101631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16" name="KG2"/>
          <p:cNvSpPr/>
          <p:nvPr/>
        </p:nvSpPr>
        <p:spPr>
          <a:xfrm>
            <a:off x="5101437" y="4146985"/>
            <a:ext cx="283464" cy="190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A reduction you can hold in view beats a faithful copy too large to reason through.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rest of the lecture puts this definition to work.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1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QUESTIONS COME FIRST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6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Not which notation — what question am I answering?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One territory, three questions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7</a:t>
            </a:fld>
            <a:endParaRPr lang="en-US"/>
          </a:p>
        </p:txBody>
      </p:sp>
      <p:sp>
        <p:nvSpPr>
          <p:cNvPr id="10" name="TPanel"/>
          <p:cNvSpPr/>
          <p:nvPr/>
        </p:nvSpPr>
        <p:spPr>
          <a:xfrm>
            <a:off x="365760" y="1280160"/>
            <a:ext cx="2377440" cy="340156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TCap"/>
          <p:cNvSpPr/>
          <p:nvPr/>
        </p:nvSpPr>
        <p:spPr>
          <a:xfrm>
            <a:off x="365760" y="1371600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TERRITORY</a:t>
            </a:r>
          </a:p>
        </p:txBody>
      </p:sp>
      <p:sp>
        <p:nvSpPr>
          <p:cNvPr id="12" name="SVC0"/>
          <p:cNvSpPr/>
          <p:nvPr/>
        </p:nvSpPr>
        <p:spPr>
          <a:xfrm>
            <a:off x="54864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SVC1"/>
          <p:cNvSpPr/>
          <p:nvPr/>
        </p:nvSpPr>
        <p:spPr>
          <a:xfrm>
            <a:off x="1737360" y="1828800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SVC2"/>
          <p:cNvSpPr/>
          <p:nvPr/>
        </p:nvSpPr>
        <p:spPr>
          <a:xfrm>
            <a:off x="1143000" y="2404872"/>
            <a:ext cx="594360" cy="2743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0" name="QU0a"/>
          <p:cNvSpPr/>
          <p:nvPr/>
        </p:nvSpPr>
        <p:spPr>
          <a:xfrm>
            <a:off x="54864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1" name="QU0b"/>
          <p:cNvSpPr/>
          <p:nvPr/>
        </p:nvSpPr>
        <p:spPr>
          <a:xfrm>
            <a:off x="71628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2" name="QU0c"/>
          <p:cNvSpPr/>
          <p:nvPr/>
        </p:nvSpPr>
        <p:spPr>
          <a:xfrm>
            <a:off x="883920" y="2458212"/>
            <a:ext cx="121920" cy="1219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cxnSp>
        <p:nvCxnSpPr>
          <p:cNvPr id="203" name="LQ"/>
          <p:cNvCxnSpPr/>
          <p:nvPr/>
        </p:nvCxnSpPr>
        <p:spPr>
          <a:xfrm>
            <a:off x="1005840" y="2519172"/>
            <a:ext cx="1371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16" name="DB0"/>
          <p:cNvSpPr/>
          <p:nvPr/>
        </p:nvSpPr>
        <p:spPr>
          <a:xfrm>
            <a:off x="1188720" y="2971800"/>
            <a:ext cx="457200" cy="457200"/>
          </a:xfrm>
          <a:prstGeom prst="can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7" name="U0"/>
          <p:cNvSpPr/>
          <p:nvPr/>
        </p:nvSpPr>
        <p:spPr>
          <a:xfrm>
            <a:off x="2103120" y="297180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8" name="U1"/>
          <p:cNvSpPr/>
          <p:nvPr/>
        </p:nvSpPr>
        <p:spPr>
          <a:xfrm>
            <a:off x="2331720" y="3154680"/>
            <a:ext cx="274320" cy="274320"/>
          </a:xfrm>
          <a:prstGeom prst="ellipse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9" name="L0"/>
          <p:cNvCxnSpPr/>
          <p:nvPr/>
        </p:nvCxnSpPr>
        <p:spPr>
          <a:xfrm>
            <a:off x="84582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0" name="L1"/>
          <p:cNvCxnSpPr/>
          <p:nvPr/>
        </p:nvCxnSpPr>
        <p:spPr>
          <a:xfrm flipH="1">
            <a:off x="1440180" y="2103120"/>
            <a:ext cx="594360" cy="301752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1" name="L2"/>
          <p:cNvCxnSpPr/>
          <p:nvPr/>
        </p:nvCxnSpPr>
        <p:spPr>
          <a:xfrm flipH="1">
            <a:off x="1417320" y="2679192"/>
            <a:ext cx="22860" cy="292608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22" name="L3"/>
          <p:cNvCxnSpPr/>
          <p:nvPr/>
        </p:nvCxnSpPr>
        <p:spPr>
          <a:xfrm flipH="1">
            <a:off x="1645920" y="3108960"/>
            <a:ext cx="457200" cy="9144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23" name="BCap"/>
          <p:cNvSpPr/>
          <p:nvPr/>
        </p:nvSpPr>
        <p:spPr>
          <a:xfrm>
            <a:off x="457200" y="4297680"/>
            <a:ext cx="21945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300" b="0" i="1" dirty="0">
                <a:solidFill>
                  <a:srgbClr val="555960"/>
                </a:solidFill>
              </a:rPr>
              <a:t>services · queues · data · users</a:t>
            </a:r>
          </a:p>
        </p:txBody>
      </p:sp>
      <p:sp>
        <p:nvSpPr>
          <p:cNvPr id="30" name="QCard0"/>
          <p:cNvSpPr/>
          <p:nvPr/>
        </p:nvSpPr>
        <p:spPr>
          <a:xfrm>
            <a:off x="3063240" y="1280160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Which components may depend on this service?</a:t>
            </a:r>
          </a:p>
        </p:txBody>
      </p:sp>
      <p:cxnSp>
        <p:nvCxnSpPr>
          <p:cNvPr id="40" name="RA0"/>
          <p:cNvCxnSpPr/>
          <p:nvPr/>
        </p:nvCxnSpPr>
        <p:spPr>
          <a:xfrm>
            <a:off x="6355080" y="1783080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0" name="Thumb0"/>
          <p:cNvSpPr/>
          <p:nvPr/>
        </p:nvSpPr>
        <p:spPr>
          <a:xfrm>
            <a:off x="6720840" y="1280160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QCard1"/>
          <p:cNvSpPr/>
          <p:nvPr/>
        </p:nvSpPr>
        <p:spPr>
          <a:xfrm>
            <a:off x="3063240" y="2478024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Can this workflow reach an illegal state?</a:t>
            </a:r>
          </a:p>
        </p:txBody>
      </p:sp>
      <p:cxnSp>
        <p:nvCxnSpPr>
          <p:cNvPr id="41" name="RA1"/>
          <p:cNvCxnSpPr/>
          <p:nvPr/>
        </p:nvCxnSpPr>
        <p:spPr>
          <a:xfrm>
            <a:off x="6355080" y="2980944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1" name="Thumb1"/>
          <p:cNvSpPr/>
          <p:nvPr/>
        </p:nvSpPr>
        <p:spPr>
          <a:xfrm>
            <a:off x="6720840" y="2478024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QCard2"/>
          <p:cNvSpPr/>
          <p:nvPr/>
        </p:nvSpPr>
        <p:spPr>
          <a:xfrm>
            <a:off x="3063240" y="3675888"/>
            <a:ext cx="32004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What limits capacity?</a:t>
            </a:r>
          </a:p>
        </p:txBody>
      </p:sp>
      <p:cxnSp>
        <p:nvCxnSpPr>
          <p:cNvPr id="42" name="RA2"/>
          <p:cNvCxnSpPr/>
          <p:nvPr/>
        </p:nvCxnSpPr>
        <p:spPr>
          <a:xfrm>
            <a:off x="6355080" y="417880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52" name="Thumb2"/>
          <p:cNvSpPr/>
          <p:nvPr/>
        </p:nvSpPr>
        <p:spPr>
          <a:xfrm>
            <a:off x="6720840" y="3675888"/>
            <a:ext cx="2148840" cy="100584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D0"/>
          <p:cNvSpPr/>
          <p:nvPr/>
        </p:nvSpPr>
        <p:spPr>
          <a:xfrm>
            <a:off x="690372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4" name="D1"/>
          <p:cNvSpPr/>
          <p:nvPr/>
        </p:nvSpPr>
        <p:spPr>
          <a:xfrm>
            <a:off x="7680960" y="14160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5" name="D2"/>
          <p:cNvSpPr/>
          <p:nvPr/>
        </p:nvSpPr>
        <p:spPr>
          <a:xfrm>
            <a:off x="7292340" y="1755648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6" name="DA0"/>
          <p:cNvCxnSpPr/>
          <p:nvPr/>
        </p:nvCxnSpPr>
        <p:spPr>
          <a:xfrm>
            <a:off x="708666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7" name="DA1"/>
          <p:cNvCxnSpPr/>
          <p:nvPr/>
        </p:nvCxnSpPr>
        <p:spPr>
          <a:xfrm flipH="1">
            <a:off x="7566720" y="1598928"/>
            <a:ext cx="297120" cy="1567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8" name="TC0"/>
          <p:cNvSpPr/>
          <p:nvPr/>
        </p:nvSpPr>
        <p:spPr>
          <a:xfrm>
            <a:off x="6720840" y="2011680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dependency graph</a:t>
            </a:r>
          </a:p>
        </p:txBody>
      </p:sp>
      <p:sp>
        <p:nvSpPr>
          <p:cNvPr id="60" name="SC0"/>
          <p:cNvSpPr/>
          <p:nvPr/>
        </p:nvSpPr>
        <p:spPr>
          <a:xfrm>
            <a:off x="694944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61" name="SC1"/>
          <p:cNvSpPr/>
          <p:nvPr/>
        </p:nvSpPr>
        <p:spPr>
          <a:xfrm>
            <a:off x="7657080" y="260604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62" name="SA0"/>
          <p:cNvCxnSpPr/>
          <p:nvPr/>
        </p:nvCxnSpPr>
        <p:spPr>
          <a:xfrm>
            <a:off x="7223760" y="274320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3" name="SA1"/>
          <p:cNvCxnSpPr/>
          <p:nvPr/>
        </p:nvCxnSpPr>
        <p:spPr>
          <a:xfrm flipH="1">
            <a:off x="7223760" y="2941320"/>
            <a:ext cx="43332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64" name="SX0"/>
          <p:cNvCxnSpPr/>
          <p:nvPr/>
        </p:nvCxnSpPr>
        <p:spPr>
          <a:xfrm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65" name="SX1"/>
          <p:cNvCxnSpPr/>
          <p:nvPr/>
        </p:nvCxnSpPr>
        <p:spPr>
          <a:xfrm flipV="1">
            <a:off x="7368900" y="2869800"/>
            <a:ext cx="143040" cy="14304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66" name="TC1"/>
          <p:cNvSpPr/>
          <p:nvPr/>
        </p:nvSpPr>
        <p:spPr>
          <a:xfrm>
            <a:off x="6720840" y="3209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state machine</a:t>
            </a:r>
          </a:p>
        </p:txBody>
      </p:sp>
      <p:sp>
        <p:nvSpPr>
          <p:cNvPr id="70" name="BR0"/>
          <p:cNvSpPr/>
          <p:nvPr/>
        </p:nvSpPr>
        <p:spPr>
          <a:xfrm>
            <a:off x="6995160" y="426339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1" name="BR1"/>
          <p:cNvSpPr/>
          <p:nvPr/>
        </p:nvSpPr>
        <p:spPr>
          <a:xfrm>
            <a:off x="7223760" y="417195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72" name="BR2"/>
          <p:cNvSpPr/>
          <p:nvPr/>
        </p:nvSpPr>
        <p:spPr>
          <a:xfrm>
            <a:off x="7452360" y="408051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73" name="BL0"/>
          <p:cNvCxnSpPr/>
          <p:nvPr/>
        </p:nvCxnSpPr>
        <p:spPr>
          <a:xfrm>
            <a:off x="6903720" y="43944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74" name="TL0"/>
          <p:cNvCxnSpPr/>
          <p:nvPr/>
        </p:nvCxnSpPr>
        <p:spPr>
          <a:xfrm>
            <a:off x="6903720" y="40462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75" name="TC2"/>
          <p:cNvSpPr/>
          <p:nvPr/>
        </p:nvSpPr>
        <p:spPr>
          <a:xfrm>
            <a:off x="6720840" y="4445544"/>
            <a:ext cx="21488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quantitative model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questions. Three reductions.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 model is simply “the system”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8</a:t>
            </a:fld>
            <a:endParaRPr lang="en-US"/>
          </a:p>
        </p:txBody>
      </p:sp>
      <p:sp>
        <p:nvSpPr>
          <p:cNvPr id="10" name="FPanel"/>
          <p:cNvSpPr/>
          <p:nvPr/>
        </p:nvSpPr>
        <p:spPr>
          <a:xfrm>
            <a:off x="3086100" y="1097280"/>
            <a:ext cx="2971800" cy="118872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FG0"/>
          <p:cNvSpPr/>
          <p:nvPr/>
        </p:nvSpPr>
        <p:spPr>
          <a:xfrm>
            <a:off x="338328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FG1"/>
          <p:cNvSpPr/>
          <p:nvPr/>
        </p:nvSpPr>
        <p:spPr>
          <a:xfrm>
            <a:off x="411480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FG2"/>
          <p:cNvSpPr/>
          <p:nvPr/>
        </p:nvSpPr>
        <p:spPr>
          <a:xfrm>
            <a:off x="4846320" y="1280160"/>
            <a:ext cx="45720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4" name="FG3"/>
          <p:cNvSpPr/>
          <p:nvPr/>
        </p:nvSpPr>
        <p:spPr>
          <a:xfrm>
            <a:off x="3749040" y="1737360"/>
            <a:ext cx="365760" cy="365760"/>
          </a:xfrm>
          <a:prstGeom prst="can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5" name="FG4"/>
          <p:cNvSpPr/>
          <p:nvPr/>
        </p:nvSpPr>
        <p:spPr>
          <a:xfrm>
            <a:off x="4846320" y="1737360"/>
            <a:ext cx="274320" cy="27432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16" name="FL0"/>
          <p:cNvCxnSpPr/>
          <p:nvPr/>
        </p:nvCxnSpPr>
        <p:spPr>
          <a:xfrm>
            <a:off x="3611880" y="1508760"/>
            <a:ext cx="3200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7" name="FL1"/>
          <p:cNvCxnSpPr/>
          <p:nvPr/>
        </p:nvCxnSpPr>
        <p:spPr>
          <a:xfrm flipH="1">
            <a:off x="3931920" y="1508760"/>
            <a:ext cx="41148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18" name="FL2"/>
          <p:cNvCxnSpPr/>
          <p:nvPr/>
        </p:nvCxnSpPr>
        <p:spPr>
          <a:xfrm flipH="1">
            <a:off x="4983480" y="1508760"/>
            <a:ext cx="91440" cy="22860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21" name="FA0"/>
          <p:cNvCxnSpPr/>
          <p:nvPr/>
        </p:nvCxnSpPr>
        <p:spPr>
          <a:xfrm flipH="1">
            <a:off x="1613916" y="2286000"/>
            <a:ext cx="2157984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FA1"/>
          <p:cNvCxnSpPr/>
          <p:nvPr/>
        </p:nvCxnSpPr>
        <p:spPr>
          <a:xfrm>
            <a:off x="4567428" y="2286000"/>
            <a:ext cx="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3" name="FA2"/>
          <p:cNvCxnSpPr/>
          <p:nvPr/>
        </p:nvCxnSpPr>
        <p:spPr>
          <a:xfrm>
            <a:off x="5372100" y="2286000"/>
            <a:ext cx="2148840" cy="6400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MCard0"/>
          <p:cNvSpPr/>
          <p:nvPr/>
        </p:nvSpPr>
        <p:spPr>
          <a:xfrm>
            <a:off x="274320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ML0"/>
          <p:cNvSpPr/>
          <p:nvPr/>
        </p:nvSpPr>
        <p:spPr>
          <a:xfrm>
            <a:off x="274320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DEPENDENCY GRAPH</a:t>
            </a:r>
          </a:p>
        </p:txBody>
      </p:sp>
      <p:sp>
        <p:nvSpPr>
          <p:cNvPr id="52" name="MK0"/>
          <p:cNvSpPr/>
          <p:nvPr/>
        </p:nvSpPr>
        <p:spPr>
          <a:xfrm>
            <a:off x="274320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edge set</a:t>
            </a:r>
          </a:p>
        </p:txBody>
      </p:sp>
      <p:sp>
        <p:nvSpPr>
          <p:cNvPr id="31" name="MCard1"/>
          <p:cNvSpPr/>
          <p:nvPr/>
        </p:nvSpPr>
        <p:spPr>
          <a:xfrm>
            <a:off x="3227832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ML1"/>
          <p:cNvSpPr/>
          <p:nvPr/>
        </p:nvSpPr>
        <p:spPr>
          <a:xfrm>
            <a:off x="3227832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STATE MACHINE</a:t>
            </a:r>
          </a:p>
        </p:txBody>
      </p:sp>
      <p:sp>
        <p:nvSpPr>
          <p:cNvPr id="53" name="MK1"/>
          <p:cNvSpPr/>
          <p:nvPr/>
        </p:nvSpPr>
        <p:spPr>
          <a:xfrm>
            <a:off x="3227832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transitions</a:t>
            </a:r>
          </a:p>
        </p:txBody>
      </p:sp>
      <p:sp>
        <p:nvSpPr>
          <p:cNvPr id="32" name="MCard2"/>
          <p:cNvSpPr/>
          <p:nvPr/>
        </p:nvSpPr>
        <p:spPr>
          <a:xfrm>
            <a:off x="6181344" y="2926080"/>
            <a:ext cx="2679192" cy="1508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5" name="ML2"/>
          <p:cNvSpPr/>
          <p:nvPr/>
        </p:nvSpPr>
        <p:spPr>
          <a:xfrm>
            <a:off x="6181344" y="3017520"/>
            <a:ext cx="26791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QUANTITATIVE MODEL</a:t>
            </a:r>
          </a:p>
        </p:txBody>
      </p:sp>
      <p:sp>
        <p:nvSpPr>
          <p:cNvPr id="54" name="MK2"/>
          <p:cNvSpPr/>
          <p:nvPr/>
        </p:nvSpPr>
        <p:spPr>
          <a:xfrm>
            <a:off x="6181344" y="4023360"/>
            <a:ext cx="26791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keeps the bounds</a:t>
            </a:r>
          </a:p>
        </p:txBody>
      </p:sp>
      <p:sp>
        <p:nvSpPr>
          <p:cNvPr id="36" name="DP0"/>
          <p:cNvSpPr/>
          <p:nvPr/>
        </p:nvSpPr>
        <p:spPr>
          <a:xfrm>
            <a:off x="100584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7" name="DP1"/>
          <p:cNvSpPr/>
          <p:nvPr/>
        </p:nvSpPr>
        <p:spPr>
          <a:xfrm>
            <a:off x="1874520" y="338328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8" name="DP2"/>
          <p:cNvSpPr/>
          <p:nvPr/>
        </p:nvSpPr>
        <p:spPr>
          <a:xfrm>
            <a:off x="1440180" y="3703320"/>
            <a:ext cx="36576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9" name="DPA0"/>
          <p:cNvCxnSpPr/>
          <p:nvPr/>
        </p:nvCxnSpPr>
        <p:spPr>
          <a:xfrm>
            <a:off x="118872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40" name="DPA1"/>
          <p:cNvCxnSpPr/>
          <p:nvPr/>
        </p:nvCxnSpPr>
        <p:spPr>
          <a:xfrm flipH="1">
            <a:off x="1714500" y="3566160"/>
            <a:ext cx="342900" cy="13716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41" name="SM0"/>
          <p:cNvSpPr/>
          <p:nvPr/>
        </p:nvSpPr>
        <p:spPr>
          <a:xfrm>
            <a:off x="384048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2" name="SM1"/>
          <p:cNvSpPr/>
          <p:nvPr/>
        </p:nvSpPr>
        <p:spPr>
          <a:xfrm>
            <a:off x="4937760" y="3474720"/>
            <a:ext cx="274320" cy="27432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3" name="SMA0"/>
          <p:cNvCxnSpPr/>
          <p:nvPr/>
        </p:nvCxnSpPr>
        <p:spPr>
          <a:xfrm>
            <a:off x="4114800" y="361188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4" name="SMA1"/>
          <p:cNvCxnSpPr/>
          <p:nvPr/>
        </p:nvCxnSpPr>
        <p:spPr>
          <a:xfrm flipH="1">
            <a:off x="4114800" y="377190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5" name="SMX0"/>
          <p:cNvCxnSpPr/>
          <p:nvPr/>
        </p:nvCxnSpPr>
        <p:spPr>
          <a:xfrm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cxnSp>
        <p:nvCxnSpPr>
          <p:cNvPr id="46" name="SMX1"/>
          <p:cNvCxnSpPr/>
          <p:nvPr/>
        </p:nvCxnSpPr>
        <p:spPr>
          <a:xfrm flipV="1">
            <a:off x="4457700" y="3703320"/>
            <a:ext cx="137160" cy="137160"/>
          </a:xfrm>
          <a:prstGeom prst="straightConnector1">
            <a:avLst/>
          </a:prstGeom>
          <a:ln w="12700">
            <a:solidFill>
              <a:srgbClr val="8E6F3E"/>
            </a:solidFill>
          </a:ln>
        </p:spPr>
      </p:cxnSp>
      <p:sp>
        <p:nvSpPr>
          <p:cNvPr id="47" name="QB0"/>
          <p:cNvSpPr/>
          <p:nvPr/>
        </p:nvSpPr>
        <p:spPr>
          <a:xfrm>
            <a:off x="7155180" y="3794760"/>
            <a:ext cx="18288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QB1"/>
          <p:cNvSpPr/>
          <p:nvPr/>
        </p:nvSpPr>
        <p:spPr>
          <a:xfrm>
            <a:off x="7383780" y="3703320"/>
            <a:ext cx="18288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9" name="QB2"/>
          <p:cNvSpPr/>
          <p:nvPr/>
        </p:nvSpPr>
        <p:spPr>
          <a:xfrm>
            <a:off x="7612380" y="3611880"/>
            <a:ext cx="18288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0" name="QBL"/>
          <p:cNvCxnSpPr/>
          <p:nvPr/>
        </p:nvCxnSpPr>
        <p:spPr>
          <a:xfrm>
            <a:off x="7063740" y="3931920"/>
            <a:ext cx="82296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1" name="QTL"/>
          <p:cNvCxnSpPr/>
          <p:nvPr/>
        </p:nvCxnSpPr>
        <p:spPr>
          <a:xfrm>
            <a:off x="7063740" y="3589020"/>
            <a:ext cx="82296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6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Hold the system constant — change the question — watch the model change.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Completeness is not model quality.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Four questions for every model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9</a:t>
            </a:fld>
            <a:endParaRPr lang="en-US"/>
          </a:p>
        </p:txBody>
      </p:sp>
      <p:sp>
        <p:nvSpPr>
          <p:cNvPr id="10" name="N0"/>
          <p:cNvSpPr/>
          <p:nvPr/>
        </p:nvSpPr>
        <p:spPr>
          <a:xfrm>
            <a:off x="29718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ENGINEERING QUESTION</a:t>
            </a:r>
          </a:p>
        </p:txBody>
      </p:sp>
      <p:sp>
        <p:nvSpPr>
          <p:cNvPr id="30" name="Q0"/>
          <p:cNvSpPr/>
          <p:nvPr/>
        </p:nvSpPr>
        <p:spPr>
          <a:xfrm>
            <a:off x="25146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do we need to know?</a:t>
            </a:r>
          </a:p>
        </p:txBody>
      </p:sp>
      <p:sp>
        <p:nvSpPr>
          <p:cNvPr id="11" name="N1"/>
          <p:cNvSpPr/>
          <p:nvPr/>
        </p:nvSpPr>
        <p:spPr>
          <a:xfrm>
            <a:off x="249174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MODEL</a:t>
            </a:r>
          </a:p>
        </p:txBody>
      </p:sp>
      <p:sp>
        <p:nvSpPr>
          <p:cNvPr id="31" name="Q1"/>
          <p:cNvSpPr/>
          <p:nvPr/>
        </p:nvSpPr>
        <p:spPr>
          <a:xfrm>
            <a:off x="244602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reduction makes it tractable?</a:t>
            </a:r>
          </a:p>
        </p:txBody>
      </p:sp>
      <p:sp>
        <p:nvSpPr>
          <p:cNvPr id="12" name="N2"/>
          <p:cNvSpPr/>
          <p:nvPr/>
        </p:nvSpPr>
        <p:spPr>
          <a:xfrm>
            <a:off x="468630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PROPERTY</a:t>
            </a:r>
          </a:p>
        </p:txBody>
      </p:sp>
      <p:sp>
        <p:nvSpPr>
          <p:cNvPr id="32" name="Q2"/>
          <p:cNvSpPr/>
          <p:nvPr/>
        </p:nvSpPr>
        <p:spPr>
          <a:xfrm>
            <a:off x="464058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What claim becomes expressible?</a:t>
            </a:r>
          </a:p>
        </p:txBody>
      </p:sp>
      <p:sp>
        <p:nvSpPr>
          <p:cNvPr id="13" name="N3"/>
          <p:cNvSpPr/>
          <p:nvPr/>
        </p:nvSpPr>
        <p:spPr>
          <a:xfrm>
            <a:off x="6880860" y="1554480"/>
            <a:ext cx="1965960" cy="9144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33" name="Q3"/>
          <p:cNvSpPr/>
          <p:nvPr/>
        </p:nvSpPr>
        <p:spPr>
          <a:xfrm>
            <a:off x="6835140" y="2606040"/>
            <a:ext cx="205740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Is the reduction adequate, and its interpretation likely?</a:t>
            </a:r>
          </a:p>
        </p:txBody>
      </p:sp>
      <p:cxnSp>
        <p:nvCxnSpPr>
          <p:cNvPr id="20" name="A0"/>
          <p:cNvCxnSpPr/>
          <p:nvPr/>
        </p:nvCxnSpPr>
        <p:spPr>
          <a:xfrm>
            <a:off x="226314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1" name="A1"/>
          <p:cNvCxnSpPr/>
          <p:nvPr/>
        </p:nvCxnSpPr>
        <p:spPr>
          <a:xfrm>
            <a:off x="445770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22" name="A2"/>
          <p:cNvCxnSpPr/>
          <p:nvPr/>
        </p:nvCxnSpPr>
        <p:spPr>
          <a:xfrm>
            <a:off x="6652260" y="2011680"/>
            <a:ext cx="2286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40" name="Ital"/>
          <p:cNvSpPr/>
          <p:nvPr/>
        </p:nvSpPr>
        <p:spPr>
          <a:xfrm>
            <a:off x="274320" y="42976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They return at every section break in this unit.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all four, every time.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Engineers have seen these questions before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10</a:t>
            </a:fld>
            <a:endParaRPr lang="en-US"/>
          </a:p>
        </p:txBody>
      </p:sp>
      <p:sp>
        <p:nvSpPr>
          <p:cNvPr id="10" name="Kicker"/>
          <p:cNvSpPr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REPERTOIRE</a:t>
            </a:r>
          </a:p>
        </p:txBody>
      </p:sp>
      <p:sp>
        <p:nvSpPr>
          <p:cNvPr id="11" name="Body"/>
          <p:cNvSpPr/>
          <p:nvPr/>
        </p:nvSpPr>
        <p:spPr>
          <a:xfrm>
            <a:off x="365760" y="1737360"/>
            <a:ext cx="4708440" cy="25603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Recurring questions have accumulated model forms.</a:t>
            </a:r>
          </a:p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reduction you need has usually been designed already.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Your job is to recognize which one.</a:t>
            </a:r>
          </a:p>
        </p:txBody>
      </p:sp>
      <p:sp>
        <p:nvSpPr>
          <p:cNvPr id="20" name="PC3"/>
          <p:cNvSpPr/>
          <p:nvPr/>
        </p:nvSpPr>
        <p:spPr>
          <a:xfrm>
            <a:off x="5440680" y="150876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21" name="PC2"/>
          <p:cNvSpPr/>
          <p:nvPr/>
        </p:nvSpPr>
        <p:spPr>
          <a:xfrm>
            <a:off x="5669280" y="187452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</a:t>
            </a:r>
          </a:p>
        </p:txBody>
      </p:sp>
      <p:sp>
        <p:nvSpPr>
          <p:cNvPr id="22" name="PC1"/>
          <p:cNvSpPr/>
          <p:nvPr/>
        </p:nvSpPr>
        <p:spPr>
          <a:xfrm>
            <a:off x="5897880" y="224028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23" name="PC0"/>
          <p:cNvSpPr/>
          <p:nvPr/>
        </p:nvSpPr>
        <p:spPr>
          <a:xfrm>
            <a:off x="6126480" y="2606040"/>
            <a:ext cx="2743200" cy="10058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68580" rIns="27432" bIns="22860" anchor="t"/>
          <a:lstStyle/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24" name="PG0"/>
          <p:cNvSpPr/>
          <p:nvPr/>
        </p:nvSpPr>
        <p:spPr>
          <a:xfrm>
            <a:off x="68122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PG1"/>
          <p:cNvSpPr/>
          <p:nvPr/>
        </p:nvSpPr>
        <p:spPr>
          <a:xfrm>
            <a:off x="7498080" y="315468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26" name="PGA0"/>
          <p:cNvCxnSpPr/>
          <p:nvPr/>
        </p:nvCxnSpPr>
        <p:spPr>
          <a:xfrm>
            <a:off x="7040880" y="326898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forms already exist.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Select before you invent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11</a:t>
            </a:fld>
            <a:endParaRPr lang="en-US"/>
          </a:p>
        </p:txBody>
      </p:sp>
      <p:sp>
        <p:nvSpPr>
          <p:cNvPr id="10" name="GC0"/>
          <p:cNvSpPr/>
          <p:nvPr/>
        </p:nvSpPr>
        <p:spPr>
          <a:xfrm>
            <a:off x="27432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0" name="GN0"/>
          <p:cNvSpPr/>
          <p:nvPr/>
        </p:nvSpPr>
        <p:spPr>
          <a:xfrm>
            <a:off x="32004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Dependency graph</a:t>
            </a:r>
          </a:p>
        </p:txBody>
      </p:sp>
      <p:sp>
        <p:nvSpPr>
          <p:cNvPr id="60" name="GA0"/>
          <p:cNvSpPr/>
          <p:nvPr/>
        </p:nvSpPr>
        <p:spPr>
          <a:xfrm>
            <a:off x="36576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may depend on this?”</a:t>
            </a:r>
          </a:p>
        </p:txBody>
      </p:sp>
      <p:sp>
        <p:nvSpPr>
          <p:cNvPr id="11" name="GC1"/>
          <p:cNvSpPr/>
          <p:nvPr/>
        </p:nvSpPr>
        <p:spPr>
          <a:xfrm>
            <a:off x="320040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1" name="GN1"/>
          <p:cNvSpPr/>
          <p:nvPr/>
        </p:nvSpPr>
        <p:spPr>
          <a:xfrm>
            <a:off x="324612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1" name="GA1"/>
          <p:cNvSpPr/>
          <p:nvPr/>
        </p:nvSpPr>
        <p:spPr>
          <a:xfrm>
            <a:off x="329184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“Can we reach a bad state?”</a:t>
            </a:r>
          </a:p>
        </p:txBody>
      </p:sp>
      <p:sp>
        <p:nvSpPr>
          <p:cNvPr id="12" name="GC2"/>
          <p:cNvSpPr/>
          <p:nvPr/>
        </p:nvSpPr>
        <p:spPr>
          <a:xfrm>
            <a:off x="6126480" y="109728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2" name="GN2"/>
          <p:cNvSpPr/>
          <p:nvPr/>
        </p:nvSpPr>
        <p:spPr>
          <a:xfrm>
            <a:off x="6172200" y="116586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Data flow</a:t>
            </a:r>
          </a:p>
        </p:txBody>
      </p:sp>
      <p:sp>
        <p:nvSpPr>
          <p:cNvPr id="62" name="GA2"/>
          <p:cNvSpPr/>
          <p:nvPr/>
        </p:nvSpPr>
        <p:spPr>
          <a:xfrm>
            <a:off x="6217920" y="224028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“Where does this data travel?”</a:t>
            </a:r>
          </a:p>
        </p:txBody>
      </p:sp>
      <p:sp>
        <p:nvSpPr>
          <p:cNvPr id="13" name="GC3"/>
          <p:cNvSpPr/>
          <p:nvPr/>
        </p:nvSpPr>
        <p:spPr>
          <a:xfrm>
            <a:off x="27432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3" name="GN3"/>
          <p:cNvSpPr/>
          <p:nvPr/>
        </p:nvSpPr>
        <p:spPr>
          <a:xfrm>
            <a:off x="32004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Schema / entity</a:t>
            </a:r>
          </a:p>
        </p:txBody>
      </p:sp>
      <p:sp>
        <p:nvSpPr>
          <p:cNvPr id="63" name="GA3"/>
          <p:cNvSpPr/>
          <p:nvPr/>
        </p:nvSpPr>
        <p:spPr>
          <a:xfrm>
            <a:off x="365760" y="402336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exists, and how is it related?”</a:t>
            </a:r>
          </a:p>
        </p:txBody>
      </p:sp>
      <p:sp>
        <p:nvSpPr>
          <p:cNvPr id="14" name="GC4"/>
          <p:cNvSpPr/>
          <p:nvPr/>
        </p:nvSpPr>
        <p:spPr>
          <a:xfrm>
            <a:off x="320040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4" name="GN4"/>
          <p:cNvSpPr/>
          <p:nvPr/>
        </p:nvSpPr>
        <p:spPr>
          <a:xfrm>
            <a:off x="324612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Quantitative model</a:t>
            </a:r>
          </a:p>
        </p:txBody>
      </p:sp>
      <p:sp>
        <p:nvSpPr>
          <p:cNvPr id="64" name="GA4"/>
          <p:cNvSpPr/>
          <p:nvPr/>
        </p:nvSpPr>
        <p:spPr>
          <a:xfrm>
            <a:off x="329184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limits capacity or cost?”</a:t>
            </a:r>
          </a:p>
        </p:txBody>
      </p:sp>
      <p:sp>
        <p:nvSpPr>
          <p:cNvPr id="15" name="GC5"/>
          <p:cNvSpPr/>
          <p:nvPr/>
        </p:nvSpPr>
        <p:spPr>
          <a:xfrm>
            <a:off x="6126480" y="2971800"/>
            <a:ext cx="2743200" cy="1691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25" name="GN5"/>
          <p:cNvSpPr/>
          <p:nvPr/>
        </p:nvSpPr>
        <p:spPr>
          <a:xfrm>
            <a:off x="6172200" y="3040380"/>
            <a:ext cx="26517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Decision / policy</a:t>
            </a:r>
          </a:p>
        </p:txBody>
      </p:sp>
      <p:sp>
        <p:nvSpPr>
          <p:cNvPr id="65" name="GA5"/>
          <p:cNvSpPr/>
          <p:nvPr/>
        </p:nvSpPr>
        <p:spPr>
          <a:xfrm>
            <a:off x="6217920" y="4114800"/>
            <a:ext cx="25603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“What does the rule permit?”</a:t>
            </a:r>
          </a:p>
        </p:txBody>
      </p:sp>
      <p:sp>
        <p:nvSpPr>
          <p:cNvPr id="30" name="GD0"/>
          <p:cNvSpPr/>
          <p:nvPr/>
        </p:nvSpPr>
        <p:spPr>
          <a:xfrm>
            <a:off x="12573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GD1"/>
          <p:cNvSpPr/>
          <p:nvPr/>
        </p:nvSpPr>
        <p:spPr>
          <a:xfrm>
            <a:off x="1714500" y="153162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GD2"/>
          <p:cNvSpPr/>
          <p:nvPr/>
        </p:nvSpPr>
        <p:spPr>
          <a:xfrm>
            <a:off x="1485900" y="1851660"/>
            <a:ext cx="320040" cy="16002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3" name="GDA0"/>
          <p:cNvCxnSpPr/>
          <p:nvPr/>
        </p:nvCxnSpPr>
        <p:spPr>
          <a:xfrm>
            <a:off x="14173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34" name="GDA1"/>
          <p:cNvCxnSpPr/>
          <p:nvPr/>
        </p:nvCxnSpPr>
        <p:spPr>
          <a:xfrm flipH="1">
            <a:off x="1645920" y="1691640"/>
            <a:ext cx="228600" cy="16002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35" name="GS0"/>
          <p:cNvSpPr/>
          <p:nvPr/>
        </p:nvSpPr>
        <p:spPr>
          <a:xfrm>
            <a:off x="41148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6" name="GS1"/>
          <p:cNvSpPr/>
          <p:nvPr/>
        </p:nvSpPr>
        <p:spPr>
          <a:xfrm>
            <a:off x="480060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37" name="GSA0"/>
          <p:cNvCxnSpPr/>
          <p:nvPr/>
        </p:nvCxnSpPr>
        <p:spPr>
          <a:xfrm>
            <a:off x="4343400" y="17145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38" name="GF0"/>
          <p:cNvSpPr/>
          <p:nvPr/>
        </p:nvSpPr>
        <p:spPr>
          <a:xfrm>
            <a:off x="644652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9" name="GF1"/>
          <p:cNvSpPr/>
          <p:nvPr/>
        </p:nvSpPr>
        <p:spPr>
          <a:xfrm>
            <a:off x="7360920" y="160020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GF2"/>
          <p:cNvSpPr/>
          <p:nvPr/>
        </p:nvSpPr>
        <p:spPr>
          <a:xfrm>
            <a:off x="8229600" y="1622760"/>
            <a:ext cx="320040" cy="1828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1" name="GFA0"/>
          <p:cNvCxnSpPr/>
          <p:nvPr/>
        </p:nvCxnSpPr>
        <p:spPr>
          <a:xfrm>
            <a:off x="6766560" y="1714500"/>
            <a:ext cx="59436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cxnSp>
        <p:nvCxnSpPr>
          <p:cNvPr id="42" name="GFA1"/>
          <p:cNvCxnSpPr/>
          <p:nvPr/>
        </p:nvCxnSpPr>
        <p:spPr>
          <a:xfrm>
            <a:off x="7589520" y="1714500"/>
            <a:ext cx="640080" cy="0"/>
          </a:xfrm>
          <a:prstGeom prst="straightConnector1">
            <a:avLst/>
          </a:prstGeom>
          <a:ln w="12700">
            <a:solidFill>
              <a:srgbClr val="555960"/>
            </a:solidFill>
            <a:tailEnd type="triangle" w="med" len="med"/>
          </a:ln>
        </p:spPr>
      </p:cxnSp>
      <p:sp>
        <p:nvSpPr>
          <p:cNvPr id="43" name="GE0"/>
          <p:cNvSpPr/>
          <p:nvPr/>
        </p:nvSpPr>
        <p:spPr>
          <a:xfrm>
            <a:off x="82296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GE1"/>
          <p:cNvSpPr/>
          <p:nvPr/>
        </p:nvSpPr>
        <p:spPr>
          <a:xfrm>
            <a:off x="1874520" y="3474720"/>
            <a:ext cx="594360" cy="320040"/>
          </a:xfrm>
          <a:prstGeom prst="rect">
            <a:avLst/>
          </a:prstGeom>
          <a:solidFill>
            <a:srgbClr val="FBF8F2"/>
          </a:solidFill>
          <a:ln w="12700">
            <a:solidFill>
              <a:srgbClr val="555960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GEL0"/>
          <p:cNvCxnSpPr/>
          <p:nvPr/>
        </p:nvCxnSpPr>
        <p:spPr>
          <a:xfrm>
            <a:off x="1417320" y="363474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sp>
        <p:nvSpPr>
          <p:cNvPr id="46" name="GQ0"/>
          <p:cNvSpPr/>
          <p:nvPr/>
        </p:nvSpPr>
        <p:spPr>
          <a:xfrm>
            <a:off x="4286250" y="3794760"/>
            <a:ext cx="160020" cy="1371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7" name="GQ1"/>
          <p:cNvSpPr/>
          <p:nvPr/>
        </p:nvSpPr>
        <p:spPr>
          <a:xfrm>
            <a:off x="4491990" y="3703320"/>
            <a:ext cx="160020" cy="2286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8" name="GQ2"/>
          <p:cNvSpPr/>
          <p:nvPr/>
        </p:nvSpPr>
        <p:spPr>
          <a:xfrm>
            <a:off x="4697730" y="3611880"/>
            <a:ext cx="160020" cy="3200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9" name="GQL0"/>
          <p:cNvCxnSpPr/>
          <p:nvPr/>
        </p:nvCxnSpPr>
        <p:spPr>
          <a:xfrm>
            <a:off x="4194810" y="3931920"/>
            <a:ext cx="754380" cy="0"/>
          </a:xfrm>
          <a:prstGeom prst="straightConnector1">
            <a:avLst/>
          </a:prstGeom>
          <a:ln w="12700">
            <a:solidFill>
              <a:srgbClr val="555960"/>
            </a:solidFill>
          </a:ln>
        </p:spPr>
      </p:cxnSp>
      <p:cxnSp>
        <p:nvCxnSpPr>
          <p:cNvPr id="50" name="GQL1"/>
          <p:cNvCxnSpPr/>
          <p:nvPr/>
        </p:nvCxnSpPr>
        <p:spPr>
          <a:xfrm>
            <a:off x="4194810" y="3589020"/>
            <a:ext cx="754380" cy="0"/>
          </a:xfrm>
          <a:prstGeom prst="straightConnector1">
            <a:avLst/>
          </a:prstGeom>
          <a:ln w="19050">
            <a:solidFill>
              <a:srgbClr val="8E6F3E"/>
            </a:solidFill>
          </a:ln>
        </p:spPr>
      </p:cxnSp>
      <p:sp>
        <p:nvSpPr>
          <p:cNvPr id="51" name="GP0"/>
          <p:cNvSpPr/>
          <p:nvPr/>
        </p:nvSpPr>
        <p:spPr>
          <a:xfrm>
            <a:off x="7269480" y="3520440"/>
            <a:ext cx="457200" cy="365760"/>
          </a:xfrm>
          <a:prstGeom prst="diamond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2" name="GPA0"/>
          <p:cNvCxnSpPr/>
          <p:nvPr/>
        </p:nvCxnSpPr>
        <p:spPr>
          <a:xfrm>
            <a:off x="772668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cxnSp>
        <p:nvCxnSpPr>
          <p:cNvPr id="53" name="GPA1"/>
          <p:cNvCxnSpPr/>
          <p:nvPr/>
        </p:nvCxnSpPr>
        <p:spPr>
          <a:xfrm flipH="1">
            <a:off x="6858000" y="3703320"/>
            <a:ext cx="41148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70" name="Ital"/>
          <p:cNvSpPr/>
          <p:nvPr/>
        </p:nvSpPr>
        <p:spPr>
          <a:xfrm>
            <a:off x="274320" y="484632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Like sorting algorithms: recognize the problem, select an established form.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Selection, not memorization.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UML is a repertoire, not the theory of Modeling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12</a:t>
            </a:fld>
            <a:endParaRPr lang="en-US"/>
          </a:p>
        </p:txBody>
      </p:sp>
      <p:sp>
        <p:nvSpPr>
          <p:cNvPr id="10" name="Body"/>
          <p:cNvSpPr/>
          <p:nvPr/>
        </p:nvSpPr>
        <p:spPr>
          <a:xfrm>
            <a:off x="365760" y="1005840"/>
            <a:ext cx="841248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l">
              <a:spcAft>
                <a:spcPts val="140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UML is the industry-standard starting point for structural and behavioral models.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MBSE carries the same tradition across the rest of engineering.</a:t>
            </a:r>
          </a:p>
        </p:txBody>
      </p:sp>
      <p:sp>
        <p:nvSpPr>
          <p:cNvPr id="20" name="QC0"/>
          <p:cNvSpPr/>
          <p:nvPr/>
        </p:nvSpPr>
        <p:spPr>
          <a:xfrm>
            <a:off x="2514600" y="2331720"/>
            <a:ext cx="4114800" cy="320040"/>
          </a:xfrm>
          <a:prstGeom prst="round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“Can this workflow reach an illegal state?”</a:t>
            </a:r>
          </a:p>
        </p:txBody>
      </p:sp>
      <p:cxnSp>
        <p:nvCxnSpPr>
          <p:cNvPr id="21" name="QA0"/>
          <p:cNvCxnSpPr/>
          <p:nvPr/>
        </p:nvCxnSpPr>
        <p:spPr>
          <a:xfrm>
            <a:off x="4572000" y="2651760"/>
            <a:ext cx="0" cy="18288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30" name="UC0"/>
          <p:cNvSpPr/>
          <p:nvPr/>
        </p:nvSpPr>
        <p:spPr>
          <a:xfrm>
            <a:off x="52578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1" name="UC1"/>
          <p:cNvSpPr/>
          <p:nvPr/>
        </p:nvSpPr>
        <p:spPr>
          <a:xfrm>
            <a:off x="217170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2" name="UL"/>
          <p:cNvSpPr/>
          <p:nvPr/>
        </p:nvSpPr>
        <p:spPr>
          <a:xfrm>
            <a:off x="3817620" y="2834640"/>
            <a:ext cx="1508760" cy="1097280"/>
          </a:xfrm>
          <a:prstGeom prst="rect">
            <a:avLst/>
          </a:prstGeom>
          <a:solidFill>
            <a:srgbClr val="F5F1E8"/>
          </a:solidFill>
          <a:ln w="1905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3" name="UC3"/>
          <p:cNvSpPr/>
          <p:nvPr/>
        </p:nvSpPr>
        <p:spPr>
          <a:xfrm>
            <a:off x="546354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34" name="UC4"/>
          <p:cNvSpPr/>
          <p:nvPr/>
        </p:nvSpPr>
        <p:spPr>
          <a:xfrm>
            <a:off x="7109460" y="3200400"/>
            <a:ext cx="1508760" cy="10972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0" name="UG0"/>
          <p:cNvSpPr/>
          <p:nvPr/>
        </p:nvSpPr>
        <p:spPr>
          <a:xfrm>
            <a:off x="754380" y="347472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1" name="UG1"/>
          <p:cNvSpPr/>
          <p:nvPr/>
        </p:nvSpPr>
        <p:spPr>
          <a:xfrm>
            <a:off x="1394460" y="3794760"/>
            <a:ext cx="41148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2" name="UGL0"/>
          <p:cNvCxnSpPr/>
          <p:nvPr/>
        </p:nvCxnSpPr>
        <p:spPr>
          <a:xfrm>
            <a:off x="960120" y="3703320"/>
            <a:ext cx="594360" cy="18288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43" name="UG2"/>
          <p:cNvSpPr/>
          <p:nvPr/>
        </p:nvSpPr>
        <p:spPr>
          <a:xfrm>
            <a:off x="2400300" y="3520440"/>
            <a:ext cx="228600" cy="228600"/>
          </a:xfrm>
          <a:prstGeom prst="ellipse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44" name="UG3"/>
          <p:cNvSpPr/>
          <p:nvPr/>
        </p:nvSpPr>
        <p:spPr>
          <a:xfrm>
            <a:off x="315468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45" name="UGL1"/>
          <p:cNvCxnSpPr/>
          <p:nvPr/>
        </p:nvCxnSpPr>
        <p:spPr>
          <a:xfrm>
            <a:off x="2628900" y="3634740"/>
            <a:ext cx="52578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cxnSp>
        <p:nvCxnSpPr>
          <p:cNvPr id="46" name="UGL2"/>
          <p:cNvCxnSpPr/>
          <p:nvPr/>
        </p:nvCxnSpPr>
        <p:spPr>
          <a:xfrm>
            <a:off x="590931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7" name="UGL3"/>
          <p:cNvCxnSpPr/>
          <p:nvPr/>
        </p:nvCxnSpPr>
        <p:spPr>
          <a:xfrm>
            <a:off x="6526530" y="3474720"/>
            <a:ext cx="0" cy="54864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cxnSp>
        <p:nvCxnSpPr>
          <p:cNvPr id="48" name="UGL4"/>
          <p:cNvCxnSpPr/>
          <p:nvPr/>
        </p:nvCxnSpPr>
        <p:spPr>
          <a:xfrm>
            <a:off x="5909310" y="3703320"/>
            <a:ext cx="617220" cy="0"/>
          </a:xfrm>
          <a:prstGeom prst="straightConnector1">
            <a:avLst/>
          </a:prstGeom>
          <a:ln w="12700">
            <a:solidFill>
              <a:srgbClr val="8A8F98"/>
            </a:solidFill>
            <a:tailEnd type="triangle" w="med" len="med"/>
          </a:ln>
        </p:spPr>
      </p:cxnSp>
      <p:sp>
        <p:nvSpPr>
          <p:cNvPr id="49" name="UG4"/>
          <p:cNvSpPr/>
          <p:nvPr/>
        </p:nvSpPr>
        <p:spPr>
          <a:xfrm>
            <a:off x="7452360" y="352044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0" name="UG5"/>
          <p:cNvSpPr/>
          <p:nvPr/>
        </p:nvSpPr>
        <p:spPr>
          <a:xfrm>
            <a:off x="7909560" y="3886200"/>
            <a:ext cx="365760" cy="228600"/>
          </a:xfrm>
          <a:prstGeom prst="rect">
            <a:avLst/>
          </a:prstGeom>
          <a:noFill/>
          <a:ln w="12700">
            <a:solidFill>
              <a:srgbClr val="8A8F98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1" name="UGL5"/>
          <p:cNvCxnSpPr/>
          <p:nvPr/>
        </p:nvCxnSpPr>
        <p:spPr>
          <a:xfrm>
            <a:off x="7635240" y="3749040"/>
            <a:ext cx="411480" cy="137160"/>
          </a:xfrm>
          <a:prstGeom prst="straightConnector1">
            <a:avLst/>
          </a:prstGeom>
          <a:ln w="12700">
            <a:solidFill>
              <a:srgbClr val="8A8F98"/>
            </a:solidFill>
          </a:ln>
        </p:spPr>
      </p:cxnSp>
      <p:sp>
        <p:nvSpPr>
          <p:cNvPr id="52" name="US0"/>
          <p:cNvSpPr/>
          <p:nvPr/>
        </p:nvSpPr>
        <p:spPr>
          <a:xfrm>
            <a:off x="402336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53" name="US1"/>
          <p:cNvSpPr/>
          <p:nvPr/>
        </p:nvSpPr>
        <p:spPr>
          <a:xfrm>
            <a:off x="4526280" y="3108960"/>
            <a:ext cx="228600" cy="228600"/>
          </a:xfrm>
          <a:prstGeom prst="ellipse">
            <a:avLst/>
          </a:prstGeom>
          <a:solidFill>
            <a:srgbClr val="FBF8F2"/>
          </a:solidFill>
          <a:ln w="12700">
            <a:solidFill>
              <a:srgbClr val="8E6F3E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cxnSp>
        <p:nvCxnSpPr>
          <p:cNvPr id="54" name="USA0"/>
          <p:cNvCxnSpPr/>
          <p:nvPr/>
        </p:nvCxnSpPr>
        <p:spPr>
          <a:xfrm>
            <a:off x="4251960" y="3223260"/>
            <a:ext cx="274320" cy="0"/>
          </a:xfrm>
          <a:prstGeom prst="straightConnector1">
            <a:avLst/>
          </a:prstGeom>
          <a:ln w="12700">
            <a:solidFill>
              <a:srgbClr val="8E6F3E"/>
            </a:solidFill>
            <a:tailEnd type="triangle" w="med" len="med"/>
          </a:ln>
        </p:spPr>
      </p:cxnSp>
      <p:sp>
        <p:nvSpPr>
          <p:cNvPr id="55" name="UT0"/>
          <p:cNvSpPr/>
          <p:nvPr/>
        </p:nvSpPr>
        <p:spPr>
          <a:xfrm>
            <a:off x="3817620" y="361188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machine</a:t>
            </a:r>
          </a:p>
        </p:txBody>
      </p:sp>
      <p:sp>
        <p:nvSpPr>
          <p:cNvPr id="60" name="Ital"/>
          <p:cNvSpPr/>
          <p:nvPr/>
        </p:nvSpPr>
        <p:spPr>
          <a:xfrm>
            <a:off x="274320" y="4983480"/>
            <a:ext cx="8595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assigned readings say browse, not memorize.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Select before you invent.</a:t>
            </a:r>
          </a:p>
        </p:txBody>
      </p:sp>
      <p:sp>
        <p:nvSpPr>
          <p:cNvPr id="200" name="UTC0"/>
          <p:cNvSpPr txBox="1"/>
          <p:nvPr/>
        </p:nvSpPr>
        <p:spPr>
          <a:xfrm>
            <a:off x="52578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class</a:t>
            </a:r>
          </a:p>
        </p:txBody>
      </p:sp>
      <p:sp>
        <p:nvSpPr>
          <p:cNvPr id="201" name="UTC1"/>
          <p:cNvSpPr txBox="1"/>
          <p:nvPr/>
        </p:nvSpPr>
        <p:spPr>
          <a:xfrm>
            <a:off x="217170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sequence</a:t>
            </a:r>
          </a:p>
        </p:txBody>
      </p:sp>
      <p:sp>
        <p:nvSpPr>
          <p:cNvPr id="202" name="UTC3"/>
          <p:cNvSpPr txBox="1"/>
          <p:nvPr/>
        </p:nvSpPr>
        <p:spPr>
          <a:xfrm>
            <a:off x="546354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activity</a:t>
            </a:r>
          </a:p>
        </p:txBody>
      </p:sp>
      <p:sp>
        <p:nvSpPr>
          <p:cNvPr id="203" name="UTC4"/>
          <p:cNvSpPr txBox="1"/>
          <p:nvPr/>
        </p:nvSpPr>
        <p:spPr>
          <a:xfrm>
            <a:off x="7109460" y="4343400"/>
            <a:ext cx="15087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use case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2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REDUCTION REQUIRES JUDGMENT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13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What must remain? What may remain free?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QUALITY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the obligation decides what must remain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14</a:t>
            </a:fld>
            <a:endParaRPr lang="en-US"/>
          </a:p>
        </p:txBody>
      </p:sp>
      <p:sp>
        <p:nvSpPr>
          <p:cNvPr id="101" name="B0"/>
          <p:cNvSpPr/>
          <p:nvPr/>
        </p:nvSpPr>
        <p:spPr>
          <a:xfrm>
            <a:off x="914400" y="1143000"/>
            <a:ext cx="7315200" cy="8229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ENGINEERING 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system must guarantee</a:t>
            </a:r>
          </a:p>
        </p:txBody>
      </p:sp>
      <p:cxnSp>
        <p:nvCxnSpPr>
          <p:cNvPr id="102" name="AR0"/>
          <p:cNvCxnSpPr/>
          <p:nvPr/>
        </p:nvCxnSpPr>
        <p:spPr>
          <a:xfrm>
            <a:off x="4572000" y="1965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3" name="B1"/>
          <p:cNvSpPr/>
          <p:nvPr/>
        </p:nvSpPr>
        <p:spPr>
          <a:xfrm>
            <a:off x="914400" y="2286000"/>
            <a:ext cx="7315200" cy="8229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REQUIRED DISTINCTIONS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FFFFFF"/>
                </a:solidFill>
              </a:rPr>
              <a:t>what the model must preserve</a:t>
            </a:r>
          </a:p>
        </p:txBody>
      </p:sp>
      <p:cxnSp>
        <p:nvCxnSpPr>
          <p:cNvPr id="104" name="AR1"/>
          <p:cNvCxnSpPr/>
          <p:nvPr/>
        </p:nvCxnSpPr>
        <p:spPr>
          <a:xfrm>
            <a:off x="4572000" y="3108960"/>
            <a:ext cx="0" cy="32004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05" name="B2"/>
          <p:cNvSpPr/>
          <p:nvPr/>
        </p:nvSpPr>
        <p:spPr>
          <a:xfrm>
            <a:off x="914400" y="3429000"/>
            <a:ext cx="7315200" cy="82296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LEGITIMATE FREEDOM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dirty="0">
                <a:solidFill>
                  <a:srgbClr val="353638"/>
                </a:solidFill>
              </a:rPr>
              <a:t>everything else: the agent’s degrees of freedom</a:t>
            </a:r>
          </a:p>
        </p:txBody>
      </p:sp>
      <p:sp>
        <p:nvSpPr>
          <p:cNvPr id="106" name="Ital"/>
          <p:cNvSpPr txBox="1"/>
          <p:nvPr/>
        </p:nvSpPr>
        <p:spPr>
          <a:xfrm>
            <a:off x="685800" y="452628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Degrees of freedom are known freedom, not ignorance.</a:t>
            </a:r>
          </a:p>
        </p:txBody>
      </p:sp>
      <p:sp>
        <p:nvSpPr>
          <p:cNvPr id="107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Ask of every model: what must it preserve?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parsimony challenges what we kept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15</a:t>
            </a:fld>
            <a:endParaRPr lang="en-US"/>
          </a:p>
        </p:txBody>
      </p:sp>
      <p:sp>
        <p:nvSpPr>
          <p:cNvPr id="108" name="CardHead"/>
          <p:cNvSpPr/>
          <p:nvPr/>
        </p:nvSpPr>
        <p:spPr>
          <a:xfrm>
            <a:off x="685800" y="1257300"/>
            <a:ext cx="32004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 MODEL</a:t>
            </a:r>
          </a:p>
        </p:txBody>
      </p:sp>
      <p:sp>
        <p:nvSpPr>
          <p:cNvPr id="109" name="R0"/>
          <p:cNvSpPr/>
          <p:nvPr/>
        </p:nvSpPr>
        <p:spPr>
          <a:xfrm>
            <a:off x="685800" y="17145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components</a:t>
            </a:r>
          </a:p>
        </p:txBody>
      </p:sp>
      <p:sp>
        <p:nvSpPr>
          <p:cNvPr id="110" name="R1"/>
          <p:cNvSpPr/>
          <p:nvPr/>
        </p:nvSpPr>
        <p:spPr>
          <a:xfrm>
            <a:off x="685800" y="21717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depends-on edges</a:t>
            </a:r>
          </a:p>
        </p:txBody>
      </p:sp>
      <p:sp>
        <p:nvSpPr>
          <p:cNvPr id="111" name="R2"/>
          <p:cNvSpPr/>
          <p:nvPr/>
        </p:nvSpPr>
        <p:spPr>
          <a:xfrm>
            <a:off x="685800" y="26289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C4826"/>
                </a:solidFill>
              </a:rPr>
              <a:t>edge direction</a:t>
            </a:r>
          </a:p>
        </p:txBody>
      </p:sp>
      <p:sp>
        <p:nvSpPr>
          <p:cNvPr id="112" name="R3"/>
          <p:cNvSpPr/>
          <p:nvPr/>
        </p:nvSpPr>
        <p:spPr>
          <a:xfrm>
            <a:off x="685800" y="3086100"/>
            <a:ext cx="3200400" cy="4572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strike="sngStrike" dirty="0">
                <a:solidFill>
                  <a:srgbClr val="555960"/>
                </a:solidFill>
              </a:rPr>
              <a:t>deploy schedule</a:t>
            </a:r>
          </a:p>
        </p:txBody>
      </p:sp>
      <p:sp>
        <p:nvSpPr>
          <p:cNvPr id="113" name="Ital"/>
          <p:cNvSpPr txBox="1"/>
          <p:nvPr/>
        </p:nvSpPr>
        <p:spPr>
          <a:xfrm>
            <a:off x="457200" y="3752850"/>
            <a:ext cx="36576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For every row: what engineering question requires this? If none, why carry it?</a:t>
            </a:r>
          </a:p>
        </p:txBody>
      </p:sp>
      <p:sp>
        <p:nvSpPr>
          <p:cNvPr id="114" name="ScaleHead"/>
          <p:cNvSpPr txBox="1"/>
          <p:nvPr/>
        </p:nvSpPr>
        <p:spPr>
          <a:xfrm>
            <a:off x="4800600" y="125730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8E6F3E"/>
                </a:solidFill>
              </a:rPr>
              <a:t>SMALLEST DOES NOT MEAN BEST</a:t>
            </a:r>
          </a:p>
        </p:txBody>
      </p:sp>
      <p:sp>
        <p:nvSpPr>
          <p:cNvPr id="115" name="Bar0"/>
          <p:cNvSpPr/>
          <p:nvPr/>
        </p:nvSpPr>
        <p:spPr>
          <a:xfrm>
            <a:off x="4800600" y="2286000"/>
            <a:ext cx="3657600" cy="3810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T0"/>
          <p:cNvSpPr/>
          <p:nvPr/>
        </p:nvSpPr>
        <p:spPr>
          <a:xfrm>
            <a:off x="47887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T2"/>
          <p:cNvSpPr/>
          <p:nvPr/>
        </p:nvSpPr>
        <p:spPr>
          <a:xfrm>
            <a:off x="8445500" y="2217420"/>
            <a:ext cx="25400" cy="175260"/>
          </a:xfrm>
          <a:prstGeom prst="rect">
            <a:avLst/>
          </a:prstGeom>
          <a:solidFill>
            <a:srgbClr val="555960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M0"/>
          <p:cNvSpPr/>
          <p:nvPr/>
        </p:nvSpPr>
        <p:spPr>
          <a:xfrm>
            <a:off x="5989320" y="2113280"/>
            <a:ext cx="182880" cy="182880"/>
          </a:xfrm>
          <a:prstGeom prst="diamond">
            <a:avLst/>
          </a:prstGeom>
          <a:solidFill>
            <a:srgbClr val="8E6F3E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9" name="T1"/>
          <p:cNvSpPr txBox="1"/>
          <p:nvPr/>
        </p:nvSpPr>
        <p:spPr>
          <a:xfrm>
            <a:off x="5257800" y="1668780"/>
            <a:ext cx="16459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smallest adequate to purpose</a:t>
            </a:r>
          </a:p>
        </p:txBody>
      </p:sp>
      <p:sp>
        <p:nvSpPr>
          <p:cNvPr id="120" name="T3"/>
          <p:cNvSpPr txBox="1"/>
          <p:nvPr/>
        </p:nvSpPr>
        <p:spPr>
          <a:xfrm>
            <a:off x="43891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smallest possible</a:t>
            </a:r>
          </a:p>
        </p:txBody>
      </p:sp>
      <p:sp>
        <p:nvSpPr>
          <p:cNvPr id="121" name="T4"/>
          <p:cNvSpPr txBox="1"/>
          <p:nvPr/>
        </p:nvSpPr>
        <p:spPr>
          <a:xfrm>
            <a:off x="8046720" y="2453640"/>
            <a:ext cx="8229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faithful copy</a:t>
            </a:r>
          </a:p>
        </p:txBody>
      </p:sp>
      <p:sp>
        <p:nvSpPr>
          <p:cNvPr id="122" name="Corr"/>
          <p:cNvSpPr txBox="1"/>
          <p:nvPr/>
        </p:nvSpPr>
        <p:spPr>
          <a:xfrm>
            <a:off x="685800" y="4457700"/>
            <a:ext cx="77724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The target is the smallest model adequate to purpose,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not the smallest model.</a:t>
            </a:r>
          </a:p>
        </p:txBody>
      </p:sp>
      <p:sp>
        <p:nvSpPr>
          <p:cNvPr id="12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Top-down: what must remain. Bottom-up: why is this still here?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Worked: protect the battery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16</a:t>
            </a:fld>
            <a:endParaRPr lang="en-US"/>
          </a:p>
        </p:txBody>
      </p:sp>
      <p:sp>
        <p:nvSpPr>
          <p:cNvPr id="124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THE METHOD, WORKED</a:t>
            </a:r>
          </a:p>
        </p:txBody>
      </p:sp>
      <p:sp>
        <p:nvSpPr>
          <p:cNvPr id="125" name="C0"/>
          <p:cNvSpPr/>
          <p:nvPr/>
        </p:nvSpPr>
        <p:spPr>
          <a:xfrm>
            <a:off x="6858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TEMP SENSOR</a:t>
            </a:r>
          </a:p>
        </p:txBody>
      </p:sp>
      <p:sp>
        <p:nvSpPr>
          <p:cNvPr id="126" name="C1"/>
          <p:cNvSpPr/>
          <p:nvPr/>
        </p:nvSpPr>
        <p:spPr>
          <a:xfrm>
            <a:off x="6858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27" name="C2"/>
          <p:cNvSpPr/>
          <p:nvPr/>
        </p:nvSpPr>
        <p:spPr>
          <a:xfrm>
            <a:off x="6858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28" name="C3"/>
          <p:cNvSpPr/>
          <p:nvPr/>
        </p:nvSpPr>
        <p:spPr>
          <a:xfrm>
            <a:off x="6629400" y="173736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29" name="C4"/>
          <p:cNvSpPr/>
          <p:nvPr/>
        </p:nvSpPr>
        <p:spPr>
          <a:xfrm>
            <a:off x="6629400" y="262890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FLASH LOG</a:t>
            </a:r>
          </a:p>
        </p:txBody>
      </p:sp>
      <p:sp>
        <p:nvSpPr>
          <p:cNvPr id="130" name="C5"/>
          <p:cNvSpPr/>
          <p:nvPr/>
        </p:nvSpPr>
        <p:spPr>
          <a:xfrm>
            <a:off x="6629400" y="3520440"/>
            <a:ext cx="182880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LOW-POWER SLEEP</a:t>
            </a:r>
          </a:p>
        </p:txBody>
      </p:sp>
      <p:sp>
        <p:nvSpPr>
          <p:cNvPr id="131" name="Ctrl"/>
          <p:cNvSpPr/>
          <p:nvPr/>
        </p:nvSpPr>
        <p:spPr>
          <a:xfrm>
            <a:off x="3657600" y="2514600"/>
            <a:ext cx="1828800" cy="73152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CONTROLLER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one control loop</a:t>
            </a:r>
          </a:p>
        </p:txBody>
      </p:sp>
      <p:sp>
        <p:nvSpPr>
          <p:cNvPr id="132" name="Bat"/>
          <p:cNvSpPr/>
          <p:nvPr/>
        </p:nvSpPr>
        <p:spPr>
          <a:xfrm>
            <a:off x="3657600" y="4114800"/>
            <a:ext cx="1828800" cy="685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BATTERY</a:t>
            </a:r>
          </a:p>
        </p:txBody>
      </p:sp>
      <p:sp>
        <p:nvSpPr>
          <p:cNvPr id="133" name="VL0"/>
          <p:cNvSpPr/>
          <p:nvPr/>
        </p:nvSpPr>
        <p:spPr>
          <a:xfrm>
            <a:off x="3733800" y="4610100"/>
            <a:ext cx="1676400" cy="2286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VL1"/>
          <p:cNvSpPr txBox="1"/>
          <p:nvPr/>
        </p:nvSpPr>
        <p:spPr>
          <a:xfrm>
            <a:off x="5638800" y="4495800"/>
            <a:ext cx="1828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minimum safe voltage</a:t>
            </a:r>
          </a:p>
        </p:txBody>
      </p:sp>
      <p:cxnSp>
        <p:nvCxnSpPr>
          <p:cNvPr id="135" name="PF0"/>
          <p:cNvCxnSpPr/>
          <p:nvPr/>
        </p:nvCxnSpPr>
        <p:spPr>
          <a:xfrm>
            <a:off x="4572000" y="3246120"/>
            <a:ext cx="0" cy="86868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cxnSp>
        <p:nvCxnSpPr>
          <p:cNvPr id="136" name="W0"/>
          <p:cNvCxnSpPr/>
          <p:nvPr/>
        </p:nvCxnSpPr>
        <p:spPr>
          <a:xfrm>
            <a:off x="25146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7" name="W1"/>
          <p:cNvCxnSpPr/>
          <p:nvPr/>
        </p:nvCxnSpPr>
        <p:spPr>
          <a:xfrm flipV="1">
            <a:off x="25146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8" name="W2"/>
          <p:cNvCxnSpPr/>
          <p:nvPr/>
        </p:nvCxnSpPr>
        <p:spPr>
          <a:xfrm flipV="1">
            <a:off x="25146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39" name="W3"/>
          <p:cNvCxnSpPr/>
          <p:nvPr/>
        </p:nvCxnSpPr>
        <p:spPr>
          <a:xfrm flipV="1">
            <a:off x="5486400" y="2011680"/>
            <a:ext cx="1143000" cy="86868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0" name="W4"/>
          <p:cNvCxnSpPr/>
          <p:nvPr/>
        </p:nvCxnSpPr>
        <p:spPr>
          <a:xfrm>
            <a:off x="5486400" y="2880360"/>
            <a:ext cx="1143000" cy="2286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141" name="W5"/>
          <p:cNvCxnSpPr/>
          <p:nvPr/>
        </p:nvCxnSpPr>
        <p:spPr>
          <a:xfrm>
            <a:off x="5486400" y="2880360"/>
            <a:ext cx="1143000" cy="914400"/>
          </a:xfrm>
          <a:prstGeom prst="straightConnector1">
            <a:avLst/>
          </a:prstGeom>
          <a:ln w="19050">
            <a:solidFill>
              <a:srgbClr val="C9B991"/>
            </a:solidFill>
          </a:ln>
        </p:spPr>
      </p:cxnSp>
      <p:sp>
        <p:nvSpPr>
          <p:cNvPr id="142" name="Ital"/>
          <p:cNvSpPr txBox="1"/>
          <p:nvPr/>
        </p:nvSpPr>
        <p:spPr>
          <a:xfrm>
            <a:off x="685800" y="5120640"/>
            <a:ext cx="7772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Every component draws from the one battery.</a:t>
            </a:r>
          </a:p>
        </p:txBody>
      </p:sp>
      <p:sp>
        <p:nvSpPr>
          <p:cNvPr id="14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One question: can the battery run out before the 8 hours end?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Top-down: preserve what the obligation requires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17</a:t>
            </a:fld>
            <a:endParaRPr lang="en-US"/>
          </a:p>
        </p:txBody>
      </p:sp>
      <p:sp>
        <p:nvSpPr>
          <p:cNvPr id="144" name="Oblig"/>
          <p:cNvSpPr/>
          <p:nvPr/>
        </p:nvSpPr>
        <p:spPr>
          <a:xfrm>
            <a:off x="685800" y="1097280"/>
            <a:ext cx="7772400" cy="45720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OBLIGATION: 8 or more hours above minimum safe voltage</a:t>
            </a:r>
          </a:p>
        </p:txBody>
      </p:sp>
      <p:sp>
        <p:nvSpPr>
          <p:cNvPr id="145" name="D0"/>
          <p:cNvSpPr/>
          <p:nvPr/>
        </p:nvSpPr>
        <p:spPr>
          <a:xfrm>
            <a:off x="685800" y="1783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temperature sensor</a:t>
            </a:r>
          </a:p>
        </p:txBody>
      </p:sp>
      <p:sp>
        <p:nvSpPr>
          <p:cNvPr id="146" name="D1"/>
          <p:cNvSpPr/>
          <p:nvPr/>
        </p:nvSpPr>
        <p:spPr>
          <a:xfrm>
            <a:off x="685800" y="22402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PWM fan</a:t>
            </a:r>
          </a:p>
        </p:txBody>
      </p:sp>
      <p:sp>
        <p:nvSpPr>
          <p:cNvPr id="147" name="D2"/>
          <p:cNvSpPr/>
          <p:nvPr/>
        </p:nvSpPr>
        <p:spPr>
          <a:xfrm>
            <a:off x="685800" y="26974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Wi-Fi telemetry</a:t>
            </a:r>
          </a:p>
        </p:txBody>
      </p:sp>
      <p:sp>
        <p:nvSpPr>
          <p:cNvPr id="148" name="D3"/>
          <p:cNvSpPr/>
          <p:nvPr/>
        </p:nvSpPr>
        <p:spPr>
          <a:xfrm>
            <a:off x="685800" y="31546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flash logging</a:t>
            </a:r>
          </a:p>
        </p:txBody>
      </p:sp>
      <p:sp>
        <p:nvSpPr>
          <p:cNvPr id="149" name="D4"/>
          <p:cNvSpPr/>
          <p:nvPr/>
        </p:nvSpPr>
        <p:spPr>
          <a:xfrm>
            <a:off x="685800" y="36118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display</a:t>
            </a:r>
          </a:p>
        </p:txBody>
      </p:sp>
      <p:sp>
        <p:nvSpPr>
          <p:cNvPr id="150" name="D5"/>
          <p:cNvSpPr/>
          <p:nvPr/>
        </p:nvSpPr>
        <p:spPr>
          <a:xfrm>
            <a:off x="685800" y="4069080"/>
            <a:ext cx="20574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low-power sleep</a:t>
            </a:r>
          </a:p>
        </p:txBody>
      </p:sp>
      <p:cxnSp>
        <p:nvCxnSpPr>
          <p:cNvPr id="151" name="F0"/>
          <p:cNvCxnSpPr/>
          <p:nvPr/>
        </p:nvCxnSpPr>
        <p:spPr>
          <a:xfrm>
            <a:off x="2743200" y="19659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2" name="F1"/>
          <p:cNvCxnSpPr/>
          <p:nvPr/>
        </p:nvCxnSpPr>
        <p:spPr>
          <a:xfrm>
            <a:off x="2743200" y="24231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3" name="F2"/>
          <p:cNvCxnSpPr/>
          <p:nvPr/>
        </p:nvCxnSpPr>
        <p:spPr>
          <a:xfrm>
            <a:off x="2743200" y="2880360"/>
            <a:ext cx="217170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4" name="F3"/>
          <p:cNvCxnSpPr/>
          <p:nvPr/>
        </p:nvCxnSpPr>
        <p:spPr>
          <a:xfrm flipV="1">
            <a:off x="2743200" y="2880360"/>
            <a:ext cx="217170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5" name="F4"/>
          <p:cNvCxnSpPr/>
          <p:nvPr/>
        </p:nvCxnSpPr>
        <p:spPr>
          <a:xfrm flipV="1">
            <a:off x="2743200" y="2880360"/>
            <a:ext cx="2171700" cy="9144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56" name="F5"/>
          <p:cNvCxnSpPr/>
          <p:nvPr/>
        </p:nvCxnSpPr>
        <p:spPr>
          <a:xfrm flipV="1">
            <a:off x="2743200" y="2880360"/>
            <a:ext cx="2171700" cy="13716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57" name="CardHead"/>
          <p:cNvSpPr/>
          <p:nvPr/>
        </p:nvSpPr>
        <p:spPr>
          <a:xfrm>
            <a:off x="4914900" y="2011680"/>
            <a:ext cx="27432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58" name="E0"/>
          <p:cNvSpPr/>
          <p:nvPr/>
        </p:nvSpPr>
        <p:spPr>
          <a:xfrm>
            <a:off x="4914900" y="242316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59" name="E1"/>
          <p:cNvSpPr/>
          <p:nvPr/>
        </p:nvSpPr>
        <p:spPr>
          <a:xfrm>
            <a:off x="4914900" y="283464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60" name="E2"/>
          <p:cNvSpPr/>
          <p:nvPr/>
        </p:nvSpPr>
        <p:spPr>
          <a:xfrm>
            <a:off x="4914900" y="324612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61" name="E3"/>
          <p:cNvSpPr/>
          <p:nvPr/>
        </p:nvSpPr>
        <p:spPr>
          <a:xfrm>
            <a:off x="4914900" y="3657600"/>
            <a:ext cx="27432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62" name="TextBox 2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not: temperature value · PWM internals · packet format · flash layout · display contents · task names</a:t>
            </a:r>
          </a:p>
        </p:txBody>
      </p:sp>
      <p:sp>
        <p:nvSpPr>
          <p:cNvPr id="163" name="Property"/>
          <p:cNvSpPr txBox="1"/>
          <p:nvPr/>
        </p:nvSpPr>
        <p:spPr>
          <a:xfrm>
            <a:off x="685800" y="4983480"/>
            <a:ext cx="7772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PROPERTY:  </a:t>
            </a:r>
            <a:r>
              <a:rPr lang="en-US" sz="2200" b="1" dirty="0">
                <a:solidFill>
                  <a:srgbClr val="5C4826"/>
                </a:solidFill>
              </a:rPr>
              <a:t>Σ P(mode) · t(mode)  ≤  E(usable)</a:t>
            </a:r>
          </a:p>
        </p:txBody>
      </p:sp>
      <p:sp>
        <p:nvSpPr>
          <p:cNvPr id="164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whole system collapses into four quantities.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Bottom-up: make every distinction earn its place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18</a:t>
            </a:fld>
            <a:endParaRPr lang="en-US"/>
          </a:p>
        </p:txBody>
      </p:sp>
      <p:sp>
        <p:nvSpPr>
          <p:cNvPr id="165" name="CardHead"/>
          <p:cNvSpPr/>
          <p:nvPr/>
        </p:nvSpPr>
        <p:spPr>
          <a:xfrm>
            <a:off x="685800" y="11887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CANDIDATE: MODE</a:t>
            </a:r>
          </a:p>
        </p:txBody>
      </p:sp>
      <p:sp>
        <p:nvSpPr>
          <p:cNvPr id="166" name="L0"/>
          <p:cNvSpPr/>
          <p:nvPr/>
        </p:nvSpPr>
        <p:spPr>
          <a:xfrm>
            <a:off x="685800" y="16002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frequency</a:t>
            </a:r>
          </a:p>
        </p:txBody>
      </p:sp>
      <p:sp>
        <p:nvSpPr>
          <p:cNvPr id="167" name="L1"/>
          <p:cNvSpPr/>
          <p:nvPr/>
        </p:nvSpPr>
        <p:spPr>
          <a:xfrm>
            <a:off x="685800" y="19659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CPU utilization</a:t>
            </a:r>
          </a:p>
        </p:txBody>
      </p:sp>
      <p:sp>
        <p:nvSpPr>
          <p:cNvPr id="168" name="L2"/>
          <p:cNvSpPr/>
          <p:nvPr/>
        </p:nvSpPr>
        <p:spPr>
          <a:xfrm>
            <a:off x="685800" y="23317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fan PWM %</a:t>
            </a:r>
          </a:p>
        </p:txBody>
      </p:sp>
      <p:sp>
        <p:nvSpPr>
          <p:cNvPr id="169" name="L3"/>
          <p:cNvSpPr/>
          <p:nvPr/>
        </p:nvSpPr>
        <p:spPr>
          <a:xfrm>
            <a:off x="685800" y="26974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Wi-Fi state</a:t>
            </a:r>
          </a:p>
        </p:txBody>
      </p:sp>
      <p:sp>
        <p:nvSpPr>
          <p:cNvPr id="170" name="L4"/>
          <p:cNvSpPr/>
          <p:nvPr/>
        </p:nvSpPr>
        <p:spPr>
          <a:xfrm>
            <a:off x="685800" y="306324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flash writes per second</a:t>
            </a:r>
          </a:p>
        </p:txBody>
      </p:sp>
      <p:sp>
        <p:nvSpPr>
          <p:cNvPr id="171" name="L5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display brightness</a:t>
            </a:r>
          </a:p>
        </p:txBody>
      </p:sp>
      <p:sp>
        <p:nvSpPr>
          <p:cNvPr id="172" name="L6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strike="sngStrike" dirty="0">
                <a:solidFill>
                  <a:srgbClr val="555960"/>
                </a:solidFill>
              </a:rPr>
              <a:t>sample rate</a:t>
            </a:r>
          </a:p>
        </p:txBody>
      </p:sp>
      <p:sp>
        <p:nvSpPr>
          <p:cNvPr id="173" name="L7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estimated power</a:t>
            </a:r>
          </a:p>
        </p:txBody>
      </p:sp>
      <p:sp>
        <p:nvSpPr>
          <p:cNvPr id="174" name="L8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duration</a:t>
            </a:r>
          </a:p>
        </p:txBody>
      </p:sp>
      <p:cxnSp>
        <p:nvCxnSpPr>
          <p:cNvPr id="175" name="AR0"/>
          <p:cNvCxnSpPr/>
          <p:nvPr/>
        </p:nvCxnSpPr>
        <p:spPr>
          <a:xfrm>
            <a:off x="3771900" y="3000375"/>
            <a:ext cx="14859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76" name="KeptHead"/>
          <p:cNvSpPr/>
          <p:nvPr/>
        </p:nvSpPr>
        <p:spPr>
          <a:xfrm>
            <a:off x="5257800" y="2194560"/>
            <a:ext cx="29718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MODE</a:t>
            </a:r>
          </a:p>
        </p:txBody>
      </p:sp>
      <p:sp>
        <p:nvSpPr>
          <p:cNvPr id="177" name="K0"/>
          <p:cNvSpPr/>
          <p:nvPr/>
        </p:nvSpPr>
        <p:spPr>
          <a:xfrm>
            <a:off x="5257800" y="260604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power</a:t>
            </a:r>
          </a:p>
        </p:txBody>
      </p:sp>
      <p:sp>
        <p:nvSpPr>
          <p:cNvPr id="178" name="K1"/>
          <p:cNvSpPr/>
          <p:nvPr/>
        </p:nvSpPr>
        <p:spPr>
          <a:xfrm>
            <a:off x="5257800" y="3017520"/>
            <a:ext cx="2971800" cy="4114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duration</a:t>
            </a:r>
          </a:p>
        </p:txBody>
      </p:sp>
      <p:sp>
        <p:nvSpPr>
          <p:cNvPr id="179" name="TextBox 2"/>
          <p:cNvSpPr txBox="1"/>
          <p:nvPr/>
        </p:nvSpPr>
        <p:spPr>
          <a:xfrm>
            <a:off x="5029200" y="3611880"/>
            <a:ext cx="34290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plus two model-level facts: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600" b="0" dirty="0">
                <a:solidFill>
                  <a:srgbClr val="555960"/>
                </a:solidFill>
              </a:rPr>
              <a:t>usable energy · safety threshold</a:t>
            </a:r>
          </a:p>
        </p:txBody>
      </p:sp>
      <p:sp>
        <p:nvSpPr>
          <p:cNvPr id="180" name="Ital"/>
          <p:cNvSpPr txBox="1"/>
          <p:nvPr/>
        </p:nvSpPr>
        <p:spPr>
          <a:xfrm>
            <a:off x="685800" y="5029200"/>
            <a:ext cx="777240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CPU frequency, fan PWM, Wi-Fi state: needed to derive the power estimate,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not to live in the model.</a:t>
            </a:r>
          </a:p>
        </p:txBody>
      </p:sp>
      <p:sp>
        <p:nvSpPr>
          <p:cNvPr id="181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Nine distinctions walked in. Three survived.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territory did not change. The question did.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19</a:t>
            </a:fld>
            <a:endParaRPr lang="en-US"/>
          </a:p>
        </p:txBody>
      </p:sp>
      <p:sp>
        <p:nvSpPr>
          <p:cNvPr id="182" name="SubLine"/>
          <p:cNvSpPr txBox="1"/>
          <p:nvPr/>
        </p:nvSpPr>
        <p:spPr>
          <a:xfrm>
            <a:off x="685800" y="1005840"/>
            <a:ext cx="777240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New question: can the fan keep the device below 70 °C under peak load?</a:t>
            </a:r>
          </a:p>
        </p:txBody>
      </p:sp>
      <p:sp>
        <p:nvSpPr>
          <p:cNvPr id="183" name="Chip"/>
          <p:cNvSpPr/>
          <p:nvPr/>
        </p:nvSpPr>
        <p:spPr>
          <a:xfrm>
            <a:off x="3886200" y="1737360"/>
            <a:ext cx="1371600" cy="54864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SAME CONTROLLER</a:t>
            </a:r>
          </a:p>
        </p:txBody>
      </p:sp>
      <p:cxnSp>
        <p:nvCxnSpPr>
          <p:cNvPr id="184" name="AL0"/>
          <p:cNvCxnSpPr/>
          <p:nvPr/>
        </p:nvCxnSpPr>
        <p:spPr>
          <a:xfrm flipH="1">
            <a:off x="222885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cxnSp>
        <p:nvCxnSpPr>
          <p:cNvPr id="185" name="AL1"/>
          <p:cNvCxnSpPr/>
          <p:nvPr/>
        </p:nvCxnSpPr>
        <p:spPr>
          <a:xfrm>
            <a:off x="5257800" y="2286000"/>
            <a:ext cx="1657350" cy="45720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86" name="OL0"/>
          <p:cNvSpPr txBox="1"/>
          <p:nvPr/>
        </p:nvSpPr>
        <p:spPr>
          <a:xfrm>
            <a:off x="6858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8-HOUR BATTERY QUESTION</a:t>
            </a:r>
          </a:p>
        </p:txBody>
      </p:sp>
      <p:sp>
        <p:nvSpPr>
          <p:cNvPr id="187" name="H0"/>
          <p:cNvSpPr/>
          <p:nvPr/>
        </p:nvSpPr>
        <p:spPr>
          <a:xfrm>
            <a:off x="6858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ENERGY MODEL</a:t>
            </a:r>
          </a:p>
        </p:txBody>
      </p:sp>
      <p:sp>
        <p:nvSpPr>
          <p:cNvPr id="188" name="E0"/>
          <p:cNvSpPr/>
          <p:nvPr/>
        </p:nvSpPr>
        <p:spPr>
          <a:xfrm>
            <a:off x="6858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operating mode</a:t>
            </a:r>
          </a:p>
        </p:txBody>
      </p:sp>
      <p:sp>
        <p:nvSpPr>
          <p:cNvPr id="189" name="E1"/>
          <p:cNvSpPr/>
          <p:nvPr/>
        </p:nvSpPr>
        <p:spPr>
          <a:xfrm>
            <a:off x="6858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power(mode)</a:t>
            </a:r>
          </a:p>
        </p:txBody>
      </p:sp>
      <p:sp>
        <p:nvSpPr>
          <p:cNvPr id="190" name="E2"/>
          <p:cNvSpPr/>
          <p:nvPr/>
        </p:nvSpPr>
        <p:spPr>
          <a:xfrm>
            <a:off x="6858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duration(mode)</a:t>
            </a:r>
          </a:p>
        </p:txBody>
      </p:sp>
      <p:sp>
        <p:nvSpPr>
          <p:cNvPr id="191" name="E3"/>
          <p:cNvSpPr/>
          <p:nvPr/>
        </p:nvSpPr>
        <p:spPr>
          <a:xfrm>
            <a:off x="6858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usable energy</a:t>
            </a:r>
          </a:p>
        </p:txBody>
      </p:sp>
      <p:sp>
        <p:nvSpPr>
          <p:cNvPr id="192" name="OL1"/>
          <p:cNvSpPr txBox="1"/>
          <p:nvPr/>
        </p:nvSpPr>
        <p:spPr>
          <a:xfrm>
            <a:off x="5372100" y="2743200"/>
            <a:ext cx="30861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70 °C THERMAL QUESTION</a:t>
            </a:r>
          </a:p>
        </p:txBody>
      </p:sp>
      <p:sp>
        <p:nvSpPr>
          <p:cNvPr id="193" name="H1"/>
          <p:cNvSpPr/>
          <p:nvPr/>
        </p:nvSpPr>
        <p:spPr>
          <a:xfrm>
            <a:off x="5372100" y="3017520"/>
            <a:ext cx="3086100" cy="41148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THERMAL MODEL</a:t>
            </a:r>
          </a:p>
        </p:txBody>
      </p:sp>
      <p:sp>
        <p:nvSpPr>
          <p:cNvPr id="194" name="T0"/>
          <p:cNvSpPr/>
          <p:nvPr/>
        </p:nvSpPr>
        <p:spPr>
          <a:xfrm>
            <a:off x="5372100" y="342900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heat generation</a:t>
            </a:r>
          </a:p>
        </p:txBody>
      </p:sp>
      <p:sp>
        <p:nvSpPr>
          <p:cNvPr id="195" name="T1"/>
          <p:cNvSpPr/>
          <p:nvPr/>
        </p:nvSpPr>
        <p:spPr>
          <a:xfrm>
            <a:off x="5372100" y="379476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thermal mass</a:t>
            </a:r>
          </a:p>
        </p:txBody>
      </p:sp>
      <p:sp>
        <p:nvSpPr>
          <p:cNvPr id="196" name="T2"/>
          <p:cNvSpPr/>
          <p:nvPr/>
        </p:nvSpPr>
        <p:spPr>
          <a:xfrm>
            <a:off x="5372100" y="416052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ambient temperature</a:t>
            </a:r>
          </a:p>
        </p:txBody>
      </p:sp>
      <p:sp>
        <p:nvSpPr>
          <p:cNvPr id="197" name="T3"/>
          <p:cNvSpPr/>
          <p:nvPr/>
        </p:nvSpPr>
        <p:spPr>
          <a:xfrm>
            <a:off x="5372100" y="4526280"/>
            <a:ext cx="3086100" cy="3657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airflow</a:t>
            </a:r>
          </a:p>
        </p:txBody>
      </p:sp>
      <p:sp>
        <p:nvSpPr>
          <p:cNvPr id="198" name="T4"/>
          <p:cNvSpPr/>
          <p:nvPr/>
        </p:nvSpPr>
        <p:spPr>
          <a:xfrm>
            <a:off x="5372100" y="4892040"/>
            <a:ext cx="3086100" cy="3657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i="1" strike="sngStrike" dirty="0">
                <a:solidFill>
                  <a:srgbClr val="555960"/>
                </a:solidFill>
              </a:rPr>
              <a:t>battery capacity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How do we find out whether we judged right?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ectionLabel"/>
          <p:cNvSpPr txBox="1"/>
          <p:nvPr/>
        </p:nvSpPr>
        <p:spPr>
          <a:xfrm>
            <a:off x="685800" y="1243584"/>
            <a:ext cx="7772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000" b="1" i="0" dirty="0">
                <a:solidFill>
                  <a:srgbClr val="8E6F3E"/>
                </a:solidFill>
              </a:rPr>
              <a:t>SECTION 3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700784"/>
            <a:ext cx="7772400" cy="100584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>THE EVIDENCE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20</a:t>
            </a:fld>
            <a:endParaRPr lang="en-US"/>
          </a:p>
        </p:txBody>
      </p:sp>
      <p:sp>
        <p:nvSpPr>
          <p:cNvPr id="101" name="Question"/>
          <p:cNvSpPr txBox="1"/>
          <p:nvPr/>
        </p:nvSpPr>
        <p:spPr>
          <a:xfrm>
            <a:off x="685800" y="2798064"/>
            <a:ext cx="7772400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2400" b="0" i="0" dirty="0">
                <a:solidFill>
                  <a:srgbClr val="5C4826"/>
                </a:solidFill>
              </a:rPr>
              <a:t>How do you find out whether you left out the right things?</a:t>
            </a:r>
          </a:p>
        </p:txBody>
      </p:sp>
      <p:sp>
        <p:nvSpPr>
          <p:cNvPr id="103" name="Rule"/>
          <p:cNvSpPr/>
          <p:nvPr/>
        </p:nvSpPr>
        <p:spPr>
          <a:xfrm>
            <a:off x="3429000" y="3584448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0" name="N0"/>
          <p:cNvSpPr/>
          <p:nvPr/>
        </p:nvSpPr>
        <p:spPr>
          <a:xfrm>
            <a:off x="722376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0" rIns="27432" bIns="6858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ENGINEERING QUESTION</a:t>
            </a:r>
          </a:p>
        </p:txBody>
      </p:sp>
      <p:cxnSp>
        <p:nvCxnSpPr>
          <p:cNvPr id="120" name="NA0"/>
          <p:cNvCxnSpPr/>
          <p:nvPr/>
        </p:nvCxnSpPr>
        <p:spPr>
          <a:xfrm>
            <a:off x="2432304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N1"/>
          <p:cNvSpPr/>
          <p:nvPr/>
        </p:nvSpPr>
        <p:spPr>
          <a:xfrm>
            <a:off x="2724912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MODEL</a:t>
            </a:r>
          </a:p>
        </p:txBody>
      </p:sp>
      <p:cxnSp>
        <p:nvCxnSpPr>
          <p:cNvPr id="121" name="NA1"/>
          <p:cNvCxnSpPr/>
          <p:nvPr/>
        </p:nvCxnSpPr>
        <p:spPr>
          <a:xfrm>
            <a:off x="4434840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2" name="N2"/>
          <p:cNvSpPr/>
          <p:nvPr/>
        </p:nvSpPr>
        <p:spPr>
          <a:xfrm>
            <a:off x="4727448" y="4718304"/>
            <a:ext cx="1700784" cy="566928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555960"/>
                </a:solidFill>
              </a:rPr>
              <a:t>PROPERTY</a:t>
            </a:r>
          </a:p>
        </p:txBody>
      </p:sp>
      <p:cxnSp>
        <p:nvCxnSpPr>
          <p:cNvPr id="122" name="NA2"/>
          <p:cNvCxnSpPr/>
          <p:nvPr/>
        </p:nvCxnSpPr>
        <p:spPr>
          <a:xfrm>
            <a:off x="6437376" y="5001768"/>
            <a:ext cx="274320" cy="0"/>
          </a:xfrm>
          <a:prstGeom prst="straightConnector1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N3"/>
          <p:cNvSpPr/>
          <p:nvPr/>
        </p:nvSpPr>
        <p:spPr>
          <a:xfrm>
            <a:off x="6729984" y="4718304"/>
            <a:ext cx="1700784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>QUALITY</a:t>
            </a:r>
          </a:p>
        </p:txBody>
      </p:sp>
      <p:sp>
        <p:nvSpPr>
          <p:cNvPr id="130" name="SubLine"/>
          <p:cNvSpPr txBox="1"/>
          <p:nvPr/>
        </p:nvSpPr>
        <p:spPr>
          <a:xfrm>
            <a:off x="685800" y="3657600"/>
            <a:ext cx="7772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Two production cases from DocAble — one vindicated, one refuted.</a:t>
            </a:r>
          </a:p>
        </p:txBody>
      </p:sp>
      <p:sp>
        <p:nvSpPr>
          <p:cNvPr id="131" name="VTagL"/>
          <p:cNvSpPr/>
          <p:nvPr/>
        </p:nvSpPr>
        <p:spPr>
          <a:xfrm>
            <a:off x="201168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✓ THE LEASE</a:t>
            </a:r>
          </a:p>
        </p:txBody>
      </p:sp>
      <p:sp>
        <p:nvSpPr>
          <p:cNvPr id="132" name="VTagR"/>
          <p:cNvSpPr/>
          <p:nvPr/>
        </p:nvSpPr>
        <p:spPr>
          <a:xfrm>
            <a:off x="4846320" y="397764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✗ ENTITLEMENT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Too much reduction loses the obligation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21</a:t>
            </a:fld>
            <a:endParaRPr lang="en-US"/>
          </a:p>
        </p:txBody>
      </p:sp>
      <p:sp>
        <p:nvSpPr>
          <p:cNvPr id="10" name="Intro"/>
          <p:cNvSpPr txBox="1"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An admission decision reduced entitlement to a single credit count.</a:t>
            </a:r>
          </a:p>
        </p:txBody>
      </p:sp>
      <p:sp>
        <p:nvSpPr>
          <p:cNvPr id="11" name="Acct1"/>
          <p:cNvSpPr/>
          <p:nvPr/>
        </p:nvSpPr>
        <p:spPr>
          <a:xfrm>
            <a:off x="411480" y="1691640"/>
            <a:ext cx="2971800" cy="246888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8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ACCOUNT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plan: professional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entitlement: unlimited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renewal: monthly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org, roles, history …</a:t>
            </a:r>
          </a:p>
        </p:txBody>
      </p:sp>
      <p:sp>
        <p:nvSpPr>
          <p:cNvPr id="12" name="ArrLbl"/>
          <p:cNvSpPr txBox="1"/>
          <p:nvPr/>
        </p:nvSpPr>
        <p:spPr>
          <a:xfrm>
            <a:off x="3474720" y="2560320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REDUCE TO A SCALAR</a:t>
            </a:r>
          </a:p>
        </p:txBody>
      </p:sp>
      <p:cxnSp>
        <p:nvCxnSpPr>
          <p:cNvPr id="13" name="AR1"/>
          <p:cNvCxnSpPr/>
          <p:nvPr/>
        </p:nvCxnSpPr>
        <p:spPr>
          <a:xfrm>
            <a:off x="3474720" y="2926080"/>
            <a:ext cx="205740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4" name="Card1"/>
          <p:cNvSpPr/>
          <p:nvPr/>
        </p:nvSpPr>
        <p:spPr>
          <a:xfrm>
            <a:off x="5623560" y="2560320"/>
            <a:ext cx="3062280" cy="73152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FF"/>
                </a:solidFill>
              </a:rPr>
              <a:t>credits_remaining: 0</a:t>
            </a:r>
          </a:p>
        </p:txBody>
      </p:sp>
      <p:sp>
        <p:nvSpPr>
          <p:cNvPr id="15" name="CLbl1"/>
          <p:cNvSpPr txBox="1"/>
          <p:nvPr/>
        </p:nvSpPr>
        <p:spPr>
          <a:xfrm>
            <a:off x="5623560" y="3383280"/>
            <a:ext cx="3062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whole model of entitlement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4503420" y="2926080"/>
            <a:ext cx="0" cy="86868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3611880" y="388620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Note1"/>
          <p:cNvSpPr txBox="1"/>
          <p:nvPr/>
        </p:nvSpPr>
        <p:spPr>
          <a:xfrm>
            <a:off x="5486400" y="3931920"/>
            <a:ext cx="3200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55960"/>
                </a:solidFill>
              </a:rPr>
              <a:t>nowhere to live in a scalar</a:t>
            </a:r>
          </a:p>
        </p:txBody>
      </p:sp>
      <p:sp>
        <p:nvSpPr>
          <p:cNvPr id="19" name="Outcome"/>
          <p:cNvSpPr txBox="1"/>
          <p:nvPr/>
        </p:nvSpPr>
        <p:spPr>
          <a:xfrm>
            <a:off x="365760" y="4709160"/>
            <a:ext cx="8412480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/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implementation knew the account was unlimited. The model could not say so.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An unlimited user became zero credits.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Good reduction leaves implementation free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22</a:t>
            </a:fld>
            <a:endParaRPr lang="en-US"/>
          </a:p>
        </p:txBody>
      </p:sp>
      <p:sp>
        <p:nvSpPr>
          <p:cNvPr id="10" name="LeaseC"/>
          <p:cNvSpPr/>
          <p:nvPr/>
        </p:nvSpPr>
        <p:spPr>
          <a:xfrm>
            <a:off x="1874520" y="1188720"/>
            <a:ext cx="5394960" cy="12344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THE LEASE MODEL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owner · generation · lifetime · reclamation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forbidden: releasing a lease under a stale generation</a:t>
            </a:r>
          </a:p>
        </p:txBody>
      </p:sp>
      <p:sp>
        <p:nvSpPr>
          <p:cNvPr id="11" name="CapC"/>
          <p:cNvSpPr txBox="1"/>
          <p:nvPr/>
        </p:nvSpPr>
        <p:spPr>
          <a:xfrm>
            <a:off x="1874520" y="2514600"/>
            <a:ext cx="53949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✓ unchanged — the model did not move</a:t>
            </a:r>
          </a:p>
        </p:txBody>
      </p:sp>
      <p:sp>
        <p:nvSpPr>
          <p:cNvPr id="12" name="OmitL"/>
          <p:cNvSpPr txBox="1"/>
          <p:nvPr/>
        </p:nvSpPr>
        <p:spPr>
          <a:xfrm>
            <a:off x="365760" y="2971800"/>
            <a:ext cx="84124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600" b="0" i="1" dirty="0">
                <a:solidFill>
                  <a:srgbClr val="555960"/>
                </a:solidFill>
              </a:rPr>
              <a:t>omitted from the model: the processing topology</a:t>
            </a:r>
          </a:p>
        </p:txBody>
      </p:sp>
      <p:sp>
        <p:nvSpPr>
          <p:cNvPr id="13" name="PanB"/>
          <p:cNvSpPr/>
          <p:nvPr/>
        </p:nvSpPr>
        <p:spPr>
          <a:xfrm>
            <a:off x="64008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BEFORE</a:t>
            </a:r>
          </a:p>
        </p:txBody>
      </p:sp>
      <p:sp>
        <p:nvSpPr>
          <p:cNvPr id="14" name="Mb1"/>
          <p:cNvSpPr/>
          <p:nvPr/>
        </p:nvSpPr>
        <p:spPr>
          <a:xfrm>
            <a:off x="868680" y="3908520"/>
            <a:ext cx="2926080" cy="54864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one service, one pass over the document</a:t>
            </a:r>
          </a:p>
        </p:txBody>
      </p:sp>
      <p:sp>
        <p:nvSpPr>
          <p:cNvPr id="15" name="PanA"/>
          <p:cNvSpPr/>
          <p:nvPr/>
        </p:nvSpPr>
        <p:spPr>
          <a:xfrm>
            <a:off x="5120640" y="3337560"/>
            <a:ext cx="3383280" cy="13716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AFTER</a:t>
            </a:r>
          </a:p>
        </p:txBody>
      </p:sp>
      <p:sp>
        <p:nvSpPr>
          <p:cNvPr id="16" name="Mb2"/>
          <p:cNvSpPr/>
          <p:nvPr/>
        </p:nvSpPr>
        <p:spPr>
          <a:xfrm>
            <a:off x="5349240" y="3794760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fan out across chunk workers</a:t>
            </a:r>
          </a:p>
        </p:txBody>
      </p:sp>
      <p:sp>
        <p:nvSpPr>
          <p:cNvPr id="17" name="Mb3"/>
          <p:cNvSpPr/>
          <p:nvPr/>
        </p:nvSpPr>
        <p:spPr>
          <a:xfrm>
            <a:off x="5349240" y="4270248"/>
            <a:ext cx="2926080" cy="3840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C4826"/>
                </a:solidFill>
              </a:rPr>
              <a:t>merge the results</a:t>
            </a:r>
          </a:p>
        </p:txBody>
      </p:sp>
      <p:cxnSp>
        <p:nvCxnSpPr>
          <p:cNvPr id="18" name="ChgA"/>
          <p:cNvCxnSpPr/>
          <p:nvPr/>
        </p:nvCxnSpPr>
        <p:spPr>
          <a:xfrm>
            <a:off x="4023360" y="4023360"/>
            <a:ext cx="109728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9" name="ChgL"/>
          <p:cNvSpPr txBox="1"/>
          <p:nvPr/>
        </p:nvSpPr>
        <p:spPr>
          <a:xfrm>
            <a:off x="4046220" y="3437890"/>
            <a:ext cx="105156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the topology changed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omission was tested by reality, and passed.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“We changed the pointers to the code, but not the model.”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evidence, side by side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23</a:t>
            </a:fld>
            <a:endParaRPr lang="en-US"/>
          </a:p>
        </p:txBody>
      </p:sp>
      <p:sp>
        <p:nvSpPr>
          <p:cNvPr id="10" name="H1"/>
          <p:cNvSpPr/>
          <p:nvPr/>
        </p:nvSpPr>
        <p:spPr>
          <a:xfrm>
            <a:off x="27432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THE LEASE</a:t>
            </a:r>
          </a:p>
        </p:txBody>
      </p:sp>
      <p:sp>
        <p:nvSpPr>
          <p:cNvPr id="11" name="H2"/>
          <p:cNvSpPr/>
          <p:nvPr/>
        </p:nvSpPr>
        <p:spPr>
          <a:xfrm>
            <a:off x="5715000" y="1280160"/>
            <a:ext cx="292608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ENTITLEMENT</a:t>
            </a:r>
          </a:p>
        </p:txBody>
      </p:sp>
      <p:sp>
        <p:nvSpPr>
          <p:cNvPr id="20" name="L1"/>
          <p:cNvSpPr/>
          <p:nvPr/>
        </p:nvSpPr>
        <p:spPr>
          <a:xfrm>
            <a:off x="502920" y="178308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candidate omission</a:t>
            </a:r>
          </a:p>
        </p:txBody>
      </p:sp>
      <p:sp>
        <p:nvSpPr>
          <p:cNvPr id="21" name="C11"/>
          <p:cNvSpPr/>
          <p:nvPr/>
        </p:nvSpPr>
        <p:spPr>
          <a:xfrm>
            <a:off x="27432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processing topology</a:t>
            </a:r>
          </a:p>
        </p:txBody>
      </p:sp>
      <p:sp>
        <p:nvSpPr>
          <p:cNvPr id="22" name="C12"/>
          <p:cNvSpPr/>
          <p:nvPr/>
        </p:nvSpPr>
        <p:spPr>
          <a:xfrm>
            <a:off x="5715000" y="178308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the unlimited plan</a:t>
            </a:r>
          </a:p>
        </p:txBody>
      </p:sp>
      <p:sp>
        <p:nvSpPr>
          <p:cNvPr id="23" name="L2"/>
          <p:cNvSpPr/>
          <p:nvPr/>
        </p:nvSpPr>
        <p:spPr>
          <a:xfrm>
            <a:off x="502920" y="242316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top-down judgment</a:t>
            </a:r>
          </a:p>
        </p:txBody>
      </p:sp>
      <p:sp>
        <p:nvSpPr>
          <p:cNvPr id="24" name="C21"/>
          <p:cNvSpPr/>
          <p:nvPr/>
        </p:nvSpPr>
        <p:spPr>
          <a:xfrm>
            <a:off x="27432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not required by the question</a:t>
            </a:r>
          </a:p>
        </p:txBody>
      </p:sp>
      <p:sp>
        <p:nvSpPr>
          <p:cNvPr id="25" name="C22"/>
          <p:cNvSpPr/>
          <p:nvPr/>
        </p:nvSpPr>
        <p:spPr>
          <a:xfrm>
            <a:off x="5715000" y="242316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required by the obligation</a:t>
            </a:r>
          </a:p>
        </p:txBody>
      </p:sp>
      <p:sp>
        <p:nvSpPr>
          <p:cNvPr id="26" name="L3"/>
          <p:cNvSpPr/>
          <p:nvPr/>
        </p:nvSpPr>
        <p:spPr>
          <a:xfrm>
            <a:off x="502920" y="3063240"/>
            <a:ext cx="2194560" cy="5943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bottom-up judgment</a:t>
            </a:r>
          </a:p>
        </p:txBody>
      </p:sp>
      <p:sp>
        <p:nvSpPr>
          <p:cNvPr id="27" name="C31"/>
          <p:cNvSpPr/>
          <p:nvPr/>
        </p:nvSpPr>
        <p:spPr>
          <a:xfrm>
            <a:off x="27432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safe to remove</a:t>
            </a:r>
          </a:p>
        </p:txBody>
      </p:sp>
      <p:sp>
        <p:nvSpPr>
          <p:cNvPr id="28" name="C32"/>
          <p:cNvSpPr/>
          <p:nvPr/>
        </p:nvSpPr>
        <p:spPr>
          <a:xfrm>
            <a:off x="5715000" y="3063240"/>
            <a:ext cx="2926080" cy="5943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55960"/>
                </a:solidFill>
              </a:rPr>
              <a:t>cannot remove</a:t>
            </a:r>
          </a:p>
        </p:txBody>
      </p:sp>
      <p:sp>
        <p:nvSpPr>
          <p:cNvPr id="29" name="L4"/>
          <p:cNvSpPr/>
          <p:nvPr/>
        </p:nvSpPr>
        <p:spPr>
          <a:xfrm>
            <a:off x="502920" y="3703320"/>
            <a:ext cx="219456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evidence</a:t>
            </a:r>
          </a:p>
        </p:txBody>
      </p:sp>
      <p:sp>
        <p:nvSpPr>
          <p:cNvPr id="30" name="C41"/>
          <p:cNvSpPr/>
          <p:nvPr/>
        </p:nvSpPr>
        <p:spPr>
          <a:xfrm>
            <a:off x="27432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topology changed; model held ✓</a:t>
            </a:r>
          </a:p>
        </p:txBody>
      </p:sp>
      <p:sp>
        <p:nvSpPr>
          <p:cNvPr id="31" name="C42"/>
          <p:cNvSpPr/>
          <p:nvPr/>
        </p:nvSpPr>
        <p:spPr>
          <a:xfrm>
            <a:off x="5715000" y="3703320"/>
            <a:ext cx="2926080" cy="685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FFFFFF"/>
                </a:solidFill>
              </a:rPr>
              <a:t>a wrong production decision ✗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Represent no more than the question requires, but no less than the obligation requires.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Three rows of method. One row of evidence.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Obligation and specification are different boundaries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24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97280"/>
            <a:ext cx="8412480" cy="393192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8E6F3E"/>
                </a:solidFill>
              </a:rPr>
              <a:t>HOW MUCH MUST WE SAY?</a:t>
            </a:r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Scaf1"/>
          <p:cNvSpPr/>
          <p:nvPr/>
        </p:nvSpPr>
        <p:spPr>
          <a:xfrm>
            <a:off x="1005840" y="2103120"/>
            <a:ext cx="4023360" cy="237744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Oblig1"/>
          <p:cNvSpPr/>
          <p:nvPr/>
        </p:nvSpPr>
        <p:spPr>
          <a:xfrm>
            <a:off x="1508760" y="2560320"/>
            <a:ext cx="301752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3" name="ScafL"/>
          <p:cNvSpPr txBox="1"/>
          <p:nvPr/>
        </p:nvSpPr>
        <p:spPr>
          <a:xfrm>
            <a:off x="1005840" y="3794760"/>
            <a:ext cx="402336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4" name="DofL"/>
          <p:cNvSpPr txBox="1"/>
          <p:nvPr/>
        </p:nvSpPr>
        <p:spPr>
          <a:xfrm>
            <a:off x="502920" y="452628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DEGREES OF FREEDOM — the rest is the agent’s</a:t>
            </a:r>
          </a:p>
        </p:txBody>
      </p:sp>
      <p:sp>
        <p:nvSpPr>
          <p:cNvPr id="15" name="SpLbl"/>
          <p:cNvSpPr txBox="1"/>
          <p:nvPr/>
        </p:nvSpPr>
        <p:spPr>
          <a:xfrm>
            <a:off x="5806440" y="19659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the edge of what we write down</a:t>
            </a:r>
          </a:p>
        </p:txBody>
      </p:sp>
      <p:cxnSp>
        <p:nvCxnSpPr>
          <p:cNvPr id="16" name="SpLd"/>
          <p:cNvCxnSpPr/>
          <p:nvPr/>
        </p:nvCxnSpPr>
        <p:spPr>
          <a:xfrm>
            <a:off x="5074920" y="2240280"/>
            <a:ext cx="6858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ObLbl"/>
          <p:cNvSpPr txBox="1"/>
          <p:nvPr/>
        </p:nvSpPr>
        <p:spPr>
          <a:xfrm>
            <a:off x="580644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5C4826"/>
                </a:solidFill>
              </a:rPr>
              <a:t>obligation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fixed by what must be true</a:t>
            </a:r>
          </a:p>
        </p:txBody>
      </p:sp>
      <p:cxnSp>
        <p:nvCxnSpPr>
          <p:cNvPr id="18" name="ObLd"/>
          <p:cNvCxnSpPr/>
          <p:nvPr/>
        </p:nvCxnSpPr>
        <p:spPr>
          <a:xfrm>
            <a:off x="4572000" y="3017520"/>
            <a:ext cx="118872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Specified region = obligation + scaffolding; outside it, degrees of freedom.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Two boundaries, not one.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 reduce scaffolding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25</a:t>
            </a:fld>
            <a:endParaRPr lang="en-US"/>
          </a:p>
        </p:txBody>
      </p:sp>
      <p:sp>
        <p:nvSpPr>
          <p:cNvPr id="10" name="DOF1"/>
          <p:cNvSpPr/>
          <p:nvPr/>
        </p:nvSpPr>
        <p:spPr>
          <a:xfrm>
            <a:off x="502920" y="1737360"/>
            <a:ext cx="5029200" cy="310896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1" name="OldB1"/>
          <p:cNvSpPr/>
          <p:nvPr/>
        </p:nvSpPr>
        <p:spPr>
          <a:xfrm>
            <a:off x="777240" y="1943100"/>
            <a:ext cx="4480560" cy="2697480"/>
          </a:xfrm>
          <a:prstGeom prst="rect">
            <a:avLst/>
          </a:prstGeom>
          <a:noFill/>
          <a:ln w="12700">
            <a:solidFill>
              <a:srgbClr val="8E6F3E"/>
            </a:solidFill>
            <a:prstDash val="dash"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2" name="Scaf1"/>
          <p:cNvSpPr/>
          <p:nvPr/>
        </p:nvSpPr>
        <p:spPr>
          <a:xfrm>
            <a:off x="1280160" y="2286000"/>
            <a:ext cx="3520440" cy="2011680"/>
          </a:xfrm>
          <a:prstGeom prst="rect">
            <a:avLst/>
          </a:prstGeom>
          <a:solidFill>
            <a:srgbClr val="C9B991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  <p:sp>
        <p:nvSpPr>
          <p:cNvPr id="13" name="Oblig1"/>
          <p:cNvSpPr/>
          <p:nvPr/>
        </p:nvSpPr>
        <p:spPr>
          <a:xfrm>
            <a:off x="1737360" y="2743200"/>
            <a:ext cx="2606040" cy="100584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FFFFFF"/>
                </a:solidFill>
              </a:rPr>
              <a:t>OBLIGATION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FFFFFF"/>
                </a:solidFill>
              </a:rPr>
              <a:t>what must be true</a:t>
            </a:r>
          </a:p>
        </p:txBody>
      </p:sp>
      <p:sp>
        <p:nvSpPr>
          <p:cNvPr id="14" name="ScafL"/>
          <p:cNvSpPr txBox="1"/>
          <p:nvPr/>
        </p:nvSpPr>
        <p:spPr>
          <a:xfrm>
            <a:off x="1280160" y="3886200"/>
            <a:ext cx="35204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SCAFFOLDING — what this agent needs</a:t>
            </a:r>
          </a:p>
        </p:txBody>
      </p:sp>
      <p:sp>
        <p:nvSpPr>
          <p:cNvPr id="15" name="OldL"/>
          <p:cNvSpPr txBox="1"/>
          <p:nvPr/>
        </p:nvSpPr>
        <p:spPr>
          <a:xfrm>
            <a:off x="5806440" y="18973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less capable agent</a:t>
            </a:r>
          </a:p>
        </p:txBody>
      </p:sp>
      <p:cxnSp>
        <p:nvCxnSpPr>
          <p:cNvPr id="16" name="OldLd"/>
          <p:cNvCxnSpPr/>
          <p:nvPr/>
        </p:nvCxnSpPr>
        <p:spPr>
          <a:xfrm>
            <a:off x="5303520" y="2171700"/>
            <a:ext cx="4572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sp>
        <p:nvSpPr>
          <p:cNvPr id="17" name="NewL"/>
          <p:cNvSpPr txBox="1"/>
          <p:nvPr/>
        </p:nvSpPr>
        <p:spPr>
          <a:xfrm>
            <a:off x="5806440" y="2651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8E6F3E"/>
                </a:solidFill>
              </a:rPr>
              <a:t>specification boundary</a:t>
            </a:r>
          </a:p>
          <a:p>
            <a:pPr algn="l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more capable agent</a:t>
            </a:r>
          </a:p>
        </p:txBody>
      </p:sp>
      <p:cxnSp>
        <p:nvCxnSpPr>
          <p:cNvPr id="18" name="NewLd"/>
          <p:cNvCxnSpPr/>
          <p:nvPr/>
        </p:nvCxnSpPr>
        <p:spPr>
          <a:xfrm>
            <a:off x="4846320" y="2926080"/>
            <a:ext cx="914400" cy="0"/>
          </a:xfrm>
          <a:prstGeom prst="straightConnector1">
            <a:avLst/>
          </a:prstGeom>
          <a:ln w="12700">
            <a:solidFill>
              <a:srgbClr val="555960"/>
            </a:solidFill>
            <a:headEnd type="triangle" w="med" len="med"/>
          </a:ln>
        </p:spPr>
      </p:cxnSp>
      <p:cxnSp>
        <p:nvCxnSpPr>
          <p:cNvPr id="19" name="MvA"/>
          <p:cNvCxnSpPr/>
          <p:nvPr/>
        </p:nvCxnSpPr>
        <p:spPr>
          <a:xfrm>
            <a:off x="4800600" y="3520440"/>
            <a:ext cx="457200" cy="0"/>
          </a:xfrm>
          <a:prstGeom prst="straightConnector1">
            <a:avLst/>
          </a:prstGeom>
          <a:ln w="28575">
            <a:solidFill>
              <a:srgbClr val="8E6F3E"/>
            </a:solidFill>
            <a:headEnd type="triangle" w="med" len="med"/>
          </a:ln>
        </p:spPr>
      </p:cxnSp>
      <p:sp>
        <p:nvSpPr>
          <p:cNvPr id="20" name="MvLbl"/>
          <p:cNvSpPr txBox="1"/>
          <p:nvPr/>
        </p:nvSpPr>
        <p:spPr>
          <a:xfrm>
            <a:off x="5806440" y="3291840"/>
            <a:ext cx="3017520" cy="868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500" b="1" dirty="0">
                <a:solidFill>
                  <a:srgbClr val="5C4826"/>
                </a:solidFill>
              </a:rPr>
              <a:t>greater agent capability can reduce required scaffolding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How little must we specify for this agent, while preserving the obligation?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The specification boundary moves inward.</a:t>
            </a:r>
          </a:p>
        </p:txBody>
      </p:sp>
      <p:sp>
        <p:nvSpPr>
          <p:cNvPr id="200" name="DofL25"/>
          <p:cNvSpPr txBox="1"/>
          <p:nvPr/>
        </p:nvSpPr>
        <p:spPr>
          <a:xfrm>
            <a:off x="502920" y="4640580"/>
            <a:ext cx="5029200" cy="20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300" b="0" dirty="0">
                <a:solidFill>
                  <a:srgbClr val="555960"/>
                </a:solidFill>
              </a:rPr>
              <a:t>DEGREES OF FREEDOM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Capability cannot reduce what must be true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26</a:t>
            </a:fld>
            <a:endParaRPr lang="en-US"/>
          </a:p>
        </p:txBody>
      </p:sp>
      <p:sp>
        <p:nvSpPr>
          <p:cNvPr id="10" name="LeadLn"/>
          <p:cNvSpPr txBox="1"/>
          <p:nvPr/>
        </p:nvSpPr>
        <p:spPr>
          <a:xfrm>
            <a:off x="365760" y="1188720"/>
            <a:ext cx="841248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anchor="t">
            <a:spAutoFit/>
          </a:bodyPr>
          <a:lstStyle/>
          <a:p>
            <a:pPr algn="ctr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55960"/>
                </a:solidFill>
              </a:rPr>
              <a:t>The specification boundary moves with capability. The obligation boundary does not.</a:t>
            </a:r>
          </a:p>
        </p:txBody>
      </p:sp>
      <p:sp>
        <p:nvSpPr>
          <p:cNvPr id="11" name="St1"/>
          <p:cNvSpPr/>
          <p:nvPr/>
        </p:nvSpPr>
        <p:spPr>
          <a:xfrm>
            <a:off x="548640" y="2240280"/>
            <a:ext cx="237744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UPSTREAM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the reduction happens here</a:t>
            </a:r>
          </a:p>
        </p:txBody>
      </p:sp>
      <p:cxnSp>
        <p:nvCxnSpPr>
          <p:cNvPr id="12" name="Ar1"/>
          <p:cNvCxnSpPr/>
          <p:nvPr/>
        </p:nvCxnSpPr>
        <p:spPr>
          <a:xfrm>
            <a:off x="297180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3" name="St2"/>
          <p:cNvSpPr/>
          <p:nvPr/>
        </p:nvSpPr>
        <p:spPr>
          <a:xfrm>
            <a:off x="3611880" y="2240280"/>
            <a:ext cx="1874520" cy="86868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555960"/>
                </a:solidFill>
              </a:rPr>
              <a:t>THE PIPELINE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stage after stage</a:t>
            </a:r>
          </a:p>
        </p:txBody>
      </p:sp>
      <p:cxnSp>
        <p:nvCxnSpPr>
          <p:cNvPr id="14" name="Ar2"/>
          <p:cNvCxnSpPr/>
          <p:nvPr/>
        </p:nvCxnSpPr>
        <p:spPr>
          <a:xfrm>
            <a:off x="5532120" y="2674620"/>
            <a:ext cx="594360" cy="0"/>
          </a:xfrm>
          <a:prstGeom prst="straightConnector1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15" name="St3"/>
          <p:cNvSpPr/>
          <p:nvPr/>
        </p:nvSpPr>
        <p:spPr>
          <a:xfrm>
            <a:off x="6172200" y="2240280"/>
            <a:ext cx="2423160" cy="868680"/>
          </a:xfrm>
          <a:prstGeom prst="rect">
            <a:avLst/>
          </a:prstGeom>
          <a:solidFill>
            <a:srgbClr val="5C4826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DOWNSTREAM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dirty="0">
                <a:solidFill>
                  <a:srgbClr val="FFFFFF"/>
                </a:solidFill>
              </a:rPr>
              <a:t>an arbitrarily capable agent</a:t>
            </a:r>
          </a:p>
        </p:txBody>
      </p:sp>
      <p:cxnSp>
        <p:nvCxnSpPr>
          <p:cNvPr id="16" name="DropC"/>
          <p:cNvCxnSpPr/>
          <p:nvPr/>
        </p:nvCxnSpPr>
        <p:spPr>
          <a:xfrm>
            <a:off x="1737360" y="3108960"/>
            <a:ext cx="0" cy="777240"/>
          </a:xfrm>
          <a:prstGeom prst="straightConnector1">
            <a:avLst/>
          </a:prstGeom>
          <a:ln w="1270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7" name="Drop1"/>
          <p:cNvSpPr/>
          <p:nvPr/>
        </p:nvSpPr>
        <p:spPr>
          <a:xfrm>
            <a:off x="845820" y="3931920"/>
            <a:ext cx="1783080" cy="402336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1600" b="1" dirty="0">
                <a:solidFill>
                  <a:srgbClr val="8E6F3E"/>
                </a:solidFill>
              </a:rPr>
              <a:t>✗ unlimited</a:t>
            </a:r>
          </a:p>
        </p:txBody>
      </p:sp>
      <p:sp>
        <p:nvSpPr>
          <p:cNvPr id="18" name="DropL"/>
          <p:cNvSpPr txBox="1"/>
          <p:nvPr/>
        </p:nvSpPr>
        <p:spPr>
          <a:xfrm>
            <a:off x="685800" y="44348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dropped here, in the model</a:t>
            </a:r>
          </a:p>
        </p:txBody>
      </p:sp>
      <p:sp>
        <p:nvSpPr>
          <p:cNvPr id="19" name="EmptyL"/>
          <p:cNvSpPr txBox="1"/>
          <p:nvPr/>
        </p:nvSpPr>
        <p:spPr>
          <a:xfrm>
            <a:off x="6126480" y="3291840"/>
            <a:ext cx="2743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arrives to recover; the distinction no longer exists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4983480"/>
            <a:ext cx="85953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0"/>
              </a:spcAft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limit is semantic, not a shortfall of intelligence.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What reduction removed, no capability restores.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Reduce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Same controller, new question: </a:t>
            </a:r>
            <a:r>
              <a:rPr lang="en-US" sz="1800" b="1" dirty="0">
                <a:solidFill>
                  <a:srgbClr val="5C4826"/>
                </a:solidFill>
              </a:rPr>
              <a:t>can the device respond to an over-temperature condition within 50 ms?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YOUR TASK — TOP-DOWN, THEN BOTTOM-UP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1.  Top-down: what distinctions must your model preserve?</a:t>
            </a:r>
          </a:p>
          <a:p>
            <a:pPr marL="228600" indent="-228600"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2.  Bottom-up: justify every distinction you kept.</a:t>
            </a:r>
          </a:p>
          <a:p>
            <a:pPr marL="228600" indent="-228600"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3.  Name at least three facts about the real system your model deliberately omits.</a:t>
            </a:r>
          </a:p>
        </p:txBody>
      </p:sp>
      <p:sp>
        <p:nvSpPr>
          <p:cNvPr id="8" name="DbfL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DEBRIEF</a:t>
            </a:r>
          </a:p>
        </p:txBody>
      </p:sp>
      <p:sp>
        <p:nvSpPr>
          <p:cNvPr id="9" name="DBox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pPr algn="ctr">
              <a:spcAft>
                <a:spcPts val="12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Everything converges on one chain: sample → schedule → compute → actuate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T</a:t>
            </a:r>
            <a:r>
              <a:rPr lang="en-US" sz="1400" b="1" baseline="-25000" dirty="0">
                <a:solidFill>
                  <a:srgbClr val="5C4826"/>
                </a:solidFill>
              </a:rPr>
              <a:t>sample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schedule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compute</a:t>
            </a:r>
            <a:r>
              <a:rPr lang="en-US" sz="2000" b="1" dirty="0">
                <a:solidFill>
                  <a:srgbClr val="5C4826"/>
                </a:solidFill>
              </a:rPr>
              <a:t> + T</a:t>
            </a:r>
            <a:r>
              <a:rPr lang="en-US" sz="1400" b="1" baseline="-25000" dirty="0">
                <a:solidFill>
                  <a:srgbClr val="5C4826"/>
                </a:solidFill>
              </a:rPr>
              <a:t>actuate</a:t>
            </a:r>
            <a:r>
              <a:rPr lang="en-US" sz="2000" b="1" dirty="0">
                <a:solidFill>
                  <a:srgbClr val="5C4826"/>
                </a:solidFill>
              </a:rPr>
              <a:t> ≤ 50 ms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Work the model as a team.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10 MINUTES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139696"/>
            <a:ext cx="7772400" cy="1444752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400" b="0" i="0" dirty="0">
                <a:solidFill>
                  <a:srgbClr val="000000"/>
                </a:solidFill>
              </a:rPr>
              <a:t>Stretch break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28</a:t>
            </a:fld>
            <a:endParaRPr lang="en-US"/>
          </a:p>
        </p:txBody>
      </p:sp>
      <p:sp>
        <p:nvSpPr>
          <p:cNvPr id="101" name="Rule"/>
          <p:cNvSpPr/>
          <p:nvPr/>
        </p:nvSpPr>
        <p:spPr>
          <a:xfrm>
            <a:off x="3429000" y="3383280"/>
            <a:ext cx="2286000" cy="51206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>
              <a:buNone/>
            </a:pPr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model is not its representation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29</a:t>
            </a:fld>
            <a:endParaRPr lang="en-US"/>
          </a:p>
        </p:txBody>
      </p:sp>
      <p:sp>
        <p:nvSpPr>
          <p:cNvPr id="6" name="Kicker"/>
          <p:cNvSpPr txBox="1"/>
          <p:nvPr/>
        </p:nvSpPr>
        <p:spPr>
          <a:xfrm>
            <a:off x="365760" y="1005840"/>
            <a:ext cx="841248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MODEL ≠ REPRESENTATION</a:t>
            </a:r>
          </a:p>
        </p:txBody>
      </p:sp>
      <p:sp>
        <p:nvSpPr>
          <p:cNvPr id="7" name="Definitions"/>
          <p:cNvSpPr txBox="1"/>
          <p:nvPr/>
        </p:nvSpPr>
        <p:spPr>
          <a:xfrm>
            <a:off x="365760" y="141478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Model</a:t>
            </a:r>
            <a:r>
              <a:rPr lang="en-US" sz="1800" b="0" dirty="0">
                <a:solidFill>
                  <a:srgbClr val="555960"/>
                </a:solidFill>
              </a:rPr>
              <a:t> — a purposeful reduction of some territory that preserves selected properties for engineering questions.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Representation</a:t>
            </a:r>
            <a:r>
              <a:rPr lang="en-US" sz="1800" b="0" dirty="0">
                <a:solidFill>
                  <a:srgbClr val="555960"/>
                </a:solidFill>
              </a:rPr>
              <a:t> — a concrete form in which a model is inspected, manipulated, analyzed, or consumed.</a:t>
            </a:r>
          </a:p>
        </p:txBody>
      </p:sp>
      <p:sp>
        <p:nvSpPr>
          <p:cNvPr id="8" name="Card"/>
          <p:cNvSpPr/>
          <p:nvPr/>
        </p:nvSpPr>
        <p:spPr>
          <a:xfrm>
            <a:off x="3429000" y="2560320"/>
            <a:ext cx="2286000" cy="4572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ONE MODEL</a:t>
            </a:r>
          </a:p>
        </p:txBody>
      </p:sp>
      <p:cxnSp>
        <p:nvCxnSpPr>
          <p:cNvPr id="20" name="L1"/>
          <p:cNvCxnSpPr/>
          <p:nvPr/>
        </p:nvCxnSpPr>
        <p:spPr>
          <a:xfrm flipH="1">
            <a:off x="170976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1" name="L2"/>
          <p:cNvCxnSpPr/>
          <p:nvPr/>
        </p:nvCxnSpPr>
        <p:spPr>
          <a:xfrm>
            <a:off x="4572000" y="3017520"/>
            <a:ext cx="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cxnSp>
        <p:nvCxnSpPr>
          <p:cNvPr id="22" name="L3"/>
          <p:cNvCxnSpPr/>
          <p:nvPr/>
        </p:nvCxnSpPr>
        <p:spPr>
          <a:xfrm>
            <a:off x="4572000" y="3017520"/>
            <a:ext cx="2862240" cy="320040"/>
          </a:xfrm>
          <a:prstGeom prst="line">
            <a:avLst/>
          </a:prstGeom>
          <a:ln w="19050">
            <a:solidFill>
              <a:srgbClr val="C9B991"/>
            </a:solidFill>
          </a:ln>
        </p:spPr>
      </p:cxnSp>
      <p:sp>
        <p:nvSpPr>
          <p:cNvPr id="30" name="P1"/>
          <p:cNvSpPr/>
          <p:nvPr/>
        </p:nvSpPr>
        <p:spPr>
          <a:xfrm>
            <a:off x="36576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buNone/>
            </a:pPr>
            <a:r>
              <a:rPr lang="en-US" sz="1400" b="1" dirty="0">
                <a:solidFill>
                  <a:srgbClr val="5C4826"/>
                </a:solidFill>
              </a:rPr>
              <a:t>STATE DIAGRAM</a:t>
            </a:r>
          </a:p>
        </p:txBody>
      </p:sp>
      <p:sp>
        <p:nvSpPr>
          <p:cNvPr id="31" name="N1"/>
          <p:cNvSpPr/>
          <p:nvPr/>
        </p:nvSpPr>
        <p:spPr>
          <a:xfrm>
            <a:off x="909760" y="374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staged</a:t>
            </a:r>
          </a:p>
        </p:txBody>
      </p:sp>
      <p:cxnSp>
        <p:nvCxnSpPr>
          <p:cNvPr id="32" name="A1"/>
          <p:cNvCxnSpPr/>
          <p:nvPr/>
        </p:nvCxnSpPr>
        <p:spPr>
          <a:xfrm>
            <a:off x="1709760" y="402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3" name="N2"/>
          <p:cNvSpPr/>
          <p:nvPr/>
        </p:nvSpPr>
        <p:spPr>
          <a:xfrm>
            <a:off x="909760" y="430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published</a:t>
            </a:r>
          </a:p>
        </p:txBody>
      </p:sp>
      <p:cxnSp>
        <p:nvCxnSpPr>
          <p:cNvPr id="34" name="A2"/>
          <p:cNvCxnSpPr/>
          <p:nvPr/>
        </p:nvCxnSpPr>
        <p:spPr>
          <a:xfrm>
            <a:off x="1709760" y="4582560"/>
            <a:ext cx="0" cy="280000"/>
          </a:xfrm>
          <a:prstGeom prst="line">
            <a:avLst/>
          </a:prstGeom>
          <a:ln w="19050">
            <a:solidFill>
              <a:srgbClr val="8E6F3E"/>
            </a:solidFill>
            <a:tailEnd type="triangle"/>
          </a:ln>
        </p:spPr>
      </p:cxnSp>
      <p:sp>
        <p:nvSpPr>
          <p:cNvPr id="35" name="N3"/>
          <p:cNvSpPr/>
          <p:nvPr/>
        </p:nvSpPr>
        <p:spPr>
          <a:xfrm>
            <a:off x="909760" y="4862560"/>
            <a:ext cx="1600000" cy="280000"/>
          </a:xfrm>
          <a:prstGeom prst="rect">
            <a:avLst/>
          </a:prstGeom>
          <a:solidFill>
            <a:srgbClr val="FBF8F2"/>
          </a:solidFill>
          <a:ln w="12700">
            <a:solidFill>
              <a:srgbClr val="C9B991"/>
            </a:solidFill>
          </a:ln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en-US" sz="1400" b="0" dirty="0">
                <a:solidFill>
                  <a:srgbClr val="5C4826"/>
                </a:solidFill>
              </a:rPr>
              <a:t>recorded</a:t>
            </a:r>
          </a:p>
        </p:txBody>
      </p:sp>
      <p:sp>
        <p:nvSpPr>
          <p:cNvPr id="40" name="P2"/>
          <p:cNvSpPr/>
          <p:nvPr/>
        </p:nvSpPr>
        <p:spPr>
          <a:xfrm>
            <a:off x="322800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TRANSITION TABLE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8E6F3E"/>
                </a:solidFill>
              </a:rPr>
              <a:t>from  →  to</a:t>
            </a:r>
          </a:p>
          <a:p>
            <a:pPr algn="ctr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 →  published</a:t>
            </a:r>
          </a:p>
          <a:p>
            <a:pPr algn="ctr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published  → 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rows</a:t>
            </a:r>
          </a:p>
        </p:txBody>
      </p:sp>
      <p:sp>
        <p:nvSpPr>
          <p:cNvPr id="41" name="P3"/>
          <p:cNvSpPr/>
          <p:nvPr/>
        </p:nvSpPr>
        <p:spPr>
          <a:xfrm>
            <a:off x="6090240" y="3337560"/>
            <a:ext cx="2688000" cy="20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37160" tIns="68580" rIns="91440" bIns="68580" anchor="t"/>
          <a:lstStyle/>
          <a:p>
            <a:pPr algn="ctr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STRUCTURED TEXT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transitions:</a:t>
            </a:r>
          </a:p>
          <a:p>
            <a:pPr algn="l">
              <a:spcAft>
                <a:spcPts val="6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staged: published</a:t>
            </a:r>
          </a:p>
          <a:p>
            <a:pPr algn="l">
              <a:spcAft>
                <a:spcPts val="10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  published: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nothing else declared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274320" y="5480000"/>
            <a:ext cx="859536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The property — publication precedes the record — is statable in every one of them.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Three representations. One model.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Representation changes interpretation</a:t>
            </a:r>
          </a:p>
        </p:txBody>
      </p:sp>
      <p:sp>
        <p:nvSpPr>
          <p:cNvPr id="3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30</a:t>
            </a:fld>
            <a:endParaRPr lang="en-US"/>
          </a:p>
        </p:txBody>
      </p:sp>
      <p:sp>
        <p:nvSpPr>
          <p:cNvPr id="6" name="PCard"/>
          <p:cNvSpPr/>
          <p:nvPr/>
        </p:nvSpPr>
        <p:spPr>
          <a:xfrm>
            <a:off x="365760" y="1097280"/>
            <a:ext cx="8412480" cy="82296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45720" rIns="91440" bIns="45720" anchor="ctr"/>
          <a:lstStyle/>
          <a:p>
            <a:pPr algn="ctr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5C4826"/>
                </a:solidFill>
              </a:rPr>
              <a:t>P( agent correctly interprets claim c  |  representation r )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one intended claim c — representations differ in how reliably a reader recovers it</a:t>
            </a:r>
          </a:p>
        </p:txBody>
      </p:sp>
      <p:sp>
        <p:nvSpPr>
          <p:cNvPr id="7" name="RA"/>
          <p:cNvSpPr/>
          <p:nvPr/>
        </p:nvSpPr>
        <p:spPr>
          <a:xfrm>
            <a:off x="365760" y="228600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A — TYPED RELATION</a:t>
            </a:r>
          </a:p>
          <a:p>
            <a:pPr algn="ctr">
              <a:spcAft>
                <a:spcPts val="400"/>
              </a:spcAft>
              <a:buNone/>
            </a:pPr>
            <a:r>
              <a:rPr lang="en-US" sz="1500" b="0" dirty="0">
                <a:solidFill>
                  <a:srgbClr val="5C4826"/>
                </a:solidFill>
              </a:rPr>
              <a:t>staged → published → recorded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no other transitions</a:t>
            </a:r>
          </a:p>
        </p:txBody>
      </p:sp>
      <p:sp>
        <p:nvSpPr>
          <p:cNvPr id="8" name="RB"/>
          <p:cNvSpPr/>
          <p:nvPr/>
        </p:nvSpPr>
        <p:spPr>
          <a:xfrm>
            <a:off x="365760" y="3749040"/>
            <a:ext cx="3657600" cy="1143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91440" tIns="68580" rIns="91440" bIns="68580" anchor="t"/>
          <a:lstStyle/>
          <a:p>
            <a:pPr algn="ctr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5C4826"/>
                </a:solidFill>
              </a:rPr>
              <a:t>REPRESENTATION B — INFORMAL PROSE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500" b="0" i="1" dirty="0">
                <a:solidFill>
                  <a:srgbClr val="5C4826"/>
                </a:solidFill>
              </a:rPr>
              <a:t>“Files usually get staged before they show up in the database.”</a:t>
            </a:r>
          </a:p>
        </p:txBody>
      </p:sp>
      <p:sp>
        <p:nvSpPr>
          <p:cNvPr id="9" name="RD"/>
          <p:cNvSpPr/>
          <p:nvPr/>
        </p:nvSpPr>
        <p:spPr>
          <a:xfrm>
            <a:off x="6858000" y="3200400"/>
            <a:ext cx="1828800" cy="82296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spcAft>
                <a:spcPts val="200"/>
              </a:spcAft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READER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i="0" dirty="0">
                <a:solidFill>
                  <a:srgbClr val="FFFFFF"/>
                </a:solidFill>
              </a:rPr>
              <a:t>human or agent</a:t>
            </a:r>
          </a:p>
        </p:txBody>
      </p:sp>
      <p:cxnSp>
        <p:nvCxnSpPr>
          <p:cNvPr id="20" name="AR1"/>
          <p:cNvCxnSpPr/>
          <p:nvPr/>
        </p:nvCxnSpPr>
        <p:spPr>
          <a:xfrm>
            <a:off x="4023360" y="2857500"/>
            <a:ext cx="2834640" cy="54864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cxnSp>
        <p:nvCxnSpPr>
          <p:cNvPr id="21" name="AR2"/>
          <p:cNvCxnSpPr/>
          <p:nvPr/>
        </p:nvCxnSpPr>
        <p:spPr>
          <a:xfrm flipV="1">
            <a:off x="4023360" y="3817620"/>
            <a:ext cx="2834640" cy="502920"/>
          </a:xfrm>
          <a:prstGeom prst="line">
            <a:avLst/>
          </a:prstGeom>
          <a:ln w="28575">
            <a:solidFill>
              <a:srgbClr val="8E6F3E"/>
            </a:solidFill>
            <a:tailEnd type="triangle"/>
          </a:ln>
        </p:spPr>
      </p:cxnSp>
      <p:sp>
        <p:nvSpPr>
          <p:cNvPr id="22" name="AN1"/>
          <p:cNvSpPr txBox="1"/>
          <p:nvPr/>
        </p:nvSpPr>
        <p:spPr>
          <a:xfrm>
            <a:off x="4206240" y="250571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higher</a:t>
            </a:r>
          </a:p>
        </p:txBody>
      </p:sp>
      <p:sp>
        <p:nvSpPr>
          <p:cNvPr id="23" name="AN2"/>
          <p:cNvSpPr txBox="1"/>
          <p:nvPr/>
        </p:nvSpPr>
        <p:spPr>
          <a:xfrm>
            <a:off x="4206240" y="4404360"/>
            <a:ext cx="2560320" cy="3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400" b="0" dirty="0">
                <a:solidFill>
                  <a:srgbClr val="555960"/>
                </a:solidFill>
              </a:rPr>
              <a:t>P(interpret c) lower</a:t>
            </a:r>
          </a:p>
        </p:txBody>
      </p:sp>
      <p:sp>
        <p:nvSpPr>
          <p:cNvPr id="24" name="Couplet"/>
          <p:cNvSpPr txBox="1"/>
          <p:nvPr/>
        </p:nvSpPr>
        <p:spPr>
          <a:xfrm>
            <a:off x="365760" y="5029200"/>
            <a:ext cx="8412480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Reduce freedom of interpretation</a:t>
            </a:r>
            <a:r>
              <a:rPr lang="en-US" sz="1800" b="0" dirty="0">
                <a:solidFill>
                  <a:srgbClr val="555960"/>
                </a:solidFill>
              </a:rPr>
              <a:t> where meaning is consequential.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800" b="1" dirty="0">
                <a:solidFill>
                  <a:srgbClr val="5C4826"/>
                </a:solidFill>
              </a:rPr>
              <a:t>Preserve freedom of realization</a:t>
            </a:r>
            <a:r>
              <a:rPr lang="en-US" sz="1800" b="0" dirty="0">
                <a:solidFill>
                  <a:srgbClr val="555960"/>
                </a:solidFill>
              </a:rPr>
              <a:t> where it is not.</a:t>
            </a:r>
          </a:p>
        </p:txBody>
      </p:sp>
      <p:sp>
        <p:nvSpPr>
          <p:cNvPr id="199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27432" tIns="22860" rIns="27432" bIns="22860" anchor="ctr"/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>The fourth question — Quality — just became concrete.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Activity: Interpret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8412480" cy="590931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r>
              <a:rPr lang="en-US" dirty="0"/>
              <a:t>For each item: what model does this representation appear to express, what claim does it make, and what remains ambiguous?</a:t>
            </a:r>
            <a:endParaRPr sz="1800" b="0" dirty="0">
              <a:solidFill>
                <a:srgbClr val="555960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ONE DRAWING, TWO SEMANTICS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048256"/>
            <a:ext cx="6080760" cy="175564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28016" tIns="91440" rIns="118872" bIns="91440" rtlCol="0" anchor="ctr"/>
          <a:lstStyle/>
          <a:p>
            <a:endParaRPr lang="en-US"/>
          </a:p>
        </p:txBody>
      </p:sp>
      <p:sp>
        <p:nvSpPr>
          <p:cNvPr id="16" name="C1"/>
          <p:cNvSpPr/>
          <p:nvPr/>
        </p:nvSpPr>
        <p:spPr>
          <a:xfrm>
            <a:off x="62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may call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design decision)</a:t>
            </a:r>
          </a:p>
        </p:txBody>
      </p:sp>
      <p:sp>
        <p:nvSpPr>
          <p:cNvPr id="17" name="C2"/>
          <p:cNvSpPr/>
          <p:nvPr/>
        </p:nvSpPr>
        <p:spPr>
          <a:xfrm>
            <a:off x="3506140" y="2276856"/>
            <a:ext cx="2680000" cy="13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68580" tIns="68580" rIns="68580" bIns="68580" anchor="t"/>
          <a:lstStyle/>
          <a:p>
            <a:pPr algn="ctr">
              <a:spcAft>
                <a:spcPts val="600"/>
              </a:spcAft>
              <a:buNone/>
            </a:pPr>
            <a:r>
              <a:rPr lang="en-US" sz="2400" b="1" dirty="0">
                <a:solidFill>
                  <a:srgbClr val="5C4826"/>
                </a:solidFill>
              </a:rPr>
              <a:t>A → B</a:t>
            </a:r>
          </a:p>
          <a:p>
            <a:pPr algn="ctr">
              <a:spcAft>
                <a:spcPts val="200"/>
              </a:spcAft>
              <a:buNone/>
            </a:pPr>
            <a:r>
              <a:rPr lang="en-US" sz="1400" b="0" i="1" dirty="0">
                <a:solidFill>
                  <a:srgbClr val="555960"/>
                </a:solidFill>
              </a:rPr>
              <a:t>the arrow means: A was observed calling B</a:t>
            </a:r>
          </a:p>
          <a:p>
            <a:pPr algn="ctr">
              <a:spcAft>
                <a:spcPts val="0"/>
              </a:spcAft>
              <a:buNone/>
            </a:pPr>
            <a:r>
              <a:rPr lang="en-US" sz="1400" b="0" dirty="0">
                <a:solidFill>
                  <a:srgbClr val="555960"/>
                </a:solidFill>
              </a:rPr>
              <a:t>(a runtime observation)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895344"/>
            <a:ext cx="6080760" cy="3931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dirty="0">
                <a:solidFill>
                  <a:srgbClr val="8E6F3E"/>
                </a:solidFill>
              </a:rPr>
              <a:t>TWO REPRESENTATIONS, ONE INTENDED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06824"/>
            <a:ext cx="6080760" cy="1389888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0" rIns="118872" bIns="91440" rtlCol="0" anchor="ctr"/>
          <a:lstStyle/>
          <a:p>
            <a:pPr algn="l">
              <a:spcAft>
                <a:spcPts val="160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You also receive two different representations intended to express the same model.</a:t>
            </a:r>
          </a:p>
          <a:p>
            <a:pPr algn="l">
              <a:spcAft>
                <a:spcPts val="0"/>
              </a:spcAft>
              <a:buNone/>
            </a:pPr>
            <a:r>
              <a:rPr lang="en-US" sz="1800" b="0" dirty="0">
                <a:solidFill>
                  <a:srgbClr val="5C4826"/>
                </a:solidFill>
              </a:rPr>
              <a:t>Do they? What claim survives in both? What remains ambiguous in each?</a:t>
            </a:r>
          </a:p>
        </p:txBody>
      </p:sp>
      <p:sp>
        <p:nvSpPr>
          <p:cNvPr id="15" name="QRPlaceholder"/>
          <p:cNvSpPr/>
          <p:nvPr/>
        </p:nvSpPr>
        <p:spPr>
          <a:xfrm>
            <a:off x="6605016" y="1891094"/>
            <a:ext cx="2264664" cy="2264664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form URL pending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3700" y="4389989"/>
            <a:ext cx="1984248" cy="6858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Team response</a:t>
            </a:r>
          </a:p>
          <a:p>
            <a:pPr algn="ctr">
              <a:spcAft>
                <a:spcPts val="0"/>
              </a:spcAft>
            </a:pPr>
            <a:r>
              <a:rPr sz="1600" b="0" dirty="0">
                <a:solidFill>
                  <a:srgbClr val="555960"/>
                </a:solidFill>
              </a:rPr>
              <a:t>Google Form</a:t>
            </a:r>
          </a:p>
        </p:txBody>
      </p:sp>
      <p:sp>
        <p:nvSpPr>
          <p:cNvPr id="13" name="FooterBand"/>
          <p:cNvSpPr/>
          <p:nvPr/>
        </p:nvSpPr>
        <p:spPr>
          <a:xfrm>
            <a:off x="274320" y="5852160"/>
            <a:ext cx="8595360" cy="566928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27432" rIns="109728" bIns="27432" rtlCol="0" anchor="ctr"/>
          <a:lstStyle/>
          <a:p>
            <a:pPr algn="ctr"/>
            <a:r>
              <a:rPr lang="en-US" sz="2000" b="1" dirty="0">
                <a:solidFill>
                  <a:srgbClr val="FFFFFF"/>
                </a:solidFill>
              </a:rPr>
              <a:t>Discuss each item. Then submit one response per team.</a:t>
            </a:r>
          </a:p>
        </p:txBody>
      </p:sp>
      <p:sp>
        <p:nvSpPr>
          <p:cNvPr id="14" name="KickerBadge"/>
          <p:cNvSpPr/>
          <p:nvPr/>
        </p:nvSpPr>
        <p:spPr>
          <a:xfrm>
            <a:off x="5620000" y="205000"/>
            <a:ext cx="3249680" cy="47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8E6F3E"/>
            </a:solidFill>
          </a:ln>
        </p:spPr>
        <p:txBody>
          <a:bodyPr wrap="square" lIns="91440" tIns="27432" rIns="91440" bIns="27432" anchor="ctr"/>
          <a:lstStyle/>
          <a:p>
            <a:pPr algn="ctr">
              <a:buNone/>
            </a:pPr>
            <a:r>
              <a:rPr lang="en-US" b="1" i="0" dirty="0">
                <a:solidFill>
                  <a:srgbClr val="8E6F3E"/>
                </a:solidFill>
              </a:rPr>
              <a:t>TEAM ACTIVITY  ·  9 MINUTES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Top-down:</a:t>
            </a:r>
            <a:r>
              <a:rPr lang="en-US" dirty="0"/>
              <a:t> what must I preserve to answer the engineering question?</a:t>
            </a:r>
          </a:p>
          <a:p>
            <a:r>
              <a:rPr lang="en-US" b="1" dirty="0"/>
              <a:t>Bottom-up:</a:t>
            </a:r>
            <a:r>
              <a:rPr lang="en-US" dirty="0"/>
              <a:t> why am I carrying each distinction that remains?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 good model is not a small copy of the system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32</a:t>
            </a:fld>
            <a:endParaRPr lang="en-US"/>
          </a:p>
        </p:txBody>
      </p:sp>
      <p:sp>
        <p:nvSpPr>
          <p:cNvPr id="5" name="QRPlaceholder"/>
          <p:cNvSpPr/>
          <p:nvPr/>
        </p:nvSpPr>
        <p:spPr>
          <a:xfrm>
            <a:off x="3441192" y="2743200"/>
            <a:ext cx="2261616" cy="2261616"/>
          </a:xfrm>
          <a:prstGeom prst="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91440" tIns="91440" rIns="91440" bIns="91440" anchor="ctr"/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>QR PLACEHOLDER</a:t>
            </a:r>
          </a:p>
          <a:p>
            <a:pPr algn="ctr">
              <a:buNone/>
            </a:pPr>
            <a:r>
              <a:rPr lang="en-US" sz="1800" b="0" i="1" dirty="0">
                <a:solidFill>
                  <a:srgbClr val="555960"/>
                </a:solidFill>
              </a:rPr>
              <a:t>feedback form pending</a:t>
            </a:r>
          </a:p>
        </p:txBody>
      </p:sp>
      <p:sp>
        <p:nvSpPr>
          <p:cNvPr id="150" name="Ital"/>
          <p:cNvSpPr txBox="1"/>
          <p:nvPr/>
        </p:nvSpPr>
        <p:spPr>
          <a:xfrm>
            <a:off x="365760" y="2103120"/>
            <a:ext cx="841248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en-US" sz="1700" b="0" i="1" dirty="0">
                <a:solidFill>
                  <a:srgbClr val="555960"/>
                </a:solidFill>
              </a:rPr>
              <a:t>Different questions produce different purposeful reductions of the same territory.</a:t>
            </a:r>
          </a:p>
        </p:txBody>
      </p:sp>
      <p:sp>
        <p:nvSpPr>
          <p:cNvPr id="151" name="Teaser"/>
          <p:cNvSpPr txBox="1"/>
          <p:nvPr/>
        </p:nvSpPr>
        <p:spPr>
          <a:xfrm>
            <a:off x="365760" y="5715000"/>
            <a:ext cx="8412480" cy="58521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buNone/>
            </a:pPr>
            <a:r>
              <a:rPr lang="en-US" sz="1800" b="1" dirty="0">
                <a:solidFill>
                  <a:srgbClr val="5C4826"/>
                </a:solidFill>
              </a:rPr>
              <a:t>Tomorrow: </a:t>
            </a:r>
            <a:r>
              <a:rPr lang="en-US" sz="1800" b="0" i="1" dirty="0">
                <a:solidFill>
                  <a:srgbClr val="555960"/>
                </a:solidFill>
              </a:rPr>
              <a:t>one model can be useful. How do many models remain trustworthy together?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8567</TotalTime>
  <Words>4337</Words>
  <Application>Microsoft Macintosh PowerPoint</Application>
  <PresentationFormat>On-screen Show (4:3)</PresentationFormat>
  <Paragraphs>493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Times</vt:lpstr>
      <vt:lpstr>Purdue1</vt:lpstr>
      <vt:lpstr>PowerPoint Presentation</vt:lpstr>
      <vt:lpstr>Delegation leaves an information problem</vt:lpstr>
      <vt:lpstr>A model is useful because it leaves things out</vt:lpstr>
      <vt:lpstr>…and makes explicit what must remain</vt:lpstr>
      <vt:lpstr>Modeling is purposeful reduction</vt:lpstr>
      <vt:lpstr>QUESTIONS COME FIRST</vt:lpstr>
      <vt:lpstr>One territory, three questions</vt:lpstr>
      <vt:lpstr>No model is simply “the system”</vt:lpstr>
      <vt:lpstr>Four questions for every model</vt:lpstr>
      <vt:lpstr>Engineers have seen these questions before</vt:lpstr>
      <vt:lpstr>Select before you invent</vt:lpstr>
      <vt:lpstr>UML is a repertoire, not the theory of Modeling</vt:lpstr>
      <vt:lpstr>REDUCTION REQUIRES JUDGMENT</vt:lpstr>
      <vt:lpstr>Top-down: the obligation decides what must remain</vt:lpstr>
      <vt:lpstr>Bottom-up: parsimony challenges what we kept</vt:lpstr>
      <vt:lpstr>Worked: protect the battery</vt:lpstr>
      <vt:lpstr>Top-down: preserve what the obligation requires</vt:lpstr>
      <vt:lpstr>Bottom-up: make every distinction earn its place</vt:lpstr>
      <vt:lpstr>The territory did not change. The question did.</vt:lpstr>
      <vt:lpstr>THE EVIDENCE</vt:lpstr>
      <vt:lpstr>Too much reduction loses the obligation</vt:lpstr>
      <vt:lpstr>Good reduction leaves implementation free</vt:lpstr>
      <vt:lpstr>The evidence, side by side</vt:lpstr>
      <vt:lpstr>Obligation and specification are different boundaries</vt:lpstr>
      <vt:lpstr>Capability can reduce scaffolding</vt:lpstr>
      <vt:lpstr>Capability cannot reduce what must be true</vt:lpstr>
      <vt:lpstr>Activity: Reduce</vt:lpstr>
      <vt:lpstr>Stretch break</vt:lpstr>
      <vt:lpstr>A model is not its representation</vt:lpstr>
      <vt:lpstr>Representation changes interpretation</vt:lpstr>
      <vt:lpstr>Activity: Interpret</vt:lpstr>
      <vt:lpstr>A good model is not a small copy of the system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James C Davis</cp:lastModifiedBy>
  <cp:revision>400</cp:revision>
  <dcterms:created xsi:type="dcterms:W3CDTF">2020-02-21T23:00:33Z</dcterms:created>
  <dcterms:modified xsi:type="dcterms:W3CDTF">2026-09-30T12:42:12Z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