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256" r:id="rId41"/>
    <p:sldId id="289" r:id="rId74"/>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80" r:id="rId65"/>
    <p:sldId id="290" r:id="rId75"/>
    <p:sldId id="282" r:id="rId67"/>
    <p:sldId id="276" r:id="rId61"/>
    <p:sldId id="277" r:id="rId62"/>
    <p:sldId id="278" r:id="rId63"/>
    <p:sldId id="279" r:id="rId64"/>
    <p:sldId id="291" r:id="rId76"/>
    <p:sldId id="283" r:id="rId68"/>
    <p:sldId id="284" r:id="rId69"/>
    <p:sldId id="285" r:id="rId70"/>
    <p:sldId id="286" r:id="rId71"/>
    <p:sldId id="287" r:id="rId72"/>
    <p:sldId id="288"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61" d="100"/>
          <a:sy n="61" d="100"/>
        </p:scale>
        <p:origin x="3152" y="25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notesMaster" Target="notesMasters/notesMaster1.xml"/><Relationship Id="rId38" Type="http://schemas.openxmlformats.org/officeDocument/2006/relationships/tableStyles" Target="tableStyles.xml"/><Relationship Id="rId1" Type="http://schemas.openxmlformats.org/officeDocument/2006/relationships/slideMaster" Target="slideMasters/slideMaster1.xml"/><Relationship Id="rId37" Type="http://schemas.openxmlformats.org/officeDocument/2006/relationships/theme" Target="theme/theme1.xml"/><Relationship Id="rId36" Type="http://schemas.openxmlformats.org/officeDocument/2006/relationships/viewProps" Target="viewProps.xml"/><Relationship Id="rId35" Type="http://schemas.openxmlformats.org/officeDocument/2006/relationships/presProps" Target="presProps.xml"/><Relationship Id="rId41" Type="http://schemas.openxmlformats.org/officeDocument/2006/relationships/slide" Target="slides/slide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2.xml"/><Relationship Id="rId45" Type="http://schemas.openxmlformats.org/officeDocument/2006/relationships/slide" Target="slides/slide6.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5.xml"/><Relationship Id="rId54" Type="http://schemas.openxmlformats.org/officeDocument/2006/relationships/slide" Target="slides/slide13.xml"/><Relationship Id="rId55" Type="http://schemas.openxmlformats.org/officeDocument/2006/relationships/slide" Target="slides/slide14.xml"/><Relationship Id="rId56" Type="http://schemas.openxmlformats.org/officeDocument/2006/relationships/slide" Target="slides/slide15.xml"/><Relationship Id="rId57" Type="http://schemas.openxmlformats.org/officeDocument/2006/relationships/slide" Target="slides/slide16.xml"/><Relationship Id="rId58" Type="http://schemas.openxmlformats.org/officeDocument/2006/relationships/slide" Target="slides/slide17.xml"/><Relationship Id="rId59" Type="http://schemas.openxmlformats.org/officeDocument/2006/relationships/slide" Target="slides/slide18.xml"/><Relationship Id="rId60" Type="http://schemas.openxmlformats.org/officeDocument/2006/relationships/slide" Target="slides/slide19.xml"/><Relationship Id="rId61" Type="http://schemas.openxmlformats.org/officeDocument/2006/relationships/slide" Target="slides/slide20.xml"/><Relationship Id="rId62" Type="http://schemas.openxmlformats.org/officeDocument/2006/relationships/slide" Target="slides/slide21.xml"/><Relationship Id="rId63" Type="http://schemas.openxmlformats.org/officeDocument/2006/relationships/slide" Target="slides/slide22.xml"/><Relationship Id="rId64" Type="http://schemas.openxmlformats.org/officeDocument/2006/relationships/slide" Target="slides/slide23.xml"/><Relationship Id="rId65" Type="http://schemas.openxmlformats.org/officeDocument/2006/relationships/slide" Target="slides/slide24.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8.xml"/><Relationship Id="rId70" Type="http://schemas.openxmlformats.org/officeDocument/2006/relationships/slide" Target="slides/slide29.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32.xml"/><Relationship Id="rId74" Type="http://schemas.openxmlformats.org/officeDocument/2006/relationships/slide" Target="slides/slide42.xml"/><Relationship Id="rId75" Type="http://schemas.openxmlformats.org/officeDocument/2006/relationships/slide" Target="slides/slide43.xml"/><Relationship Id="rId76" Type="http://schemas.openxmlformats.org/officeDocument/2006/relationships/slide" Target="slides/slide44.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three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production cases come from the instructor's production system. The lease's omission was vindicated; the account quota's was refuted. A hypothetical can teach judgment; only production can grade it. (Plan §7 — this section break exists to make the method/evidence split visible.)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the next slide.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next four slides each rescue exactly one of them.</a:t>
            </a:r>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two slides from now, arriving by demonstration rather than by assertion.</a:t>
            </a:r>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The next slide is the punchline — do not deliver it here.</a:t>
            </a:r>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a:t>
            </a:r>
          </a:p>
          <a:p>
            <a:r>
              <a:rPr lang="en-US" dirty="0"/>
              <a:t>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Do not walk all five again. Point, land the thesis, move. Forty-five seconds.</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NAME THE FIVE DISTINCTIONS ALOUD while pointing, one per card — this is the evidence for the second half of the thesis, and the thumbnails are too small to carry it on their own: structure, order, lifecycle, branching, intent. Five questions, five things worth keeping, one territory.</a:t>
            </a:r>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Two slides from here,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41.xml"/></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44.xml"/><Relationship Id="rId4" Type="http://schemas.openxmlformats.org/officeDocument/2006/relationships/hyperlink" Target="https://arxiv.org/pdf/2604.1064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 xml:space="preserve">Lecture 1 </a:t>
            </a:r>
            <a:r>
              <a:rPr lang="en-US" sz="2000" dirty="0">
                <a:solidFill>
                  <a:srgbClr val="555960"/>
                </a:solidFill>
              </a:rPr>
              <a:t>(today)</a:t>
            </a:r>
            <a:r>
              <a:rPr lang="en-US" sz="2000" b="0" i="0" dirty="0">
                <a:solidFill>
                  <a:srgbClr val="555960"/>
                </a:solidFill>
              </a:rPr>
              <a:t xml:space="preserve">: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xml:space="preserve">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xml:space="preserve">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 xml:space="preserve">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reductions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✗ ACCOUNT QUOTA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 xml:space="preserve">OBLIGATION</a:t>
            </a:r>
          </a:p>
          <a:p>
            <a:pPr algn="ctr">
              <a:spcAft>
                <a:spcPts val="0"/>
              </a:spcAft>
              <a:buNone/>
            </a:pPr>
            <a:r>
              <a:rPr lang="en-US" sz="1400" b="0" dirty="0">
                <a:solidFill>
                  <a:srgbClr val="FFFFFF"/>
                </a:solidFill>
              </a:rPr>
              <a:t xml:space="preserve">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 xml:space="preserve">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 xml:space="preserve">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 xml:space="preserve">specification boundary</a:t>
            </a:r>
          </a:p>
          <a:p>
            <a:pPr algn="l">
              <a:spcAft>
                <a:spcPts val="0"/>
              </a:spcAft>
              <a:buNone/>
            </a:pPr>
            <a:r>
              <a:rPr lang="en-US" sz="1400" b="0" dirty="0">
                <a:solidFill>
                  <a:srgbClr val="555960"/>
                </a:solidFill>
              </a:rPr>
              <a:t xml:space="preserve">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 xml:space="preserve">obligation boundary</a:t>
            </a:r>
          </a:p>
          <a:p>
            <a:pPr algn="l">
              <a:spcAft>
                <a:spcPts val="0"/>
              </a:spcAft>
              <a:buNone/>
            </a:pPr>
            <a:r>
              <a:rPr lang="en-US" sz="1400" b="0" dirty="0">
                <a:solidFill>
                  <a:srgbClr val="555960"/>
                </a:solidFill>
              </a:rPr>
              <a:t xml:space="preserve">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 xml:space="preserve">specification boundary</a:t>
            </a:r>
          </a:p>
          <a:p>
            <a:pPr algn="l">
              <a:spcAft>
                <a:spcPts val="0"/>
              </a:spcAft>
              <a:buNone/>
            </a:pPr>
            <a:r>
              <a:rPr lang="en-US" sz="1400" b="0" dirty="0">
                <a:solidFill>
                  <a:srgbClr val="555960"/>
                </a:solidFill>
              </a:rPr>
              <a:t xml:space="preserve">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✗ a distinction</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 xml:space="preserve">p</a:t>
            </a:r>
            <a:r>
              <a:rPr lang="en-US" sz="2200" b="0" i="1" baseline="-25000" dirty="0">
                <a:solidFill>
                  <a:srgbClr val="5C4826"/>
                </a:solidFill>
              </a:rPr>
              <a:t xml:space="preserve">R</a:t>
            </a:r>
            <a:r>
              <a:rPr lang="en-US" sz="2200" b="0" i="1" dirty="0">
                <a:solidFill>
                  <a:srgbClr val="5C4826"/>
                </a:solidFill>
              </a:rPr>
              <a:t xml:space="preserve"> = </a:t>
            </a:r>
            <a:r>
              <a:rPr lang="en-US" sz="2200" b="1" i="1" dirty="0">
                <a:solidFill>
                  <a:srgbClr val="5C4826"/>
                </a:solidFill>
              </a:rPr>
              <a:t xml:space="preserve">P(E | R)</a:t>
            </a:r>
            <a:r>
              <a:rPr lang="en-US" sz="2200" b="0" i="1" dirty="0">
                <a:solidFill>
                  <a:srgbClr val="5C4826"/>
                </a:solidFill>
              </a:rPr>
              <a:t xml:space="preserve">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 xml:space="preserve">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 xml:space="preserve">lim</a:t>
            </a:r>
            <a:r>
              <a:rPr lang="en-US" sz="3000" b="0" baseline="-25000" dirty="0">
                <a:solidFill>
                  <a:srgbClr val="5C4826"/>
                </a:solidFill>
              </a:rPr>
              <a:t xml:space="preserve">M → perfect reasoner</a:t>
            </a:r>
            <a:r>
              <a:rPr lang="en-US" sz="3000" b="0" i="1" dirty="0">
                <a:solidFill>
                  <a:srgbClr val="5C4826"/>
                </a:solidFill>
              </a:rPr>
              <a:t xml:space="preserve">     p</a:t>
            </a:r>
            <a:r>
              <a:rPr lang="en-US" sz="3000" b="0" i="1" baseline="-25000" dirty="0">
                <a:solidFill>
                  <a:srgbClr val="5C4826"/>
                </a:solidFill>
              </a:rPr>
              <a:t xml:space="preserve">R</a:t>
            </a:r>
            <a:r>
              <a:rPr lang="en-US" sz="3000" b="0" i="1" dirty="0">
                <a:solidFill>
                  <a:srgbClr val="5C4826"/>
                </a:solidFill>
              </a:rPr>
              <a:t xml:space="preserve">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 xml:space="preserve">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xml:space="preserve"> + T</a:t>
            </a:r>
            <a:r>
              <a:rPr lang="en-US" sz="1400" b="1" baseline="-25000" dirty="0">
                <a:solidFill>
                  <a:srgbClr val="5C4826"/>
                </a:solidFill>
              </a:rPr>
              <a:t>schedule</a:t>
            </a:r>
            <a:r>
              <a:rPr lang="en-US" sz="2000" b="1" dirty="0">
                <a:solidFill>
                  <a:srgbClr val="5C4826"/>
                </a:solidFill>
              </a:rPr>
              <a:t xml:space="preserve"> + T</a:t>
            </a:r>
            <a:r>
              <a:rPr lang="en-US" sz="1400" b="1" baseline="-25000" dirty="0">
                <a:solidFill>
                  <a:srgbClr val="5C4826"/>
                </a:solidFill>
              </a:rPr>
              <a:t>compute</a:t>
            </a:r>
            <a:r>
              <a:rPr lang="en-US" sz="2000" b="1" dirty="0">
                <a:solidFill>
                  <a:srgbClr val="5C4826"/>
                </a:solidFill>
              </a:rPr>
              <a:t xml:space="preserve"> + T</a:t>
            </a:r>
            <a:r>
              <a:rPr lang="en-US" sz="1400" b="1" baseline="-25000" dirty="0">
                <a:solidFill>
                  <a:srgbClr val="5C4826"/>
                </a:solidFill>
              </a:rPr>
              <a:t>actuate</a:t>
            </a:r>
            <a:r>
              <a:rPr lang="en-US" sz="2000" b="1" dirty="0">
                <a:solidFill>
                  <a:srgbClr val="5C4826"/>
                </a:solidFill>
              </a:rPr>
              <a:t xml:space="preserve">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xml:space="preserve">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xml:space="preserve">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xml:space="preserve">  staged: published</a:t>
            </a:r>
          </a:p>
          <a:p>
            <a:pPr algn="l">
              <a:spcAft>
                <a:spcPts val="1000"/>
              </a:spcAft>
              <a:buNone/>
            </a:pPr>
            <a:r>
              <a:rPr lang="en-US" sz="1500" b="0" dirty="0">
                <a:solidFill>
                  <a:srgbClr val="5C4826"/>
                </a:solidFill>
              </a:rPr>
              <a:t xml:space="preserve">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xml:space="preserve">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xml:space="preserve">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xml:space="preserve"> what must I preserve to answer the engineering question?</a:t>
            </a:r>
          </a:p>
          <a:p>
            <a:r>
              <a:rPr lang="en-US" b="1" dirty="0"/>
              <a:t>Bottom-up:</a:t>
            </a:r>
            <a:r>
              <a:rPr lang="en-US" dirty="0"/>
              <a:t xml:space="preserve">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 xml:space="preserve">Tomorrow: </a:t>
            </a:r>
            <a:r>
              <a:rPr lang="en-US" sz="1800" b="0" i="1" dirty="0">
                <a:solidFill>
                  <a:srgbClr val="555960"/>
                </a:solidFill>
              </a:rPr>
              <a:t>one model can be useful. How do many models remain trustworthy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xml:space="preserve">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2"/>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2"/>
          <a:stretch>
            <a:fillRect/>
          </a:stretch>
        </p:blipFill>
        <p:spPr>
          <a:xfrm>
            <a:off x="274320" y="1795827"/>
            <a:ext cx="8595360" cy="387594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2"/>
          <a:stretch>
            <a:fillRect/>
          </a:stretch>
        </p:blipFill>
        <p:spPr>
          <a:xfrm>
            <a:off x="1016212" y="1341120"/>
            <a:ext cx="7111577" cy="47853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74320" y="1714062"/>
            <a:ext cx="8595360" cy="403947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2"/>
          <a:stretch>
            <a:fillRect/>
          </a:stretch>
        </p:blipFill>
        <p:spPr>
          <a:xfrm>
            <a:off x="1777275" y="1341120"/>
            <a:ext cx="5589450" cy="478536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2"/>
          <a:stretch>
            <a:fillRect/>
          </a:stretch>
        </p:blipFill>
        <p:spPr>
          <a:xfrm>
            <a:off x="1533226" y="1341120"/>
            <a:ext cx="6077549" cy="478536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60" name="ThumbFigure" descr="Five models of one course-registration system shown together: the class diagram, the sequence diagram, the state machine, the activity diagram and the use-case diagram, each captioned with the question it answers."/>
          <p:cNvPicPr>
            <a:picLocks noChangeAspect="1"/>
          </p:cNvPicPr>
          <p:nvPr/>
        </p:nvPicPr>
        <p:blipFill>
          <a:blip r:embed="rId2"/>
          <a:stretch>
            <a:fillRect/>
          </a:stretch>
        </p:blipFill>
        <p:spPr>
          <a:xfrm>
            <a:off x="1349594" y="1341120"/>
            <a:ext cx="6444813" cy="4373880"/>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2"/>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 xml:space="preserve">LESS CAPABLE AGENT</a:t>
            </a:r>
          </a:p>
        </p:txBody>
      </p:sp>
      <p:sp>
        <p:nvSpPr>
          <p:cNvPr id="21" name="DOF1"/>
          <p:cNvSpPr/>
          <p:nvPr/>
        </p:nvSpPr>
        <p:spPr>
          <a:xfrm>
            <a:off x="28804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310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1216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 xml:space="preserve">OBLIGATION</a:t>
            </a:r>
          </a:p>
        </p:txBody>
      </p:sp>
      <p:sp>
        <p:nvSpPr>
          <p:cNvPr id="24" name="ScafL1"/>
          <p:cNvSpPr txBox="1"/>
          <p:nvPr/>
        </p:nvSpPr>
        <p:spPr>
          <a:xfrm>
            <a:off x="1312160" y="361874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 xml:space="preserve">SCAFFOLDING</a:t>
            </a:r>
          </a:p>
        </p:txBody>
      </p:sp>
      <p:sp>
        <p:nvSpPr>
          <p:cNvPr id="25" name="DofL1"/>
          <p:cNvSpPr txBox="1"/>
          <p:nvPr/>
        </p:nvSpPr>
        <p:spPr>
          <a:xfrm>
            <a:off x="28804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 xml:space="preserve">DEGREES OF FREEDOM</a:t>
            </a:r>
          </a:p>
        </p:txBody>
      </p:sp>
      <p:sp>
        <p:nvSpPr>
          <p:cNvPr id="27" name="ColCap1"/>
          <p:cNvSpPr txBox="1"/>
          <p:nvPr/>
        </p:nvSpPr>
        <p:spPr>
          <a:xfrm>
            <a:off x="27432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 xml:space="preserve">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 xml:space="preserve">MORE CAPABLE AGENT</a:t>
            </a:r>
          </a:p>
        </p:txBody>
      </p:sp>
      <p:sp>
        <p:nvSpPr>
          <p:cNvPr id="41" name="DOF2"/>
          <p:cNvSpPr/>
          <p:nvPr/>
        </p:nvSpPr>
        <p:spPr>
          <a:xfrm>
            <a:off x="472288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6" name="Ghost2"/>
          <p:cNvSpPr/>
          <p:nvPr/>
        </p:nvSpPr>
        <p:spPr>
          <a:xfrm>
            <a:off x="4997200" y="1943100"/>
            <a:ext cx="3584440" cy="2157980"/>
          </a:xfrm>
          <a:prstGeom prst="rect">
            <a:avLst/>
          </a:prstGeom>
          <a:noFill/>
          <a:ln w="28575">
            <a:solidFill>
              <a:srgbClr val="8E6F3E"/>
            </a:solidFill>
            <a:prstDash val="dash"/>
          </a:ln>
        </p:spPr>
        <p:txBody>
          <a:bodyPr wrap="square" lIns="27432" tIns="22860" rIns="27432" bIns="22860" anchor="ctr"/>
          <a:lstStyle/>
          <a:p>
            <a:pPr>
              <a:buNone/>
            </a:pPr>
            <a:endParaRPr lang="en-US"/>
          </a:p>
        </p:txBody>
      </p:sp>
      <p:sp>
        <p:nvSpPr>
          <p:cNvPr id="42" name="Scaf2"/>
          <p:cNvSpPr/>
          <p:nvPr/>
        </p:nvSpPr>
        <p:spPr>
          <a:xfrm>
            <a:off x="5381240" y="218085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4700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 xml:space="preserve">OBLIGATION</a:t>
            </a:r>
          </a:p>
        </p:txBody>
      </p:sp>
      <p:sp>
        <p:nvSpPr>
          <p:cNvPr id="44" name="ScafL2"/>
          <p:cNvSpPr txBox="1"/>
          <p:nvPr/>
        </p:nvSpPr>
        <p:spPr>
          <a:xfrm>
            <a:off x="5747000" y="3463295"/>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 xml:space="preserve">SCAFFOLDING</a:t>
            </a:r>
          </a:p>
        </p:txBody>
      </p:sp>
      <p:sp>
        <p:nvSpPr>
          <p:cNvPr id="45" name="DofL2"/>
          <p:cNvSpPr txBox="1"/>
          <p:nvPr/>
        </p:nvSpPr>
        <p:spPr>
          <a:xfrm>
            <a:off x="472288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 xml:space="preserve">DEGREES OF FREEDOM</a:t>
            </a:r>
          </a:p>
        </p:txBody>
      </p:sp>
      <p:sp>
        <p:nvSpPr>
          <p:cNvPr id="47" name="ColCap2"/>
          <p:cNvSpPr txBox="1"/>
          <p:nvPr/>
        </p:nvSpPr>
        <p:spPr>
          <a:xfrm>
            <a:off x="470916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 xml:space="preserve">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 xml:space="preserve">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It does not reduce what must be true.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2"/>
          <a:stretch>
            <a:fillRect/>
          </a:stretch>
        </p:blipFill>
        <p:spPr>
          <a:xfrm>
            <a:off x="1422646" y="868680"/>
            <a:ext cx="6298707" cy="3017520"/>
          </a:xfrm>
          <a:prstGeom prst="rect">
            <a:avLst/>
          </a:prstGeom>
          <a:ln w="12700">
            <a:solidFill>
              <a:srgbClr val="C9B991"/>
            </a:solidFill>
          </a:ln>
        </p:spPr>
      </p:pic>
      <p:sp>
        <p:nvSpPr>
          <p:cNvPr id="70" name="Src"/>
          <p:cNvSpPr txBox="1"/>
          <p:nvPr/>
        </p:nvSpPr>
        <p:spPr>
          <a:xfrm>
            <a:off x="1422646" y="3931920"/>
            <a:ext cx="7447034"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 xml:space="preserve">Jordi Cabot, Vibe-driven model-based engineering (2026)  —  </a:t>
            </a:r>
            <a:r>
              <a:rPr lang="en-US" sz="1300" b="0" i="0" dirty="0">
                <a:solidFill>
                  <a:srgbClr val="555960"/>
                </a:solidFill>
                <a:hlinkClick r:id="rId4"/>
              </a:rPr>
              <a:t xml:space="preserve">https://arxiv.org/pdf/2604.10645</a:t>
            </a:r>
          </a:p>
        </p:txBody>
      </p:sp>
      <p:sp>
        <p:nvSpPr>
          <p:cNvPr id="80" name="RemHdr"/>
          <p:cNvSpPr txBox="1"/>
          <p:nvPr/>
        </p:nvSpPr>
        <p:spPr>
          <a:xfrm>
            <a:off x="365760" y="422910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 xml:space="preserve">REMINDER</a:t>
            </a:r>
          </a:p>
        </p:txBody>
      </p:sp>
      <p:sp>
        <p:nvSpPr>
          <p:cNvPr id="81" name="RemEq"/>
          <p:cNvSpPr txBox="1"/>
          <p:nvPr/>
        </p:nvSpPr>
        <p:spPr>
          <a:xfrm>
            <a:off x="365760" y="448056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 xml:space="preserve">p</a:t>
            </a:r>
            <a:r>
              <a:rPr lang="en-US" sz="1300" b="0" i="1" baseline="-25000" dirty="0">
                <a:solidFill>
                  <a:srgbClr val="5C4826"/>
                </a:solidFill>
              </a:rPr>
              <a:t xml:space="preserve">R</a:t>
            </a:r>
            <a:r>
              <a:rPr lang="en-US" sz="1300" b="0" i="1" dirty="0">
                <a:solidFill>
                  <a:srgbClr val="5C4826"/>
                </a:solidFill>
              </a:rPr>
              <a:t xml:space="preserve"> = P(E | R) · P(I | E, R) · P(L | I, E, R)</a:t>
            </a:r>
          </a:p>
        </p:txBody>
      </p:sp>
      <p:sp>
        <p:nvSpPr>
          <p:cNvPr id="82" name="RemTrm"/>
          <p:cNvSpPr txBox="1"/>
          <p:nvPr/>
        </p:nvSpPr>
        <p:spPr>
          <a:xfrm>
            <a:off x="365760" y="5097780"/>
            <a:ext cx="3566160" cy="54864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 xml:space="preserve">E</a:t>
            </a:r>
            <a:r>
              <a:rPr lang="en-US" sz="1300" b="0" i="0" dirty="0">
                <a:solidFill>
                  <a:srgbClr val="555960"/>
                </a:solidFill>
              </a:rPr>
              <a:t xml:space="preserve">  consequential intent is encoded</a:t>
            </a:r>
          </a:p>
          <a:p>
            <a:pPr algn="l">
              <a:lnSpc>
                <a:spcPct val="90000"/>
              </a:lnSpc>
              <a:spcAft>
                <a:spcPts val="0"/>
              </a:spcAft>
              <a:buNone/>
            </a:pPr>
            <a:r>
              <a:rPr lang="en-US" sz="1300" b="1" i="0" dirty="0">
                <a:solidFill>
                  <a:srgbClr val="5C4826"/>
                </a:solidFill>
              </a:rPr>
              <a:t xml:space="preserve">I</a:t>
            </a:r>
            <a:r>
              <a:rPr lang="en-US" sz="1300" b="0" i="0" dirty="0">
                <a:solidFill>
                  <a:srgbClr val="555960"/>
                </a:solidFill>
              </a:rPr>
              <a:t xml:space="preserve">  encoding is interpreted</a:t>
            </a:r>
          </a:p>
          <a:p>
            <a:pPr algn="l">
              <a:lnSpc>
                <a:spcPct val="90000"/>
              </a:lnSpc>
              <a:spcAft>
                <a:spcPts val="0"/>
              </a:spcAft>
              <a:buNone/>
            </a:pPr>
            <a:r>
              <a:rPr lang="en-US" sz="1300" b="1" i="0" dirty="0">
                <a:solidFill>
                  <a:srgbClr val="5C4826"/>
                </a:solidFill>
              </a:rPr>
              <a:t xml:space="preserve">L</a:t>
            </a:r>
            <a:r>
              <a:rPr lang="en-US" sz="1300" b="0" i="0" dirty="0">
                <a:solidFill>
                  <a:srgbClr val="555960"/>
                </a:solidFill>
              </a:rPr>
              <a:t xml:space="preserve">  interpretation is realized</a:t>
            </a:r>
          </a:p>
        </p:txBody>
      </p:sp>
      <p:sp>
        <p:nvSpPr>
          <p:cNvPr id="90" name="TPSbadge"/>
          <p:cNvSpPr/>
          <p:nvPr/>
        </p:nvSpPr>
        <p:spPr>
          <a:xfrm>
            <a:off x="4114800" y="422910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 xml:space="preserve">THINK</a:t>
            </a:r>
            <a:r>
              <a:rPr lang="en-US" sz="2000" b="1" i="0" dirty="0">
                <a:solidFill>
                  <a:srgbClr val="9A9A9A"/>
                </a:solidFill>
              </a:rPr>
              <a:t xml:space="preserve">  ·  </a:t>
            </a:r>
            <a:r>
              <a:rPr lang="en-US" sz="2000" b="1" i="0" dirty="0">
                <a:solidFill>
                  <a:srgbClr val="2E74B5"/>
                </a:solidFill>
              </a:rPr>
              <a:t xml:space="preserve">PAIR</a:t>
            </a:r>
            <a:r>
              <a:rPr lang="en-US" sz="2000" b="1" i="0" dirty="0">
                <a:solidFill>
                  <a:srgbClr val="9A9A9A"/>
                </a:solidFill>
              </a:rPr>
              <a:t xml:space="preserve">  ·  </a:t>
            </a:r>
            <a:r>
              <a:rPr lang="en-US" sz="2000" b="1" i="0" dirty="0">
                <a:solidFill>
                  <a:srgbClr val="B8860B"/>
                </a:solidFill>
              </a:rPr>
              <a:t xml:space="preserve">SHARE</a:t>
            </a:r>
          </a:p>
        </p:txBody>
      </p:sp>
      <p:sp>
        <p:nvSpPr>
          <p:cNvPr id="91" name="CabHdr"/>
          <p:cNvSpPr txBox="1"/>
          <p:nvPr/>
        </p:nvSpPr>
        <p:spPr>
          <a:xfrm>
            <a:off x="4114800" y="484632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 xml:space="preserve">IN CABOT’S PROCESS</a:t>
            </a:r>
          </a:p>
        </p:txBody>
      </p:sp>
      <p:sp>
        <p:nvSpPr>
          <p:cNvPr id="92" name="CabItm"/>
          <p:cNvSpPr txBox="1"/>
          <p:nvPr/>
        </p:nvSpPr>
        <p:spPr>
          <a:xfrm>
            <a:off x="4114800" y="5097780"/>
            <a:ext cx="4754880" cy="54864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 xml:space="preserve">Where do encoding, interpretation, and realization happen?</a:t>
            </a:r>
          </a:p>
          <a:p>
            <a:pPr algn="l">
              <a:lnSpc>
                <a:spcPct val="90000"/>
              </a:lnSpc>
              <a:spcAft>
                <a:spcPts val="0"/>
              </a:spcAft>
              <a:buNone/>
            </a:pPr>
            <a:r>
              <a:rPr lang="en-US" sz="1300" b="0" i="0" dirty="0">
                <a:solidFill>
                  <a:srgbClr val="555960"/>
                </a:solidFill>
              </a:rPr>
              <a:t xml:space="preserve">Which transitions are probabilistic?</a:t>
            </a:r>
          </a:p>
          <a:p>
            <a:pPr algn="l">
              <a:lnSpc>
                <a:spcPct val="90000"/>
              </a:lnSpc>
              <a:spcAft>
                <a:spcPts val="0"/>
              </a:spcAft>
              <a:buNone/>
            </a:pPr>
            <a:r>
              <a:rPr lang="en-US" sz="1300" b="0" i="0" dirty="0">
                <a:solidFill>
                  <a:srgbClr val="555960"/>
                </a:solidFill>
              </a:rPr>
              <a:t xml:space="preserve">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4329</Words>
  <Application>Microsoft Macintosh PowerPoint</Application>
  <PresentationFormat>On-screen Show (4:3)</PresentationFormat>
  <Paragraphs>494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Delegation leaves an information problem</vt:lpstr>
      <vt:lpstr>A model is useful because it leaves things out</vt:lpstr>
      <vt:lpstr>…and makes explicit what must remain</vt:lpstr>
      <vt:lpstr>Modeling is purposeful reduction</vt:lpstr>
      <vt:lpstr>QUESTIONS COME FIRST</vt:lpstr>
      <vt:lpstr>One territory, three questions</vt:lpstr>
      <vt:lpstr>No model is simply “the system”</vt:lpstr>
      <vt:lpstr>Four questions for every model</vt:lpstr>
      <vt:lpstr>Engineers have seen these questions before</vt:lpstr>
      <vt:lpstr>Select before you invent</vt:lpstr>
      <vt:lpstr>UML is a repertoire, not the theory of Modeling</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THE EVIDENCE</vt:lpstr>
      <vt:lpstr>Too much reduction loses the obligation</vt:lpstr>
      <vt:lpstr>Good reduction leaves implementation free</vt:lpstr>
      <vt:lpstr>The evidence, side by side</vt:lpstr>
      <vt:lpstr>Obligation and specification are different boundaries</vt:lpstr>
      <vt:lpstr>Capability can reduce scaffolding</vt:lpstr>
      <vt:lpstr>Capability cannot reduce what must be true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405</cp:revision>
  <dcterms:created xsi:type="dcterms:W3CDTF">2020-02-21T23:00:33Z</dcterms:created>
  <dcterms:modified xsi:type="dcterms:W3CDTF">2026-09-30T14:47:15Z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