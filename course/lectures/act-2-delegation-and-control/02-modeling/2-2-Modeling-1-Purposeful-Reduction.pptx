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2.xml" ContentType="application/vnd.openxmlformats-officedocument.presentationml.slide+xml"/>
  <Override PartName="/ppt/slides/slide6.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4"/>
  </p:notesMasterIdLst>
  <p:sldIdLst>
    <p:sldId id="256" r:id="rId41"/>
    <p:sldId id="257" r:id="rId42"/>
    <p:sldId id="258" r:id="rId43"/>
    <p:sldId id="259" r:id="rId44"/>
    <p:sldId id="260" r:id="rId45"/>
    <p:sldId id="261" r:id="rId46"/>
    <p:sldId id="262" r:id="rId47"/>
    <p:sldId id="263" r:id="rId48"/>
    <p:sldId id="264" r:id="rId49"/>
    <p:sldId id="265" r:id="rId50"/>
    <p:sldId id="266" r:id="rId51"/>
    <p:sldId id="267" r:id="rId52"/>
    <p:sldId id="268" r:id="rId53"/>
    <p:sldId id="269" r:id="rId54"/>
    <p:sldId id="270" r:id="rId55"/>
    <p:sldId id="271" r:id="rId56"/>
    <p:sldId id="272" r:id="rId57"/>
    <p:sldId id="273" r:id="rId58"/>
    <p:sldId id="274" r:id="rId59"/>
    <p:sldId id="275" r:id="rId60"/>
    <p:sldId id="280" r:id="rId65"/>
    <p:sldId id="282" r:id="rId67"/>
    <p:sldId id="283" r:id="rId68"/>
    <p:sldId id="284" r:id="rId69"/>
    <p:sldId id="276" r:id="rId61"/>
    <p:sldId id="277" r:id="rId62"/>
    <p:sldId id="278" r:id="rId63"/>
    <p:sldId id="279" r:id="rId64"/>
    <p:sldId id="285" r:id="rId70"/>
    <p:sldId id="286" r:id="rId71"/>
    <p:sldId id="287" r:id="rId72"/>
    <p:sldId id="288" r:id="rId7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p:scale>
          <a:sx n="61" d="100"/>
          <a:sy n="61" d="100"/>
        </p:scale>
        <p:origin x="3152" y="25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34" Type="http://schemas.openxmlformats.org/officeDocument/2006/relationships/notesMaster" Target="notesMasters/notesMaster1.xml"/><Relationship Id="rId38" Type="http://schemas.openxmlformats.org/officeDocument/2006/relationships/tableStyles" Target="tableStyles.xml"/><Relationship Id="rId1" Type="http://schemas.openxmlformats.org/officeDocument/2006/relationships/slideMaster" Target="slideMasters/slideMaster1.xml"/><Relationship Id="rId37" Type="http://schemas.openxmlformats.org/officeDocument/2006/relationships/theme" Target="theme/theme1.xml"/><Relationship Id="rId36" Type="http://schemas.openxmlformats.org/officeDocument/2006/relationships/viewProps" Target="viewProps.xml"/><Relationship Id="rId35" Type="http://schemas.openxmlformats.org/officeDocument/2006/relationships/presProps" Target="presProps.xml"/><Relationship Id="rId41" Type="http://schemas.openxmlformats.org/officeDocument/2006/relationships/slide" Target="slides/slide1.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2.xml"/><Relationship Id="rId45" Type="http://schemas.openxmlformats.org/officeDocument/2006/relationships/slide" Target="slides/slide6.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5.xml"/><Relationship Id="rId54" Type="http://schemas.openxmlformats.org/officeDocument/2006/relationships/slide" Target="slides/slide13.xml"/><Relationship Id="rId55" Type="http://schemas.openxmlformats.org/officeDocument/2006/relationships/slide" Target="slides/slide14.xml"/><Relationship Id="rId56" Type="http://schemas.openxmlformats.org/officeDocument/2006/relationships/slide" Target="slides/slide15.xml"/><Relationship Id="rId57" Type="http://schemas.openxmlformats.org/officeDocument/2006/relationships/slide" Target="slides/slide16.xml"/><Relationship Id="rId58" Type="http://schemas.openxmlformats.org/officeDocument/2006/relationships/slide" Target="slides/slide17.xml"/><Relationship Id="rId59" Type="http://schemas.openxmlformats.org/officeDocument/2006/relationships/slide" Target="slides/slide18.xml"/><Relationship Id="rId60" Type="http://schemas.openxmlformats.org/officeDocument/2006/relationships/slide" Target="slides/slide19.xml"/><Relationship Id="rId61" Type="http://schemas.openxmlformats.org/officeDocument/2006/relationships/slide" Target="slides/slide20.xml"/><Relationship Id="rId62" Type="http://schemas.openxmlformats.org/officeDocument/2006/relationships/slide" Target="slides/slide21.xml"/><Relationship Id="rId63" Type="http://schemas.openxmlformats.org/officeDocument/2006/relationships/slide" Target="slides/slide22.xml"/><Relationship Id="rId64" Type="http://schemas.openxmlformats.org/officeDocument/2006/relationships/slide" Target="slides/slide23.xml"/><Relationship Id="rId65" Type="http://schemas.openxmlformats.org/officeDocument/2006/relationships/slide" Target="slides/slide24.xml"/><Relationship Id="rId67" Type="http://schemas.openxmlformats.org/officeDocument/2006/relationships/slide" Target="slides/slide26.xml"/><Relationship Id="rId68" Type="http://schemas.openxmlformats.org/officeDocument/2006/relationships/slide" Target="slides/slide27.xml"/><Relationship Id="rId69" Type="http://schemas.openxmlformats.org/officeDocument/2006/relationships/slide" Target="slides/slide28.xml"/><Relationship Id="rId70" Type="http://schemas.openxmlformats.org/officeDocument/2006/relationships/slide" Target="slides/slide29.xml"/><Relationship Id="rId71" Type="http://schemas.openxmlformats.org/officeDocument/2006/relationships/slide" Target="slides/slide30.xml"/><Relationship Id="rId72" Type="http://schemas.openxmlformats.org/officeDocument/2006/relationships/slide" Target="slides/slide31.xml"/><Relationship Id="rId73" Type="http://schemas.openxmlformats.org/officeDocument/2006/relationships/slide" Target="slides/slide32.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next two slides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previous two slides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recurring discipline from slide 9).</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what must remain we are obliged to write down. That is the boundaries slide.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ROLE CHANGE, stated aloud: Section 2's controller taught how to reason. These two cases show how you find out whether the reasoning was right — a different job, not a second pass of the same lesson.</a:t>
            </a:r>
          </a:p>
          <a:p>
            <a:r>
              <a:rPr dirty="0"/>
              <a:t>Both are production cases from DocAble. The lease's omission was vindicated; entitlement's was refuted. A hypothetical can teach judgment; only production can grade it. (Plan §7 — this section break exists to make the method/evidence split visible.)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object carried the entitlement; the reduction kept one scalar, credits_remaining. The implementation knew the account was unlimited, but the scalar had nowhere to keep the distinction: an unlimited user hit zero credits and was refused.</a:t>
            </a:r>
          </a:p>
          <a:p>
            <a:r>
              <a:rPr dirty="0"/>
              <a:t>Bottom-up said removable; the obligation said no. This is refutation — the omitted distinction actually mattered, and production said so.</a:t>
            </a:r>
          </a:p>
          <a:p>
            <a:r>
              <a:rPr dirty="0"/>
              <a:t>Once a distinction is discarded, no downstream reasoning can recover it. That limit returns at the end of this section.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the next slide.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The limit case makes the asymmetry exact: for a fixed representation R, as M approaches a perfect reasoner and the interpretation and realization factors approach one, p_R goes to P(E | R). Every symbol is already known — T, M, R and H from the production equation, E, I and L from the chain decomposition, obligation and scaffolding and degrees of freedom from the argument just made. That is why it was held back until here.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band is the figure from “Open the box” and it is deliberately BARE here — no red MODELING CHANGES THE REPRESENTATION overlay. This slide argues that even a perfect reasoner stays bounded by P(E | R); the Modeling-lever annotation would fight that claim. Point at the FIRST term as you read the limit.</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27. ~10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28. ~2-3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29. 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30. 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31. ~9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32. ~2 minutes; compresses to 1 if needed. Reprise, not new content — the couplet was earned at slides 15/17/18 and adjudicated at 23.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Do not say “Modeling” yet. Naming the lever here spends the next slide’s move, which is to open the probability and point at the one term Modeling acts on. About 2.5 minutes including the naming exchange.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next four slides each rescue exactly one of them.</a:t>
            </a:r>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two slides from now, arriving by demonstration rather than by assertion.</a:t>
            </a:r>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The next slide is the punchline — do not deliver it here.</a:t>
            </a:r>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a:t>
            </a:r>
          </a:p>
          <a:p>
            <a:r>
              <a:rPr lang="en-US" dirty="0"/>
              <a:t>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Do not walk all five again. Point, land the thesis, move. Forty-five seconds.</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NAME THE FIVE DISTINCTIONS ALOUD while pointing, one per card — this is the evidence for the second half of the thesis, and the thumbnails are too small to carry it on their own: structure, order, lifecycle, branching, intent. Five questions, five things worth keeping, one territory.</a:t>
            </a:r>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 Id="rId3" Type="http://schemas.openxmlformats.org/officeDocument/2006/relationships/image" Target="../media/image3.png"/></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7.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39.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40.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 xml:space="preserve">Lecture 1 </a:t>
            </a:r>
            <a:r>
              <a:rPr lang="en-US" sz="2000" dirty="0">
                <a:solidFill>
                  <a:srgbClr val="555960"/>
                </a:solidFill>
              </a:rPr>
              <a:t>(today)</a:t>
            </a:r>
            <a:r>
              <a:rPr lang="en-US" sz="2000" b="0" i="0" dirty="0">
                <a:solidFill>
                  <a:srgbClr val="555960"/>
                </a:solidFill>
              </a:rPr>
              <a:t xml:space="preserve">: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xml:space="preserve">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xml:space="preserve">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 xml:space="preserve">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judged what must remain. How much of it must we write down?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How do you find out whether you left out the right things?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685800" y="3657600"/>
            <a:ext cx="777240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Two production cases from DocAble — one vindicated, one refuted.</a:t>
            </a:r>
          </a:p>
        </p:txBody>
      </p:sp>
      <p:sp>
        <p:nvSpPr>
          <p:cNvPr id="131" name="VTagL"/>
          <p:cNvSpPr/>
          <p:nvPr/>
        </p:nvSpPr>
        <p:spPr>
          <a:xfrm>
            <a:off x="201168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✓ THE LEASE</a:t>
            </a:r>
          </a:p>
        </p:txBody>
      </p:sp>
      <p:sp>
        <p:nvSpPr>
          <p:cNvPr id="132" name="VTagR"/>
          <p:cNvSpPr/>
          <p:nvPr/>
        </p:nvSpPr>
        <p:spPr>
          <a:xfrm>
            <a:off x="484632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✗ ENTITLEMENT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admission decision reduced entitlement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0" dirty="0">
                <a:solidFill>
                  <a:srgbClr val="555960"/>
                </a:solidFill>
              </a:rPr>
              <a:t>plan: professional</a:t>
            </a:r>
          </a:p>
          <a:p>
            <a:pPr algn="ctr">
              <a:spcAft>
                <a:spcPts val="600"/>
              </a:spcAft>
              <a:buNone/>
            </a:pPr>
            <a:r>
              <a:rPr lang="en-US" sz="1500" b="1" dirty="0">
                <a:solidFill>
                  <a:srgbClr val="5C4826"/>
                </a:solidFill>
              </a:rPr>
              <a:t>entitlement: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org, roles,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entitlement</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nowhere to live in a scalar</a:t>
            </a:r>
          </a:p>
        </p:txBody>
      </p:sp>
      <p:sp>
        <p:nvSpPr>
          <p:cNvPr id="19" name="Outcome"/>
          <p:cNvSpPr txBox="1"/>
          <p:nvPr/>
        </p:nvSpPr>
        <p:spPr>
          <a:xfrm>
            <a:off x="365760" y="4709160"/>
            <a:ext cx="8412480" cy="54864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knew the account was unlimited. The model could not say so.</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An unlimited user became zero credits.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ENTITLEMENT</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the unlimited plan</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a wrong production decision ✗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1005840" y="2103120"/>
            <a:ext cx="4023360" cy="2377440"/>
          </a:xfrm>
          <a:prstGeom prst="rect">
            <a:avLst/>
          </a:prstGeom>
          <a:solidFill>
            <a:srgbClr val="C9B991"/>
          </a:solidFill>
          <a:ln>
            <a:noFill/>
          </a:ln>
        </p:spPr>
        <p:txBody>
          <a:bodyPr wrap="square" lIns="27432" tIns="22860" rIns="27432" bIns="22860" anchor="ctr"/>
          <a:lstStyle/>
          <a:p>
            <a:pPr>
              <a:buNone/>
            </a:pPr>
            <a:endParaRPr lang="en-US"/>
          </a:p>
        </p:txBody>
      </p:sp>
      <p:sp>
        <p:nvSpPr>
          <p:cNvPr id="12" name="Oblig1"/>
          <p:cNvSpPr/>
          <p:nvPr/>
        </p:nvSpPr>
        <p:spPr>
          <a:xfrm>
            <a:off x="1508760" y="2560320"/>
            <a:ext cx="301752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005840" y="3794760"/>
            <a:ext cx="402336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526280"/>
            <a:ext cx="5029200" cy="27432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DEGREES OF FREEDOM — the rest is the agent’s</a:t>
            </a:r>
          </a:p>
        </p:txBody>
      </p:sp>
      <p:sp>
        <p:nvSpPr>
          <p:cNvPr id="15" name="SpLbl"/>
          <p:cNvSpPr txBox="1"/>
          <p:nvPr/>
        </p:nvSpPr>
        <p:spPr>
          <a:xfrm>
            <a:off x="5806440" y="1965960"/>
            <a:ext cx="3017520" cy="548640"/>
          </a:xfrm>
          <a:prstGeom prst="rect">
            <a:avLst/>
          </a:prstGeom>
          <a:noFill/>
          <a:ln>
            <a:noFill/>
          </a:ln>
        </p:spPr>
        <p:txBody>
          <a:bodyPr wrap="square" lIns="0" tIns="0" rIns="0" bIns="0" anchor="t"/>
          <a:lstStyle/>
          <a:p>
            <a:pPr algn="l">
              <a:spcAft>
                <a:spcPts val="200"/>
              </a:spcAft>
              <a:buNone/>
            </a:pPr>
            <a:r>
              <a:rPr lang="en-US" sz="16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074920" y="2240280"/>
            <a:ext cx="685800" cy="0"/>
          </a:xfrm>
          <a:prstGeom prst="straightConnector1">
            <a:avLst/>
          </a:prstGeom>
          <a:ln w="12700">
            <a:solidFill>
              <a:srgbClr val="555960"/>
            </a:solidFill>
            <a:headEnd type="triangle" w="med" len="med"/>
          </a:ln>
        </p:spPr>
      </p:cxnSp>
      <p:sp>
        <p:nvSpPr>
          <p:cNvPr id="17" name="ObLbl"/>
          <p:cNvSpPr txBox="1"/>
          <p:nvPr/>
        </p:nvSpPr>
        <p:spPr>
          <a:xfrm>
            <a:off x="5806440" y="2743200"/>
            <a:ext cx="3017520" cy="548640"/>
          </a:xfrm>
          <a:prstGeom prst="rect">
            <a:avLst/>
          </a:prstGeom>
          <a:noFill/>
          <a:ln>
            <a:noFill/>
          </a:ln>
        </p:spPr>
        <p:txBody>
          <a:bodyPr wrap="square" lIns="0" tIns="0" rIns="0" bIns="0" anchor="t"/>
          <a:lstStyle/>
          <a:p>
            <a:pPr algn="l">
              <a:spcAft>
                <a:spcPts val="200"/>
              </a:spcAft>
              <a:buNone/>
            </a:pPr>
            <a:r>
              <a:rPr lang="en-US" sz="16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572000" y="3017520"/>
            <a:ext cx="1188720" cy="0"/>
          </a:xfrm>
          <a:prstGeom prst="straightConnector1">
            <a:avLst/>
          </a:prstGeom>
          <a:ln w="12700">
            <a:solidFill>
              <a:srgbClr val="555960"/>
            </a:solidFill>
            <a:headEnd type="triangle" w="med" len="med"/>
          </a:ln>
        </p:spPr>
      </p:cxnSp>
      <p:sp>
        <p:nvSpPr>
          <p:cNvPr id="20" name="Scaf2"/>
          <p:cNvSpPr/>
          <p:nvPr/>
        </p:nvSpPr>
        <p:spPr>
          <a:xfrm>
            <a:off x="1371600" y="2331720"/>
            <a:ext cx="3291840" cy="1965960"/>
          </a:xfrm>
          <a:prstGeom prst="rect">
            <a:avLst/>
          </a:prstGeom>
          <a:noFill/>
          <a:ln w="19050">
            <a:solidFill>
              <a:srgbClr val="5C4826"/>
            </a:solidFill>
            <a:prstDash val="dash"/>
          </a:ln>
        </p:spPr>
        <p:txBody>
          <a:bodyPr wrap="square" lIns="27432" tIns="22860" rIns="27432" bIns="22860" anchor="ctr"/>
          <a:lstStyle/>
          <a:p>
            <a:pPr>
              <a:buNone/>
            </a:pPr>
            <a:endParaRPr lang="en-US"/>
          </a:p>
        </p:txBody>
      </p:sp>
      <p:cxnSp>
        <p:nvCxnSpPr>
          <p:cNvPr id="21" name="MvA"/>
          <p:cNvCxnSpPr/>
          <p:nvPr/>
        </p:nvCxnSpPr>
        <p:spPr>
          <a:xfrm>
            <a:off x="4663440" y="3566160"/>
            <a:ext cx="1097280" cy="0"/>
          </a:xfrm>
          <a:prstGeom prst="straightConnector1">
            <a:avLst/>
          </a:prstGeom>
          <a:ln w="28575">
            <a:solidFill>
              <a:srgbClr val="5C4826"/>
            </a:solidFill>
            <a:headEnd type="triangle" w="med" len="med"/>
          </a:ln>
        </p:spPr>
      </p:cxnSp>
      <p:sp>
        <p:nvSpPr>
          <p:cNvPr id="22" name="CapLbl"/>
          <p:cNvSpPr txBox="1"/>
          <p:nvPr/>
        </p:nvSpPr>
        <p:spPr>
          <a:xfrm>
            <a:off x="5806440" y="34290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a more capable agent</a:t>
            </a:r>
          </a:p>
          <a:p>
            <a:pPr algn="l">
              <a:spcAft>
                <a:spcPts val="0"/>
              </a:spcAft>
              <a:buNone/>
            </a:pPr>
            <a:r>
              <a:rPr lang="en-US" sz="1400" b="0" dirty="0">
                <a:solidFill>
                  <a:srgbClr val="555960"/>
                </a:solidFill>
              </a:rPr>
              <a:t>needs less scaffolding, so this boundary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411480"/>
          </a:xfrm>
          <a:prstGeom prst="straightConnector1">
            <a:avLst/>
          </a:prstGeom>
          <a:ln w="12700">
            <a:solidFill>
              <a:srgbClr val="8E6F3E"/>
            </a:solidFill>
            <a:prstDash val="dash"/>
            <a:tailEnd type="triangle" w="med" len="med"/>
          </a:ln>
        </p:spPr>
      </p:cxnSp>
      <p:sp>
        <p:nvSpPr>
          <p:cNvPr id="17" name="Drop1"/>
          <p:cNvSpPr/>
          <p:nvPr/>
        </p:nvSpPr>
        <p:spPr>
          <a:xfrm>
            <a:off x="845820" y="269748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✗ a distinction</a:t>
            </a:r>
          </a:p>
        </p:txBody>
      </p:sp>
      <p:sp>
        <p:nvSpPr>
          <p:cNvPr id="18" name="DropL"/>
          <p:cNvSpPr txBox="1"/>
          <p:nvPr/>
        </p:nvSpPr>
        <p:spPr>
          <a:xfrm>
            <a:off x="685800" y="315468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26480" y="2423160"/>
            <a:ext cx="274320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56616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pic>
        <p:nvPicPr>
          <p:cNvPr id="30" name="BandPic" descr="Small reprise of the 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365760" y="4200000"/>
            <a:ext cx="3200400" cy="1185206"/>
          </a:xfrm>
          <a:prstGeom prst="rect">
            <a:avLst/>
          </a:prstGeom>
        </p:spPr>
      </p:pic>
      <p:sp>
        <p:nvSpPr>
          <p:cNvPr id="31" name="LimK"/>
          <p:cNvSpPr txBox="1"/>
          <p:nvPr/>
        </p:nvSpPr>
        <p:spPr>
          <a:xfrm>
            <a:off x="3886200" y="4114800"/>
            <a:ext cx="4983480" cy="274320"/>
          </a:xfrm>
          <a:prstGeom prst="rect">
            <a:avLst/>
          </a:prstGeom>
          <a:noFill/>
          <a:ln>
            <a:noFill/>
          </a:ln>
        </p:spPr>
        <p:txBody>
          <a:bodyPr wrap="square" lIns="0" tIns="0" rIns="0" bIns="0" anchor="t"/>
          <a:lstStyle/>
          <a:p>
            <a:pPr algn="l">
              <a:spcAft>
                <a:spcPts val="0"/>
              </a:spcAft>
              <a:buNone/>
            </a:pPr>
            <a:r>
              <a:rPr lang="en-US" sz="1400" b="1" dirty="0">
                <a:solidFill>
                  <a:srgbClr val="8E6F3E"/>
                </a:solidFill>
              </a:rPr>
              <a:t>THE LIMIT CASE</a:t>
            </a:r>
          </a:p>
        </p:txBody>
      </p:sp>
      <p:sp>
        <p:nvSpPr>
          <p:cNvPr id="32" name="LimEq"/>
          <p:cNvSpPr txBox="1"/>
          <p:nvPr/>
        </p:nvSpPr>
        <p:spPr>
          <a:xfrm>
            <a:off x="3886200" y="4457700"/>
            <a:ext cx="4983480" cy="594360"/>
          </a:xfrm>
          <a:prstGeom prst="rect">
            <a:avLst/>
          </a:prstGeom>
          <a:noFill/>
          <a:ln>
            <a:noFill/>
          </a:ln>
        </p:spPr>
        <p:txBody>
          <a:bodyPr wrap="square" lIns="0" tIns="0" rIns="0" bIns="0" anchor="ctr"/>
          <a:lstStyle/>
          <a:p>
            <a:pPr algn="l">
              <a:spcAft>
                <a:spcPts val="0"/>
              </a:spcAft>
              <a:buNone/>
            </a:pPr>
            <a:r>
              <a:rPr lang="en-US" sz="2600" b="0" i="1" dirty="0">
                <a:solidFill>
                  <a:srgbClr val="5C4826"/>
                </a:solidFill>
              </a:rPr>
              <a:t>lim</a:t>
            </a:r>
            <a:r>
              <a:rPr lang="en-US" sz="1500" b="0" i="1" baseline="-25000" dirty="0">
                <a:solidFill>
                  <a:srgbClr val="5C4826"/>
                </a:solidFill>
              </a:rPr>
              <a:t xml:space="preserve">M → perfect reasoner</a:t>
            </a:r>
            <a:r>
              <a:rPr lang="en-US" sz="2600" b="0" i="1" dirty="0">
                <a:solidFill>
                  <a:srgbClr val="5C4826"/>
                </a:solidFill>
              </a:rPr>
              <a:t xml:space="preserve">  p</a:t>
            </a:r>
            <a:r>
              <a:rPr lang="en-US" sz="2600" b="0" i="1" baseline="-25000" dirty="0">
                <a:solidFill>
                  <a:srgbClr val="5C4826"/>
                </a:solidFill>
              </a:rPr>
              <a:t>R</a:t>
            </a:r>
            <a:r>
              <a:rPr lang="en-US" sz="2600" b="0" i="1" dirty="0">
                <a:solidFill>
                  <a:srgbClr val="5C4826"/>
                </a:solidFill>
              </a:rPr>
              <a:t xml:space="preserve"> = P(E | R)</a:t>
            </a:r>
          </a:p>
        </p:txBody>
      </p:sp>
      <p:sp>
        <p:nvSpPr>
          <p:cNvPr id="33" name="LimCap"/>
          <p:cNvSpPr txBox="1"/>
          <p:nvPr/>
        </p:nvSpPr>
        <p:spPr>
          <a:xfrm>
            <a:off x="3886200" y="5111750"/>
            <a:ext cx="4983480" cy="45720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Even perfect interpretation and realization remain bounded by what was encoded.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par>
                                <p:cTn id="14" presetID="10" presetClass="entr" presetSubtype="0" fill="hold" nodeType="withEffect">
                                  <p:stCondLst>
                                    <p:cond delay="0"/>
                                  </p:stCondLst>
                                  <p:childTnLst>
                                    <p:set>
                                      <p:cBhvr>
                                        <p:cTn id="15" dur="1" fill="hold">
                                          <p:stCondLst>
                                            <p:cond delay="0"/>
                                          </p:stCondLst>
                                        </p:cTn>
                                        <p:tgtEl>
                                          <p:spTgt spid="33"/>
                                        </p:tgtEl>
                                        <p:attrNameLst>
                                          <p:attrName>style.visibility</p:attrName>
                                        </p:attrNameLst>
                                      </p:cBhvr>
                                      <p:to>
                                        <p:strVal val="visible"/>
                                      </p:to>
                                    </p:set>
                                    <p:animEffect transition="in" filter="fade">
                                      <p:cBhvr>
                                        <p:cTn id="16"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 xml:space="preserve">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xml:space="preserve"> + T</a:t>
            </a:r>
            <a:r>
              <a:rPr lang="en-US" sz="1400" b="1" baseline="-25000" dirty="0">
                <a:solidFill>
                  <a:srgbClr val="5C4826"/>
                </a:solidFill>
              </a:rPr>
              <a:t>schedule</a:t>
            </a:r>
            <a:r>
              <a:rPr lang="en-US" sz="2000" b="1" dirty="0">
                <a:solidFill>
                  <a:srgbClr val="5C4826"/>
                </a:solidFill>
              </a:rPr>
              <a:t xml:space="preserve"> + T</a:t>
            </a:r>
            <a:r>
              <a:rPr lang="en-US" sz="1400" b="1" baseline="-25000" dirty="0">
                <a:solidFill>
                  <a:srgbClr val="5C4826"/>
                </a:solidFill>
              </a:rPr>
              <a:t>compute</a:t>
            </a:r>
            <a:r>
              <a:rPr lang="en-US" sz="2000" b="1" dirty="0">
                <a:solidFill>
                  <a:srgbClr val="5C4826"/>
                </a:solidFill>
              </a:rPr>
              <a:t xml:space="preserve"> + T</a:t>
            </a:r>
            <a:r>
              <a:rPr lang="en-US" sz="1400" b="1" baseline="-25000" dirty="0">
                <a:solidFill>
                  <a:srgbClr val="5C4826"/>
                </a:solidFill>
              </a:rPr>
              <a:t>actuate</a:t>
            </a:r>
            <a:r>
              <a:rPr lang="en-US" sz="2000" b="1" dirty="0">
                <a:solidFill>
                  <a:srgbClr val="5C4826"/>
                </a:solidFill>
              </a:rPr>
              <a:t xml:space="preserve">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xml:space="preserve">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xml:space="preserve">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xml:space="preserve">  staged: published</a:t>
            </a:r>
          </a:p>
          <a:p>
            <a:pPr algn="l">
              <a:spcAft>
                <a:spcPts val="1000"/>
              </a:spcAft>
              <a:buNone/>
            </a:pPr>
            <a:r>
              <a:rPr lang="en-US" sz="1500" b="0" dirty="0">
                <a:solidFill>
                  <a:srgbClr val="5C4826"/>
                </a:solidFill>
              </a:rPr>
              <a:t xml:space="preserve">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xml:space="preserve">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xml:space="preserve">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xml:space="preserve"> what must I preserve to answer the engineering question?</a:t>
            </a:r>
          </a:p>
          <a:p>
            <a:r>
              <a:rPr lang="en-US" b="1" dirty="0"/>
              <a:t>Bottom-up:</a:t>
            </a:r>
            <a:r>
              <a:rPr lang="en-US" dirty="0"/>
              <a:t xml:space="preserve">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 xml:space="preserve">Tomorrow: </a:t>
            </a:r>
            <a:r>
              <a:rPr lang="en-US" sz="1800" b="0" i="1" dirty="0">
                <a:solidFill>
                  <a:srgbClr val="555960"/>
                </a:solidFill>
              </a:rPr>
              <a:t>one model can be useful. How do many models remain trustworthy together?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xml:space="preserve">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2"/>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2"/>
          <a:stretch>
            <a:fillRect/>
          </a:stretch>
        </p:blipFill>
        <p:spPr>
          <a:xfrm>
            <a:off x="274320" y="1795827"/>
            <a:ext cx="8595360" cy="387594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2"/>
          <a:stretch>
            <a:fillRect/>
          </a:stretch>
        </p:blipFill>
        <p:spPr>
          <a:xfrm>
            <a:off x="1016212" y="1341120"/>
            <a:ext cx="7111577" cy="478536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74320" y="1714062"/>
            <a:ext cx="8595360" cy="4039475"/>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2"/>
          <a:stretch>
            <a:fillRect/>
          </a:stretch>
        </p:blipFill>
        <p:spPr>
          <a:xfrm>
            <a:off x="1777275" y="1341120"/>
            <a:ext cx="5589450" cy="478536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2"/>
          <a:stretch>
            <a:fillRect/>
          </a:stretch>
        </p:blipFill>
        <p:spPr>
          <a:xfrm>
            <a:off x="1533226" y="1341120"/>
            <a:ext cx="6077549" cy="478536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pic>
        <p:nvPicPr>
          <p:cNvPr id="60" name="ThumbFigure" descr="Five models of one course-registration system shown together: the class diagram, the sequence diagram, the state machine, the activity diagram and the use-case diagram, each captioned with the question it answers."/>
          <p:cNvPicPr>
            <a:picLocks noChangeAspect="1"/>
          </p:cNvPicPr>
          <p:nvPr/>
        </p:nvPicPr>
        <p:blipFill>
          <a:blip r:embed="rId2"/>
          <a:stretch>
            <a:fillRect/>
          </a:stretch>
        </p:blipFill>
        <p:spPr>
          <a:xfrm>
            <a:off x="1349594" y="1341120"/>
            <a:ext cx="6444813" cy="4373880"/>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2"/>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licence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4329</Words>
  <Application>Microsoft Macintosh PowerPoint</Application>
  <PresentationFormat>On-screen Show (4:3)</PresentationFormat>
  <Paragraphs>494</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Times</vt:lpstr>
      <vt:lpstr>Purdue1</vt:lpstr>
      <vt:lpstr>PowerPoint Presentation</vt:lpstr>
      <vt:lpstr>Delegation leaves an information problem</vt:lpstr>
      <vt:lpstr>A model is useful because it leaves things out</vt:lpstr>
      <vt:lpstr>…and makes explicit what must remain</vt:lpstr>
      <vt:lpstr>Modeling is purposeful reduction</vt:lpstr>
      <vt:lpstr>QUESTIONS COME FIRST</vt:lpstr>
      <vt:lpstr>One territory, three questions</vt:lpstr>
      <vt:lpstr>No model is simply “the system”</vt:lpstr>
      <vt:lpstr>Four questions for every model</vt:lpstr>
      <vt:lpstr>Engineers have seen these questions before</vt:lpstr>
      <vt:lpstr>Select before you invent</vt:lpstr>
      <vt:lpstr>UML is a repertoire, not the theory of Modeling</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THE EVIDENCE</vt:lpstr>
      <vt:lpstr>Too much reduction loses the obligation</vt:lpstr>
      <vt:lpstr>Good reduction leaves implementation free</vt:lpstr>
      <vt:lpstr>The evidence, side by side</vt:lpstr>
      <vt:lpstr>Obligation and specification are different boundaries</vt:lpstr>
      <vt:lpstr>Capability can reduce scaffolding</vt:lpstr>
      <vt:lpstr>Capability cannot reduce what must be true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405</cp:revision>
  <dcterms:created xsi:type="dcterms:W3CDTF">2020-02-21T23:00:33Z</dcterms:created>
  <dcterms:modified xsi:type="dcterms:W3CDTF">2026-09-30T14:47:15Z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