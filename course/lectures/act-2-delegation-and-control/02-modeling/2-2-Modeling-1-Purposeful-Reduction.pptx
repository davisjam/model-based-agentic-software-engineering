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1143000" y="3977640"/>
            <a:ext cx="32004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  TOO MUCH REDUCTION</a:t>
            </a:r>
          </a:p>
          <a:p>
            <a:pPr algn="ctr">
              <a:spcAft>
                <a:spcPts val="0"/>
              </a:spcAft>
              <a:buNone/>
            </a:pPr>
            <a:r>
              <a:rPr lang="en-US" sz="1400" b="0" i="0" dirty="0">
                <a:solidFill>
                  <a:srgbClr val="555960"/>
                </a:solidFill>
              </a:rPr>
              <a:t xml:space="preserve">a required distinction, erased</a:t>
            </a:r>
          </a:p>
        </p:txBody>
      </p:sp>
      <p:sp>
        <p:nvSpPr>
          <p:cNvPr id="133" name="VTag3"/>
          <p:cNvSpPr txBox="1"/>
          <p:nvPr/>
        </p:nvSpPr>
        <p:spPr>
          <a:xfrm>
            <a:off x="4800600" y="3977640"/>
            <a:ext cx="32004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  GOOD REDUCTION</a:t>
            </a:r>
          </a:p>
          <a:p>
            <a:pPr algn="ctr">
              <a:spcAft>
                <a:spcPts val="0"/>
              </a:spcAft>
              <a:buNone/>
            </a:pPr>
            <a:r>
              <a:rPr lang="en-US" sz="1400" b="0" i="0" dirty="0">
                <a:solidFill>
                  <a:srgbClr val="555960"/>
                </a:solidFill>
              </a:rPr>
              <a:t xml:space="preserve">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19456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00" b="0" i="0" dirty="0">
                <a:solidFill>
                  <a:srgbClr val="5C4826"/>
                </a:solidFill>
              </a:rPr>
              <a:t>quota_type  {metered, unlimited}</a:t>
            </a:r>
          </a:p>
          <a:p>
            <a:pPr algn="l">
              <a:spcAft>
                <a:spcPts val="250"/>
              </a:spcAft>
              <a:buNone/>
            </a:pPr>
            <a:r>
              <a:rPr lang="en-US" sz="1000" b="0" i="0" dirty="0">
                <a:solidFill>
                  <a:srgbClr val="5C4826"/>
                </a:solidFill>
              </a:rPr>
              <a:t>credits_remaining</a:t>
            </a:r>
          </a:p>
          <a:p>
            <a:pPr algn="l">
              <a:spcAft>
                <a:spcPts val="0"/>
              </a:spcAft>
              <a:buNone/>
            </a:pPr>
            <a:r>
              <a:rPr lang="en-US" sz="1000" b="0" i="0" dirty="0">
                <a:solidFill>
                  <a:srgbClr val="5C4826"/>
                </a:solidFill>
              </a:rPr>
              <a:t>renewal</a:t>
            </a:r>
          </a:p>
        </p:txBody>
      </p:sp>
      <p:sp>
        <p:nvSpPr>
          <p:cNvPr id="121" name="SchemaRule"/>
          <p:cNvSpPr/>
          <p:nvPr/>
        </p:nvSpPr>
        <p:spPr>
          <a:xfrm>
            <a:off x="1280160" y="2649220"/>
            <a:ext cx="201168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474720" y="2362200"/>
            <a:ext cx="82296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474720" y="2865120"/>
            <a:ext cx="822960" cy="0"/>
          </a:xfrm>
          <a:prstGeom prst="straightConnector1">
            <a:avLst/>
          </a:prstGeom>
          <a:ln w="28575">
            <a:solidFill>
              <a:srgbClr val="8E6F3E"/>
            </a:solidFill>
            <a:tailEnd type="triangle" w="med" len="med"/>
          </a:ln>
        </p:spPr>
      </p:cxnSp>
      <p:sp>
        <p:nvSpPr>
          <p:cNvPr id="124" name="ScalarBox"/>
          <p:cNvSpPr/>
          <p:nvPr/>
        </p:nvSpPr>
        <p:spPr>
          <a:xfrm>
            <a:off x="4389120" y="2651760"/>
            <a:ext cx="201168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050" b="1" i="0" dirty="0">
                <a:solidFill>
                  <a:srgbClr val="FFFFFF"/>
                </a:solidFill>
              </a:rPr>
              <a:t>credits_remaining : integer</a:t>
            </a:r>
          </a:p>
        </p:txBody>
      </p:sp>
      <p:sp>
        <p:nvSpPr>
          <p:cNvPr id="125" name="ScalarCap"/>
          <p:cNvSpPr txBox="1"/>
          <p:nvPr/>
        </p:nvSpPr>
        <p:spPr>
          <a:xfrm>
            <a:off x="4389120" y="3246120"/>
            <a:ext cx="2011680" cy="182880"/>
          </a:xfrm>
          <a:prstGeom prst="rect">
            <a:avLst/>
          </a:prstGeom>
          <a:noFill/>
          <a:ln>
            <a:noFill/>
          </a:ln>
        </p:spPr>
        <p:txBody>
          <a:bodyPr wrap="square" lIns="0" tIns="0" rIns="0" bIns="0" anchor="t"/>
          <a:lstStyle/>
          <a:p>
            <a:pPr algn="ctr">
              <a:spcAft>
                <a:spcPts val="0"/>
              </a:spcAft>
              <a:buNone/>
            </a:pPr>
            <a:r>
              <a:rPr lang="en-US" sz="1000" b="0" i="1" dirty="0">
                <a:solidFill>
                  <a:srgbClr val="555960"/>
                </a:solidFill>
              </a:rPr>
              <a:t>the whole model of the account</a:t>
            </a:r>
          </a:p>
        </p:txBody>
      </p:sp>
      <p:sp>
        <p:nvSpPr>
          <p:cNvPr id="126" name="Callout"/>
          <p:cNvSpPr/>
          <p:nvPr/>
        </p:nvSpPr>
        <p:spPr>
          <a:xfrm>
            <a:off x="6492240" y="2362200"/>
            <a:ext cx="2377440" cy="105156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050" b="1" i="0" dirty="0">
                <a:solidFill>
                  <a:srgbClr val="8E6F3E"/>
                </a:solidFill>
              </a:rPr>
              <a:t>Yes, this is a model.</a:t>
            </a:r>
          </a:p>
          <a:p>
            <a:pPr algn="l">
              <a:spcAft>
                <a:spcPts val="0"/>
              </a:spcAft>
              <a:buNone/>
            </a:pPr>
            <a:r>
              <a:rPr lang="en-US" sz="100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Zero0"/>
          <p:cNvSpPr txBox="1"/>
          <p:nvPr/>
        </p:nvSpPr>
        <p:spPr>
          <a:xfrm>
            <a:off x="6080760" y="3520440"/>
            <a:ext cx="640080" cy="320040"/>
          </a:xfrm>
          <a:prstGeom prst="rect">
            <a:avLst/>
          </a:prstGeom>
          <a:noFill/>
          <a:ln>
            <a:noFill/>
          </a:ln>
        </p:spPr>
        <p:txBody>
          <a:bodyPr wrap="square" lIns="0" tIns="0" rIns="0" bIns="0" anchor="ctr"/>
          <a:lstStyle/>
          <a:p>
            <a:pPr algn="ctr">
              <a:spcAft>
                <a:spcPts val="0"/>
              </a:spcAft>
              <a:buNone/>
            </a:pPr>
            <a:r>
              <a:rPr lang="en-US" sz="2000" b="1" i="0" dirty="0">
                <a:solidFill>
                  <a:srgbClr val="5C4826"/>
                </a:solidFill>
              </a:rPr>
              <a:t>0</a:t>
            </a:r>
          </a:p>
        </p:txBody>
      </p:sp>
      <p:sp>
        <p:nvSpPr>
          <p:cNvPr id="135"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6"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7" name="CZero1"/>
          <p:cNvSpPr txBox="1"/>
          <p:nvPr/>
        </p:nvSpPr>
        <p:spPr>
          <a:xfrm>
            <a:off x="6080760" y="3886200"/>
            <a:ext cx="640080" cy="320040"/>
          </a:xfrm>
          <a:prstGeom prst="rect">
            <a:avLst/>
          </a:prstGeom>
          <a:noFill/>
          <a:ln>
            <a:noFill/>
          </a:ln>
        </p:spPr>
        <p:txBody>
          <a:bodyPr wrap="square" lIns="0" tIns="0" rIns="0" bIns="0" anchor="ctr"/>
          <a:lstStyle/>
          <a:p>
            <a:pPr algn="ctr">
              <a:spcAft>
                <a:spcPts val="0"/>
              </a:spcAft>
              <a:buNone/>
            </a:pPr>
            <a:r>
              <a:rPr lang="en-US" sz="2000" b="1" i="0" dirty="0">
                <a:solidFill>
                  <a:srgbClr val="5C4826"/>
                </a:solidFill>
              </a:rPr>
              <a:t>0</a:t>
            </a:r>
          </a:p>
        </p:txBody>
      </p:sp>
      <p:cxnSp>
        <p:nvCxnSpPr>
          <p:cNvPr id="140" name="SameUp"/>
          <p:cNvCxnSpPr/>
          <p:nvPr/>
        </p:nvCxnSpPr>
        <p:spPr>
          <a:xfrm flipV="1">
            <a:off x="6400800" y="4206240"/>
            <a:ext cx="0" cy="91440"/>
          </a:xfrm>
          <a:prstGeom prst="straightConnector1">
            <a:avLst/>
          </a:prstGeom>
          <a:ln w="19050">
            <a:solidFill>
              <a:srgbClr val="8E6F3E"/>
            </a:solidFill>
            <a:tailEnd type="triangle" w="med" len="med"/>
          </a:ln>
        </p:spPr>
      </p:cxnSp>
      <p:sp>
        <p:nvSpPr>
          <p:cNvPr id="141" name="SameLbl"/>
          <p:cNvSpPr txBox="1"/>
          <p:nvPr/>
        </p:nvSpPr>
        <p:spPr>
          <a:xfrm>
            <a:off x="5181600" y="4297680"/>
            <a:ext cx="2438400" cy="18288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with different required behavior.</a:t>
            </a:r>
          </a:p>
        </p:txBody>
      </p:sp>
      <p:sp>
        <p:nvSpPr>
          <p:cNvPr id="151"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