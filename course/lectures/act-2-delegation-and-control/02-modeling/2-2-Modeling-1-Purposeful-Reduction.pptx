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80" r:id="rId23"/>
    <p:sldId id="290" r:id="rId24"/>
    <p:sldId id="282" r:id="rId25"/>
    <p:sldId id="276" r:id="rId26"/>
    <p:sldId id="277" r:id="rId27"/>
    <p:sldId id="278" r:id="rId28"/>
    <p:sldId id="279" r:id="rId29"/>
    <p:sldId id="291" r:id="rId30"/>
    <p:sldId id="283" r:id="rId31"/>
    <p:sldId id="284" r:id="rId32"/>
    <p:sldId id="285" r:id="rId33"/>
    <p:sldId id="286" r:id="rId34"/>
    <p:sldId id="287" r:id="rId35"/>
    <p:sldId id="288"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four-question discipline named on “Modeling is purposeful reduction”).</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 (R1.s15)</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(R1.s17):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 (plan section 7).</a:t>
            </a:r>
          </a:p>
          <a:p>
            <a:r>
              <a:rPr dirty="0"/>
              <a:t>Present territory before model; the model does not exist yet.</a:t>
            </a:r>
          </a:p>
          <a:p>
            <a:r>
              <a:rPr dirty="0"/>
              <a:t>Exactly one engineering question (R4 verbatim): can the controller exhaust the battery before completing an 8-hour operating period?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(R4). The PROPERTY beat of the spine happens here - point at it.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(R4):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the diagram tour that closed on “Same territory, different questions”: the software version made this point across five models of one registration system; the embedded version closes the loop on territory you can feel. Say the callback aloud, do not re-teach it.</a:t>
            </a:r>
          </a:p>
          <a:p>
            <a:r>
              <a:rPr dirty="0"/>
              <a:t>Suddenly thermal mass, ambient temperature, heat generation and airflow matter — and battery capacity largely disappears.</a:t>
            </a:r>
          </a:p>
          <a:p>
            <a:r>
              <a:rPr dirty="0"/>
              <a:t>Closing hinge, spoken over the slide: we have judged what must remain. The next question is not whether we judged right — correspondence answers that, later — but how much of the answer we must tell the agent. That is the boundaries slide.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why agent capability genuinely matters to Modeling. A stronger agent needs less realization scaffolding, so we can leave more legitimate degrees of freedom. But notice which boundary did not move.</a:t>
            </a:r>
          </a:p>
          <a:p>
            <a:r>
              <a:rPr lang="en-US" dirty="0"/>
              <a:t>Now take capability all the way to the limit.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reduction happened upstream. However capable the downstream agent, nothing arrives for it to recover — the distinction no longer exists in the model. The obligation boundary is capability-invariant; the specification boundary is not. The limit is semantic, not a capability shortfall.</a:t>
            </a:r>
          </a:p>
          <a:p>
            <a:r>
              <a:rPr dirty="0"/>
              <a:t>THE REVEAL, in three beats. Beat 1: the chain from “Open the box”, unchanged, with the encoding factor set in bold. Beat 2: a perfect reasoner drives interpretation and realization to one. Beat 3: what is left is the limit — for a fixed representation R, p_R goes to P(E | R).</a:t>
            </a:r>
          </a:p>
          <a:p>
            <a:r>
              <a:rPr dirty="0"/>
              <a:t>Every symbol is already known: T, M, R and H from the production equation, E, I and L from the chain decomposition, obligation and scaffolding and degrees of freedom from the argument just made. That is why the limit was held back until here. Read it off the chain rather than announcing it — the room should watch the last two factors go to one.</a:t>
            </a:r>
          </a:p>
          <a:p>
            <a:r>
              <a:rPr dirty="0"/>
              <a:t>Say it in these words: a better M cannot recover a distinction that R failed to carry. An organization that has not determined and externalized the obligations governing its work cannot discharge them by purchasing a more capable reasoner.</a:t>
            </a:r>
          </a:p>
          <a:p>
            <a:r>
              <a:rPr dirty="0"/>
              <a:t>The opening band figure is deliberately NOT reprised here. At the size this slide can spare, its internal type projects at four to seven pixels, and its red MODELING CHANGES THE REPRESENTATION overlay would in any case fight a slide that argues a perfect reasoner stays bounded by P(E | R). The chain line carries the same recall at a size the back row can read.</a:t>
            </a:r>
          </a:p>
          <a:p>
            <a:r>
              <a:rPr dirty="0"/>
              <a:t>Forward tag: you will watch this limit reach production in the correspondence section, on the account-quota case — a distinction the model could not express, and production said so.</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ROLE CHANGE, stated aloud: Section 2's controller taught how to reason. These two cases show how you find out whether the reasoning was right — a different job, not a second pass of the same lesson.</a:t>
            </a:r>
          </a:p>
          <a:p>
            <a:r>
              <a:rPr dirty="0"/>
              <a:t>Both production cases come from the instructor's production system. The lease's omission was vindicated; the account quota's was refuted. A hypothetical can teach judgment; only production can grade it. (Plan §7 — this section break exists to make the method/evidence split visible.)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Cabot proposes keeping explicit software models central even when AI participates in production. Use our decomposition to analyze his process; do not start by deciding whether his proposal is right. Where is consequential intent encoded? Where must something interpret that encoding? Where is it realized?</a:t>
            </a:r>
          </a:p>
          <a:p>
            <a:r>
              <a:rPr lang="en-US" dirty="0"/>
              <a:t>In the model-to-deterministic-generator path, realization can become highly constrained. That does not establish that the model encoded the right consequential intent.</a:t>
            </a:r>
          </a:p>
          <a:p>
            <a:r>
              <a:rPr lang="en-US" dirty="0"/>
              <a:t>If AI helps construct the model, uncertainty can move upstream rather than disappear. If AI consumes the model to produce code, the model may improve interpretation or realization without making either deterministic.</a:t>
            </a:r>
          </a:p>
          <a:p>
            <a:r>
              <a:rPr lang="en-US" dirty="0"/>
              <a:t>The point is not that MDE wins. The point is that changing the representation changes where uncertainty lives in delegated production.</a:t>
            </a:r>
          </a:p>
          <a:p>
            <a:r>
              <a:rPr lang="en-US" dirty="0"/>
              <a:t>Then advance immediately to Activity: Reduce — "Now you choose the representation."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~10 minutes including debrief. Students re-enter the controller cold — that is the retention test.</a:t>
            </a:r>
          </a:p>
          <a:p>
            <a:r>
              <a:rPr dirty="0"/>
              <a:t>Debrief challenge sequence (R4,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compresses to 1 if needed. Reprise, not new content — the couplet was earned in Section 2 — top-down, bottom-up, then the worked controller — and adjudicated on “Capability cannot reduce what must be true”.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hyperlink" Target="https://arxiv.org/pdf/2604.10645" TargetMode="Externa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603443"/>
            <a:ext cx="8595360" cy="77724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this thing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trimmed to a readable fragment and captioned with the engineering question it answers: what exists, who talks to whom, what states, what paths, who needs what. Beneath each view a pill names what that view preserves: structure, order, lifecycle, branching, intent."/>
          <p:cNvPicPr>
            <a:picLocks noChangeAspect="1"/>
          </p:cNvPicPr>
          <p:nvPr/>
        </p:nvPicPr>
        <p:blipFill>
          <a:blip r:embed="rId3"/>
          <a:stretch>
            <a:fillRect/>
          </a:stretch>
        </p:blipFill>
        <p:spPr>
          <a:xfrm>
            <a:off x="274320" y="1454084"/>
            <a:ext cx="8595360" cy="4285143"/>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3"/>
          <a:stretch>
            <a:fillRect/>
          </a:stretch>
        </p:blipFill>
        <p:spPr>
          <a:xfrm>
            <a:off x="274320" y="1454369"/>
            <a:ext cx="8595360" cy="3507302"/>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License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1371600" y="1554480"/>
            <a:ext cx="640080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much of the answer must we tell the agent?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Capability can reduce scaffolding</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LeadLn"/>
          <p:cNvSpPr txBox="1"/>
          <p:nvPr/>
        </p:nvSpPr>
        <p:spPr>
          <a:xfrm>
            <a:off x="365760" y="914400"/>
            <a:ext cx="841248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A more capable agent can infer more of the realization.</a:t>
            </a:r>
          </a:p>
        </p:txBody>
      </p:sp>
      <p:sp>
        <p:nvSpPr>
          <p:cNvPr id="20" name="ColHdr1"/>
          <p:cNvSpPr txBox="1"/>
          <p:nvPr/>
        </p:nvSpPr>
        <p:spPr>
          <a:xfrm>
            <a:off x="27432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LESS CAPABLE AGENT</a:t>
            </a:r>
          </a:p>
        </p:txBody>
      </p:sp>
      <p:sp>
        <p:nvSpPr>
          <p:cNvPr id="21" name="DOF1"/>
          <p:cNvSpPr/>
          <p:nvPr/>
        </p:nvSpPr>
        <p:spPr>
          <a:xfrm>
            <a:off x="28804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22" name="Scaf1"/>
          <p:cNvSpPr/>
          <p:nvPr/>
        </p:nvSpPr>
        <p:spPr>
          <a:xfrm>
            <a:off x="562360" y="1943100"/>
            <a:ext cx="3584440" cy="21579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23" name="Oblig1"/>
          <p:cNvSpPr/>
          <p:nvPr/>
        </p:nvSpPr>
        <p:spPr>
          <a:xfrm>
            <a:off x="131216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24" name="ScafL1"/>
          <p:cNvSpPr txBox="1"/>
          <p:nvPr/>
        </p:nvSpPr>
        <p:spPr>
          <a:xfrm>
            <a:off x="1312160" y="3618740"/>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25" name="DofL1"/>
          <p:cNvSpPr txBox="1"/>
          <p:nvPr/>
        </p:nvSpPr>
        <p:spPr>
          <a:xfrm>
            <a:off x="28804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27" name="ColCap1"/>
          <p:cNvSpPr txBox="1"/>
          <p:nvPr/>
        </p:nvSpPr>
        <p:spPr>
          <a:xfrm>
            <a:off x="27432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Larger specification boundary — more scaffolding</a:t>
            </a:r>
          </a:p>
        </p:txBody>
      </p:sp>
      <p:sp>
        <p:nvSpPr>
          <p:cNvPr id="40" name="ColHdr2"/>
          <p:cNvSpPr txBox="1"/>
          <p:nvPr/>
        </p:nvSpPr>
        <p:spPr>
          <a:xfrm>
            <a:off x="470916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MORE CAPABLE AGENT</a:t>
            </a:r>
          </a:p>
        </p:txBody>
      </p:sp>
      <p:sp>
        <p:nvSpPr>
          <p:cNvPr id="41" name="DOF2"/>
          <p:cNvSpPr/>
          <p:nvPr/>
        </p:nvSpPr>
        <p:spPr>
          <a:xfrm>
            <a:off x="472288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46" name="Ghost2"/>
          <p:cNvSpPr/>
          <p:nvPr/>
        </p:nvSpPr>
        <p:spPr>
          <a:xfrm>
            <a:off x="4997200" y="1943100"/>
            <a:ext cx="3584440" cy="2157980"/>
          </a:xfrm>
          <a:prstGeom prst="rect">
            <a:avLst/>
          </a:prstGeom>
          <a:noFill/>
          <a:ln w="28575">
            <a:solidFill>
              <a:srgbClr val="8E6F3E"/>
            </a:solidFill>
            <a:prstDash val="dash"/>
          </a:ln>
        </p:spPr>
        <p:txBody>
          <a:bodyPr wrap="square" lIns="27432" tIns="22860" rIns="27432" bIns="22860" anchor="ctr"/>
          <a:lstStyle/>
          <a:p>
            <a:pPr>
              <a:buNone/>
            </a:pPr>
            <a:endParaRPr lang="en-US"/>
          </a:p>
        </p:txBody>
      </p:sp>
      <p:sp>
        <p:nvSpPr>
          <p:cNvPr id="42" name="Scaf2"/>
          <p:cNvSpPr/>
          <p:nvPr/>
        </p:nvSpPr>
        <p:spPr>
          <a:xfrm>
            <a:off x="5381240" y="2180850"/>
            <a:ext cx="2816360" cy="160934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43" name="Oblig2"/>
          <p:cNvSpPr/>
          <p:nvPr/>
        </p:nvSpPr>
        <p:spPr>
          <a:xfrm>
            <a:off x="574700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44" name="ScafL2"/>
          <p:cNvSpPr txBox="1"/>
          <p:nvPr/>
        </p:nvSpPr>
        <p:spPr>
          <a:xfrm>
            <a:off x="5747000" y="3463295"/>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45" name="DofL2"/>
          <p:cNvSpPr txBox="1"/>
          <p:nvPr/>
        </p:nvSpPr>
        <p:spPr>
          <a:xfrm>
            <a:off x="472288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47" name="ColCap2"/>
          <p:cNvSpPr txBox="1"/>
          <p:nvPr/>
        </p:nvSpPr>
        <p:spPr>
          <a:xfrm>
            <a:off x="470916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Smaller specification boundary — less scaffolding, more degrees of freedom</a:t>
            </a:r>
          </a:p>
        </p:txBody>
      </p:sp>
      <p:sp>
        <p:nvSpPr>
          <p:cNvPr id="150" name="Ital"/>
          <p:cNvSpPr txBox="1"/>
          <p:nvPr/>
        </p:nvSpPr>
        <p:spPr>
          <a:xfrm>
            <a:off x="274320" y="502920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Capability can reduce what we must specify about how.</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It does not reduce what must be true.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LeadLn"/>
          <p:cNvSpPr txBox="1"/>
          <p:nvPr/>
        </p:nvSpPr>
        <p:spPr>
          <a:xfrm>
            <a:off x="365760" y="91440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1508760"/>
            <a:ext cx="237744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1874520"/>
            <a:ext cx="594360" cy="0"/>
          </a:xfrm>
          <a:prstGeom prst="straightConnector1">
            <a:avLst/>
          </a:prstGeom>
          <a:ln w="28575">
            <a:solidFill>
              <a:srgbClr val="8E6F3E"/>
            </a:solidFill>
            <a:tailEnd type="triangle" w="med" len="med"/>
          </a:ln>
        </p:spPr>
      </p:cxnSp>
      <p:sp>
        <p:nvSpPr>
          <p:cNvPr id="13" name="St2"/>
          <p:cNvSpPr/>
          <p:nvPr/>
        </p:nvSpPr>
        <p:spPr>
          <a:xfrm>
            <a:off x="3611880" y="1508760"/>
            <a:ext cx="187452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1874520"/>
            <a:ext cx="594360" cy="0"/>
          </a:xfrm>
          <a:prstGeom prst="straightConnector1">
            <a:avLst/>
          </a:prstGeom>
          <a:ln w="28575">
            <a:solidFill>
              <a:srgbClr val="8E6F3E"/>
            </a:solidFill>
            <a:tailEnd type="triangle" w="med" len="med"/>
          </a:ln>
        </p:spPr>
      </p:cxnSp>
      <p:sp>
        <p:nvSpPr>
          <p:cNvPr id="15" name="St3"/>
          <p:cNvSpPr/>
          <p:nvPr/>
        </p:nvSpPr>
        <p:spPr>
          <a:xfrm>
            <a:off x="6172200" y="1508760"/>
            <a:ext cx="2423160" cy="73152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2240280"/>
            <a:ext cx="0" cy="320040"/>
          </a:xfrm>
          <a:prstGeom prst="straightConnector1">
            <a:avLst/>
          </a:prstGeom>
          <a:ln w="12700">
            <a:solidFill>
              <a:srgbClr val="8E6F3E"/>
            </a:solidFill>
            <a:prstDash val="dash"/>
            <a:tailEnd type="triangle" w="med" len="med"/>
          </a:ln>
        </p:spPr>
      </p:cxnSp>
      <p:sp>
        <p:nvSpPr>
          <p:cNvPr id="17" name="Drop1"/>
          <p:cNvSpPr/>
          <p:nvPr/>
        </p:nvSpPr>
        <p:spPr>
          <a:xfrm>
            <a:off x="845820" y="260604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DropL"/>
          <p:cNvSpPr txBox="1"/>
          <p:nvPr/>
        </p:nvSpPr>
        <p:spPr>
          <a:xfrm>
            <a:off x="685800" y="306324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72200" y="2514600"/>
            <a:ext cx="269748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347472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sp>
        <p:nvSpPr>
          <p:cNvPr id="30" name="ChEq"/>
          <p:cNvSpPr txBox="1"/>
          <p:nvPr/>
        </p:nvSpPr>
        <p:spPr>
          <a:xfrm>
            <a:off x="274320" y="3977640"/>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a:t>
            </a:r>
            <a:r>
              <a:rPr lang="en-US" sz="2200" b="1" i="1" dirty="0">
                <a:solidFill>
                  <a:srgbClr val="5C4826"/>
                </a:solidFill>
              </a:rPr>
              <a:t>P(E | R)</a:t>
            </a:r>
            <a:r>
              <a:rPr lang="en-US" sz="2200" b="0" i="1" dirty="0">
                <a:solidFill>
                  <a:srgbClr val="5C4826"/>
                </a:solidFill>
              </a:rPr>
              <a:t> · P(I | E, R) · P(L | I, E, R)</a:t>
            </a:r>
          </a:p>
        </p:txBody>
      </p:sp>
      <p:sp>
        <p:nvSpPr>
          <p:cNvPr id="31" name="ChCap"/>
          <p:cNvSpPr txBox="1"/>
          <p:nvPr/>
        </p:nvSpPr>
        <p:spPr>
          <a:xfrm>
            <a:off x="274320" y="438912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a perfect reasoner drives the last two factors to one</a:t>
            </a:r>
          </a:p>
        </p:txBody>
      </p:sp>
      <p:sp>
        <p:nvSpPr>
          <p:cNvPr id="32" name="LimEq"/>
          <p:cNvSpPr txBox="1"/>
          <p:nvPr/>
        </p:nvSpPr>
        <p:spPr>
          <a:xfrm>
            <a:off x="274320" y="4800600"/>
            <a:ext cx="8595360" cy="685800"/>
          </a:xfrm>
          <a:prstGeom prst="rect">
            <a:avLst/>
          </a:prstGeom>
          <a:noFill/>
          <a:ln>
            <a:noFill/>
          </a:ln>
        </p:spPr>
        <p:txBody>
          <a:bodyPr wrap="square" lIns="0" tIns="0" rIns="0" bIns="0" anchor="ctr"/>
          <a:lstStyle/>
          <a:p>
            <a:pPr algn="ctr">
              <a:spcAft>
                <a:spcPts val="0"/>
              </a:spcAft>
              <a:buNone/>
            </a:pPr>
            <a:r>
              <a:rPr lang="en-US" sz="3000" b="0" dirty="0">
                <a:solidFill>
                  <a:srgbClr val="5C4826"/>
                </a:solidFill>
              </a:rPr>
              <a:t>lim</a:t>
            </a:r>
            <a:r>
              <a:rPr lang="en-US" sz="3000" b="0" baseline="-25000" dirty="0">
                <a:solidFill>
                  <a:srgbClr val="5C4826"/>
                </a:solidFill>
              </a:rPr>
              <a:t>M → perfect reasoner</a:t>
            </a:r>
            <a:r>
              <a:rPr lang="en-US" sz="3000" b="0" i="1" dirty="0">
                <a:solidFill>
                  <a:srgbClr val="5C4826"/>
                </a:solidFill>
              </a:rPr>
              <a:t>     p</a:t>
            </a:r>
            <a:r>
              <a:rPr lang="en-US" sz="3000" b="0" i="1" baseline="-25000" dirty="0">
                <a:solidFill>
                  <a:srgbClr val="5C4826"/>
                </a:solidFill>
              </a:rPr>
              <a:t>R</a:t>
            </a:r>
            <a:r>
              <a:rPr lang="en-US" sz="3000" b="0" i="1" dirty="0">
                <a:solidFill>
                  <a:srgbClr val="5C4826"/>
                </a:solidFill>
              </a:rPr>
              <a:t> = P(E | R)</a:t>
            </a:r>
          </a:p>
        </p:txBody>
      </p:sp>
      <p:sp>
        <p:nvSpPr>
          <p:cNvPr id="33" name="LimCap"/>
          <p:cNvSpPr txBox="1"/>
          <p:nvPr/>
        </p:nvSpPr>
        <p:spPr>
          <a:xfrm>
            <a:off x="274320" y="548640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Better reasoning cannot recover consequential intent the representation failed to encode.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par>
                                <p:cTn id="8" presetID="10" presetClass="entr" presetSubtype="0" fill="hold"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THE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How do you find out whether you left out the right things?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685800" y="3657600"/>
            <a:ext cx="777240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Two production reductions — one vindicated, one refuted.</a:t>
            </a:r>
          </a:p>
        </p:txBody>
      </p:sp>
      <p:sp>
        <p:nvSpPr>
          <p:cNvPr id="131" name="VTagL"/>
          <p:cNvSpPr/>
          <p:nvPr/>
        </p:nvSpPr>
        <p:spPr>
          <a:xfrm>
            <a:off x="201168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✓ THE LEASE</a:t>
            </a:r>
          </a:p>
        </p:txBody>
      </p:sp>
      <p:sp>
        <p:nvSpPr>
          <p:cNvPr id="132" name="VTagR"/>
          <p:cNvSpPr/>
          <p:nvPr/>
        </p:nvSpPr>
        <p:spPr>
          <a:xfrm>
            <a:off x="484632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✗ ACCOUNT QUOTA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ACCOUNT QUOTA</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unlimited vs. exhausted</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production decision exposed the loss ✗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Where do the probabilities move?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pic>
        <p:nvPicPr>
          <p:cNvPr id="60" name="CabotFig1" descr="Cabot Figure 1: an engineer reaches an explicit software model either by modeling directly or by describing the system in natural language to a vibe modeling agent; from the model, code is reached either by code generation or by a vibe coding agent via spec-driven development."/>
          <p:cNvPicPr>
            <a:picLocks noChangeAspect="1"/>
          </p:cNvPicPr>
          <p:nvPr/>
        </p:nvPicPr>
        <p:blipFill>
          <a:blip r:embed="rId3"/>
          <a:stretch>
            <a:fillRect/>
          </a:stretch>
        </p:blipFill>
        <p:spPr>
          <a:xfrm>
            <a:off x="1025648" y="868679"/>
            <a:ext cx="7092704" cy="3258185"/>
          </a:xfrm>
          <a:prstGeom prst="rect">
            <a:avLst/>
          </a:prstGeom>
          <a:ln w="12700">
            <a:noFill/>
          </a:ln>
        </p:spPr>
      </p:pic>
      <p:sp>
        <p:nvSpPr>
          <p:cNvPr id="70" name="Src"/>
          <p:cNvSpPr txBox="1"/>
          <p:nvPr/>
        </p:nvSpPr>
        <p:spPr>
          <a:xfrm>
            <a:off x="364688" y="6572250"/>
            <a:ext cx="7447034" cy="251460"/>
          </a:xfrm>
          <a:prstGeom prst="rect">
            <a:avLst/>
          </a:prstGeom>
          <a:noFill/>
          <a:ln>
            <a:noFill/>
          </a:ln>
        </p:spPr>
        <p:txBody>
          <a:bodyPr wrap="square" lIns="0" tIns="0" rIns="0" bIns="0" anchor="t"/>
          <a:lstStyle/>
          <a:p>
            <a:pPr algn="l">
              <a:spcAft>
                <a:spcPts val="0"/>
              </a:spcAft>
              <a:buNone/>
            </a:pPr>
            <a:r>
              <a:rPr lang="en-US" sz="1300" b="0" i="0" dirty="0">
                <a:solidFill>
                  <a:srgbClr val="5C4826"/>
                </a:solidFill>
              </a:rPr>
              <a:t>Jordi Cabot, Vibe-driven model-based engineering (2026)  —  </a:t>
            </a:r>
            <a:r>
              <a:rPr lang="en-US" sz="1300" b="0" i="0" dirty="0">
                <a:solidFill>
                  <a:srgbClr val="555960"/>
                </a:solidFill>
                <a:hlinkClick r:id="rId4"/>
              </a:rPr>
              <a:t>https://arxiv.org/pdf/2604.10645</a:t>
            </a:r>
          </a:p>
        </p:txBody>
      </p:sp>
      <p:sp>
        <p:nvSpPr>
          <p:cNvPr id="80" name="RemHdr"/>
          <p:cNvSpPr txBox="1"/>
          <p:nvPr/>
        </p:nvSpPr>
        <p:spPr>
          <a:xfrm>
            <a:off x="365760" y="4229100"/>
            <a:ext cx="356616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REMINDER</a:t>
            </a:r>
          </a:p>
        </p:txBody>
      </p:sp>
      <p:sp>
        <p:nvSpPr>
          <p:cNvPr id="81" name="RemEq"/>
          <p:cNvSpPr txBox="1"/>
          <p:nvPr/>
        </p:nvSpPr>
        <p:spPr>
          <a:xfrm>
            <a:off x="365760" y="4480560"/>
            <a:ext cx="3566160" cy="320040"/>
          </a:xfrm>
          <a:prstGeom prst="rect">
            <a:avLst/>
          </a:prstGeom>
          <a:noFill/>
          <a:ln>
            <a:noFill/>
          </a:ln>
        </p:spPr>
        <p:txBody>
          <a:bodyPr wrap="square" lIns="0" tIns="0" rIns="0" bIns="0" anchor="ctr"/>
          <a:lstStyle/>
          <a:p>
            <a:pPr algn="l">
              <a:spcAft>
                <a:spcPts val="0"/>
              </a:spcAft>
              <a:buNone/>
            </a:pPr>
            <a:r>
              <a:rPr lang="en-US" sz="1300" b="0" i="1" dirty="0">
                <a:solidFill>
                  <a:srgbClr val="5C4826"/>
                </a:solidFill>
              </a:rPr>
              <a:t>p</a:t>
            </a:r>
            <a:r>
              <a:rPr lang="en-US" sz="1300" b="0" i="1" baseline="-25000" dirty="0">
                <a:solidFill>
                  <a:srgbClr val="5C4826"/>
                </a:solidFill>
              </a:rPr>
              <a:t>R</a:t>
            </a:r>
            <a:r>
              <a:rPr lang="en-US" sz="1300" b="0" i="1" dirty="0">
                <a:solidFill>
                  <a:srgbClr val="5C4826"/>
                </a:solidFill>
              </a:rPr>
              <a:t> = P(E | R) · P(I | E, R) · P(L | I, E, R)</a:t>
            </a:r>
          </a:p>
        </p:txBody>
      </p:sp>
      <p:sp>
        <p:nvSpPr>
          <p:cNvPr id="82" name="RemTrm"/>
          <p:cNvSpPr txBox="1"/>
          <p:nvPr/>
        </p:nvSpPr>
        <p:spPr>
          <a:xfrm>
            <a:off x="365760" y="5097780"/>
            <a:ext cx="3566160" cy="548640"/>
          </a:xfrm>
          <a:prstGeom prst="rect">
            <a:avLst/>
          </a:prstGeom>
          <a:noFill/>
          <a:ln>
            <a:noFill/>
          </a:ln>
        </p:spPr>
        <p:txBody>
          <a:bodyPr wrap="square" lIns="0" tIns="0" rIns="0" bIns="0" anchor="t"/>
          <a:lstStyle/>
          <a:p>
            <a:pPr algn="l">
              <a:lnSpc>
                <a:spcPct val="90000"/>
              </a:lnSpc>
              <a:spcAft>
                <a:spcPts val="0"/>
              </a:spcAft>
              <a:buNone/>
            </a:pPr>
            <a:r>
              <a:rPr lang="en-US" sz="1300" b="1" i="0" dirty="0">
                <a:solidFill>
                  <a:srgbClr val="5C4826"/>
                </a:solidFill>
              </a:rPr>
              <a:t>E</a:t>
            </a:r>
            <a:r>
              <a:rPr lang="en-US" sz="1300" b="0" i="0" dirty="0">
                <a:solidFill>
                  <a:srgbClr val="555960"/>
                </a:solidFill>
              </a:rPr>
              <a:t>  consequential intent is encoded</a:t>
            </a:r>
          </a:p>
          <a:p>
            <a:pPr algn="l">
              <a:lnSpc>
                <a:spcPct val="90000"/>
              </a:lnSpc>
              <a:spcAft>
                <a:spcPts val="0"/>
              </a:spcAft>
              <a:buNone/>
            </a:pPr>
            <a:r>
              <a:rPr lang="en-US" sz="1300" b="1" i="0" dirty="0">
                <a:solidFill>
                  <a:srgbClr val="5C4826"/>
                </a:solidFill>
              </a:rPr>
              <a:t>I</a:t>
            </a:r>
            <a:r>
              <a:rPr lang="en-US" sz="1300" b="0" i="0" dirty="0">
                <a:solidFill>
                  <a:srgbClr val="555960"/>
                </a:solidFill>
              </a:rPr>
              <a:t>  encoding is interpreted</a:t>
            </a:r>
          </a:p>
          <a:p>
            <a:pPr algn="l">
              <a:lnSpc>
                <a:spcPct val="90000"/>
              </a:lnSpc>
              <a:spcAft>
                <a:spcPts val="0"/>
              </a:spcAft>
              <a:buNone/>
            </a:pPr>
            <a:r>
              <a:rPr lang="en-US" sz="1300" b="1" i="0" dirty="0">
                <a:solidFill>
                  <a:srgbClr val="5C4826"/>
                </a:solidFill>
              </a:rPr>
              <a:t>L</a:t>
            </a:r>
            <a:r>
              <a:rPr lang="en-US" sz="1300" b="0" i="0" dirty="0">
                <a:solidFill>
                  <a:srgbClr val="555960"/>
                </a:solidFill>
              </a:rPr>
              <a:t>  interpretation is realized</a:t>
            </a:r>
          </a:p>
        </p:txBody>
      </p:sp>
      <p:sp>
        <p:nvSpPr>
          <p:cNvPr id="90" name="TPSbadge"/>
          <p:cNvSpPr/>
          <p:nvPr/>
        </p:nvSpPr>
        <p:spPr>
          <a:xfrm>
            <a:off x="4114800" y="4229100"/>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91" name="CabHdr"/>
          <p:cNvSpPr txBox="1"/>
          <p:nvPr/>
        </p:nvSpPr>
        <p:spPr>
          <a:xfrm>
            <a:off x="4114800" y="4846320"/>
            <a:ext cx="475488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IN CABOT’S PROCESS</a:t>
            </a:r>
          </a:p>
        </p:txBody>
      </p:sp>
      <p:sp>
        <p:nvSpPr>
          <p:cNvPr id="92" name="CabItm"/>
          <p:cNvSpPr txBox="1"/>
          <p:nvPr/>
        </p:nvSpPr>
        <p:spPr>
          <a:xfrm>
            <a:off x="4114800" y="5097780"/>
            <a:ext cx="4754880" cy="548640"/>
          </a:xfrm>
          <a:prstGeom prst="rect">
            <a:avLst/>
          </a:prstGeom>
          <a:noFill/>
          <a:ln>
            <a:noFill/>
          </a:ln>
        </p:spPr>
        <p:txBody>
          <a:bodyPr wrap="square" lIns="0" tIns="0" rIns="0" bIns="0" anchor="t"/>
          <a:lstStyle/>
          <a:p>
            <a:pPr algn="l">
              <a:lnSpc>
                <a:spcPct val="90000"/>
              </a:lnSpc>
              <a:spcAft>
                <a:spcPts val="0"/>
              </a:spcAft>
              <a:buNone/>
            </a:pPr>
            <a:r>
              <a:rPr lang="en-US" sz="1300" b="0" i="0" dirty="0">
                <a:solidFill>
                  <a:srgbClr val="555960"/>
                </a:solidFill>
              </a:rPr>
              <a:t>Where do encoding, interpretation, and realization happen?</a:t>
            </a:r>
          </a:p>
          <a:p>
            <a:pPr algn="l">
              <a:lnSpc>
                <a:spcPct val="90000"/>
              </a:lnSpc>
              <a:spcAft>
                <a:spcPts val="0"/>
              </a:spcAft>
              <a:buNone/>
            </a:pPr>
            <a:r>
              <a:rPr lang="en-US" sz="1300" b="0" i="0" dirty="0">
                <a:solidFill>
                  <a:srgbClr val="555960"/>
                </a:solidFill>
              </a:rPr>
              <a:t>Which transitions are probabilistic?</a:t>
            </a:r>
          </a:p>
          <a:p>
            <a:pPr algn="l">
              <a:lnSpc>
                <a:spcPct val="90000"/>
              </a:lnSpc>
              <a:spcAft>
                <a:spcPts val="0"/>
              </a:spcAft>
              <a:buNone/>
            </a:pPr>
            <a:r>
              <a:rPr lang="en-US" sz="1300" b="0" i="0" dirty="0">
                <a:solidFill>
                  <a:srgbClr val="555960"/>
                </a:solidFill>
              </a:rPr>
              <a:t>Which are engineered to be deterministic?</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What does putting an explicit model in the middle buy 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5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1"/>
                                        </p:tgtEl>
                                        <p:attrNameLst>
                                          <p:attrName>style.visibility</p:attrName>
                                        </p:attrNameLst>
                                      </p:cBhvr>
                                      <p:to>
                                        <p:strVal val="visible"/>
                                      </p:to>
                                    </p:set>
                                    <p:animEffect transition="in" filter="fade">
                                      <p:cBhvr>
                                        <p:cTn id="10" dur="500"/>
                                        <p:tgtEl>
                                          <p:spTgt spid="81"/>
                                        </p:tgtEl>
                                      </p:cBhvr>
                                    </p:animEffect>
                                  </p:childTnLst>
                                </p:cTn>
                              </p:par>
                              <p:par>
                                <p:cTn id="11" presetID="10" presetClass="entr" presetSubtype="0" fill="hold" nodeType="with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fade">
                                      <p:cBhvr>
                                        <p:cTn id="13" dur="500"/>
                                        <p:tgtEl>
                                          <p:spTgt spid="8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90"/>
                                        </p:tgtEl>
                                        <p:attrNameLst>
                                          <p:attrName>style.visibility</p:attrName>
                                        </p:attrNameLst>
                                      </p:cBhvr>
                                      <p:to>
                                        <p:strVal val="visible"/>
                                      </p:to>
                                    </p:set>
                                    <p:animEffect transition="in" filter="fade">
                                      <p:cBhvr>
                                        <p:cTn id="18" dur="500"/>
                                        <p:tgtEl>
                                          <p:spTgt spid="90"/>
                                        </p:tgtEl>
                                      </p:cBhvr>
                                    </p:animEffect>
                                  </p:childTnLst>
                                </p:cTn>
                              </p:par>
                              <p:par>
                                <p:cTn id="19" presetID="10" presetClass="entr" presetSubtype="0" fill="hold" nodeType="withEffect">
                                  <p:stCondLst>
                                    <p:cond delay="0"/>
                                  </p:stCondLst>
                                  <p:childTnLst>
                                    <p:set>
                                      <p:cBhvr>
                                        <p:cTn id="20" dur="1" fill="hold">
                                          <p:stCondLst>
                                            <p:cond delay="0"/>
                                          </p:stCondLst>
                                        </p:cTn>
                                        <p:tgtEl>
                                          <p:spTgt spid="91"/>
                                        </p:tgtEl>
                                        <p:attrNameLst>
                                          <p:attrName>style.visibility</p:attrName>
                                        </p:attrNameLst>
                                      </p:cBhvr>
                                      <p:to>
                                        <p:strVal val="visible"/>
                                      </p:to>
                                    </p:set>
                                    <p:animEffect transition="in" filter="fade">
                                      <p:cBhvr>
                                        <p:cTn id="21" dur="500"/>
                                        <p:tgtEl>
                                          <p:spTgt spid="91"/>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5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 T</a:t>
            </a:r>
            <a:r>
              <a:rPr lang="en-US" sz="1400" b="1" baseline="-25000" dirty="0">
                <a:solidFill>
                  <a:srgbClr val="5C4826"/>
                </a:solidFill>
              </a:rPr>
              <a:t>schedule</a:t>
            </a:r>
            <a:r>
              <a:rPr lang="en-US" sz="2000" b="1" dirty="0">
                <a:solidFill>
                  <a:srgbClr val="5C4826"/>
                </a:solidFill>
              </a:rPr>
              <a:t> + T</a:t>
            </a:r>
            <a:r>
              <a:rPr lang="en-US" sz="1400" b="1" baseline="-25000" dirty="0">
                <a:solidFill>
                  <a:srgbClr val="5C4826"/>
                </a:solidFill>
              </a:rPr>
              <a:t>compute</a:t>
            </a:r>
            <a:r>
              <a:rPr lang="en-US" sz="2000" b="1" dirty="0">
                <a:solidFill>
                  <a:srgbClr val="5C4826"/>
                </a:solidFill>
              </a:rPr>
              <a:t> + T</a:t>
            </a:r>
            <a:r>
              <a:rPr lang="en-US" sz="1400" b="1" baseline="-25000" dirty="0">
                <a:solidFill>
                  <a:srgbClr val="5C4826"/>
                </a:solidFill>
              </a:rPr>
              <a:t>actuate</a:t>
            </a:r>
            <a:r>
              <a:rPr lang="en-US" sz="2000" b="1" dirty="0">
                <a:solidFill>
                  <a:srgbClr val="5C4826"/>
                </a:solidFill>
              </a:rPr>
              <a:t>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staged: published</a:t>
            </a:r>
          </a:p>
          <a:p>
            <a:pPr algn="l">
              <a:spcAft>
                <a:spcPts val="1000"/>
              </a:spcAft>
              <a:buNone/>
            </a:pPr>
            <a:r>
              <a:rPr lang="en-US" sz="1500" b="0" dirty="0">
                <a:solidFill>
                  <a:srgbClr val="5C4826"/>
                </a:solidFill>
              </a:rPr>
              <a:t>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what must I preserve to answer the engineering question?</a:t>
            </a:r>
          </a:p>
          <a:p>
            <a:r>
              <a:rPr lang="en-US" b="1" dirty="0"/>
              <a:t>Bottom-up:</a:t>
            </a:r>
            <a:r>
              <a:rPr lang="en-US" dirty="0"/>
              <a:t>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Tomorrow: </a:t>
            </a:r>
            <a:r>
              <a:rPr lang="en-US" sz="1800" b="0" i="1" dirty="0">
                <a:solidFill>
                  <a:srgbClr val="555960"/>
                </a:solidFill>
              </a:rPr>
              <a:t>one model can be useful. How do many models remain trustworthy together?</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