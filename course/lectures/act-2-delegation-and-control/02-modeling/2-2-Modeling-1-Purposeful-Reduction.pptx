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80" r:id="rId23"/>
    <p:sldId id="290" r:id="rId24"/>
    <p:sldId id="282" r:id="rId25"/>
    <p:sldId id="276" r:id="rId26"/>
    <p:sldId id="292" r:id="rId42"/>
    <p:sldId id="293" r:id="rId43"/>
    <p:sldId id="277" r:id="rId27"/>
    <p:sldId id="278" r:id="rId28"/>
    <p:sldId id="279" r:id="rId29"/>
    <p:sldId id="291" r:id="rId30"/>
    <p:sldId id="283" r:id="rId31"/>
    <p:sldId id="284" r:id="rId32"/>
    <p:sldId id="285" r:id="rId33"/>
    <p:sldId id="286" r:id="rId34"/>
    <p:sldId id="287" r:id="rId35"/>
    <p:sldId id="288"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four-question discipline named on “Modeling is purposeful reduction”).</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a:t>
            </a:r>
          </a:p>
          <a:p>
            <a:r>
              <a:rPr dirty="0"/>
              <a:t>Present territory before model; the model does not exist yet.</a:t>
            </a:r>
          </a:p>
          <a:p>
            <a:r>
              <a:rPr dirty="0"/>
              <a:t>Exactly one engineering question (verbatim): can the controller exhaust the battery before completing an 8-hour operating period?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why agent capability genuinely matters to Modeling. A stronger agent needs less realization scaffolding, so we can leave more legitimate degrees of freedom. But notice which boundary did not move.</a:t>
            </a:r>
          </a:p>
          <a:p>
            <a:r>
              <a:rPr lang="en-US" dirty="0"/>
              <a:t>Now take capability all the way to the limit.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2 taught how to reason about a reduction. This section asks what connects a model to the things it deliberately left free, and how you find out whether that connection holds.</a:t>
            </a:r>
          </a:p>
          <a:p>
            <a:r>
              <a:rPr lang="en-US" dirty="0"/>
              <a:t>Three beats, in this order: one model with several legitimate implementations; models that refine into other models; then two production cases that graded a correspondence claim. The section is named for the claim, not for the evidence.</a:t>
            </a:r>
          </a:p>
          <a:p>
            <a:r>
              <a:rPr lang="en-US" dirty="0"/>
              <a:t>Both production cases come from the instructor's production system. The lease's omission was vindicated; the account quota's was refuted. A hypothetical can teach judgment; only production can grade it.</a:t>
            </a:r>
          </a:p>
          <a:p>
            <a:r>
              <a:rPr lang="en-US" dirty="0"/>
              <a:t>TERMINOLOGY GUARD, for your own speech as much as for the slides: model refinement, or a system of models. Never use the meta- prefix here — a model of a modeling language is a different idea and not what this section is about.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a:p>
            <a:r>
              <a:rPr lang="en-US" dirty="0"/>
              <a:t>Name it as correspondence: the model and the implementation disagreed about a distinction the obligation required, and production is where that disagreement surfaced. This is failed correspondence, not a bug.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a:p>
            <a:r>
              <a:rPr lang="en-US" dirty="0"/>
              <a:t>Name it as correspondence too, and tie it back three slides: the realization changed and the modeled property held. That is exactly what "one model, many implementations" claimed, now graded by production instead of asserted on a slide.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Cabot proposes keeping explicit software models central even when AI participates in production. Use our decomposition to analyze his process; do not start by deciding whether his proposal is right. Where is consequential intent encoded? Where must something interpret that encoding? Where is it realized?</a:t>
            </a:r>
          </a:p>
          <a:p>
            <a:r>
              <a:rPr lang="en-US" dirty="0"/>
              <a:t>In the model-to-deterministic-generator path, realization can become highly constrained. That does not establish that the model encoded the right consequential intent.</a:t>
            </a:r>
          </a:p>
          <a:p>
            <a:r>
              <a:rPr lang="en-US" dirty="0"/>
              <a:t>If AI helps construct the model, uncertainty can move upstream rather than disappear. If AI consumes the model to produce code, the model may improve interpretation or realization without making either deterministic.</a:t>
            </a:r>
          </a:p>
          <a:p>
            <a:r>
              <a:rPr lang="en-US" dirty="0"/>
              <a:t>The point is not that MDE wins. The point is that changing the representation changes where uncertainty lives in delegated production.</a:t>
            </a:r>
          </a:p>
          <a:p>
            <a:r>
              <a:rPr lang="en-US" dirty="0"/>
              <a:t>Then advance immediately to Activity: Reduce — "Now you choose the representation."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same state machine they saw on the tour — the same image, not a redrawing. Say so: "you have seen this one." The recognition is the setup. If they think it is a new diagram, the slide does not work.</a:t>
            </a:r>
          </a:p>
          <a:p>
            <a:r>
              <a:rPr lang="en-US" dirty="0"/>
              <a:t>Three realizations, all on screen together. A state field plus transition logic; State objects, one class per state; a transition table an engine reads at runtime. None is more correct than the others, and the model does not choose between them.</a:t>
            </a:r>
          </a:p>
          <a:p>
            <a:r>
              <a:rPr lang="en-US" dirty="0"/>
              <a:t>Then the class question, and let it breathe — about a minute, no more. What has to remain true for each of these to correspond to the model? The answers you are fishing for: the four states exist and are distinguishable; the legal transitions are exactly those and no others; there is no path from Draft to Published.</a:t>
            </a:r>
          </a:p>
          <a:p>
            <a:r>
              <a:rPr lang="en-US" dirty="0"/>
              <a:t>This is what makes degrees of freedom concrete. Between the boundaries the model establishes, the implementation has enormous freedom — and that freedom is not sloppiness, it is what the reduction bought.</a:t>
            </a:r>
          </a:p>
          <a:p>
            <a:r>
              <a:rPr lang="en-US" dirty="0"/>
              <a:t>One sentence toward Alignment, then stop: Modeling says what correspondence MEANS; Alignment will ask how we establish and enforce it.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Start at the accented use case — Drop a course, the one drawn slightly accented back on the use-case tour slide. This is the callback that slide set up; now it pays.</a:t>
            </a:r>
          </a:p>
          <a:p>
            <a:r>
              <a:rPr lang="en-US" dirty="0"/>
              <a:t>Walk the chain downward once: the use case says what interaction must be supported; the sequence model says who collaborates; the state model says which transitions are legal; the data model says what must persist; then implementation.</a:t>
            </a:r>
          </a:p>
          <a:p>
            <a:r>
              <a:rPr lang="en-US" dirty="0"/>
              <a:t>Then immediately break the line. Two gold arrows leave the accented use case, so Drop a course induces more than one model. Then point at the three lighter arrows, which are the ones that break the single column: a second use case feeding the state model, the state model branching sideways to an interface model, and a second path into implementation. Say the words — this is NOT a mandatory waterfall.</a:t>
            </a:r>
          </a:p>
          <a:p>
            <a:r>
              <a:rPr lang="en-US" dirty="0"/>
              <a:t>TERMINOLOGY GUARD: model refinement, a system of models. Do NOT reach for the meta- prefix. A model of a modeling language — UML described in terms of its own constructs — is a different idea entirely.</a:t>
            </a:r>
          </a:p>
          <a:p>
            <a:r>
              <a:rPr lang="en-US" dirty="0"/>
              <a:t>Cliffhanger into the next lecture, one sentence, then move: one useful model is easy. A real system has many, and their meanings overlap.</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hyperlink" Target="https://arxiv.org/pdf/2604.10645" TargetMode="Externa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3"/>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License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Capability can reduce scaffolding</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LeadLn"/>
          <p:cNvSpPr txBox="1"/>
          <p:nvPr/>
        </p:nvSpPr>
        <p:spPr>
          <a:xfrm>
            <a:off x="365760" y="914400"/>
            <a:ext cx="841248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A more capable agent can infer more of the realization.</a:t>
            </a:r>
          </a:p>
        </p:txBody>
      </p:sp>
      <p:sp>
        <p:nvSpPr>
          <p:cNvPr id="20" name="ColHdr1"/>
          <p:cNvSpPr txBox="1"/>
          <p:nvPr/>
        </p:nvSpPr>
        <p:spPr>
          <a:xfrm>
            <a:off x="27432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LESS CAPABLE AGENT</a:t>
            </a:r>
          </a:p>
        </p:txBody>
      </p:sp>
      <p:sp>
        <p:nvSpPr>
          <p:cNvPr id="21" name="DOF1"/>
          <p:cNvSpPr/>
          <p:nvPr/>
        </p:nvSpPr>
        <p:spPr>
          <a:xfrm>
            <a:off x="28804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22" name="Scaf1"/>
          <p:cNvSpPr/>
          <p:nvPr/>
        </p:nvSpPr>
        <p:spPr>
          <a:xfrm>
            <a:off x="562360" y="1943100"/>
            <a:ext cx="3584440" cy="21579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23" name="Oblig1"/>
          <p:cNvSpPr/>
          <p:nvPr/>
        </p:nvSpPr>
        <p:spPr>
          <a:xfrm>
            <a:off x="131216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24" name="ScafL1"/>
          <p:cNvSpPr txBox="1"/>
          <p:nvPr/>
        </p:nvSpPr>
        <p:spPr>
          <a:xfrm>
            <a:off x="1312160" y="3618740"/>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25" name="DofL1"/>
          <p:cNvSpPr txBox="1"/>
          <p:nvPr/>
        </p:nvSpPr>
        <p:spPr>
          <a:xfrm>
            <a:off x="28804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27" name="ColCap1"/>
          <p:cNvSpPr txBox="1"/>
          <p:nvPr/>
        </p:nvSpPr>
        <p:spPr>
          <a:xfrm>
            <a:off x="27432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Larger specification boundary — more scaffolding</a:t>
            </a:r>
          </a:p>
        </p:txBody>
      </p:sp>
      <p:sp>
        <p:nvSpPr>
          <p:cNvPr id="40" name="ColHdr2"/>
          <p:cNvSpPr txBox="1"/>
          <p:nvPr/>
        </p:nvSpPr>
        <p:spPr>
          <a:xfrm>
            <a:off x="4709160" y="1417320"/>
            <a:ext cx="4160520" cy="274320"/>
          </a:xfrm>
          <a:prstGeom prst="rect">
            <a:avLst/>
          </a:prstGeom>
          <a:noFill/>
          <a:ln>
            <a:noFill/>
          </a:ln>
        </p:spPr>
        <p:txBody>
          <a:bodyPr wrap="square" lIns="0" tIns="0" rIns="0" bIns="0" anchor="ctr"/>
          <a:lstStyle/>
          <a:p>
            <a:pPr algn="ctr">
              <a:spcAft>
                <a:spcPts val="0"/>
              </a:spcAft>
              <a:buNone/>
            </a:pPr>
            <a:r>
              <a:rPr lang="en-US" sz="1400" b="1" i="0" dirty="0">
                <a:solidFill>
                  <a:srgbClr val="5C4826"/>
                </a:solidFill>
              </a:rPr>
              <a:t>MORE CAPABLE AGENT</a:t>
            </a:r>
          </a:p>
        </p:txBody>
      </p:sp>
      <p:sp>
        <p:nvSpPr>
          <p:cNvPr id="41" name="DOF2"/>
          <p:cNvSpPr/>
          <p:nvPr/>
        </p:nvSpPr>
        <p:spPr>
          <a:xfrm>
            <a:off x="4722880" y="1737360"/>
            <a:ext cx="4133080" cy="263804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46" name="Ghost2"/>
          <p:cNvSpPr/>
          <p:nvPr/>
        </p:nvSpPr>
        <p:spPr>
          <a:xfrm>
            <a:off x="4997200" y="1943100"/>
            <a:ext cx="3584440" cy="2157980"/>
          </a:xfrm>
          <a:prstGeom prst="rect">
            <a:avLst/>
          </a:prstGeom>
          <a:noFill/>
          <a:ln w="28575">
            <a:solidFill>
              <a:srgbClr val="8E6F3E"/>
            </a:solidFill>
            <a:prstDash val="dash"/>
          </a:ln>
        </p:spPr>
        <p:txBody>
          <a:bodyPr wrap="square" lIns="27432" tIns="22860" rIns="27432" bIns="22860" anchor="ctr"/>
          <a:lstStyle/>
          <a:p>
            <a:pPr>
              <a:buNone/>
            </a:pPr>
            <a:endParaRPr lang="en-US"/>
          </a:p>
        </p:txBody>
      </p:sp>
      <p:sp>
        <p:nvSpPr>
          <p:cNvPr id="42" name="Scaf2"/>
          <p:cNvSpPr/>
          <p:nvPr/>
        </p:nvSpPr>
        <p:spPr>
          <a:xfrm>
            <a:off x="5381240" y="2180850"/>
            <a:ext cx="2816360" cy="160934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43" name="Oblig2"/>
          <p:cNvSpPr/>
          <p:nvPr/>
        </p:nvSpPr>
        <p:spPr>
          <a:xfrm>
            <a:off x="5747000" y="2583180"/>
            <a:ext cx="2084840" cy="804680"/>
          </a:xfrm>
          <a:prstGeom prst="rect">
            <a:avLst/>
          </a:prstGeom>
          <a:solidFill>
            <a:srgbClr val="5C4826"/>
          </a:solidFill>
          <a:ln>
            <a:noFill/>
          </a:ln>
        </p:spPr>
        <p:txBody>
          <a:bodyPr wrap="square" lIns="27432" tIns="22860" rIns="27432" bIns="22860" anchor="ctr"/>
          <a:lstStyle/>
          <a:p>
            <a:pPr algn="ctr">
              <a:spcAft>
                <a:spcPts val="0"/>
              </a:spcAft>
              <a:buNone/>
            </a:pPr>
            <a:r>
              <a:rPr lang="en-US" sz="1300" b="1" i="0" dirty="0">
                <a:solidFill>
                  <a:srgbClr val="FFFFFF"/>
                </a:solidFill>
              </a:rPr>
              <a:t>OBLIGATION</a:t>
            </a:r>
          </a:p>
        </p:txBody>
      </p:sp>
      <p:sp>
        <p:nvSpPr>
          <p:cNvPr id="44" name="ScafL2"/>
          <p:cNvSpPr txBox="1"/>
          <p:nvPr/>
        </p:nvSpPr>
        <p:spPr>
          <a:xfrm>
            <a:off x="5747000" y="3463295"/>
            <a:ext cx="2084840" cy="251460"/>
          </a:xfrm>
          <a:prstGeom prst="rect">
            <a:avLst/>
          </a:prstGeom>
          <a:noFill/>
          <a:ln>
            <a:noFill/>
          </a:ln>
        </p:spPr>
        <p:txBody>
          <a:bodyPr wrap="square" lIns="0" tIns="0" rIns="0" bIns="0" anchor="ctr"/>
          <a:lstStyle/>
          <a:p>
            <a:pPr algn="ctr">
              <a:spcAft>
                <a:spcPts val="0"/>
              </a:spcAft>
              <a:buNone/>
            </a:pPr>
            <a:r>
              <a:rPr lang="en-US" sz="1300" b="1" i="0" dirty="0">
                <a:solidFill>
                  <a:srgbClr val="5C4826"/>
                </a:solidFill>
              </a:rPr>
              <a:t>SCAFFOLDING</a:t>
            </a:r>
          </a:p>
        </p:txBody>
      </p:sp>
      <p:sp>
        <p:nvSpPr>
          <p:cNvPr id="45" name="DofL2"/>
          <p:cNvSpPr txBox="1"/>
          <p:nvPr/>
        </p:nvSpPr>
        <p:spPr>
          <a:xfrm>
            <a:off x="4722880" y="4101080"/>
            <a:ext cx="4133080" cy="274320"/>
          </a:xfrm>
          <a:prstGeom prst="rect">
            <a:avLst/>
          </a:prstGeom>
          <a:noFill/>
          <a:ln>
            <a:noFill/>
          </a:ln>
        </p:spPr>
        <p:txBody>
          <a:bodyPr wrap="square" lIns="0" tIns="0" rIns="0" bIns="0" anchor="ctr"/>
          <a:lstStyle/>
          <a:p>
            <a:pPr algn="ctr">
              <a:spcAft>
                <a:spcPts val="0"/>
              </a:spcAft>
              <a:buNone/>
            </a:pPr>
            <a:r>
              <a:rPr lang="en-US" sz="1300" b="0" i="0" dirty="0">
                <a:solidFill>
                  <a:srgbClr val="555960"/>
                </a:solidFill>
              </a:rPr>
              <a:t>DEGREES OF FREEDOM</a:t>
            </a:r>
          </a:p>
        </p:txBody>
      </p:sp>
      <p:sp>
        <p:nvSpPr>
          <p:cNvPr id="47" name="ColCap2"/>
          <p:cNvSpPr txBox="1"/>
          <p:nvPr/>
        </p:nvSpPr>
        <p:spPr>
          <a:xfrm>
            <a:off x="4709160" y="4457700"/>
            <a:ext cx="4160520" cy="502920"/>
          </a:xfrm>
          <a:prstGeom prst="rect">
            <a:avLst/>
          </a:prstGeom>
          <a:noFill/>
          <a:ln>
            <a:noFill/>
          </a:ln>
        </p:spPr>
        <p:txBody>
          <a:bodyPr wrap="square" lIns="0" tIns="0" rIns="0" bIns="0" anchor="t"/>
          <a:lstStyle/>
          <a:p>
            <a:pPr algn="ctr">
              <a:spcAft>
                <a:spcPts val="0"/>
              </a:spcAft>
              <a:buNone/>
            </a:pPr>
            <a:r>
              <a:rPr lang="en-US" sz="1300" b="0" i="0" dirty="0">
                <a:solidFill>
                  <a:srgbClr val="555960"/>
                </a:solidFill>
              </a:rPr>
              <a:t>Smaller specification boundary — less scaffolding, more degrees of freedom</a:t>
            </a:r>
          </a:p>
        </p:txBody>
      </p:sp>
      <p:sp>
        <p:nvSpPr>
          <p:cNvPr id="150" name="Ital"/>
          <p:cNvSpPr txBox="1"/>
          <p:nvPr/>
        </p:nvSpPr>
        <p:spPr>
          <a:xfrm>
            <a:off x="274320" y="502920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Capability can reduce what we must specify about how.</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It does not reduce what must be true.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p</a:t>
            </a:r>
            <a:r>
              <a:rPr lang="en-US" sz="2200" b="0" i="1" baseline="-25000" dirty="0">
                <a:solidFill>
                  <a:srgbClr val="5C4826"/>
                </a:solidFill>
              </a:rPr>
              <a:t>R</a:t>
            </a:r>
            <a:r>
              <a:rPr lang="en-US" sz="2200" b="0" i="1" dirty="0">
                <a:solidFill>
                  <a:srgbClr val="5C4826"/>
                </a:solidFill>
              </a:rPr>
              <a:t> = </a:t>
            </a:r>
            <a:r>
              <a:rPr lang="en-US" sz="2200" b="1" i="1" dirty="0">
                <a:solidFill>
                  <a:srgbClr val="5C4826"/>
                </a:solidFill>
              </a:rPr>
              <a:t>P(E | R)</a:t>
            </a:r>
            <a:r>
              <a:rPr lang="en-US" sz="2200" b="0" i="1" dirty="0">
                <a:solidFill>
                  <a:srgbClr val="5C4826"/>
                </a:solidFill>
              </a:rPr>
              <a:t>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lim</a:t>
            </a:r>
            <a:r>
              <a:rPr lang="en-US" sz="3000" b="0" baseline="-25000" dirty="0">
                <a:solidFill>
                  <a:srgbClr val="5C4826"/>
                </a:solidFill>
              </a:rPr>
              <a:t>M → perfect reasoner</a:t>
            </a:r>
            <a:r>
              <a:rPr lang="en-US" sz="3000" b="0" i="1" dirty="0">
                <a:solidFill>
                  <a:srgbClr val="5C4826"/>
                </a:solidFill>
              </a:rPr>
              <a:t>     p</a:t>
            </a:r>
            <a:r>
              <a:rPr lang="en-US" sz="3000" b="0" i="1" baseline="-25000" dirty="0">
                <a:solidFill>
                  <a:srgbClr val="5C4826"/>
                </a:solidFill>
              </a:rPr>
              <a:t>R</a:t>
            </a:r>
            <a:r>
              <a:rPr lang="en-US" sz="3000" b="0" i="1" dirty="0">
                <a:solidFill>
                  <a:srgbClr val="5C4826"/>
                </a:solidFill>
              </a:rPr>
              <a:t>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27432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IMPLEMENTATIONS</a:t>
            </a:r>
          </a:p>
          <a:p>
            <a:pPr algn="ctr">
              <a:spcAft>
                <a:spcPts val="0"/>
              </a:spcAft>
              <a:buNone/>
            </a:pPr>
            <a:r>
              <a:rPr lang="en-US" sz="1400" b="0" i="0" dirty="0">
                <a:solidFill>
                  <a:srgbClr val="555960"/>
                </a:solidFill>
              </a:rPr>
              <a:t xml:space="preserve">one model, many realizations</a:t>
            </a:r>
          </a:p>
        </p:txBody>
      </p:sp>
      <p:sp>
        <p:nvSpPr>
          <p:cNvPr id="132" name="VTag2"/>
          <p:cNvSpPr txBox="1"/>
          <p:nvPr/>
        </p:nvSpPr>
        <p:spPr>
          <a:xfrm>
            <a:off x="320040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MODEL</a:t>
            </a:r>
          </a:p>
          <a:p>
            <a:pPr algn="ctr">
              <a:spcAft>
                <a:spcPts val="0"/>
              </a:spcAft>
              <a:buNone/>
            </a:pPr>
            <a:r>
              <a:rPr lang="en-US" sz="1400" b="0" i="0" dirty="0">
                <a:solidFill>
                  <a:srgbClr val="555960"/>
                </a:solidFill>
              </a:rPr>
              <a:t xml:space="preserve">refinement into a system of models</a:t>
            </a:r>
          </a:p>
        </p:txBody>
      </p:sp>
      <p:sp>
        <p:nvSpPr>
          <p:cNvPr id="133" name="VTag3"/>
          <p:cNvSpPr txBox="1"/>
          <p:nvPr/>
        </p:nvSpPr>
        <p:spPr>
          <a:xfrm>
            <a:off x="6126480" y="3977640"/>
            <a:ext cx="27432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MODEL → EVIDENCE</a:t>
            </a:r>
          </a:p>
          <a:p>
            <a:pPr algn="ctr">
              <a:spcAft>
                <a:spcPts val="0"/>
              </a:spcAft>
              <a:buNone/>
            </a:pPr>
            <a:r>
              <a:rPr lang="en-US" sz="1400" b="0" i="0" dirty="0">
                <a:solidFill>
                  <a:srgbClr val="555960"/>
                </a:solidFill>
              </a:rPr>
              <a:t xml:space="preserve">✓ the lease  ·  ✗ the quota</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
        <p:nvSpPr>
          <p:cNvPr id="140"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
        <p:nvSpPr>
          <p:cNvPr id="140" name="EvTag"/>
          <p:cNvSpPr txBox="1"/>
          <p:nvPr/>
        </p:nvSpPr>
        <p:spPr>
          <a:xfrm>
            <a:off x="5943600" y="55321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Where do the probabilities move?</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pic>
        <p:nvPicPr>
          <p:cNvPr id="60" name="CabotFig1" descr="Cabot Figure 1: an engineer reaches an explicit software model either by modeling directly or by describing the system in natural language to a vibe modeling agent; from the model, code is reached either by code generation or by a vibe coding agent via spec-driven development."/>
          <p:cNvPicPr>
            <a:picLocks noChangeAspect="1"/>
          </p:cNvPicPr>
          <p:nvPr/>
        </p:nvPicPr>
        <p:blipFill>
          <a:blip r:embed="rId3"/>
          <a:stretch>
            <a:fillRect/>
          </a:stretch>
        </p:blipFill>
        <p:spPr>
          <a:xfrm>
            <a:off x="1025648" y="868679"/>
            <a:ext cx="7092704" cy="3258185"/>
          </a:xfrm>
          <a:prstGeom prst="rect">
            <a:avLst/>
          </a:prstGeom>
          <a:ln w="12700">
            <a:noFill/>
          </a:ln>
        </p:spPr>
      </p:pic>
      <p:sp>
        <p:nvSpPr>
          <p:cNvPr id="70" name="Src"/>
          <p:cNvSpPr txBox="1"/>
          <p:nvPr/>
        </p:nvSpPr>
        <p:spPr>
          <a:xfrm>
            <a:off x="364688" y="6572250"/>
            <a:ext cx="7447034" cy="251460"/>
          </a:xfrm>
          <a:prstGeom prst="rect">
            <a:avLst/>
          </a:prstGeom>
          <a:noFill/>
          <a:ln>
            <a:noFill/>
          </a:ln>
        </p:spPr>
        <p:txBody>
          <a:bodyPr wrap="square" lIns="0" tIns="0" rIns="0" bIns="0" anchor="t"/>
          <a:lstStyle/>
          <a:p>
            <a:pPr algn="l">
              <a:spcAft>
                <a:spcPts val="0"/>
              </a:spcAft>
              <a:buNone/>
            </a:pPr>
            <a:r>
              <a:rPr lang="en-US" sz="1300" b="0" i="0" dirty="0">
                <a:solidFill>
                  <a:srgbClr val="5C4826"/>
                </a:solidFill>
              </a:rPr>
              <a:t>Jordi Cabot, Vibe-driven model-based engineering (2026)  —  </a:t>
            </a:r>
            <a:r>
              <a:rPr lang="en-US" sz="1300" b="0" i="0" dirty="0">
                <a:solidFill>
                  <a:srgbClr val="555960"/>
                </a:solidFill>
                <a:hlinkClick r:id="rId4"/>
              </a:rPr>
              <a:t>https://arxiv.org/pdf/2604.10645</a:t>
            </a:r>
          </a:p>
        </p:txBody>
      </p:sp>
      <p:sp>
        <p:nvSpPr>
          <p:cNvPr id="80" name="RemHdr"/>
          <p:cNvSpPr txBox="1"/>
          <p:nvPr/>
        </p:nvSpPr>
        <p:spPr>
          <a:xfrm>
            <a:off x="365760" y="4229100"/>
            <a:ext cx="356616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REMINDER</a:t>
            </a:r>
          </a:p>
        </p:txBody>
      </p:sp>
      <p:sp>
        <p:nvSpPr>
          <p:cNvPr id="81" name="RemEq"/>
          <p:cNvSpPr txBox="1"/>
          <p:nvPr/>
        </p:nvSpPr>
        <p:spPr>
          <a:xfrm>
            <a:off x="365760" y="4480560"/>
            <a:ext cx="3566160" cy="320040"/>
          </a:xfrm>
          <a:prstGeom prst="rect">
            <a:avLst/>
          </a:prstGeom>
          <a:noFill/>
          <a:ln>
            <a:noFill/>
          </a:ln>
        </p:spPr>
        <p:txBody>
          <a:bodyPr wrap="square" lIns="0" tIns="0" rIns="0" bIns="0" anchor="ctr"/>
          <a:lstStyle/>
          <a:p>
            <a:pPr algn="l">
              <a:spcAft>
                <a:spcPts val="0"/>
              </a:spcAft>
              <a:buNone/>
            </a:pPr>
            <a:r>
              <a:rPr lang="en-US" sz="1300" b="0" i="1" dirty="0">
                <a:solidFill>
                  <a:srgbClr val="5C4826"/>
                </a:solidFill>
              </a:rPr>
              <a:t>p</a:t>
            </a:r>
            <a:r>
              <a:rPr lang="en-US" sz="1300" b="0" i="1" baseline="-25000" dirty="0">
                <a:solidFill>
                  <a:srgbClr val="5C4826"/>
                </a:solidFill>
              </a:rPr>
              <a:t>R</a:t>
            </a:r>
            <a:r>
              <a:rPr lang="en-US" sz="1300" b="0" i="1" dirty="0">
                <a:solidFill>
                  <a:srgbClr val="5C4826"/>
                </a:solidFill>
              </a:rPr>
              <a:t> = P(E | R) · P(I | E, R) · P(L | I, E, R)</a:t>
            </a:r>
          </a:p>
        </p:txBody>
      </p:sp>
      <p:sp>
        <p:nvSpPr>
          <p:cNvPr id="82" name="RemTrm"/>
          <p:cNvSpPr txBox="1"/>
          <p:nvPr/>
        </p:nvSpPr>
        <p:spPr>
          <a:xfrm>
            <a:off x="365760" y="5097780"/>
            <a:ext cx="3566160" cy="548640"/>
          </a:xfrm>
          <a:prstGeom prst="rect">
            <a:avLst/>
          </a:prstGeom>
          <a:noFill/>
          <a:ln>
            <a:noFill/>
          </a:ln>
        </p:spPr>
        <p:txBody>
          <a:bodyPr wrap="square" lIns="0" tIns="0" rIns="0" bIns="0" anchor="t"/>
          <a:lstStyle/>
          <a:p>
            <a:pPr algn="l">
              <a:lnSpc>
                <a:spcPct val="90000"/>
              </a:lnSpc>
              <a:spcAft>
                <a:spcPts val="0"/>
              </a:spcAft>
              <a:buNone/>
            </a:pPr>
            <a:r>
              <a:rPr lang="en-US" sz="1300" b="1" i="0" dirty="0">
                <a:solidFill>
                  <a:srgbClr val="5C4826"/>
                </a:solidFill>
              </a:rPr>
              <a:t>E</a:t>
            </a:r>
            <a:r>
              <a:rPr lang="en-US" sz="1300" b="0" i="0" dirty="0">
                <a:solidFill>
                  <a:srgbClr val="555960"/>
                </a:solidFill>
              </a:rPr>
              <a:t>  consequential intent is encoded</a:t>
            </a:r>
          </a:p>
          <a:p>
            <a:pPr algn="l">
              <a:lnSpc>
                <a:spcPct val="90000"/>
              </a:lnSpc>
              <a:spcAft>
                <a:spcPts val="0"/>
              </a:spcAft>
              <a:buNone/>
            </a:pPr>
            <a:r>
              <a:rPr lang="en-US" sz="1300" b="1" i="0" dirty="0">
                <a:solidFill>
                  <a:srgbClr val="5C4826"/>
                </a:solidFill>
              </a:rPr>
              <a:t>I</a:t>
            </a:r>
            <a:r>
              <a:rPr lang="en-US" sz="1300" b="0" i="0" dirty="0">
                <a:solidFill>
                  <a:srgbClr val="555960"/>
                </a:solidFill>
              </a:rPr>
              <a:t>  encoding is interpreted</a:t>
            </a:r>
          </a:p>
          <a:p>
            <a:pPr algn="l">
              <a:lnSpc>
                <a:spcPct val="90000"/>
              </a:lnSpc>
              <a:spcAft>
                <a:spcPts val="0"/>
              </a:spcAft>
              <a:buNone/>
            </a:pPr>
            <a:r>
              <a:rPr lang="en-US" sz="1300" b="1" i="0" dirty="0">
                <a:solidFill>
                  <a:srgbClr val="5C4826"/>
                </a:solidFill>
              </a:rPr>
              <a:t>L</a:t>
            </a:r>
            <a:r>
              <a:rPr lang="en-US" sz="1300" b="0" i="0" dirty="0">
                <a:solidFill>
                  <a:srgbClr val="555960"/>
                </a:solidFill>
              </a:rPr>
              <a:t>  interpretation is realized</a:t>
            </a:r>
          </a:p>
        </p:txBody>
      </p:sp>
      <p:sp>
        <p:nvSpPr>
          <p:cNvPr id="90" name="TPSbadge"/>
          <p:cNvSpPr/>
          <p:nvPr/>
        </p:nvSpPr>
        <p:spPr>
          <a:xfrm>
            <a:off x="4114800" y="4229100"/>
            <a:ext cx="3017520" cy="548640"/>
          </a:xfrm>
          <a:prstGeom prst="roundRect">
            <a:avLst/>
          </a:prstGeom>
          <a:solidFill>
            <a:srgbClr val="FBF8F2"/>
          </a:solidFill>
          <a:ln w="15875">
            <a:solidFill>
              <a:srgbClr val="8E6F3E"/>
            </a:solidFill>
          </a:ln>
        </p:spPr>
        <p:txBody>
          <a:bodyPr wrap="square" lIns="27432" tIns="22860" rIns="27432" bIns="2286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91" name="CabHdr"/>
          <p:cNvSpPr txBox="1"/>
          <p:nvPr/>
        </p:nvSpPr>
        <p:spPr>
          <a:xfrm>
            <a:off x="4114800" y="4846320"/>
            <a:ext cx="4754880" cy="205740"/>
          </a:xfrm>
          <a:prstGeom prst="rect">
            <a:avLst/>
          </a:prstGeom>
          <a:noFill/>
          <a:ln>
            <a:noFill/>
          </a:ln>
        </p:spPr>
        <p:txBody>
          <a:bodyPr wrap="square" lIns="0" tIns="0" rIns="0" bIns="0" anchor="ctr"/>
          <a:lstStyle/>
          <a:p>
            <a:pPr algn="l">
              <a:spcAft>
                <a:spcPts val="0"/>
              </a:spcAft>
              <a:buNone/>
            </a:pPr>
            <a:r>
              <a:rPr lang="en-US" sz="1300" b="1" i="0" dirty="0">
                <a:solidFill>
                  <a:srgbClr val="8E6F3E"/>
                </a:solidFill>
              </a:rPr>
              <a:t>IN CABOT’S PROCESS</a:t>
            </a:r>
          </a:p>
        </p:txBody>
      </p:sp>
      <p:sp>
        <p:nvSpPr>
          <p:cNvPr id="92" name="CabItm"/>
          <p:cNvSpPr txBox="1"/>
          <p:nvPr/>
        </p:nvSpPr>
        <p:spPr>
          <a:xfrm>
            <a:off x="4114800" y="5097780"/>
            <a:ext cx="4754880" cy="548640"/>
          </a:xfrm>
          <a:prstGeom prst="rect">
            <a:avLst/>
          </a:prstGeom>
          <a:noFill/>
          <a:ln>
            <a:noFill/>
          </a:ln>
        </p:spPr>
        <p:txBody>
          <a:bodyPr wrap="square" lIns="0" tIns="0" rIns="0" bIns="0" anchor="t"/>
          <a:lstStyle/>
          <a:p>
            <a:pPr algn="l">
              <a:lnSpc>
                <a:spcPct val="90000"/>
              </a:lnSpc>
              <a:spcAft>
                <a:spcPts val="0"/>
              </a:spcAft>
              <a:buNone/>
            </a:pPr>
            <a:r>
              <a:rPr lang="en-US" sz="1300" b="0" i="0" dirty="0">
                <a:solidFill>
                  <a:srgbClr val="555960"/>
                </a:solidFill>
              </a:rPr>
              <a:t>Where do encoding, interpretation, and realization happen?</a:t>
            </a:r>
          </a:p>
          <a:p>
            <a:pPr algn="l">
              <a:lnSpc>
                <a:spcPct val="90000"/>
              </a:lnSpc>
              <a:spcAft>
                <a:spcPts val="0"/>
              </a:spcAft>
              <a:buNone/>
            </a:pPr>
            <a:r>
              <a:rPr lang="en-US" sz="1300" b="0" i="0" dirty="0">
                <a:solidFill>
                  <a:srgbClr val="555960"/>
                </a:solidFill>
              </a:rPr>
              <a:t>Which transitions are probabilistic?</a:t>
            </a:r>
          </a:p>
          <a:p>
            <a:pPr algn="l">
              <a:lnSpc>
                <a:spcPct val="90000"/>
              </a:lnSpc>
              <a:spcAft>
                <a:spcPts val="0"/>
              </a:spcAft>
              <a:buNone/>
            </a:pPr>
            <a:r>
              <a:rPr lang="en-US" sz="1300" b="0" i="0" dirty="0">
                <a:solidFill>
                  <a:srgbClr val="555960"/>
                </a:solidFill>
              </a:rPr>
              <a:t>Which are engineered to be deterministic?</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What does putting an explicit model in the middle buy us?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1"/>
                                        </p:tgtEl>
                                        <p:attrNameLst>
                                          <p:attrName>style.visibility</p:attrName>
                                        </p:attrNameLst>
                                      </p:cBhvr>
                                      <p:to>
                                        <p:strVal val="visible"/>
                                      </p:to>
                                    </p:set>
                                    <p:animEffect transition="in" filter="fade">
                                      <p:cBhvr>
                                        <p:cTn id="10" dur="500"/>
                                        <p:tgtEl>
                                          <p:spTgt spid="81"/>
                                        </p:tgtEl>
                                      </p:cBhvr>
                                    </p:animEffect>
                                  </p:childTnLst>
                                </p:cTn>
                              </p:par>
                              <p:par>
                                <p:cTn id="11" presetID="10" presetClass="entr" presetSubtype="0" fill="hold" nodeType="withEffect">
                                  <p:stCondLst>
                                    <p:cond delay="0"/>
                                  </p:stCondLst>
                                  <p:childTnLst>
                                    <p:set>
                                      <p:cBhvr>
                                        <p:cTn id="12" dur="1" fill="hold">
                                          <p:stCondLst>
                                            <p:cond delay="0"/>
                                          </p:stCondLst>
                                        </p:cTn>
                                        <p:tgtEl>
                                          <p:spTgt spid="82"/>
                                        </p:tgtEl>
                                        <p:attrNameLst>
                                          <p:attrName>style.visibility</p:attrName>
                                        </p:attrNameLst>
                                      </p:cBhvr>
                                      <p:to>
                                        <p:strVal val="visible"/>
                                      </p:to>
                                    </p:set>
                                    <p:animEffect transition="in" filter="fade">
                                      <p:cBhvr>
                                        <p:cTn id="13" dur="500"/>
                                        <p:tgtEl>
                                          <p:spTgt spid="8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90"/>
                                        </p:tgtEl>
                                        <p:attrNameLst>
                                          <p:attrName>style.visibility</p:attrName>
                                        </p:attrNameLst>
                                      </p:cBhvr>
                                      <p:to>
                                        <p:strVal val="visible"/>
                                      </p:to>
                                    </p:set>
                                    <p:animEffect transition="in" filter="fade">
                                      <p:cBhvr>
                                        <p:cTn id="18" dur="500"/>
                                        <p:tgtEl>
                                          <p:spTgt spid="90"/>
                                        </p:tgtEl>
                                      </p:cBhvr>
                                    </p:animEffect>
                                  </p:childTnLst>
                                </p:cTn>
                              </p:par>
                              <p:par>
                                <p:cTn id="19" presetID="10" presetClass="entr" presetSubtype="0" fill="hold" nodeType="withEffect">
                                  <p:stCondLst>
                                    <p:cond delay="0"/>
                                  </p:stCondLst>
                                  <p:childTnLst>
                                    <p:set>
                                      <p:cBhvr>
                                        <p:cTn id="20" dur="1" fill="hold">
                                          <p:stCondLst>
                                            <p:cond delay="0"/>
                                          </p:stCondLst>
                                        </p:cTn>
                                        <p:tgtEl>
                                          <p:spTgt spid="91"/>
                                        </p:tgtEl>
                                        <p:attrNameLst>
                                          <p:attrName>style.visibility</p:attrName>
                                        </p:attrNameLst>
                                      </p:cBhvr>
                                      <p:to>
                                        <p:strVal val="visible"/>
                                      </p:to>
                                    </p:set>
                                    <p:animEffect transition="in" filter="fade">
                                      <p:cBhvr>
                                        <p:cTn id="21" dur="500"/>
                                        <p:tgtEl>
                                          <p:spTgt spid="91"/>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5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 T</a:t>
            </a:r>
            <a:r>
              <a:rPr lang="en-US" sz="1400" b="1" baseline="-25000" dirty="0">
                <a:solidFill>
                  <a:srgbClr val="5C4826"/>
                </a:solidFill>
              </a:rPr>
              <a:t>schedule</a:t>
            </a:r>
            <a:r>
              <a:rPr lang="en-US" sz="2000" b="1" dirty="0">
                <a:solidFill>
                  <a:srgbClr val="5C4826"/>
                </a:solidFill>
              </a:rPr>
              <a:t> + T</a:t>
            </a:r>
            <a:r>
              <a:rPr lang="en-US" sz="1400" b="1" baseline="-25000" dirty="0">
                <a:solidFill>
                  <a:srgbClr val="5C4826"/>
                </a:solidFill>
              </a:rPr>
              <a:t>compute</a:t>
            </a:r>
            <a:r>
              <a:rPr lang="en-US" sz="2000" b="1" dirty="0">
                <a:solidFill>
                  <a:srgbClr val="5C4826"/>
                </a:solidFill>
              </a:rPr>
              <a:t> + T</a:t>
            </a:r>
            <a:r>
              <a:rPr lang="en-US" sz="1400" b="1" baseline="-25000" dirty="0">
                <a:solidFill>
                  <a:srgbClr val="5C4826"/>
                </a:solidFill>
              </a:rPr>
              <a:t>actuate</a:t>
            </a:r>
            <a:r>
              <a:rPr lang="en-US" sz="2000" b="1" dirty="0">
                <a:solidFill>
                  <a:srgbClr val="5C4826"/>
                </a:solidFill>
              </a:rPr>
              <a:t>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staged: published</a:t>
            </a:r>
          </a:p>
          <a:p>
            <a:pPr algn="l">
              <a:spcAft>
                <a:spcPts val="1000"/>
              </a:spcAft>
              <a:buNone/>
            </a:pPr>
            <a:r>
              <a:rPr lang="en-US" sz="1500" b="0" dirty="0">
                <a:solidFill>
                  <a:srgbClr val="5C4826"/>
                </a:solidFill>
              </a:rPr>
              <a:t>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what must I preserve to answer the engineering question?</a:t>
            </a:r>
          </a:p>
          <a:p>
            <a:r>
              <a:rPr lang="en-US" b="1" dirty="0"/>
              <a:t>Bottom-up:</a:t>
            </a:r>
            <a:r>
              <a:rPr lang="en-US" dirty="0"/>
              <a:t>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Tomorrow: </a:t>
            </a:r>
            <a:r>
              <a:rPr lang="en-US" sz="1800" b="0" i="1" dirty="0">
                <a:solidFill>
                  <a:srgbClr val="555960"/>
                </a:solidFill>
              </a:rPr>
              <a:t>one model can be useful. How do many models remain trustworthy together?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unchanged from the tour</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ClassQ"/>
          <p:cNvSpPr/>
          <p:nvPr/>
        </p:nvSpPr>
        <p:spPr>
          <a:xfrm>
            <a:off x="274320" y="4983480"/>
            <a:ext cx="85953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What has to remain true for each implementation to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Models refine into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40" name="UC1"/>
          <p:cNvSpPr/>
          <p:nvPr/>
        </p:nvSpPr>
        <p:spPr>
          <a:xfrm>
            <a:off x="822960" y="1143000"/>
            <a:ext cx="2834640" cy="502920"/>
          </a:xfrm>
          <a:prstGeom prst="rect">
            <a:avLst/>
          </a:prstGeom>
          <a:solidFill>
            <a:srgbClr val="F5F1E8"/>
          </a:solidFill>
          <a:ln w="25400">
            <a:solidFill>
              <a:srgbClr val="8E6F3E"/>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Drop a course</a:t>
            </a:r>
          </a:p>
        </p:txBody>
      </p:sp>
      <p:sp>
        <p:nvSpPr>
          <p:cNvPr id="41" name="UC2"/>
          <p:cNvSpPr/>
          <p:nvPr/>
        </p:nvSpPr>
        <p:spPr>
          <a:xfrm>
            <a:off x="5029200" y="1143000"/>
            <a:ext cx="301752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8E6F3E"/>
                </a:solidFill>
              </a:rPr>
              <a:t xml:space="preserve">USE CASE  </a:t>
            </a:r>
            <a:r>
              <a:rPr lang="en-US" sz="1600" b="1" i="0" dirty="0">
                <a:solidFill>
                  <a:srgbClr val="5C4826"/>
                </a:solidFill>
              </a:rPr>
              <a:t xml:space="preserve">Register for a section</a:t>
            </a:r>
          </a:p>
        </p:txBody>
      </p:sp>
      <p:sp>
        <p:nvSpPr>
          <p:cNvPr id="42" name="SEQ"/>
          <p:cNvSpPr/>
          <p:nvPr/>
        </p:nvSpPr>
        <p:spPr>
          <a:xfrm>
            <a:off x="50292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SEQUENCE MODEL</a:t>
            </a:r>
          </a:p>
        </p:txBody>
      </p:sp>
      <p:sp>
        <p:nvSpPr>
          <p:cNvPr id="43" name="STATE"/>
          <p:cNvSpPr/>
          <p:nvPr/>
        </p:nvSpPr>
        <p:spPr>
          <a:xfrm>
            <a:off x="3566160" y="214884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STATE MODEL</a:t>
            </a:r>
          </a:p>
        </p:txBody>
      </p:sp>
      <p:sp>
        <p:nvSpPr>
          <p:cNvPr id="44" name="DATA"/>
          <p:cNvSpPr/>
          <p:nvPr/>
        </p:nvSpPr>
        <p:spPr>
          <a:xfrm>
            <a:off x="1874520" y="3154680"/>
            <a:ext cx="265176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DATA / CLASS MODEL</a:t>
            </a:r>
          </a:p>
        </p:txBody>
      </p:sp>
      <p:sp>
        <p:nvSpPr>
          <p:cNvPr id="45" name="INTF"/>
          <p:cNvSpPr/>
          <p:nvPr/>
        </p:nvSpPr>
        <p:spPr>
          <a:xfrm>
            <a:off x="5212080" y="3154680"/>
            <a:ext cx="23774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INTERFACE MODEL</a:t>
            </a:r>
          </a:p>
        </p:txBody>
      </p:sp>
      <p:sp>
        <p:nvSpPr>
          <p:cNvPr id="46" name="IMPL"/>
          <p:cNvSpPr/>
          <p:nvPr/>
        </p:nvSpPr>
        <p:spPr>
          <a:xfrm>
            <a:off x="2926080" y="4160520"/>
            <a:ext cx="2834640" cy="5029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i="0" dirty="0">
                <a:solidFill>
                  <a:srgbClr val="5C4826"/>
                </a:solidFill>
              </a:rPr>
              <a:t xml:space="preserve">IMPLEMENTATION</a:t>
            </a:r>
          </a:p>
        </p:txBody>
      </p:sp>
      <p:cxnSp>
        <p:nvCxnSpPr>
          <p:cNvPr id="150" name="A1"/>
          <p:cNvCxnSpPr/>
          <p:nvPr/>
        </p:nvCxnSpPr>
        <p:spPr>
          <a:xfrm flipH="1">
            <a:off x="1691640" y="1645920"/>
            <a:ext cx="548640" cy="502920"/>
          </a:xfrm>
          <a:prstGeom prst="straightConnector1">
            <a:avLst/>
          </a:prstGeom>
          <a:ln w="19050">
            <a:solidFill>
              <a:srgbClr val="8E6F3E"/>
            </a:solidFill>
            <a:tailEnd type="triangle" w="med" len="med"/>
          </a:ln>
        </p:spPr>
      </p:cxnSp>
      <p:cxnSp>
        <p:nvCxnSpPr>
          <p:cNvPr id="151" name="A2"/>
          <p:cNvCxnSpPr/>
          <p:nvPr/>
        </p:nvCxnSpPr>
        <p:spPr>
          <a:xfrm>
            <a:off x="2240280" y="1645920"/>
            <a:ext cx="2331720" cy="502920"/>
          </a:xfrm>
          <a:prstGeom prst="straightConnector1">
            <a:avLst/>
          </a:prstGeom>
          <a:ln w="19050">
            <a:solidFill>
              <a:srgbClr val="8E6F3E"/>
            </a:solidFill>
            <a:tailEnd type="triangle" w="med" len="med"/>
          </a:ln>
        </p:spPr>
      </p:cxnSp>
      <p:cxnSp>
        <p:nvCxnSpPr>
          <p:cNvPr id="152" name="A3"/>
          <p:cNvCxnSpPr/>
          <p:nvPr/>
        </p:nvCxnSpPr>
        <p:spPr>
          <a:xfrm flipH="1">
            <a:off x="4572000" y="1645920"/>
            <a:ext cx="1965960" cy="502920"/>
          </a:xfrm>
          <a:prstGeom prst="straightConnector1">
            <a:avLst/>
          </a:prstGeom>
          <a:ln w="19050">
            <a:solidFill>
              <a:srgbClr val="C9B991"/>
            </a:solidFill>
            <a:tailEnd type="triangle" w="med" len="med"/>
          </a:ln>
        </p:spPr>
      </p:cxnSp>
      <p:cxnSp>
        <p:nvCxnSpPr>
          <p:cNvPr id="153" name="A4"/>
          <p:cNvCxnSpPr/>
          <p:nvPr/>
        </p:nvCxnSpPr>
        <p:spPr>
          <a:xfrm>
            <a:off x="1691640" y="2651760"/>
            <a:ext cx="1508760" cy="502920"/>
          </a:xfrm>
          <a:prstGeom prst="straightConnector1">
            <a:avLst/>
          </a:prstGeom>
          <a:ln w="19050">
            <a:solidFill>
              <a:srgbClr val="8E6F3E"/>
            </a:solidFill>
            <a:tailEnd type="triangle" w="med" len="med"/>
          </a:ln>
        </p:spPr>
      </p:cxnSp>
      <p:cxnSp>
        <p:nvCxnSpPr>
          <p:cNvPr id="154" name="A5"/>
          <p:cNvCxnSpPr/>
          <p:nvPr/>
        </p:nvCxnSpPr>
        <p:spPr>
          <a:xfrm flipH="1">
            <a:off x="3200400" y="2651760"/>
            <a:ext cx="1371600" cy="502920"/>
          </a:xfrm>
          <a:prstGeom prst="straightConnector1">
            <a:avLst/>
          </a:prstGeom>
          <a:ln w="19050">
            <a:solidFill>
              <a:srgbClr val="8E6F3E"/>
            </a:solidFill>
            <a:tailEnd type="triangle" w="med" len="med"/>
          </a:ln>
        </p:spPr>
      </p:cxnSp>
      <p:cxnSp>
        <p:nvCxnSpPr>
          <p:cNvPr id="155" name="A6"/>
          <p:cNvCxnSpPr/>
          <p:nvPr/>
        </p:nvCxnSpPr>
        <p:spPr>
          <a:xfrm>
            <a:off x="4572000" y="2651760"/>
            <a:ext cx="1828800" cy="502920"/>
          </a:xfrm>
          <a:prstGeom prst="straightConnector1">
            <a:avLst/>
          </a:prstGeom>
          <a:ln w="19050">
            <a:solidFill>
              <a:srgbClr val="C9B991"/>
            </a:solidFill>
            <a:tailEnd type="triangle" w="med" len="med"/>
          </a:ln>
        </p:spPr>
      </p:cxnSp>
      <p:cxnSp>
        <p:nvCxnSpPr>
          <p:cNvPr id="156" name="A7"/>
          <p:cNvCxnSpPr/>
          <p:nvPr/>
        </p:nvCxnSpPr>
        <p:spPr>
          <a:xfrm>
            <a:off x="3200400" y="3566160"/>
            <a:ext cx="1143000" cy="594360"/>
          </a:xfrm>
          <a:prstGeom prst="straightConnector1">
            <a:avLst/>
          </a:prstGeom>
          <a:ln w="19050">
            <a:solidFill>
              <a:srgbClr val="8E6F3E"/>
            </a:solidFill>
            <a:tailEnd type="triangle" w="med" len="med"/>
          </a:ln>
        </p:spPr>
      </p:cxnSp>
      <p:cxnSp>
        <p:nvCxnSpPr>
          <p:cNvPr id="157" name="A8"/>
          <p:cNvCxnSpPr/>
          <p:nvPr/>
        </p:nvCxnSpPr>
        <p:spPr>
          <a:xfrm flipH="1">
            <a:off x="4343400" y="3566160"/>
            <a:ext cx="2057400" cy="594360"/>
          </a:xfrm>
          <a:prstGeom prst="straightConnector1">
            <a:avLst/>
          </a:prstGeom>
          <a:ln w="19050">
            <a:solidFill>
              <a:srgbClr val="C9B991"/>
            </a:solidFill>
            <a:tailEnd type="triangle" w="med" len="med"/>
          </a:ln>
        </p:spPr>
      </p:cxnSp>
      <p:sp>
        <p:nvSpPr>
          <p:cNvPr id="90" name="Caption"/>
          <p:cNvSpPr txBox="1"/>
          <p:nvPr/>
        </p:nvSpPr>
        <p:spPr>
          <a:xfrm>
            <a:off x="274320" y="489204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 xml:space="preserve">One use case induces several models. One model serves several use cases.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Not a mandatory waterfall. A system of models.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