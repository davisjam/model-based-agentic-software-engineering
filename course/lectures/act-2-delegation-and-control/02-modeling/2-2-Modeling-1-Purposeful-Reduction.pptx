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slides/slide49.xml" ContentType="application/vnd.openxmlformats-officedocument.presentationml.slide+xml"/>
  <Override PartName="/ppt/notesSlides/notesSlide43.xml" ContentType="application/vnd.openxmlformats-officedocument.presentationml.notesSlide+xml"/>
  <Override PartName="/ppt/notesSlides/notesSlide49.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5" r:id="rId55"/>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5" Type="http://schemas.openxmlformats.org/officeDocument/2006/relationships/slide" Target="slides/slide49.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Relationships xmlns="http://schemas.openxmlformats.org/package/2006/relationships">
  <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2 — first on “How would you implement this?”, then as the one-model-many-implementations anchor on “One model, many implementations”.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arrives in Section 3, on “Top-down: preserve what the obligation requires”,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synthesis beat. The definition is no longer an assertion the students have to accept on faith — it is an explanation of the four sections they just sat through. Every diagram in SEE THE MODELS left out almost everything and was useful anyway; MODELS CONSTRAIN IMPLEMENTATION showed what the omissions buy; DESIGNING THE MODEL asked what must remain; CORRESPONDENCE graded the reduction. Say it as an earned summary, not as a new claim.</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four sections earned both.</a:t>
            </a:r>
          </a:p>
          <a:p>
            <a:r>
              <a:rPr lang="en-US" dirty="0"/>
              <a:t>Say the strip line aloud once, here, as a retrospective. These four questions — engineering question, model, property, quality — opened every section the room just sat through, and this is where they are claimed rather than promised. The strip is deliberately unhighlighted on this slide: the section headers gold the one cell that section is about, and here all four are live. They are also what the students carry out — they organize the cost discussion that follows, and they organize Lecture 2.</a:t>
            </a:r>
          </a:p>
          <a:p>
            <a:r>
              <a:rPr lang="en-US" dirty="0"/>
              <a:t>A line worth keeping in your pocket if the room needs it: a reduction you can hold in view beats a faithful copy too large to reason through.</a:t>
            </a:r>
          </a:p>
          <a:p>
            <a:r>
              <a:rPr lang="en-US" dirty="0"/>
              <a:t>About two minutes. This slide closes the four sections and hands off, through the stretch break, to “The cost discussion” — where the production equation returns and the room puts cost back into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These are different questions. The product may not care whether I use a B-tree index. But my agent might repeatedly make a terrible database design unless I tell it. That information is not an obligation of the product. It is scaffolding for this delegate.</a:t>
            </a:r>
          </a:p>
          <a:p>
            <a:r>
              <a:rPr lang="en-US" dirty="0"/>
              <a:t>ON ARRIVAL — the container only: EVERYTHING ABOUT THE IMPLEMENTATION. Nothing inside it yet. Scaffolding re-enters the lecture here; the previous slide deliberately did not mention it.</a:t>
            </a:r>
          </a:p>
          <a:p>
            <a:r>
              <a:rPr lang="en-US" dirty="0"/>
              <a:t>CLICK 1 — OBLIGATION, the inner region, drawn with a SOLID boundary. This inner boundary comes from the product. It is what must be true, and it does not move when we change delegate.</a:t>
            </a:r>
          </a:p>
          <a:p>
            <a:r>
              <a:rPr lang="en-US" dirty="0"/>
              <a:t>CLICK 2 — the SCAFFOLDING region around it, drawn with a DASHED boundary. What this agent needs in order to realize the obligation reliably: examples, decomposition, intermediate structure. The dash is the point — this boundary depends on the delegate, so it moves.</a:t>
            </a:r>
          </a:p>
          <a:p>
            <a:r>
              <a:rPr lang="en-US" dirty="0"/>
              <a:t>CLICK 3 — the remainder is DEGREES OF FREEDOM. Everything outside what we wrote down is the realization's to choose. Reading order matters: obligation inside, specification outside. Do not reveal them the other way round — it teaches the reverse of the argument.</a:t>
            </a:r>
          </a:p>
          <a:p>
            <a:r>
              <a:rPr lang="en-US" dirty="0"/>
              <a:t>CLICK 4 — the question to the room. How wide is the gap between what the product requires and what the agent needs specified? Leave it open; the next two slides answer it by making the gap grow.</a:t>
            </a:r>
          </a:p>
          <a:p>
            <a:r>
              <a:rPr lang="en-US" dirty="0"/>
              <a:t>Rebuilt from the old 'Obligation and specification are different boundaries' slide, which taught the same two boundaries before the cost discussion existed. It is motivated now by the economics, which is why it sits here and not in Section 4.</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Beat one: engineering has accumulated reusable ways to represent recurring questions. These four are not a reading list; they are evidence that the representations already exist and are maintained. Azure's catalogue is current practice, the Gang-of-Four book is thirty years old and still cited, the MBSE handbook is a 2023 reference work, and UML Distilled is how most engineers actually learned the notation.</a:t>
            </a:r>
          </a:p>
          <a:p>
            <a:r>
              <a:rPr lang="en-US" dirty="0"/>
              <a:t>Beat two, and this is the instruction: before you invent your own boxes and arrows, ask whether the profession already has a model for the thing you need to reason about. Read the four captions off the strip — patterns, design vocabulary, modeling methods, modeling notation — and let that be the argument. Do not walk the four items.</a:t>
            </a:r>
          </a:p>
          <a:p>
            <a:r>
              <a:rPr lang="en-US" dirty="0"/>
              <a:t>Beat three, say it plainly: this is an engineering principle, not an existence proof for tools. Do not teach any of these four, do not recommend them, and do not let the room turn it into a tooling discussion. The students can go find them.</a:t>
            </a:r>
          </a:p>
          <a:p>
            <a:r>
              <a:rPr lang="en-US" dirty="0"/>
              <a:t>The takeaway on the gold band is the spoken close: the forms already exist, so select before you invent.</a:t>
            </a:r>
          </a:p>
          <a:p>
            <a:r>
              <a:rPr lang="en-US" dirty="0"/>
              <a:t>Attribution is on the slide, in the two-line source foot. Three publisher covers reproduced for classroom teaching, one page capture from Microsoft Learn, and the Escher cover art on the Design Patterns jacket credited separately — that last one is a second rights holder, which is why it is named.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The lecture's intellectual close, and the only place the production equation comes back. The whole beat runs ten to fifteen minutes across this slide and the next, nearly all of it the room's. Put the equation up and say: earlier we deliberately refused to talk about cost, because asking “why don't we model everything?” while showing only success probability begs the objection “you forgot cost.” At the end, that is exactly the objection you want.</a:t>
            </a:r>
          </a:p>
          <a:p>
            <a:r>
              <a:rPr lang="en-US" dirty="0"/>
              <a:t xml:space="preserve">Same equation, same notation, same place on the slide as the production-equation slide in the opening — third and final appearance. Say so out loud; the room should recognise it as the tool they have been using all hour, not as a new one.</a:t>
            </a:r>
          </a:p>
          <a:p>
            <a:r>
              <a:rPr lang="en-US" dirty="0"/>
              <a:t xml:space="preserve">The equation is unmodified on purpose. Do NOT bolt a cost term onto p(T,M,R,H), do not offer a new master equation, and do not bring back the encode/interpret/realize decomposition here. A cost-augmented equation manufactures precision this discussion does not have. Let them reason about the terms first.</a:t>
            </a:r>
          </a:p>
          <a:p>
            <a:r>
              <a:rPr lang="en-US" dirty="0"/>
              <a:t xml:space="preserve">Read the pivot line, then ask the two questions and go to the whiteboard. The two columns accumulate on the board, not on the slide — the slide must not pre-empt the answers. This slide stays up for the whole whiteboard session; that is why it is its own slide.</a:t>
            </a:r>
          </a:p>
          <a:p>
            <a:r>
              <a:rPr lang="en-US" dirty="0"/>
              <a:t xml:space="preserve">MODELING COSTS, to collect rather than supply: engineering time; maintenance and synchronization; representation and tooling effort; the risk of modeling the wrong thing; delay before realization.</a:t>
            </a:r>
          </a:p>
          <a:p>
            <a:r>
              <a:rPr lang="en-US" dirty="0"/>
              <a:t xml:space="preserve">MODELING BENEFITS, likewise: cheaper reasoning; better communication and delegation; fewer consequential ambiguities; reusable constraints; cheaper validation; preserved knowledge across changes.</a:t>
            </a:r>
          </a:p>
          <a:p>
            <a:r>
              <a:rPr lang="en-US" dirty="0"/>
              <a:t xml:space="preserve">When both columns are on the board and the room has run out of easy answers, advance. The next slide turns the ledger on GenAI; leave the board up while you do it, because the next question is about which column moves.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Picks up the hand-off from the previous slide: we have been asking what the model costs. Now the other side of the ledger — how cheap can we make the implementer? The title is the answer to the question they were left holding.</a:t>
            </a:r>
          </a:p>
          <a:p>
            <a:r>
              <a:rPr lang="en-US" dirty="0"/>
              <a:t xml:space="preserve">Run the row one click at a time, and say the scaffolding out loud as it appears. Senior engineer: give them the model, you get working software. Junior engineer: maybe add some context. Purdue intern: add examples and constraints. Still a check mark each time.</a:t>
            </a:r>
          </a:p>
          <a:p>
            <a:r>
              <a:rPr lang="en-US" dirty="0"/>
              <a:t xml:space="preserve">STOP at the IU intern. Let the laugh happen, then let the question mark sit there for a beat and ask the room directly: is more scaffolding still buying us anything? Do not answer it. Then accelerate — high-school intern, ten babies, a thousand monkeys, waves hitting a rock connected to a keyboard — clicking faster as the verdicts go to crosses.</a:t>
            </a:r>
          </a:p>
          <a:p>
            <a:r>
              <a:rPr lang="en-US" dirty="0"/>
              <a:t xml:space="preserve">Do NOT explain the babies or the monkeys. The absurdity is doing the work and the slide deliberately says nothing about them. The spoken line is: we cannot get ten babies, or a thousand monkeys, or waves hitting a rock wired to a keyboard to implement our database no matter how exquisite the UML.</a:t>
            </a:r>
          </a:p>
          <a:p>
            <a:r>
              <a:rPr lang="en-US" dirty="0"/>
              <a:t xml:space="preserve">Then point at the bars. Scaffolding is rising monotonically across the whole row — every step gets MORE support than the one before it — while the verdicts fall. That opposition is the entire picture; make sure they see it as one shape rather than eight separate jokes.</a:t>
            </a:r>
          </a:p>
          <a:p>
            <a:r>
              <a:rPr lang="en-US" dirty="0"/>
              <a:t xml:space="preserve">The callback to human outsourcing: scaffolding humans arbitrarily heavily never manufactures capability they do not have. You can write more detailed requirements, hold more meetings, add more review layers, and past some point none of it helps — eventually you need a competent person. That is what the crosses mean.</a:t>
            </a:r>
          </a:p>
          <a:p>
            <a:r>
              <a:rPr lang="en-US" dirty="0"/>
              <a:t xml:space="preserve">So the first line: more scaffolding can compensate for less capability, but only up to a point. And then the claim the rest of the coda depends on: scaffolding does not create capability. Land that one and stop talking.</a:t>
            </a:r>
          </a:p>
          <a:p>
            <a:r>
              <a:rPr lang="en-US" dirty="0"/>
              <a:t xml:space="preserve">Hand off into the next slide by turning it around: every rung on that ladder was a human, and cost tracked capability all the way down. Now look at what we actually have.</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quietest slide in the deck and it is sparse on purpose. No boxes, no borders, nothing to read but the three terms. Do not fill the silence — let each one land and let the room do the arithmetic.</a:t>
            </a:r>
          </a:p>
          <a:p>
            <a:r>
              <a:rPr lang="en-US" dirty="0"/>
              <a:t xml:space="preserve">ORAL ONLY, and deliberately not on the slide: the middle term is the distilled wisdom of GitHub and the Internet. Say it; do not put it up. The on-slide wording stays the corpus line, because as a technical description of what training produces the catchier phrase is wrong, and the slide is the thing students photograph.</a:t>
            </a:r>
          </a:p>
          <a:p>
            <a:r>
              <a:rPr lang="en-US" dirty="0"/>
              <a:t xml:space="preserve">The surprise is economic, not technical. Every rung on the previous slide's ladder was a human, and for humans cost and capability track each other — that is why the continuum declined monotonically. GenAI sits far off that historical curve: a dollar of inference is priced like the bottom of the ladder and performs somewhere near the top. The curve says this point should not exist.</a:t>
            </a:r>
          </a:p>
          <a:p>
            <a:r>
              <a:rPr lang="en-US" dirty="0"/>
              <a:t xml:space="preserve">So say the next line with the room's own disbelief in it: it sure seems like this should work. Not that it does work — that it seems like it should, which is a different and more honest claim.</a:t>
            </a:r>
          </a:p>
          <a:p>
            <a:r>
              <a:rPr lang="en-US" dirty="0"/>
              <a:t xml:space="preserve">Close on the question, because it is the one the rest of the lecture answers: how little do we have to specify? Everything after this slide is an attempt to answer it, and the answer turns out not to be 'almost nothing.'</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optimistic economic story, told straight. Do not hedge it here — the reversal has its own slides and arrives soon enough. For ninety seconds let the good version of the argument stand undefended.</a:t>
            </a:r>
          </a:p>
          <a:p>
            <a:r>
              <a:rPr lang="en-US" dirty="0"/>
              <a:t xml:space="preserve">Point at the asymmetry, because the asymmetry is the argument. On the left, a small statement of what must be true: obligations and the distinctions that matter. On the right, a large working implementation full of choices nobody asked us to make. The boxes are deliberately not the same size.</a:t>
            </a:r>
          </a:p>
          <a:p>
            <a:r>
              <a:rPr lang="en-US" dirty="0"/>
              <a:t xml:space="preserve">Ground it in Section 2. The state model admitted an enum, State objects, or a transition table — all three satisfied the model, and the model did not care which one you picked. So if all three satisfy it, why pay an engineer to choose? That is a realization choice we deliberately left free, and a competent delegate can supply it.</a:t>
            </a:r>
          </a:p>
          <a:p>
            <a:r>
              <a:rPr lang="en-US" dirty="0"/>
              <a:t xml:space="preserve">The genuinely interesting consequence: this could make modeling MORE attractive, not less. You pay for a compact statement of what matters and receive a large implementation cheaply. The leverage ratio between the two boxes is the return on modeling.</a:t>
            </a:r>
          </a:p>
          <a:p>
            <a:r>
              <a:rPr lang="en-US" dirty="0"/>
              <a:t xml:space="preserve">GUARD, for the lecturer: do not introduce scaffolding on this slide, and do not pre-empt the catch. Every instinct will be to say 'but of course you have to tell it more than that.' Save it. The next slides take it apart properly, and the reversal only works if the optimism was allowed to sound reasonable first.</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CONDITIONAL, and it has to stay conditional. The scenario is: this agent keeps making unacceptable choices, SO we respond by constraining them. Nothing here says indexes, joins or transaction boundaries must always be specified — a capable delegate on a well-posed model may need none of them. The kicker and the column header both say so on the slide; say it out loud too.</a:t>
            </a:r>
          </a:p>
          <a:p>
            <a:r>
              <a:rPr lang="en-US" dirty="0"/>
              <a:t>HYPOTHETICAL, not a third correspondence case. The schema is quoted from the account case two sections back so the room recognizes it instantly, but we are not grading its correspondence now. We are asking what happens to the cost of delegation when the realization keeps coming back wrong.</a:t>
            </a:r>
          </a:p>
          <a:p>
            <a:r>
              <a:rPr lang="en-US" dirty="0"/>
              <a:t>ON ARRIVAL — the optimistic pipeline from the economics slide, instantiated: the tiny model goes to the agent, the agent returns an implementation, and the whole implementation is the agent's to choose. 'Great. Let the agent choose the realization.'</a:t>
            </a:r>
          </a:p>
          <a:p>
            <a:r>
              <a:rPr lang="en-US" dirty="0"/>
              <a:t>CLICKS 1–5 — each click is a response to a bad choice, and each one takes a bite out of what the agent still supplies. Persistence, then lookup, then the join; then three at once, because by now we are not reasoning, we are dictating; then the variable name. Do not explain the last one — let the room laugh.</a:t>
            </a:r>
          </a:p>
          <a:p>
            <a:r>
              <a:rPr lang="en-US" dirty="0"/>
              <a:t>Watch the right-hand region, not the list. It gets smaller on every single click, and by the last click the agent is supplying about a third of what it started with. That shrinking region is the argument.</a:t>
            </a:r>
          </a:p>
          <a:p>
            <a:r>
              <a:rPr lang="en-US" dirty="0"/>
              <a:t>CLICK 6 — 'Oops. We are writing the implementation again.' Let it land. This is the joke and it is also the whole point.</a:t>
            </a:r>
          </a:p>
          <a:p>
            <a:r>
              <a:rPr lang="en-US" dirty="0"/>
              <a:t>CLICK 7 — the payoff: cheap realization only helps while the scaffolding needed to obtain it remains cheap.</a:t>
            </a:r>
          </a:p>
          <a:p>
            <a:r>
              <a:rPr lang="en-US" dirty="0"/>
              <a:t>THE OUTSOURCING CALLBACK, spoken. This is the same pathology as outsourcing software development: progressively more detailed requirements, then architecture documents, then meetings, then review — until coordination and specification cost eats the labor arbitrage you were buying. GenAI moves that boundary dramatically. It does not abolish it.</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Open by reading the recall strip back. These are the three questions the room was left holding at the close of Section 2, on “Why don't we just hand off the model?” — word for word, deliberately. Do not paraphrase. The repetition is what makes the next question land as the answer to something they already care about, rather than as a fresh hypothetical.</a:t>
            </a:r>
          </a:p>
          <a:p>
            <a:r>
              <a:rPr lang="en-US" dirty="0"/>
              <a:t xml:space="preserve">Then the question, and the honest thing to do with it is to leave it open. It runs both directions. Cheaper implementation makes modeling look less attractive, because “just build it and see” gets cheap. And delegation at vastly higher implementation throughput makes mistakes, rework, communication, and the preservation of consequential intent relatively MORE important. Both are true. Do not resolve the tension — the unresolved tension is the deliverable. If a student resolves it, thank them and write it on the board unresolved beside the other direction.</a:t>
            </a:r>
          </a:p>
          <a:p>
            <a:r>
              <a:rPr lang="en-US" dirty="0"/>
              <a:t xml:space="preserve">Point at the whiteboard while they argue: the question is literally which column moves, and by how much. Some costs fall (representation effort, if the model can be generated). Some benefits rise (communication and preserved intent, at higher delegation volume). Nobody in the room, including you, knows the net.</a:t>
            </a:r>
          </a:p>
          <a:p>
            <a:r>
              <a:rPr lang="en-US" dirty="0"/>
              <a:t xml:space="preserve">Close on the final question and let it be the last thing they hear on modeling economics: when is whiteboard plus code economically rational, and when is an explicit model worth maintaining? “Worth maintaining” is the whole qualification — not “correct,” not “complete,” worth paying for.</a:t>
            </a:r>
          </a:p>
          <a:p>
            <a:r>
              <a:rPr lang="en-US" dirty="0"/>
              <a:t xml:space="preserve">The line to end on, if the room has earned it: a good model is not a small copy of the system. It preserves the distinctions worth paying to preserve.</a:t>
            </a:r>
          </a:p>
          <a:p>
            <a:r>
              <a:rPr lang="en-US" dirty="0"/>
              <a:t xml:space="preserve">Then hand off to the coda, which takes the cost argument one step further than the room expects: “We have been asking how much the model costs. Now ask the other side — can we push this further? How cheap can we make the implementer?”</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Relationships xmlns="http://schemas.openxmlformats.org/package/2006/relationships">
  <Relationship Id="rId2" Type="http://schemas.openxmlformats.org/officeDocument/2006/relationships/notesSlide" Target="../notesSlides/notesSlide49.xml"/>
  <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SYNTHESIS</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They opened every section — ask all four, every time.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much must we tell the agent?</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OuterHdr"/>
          <p:cNvSpPr txBox="1"/>
          <p:nvPr/>
        </p:nvSpPr>
        <p:spPr>
          <a:xfrm>
            <a:off x="365760" y="1260000"/>
            <a:ext cx="5334240" cy="26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EVERYTHING ABOUT THE IMPLEMENTATION</a:t>
            </a:r>
          </a:p>
        </p:txBody>
      </p:sp>
      <p:sp>
        <p:nvSpPr>
          <p:cNvPr id="101" name="OuterBox"/>
          <p:cNvSpPr txBox="1"/>
          <p:nvPr/>
        </p:nvSpPr>
        <p:spPr>
          <a:xfrm>
            <a:off x="365760" y="1560000"/>
            <a:ext cx="5334240" cy="318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02" name="ScafRegion"/>
          <p:cNvSpPr txBox="1"/>
          <p:nvPr/>
        </p:nvSpPr>
        <p:spPr>
          <a:xfrm>
            <a:off x="982880" y="1950000"/>
            <a:ext cx="4100000" cy="2180000"/>
          </a:xfrm>
          <a:prstGeom prst="rect">
            <a:avLst/>
          </a:prstGeom>
          <a:solidFill>
            <a:srgbClr val="F5F1E8"/>
          </a:solidFill>
          <a:ln w="19050">
            <a:solidFill>
              <a:srgbClr val="8E6F3E"/>
            </a:solidFill>
            <a:prstDash val="dash"/>
          </a:ln>
        </p:spPr>
        <p:txBody>
          <a:bodyPr wrap="square" lIns="91440" tIns="45720" rIns="91440" bIns="45720" anchor="ctr"/>
          <a:lstStyle/>
          <a:p>
            <a:pPr>
              <a:buNone/>
            </a:pPr>
            <a:endParaRPr lang="en-US"/>
          </a:p>
        </p:txBody>
      </p:sp>
      <p:sp>
        <p:nvSpPr>
          <p:cNvPr id="103" name="ScafL"/>
          <p:cNvSpPr txBox="1"/>
          <p:nvPr/>
        </p:nvSpPr>
        <p:spPr>
          <a:xfrm>
            <a:off x="1082880" y="2030000"/>
            <a:ext cx="3900000" cy="29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SCAFFOLDING</a:t>
            </a:r>
            <a:r>
              <a:rPr lang="en-US" sz="1200" b="0" i="0" dirty="0">
                <a:solidFill>
                  <a:srgbClr val="5C4826"/>
                </a:solidFill>
              </a:rPr>
              <a:t xml:space="preserve">  —  what this agent needs</a:t>
            </a:r>
          </a:p>
        </p:txBody>
      </p:sp>
      <p:sp>
        <p:nvSpPr>
          <p:cNvPr id="104" name="ObligCore"/>
          <p:cNvSpPr txBox="1"/>
          <p:nvPr/>
        </p:nvSpPr>
        <p:spPr>
          <a:xfrm>
            <a:off x="1732880" y="2500000"/>
            <a:ext cx="2600000" cy="1080000"/>
          </a:xfrm>
          <a:prstGeom prst="rect">
            <a:avLst/>
          </a:prstGeom>
          <a:solidFill>
            <a:srgbClr val="FBF8F2"/>
          </a:solidFill>
          <a:ln w="28575">
            <a:solidFill>
              <a:srgbClr val="8E6F3E"/>
            </a:solidFill>
          </a:ln>
        </p:spPr>
        <p:txBody>
          <a:bodyPr wrap="square" lIns="91440" tIns="45720" rIns="91440" bIns="45720" anchor="ctr"/>
          <a:lstStyle/>
          <a:p>
            <a:pPr algn="ctr">
              <a:spcAft>
                <a:spcPts val="400"/>
              </a:spcAft>
              <a:buNone/>
            </a:pPr>
            <a:r>
              <a:rPr lang="en-US" sz="1600" b="1" i="0" dirty="0">
                <a:solidFill>
                  <a:srgbClr val="5C4826"/>
                </a:solidFill>
              </a:rPr>
              <a:t xml:space="preserve">OBLIGATION</a:t>
            </a:r>
          </a:p>
          <a:p>
            <a:pPr algn="ctr">
              <a:spcAft>
                <a:spcPts val="0"/>
              </a:spcAft>
              <a:buNone/>
            </a:pPr>
            <a:r>
              <a:rPr lang="en-US" sz="1200" b="0" i="0" dirty="0">
                <a:solidFill>
                  <a:srgbClr val="555960"/>
                </a:solidFill>
              </a:rPr>
              <a:t xml:space="preserve">what must be true</a:t>
            </a:r>
          </a:p>
        </p:txBody>
      </p:sp>
      <p:sp>
        <p:nvSpPr>
          <p:cNvPr id="105" name="DofL"/>
          <p:cNvSpPr txBox="1"/>
          <p:nvPr/>
        </p:nvSpPr>
        <p:spPr>
          <a:xfrm>
            <a:off x="465760" y="4290000"/>
            <a:ext cx="5134240" cy="33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DEGREES OF FREEDOM</a:t>
            </a:r>
            <a:r>
              <a:rPr lang="en-US" sz="1200" b="0" i="0" dirty="0">
                <a:solidFill>
                  <a:srgbClr val="5C4826"/>
                </a:solidFill>
              </a:rPr>
              <a:t xml:space="preserve">  —  the rest is the agent’s</a:t>
            </a:r>
          </a:p>
        </p:txBody>
      </p:sp>
      <p:sp>
        <p:nvSpPr>
          <p:cNvPr id="110" name="LegSwatchOb"/>
          <p:cNvSpPr/>
          <p:nvPr/>
        </p:nvSpPr>
        <p:spPr>
          <a:xfrm>
            <a:off x="5943600" y="2380000"/>
            <a:ext cx="560000" cy="0"/>
          </a:xfrm>
          <a:prstGeom prst="line">
            <a:avLst/>
          </a:prstGeom>
          <a:noFill/>
          <a:ln w="28575">
            <a:solidFill>
              <a:srgbClr val="8E6F3E"/>
            </a:solidFill>
          </a:ln>
        </p:spPr>
        <p:txBody>
          <a:bodyPr wrap="square" lIns="91440" tIns="45720" rIns="91440" bIns="45720" anchor="ctr"/>
          <a:lstStyle/>
          <a:p>
            <a:pPr>
              <a:buNone/>
            </a:pPr>
            <a:endParaRPr lang="en-US"/>
          </a:p>
        </p:txBody>
      </p:sp>
      <p:sp>
        <p:nvSpPr>
          <p:cNvPr id="111" name="LegOb"/>
          <p:cNvSpPr txBox="1"/>
          <p:nvPr/>
        </p:nvSpPr>
        <p:spPr>
          <a:xfrm>
            <a:off x="6623600" y="22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 xml:space="preserve">Obligation boundary</a:t>
            </a:r>
          </a:p>
          <a:p>
            <a:pPr algn="l">
              <a:spcAft>
                <a:spcPts val="0"/>
              </a:spcAft>
              <a:buNone/>
            </a:pPr>
            <a:r>
              <a:rPr lang="en-US" sz="1100" b="0" i="1" dirty="0">
                <a:solidFill>
                  <a:srgbClr val="5C4826"/>
                </a:solidFill>
              </a:rPr>
              <a:t xml:space="preserve">fixed by the product</a:t>
            </a:r>
          </a:p>
        </p:txBody>
      </p:sp>
      <p:sp>
        <p:nvSpPr>
          <p:cNvPr id="112" name="LegSwatchSp"/>
          <p:cNvSpPr/>
          <p:nvPr/>
        </p:nvSpPr>
        <p:spPr>
          <a:xfrm>
            <a:off x="5943600" y="3280000"/>
            <a:ext cx="560000" cy="0"/>
          </a:xfrm>
          <a:prstGeom prst="line">
            <a:avLst/>
          </a:prstGeom>
          <a:noFill/>
          <a:ln w="28575">
            <a:solidFill>
              <a:srgbClr val="8E6F3E"/>
            </a:solidFill>
            <a:prstDash val="dash"/>
          </a:ln>
        </p:spPr>
        <p:txBody>
          <a:bodyPr wrap="square" lIns="91440" tIns="45720" rIns="91440" bIns="45720" anchor="ctr"/>
          <a:lstStyle/>
          <a:p>
            <a:pPr>
              <a:buNone/>
            </a:pPr>
            <a:endParaRPr lang="en-US"/>
          </a:p>
        </p:txBody>
      </p:sp>
      <p:sp>
        <p:nvSpPr>
          <p:cNvPr id="113" name="LegSp"/>
          <p:cNvSpPr txBox="1"/>
          <p:nvPr/>
        </p:nvSpPr>
        <p:spPr>
          <a:xfrm>
            <a:off x="6623600" y="31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 xml:space="preserve">Specification boundary</a:t>
            </a:r>
          </a:p>
          <a:p>
            <a:pPr algn="l">
              <a:spcAft>
                <a:spcPts val="0"/>
              </a:spcAft>
              <a:buNone/>
            </a:pPr>
            <a:r>
              <a:rPr lang="en-US" sz="1100" b="0" i="1" dirty="0">
                <a:solidFill>
                  <a:srgbClr val="5C4826"/>
                </a:solidFill>
              </a:rPr>
              <a:t xml:space="preserve">depends on the delegate</a:t>
            </a:r>
          </a:p>
        </p:txBody>
      </p:sp>
      <p:sp>
        <p:nvSpPr>
          <p:cNvPr id="120" name="Ital"/>
          <p:cNvSpPr txBox="1"/>
          <p:nvPr/>
        </p:nvSpPr>
        <p:spPr>
          <a:xfrm>
            <a:off x="365760" y="4830000"/>
            <a:ext cx="8412480" cy="30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 xml:space="preserve">Specified region = obligation + scaffolding; outside it, degrees of freedom.</a:t>
            </a:r>
          </a:p>
        </p:txBody>
      </p:sp>
      <p:sp>
        <p:nvSpPr>
          <p:cNvPr id="121" name="Punch"/>
          <p:cNvSpPr txBox="1"/>
          <p:nvPr/>
        </p:nvSpPr>
        <p:spPr>
          <a:xfrm>
            <a:off x="365760" y="5230000"/>
            <a:ext cx="8412480" cy="100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200" b="1" i="0" dirty="0">
                <a:solidFill>
                  <a:srgbClr val="8E6F3E"/>
                </a:solidFill>
              </a:rPr>
              <a:t xml:space="preserve">How wide is the gap between what the product requires and what the agent needs specified?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11"/>
                                        </p:tgtEl>
                                        <p:attrNameLst>
                                          <p:attrName>style.visibility</p:attrName>
                                        </p:attrNameLst>
                                      </p:cBhvr>
                                      <p:to>
                                        <p:strVal val="visible"/>
                                      </p:to>
                                    </p:set>
                                    <p:animEffect transition="in" filter="fade">
                                      <p:cBhvr>
                                        <p:cTn id="13" dur="500"/>
                                        <p:tgtEl>
                                          <p:spTgt spid="1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5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5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5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20"/>
                                        </p:tgtEl>
                                        <p:attrNameLst>
                                          <p:attrName>style.visibility</p:attrName>
                                        </p:attrNameLst>
                                      </p:cBhvr>
                                      <p:to>
                                        <p:strVal val="visible"/>
                                      </p:to>
                                    </p:set>
                                    <p:animEffect transition="in" filter="fade">
                                      <p:cBhvr>
                                        <p:cTn id="35" dur="500"/>
                                        <p:tgtEl>
                                          <p:spTgt spid="1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21"/>
                                        </p:tgtEl>
                                        <p:attrNameLst>
                                          <p:attrName>style.visibility</p:attrName>
                                        </p:attrNameLst>
                                      </p:cBhvr>
                                      <p:to>
                                        <p:strVal val="visible"/>
                                      </p:to>
                                    </p:set>
                                    <p:animEffect transition="in" filter="fade">
                                      <p:cBhvr>
                                        <p:cTn id="40"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CasePreview"/>
          <p:cNvSpPr/>
          <p:nvPr/>
        </p:nvSpPr>
        <p:spPr>
          <a:xfrm>
            <a:off x="1828800" y="5577840"/>
            <a:ext cx="5486400" cy="640080"/>
          </a:xfrm>
          <a:prstGeom prst="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500" b="1" i="0" dirty="0">
                <a:solidFill>
                  <a:srgbClr val="8E6F3E"/>
                </a:solidFill>
              </a:rPr>
              <a:t xml:space="preserve">✗  TOO MUCH REDUCTION</a:t>
            </a:r>
            <a:r>
              <a:rPr lang="en-US" sz="1300" b="0" i="0" dirty="0">
                <a:solidFill>
                  <a:srgbClr val="555960"/>
                </a:solidFill>
              </a:rPr>
              <a:t xml:space="preserve">   a required distinction, erased</a:t>
            </a:r>
          </a:p>
          <a:p>
            <a:pPr algn="ctr">
              <a:spcAft>
                <a:spcPts val="300"/>
              </a:spcAft>
              <a:buNone/>
            </a:pPr>
            <a:r>
              <a:rPr lang="en-US" sz="1500" b="1" i="0" dirty="0">
                <a:solidFill>
                  <a:srgbClr val="8E6F3E"/>
                </a:solidFill>
              </a:rPr>
              <a:t xml:space="preserve">✓  GOOD REDUCTION</a:t>
            </a:r>
            <a:r>
              <a:rPr lang="en-US" sz="1300" b="0" i="0" dirty="0">
                <a:solidFill>
                  <a:srgbClr val="555960"/>
                </a:solidFill>
              </a:rPr>
              <a:t xml:space="preserve">   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21" name="SchemaRule"/>
          <p:cNvSpPr/>
          <p:nvPr/>
        </p:nvSpPr>
        <p:spPr>
          <a:xfrm>
            <a:off x="1280160" y="2649220"/>
            <a:ext cx="219456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657600" y="2362200"/>
            <a:ext cx="64008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657600" y="2865120"/>
            <a:ext cx="640080" cy="0"/>
          </a:xfrm>
          <a:prstGeom prst="straightConnector1">
            <a:avLst/>
          </a:prstGeom>
          <a:ln w="28575">
            <a:solidFill>
              <a:srgbClr val="8E6F3E"/>
            </a:solidFill>
            <a:tailEnd type="triangle" w="med" len="med"/>
          </a:ln>
        </p:spPr>
      </p:cxnSp>
      <p:sp>
        <p:nvSpPr>
          <p:cNvPr id="124" name="ScalarBox"/>
          <p:cNvSpPr/>
          <p:nvPr/>
        </p:nvSpPr>
        <p:spPr>
          <a:xfrm>
            <a:off x="4389120" y="2651760"/>
            <a:ext cx="173736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credits_remaining</a:t>
            </a:r>
          </a:p>
          <a:p>
            <a:pPr algn="ctr">
              <a:spcAft>
                <a:spcPts val="0"/>
              </a:spcAft>
              <a:buNone/>
            </a:pPr>
            <a:r>
              <a:rPr lang="en-US" sz="1100" b="0" i="0" dirty="0">
                <a:solidFill>
                  <a:srgbClr val="FFFFFF"/>
                </a:solidFill>
              </a:rPr>
              <a:t>: integer</a:t>
            </a:r>
          </a:p>
        </p:txBody>
      </p:sp>
      <p:sp>
        <p:nvSpPr>
          <p:cNvPr id="125" name="ScalarCap"/>
          <p:cNvSpPr txBox="1"/>
          <p:nvPr/>
        </p:nvSpPr>
        <p:spPr>
          <a:xfrm>
            <a:off x="4389120" y="3246120"/>
            <a:ext cx="1737360" cy="182880"/>
          </a:xfrm>
          <a:prstGeom prst="rect">
            <a:avLst/>
          </a:prstGeom>
          <a:noFill/>
          <a:ln>
            <a:noFill/>
          </a:ln>
        </p:spPr>
        <p:txBody>
          <a:bodyPr wrap="square" lIns="0" tIns="0" rIns="0" bIns="0" anchor="t"/>
          <a:lstStyle/>
          <a:p>
            <a:pPr algn="ctr">
              <a:spcAft>
                <a:spcPts val="0"/>
              </a:spcAft>
              <a:buNone/>
            </a:pPr>
            <a:r>
              <a:rPr lang="en-US" sz="1100" b="0" i="1" dirty="0">
                <a:solidFill>
                  <a:srgbClr val="555960"/>
                </a:solidFill>
              </a:rPr>
              <a:t>the whole model</a:t>
            </a:r>
          </a:p>
        </p:txBody>
      </p:sp>
      <p:sp>
        <p:nvSpPr>
          <p:cNvPr id="126" name="Callout"/>
          <p:cNvSpPr/>
          <p:nvPr/>
        </p:nvSpPr>
        <p:spPr>
          <a:xfrm>
            <a:off x="6309360" y="2362200"/>
            <a:ext cx="2560320" cy="109728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100" b="1" i="0" dirty="0">
                <a:solidFill>
                  <a:srgbClr val="8E6F3E"/>
                </a:solidFill>
              </a:rPr>
              <a:t>Yes, this schema is a model.</a:t>
            </a:r>
          </a:p>
          <a:p>
            <a:pPr algn="l">
              <a:spcAft>
                <a:spcPts val="0"/>
              </a:spcAft>
              <a:buNone/>
            </a:pPr>
            <a:r>
              <a:rPr lang="en-US" sz="105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5"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40" name="SameState"/>
          <p:cNvSpPr/>
          <p:nvPr/>
        </p:nvSpPr>
        <p:spPr>
          <a:xfrm>
            <a:off x="6080760" y="3520440"/>
            <a:ext cx="640080" cy="685800"/>
          </a:xfrm>
          <a:prstGeom prst="rect">
            <a:avLst/>
          </a:prstGeom>
          <a:solidFill>
            <a:srgbClr val="5C4826"/>
          </a:solidFill>
          <a:ln>
            <a:noFill/>
          </a:ln>
        </p:spPr>
        <p:txBody>
          <a:bodyPr wrap="square" lIns="27432" tIns="22860" rIns="27432" bIns="22860" anchor="ctr"/>
          <a:lstStyle/>
          <a:p>
            <a:pPr algn="ctr">
              <a:spcAft>
                <a:spcPts val="0"/>
              </a:spcAft>
              <a:buNone/>
            </a:pPr>
            <a:r>
              <a:rPr lang="en-US" sz="2400" b="1" i="0" dirty="0">
                <a:solidFill>
                  <a:srgbClr val="FFFFFF"/>
                </a:solidFill>
              </a:rPr>
              <a:t>0</a:t>
            </a:r>
          </a:p>
          <a:p>
            <a:pPr algn="ctr">
              <a:spcAft>
                <a:spcPts val="0"/>
              </a:spcAft>
              <a:buNone/>
            </a:pPr>
            <a:r>
              <a:rPr lang="en-US" sz="2400" b="1" i="0" dirty="0">
                <a:solidFill>
                  <a:srgbClr val="FFFFFF"/>
                </a:solidFill>
              </a:rPr>
              <a:t>0</a:t>
            </a:r>
          </a:p>
        </p:txBody>
      </p:sp>
      <p:sp>
        <p:nvSpPr>
          <p:cNvPr id="141" name="SameLbl"/>
          <p:cNvSpPr txBox="1"/>
          <p:nvPr/>
        </p:nvSpPr>
        <p:spPr>
          <a:xfrm>
            <a:off x="6949440" y="3772020"/>
            <a:ext cx="1737360" cy="18288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the obligation requires to differ.</a:t>
            </a:r>
          </a:p>
        </p:txBody>
      </p:sp>
      <p:sp>
        <p:nvSpPr>
          <p:cNvPr id="15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11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10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ReleaseLbl"/>
          <p:cNvSpPr txBox="1"/>
          <p:nvPr/>
        </p:nvSpPr>
        <p:spPr>
          <a:xfrm>
            <a:off x="5943600" y="2468880"/>
            <a:ext cx="731520" cy="182880"/>
          </a:xfrm>
          <a:prstGeom prst="rect">
            <a:avLst/>
          </a:prstGeom>
          <a:noFill/>
          <a:ln>
            <a:noFill/>
          </a:ln>
        </p:spPr>
        <p:txBody>
          <a:bodyPr wrap="square" lIns="0" tIns="0" rIns="0" bIns="0" anchor="t"/>
          <a:lstStyle/>
          <a:p>
            <a:pPr algn="ctr">
              <a:spcAft>
                <a:spcPts val="0"/>
              </a:spcAft>
              <a:buNone/>
            </a:pPr>
            <a:r>
              <a:rPr lang="en-US" sz="1000" b="1" i="0" dirty="0">
                <a:solidFill>
                  <a:srgbClr val="5C4826"/>
                </a:solidFill>
              </a:rPr>
              <a:t>RELEASES</a:t>
            </a:r>
          </a:p>
        </p:txBody>
      </p:sp>
      <p:sp>
        <p:nvSpPr>
          <p:cNvPr id="127" name="ForbidMark"/>
          <p:cNvSpPr/>
          <p:nvPr/>
        </p:nvSpPr>
        <p:spPr>
          <a:xfrm>
            <a:off x="6217920" y="2628900"/>
            <a:ext cx="182880" cy="182880"/>
          </a:xfrm>
          <a:prstGeom prst="rect">
            <a:avLst/>
          </a:prstGeom>
          <a:solidFill>
            <a:srgbClr val="FFFFFF"/>
          </a:solidFill>
          <a:ln>
            <a:noFill/>
          </a:ln>
        </p:spPr>
        <p:txBody>
          <a:bodyPr wrap="square" lIns="27432" tIns="22860" rIns="27432" bIns="22860" anchor="ctr"/>
          <a:lstStyle/>
          <a:p>
            <a:pPr algn="ctr">
              <a:spcAft>
                <a:spcPts val="0"/>
              </a:spcAft>
              <a:buNone/>
            </a:pPr>
            <a:r>
              <a:rPr lang="en-US" sz="18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1100" b="0" i="1" dirty="0">
                <a:solidFill>
                  <a:srgbClr val="555960"/>
                </a:solidFill>
              </a:rPr>
              <a:t>a former owner</a:t>
            </a:r>
          </a:p>
        </p:txBody>
      </p:sp>
      <p:cxnSp>
        <p:nvCxnSpPr>
          <p:cNvPr id="130" name="RbStem"/>
          <p:cNvCxnSpPr/>
          <p:nvPr/>
        </p:nvCxnSpPr>
        <p:spPr>
          <a:xfrm>
            <a:off x="4663440" y="3063240"/>
            <a:ext cx="0" cy="182880"/>
          </a:xfrm>
          <a:prstGeom prst="straightConnector1">
            <a:avLst/>
          </a:prstGeom>
          <a:ln w="12700">
            <a:solidFill>
              <a:srgbClr val="C9B991"/>
            </a:solidFill>
            <a:prstDash val="dash"/>
          </a:ln>
        </p:spPr>
      </p:cxnSp>
      <p:cxnSp>
        <p:nvCxnSpPr>
          <p:cNvPr id="131" name="RbBus"/>
          <p:cNvCxnSpPr/>
          <p:nvPr/>
        </p:nvCxnSpPr>
        <p:spPr>
          <a:xfrm>
            <a:off x="2971800" y="3246120"/>
            <a:ext cx="4114800" cy="0"/>
          </a:xfrm>
          <a:prstGeom prst="straightConnector1">
            <a:avLst/>
          </a:prstGeom>
          <a:ln w="12700">
            <a:solidFill>
              <a:srgbClr val="C9B991"/>
            </a:solidFill>
            <a:prstDash val="dash"/>
          </a:ln>
        </p:spPr>
      </p:cxnSp>
      <p:cxnSp>
        <p:nvCxnSpPr>
          <p:cNvPr id="132" name="RbDropL"/>
          <p:cNvCxnSpPr/>
          <p:nvPr/>
        </p:nvCxnSpPr>
        <p:spPr>
          <a:xfrm>
            <a:off x="2971800" y="3246120"/>
            <a:ext cx="0" cy="9144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46120"/>
            <a:ext cx="0" cy="91440"/>
          </a:xfrm>
          <a:prstGeom prst="straightConnector1">
            <a:avLst/>
          </a:prstGeom>
          <a:ln w="12700">
            <a:solidFill>
              <a:srgbClr val="C9B991"/>
            </a:solidFill>
            <a:prstDash val="dash"/>
            <a:tailEnd type="triangle" w="med" len="med"/>
          </a:ln>
        </p:spPr>
      </p:cxnSp>
      <p:sp>
        <p:nvSpPr>
          <p:cNvPr id="134" name="RbLbl"/>
          <p:cNvSpPr txBox="1"/>
          <p:nvPr/>
        </p:nvSpPr>
        <p:spPr>
          <a:xfrm>
            <a:off x="4754880" y="3063240"/>
            <a:ext cx="118872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You do not invent a representation language every time you need a model.</a:t>
            </a:r>
          </a:p>
        </p:txBody>
      </p:sp>
      <p:pic>
        <p:nvPicPr>
          <p:cNvPr id="60" name="Shelf1" descr="Screenshot of the Microsoft Learn page 'Cloud design patterns', showing the Azure Architecture Center's catalogue of named patterns in its left navigation."/>
          <p:cNvPicPr>
            <a:picLocks noChangeAspect="1"/>
          </p:cNvPicPr>
          <p:nvPr/>
        </p:nvPicPr>
        <p:blipFill>
          <a:blip r:embed="rId3"/>
          <a:stretch>
            <a:fillRect/>
          </a:stretch>
        </p:blipFill>
        <p:spPr>
          <a:xfrm>
            <a:off x="384048" y="1572768"/>
            <a:ext cx="2337064" cy="2560320"/>
          </a:xfrm>
          <a:prstGeom prst="rect">
            <a:avLst/>
          </a:prstGeom>
          <a:ln w="12700">
            <a:solidFill>
              <a:srgbClr val="C9B991"/>
            </a:solidFill>
          </a:ln>
        </p:spPr>
      </p:pic>
      <p:pic>
        <p:nvPicPr>
          <p:cNvPr id="61" name="Shelf2" descr="Front cover of Design Patterns: Elements of Reusable Object-Oriented Software by Gamma, Helm, Johnson and Vlissides, Addison-Wesley 1994, with the M.C. Escher woodcut on the jacket."/>
          <p:cNvPicPr>
            <a:picLocks noChangeAspect="1"/>
          </p:cNvPicPr>
          <p:nvPr/>
        </p:nvPicPr>
        <p:blipFill>
          <a:blip r:embed="rId4"/>
          <a:stretch>
            <a:fillRect/>
          </a:stretch>
        </p:blipFill>
        <p:spPr>
          <a:xfrm>
            <a:off x="2904095" y="1572768"/>
            <a:ext cx="1921128" cy="2560320"/>
          </a:xfrm>
          <a:prstGeom prst="rect">
            <a:avLst/>
          </a:prstGeom>
          <a:ln w="12700">
            <a:solidFill>
              <a:srgbClr val="C9B991"/>
            </a:solidFill>
          </a:ln>
        </p:spPr>
      </p:pic>
      <p:pic>
        <p:nvPicPr>
          <p:cNvPr id="62" name="Shelf3" descr="Front cover of the Handbook of Model-Based Systems Engineering, Madni and Augustine editors-in-chief with Sievers associate editor, Springer Nature Reference 2023."/>
          <p:cNvPicPr>
            <a:picLocks noChangeAspect="1"/>
          </p:cNvPicPr>
          <p:nvPr/>
        </p:nvPicPr>
        <p:blipFill>
          <a:blip r:embed="rId5"/>
          <a:stretch>
            <a:fillRect/>
          </a:stretch>
        </p:blipFill>
        <p:spPr>
          <a:xfrm>
            <a:off x="5008205" y="1572768"/>
            <a:ext cx="1699346" cy="2560320"/>
          </a:xfrm>
          <a:prstGeom prst="rect">
            <a:avLst/>
          </a:prstGeom>
          <a:ln w="12700">
            <a:solidFill>
              <a:srgbClr val="C9B991"/>
            </a:solidFill>
          </a:ln>
        </p:spPr>
      </p:pic>
      <p:pic>
        <p:nvPicPr>
          <p:cNvPr id="63" name="Shelf4" descr="Front cover of UML Distilled, third edition, by Martin Fowler, Addison-Wesley 2003."/>
          <p:cNvPicPr>
            <a:picLocks noChangeAspect="1"/>
          </p:cNvPicPr>
          <p:nvPr/>
        </p:nvPicPr>
        <p:blipFill>
          <a:blip r:embed="rId6"/>
          <a:stretch>
            <a:fillRect/>
          </a:stretch>
        </p:blipFill>
        <p:spPr>
          <a:xfrm>
            <a:off x="6890534" y="1572768"/>
            <a:ext cx="1869418" cy="2560320"/>
          </a:xfrm>
          <a:prstGeom prst="rect">
            <a:avLst/>
          </a:prstGeom>
          <a:ln w="12700">
            <a:solidFill>
              <a:srgbClr val="C9B991"/>
            </a:solidFill>
          </a:ln>
        </p:spPr>
      </p:pic>
      <p:sp>
        <p:nvSpPr>
          <p:cNvPr id="100" name="CaptionStrip"/>
          <p:cNvSpPr/>
          <p:nvPr/>
        </p:nvSpPr>
        <p:spPr>
          <a:xfrm>
            <a:off x="274320" y="4297680"/>
            <a:ext cx="8595360" cy="420624"/>
          </a:xfrm>
          <a:prstGeom prst="roundRect">
            <a:avLst>
              <a:gd name="adj" fmla="val 8696"/>
            </a:avLst>
          </a:prstGeom>
          <a:solidFill>
            <a:srgbClr val="F5F1E8"/>
          </a:solidFill>
          <a:ln w="15875">
            <a:solidFill>
              <a:srgbClr val="C9B991"/>
            </a:solidFill>
          </a:ln>
        </p:spPr>
        <p:txBody>
          <a:bodyPr/>
          <a:lstStyle/>
          <a:p>
            <a:endParaRPr lang="en-US"/>
          </a:p>
        </p:txBody>
      </p:sp>
      <p:cxnSp>
        <p:nvCxnSpPr>
          <p:cNvPr id="110" name="CapRule1"/>
          <p:cNvCxnSpPr/>
          <p:nvPr/>
        </p:nvCxnSpPr>
        <p:spPr>
          <a:xfrm>
            <a:off x="2708453"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1" name="CapRule2"/>
          <p:cNvCxnSpPr/>
          <p:nvPr/>
        </p:nvCxnSpPr>
        <p:spPr>
          <a:xfrm>
            <a:off x="4860950"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2" name="CapRule3"/>
          <p:cNvCxnSpPr/>
          <p:nvPr/>
        </p:nvCxnSpPr>
        <p:spPr>
          <a:xfrm>
            <a:off x="6841541"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sp>
        <p:nvSpPr>
          <p:cNvPr id="120" name="Cap1"/>
          <p:cNvSpPr txBox="1"/>
          <p:nvPr/>
        </p:nvSpPr>
        <p:spPr>
          <a:xfrm>
            <a:off x="310896" y="4297680"/>
            <a:ext cx="2360981"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Patterns</a:t>
            </a:r>
          </a:p>
        </p:txBody>
      </p:sp>
      <p:sp>
        <p:nvSpPr>
          <p:cNvPr id="121" name="Cap2"/>
          <p:cNvSpPr txBox="1"/>
          <p:nvPr/>
        </p:nvSpPr>
        <p:spPr>
          <a:xfrm>
            <a:off x="2745029" y="4297680"/>
            <a:ext cx="2079346"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Design vocabulary</a:t>
            </a:r>
          </a:p>
        </p:txBody>
      </p:sp>
      <p:sp>
        <p:nvSpPr>
          <p:cNvPr id="122" name="Cap3"/>
          <p:cNvSpPr txBox="1"/>
          <p:nvPr/>
        </p:nvSpPr>
        <p:spPr>
          <a:xfrm>
            <a:off x="4897526" y="4297680"/>
            <a:ext cx="1907438"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methods</a:t>
            </a:r>
          </a:p>
        </p:txBody>
      </p:sp>
      <p:sp>
        <p:nvSpPr>
          <p:cNvPr id="123" name="Cap4"/>
          <p:cNvSpPr txBox="1"/>
          <p:nvPr/>
        </p:nvSpPr>
        <p:spPr>
          <a:xfrm>
            <a:off x="6878117" y="4297680"/>
            <a:ext cx="1954987"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notation</a:t>
            </a:r>
          </a:p>
        </p:txBody>
      </p:sp>
      <p:sp>
        <p:nvSpPr>
          <p:cNvPr id="70" name="Src"/>
          <p:cNvSpPr txBox="1"/>
          <p:nvPr/>
        </p:nvSpPr>
        <p:spPr>
          <a:xfrm>
            <a:off x="274320" y="5102352"/>
            <a:ext cx="8595360" cy="420624"/>
          </a:xfrm>
          <a:prstGeom prst="rect">
            <a:avLst/>
          </a:prstGeom>
          <a:noFill/>
          <a:ln>
            <a:noFill/>
          </a:ln>
        </p:spPr>
        <p:txBody>
          <a:bodyPr wrap="square" lIns="0" tIns="0" rIns="0" bIns="0" anchor="t"/>
          <a:lstStyle/>
          <a:p>
            <a:pPr algn="ctr">
              <a:spcAft>
                <a:spcPts val="0"/>
              </a:spcAft>
              <a:buNone/>
            </a:pPr>
            <a:r>
              <a:rPr lang="en-US" sz="1050" b="0" i="0" dirty="0">
                <a:solidFill>
                  <a:srgbClr val="555960"/>
                </a:solidFill>
              </a:rPr>
              <a:t>Covers reproduced for classroom teaching: Addison-Wesley (Design Patterns, 1994; UML Distilled 3e, 2003) · Springer Nature (2023).</a:t>
            </a:r>
          </a:p>
          <a:p>
            <a:pPr algn="ctr">
              <a:spcAft>
                <a:spcPts val="0"/>
              </a:spcAft>
              <a:buNone/>
            </a:pPr>
            <a:r>
              <a:rPr lang="en-US" sz="1050" b="0" i="0" dirty="0">
                <a:solidFill>
                  <a:srgbClr val="555960"/>
                </a:solidFill>
              </a:rPr>
              <a:t>Page capture: Microsoft Learn, learn.microsoft.com/azure/architecture/patterns, 2026-10-01. Cover art, Design Patterns: © 1994 M.C. Escher / Cordon Art.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 xml:space="preserve">p(T,M,R,H)</a:t>
            </a:r>
          </a:p>
        </p:txBody>
      </p:sp>
      <p:sp>
        <p:nvSpPr>
          <p:cNvPr id="101"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 xml:space="preserve">Probability that one attempt produces an acceptable candidate</a:t>
            </a:r>
          </a:p>
        </p:txBody>
      </p:sp>
      <p:sp>
        <p:nvSpPr>
          <p:cNvPr id="102" name="Pivot"/>
          <p:cNvSpPr txBox="1"/>
          <p:nvPr/>
        </p:nvSpPr>
        <p:spPr>
          <a:xfrm>
            <a:off x="274320" y="3566160"/>
            <a:ext cx="859536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But engineering does not maximize probability at any cost.</a:t>
            </a:r>
          </a:p>
        </p:txBody>
      </p:sp>
      <p:sp>
        <p:nvSpPr>
          <p:cNvPr id="103" name="Ask"/>
          <p:cNvSpPr txBox="1"/>
          <p:nvPr/>
        </p:nvSpPr>
        <p:spPr>
          <a:xfrm>
            <a:off x="274320" y="4663440"/>
            <a:ext cx="8595360" cy="9144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What does modeling cost? What does it buy?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3"/>
                                        </p:tgtEl>
                                        <p:attrNameLst>
                                          <p:attrName>style.visibility</p:attrName>
                                        </p:attrNameLst>
                                      </p:cBhvr>
                                      <p:to>
                                        <p:strVal val="visible"/>
                                      </p:to>
                                    </p:set>
                                    <p:animEffect transition="in" filter="fade">
                                      <p:cBhvr>
                                        <p:cTn id="12"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ScaffLbl"/>
          <p:cNvSpPr txBox="1"/>
          <p:nvPr/>
        </p:nvSpPr>
        <p:spPr>
          <a:xfrm>
            <a:off x="274320" y="880000"/>
            <a:ext cx="8595360" cy="23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MORE SCAFFOLDING →</a:t>
            </a:r>
          </a:p>
        </p:txBody>
      </p:sp>
      <p:sp>
        <p:nvSpPr>
          <p:cNvPr id="128" name="VerdBand"/>
          <p:cNvSpPr txBox="1"/>
          <p:nvPr/>
        </p:nvSpPr>
        <p:spPr>
          <a:xfrm>
            <a:off x="274320" y="3470000"/>
            <a:ext cx="8595360" cy="390000"/>
          </a:xfrm>
          <a:prstGeom prst="rect">
            <a:avLst/>
          </a:prstGeom>
          <a:solidFill>
            <a:srgbClr val="F5F1E8"/>
          </a:solidFill>
          <a:ln>
            <a:noFill/>
          </a:ln>
        </p:spPr>
        <p:txBody>
          <a:bodyPr wrap="square" lIns="0" tIns="0" rIns="0" bIns="0" anchor="ctr"/>
          <a:lstStyle/>
          <a:p>
            <a:pPr algn="ctr">
              <a:spcAft>
                <a:spcPts val="0"/>
              </a:spcAft>
              <a:buNone/>
            </a:pPr>
          </a:p>
        </p:txBody>
      </p:sp>
      <p:sp>
        <p:nvSpPr>
          <p:cNvPr id="110" name="Bar0"/>
          <p:cNvSpPr/>
          <p:nvPr/>
        </p:nvSpPr>
        <p:spPr>
          <a:xfrm>
            <a:off x="474320" y="2270000"/>
            <a:ext cx="674420" cy="110000"/>
          </a:xfrm>
          <a:prstGeom prst="rect">
            <a:avLst/>
          </a:prstGeom>
          <a:solidFill>
            <a:srgbClr val="C9B991"/>
          </a:solidFill>
          <a:ln w="9525">
            <a:solidFill>
              <a:srgbClr val="8E6F3E"/>
            </a:solidFill>
          </a:ln>
        </p:spPr>
        <p:txBody>
          <a:bodyPr/>
          <a:lstStyle/>
          <a:p/>
        </p:txBody>
      </p:sp>
      <p:sp>
        <p:nvSpPr>
          <p:cNvPr id="120" name="Name0"/>
          <p:cNvSpPr txBox="1"/>
          <p:nvPr/>
        </p:nvSpPr>
        <p:spPr>
          <a:xfrm>
            <a:off x="2743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senior</a:t>
            </a:r>
            <a:br>
              <a:rPr lang="en-US" sz="1200" b="1" i="0"/>
            </a:br>
            <a:r>
              <a:rPr lang="en-US" sz="1200" b="1" i="0" dirty="0">
                <a:solidFill>
                  <a:srgbClr val="5C4826"/>
                </a:solidFill>
              </a:rPr>
              <a:t xml:space="preserve">engineer</a:t>
            </a:r>
          </a:p>
        </p:txBody>
      </p:sp>
      <p:sp>
        <p:nvSpPr>
          <p:cNvPr id="130" name="Verd0"/>
          <p:cNvSpPr txBox="1"/>
          <p:nvPr/>
        </p:nvSpPr>
        <p:spPr>
          <a:xfrm>
            <a:off x="2743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1" name="Bar1"/>
          <p:cNvSpPr/>
          <p:nvPr/>
        </p:nvSpPr>
        <p:spPr>
          <a:xfrm>
            <a:off x="1548740" y="2115000"/>
            <a:ext cx="674420" cy="265000"/>
          </a:xfrm>
          <a:prstGeom prst="rect">
            <a:avLst/>
          </a:prstGeom>
          <a:solidFill>
            <a:srgbClr val="C9B991"/>
          </a:solidFill>
          <a:ln w="9525">
            <a:solidFill>
              <a:srgbClr val="8E6F3E"/>
            </a:solidFill>
          </a:ln>
        </p:spPr>
        <p:txBody>
          <a:bodyPr/>
          <a:lstStyle/>
          <a:p/>
        </p:txBody>
      </p:sp>
      <p:sp>
        <p:nvSpPr>
          <p:cNvPr id="121" name="Name1"/>
          <p:cNvSpPr txBox="1"/>
          <p:nvPr/>
        </p:nvSpPr>
        <p:spPr>
          <a:xfrm>
            <a:off x="13487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junior</a:t>
            </a:r>
            <a:br>
              <a:rPr lang="en-US" sz="1200" b="1" i="0"/>
            </a:br>
            <a:r>
              <a:rPr lang="en-US" sz="1200" b="1" i="0" dirty="0">
                <a:solidFill>
                  <a:srgbClr val="5C4826"/>
                </a:solidFill>
              </a:rPr>
              <a:t xml:space="preserve">engineer</a:t>
            </a:r>
          </a:p>
        </p:txBody>
      </p:sp>
      <p:sp>
        <p:nvSpPr>
          <p:cNvPr id="131" name="Verd1"/>
          <p:cNvSpPr txBox="1"/>
          <p:nvPr/>
        </p:nvSpPr>
        <p:spPr>
          <a:xfrm>
            <a:off x="13487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2" name="Bar2"/>
          <p:cNvSpPr/>
          <p:nvPr/>
        </p:nvSpPr>
        <p:spPr>
          <a:xfrm>
            <a:off x="2623160" y="1960000"/>
            <a:ext cx="674420" cy="420000"/>
          </a:xfrm>
          <a:prstGeom prst="rect">
            <a:avLst/>
          </a:prstGeom>
          <a:solidFill>
            <a:srgbClr val="C9B991"/>
          </a:solidFill>
          <a:ln w="9525">
            <a:solidFill>
              <a:srgbClr val="8E6F3E"/>
            </a:solidFill>
          </a:ln>
        </p:spPr>
        <p:txBody>
          <a:bodyPr/>
          <a:lstStyle/>
          <a:p/>
        </p:txBody>
      </p:sp>
      <p:sp>
        <p:nvSpPr>
          <p:cNvPr id="122" name="Name2"/>
          <p:cNvSpPr txBox="1"/>
          <p:nvPr/>
        </p:nvSpPr>
        <p:spPr>
          <a:xfrm>
            <a:off x="24231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Purdue</a:t>
            </a:r>
            <a:br>
              <a:rPr lang="en-US" sz="1200" b="1" i="0"/>
            </a:br>
            <a:r>
              <a:rPr lang="en-US" sz="1200" b="1" i="0" dirty="0">
                <a:solidFill>
                  <a:srgbClr val="5C4826"/>
                </a:solidFill>
              </a:rPr>
              <a:t xml:space="preserve">intern</a:t>
            </a:r>
          </a:p>
        </p:txBody>
      </p:sp>
      <p:sp>
        <p:nvSpPr>
          <p:cNvPr id="132" name="Verd2"/>
          <p:cNvSpPr txBox="1"/>
          <p:nvPr/>
        </p:nvSpPr>
        <p:spPr>
          <a:xfrm>
            <a:off x="24231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3" name="Bar3"/>
          <p:cNvSpPr/>
          <p:nvPr/>
        </p:nvSpPr>
        <p:spPr>
          <a:xfrm>
            <a:off x="3697580" y="1805000"/>
            <a:ext cx="674420" cy="575000"/>
          </a:xfrm>
          <a:prstGeom prst="rect">
            <a:avLst/>
          </a:prstGeom>
          <a:solidFill>
            <a:srgbClr val="C9B991"/>
          </a:solidFill>
          <a:ln w="9525">
            <a:solidFill>
              <a:srgbClr val="8E6F3E"/>
            </a:solidFill>
          </a:ln>
        </p:spPr>
        <p:txBody>
          <a:bodyPr/>
          <a:lstStyle/>
          <a:p/>
        </p:txBody>
      </p:sp>
      <p:sp>
        <p:nvSpPr>
          <p:cNvPr id="123" name="Name3"/>
          <p:cNvSpPr txBox="1"/>
          <p:nvPr/>
        </p:nvSpPr>
        <p:spPr>
          <a:xfrm>
            <a:off x="349758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IU</a:t>
            </a:r>
            <a:br>
              <a:rPr lang="en-US" sz="1200" b="1" i="0"/>
            </a:br>
            <a:r>
              <a:rPr lang="en-US" sz="1200" b="1" i="0" dirty="0">
                <a:solidFill>
                  <a:srgbClr val="5C4826"/>
                </a:solidFill>
              </a:rPr>
              <a:t xml:space="preserve">intern</a:t>
            </a:r>
          </a:p>
        </p:txBody>
      </p:sp>
      <p:sp>
        <p:nvSpPr>
          <p:cNvPr id="133" name="Verd3"/>
          <p:cNvSpPr txBox="1"/>
          <p:nvPr/>
        </p:nvSpPr>
        <p:spPr>
          <a:xfrm>
            <a:off x="349758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4" name="Bar4"/>
          <p:cNvSpPr/>
          <p:nvPr/>
        </p:nvSpPr>
        <p:spPr>
          <a:xfrm>
            <a:off x="4772000" y="1650000"/>
            <a:ext cx="674420" cy="730000"/>
          </a:xfrm>
          <a:prstGeom prst="rect">
            <a:avLst/>
          </a:prstGeom>
          <a:solidFill>
            <a:srgbClr val="C9B991"/>
          </a:solidFill>
          <a:ln w="9525">
            <a:solidFill>
              <a:srgbClr val="8E6F3E"/>
            </a:solidFill>
          </a:ln>
        </p:spPr>
        <p:txBody>
          <a:bodyPr/>
          <a:lstStyle/>
          <a:p/>
        </p:txBody>
      </p:sp>
      <p:sp>
        <p:nvSpPr>
          <p:cNvPr id="124" name="Name4"/>
          <p:cNvSpPr txBox="1"/>
          <p:nvPr/>
        </p:nvSpPr>
        <p:spPr>
          <a:xfrm>
            <a:off x="457200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high-school</a:t>
            </a:r>
            <a:br>
              <a:rPr lang="en-US" sz="1200" b="1" i="0"/>
            </a:br>
            <a:r>
              <a:rPr lang="en-US" sz="1200" b="1" i="0" dirty="0">
                <a:solidFill>
                  <a:srgbClr val="5C4826"/>
                </a:solidFill>
              </a:rPr>
              <a:t xml:space="preserve">intern</a:t>
            </a:r>
          </a:p>
        </p:txBody>
      </p:sp>
      <p:sp>
        <p:nvSpPr>
          <p:cNvPr id="134" name="Verd4"/>
          <p:cNvSpPr txBox="1"/>
          <p:nvPr/>
        </p:nvSpPr>
        <p:spPr>
          <a:xfrm>
            <a:off x="457200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5" name="Bar5"/>
          <p:cNvSpPr/>
          <p:nvPr/>
        </p:nvSpPr>
        <p:spPr>
          <a:xfrm>
            <a:off x="5846420" y="1495000"/>
            <a:ext cx="674420" cy="885000"/>
          </a:xfrm>
          <a:prstGeom prst="rect">
            <a:avLst/>
          </a:prstGeom>
          <a:solidFill>
            <a:srgbClr val="C9B991"/>
          </a:solidFill>
          <a:ln w="9525">
            <a:solidFill>
              <a:srgbClr val="8E6F3E"/>
            </a:solidFill>
          </a:ln>
        </p:spPr>
        <p:txBody>
          <a:bodyPr/>
          <a:lstStyle/>
          <a:p/>
        </p:txBody>
      </p:sp>
      <p:sp>
        <p:nvSpPr>
          <p:cNvPr id="125" name="Name5"/>
          <p:cNvSpPr txBox="1"/>
          <p:nvPr/>
        </p:nvSpPr>
        <p:spPr>
          <a:xfrm>
            <a:off x="56464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 babies</a:t>
            </a:r>
          </a:p>
        </p:txBody>
      </p:sp>
      <p:sp>
        <p:nvSpPr>
          <p:cNvPr id="135" name="Verd5"/>
          <p:cNvSpPr txBox="1"/>
          <p:nvPr/>
        </p:nvSpPr>
        <p:spPr>
          <a:xfrm>
            <a:off x="56464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6" name="Bar6"/>
          <p:cNvSpPr/>
          <p:nvPr/>
        </p:nvSpPr>
        <p:spPr>
          <a:xfrm>
            <a:off x="6920840" y="1340000"/>
            <a:ext cx="674420" cy="1040000"/>
          </a:xfrm>
          <a:prstGeom prst="rect">
            <a:avLst/>
          </a:prstGeom>
          <a:solidFill>
            <a:srgbClr val="C9B991"/>
          </a:solidFill>
          <a:ln w="9525">
            <a:solidFill>
              <a:srgbClr val="8E6F3E"/>
            </a:solidFill>
          </a:ln>
        </p:spPr>
        <p:txBody>
          <a:bodyPr/>
          <a:lstStyle/>
          <a:p/>
        </p:txBody>
      </p:sp>
      <p:sp>
        <p:nvSpPr>
          <p:cNvPr id="126" name="Name6"/>
          <p:cNvSpPr txBox="1"/>
          <p:nvPr/>
        </p:nvSpPr>
        <p:spPr>
          <a:xfrm>
            <a:off x="67208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1,000</a:t>
            </a:r>
            <a:br>
              <a:rPr lang="en-US" sz="1200" b="1" i="0"/>
            </a:br>
            <a:r>
              <a:rPr lang="en-US" sz="1200" b="1" i="0" dirty="0">
                <a:solidFill>
                  <a:srgbClr val="5C4826"/>
                </a:solidFill>
              </a:rPr>
              <a:t xml:space="preserve">monkeys</a:t>
            </a:r>
          </a:p>
        </p:txBody>
      </p:sp>
      <p:sp>
        <p:nvSpPr>
          <p:cNvPr id="136" name="Verd6"/>
          <p:cNvSpPr txBox="1"/>
          <p:nvPr/>
        </p:nvSpPr>
        <p:spPr>
          <a:xfrm>
            <a:off x="67208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7" name="Bar7"/>
          <p:cNvSpPr/>
          <p:nvPr/>
        </p:nvSpPr>
        <p:spPr>
          <a:xfrm>
            <a:off x="7995260" y="1185000"/>
            <a:ext cx="674420" cy="1195000"/>
          </a:xfrm>
          <a:prstGeom prst="rect">
            <a:avLst/>
          </a:prstGeom>
          <a:solidFill>
            <a:srgbClr val="C9B991"/>
          </a:solidFill>
          <a:ln w="9525">
            <a:solidFill>
              <a:srgbClr val="8E6F3E"/>
            </a:solidFill>
          </a:ln>
        </p:spPr>
        <p:txBody>
          <a:bodyPr/>
          <a:lstStyle/>
          <a:p/>
        </p:txBody>
      </p:sp>
      <p:sp>
        <p:nvSpPr>
          <p:cNvPr id="127" name="Name7"/>
          <p:cNvSpPr txBox="1"/>
          <p:nvPr/>
        </p:nvSpPr>
        <p:spPr>
          <a:xfrm>
            <a:off x="77952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waves hitting</a:t>
            </a:r>
            <a:br>
              <a:rPr lang="en-US" sz="1200" b="1" i="0"/>
            </a:br>
            <a:r>
              <a:rPr lang="en-US" sz="1200" b="1" i="0" dirty="0">
                <a:solidFill>
                  <a:srgbClr val="5C4826"/>
                </a:solidFill>
              </a:rPr>
              <a:t xml:space="preserve">a rock</a:t>
            </a:r>
            <a:br>
              <a:rPr lang="en-US" sz="1200" b="1" i="0"/>
            </a:br>
            <a:r>
              <a:rPr lang="en-US" sz="1200" b="1" i="0" dirty="0">
                <a:solidFill>
                  <a:srgbClr val="5C4826"/>
                </a:solidFill>
              </a:rPr>
              <a:t xml:space="preserve">connected to</a:t>
            </a:r>
            <a:br>
              <a:rPr lang="en-US" sz="1200" b="1" i="0"/>
            </a:br>
            <a:r>
              <a:rPr lang="en-US" sz="1200" b="1" i="0" dirty="0">
                <a:solidFill>
                  <a:srgbClr val="5C4826"/>
                </a:solidFill>
              </a:rPr>
              <a:t xml:space="preserve">a keyboard</a:t>
            </a:r>
          </a:p>
        </p:txBody>
      </p:sp>
      <p:sp>
        <p:nvSpPr>
          <p:cNvPr id="137" name="Verd7"/>
          <p:cNvSpPr txBox="1"/>
          <p:nvPr/>
        </p:nvSpPr>
        <p:spPr>
          <a:xfrm>
            <a:off x="77952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40" name="Annot0"/>
          <p:cNvSpPr txBox="1"/>
          <p:nvPr/>
        </p:nvSpPr>
        <p:spPr>
          <a:xfrm>
            <a:off x="27432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give them</a:t>
            </a:r>
            <a:br>
              <a:rPr lang="en-US" sz="1100" b="0" i="1"/>
            </a:br>
            <a:r>
              <a:rPr lang="en-US" sz="1100" b="0" i="1" dirty="0">
                <a:solidFill>
                  <a:srgbClr val="5C4826"/>
                </a:solidFill>
              </a:rPr>
              <a:t xml:space="preserve">the model</a:t>
            </a:r>
          </a:p>
        </p:txBody>
      </p:sp>
      <p:sp>
        <p:nvSpPr>
          <p:cNvPr id="141" name="Annot1"/>
          <p:cNvSpPr txBox="1"/>
          <p:nvPr/>
        </p:nvSpPr>
        <p:spPr>
          <a:xfrm>
            <a:off x="134874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maybe add</a:t>
            </a:r>
            <a:br>
              <a:rPr lang="en-US" sz="1100" b="0" i="1"/>
            </a:br>
            <a:r>
              <a:rPr lang="en-US" sz="1100" b="0" i="1" dirty="0">
                <a:solidFill>
                  <a:srgbClr val="5C4826"/>
                </a:solidFill>
              </a:rPr>
              <a:t xml:space="preserve">some context</a:t>
            </a:r>
          </a:p>
        </p:txBody>
      </p:sp>
      <p:sp>
        <p:nvSpPr>
          <p:cNvPr id="142" name="Annot2"/>
          <p:cNvSpPr txBox="1"/>
          <p:nvPr/>
        </p:nvSpPr>
        <p:spPr>
          <a:xfrm>
            <a:off x="242316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examples</a:t>
            </a:r>
            <a:br>
              <a:rPr lang="en-US" sz="1100" b="0" i="1"/>
            </a:br>
            <a:r>
              <a:rPr lang="en-US" sz="1100" b="0" i="1" dirty="0">
                <a:solidFill>
                  <a:srgbClr val="5C4826"/>
                </a:solidFill>
              </a:rPr>
              <a:t xml:space="preserve">and constraints</a:t>
            </a:r>
          </a:p>
        </p:txBody>
      </p:sp>
      <p:sp>
        <p:nvSpPr>
          <p:cNvPr id="143" name="Annot3"/>
          <p:cNvSpPr txBox="1"/>
          <p:nvPr/>
        </p:nvSpPr>
        <p:spPr>
          <a:xfrm>
            <a:off x="349758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more</a:t>
            </a:r>
            <a:br>
              <a:rPr lang="en-US" sz="1100" b="0" i="1"/>
            </a:br>
            <a:r>
              <a:rPr lang="en-US" sz="1100" b="0" i="1" dirty="0">
                <a:solidFill>
                  <a:srgbClr val="5C4826"/>
                </a:solidFill>
              </a:rPr>
              <a:t xml:space="preserve">examples and</a:t>
            </a:r>
            <a:br>
              <a:rPr lang="en-US" sz="1100" b="0" i="1"/>
            </a:br>
            <a:r>
              <a:rPr lang="en-US" sz="1100" b="0" i="1" dirty="0">
                <a:solidFill>
                  <a:srgbClr val="5C4826"/>
                </a:solidFill>
              </a:rPr>
              <a:t xml:space="preserve">constraints</a:t>
            </a:r>
          </a:p>
        </p:txBody>
      </p:sp>
      <p:sp>
        <p:nvSpPr>
          <p:cNvPr id="150" name="Line1"/>
          <p:cNvSpPr txBox="1"/>
          <p:nvPr/>
        </p:nvSpPr>
        <p:spPr>
          <a:xfrm>
            <a:off x="274320" y="4830000"/>
            <a:ext cx="8595360" cy="5600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More scaffolding can compensate for less capability — only up to a point.</a:t>
            </a:r>
          </a:p>
        </p:txBody>
      </p:sp>
      <p:sp>
        <p:nvSpPr>
          <p:cNvPr id="151" name="Line2"/>
          <p:cNvSpPr txBox="1"/>
          <p:nvPr/>
        </p:nvSpPr>
        <p:spPr>
          <a:xfrm>
            <a:off x="274320" y="5560000"/>
            <a:ext cx="8595360" cy="7000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Scaffolding does not create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par>
                                <p:cTn id="14" presetID="10" presetClass="entr" presetSubtype="0" fill="hold" nodeType="withEffect">
                                  <p:stCondLst>
                                    <p:cond delay="0"/>
                                  </p:stCondLst>
                                  <p:childTnLst>
                                    <p:set>
                                      <p:cBhvr>
                                        <p:cTn id="15" dur="1" fill="hold">
                                          <p:stCondLst>
                                            <p:cond delay="0"/>
                                          </p:stCondLst>
                                        </p:cTn>
                                        <p:tgtEl>
                                          <p:spTgt spid="140"/>
                                        </p:tgtEl>
                                        <p:attrNameLst>
                                          <p:attrName>style.visibility</p:attrName>
                                        </p:attrNameLst>
                                      </p:cBhvr>
                                      <p:to>
                                        <p:strVal val="visible"/>
                                      </p:to>
                                    </p:set>
                                    <p:animEffect transition="in" filter="fade">
                                      <p:cBhvr>
                                        <p:cTn id="16" dur="500"/>
                                        <p:tgtEl>
                                          <p:spTgt spid="14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500"/>
                                        <p:tgtEl>
                                          <p:spTgt spid="131"/>
                                        </p:tgtEl>
                                      </p:cBhvr>
                                    </p:animEffect>
                                  </p:childTnLst>
                                </p:cTn>
                              </p:par>
                              <p:par>
                                <p:cTn id="28" presetID="10" presetClass="entr" presetSubtype="0" fill="hold" nodeType="withEffect">
                                  <p:stCondLst>
                                    <p:cond delay="0"/>
                                  </p:stCondLst>
                                  <p:childTnLst>
                                    <p:set>
                                      <p:cBhvr>
                                        <p:cTn id="29" dur="1" fill="hold">
                                          <p:stCondLst>
                                            <p:cond delay="0"/>
                                          </p:stCondLst>
                                        </p:cTn>
                                        <p:tgtEl>
                                          <p:spTgt spid="141"/>
                                        </p:tgtEl>
                                        <p:attrNameLst>
                                          <p:attrName>style.visibility</p:attrName>
                                        </p:attrNameLst>
                                      </p:cBhvr>
                                      <p:to>
                                        <p:strVal val="visible"/>
                                      </p:to>
                                    </p:set>
                                    <p:animEffect transition="in" filter="fade">
                                      <p:cBhvr>
                                        <p:cTn id="30" dur="500"/>
                                        <p:tgtEl>
                                          <p:spTgt spid="14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2"/>
                                        </p:tgtEl>
                                        <p:attrNameLst>
                                          <p:attrName>style.visibility</p:attrName>
                                        </p:attrNameLst>
                                      </p:cBhvr>
                                      <p:to>
                                        <p:strVal val="visible"/>
                                      </p:to>
                                    </p:set>
                                    <p:animEffect transition="in" filter="fade">
                                      <p:cBhvr>
                                        <p:cTn id="35" dur="500"/>
                                        <p:tgtEl>
                                          <p:spTgt spid="112"/>
                                        </p:tgtEl>
                                      </p:cBhvr>
                                    </p:animEffect>
                                  </p:childTnLst>
                                </p:cTn>
                              </p:par>
                              <p:par>
                                <p:cTn id="36" presetID="10" presetClass="entr" presetSubtype="0" fill="hold" nodeType="with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32"/>
                                        </p:tgtEl>
                                        <p:attrNameLst>
                                          <p:attrName>style.visibility</p:attrName>
                                        </p:attrNameLst>
                                      </p:cBhvr>
                                      <p:to>
                                        <p:strVal val="visible"/>
                                      </p:to>
                                    </p:set>
                                    <p:animEffect transition="in" filter="fade">
                                      <p:cBhvr>
                                        <p:cTn id="41" dur="500"/>
                                        <p:tgtEl>
                                          <p:spTgt spid="132"/>
                                        </p:tgtEl>
                                      </p:cBhvr>
                                    </p:animEffect>
                                  </p:childTnLst>
                                </p:cTn>
                              </p:par>
                              <p:par>
                                <p:cTn id="42" presetID="10" presetClass="entr" presetSubtype="0" fill="hold" nodeType="withEffect">
                                  <p:stCondLst>
                                    <p:cond delay="0"/>
                                  </p:stCondLst>
                                  <p:childTnLst>
                                    <p:set>
                                      <p:cBhvr>
                                        <p:cTn id="43" dur="1" fill="hold">
                                          <p:stCondLst>
                                            <p:cond delay="0"/>
                                          </p:stCondLst>
                                        </p:cTn>
                                        <p:tgtEl>
                                          <p:spTgt spid="142"/>
                                        </p:tgtEl>
                                        <p:attrNameLst>
                                          <p:attrName>style.visibility</p:attrName>
                                        </p:attrNameLst>
                                      </p:cBhvr>
                                      <p:to>
                                        <p:strVal val="visible"/>
                                      </p:to>
                                    </p:set>
                                    <p:animEffect transition="in" filter="fade">
                                      <p:cBhvr>
                                        <p:cTn id="44" dur="500"/>
                                        <p:tgtEl>
                                          <p:spTgt spid="14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3"/>
                                        </p:tgtEl>
                                        <p:attrNameLst>
                                          <p:attrName>style.visibility</p:attrName>
                                        </p:attrNameLst>
                                      </p:cBhvr>
                                      <p:to>
                                        <p:strVal val="visible"/>
                                      </p:to>
                                    </p:set>
                                    <p:animEffect transition="in" filter="fade">
                                      <p:cBhvr>
                                        <p:cTn id="49" dur="500"/>
                                        <p:tgtEl>
                                          <p:spTgt spid="113"/>
                                        </p:tgtEl>
                                      </p:cBhvr>
                                    </p:animEffect>
                                  </p:childTnLst>
                                </p:cTn>
                              </p:par>
                              <p:par>
                                <p:cTn id="50" presetID="10" presetClass="entr" presetSubtype="0" fill="hold" nodeType="withEffect">
                                  <p:stCondLst>
                                    <p:cond delay="0"/>
                                  </p:stCondLst>
                                  <p:childTnLst>
                                    <p:set>
                                      <p:cBhvr>
                                        <p:cTn id="51" dur="1" fill="hold">
                                          <p:stCondLst>
                                            <p:cond delay="0"/>
                                          </p:stCondLst>
                                        </p:cTn>
                                        <p:tgtEl>
                                          <p:spTgt spid="123"/>
                                        </p:tgtEl>
                                        <p:attrNameLst>
                                          <p:attrName>style.visibility</p:attrName>
                                        </p:attrNameLst>
                                      </p:cBhvr>
                                      <p:to>
                                        <p:strVal val="visible"/>
                                      </p:to>
                                    </p:set>
                                    <p:animEffect transition="in" filter="fade">
                                      <p:cBhvr>
                                        <p:cTn id="52" dur="500"/>
                                        <p:tgtEl>
                                          <p:spTgt spid="123"/>
                                        </p:tgtEl>
                                      </p:cBhvr>
                                    </p:animEffect>
                                  </p:childTnLst>
                                </p:cTn>
                              </p:par>
                              <p:par>
                                <p:cTn id="53" presetID="10" presetClass="entr" presetSubtype="0" fill="hold" nodeType="withEffect">
                                  <p:stCondLst>
                                    <p:cond delay="0"/>
                                  </p:stCondLst>
                                  <p:childTnLst>
                                    <p:set>
                                      <p:cBhvr>
                                        <p:cTn id="54" dur="1" fill="hold">
                                          <p:stCondLst>
                                            <p:cond delay="0"/>
                                          </p:stCondLst>
                                        </p:cTn>
                                        <p:tgtEl>
                                          <p:spTgt spid="133"/>
                                        </p:tgtEl>
                                        <p:attrNameLst>
                                          <p:attrName>style.visibility</p:attrName>
                                        </p:attrNameLst>
                                      </p:cBhvr>
                                      <p:to>
                                        <p:strVal val="visible"/>
                                      </p:to>
                                    </p:set>
                                    <p:animEffect transition="in" filter="fade">
                                      <p:cBhvr>
                                        <p:cTn id="55" dur="500"/>
                                        <p:tgtEl>
                                          <p:spTgt spid="133"/>
                                        </p:tgtEl>
                                      </p:cBhvr>
                                    </p:animEffect>
                                  </p:childTnLst>
                                </p:cTn>
                              </p:par>
                              <p:par>
                                <p:cTn id="56" presetID="10" presetClass="entr" presetSubtype="0" fill="hold" nodeType="withEffect">
                                  <p:stCondLst>
                                    <p:cond delay="0"/>
                                  </p:stCondLst>
                                  <p:childTnLst>
                                    <p:set>
                                      <p:cBhvr>
                                        <p:cTn id="57" dur="1" fill="hold">
                                          <p:stCondLst>
                                            <p:cond delay="0"/>
                                          </p:stCondLst>
                                        </p:cTn>
                                        <p:tgtEl>
                                          <p:spTgt spid="143"/>
                                        </p:tgtEl>
                                        <p:attrNameLst>
                                          <p:attrName>style.visibility</p:attrName>
                                        </p:attrNameLst>
                                      </p:cBhvr>
                                      <p:to>
                                        <p:strVal val="visible"/>
                                      </p:to>
                                    </p:set>
                                    <p:animEffect transition="in" filter="fade">
                                      <p:cBhvr>
                                        <p:cTn id="58" dur="500"/>
                                        <p:tgtEl>
                                          <p:spTgt spid="14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5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24"/>
                                        </p:tgtEl>
                                        <p:attrNameLst>
                                          <p:attrName>style.visibility</p:attrName>
                                        </p:attrNameLst>
                                      </p:cBhvr>
                                      <p:to>
                                        <p:strVal val="visible"/>
                                      </p:to>
                                    </p:set>
                                    <p:animEffect transition="in" filter="fade">
                                      <p:cBhvr>
                                        <p:cTn id="66" dur="500"/>
                                        <p:tgtEl>
                                          <p:spTgt spid="124"/>
                                        </p:tgtEl>
                                      </p:cBhvr>
                                    </p:animEffect>
                                  </p:childTnLst>
                                </p:cTn>
                              </p:par>
                              <p:par>
                                <p:cTn id="67" presetID="10" presetClass="entr" presetSubtype="0" fill="hold" nodeType="withEffect">
                                  <p:stCondLst>
                                    <p:cond delay="0"/>
                                  </p:stCondLst>
                                  <p:childTnLst>
                                    <p:set>
                                      <p:cBhvr>
                                        <p:cTn id="68" dur="1" fill="hold">
                                          <p:stCondLst>
                                            <p:cond delay="0"/>
                                          </p:stCondLst>
                                        </p:cTn>
                                        <p:tgtEl>
                                          <p:spTgt spid="134"/>
                                        </p:tgtEl>
                                        <p:attrNameLst>
                                          <p:attrName>style.visibility</p:attrName>
                                        </p:attrNameLst>
                                      </p:cBhvr>
                                      <p:to>
                                        <p:strVal val="visible"/>
                                      </p:to>
                                    </p:set>
                                    <p:animEffect transition="in" filter="fade">
                                      <p:cBhvr>
                                        <p:cTn id="69" dur="500"/>
                                        <p:tgtEl>
                                          <p:spTgt spid="13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15"/>
                                        </p:tgtEl>
                                        <p:attrNameLst>
                                          <p:attrName>style.visibility</p:attrName>
                                        </p:attrNameLst>
                                      </p:cBhvr>
                                      <p:to>
                                        <p:strVal val="visible"/>
                                      </p:to>
                                    </p:set>
                                    <p:animEffect transition="in" filter="fade">
                                      <p:cBhvr>
                                        <p:cTn id="74" dur="500"/>
                                        <p:tgtEl>
                                          <p:spTgt spid="115"/>
                                        </p:tgtEl>
                                      </p:cBhvr>
                                    </p:animEffect>
                                  </p:childTnLst>
                                </p:cTn>
                              </p:par>
                              <p:par>
                                <p:cTn id="75" presetID="10" presetClass="entr" presetSubtype="0" fill="hold" nodeType="withEffect">
                                  <p:stCondLst>
                                    <p:cond delay="0"/>
                                  </p:stCondLst>
                                  <p:childTnLst>
                                    <p:set>
                                      <p:cBhvr>
                                        <p:cTn id="76" dur="1" fill="hold">
                                          <p:stCondLst>
                                            <p:cond delay="0"/>
                                          </p:stCondLst>
                                        </p:cTn>
                                        <p:tgtEl>
                                          <p:spTgt spid="125"/>
                                        </p:tgtEl>
                                        <p:attrNameLst>
                                          <p:attrName>style.visibility</p:attrName>
                                        </p:attrNameLst>
                                      </p:cBhvr>
                                      <p:to>
                                        <p:strVal val="visible"/>
                                      </p:to>
                                    </p:set>
                                    <p:animEffect transition="in" filter="fade">
                                      <p:cBhvr>
                                        <p:cTn id="77" dur="500"/>
                                        <p:tgtEl>
                                          <p:spTgt spid="125"/>
                                        </p:tgtEl>
                                      </p:cBhvr>
                                    </p:animEffect>
                                  </p:childTnLst>
                                </p:cTn>
                              </p:par>
                              <p:par>
                                <p:cTn id="78" presetID="10" presetClass="entr" presetSubtype="0" fill="hold" nodeType="withEffect">
                                  <p:stCondLst>
                                    <p:cond delay="0"/>
                                  </p:stCondLst>
                                  <p:childTnLst>
                                    <p:set>
                                      <p:cBhvr>
                                        <p:cTn id="79" dur="1" fill="hold">
                                          <p:stCondLst>
                                            <p:cond delay="0"/>
                                          </p:stCondLst>
                                        </p:cTn>
                                        <p:tgtEl>
                                          <p:spTgt spid="135"/>
                                        </p:tgtEl>
                                        <p:attrNameLst>
                                          <p:attrName>style.visibility</p:attrName>
                                        </p:attrNameLst>
                                      </p:cBhvr>
                                      <p:to>
                                        <p:strVal val="visible"/>
                                      </p:to>
                                    </p:set>
                                    <p:animEffect transition="in" filter="fade">
                                      <p:cBhvr>
                                        <p:cTn id="80" dur="500"/>
                                        <p:tgtEl>
                                          <p:spTgt spid="135"/>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116"/>
                                        </p:tgtEl>
                                        <p:attrNameLst>
                                          <p:attrName>style.visibility</p:attrName>
                                        </p:attrNameLst>
                                      </p:cBhvr>
                                      <p:to>
                                        <p:strVal val="visible"/>
                                      </p:to>
                                    </p:set>
                                    <p:animEffect transition="in" filter="fade">
                                      <p:cBhvr>
                                        <p:cTn id="85" dur="500"/>
                                        <p:tgtEl>
                                          <p:spTgt spid="116"/>
                                        </p:tgtEl>
                                      </p:cBhvr>
                                    </p:animEffect>
                                  </p:childTnLst>
                                </p:cTn>
                              </p:par>
                              <p:par>
                                <p:cTn id="86" presetID="10" presetClass="entr" presetSubtype="0" fill="hold" nodeType="withEffect">
                                  <p:stCondLst>
                                    <p:cond delay="0"/>
                                  </p:stCondLst>
                                  <p:childTnLst>
                                    <p:set>
                                      <p:cBhvr>
                                        <p:cTn id="87" dur="1" fill="hold">
                                          <p:stCondLst>
                                            <p:cond delay="0"/>
                                          </p:stCondLst>
                                        </p:cTn>
                                        <p:tgtEl>
                                          <p:spTgt spid="126"/>
                                        </p:tgtEl>
                                        <p:attrNameLst>
                                          <p:attrName>style.visibility</p:attrName>
                                        </p:attrNameLst>
                                      </p:cBhvr>
                                      <p:to>
                                        <p:strVal val="visible"/>
                                      </p:to>
                                    </p:set>
                                    <p:animEffect transition="in" filter="fade">
                                      <p:cBhvr>
                                        <p:cTn id="88" dur="500"/>
                                        <p:tgtEl>
                                          <p:spTgt spid="126"/>
                                        </p:tgtEl>
                                      </p:cBhvr>
                                    </p:animEffect>
                                  </p:childTnLst>
                                </p:cTn>
                              </p:par>
                              <p:par>
                                <p:cTn id="89" presetID="10" presetClass="entr" presetSubtype="0" fill="hold" nodeType="withEffect">
                                  <p:stCondLst>
                                    <p:cond delay="0"/>
                                  </p:stCondLst>
                                  <p:childTnLst>
                                    <p:set>
                                      <p:cBhvr>
                                        <p:cTn id="90" dur="1" fill="hold">
                                          <p:stCondLst>
                                            <p:cond delay="0"/>
                                          </p:stCondLst>
                                        </p:cTn>
                                        <p:tgtEl>
                                          <p:spTgt spid="136"/>
                                        </p:tgtEl>
                                        <p:attrNameLst>
                                          <p:attrName>style.visibility</p:attrName>
                                        </p:attrNameLst>
                                      </p:cBhvr>
                                      <p:to>
                                        <p:strVal val="visible"/>
                                      </p:to>
                                    </p:set>
                                    <p:animEffect transition="in" filter="fade">
                                      <p:cBhvr>
                                        <p:cTn id="91" dur="500"/>
                                        <p:tgtEl>
                                          <p:spTgt spid="136"/>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117"/>
                                        </p:tgtEl>
                                        <p:attrNameLst>
                                          <p:attrName>style.visibility</p:attrName>
                                        </p:attrNameLst>
                                      </p:cBhvr>
                                      <p:to>
                                        <p:strVal val="visible"/>
                                      </p:to>
                                    </p:set>
                                    <p:animEffect transition="in" filter="fade">
                                      <p:cBhvr>
                                        <p:cTn id="96" dur="500"/>
                                        <p:tgtEl>
                                          <p:spTgt spid="117"/>
                                        </p:tgtEl>
                                      </p:cBhvr>
                                    </p:animEffect>
                                  </p:childTnLst>
                                </p:cTn>
                              </p:par>
                              <p:par>
                                <p:cTn id="97" presetID="10" presetClass="entr" presetSubtype="0" fill="hold" nodeType="withEffect">
                                  <p:stCondLst>
                                    <p:cond delay="0"/>
                                  </p:stCondLst>
                                  <p:childTnLst>
                                    <p:set>
                                      <p:cBhvr>
                                        <p:cTn id="98" dur="1" fill="hold">
                                          <p:stCondLst>
                                            <p:cond delay="0"/>
                                          </p:stCondLst>
                                        </p:cTn>
                                        <p:tgtEl>
                                          <p:spTgt spid="127"/>
                                        </p:tgtEl>
                                        <p:attrNameLst>
                                          <p:attrName>style.visibility</p:attrName>
                                        </p:attrNameLst>
                                      </p:cBhvr>
                                      <p:to>
                                        <p:strVal val="visible"/>
                                      </p:to>
                                    </p:set>
                                    <p:animEffect transition="in" filter="fade">
                                      <p:cBhvr>
                                        <p:cTn id="99" dur="500"/>
                                        <p:tgtEl>
                                          <p:spTgt spid="127"/>
                                        </p:tgtEl>
                                      </p:cBhvr>
                                    </p:animEffect>
                                  </p:childTnLst>
                                </p:cTn>
                              </p:par>
                              <p:par>
                                <p:cTn id="100" presetID="10" presetClass="entr" presetSubtype="0" fill="hold" nodeType="withEffect">
                                  <p:stCondLst>
                                    <p:cond delay="0"/>
                                  </p:stCondLst>
                                  <p:childTnLst>
                                    <p:set>
                                      <p:cBhvr>
                                        <p:cTn id="101" dur="1" fill="hold">
                                          <p:stCondLst>
                                            <p:cond delay="0"/>
                                          </p:stCondLst>
                                        </p:cTn>
                                        <p:tgtEl>
                                          <p:spTgt spid="137"/>
                                        </p:tgtEl>
                                        <p:attrNameLst>
                                          <p:attrName>style.visibility</p:attrName>
                                        </p:attrNameLst>
                                      </p:cBhvr>
                                      <p:to>
                                        <p:strVal val="visible"/>
                                      </p:to>
                                    </p:set>
                                    <p:animEffect transition="in" filter="fade">
                                      <p:cBhvr>
                                        <p:cTn id="102" dur="500"/>
                                        <p:tgtEl>
                                          <p:spTgt spid="137"/>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150"/>
                                        </p:tgtEl>
                                        <p:attrNameLst>
                                          <p:attrName>style.visibility</p:attrName>
                                        </p:attrNameLst>
                                      </p:cBhvr>
                                      <p:to>
                                        <p:strVal val="visible"/>
                                      </p:to>
                                    </p:set>
                                    <p:animEffect transition="in" filter="fade">
                                      <p:cBhvr>
                                        <p:cTn id="107" dur="500"/>
                                        <p:tgtEl>
                                          <p:spTgt spid="150"/>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151"/>
                                        </p:tgtEl>
                                        <p:attrNameLst>
                                          <p:attrName>style.visibility</p:attrName>
                                        </p:attrNameLst>
                                      </p:cBhvr>
                                      <p:to>
                                        <p:strVal val="visible"/>
                                      </p:to>
                                    </p:set>
                                    <p:animEffect transition="in" filter="fade">
                                      <p:cBhvr>
                                        <p:cTn id="112" dur="500"/>
                                        <p:tgtEl>
                                          <p:spTgt spid="1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Tier1"/>
          <p:cNvSpPr txBox="1"/>
          <p:nvPr/>
        </p:nvSpPr>
        <p:spPr>
          <a:xfrm>
            <a:off x="274320" y="123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$0.01–$1 of inference</a:t>
            </a:r>
          </a:p>
        </p:txBody>
      </p:sp>
      <p:sp>
        <p:nvSpPr>
          <p:cNvPr id="101" name="Arrow1"/>
          <p:cNvSpPr/>
          <p:nvPr/>
        </p:nvSpPr>
        <p:spPr>
          <a:xfrm>
            <a:off x="4452000" y="1880000"/>
            <a:ext cx="240000" cy="400000"/>
          </a:xfrm>
          <a:prstGeom prst="downArrow">
            <a:avLst/>
          </a:prstGeom>
          <a:solidFill>
            <a:srgbClr val="8E6F3E"/>
          </a:solidFill>
          <a:ln>
            <a:noFill/>
          </a:ln>
        </p:spPr>
        <p:txBody>
          <a:bodyPr/>
          <a:lstStyle/>
          <a:p/>
        </p:txBody>
      </p:sp>
      <p:sp>
        <p:nvSpPr>
          <p:cNvPr id="102" name="Tier2"/>
          <p:cNvSpPr txBox="1"/>
          <p:nvPr/>
        </p:nvSpPr>
        <p:spPr>
          <a:xfrm>
            <a:off x="1143000" y="2340000"/>
            <a:ext cx="6858000" cy="900000"/>
          </a:xfrm>
          <a:prstGeom prst="rect">
            <a:avLst/>
          </a:prstGeom>
          <a:noFill/>
          <a:ln>
            <a:noFill/>
          </a:ln>
        </p:spPr>
        <p:txBody>
          <a:bodyPr wrap="square" lIns="0" tIns="0" rIns="0" bIns="0" anchor="ctr"/>
          <a:lstStyle/>
          <a:p>
            <a:pPr algn="ctr">
              <a:spcAft>
                <a:spcPts val="0"/>
              </a:spcAft>
              <a:buNone/>
            </a:pPr>
            <a:r>
              <a:rPr lang="en-US" sz="2400" b="0" i="0" dirty="0">
                <a:solidFill>
                  <a:srgbClr val="5C4826"/>
                </a:solidFill>
              </a:rPr>
              <a:t xml:space="preserve">a foundation model trained on an enormous corpus of human-produced code and technical knowledge</a:t>
            </a:r>
          </a:p>
        </p:txBody>
      </p:sp>
      <p:sp>
        <p:nvSpPr>
          <p:cNvPr id="103" name="Arrow2"/>
          <p:cNvSpPr/>
          <p:nvPr/>
        </p:nvSpPr>
        <p:spPr>
          <a:xfrm>
            <a:off x="4452000" y="3300000"/>
            <a:ext cx="240000" cy="400000"/>
          </a:xfrm>
          <a:prstGeom prst="downArrow">
            <a:avLst/>
          </a:prstGeom>
          <a:solidFill>
            <a:srgbClr val="8E6F3E"/>
          </a:solidFill>
          <a:ln>
            <a:noFill/>
          </a:ln>
        </p:spPr>
        <p:txBody>
          <a:bodyPr/>
          <a:lstStyle/>
          <a:p/>
        </p:txBody>
      </p:sp>
      <p:sp>
        <p:nvSpPr>
          <p:cNvPr id="104" name="Tier3"/>
          <p:cNvSpPr txBox="1"/>
          <p:nvPr/>
        </p:nvSpPr>
        <p:spPr>
          <a:xfrm>
            <a:off x="274320" y="375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working implementation?</a:t>
            </a:r>
          </a:p>
        </p:txBody>
      </p:sp>
      <p:sp>
        <p:nvSpPr>
          <p:cNvPr id="105" name="Seems"/>
          <p:cNvSpPr txBox="1"/>
          <p:nvPr/>
        </p:nvSpPr>
        <p:spPr>
          <a:xfrm>
            <a:off x="274320" y="4880000"/>
            <a:ext cx="8595360" cy="430000"/>
          </a:xfrm>
          <a:prstGeom prst="rect">
            <a:avLst/>
          </a:prstGeom>
          <a:noFill/>
          <a:ln>
            <a:noFill/>
          </a:ln>
        </p:spPr>
        <p:txBody>
          <a:bodyPr wrap="square" lIns="0" tIns="0" rIns="0" bIns="0" anchor="ctr"/>
          <a:lstStyle/>
          <a:p>
            <a:pPr algn="ctr">
              <a:spcAft>
                <a:spcPts val="0"/>
              </a:spcAft>
              <a:buNone/>
            </a:pPr>
            <a:r>
              <a:rPr lang="en-US" sz="2400" b="0" i="1" dirty="0">
                <a:solidFill>
                  <a:srgbClr val="5C4826"/>
                </a:solidFill>
              </a:rPr>
              <a:t xml:space="preserve">It sure seems like this should work.</a:t>
            </a:r>
          </a:p>
        </p:txBody>
      </p:sp>
      <p:sp>
        <p:nvSpPr>
          <p:cNvPr id="106" name="Ask"/>
          <p:cNvSpPr txBox="1"/>
          <p:nvPr/>
        </p:nvSpPr>
        <p:spPr>
          <a:xfrm>
            <a:off x="274320" y="5570000"/>
            <a:ext cx="8595360" cy="650000"/>
          </a:xfrm>
          <a:prstGeom prst="rect">
            <a:avLst/>
          </a:prstGeom>
          <a:noFill/>
          <a:ln>
            <a:noFill/>
          </a:ln>
        </p:spPr>
        <p:txBody>
          <a:bodyPr wrap="square" lIns="0" tIns="0" rIns="0" bIns="0" anchor="ctr"/>
          <a:lstStyle/>
          <a:p>
            <a:pPr algn="ctr">
              <a:spcAft>
                <a:spcPts val="0"/>
              </a:spcAft>
              <a:buNone/>
            </a:pPr>
            <a:r>
              <a:rPr lang="en-US" sz="3600" b="1" i="0" dirty="0">
                <a:solidFill>
                  <a:srgbClr val="8E6F3E"/>
                </a:solidFill>
              </a:rPr>
              <a:t xml:space="preserve">How little do we have to specify?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5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500"/>
                                        <p:tgtEl>
                                          <p:spTgt spid="10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5"/>
                                        </p:tgtEl>
                                        <p:attrNameLst>
                                          <p:attrName>style.visibility</p:attrName>
                                        </p:attrNameLst>
                                      </p:cBhvr>
                                      <p:to>
                                        <p:strVal val="visible"/>
                                      </p:to>
                                    </p:set>
                                    <p:animEffect transition="in" filter="fade">
                                      <p:cBhvr>
                                        <p:cTn id="23" dur="500"/>
                                        <p:tgtEl>
                                          <p:spTgt spid="1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HdrLeft"/>
          <p:cNvSpPr txBox="1"/>
          <p:nvPr/>
        </p:nvSpPr>
        <p:spPr>
          <a:xfrm>
            <a:off x="274320" y="1965000"/>
            <a:ext cx="230000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WHAT MUST BE TRUE</a:t>
            </a:r>
          </a:p>
        </p:txBody>
      </p:sp>
      <p:sp>
        <p:nvSpPr>
          <p:cNvPr id="101" name="BoxLeft"/>
          <p:cNvSpPr txBox="1"/>
          <p:nvPr/>
        </p:nvSpPr>
        <p:spPr>
          <a:xfrm>
            <a:off x="274320" y="2285000"/>
            <a:ext cx="2300000" cy="1150000"/>
          </a:xfrm>
          <a:prstGeom prst="rect">
            <a:avLst/>
          </a:prstGeom>
          <a:solidFill>
            <a:srgbClr val="FBF8F2"/>
          </a:solidFill>
          <a:ln w="19050">
            <a:solidFill>
              <a:srgbClr val="8E6F3E"/>
            </a:solidFill>
          </a:ln>
        </p:spPr>
        <p:txBody>
          <a:bodyPr wrap="square" lIns="91440" tIns="45720" rIns="91440" bIns="45720" anchor="ctr"/>
          <a:lstStyle/>
          <a:p>
            <a:pPr algn="ctr">
              <a:spcAft>
                <a:spcPts val="600"/>
              </a:spcAft>
              <a:buNone/>
            </a:pPr>
            <a:r>
              <a:rPr lang="en-US" sz="1600" b="1" i="0" dirty="0">
                <a:solidFill>
                  <a:srgbClr val="5C4826"/>
                </a:solidFill>
              </a:rPr>
              <a:t xml:space="preserve">PRODUCT MODEL</a:t>
            </a:r>
          </a:p>
          <a:p>
            <a:pPr algn="ctr">
              <a:spcAft>
                <a:spcPts val="0"/>
              </a:spcAft>
              <a:buNone/>
            </a:pPr>
            <a:r>
              <a:rPr lang="en-US" sz="1300" b="0" i="0" dirty="0">
                <a:solidFill>
                  <a:srgbClr val="555960"/>
                </a:solidFill>
              </a:rPr>
              <a:t xml:space="preserve">obligations</a:t>
            </a:r>
          </a:p>
          <a:p>
            <a:pPr algn="ctr">
              <a:spcAft>
                <a:spcPts val="0"/>
              </a:spcAft>
              <a:buNone/>
            </a:pPr>
            <a:r>
              <a:rPr lang="en-US" sz="1300" b="0" i="0" dirty="0">
                <a:solidFill>
                  <a:srgbClr val="555960"/>
                </a:solidFill>
              </a:rPr>
              <a:t xml:space="preserve">key distinctions</a:t>
            </a:r>
          </a:p>
        </p:txBody>
      </p:sp>
      <p:sp>
        <p:nvSpPr>
          <p:cNvPr id="102" name="HdrRight"/>
          <p:cNvSpPr txBox="1"/>
          <p:nvPr/>
        </p:nvSpPr>
        <p:spPr>
          <a:xfrm>
            <a:off x="4400000" y="1300000"/>
            <a:ext cx="446968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IMPLEMENTATION</a:t>
            </a:r>
          </a:p>
        </p:txBody>
      </p:sp>
      <p:sp>
        <p:nvSpPr>
          <p:cNvPr id="103" name="BoxRight"/>
          <p:cNvSpPr txBox="1"/>
          <p:nvPr/>
        </p:nvSpPr>
        <p:spPr>
          <a:xfrm>
            <a:off x="4400000" y="1620000"/>
            <a:ext cx="4469680" cy="2480000"/>
          </a:xfrm>
          <a:prstGeom prst="rect">
            <a:avLst/>
          </a:prstGeom>
          <a:solidFill>
            <a:srgbClr val="F5F1E8"/>
          </a:solidFill>
          <a:ln w="12700">
            <a:solidFill>
              <a:srgbClr val="C9B991"/>
            </a:solidFill>
          </a:ln>
        </p:spPr>
        <p:txBody>
          <a:bodyPr wrap="square" lIns="91440" tIns="45720" rIns="91440" bIns="45720" anchor="ctr"/>
          <a:lstStyle/>
          <a:p>
            <a:pPr algn="ctr">
              <a:spcAft>
                <a:spcPts val="800"/>
              </a:spcAft>
              <a:buNone/>
            </a:pPr>
            <a:r>
              <a:rPr lang="en-US" sz="2000" b="1" i="0" dirty="0">
                <a:solidFill>
                  <a:srgbClr val="5C4826"/>
                </a:solidFill>
              </a:rPr>
              <a:t xml:space="preserve">WORKING SOFTWARE</a:t>
            </a:r>
          </a:p>
          <a:p>
            <a:pPr algn="ctr">
              <a:spcAft>
                <a:spcPts val="0"/>
              </a:spcAft>
              <a:buNone/>
            </a:pPr>
            <a:r>
              <a:rPr lang="en-US" sz="1400" b="0" i="0" dirty="0">
                <a:solidFill>
                  <a:srgbClr val="555960"/>
                </a:solidFill>
              </a:rPr>
              <a:t xml:space="preserve">many realization choices</a:t>
            </a:r>
          </a:p>
        </p:txBody>
      </p:sp>
      <p:sp>
        <p:nvSpPr>
          <p:cNvPr id="104" name="AgentLbl"/>
          <p:cNvSpPr txBox="1"/>
          <p:nvPr/>
        </p:nvSpPr>
        <p:spPr>
          <a:xfrm>
            <a:off x="2620000" y="2420000"/>
            <a:ext cx="1620000" cy="300000"/>
          </a:xfrm>
          <a:prstGeom prst="rect">
            <a:avLst/>
          </a:prstGeom>
          <a:noFill/>
          <a:ln>
            <a:noFill/>
          </a:ln>
        </p:spPr>
        <p:txBody>
          <a:bodyPr wrap="square" lIns="0" tIns="0" rIns="0" bIns="0" anchor="ctr"/>
          <a:lstStyle/>
          <a:p>
            <a:pPr algn="ctr">
              <a:spcAft>
                <a:spcPts val="0"/>
              </a:spcAft>
              <a:buNone/>
            </a:pPr>
            <a:r>
              <a:rPr lang="en-US" sz="1400" b="1" i="0" dirty="0">
                <a:solidFill>
                  <a:srgbClr val="8E6F3E"/>
                </a:solidFill>
              </a:rPr>
              <a:t xml:space="preserve">AGENT</a:t>
            </a:r>
          </a:p>
        </p:txBody>
      </p:sp>
      <p:sp>
        <p:nvSpPr>
          <p:cNvPr id="105" name="AgentArrow"/>
          <p:cNvSpPr/>
          <p:nvPr/>
        </p:nvSpPr>
        <p:spPr>
          <a:xfrm>
            <a:off x="2620000" y="2770000"/>
            <a:ext cx="1740000" cy="180000"/>
          </a:xfrm>
          <a:prstGeom prst="rightArrow">
            <a:avLst/>
          </a:prstGeom>
          <a:solidFill>
            <a:srgbClr val="8E6F3E"/>
          </a:solidFill>
          <a:ln>
            <a:noFill/>
          </a:ln>
        </p:spPr>
        <p:txBody>
          <a:bodyPr/>
          <a:lstStyle/>
          <a:p/>
        </p:txBody>
      </p:sp>
      <p:sp>
        <p:nvSpPr>
          <p:cNvPr id="106" name="Line1"/>
          <p:cNvSpPr txBox="1"/>
          <p:nvPr/>
        </p:nvSpPr>
        <p:spPr>
          <a:xfrm>
            <a:off x="274320" y="4440000"/>
            <a:ext cx="8595360" cy="90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600" b="1" i="0" dirty="0">
                <a:solidFill>
                  <a:srgbClr val="8E6F3E"/>
                </a:solidFill>
              </a:rPr>
              <a:t xml:space="preserve">If implementation is cheap, perhaps we only need to model what matters.</a:t>
            </a:r>
          </a:p>
        </p:txBody>
      </p:sp>
      <p:sp>
        <p:nvSpPr>
          <p:cNvPr id="107" name="Line2"/>
          <p:cNvSpPr txBox="1"/>
          <p:nvPr/>
        </p:nvSpPr>
        <p:spPr>
          <a:xfrm>
            <a:off x="274320" y="5540000"/>
            <a:ext cx="8595360" cy="600000"/>
          </a:xfrm>
          <a:prstGeom prst="rect">
            <a:avLst/>
          </a:prstGeom>
          <a:noFill/>
          <a:ln>
            <a:noFill/>
          </a:ln>
        </p:spPr>
        <p:txBody>
          <a:bodyPr wrap="square" lIns="0" tIns="0" rIns="0" bIns="0" anchor="ctr"/>
          <a:lstStyle/>
          <a:p>
            <a:pPr algn="ctr">
              <a:spcAft>
                <a:spcPts val="0"/>
              </a:spcAft>
              <a:buNone/>
            </a:pPr>
            <a:r>
              <a:rPr lang="en-US" sz="2000" b="0" i="1" dirty="0">
                <a:solidFill>
                  <a:srgbClr val="5C4826"/>
                </a:solidFill>
              </a:rPr>
              <a:t xml:space="preserve">The agent can supply the realization choices we deliberately left free.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6"/>
                                        </p:tgtEl>
                                        <p:attrNameLst>
                                          <p:attrName>style.visibility</p:attrName>
                                        </p:attrNameLst>
                                      </p:cBhvr>
                                      <p:to>
                                        <p:strVal val="visible"/>
                                      </p:to>
                                    </p:set>
                                    <p:animEffect transition="in" filter="fade">
                                      <p:cBhvr>
                                        <p:cTn id="7" dur="500"/>
                                        <p:tgtEl>
                                          <p:spTgt spid="1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7"/>
                                        </p:tgtEl>
                                        <p:attrNameLst>
                                          <p:attrName>style.visibility</p:attrName>
                                        </p:attrNameLst>
                                      </p:cBhvr>
                                      <p:to>
                                        <p:strVal val="visible"/>
                                      </p:to>
                                    </p:set>
                                    <p:animEffect transition="in" filter="fade">
                                      <p:cBhvr>
                                        <p:cTn id="12"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100" name="Kicker"/>
          <p:cNvSpPr txBox="1"/>
          <p:nvPr/>
        </p:nvSpPr>
        <p:spPr>
          <a:xfrm>
            <a:off x="365760" y="1097280"/>
            <a:ext cx="8412480" cy="340000"/>
          </a:xfrm>
          <a:prstGeom prst="rect">
            <a:avLst/>
          </a:prstGeom>
          <a:noFill/>
          <a:ln>
            <a:noFill/>
          </a:ln>
        </p:spPr>
        <p:txBody>
          <a:bodyPr wrap="square" lIns="18288" tIns="18288" rIns="18288" bIns="18288" anchor="t"/>
          <a:lstStyle/>
          <a:p>
            <a:pPr algn="l">
              <a:spcAft>
                <a:spcPts val="0"/>
              </a:spcAft>
              <a:buNone/>
            </a:pPr>
            <a:r>
              <a:rPr lang="en-US" sz="1300" b="1" i="0" dirty="0">
                <a:solidFill>
                  <a:srgbClr val="8E6F3E"/>
                </a:solidFill>
              </a:rPr>
              <a:t xml:space="preserve">ONLY BECAUSE IT KEEPS CHOOSING BADLY — NOT A LIST OF THINGS THAT MUST BE SPECIFIED</a:t>
            </a:r>
          </a:p>
        </p:txBody>
      </p:sp>
      <p:sp>
        <p:nvSpPr>
          <p:cNvPr id="101" name="ModelHdr"/>
          <p:cNvSpPr txBox="1"/>
          <p:nvPr/>
        </p:nvSpPr>
        <p:spPr>
          <a:xfrm>
            <a:off x="365760" y="1430000"/>
            <a:ext cx="3350000" cy="27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MODEL</a:t>
            </a:r>
          </a:p>
        </p:txBody>
      </p:sp>
      <p:sp>
        <p:nvSpPr>
          <p:cNvPr id="102" name="SchemaBox"/>
          <p:cNvSpPr txBox="1"/>
          <p:nvPr/>
        </p:nvSpPr>
        <p:spPr>
          <a:xfrm>
            <a:off x="852040" y="19400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 xml:space="preserve">ACCOUNT</a:t>
            </a:r>
          </a:p>
          <a:p>
            <a:pPr algn="l">
              <a:spcAft>
                <a:spcPts val="250"/>
              </a:spcAft>
              <a:buNone/>
            </a:pPr>
            <a:r>
              <a:rPr lang="en-US" sz="1050" b="0" i="0" dirty="0">
                <a:solidFill>
                  <a:srgbClr val="5C4826"/>
                </a:solidFill>
              </a:rPr>
              <a:t xml:space="preserve">quota_type {metered, unlimited}</a:t>
            </a:r>
          </a:p>
          <a:p>
            <a:pPr algn="l">
              <a:spcAft>
                <a:spcPts val="250"/>
              </a:spcAft>
              <a:buNone/>
            </a:pPr>
            <a:r>
              <a:rPr lang="en-US" sz="1050" b="0" i="0" dirty="0">
                <a:solidFill>
                  <a:srgbClr val="5C4826"/>
                </a:solidFill>
              </a:rPr>
              <a:t xml:space="preserve">credits_remaining</a:t>
            </a:r>
          </a:p>
          <a:p>
            <a:pPr algn="l">
              <a:spcAft>
                <a:spcPts val="0"/>
              </a:spcAft>
              <a:buNone/>
            </a:pPr>
            <a:r>
              <a:rPr lang="en-US" sz="1050" b="0" i="0" dirty="0">
                <a:solidFill>
                  <a:srgbClr val="5C4826"/>
                </a:solidFill>
              </a:rPr>
              <a:t xml:space="preserve">renewal</a:t>
            </a:r>
          </a:p>
        </p:txBody>
      </p:sp>
      <p:sp>
        <p:nvSpPr>
          <p:cNvPr id="103" name="SchemaRule"/>
          <p:cNvSpPr txBox="1"/>
          <p:nvPr/>
        </p:nvSpPr>
        <p:spPr>
          <a:xfrm>
            <a:off x="943480" y="2227020"/>
            <a:ext cx="2194560" cy="9525"/>
          </a:xfrm>
          <a:prstGeom prst="rect">
            <a:avLst/>
          </a:prstGeom>
          <a:solidFill>
            <a:srgbClr val="C9B991"/>
          </a:solidFill>
          <a:ln>
            <a:noFill/>
          </a:ln>
        </p:spPr>
        <p:txBody>
          <a:bodyPr wrap="square" lIns="91440" tIns="45720" rIns="91440" bIns="45720" anchor="ctr"/>
          <a:lstStyle/>
          <a:p>
            <a:pPr>
              <a:buNone/>
            </a:pPr>
            <a:endParaRPr lang="en-US"/>
          </a:p>
        </p:txBody>
      </p:sp>
      <p:sp>
        <p:nvSpPr>
          <p:cNvPr id="104" name="DownArrow1"/>
          <p:cNvSpPr/>
          <p:nvPr/>
        </p:nvSpPr>
        <p:spPr>
          <a:xfrm>
            <a:off x="1950760" y="300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5" name="AgentLbl"/>
          <p:cNvSpPr txBox="1"/>
          <p:nvPr/>
        </p:nvSpPr>
        <p:spPr>
          <a:xfrm>
            <a:off x="1240760" y="3250000"/>
            <a:ext cx="1600000" cy="330000"/>
          </a:xfrm>
          <a:prstGeom prst="rect">
            <a:avLst/>
          </a:prstGeom>
          <a:solidFill>
            <a:srgbClr val="FBF8F2"/>
          </a:solidFill>
          <a:ln w="19050">
            <a:solidFill>
              <a:srgbClr val="8E6F3E"/>
            </a:solidFill>
          </a:ln>
        </p:spPr>
        <p:txBody>
          <a:bodyPr wrap="square" lIns="91440" tIns="45720" rIns="91440" bIns="45720" anchor="ctr"/>
          <a:lstStyle/>
          <a:p>
            <a:pPr algn="ctr">
              <a:spcAft>
                <a:spcPts val="0"/>
              </a:spcAft>
              <a:buNone/>
            </a:pPr>
            <a:r>
              <a:rPr lang="en-US" sz="1400" b="1" i="0" dirty="0">
                <a:solidFill>
                  <a:srgbClr val="8E6F3E"/>
                </a:solidFill>
              </a:rPr>
              <a:t xml:space="preserve">AGENT</a:t>
            </a:r>
          </a:p>
        </p:txBody>
      </p:sp>
      <p:sp>
        <p:nvSpPr>
          <p:cNvPr id="106" name="DownArrow2"/>
          <p:cNvSpPr/>
          <p:nvPr/>
        </p:nvSpPr>
        <p:spPr>
          <a:xfrm>
            <a:off x="1950760" y="365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7" name="ImplLbl"/>
          <p:cNvSpPr txBox="1"/>
          <p:nvPr/>
        </p:nvSpPr>
        <p:spPr>
          <a:xfrm>
            <a:off x="852040" y="3900000"/>
            <a:ext cx="2377440" cy="420000"/>
          </a:xfrm>
          <a:prstGeom prst="rect">
            <a:avLst/>
          </a:prstGeom>
          <a:solidFill>
            <a:srgbClr val="F5F1E8"/>
          </a:solidFill>
          <a:ln w="12700">
            <a:solidFill>
              <a:srgbClr val="C9B991"/>
            </a:solidFill>
          </a:ln>
        </p:spPr>
        <p:txBody>
          <a:bodyPr wrap="square" lIns="91440" tIns="45720" rIns="91440" bIns="45720" anchor="ctr"/>
          <a:lstStyle/>
          <a:p>
            <a:pPr algn="ctr">
              <a:spcAft>
                <a:spcPts val="0"/>
              </a:spcAft>
              <a:buNone/>
            </a:pPr>
            <a:r>
              <a:rPr lang="en-US" sz="1300" b="1" i="0" dirty="0">
                <a:solidFill>
                  <a:srgbClr val="5C4826"/>
                </a:solidFill>
              </a:rPr>
              <a:t xml:space="preserve">IMPLEMENTATION</a:t>
            </a:r>
          </a:p>
        </p:txBody>
      </p:sp>
      <p:sp>
        <p:nvSpPr>
          <p:cNvPr id="108" name="Caption"/>
          <p:cNvSpPr txBox="1"/>
          <p:nvPr/>
        </p:nvSpPr>
        <p:spPr>
          <a:xfrm>
            <a:off x="365760" y="4380000"/>
            <a:ext cx="3350000" cy="42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 xml:space="preserve">Great. Let the agent choose the realization.</a:t>
            </a:r>
          </a:p>
        </p:txBody>
      </p:sp>
      <p:sp>
        <p:nvSpPr>
          <p:cNvPr id="110" name="ScafHdr"/>
          <p:cNvSpPr txBox="1"/>
          <p:nvPr/>
        </p:nvSpPr>
        <p:spPr>
          <a:xfrm>
            <a:off x="3900000" y="1430000"/>
            <a:ext cx="4878240" cy="460000"/>
          </a:xfrm>
          <a:prstGeom prst="rect">
            <a:avLst/>
          </a:prstGeom>
          <a:noFill/>
          <a:ln>
            <a:noFill/>
          </a:ln>
        </p:spPr>
        <p:txBody>
          <a:bodyPr wrap="square" lIns="0" tIns="0" rIns="0" bIns="0" anchor="t"/>
          <a:lstStyle/>
          <a:p>
            <a:pPr algn="ctr">
              <a:spcAft>
                <a:spcPts val="200"/>
              </a:spcAft>
              <a:buNone/>
            </a:pPr>
            <a:r>
              <a:rPr lang="en-US" sz="1100" b="1" i="0" dirty="0">
                <a:solidFill>
                  <a:srgbClr val="8E6F3E"/>
                </a:solidFill>
              </a:rPr>
              <a:t xml:space="preserve">EVERYTHING ABOUT THE IMPLEMENTATION</a:t>
            </a:r>
          </a:p>
          <a:p>
            <a:pPr algn="ctr">
              <a:spcAft>
                <a:spcPts val="0"/>
              </a:spcAft>
              <a:buNone/>
            </a:pPr>
            <a:r>
              <a:rPr lang="en-US" sz="900" b="0" i="1" dirty="0">
                <a:solidFill>
                  <a:srgbClr val="5C4826"/>
                </a:solidFill>
              </a:rPr>
              <a:t xml:space="preserve">each line is scaffolding we added in response to a bad choice</a:t>
            </a:r>
          </a:p>
        </p:txBody>
      </p:sp>
      <p:sp>
        <p:nvSpPr>
          <p:cNvPr id="111" name="MeterBox"/>
          <p:cNvSpPr txBox="1"/>
          <p:nvPr/>
        </p:nvSpPr>
        <p:spPr>
          <a:xfrm>
            <a:off x="3900000" y="1940000"/>
            <a:ext cx="4878240" cy="286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20" name="AgentBox1"/>
          <p:cNvSpPr txBox="1"/>
          <p:nvPr/>
        </p:nvSpPr>
        <p:spPr>
          <a:xfrm>
            <a:off x="3900000" y="1940000"/>
            <a:ext cx="4878240" cy="2860000"/>
          </a:xfrm>
          <a:prstGeom prst="rect">
            <a:avLst/>
          </a:prstGeom>
          <a:solidFill>
            <a:srgbClr val="FBF8F2"/>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3" name="ScafItem1"/>
          <p:cNvSpPr txBox="1"/>
          <p:nvPr/>
        </p:nvSpPr>
        <p:spPr>
          <a:xfrm>
            <a:off x="3900000" y="1940000"/>
            <a:ext cx="4878240" cy="34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Use separate persisted fields</a:t>
            </a:r>
          </a:p>
        </p:txBody>
      </p:sp>
      <p:sp>
        <p:nvSpPr>
          <p:cNvPr id="134" name="Annot1"/>
          <p:cNvSpPr txBox="1"/>
          <p:nvPr/>
        </p:nvSpPr>
        <p:spPr>
          <a:xfrm>
            <a:off x="6878240" y="1940000"/>
            <a:ext cx="1800000" cy="340000"/>
          </a:xfrm>
          <a:prstGeom prst="rect">
            <a:avLst/>
          </a:prstGeom>
          <a:noFill/>
          <a:ln>
            <a:noFill/>
          </a:ln>
        </p:spPr>
        <p:txBody>
          <a:bodyPr wrap="square" lIns="0" tIns="27432" rIns="0" bIns="27432" anchor="ctr"/>
          <a:lstStyle/>
          <a:p>
            <a:pPr algn="r">
              <a:spcAft>
                <a:spcPts val="0"/>
              </a:spcAft>
              <a:buNone/>
            </a:pPr>
            <a:r>
              <a:rPr lang="en-US" sz="1000" b="0" i="1" dirty="0">
                <a:solidFill>
                  <a:srgbClr val="5C4826"/>
                </a:solidFill>
              </a:rPr>
              <a:t xml:space="preserve">bad persistence choice</a:t>
            </a:r>
          </a:p>
        </p:txBody>
      </p:sp>
      <p:sp>
        <p:nvSpPr>
          <p:cNvPr id="121" name="AgentBox2"/>
          <p:cNvSpPr txBox="1"/>
          <p:nvPr/>
        </p:nvSpPr>
        <p:spPr>
          <a:xfrm>
            <a:off x="3900000" y="2280000"/>
            <a:ext cx="4878240" cy="2520000"/>
          </a:xfrm>
          <a:prstGeom prst="rect">
            <a:avLst/>
          </a:prstGeom>
          <a:solidFill>
            <a:srgbClr val="FBF8F2"/>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6" name="ScafItem2"/>
          <p:cNvSpPr txBox="1"/>
          <p:nvPr/>
        </p:nvSpPr>
        <p:spPr>
          <a:xfrm>
            <a:off x="3900000" y="2280000"/>
            <a:ext cx="4878240" cy="34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Add an index for account lookup</a:t>
            </a:r>
          </a:p>
        </p:txBody>
      </p:sp>
      <p:sp>
        <p:nvSpPr>
          <p:cNvPr id="137" name="Annot2"/>
          <p:cNvSpPr txBox="1"/>
          <p:nvPr/>
        </p:nvSpPr>
        <p:spPr>
          <a:xfrm>
            <a:off x="6878240" y="2280000"/>
            <a:ext cx="1800000" cy="340000"/>
          </a:xfrm>
          <a:prstGeom prst="rect">
            <a:avLst/>
          </a:prstGeom>
          <a:noFill/>
          <a:ln>
            <a:noFill/>
          </a:ln>
        </p:spPr>
        <p:txBody>
          <a:bodyPr wrap="square" lIns="0" tIns="27432" rIns="0" bIns="27432" anchor="ctr"/>
          <a:lstStyle/>
          <a:p>
            <a:pPr algn="r">
              <a:spcAft>
                <a:spcPts val="0"/>
              </a:spcAft>
              <a:buNone/>
            </a:pPr>
            <a:r>
              <a:rPr lang="en-US" sz="1000" b="0" i="1" dirty="0">
                <a:solidFill>
                  <a:srgbClr val="5C4826"/>
                </a:solidFill>
              </a:rPr>
              <a:t xml:space="preserve">bad query performance</a:t>
            </a:r>
          </a:p>
        </p:txBody>
      </p:sp>
      <p:sp>
        <p:nvSpPr>
          <p:cNvPr id="122" name="AgentBox3"/>
          <p:cNvSpPr txBox="1"/>
          <p:nvPr/>
        </p:nvSpPr>
        <p:spPr>
          <a:xfrm>
            <a:off x="3900000" y="2620000"/>
            <a:ext cx="4878240" cy="2180000"/>
          </a:xfrm>
          <a:prstGeom prst="rect">
            <a:avLst/>
          </a:prstGeom>
          <a:solidFill>
            <a:srgbClr val="FBF8F2"/>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9" name="ScafItem3"/>
          <p:cNvSpPr txBox="1"/>
          <p:nvPr/>
        </p:nvSpPr>
        <p:spPr>
          <a:xfrm>
            <a:off x="3900000" y="2620000"/>
            <a:ext cx="4878240" cy="34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Use this relationship between…</a:t>
            </a:r>
          </a:p>
        </p:txBody>
      </p:sp>
      <p:sp>
        <p:nvSpPr>
          <p:cNvPr id="140" name="Annot3"/>
          <p:cNvSpPr txBox="1"/>
          <p:nvPr/>
        </p:nvSpPr>
        <p:spPr>
          <a:xfrm>
            <a:off x="6878240" y="2620000"/>
            <a:ext cx="1800000" cy="340000"/>
          </a:xfrm>
          <a:prstGeom prst="rect">
            <a:avLst/>
          </a:prstGeom>
          <a:noFill/>
          <a:ln>
            <a:noFill/>
          </a:ln>
        </p:spPr>
        <p:txBody>
          <a:bodyPr wrap="square" lIns="0" tIns="27432" rIns="0" bIns="27432" anchor="ctr"/>
          <a:lstStyle/>
          <a:p>
            <a:pPr algn="r">
              <a:spcAft>
                <a:spcPts val="0"/>
              </a:spcAft>
              <a:buNone/>
            </a:pPr>
            <a:r>
              <a:rPr lang="en-US" sz="1000" b="0" i="1" dirty="0">
                <a:solidFill>
                  <a:srgbClr val="5C4826"/>
                </a:solidFill>
              </a:rPr>
              <a:t xml:space="preserve">bad join choice</a:t>
            </a:r>
          </a:p>
        </p:txBody>
      </p:sp>
      <p:sp>
        <p:nvSpPr>
          <p:cNvPr id="123" name="AgentBox4"/>
          <p:cNvSpPr txBox="1"/>
          <p:nvPr/>
        </p:nvSpPr>
        <p:spPr>
          <a:xfrm>
            <a:off x="3900000" y="2960000"/>
            <a:ext cx="4878240" cy="1840000"/>
          </a:xfrm>
          <a:prstGeom prst="rect">
            <a:avLst/>
          </a:prstGeom>
          <a:solidFill>
            <a:srgbClr val="FBF8F2"/>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42" name="ScafItem4"/>
          <p:cNvSpPr txBox="1"/>
          <p:nvPr/>
        </p:nvSpPr>
        <p:spPr>
          <a:xfrm>
            <a:off x="3900000" y="2960000"/>
            <a:ext cx="4878240" cy="65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Use this transaction boundary</a:t>
            </a:r>
          </a:p>
          <a:p>
            <a:pPr algn="l">
              <a:spcAft>
                <a:spcPts val="0"/>
              </a:spcAft>
              <a:buNone/>
            </a:pPr>
            <a:r>
              <a:rPr lang="en-US" sz="1200" b="0" i="0" dirty="0">
                <a:solidFill>
                  <a:srgbClr val="5C4826"/>
                </a:solidFill>
              </a:rPr>
              <a:t xml:space="preserve">+ Structure the query this way</a:t>
            </a:r>
          </a:p>
          <a:p>
            <a:pPr algn="l">
              <a:spcAft>
                <a:spcPts val="0"/>
              </a:spcAft>
              <a:buNone/>
            </a:pPr>
            <a:r>
              <a:rPr lang="en-US" sz="1200" b="0" i="0" dirty="0">
                <a:solidFill>
                  <a:srgbClr val="5C4826"/>
                </a:solidFill>
              </a:rPr>
              <a:t xml:space="preserve">+ Put this logic in…</a:t>
            </a:r>
          </a:p>
        </p:txBody>
      </p:sp>
      <p:sp>
        <p:nvSpPr>
          <p:cNvPr id="124" name="AgentBox5"/>
          <p:cNvSpPr txBox="1"/>
          <p:nvPr/>
        </p:nvSpPr>
        <p:spPr>
          <a:xfrm>
            <a:off x="3900000" y="3610000"/>
            <a:ext cx="4878240" cy="1190000"/>
          </a:xfrm>
          <a:prstGeom prst="rect">
            <a:avLst/>
          </a:prstGeom>
          <a:solidFill>
            <a:srgbClr val="FBF8F2"/>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45" name="ScafItem5"/>
          <p:cNvSpPr txBox="1"/>
          <p:nvPr/>
        </p:nvSpPr>
        <p:spPr>
          <a:xfrm>
            <a:off x="3900000" y="3610000"/>
            <a:ext cx="4878240" cy="28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Name this variable quota_mode</a:t>
            </a:r>
          </a:p>
        </p:txBody>
      </p:sp>
      <p:sp>
        <p:nvSpPr>
          <p:cNvPr id="125" name="AgentBox6"/>
          <p:cNvSpPr txBox="1"/>
          <p:nvPr/>
        </p:nvSpPr>
        <p:spPr>
          <a:xfrm>
            <a:off x="3900000" y="3890000"/>
            <a:ext cx="4878240" cy="910000"/>
          </a:xfrm>
          <a:prstGeom prst="rect">
            <a:avLst/>
          </a:prstGeom>
          <a:solidFill>
            <a:srgbClr val="FBF8F2"/>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60" name="Oops"/>
          <p:cNvSpPr txBox="1"/>
          <p:nvPr/>
        </p:nvSpPr>
        <p:spPr>
          <a:xfrm>
            <a:off x="365760" y="4890000"/>
            <a:ext cx="8412480" cy="88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400" b="1" i="0" dirty="0">
                <a:solidFill>
                  <a:srgbClr val="8E6F3E"/>
                </a:solidFill>
              </a:rPr>
              <a:t xml:space="preserve">Oops. We are writing the implementation again.</a:t>
            </a:r>
          </a:p>
        </p:txBody>
      </p:sp>
      <p:sp>
        <p:nvSpPr>
          <p:cNvPr id="161" name="Close"/>
          <p:cNvSpPr txBox="1"/>
          <p:nvPr/>
        </p:nvSpPr>
        <p:spPr>
          <a:xfrm>
            <a:off x="365760" y="5840000"/>
            <a:ext cx="8412480" cy="55000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Cheap realization only helps while the scaffolding needed to obtain it remains cheap.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3"/>
                                        </p:tgtEl>
                                        <p:attrNameLst>
                                          <p:attrName>style.visibility</p:attrName>
                                        </p:attrNameLst>
                                      </p:cBhvr>
                                      <p:to>
                                        <p:strVal val="visible"/>
                                      </p:to>
                                    </p:set>
                                    <p:animEffect transition="in" filter="fade">
                                      <p:cBhvr>
                                        <p:cTn id="7" dur="500"/>
                                        <p:tgtEl>
                                          <p:spTgt spid="133"/>
                                        </p:tgtEl>
                                      </p:cBhvr>
                                    </p:animEffect>
                                  </p:childTnLst>
                                </p:cTn>
                              </p:par>
                              <p:par>
                                <p:cTn id="8" presetID="10" presetClass="entr" presetSubtype="0" fill="hold" nodeType="withEffect">
                                  <p:stCondLst>
                                    <p:cond delay="0"/>
                                  </p:stCondLst>
                                  <p:childTnLst>
                                    <p:set>
                                      <p:cBhvr>
                                        <p:cTn id="9" dur="1" fill="hold">
                                          <p:stCondLst>
                                            <p:cond delay="0"/>
                                          </p:stCondLst>
                                        </p:cTn>
                                        <p:tgtEl>
                                          <p:spTgt spid="134"/>
                                        </p:tgtEl>
                                        <p:attrNameLst>
                                          <p:attrName>style.visibility</p:attrName>
                                        </p:attrNameLst>
                                      </p:cBhvr>
                                      <p:to>
                                        <p:strVal val="visible"/>
                                      </p:to>
                                    </p:set>
                                    <p:animEffect transition="in" filter="fade">
                                      <p:cBhvr>
                                        <p:cTn id="10" dur="500"/>
                                        <p:tgtEl>
                                          <p:spTgt spid="134"/>
                                        </p:tgtEl>
                                      </p:cBhvr>
                                    </p:animEffect>
                                  </p:childTnLst>
                                </p:cTn>
                              </p:par>
                              <p:par>
                                <p:cTn id="11" presetID="10" presetClass="entr" presetSubtype="0" fill="hold" nodeType="with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fade">
                                      <p:cBhvr>
                                        <p:cTn id="13" dur="500"/>
                                        <p:tgtEl>
                                          <p:spTgt spid="1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36"/>
                                        </p:tgtEl>
                                        <p:attrNameLst>
                                          <p:attrName>style.visibility</p:attrName>
                                        </p:attrNameLst>
                                      </p:cBhvr>
                                      <p:to>
                                        <p:strVal val="visible"/>
                                      </p:to>
                                    </p:set>
                                    <p:animEffect transition="in" filter="fade">
                                      <p:cBhvr>
                                        <p:cTn id="18" dur="500"/>
                                        <p:tgtEl>
                                          <p:spTgt spid="136"/>
                                        </p:tgtEl>
                                      </p:cBhvr>
                                    </p:animEffect>
                                  </p:childTnLst>
                                </p:cTn>
                              </p:par>
                              <p:par>
                                <p:cTn id="19" presetID="10" presetClass="entr" presetSubtype="0" fill="hold" nodeType="withEffect">
                                  <p:stCondLst>
                                    <p:cond delay="0"/>
                                  </p:stCondLst>
                                  <p:childTnLst>
                                    <p:set>
                                      <p:cBhvr>
                                        <p:cTn id="20" dur="1" fill="hold">
                                          <p:stCondLst>
                                            <p:cond delay="0"/>
                                          </p:stCondLst>
                                        </p:cTn>
                                        <p:tgtEl>
                                          <p:spTgt spid="137"/>
                                        </p:tgtEl>
                                        <p:attrNameLst>
                                          <p:attrName>style.visibility</p:attrName>
                                        </p:attrNameLst>
                                      </p:cBhvr>
                                      <p:to>
                                        <p:strVal val="visible"/>
                                      </p:to>
                                    </p:set>
                                    <p:animEffect transition="in" filter="fade">
                                      <p:cBhvr>
                                        <p:cTn id="21" dur="500"/>
                                        <p:tgtEl>
                                          <p:spTgt spid="137"/>
                                        </p:tgtEl>
                                      </p:cBhvr>
                                    </p:animEffect>
                                  </p:childTnLst>
                                </p:cTn>
                              </p:par>
                              <p:par>
                                <p:cTn id="22" presetID="10" presetClass="entr" presetSubtype="0" fill="hold" nodeType="withEffect">
                                  <p:stCondLst>
                                    <p:cond delay="0"/>
                                  </p:stCondLst>
                                  <p:childTnLst>
                                    <p:set>
                                      <p:cBhvr>
                                        <p:cTn id="23" dur="1" fill="hold">
                                          <p:stCondLst>
                                            <p:cond delay="0"/>
                                          </p:stCondLst>
                                        </p:cTn>
                                        <p:tgtEl>
                                          <p:spTgt spid="122"/>
                                        </p:tgtEl>
                                        <p:attrNameLst>
                                          <p:attrName>style.visibility</p:attrName>
                                        </p:attrNameLst>
                                      </p:cBhvr>
                                      <p:to>
                                        <p:strVal val="visible"/>
                                      </p:to>
                                    </p:set>
                                    <p:animEffect transition="in" filter="fade">
                                      <p:cBhvr>
                                        <p:cTn id="24" dur="500"/>
                                        <p:tgtEl>
                                          <p:spTgt spid="12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9"/>
                                        </p:tgtEl>
                                        <p:attrNameLst>
                                          <p:attrName>style.visibility</p:attrName>
                                        </p:attrNameLst>
                                      </p:cBhvr>
                                      <p:to>
                                        <p:strVal val="visible"/>
                                      </p:to>
                                    </p:set>
                                    <p:animEffect transition="in" filter="fade">
                                      <p:cBhvr>
                                        <p:cTn id="29" dur="500"/>
                                        <p:tgtEl>
                                          <p:spTgt spid="139"/>
                                        </p:tgtEl>
                                      </p:cBhvr>
                                    </p:animEffect>
                                  </p:childTnLst>
                                </p:cTn>
                              </p:par>
                              <p:par>
                                <p:cTn id="30" presetID="10" presetClass="entr" presetSubtype="0" fill="hold" nodeType="withEffect">
                                  <p:stCondLst>
                                    <p:cond delay="0"/>
                                  </p:stCondLst>
                                  <p:childTnLst>
                                    <p:set>
                                      <p:cBhvr>
                                        <p:cTn id="31" dur="1" fill="hold">
                                          <p:stCondLst>
                                            <p:cond delay="0"/>
                                          </p:stCondLst>
                                        </p:cTn>
                                        <p:tgtEl>
                                          <p:spTgt spid="140"/>
                                        </p:tgtEl>
                                        <p:attrNameLst>
                                          <p:attrName>style.visibility</p:attrName>
                                        </p:attrNameLst>
                                      </p:cBhvr>
                                      <p:to>
                                        <p:strVal val="visible"/>
                                      </p:to>
                                    </p:set>
                                    <p:animEffect transition="in" filter="fade">
                                      <p:cBhvr>
                                        <p:cTn id="32" dur="500"/>
                                        <p:tgtEl>
                                          <p:spTgt spid="140"/>
                                        </p:tgtEl>
                                      </p:cBhvr>
                                    </p:animEffect>
                                  </p:childTnLst>
                                </p:cTn>
                              </p:par>
                              <p:par>
                                <p:cTn id="33" presetID="10" presetClass="entr" presetSubtype="0" fill="hold" nodeType="withEffect">
                                  <p:stCondLst>
                                    <p:cond delay="0"/>
                                  </p:stCondLst>
                                  <p:childTnLst>
                                    <p:set>
                                      <p:cBhvr>
                                        <p:cTn id="34" dur="1" fill="hold">
                                          <p:stCondLst>
                                            <p:cond delay="0"/>
                                          </p:stCondLst>
                                        </p:cTn>
                                        <p:tgtEl>
                                          <p:spTgt spid="123"/>
                                        </p:tgtEl>
                                        <p:attrNameLst>
                                          <p:attrName>style.visibility</p:attrName>
                                        </p:attrNameLst>
                                      </p:cBhvr>
                                      <p:to>
                                        <p:strVal val="visible"/>
                                      </p:to>
                                    </p:set>
                                    <p:animEffect transition="in" filter="fade">
                                      <p:cBhvr>
                                        <p:cTn id="35" dur="500"/>
                                        <p:tgtEl>
                                          <p:spTgt spid="12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2"/>
                                        </p:tgtEl>
                                        <p:attrNameLst>
                                          <p:attrName>style.visibility</p:attrName>
                                        </p:attrNameLst>
                                      </p:cBhvr>
                                      <p:to>
                                        <p:strVal val="visible"/>
                                      </p:to>
                                    </p:set>
                                    <p:animEffect transition="in" filter="fade">
                                      <p:cBhvr>
                                        <p:cTn id="40" dur="500"/>
                                        <p:tgtEl>
                                          <p:spTgt spid="142"/>
                                        </p:tgtEl>
                                      </p:cBhvr>
                                    </p:animEffect>
                                  </p:childTnLst>
                                </p:cTn>
                              </p:par>
                              <p:par>
                                <p:cTn id="41" presetID="10" presetClass="entr" presetSubtype="0" fill="hold" nodeType="withEffect">
                                  <p:stCondLst>
                                    <p:cond delay="0"/>
                                  </p:stCondLst>
                                  <p:childTnLst>
                                    <p:set>
                                      <p:cBhvr>
                                        <p:cTn id="42" dur="1" fill="hold">
                                          <p:stCondLst>
                                            <p:cond delay="0"/>
                                          </p:stCondLst>
                                        </p:cTn>
                                        <p:tgtEl>
                                          <p:spTgt spid="124"/>
                                        </p:tgtEl>
                                        <p:attrNameLst>
                                          <p:attrName>style.visibility</p:attrName>
                                        </p:attrNameLst>
                                      </p:cBhvr>
                                      <p:to>
                                        <p:strVal val="visible"/>
                                      </p:to>
                                    </p:set>
                                    <p:animEffect transition="in" filter="fade">
                                      <p:cBhvr>
                                        <p:cTn id="43" dur="500"/>
                                        <p:tgtEl>
                                          <p:spTgt spid="12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5"/>
                                        </p:tgtEl>
                                        <p:attrNameLst>
                                          <p:attrName>style.visibility</p:attrName>
                                        </p:attrNameLst>
                                      </p:cBhvr>
                                      <p:to>
                                        <p:strVal val="visible"/>
                                      </p:to>
                                    </p:set>
                                    <p:animEffect transition="in" filter="fade">
                                      <p:cBhvr>
                                        <p:cTn id="48" dur="500"/>
                                        <p:tgtEl>
                                          <p:spTgt spid="145"/>
                                        </p:tgtEl>
                                      </p:cBhvr>
                                    </p:animEffect>
                                  </p:childTnLst>
                                </p:cTn>
                              </p:par>
                              <p:par>
                                <p:cTn id="49" presetID="10" presetClass="entr" presetSubtype="0" fill="hold" nodeType="withEffect">
                                  <p:stCondLst>
                                    <p:cond delay="0"/>
                                  </p:stCondLst>
                                  <p:childTnLst>
                                    <p:set>
                                      <p:cBhvr>
                                        <p:cTn id="50" dur="1" fill="hold">
                                          <p:stCondLst>
                                            <p:cond delay="0"/>
                                          </p:stCondLst>
                                        </p:cTn>
                                        <p:tgtEl>
                                          <p:spTgt spid="125"/>
                                        </p:tgtEl>
                                        <p:attrNameLst>
                                          <p:attrName>style.visibility</p:attrName>
                                        </p:attrNameLst>
                                      </p:cBhvr>
                                      <p:to>
                                        <p:strVal val="visible"/>
                                      </p:to>
                                    </p:set>
                                    <p:animEffect transition="in" filter="fade">
                                      <p:cBhvr>
                                        <p:cTn id="51" dur="500"/>
                                        <p:tgtEl>
                                          <p:spTgt spid="125"/>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60"/>
                                        </p:tgtEl>
                                        <p:attrNameLst>
                                          <p:attrName>style.visibility</p:attrName>
                                        </p:attrNameLst>
                                      </p:cBhvr>
                                      <p:to>
                                        <p:strVal val="visible"/>
                                      </p:to>
                                    </p:set>
                                    <p:animEffect transition="in" filter="fade">
                                      <p:cBhvr>
                                        <p:cTn id="56" dur="500"/>
                                        <p:tgtEl>
                                          <p:spTgt spid="160"/>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61"/>
                                        </p:tgtEl>
                                        <p:attrNameLst>
                                          <p:attrName>style.visibility</p:attrName>
                                        </p:attrNameLst>
                                      </p:cBhvr>
                                      <p:to>
                                        <p:strVal val="visible"/>
                                      </p:to>
                                    </p:set>
                                    <p:animEffect transition="in" filter="fade">
                                      <p:cBhvr>
                                        <p:cTn id="61" dur="500"/>
                                        <p:tgtEl>
                                          <p:spTgt spid="1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If code gets cheaper, which side of the ledger changes?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4" name="RecallLbl"/>
          <p:cNvSpPr txBox="1"/>
          <p:nvPr/>
        </p:nvSpPr>
        <p:spPr>
          <a:xfrm>
            <a:off x="274320" y="1097280"/>
            <a:ext cx="8595360" cy="320040"/>
          </a:xfrm>
          <a:prstGeom prst="rect">
            <a:avLst/>
          </a:prstGeom>
          <a:noFill/>
          <a:ln>
            <a:noFill/>
          </a:ln>
        </p:spPr>
        <p:txBody>
          <a:bodyPr wrap="square" lIns="0" tIns="0" rIns="0" bIns="0" anchor="t"/>
          <a:lstStyle/>
          <a:p>
            <a:pPr algn="l">
              <a:spcAft>
                <a:spcPts val="0"/>
              </a:spcAft>
              <a:buNone/>
            </a:pPr>
            <a:r>
              <a:rPr lang="en-US" sz="1400" b="1" i="0" dirty="0">
                <a:solidFill>
                  <a:srgbClr val="8E6F3E"/>
                </a:solidFill>
              </a:rPr>
              <a:t xml:space="preserve">WE ASKED EARLIER</a:t>
            </a:r>
          </a:p>
        </p:txBody>
      </p:sp>
      <p:sp>
        <p:nvSpPr>
          <p:cNvPr id="105" name="Recall1"/>
          <p:cNvSpPr txBox="1"/>
          <p:nvPr/>
        </p:nvSpPr>
        <p:spPr>
          <a:xfrm>
            <a:off x="27432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If this works, why do software engineers draw boxes and arrows for a day, then go code for a week?</a:t>
            </a:r>
          </a:p>
        </p:txBody>
      </p:sp>
      <p:sp>
        <p:nvSpPr>
          <p:cNvPr id="106" name="Recall2"/>
          <p:cNvSpPr txBox="1"/>
          <p:nvPr/>
        </p:nvSpPr>
        <p:spPr>
          <a:xfrm>
            <a:off x="323088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Why is outsourcing software development so hard?</a:t>
            </a:r>
          </a:p>
        </p:txBody>
      </p:sp>
      <p:sp>
        <p:nvSpPr>
          <p:cNvPr id="107" name="Recall3"/>
          <p:cNvSpPr txBox="1"/>
          <p:nvPr/>
        </p:nvSpPr>
        <p:spPr>
          <a:xfrm>
            <a:off x="618744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And does GenAI change this?</a:t>
            </a:r>
          </a:p>
        </p:txBody>
      </p:sp>
      <p:sp>
        <p:nvSpPr>
          <p:cNvPr id="108" name="NewQ"/>
          <p:cNvSpPr txBox="1"/>
          <p:nvPr/>
        </p:nvSpPr>
        <p:spPr>
          <a:xfrm>
            <a:off x="274320" y="2926080"/>
            <a:ext cx="8595360" cy="118872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200" b="1" i="0" dirty="0">
                <a:solidFill>
                  <a:srgbClr val="8E6F3E"/>
                </a:solidFill>
              </a:rPr>
              <a:t xml:space="preserve">Suppose implementation becomes dramatically cheaper. How does that change the cost/benefit calculation for modeling?</a:t>
            </a:r>
          </a:p>
        </p:txBody>
      </p:sp>
      <p:sp>
        <p:nvSpPr>
          <p:cNvPr id="109" name="Close"/>
          <p:cNvSpPr txBox="1"/>
          <p:nvPr/>
        </p:nvSpPr>
        <p:spPr>
          <a:xfrm>
            <a:off x="274320" y="4663440"/>
            <a:ext cx="8595360" cy="100584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When is whiteboard + code economically rational,</a:t>
            </a:r>
          </a:p>
          <a:p>
            <a:pPr algn="ctr">
              <a:spcAft>
                <a:spcPts val="0"/>
              </a:spcAft>
              <a:buNone/>
            </a:pPr>
            <a:r>
              <a:rPr lang="en-US" sz="1800" b="0" i="1" dirty="0">
                <a:solidFill>
                  <a:srgbClr val="5C4826"/>
                </a:solidFill>
              </a:rPr>
              <a:t xml:space="preserve">and when is an explicit model worth maintaining?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9"/>
                                        </p:tgtEl>
                                        <p:attrNameLst>
                                          <p:attrName>style.visibility</p:attrName>
                                        </p:attrNameLst>
                                      </p:cBhvr>
                                      <p:to>
                                        <p:strVal val="visible"/>
                                      </p:to>
                                    </p:set>
                                    <p:animEffect transition="in" filter="fade">
                                      <p:cBhvr>
                                        <p:cTn id="12" dur="5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