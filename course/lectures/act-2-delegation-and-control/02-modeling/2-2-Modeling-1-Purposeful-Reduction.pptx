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701" r:id="rId2"/>
    <p:sldId id="900" r:id="rId39"/>
    <p:sldId id="901" r:id="rId40"/>
    <p:sldId id="702" r:id="rId3"/>
    <p:sldId id="705" r:id="rId6"/>
    <p:sldId id="706" r:id="rId7"/>
    <p:sldId id="707" r:id="rId8"/>
    <p:sldId id="708" r:id="rId9"/>
    <p:sldId id="709" r:id="rId10"/>
    <p:sldId id="710" r:id="rId11"/>
    <p:sldId id="711" r:id="rId12"/>
    <p:sldId id="712" r:id="rId13"/>
    <p:sldId id="713" r:id="rId14"/>
    <p:sldId id="714" r:id="rId15"/>
    <p:sldId id="715" r:id="rId16"/>
    <p:sldId id="716" r:id="rId17"/>
    <p:sldId id="717" r:id="rId18"/>
    <p:sldId id="718" r:id="rId19"/>
    <p:sldId id="719" r:id="rId20"/>
    <p:sldId id="720" r:id="rId21"/>
    <p:sldId id="721" r:id="rId22"/>
    <p:sldId id="722" r:id="rId23"/>
    <p:sldId id="723" r:id="rId24"/>
    <p:sldId id="724" r:id="rId25"/>
    <p:sldId id="725" r:id="rId26"/>
    <p:sldId id="726" r:id="rId27"/>
    <p:sldId id="727" r:id="rId28"/>
    <p:sldId id="728" r:id="rId29"/>
    <p:sldId id="729" r:id="rId30"/>
    <p:sldId id="730" r:id="rId31"/>
    <p:sldId id="731" r:id="rId32"/>
    <p:sldId id="73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central definition. Value is selective omission, not completeness; a reduction you can hold in view beats a faithful copy too large to reason through (chapter 2.1). The territory-to-model glyph from the title slide reprised small beneath the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modeling decision is the question, not the notation.</a:t>
            </a:r>
          </a:p>
          <a:p>
            <a:r>
              <a:rPr dirty="0"/>
              <a:t>ASSUMPTION (plan section 8.3): the spine strip uses ENGINEERING QUESTION / MODEL / PROPERTY / QUALITY per the plan's recommendation; author ratification pending.</a:t>
            </a:r>
          </a:p>
          <a:p>
            <a:r>
              <a:rPr dirty="0"/>
              <a:t>Spine boxes are 0.70 in tall here (vs 0.62 in in the sibling deck) so the two-line ENGINEERING QUESTION label fits - the STYLE-KIT sanctioned fallback, flagged in DONE.md for assembly QA.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each question needs before clicking each reduction in.</a:t>
            </a:r>
          </a:p>
          <a:p>
            <a:r>
              <a:rPr dirty="0"/>
              <a:t>Three clicks: one reduction per question. No single representation answers all three well; each preserves different facts about the same territory.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is where students stop imagining completeness as model quality.</a:t>
            </a:r>
          </a:p>
          <a:p>
            <a:r>
              <a:rPr dirty="0"/>
              <a:t>The pull-quote is the chapter's: hold the system constant, change the question, watch the model change.</a:t>
            </a:r>
          </a:p>
          <a:p>
            <a:r>
              <a:rPr dirty="0"/>
              <a:t>Sets up the embedded reprise near the end of the lecture, where the territory again stays fixed while the question changes (callback, not re-teach).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Not a named framework. Simply the recurring discipline of the course; present it once, plainly (the brief bans branding these four).</a:t>
            </a:r>
          </a:p>
          <a:p>
            <a:r>
              <a:rPr dirty="0"/>
              <a:t>This strip recurs small on every section break; say so aloud once, here.</a:t>
            </a:r>
          </a:p>
          <a:p>
            <a:r>
              <a:rPr dirty="0"/>
              <a:t>ASSUMPTION (plan section 8.3): spine-strip motif per the plan's recommendation; author ratification pending.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Dependency graphs answer structural questions, state machines behavioral ones, quantitative models capacity and cost (lander wording).</a:t>
            </a:r>
          </a:p>
          <a:p>
            <a:r>
              <a:rPr dirty="0"/>
              <a:t>The point: the repertoire exists. The next slide is the gallery.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Do not teach all six. This is a gallery to select from, not a syllabus.</a:t>
            </a:r>
          </a:p>
          <a:p>
            <a:r>
              <a:rPr dirty="0"/>
              <a:t>Sorting-algorithm analogy from the chapter's repertoire inset: recognize the problem, select among established forms.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Give UML its due: it is the industry-standard starting point for structural and behavioral modeling, not merely one source among many. Select before you invent; the slide deliberately does not enumerate the fourteen diagram types.</a:t>
            </a:r>
          </a:p>
          <a:p>
            <a:r>
              <a:rPr dirty="0"/>
              <a:t>MBSE broadens the same tradition. The assigned readings say browse, not memorize.</a:t>
            </a:r>
          </a:p>
          <a:p>
            <a:r>
              <a:rPr dirty="0"/>
              <a:t>About a 60-second slide; a named flex point in the timing budget.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slides 7-8: the software version made this point with three questions; the embedded version closes the loop on territory you can feel (plan section 7.5). Say callback aloud, not re-teach.</a:t>
            </a:r>
          </a:p>
          <a:p>
            <a:r>
              <a:rPr dirty="0"/>
              <a:t>Suddenly thermal mass, ambient temperature, heat generation, airflow matter - and battery capacity largely disappears.</a:t>
            </a:r>
          </a:p>
          <a:p>
            <a:r>
              <a:rPr dirty="0"/>
              <a:t>Closing hinge line, spoken over the slide: the method is judgment - and nothing in this room can tell us whether we judged right. A hypothetical cannot. Production can. That is Section 3.</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Scaffolding is what this particular agent needs to interpret and realize the obligation reliably — examples, decomposition, intermediate structure.</a:t>
            </a:r>
          </a:p>
          <a:p>
            <a:r>
              <a:rPr dirty="0"/>
              <a:t>The obligation boundary encloses what must be true. The specification boundary encloses what we actually write down. Between them: scaffolding. Outside the specification boundary: degrees of freedom, left to the realization.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Parsimony restated for delegation: how little must we specify while still preserving the obligation and enabling THIS agent to realize it (lander). A more capable agent needs fewer examples, less decomposition, less intermediate structure — the specification boundary moves toward the obligation boundary.</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Entitlement anchors this: the crossed-out tag is the same unlimited distinction the reduction dropped three slides ago. However capable the downstream agent, nothing arrives for it to recover — the distinction no longer exists in the model.</a:t>
            </a:r>
          </a:p>
          <a:p>
            <a:r>
              <a:rPr dirty="0"/>
              <a:t>The obligation boundary is capability-invariant; the specification boundary is not. The limit is semantic, not a capability shortfall. Second payoff of the evidence section.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3434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73736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ctr">
              <a:spcAft>
                <a:spcPts val="1600"/>
              </a:spcAft>
              <a:buNone/>
            </a:pPr>
            <a:r>
              <a:rPr lang="en-US" sz="2000" b="0" dirty="0">
                <a:solidFill>
                  <a:srgbClr val="5C4826"/>
                </a:solidFill>
              </a:rPr>
              <a:t>The objective is not another copy of the system.</a:t>
            </a:r>
          </a:p>
          <a:p>
            <a:pPr algn="ctr">
              <a:spcAft>
                <a:spcPts val="0"/>
              </a:spcAft>
              <a:buNone/>
            </a:pPr>
            <a:r>
              <a:rPr lang="en-US" sz="2000" b="1" dirty="0">
                <a:solidFill>
                  <a:srgbClr val="5C4826"/>
                </a:solidFill>
              </a:rPr>
              <a:t>A model is a representation in which some consequential question becomes cheap to answer.</a:t>
            </a:r>
          </a:p>
        </p:txBody>
      </p:sp>
      <p:sp>
        <p:nvSpPr>
          <p:cNvPr id="300" name="G0"/>
          <p:cNvSpPr/>
          <p:nvPr/>
        </p:nvSpPr>
        <p:spPr>
          <a:xfrm>
            <a:off x="3429000" y="3931554"/>
            <a:ext cx="113385" cy="113385"/>
          </a:xfrm>
          <a:prstGeom prst="rect">
            <a:avLst/>
          </a:prstGeom>
          <a:solidFill>
            <a:srgbClr val="C9B991"/>
          </a:solidFill>
          <a:ln>
            <a:noFill/>
          </a:ln>
        </p:spPr>
        <p:txBody>
          <a:bodyPr/>
          <a:lstStyle/>
          <a:p>
            <a:endParaRPr lang="en-US"/>
          </a:p>
        </p:txBody>
      </p:sp>
      <p:sp>
        <p:nvSpPr>
          <p:cNvPr id="301" name="G1"/>
          <p:cNvSpPr/>
          <p:nvPr/>
        </p:nvSpPr>
        <p:spPr>
          <a:xfrm>
            <a:off x="3570732" y="4073286"/>
            <a:ext cx="85039" cy="85039"/>
          </a:xfrm>
          <a:prstGeom prst="ellipse">
            <a:avLst/>
          </a:prstGeom>
          <a:solidFill>
            <a:srgbClr val="C9B991"/>
          </a:solidFill>
          <a:ln>
            <a:noFill/>
          </a:ln>
        </p:spPr>
        <p:txBody>
          <a:bodyPr/>
          <a:lstStyle/>
          <a:p>
            <a:endParaRPr lang="en-US"/>
          </a:p>
        </p:txBody>
      </p:sp>
      <p:sp>
        <p:nvSpPr>
          <p:cNvPr id="302" name="G2"/>
          <p:cNvSpPr/>
          <p:nvPr/>
        </p:nvSpPr>
        <p:spPr>
          <a:xfrm>
            <a:off x="3514039" y="4243364"/>
            <a:ext cx="99212" cy="70866"/>
          </a:xfrm>
          <a:prstGeom prst="rect">
            <a:avLst/>
          </a:prstGeom>
          <a:solidFill>
            <a:srgbClr val="C9B991"/>
          </a:solidFill>
          <a:ln>
            <a:noFill/>
          </a:ln>
        </p:spPr>
        <p:txBody>
          <a:bodyPr/>
          <a:lstStyle/>
          <a:p>
            <a:endParaRPr lang="en-US"/>
          </a:p>
        </p:txBody>
      </p:sp>
      <p:sp>
        <p:nvSpPr>
          <p:cNvPr id="303" name="G3"/>
          <p:cNvSpPr/>
          <p:nvPr/>
        </p:nvSpPr>
        <p:spPr>
          <a:xfrm>
            <a:off x="3684117" y="3914546"/>
            <a:ext cx="127558" cy="85039"/>
          </a:xfrm>
          <a:prstGeom prst="rect">
            <a:avLst/>
          </a:prstGeom>
          <a:solidFill>
            <a:srgbClr val="C9B991"/>
          </a:solidFill>
          <a:ln>
            <a:noFill/>
          </a:ln>
        </p:spPr>
        <p:txBody>
          <a:bodyPr/>
          <a:lstStyle/>
          <a:p>
            <a:endParaRPr lang="en-US"/>
          </a:p>
        </p:txBody>
      </p:sp>
      <p:sp>
        <p:nvSpPr>
          <p:cNvPr id="304" name="G4"/>
          <p:cNvSpPr/>
          <p:nvPr/>
        </p:nvSpPr>
        <p:spPr>
          <a:xfrm>
            <a:off x="3740810" y="4158325"/>
            <a:ext cx="113385" cy="113385"/>
          </a:xfrm>
          <a:prstGeom prst="ellipse">
            <a:avLst/>
          </a:prstGeom>
          <a:solidFill>
            <a:srgbClr val="C9B991"/>
          </a:solidFill>
          <a:ln>
            <a:noFill/>
          </a:ln>
        </p:spPr>
        <p:txBody>
          <a:bodyPr/>
          <a:lstStyle/>
          <a:p>
            <a:endParaRPr lang="en-US"/>
          </a:p>
        </p:txBody>
      </p:sp>
      <p:sp>
        <p:nvSpPr>
          <p:cNvPr id="305" name="G5"/>
          <p:cNvSpPr/>
          <p:nvPr/>
        </p:nvSpPr>
        <p:spPr>
          <a:xfrm>
            <a:off x="3854196" y="3931554"/>
            <a:ext cx="85039" cy="127558"/>
          </a:xfrm>
          <a:prstGeom prst="rect">
            <a:avLst/>
          </a:prstGeom>
          <a:solidFill>
            <a:srgbClr val="C9B991"/>
          </a:solidFill>
          <a:ln>
            <a:noFill/>
          </a:ln>
        </p:spPr>
        <p:txBody>
          <a:bodyPr/>
          <a:lstStyle/>
          <a:p>
            <a:endParaRPr lang="en-US"/>
          </a:p>
        </p:txBody>
      </p:sp>
      <p:sp>
        <p:nvSpPr>
          <p:cNvPr id="306" name="G6"/>
          <p:cNvSpPr/>
          <p:nvPr/>
        </p:nvSpPr>
        <p:spPr>
          <a:xfrm>
            <a:off x="3939235" y="4186671"/>
            <a:ext cx="70866" cy="70866"/>
          </a:xfrm>
          <a:prstGeom prst="ellipse">
            <a:avLst/>
          </a:prstGeom>
          <a:solidFill>
            <a:srgbClr val="C9B991"/>
          </a:solidFill>
          <a:ln>
            <a:noFill/>
          </a:ln>
        </p:spPr>
        <p:txBody>
          <a:bodyPr/>
          <a:lstStyle/>
          <a:p>
            <a:endParaRPr lang="en-US"/>
          </a:p>
        </p:txBody>
      </p:sp>
      <p:sp>
        <p:nvSpPr>
          <p:cNvPr id="307" name="G7"/>
          <p:cNvSpPr/>
          <p:nvPr/>
        </p:nvSpPr>
        <p:spPr>
          <a:xfrm>
            <a:off x="3995928" y="4044939"/>
            <a:ext cx="99212" cy="99212"/>
          </a:xfrm>
          <a:prstGeom prst="rect">
            <a:avLst/>
          </a:prstGeom>
          <a:solidFill>
            <a:srgbClr val="C9B991"/>
          </a:solidFill>
          <a:ln>
            <a:noFill/>
          </a:ln>
        </p:spPr>
        <p:txBody>
          <a:bodyPr/>
          <a:lstStyle/>
          <a:p>
            <a:endParaRPr lang="en-US"/>
          </a:p>
        </p:txBody>
      </p:sp>
      <p:sp>
        <p:nvSpPr>
          <p:cNvPr id="308" name="G8"/>
          <p:cNvSpPr/>
          <p:nvPr/>
        </p:nvSpPr>
        <p:spPr>
          <a:xfrm>
            <a:off x="4080967" y="3914546"/>
            <a:ext cx="85039" cy="85039"/>
          </a:xfrm>
          <a:prstGeom prst="rect">
            <a:avLst/>
          </a:prstGeom>
          <a:solidFill>
            <a:srgbClr val="C9B991"/>
          </a:solidFill>
          <a:ln>
            <a:noFill/>
          </a:ln>
        </p:spPr>
        <p:txBody>
          <a:bodyPr/>
          <a:lstStyle/>
          <a:p>
            <a:endParaRPr lang="en-US"/>
          </a:p>
        </p:txBody>
      </p:sp>
      <p:sp>
        <p:nvSpPr>
          <p:cNvPr id="309" name="G9"/>
          <p:cNvSpPr/>
          <p:nvPr/>
        </p:nvSpPr>
        <p:spPr>
          <a:xfrm>
            <a:off x="4137660" y="4186671"/>
            <a:ext cx="85039" cy="85039"/>
          </a:xfrm>
          <a:prstGeom prst="ellipse">
            <a:avLst/>
          </a:prstGeom>
          <a:solidFill>
            <a:srgbClr val="C9B991"/>
          </a:solidFill>
          <a:ln>
            <a:noFill/>
          </a:ln>
        </p:spPr>
        <p:txBody>
          <a:bodyPr/>
          <a:lstStyle/>
          <a:p>
            <a:endParaRPr lang="en-US"/>
          </a:p>
        </p:txBody>
      </p:sp>
      <p:sp>
        <p:nvSpPr>
          <p:cNvPr id="310" name="G10"/>
          <p:cNvSpPr/>
          <p:nvPr/>
        </p:nvSpPr>
        <p:spPr>
          <a:xfrm>
            <a:off x="4222699" y="4073286"/>
            <a:ext cx="70866" cy="70866"/>
          </a:xfrm>
          <a:prstGeom prst="rect">
            <a:avLst/>
          </a:prstGeom>
          <a:solidFill>
            <a:srgbClr val="C9B991"/>
          </a:solidFill>
          <a:ln>
            <a:noFill/>
          </a:ln>
        </p:spPr>
        <p:txBody>
          <a:bodyPr/>
          <a:lstStyle/>
          <a:p>
            <a:endParaRPr lang="en-US"/>
          </a:p>
        </p:txBody>
      </p:sp>
      <p:sp>
        <p:nvSpPr>
          <p:cNvPr id="311" name="G11"/>
          <p:cNvSpPr/>
          <p:nvPr/>
        </p:nvSpPr>
        <p:spPr>
          <a:xfrm>
            <a:off x="4307738" y="3959900"/>
            <a:ext cx="56692" cy="56692"/>
          </a:xfrm>
          <a:prstGeom prst="ellipse">
            <a:avLst/>
          </a:prstGeom>
          <a:solidFill>
            <a:srgbClr val="C9B991"/>
          </a:solidFill>
          <a:ln>
            <a:noFill/>
          </a:ln>
        </p:spPr>
        <p:txBody>
          <a:bodyPr/>
          <a:lstStyle/>
          <a:p>
            <a:endParaRPr lang="en-US"/>
          </a:p>
        </p:txBody>
      </p:sp>
      <p:cxnSp>
        <p:nvCxnSpPr>
          <p:cNvPr id="312" name="RAr2"/>
          <p:cNvCxnSpPr/>
          <p:nvPr/>
        </p:nvCxnSpPr>
        <p:spPr>
          <a:xfrm>
            <a:off x="4591202" y="4112971"/>
            <a:ext cx="340156" cy="0"/>
          </a:xfrm>
          <a:prstGeom prst="straightConnector1">
            <a:avLst/>
          </a:prstGeom>
          <a:ln w="28575">
            <a:solidFill>
              <a:srgbClr val="8E6F3E"/>
            </a:solidFill>
            <a:tailEnd type="triangle" w="med" len="med"/>
          </a:ln>
        </p:spPr>
      </p:cxnSp>
      <p:sp>
        <p:nvSpPr>
          <p:cNvPr id="313" name="MdlG"/>
          <p:cNvSpPr/>
          <p:nvPr/>
        </p:nvSpPr>
        <p:spPr>
          <a:xfrm>
            <a:off x="5016398" y="3999585"/>
            <a:ext cx="453542" cy="226771"/>
          </a:xfrm>
          <a:prstGeom prst="rect">
            <a:avLst/>
          </a:prstGeom>
          <a:solidFill>
            <a:srgbClr val="555960"/>
          </a:solidFill>
          <a:ln>
            <a:noFill/>
          </a:ln>
        </p:spPr>
        <p:txBody>
          <a:bodyPr/>
          <a:lstStyle/>
          <a:p>
            <a:endParaRPr lang="en-US"/>
          </a:p>
        </p:txBody>
      </p:sp>
      <p:sp>
        <p:nvSpPr>
          <p:cNvPr id="314" name="KG0"/>
          <p:cNvSpPr/>
          <p:nvPr/>
        </p:nvSpPr>
        <p:spPr>
          <a:xfrm>
            <a:off x="5101437" y="4056277"/>
            <a:ext cx="283464" cy="19050"/>
          </a:xfrm>
          <a:prstGeom prst="rect">
            <a:avLst/>
          </a:prstGeom>
          <a:solidFill>
            <a:srgbClr val="FFFFFF"/>
          </a:solidFill>
          <a:ln>
            <a:noFill/>
          </a:ln>
        </p:spPr>
        <p:txBody>
          <a:bodyPr/>
          <a:lstStyle/>
          <a:p>
            <a:endParaRPr lang="en-US"/>
          </a:p>
        </p:txBody>
      </p:sp>
      <p:sp>
        <p:nvSpPr>
          <p:cNvPr id="315" name="KG1"/>
          <p:cNvSpPr/>
          <p:nvPr/>
        </p:nvSpPr>
        <p:spPr>
          <a:xfrm>
            <a:off x="5101437" y="4101631"/>
            <a:ext cx="283464" cy="19050"/>
          </a:xfrm>
          <a:prstGeom prst="rect">
            <a:avLst/>
          </a:prstGeom>
          <a:solidFill>
            <a:srgbClr val="FFFFFF"/>
          </a:solidFill>
          <a:ln>
            <a:noFill/>
          </a:ln>
        </p:spPr>
        <p:txBody>
          <a:bodyPr/>
          <a:lstStyle/>
          <a:p>
            <a:endParaRPr lang="en-US"/>
          </a:p>
        </p:txBody>
      </p:sp>
      <p:sp>
        <p:nvSpPr>
          <p:cNvPr id="316" name="KG2"/>
          <p:cNvSpPr/>
          <p:nvPr/>
        </p:nvSpPr>
        <p:spPr>
          <a:xfrm>
            <a:off x="5101437" y="4146985"/>
            <a:ext cx="283464" cy="19050"/>
          </a:xfrm>
          <a:prstGeom prst="rect">
            <a:avLst/>
          </a:prstGeom>
          <a:solidFill>
            <a:srgbClr val="FFFFFF"/>
          </a:solidFill>
          <a:ln>
            <a:noFill/>
          </a:ln>
        </p:spPr>
        <p:txBody>
          <a:bodyPr/>
          <a:lstStyle/>
          <a:p>
            <a:endParaRPr lang="en-US"/>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A reduction you can hold in view beats a faithful copy too large to reason through.</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rest of the lecture puts this definition to work.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QUESTIONS COME FIRST</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Not which notation — what question am I answering?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One territory, three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 name="TPanel"/>
          <p:cNvSpPr/>
          <p:nvPr/>
        </p:nvSpPr>
        <p:spPr>
          <a:xfrm>
            <a:off x="365760" y="1280160"/>
            <a:ext cx="2377440" cy="3401568"/>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11" name="TCap"/>
          <p:cNvSpPr/>
          <p:nvPr/>
        </p:nvSpPr>
        <p:spPr>
          <a:xfrm>
            <a:off x="365760" y="1371600"/>
            <a:ext cx="237744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TERRITORY</a:t>
            </a:r>
          </a:p>
        </p:txBody>
      </p:sp>
      <p:sp>
        <p:nvSpPr>
          <p:cNvPr id="12" name="SVC0"/>
          <p:cNvSpPr/>
          <p:nvPr/>
        </p:nvSpPr>
        <p:spPr>
          <a:xfrm>
            <a:off x="548640" y="1828800"/>
            <a:ext cx="594360" cy="274320"/>
          </a:xfrm>
          <a:prstGeom prst="rect">
            <a:avLst/>
          </a:prstGeom>
          <a:solidFill>
            <a:srgbClr val="C9B991"/>
          </a:solidFill>
          <a:ln>
            <a:noFill/>
          </a:ln>
        </p:spPr>
        <p:txBody>
          <a:bodyPr wrap="square" lIns="27432" tIns="22860" rIns="27432" bIns="22860" anchor="ctr"/>
          <a:lstStyle/>
          <a:p>
            <a:pPr>
              <a:buNone/>
            </a:pPr>
            <a:endParaRPr lang="en-US"/>
          </a:p>
        </p:txBody>
      </p:sp>
      <p:sp>
        <p:nvSpPr>
          <p:cNvPr id="13" name="SVC1"/>
          <p:cNvSpPr/>
          <p:nvPr/>
        </p:nvSpPr>
        <p:spPr>
          <a:xfrm>
            <a:off x="1737360" y="1828800"/>
            <a:ext cx="594360" cy="274320"/>
          </a:xfrm>
          <a:prstGeom prst="rect">
            <a:avLst/>
          </a:prstGeom>
          <a:solidFill>
            <a:srgbClr val="C9B991"/>
          </a:solidFill>
          <a:ln>
            <a:noFill/>
          </a:ln>
        </p:spPr>
        <p:txBody>
          <a:bodyPr wrap="square" lIns="27432" tIns="22860" rIns="27432" bIns="22860" anchor="ctr"/>
          <a:lstStyle/>
          <a:p>
            <a:pPr>
              <a:buNone/>
            </a:pPr>
            <a:endParaRPr lang="en-US"/>
          </a:p>
        </p:txBody>
      </p:sp>
      <p:sp>
        <p:nvSpPr>
          <p:cNvPr id="14" name="SVC2"/>
          <p:cNvSpPr/>
          <p:nvPr/>
        </p:nvSpPr>
        <p:spPr>
          <a:xfrm>
            <a:off x="1143000" y="2404872"/>
            <a:ext cx="594360" cy="274320"/>
          </a:xfrm>
          <a:prstGeom prst="rect">
            <a:avLst/>
          </a:prstGeom>
          <a:solidFill>
            <a:srgbClr val="C9B991"/>
          </a:solidFill>
          <a:ln>
            <a:noFill/>
          </a:ln>
        </p:spPr>
        <p:txBody>
          <a:bodyPr wrap="square" lIns="27432" tIns="22860" rIns="27432" bIns="22860" anchor="ctr"/>
          <a:lstStyle/>
          <a:p>
            <a:pPr>
              <a:buNone/>
            </a:pPr>
            <a:endParaRPr lang="en-US"/>
          </a:p>
        </p:txBody>
      </p:sp>
      <p:sp>
        <p:nvSpPr>
          <p:cNvPr id="200" name="QU0a"/>
          <p:cNvSpPr/>
          <p:nvPr/>
        </p:nvSpPr>
        <p:spPr>
          <a:xfrm>
            <a:off x="548640" y="2458212"/>
            <a:ext cx="121920" cy="121920"/>
          </a:xfrm>
          <a:prstGeom prst="rect">
            <a:avLst/>
          </a:prstGeom>
          <a:solidFill>
            <a:srgbClr val="C9B991"/>
          </a:solidFill>
          <a:ln>
            <a:noFill/>
          </a:ln>
        </p:spPr>
        <p:txBody>
          <a:bodyPr/>
          <a:lstStyle/>
          <a:p>
            <a:endParaRPr lang="en-US"/>
          </a:p>
        </p:txBody>
      </p:sp>
      <p:sp>
        <p:nvSpPr>
          <p:cNvPr id="201" name="QU0b"/>
          <p:cNvSpPr/>
          <p:nvPr/>
        </p:nvSpPr>
        <p:spPr>
          <a:xfrm>
            <a:off x="716280" y="2458212"/>
            <a:ext cx="121920" cy="121920"/>
          </a:xfrm>
          <a:prstGeom prst="rect">
            <a:avLst/>
          </a:prstGeom>
          <a:solidFill>
            <a:srgbClr val="C9B991"/>
          </a:solidFill>
          <a:ln>
            <a:noFill/>
          </a:ln>
        </p:spPr>
        <p:txBody>
          <a:bodyPr/>
          <a:lstStyle/>
          <a:p>
            <a:endParaRPr lang="en-US"/>
          </a:p>
        </p:txBody>
      </p:sp>
      <p:sp>
        <p:nvSpPr>
          <p:cNvPr id="202" name="QU0c"/>
          <p:cNvSpPr/>
          <p:nvPr/>
        </p:nvSpPr>
        <p:spPr>
          <a:xfrm>
            <a:off x="883920" y="2458212"/>
            <a:ext cx="121920" cy="121920"/>
          </a:xfrm>
          <a:prstGeom prst="rect">
            <a:avLst/>
          </a:prstGeom>
          <a:solidFill>
            <a:srgbClr val="C9B991"/>
          </a:solidFill>
          <a:ln>
            <a:noFill/>
          </a:ln>
        </p:spPr>
        <p:txBody>
          <a:bodyPr/>
          <a:lstStyle/>
          <a:p>
            <a:endParaRPr lang="en-US"/>
          </a:p>
        </p:txBody>
      </p:sp>
      <p:cxnSp>
        <p:nvCxnSpPr>
          <p:cNvPr id="203" name="LQ"/>
          <p:cNvCxnSpPr/>
          <p:nvPr/>
        </p:nvCxnSpPr>
        <p:spPr>
          <a:xfrm>
            <a:off x="1005840" y="2519172"/>
            <a:ext cx="137160" cy="0"/>
          </a:xfrm>
          <a:prstGeom prst="straightConnector1">
            <a:avLst/>
          </a:prstGeom>
          <a:ln w="12700">
            <a:solidFill>
              <a:srgbClr val="555960"/>
            </a:solidFill>
          </a:ln>
        </p:spPr>
      </p:cxnSp>
      <p:sp>
        <p:nvSpPr>
          <p:cNvPr id="16" name="DB0"/>
          <p:cNvSpPr/>
          <p:nvPr/>
        </p:nvSpPr>
        <p:spPr>
          <a:xfrm>
            <a:off x="1188720" y="2971800"/>
            <a:ext cx="457200" cy="457200"/>
          </a:xfrm>
          <a:prstGeom prst="can">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17" name="U0"/>
          <p:cNvSpPr/>
          <p:nvPr/>
        </p:nvSpPr>
        <p:spPr>
          <a:xfrm>
            <a:off x="2103120" y="2971800"/>
            <a:ext cx="274320" cy="274320"/>
          </a:xfrm>
          <a:prstGeom prst="ellipse">
            <a:avLst/>
          </a:prstGeom>
          <a:solidFill>
            <a:srgbClr val="C9B991"/>
          </a:solidFill>
          <a:ln>
            <a:noFill/>
          </a:ln>
        </p:spPr>
        <p:txBody>
          <a:bodyPr wrap="square" lIns="27432" tIns="22860" rIns="27432" bIns="22860" anchor="ctr"/>
          <a:lstStyle/>
          <a:p>
            <a:pPr>
              <a:buNone/>
            </a:pPr>
            <a:endParaRPr lang="en-US"/>
          </a:p>
        </p:txBody>
      </p:sp>
      <p:sp>
        <p:nvSpPr>
          <p:cNvPr id="18" name="U1"/>
          <p:cNvSpPr/>
          <p:nvPr/>
        </p:nvSpPr>
        <p:spPr>
          <a:xfrm>
            <a:off x="2331720" y="3154680"/>
            <a:ext cx="274320" cy="274320"/>
          </a:xfrm>
          <a:prstGeom prst="ellipse">
            <a:avLst/>
          </a:prstGeom>
          <a:solidFill>
            <a:srgbClr val="C9B991"/>
          </a:solidFill>
          <a:ln>
            <a:noFill/>
          </a:ln>
        </p:spPr>
        <p:txBody>
          <a:bodyPr wrap="square" lIns="27432" tIns="22860" rIns="27432" bIns="22860" anchor="ctr"/>
          <a:lstStyle/>
          <a:p>
            <a:pPr>
              <a:buNone/>
            </a:pPr>
            <a:endParaRPr lang="en-US"/>
          </a:p>
        </p:txBody>
      </p:sp>
      <p:cxnSp>
        <p:nvCxnSpPr>
          <p:cNvPr id="19" name="L0"/>
          <p:cNvCxnSpPr/>
          <p:nvPr/>
        </p:nvCxnSpPr>
        <p:spPr>
          <a:xfrm>
            <a:off x="845820" y="2103120"/>
            <a:ext cx="594360" cy="301752"/>
          </a:xfrm>
          <a:prstGeom prst="straightConnector1">
            <a:avLst/>
          </a:prstGeom>
          <a:ln w="12700">
            <a:solidFill>
              <a:srgbClr val="555960"/>
            </a:solidFill>
          </a:ln>
        </p:spPr>
      </p:cxnSp>
      <p:cxnSp>
        <p:nvCxnSpPr>
          <p:cNvPr id="20" name="L1"/>
          <p:cNvCxnSpPr/>
          <p:nvPr/>
        </p:nvCxnSpPr>
        <p:spPr>
          <a:xfrm flipH="1">
            <a:off x="1440180" y="2103120"/>
            <a:ext cx="594360" cy="301752"/>
          </a:xfrm>
          <a:prstGeom prst="straightConnector1">
            <a:avLst/>
          </a:prstGeom>
          <a:ln w="12700">
            <a:solidFill>
              <a:srgbClr val="555960"/>
            </a:solidFill>
          </a:ln>
        </p:spPr>
      </p:cxnSp>
      <p:cxnSp>
        <p:nvCxnSpPr>
          <p:cNvPr id="21" name="L2"/>
          <p:cNvCxnSpPr/>
          <p:nvPr/>
        </p:nvCxnSpPr>
        <p:spPr>
          <a:xfrm flipH="1">
            <a:off x="1417320" y="2679192"/>
            <a:ext cx="22860" cy="292608"/>
          </a:xfrm>
          <a:prstGeom prst="straightConnector1">
            <a:avLst/>
          </a:prstGeom>
          <a:ln w="12700">
            <a:solidFill>
              <a:srgbClr val="555960"/>
            </a:solidFill>
          </a:ln>
        </p:spPr>
      </p:cxnSp>
      <p:cxnSp>
        <p:nvCxnSpPr>
          <p:cNvPr id="22" name="L3"/>
          <p:cNvCxnSpPr/>
          <p:nvPr/>
        </p:nvCxnSpPr>
        <p:spPr>
          <a:xfrm flipH="1">
            <a:off x="1645920" y="3108960"/>
            <a:ext cx="457200" cy="91440"/>
          </a:xfrm>
          <a:prstGeom prst="straightConnector1">
            <a:avLst/>
          </a:prstGeom>
          <a:ln w="12700">
            <a:solidFill>
              <a:srgbClr val="555960"/>
            </a:solidFill>
          </a:ln>
        </p:spPr>
      </p:cxnSp>
      <p:sp>
        <p:nvSpPr>
          <p:cNvPr id="23" name="BCap"/>
          <p:cNvSpPr/>
          <p:nvPr/>
        </p:nvSpPr>
        <p:spPr>
          <a:xfrm>
            <a:off x="457200" y="4297680"/>
            <a:ext cx="2194560" cy="274320"/>
          </a:xfrm>
          <a:prstGeom prst="rect">
            <a:avLst/>
          </a:prstGeom>
          <a:noFill/>
          <a:ln>
            <a:noFill/>
          </a:ln>
        </p:spPr>
        <p:txBody>
          <a:bodyPr wrap="square" lIns="0" tIns="0" rIns="0" bIns="0" anchor="t"/>
          <a:lstStyle/>
          <a:p>
            <a:pPr algn="ctr">
              <a:spcAft>
                <a:spcPts val="0"/>
              </a:spcAft>
              <a:buNone/>
            </a:pPr>
            <a:r>
              <a:rPr lang="en-US" sz="1300" b="0" i="1" dirty="0">
                <a:solidFill>
                  <a:srgbClr val="555960"/>
                </a:solidFill>
              </a:rPr>
              <a:t>services · queues · data · users</a:t>
            </a:r>
          </a:p>
        </p:txBody>
      </p:sp>
      <p:sp>
        <p:nvSpPr>
          <p:cNvPr id="30" name="QCard0"/>
          <p:cNvSpPr/>
          <p:nvPr/>
        </p:nvSpPr>
        <p:spPr>
          <a:xfrm>
            <a:off x="3063240" y="1280160"/>
            <a:ext cx="3200400" cy="1005840"/>
          </a:xfrm>
          <a:prstGeom prst="rect">
            <a:avLst/>
          </a:prstGeom>
          <a:solidFill>
            <a:srgbClr val="F5F1E8"/>
          </a:solidFill>
          <a:ln w="12700">
            <a:solidFill>
              <a:srgbClr val="C9B991"/>
            </a:solidFill>
          </a:ln>
        </p:spPr>
        <p:txBody>
          <a:bodyPr wrap="square" lIns="128016" tIns="91440" rIns="118872" bIns="91440" anchor="ctr"/>
          <a:lstStyle/>
          <a:p>
            <a:pPr algn="ctr">
              <a:spcAft>
                <a:spcPts val="0"/>
              </a:spcAft>
              <a:buNone/>
            </a:pPr>
            <a:r>
              <a:rPr lang="en-US" sz="1800" b="0" dirty="0">
                <a:solidFill>
                  <a:srgbClr val="5C4826"/>
                </a:solidFill>
              </a:rPr>
              <a:t>Which components may depend on this service?</a:t>
            </a:r>
          </a:p>
        </p:txBody>
      </p:sp>
      <p:cxnSp>
        <p:nvCxnSpPr>
          <p:cNvPr id="40" name="RA0"/>
          <p:cNvCxnSpPr/>
          <p:nvPr/>
        </p:nvCxnSpPr>
        <p:spPr>
          <a:xfrm>
            <a:off x="6355080" y="1783080"/>
            <a:ext cx="274320" cy="0"/>
          </a:xfrm>
          <a:prstGeom prst="straightConnector1">
            <a:avLst/>
          </a:prstGeom>
          <a:ln w="19050">
            <a:solidFill>
              <a:srgbClr val="C9B991"/>
            </a:solidFill>
            <a:tailEnd type="triangle" w="med" len="med"/>
          </a:ln>
        </p:spPr>
      </p:cxnSp>
      <p:sp>
        <p:nvSpPr>
          <p:cNvPr id="50" name="Thumb0"/>
          <p:cNvSpPr/>
          <p:nvPr/>
        </p:nvSpPr>
        <p:spPr>
          <a:xfrm>
            <a:off x="6720840" y="1280160"/>
            <a:ext cx="2148840" cy="10058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1" name="QCard1"/>
          <p:cNvSpPr/>
          <p:nvPr/>
        </p:nvSpPr>
        <p:spPr>
          <a:xfrm>
            <a:off x="3063240" y="2478024"/>
            <a:ext cx="3200400" cy="1005840"/>
          </a:xfrm>
          <a:prstGeom prst="rect">
            <a:avLst/>
          </a:prstGeom>
          <a:solidFill>
            <a:srgbClr val="F5F1E8"/>
          </a:solidFill>
          <a:ln w="12700">
            <a:solidFill>
              <a:srgbClr val="C9B991"/>
            </a:solidFill>
          </a:ln>
        </p:spPr>
        <p:txBody>
          <a:bodyPr wrap="square" lIns="128016" tIns="91440" rIns="118872" bIns="91440" anchor="ctr"/>
          <a:lstStyle/>
          <a:p>
            <a:pPr algn="ctr">
              <a:spcAft>
                <a:spcPts val="0"/>
              </a:spcAft>
              <a:buNone/>
            </a:pPr>
            <a:r>
              <a:rPr lang="en-US" sz="1800" b="0" dirty="0">
                <a:solidFill>
                  <a:srgbClr val="5C4826"/>
                </a:solidFill>
              </a:rPr>
              <a:t>Can this workflow reach an illegal state?</a:t>
            </a:r>
          </a:p>
        </p:txBody>
      </p:sp>
      <p:cxnSp>
        <p:nvCxnSpPr>
          <p:cNvPr id="41" name="RA1"/>
          <p:cNvCxnSpPr/>
          <p:nvPr/>
        </p:nvCxnSpPr>
        <p:spPr>
          <a:xfrm>
            <a:off x="6355080" y="2980944"/>
            <a:ext cx="274320" cy="0"/>
          </a:xfrm>
          <a:prstGeom prst="straightConnector1">
            <a:avLst/>
          </a:prstGeom>
          <a:ln w="19050">
            <a:solidFill>
              <a:srgbClr val="C9B991"/>
            </a:solidFill>
            <a:tailEnd type="triangle" w="med" len="med"/>
          </a:ln>
        </p:spPr>
      </p:cxnSp>
      <p:sp>
        <p:nvSpPr>
          <p:cNvPr id="51" name="Thumb1"/>
          <p:cNvSpPr/>
          <p:nvPr/>
        </p:nvSpPr>
        <p:spPr>
          <a:xfrm>
            <a:off x="6720840" y="2478024"/>
            <a:ext cx="2148840" cy="10058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2" name="QCard2"/>
          <p:cNvSpPr/>
          <p:nvPr/>
        </p:nvSpPr>
        <p:spPr>
          <a:xfrm>
            <a:off x="3063240" y="3675888"/>
            <a:ext cx="3200400" cy="1005840"/>
          </a:xfrm>
          <a:prstGeom prst="rect">
            <a:avLst/>
          </a:prstGeom>
          <a:solidFill>
            <a:srgbClr val="F5F1E8"/>
          </a:solidFill>
          <a:ln w="12700">
            <a:solidFill>
              <a:srgbClr val="C9B991"/>
            </a:solidFill>
          </a:ln>
        </p:spPr>
        <p:txBody>
          <a:bodyPr wrap="square" lIns="128016" tIns="91440" rIns="118872" bIns="91440" anchor="ctr"/>
          <a:lstStyle/>
          <a:p>
            <a:pPr algn="ctr">
              <a:spcAft>
                <a:spcPts val="0"/>
              </a:spcAft>
              <a:buNone/>
            </a:pPr>
            <a:r>
              <a:rPr lang="en-US" sz="1800" b="0" dirty="0">
                <a:solidFill>
                  <a:srgbClr val="5C4826"/>
                </a:solidFill>
              </a:rPr>
              <a:t>What limits capacity?</a:t>
            </a:r>
          </a:p>
        </p:txBody>
      </p:sp>
      <p:cxnSp>
        <p:nvCxnSpPr>
          <p:cNvPr id="42" name="RA2"/>
          <p:cNvCxnSpPr/>
          <p:nvPr/>
        </p:nvCxnSpPr>
        <p:spPr>
          <a:xfrm>
            <a:off x="6355080" y="4178808"/>
            <a:ext cx="274320" cy="0"/>
          </a:xfrm>
          <a:prstGeom prst="straightConnector1">
            <a:avLst/>
          </a:prstGeom>
          <a:ln w="19050">
            <a:solidFill>
              <a:srgbClr val="C9B991"/>
            </a:solidFill>
            <a:tailEnd type="triangle" w="med" len="med"/>
          </a:ln>
        </p:spPr>
      </p:cxnSp>
      <p:sp>
        <p:nvSpPr>
          <p:cNvPr id="52" name="Thumb2"/>
          <p:cNvSpPr/>
          <p:nvPr/>
        </p:nvSpPr>
        <p:spPr>
          <a:xfrm>
            <a:off x="6720840" y="3675888"/>
            <a:ext cx="2148840" cy="10058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53" name="D0"/>
          <p:cNvSpPr/>
          <p:nvPr/>
        </p:nvSpPr>
        <p:spPr>
          <a:xfrm>
            <a:off x="6903720" y="1416048"/>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54" name="D1"/>
          <p:cNvSpPr/>
          <p:nvPr/>
        </p:nvSpPr>
        <p:spPr>
          <a:xfrm>
            <a:off x="7680960" y="1416048"/>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55" name="D2"/>
          <p:cNvSpPr/>
          <p:nvPr/>
        </p:nvSpPr>
        <p:spPr>
          <a:xfrm>
            <a:off x="7292340" y="1755648"/>
            <a:ext cx="365760" cy="182880"/>
          </a:xfrm>
          <a:prstGeom prst="rect">
            <a:avLst/>
          </a:prstGeom>
          <a:solidFill>
            <a:srgbClr val="C9B991"/>
          </a:solidFill>
          <a:ln>
            <a:noFill/>
          </a:ln>
        </p:spPr>
        <p:txBody>
          <a:bodyPr wrap="square" lIns="27432" tIns="22860" rIns="27432" bIns="22860" anchor="ctr"/>
          <a:lstStyle/>
          <a:p>
            <a:pPr>
              <a:buNone/>
            </a:pPr>
            <a:endParaRPr lang="en-US"/>
          </a:p>
        </p:txBody>
      </p:sp>
      <p:cxnSp>
        <p:nvCxnSpPr>
          <p:cNvPr id="56" name="DA0"/>
          <p:cNvCxnSpPr/>
          <p:nvPr/>
        </p:nvCxnSpPr>
        <p:spPr>
          <a:xfrm>
            <a:off x="7086660" y="1598928"/>
            <a:ext cx="297120" cy="156720"/>
          </a:xfrm>
          <a:prstGeom prst="straightConnector1">
            <a:avLst/>
          </a:prstGeom>
          <a:ln w="12700">
            <a:solidFill>
              <a:srgbClr val="8E6F3E"/>
            </a:solidFill>
            <a:tailEnd type="triangle" w="med" len="med"/>
          </a:ln>
        </p:spPr>
      </p:cxnSp>
      <p:cxnSp>
        <p:nvCxnSpPr>
          <p:cNvPr id="57" name="DA1"/>
          <p:cNvCxnSpPr/>
          <p:nvPr/>
        </p:nvCxnSpPr>
        <p:spPr>
          <a:xfrm flipH="1">
            <a:off x="7566720" y="1598928"/>
            <a:ext cx="297120" cy="156720"/>
          </a:xfrm>
          <a:prstGeom prst="straightConnector1">
            <a:avLst/>
          </a:prstGeom>
          <a:ln w="12700">
            <a:solidFill>
              <a:srgbClr val="8E6F3E"/>
            </a:solidFill>
            <a:tailEnd type="triangle" w="med" len="med"/>
          </a:ln>
        </p:spPr>
      </p:cxnSp>
      <p:sp>
        <p:nvSpPr>
          <p:cNvPr id="58" name="TC0"/>
          <p:cNvSpPr/>
          <p:nvPr/>
        </p:nvSpPr>
        <p:spPr>
          <a:xfrm>
            <a:off x="6720840" y="2011680"/>
            <a:ext cx="214884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dependency graph</a:t>
            </a:r>
          </a:p>
        </p:txBody>
      </p:sp>
      <p:sp>
        <p:nvSpPr>
          <p:cNvPr id="60" name="SC0"/>
          <p:cNvSpPr/>
          <p:nvPr/>
        </p:nvSpPr>
        <p:spPr>
          <a:xfrm>
            <a:off x="6949440" y="260604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61" name="SC1"/>
          <p:cNvSpPr/>
          <p:nvPr/>
        </p:nvSpPr>
        <p:spPr>
          <a:xfrm>
            <a:off x="7657080" y="260604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62" name="SA0"/>
          <p:cNvCxnSpPr/>
          <p:nvPr/>
        </p:nvCxnSpPr>
        <p:spPr>
          <a:xfrm>
            <a:off x="7223760" y="2743200"/>
            <a:ext cx="433320" cy="0"/>
          </a:xfrm>
          <a:prstGeom prst="straightConnector1">
            <a:avLst/>
          </a:prstGeom>
          <a:ln w="12700">
            <a:solidFill>
              <a:srgbClr val="555960"/>
            </a:solidFill>
            <a:tailEnd type="triangle" w="med" len="med"/>
          </a:ln>
        </p:spPr>
      </p:cxnSp>
      <p:cxnSp>
        <p:nvCxnSpPr>
          <p:cNvPr id="63" name="SA1"/>
          <p:cNvCxnSpPr/>
          <p:nvPr/>
        </p:nvCxnSpPr>
        <p:spPr>
          <a:xfrm flipH="1">
            <a:off x="7223760" y="2941320"/>
            <a:ext cx="433320" cy="0"/>
          </a:xfrm>
          <a:prstGeom prst="straightConnector1">
            <a:avLst/>
          </a:prstGeom>
          <a:ln w="12700">
            <a:solidFill>
              <a:srgbClr val="555960"/>
            </a:solidFill>
            <a:tailEnd type="triangle" w="med" len="med"/>
          </a:ln>
        </p:spPr>
      </p:cxnSp>
      <p:cxnSp>
        <p:nvCxnSpPr>
          <p:cNvPr id="64" name="SX0"/>
          <p:cNvCxnSpPr/>
          <p:nvPr/>
        </p:nvCxnSpPr>
        <p:spPr>
          <a:xfrm>
            <a:off x="7368900" y="2869800"/>
            <a:ext cx="143040" cy="143040"/>
          </a:xfrm>
          <a:prstGeom prst="straightConnector1">
            <a:avLst/>
          </a:prstGeom>
          <a:ln w="12700">
            <a:solidFill>
              <a:srgbClr val="8E6F3E"/>
            </a:solidFill>
          </a:ln>
        </p:spPr>
      </p:cxnSp>
      <p:cxnSp>
        <p:nvCxnSpPr>
          <p:cNvPr id="65" name="SX1"/>
          <p:cNvCxnSpPr/>
          <p:nvPr/>
        </p:nvCxnSpPr>
        <p:spPr>
          <a:xfrm flipV="1">
            <a:off x="7368900" y="2869800"/>
            <a:ext cx="143040" cy="143040"/>
          </a:xfrm>
          <a:prstGeom prst="straightConnector1">
            <a:avLst/>
          </a:prstGeom>
          <a:ln w="12700">
            <a:solidFill>
              <a:srgbClr val="8E6F3E"/>
            </a:solidFill>
          </a:ln>
        </p:spPr>
      </p:cxnSp>
      <p:sp>
        <p:nvSpPr>
          <p:cNvPr id="66" name="TC1"/>
          <p:cNvSpPr/>
          <p:nvPr/>
        </p:nvSpPr>
        <p:spPr>
          <a:xfrm>
            <a:off x="6720840" y="3209544"/>
            <a:ext cx="214884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state machine</a:t>
            </a:r>
          </a:p>
        </p:txBody>
      </p:sp>
      <p:sp>
        <p:nvSpPr>
          <p:cNvPr id="70" name="BR0"/>
          <p:cNvSpPr/>
          <p:nvPr/>
        </p:nvSpPr>
        <p:spPr>
          <a:xfrm>
            <a:off x="6995160" y="4263390"/>
            <a:ext cx="182880" cy="137160"/>
          </a:xfrm>
          <a:prstGeom prst="rect">
            <a:avLst/>
          </a:prstGeom>
          <a:solidFill>
            <a:srgbClr val="C9B991"/>
          </a:solidFill>
          <a:ln>
            <a:noFill/>
          </a:ln>
        </p:spPr>
        <p:txBody>
          <a:bodyPr wrap="square" lIns="27432" tIns="22860" rIns="27432" bIns="22860" anchor="ctr"/>
          <a:lstStyle/>
          <a:p>
            <a:pPr>
              <a:buNone/>
            </a:pPr>
            <a:endParaRPr lang="en-US"/>
          </a:p>
        </p:txBody>
      </p:sp>
      <p:sp>
        <p:nvSpPr>
          <p:cNvPr id="71" name="BR1"/>
          <p:cNvSpPr/>
          <p:nvPr/>
        </p:nvSpPr>
        <p:spPr>
          <a:xfrm>
            <a:off x="7223760" y="4171950"/>
            <a:ext cx="182880" cy="228600"/>
          </a:xfrm>
          <a:prstGeom prst="rect">
            <a:avLst/>
          </a:prstGeom>
          <a:solidFill>
            <a:srgbClr val="C9B991"/>
          </a:solidFill>
          <a:ln>
            <a:noFill/>
          </a:ln>
        </p:spPr>
        <p:txBody>
          <a:bodyPr wrap="square" lIns="27432" tIns="22860" rIns="27432" bIns="22860" anchor="ctr"/>
          <a:lstStyle/>
          <a:p>
            <a:pPr>
              <a:buNone/>
            </a:pPr>
            <a:endParaRPr lang="en-US"/>
          </a:p>
        </p:txBody>
      </p:sp>
      <p:sp>
        <p:nvSpPr>
          <p:cNvPr id="72" name="BR2"/>
          <p:cNvSpPr/>
          <p:nvPr/>
        </p:nvSpPr>
        <p:spPr>
          <a:xfrm>
            <a:off x="7452360" y="4080510"/>
            <a:ext cx="182880" cy="320040"/>
          </a:xfrm>
          <a:prstGeom prst="rect">
            <a:avLst/>
          </a:prstGeom>
          <a:solidFill>
            <a:srgbClr val="C9B991"/>
          </a:solidFill>
          <a:ln>
            <a:noFill/>
          </a:ln>
        </p:spPr>
        <p:txBody>
          <a:bodyPr wrap="square" lIns="27432" tIns="22860" rIns="27432" bIns="22860" anchor="ctr"/>
          <a:lstStyle/>
          <a:p>
            <a:pPr>
              <a:buNone/>
            </a:pPr>
            <a:endParaRPr lang="en-US"/>
          </a:p>
        </p:txBody>
      </p:sp>
      <p:cxnSp>
        <p:nvCxnSpPr>
          <p:cNvPr id="73" name="BL0"/>
          <p:cNvCxnSpPr/>
          <p:nvPr/>
        </p:nvCxnSpPr>
        <p:spPr>
          <a:xfrm>
            <a:off x="6903720" y="4394400"/>
            <a:ext cx="822960" cy="0"/>
          </a:xfrm>
          <a:prstGeom prst="straightConnector1">
            <a:avLst/>
          </a:prstGeom>
          <a:ln w="12700">
            <a:solidFill>
              <a:srgbClr val="555960"/>
            </a:solidFill>
          </a:ln>
        </p:spPr>
      </p:cxnSp>
      <p:cxnSp>
        <p:nvCxnSpPr>
          <p:cNvPr id="74" name="TL0"/>
          <p:cNvCxnSpPr/>
          <p:nvPr/>
        </p:nvCxnSpPr>
        <p:spPr>
          <a:xfrm>
            <a:off x="6903720" y="4046220"/>
            <a:ext cx="822960" cy="0"/>
          </a:xfrm>
          <a:prstGeom prst="straightConnector1">
            <a:avLst/>
          </a:prstGeom>
          <a:ln w="19050">
            <a:solidFill>
              <a:srgbClr val="8E6F3E"/>
            </a:solidFill>
          </a:ln>
        </p:spPr>
      </p:cxnSp>
      <p:sp>
        <p:nvSpPr>
          <p:cNvPr id="75" name="TC2"/>
          <p:cNvSpPr/>
          <p:nvPr/>
        </p:nvSpPr>
        <p:spPr>
          <a:xfrm>
            <a:off x="6720840" y="4445544"/>
            <a:ext cx="214884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quantitative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questions. Three reductions.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par>
                                <p:cTn id="8" presetID="10" presetClass="entr" presetSubtype="0" fill="hold"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500"/>
                                        <p:tgtEl>
                                          <p:spTgt spid="50"/>
                                        </p:tgtEl>
                                      </p:cBhvr>
                                    </p:animEffect>
                                  </p:childTnLst>
                                </p:cTn>
                              </p:par>
                              <p:par>
                                <p:cTn id="11" presetID="10" presetClass="entr" presetSubtype="0" fill="hold" nodeType="withEffect">
                                  <p:stCondLst>
                                    <p:cond delay="0"/>
                                  </p:stCondLst>
                                  <p:childTnLst>
                                    <p:set>
                                      <p:cBhvr>
                                        <p:cTn id="12" dur="1" fill="hold">
                                          <p:stCondLst>
                                            <p:cond delay="0"/>
                                          </p:stCondLst>
                                        </p:cTn>
                                        <p:tgtEl>
                                          <p:spTgt spid="53"/>
                                        </p:tgtEl>
                                        <p:attrNameLst>
                                          <p:attrName>style.visibility</p:attrName>
                                        </p:attrNameLst>
                                      </p:cBhvr>
                                      <p:to>
                                        <p:strVal val="visible"/>
                                      </p:to>
                                    </p:set>
                                    <p:animEffect transition="in" filter="fade">
                                      <p:cBhvr>
                                        <p:cTn id="13" dur="500"/>
                                        <p:tgtEl>
                                          <p:spTgt spid="53"/>
                                        </p:tgtEl>
                                      </p:cBhvr>
                                    </p:animEffect>
                                  </p:childTnLst>
                                </p:cTn>
                              </p:par>
                              <p:par>
                                <p:cTn id="14" presetID="10" presetClass="entr" presetSubtype="0" fill="hold"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0"/>
                                  </p:stCondLst>
                                  <p:childTnLst>
                                    <p:set>
                                      <p:cBhvr>
                                        <p:cTn id="18" dur="1" fill="hold">
                                          <p:stCondLst>
                                            <p:cond delay="0"/>
                                          </p:stCondLst>
                                        </p:cTn>
                                        <p:tgtEl>
                                          <p:spTgt spid="55"/>
                                        </p:tgtEl>
                                        <p:attrNameLst>
                                          <p:attrName>style.visibility</p:attrName>
                                        </p:attrNameLst>
                                      </p:cBhvr>
                                      <p:to>
                                        <p:strVal val="visible"/>
                                      </p:to>
                                    </p:set>
                                    <p:animEffect transition="in" filter="fade">
                                      <p:cBhvr>
                                        <p:cTn id="19" dur="500"/>
                                        <p:tgtEl>
                                          <p:spTgt spid="55"/>
                                        </p:tgtEl>
                                      </p:cBhvr>
                                    </p:animEffect>
                                  </p:childTnLst>
                                </p:cTn>
                              </p:par>
                              <p:par>
                                <p:cTn id="20" presetID="10" presetClass="entr" presetSubtype="0" fill="hold" nodeType="with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500"/>
                                        <p:tgtEl>
                                          <p:spTgt spid="56"/>
                                        </p:tgtEl>
                                      </p:cBhvr>
                                    </p:animEffect>
                                  </p:childTnLst>
                                </p:cTn>
                              </p:par>
                              <p:par>
                                <p:cTn id="23" presetID="10" presetClass="entr" presetSubtype="0" fill="hold" nodeType="with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1"/>
                                        </p:tgtEl>
                                        <p:attrNameLst>
                                          <p:attrName>style.visibility</p:attrName>
                                        </p:attrNameLst>
                                      </p:cBhvr>
                                      <p:to>
                                        <p:strVal val="visible"/>
                                      </p:to>
                                    </p:set>
                                    <p:animEffect transition="in" filter="fade">
                                      <p:cBhvr>
                                        <p:cTn id="33" dur="500"/>
                                        <p:tgtEl>
                                          <p:spTgt spid="41"/>
                                        </p:tgtEl>
                                      </p:cBhvr>
                                    </p:animEffect>
                                  </p:childTnLst>
                                </p:cTn>
                              </p:par>
                              <p:par>
                                <p:cTn id="34" presetID="10"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animEffect transition="in" filter="fade">
                                      <p:cBhvr>
                                        <p:cTn id="36" dur="500"/>
                                        <p:tgtEl>
                                          <p:spTgt spid="51"/>
                                        </p:tgtEl>
                                      </p:cBhvr>
                                    </p:animEffect>
                                  </p:childTnLst>
                                </p:cTn>
                              </p:par>
                              <p:par>
                                <p:cTn id="37" presetID="10" presetClass="entr" presetSubtype="0" fill="hold" nodeType="withEffect">
                                  <p:stCondLst>
                                    <p:cond delay="0"/>
                                  </p:stCondLst>
                                  <p:childTnLst>
                                    <p:set>
                                      <p:cBhvr>
                                        <p:cTn id="38" dur="1" fill="hold">
                                          <p:stCondLst>
                                            <p:cond delay="0"/>
                                          </p:stCondLst>
                                        </p:cTn>
                                        <p:tgtEl>
                                          <p:spTgt spid="60"/>
                                        </p:tgtEl>
                                        <p:attrNameLst>
                                          <p:attrName>style.visibility</p:attrName>
                                        </p:attrNameLst>
                                      </p:cBhvr>
                                      <p:to>
                                        <p:strVal val="visible"/>
                                      </p:to>
                                    </p:set>
                                    <p:animEffect transition="in" filter="fade">
                                      <p:cBhvr>
                                        <p:cTn id="39" dur="500"/>
                                        <p:tgtEl>
                                          <p:spTgt spid="60"/>
                                        </p:tgtEl>
                                      </p:cBhvr>
                                    </p:animEffect>
                                  </p:childTnLst>
                                </p:cTn>
                              </p:par>
                              <p:par>
                                <p:cTn id="40" presetID="10" presetClass="entr" presetSubtype="0" fill="hold" nodeType="withEffect">
                                  <p:stCondLst>
                                    <p:cond delay="0"/>
                                  </p:stCondLst>
                                  <p:childTnLst>
                                    <p:set>
                                      <p:cBhvr>
                                        <p:cTn id="41" dur="1" fill="hold">
                                          <p:stCondLst>
                                            <p:cond delay="0"/>
                                          </p:stCondLst>
                                        </p:cTn>
                                        <p:tgtEl>
                                          <p:spTgt spid="61"/>
                                        </p:tgtEl>
                                        <p:attrNameLst>
                                          <p:attrName>style.visibility</p:attrName>
                                        </p:attrNameLst>
                                      </p:cBhvr>
                                      <p:to>
                                        <p:strVal val="visible"/>
                                      </p:to>
                                    </p:set>
                                    <p:animEffect transition="in" filter="fade">
                                      <p:cBhvr>
                                        <p:cTn id="42" dur="500"/>
                                        <p:tgtEl>
                                          <p:spTgt spid="61"/>
                                        </p:tgtEl>
                                      </p:cBhvr>
                                    </p:animEffect>
                                  </p:childTnLst>
                                </p:cTn>
                              </p:par>
                              <p:par>
                                <p:cTn id="43" presetID="10" presetClass="entr" presetSubtype="0" fill="hold" nodeType="withEffect">
                                  <p:stCondLst>
                                    <p:cond delay="0"/>
                                  </p:stCondLst>
                                  <p:childTnLst>
                                    <p:set>
                                      <p:cBhvr>
                                        <p:cTn id="44" dur="1" fill="hold">
                                          <p:stCondLst>
                                            <p:cond delay="0"/>
                                          </p:stCondLst>
                                        </p:cTn>
                                        <p:tgtEl>
                                          <p:spTgt spid="62"/>
                                        </p:tgtEl>
                                        <p:attrNameLst>
                                          <p:attrName>style.visibility</p:attrName>
                                        </p:attrNameLst>
                                      </p:cBhvr>
                                      <p:to>
                                        <p:strVal val="visible"/>
                                      </p:to>
                                    </p:set>
                                    <p:animEffect transition="in" filter="fade">
                                      <p:cBhvr>
                                        <p:cTn id="45" dur="500"/>
                                        <p:tgtEl>
                                          <p:spTgt spid="62"/>
                                        </p:tgtEl>
                                      </p:cBhvr>
                                    </p:animEffect>
                                  </p:childTnLst>
                                </p:cTn>
                              </p:par>
                              <p:par>
                                <p:cTn id="46" presetID="10" presetClass="entr" presetSubtype="0" fill="hold" nodeType="withEffect">
                                  <p:stCondLst>
                                    <p:cond delay="0"/>
                                  </p:stCondLst>
                                  <p:childTnLst>
                                    <p:set>
                                      <p:cBhvr>
                                        <p:cTn id="47" dur="1" fill="hold">
                                          <p:stCondLst>
                                            <p:cond delay="0"/>
                                          </p:stCondLst>
                                        </p:cTn>
                                        <p:tgtEl>
                                          <p:spTgt spid="63"/>
                                        </p:tgtEl>
                                        <p:attrNameLst>
                                          <p:attrName>style.visibility</p:attrName>
                                        </p:attrNameLst>
                                      </p:cBhvr>
                                      <p:to>
                                        <p:strVal val="visible"/>
                                      </p:to>
                                    </p:set>
                                    <p:animEffect transition="in" filter="fade">
                                      <p:cBhvr>
                                        <p:cTn id="48" dur="500"/>
                                        <p:tgtEl>
                                          <p:spTgt spid="63"/>
                                        </p:tgtEl>
                                      </p:cBhvr>
                                    </p:animEffect>
                                  </p:childTnLst>
                                </p:cTn>
                              </p:par>
                              <p:par>
                                <p:cTn id="49" presetID="10" presetClass="entr" presetSubtype="0" fill="hold" nodeType="withEffect">
                                  <p:stCondLst>
                                    <p:cond delay="0"/>
                                  </p:stCondLst>
                                  <p:childTnLst>
                                    <p:set>
                                      <p:cBhvr>
                                        <p:cTn id="50" dur="1" fill="hold">
                                          <p:stCondLst>
                                            <p:cond delay="0"/>
                                          </p:stCondLst>
                                        </p:cTn>
                                        <p:tgtEl>
                                          <p:spTgt spid="64"/>
                                        </p:tgtEl>
                                        <p:attrNameLst>
                                          <p:attrName>style.visibility</p:attrName>
                                        </p:attrNameLst>
                                      </p:cBhvr>
                                      <p:to>
                                        <p:strVal val="visible"/>
                                      </p:to>
                                    </p:set>
                                    <p:animEffect transition="in" filter="fade">
                                      <p:cBhvr>
                                        <p:cTn id="51" dur="500"/>
                                        <p:tgtEl>
                                          <p:spTgt spid="64"/>
                                        </p:tgtEl>
                                      </p:cBhvr>
                                    </p:animEffect>
                                  </p:childTnLst>
                                </p:cTn>
                              </p:par>
                              <p:par>
                                <p:cTn id="52" presetID="10" presetClass="entr" presetSubtype="0" fill="hold" nodeType="withEffect">
                                  <p:stCondLst>
                                    <p:cond delay="0"/>
                                  </p:stCondLst>
                                  <p:childTnLst>
                                    <p:set>
                                      <p:cBhvr>
                                        <p:cTn id="53" dur="1" fill="hold">
                                          <p:stCondLst>
                                            <p:cond delay="0"/>
                                          </p:stCondLst>
                                        </p:cTn>
                                        <p:tgtEl>
                                          <p:spTgt spid="65"/>
                                        </p:tgtEl>
                                        <p:attrNameLst>
                                          <p:attrName>style.visibility</p:attrName>
                                        </p:attrNameLst>
                                      </p:cBhvr>
                                      <p:to>
                                        <p:strVal val="visible"/>
                                      </p:to>
                                    </p:set>
                                    <p:animEffect transition="in" filter="fade">
                                      <p:cBhvr>
                                        <p:cTn id="54" dur="500"/>
                                        <p:tgtEl>
                                          <p:spTgt spid="65"/>
                                        </p:tgtEl>
                                      </p:cBhvr>
                                    </p:animEffect>
                                  </p:childTnLst>
                                </p:cTn>
                              </p:par>
                              <p:par>
                                <p:cTn id="55" presetID="10" presetClass="entr" presetSubtype="0" fill="hold" nodeType="withEffect">
                                  <p:stCondLst>
                                    <p:cond delay="0"/>
                                  </p:stCondLst>
                                  <p:childTnLst>
                                    <p:set>
                                      <p:cBhvr>
                                        <p:cTn id="56" dur="1" fill="hold">
                                          <p:stCondLst>
                                            <p:cond delay="0"/>
                                          </p:stCondLst>
                                        </p:cTn>
                                        <p:tgtEl>
                                          <p:spTgt spid="66"/>
                                        </p:tgtEl>
                                        <p:attrNameLst>
                                          <p:attrName>style.visibility</p:attrName>
                                        </p:attrNameLst>
                                      </p:cBhvr>
                                      <p:to>
                                        <p:strVal val="visible"/>
                                      </p:to>
                                    </p:set>
                                    <p:animEffect transition="in" filter="fade">
                                      <p:cBhvr>
                                        <p:cTn id="57" dur="500"/>
                                        <p:tgtEl>
                                          <p:spTgt spid="6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par>
                                <p:cTn id="63" presetID="10" presetClass="entr" presetSubtype="0" fill="hold" nodeType="withEffect">
                                  <p:stCondLst>
                                    <p:cond delay="0"/>
                                  </p:stCondLst>
                                  <p:childTnLst>
                                    <p:set>
                                      <p:cBhvr>
                                        <p:cTn id="64" dur="1" fill="hold">
                                          <p:stCondLst>
                                            <p:cond delay="0"/>
                                          </p:stCondLst>
                                        </p:cTn>
                                        <p:tgtEl>
                                          <p:spTgt spid="52"/>
                                        </p:tgtEl>
                                        <p:attrNameLst>
                                          <p:attrName>style.visibility</p:attrName>
                                        </p:attrNameLst>
                                      </p:cBhvr>
                                      <p:to>
                                        <p:strVal val="visible"/>
                                      </p:to>
                                    </p:set>
                                    <p:animEffect transition="in" filter="fade">
                                      <p:cBhvr>
                                        <p:cTn id="65" dur="500"/>
                                        <p:tgtEl>
                                          <p:spTgt spid="52"/>
                                        </p:tgtEl>
                                      </p:cBhvr>
                                    </p:animEffect>
                                  </p:childTnLst>
                                </p:cTn>
                              </p:par>
                              <p:par>
                                <p:cTn id="66" presetID="10" presetClass="entr" presetSubtype="0" fill="hold"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fade">
                                      <p:cBhvr>
                                        <p:cTn id="68" dur="500"/>
                                        <p:tgtEl>
                                          <p:spTgt spid="70"/>
                                        </p:tgtEl>
                                      </p:cBhvr>
                                    </p:animEffect>
                                  </p:childTnLst>
                                </p:cTn>
                              </p:par>
                              <p:par>
                                <p:cTn id="69" presetID="10" presetClass="entr" presetSubtype="0" fill="hold" nodeType="withEffect">
                                  <p:stCondLst>
                                    <p:cond delay="0"/>
                                  </p:stCondLst>
                                  <p:childTnLst>
                                    <p:set>
                                      <p:cBhvr>
                                        <p:cTn id="70" dur="1" fill="hold">
                                          <p:stCondLst>
                                            <p:cond delay="0"/>
                                          </p:stCondLst>
                                        </p:cTn>
                                        <p:tgtEl>
                                          <p:spTgt spid="71"/>
                                        </p:tgtEl>
                                        <p:attrNameLst>
                                          <p:attrName>style.visibility</p:attrName>
                                        </p:attrNameLst>
                                      </p:cBhvr>
                                      <p:to>
                                        <p:strVal val="visible"/>
                                      </p:to>
                                    </p:set>
                                    <p:animEffect transition="in" filter="fade">
                                      <p:cBhvr>
                                        <p:cTn id="71" dur="500"/>
                                        <p:tgtEl>
                                          <p:spTgt spid="71"/>
                                        </p:tgtEl>
                                      </p:cBhvr>
                                    </p:animEffect>
                                  </p:childTnLst>
                                </p:cTn>
                              </p:par>
                              <p:par>
                                <p:cTn id="72" presetID="10" presetClass="entr" presetSubtype="0" fill="hold" nodeType="withEffect">
                                  <p:stCondLst>
                                    <p:cond delay="0"/>
                                  </p:stCondLst>
                                  <p:childTnLst>
                                    <p:set>
                                      <p:cBhvr>
                                        <p:cTn id="73" dur="1" fill="hold">
                                          <p:stCondLst>
                                            <p:cond delay="0"/>
                                          </p:stCondLst>
                                        </p:cTn>
                                        <p:tgtEl>
                                          <p:spTgt spid="72"/>
                                        </p:tgtEl>
                                        <p:attrNameLst>
                                          <p:attrName>style.visibility</p:attrName>
                                        </p:attrNameLst>
                                      </p:cBhvr>
                                      <p:to>
                                        <p:strVal val="visible"/>
                                      </p:to>
                                    </p:set>
                                    <p:animEffect transition="in" filter="fade">
                                      <p:cBhvr>
                                        <p:cTn id="74" dur="500"/>
                                        <p:tgtEl>
                                          <p:spTgt spid="72"/>
                                        </p:tgtEl>
                                      </p:cBhvr>
                                    </p:animEffect>
                                  </p:childTnLst>
                                </p:cTn>
                              </p:par>
                              <p:par>
                                <p:cTn id="75" presetID="10" presetClass="entr" presetSubtype="0" fill="hold" nodeType="withEffect">
                                  <p:stCondLst>
                                    <p:cond delay="0"/>
                                  </p:stCondLst>
                                  <p:childTnLst>
                                    <p:set>
                                      <p:cBhvr>
                                        <p:cTn id="76" dur="1" fill="hold">
                                          <p:stCondLst>
                                            <p:cond delay="0"/>
                                          </p:stCondLst>
                                        </p:cTn>
                                        <p:tgtEl>
                                          <p:spTgt spid="73"/>
                                        </p:tgtEl>
                                        <p:attrNameLst>
                                          <p:attrName>style.visibility</p:attrName>
                                        </p:attrNameLst>
                                      </p:cBhvr>
                                      <p:to>
                                        <p:strVal val="visible"/>
                                      </p:to>
                                    </p:set>
                                    <p:animEffect transition="in" filter="fade">
                                      <p:cBhvr>
                                        <p:cTn id="77" dur="500"/>
                                        <p:tgtEl>
                                          <p:spTgt spid="73"/>
                                        </p:tgtEl>
                                      </p:cBhvr>
                                    </p:animEffect>
                                  </p:childTnLst>
                                </p:cTn>
                              </p:par>
                              <p:par>
                                <p:cTn id="78" presetID="10" presetClass="entr" presetSubtype="0" fill="hold" nodeType="withEffect">
                                  <p:stCondLst>
                                    <p:cond delay="0"/>
                                  </p:stCondLst>
                                  <p:childTnLst>
                                    <p:set>
                                      <p:cBhvr>
                                        <p:cTn id="79" dur="1" fill="hold">
                                          <p:stCondLst>
                                            <p:cond delay="0"/>
                                          </p:stCondLst>
                                        </p:cTn>
                                        <p:tgtEl>
                                          <p:spTgt spid="74"/>
                                        </p:tgtEl>
                                        <p:attrNameLst>
                                          <p:attrName>style.visibility</p:attrName>
                                        </p:attrNameLst>
                                      </p:cBhvr>
                                      <p:to>
                                        <p:strVal val="visible"/>
                                      </p:to>
                                    </p:set>
                                    <p:animEffect transition="in" filter="fade">
                                      <p:cBhvr>
                                        <p:cTn id="80" dur="500"/>
                                        <p:tgtEl>
                                          <p:spTgt spid="74"/>
                                        </p:tgtEl>
                                      </p:cBhvr>
                                    </p:animEffect>
                                  </p:childTnLst>
                                </p:cTn>
                              </p:par>
                              <p:par>
                                <p:cTn id="81" presetID="10" presetClass="entr" presetSubtype="0" fill="hold" nodeType="withEffect">
                                  <p:stCondLst>
                                    <p:cond delay="0"/>
                                  </p:stCondLst>
                                  <p:childTnLst>
                                    <p:set>
                                      <p:cBhvr>
                                        <p:cTn id="82" dur="1" fill="hold">
                                          <p:stCondLst>
                                            <p:cond delay="0"/>
                                          </p:stCondLst>
                                        </p:cTn>
                                        <p:tgtEl>
                                          <p:spTgt spid="75"/>
                                        </p:tgtEl>
                                        <p:attrNameLst>
                                          <p:attrName>style.visibility</p:attrName>
                                        </p:attrNameLst>
                                      </p:cBhvr>
                                      <p:to>
                                        <p:strVal val="visible"/>
                                      </p:to>
                                    </p:set>
                                    <p:animEffect transition="in" filter="fade">
                                      <p:cBhvr>
                                        <p:cTn id="83" dur="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No model is simply “the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0" name="FPanel"/>
          <p:cNvSpPr/>
          <p:nvPr/>
        </p:nvSpPr>
        <p:spPr>
          <a:xfrm>
            <a:off x="3086100" y="1097280"/>
            <a:ext cx="2971800" cy="11887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FG0"/>
          <p:cNvSpPr/>
          <p:nvPr/>
        </p:nvSpPr>
        <p:spPr>
          <a:xfrm>
            <a:off x="3383280" y="1280160"/>
            <a:ext cx="45720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12" name="FG1"/>
          <p:cNvSpPr/>
          <p:nvPr/>
        </p:nvSpPr>
        <p:spPr>
          <a:xfrm>
            <a:off x="4114800" y="1280160"/>
            <a:ext cx="45720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13" name="FG2"/>
          <p:cNvSpPr/>
          <p:nvPr/>
        </p:nvSpPr>
        <p:spPr>
          <a:xfrm>
            <a:off x="4846320" y="1280160"/>
            <a:ext cx="45720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14" name="FG3"/>
          <p:cNvSpPr/>
          <p:nvPr/>
        </p:nvSpPr>
        <p:spPr>
          <a:xfrm>
            <a:off x="3749040" y="1737360"/>
            <a:ext cx="365760" cy="365760"/>
          </a:xfrm>
          <a:prstGeom prst="can">
            <a:avLst/>
          </a:prstGeom>
          <a:noFill/>
          <a:ln w="12700">
            <a:solidFill>
              <a:srgbClr val="8A8F98"/>
            </a:solidFill>
          </a:ln>
        </p:spPr>
        <p:txBody>
          <a:bodyPr wrap="square" lIns="27432" tIns="22860" rIns="27432" bIns="22860" anchor="ctr"/>
          <a:lstStyle/>
          <a:p>
            <a:pPr>
              <a:buNone/>
            </a:pPr>
            <a:endParaRPr lang="en-US"/>
          </a:p>
        </p:txBody>
      </p:sp>
      <p:sp>
        <p:nvSpPr>
          <p:cNvPr id="15" name="FG4"/>
          <p:cNvSpPr/>
          <p:nvPr/>
        </p:nvSpPr>
        <p:spPr>
          <a:xfrm>
            <a:off x="4846320" y="1737360"/>
            <a:ext cx="274320" cy="274320"/>
          </a:xfrm>
          <a:prstGeom prst="ellipse">
            <a:avLst/>
          </a:prstGeom>
          <a:noFill/>
          <a:ln w="12700">
            <a:solidFill>
              <a:srgbClr val="8A8F98"/>
            </a:solidFill>
          </a:ln>
        </p:spPr>
        <p:txBody>
          <a:bodyPr wrap="square" lIns="27432" tIns="22860" rIns="27432" bIns="22860" anchor="ctr"/>
          <a:lstStyle/>
          <a:p>
            <a:pPr>
              <a:buNone/>
            </a:pPr>
            <a:endParaRPr lang="en-US"/>
          </a:p>
        </p:txBody>
      </p:sp>
      <p:cxnSp>
        <p:nvCxnSpPr>
          <p:cNvPr id="16" name="FL0"/>
          <p:cNvCxnSpPr/>
          <p:nvPr/>
        </p:nvCxnSpPr>
        <p:spPr>
          <a:xfrm>
            <a:off x="3611880" y="1508760"/>
            <a:ext cx="320040" cy="228600"/>
          </a:xfrm>
          <a:prstGeom prst="straightConnector1">
            <a:avLst/>
          </a:prstGeom>
          <a:ln w="12700">
            <a:solidFill>
              <a:srgbClr val="8A8F98"/>
            </a:solidFill>
          </a:ln>
        </p:spPr>
      </p:cxnSp>
      <p:cxnSp>
        <p:nvCxnSpPr>
          <p:cNvPr id="17" name="FL1"/>
          <p:cNvCxnSpPr/>
          <p:nvPr/>
        </p:nvCxnSpPr>
        <p:spPr>
          <a:xfrm flipH="1">
            <a:off x="3931920" y="1508760"/>
            <a:ext cx="411480" cy="228600"/>
          </a:xfrm>
          <a:prstGeom prst="straightConnector1">
            <a:avLst/>
          </a:prstGeom>
          <a:ln w="12700">
            <a:solidFill>
              <a:srgbClr val="8A8F98"/>
            </a:solidFill>
          </a:ln>
        </p:spPr>
      </p:cxnSp>
      <p:cxnSp>
        <p:nvCxnSpPr>
          <p:cNvPr id="18" name="FL2"/>
          <p:cNvCxnSpPr/>
          <p:nvPr/>
        </p:nvCxnSpPr>
        <p:spPr>
          <a:xfrm flipH="1">
            <a:off x="4983480" y="1508760"/>
            <a:ext cx="91440" cy="228600"/>
          </a:xfrm>
          <a:prstGeom prst="straightConnector1">
            <a:avLst/>
          </a:prstGeom>
          <a:ln w="12700">
            <a:solidFill>
              <a:srgbClr val="8A8F98"/>
            </a:solidFill>
          </a:ln>
        </p:spPr>
      </p:cxnSp>
      <p:cxnSp>
        <p:nvCxnSpPr>
          <p:cNvPr id="21" name="FA0"/>
          <p:cNvCxnSpPr/>
          <p:nvPr/>
        </p:nvCxnSpPr>
        <p:spPr>
          <a:xfrm flipH="1">
            <a:off x="1613916" y="2286000"/>
            <a:ext cx="2157984" cy="640080"/>
          </a:xfrm>
          <a:prstGeom prst="straightConnector1">
            <a:avLst/>
          </a:prstGeom>
          <a:ln w="19050">
            <a:solidFill>
              <a:srgbClr val="C9B991"/>
            </a:solidFill>
            <a:tailEnd type="triangle" w="med" len="med"/>
          </a:ln>
        </p:spPr>
      </p:cxnSp>
      <p:cxnSp>
        <p:nvCxnSpPr>
          <p:cNvPr id="22" name="FA1"/>
          <p:cNvCxnSpPr/>
          <p:nvPr/>
        </p:nvCxnSpPr>
        <p:spPr>
          <a:xfrm>
            <a:off x="4567428" y="2286000"/>
            <a:ext cx="0" cy="640080"/>
          </a:xfrm>
          <a:prstGeom prst="straightConnector1">
            <a:avLst/>
          </a:prstGeom>
          <a:ln w="19050">
            <a:solidFill>
              <a:srgbClr val="C9B991"/>
            </a:solidFill>
            <a:tailEnd type="triangle" w="med" len="med"/>
          </a:ln>
        </p:spPr>
      </p:cxnSp>
      <p:cxnSp>
        <p:nvCxnSpPr>
          <p:cNvPr id="23" name="FA2"/>
          <p:cNvCxnSpPr/>
          <p:nvPr/>
        </p:nvCxnSpPr>
        <p:spPr>
          <a:xfrm>
            <a:off x="5372100" y="2286000"/>
            <a:ext cx="2148840" cy="640080"/>
          </a:xfrm>
          <a:prstGeom prst="straightConnector1">
            <a:avLst/>
          </a:prstGeom>
          <a:ln w="19050">
            <a:solidFill>
              <a:srgbClr val="C9B991"/>
            </a:solidFill>
            <a:tailEnd type="triangle" w="med" len="med"/>
          </a:ln>
        </p:spPr>
      </p:cxnSp>
      <p:sp>
        <p:nvSpPr>
          <p:cNvPr id="30" name="MCard0"/>
          <p:cNvSpPr/>
          <p:nvPr/>
        </p:nvSpPr>
        <p:spPr>
          <a:xfrm>
            <a:off x="274320" y="2926080"/>
            <a:ext cx="2679192" cy="150876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33" name="ML0"/>
          <p:cNvSpPr/>
          <p:nvPr/>
        </p:nvSpPr>
        <p:spPr>
          <a:xfrm>
            <a:off x="274320" y="3017520"/>
            <a:ext cx="2679192" cy="274320"/>
          </a:xfrm>
          <a:prstGeom prst="rect">
            <a:avLst/>
          </a:prstGeom>
          <a:noFill/>
          <a:ln>
            <a:noFill/>
          </a:ln>
        </p:spPr>
        <p:txBody>
          <a:bodyPr wrap="square" lIns="0" tIns="0" rIns="0" bIns="0" anchor="t"/>
          <a:lstStyle/>
          <a:p>
            <a:pPr algn="ctr">
              <a:spcAft>
                <a:spcPts val="0"/>
              </a:spcAft>
              <a:buNone/>
            </a:pPr>
            <a:r>
              <a:rPr lang="en-US" sz="1600" b="1" dirty="0">
                <a:solidFill>
                  <a:srgbClr val="8E6F3E"/>
                </a:solidFill>
              </a:rPr>
              <a:t>DEPENDENCY GRAPH</a:t>
            </a:r>
          </a:p>
        </p:txBody>
      </p:sp>
      <p:sp>
        <p:nvSpPr>
          <p:cNvPr id="52" name="MK0"/>
          <p:cNvSpPr/>
          <p:nvPr/>
        </p:nvSpPr>
        <p:spPr>
          <a:xfrm>
            <a:off x="274320" y="4023360"/>
            <a:ext cx="2679192" cy="2286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keeps the edge set</a:t>
            </a:r>
          </a:p>
        </p:txBody>
      </p:sp>
      <p:sp>
        <p:nvSpPr>
          <p:cNvPr id="31" name="MCard1"/>
          <p:cNvSpPr/>
          <p:nvPr/>
        </p:nvSpPr>
        <p:spPr>
          <a:xfrm>
            <a:off x="3227832" y="2926080"/>
            <a:ext cx="2679192" cy="150876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34" name="ML1"/>
          <p:cNvSpPr/>
          <p:nvPr/>
        </p:nvSpPr>
        <p:spPr>
          <a:xfrm>
            <a:off x="3227832" y="3017520"/>
            <a:ext cx="2679192" cy="274320"/>
          </a:xfrm>
          <a:prstGeom prst="rect">
            <a:avLst/>
          </a:prstGeom>
          <a:noFill/>
          <a:ln>
            <a:noFill/>
          </a:ln>
        </p:spPr>
        <p:txBody>
          <a:bodyPr wrap="square" lIns="0" tIns="0" rIns="0" bIns="0" anchor="t"/>
          <a:lstStyle/>
          <a:p>
            <a:pPr algn="ctr">
              <a:spcAft>
                <a:spcPts val="0"/>
              </a:spcAft>
              <a:buNone/>
            </a:pPr>
            <a:r>
              <a:rPr lang="en-US" sz="1600" b="1" dirty="0">
                <a:solidFill>
                  <a:srgbClr val="8E6F3E"/>
                </a:solidFill>
              </a:rPr>
              <a:t>STATE MACHINE</a:t>
            </a:r>
          </a:p>
        </p:txBody>
      </p:sp>
      <p:sp>
        <p:nvSpPr>
          <p:cNvPr id="53" name="MK1"/>
          <p:cNvSpPr/>
          <p:nvPr/>
        </p:nvSpPr>
        <p:spPr>
          <a:xfrm>
            <a:off x="3227832" y="4023360"/>
            <a:ext cx="2679192" cy="2286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keeps the transitions</a:t>
            </a:r>
          </a:p>
        </p:txBody>
      </p:sp>
      <p:sp>
        <p:nvSpPr>
          <p:cNvPr id="32" name="MCard2"/>
          <p:cNvSpPr/>
          <p:nvPr/>
        </p:nvSpPr>
        <p:spPr>
          <a:xfrm>
            <a:off x="6181344" y="2926080"/>
            <a:ext cx="2679192" cy="150876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35" name="ML2"/>
          <p:cNvSpPr/>
          <p:nvPr/>
        </p:nvSpPr>
        <p:spPr>
          <a:xfrm>
            <a:off x="6181344" y="3017520"/>
            <a:ext cx="2679192" cy="274320"/>
          </a:xfrm>
          <a:prstGeom prst="rect">
            <a:avLst/>
          </a:prstGeom>
          <a:noFill/>
          <a:ln>
            <a:noFill/>
          </a:ln>
        </p:spPr>
        <p:txBody>
          <a:bodyPr wrap="square" lIns="0" tIns="0" rIns="0" bIns="0" anchor="t"/>
          <a:lstStyle/>
          <a:p>
            <a:pPr algn="ctr">
              <a:spcAft>
                <a:spcPts val="0"/>
              </a:spcAft>
              <a:buNone/>
            </a:pPr>
            <a:r>
              <a:rPr lang="en-US" sz="1600" b="1" dirty="0">
                <a:solidFill>
                  <a:srgbClr val="8E6F3E"/>
                </a:solidFill>
              </a:rPr>
              <a:t>QUANTITATIVE MODEL</a:t>
            </a:r>
          </a:p>
        </p:txBody>
      </p:sp>
      <p:sp>
        <p:nvSpPr>
          <p:cNvPr id="54" name="MK2"/>
          <p:cNvSpPr/>
          <p:nvPr/>
        </p:nvSpPr>
        <p:spPr>
          <a:xfrm>
            <a:off x="6181344" y="4023360"/>
            <a:ext cx="2679192" cy="2286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keeps the bounds</a:t>
            </a:r>
          </a:p>
        </p:txBody>
      </p:sp>
      <p:sp>
        <p:nvSpPr>
          <p:cNvPr id="36" name="DP0"/>
          <p:cNvSpPr/>
          <p:nvPr/>
        </p:nvSpPr>
        <p:spPr>
          <a:xfrm>
            <a:off x="1005840" y="3383280"/>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37" name="DP1"/>
          <p:cNvSpPr/>
          <p:nvPr/>
        </p:nvSpPr>
        <p:spPr>
          <a:xfrm>
            <a:off x="1874520" y="3383280"/>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38" name="DP2"/>
          <p:cNvSpPr/>
          <p:nvPr/>
        </p:nvSpPr>
        <p:spPr>
          <a:xfrm>
            <a:off x="1440180" y="3703320"/>
            <a:ext cx="365760" cy="182880"/>
          </a:xfrm>
          <a:prstGeom prst="rect">
            <a:avLst/>
          </a:prstGeom>
          <a:solidFill>
            <a:srgbClr val="C9B991"/>
          </a:solidFill>
          <a:ln>
            <a:noFill/>
          </a:ln>
        </p:spPr>
        <p:txBody>
          <a:bodyPr wrap="square" lIns="27432" tIns="22860" rIns="27432" bIns="22860" anchor="ctr"/>
          <a:lstStyle/>
          <a:p>
            <a:pPr>
              <a:buNone/>
            </a:pPr>
            <a:endParaRPr lang="en-US"/>
          </a:p>
        </p:txBody>
      </p:sp>
      <p:cxnSp>
        <p:nvCxnSpPr>
          <p:cNvPr id="39" name="DPA0"/>
          <p:cNvCxnSpPr/>
          <p:nvPr/>
        </p:nvCxnSpPr>
        <p:spPr>
          <a:xfrm>
            <a:off x="1188720" y="3566160"/>
            <a:ext cx="342900" cy="137160"/>
          </a:xfrm>
          <a:prstGeom prst="straightConnector1">
            <a:avLst/>
          </a:prstGeom>
          <a:ln w="12700">
            <a:solidFill>
              <a:srgbClr val="8E6F3E"/>
            </a:solidFill>
            <a:tailEnd type="triangle" w="med" len="med"/>
          </a:ln>
        </p:spPr>
      </p:cxnSp>
      <p:cxnSp>
        <p:nvCxnSpPr>
          <p:cNvPr id="40" name="DPA1"/>
          <p:cNvCxnSpPr/>
          <p:nvPr/>
        </p:nvCxnSpPr>
        <p:spPr>
          <a:xfrm flipH="1">
            <a:off x="1714500" y="3566160"/>
            <a:ext cx="342900" cy="137160"/>
          </a:xfrm>
          <a:prstGeom prst="straightConnector1">
            <a:avLst/>
          </a:prstGeom>
          <a:ln w="12700">
            <a:solidFill>
              <a:srgbClr val="8E6F3E"/>
            </a:solidFill>
            <a:tailEnd type="triangle" w="med" len="med"/>
          </a:ln>
        </p:spPr>
      </p:cxnSp>
      <p:sp>
        <p:nvSpPr>
          <p:cNvPr id="41" name="SM0"/>
          <p:cNvSpPr/>
          <p:nvPr/>
        </p:nvSpPr>
        <p:spPr>
          <a:xfrm>
            <a:off x="3840480" y="347472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42" name="SM1"/>
          <p:cNvSpPr/>
          <p:nvPr/>
        </p:nvSpPr>
        <p:spPr>
          <a:xfrm>
            <a:off x="4937760" y="347472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43" name="SMA0"/>
          <p:cNvCxnSpPr/>
          <p:nvPr/>
        </p:nvCxnSpPr>
        <p:spPr>
          <a:xfrm>
            <a:off x="4114800" y="3611880"/>
            <a:ext cx="822960" cy="0"/>
          </a:xfrm>
          <a:prstGeom prst="straightConnector1">
            <a:avLst/>
          </a:prstGeom>
          <a:ln w="12700">
            <a:solidFill>
              <a:srgbClr val="555960"/>
            </a:solidFill>
            <a:tailEnd type="triangle" w="med" len="med"/>
          </a:ln>
        </p:spPr>
      </p:cxnSp>
      <p:cxnSp>
        <p:nvCxnSpPr>
          <p:cNvPr id="44" name="SMA1"/>
          <p:cNvCxnSpPr/>
          <p:nvPr/>
        </p:nvCxnSpPr>
        <p:spPr>
          <a:xfrm flipH="1">
            <a:off x="4114800" y="3771900"/>
            <a:ext cx="822960" cy="0"/>
          </a:xfrm>
          <a:prstGeom prst="straightConnector1">
            <a:avLst/>
          </a:prstGeom>
          <a:ln w="12700">
            <a:solidFill>
              <a:srgbClr val="555960"/>
            </a:solidFill>
            <a:tailEnd type="triangle" w="med" len="med"/>
          </a:ln>
        </p:spPr>
      </p:cxnSp>
      <p:cxnSp>
        <p:nvCxnSpPr>
          <p:cNvPr id="45" name="SMX0"/>
          <p:cNvCxnSpPr/>
          <p:nvPr/>
        </p:nvCxnSpPr>
        <p:spPr>
          <a:xfrm>
            <a:off x="4457700" y="3703320"/>
            <a:ext cx="137160" cy="137160"/>
          </a:xfrm>
          <a:prstGeom prst="straightConnector1">
            <a:avLst/>
          </a:prstGeom>
          <a:ln w="12700">
            <a:solidFill>
              <a:srgbClr val="8E6F3E"/>
            </a:solidFill>
          </a:ln>
        </p:spPr>
      </p:cxnSp>
      <p:cxnSp>
        <p:nvCxnSpPr>
          <p:cNvPr id="46" name="SMX1"/>
          <p:cNvCxnSpPr/>
          <p:nvPr/>
        </p:nvCxnSpPr>
        <p:spPr>
          <a:xfrm flipV="1">
            <a:off x="4457700" y="3703320"/>
            <a:ext cx="137160" cy="137160"/>
          </a:xfrm>
          <a:prstGeom prst="straightConnector1">
            <a:avLst/>
          </a:prstGeom>
          <a:ln w="12700">
            <a:solidFill>
              <a:srgbClr val="8E6F3E"/>
            </a:solidFill>
          </a:ln>
        </p:spPr>
      </p:cxnSp>
      <p:sp>
        <p:nvSpPr>
          <p:cNvPr id="47" name="QB0"/>
          <p:cNvSpPr/>
          <p:nvPr/>
        </p:nvSpPr>
        <p:spPr>
          <a:xfrm>
            <a:off x="7155180" y="3794760"/>
            <a:ext cx="182880" cy="137160"/>
          </a:xfrm>
          <a:prstGeom prst="rect">
            <a:avLst/>
          </a:prstGeom>
          <a:solidFill>
            <a:srgbClr val="C9B991"/>
          </a:solidFill>
          <a:ln>
            <a:noFill/>
          </a:ln>
        </p:spPr>
        <p:txBody>
          <a:bodyPr wrap="square" lIns="27432" tIns="22860" rIns="27432" bIns="22860" anchor="ctr"/>
          <a:lstStyle/>
          <a:p>
            <a:pPr>
              <a:buNone/>
            </a:pPr>
            <a:endParaRPr lang="en-US"/>
          </a:p>
        </p:txBody>
      </p:sp>
      <p:sp>
        <p:nvSpPr>
          <p:cNvPr id="48" name="QB1"/>
          <p:cNvSpPr/>
          <p:nvPr/>
        </p:nvSpPr>
        <p:spPr>
          <a:xfrm>
            <a:off x="7383780" y="3703320"/>
            <a:ext cx="182880" cy="228600"/>
          </a:xfrm>
          <a:prstGeom prst="rect">
            <a:avLst/>
          </a:prstGeom>
          <a:solidFill>
            <a:srgbClr val="C9B991"/>
          </a:solidFill>
          <a:ln>
            <a:noFill/>
          </a:ln>
        </p:spPr>
        <p:txBody>
          <a:bodyPr wrap="square" lIns="27432" tIns="22860" rIns="27432" bIns="22860" anchor="ctr"/>
          <a:lstStyle/>
          <a:p>
            <a:pPr>
              <a:buNone/>
            </a:pPr>
            <a:endParaRPr lang="en-US"/>
          </a:p>
        </p:txBody>
      </p:sp>
      <p:sp>
        <p:nvSpPr>
          <p:cNvPr id="49" name="QB2"/>
          <p:cNvSpPr/>
          <p:nvPr/>
        </p:nvSpPr>
        <p:spPr>
          <a:xfrm>
            <a:off x="7612380" y="3611880"/>
            <a:ext cx="182880" cy="320040"/>
          </a:xfrm>
          <a:prstGeom prst="rect">
            <a:avLst/>
          </a:prstGeom>
          <a:solidFill>
            <a:srgbClr val="C9B991"/>
          </a:solidFill>
          <a:ln>
            <a:noFill/>
          </a:ln>
        </p:spPr>
        <p:txBody>
          <a:bodyPr wrap="square" lIns="27432" tIns="22860" rIns="27432" bIns="22860" anchor="ctr"/>
          <a:lstStyle/>
          <a:p>
            <a:pPr>
              <a:buNone/>
            </a:pPr>
            <a:endParaRPr lang="en-US"/>
          </a:p>
        </p:txBody>
      </p:sp>
      <p:cxnSp>
        <p:nvCxnSpPr>
          <p:cNvPr id="50" name="QBL"/>
          <p:cNvCxnSpPr/>
          <p:nvPr/>
        </p:nvCxnSpPr>
        <p:spPr>
          <a:xfrm>
            <a:off x="7063740" y="3931920"/>
            <a:ext cx="822960" cy="0"/>
          </a:xfrm>
          <a:prstGeom prst="straightConnector1">
            <a:avLst/>
          </a:prstGeom>
          <a:ln w="12700">
            <a:solidFill>
              <a:srgbClr val="555960"/>
            </a:solidFill>
          </a:ln>
        </p:spPr>
      </p:cxnSp>
      <p:cxnSp>
        <p:nvCxnSpPr>
          <p:cNvPr id="51" name="QTL"/>
          <p:cNvCxnSpPr/>
          <p:nvPr/>
        </p:nvCxnSpPr>
        <p:spPr>
          <a:xfrm>
            <a:off x="7063740" y="3589020"/>
            <a:ext cx="822960" cy="0"/>
          </a:xfrm>
          <a:prstGeom prst="straightConnector1">
            <a:avLst/>
          </a:prstGeom>
          <a:ln w="19050">
            <a:solidFill>
              <a:srgbClr val="8E6F3E"/>
            </a:solidFill>
          </a:ln>
        </p:spPr>
      </p:cxnSp>
      <p:sp>
        <p:nvSpPr>
          <p:cNvPr id="60" name="Ital"/>
          <p:cNvSpPr/>
          <p:nvPr/>
        </p:nvSpPr>
        <p:spPr>
          <a:xfrm>
            <a:off x="274320" y="48463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Hold the system constant — change the question — watch the model change.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Completeness is not model quality.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Four questions for every model</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0" name="N0"/>
          <p:cNvSpPr/>
          <p:nvPr/>
        </p:nvSpPr>
        <p:spPr>
          <a:xfrm>
            <a:off x="29718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p:nvPr/>
        </p:nvSpPr>
        <p:spPr>
          <a:xfrm>
            <a:off x="25146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What do we need to know?</a:t>
            </a:r>
          </a:p>
        </p:txBody>
      </p:sp>
      <p:sp>
        <p:nvSpPr>
          <p:cNvPr id="11" name="N1"/>
          <p:cNvSpPr/>
          <p:nvPr/>
        </p:nvSpPr>
        <p:spPr>
          <a:xfrm>
            <a:off x="249174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MODEL</a:t>
            </a:r>
          </a:p>
        </p:txBody>
      </p:sp>
      <p:sp>
        <p:nvSpPr>
          <p:cNvPr id="31" name="Q1"/>
          <p:cNvSpPr/>
          <p:nvPr/>
        </p:nvSpPr>
        <p:spPr>
          <a:xfrm>
            <a:off x="244602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What reduction makes it tractable?</a:t>
            </a:r>
          </a:p>
        </p:txBody>
      </p:sp>
      <p:sp>
        <p:nvSpPr>
          <p:cNvPr id="12" name="N2"/>
          <p:cNvSpPr/>
          <p:nvPr/>
        </p:nvSpPr>
        <p:spPr>
          <a:xfrm>
            <a:off x="468630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PROPERTY</a:t>
            </a:r>
          </a:p>
        </p:txBody>
      </p:sp>
      <p:sp>
        <p:nvSpPr>
          <p:cNvPr id="32" name="Q2"/>
          <p:cNvSpPr/>
          <p:nvPr/>
        </p:nvSpPr>
        <p:spPr>
          <a:xfrm>
            <a:off x="464058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What claim becomes expressible?</a:t>
            </a:r>
          </a:p>
        </p:txBody>
      </p:sp>
      <p:sp>
        <p:nvSpPr>
          <p:cNvPr id="13" name="N3"/>
          <p:cNvSpPr/>
          <p:nvPr/>
        </p:nvSpPr>
        <p:spPr>
          <a:xfrm>
            <a:off x="688086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QUALITY</a:t>
            </a:r>
          </a:p>
        </p:txBody>
      </p:sp>
      <p:sp>
        <p:nvSpPr>
          <p:cNvPr id="33" name="Q3"/>
          <p:cNvSpPr/>
          <p:nvPr/>
        </p:nvSpPr>
        <p:spPr>
          <a:xfrm>
            <a:off x="683514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Is the reduction adequate, and its interpretation likely?</a:t>
            </a:r>
          </a:p>
        </p:txBody>
      </p:sp>
      <p:cxnSp>
        <p:nvCxnSpPr>
          <p:cNvPr id="20" name="A0"/>
          <p:cNvCxnSpPr/>
          <p:nvPr/>
        </p:nvCxnSpPr>
        <p:spPr>
          <a:xfrm>
            <a:off x="2263140" y="2011680"/>
            <a:ext cx="228600" cy="0"/>
          </a:xfrm>
          <a:prstGeom prst="straightConnector1">
            <a:avLst/>
          </a:prstGeom>
          <a:ln w="19050">
            <a:solidFill>
              <a:srgbClr val="C9B991"/>
            </a:solidFill>
            <a:tailEnd type="triangle" w="med" len="med"/>
          </a:ln>
        </p:spPr>
      </p:cxnSp>
      <p:cxnSp>
        <p:nvCxnSpPr>
          <p:cNvPr id="21" name="A1"/>
          <p:cNvCxnSpPr/>
          <p:nvPr/>
        </p:nvCxnSpPr>
        <p:spPr>
          <a:xfrm>
            <a:off x="4457700" y="2011680"/>
            <a:ext cx="228600" cy="0"/>
          </a:xfrm>
          <a:prstGeom prst="straightConnector1">
            <a:avLst/>
          </a:prstGeom>
          <a:ln w="19050">
            <a:solidFill>
              <a:srgbClr val="C9B991"/>
            </a:solidFill>
            <a:tailEnd type="triangle" w="med" len="med"/>
          </a:ln>
        </p:spPr>
      </p:cxnSp>
      <p:cxnSp>
        <p:nvCxnSpPr>
          <p:cNvPr id="22" name="A2"/>
          <p:cNvCxnSpPr/>
          <p:nvPr/>
        </p:nvCxnSpPr>
        <p:spPr>
          <a:xfrm>
            <a:off x="6652260" y="2011680"/>
            <a:ext cx="228600" cy="0"/>
          </a:xfrm>
          <a:prstGeom prst="straightConnector1">
            <a:avLst/>
          </a:prstGeom>
          <a:ln w="19050">
            <a:solidFill>
              <a:srgbClr val="C9B991"/>
            </a:solidFill>
            <a:tailEnd type="triangle" w="med" len="med"/>
          </a:ln>
        </p:spPr>
      </p:cxn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all four, every time.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Engineers have seen these questions before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 name="Kicker"/>
          <p:cNvSpPr/>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REPERTOIRE</a:t>
            </a:r>
          </a:p>
        </p:txBody>
      </p:sp>
      <p:sp>
        <p:nvSpPr>
          <p:cNvPr id="11" name="Body"/>
          <p:cNvSpPr/>
          <p:nvPr/>
        </p:nvSpPr>
        <p:spPr>
          <a:xfrm>
            <a:off x="365760" y="1737360"/>
            <a:ext cx="4708440" cy="2560320"/>
          </a:xfrm>
          <a:prstGeom prst="rect">
            <a:avLst/>
          </a:prstGeom>
          <a:noFill/>
          <a:ln>
            <a:noFill/>
          </a:ln>
        </p:spPr>
        <p:txBody>
          <a:bodyPr wrap="square" lIns="18288" tIns="18288" rIns="18288" bIns="18288" anchor="t"/>
          <a:lstStyle/>
          <a:p>
            <a:pPr algn="l">
              <a:spcAft>
                <a:spcPts val="1600"/>
              </a:spcAft>
              <a:buNone/>
            </a:pPr>
            <a:r>
              <a:rPr lang="en-US" sz="1800" b="0" dirty="0">
                <a:solidFill>
                  <a:srgbClr val="555960"/>
                </a:solidFill>
              </a:rPr>
              <a:t>Recurring questions have accumulated model forms.</a:t>
            </a:r>
          </a:p>
          <a:p>
            <a:pPr algn="l">
              <a:spcAft>
                <a:spcPts val="1600"/>
              </a:spcAft>
              <a:buNone/>
            </a:pPr>
            <a:r>
              <a:rPr lang="en-US" sz="1800" b="0" dirty="0">
                <a:solidFill>
                  <a:srgbClr val="555960"/>
                </a:solidFill>
              </a:rPr>
              <a:t>The reduction you need has usually been designed already.</a:t>
            </a:r>
          </a:p>
          <a:p>
            <a:pPr algn="l">
              <a:spcAft>
                <a:spcPts val="0"/>
              </a:spcAft>
              <a:buNone/>
            </a:pPr>
            <a:r>
              <a:rPr lang="en-US" sz="1800" b="0" dirty="0">
                <a:solidFill>
                  <a:srgbClr val="555960"/>
                </a:solidFill>
              </a:rPr>
              <a:t>Your job is to recognize which one.</a:t>
            </a:r>
          </a:p>
        </p:txBody>
      </p:sp>
      <p:sp>
        <p:nvSpPr>
          <p:cNvPr id="20" name="PC3"/>
          <p:cNvSpPr/>
          <p:nvPr/>
        </p:nvSpPr>
        <p:spPr>
          <a:xfrm>
            <a:off x="5440680" y="150876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quantitative model</a:t>
            </a:r>
          </a:p>
        </p:txBody>
      </p:sp>
      <p:sp>
        <p:nvSpPr>
          <p:cNvPr id="21" name="PC2"/>
          <p:cNvSpPr/>
          <p:nvPr/>
        </p:nvSpPr>
        <p:spPr>
          <a:xfrm>
            <a:off x="5669280" y="187452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schema</a:t>
            </a:r>
          </a:p>
        </p:txBody>
      </p:sp>
      <p:sp>
        <p:nvSpPr>
          <p:cNvPr id="22" name="PC1"/>
          <p:cNvSpPr/>
          <p:nvPr/>
        </p:nvSpPr>
        <p:spPr>
          <a:xfrm>
            <a:off x="5897880" y="224028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dependency graph</a:t>
            </a:r>
          </a:p>
        </p:txBody>
      </p:sp>
      <p:sp>
        <p:nvSpPr>
          <p:cNvPr id="23" name="PC0"/>
          <p:cNvSpPr/>
          <p:nvPr/>
        </p:nvSpPr>
        <p:spPr>
          <a:xfrm>
            <a:off x="6126480" y="260604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state machine</a:t>
            </a:r>
          </a:p>
        </p:txBody>
      </p:sp>
      <p:sp>
        <p:nvSpPr>
          <p:cNvPr id="24" name="PG0"/>
          <p:cNvSpPr/>
          <p:nvPr/>
        </p:nvSpPr>
        <p:spPr>
          <a:xfrm>
            <a:off x="6812280" y="315468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25" name="PG1"/>
          <p:cNvSpPr/>
          <p:nvPr/>
        </p:nvSpPr>
        <p:spPr>
          <a:xfrm>
            <a:off x="7498080" y="315468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26" name="PGA0"/>
          <p:cNvCxnSpPr/>
          <p:nvPr/>
        </p:nvCxnSpPr>
        <p:spPr>
          <a:xfrm>
            <a:off x="7040880" y="3268980"/>
            <a:ext cx="457200" cy="0"/>
          </a:xfrm>
          <a:prstGeom prst="straightConnector1">
            <a:avLst/>
          </a:prstGeom>
          <a:ln w="12700">
            <a:solidFill>
              <a:srgbClr val="555960"/>
            </a:solidFill>
            <a:tailEnd type="triangle" w="med" len="med"/>
          </a:ln>
        </p:spPr>
      </p:cxn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forms already exist.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Select before you invent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 name="GC0"/>
          <p:cNvSpPr/>
          <p:nvPr/>
        </p:nvSpPr>
        <p:spPr>
          <a:xfrm>
            <a:off x="274320" y="109728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0" name="GN0"/>
          <p:cNvSpPr/>
          <p:nvPr/>
        </p:nvSpPr>
        <p:spPr>
          <a:xfrm>
            <a:off x="320040" y="116586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Dependency graph</a:t>
            </a:r>
          </a:p>
        </p:txBody>
      </p:sp>
      <p:sp>
        <p:nvSpPr>
          <p:cNvPr id="60" name="GA0"/>
          <p:cNvSpPr/>
          <p:nvPr/>
        </p:nvSpPr>
        <p:spPr>
          <a:xfrm>
            <a:off x="365760" y="224028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may depend on this?”</a:t>
            </a:r>
          </a:p>
        </p:txBody>
      </p:sp>
      <p:sp>
        <p:nvSpPr>
          <p:cNvPr id="11" name="GC1"/>
          <p:cNvSpPr/>
          <p:nvPr/>
        </p:nvSpPr>
        <p:spPr>
          <a:xfrm>
            <a:off x="3200400" y="109728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1" name="GN1"/>
          <p:cNvSpPr/>
          <p:nvPr/>
        </p:nvSpPr>
        <p:spPr>
          <a:xfrm>
            <a:off x="3246120" y="116586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State machine</a:t>
            </a:r>
          </a:p>
        </p:txBody>
      </p:sp>
      <p:sp>
        <p:nvSpPr>
          <p:cNvPr id="61" name="GA1"/>
          <p:cNvSpPr/>
          <p:nvPr/>
        </p:nvSpPr>
        <p:spPr>
          <a:xfrm>
            <a:off x="3291840" y="224028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“Can we reach a bad state?”</a:t>
            </a:r>
          </a:p>
        </p:txBody>
      </p:sp>
      <p:sp>
        <p:nvSpPr>
          <p:cNvPr id="12" name="GC2"/>
          <p:cNvSpPr/>
          <p:nvPr/>
        </p:nvSpPr>
        <p:spPr>
          <a:xfrm>
            <a:off x="6126480" y="109728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2" name="GN2"/>
          <p:cNvSpPr/>
          <p:nvPr/>
        </p:nvSpPr>
        <p:spPr>
          <a:xfrm>
            <a:off x="6172200" y="116586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Data flow</a:t>
            </a:r>
          </a:p>
        </p:txBody>
      </p:sp>
      <p:sp>
        <p:nvSpPr>
          <p:cNvPr id="62" name="GA2"/>
          <p:cNvSpPr/>
          <p:nvPr/>
        </p:nvSpPr>
        <p:spPr>
          <a:xfrm>
            <a:off x="6217920" y="224028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“Where does this data travel?”</a:t>
            </a:r>
          </a:p>
        </p:txBody>
      </p:sp>
      <p:sp>
        <p:nvSpPr>
          <p:cNvPr id="13" name="GC3"/>
          <p:cNvSpPr/>
          <p:nvPr/>
        </p:nvSpPr>
        <p:spPr>
          <a:xfrm>
            <a:off x="274320" y="297180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3" name="GN3"/>
          <p:cNvSpPr/>
          <p:nvPr/>
        </p:nvSpPr>
        <p:spPr>
          <a:xfrm>
            <a:off x="320040" y="304038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Schema / entity</a:t>
            </a:r>
          </a:p>
        </p:txBody>
      </p:sp>
      <p:sp>
        <p:nvSpPr>
          <p:cNvPr id="63" name="GA3"/>
          <p:cNvSpPr/>
          <p:nvPr/>
        </p:nvSpPr>
        <p:spPr>
          <a:xfrm>
            <a:off x="365760" y="402336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exists, and how is it related?”</a:t>
            </a:r>
          </a:p>
        </p:txBody>
      </p:sp>
      <p:sp>
        <p:nvSpPr>
          <p:cNvPr id="14" name="GC4"/>
          <p:cNvSpPr/>
          <p:nvPr/>
        </p:nvSpPr>
        <p:spPr>
          <a:xfrm>
            <a:off x="3200400" y="297180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4" name="GN4"/>
          <p:cNvSpPr/>
          <p:nvPr/>
        </p:nvSpPr>
        <p:spPr>
          <a:xfrm>
            <a:off x="3246120" y="304038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Quantitative model</a:t>
            </a:r>
          </a:p>
        </p:txBody>
      </p:sp>
      <p:sp>
        <p:nvSpPr>
          <p:cNvPr id="64" name="GA4"/>
          <p:cNvSpPr/>
          <p:nvPr/>
        </p:nvSpPr>
        <p:spPr>
          <a:xfrm>
            <a:off x="3291840" y="411480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limits capacity or cost?”</a:t>
            </a:r>
          </a:p>
        </p:txBody>
      </p:sp>
      <p:sp>
        <p:nvSpPr>
          <p:cNvPr id="15" name="GC5"/>
          <p:cNvSpPr/>
          <p:nvPr/>
        </p:nvSpPr>
        <p:spPr>
          <a:xfrm>
            <a:off x="6126480" y="297180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5" name="GN5"/>
          <p:cNvSpPr/>
          <p:nvPr/>
        </p:nvSpPr>
        <p:spPr>
          <a:xfrm>
            <a:off x="6172200" y="304038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Decision / policy</a:t>
            </a:r>
          </a:p>
        </p:txBody>
      </p:sp>
      <p:sp>
        <p:nvSpPr>
          <p:cNvPr id="65" name="GA5"/>
          <p:cNvSpPr/>
          <p:nvPr/>
        </p:nvSpPr>
        <p:spPr>
          <a:xfrm>
            <a:off x="6217920" y="411480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does the rule permit?”</a:t>
            </a:r>
          </a:p>
        </p:txBody>
      </p:sp>
      <p:sp>
        <p:nvSpPr>
          <p:cNvPr id="30" name="GD0"/>
          <p:cNvSpPr/>
          <p:nvPr/>
        </p:nvSpPr>
        <p:spPr>
          <a:xfrm>
            <a:off x="1257300" y="1531620"/>
            <a:ext cx="320040" cy="160020"/>
          </a:xfrm>
          <a:prstGeom prst="rect">
            <a:avLst/>
          </a:prstGeom>
          <a:solidFill>
            <a:srgbClr val="C9B991"/>
          </a:solidFill>
          <a:ln>
            <a:noFill/>
          </a:ln>
        </p:spPr>
        <p:txBody>
          <a:bodyPr wrap="square" lIns="27432" tIns="22860" rIns="27432" bIns="22860" anchor="ctr"/>
          <a:lstStyle/>
          <a:p>
            <a:pPr>
              <a:buNone/>
            </a:pPr>
            <a:endParaRPr lang="en-US"/>
          </a:p>
        </p:txBody>
      </p:sp>
      <p:sp>
        <p:nvSpPr>
          <p:cNvPr id="31" name="GD1"/>
          <p:cNvSpPr/>
          <p:nvPr/>
        </p:nvSpPr>
        <p:spPr>
          <a:xfrm>
            <a:off x="1714500" y="1531620"/>
            <a:ext cx="320040" cy="160020"/>
          </a:xfrm>
          <a:prstGeom prst="rect">
            <a:avLst/>
          </a:prstGeom>
          <a:solidFill>
            <a:srgbClr val="C9B991"/>
          </a:solidFill>
          <a:ln>
            <a:noFill/>
          </a:ln>
        </p:spPr>
        <p:txBody>
          <a:bodyPr wrap="square" lIns="27432" tIns="22860" rIns="27432" bIns="22860" anchor="ctr"/>
          <a:lstStyle/>
          <a:p>
            <a:pPr>
              <a:buNone/>
            </a:pPr>
            <a:endParaRPr lang="en-US"/>
          </a:p>
        </p:txBody>
      </p:sp>
      <p:sp>
        <p:nvSpPr>
          <p:cNvPr id="32" name="GD2"/>
          <p:cNvSpPr/>
          <p:nvPr/>
        </p:nvSpPr>
        <p:spPr>
          <a:xfrm>
            <a:off x="1485900" y="1851660"/>
            <a:ext cx="320040" cy="160020"/>
          </a:xfrm>
          <a:prstGeom prst="rect">
            <a:avLst/>
          </a:prstGeom>
          <a:solidFill>
            <a:srgbClr val="C9B991"/>
          </a:solidFill>
          <a:ln>
            <a:noFill/>
          </a:ln>
        </p:spPr>
        <p:txBody>
          <a:bodyPr wrap="square" lIns="27432" tIns="22860" rIns="27432" bIns="22860" anchor="ctr"/>
          <a:lstStyle/>
          <a:p>
            <a:pPr>
              <a:buNone/>
            </a:pPr>
            <a:endParaRPr lang="en-US"/>
          </a:p>
        </p:txBody>
      </p:sp>
      <p:cxnSp>
        <p:nvCxnSpPr>
          <p:cNvPr id="33" name="GDA0"/>
          <p:cNvCxnSpPr/>
          <p:nvPr/>
        </p:nvCxnSpPr>
        <p:spPr>
          <a:xfrm>
            <a:off x="1417320" y="1691640"/>
            <a:ext cx="228600" cy="160020"/>
          </a:xfrm>
          <a:prstGeom prst="straightConnector1">
            <a:avLst/>
          </a:prstGeom>
          <a:ln w="12700">
            <a:solidFill>
              <a:srgbClr val="8E6F3E"/>
            </a:solidFill>
            <a:tailEnd type="triangle" w="med" len="med"/>
          </a:ln>
        </p:spPr>
      </p:cxnSp>
      <p:cxnSp>
        <p:nvCxnSpPr>
          <p:cNvPr id="34" name="GDA1"/>
          <p:cNvCxnSpPr/>
          <p:nvPr/>
        </p:nvCxnSpPr>
        <p:spPr>
          <a:xfrm flipH="1">
            <a:off x="1645920" y="1691640"/>
            <a:ext cx="228600" cy="160020"/>
          </a:xfrm>
          <a:prstGeom prst="straightConnector1">
            <a:avLst/>
          </a:prstGeom>
          <a:ln w="12700">
            <a:solidFill>
              <a:srgbClr val="8E6F3E"/>
            </a:solidFill>
            <a:tailEnd type="triangle" w="med" len="med"/>
          </a:ln>
        </p:spPr>
      </p:cxnSp>
      <p:sp>
        <p:nvSpPr>
          <p:cNvPr id="35" name="GS0"/>
          <p:cNvSpPr/>
          <p:nvPr/>
        </p:nvSpPr>
        <p:spPr>
          <a:xfrm>
            <a:off x="4114800" y="160020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36" name="GS1"/>
          <p:cNvSpPr/>
          <p:nvPr/>
        </p:nvSpPr>
        <p:spPr>
          <a:xfrm>
            <a:off x="4800600" y="160020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37" name="GSA0"/>
          <p:cNvCxnSpPr/>
          <p:nvPr/>
        </p:nvCxnSpPr>
        <p:spPr>
          <a:xfrm>
            <a:off x="4343400" y="1714500"/>
            <a:ext cx="457200" cy="0"/>
          </a:xfrm>
          <a:prstGeom prst="straightConnector1">
            <a:avLst/>
          </a:prstGeom>
          <a:ln w="12700">
            <a:solidFill>
              <a:srgbClr val="555960"/>
            </a:solidFill>
            <a:tailEnd type="triangle" w="med" len="med"/>
          </a:ln>
        </p:spPr>
      </p:cxnSp>
      <p:sp>
        <p:nvSpPr>
          <p:cNvPr id="38" name="GF0"/>
          <p:cNvSpPr/>
          <p:nvPr/>
        </p:nvSpPr>
        <p:spPr>
          <a:xfrm>
            <a:off x="6446520" y="1622760"/>
            <a:ext cx="32004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39" name="GF1"/>
          <p:cNvSpPr/>
          <p:nvPr/>
        </p:nvSpPr>
        <p:spPr>
          <a:xfrm>
            <a:off x="7360920" y="160020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40" name="GF2"/>
          <p:cNvSpPr/>
          <p:nvPr/>
        </p:nvSpPr>
        <p:spPr>
          <a:xfrm>
            <a:off x="8229600" y="1622760"/>
            <a:ext cx="320040" cy="182880"/>
          </a:xfrm>
          <a:prstGeom prst="rect">
            <a:avLst/>
          </a:prstGeom>
          <a:solidFill>
            <a:srgbClr val="C9B991"/>
          </a:solidFill>
          <a:ln>
            <a:noFill/>
          </a:ln>
        </p:spPr>
        <p:txBody>
          <a:bodyPr wrap="square" lIns="27432" tIns="22860" rIns="27432" bIns="22860" anchor="ctr"/>
          <a:lstStyle/>
          <a:p>
            <a:pPr>
              <a:buNone/>
            </a:pPr>
            <a:endParaRPr lang="en-US"/>
          </a:p>
        </p:txBody>
      </p:sp>
      <p:cxnSp>
        <p:nvCxnSpPr>
          <p:cNvPr id="41" name="GFA0"/>
          <p:cNvCxnSpPr/>
          <p:nvPr/>
        </p:nvCxnSpPr>
        <p:spPr>
          <a:xfrm>
            <a:off x="6766560" y="1714500"/>
            <a:ext cx="594360" cy="0"/>
          </a:xfrm>
          <a:prstGeom prst="straightConnector1">
            <a:avLst/>
          </a:prstGeom>
          <a:ln w="12700">
            <a:solidFill>
              <a:srgbClr val="555960"/>
            </a:solidFill>
            <a:tailEnd type="triangle" w="med" len="med"/>
          </a:ln>
        </p:spPr>
      </p:cxnSp>
      <p:cxnSp>
        <p:nvCxnSpPr>
          <p:cNvPr id="42" name="GFA1"/>
          <p:cNvCxnSpPr/>
          <p:nvPr/>
        </p:nvCxnSpPr>
        <p:spPr>
          <a:xfrm>
            <a:off x="7589520" y="1714500"/>
            <a:ext cx="640080" cy="0"/>
          </a:xfrm>
          <a:prstGeom prst="straightConnector1">
            <a:avLst/>
          </a:prstGeom>
          <a:ln w="12700">
            <a:solidFill>
              <a:srgbClr val="555960"/>
            </a:solidFill>
            <a:tailEnd type="triangle" w="med" len="med"/>
          </a:ln>
        </p:spPr>
      </p:cxnSp>
      <p:sp>
        <p:nvSpPr>
          <p:cNvPr id="43" name="GE0"/>
          <p:cNvSpPr/>
          <p:nvPr/>
        </p:nvSpPr>
        <p:spPr>
          <a:xfrm>
            <a:off x="822960" y="3474720"/>
            <a:ext cx="594360" cy="320040"/>
          </a:xfrm>
          <a:prstGeom prst="rect">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44" name="GE1"/>
          <p:cNvSpPr/>
          <p:nvPr/>
        </p:nvSpPr>
        <p:spPr>
          <a:xfrm>
            <a:off x="1874520" y="3474720"/>
            <a:ext cx="594360" cy="320040"/>
          </a:xfrm>
          <a:prstGeom prst="rect">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45" name="GEL0"/>
          <p:cNvCxnSpPr/>
          <p:nvPr/>
        </p:nvCxnSpPr>
        <p:spPr>
          <a:xfrm>
            <a:off x="1417320" y="3634740"/>
            <a:ext cx="457200" cy="0"/>
          </a:xfrm>
          <a:prstGeom prst="straightConnector1">
            <a:avLst/>
          </a:prstGeom>
          <a:ln w="12700">
            <a:solidFill>
              <a:srgbClr val="555960"/>
            </a:solidFill>
          </a:ln>
        </p:spPr>
      </p:cxnSp>
      <p:sp>
        <p:nvSpPr>
          <p:cNvPr id="46" name="GQ0"/>
          <p:cNvSpPr/>
          <p:nvPr/>
        </p:nvSpPr>
        <p:spPr>
          <a:xfrm>
            <a:off x="4286250" y="3794760"/>
            <a:ext cx="160020" cy="137160"/>
          </a:xfrm>
          <a:prstGeom prst="rect">
            <a:avLst/>
          </a:prstGeom>
          <a:solidFill>
            <a:srgbClr val="C9B991"/>
          </a:solidFill>
          <a:ln>
            <a:noFill/>
          </a:ln>
        </p:spPr>
        <p:txBody>
          <a:bodyPr wrap="square" lIns="27432" tIns="22860" rIns="27432" bIns="22860" anchor="ctr"/>
          <a:lstStyle/>
          <a:p>
            <a:pPr>
              <a:buNone/>
            </a:pPr>
            <a:endParaRPr lang="en-US"/>
          </a:p>
        </p:txBody>
      </p:sp>
      <p:sp>
        <p:nvSpPr>
          <p:cNvPr id="47" name="GQ1"/>
          <p:cNvSpPr/>
          <p:nvPr/>
        </p:nvSpPr>
        <p:spPr>
          <a:xfrm>
            <a:off x="4491990" y="3703320"/>
            <a:ext cx="160020" cy="228600"/>
          </a:xfrm>
          <a:prstGeom prst="rect">
            <a:avLst/>
          </a:prstGeom>
          <a:solidFill>
            <a:srgbClr val="C9B991"/>
          </a:solidFill>
          <a:ln>
            <a:noFill/>
          </a:ln>
        </p:spPr>
        <p:txBody>
          <a:bodyPr wrap="square" lIns="27432" tIns="22860" rIns="27432" bIns="22860" anchor="ctr"/>
          <a:lstStyle/>
          <a:p>
            <a:pPr>
              <a:buNone/>
            </a:pPr>
            <a:endParaRPr lang="en-US"/>
          </a:p>
        </p:txBody>
      </p:sp>
      <p:sp>
        <p:nvSpPr>
          <p:cNvPr id="48" name="GQ2"/>
          <p:cNvSpPr/>
          <p:nvPr/>
        </p:nvSpPr>
        <p:spPr>
          <a:xfrm>
            <a:off x="4697730" y="3611880"/>
            <a:ext cx="160020" cy="320040"/>
          </a:xfrm>
          <a:prstGeom prst="rect">
            <a:avLst/>
          </a:prstGeom>
          <a:solidFill>
            <a:srgbClr val="C9B991"/>
          </a:solidFill>
          <a:ln>
            <a:noFill/>
          </a:ln>
        </p:spPr>
        <p:txBody>
          <a:bodyPr wrap="square" lIns="27432" tIns="22860" rIns="27432" bIns="22860" anchor="ctr"/>
          <a:lstStyle/>
          <a:p>
            <a:pPr>
              <a:buNone/>
            </a:pPr>
            <a:endParaRPr lang="en-US"/>
          </a:p>
        </p:txBody>
      </p:sp>
      <p:cxnSp>
        <p:nvCxnSpPr>
          <p:cNvPr id="49" name="GQL0"/>
          <p:cNvCxnSpPr/>
          <p:nvPr/>
        </p:nvCxnSpPr>
        <p:spPr>
          <a:xfrm>
            <a:off x="4194810" y="3931920"/>
            <a:ext cx="754380" cy="0"/>
          </a:xfrm>
          <a:prstGeom prst="straightConnector1">
            <a:avLst/>
          </a:prstGeom>
          <a:ln w="12700">
            <a:solidFill>
              <a:srgbClr val="555960"/>
            </a:solidFill>
          </a:ln>
        </p:spPr>
      </p:cxnSp>
      <p:cxnSp>
        <p:nvCxnSpPr>
          <p:cNvPr id="50" name="GQL1"/>
          <p:cNvCxnSpPr/>
          <p:nvPr/>
        </p:nvCxnSpPr>
        <p:spPr>
          <a:xfrm>
            <a:off x="4194810" y="3589020"/>
            <a:ext cx="754380" cy="0"/>
          </a:xfrm>
          <a:prstGeom prst="straightConnector1">
            <a:avLst/>
          </a:prstGeom>
          <a:ln w="19050">
            <a:solidFill>
              <a:srgbClr val="8E6F3E"/>
            </a:solidFill>
          </a:ln>
        </p:spPr>
      </p:cxnSp>
      <p:sp>
        <p:nvSpPr>
          <p:cNvPr id="51" name="GP0"/>
          <p:cNvSpPr/>
          <p:nvPr/>
        </p:nvSpPr>
        <p:spPr>
          <a:xfrm>
            <a:off x="7269480" y="3520440"/>
            <a:ext cx="457200" cy="365760"/>
          </a:xfrm>
          <a:prstGeom prst="diamond">
            <a:avLst/>
          </a:prstGeom>
          <a:solidFill>
            <a:srgbClr val="FBF8F2"/>
          </a:solidFill>
          <a:ln w="12700">
            <a:solidFill>
              <a:srgbClr val="8E6F3E"/>
            </a:solidFill>
          </a:ln>
        </p:spPr>
        <p:txBody>
          <a:bodyPr wrap="square" lIns="27432" tIns="22860" rIns="27432" bIns="22860" anchor="ctr"/>
          <a:lstStyle/>
          <a:p>
            <a:pPr>
              <a:buNone/>
            </a:pPr>
            <a:endParaRPr lang="en-US"/>
          </a:p>
        </p:txBody>
      </p:sp>
      <p:cxnSp>
        <p:nvCxnSpPr>
          <p:cNvPr id="52" name="GPA0"/>
          <p:cNvCxnSpPr/>
          <p:nvPr/>
        </p:nvCxnSpPr>
        <p:spPr>
          <a:xfrm>
            <a:off x="7726680" y="3703320"/>
            <a:ext cx="411480" cy="0"/>
          </a:xfrm>
          <a:prstGeom prst="straightConnector1">
            <a:avLst/>
          </a:prstGeom>
          <a:ln w="12700">
            <a:solidFill>
              <a:srgbClr val="8E6F3E"/>
            </a:solidFill>
            <a:tailEnd type="triangle" w="med" len="med"/>
          </a:ln>
        </p:spPr>
      </p:cxnSp>
      <p:cxnSp>
        <p:nvCxnSpPr>
          <p:cNvPr id="53" name="GPA1"/>
          <p:cNvCxnSpPr/>
          <p:nvPr/>
        </p:nvCxnSpPr>
        <p:spPr>
          <a:xfrm flipH="1">
            <a:off x="6858000" y="3703320"/>
            <a:ext cx="411480" cy="0"/>
          </a:xfrm>
          <a:prstGeom prst="straightConnector1">
            <a:avLst/>
          </a:prstGeom>
          <a:ln w="12700">
            <a:solidFill>
              <a:srgbClr val="8E6F3E"/>
            </a:solidFill>
            <a:tailEnd type="triangle" w="med" len="med"/>
          </a:ln>
        </p:spPr>
      </p:cxnSp>
      <p:sp>
        <p:nvSpPr>
          <p:cNvPr id="70" name="Ital"/>
          <p:cNvSpPr/>
          <p:nvPr/>
        </p:nvSpPr>
        <p:spPr>
          <a:xfrm>
            <a:off x="274320" y="48463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Like sorting algorithms: recognize the problem, select an established form.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Selection, not memorization.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UML is a repertoire, not the theory of Modeling</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 name="Body"/>
          <p:cNvSpPr/>
          <p:nvPr/>
        </p:nvSpPr>
        <p:spPr>
          <a:xfrm>
            <a:off x="365760" y="1005840"/>
            <a:ext cx="8412480" cy="1188720"/>
          </a:xfrm>
          <a:prstGeom prst="rect">
            <a:avLst/>
          </a:prstGeom>
          <a:noFill/>
          <a:ln>
            <a:noFill/>
          </a:ln>
        </p:spPr>
        <p:txBody>
          <a:bodyPr wrap="square" lIns="18288" tIns="18288" rIns="18288" bIns="18288" anchor="t"/>
          <a:lstStyle/>
          <a:p>
            <a:pPr algn="l">
              <a:spcAft>
                <a:spcPts val="1400"/>
              </a:spcAft>
              <a:buNone/>
            </a:pPr>
            <a:r>
              <a:rPr lang="en-US" sz="1800" b="0" dirty="0">
                <a:solidFill>
                  <a:srgbClr val="555960"/>
                </a:solidFill>
              </a:rPr>
              <a:t>UML is the industry-standard starting point for structural and behavioral models.</a:t>
            </a:r>
          </a:p>
          <a:p>
            <a:pPr algn="l">
              <a:spcAft>
                <a:spcPts val="0"/>
              </a:spcAft>
              <a:buNone/>
            </a:pPr>
            <a:r>
              <a:rPr lang="en-US" sz="1800" b="0" dirty="0">
                <a:solidFill>
                  <a:srgbClr val="555960"/>
                </a:solidFill>
              </a:rPr>
              <a:t>MBSE carries the same tradition across the rest of engineering.</a:t>
            </a:r>
          </a:p>
        </p:txBody>
      </p:sp>
      <p:sp>
        <p:nvSpPr>
          <p:cNvPr id="20" name="QC0"/>
          <p:cNvSpPr/>
          <p:nvPr/>
        </p:nvSpPr>
        <p:spPr>
          <a:xfrm>
            <a:off x="2514600" y="2331720"/>
            <a:ext cx="4114800" cy="320040"/>
          </a:xfrm>
          <a:prstGeom prst="round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“Can this workflow reach an illegal state?”</a:t>
            </a:r>
          </a:p>
        </p:txBody>
      </p:sp>
      <p:cxnSp>
        <p:nvCxnSpPr>
          <p:cNvPr id="21" name="QA0"/>
          <p:cNvCxnSpPr/>
          <p:nvPr/>
        </p:nvCxnSpPr>
        <p:spPr>
          <a:xfrm>
            <a:off x="4572000" y="2651760"/>
            <a:ext cx="0" cy="182880"/>
          </a:xfrm>
          <a:prstGeom prst="straightConnector1">
            <a:avLst/>
          </a:prstGeom>
          <a:ln w="19050">
            <a:solidFill>
              <a:srgbClr val="C9B991"/>
            </a:solidFill>
            <a:tailEnd type="triangle" w="med" len="med"/>
          </a:ln>
        </p:spPr>
      </p:cxnSp>
      <p:sp>
        <p:nvSpPr>
          <p:cNvPr id="30" name="UC0"/>
          <p:cNvSpPr/>
          <p:nvPr/>
        </p:nvSpPr>
        <p:spPr>
          <a:xfrm>
            <a:off x="52578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1" name="UC1"/>
          <p:cNvSpPr/>
          <p:nvPr/>
        </p:nvSpPr>
        <p:spPr>
          <a:xfrm>
            <a:off x="217170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2" name="UL"/>
          <p:cNvSpPr/>
          <p:nvPr/>
        </p:nvSpPr>
        <p:spPr>
          <a:xfrm>
            <a:off x="3817620" y="2834640"/>
            <a:ext cx="1508760" cy="1097280"/>
          </a:xfrm>
          <a:prstGeom prst="rect">
            <a:avLst/>
          </a:prstGeom>
          <a:solidFill>
            <a:srgbClr val="F5F1E8"/>
          </a:solidFill>
          <a:ln w="19050">
            <a:solidFill>
              <a:srgbClr val="8E6F3E"/>
            </a:solidFill>
          </a:ln>
        </p:spPr>
        <p:txBody>
          <a:bodyPr wrap="square" lIns="27432" tIns="22860" rIns="27432" bIns="22860" anchor="ctr"/>
          <a:lstStyle/>
          <a:p>
            <a:pPr>
              <a:buNone/>
            </a:pPr>
            <a:endParaRPr lang="en-US"/>
          </a:p>
        </p:txBody>
      </p:sp>
      <p:sp>
        <p:nvSpPr>
          <p:cNvPr id="33" name="UC3"/>
          <p:cNvSpPr/>
          <p:nvPr/>
        </p:nvSpPr>
        <p:spPr>
          <a:xfrm>
            <a:off x="546354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4" name="UC4"/>
          <p:cNvSpPr/>
          <p:nvPr/>
        </p:nvSpPr>
        <p:spPr>
          <a:xfrm>
            <a:off x="710946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0" name="UG0"/>
          <p:cNvSpPr/>
          <p:nvPr/>
        </p:nvSpPr>
        <p:spPr>
          <a:xfrm>
            <a:off x="754380" y="3474720"/>
            <a:ext cx="41148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41" name="UG1"/>
          <p:cNvSpPr/>
          <p:nvPr/>
        </p:nvSpPr>
        <p:spPr>
          <a:xfrm>
            <a:off x="1394460" y="3794760"/>
            <a:ext cx="411480" cy="228600"/>
          </a:xfrm>
          <a:prstGeom prst="rect">
            <a:avLst/>
          </a:prstGeom>
          <a:noFill/>
          <a:ln w="12700">
            <a:solidFill>
              <a:srgbClr val="8A8F98"/>
            </a:solidFill>
          </a:ln>
        </p:spPr>
        <p:txBody>
          <a:bodyPr wrap="square" lIns="27432" tIns="22860" rIns="27432" bIns="22860" anchor="ctr"/>
          <a:lstStyle/>
          <a:p>
            <a:pPr>
              <a:buNone/>
            </a:pPr>
            <a:endParaRPr lang="en-US"/>
          </a:p>
        </p:txBody>
      </p:sp>
      <p:cxnSp>
        <p:nvCxnSpPr>
          <p:cNvPr id="42" name="UGL0"/>
          <p:cNvCxnSpPr/>
          <p:nvPr/>
        </p:nvCxnSpPr>
        <p:spPr>
          <a:xfrm>
            <a:off x="960120" y="3703320"/>
            <a:ext cx="594360" cy="182880"/>
          </a:xfrm>
          <a:prstGeom prst="straightConnector1">
            <a:avLst/>
          </a:prstGeom>
          <a:ln w="12700">
            <a:solidFill>
              <a:srgbClr val="8A8F98"/>
            </a:solidFill>
          </a:ln>
        </p:spPr>
      </p:cxnSp>
      <p:sp>
        <p:nvSpPr>
          <p:cNvPr id="43" name="UG2"/>
          <p:cNvSpPr/>
          <p:nvPr/>
        </p:nvSpPr>
        <p:spPr>
          <a:xfrm>
            <a:off x="2400300" y="3520440"/>
            <a:ext cx="228600" cy="228600"/>
          </a:xfrm>
          <a:prstGeom prst="ellipse">
            <a:avLst/>
          </a:prstGeom>
          <a:noFill/>
          <a:ln w="12700">
            <a:solidFill>
              <a:srgbClr val="8A8F98"/>
            </a:solidFill>
          </a:ln>
        </p:spPr>
        <p:txBody>
          <a:bodyPr wrap="square" lIns="27432" tIns="22860" rIns="27432" bIns="22860" anchor="ctr"/>
          <a:lstStyle/>
          <a:p>
            <a:pPr>
              <a:buNone/>
            </a:pPr>
            <a:endParaRPr lang="en-US"/>
          </a:p>
        </p:txBody>
      </p:sp>
      <p:sp>
        <p:nvSpPr>
          <p:cNvPr id="44" name="UG3"/>
          <p:cNvSpPr/>
          <p:nvPr/>
        </p:nvSpPr>
        <p:spPr>
          <a:xfrm>
            <a:off x="3154680" y="3520440"/>
            <a:ext cx="365760" cy="228600"/>
          </a:xfrm>
          <a:prstGeom prst="rect">
            <a:avLst/>
          </a:prstGeom>
          <a:noFill/>
          <a:ln w="12700">
            <a:solidFill>
              <a:srgbClr val="8A8F98"/>
            </a:solidFill>
          </a:ln>
        </p:spPr>
        <p:txBody>
          <a:bodyPr wrap="square" lIns="27432" tIns="22860" rIns="27432" bIns="22860" anchor="ctr"/>
          <a:lstStyle/>
          <a:p>
            <a:pPr>
              <a:buNone/>
            </a:pPr>
            <a:endParaRPr lang="en-US"/>
          </a:p>
        </p:txBody>
      </p:sp>
      <p:cxnSp>
        <p:nvCxnSpPr>
          <p:cNvPr id="45" name="UGL1"/>
          <p:cNvCxnSpPr/>
          <p:nvPr/>
        </p:nvCxnSpPr>
        <p:spPr>
          <a:xfrm>
            <a:off x="2628900" y="3634740"/>
            <a:ext cx="525780" cy="0"/>
          </a:xfrm>
          <a:prstGeom prst="straightConnector1">
            <a:avLst/>
          </a:prstGeom>
          <a:ln w="12700">
            <a:solidFill>
              <a:srgbClr val="8A8F98"/>
            </a:solidFill>
            <a:tailEnd type="triangle" w="med" len="med"/>
          </a:ln>
        </p:spPr>
      </p:cxnSp>
      <p:cxnSp>
        <p:nvCxnSpPr>
          <p:cNvPr id="46" name="UGL2"/>
          <p:cNvCxnSpPr/>
          <p:nvPr/>
        </p:nvCxnSpPr>
        <p:spPr>
          <a:xfrm>
            <a:off x="5909310" y="3474720"/>
            <a:ext cx="0" cy="548640"/>
          </a:xfrm>
          <a:prstGeom prst="straightConnector1">
            <a:avLst/>
          </a:prstGeom>
          <a:ln w="12700">
            <a:solidFill>
              <a:srgbClr val="8A8F98"/>
            </a:solidFill>
          </a:ln>
        </p:spPr>
      </p:cxnSp>
      <p:cxnSp>
        <p:nvCxnSpPr>
          <p:cNvPr id="47" name="UGL3"/>
          <p:cNvCxnSpPr/>
          <p:nvPr/>
        </p:nvCxnSpPr>
        <p:spPr>
          <a:xfrm>
            <a:off x="6526530" y="3474720"/>
            <a:ext cx="0" cy="548640"/>
          </a:xfrm>
          <a:prstGeom prst="straightConnector1">
            <a:avLst/>
          </a:prstGeom>
          <a:ln w="12700">
            <a:solidFill>
              <a:srgbClr val="8A8F98"/>
            </a:solidFill>
          </a:ln>
        </p:spPr>
      </p:cxnSp>
      <p:cxnSp>
        <p:nvCxnSpPr>
          <p:cNvPr id="48" name="UGL4"/>
          <p:cNvCxnSpPr/>
          <p:nvPr/>
        </p:nvCxnSpPr>
        <p:spPr>
          <a:xfrm>
            <a:off x="5909310" y="3703320"/>
            <a:ext cx="617220" cy="0"/>
          </a:xfrm>
          <a:prstGeom prst="straightConnector1">
            <a:avLst/>
          </a:prstGeom>
          <a:ln w="12700">
            <a:solidFill>
              <a:srgbClr val="8A8F98"/>
            </a:solidFill>
            <a:tailEnd type="triangle" w="med" len="med"/>
          </a:ln>
        </p:spPr>
      </p:cxnSp>
      <p:sp>
        <p:nvSpPr>
          <p:cNvPr id="49" name="UG4"/>
          <p:cNvSpPr/>
          <p:nvPr/>
        </p:nvSpPr>
        <p:spPr>
          <a:xfrm>
            <a:off x="7452360" y="3520440"/>
            <a:ext cx="36576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50" name="UG5"/>
          <p:cNvSpPr/>
          <p:nvPr/>
        </p:nvSpPr>
        <p:spPr>
          <a:xfrm>
            <a:off x="7909560" y="3886200"/>
            <a:ext cx="365760" cy="228600"/>
          </a:xfrm>
          <a:prstGeom prst="rect">
            <a:avLst/>
          </a:prstGeom>
          <a:noFill/>
          <a:ln w="12700">
            <a:solidFill>
              <a:srgbClr val="8A8F98"/>
            </a:solidFill>
          </a:ln>
        </p:spPr>
        <p:txBody>
          <a:bodyPr wrap="square" lIns="27432" tIns="22860" rIns="27432" bIns="22860" anchor="ctr"/>
          <a:lstStyle/>
          <a:p>
            <a:pPr>
              <a:buNone/>
            </a:pPr>
            <a:endParaRPr lang="en-US"/>
          </a:p>
        </p:txBody>
      </p:sp>
      <p:cxnSp>
        <p:nvCxnSpPr>
          <p:cNvPr id="51" name="UGL5"/>
          <p:cNvCxnSpPr/>
          <p:nvPr/>
        </p:nvCxnSpPr>
        <p:spPr>
          <a:xfrm>
            <a:off x="7635240" y="3749040"/>
            <a:ext cx="411480" cy="137160"/>
          </a:xfrm>
          <a:prstGeom prst="straightConnector1">
            <a:avLst/>
          </a:prstGeom>
          <a:ln w="12700">
            <a:solidFill>
              <a:srgbClr val="8A8F98"/>
            </a:solidFill>
          </a:ln>
        </p:spPr>
      </p:cxnSp>
      <p:sp>
        <p:nvSpPr>
          <p:cNvPr id="52" name="US0"/>
          <p:cNvSpPr/>
          <p:nvPr/>
        </p:nvSpPr>
        <p:spPr>
          <a:xfrm>
            <a:off x="4023360" y="3108960"/>
            <a:ext cx="228600" cy="228600"/>
          </a:xfrm>
          <a:prstGeom prst="ellipse">
            <a:avLst/>
          </a:prstGeom>
          <a:solidFill>
            <a:srgbClr val="FBF8F2"/>
          </a:solidFill>
          <a:ln w="12700">
            <a:solidFill>
              <a:srgbClr val="8E6F3E"/>
            </a:solidFill>
          </a:ln>
        </p:spPr>
        <p:txBody>
          <a:bodyPr wrap="square" lIns="27432" tIns="22860" rIns="27432" bIns="22860" anchor="ctr"/>
          <a:lstStyle/>
          <a:p>
            <a:pPr>
              <a:buNone/>
            </a:pPr>
            <a:endParaRPr lang="en-US"/>
          </a:p>
        </p:txBody>
      </p:sp>
      <p:sp>
        <p:nvSpPr>
          <p:cNvPr id="53" name="US1"/>
          <p:cNvSpPr/>
          <p:nvPr/>
        </p:nvSpPr>
        <p:spPr>
          <a:xfrm>
            <a:off x="4526280" y="3108960"/>
            <a:ext cx="228600" cy="228600"/>
          </a:xfrm>
          <a:prstGeom prst="ellipse">
            <a:avLst/>
          </a:prstGeom>
          <a:solidFill>
            <a:srgbClr val="FBF8F2"/>
          </a:solidFill>
          <a:ln w="12700">
            <a:solidFill>
              <a:srgbClr val="8E6F3E"/>
            </a:solidFill>
          </a:ln>
        </p:spPr>
        <p:txBody>
          <a:bodyPr wrap="square" lIns="27432" tIns="22860" rIns="27432" bIns="22860" anchor="ctr"/>
          <a:lstStyle/>
          <a:p>
            <a:pPr>
              <a:buNone/>
            </a:pPr>
            <a:endParaRPr lang="en-US"/>
          </a:p>
        </p:txBody>
      </p:sp>
      <p:cxnSp>
        <p:nvCxnSpPr>
          <p:cNvPr id="54" name="USA0"/>
          <p:cNvCxnSpPr/>
          <p:nvPr/>
        </p:nvCxnSpPr>
        <p:spPr>
          <a:xfrm>
            <a:off x="4251960" y="3223260"/>
            <a:ext cx="274320" cy="0"/>
          </a:xfrm>
          <a:prstGeom prst="straightConnector1">
            <a:avLst/>
          </a:prstGeom>
          <a:ln w="12700">
            <a:solidFill>
              <a:srgbClr val="8E6F3E"/>
            </a:solidFill>
            <a:tailEnd type="triangle" w="med" len="med"/>
          </a:ln>
        </p:spPr>
      </p:cxnSp>
      <p:sp>
        <p:nvSpPr>
          <p:cNvPr id="55" name="UT0"/>
          <p:cNvSpPr/>
          <p:nvPr/>
        </p:nvSpPr>
        <p:spPr>
          <a:xfrm>
            <a:off x="3817620" y="3611880"/>
            <a:ext cx="1508760" cy="228600"/>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state machine</a:t>
            </a:r>
          </a:p>
        </p:txBody>
      </p:sp>
      <p:sp>
        <p:nvSpPr>
          <p:cNvPr id="60" name="Ital"/>
          <p:cNvSpPr/>
          <p:nvPr/>
        </p:nvSpPr>
        <p:spPr>
          <a:xfrm>
            <a:off x="274320" y="498348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assigned readings say browse, not memorize.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Select before you invent.</a:t>
            </a:r>
          </a:p>
        </p:txBody>
      </p:sp>
      <p:sp>
        <p:nvSpPr>
          <p:cNvPr id="200" name="UTC0"/>
          <p:cNvSpPr txBox="1"/>
          <p:nvPr/>
        </p:nvSpPr>
        <p:spPr>
          <a:xfrm>
            <a:off x="52578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class</a:t>
            </a:r>
          </a:p>
        </p:txBody>
      </p:sp>
      <p:sp>
        <p:nvSpPr>
          <p:cNvPr id="201" name="UTC1"/>
          <p:cNvSpPr txBox="1"/>
          <p:nvPr/>
        </p:nvSpPr>
        <p:spPr>
          <a:xfrm>
            <a:off x="217170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sequence</a:t>
            </a:r>
          </a:p>
        </p:txBody>
      </p:sp>
      <p:sp>
        <p:nvSpPr>
          <p:cNvPr id="202" name="UTC3"/>
          <p:cNvSpPr txBox="1"/>
          <p:nvPr/>
        </p:nvSpPr>
        <p:spPr>
          <a:xfrm>
            <a:off x="546354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activity</a:t>
            </a:r>
          </a:p>
        </p:txBody>
      </p:sp>
      <p:sp>
        <p:nvSpPr>
          <p:cNvPr id="203" name="UTC4"/>
          <p:cNvSpPr txBox="1"/>
          <p:nvPr/>
        </p:nvSpPr>
        <p:spPr>
          <a:xfrm>
            <a:off x="710946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use case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do we find out whether we judged right?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OldB1"/>
          <p:cNvSpPr/>
          <p:nvPr/>
        </p:nvSpPr>
        <p:spPr>
          <a:xfrm>
            <a:off x="777240" y="1943100"/>
            <a:ext cx="4480560" cy="2697480"/>
          </a:xfrm>
          <a:prstGeom prst="rect">
            <a:avLst/>
          </a:prstGeom>
          <a:noFill/>
          <a:ln w="12700">
            <a:solidFill>
              <a:srgbClr val="8E6F3E"/>
            </a:solidFill>
            <a:prstDash val="dash"/>
          </a:ln>
        </p:spPr>
        <p:txBody>
          <a:bodyPr wrap="square" lIns="27432" tIns="22860" rIns="27432" bIns="22860" anchor="ctr"/>
          <a:lstStyle/>
          <a:p>
            <a:pPr>
              <a:buNone/>
            </a:pPr>
            <a:endParaRPr lang="en-US"/>
          </a:p>
        </p:txBody>
      </p:sp>
      <p:sp>
        <p:nvSpPr>
          <p:cNvPr id="12" name="Scaf1"/>
          <p:cNvSpPr/>
          <p:nvPr/>
        </p:nvSpPr>
        <p:spPr>
          <a:xfrm>
            <a:off x="1280160" y="2286000"/>
            <a:ext cx="3520440" cy="2011680"/>
          </a:xfrm>
          <a:prstGeom prst="rect">
            <a:avLst/>
          </a:prstGeom>
          <a:solidFill>
            <a:srgbClr val="C9B991"/>
          </a:solidFill>
          <a:ln>
            <a:noFill/>
          </a:ln>
        </p:spPr>
        <p:txBody>
          <a:bodyPr wrap="square" lIns="27432" tIns="22860" rIns="27432" bIns="22860" anchor="ctr"/>
          <a:lstStyle/>
          <a:p>
            <a:pPr>
              <a:buNone/>
            </a:pPr>
            <a:endParaRPr lang="en-US"/>
          </a:p>
        </p:txBody>
      </p:sp>
      <p:sp>
        <p:nvSpPr>
          <p:cNvPr id="13"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4"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5" name="OldL"/>
          <p:cNvSpPr txBox="1"/>
          <p:nvPr/>
        </p:nvSpPr>
        <p:spPr>
          <a:xfrm>
            <a:off x="5806440" y="18973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less capable agent</a:t>
            </a:r>
          </a:p>
        </p:txBody>
      </p:sp>
      <p:cxnSp>
        <p:nvCxnSpPr>
          <p:cNvPr id="16" name="OldLd"/>
          <p:cNvCxnSpPr/>
          <p:nvPr/>
        </p:nvCxnSpPr>
        <p:spPr>
          <a:xfrm>
            <a:off x="5303520" y="2171700"/>
            <a:ext cx="457200" cy="0"/>
          </a:xfrm>
          <a:prstGeom prst="straightConnector1">
            <a:avLst/>
          </a:prstGeom>
          <a:ln w="12700">
            <a:solidFill>
              <a:srgbClr val="555960"/>
            </a:solidFill>
            <a:headEnd type="triangle" w="med" len="med"/>
          </a:ln>
        </p:spPr>
      </p:cxnSp>
      <p:sp>
        <p:nvSpPr>
          <p:cNvPr id="17" name="NewL"/>
          <p:cNvSpPr txBox="1"/>
          <p:nvPr/>
        </p:nvSpPr>
        <p:spPr>
          <a:xfrm>
            <a:off x="5806440" y="265176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more capable agent</a:t>
            </a:r>
          </a:p>
        </p:txBody>
      </p:sp>
      <p:cxnSp>
        <p:nvCxnSpPr>
          <p:cNvPr id="18" name="NewLd"/>
          <p:cNvCxnSpPr/>
          <p:nvPr/>
        </p:nvCxnSpPr>
        <p:spPr>
          <a:xfrm>
            <a:off x="4846320" y="2926080"/>
            <a:ext cx="914400" cy="0"/>
          </a:xfrm>
          <a:prstGeom prst="straightConnector1">
            <a:avLst/>
          </a:prstGeom>
          <a:ln w="12700">
            <a:solidFill>
              <a:srgbClr val="555960"/>
            </a:solidFill>
            <a:headEnd type="triangle" w="med" len="med"/>
          </a:ln>
        </p:spPr>
      </p:cxnSp>
      <p:cxnSp>
        <p:nvCxnSpPr>
          <p:cNvPr id="19" name="MvA"/>
          <p:cNvCxnSpPr/>
          <p:nvPr/>
        </p:nvCxnSpPr>
        <p:spPr>
          <a:xfrm>
            <a:off x="4800600" y="3520440"/>
            <a:ext cx="457200" cy="0"/>
          </a:xfrm>
          <a:prstGeom prst="straightConnector1">
            <a:avLst/>
          </a:prstGeom>
          <a:ln w="28575">
            <a:solidFill>
              <a:srgbClr val="8E6F3E"/>
            </a:solidFill>
            <a:headEnd type="triangle" w="med" len="med"/>
          </a:ln>
        </p:spPr>
      </p:cxnSp>
      <p:sp>
        <p:nvSpPr>
          <p:cNvPr id="20" name="MvLbl"/>
          <p:cNvSpPr txBox="1"/>
          <p:nvPr/>
        </p:nvSpPr>
        <p:spPr>
          <a:xfrm>
            <a:off x="5806440" y="3291840"/>
            <a:ext cx="3017520" cy="868680"/>
          </a:xfrm>
          <a:prstGeom prst="rect">
            <a:avLst/>
          </a:prstGeom>
          <a:noFill/>
          <a:ln>
            <a:noFill/>
          </a:ln>
        </p:spPr>
        <p:txBody>
          <a:bodyPr wrap="square" lIns="0" tIns="0" rIns="0" bIns="0" anchor="t"/>
          <a:lstStyle/>
          <a:p>
            <a:pPr algn="l">
              <a:spcAft>
                <a:spcPts val="0"/>
              </a:spcAft>
              <a:buNone/>
            </a:pPr>
            <a:r>
              <a:rPr lang="en-US" sz="1500" b="1" dirty="0">
                <a:solidFill>
                  <a:srgbClr val="5C4826"/>
                </a:solidFill>
              </a:rPr>
              <a:t>greater agent capability can reduce required scaffolding</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How little must we specify for this agent, while preserving the obligation?</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specification boundary moves inward.</a:t>
            </a:r>
          </a:p>
        </p:txBody>
      </p:sp>
      <p:sp>
        <p:nvSpPr>
          <p:cNvPr id="200" name="DofL25"/>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118872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2240280"/>
            <a:ext cx="237744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2674620"/>
            <a:ext cx="594360" cy="0"/>
          </a:xfrm>
          <a:prstGeom prst="straightConnector1">
            <a:avLst/>
          </a:prstGeom>
          <a:ln w="28575">
            <a:solidFill>
              <a:srgbClr val="8E6F3E"/>
            </a:solidFill>
            <a:tailEnd type="triangle" w="med" len="med"/>
          </a:ln>
        </p:spPr>
      </p:cxnSp>
      <p:sp>
        <p:nvSpPr>
          <p:cNvPr id="13" name="St2"/>
          <p:cNvSpPr/>
          <p:nvPr/>
        </p:nvSpPr>
        <p:spPr>
          <a:xfrm>
            <a:off x="3611880" y="2240280"/>
            <a:ext cx="187452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2674620"/>
            <a:ext cx="594360" cy="0"/>
          </a:xfrm>
          <a:prstGeom prst="straightConnector1">
            <a:avLst/>
          </a:prstGeom>
          <a:ln w="28575">
            <a:solidFill>
              <a:srgbClr val="8E6F3E"/>
            </a:solidFill>
            <a:tailEnd type="triangle" w="med" len="med"/>
          </a:ln>
        </p:spPr>
      </p:cxnSp>
      <p:sp>
        <p:nvSpPr>
          <p:cNvPr id="15" name="St3"/>
          <p:cNvSpPr/>
          <p:nvPr/>
        </p:nvSpPr>
        <p:spPr>
          <a:xfrm>
            <a:off x="6172200" y="2240280"/>
            <a:ext cx="2423160" cy="86868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3108960"/>
            <a:ext cx="0" cy="777240"/>
          </a:xfrm>
          <a:prstGeom prst="straightConnector1">
            <a:avLst/>
          </a:prstGeom>
          <a:ln w="12700">
            <a:solidFill>
              <a:srgbClr val="8E6F3E"/>
            </a:solidFill>
            <a:prstDash val="dash"/>
            <a:tailEnd type="triangle" w="med" len="med"/>
          </a:ln>
        </p:spPr>
      </p:cxnSp>
      <p:sp>
        <p:nvSpPr>
          <p:cNvPr id="17" name="Drop1"/>
          <p:cNvSpPr/>
          <p:nvPr/>
        </p:nvSpPr>
        <p:spPr>
          <a:xfrm>
            <a:off x="845820" y="393192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44348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329184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274320" y="942975"/>
            <a:ext cx="8595360" cy="320040"/>
          </a:xfrm>
          <a:prstGeom prst="rect">
            <a:avLst/>
          </a:prstGeom>
          <a:noFill/>
          <a:ln>
            <a:noFill/>
          </a:ln>
        </p:spPr>
        <p:txBody>
          <a:bodyPr wrap="square" lIns="0" tIns="0" rIns="0" bIns="0" anchor="t"/>
          <a:lstStyle/>
          <a:p>
            <a:pPr algn="ctr">
              <a:spcAft>
                <a:spcPts val="0"/>
              </a:spcAft>
              <a:buNone/>
            </a:pPr>
            <a:r>
              <a:rPr lang="en-US" sz="1500" b="1" spc="120" dirty="0">
                <a:solidFill>
                  <a:srgbClr val="8E6F3E"/>
                </a:solidFill>
              </a:rPr>
              <a:t>FOR A FIXED ENGINEERING ENVIRONMENT</a:t>
            </a:r>
          </a:p>
        </p:txBody>
      </p:sp>
      <p:sp>
        <p:nvSpPr>
          <p:cNvPr id="11" name="EqBox"/>
          <p:cNvSpPr txBox="1"/>
          <p:nvPr/>
        </p:nvSpPr>
        <p:spPr>
          <a:xfrm>
            <a:off x="274320" y="1280160"/>
            <a:ext cx="8595360" cy="91440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1945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365760" y="2834640"/>
            <a:ext cx="192024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2800" b="1" i="1" dirty="0">
                <a:solidFill>
                  <a:srgbClr val="FFFFFF"/>
                </a:solidFill>
              </a:rPr>
              <a:t>T</a:t>
            </a:r>
          </a:p>
        </p:txBody>
      </p:sp>
      <p:sp>
        <p:nvSpPr>
          <p:cNvPr id="21" name="Q0"/>
          <p:cNvSpPr txBox="1"/>
          <p:nvPr/>
        </p:nvSpPr>
        <p:spPr>
          <a:xfrm>
            <a:off x="365760" y="3474720"/>
            <a:ext cx="1920240" cy="100584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an engineering task or task family</a:t>
            </a:r>
          </a:p>
        </p:txBody>
      </p:sp>
      <p:sp>
        <p:nvSpPr>
          <p:cNvPr id="22" name="N1"/>
          <p:cNvSpPr/>
          <p:nvPr/>
        </p:nvSpPr>
        <p:spPr>
          <a:xfrm>
            <a:off x="2529840" y="2834640"/>
            <a:ext cx="192024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2800" b="1" i="1" dirty="0">
                <a:solidFill>
                  <a:srgbClr val="FFFFFF"/>
                </a:solidFill>
              </a:rPr>
              <a:t>M</a:t>
            </a:r>
          </a:p>
        </p:txBody>
      </p:sp>
      <p:sp>
        <p:nvSpPr>
          <p:cNvPr id="23" name="Q1"/>
          <p:cNvSpPr txBox="1"/>
          <p:nvPr/>
        </p:nvSpPr>
        <p:spPr>
          <a:xfrm>
            <a:off x="2529840" y="3474720"/>
            <a:ext cx="1920240" cy="100584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the reasoning model</a:t>
            </a:r>
          </a:p>
        </p:txBody>
      </p:sp>
      <p:sp>
        <p:nvSpPr>
          <p:cNvPr id="24" name="N2"/>
          <p:cNvSpPr/>
          <p:nvPr/>
        </p:nvSpPr>
        <p:spPr>
          <a:xfrm>
            <a:off x="4693920" y="2834640"/>
            <a:ext cx="192024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2800" b="1" i="1" dirty="0">
                <a:solidFill>
                  <a:srgbClr val="FFFFFF"/>
                </a:solidFill>
              </a:rPr>
              <a:t>R</a:t>
            </a:r>
          </a:p>
        </p:txBody>
      </p:sp>
      <p:sp>
        <p:nvSpPr>
          <p:cNvPr id="25" name="Q2"/>
          <p:cNvSpPr txBox="1"/>
          <p:nvPr/>
        </p:nvSpPr>
        <p:spPr>
          <a:xfrm>
            <a:off x="4693920" y="3474720"/>
            <a:ext cx="1920240" cy="100584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the representation available to it</a:t>
            </a:r>
          </a:p>
        </p:txBody>
      </p:sp>
      <p:sp>
        <p:nvSpPr>
          <p:cNvPr id="26" name="N3"/>
          <p:cNvSpPr/>
          <p:nvPr/>
        </p:nvSpPr>
        <p:spPr>
          <a:xfrm>
            <a:off x="6858000" y="2834640"/>
            <a:ext cx="192024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2800" b="1" i="1" dirty="0">
                <a:solidFill>
                  <a:srgbClr val="FFFFFF"/>
                </a:solidFill>
              </a:rPr>
              <a:t>H</a:t>
            </a:r>
          </a:p>
        </p:txBody>
      </p:sp>
      <p:sp>
        <p:nvSpPr>
          <p:cNvPr id="27" name="Q3"/>
          <p:cNvSpPr txBox="1"/>
          <p:nvPr/>
        </p:nvSpPr>
        <p:spPr>
          <a:xfrm>
            <a:off x="6858000" y="3474720"/>
            <a:ext cx="1920240" cy="100584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91440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55448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783080"/>
            <a:ext cx="274320" cy="0"/>
          </a:xfrm>
          <a:prstGeom prst="straightConnector1">
            <a:avLst/>
          </a:prstGeom>
          <a:ln w="19050">
            <a:solidFill>
              <a:srgbClr val="C9B991"/>
            </a:solidFill>
            <a:tailEnd type="triangle" w="med" len="med"/>
          </a:ln>
        </p:spPr>
      </p:cxnSp>
      <p:sp>
        <p:nvSpPr>
          <p:cNvPr id="21" name="N1"/>
          <p:cNvSpPr/>
          <p:nvPr/>
        </p:nvSpPr>
        <p:spPr>
          <a:xfrm>
            <a:off x="3383280" y="155448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783080"/>
            <a:ext cx="274320" cy="0"/>
          </a:xfrm>
          <a:prstGeom prst="straightConnector1">
            <a:avLst/>
          </a:prstGeom>
          <a:ln w="19050">
            <a:solidFill>
              <a:srgbClr val="C9B991"/>
            </a:solidFill>
            <a:tailEnd type="triangle" w="med" len="med"/>
          </a:ln>
        </p:spPr>
      </p:cxnSp>
      <p:sp>
        <p:nvSpPr>
          <p:cNvPr id="22" name="N2"/>
          <p:cNvSpPr/>
          <p:nvPr/>
        </p:nvSpPr>
        <p:spPr>
          <a:xfrm>
            <a:off x="6400800" y="155448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0312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88261"/>
            <a:ext cx="5213586" cy="2166996"/>
            <a:chOff x="2908770" y="2688261"/>
            <a:chExt cx="5213586" cy="2166996"/>
          </a:xfrm>
        </p:grpSpPr>
        <p:sp>
          <p:nvSpPr>
            <p:cNvPr id="101" name="LeverLabel"/>
            <p:cNvSpPr txBox="1"/>
            <p:nvPr/>
          </p:nvSpPr>
          <p:spPr>
            <a:xfrm>
              <a:off x="4572000" y="2688261"/>
              <a:ext cx="3550356" cy="655696"/>
            </a:xfrm>
            <a:prstGeom prst="rect">
              <a:avLst/>
            </a:prstGeom>
            <a:noFill/>
            <a:ln>
              <a:noFill/>
            </a:ln>
          </p:spPr>
          <p:txBody>
            <a:bodyPr wrap="square" lIns="0" tIns="0" rIns="0" bIns="0" anchor="ctr"/>
            <a:lstStyle/>
            <a:p>
              <a:pPr algn="r">
                <a:lnSpc>
                  <a:spcPct val="110000"/>
                </a:lnSpc>
                <a:spcAft>
                  <a:spcPts val="0"/>
                </a:spcAft>
                <a:buNone/>
              </a:pPr>
              <a:r>
                <a:rPr lang="en-US" sz="2100" b="1" spc="126" dirty="0">
                  <a:solidFill>
                    <a:srgbClr val="C8102E"/>
                  </a:solidFill>
                </a:rPr>
                <a:t>MODELING CHANGES</a:t>
              </a:r>
            </a:p>
            <a:p>
              <a:pPr algn="r">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3088076"/>
              <a:ext cx="895585" cy="0"/>
            </a:xfrm>
            <a:prstGeom prst="straightConnector1">
              <a:avLst/>
            </a:prstGeom>
            <a:ln w="44450" cap="sq">
              <a:solidFill>
                <a:srgbClr val="C8102E"/>
              </a:solidFill>
            </a:ln>
          </p:spPr>
        </p:cxnSp>
        <p:cxnSp>
          <p:nvCxnSpPr>
            <p:cNvPr id="103" name="LeverArrowV"/>
            <p:cNvCxnSpPr/>
            <p:nvPr/>
          </p:nvCxnSpPr>
          <p:spPr>
            <a:xfrm>
              <a:off x="3676415" y="3088076"/>
              <a:ext cx="0" cy="607719"/>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