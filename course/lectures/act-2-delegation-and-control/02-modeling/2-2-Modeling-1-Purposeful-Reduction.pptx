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slides/slide49.xml" ContentType="application/vnd.openxmlformats-officedocument.presentationml.slide+xml"/>
  <Override PartName="/ppt/notesSlides/notesSlide43.xml" ContentType="application/vnd.openxmlformats-officedocument.presentationml.notesSlide+xml"/>
  <Override PartName="/ppt/notesSlides/notesSlide49.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5" r:id="rId55"/>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5" Type="http://schemas.openxmlformats.org/officeDocument/2006/relationships/slide" Target="slides/slide49.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Relationships xmlns="http://schemas.openxmlformats.org/package/2006/relationships">
  <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2 — first on “How would you implement this?”, then as the one-model-many-implementations anchor on “One model, many implementations”.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arrives in Section 3, on “Top-down: preserve what the obligation requires”,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synthesis beat. The definition is no longer an assertion the students have to accept on faith — it is an explanation of the four sections they just sat through. Every diagram in SEE THE MODELS left out almost everything and was useful anyway; MODELS CONSTRAIN IMPLEMENTATION showed what the omissions buy; DESIGNING THE MODEL asked what must remain; CORRESPONDENCE graded the reduction. Say it as an earned summary, not as a new claim.</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four sections earned both.</a:t>
            </a:r>
          </a:p>
          <a:p>
            <a:r>
              <a:rPr lang="en-US" dirty="0"/>
              <a:t>Say the strip line aloud once, here, as a retrospective. These four questions — engineering question, model, property, quality — opened every section the room just sat through, and this is where they are claimed rather than promised. The strip is deliberately unhighlighted on this slide: the section headers gold the one cell that section is about, and here all four are live. They are also what the students carry out — they organize the cost discussion that follows, and they organize Lecture 2.</a:t>
            </a:r>
          </a:p>
          <a:p>
            <a:r>
              <a:rPr lang="en-US" dirty="0"/>
              <a:t>A line worth keeping in your pocket if the room needs it: a reduction you can hold in view beats a faithful copy too large to reason through.</a:t>
            </a:r>
          </a:p>
          <a:p>
            <a:r>
              <a:rPr lang="en-US" dirty="0"/>
              <a:t>About two minutes. This slide closes the four sections and hands off, through the stretch break, to “The cost discussion” — where the production equation returns and the room puts cost back into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One direction of reasoning, worked live on one embedded system: start from the engineering obligation, and let it decide what the model must preserve.</a:t>
            </a:r>
          </a:p>
          <a:p>
            <a:r>
              <a:rPr dirty="0"/>
              <a:t>There is no bottom-up section. The question it used to ask - does every distinction we kept earn its place? - returns at the end of the lecture, as the economics of delegation.</a:t>
            </a:r>
          </a:p>
          <a:p>
            <a:r>
              <a:rPr dirty="0"/>
              <a:t>Spine strip: MODEL stage highlighted, stage 2 of the four-question discipline. The synthesis slide near the end of the lecture names all four; do not promise it here.</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slide teaches the general pattern; the next one instantiates it. Walk the left column and the right rail together, one click at a time - the pattern, then its instance.</a:t>
            </a:r>
          </a:p>
          <a:p>
            <a:r>
              <a:rPr dirty="0"/>
              <a:t>Row 1 is not the spine's ENGINEERING QUESTION restated. The question asks whether the design holds; the obligation states what holding means. Say which is which.</a:t>
            </a:r>
          </a:p>
          <a:p>
            <a:r>
              <a:rPr dirty="0"/>
              <a:t>The MODEL row is the one to dwell on - it is the only outlined box: the obligation picks the distinctions, and the distinctions decide what the model has to say. Nothing is in the model because it happened to be available.</a:t>
            </a:r>
          </a:p>
          <a:p>
            <a:r>
              <a:rPr dirty="0"/>
              <a:t>LEGITIMATE FREEDOM is the complement of row 2, not a product of row 3 - everything the required distinctions did not require. 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previous slide posed the question. This slide answers 'of what?' - here is the design the 8-hour obligation is about.</a:t>
            </a:r>
          </a:p>
          <a:p>
            <a:r>
              <a:rPr dirty="0"/>
              <a:t>Territory an ECE student grasps in thirty seconds - that is why it, and not a software system, carries the method.</a:t>
            </a:r>
          </a:p>
          <a:p>
            <a:r>
              <a:rPr dirty="0"/>
              <a:t>Present territory before model; the model does not exist yet.</a:t>
            </a:r>
          </a:p>
          <a:p>
            <a:r>
              <a:rPr dirty="0"/>
              <a:t>The footer restates the specification in the room's own words: can the battery run out before the 8 hours end? Same obligation, informal register.</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Everything on this slide is visible on arrival; there is no reveal. The previous slide's rail already named the four quantities, so do not ask the room to guess them - ask how six components became four numbers, and walk the fan-in.</a:t>
            </a:r>
          </a:p>
          <a:p>
            <a:r>
              <a:rPr dirty="0"/>
              <a:t>This is the previous slide's pattern instantiated - obligation, required distinctions, model, and an explicit list of what stayed free. Point back at the four-box flow once, then stay here.</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 Same property, same notation, as the previous slide's rail.</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These are different questions. The product may not care whether I use a B-tree index. But my agent might repeatedly make a terrible database design unless I tell it. That information is not an obligation of the product. It is scaffolding for this delegate.</a:t>
            </a:r>
          </a:p>
          <a:p>
            <a:r>
              <a:rPr lang="en-US" dirty="0"/>
              <a:t>ON ARRIVAL — the container only: EVERYTHING ABOUT THE IMPLEMENTATION. Nothing inside it yet. Scaffolding re-enters the lecture here; the previous slide deliberately did not mention it.</a:t>
            </a:r>
          </a:p>
          <a:p>
            <a:r>
              <a:rPr lang="en-US" dirty="0"/>
              <a:t>CLICK 1 — OBLIGATION, the inner region, drawn with a SOLID boundary. This inner boundary comes from the product. It is what must be true, and it does not move when we change delegate.</a:t>
            </a:r>
          </a:p>
          <a:p>
            <a:r>
              <a:rPr lang="en-US" dirty="0"/>
              <a:t>CLICK 2 — the SCAFFOLDING region around it, drawn with a DASHED boundary. What this agent needs in order to realize the obligation reliably: examples, decomposition, intermediate structure. The dash is the point — this boundary depends on the delegate, so it moves.</a:t>
            </a:r>
          </a:p>
          <a:p>
            <a:r>
              <a:rPr lang="en-US" dirty="0"/>
              <a:t>CLICK 3 — the remainder is DEGREES OF FREEDOM. Everything outside what we wrote down is the realization's to choose. Reading order matters: obligation inside, specification outside. Do not reveal them the other way round — it teaches the reverse of the argument.</a:t>
            </a:r>
          </a:p>
          <a:p>
            <a:r>
              <a:rPr lang="en-US" dirty="0"/>
              <a:t>CLICK 4 — the question to the room. How wide is the gap between what the product requires and what the agent needs specified? Leave it open; the next two slides answer it by making the gap grow.</a:t>
            </a:r>
          </a:p>
          <a:p>
            <a:r>
              <a:rPr lang="en-US" dirty="0"/>
              <a:t>Rebuilt from the old 'Obligation and specification are different boundaries' slide, which taught the same two boundaries before the cost discussion existed. It is motivated now by the economics, which is why it sits here and not in Section 4.</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3 taught how to reason about a reduction. This section asks how you find out whether you reduced the right things.</a:t>
            </a:r>
          </a:p>
          <a:p>
            <a:r>
              <a:rPr lang="en-US" dirty="0"/>
              <a:t>The frame: we have spent this lecture telling you to leave things out. Correspondence is the test of whether you left out the right ones. Two cases — one failure, one success.</a:t>
            </a:r>
          </a:p>
          <a:p>
            <a:r>
              <a:rPr lang="en-US" dirty="0"/>
              <a:t>Both cases use the same three tiers: the facts, then the model itself, then the consequence. The models are deliberately different kinds — a data schema and a behavioural model — so nobody leaves thinking "model" means boxes and arrows.</a:t>
            </a:r>
          </a:p>
          <a:p>
            <a:r>
              <a:rPr lang="en-US" dirty="0"/>
              <a:t>The two cards at the foot of this slide are the whole section: one failure, one success. Name them on the way past - do not explain them here.</a:t>
            </a:r>
          </a:p>
          <a:p>
            <a:r>
              <a:rPr lang="en-US" dirty="0"/>
              <a:t>Both cases are self-contained. Neither needs any project background to tell; if you find yourself explaining where they came from, you have added something the case does not need.</a:t>
            </a:r>
          </a:p>
          <a:p>
            <a:r>
              <a:rPr lang="en-US" dirty="0"/>
              <a:t>TERMINOLOGY GUARD, for your own speech as much as for the slides: this section is about correspondence between a model and whatever realizes it. Model refinement — one model inducing others — is Lecture 2, and this deck no longer promises it. Never use the meta- prefix here.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Walk the three tiers in order. FACTS: an account is either metered or unlimited; a metered account can run out; and those two states require different behavior from the system. That last line is the obligation.</a:t>
            </a:r>
          </a:p>
          <a:p>
            <a:r>
              <a:rPr lang="en-US" dirty="0"/>
              <a:t>MODEL: the point of this tier is that BOTH boxes are models. The richer one names a quota type, a credit balance, and a renewal rule. Someone proposes reducing it to one integer. Say "reduce" out loud as a modeling decision, not a coding decision.</a:t>
            </a:r>
          </a:p>
          <a:p>
            <a:r>
              <a:rPr lang="en-US" dirty="0"/>
              <a:t>Read the callout aloud, then add the oral line: models don't have to be boxes and arrows — a schema is a model. Hand this schema to two competent engineers and you will get two quite different databases that both faithfully realize it. That is the think-pair-share from Section 2, in a second notation.</a:t>
            </a:r>
          </a:p>
          <a:p>
            <a:r>
              <a:rPr lang="en-US" dirty="0"/>
              <a:t>The collision is the whole case. An unlimited account has no credit balance to report, so it arrives as 0. An exhausted account has run out, so it arrives as 0. Two states the obligation says must behave differently, one model state. Let the room sit with it for a beat before you say the bottom line.</a:t>
            </a:r>
          </a:p>
          <a:p>
            <a:r>
              <a:rPr lang="en-US" dirty="0"/>
              <a:t>CONSEQUENCE: name it as correspondence, not as a bug. The model and the obligation disagree about which distinctions exist. Once a distinction is discarded, no amount of downstream reasoning recovers it — a more capable implementer cannot restore what the representation never encoded.</a:t>
            </a:r>
          </a:p>
          <a:p>
            <a:r>
              <a:rPr lang="en-US" dirty="0"/>
              <a:t>Keep this schema's wording stable: a later slide quotes it as a hypothetical. Nothing to foreshadow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three tiers, deliberately a different kind of model. FACTS: a lease records who owns it, a generation, a lifetime, and a reclamation rule. One thing is forbidden outright — a holder on a stale generation must never release the current lease. How the work is spread out is not part of that obligation.</a:t>
            </a:r>
          </a:p>
          <a:p>
            <a:r>
              <a:rPr lang="en-US" dirty="0"/>
              <a:t>MODEL: this is not a schema, and say so. It is a relationship with a prohibition in it. Worker owns Lease; the lease carries generation, lifetime, reclamation; and the dashed edge is the one move the model forbids. Point at the dashed edge: a model can constrain behaviour, not just data.</a:t>
            </a:r>
          </a:p>
          <a:p>
            <a:r>
              <a:rPr lang="en-US" dirty="0"/>
              <a:t>Then the two realizations beneath. Both satisfy the same lease model — one service making a single pass, and a coordinator fanning work across chunk workers and merging the results. The dashed "realized by" lines are the claim. This is exactly what one-model-many-implementations asserted back in Section 2, now graded by evidence instead of asserted on a slide.</a:t>
            </a:r>
          </a:p>
          <a:p>
            <a:r>
              <a:rPr lang="en-US" dirty="0"/>
              <a:t>The topology changed in a dimension the model deliberately left free, and nothing in the model had to move. That is what a good omission looks like after the fact: it was a degree of freedom, not an oversight.</a:t>
            </a:r>
          </a:p>
          <a:p>
            <a:r>
              <a:rPr lang="en-US" dirty="0"/>
              <a:t>The pair's spoken payoff — say it here, once, as the conclusion of both cases: "Represent no more than the question requires, but no less than the obligation requires."</a:t>
            </a:r>
          </a:p>
          <a:p>
            <a:r>
              <a:rPr lang="en-US" dirty="0"/>
              <a:t>Keep both cases portable. Neither needs provenance; if you catch yourself saying where these came from, cut it.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OPTIONAL, IF TIME — 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OPTIONAL, IF TIME — the correspondence question, asked orally and held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by asking the next slide’s own first question, in its words: if this works, why do software engineers draw boxes and arrows for a day, then go code for a week? Do not answer it here.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Beat one: engineering has accumulated reusable ways to represent recurring questions. These four are not a reading list; they are evidence that the representations already exist and are maintained. Azure's catalogue is current practice, the Gang-of-Four book is thirty years old and still cited, the MBSE handbook is a 2023 reference work, and UML Distilled is how most engineers actually learned the notation.</a:t>
            </a:r>
          </a:p>
          <a:p>
            <a:r>
              <a:rPr lang="en-US" dirty="0"/>
              <a:t>Beat two, and this is the instruction: before you invent your own boxes and arrows, ask whether the profession already has a model for the thing you need to reason about. Read the four captions off the strip — patterns, design vocabulary, modeling methods, modeling notation — and let that be the argument. Do not walk the four items.</a:t>
            </a:r>
          </a:p>
          <a:p>
            <a:r>
              <a:rPr lang="en-US" dirty="0"/>
              <a:t>Beat three, say it plainly: this is an engineering principle, not an existence proof for tools. Do not teach any of these four, do not recommend them, and do not let the room turn it into a tooling discussion. The students can go find them.</a:t>
            </a:r>
          </a:p>
          <a:p>
            <a:r>
              <a:rPr lang="en-US" dirty="0"/>
              <a:t>The takeaway on the gold band is the spoken close: the forms already exist, so select before you invent.</a:t>
            </a:r>
          </a:p>
          <a:p>
            <a:r>
              <a:rPr lang="en-US" dirty="0"/>
              <a:t>Attribution is on the slide, in the two-line source foot. Three publisher covers reproduced for classroom teaching, one page capture from Microsoft Learn, and the Escher cover art on the Design Patterns jacket credited separately — that last one is a second rights holder, which is why it is named.</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Budget: eleven minutes, twelve if you take both optional beats on the reveal. Header 0.5, the exercise 4-5, the reveal 1.5 (2.5 with the subtle claim and the correspondence question), the closing questions 4-5.</a:t>
            </a:r>
          </a:p>
          <a:p>
            <a:r>
              <a:rPr lang="en-US" dirty="0"/>
              <a:t>[PRODUCTION — not for delivery] Spine strip: the PROPERTY stage is highlighted, and Correspondence highlights PROPERTY too, so the strip does not advance monotonically across the four section headers. Open question Q-E; the tail reconciliation unit owns the ruling.</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Three minutes of student work; four to five with setup and transitions. Timebox it and move even if the room is enjoying itself — the teaching is in the reveal, not in the share-out.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merge minds. So we encode what we know, ship the encoding, and hope interpretation recovers the part that mattered.” That is the whole problem of delegation, human or otherwise.</a:t>
            </a:r>
          </a:p>
          <a:p>
            <a:r>
              <a:rPr lang="en-US" dirty="0"/>
              <a:t>Then the claim, on its own click, once the figure has been narrated: delegation requires consequential knowledge to survive encoding and interpretation. Read it, do not gloss it — the next two sections are its consequences.</a:t>
            </a:r>
          </a:p>
          <a:p>
            <a:r>
              <a:rPr lang="en-US" dirty="0"/>
              <a:t>Last click brings the GenAI question, and then you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production equation from the opening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Why this slide exists: the next slide drops the room into a controller and an 8-hour question. Without this, that question has no provenance.</a:t>
            </a:r>
          </a:p>
          <a:p>
            <a:r>
              <a:rPr dirty="0"/>
              <a:t>Read the three cards in order. The first sentence is what a customer says. The second is what engineers must be able to check. Only the third one is ours.</a:t>
            </a:r>
          </a:p>
          <a:p>
            <a:r>
              <a:rPr dirty="0"/>
              <a:t>Say it once: V_min is the minimum safe voltage - the phrase the next two slides use.</a:t>
            </a:r>
          </a:p>
          <a:p>
            <a:r>
              <a:rPr dirty="0"/>
              <a:t>The footer is the point: students already know requirement, specification, implementation. Modeling is not a new stage bolted on - it sits between the specification and the design, and it is how the obligation gets answered before anything is built.</a:t>
            </a:r>
          </a:p>
          <a:p>
            <a:r>
              <a:rPr dirty="0"/>
              <a:t>Do NOT teach this controller's architecture here. One click per card, then move on. 90 seconds.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The lecture's intellectual close, and the only place the production equation comes back. The whole beat runs ten to fifteen minutes across this slide and the next, nearly all of it the room's. Put the equation up and say: earlier we deliberately refused to talk about cost, because asking “why don't we model everything?” while showing only success probability begs the objection “you forgot cost.” At the end, that is exactly the objection you want.</a:t>
            </a:r>
          </a:p>
          <a:p>
            <a:r>
              <a:rPr lang="en-US" dirty="0"/>
              <a:t xml:space="preserve">Same equation, same notation, same place on the slide as the production-equation slide in the opening — third and final appearance. Say so out loud; the room should recognise it as the tool they have been using all hour, not as a new one.</a:t>
            </a:r>
          </a:p>
          <a:p>
            <a:r>
              <a:rPr lang="en-US" dirty="0"/>
              <a:t xml:space="preserve">The equation is unmodified on purpose. Do NOT bolt a cost term onto p(T,M,R,H), do not offer a new master equation, and do not bring back the encode/interpret/realize decomposition here. A cost-augmented equation manufactures precision this discussion does not have. Let them reason about the terms first.</a:t>
            </a:r>
          </a:p>
          <a:p>
            <a:r>
              <a:rPr lang="en-US" dirty="0"/>
              <a:t xml:space="preserve">Read the pivot line, then ask the two questions and go to the whiteboard. The two columns accumulate on the board, not on the slide — the slide must not pre-empt the answers. This slide stays up for the whole whiteboard session; that is why it is its own slide.</a:t>
            </a:r>
          </a:p>
          <a:p>
            <a:r>
              <a:rPr lang="en-US" dirty="0"/>
              <a:t xml:space="preserve">MODELING COSTS, to collect rather than supply: engineering time; maintenance and synchronization; representation and tooling effort; the risk of modeling the wrong thing; delay before realization.</a:t>
            </a:r>
          </a:p>
          <a:p>
            <a:r>
              <a:rPr lang="en-US" dirty="0"/>
              <a:t xml:space="preserve">MODELING BENEFITS, likewise: cheaper reasoning; better communication and delegation; fewer consequential ambiguities; reusable constraints; cheaper validation; preserved knowledge across changes.</a:t>
            </a:r>
          </a:p>
          <a:p>
            <a:r>
              <a:rPr lang="en-US" dirty="0"/>
              <a:t xml:space="preserve">When both columns are on the board and the room has run out of easy answers, advance. The next slide turns the ledger on GenAI; leave the board up while you do it, because the next question is about which column moves.</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Picks up the hand-off from the previous slide: we have been asking what the model costs. Now the other side of the ledger — how cheap can we make the implementer? The title is the answer to the question they were left holding.</a:t>
            </a:r>
          </a:p>
          <a:p>
            <a:r>
              <a:rPr lang="en-US" dirty="0"/>
              <a:t xml:space="preserve">Run the row one click at a time, and say the scaffolding out loud as it appears. Senior engineer: give them the model, you get working software. Junior engineer: maybe add some context. Purdue intern: add examples and constraints. Still a check mark each time.</a:t>
            </a:r>
          </a:p>
          <a:p>
            <a:r>
              <a:rPr lang="en-US" dirty="0"/>
              <a:t xml:space="preserve">STOP at the IU intern. Let the laugh happen, then let the question mark sit there for a beat and ask the room directly: is more scaffolding still buying us anything? Do not answer it. Then accelerate — high-school intern, ten babies, a thousand monkeys, waves hitting a rock connected to a keyboard — clicking faster as the verdicts go to crosses.</a:t>
            </a:r>
          </a:p>
          <a:p>
            <a:r>
              <a:rPr lang="en-US" dirty="0"/>
              <a:t xml:space="preserve">Do NOT explain the babies or the monkeys. The absurdity is doing the work and the slide deliberately says nothing about them. The spoken line is: we cannot get ten babies, or a thousand monkeys, or waves hitting a rock wired to a keyboard to implement our database no matter how exquisite the UML.</a:t>
            </a:r>
          </a:p>
          <a:p>
            <a:r>
              <a:rPr lang="en-US" dirty="0"/>
              <a:t xml:space="preserve">Then point at the bars. Scaffolding is rising monotonically across the whole row — every step gets MORE support than the one before it — while the verdicts fall. That opposition is the entire picture; make sure they see it as one shape rather than eight separate jokes.</a:t>
            </a:r>
          </a:p>
          <a:p>
            <a:r>
              <a:rPr lang="en-US" dirty="0"/>
              <a:t xml:space="preserve">The callback to human outsourcing: scaffolding humans arbitrarily heavily never manufactures capability they do not have. You can write more detailed requirements, hold more meetings, add more review layers, and past some point none of it helps — eventually you need a competent person. That is what the crosses mean.</a:t>
            </a:r>
          </a:p>
          <a:p>
            <a:r>
              <a:rPr lang="en-US" dirty="0"/>
              <a:t xml:space="preserve">So the first line: more scaffolding can compensate for less capability, but only up to a point. And then the claim the rest of the coda depends on: scaffolding does not create capability. Land that one and stop talking.</a:t>
            </a:r>
          </a:p>
          <a:p>
            <a:r>
              <a:rPr lang="en-US" dirty="0"/>
              <a:t xml:space="preserve">Hand off into the next slide by turning it around: every rung on that ladder was a human, and cost tracked capability all the way down. Now look at what we actually have.</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This is the quietest slide in the deck and it is sparse on purpose. No boxes, no borders, nothing to read but the three terms. Do not fill the silence — let each one land and let the room do the arithmetic.</a:t>
            </a:r>
          </a:p>
          <a:p>
            <a:r>
              <a:rPr lang="en-US" dirty="0"/>
              <a:t xml:space="preserve">ORAL ONLY, and deliberately not on the slide: the middle term is the distilled wisdom of GitHub and the Internet. Say it; do not put it up. The on-slide wording stays the corpus line, because as a technical description of what training produces the catchier phrase is wrong, and the slide is the thing students photograph.</a:t>
            </a:r>
          </a:p>
          <a:p>
            <a:r>
              <a:rPr lang="en-US" dirty="0"/>
              <a:t xml:space="preserve">The surprise is economic, not technical. Every rung on the previous slide's ladder was a human, and for humans cost and capability track each other — that is why the continuum declined monotonically. GenAI sits far off that historical curve: a dollar of inference is priced like the bottom of the ladder and performs somewhere near the top. The curve says this point should not exist.</a:t>
            </a:r>
          </a:p>
          <a:p>
            <a:r>
              <a:rPr lang="en-US" dirty="0"/>
              <a:t xml:space="preserve">So say the next line with the room's own disbelief in it: it sure seems like this should work. Not that it does work — that it seems like it should, which is a different and more honest claim.</a:t>
            </a:r>
          </a:p>
          <a:p>
            <a:r>
              <a:rPr lang="en-US" dirty="0"/>
              <a:t xml:space="preserve">Close on the question, because it is the one the rest of the lecture answers: how little do we have to specify? Everything after this slide is an attempt to answer it, and the answer turns out not to be 'almost nothing.'</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This is the optimistic economic story, told straight. Do not hedge it here — the reversal has its own slides and arrives soon enough. For ninety seconds let the good version of the argument stand undefended.</a:t>
            </a:r>
          </a:p>
          <a:p>
            <a:r>
              <a:rPr lang="en-US" dirty="0"/>
              <a:t xml:space="preserve">Point at the asymmetry, because the asymmetry is the argument. On the left, a small statement of what must be true: obligations and the distinctions that matter. On the right, a large working implementation full of choices nobody asked us to make. The boxes are deliberately not the same size.</a:t>
            </a:r>
          </a:p>
          <a:p>
            <a:r>
              <a:rPr lang="en-US" dirty="0"/>
              <a:t xml:space="preserve">Ground it in Section 2. The state model admitted an enum, State objects, or a transition table — all three satisfied the model, and the model did not care which one you picked. So if all three satisfy it, why pay an engineer to choose? That is a realization choice we deliberately left free, and a competent delegate can supply it.</a:t>
            </a:r>
          </a:p>
          <a:p>
            <a:r>
              <a:rPr lang="en-US" dirty="0"/>
              <a:t xml:space="preserve">The genuinely interesting consequence: this could make modeling MORE attractive, not less. You pay for a compact statement of what matters and receive a large implementation cheaply. The leverage ratio between the two boxes is the return on modeling.</a:t>
            </a:r>
          </a:p>
          <a:p>
            <a:r>
              <a:rPr lang="en-US" dirty="0"/>
              <a:t xml:space="preserve">GUARD, for the lecturer: do not introduce scaffolding on this slide, and do not pre-empt the catch. Every instinct will be to say 'but of course you have to tell it more than that.' Save it. The next slides take it apart properly, and the reversal only works if the optimism was allowed to sound reasonable first.</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CONDITIONAL, and it has to stay conditional. The scenario is: this agent keeps making unacceptable choices, SO we respond by constraining them. Nothing here says indexes, joins or transaction boundaries must always be specified — a capable delegate on a well-posed model may need none of them. The kicker and the column header both say so on the slide; say it out loud too.</a:t>
            </a:r>
          </a:p>
          <a:p>
            <a:r>
              <a:rPr lang="en-US" dirty="0"/>
              <a:t>HYPOTHETICAL, not a third correspondence case. The schema is quoted from the account case two sections back so the room recognizes it instantly, but we are not grading its correspondence now. We are asking what happens to the cost of delegation when the realization keeps coming back wrong.</a:t>
            </a:r>
          </a:p>
          <a:p>
            <a:r>
              <a:rPr lang="en-US" dirty="0"/>
              <a:t>ON ARRIVAL — the optimistic pipeline from the economics slide, instantiated: the tiny model goes to the agent, the agent returns an implementation, and the whole implementation is the agent's to choose. 'Great. Let the agent choose the realization.'</a:t>
            </a:r>
          </a:p>
          <a:p>
            <a:r>
              <a:rPr lang="en-US" dirty="0"/>
              <a:t>CLICKS 1–5 — each click is a response to a bad choice, and each one takes a bite out of what the agent still supplies. Persistence, then lookup, then the join; then three at once, because by now we are not reasoning, we are dictating; then the variable name. Do not explain the last one — let the room laugh.</a:t>
            </a:r>
          </a:p>
          <a:p>
            <a:r>
              <a:rPr lang="en-US" dirty="0"/>
              <a:t>Watch the right-hand region, not the list. It gets smaller on every single click, and by the last click the agent is supplying about a third of what it started with. That shrinking region is the argument.</a:t>
            </a:r>
          </a:p>
          <a:p>
            <a:r>
              <a:rPr lang="en-US" dirty="0"/>
              <a:t>CLICK 6 — 'Oops. We are writing the implementation again.' Let it land. This is the joke and it is also the whole point.</a:t>
            </a:r>
          </a:p>
          <a:p>
            <a:r>
              <a:rPr lang="en-US" dirty="0"/>
              <a:t>CLICK 7 — the payoff: cheap realization only helps while the scaffolding needed to obtain it remains cheap.</a:t>
            </a:r>
          </a:p>
          <a:p>
            <a:r>
              <a:rPr lang="en-US" dirty="0"/>
              <a:t>THE OUTSOURCING CALLBACK, spoken. This is the same pathology as outsourcing software development: progressively more detailed requirements, then architecture documents, then meetings, then review — until coordination and specification cost eats the labor arbitrage you were buying. GenAI moves that boundary dramatically. It does not abolish it.</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ENDING. Nothing follows this slide — no summary, no outro. Land the close and stop.</a:t>
            </a:r>
          </a:p>
          <a:p>
            <a:r>
              <a:rPr lang="en-US" dirty="0"/>
              <a:t>ON ARRIVAL — the continuum only: too little at one end, too much at the other. Too little is the product model on its own; too much is the code itself.</a:t>
            </a:r>
          </a:p>
          <a:p>
            <a:r>
              <a:rPr lang="en-US" dirty="0"/>
              <a:t>CLICK 1 — the two failure modes, one at each end. Under-specify and you get the last slide: repeated bad realization choices, correction, rework, unreliable outcomes. Over-specify and modeling becomes implementation, the freedom disappears, and the savings you delegated for disappear with it.</a:t>
            </a:r>
          </a:p>
          <a:p>
            <a:r>
              <a:rPr lang="en-US" dirty="0"/>
              <a:t>CLICK 2 — the question the whole lecture has been walking toward. Read it out. It is the largest thing on the slide because it is the thing to remember.</a:t>
            </a:r>
          </a:p>
          <a:p>
            <a:r>
              <a:rPr lang="en-US" dirty="0"/>
              <a:t>CLICK 3 — and these are two different questions, not one. The product question asks what distinctions the model must preserve. The delegation question asks what additional distinctions THIS fabricator must be given. Section 3's per-distinction move — make every distinction earn its place, ask what this one buys us — belongs to the first question; the second is new.</a:t>
            </a:r>
          </a:p>
          <a:p>
            <a:r>
              <a:rPr lang="en-US" dirty="0"/>
              <a:t>CLICKS 4–7 — the recovered claim, and the only optimistic note in the coda. A more capable delegate needs less scaffolding, which gives back more legitimate freedom. Then the wall: the product obligation did not move. Capability can reduce scaffolding. It cannot reduce what must be true.</a:t>
            </a:r>
          </a:p>
          <a:p>
            <a:r>
              <a:rPr lang="en-US" dirty="0"/>
              <a:t>Better reasoning cannot recover consequential intent the representation failed to encode.</a:t>
            </a:r>
          </a:p>
          <a:p>
            <a:r>
              <a:rPr lang="en-US" dirty="0"/>
              <a:t>THE SPOKEN CLOSE. GenAI does not make modeling disappear. It changes the economic question. There are two sets of distinctions now — the ones the product requires, and the extra ones this delegate needs — and if the second set grows until we are specifying every implementation choice, we have lost the economic advantage we were trying to get from delegation. Point back at the center question and leave it with them.</a:t>
            </a:r>
          </a:p>
          <a:p>
            <a:r>
              <a:rPr lang="en-US" dirty="0"/>
              <a:t>Then one sentence of next time: Lecture 2 moves from one model to systems of models — how models refine into other models, and how a set of them stays trustworthy together. Stop there.</a:t>
            </a:r>
          </a:p>
          <a:p>
            <a:r>
              <a:rPr lang="en-US" dirty="0"/>
              <a:t>[QR placeholder — the feedback form URL does not exist yet; the void mark stands in. A finisher unit drops in the real QR PNG with alt text = URL. This is the deck's only QR mark: both activity slides' marks were deleted with the activities.]</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Open by reading the recall strip back. These are the three questions the room was left holding at the close of Section 2, on “Why don't we just hand off the model?” — word for word, deliberately. Do not paraphrase. The repetition is what makes the next question land as the answer to something they already care about, rather than as a fresh hypothetical.</a:t>
            </a:r>
          </a:p>
          <a:p>
            <a:r>
              <a:rPr lang="en-US" dirty="0"/>
              <a:t xml:space="preserve">Then the question, and the honest thing to do with it is to leave it open. It runs both directions. Cheaper implementation makes modeling look less attractive, because “just build it and see” gets cheap. And delegation at vastly higher implementation throughput makes mistakes, rework, communication, and the preservation of consequential intent relatively MORE important. Both are true. Do not resolve the tension — the unresolved tension is the deliverable. If a student resolves it, thank them and write it on the board unresolved beside the other direction.</a:t>
            </a:r>
          </a:p>
          <a:p>
            <a:r>
              <a:rPr lang="en-US" dirty="0"/>
              <a:t xml:space="preserve">Point at the whiteboard while they argue: the question is literally which column moves, and by how much. Some costs fall (representation effort, if the model can be generated). Some benefits rise (communication and preserved intent, at higher delegation volume). Nobody in the room, including you, knows the net.</a:t>
            </a:r>
          </a:p>
          <a:p>
            <a:r>
              <a:rPr lang="en-US" dirty="0"/>
              <a:t xml:space="preserve">Close on the final question and let it be the last thing they hear on modeling economics: when is whiteboard plus code economically rational, and when is an explicit model worth maintaining? “Worth maintaining” is the whole qualification — not “correct,” not “complete,” worth paying for.</a:t>
            </a:r>
          </a:p>
          <a:p>
            <a:r>
              <a:rPr lang="en-US" dirty="0"/>
              <a:t xml:space="preserve">The line to end on, if the room has earned it: a good model is not a small copy of the system. It preserves the distinctions worth paying to preserve.</a:t>
            </a:r>
          </a:p>
          <a:p>
            <a:r>
              <a:rPr lang="en-US" dirty="0"/>
              <a:t xml:space="preserve">Then hand off to the coda, which takes the cost argument one step further than the room expects: “We have been asking how much the model costs. Now ask the other side — can we push this further? How cheap can we make the implementer?”</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Relationships xmlns="http://schemas.openxmlformats.org/package/2006/relationships">
  <Relationship Id="rId2" Type="http://schemas.openxmlformats.org/officeDocument/2006/relationships/notesSlide" Target="../notesSlides/notesSlide49.xml"/>
  <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SYNTHESIS</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They opened every section — ask all four, every time.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HeadL"/>
          <p:cNvSpPr txBox="1"/>
          <p:nvPr/>
        </p:nvSpPr>
        <p:spPr>
          <a:xfrm>
            <a:off x="685800" y="1188720"/>
            <a:ext cx="498348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PATTERN</a:t>
            </a:r>
          </a:p>
        </p:txBody>
      </p:sp>
      <p:sp>
        <p:nvSpPr>
          <p:cNvPr id="101" name="HeadR"/>
          <p:cNvSpPr txBox="1"/>
          <p:nvPr/>
        </p:nvSpPr>
        <p:spPr>
          <a:xfrm>
            <a:off x="5852160" y="1188720"/>
            <a:ext cx="260604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BATTERY</a:t>
            </a:r>
          </a:p>
        </p:txBody>
      </p:sp>
      <p:sp>
        <p:nvSpPr>
          <p:cNvPr id="105" name="Rail"/>
          <p:cNvSpPr/>
          <p:nvPr/>
        </p:nvSpPr>
        <p:spPr>
          <a:xfrm>
            <a:off x="5749290" y="1188720"/>
            <a:ext cx="22860" cy="3726180"/>
          </a:xfrm>
          <a:prstGeom prst="rect">
            <a:avLst/>
          </a:prstGeom>
          <a:solidFill>
            <a:srgbClr val="C9B991"/>
          </a:solidFill>
          <a:ln>
            <a:noFill/>
          </a:ln>
        </p:spPr>
        <p:txBody>
          <a:bodyPr wrap="square" lIns="27432" tIns="22860" rIns="27432" bIns="22860" anchor="ctr"/>
          <a:lstStyle/>
          <a:p>
            <a:pPr algn="l">
              <a:spcAft>
                <a:spcPts val="0"/>
              </a:spcAft>
              <a:buNone/>
            </a:pPr>
            <a:endParaRPr lang="en-US"/>
          </a:p>
        </p:txBody>
      </p:sp>
      <p:sp>
        <p:nvSpPr>
          <p:cNvPr id="110" name="B110"/>
          <p:cNvSpPr/>
          <p:nvPr/>
        </p:nvSpPr>
        <p:spPr>
          <a:xfrm>
            <a:off x="685800" y="1508760"/>
            <a:ext cx="4983480" cy="731520"/>
          </a:xfrm>
          <a:prstGeom prst="rect">
            <a:avLst/>
          </a:prstGeom>
          <a:solidFill>
            <a:srgbClr val="5C4826"/>
          </a:solidFill>
          <a:ln>
            <a:noFill/>
          </a:ln>
        </p:spPr>
        <p:txBody>
          <a:bodyPr wrap="square" lIns="27432" tIns="22860" rIns="27432" bIns="22860" anchor="ctr"/>
          <a:lstStyle/>
          <a:p>
            <a:pPr algn="ctr">
              <a:spcAft>
                <a:spcPts val="300"/>
              </a:spcAft>
              <a:buNone/>
            </a:pPr>
            <a:r>
              <a:rPr lang="en-US" sz="1800" b="1" i="0" dirty="0">
                <a:solidFill>
                  <a:srgbClr val="FFFFFF"/>
                </a:solidFill>
              </a:rPr>
              <a:t>ENGINEERING OBLIGATION</a:t>
            </a:r>
          </a:p>
          <a:p>
            <a:pPr algn="ctr">
              <a:spcAft>
                <a:spcPts val="0"/>
              </a:spcAft>
              <a:buNone/>
            </a:pPr>
            <a:r>
              <a:rPr lang="en-US" sz="1300" b="0" i="0" dirty="0">
                <a:solidFill>
                  <a:srgbClr val="FFFFFF"/>
                </a:solidFill>
              </a:rPr>
              <a:t>what the system must guarantee</a:t>
            </a:r>
          </a:p>
        </p:txBody>
      </p:sp>
      <p:sp>
        <p:nvSpPr>
          <p:cNvPr id="111" name="R111"/>
          <p:cNvSpPr/>
          <p:nvPr/>
        </p:nvSpPr>
        <p:spPr>
          <a:xfrm>
            <a:off x="5852160" y="150876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1" i="0" dirty="0">
                <a:solidFill>
                  <a:srgbClr val="5C4826"/>
                </a:solidFill>
              </a:rPr>
              <a:t>≥ 8 h above V_min</a:t>
            </a:r>
          </a:p>
          <a:p>
            <a:pPr algn="ctr">
              <a:spcAft>
                <a:spcPts val="0"/>
              </a:spcAft>
              <a:buNone/>
            </a:pPr>
            <a:r>
              <a:rPr lang="en-US" sz="1000" b="0" i="0" dirty="0">
                <a:solidFill>
                  <a:srgbClr val="555960"/>
                </a:solidFill>
              </a:rPr>
              <a:t>(minimum safe voltage)</a:t>
            </a:r>
          </a:p>
        </p:txBody>
      </p:sp>
      <p:sp>
        <p:nvSpPr>
          <p:cNvPr id="112" name="B112"/>
          <p:cNvSpPr/>
          <p:nvPr/>
        </p:nvSpPr>
        <p:spPr>
          <a:xfrm>
            <a:off x="685800" y="2400300"/>
            <a:ext cx="4983480" cy="731520"/>
          </a:xfrm>
          <a:prstGeom prst="rect">
            <a:avLst/>
          </a:prstGeom>
          <a:solidFill>
            <a:srgbClr val="555960"/>
          </a:solidFill>
          <a:ln>
            <a:noFill/>
          </a:ln>
        </p:spPr>
        <p:txBody>
          <a:bodyPr wrap="square" lIns="27432" tIns="22860" rIns="27432" bIns="22860" anchor="ctr"/>
          <a:lstStyle/>
          <a:p>
            <a:pPr algn="ctr">
              <a:spcAft>
                <a:spcPts val="300"/>
              </a:spcAft>
              <a:buNone/>
            </a:pPr>
            <a:r>
              <a:rPr lang="en-US" sz="1800" b="1" i="0" dirty="0">
                <a:solidFill>
                  <a:srgbClr val="FFFFFF"/>
                </a:solidFill>
              </a:rPr>
              <a:t>REQUIRED DISTINCTIONS</a:t>
            </a:r>
          </a:p>
          <a:p>
            <a:pPr algn="ctr">
              <a:spcAft>
                <a:spcPts val="0"/>
              </a:spcAft>
              <a:buNone/>
            </a:pPr>
            <a:r>
              <a:rPr lang="en-US" sz="1300" b="0" i="0" dirty="0">
                <a:solidFill>
                  <a:srgbClr val="FFFFFF"/>
                </a:solidFill>
              </a:rPr>
              <a:t>what the model must preserve</a:t>
            </a:r>
          </a:p>
        </p:txBody>
      </p:sp>
      <p:sp>
        <p:nvSpPr>
          <p:cNvPr id="113" name="R113"/>
          <p:cNvSpPr/>
          <p:nvPr/>
        </p:nvSpPr>
        <p:spPr>
          <a:xfrm>
            <a:off x="5852160" y="240030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operating mode · power · duration · usable energy</a:t>
            </a:r>
          </a:p>
        </p:txBody>
      </p:sp>
      <p:sp>
        <p:nvSpPr>
          <p:cNvPr id="114" name="B114"/>
          <p:cNvSpPr/>
          <p:nvPr/>
        </p:nvSpPr>
        <p:spPr>
          <a:xfrm>
            <a:off x="685800" y="3291840"/>
            <a:ext cx="4983480" cy="731520"/>
          </a:xfrm>
          <a:prstGeom prst="rect">
            <a:avLst/>
          </a:prstGeom>
          <a:solidFill>
            <a:srgbClr val="8E6F3E"/>
          </a:solidFill>
          <a:ln w="28575">
            <a:solidFill>
              <a:srgbClr val="5C4826"/>
            </a:solidFill>
          </a:ln>
        </p:spPr>
        <p:txBody>
          <a:bodyPr wrap="square" lIns="27432" tIns="22860" rIns="27432" bIns="22860" anchor="ctr"/>
          <a:lstStyle/>
          <a:p>
            <a:pPr algn="ctr">
              <a:spcAft>
                <a:spcPts val="300"/>
              </a:spcAft>
              <a:buNone/>
            </a:pPr>
            <a:r>
              <a:rPr lang="en-US" sz="1800" b="1" i="0" dirty="0">
                <a:solidFill>
                  <a:srgbClr val="FFFFFF"/>
                </a:solidFill>
              </a:rPr>
              <a:t>MODEL</a:t>
            </a:r>
          </a:p>
          <a:p>
            <a:pPr algn="ctr">
              <a:spcAft>
                <a:spcPts val="0"/>
              </a:spcAft>
              <a:buNone/>
            </a:pPr>
            <a:r>
              <a:rPr lang="en-US" sz="1300" b="0" i="0" dirty="0">
                <a:solidFill>
                  <a:srgbClr val="FFFFFF"/>
                </a:solidFill>
              </a:rPr>
              <a:t>the smallest statement that answers the question</a:t>
            </a:r>
          </a:p>
        </p:txBody>
      </p:sp>
      <p:sp>
        <p:nvSpPr>
          <p:cNvPr id="115" name="R115"/>
          <p:cNvSpPr/>
          <p:nvPr/>
        </p:nvSpPr>
        <p:spPr>
          <a:xfrm>
            <a:off x="5852160" y="329184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i="0" dirty="0">
                <a:solidFill>
                  <a:srgbClr val="5C4826"/>
                </a:solidFill>
              </a:rPr>
              <a:t>Σ P(mode)·t(mode) ≤ E(usable)</a:t>
            </a:r>
          </a:p>
        </p:txBody>
      </p:sp>
      <p:sp>
        <p:nvSpPr>
          <p:cNvPr id="116" name="B116"/>
          <p:cNvSpPr/>
          <p:nvPr/>
        </p:nvSpPr>
        <p:spPr>
          <a:xfrm>
            <a:off x="685800" y="4183380"/>
            <a:ext cx="4983480" cy="731520"/>
          </a:xfrm>
          <a:prstGeom prst="rect">
            <a:avLst/>
          </a:prstGeom>
          <a:solidFill>
            <a:srgbClr val="C9B991"/>
          </a:solidFill>
          <a:ln>
            <a:noFill/>
          </a:ln>
        </p:spPr>
        <p:txBody>
          <a:bodyPr wrap="square" lIns="27432" tIns="22860" rIns="27432" bIns="22860" anchor="ctr"/>
          <a:lstStyle/>
          <a:p>
            <a:pPr algn="ctr">
              <a:spcAft>
                <a:spcPts val="300"/>
              </a:spcAft>
              <a:buNone/>
            </a:pPr>
            <a:r>
              <a:rPr lang="en-US" sz="1800" b="1" i="0" dirty="0">
                <a:solidFill>
                  <a:srgbClr val="5C4826"/>
                </a:solidFill>
              </a:rPr>
              <a:t>LEGITIMATE FREEDOM</a:t>
            </a:r>
          </a:p>
          <a:p>
            <a:pPr algn="ctr">
              <a:spcAft>
                <a:spcPts val="0"/>
              </a:spcAft>
              <a:buNone/>
            </a:pPr>
            <a:r>
              <a:rPr lang="en-US" sz="1300" b="0" i="0" dirty="0">
                <a:solidFill>
                  <a:srgbClr val="353638"/>
                </a:solidFill>
              </a:rPr>
              <a:t>everything the distinctions did not require</a:t>
            </a:r>
          </a:p>
        </p:txBody>
      </p:sp>
      <p:sp>
        <p:nvSpPr>
          <p:cNvPr id="117" name="R117"/>
          <p:cNvSpPr/>
          <p:nvPr/>
        </p:nvSpPr>
        <p:spPr>
          <a:xfrm>
            <a:off x="5852160" y="418338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packet format · task names · PWM internals · display contents</a:t>
            </a:r>
          </a:p>
        </p:txBody>
      </p:sp>
      <p:cxnSp>
        <p:nvCxnSpPr>
          <p:cNvPr id="120" name="A0"/>
          <p:cNvCxnSpPr/>
          <p:nvPr/>
        </p:nvCxnSpPr>
        <p:spPr>
          <a:xfrm>
            <a:off x="3177540" y="2240280"/>
            <a:ext cx="0" cy="160020"/>
          </a:xfrm>
          <a:prstGeom prst="straightConnector1">
            <a:avLst/>
          </a:prstGeom>
          <a:ln w="28575">
            <a:solidFill>
              <a:srgbClr val="8E6F3E"/>
            </a:solidFill>
            <a:tailEnd type="triangle" w="med" len="med"/>
          </a:ln>
        </p:spPr>
      </p:cxnSp>
      <p:cxnSp>
        <p:nvCxnSpPr>
          <p:cNvPr id="121" name="A1"/>
          <p:cNvCxnSpPr/>
          <p:nvPr/>
        </p:nvCxnSpPr>
        <p:spPr>
          <a:xfrm>
            <a:off x="3177540" y="3131820"/>
            <a:ext cx="0" cy="160020"/>
          </a:xfrm>
          <a:prstGeom prst="straightConnector1">
            <a:avLst/>
          </a:prstGeom>
          <a:ln w="28575">
            <a:solidFill>
              <a:srgbClr val="8E6F3E"/>
            </a:solidFill>
            <a:tailEnd type="triangle" w="med" len="med"/>
          </a:ln>
        </p:spPr>
      </p:cxnSp>
      <p:cxnSp>
        <p:nvCxnSpPr>
          <p:cNvPr id="122" name="A2"/>
          <p:cNvCxnSpPr/>
          <p:nvPr/>
        </p:nvCxnSpPr>
        <p:spPr>
          <a:xfrm>
            <a:off x="3177540" y="4023360"/>
            <a:ext cx="0" cy="160020"/>
          </a:xfrm>
          <a:prstGeom prst="straightConnector1">
            <a:avLst/>
          </a:prstGeom>
          <a:ln w="28575">
            <a:solidFill>
              <a:srgbClr val="8E6F3E"/>
            </a:solidFill>
            <a:tailEnd type="triangle" w="med" len="med"/>
          </a:ln>
        </p:spPr>
      </p:cxnSp>
      <p:sp>
        <p:nvSpPr>
          <p:cNvPr id="130" name="Ital"/>
          <p:cNvSpPr txBox="1"/>
          <p:nvPr/>
        </p:nvSpPr>
        <p:spPr>
          <a:xfrm>
            <a:off x="685800" y="5120640"/>
            <a:ext cx="777240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Ask of every model: what must it preserve?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12"/>
                                        </p:tgtEl>
                                        <p:attrNameLst>
                                          <p:attrName>style.visibility</p:attrName>
                                        </p:attrNameLst>
                                      </p:cBhvr>
                                      <p:to>
                                        <p:strVal val="visible"/>
                                      </p:to>
                                    </p:set>
                                    <p:animEffect transition="in" filter="fade">
                                      <p:cBhvr>
                                        <p:cTn id="10" dur="500"/>
                                        <p:tgtEl>
                                          <p:spTgt spid="112"/>
                                        </p:tgtEl>
                                      </p:cBhvr>
                                    </p:animEffect>
                                  </p:childTnLst>
                                </p:cTn>
                              </p:par>
                              <p:par>
                                <p:cTn id="11" presetID="10" presetClass="entr" presetSubtype="0" fill="hold" nodeType="withEffect">
                                  <p:stCondLst>
                                    <p:cond delay="0"/>
                                  </p:stCondLst>
                                  <p:childTnLst>
                                    <p:set>
                                      <p:cBhvr>
                                        <p:cTn id="12" dur="1" fill="hold">
                                          <p:stCondLst>
                                            <p:cond delay="0"/>
                                          </p:stCondLst>
                                        </p:cTn>
                                        <p:tgtEl>
                                          <p:spTgt spid="113"/>
                                        </p:tgtEl>
                                        <p:attrNameLst>
                                          <p:attrName>style.visibility</p:attrName>
                                        </p:attrNameLst>
                                      </p:cBhvr>
                                      <p:to>
                                        <p:strVal val="visible"/>
                                      </p:to>
                                    </p:set>
                                    <p:animEffect transition="in" filter="fade">
                                      <p:cBhvr>
                                        <p:cTn id="13" dur="500"/>
                                        <p:tgtEl>
                                          <p:spTgt spid="1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14"/>
                                        </p:tgtEl>
                                        <p:attrNameLst>
                                          <p:attrName>style.visibility</p:attrName>
                                        </p:attrNameLst>
                                      </p:cBhvr>
                                      <p:to>
                                        <p:strVal val="visible"/>
                                      </p:to>
                                    </p:set>
                                    <p:animEffect transition="in" filter="fade">
                                      <p:cBhvr>
                                        <p:cTn id="21" dur="500"/>
                                        <p:tgtEl>
                                          <p:spTgt spid="114"/>
                                        </p:tgtEl>
                                      </p:cBhvr>
                                    </p:animEffect>
                                  </p:childTnLst>
                                </p:cTn>
                              </p:par>
                              <p:par>
                                <p:cTn id="22" presetID="10" presetClass="entr" presetSubtype="0" fill="hold" nodeType="with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5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16"/>
                                        </p:tgtEl>
                                        <p:attrNameLst>
                                          <p:attrName>style.visibility</p:attrName>
                                        </p:attrNameLst>
                                      </p:cBhvr>
                                      <p:to>
                                        <p:strVal val="visible"/>
                                      </p:to>
                                    </p:set>
                                    <p:animEffect transition="in" filter="fade">
                                      <p:cBhvr>
                                        <p:cTn id="32" dur="500"/>
                                        <p:tgtEl>
                                          <p:spTgt spid="116"/>
                                        </p:tgtEl>
                                      </p:cBhvr>
                                    </p:animEffect>
                                  </p:childTnLst>
                                </p:cTn>
                              </p:par>
                              <p:par>
                                <p:cTn id="33" presetID="10" presetClass="entr" presetSubtype="0" fill="hold" nodeType="withEffect">
                                  <p:stCondLst>
                                    <p:cond delay="0"/>
                                  </p:stCondLst>
                                  <p:childTnLst>
                                    <p:set>
                                      <p:cBhvr>
                                        <p:cTn id="34" dur="1" fill="hold">
                                          <p:stCondLst>
                                            <p:cond delay="0"/>
                                          </p:stCondLst>
                                        </p:cTn>
                                        <p:tgtEl>
                                          <p:spTgt spid="117"/>
                                        </p:tgtEl>
                                        <p:attrNameLst>
                                          <p:attrName>style.visibility</p:attrName>
                                        </p:attrNameLst>
                                      </p:cBhvr>
                                      <p:to>
                                        <p:strVal val="visible"/>
                                      </p:to>
                                    </p:set>
                                    <p:animEffect transition="in" filter="fade">
                                      <p:cBhvr>
                                        <p:cTn id="35" dur="500"/>
                                        <p:tgtEl>
                                          <p:spTgt spid="1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0"/>
                                        </p:tgtEl>
                                        <p:attrNameLst>
                                          <p:attrName>style.visibility</p:attrName>
                                        </p:attrNameLst>
                                      </p:cBhvr>
                                      <p:to>
                                        <p:strVal val="visible"/>
                                      </p:to>
                                    </p:set>
                                    <p:animEffect transition="in" filter="fade">
                                      <p:cBhvr>
                                        <p:cTn id="40"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DESIGN, BEFORE ANY MODEL</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much must we tell the agent?</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100" name="OuterHdr"/>
          <p:cNvSpPr txBox="1"/>
          <p:nvPr/>
        </p:nvSpPr>
        <p:spPr>
          <a:xfrm>
            <a:off x="365760" y="1260000"/>
            <a:ext cx="5334240" cy="26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 xml:space="preserve">EVERYTHING ABOUT THE IMPLEMENTATION</a:t>
            </a:r>
          </a:p>
        </p:txBody>
      </p:sp>
      <p:sp>
        <p:nvSpPr>
          <p:cNvPr id="101" name="OuterBox"/>
          <p:cNvSpPr txBox="1"/>
          <p:nvPr/>
        </p:nvSpPr>
        <p:spPr>
          <a:xfrm>
            <a:off x="365760" y="1560000"/>
            <a:ext cx="5334240" cy="3180000"/>
          </a:xfrm>
          <a:prstGeom prst="rect">
            <a:avLst/>
          </a:prstGeom>
          <a:solidFill>
            <a:srgbClr val="FBF8F2"/>
          </a:solidFill>
          <a:ln w="12700">
            <a:solidFill>
              <a:srgbClr val="C9B991"/>
            </a:solidFill>
          </a:ln>
        </p:spPr>
        <p:txBody>
          <a:bodyPr wrap="square" lIns="91440" tIns="45720" rIns="91440" bIns="45720" anchor="ctr"/>
          <a:lstStyle/>
          <a:p>
            <a:pPr>
              <a:buNone/>
            </a:pPr>
            <a:endParaRPr lang="en-US"/>
          </a:p>
        </p:txBody>
      </p:sp>
      <p:sp>
        <p:nvSpPr>
          <p:cNvPr id="102" name="ScafRegion"/>
          <p:cNvSpPr txBox="1"/>
          <p:nvPr/>
        </p:nvSpPr>
        <p:spPr>
          <a:xfrm>
            <a:off x="982880" y="2060000"/>
            <a:ext cx="4100000" cy="2000000"/>
          </a:xfrm>
          <a:prstGeom prst="rect">
            <a:avLst/>
          </a:prstGeom>
          <a:solidFill>
            <a:srgbClr val="F5F1E8"/>
          </a:solidFill>
          <a:ln w="19050">
            <a:solidFill>
              <a:srgbClr val="8E6F3E"/>
            </a:solidFill>
            <a:prstDash val="dash"/>
          </a:ln>
        </p:spPr>
        <p:txBody>
          <a:bodyPr wrap="square" lIns="91440" tIns="45720" rIns="91440" bIns="45720" anchor="ctr"/>
          <a:lstStyle/>
          <a:p>
            <a:pPr>
              <a:buNone/>
            </a:pPr>
            <a:endParaRPr lang="en-US"/>
          </a:p>
        </p:txBody>
      </p:sp>
      <p:sp>
        <p:nvSpPr>
          <p:cNvPr id="103" name="ScafL"/>
          <p:cNvSpPr txBox="1"/>
          <p:nvPr/>
        </p:nvSpPr>
        <p:spPr>
          <a:xfrm>
            <a:off x="1082880" y="2140000"/>
            <a:ext cx="3900000" cy="29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 xml:space="preserve">SCAFFOLDING</a:t>
            </a:r>
            <a:r>
              <a:rPr lang="en-US" sz="1200" b="0" i="0" dirty="0">
                <a:solidFill>
                  <a:srgbClr val="5C4826"/>
                </a:solidFill>
              </a:rPr>
              <a:t xml:space="preserve">  —  what this agent needs</a:t>
            </a:r>
          </a:p>
        </p:txBody>
      </p:sp>
      <p:sp>
        <p:nvSpPr>
          <p:cNvPr id="104" name="ObligCore"/>
          <p:cNvSpPr txBox="1"/>
          <p:nvPr/>
        </p:nvSpPr>
        <p:spPr>
          <a:xfrm>
            <a:off x="1732880" y="2520000"/>
            <a:ext cx="2600000" cy="1080000"/>
          </a:xfrm>
          <a:prstGeom prst="rect">
            <a:avLst/>
          </a:prstGeom>
          <a:solidFill>
            <a:srgbClr val="F5F1E8"/>
          </a:solidFill>
          <a:ln w="28575">
            <a:solidFill>
              <a:srgbClr val="8E6F3E"/>
            </a:solidFill>
          </a:ln>
        </p:spPr>
        <p:txBody>
          <a:bodyPr wrap="square" lIns="91440" tIns="45720" rIns="91440" bIns="45720" anchor="ctr"/>
          <a:lstStyle/>
          <a:p>
            <a:pPr algn="ctr">
              <a:spcAft>
                <a:spcPts val="400"/>
              </a:spcAft>
              <a:buNone/>
            </a:pPr>
            <a:r>
              <a:rPr lang="en-US" sz="1600" b="1" i="0" dirty="0">
                <a:solidFill>
                  <a:srgbClr val="5C4826"/>
                </a:solidFill>
              </a:rPr>
              <a:t xml:space="preserve">OBLIGATION</a:t>
            </a:r>
          </a:p>
          <a:p>
            <a:pPr algn="ctr">
              <a:spcAft>
                <a:spcPts val="0"/>
              </a:spcAft>
              <a:buNone/>
            </a:pPr>
            <a:r>
              <a:rPr lang="en-US" sz="1200" b="0" i="0" dirty="0">
                <a:solidFill>
                  <a:srgbClr val="555960"/>
                </a:solidFill>
              </a:rPr>
              <a:t xml:space="preserve">what must be true</a:t>
            </a:r>
          </a:p>
        </p:txBody>
      </p:sp>
      <p:sp>
        <p:nvSpPr>
          <p:cNvPr id="105" name="DofL"/>
          <p:cNvSpPr txBox="1"/>
          <p:nvPr/>
        </p:nvSpPr>
        <p:spPr>
          <a:xfrm>
            <a:off x="465760" y="4235000"/>
            <a:ext cx="5134240" cy="33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 xml:space="preserve">DEGREES OF FREEDOM</a:t>
            </a:r>
            <a:r>
              <a:rPr lang="en-US" sz="1200" b="0" i="0" dirty="0">
                <a:solidFill>
                  <a:srgbClr val="5C4826"/>
                </a:solidFill>
              </a:rPr>
              <a:t xml:space="preserve">  —  the rest is the agent’s</a:t>
            </a:r>
          </a:p>
        </p:txBody>
      </p:sp>
      <p:sp>
        <p:nvSpPr>
          <p:cNvPr id="110" name="LegSwatchOb"/>
          <p:cNvSpPr/>
          <p:nvPr/>
        </p:nvSpPr>
        <p:spPr>
          <a:xfrm>
            <a:off x="5943600" y="2380000"/>
            <a:ext cx="560000" cy="0"/>
          </a:xfrm>
          <a:prstGeom prst="line">
            <a:avLst/>
          </a:prstGeom>
          <a:noFill/>
          <a:ln w="28575">
            <a:solidFill>
              <a:srgbClr val="8E6F3E"/>
            </a:solidFill>
          </a:ln>
        </p:spPr>
        <p:txBody>
          <a:bodyPr wrap="square" lIns="91440" tIns="45720" rIns="91440" bIns="45720" anchor="ctr"/>
          <a:lstStyle/>
          <a:p>
            <a:pPr>
              <a:buNone/>
            </a:pPr>
            <a:endParaRPr lang="en-US"/>
          </a:p>
        </p:txBody>
      </p:sp>
      <p:sp>
        <p:nvSpPr>
          <p:cNvPr id="111" name="LegOb"/>
          <p:cNvSpPr txBox="1"/>
          <p:nvPr/>
        </p:nvSpPr>
        <p:spPr>
          <a:xfrm>
            <a:off x="6623600" y="2200000"/>
            <a:ext cx="2154640" cy="560000"/>
          </a:xfrm>
          <a:prstGeom prst="rect">
            <a:avLst/>
          </a:prstGeom>
          <a:noFill/>
          <a:ln>
            <a:noFill/>
          </a:ln>
        </p:spPr>
        <p:txBody>
          <a:bodyPr wrap="square" lIns="0" tIns="0" rIns="0" bIns="0" anchor="ctr"/>
          <a:lstStyle/>
          <a:p>
            <a:pPr algn="l">
              <a:spcAft>
                <a:spcPts val="200"/>
              </a:spcAft>
              <a:buNone/>
            </a:pPr>
            <a:r>
              <a:rPr lang="en-US" sz="1200" b="1" i="0" dirty="0">
                <a:solidFill>
                  <a:srgbClr val="5C4826"/>
                </a:solidFill>
              </a:rPr>
              <a:t xml:space="preserve">Obligation boundary</a:t>
            </a:r>
          </a:p>
          <a:p>
            <a:pPr algn="l">
              <a:spcAft>
                <a:spcPts val="0"/>
              </a:spcAft>
              <a:buNone/>
            </a:pPr>
            <a:r>
              <a:rPr lang="en-US" sz="1200" b="0" i="1" dirty="0">
                <a:solidFill>
                  <a:srgbClr val="5C4826"/>
                </a:solidFill>
              </a:rPr>
              <a:t xml:space="preserve">fixed by the product</a:t>
            </a:r>
          </a:p>
        </p:txBody>
      </p:sp>
      <p:sp>
        <p:nvSpPr>
          <p:cNvPr id="112" name="LegSwatchSp"/>
          <p:cNvSpPr/>
          <p:nvPr/>
        </p:nvSpPr>
        <p:spPr>
          <a:xfrm>
            <a:off x="5943600" y="3280000"/>
            <a:ext cx="560000" cy="0"/>
          </a:xfrm>
          <a:prstGeom prst="line">
            <a:avLst/>
          </a:prstGeom>
          <a:noFill/>
          <a:ln w="19050">
            <a:solidFill>
              <a:srgbClr val="8E6F3E"/>
            </a:solidFill>
            <a:prstDash val="dash"/>
          </a:ln>
        </p:spPr>
        <p:txBody>
          <a:bodyPr wrap="square" lIns="91440" tIns="45720" rIns="91440" bIns="45720" anchor="ctr"/>
          <a:lstStyle/>
          <a:p>
            <a:pPr>
              <a:buNone/>
            </a:pPr>
            <a:endParaRPr lang="en-US"/>
          </a:p>
        </p:txBody>
      </p:sp>
      <p:sp>
        <p:nvSpPr>
          <p:cNvPr id="113" name="LegSp"/>
          <p:cNvSpPr txBox="1"/>
          <p:nvPr/>
        </p:nvSpPr>
        <p:spPr>
          <a:xfrm>
            <a:off x="6623600" y="3100000"/>
            <a:ext cx="2154640" cy="560000"/>
          </a:xfrm>
          <a:prstGeom prst="rect">
            <a:avLst/>
          </a:prstGeom>
          <a:noFill/>
          <a:ln>
            <a:noFill/>
          </a:ln>
        </p:spPr>
        <p:txBody>
          <a:bodyPr wrap="square" lIns="0" tIns="0" rIns="0" bIns="0" anchor="ctr"/>
          <a:lstStyle/>
          <a:p>
            <a:pPr algn="l">
              <a:spcAft>
                <a:spcPts val="200"/>
              </a:spcAft>
              <a:buNone/>
            </a:pPr>
            <a:r>
              <a:rPr lang="en-US" sz="1200" b="1" i="0" dirty="0">
                <a:solidFill>
                  <a:srgbClr val="5C4826"/>
                </a:solidFill>
              </a:rPr>
              <a:t xml:space="preserve">Specification boundary</a:t>
            </a:r>
          </a:p>
          <a:p>
            <a:pPr algn="l">
              <a:spcAft>
                <a:spcPts val="0"/>
              </a:spcAft>
              <a:buNone/>
            </a:pPr>
            <a:r>
              <a:rPr lang="en-US" sz="1200" b="0" i="1" dirty="0">
                <a:solidFill>
                  <a:srgbClr val="5C4826"/>
                </a:solidFill>
              </a:rPr>
              <a:t xml:space="preserve">depends on the delegate</a:t>
            </a:r>
          </a:p>
        </p:txBody>
      </p:sp>
      <p:sp>
        <p:nvSpPr>
          <p:cNvPr id="120" name="Ital"/>
          <p:cNvSpPr txBox="1"/>
          <p:nvPr/>
        </p:nvSpPr>
        <p:spPr>
          <a:xfrm>
            <a:off x="365760" y="4790000"/>
            <a:ext cx="5334240" cy="420000"/>
          </a:xfrm>
          <a:prstGeom prst="rect">
            <a:avLst/>
          </a:prstGeom>
          <a:noFill/>
          <a:ln>
            <a:noFill/>
          </a:ln>
        </p:spPr>
        <p:txBody>
          <a:bodyPr wrap="square" lIns="0" tIns="0" rIns="0" bIns="0" anchor="ctr"/>
          <a:lstStyle/>
          <a:p>
            <a:pPr algn="ctr">
              <a:spcAft>
                <a:spcPts val="0"/>
              </a:spcAft>
              <a:buNone/>
            </a:pPr>
            <a:r>
              <a:rPr lang="en-US" sz="1300" b="0" i="1" dirty="0">
                <a:solidFill>
                  <a:srgbClr val="5C4826"/>
                </a:solidFill>
              </a:rPr>
              <a:t xml:space="preserve">Specified region = obligation + scaffolding; outside it, degrees of freedom.</a:t>
            </a:r>
          </a:p>
        </p:txBody>
      </p:sp>
      <p:sp>
        <p:nvSpPr>
          <p:cNvPr id="121" name="Punch"/>
          <p:cNvSpPr txBox="1"/>
          <p:nvPr/>
        </p:nvSpPr>
        <p:spPr>
          <a:xfrm>
            <a:off x="365760" y="5350000"/>
            <a:ext cx="8412480" cy="94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200" b="1" i="0" dirty="0">
                <a:solidFill>
                  <a:srgbClr val="8E6F3E"/>
                </a:solidFill>
              </a:rPr>
              <a:t xml:space="preserve">How wide is the gap between what the product requires and what the agent needs specified?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11"/>
                                        </p:tgtEl>
                                        <p:attrNameLst>
                                          <p:attrName>style.visibility</p:attrName>
                                        </p:attrNameLst>
                                      </p:cBhvr>
                                      <p:to>
                                        <p:strVal val="visible"/>
                                      </p:to>
                                    </p:set>
                                    <p:animEffect transition="in" filter="fade">
                                      <p:cBhvr>
                                        <p:cTn id="13" dur="500"/>
                                        <p:tgtEl>
                                          <p:spTgt spid="11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2"/>
                                        </p:tgtEl>
                                        <p:attrNameLst>
                                          <p:attrName>style.visibility</p:attrName>
                                        </p:attrNameLst>
                                      </p:cBhvr>
                                      <p:to>
                                        <p:strVal val="visible"/>
                                      </p:to>
                                    </p:set>
                                    <p:animEffect transition="in" filter="fade">
                                      <p:cBhvr>
                                        <p:cTn id="18" dur="500"/>
                                        <p:tgtEl>
                                          <p:spTgt spid="102"/>
                                        </p:tgtEl>
                                      </p:cBhvr>
                                    </p:animEffect>
                                  </p:childTnLst>
                                </p:cTn>
                              </p:par>
                              <p:par>
                                <p:cTn id="19" presetID="10" presetClass="entr" presetSubtype="0" fill="hold" nodeType="withEffect">
                                  <p:stCondLst>
                                    <p:cond delay="0"/>
                                  </p:stCondLst>
                                  <p:childTnLst>
                                    <p:set>
                                      <p:cBhvr>
                                        <p:cTn id="20" dur="1" fill="hold">
                                          <p:stCondLst>
                                            <p:cond delay="0"/>
                                          </p:stCondLst>
                                        </p:cTn>
                                        <p:tgtEl>
                                          <p:spTgt spid="103"/>
                                        </p:tgtEl>
                                        <p:attrNameLst>
                                          <p:attrName>style.visibility</p:attrName>
                                        </p:attrNameLst>
                                      </p:cBhvr>
                                      <p:to>
                                        <p:strVal val="visible"/>
                                      </p:to>
                                    </p:set>
                                    <p:animEffect transition="in" filter="fade">
                                      <p:cBhvr>
                                        <p:cTn id="21" dur="500"/>
                                        <p:tgtEl>
                                          <p:spTgt spid="103"/>
                                        </p:tgtEl>
                                      </p:cBhvr>
                                    </p:animEffect>
                                  </p:childTnLst>
                                </p:cTn>
                              </p:par>
                              <p:par>
                                <p:cTn id="22" presetID="10" presetClass="entr" presetSubtype="0" fill="hold" nodeType="withEffect">
                                  <p:stCondLst>
                                    <p:cond delay="0"/>
                                  </p:stCondLst>
                                  <p:childTnLst>
                                    <p:set>
                                      <p:cBhvr>
                                        <p:cTn id="23" dur="1" fill="hold">
                                          <p:stCondLst>
                                            <p:cond delay="0"/>
                                          </p:stCondLst>
                                        </p:cTn>
                                        <p:tgtEl>
                                          <p:spTgt spid="112"/>
                                        </p:tgtEl>
                                        <p:attrNameLst>
                                          <p:attrName>style.visibility</p:attrName>
                                        </p:attrNameLst>
                                      </p:cBhvr>
                                      <p:to>
                                        <p:strVal val="visible"/>
                                      </p:to>
                                    </p:set>
                                    <p:animEffect transition="in" filter="fade">
                                      <p:cBhvr>
                                        <p:cTn id="24" dur="500"/>
                                        <p:tgtEl>
                                          <p:spTgt spid="112"/>
                                        </p:tgtEl>
                                      </p:cBhvr>
                                    </p:animEffect>
                                  </p:childTnLst>
                                </p:cTn>
                              </p:par>
                              <p:par>
                                <p:cTn id="25" presetID="10" presetClass="entr" presetSubtype="0" fill="hold" nodeType="withEffect">
                                  <p:stCondLst>
                                    <p:cond delay="0"/>
                                  </p:stCondLst>
                                  <p:childTnLst>
                                    <p:set>
                                      <p:cBhvr>
                                        <p:cTn id="26" dur="1" fill="hold">
                                          <p:stCondLst>
                                            <p:cond delay="0"/>
                                          </p:stCondLst>
                                        </p:cTn>
                                        <p:tgtEl>
                                          <p:spTgt spid="113"/>
                                        </p:tgtEl>
                                        <p:attrNameLst>
                                          <p:attrName>style.visibility</p:attrName>
                                        </p:attrNameLst>
                                      </p:cBhvr>
                                      <p:to>
                                        <p:strVal val="visible"/>
                                      </p:to>
                                    </p:set>
                                    <p:animEffect transition="in" filter="fade">
                                      <p:cBhvr>
                                        <p:cTn id="27" dur="500"/>
                                        <p:tgtEl>
                                          <p:spTgt spid="11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5"/>
                                        </p:tgtEl>
                                        <p:attrNameLst>
                                          <p:attrName>style.visibility</p:attrName>
                                        </p:attrNameLst>
                                      </p:cBhvr>
                                      <p:to>
                                        <p:strVal val="visible"/>
                                      </p:to>
                                    </p:set>
                                    <p:animEffect transition="in" filter="fade">
                                      <p:cBhvr>
                                        <p:cTn id="32" dur="500"/>
                                        <p:tgtEl>
                                          <p:spTgt spid="105"/>
                                        </p:tgtEl>
                                      </p:cBhvr>
                                    </p:animEffect>
                                  </p:childTnLst>
                                </p:cTn>
                              </p:par>
                              <p:par>
                                <p:cTn id="33" presetID="10" presetClass="entr" presetSubtype="0" fill="hold" nodeType="withEffect">
                                  <p:stCondLst>
                                    <p:cond delay="0"/>
                                  </p:stCondLst>
                                  <p:childTnLst>
                                    <p:set>
                                      <p:cBhvr>
                                        <p:cTn id="34" dur="1" fill="hold">
                                          <p:stCondLst>
                                            <p:cond delay="0"/>
                                          </p:stCondLst>
                                        </p:cTn>
                                        <p:tgtEl>
                                          <p:spTgt spid="120"/>
                                        </p:tgtEl>
                                        <p:attrNameLst>
                                          <p:attrName>style.visibility</p:attrName>
                                        </p:attrNameLst>
                                      </p:cBhvr>
                                      <p:to>
                                        <p:strVal val="visible"/>
                                      </p:to>
                                    </p:set>
                                    <p:animEffect transition="in" filter="fade">
                                      <p:cBhvr>
                                        <p:cTn id="35" dur="500"/>
                                        <p:tgtEl>
                                          <p:spTgt spid="12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21"/>
                                        </p:tgtEl>
                                        <p:attrNameLst>
                                          <p:attrName>style.visibility</p:attrName>
                                        </p:attrNameLst>
                                      </p:cBhvr>
                                      <p:to>
                                        <p:strVal val="visible"/>
                                      </p:to>
                                    </p:set>
                                    <p:animEffect transition="in" filter="fade">
                                      <p:cBhvr>
                                        <p:cTn id="40"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CasePreview"/>
          <p:cNvSpPr/>
          <p:nvPr/>
        </p:nvSpPr>
        <p:spPr>
          <a:xfrm>
            <a:off x="1828800" y="5577840"/>
            <a:ext cx="5486400" cy="640080"/>
          </a:xfrm>
          <a:prstGeom prst="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500" b="1" i="0" dirty="0">
                <a:solidFill>
                  <a:srgbClr val="8E6F3E"/>
                </a:solidFill>
              </a:rPr>
              <a:t xml:space="preserve">✗  TOO MUCH REDUCTION</a:t>
            </a:r>
            <a:r>
              <a:rPr lang="en-US" sz="1300" b="0" i="0" dirty="0">
                <a:solidFill>
                  <a:srgbClr val="555960"/>
                </a:solidFill>
              </a:rPr>
              <a:t xml:space="preserve">   a required distinction, erased</a:t>
            </a:r>
          </a:p>
          <a:p>
            <a:pPr algn="ctr">
              <a:spcAft>
                <a:spcPts val="300"/>
              </a:spcAft>
              <a:buNone/>
            </a:pPr>
            <a:r>
              <a:rPr lang="en-US" sz="1500" b="1" i="0" dirty="0">
                <a:solidFill>
                  <a:srgbClr val="8E6F3E"/>
                </a:solidFill>
              </a:rPr>
              <a:t xml:space="preserve">✓  GOOD REDUCTION</a:t>
            </a:r>
            <a:r>
              <a:rPr lang="en-US" sz="1300" b="0" i="0" dirty="0">
                <a:solidFill>
                  <a:srgbClr val="555960"/>
                </a:solidFill>
              </a:rPr>
              <a:t xml:space="preserve">   a free choice, safely changed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Accounts may be metered or unlimited</a:t>
            </a:r>
          </a:p>
          <a:p>
            <a:pPr algn="l">
              <a:spcAft>
                <a:spcPts val="700"/>
              </a:spcAft>
              <a:buNone/>
            </a:pPr>
            <a:r>
              <a:rPr lang="en-US" sz="1600" b="0" i="0" dirty="0">
                <a:solidFill>
                  <a:srgbClr val="555960"/>
                </a:solidFill>
              </a:rPr>
              <a:t>Metered accounts can become exhausted</a:t>
            </a:r>
          </a:p>
          <a:p>
            <a:pPr algn="l">
              <a:spcAft>
                <a:spcPts val="700"/>
              </a:spcAft>
              <a:buNone/>
            </a:pPr>
            <a:r>
              <a:rPr lang="en-US" sz="1600" b="0" i="0" dirty="0">
                <a:solidFill>
                  <a:srgbClr val="555960"/>
                </a:solidFill>
              </a:rPr>
              <a:t>These states require different behavior</a:t>
            </a:r>
          </a:p>
        </p:txBody>
      </p:sp>
      <p:sp>
        <p:nvSpPr>
          <p:cNvPr id="120" name="SchemaBox"/>
          <p:cNvSpPr/>
          <p:nvPr/>
        </p:nvSpPr>
        <p:spPr>
          <a:xfrm>
            <a:off x="1188720" y="2362200"/>
            <a:ext cx="2377440" cy="1005840"/>
          </a:xfrm>
          <a:prstGeom prst="rect">
            <a:avLst/>
          </a:prstGeom>
          <a:solidFill>
            <a:srgbClr val="F5F1E8"/>
          </a:solidFill>
          <a:ln w="12700">
            <a:solidFill>
              <a:srgbClr val="C9B991"/>
            </a:solidFill>
          </a:ln>
        </p:spPr>
        <p:txBody>
          <a:bodyPr wrap="square" lIns="27432" tIns="22860" rIns="27432" bIns="22860" anchor="t"/>
          <a:lstStyle/>
          <a:p>
            <a:pPr algn="l">
              <a:spcAft>
                <a:spcPts val="900"/>
              </a:spcAft>
              <a:buNone/>
            </a:pPr>
            <a:r>
              <a:rPr lang="en-US" sz="1300" b="1" i="0" dirty="0">
                <a:solidFill>
                  <a:srgbClr val="8E6F3E"/>
                </a:solidFill>
              </a:rPr>
              <a:t>ACCOUNT</a:t>
            </a:r>
          </a:p>
          <a:p>
            <a:pPr algn="l">
              <a:spcAft>
                <a:spcPts val="250"/>
              </a:spcAft>
              <a:buNone/>
            </a:pPr>
            <a:r>
              <a:rPr lang="en-US" sz="1050" b="0" i="0" dirty="0">
                <a:solidFill>
                  <a:srgbClr val="5C4826"/>
                </a:solidFill>
              </a:rPr>
              <a:t>quota_type {metered, unlimited}</a:t>
            </a:r>
          </a:p>
          <a:p>
            <a:pPr algn="l">
              <a:spcAft>
                <a:spcPts val="250"/>
              </a:spcAft>
              <a:buNone/>
            </a:pPr>
            <a:r>
              <a:rPr lang="en-US" sz="1050" b="0" i="0" dirty="0">
                <a:solidFill>
                  <a:srgbClr val="5C4826"/>
                </a:solidFill>
              </a:rPr>
              <a:t>credits_remaining</a:t>
            </a:r>
          </a:p>
          <a:p>
            <a:pPr algn="l">
              <a:spcAft>
                <a:spcPts val="0"/>
              </a:spcAft>
              <a:buNone/>
            </a:pPr>
            <a:r>
              <a:rPr lang="en-US" sz="1050" b="0" i="0" dirty="0">
                <a:solidFill>
                  <a:srgbClr val="5C4826"/>
                </a:solidFill>
              </a:rPr>
              <a:t>renewal</a:t>
            </a:r>
          </a:p>
        </p:txBody>
      </p:sp>
      <p:sp>
        <p:nvSpPr>
          <p:cNvPr id="121" name="SchemaRule"/>
          <p:cNvSpPr/>
          <p:nvPr/>
        </p:nvSpPr>
        <p:spPr>
          <a:xfrm>
            <a:off x="1280160" y="2649220"/>
            <a:ext cx="2194560" cy="9525"/>
          </a:xfrm>
          <a:prstGeom prst="rect">
            <a:avLst/>
          </a:prstGeom>
          <a:solidFill>
            <a:srgbClr val="C9B991"/>
          </a:solidFill>
          <a:ln>
            <a:noFill/>
          </a:ln>
        </p:spPr>
        <p:txBody>
          <a:bodyPr wrap="square" lIns="27432" tIns="22860" rIns="27432" bIns="22860" anchor="ctr"/>
          <a:lstStyle/>
          <a:p>
            <a:pPr>
              <a:buNone/>
            </a:pPr>
            <a:endParaRPr lang="en-US"/>
          </a:p>
        </p:txBody>
      </p:sp>
      <p:sp>
        <p:nvSpPr>
          <p:cNvPr id="122" name="ReduceLbl"/>
          <p:cNvSpPr txBox="1"/>
          <p:nvPr/>
        </p:nvSpPr>
        <p:spPr>
          <a:xfrm>
            <a:off x="3657600" y="2362200"/>
            <a:ext cx="640080" cy="457200"/>
          </a:xfrm>
          <a:prstGeom prst="rect">
            <a:avLst/>
          </a:prstGeom>
          <a:noFill/>
          <a:ln>
            <a:noFill/>
          </a:ln>
        </p:spPr>
        <p:txBody>
          <a:bodyPr wrap="square" lIns="0" tIns="0" rIns="0" bIns="0" anchor="t"/>
          <a:lstStyle/>
          <a:p>
            <a:pPr algn="ctr">
              <a:spcAft>
                <a:spcPts val="0"/>
              </a:spcAft>
              <a:buNone/>
            </a:pPr>
            <a:r>
              <a:rPr lang="en-US" sz="900" b="1" i="0" dirty="0">
                <a:solidFill>
                  <a:srgbClr val="8E6F3E"/>
                </a:solidFill>
              </a:rPr>
              <a:t>PROPOSED</a:t>
            </a:r>
          </a:p>
          <a:p>
            <a:pPr algn="ctr">
              <a:spcAft>
                <a:spcPts val="0"/>
              </a:spcAft>
              <a:buNone/>
            </a:pPr>
            <a:r>
              <a:rPr lang="en-US" sz="900" b="1" i="0" dirty="0">
                <a:solidFill>
                  <a:srgbClr val="8E6F3E"/>
                </a:solidFill>
              </a:rPr>
              <a:t>REDUCTION</a:t>
            </a:r>
          </a:p>
        </p:txBody>
      </p:sp>
      <p:cxnSp>
        <p:nvCxnSpPr>
          <p:cNvPr id="123" name="ReduceArrow"/>
          <p:cNvCxnSpPr/>
          <p:nvPr/>
        </p:nvCxnSpPr>
        <p:spPr>
          <a:xfrm>
            <a:off x="3657600" y="2865120"/>
            <a:ext cx="640080" cy="0"/>
          </a:xfrm>
          <a:prstGeom prst="straightConnector1">
            <a:avLst/>
          </a:prstGeom>
          <a:ln w="28575">
            <a:solidFill>
              <a:srgbClr val="8E6F3E"/>
            </a:solidFill>
            <a:tailEnd type="triangle" w="med" len="med"/>
          </a:ln>
        </p:spPr>
      </p:cxnSp>
      <p:sp>
        <p:nvSpPr>
          <p:cNvPr id="124" name="ScalarBox"/>
          <p:cNvSpPr/>
          <p:nvPr/>
        </p:nvSpPr>
        <p:spPr>
          <a:xfrm>
            <a:off x="4389120" y="2651760"/>
            <a:ext cx="1737360" cy="54864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credits_remaining</a:t>
            </a:r>
          </a:p>
          <a:p>
            <a:pPr algn="ctr">
              <a:spcAft>
                <a:spcPts val="0"/>
              </a:spcAft>
              <a:buNone/>
            </a:pPr>
            <a:r>
              <a:rPr lang="en-US" sz="1100" b="0" i="0" dirty="0">
                <a:solidFill>
                  <a:srgbClr val="FFFFFF"/>
                </a:solidFill>
              </a:rPr>
              <a:t>: integer</a:t>
            </a:r>
          </a:p>
        </p:txBody>
      </p:sp>
      <p:sp>
        <p:nvSpPr>
          <p:cNvPr id="125" name="ScalarCap"/>
          <p:cNvSpPr txBox="1"/>
          <p:nvPr/>
        </p:nvSpPr>
        <p:spPr>
          <a:xfrm>
            <a:off x="4389120" y="3246120"/>
            <a:ext cx="1737360" cy="182880"/>
          </a:xfrm>
          <a:prstGeom prst="rect">
            <a:avLst/>
          </a:prstGeom>
          <a:noFill/>
          <a:ln>
            <a:noFill/>
          </a:ln>
        </p:spPr>
        <p:txBody>
          <a:bodyPr wrap="square" lIns="0" tIns="0" rIns="0" bIns="0" anchor="t"/>
          <a:lstStyle/>
          <a:p>
            <a:pPr algn="ctr">
              <a:spcAft>
                <a:spcPts val="0"/>
              </a:spcAft>
              <a:buNone/>
            </a:pPr>
            <a:r>
              <a:rPr lang="en-US" sz="1100" b="0" i="1" dirty="0">
                <a:solidFill>
                  <a:srgbClr val="555960"/>
                </a:solidFill>
              </a:rPr>
              <a:t>the whole model</a:t>
            </a:r>
          </a:p>
        </p:txBody>
      </p:sp>
      <p:sp>
        <p:nvSpPr>
          <p:cNvPr id="126" name="Callout"/>
          <p:cNvSpPr/>
          <p:nvPr/>
        </p:nvSpPr>
        <p:spPr>
          <a:xfrm>
            <a:off x="6309360" y="2362200"/>
            <a:ext cx="2560320" cy="1097280"/>
          </a:xfrm>
          <a:prstGeom prst="rect">
            <a:avLst/>
          </a:prstGeom>
          <a:solidFill>
            <a:srgbClr val="FDFCF9"/>
          </a:solidFill>
          <a:ln w="12700">
            <a:solidFill>
              <a:srgbClr val="8E6F3E"/>
            </a:solidFill>
          </a:ln>
        </p:spPr>
        <p:txBody>
          <a:bodyPr wrap="square" lIns="27432" tIns="22860" rIns="27432" bIns="22860" anchor="t"/>
          <a:lstStyle/>
          <a:p>
            <a:pPr algn="l">
              <a:spcAft>
                <a:spcPts val="400"/>
              </a:spcAft>
              <a:buNone/>
            </a:pPr>
            <a:r>
              <a:rPr lang="en-US" sz="1100" b="1" i="0" dirty="0">
                <a:solidFill>
                  <a:srgbClr val="8E6F3E"/>
                </a:solidFill>
              </a:rPr>
              <a:t>Yes, this schema is a model.</a:t>
            </a:r>
          </a:p>
          <a:p>
            <a:pPr algn="l">
              <a:spcAft>
                <a:spcPts val="0"/>
              </a:spcAft>
              <a:buNone/>
            </a:pPr>
            <a:r>
              <a:rPr lang="en-US" sz="1050" b="0" i="0" dirty="0">
                <a:solidFill>
                  <a:srgbClr val="5C4826"/>
                </a:solidFill>
              </a:rPr>
              <a:t>It constrains the data the system must represent. It does not determine the database design, indexes, queries, joins, caching, or migration strategy.</a:t>
            </a:r>
          </a:p>
        </p:txBody>
      </p:sp>
      <p:sp>
        <p:nvSpPr>
          <p:cNvPr id="130" name="CollidePanel"/>
          <p:cNvSpPr/>
          <p:nvPr/>
        </p:nvSpPr>
        <p:spPr>
          <a:xfrm>
            <a:off x="1188720" y="3474720"/>
            <a:ext cx="7680960" cy="10515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31" name="InstLbl"/>
          <p:cNvSpPr txBox="1"/>
          <p:nvPr/>
        </p:nvSpPr>
        <p:spPr>
          <a:xfrm>
            <a:off x="1371600" y="3589020"/>
            <a:ext cx="1737360" cy="54864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INSTANTIATE</a:t>
            </a:r>
          </a:p>
          <a:p>
            <a:pPr algn="l">
              <a:spcAft>
                <a:spcPts val="0"/>
              </a:spcAft>
              <a:buNone/>
            </a:pPr>
            <a:r>
              <a:rPr lang="en-US" sz="1200" b="1" i="0" dirty="0">
                <a:solidFill>
                  <a:srgbClr val="8E6F3E"/>
                </a:solidFill>
              </a:rPr>
              <a:t>THE SCALAR MODEL</a:t>
            </a:r>
          </a:p>
        </p:txBody>
      </p:sp>
      <p:sp>
        <p:nvSpPr>
          <p:cNvPr id="132" name="CLbl0"/>
          <p:cNvSpPr txBox="1"/>
          <p:nvPr/>
        </p:nvSpPr>
        <p:spPr>
          <a:xfrm>
            <a:off x="3337560" y="352044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Unlimited account</a:t>
            </a:r>
          </a:p>
        </p:txBody>
      </p:sp>
      <p:sp>
        <p:nvSpPr>
          <p:cNvPr id="133" name="CArr0"/>
          <p:cNvSpPr txBox="1"/>
          <p:nvPr/>
        </p:nvSpPr>
        <p:spPr>
          <a:xfrm>
            <a:off x="5623560" y="352044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34" name="CLbl1"/>
          <p:cNvSpPr txBox="1"/>
          <p:nvPr/>
        </p:nvSpPr>
        <p:spPr>
          <a:xfrm>
            <a:off x="3337560" y="388620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Exhausted account</a:t>
            </a:r>
          </a:p>
        </p:txBody>
      </p:sp>
      <p:sp>
        <p:nvSpPr>
          <p:cNvPr id="135" name="CArr1"/>
          <p:cNvSpPr txBox="1"/>
          <p:nvPr/>
        </p:nvSpPr>
        <p:spPr>
          <a:xfrm>
            <a:off x="5623560" y="388620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40" name="SameState"/>
          <p:cNvSpPr/>
          <p:nvPr/>
        </p:nvSpPr>
        <p:spPr>
          <a:xfrm>
            <a:off x="6080760" y="3520440"/>
            <a:ext cx="640080" cy="685800"/>
          </a:xfrm>
          <a:prstGeom prst="rect">
            <a:avLst/>
          </a:prstGeom>
          <a:solidFill>
            <a:srgbClr val="5C4826"/>
          </a:solidFill>
          <a:ln>
            <a:noFill/>
          </a:ln>
        </p:spPr>
        <p:txBody>
          <a:bodyPr wrap="square" lIns="27432" tIns="22860" rIns="27432" bIns="22860" anchor="ctr"/>
          <a:lstStyle/>
          <a:p>
            <a:pPr algn="ctr">
              <a:spcAft>
                <a:spcPts val="0"/>
              </a:spcAft>
              <a:buNone/>
            </a:pPr>
            <a:r>
              <a:rPr lang="en-US" sz="2400" b="1" i="0" dirty="0">
                <a:solidFill>
                  <a:srgbClr val="FFFFFF"/>
                </a:solidFill>
              </a:rPr>
              <a:t>0</a:t>
            </a:r>
          </a:p>
          <a:p>
            <a:pPr algn="ctr">
              <a:spcAft>
                <a:spcPts val="0"/>
              </a:spcAft>
              <a:buNone/>
            </a:pPr>
            <a:r>
              <a:rPr lang="en-US" sz="2400" b="1" i="0" dirty="0">
                <a:solidFill>
                  <a:srgbClr val="FFFFFF"/>
                </a:solidFill>
              </a:rPr>
              <a:t>0</a:t>
            </a:r>
          </a:p>
        </p:txBody>
      </p:sp>
      <p:sp>
        <p:nvSpPr>
          <p:cNvPr id="141" name="SameLbl"/>
          <p:cNvSpPr txBox="1"/>
          <p:nvPr/>
        </p:nvSpPr>
        <p:spPr>
          <a:xfrm>
            <a:off x="6949440" y="3772020"/>
            <a:ext cx="1737360" cy="18288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same model state</a:t>
            </a:r>
          </a:p>
        </p:txBody>
      </p:sp>
      <p:sp>
        <p:nvSpPr>
          <p:cNvPr id="15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The model cannot distinguish states the obligation requires to differ.</a:t>
            </a:r>
          </a:p>
        </p:txBody>
      </p:sp>
      <p:sp>
        <p:nvSpPr>
          <p:cNvPr id="15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  ✗</a:t>
            </a:r>
          </a:p>
        </p:txBody>
      </p:sp>
      <p:sp>
        <p:nvSpPr>
          <p:cNvPr id="15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The reduction erased a distinction the obligation required.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 resource lease has an owner, generation, lifetime, and reclamation rule</a:t>
            </a:r>
          </a:p>
          <a:p>
            <a:pPr algn="l">
              <a:spcAft>
                <a:spcPts val="700"/>
              </a:spcAft>
              <a:buNone/>
            </a:pPr>
            <a:r>
              <a:rPr lang="en-US" sz="1600" b="0" i="0" dirty="0">
                <a:solidFill>
                  <a:srgbClr val="555960"/>
                </a:solidFill>
              </a:rPr>
              <a:t>A stale generation must never release the current lease</a:t>
            </a:r>
          </a:p>
          <a:p>
            <a:pPr algn="l">
              <a:spcAft>
                <a:spcPts val="700"/>
              </a:spcAft>
              <a:buNone/>
            </a:pPr>
            <a:r>
              <a:rPr lang="en-US" sz="1600" b="0" i="0" dirty="0">
                <a:solidFill>
                  <a:srgbClr val="555960"/>
                </a:solidFill>
              </a:rPr>
              <a:t>Processing topology is not part of that obligation</a:t>
            </a:r>
          </a:p>
        </p:txBody>
      </p:sp>
      <p:sp>
        <p:nvSpPr>
          <p:cNvPr id="120" name="WorkerNode"/>
          <p:cNvSpPr/>
          <p:nvPr/>
        </p:nvSpPr>
        <p:spPr>
          <a:xfrm>
            <a:off x="1188720" y="2423160"/>
            <a:ext cx="1371600" cy="594360"/>
          </a:xfrm>
          <a:prstGeom prst="round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200" b="1" i="0" dirty="0">
                <a:solidFill>
                  <a:srgbClr val="5C4826"/>
                </a:solidFill>
              </a:rPr>
              <a:t>WORKER</a:t>
            </a:r>
          </a:p>
          <a:p>
            <a:pPr algn="ctr">
              <a:spcAft>
                <a:spcPts val="0"/>
              </a:spcAft>
              <a:buNone/>
            </a:pPr>
            <a:r>
              <a:rPr lang="en-US" sz="1100" b="0" i="1" dirty="0">
                <a:solidFill>
                  <a:srgbClr val="555960"/>
                </a:solidFill>
              </a:rPr>
              <a:t>the owner</a:t>
            </a:r>
          </a:p>
        </p:txBody>
      </p:sp>
      <p:sp>
        <p:nvSpPr>
          <p:cNvPr id="121" name="OwnsLbl"/>
          <p:cNvSpPr txBox="1"/>
          <p:nvPr/>
        </p:nvSpPr>
        <p:spPr>
          <a:xfrm>
            <a:off x="2651760" y="2468880"/>
            <a:ext cx="640080" cy="182880"/>
          </a:xfrm>
          <a:prstGeom prst="rect">
            <a:avLst/>
          </a:prstGeom>
          <a:noFill/>
          <a:ln>
            <a:noFill/>
          </a:ln>
        </p:spPr>
        <p:txBody>
          <a:bodyPr wrap="square" lIns="0" tIns="0" rIns="0" bIns="0" anchor="t"/>
          <a:lstStyle/>
          <a:p>
            <a:pPr algn="ctr">
              <a:spcAft>
                <a:spcPts val="0"/>
              </a:spcAft>
              <a:buNone/>
            </a:pPr>
            <a:r>
              <a:rPr lang="en-US" sz="1000" b="1" i="0" dirty="0">
                <a:solidFill>
                  <a:srgbClr val="8E6F3E"/>
                </a:solidFill>
              </a:rPr>
              <a:t>OWNS</a:t>
            </a:r>
          </a:p>
        </p:txBody>
      </p:sp>
      <p:cxnSp>
        <p:nvCxnSpPr>
          <p:cNvPr id="122" name="OwnsArrow"/>
          <p:cNvCxnSpPr/>
          <p:nvPr/>
        </p:nvCxnSpPr>
        <p:spPr>
          <a:xfrm>
            <a:off x="2651760" y="2720340"/>
            <a:ext cx="640080" cy="0"/>
          </a:xfrm>
          <a:prstGeom prst="straightConnector1">
            <a:avLst/>
          </a:prstGeom>
          <a:ln w="28575">
            <a:solidFill>
              <a:srgbClr val="8E6F3E"/>
            </a:solidFill>
            <a:tailEnd type="triangle" w="med" len="med"/>
          </a:ln>
        </p:spPr>
      </p:cxnSp>
      <p:sp>
        <p:nvSpPr>
          <p:cNvPr id="123" name="LeaseNode"/>
          <p:cNvSpPr/>
          <p:nvPr/>
        </p:nvSpPr>
        <p:spPr>
          <a:xfrm>
            <a:off x="3383280" y="2377440"/>
            <a:ext cx="2560320" cy="685800"/>
          </a:xfrm>
          <a:prstGeom prst="roundRect">
            <a:avLst/>
          </a:prstGeom>
          <a:solidFill>
            <a:srgbClr val="F5F1E8"/>
          </a:solidFill>
          <a:ln w="19050">
            <a:solidFill>
              <a:srgbClr val="8E6F3E"/>
            </a:solidFill>
          </a:ln>
        </p:spPr>
        <p:txBody>
          <a:bodyPr wrap="square" lIns="27432" tIns="22860" rIns="27432" bIns="22860" anchor="ctr"/>
          <a:lstStyle/>
          <a:p>
            <a:pPr algn="ctr">
              <a:spcAft>
                <a:spcPts val="400"/>
              </a:spcAft>
              <a:buNone/>
            </a:pPr>
            <a:r>
              <a:rPr lang="en-US" sz="1400" b="1" i="0" dirty="0">
                <a:solidFill>
                  <a:srgbClr val="8E6F3E"/>
                </a:solidFill>
              </a:rPr>
              <a:t>LEASE</a:t>
            </a:r>
          </a:p>
          <a:p>
            <a:pPr algn="ctr">
              <a:spcAft>
                <a:spcPts val="0"/>
              </a:spcAft>
              <a:buNone/>
            </a:pPr>
            <a:r>
              <a:rPr lang="en-US" sz="1000" b="0" i="0" dirty="0">
                <a:solidFill>
                  <a:srgbClr val="5C4826"/>
                </a:solidFill>
              </a:rPr>
              <a:t>generation  ·  lifetime  ·  reclamation</a:t>
            </a:r>
          </a:p>
        </p:txBody>
      </p:sp>
      <p:sp>
        <p:nvSpPr>
          <p:cNvPr id="124" name="ReleaseLbl"/>
          <p:cNvSpPr txBox="1"/>
          <p:nvPr/>
        </p:nvSpPr>
        <p:spPr>
          <a:xfrm>
            <a:off x="5943600" y="2468880"/>
            <a:ext cx="731520" cy="182880"/>
          </a:xfrm>
          <a:prstGeom prst="rect">
            <a:avLst/>
          </a:prstGeom>
          <a:noFill/>
          <a:ln>
            <a:noFill/>
          </a:ln>
        </p:spPr>
        <p:txBody>
          <a:bodyPr wrap="square" lIns="0" tIns="0" rIns="0" bIns="0" anchor="t"/>
          <a:lstStyle/>
          <a:p>
            <a:pPr algn="ctr">
              <a:spcAft>
                <a:spcPts val="0"/>
              </a:spcAft>
              <a:buNone/>
            </a:pPr>
            <a:r>
              <a:rPr lang="en-US" sz="1000" b="1" i="0" dirty="0">
                <a:solidFill>
                  <a:srgbClr val="5C4826"/>
                </a:solidFill>
              </a:rPr>
              <a:t>RELEASES</a:t>
            </a:r>
          </a:p>
        </p:txBody>
      </p:sp>
      <p:sp>
        <p:nvSpPr>
          <p:cNvPr id="127" name="ForbidMark"/>
          <p:cNvSpPr/>
          <p:nvPr/>
        </p:nvSpPr>
        <p:spPr>
          <a:xfrm>
            <a:off x="6217920" y="2628900"/>
            <a:ext cx="182880" cy="182880"/>
          </a:xfrm>
          <a:prstGeom prst="rect">
            <a:avLst/>
          </a:prstGeom>
          <a:solidFill>
            <a:srgbClr val="FFFFFF"/>
          </a:solidFill>
          <a:ln>
            <a:noFill/>
          </a:ln>
        </p:spPr>
        <p:txBody>
          <a:bodyPr wrap="square" lIns="27432" tIns="22860" rIns="27432" bIns="22860" anchor="ctr"/>
          <a:lstStyle/>
          <a:p>
            <a:pPr algn="ctr">
              <a:spcAft>
                <a:spcPts val="0"/>
              </a:spcAft>
              <a:buNone/>
            </a:pPr>
            <a:r>
              <a:rPr lang="en-US" sz="1800" b="1" i="0" dirty="0">
                <a:solidFill>
                  <a:srgbClr val="5C4826"/>
                </a:solidFill>
              </a:rPr>
              <a:t>✗</a:t>
            </a:r>
          </a:p>
        </p:txBody>
      </p:sp>
      <p:cxnSp>
        <p:nvCxnSpPr>
          <p:cNvPr id="125" name="ForbidArrow"/>
          <p:cNvCxnSpPr/>
          <p:nvPr/>
        </p:nvCxnSpPr>
        <p:spPr>
          <a:xfrm flipH="1">
            <a:off x="5943600" y="2720340"/>
            <a:ext cx="731520" cy="0"/>
          </a:xfrm>
          <a:prstGeom prst="straightConnector1">
            <a:avLst/>
          </a:prstGeom>
          <a:ln w="28575">
            <a:solidFill>
              <a:srgbClr val="5C4826"/>
            </a:solidFill>
            <a:prstDash val="dash"/>
            <a:tailEnd type="triangle" w="med" len="med"/>
          </a:ln>
        </p:spPr>
      </p:cxnSp>
      <p:sp>
        <p:nvSpPr>
          <p:cNvPr id="126" name="StaleNode"/>
          <p:cNvSpPr/>
          <p:nvPr/>
        </p:nvSpPr>
        <p:spPr>
          <a:xfrm>
            <a:off x="6675120" y="2423160"/>
            <a:ext cx="2194560" cy="594360"/>
          </a:xfrm>
          <a:prstGeom prst="roundRect">
            <a:avLst/>
          </a:prstGeom>
          <a:solidFill>
            <a:srgbClr val="FDFCF9"/>
          </a:solidFill>
          <a:ln w="12700">
            <a:solidFill>
              <a:srgbClr val="C9B991"/>
            </a:solidFill>
            <a:prstDash val="dash"/>
          </a:ln>
        </p:spPr>
        <p:txBody>
          <a:bodyPr wrap="square" lIns="27432" tIns="22860" rIns="27432" bIns="22860" anchor="ctr"/>
          <a:lstStyle/>
          <a:p>
            <a:pPr algn="ctr">
              <a:spcAft>
                <a:spcPts val="300"/>
              </a:spcAft>
              <a:buNone/>
            </a:pPr>
            <a:r>
              <a:rPr lang="en-US" sz="1100" b="1" i="0" dirty="0">
                <a:solidFill>
                  <a:srgbClr val="5C4826"/>
                </a:solidFill>
              </a:rPr>
              <a:t>STALE GENERATION</a:t>
            </a:r>
          </a:p>
          <a:p>
            <a:pPr algn="ctr">
              <a:spcAft>
                <a:spcPts val="0"/>
              </a:spcAft>
              <a:buNone/>
            </a:pPr>
            <a:r>
              <a:rPr lang="en-US" sz="1100" b="0" i="1" dirty="0">
                <a:solidFill>
                  <a:srgbClr val="555960"/>
                </a:solidFill>
              </a:rPr>
              <a:t>a former owner</a:t>
            </a:r>
          </a:p>
        </p:txBody>
      </p:sp>
      <p:cxnSp>
        <p:nvCxnSpPr>
          <p:cNvPr id="130" name="RbStem"/>
          <p:cNvCxnSpPr/>
          <p:nvPr/>
        </p:nvCxnSpPr>
        <p:spPr>
          <a:xfrm>
            <a:off x="4663440" y="3063240"/>
            <a:ext cx="0" cy="182880"/>
          </a:xfrm>
          <a:prstGeom prst="straightConnector1">
            <a:avLst/>
          </a:prstGeom>
          <a:ln w="12700">
            <a:solidFill>
              <a:srgbClr val="C9B991"/>
            </a:solidFill>
            <a:prstDash val="dash"/>
          </a:ln>
        </p:spPr>
      </p:cxnSp>
      <p:cxnSp>
        <p:nvCxnSpPr>
          <p:cNvPr id="131" name="RbBus"/>
          <p:cNvCxnSpPr/>
          <p:nvPr/>
        </p:nvCxnSpPr>
        <p:spPr>
          <a:xfrm>
            <a:off x="2971800" y="3246120"/>
            <a:ext cx="4114800" cy="0"/>
          </a:xfrm>
          <a:prstGeom prst="straightConnector1">
            <a:avLst/>
          </a:prstGeom>
          <a:ln w="12700">
            <a:solidFill>
              <a:srgbClr val="C9B991"/>
            </a:solidFill>
            <a:prstDash val="dash"/>
          </a:ln>
        </p:spPr>
      </p:cxnSp>
      <p:cxnSp>
        <p:nvCxnSpPr>
          <p:cNvPr id="132" name="RbDropL"/>
          <p:cNvCxnSpPr/>
          <p:nvPr/>
        </p:nvCxnSpPr>
        <p:spPr>
          <a:xfrm>
            <a:off x="2971800" y="3246120"/>
            <a:ext cx="0" cy="91440"/>
          </a:xfrm>
          <a:prstGeom prst="straightConnector1">
            <a:avLst/>
          </a:prstGeom>
          <a:ln w="12700">
            <a:solidFill>
              <a:srgbClr val="C9B991"/>
            </a:solidFill>
            <a:prstDash val="dash"/>
            <a:tailEnd type="triangle" w="med" len="med"/>
          </a:ln>
        </p:spPr>
      </p:cxnSp>
      <p:cxnSp>
        <p:nvCxnSpPr>
          <p:cNvPr id="133" name="RbDropR"/>
          <p:cNvCxnSpPr/>
          <p:nvPr/>
        </p:nvCxnSpPr>
        <p:spPr>
          <a:xfrm>
            <a:off x="7086600" y="3246120"/>
            <a:ext cx="0" cy="91440"/>
          </a:xfrm>
          <a:prstGeom prst="straightConnector1">
            <a:avLst/>
          </a:prstGeom>
          <a:ln w="12700">
            <a:solidFill>
              <a:srgbClr val="C9B991"/>
            </a:solidFill>
            <a:prstDash val="dash"/>
            <a:tailEnd type="triangle" w="med" len="med"/>
          </a:ln>
        </p:spPr>
      </p:cxnSp>
      <p:sp>
        <p:nvSpPr>
          <p:cNvPr id="134" name="RbLbl"/>
          <p:cNvSpPr txBox="1"/>
          <p:nvPr/>
        </p:nvSpPr>
        <p:spPr>
          <a:xfrm>
            <a:off x="4754880" y="3063240"/>
            <a:ext cx="118872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realized by</a:t>
            </a:r>
          </a:p>
        </p:txBody>
      </p:sp>
      <p:sp>
        <p:nvSpPr>
          <p:cNvPr id="140" name="PanB"/>
          <p:cNvSpPr/>
          <p:nvPr/>
        </p:nvSpPr>
        <p:spPr>
          <a:xfrm>
            <a:off x="11887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41" name="PanBLbl"/>
          <p:cNvSpPr txBox="1"/>
          <p:nvPr/>
        </p:nvSpPr>
        <p:spPr>
          <a:xfrm>
            <a:off x="12801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BEFORE</a:t>
            </a:r>
          </a:p>
        </p:txBody>
      </p:sp>
      <p:sp>
        <p:nvSpPr>
          <p:cNvPr id="142" name="BSvc"/>
          <p:cNvSpPr/>
          <p:nvPr/>
        </p:nvSpPr>
        <p:spPr>
          <a:xfrm>
            <a:off x="1417320" y="3703320"/>
            <a:ext cx="118872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SERVICE</a:t>
            </a:r>
          </a:p>
        </p:txBody>
      </p:sp>
      <p:cxnSp>
        <p:nvCxnSpPr>
          <p:cNvPr id="143" name="BArr"/>
          <p:cNvCxnSpPr/>
          <p:nvPr/>
        </p:nvCxnSpPr>
        <p:spPr>
          <a:xfrm>
            <a:off x="2651760" y="3886200"/>
            <a:ext cx="365760" cy="0"/>
          </a:xfrm>
          <a:prstGeom prst="straightConnector1">
            <a:avLst/>
          </a:prstGeom>
          <a:ln w="12700">
            <a:solidFill>
              <a:srgbClr val="8E6F3E"/>
            </a:solidFill>
            <a:tailEnd type="triangle" w="med" len="med"/>
          </a:ln>
        </p:spPr>
      </p:cxnSp>
      <p:sp>
        <p:nvSpPr>
          <p:cNvPr id="144" name="BDoc"/>
          <p:cNvSpPr/>
          <p:nvPr/>
        </p:nvSpPr>
        <p:spPr>
          <a:xfrm>
            <a:off x="3063240" y="3703320"/>
            <a:ext cx="13716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DOCUMENT</a:t>
            </a:r>
          </a:p>
        </p:txBody>
      </p:sp>
      <p:sp>
        <p:nvSpPr>
          <p:cNvPr id="145" name="BCap"/>
          <p:cNvSpPr txBox="1"/>
          <p:nvPr/>
        </p:nvSpPr>
        <p:spPr>
          <a:xfrm>
            <a:off x="12801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one service, one pass over the document</a:t>
            </a:r>
          </a:p>
        </p:txBody>
      </p:sp>
      <p:sp>
        <p:nvSpPr>
          <p:cNvPr id="150" name="PanA"/>
          <p:cNvSpPr/>
          <p:nvPr/>
        </p:nvSpPr>
        <p:spPr>
          <a:xfrm>
            <a:off x="53035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51" name="PanALbl"/>
          <p:cNvSpPr txBox="1"/>
          <p:nvPr/>
        </p:nvSpPr>
        <p:spPr>
          <a:xfrm>
            <a:off x="53949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AFTER</a:t>
            </a:r>
          </a:p>
        </p:txBody>
      </p:sp>
      <p:sp>
        <p:nvSpPr>
          <p:cNvPr id="152" name="ACoord"/>
          <p:cNvSpPr/>
          <p:nvPr/>
        </p:nvSpPr>
        <p:spPr>
          <a:xfrm>
            <a:off x="5486400" y="3566160"/>
            <a:ext cx="109728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COORDINATOR</a:t>
            </a:r>
          </a:p>
        </p:txBody>
      </p:sp>
      <p:sp>
        <p:nvSpPr>
          <p:cNvPr id="153" name="AChunk0"/>
          <p:cNvSpPr/>
          <p:nvPr/>
        </p:nvSpPr>
        <p:spPr>
          <a:xfrm>
            <a:off x="6858000" y="352044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4" name="AChunk1"/>
          <p:cNvSpPr/>
          <p:nvPr/>
        </p:nvSpPr>
        <p:spPr>
          <a:xfrm>
            <a:off x="6858000" y="379476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5" name="AChunk2"/>
          <p:cNvSpPr/>
          <p:nvPr/>
        </p:nvSpPr>
        <p:spPr>
          <a:xfrm>
            <a:off x="6858000" y="406908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6" name="AMerge"/>
          <p:cNvSpPr/>
          <p:nvPr/>
        </p:nvSpPr>
        <p:spPr>
          <a:xfrm>
            <a:off x="7772400" y="3794760"/>
            <a:ext cx="91440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MERGE</a:t>
            </a:r>
          </a:p>
        </p:txBody>
      </p:sp>
      <p:cxnSp>
        <p:nvCxnSpPr>
          <p:cNvPr id="160" name="AF1"/>
          <p:cNvCxnSpPr/>
          <p:nvPr/>
        </p:nvCxnSpPr>
        <p:spPr>
          <a:xfrm flipV="1">
            <a:off x="6583680" y="3634740"/>
            <a:ext cx="274320" cy="91440"/>
          </a:xfrm>
          <a:prstGeom prst="straightConnector1">
            <a:avLst/>
          </a:prstGeom>
          <a:ln w="12700">
            <a:solidFill>
              <a:srgbClr val="8E6F3E"/>
            </a:solidFill>
          </a:ln>
        </p:spPr>
      </p:cxnSp>
      <p:cxnSp>
        <p:nvCxnSpPr>
          <p:cNvPr id="161" name="AF2"/>
          <p:cNvCxnSpPr/>
          <p:nvPr/>
        </p:nvCxnSpPr>
        <p:spPr>
          <a:xfrm>
            <a:off x="6583680" y="3726180"/>
            <a:ext cx="274320" cy="182880"/>
          </a:xfrm>
          <a:prstGeom prst="straightConnector1">
            <a:avLst/>
          </a:prstGeom>
          <a:ln w="12700">
            <a:solidFill>
              <a:srgbClr val="8E6F3E"/>
            </a:solidFill>
          </a:ln>
        </p:spPr>
      </p:cxnSp>
      <p:cxnSp>
        <p:nvCxnSpPr>
          <p:cNvPr id="162" name="AF3"/>
          <p:cNvCxnSpPr/>
          <p:nvPr/>
        </p:nvCxnSpPr>
        <p:spPr>
          <a:xfrm>
            <a:off x="6583680" y="3726180"/>
            <a:ext cx="274320" cy="457200"/>
          </a:xfrm>
          <a:prstGeom prst="straightConnector1">
            <a:avLst/>
          </a:prstGeom>
          <a:ln w="12700">
            <a:solidFill>
              <a:srgbClr val="8E6F3E"/>
            </a:solidFill>
          </a:ln>
        </p:spPr>
      </p:cxnSp>
      <p:cxnSp>
        <p:nvCxnSpPr>
          <p:cNvPr id="163" name="AM1"/>
          <p:cNvCxnSpPr/>
          <p:nvPr/>
        </p:nvCxnSpPr>
        <p:spPr>
          <a:xfrm>
            <a:off x="7498080" y="3634740"/>
            <a:ext cx="274320" cy="320040"/>
          </a:xfrm>
          <a:prstGeom prst="straightConnector1">
            <a:avLst/>
          </a:prstGeom>
          <a:ln w="12700">
            <a:solidFill>
              <a:srgbClr val="8E6F3E"/>
            </a:solidFill>
          </a:ln>
        </p:spPr>
      </p:cxnSp>
      <p:cxnSp>
        <p:nvCxnSpPr>
          <p:cNvPr id="164" name="AM2"/>
          <p:cNvCxnSpPr/>
          <p:nvPr/>
        </p:nvCxnSpPr>
        <p:spPr>
          <a:xfrm>
            <a:off x="7498080" y="3909060"/>
            <a:ext cx="274320" cy="45720"/>
          </a:xfrm>
          <a:prstGeom prst="straightConnector1">
            <a:avLst/>
          </a:prstGeom>
          <a:ln w="12700">
            <a:solidFill>
              <a:srgbClr val="8E6F3E"/>
            </a:solidFill>
          </a:ln>
        </p:spPr>
      </p:cxnSp>
      <p:cxnSp>
        <p:nvCxnSpPr>
          <p:cNvPr id="165" name="AM3"/>
          <p:cNvCxnSpPr/>
          <p:nvPr/>
        </p:nvCxnSpPr>
        <p:spPr>
          <a:xfrm flipV="1">
            <a:off x="7498080" y="3954780"/>
            <a:ext cx="274320" cy="228600"/>
          </a:xfrm>
          <a:prstGeom prst="straightConnector1">
            <a:avLst/>
          </a:prstGeom>
          <a:ln w="12700">
            <a:solidFill>
              <a:srgbClr val="8E6F3E"/>
            </a:solidFill>
          </a:ln>
        </p:spPr>
      </p:cxnSp>
      <p:sp>
        <p:nvSpPr>
          <p:cNvPr id="166" name="ACap"/>
          <p:cNvSpPr txBox="1"/>
          <p:nvPr/>
        </p:nvSpPr>
        <p:spPr>
          <a:xfrm>
            <a:off x="53949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fan out across chunk workers, then merge</a:t>
            </a:r>
          </a:p>
        </p:txBody>
      </p:sp>
      <p:sp>
        <p:nvSpPr>
          <p:cNvPr id="17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Topology changed. The model did not.</a:t>
            </a:r>
          </a:p>
        </p:txBody>
      </p:sp>
      <p:sp>
        <p:nvSpPr>
          <p:cNvPr id="17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  ✓</a:t>
            </a:r>
          </a:p>
        </p:txBody>
      </p:sp>
      <p:sp>
        <p:nvSpPr>
          <p:cNvPr id="17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 good omission survives change.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the one you just worked on</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 xml:space="preserve">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You do not invent a representation language every time you need a model.</a:t>
            </a:r>
          </a:p>
        </p:txBody>
      </p:sp>
      <p:pic>
        <p:nvPicPr>
          <p:cNvPr id="60" name="Shelf1" descr="Screenshot of the Microsoft Learn page 'Cloud design patterns', showing the Azure Architecture Center's catalogue of named patterns in its left navigation."/>
          <p:cNvPicPr>
            <a:picLocks noChangeAspect="1"/>
          </p:cNvPicPr>
          <p:nvPr/>
        </p:nvPicPr>
        <p:blipFill>
          <a:blip r:embed="rId3"/>
          <a:stretch>
            <a:fillRect/>
          </a:stretch>
        </p:blipFill>
        <p:spPr>
          <a:xfrm>
            <a:off x="384048" y="1572768"/>
            <a:ext cx="2337064" cy="2560320"/>
          </a:xfrm>
          <a:prstGeom prst="rect">
            <a:avLst/>
          </a:prstGeom>
          <a:ln w="12700">
            <a:solidFill>
              <a:srgbClr val="C9B991"/>
            </a:solidFill>
          </a:ln>
        </p:spPr>
      </p:pic>
      <p:pic>
        <p:nvPicPr>
          <p:cNvPr id="61" name="Shelf2" descr="Front cover of Design Patterns: Elements of Reusable Object-Oriented Software by Gamma, Helm, Johnson and Vlissides, Addison-Wesley 1994, with the M.C. Escher woodcut on the jacket."/>
          <p:cNvPicPr>
            <a:picLocks noChangeAspect="1"/>
          </p:cNvPicPr>
          <p:nvPr/>
        </p:nvPicPr>
        <p:blipFill>
          <a:blip r:embed="rId4"/>
          <a:stretch>
            <a:fillRect/>
          </a:stretch>
        </p:blipFill>
        <p:spPr>
          <a:xfrm>
            <a:off x="2904095" y="1572768"/>
            <a:ext cx="1921128" cy="2560320"/>
          </a:xfrm>
          <a:prstGeom prst="rect">
            <a:avLst/>
          </a:prstGeom>
          <a:ln w="12700">
            <a:solidFill>
              <a:srgbClr val="C9B991"/>
            </a:solidFill>
          </a:ln>
        </p:spPr>
      </p:pic>
      <p:pic>
        <p:nvPicPr>
          <p:cNvPr id="62" name="Shelf3" descr="Front cover of the Handbook of Model-Based Systems Engineering, Madni and Augustine editors-in-chief with Sievers associate editor, Springer Nature Reference 2023."/>
          <p:cNvPicPr>
            <a:picLocks noChangeAspect="1"/>
          </p:cNvPicPr>
          <p:nvPr/>
        </p:nvPicPr>
        <p:blipFill>
          <a:blip r:embed="rId5"/>
          <a:stretch>
            <a:fillRect/>
          </a:stretch>
        </p:blipFill>
        <p:spPr>
          <a:xfrm>
            <a:off x="5008205" y="1572768"/>
            <a:ext cx="1699346" cy="2560320"/>
          </a:xfrm>
          <a:prstGeom prst="rect">
            <a:avLst/>
          </a:prstGeom>
          <a:ln w="12700">
            <a:solidFill>
              <a:srgbClr val="C9B991"/>
            </a:solidFill>
          </a:ln>
        </p:spPr>
      </p:pic>
      <p:pic>
        <p:nvPicPr>
          <p:cNvPr id="63" name="Shelf4" descr="Front cover of UML Distilled, third edition, by Martin Fowler, Addison-Wesley 2003."/>
          <p:cNvPicPr>
            <a:picLocks noChangeAspect="1"/>
          </p:cNvPicPr>
          <p:nvPr/>
        </p:nvPicPr>
        <p:blipFill>
          <a:blip r:embed="rId6"/>
          <a:stretch>
            <a:fillRect/>
          </a:stretch>
        </p:blipFill>
        <p:spPr>
          <a:xfrm>
            <a:off x="6890534" y="1572768"/>
            <a:ext cx="1869418" cy="2560320"/>
          </a:xfrm>
          <a:prstGeom prst="rect">
            <a:avLst/>
          </a:prstGeom>
          <a:ln w="12700">
            <a:solidFill>
              <a:srgbClr val="C9B991"/>
            </a:solidFill>
          </a:ln>
        </p:spPr>
      </p:pic>
      <p:sp>
        <p:nvSpPr>
          <p:cNvPr id="100" name="CaptionStrip"/>
          <p:cNvSpPr/>
          <p:nvPr/>
        </p:nvSpPr>
        <p:spPr>
          <a:xfrm>
            <a:off x="274320" y="4297680"/>
            <a:ext cx="8595360" cy="420624"/>
          </a:xfrm>
          <a:prstGeom prst="roundRect">
            <a:avLst>
              <a:gd name="adj" fmla="val 8696"/>
            </a:avLst>
          </a:prstGeom>
          <a:solidFill>
            <a:srgbClr val="F5F1E8"/>
          </a:solidFill>
          <a:ln w="15875">
            <a:solidFill>
              <a:srgbClr val="C9B991"/>
            </a:solidFill>
          </a:ln>
        </p:spPr>
        <p:txBody>
          <a:bodyPr/>
          <a:lstStyle/>
          <a:p>
            <a:endParaRPr lang="en-US"/>
          </a:p>
        </p:txBody>
      </p:sp>
      <p:cxnSp>
        <p:nvCxnSpPr>
          <p:cNvPr id="110" name="CapRule1"/>
          <p:cNvCxnSpPr/>
          <p:nvPr/>
        </p:nvCxnSpPr>
        <p:spPr>
          <a:xfrm>
            <a:off x="2708453"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cxnSp>
        <p:nvCxnSpPr>
          <p:cNvPr id="111" name="CapRule2"/>
          <p:cNvCxnSpPr/>
          <p:nvPr/>
        </p:nvCxnSpPr>
        <p:spPr>
          <a:xfrm>
            <a:off x="4860950"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cxnSp>
        <p:nvCxnSpPr>
          <p:cNvPr id="112" name="CapRule3"/>
          <p:cNvCxnSpPr/>
          <p:nvPr/>
        </p:nvCxnSpPr>
        <p:spPr>
          <a:xfrm>
            <a:off x="6841541"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sp>
        <p:nvSpPr>
          <p:cNvPr id="120" name="Cap1"/>
          <p:cNvSpPr txBox="1"/>
          <p:nvPr/>
        </p:nvSpPr>
        <p:spPr>
          <a:xfrm>
            <a:off x="310896" y="4297680"/>
            <a:ext cx="2360981"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Patterns</a:t>
            </a:r>
          </a:p>
        </p:txBody>
      </p:sp>
      <p:sp>
        <p:nvSpPr>
          <p:cNvPr id="121" name="Cap2"/>
          <p:cNvSpPr txBox="1"/>
          <p:nvPr/>
        </p:nvSpPr>
        <p:spPr>
          <a:xfrm>
            <a:off x="2745029" y="4297680"/>
            <a:ext cx="2079346"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Design vocabulary</a:t>
            </a:r>
          </a:p>
        </p:txBody>
      </p:sp>
      <p:sp>
        <p:nvSpPr>
          <p:cNvPr id="122" name="Cap3"/>
          <p:cNvSpPr txBox="1"/>
          <p:nvPr/>
        </p:nvSpPr>
        <p:spPr>
          <a:xfrm>
            <a:off x="4897526" y="4297680"/>
            <a:ext cx="1907438"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Modeling methods</a:t>
            </a:r>
          </a:p>
        </p:txBody>
      </p:sp>
      <p:sp>
        <p:nvSpPr>
          <p:cNvPr id="123" name="Cap4"/>
          <p:cNvSpPr txBox="1"/>
          <p:nvPr/>
        </p:nvSpPr>
        <p:spPr>
          <a:xfrm>
            <a:off x="6878117" y="4297680"/>
            <a:ext cx="1954987"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Modeling notation</a:t>
            </a:r>
          </a:p>
        </p:txBody>
      </p:sp>
      <p:sp>
        <p:nvSpPr>
          <p:cNvPr id="70" name="Src"/>
          <p:cNvSpPr txBox="1"/>
          <p:nvPr/>
        </p:nvSpPr>
        <p:spPr>
          <a:xfrm>
            <a:off x="274320" y="5102352"/>
            <a:ext cx="8595360" cy="420624"/>
          </a:xfrm>
          <a:prstGeom prst="rect">
            <a:avLst/>
          </a:prstGeom>
          <a:noFill/>
          <a:ln>
            <a:noFill/>
          </a:ln>
        </p:spPr>
        <p:txBody>
          <a:bodyPr wrap="square" lIns="0" tIns="0" rIns="0" bIns="0" anchor="t"/>
          <a:lstStyle/>
          <a:p>
            <a:pPr algn="ctr">
              <a:spcAft>
                <a:spcPts val="0"/>
              </a:spcAft>
              <a:buNone/>
            </a:pPr>
            <a:r>
              <a:rPr lang="en-US" sz="1050" b="0" i="0" dirty="0">
                <a:solidFill>
                  <a:srgbClr val="555960"/>
                </a:solidFill>
              </a:rPr>
              <a:t>Covers reproduced for classroom teaching: Addison-Wesley (Design Patterns, 1994; UML Distilled 3e, 2003) · Springer Nature (2023).</a:t>
            </a:r>
          </a:p>
          <a:p>
            <a:pPr algn="ctr">
              <a:spcAft>
                <a:spcPts val="0"/>
              </a:spcAft>
              <a:buNone/>
            </a:pPr>
            <a:r>
              <a:rPr lang="en-US" sz="1050" b="0" i="0" dirty="0">
                <a:solidFill>
                  <a:srgbClr val="555960"/>
                </a:solidFill>
              </a:rPr>
              <a:t>Page capture: Microsoft Learn, learn.microsoft.com/azure/architecture/patterns, 2026-10-01. Cover art, Design Patterns: © 1994 M.C. Escher / Cordon Art.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274320" y="868680"/>
            <a:ext cx="8595360"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What did you choose? (two or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Why is outsourcing software development so hard?</a:t>
            </a:r>
          </a:p>
        </p:txBody>
      </p:sp>
      <p:sp>
        <p:nvSpPr>
          <p:cNvPr id="130" name="EncodeLbl"/>
          <p:cNvSpPr txBox="1"/>
          <p:nvPr/>
        </p:nvSpPr>
        <p:spPr>
          <a:xfrm>
            <a:off x="228600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ENCODE</a:t>
            </a:r>
          </a:p>
        </p:txBody>
      </p:sp>
      <p:sp>
        <p:nvSpPr>
          <p:cNvPr id="131" name="InterpretLbl"/>
          <p:cNvSpPr txBox="1"/>
          <p:nvPr/>
        </p:nvSpPr>
        <p:spPr>
          <a:xfrm>
            <a:off x="544068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INTERPRET</a:t>
            </a:r>
          </a:p>
        </p:txBody>
      </p:sp>
      <p:sp>
        <p:nvSpPr>
          <p:cNvPr id="110" name="EngineerA"/>
          <p:cNvSpPr txBox="1"/>
          <p:nvPr/>
        </p:nvSpPr>
        <p:spPr>
          <a:xfrm>
            <a:off x="27432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A</a:t>
            </a:r>
          </a:p>
        </p:txBody>
      </p:sp>
      <p:cxnSp>
        <p:nvCxnSpPr>
          <p:cNvPr id="120" name="Hop1"/>
          <p:cNvCxnSpPr/>
          <p:nvPr/>
        </p:nvCxnSpPr>
        <p:spPr>
          <a:xfrm>
            <a:off x="2651760" y="3406140"/>
            <a:ext cx="685800" cy="0"/>
          </a:xfrm>
          <a:prstGeom prst="straightConnector1">
            <a:avLst/>
          </a:prstGeom>
          <a:ln w="28575">
            <a:solidFill>
              <a:srgbClr val="8E6F3E"/>
            </a:solidFill>
            <a:tailEnd type="triangle" w="med" len="med"/>
          </a:ln>
        </p:spPr>
      </p:cxnSp>
      <p:sp>
        <p:nvSpPr>
          <p:cNvPr id="111" name="Representation"/>
          <p:cNvSpPr txBox="1"/>
          <p:nvPr/>
        </p:nvSpPr>
        <p:spPr>
          <a:xfrm>
            <a:off x="3429000" y="3063240"/>
            <a:ext cx="2286000" cy="68580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 xml:space="preserve">REPRESENTATION</a:t>
            </a:r>
          </a:p>
        </p:txBody>
      </p:sp>
      <p:cxnSp>
        <p:nvCxnSpPr>
          <p:cNvPr id="121" name="Hop2"/>
          <p:cNvCxnSpPr/>
          <p:nvPr/>
        </p:nvCxnSpPr>
        <p:spPr>
          <a:xfrm>
            <a:off x="5806440" y="3406140"/>
            <a:ext cx="685800" cy="0"/>
          </a:xfrm>
          <a:prstGeom prst="straightConnector1">
            <a:avLst/>
          </a:prstGeom>
          <a:ln w="28575">
            <a:solidFill>
              <a:srgbClr val="8E6F3E"/>
            </a:solidFill>
            <a:tailEnd type="triangle" w="med" len="med"/>
          </a:ln>
        </p:spPr>
      </p:cxnSp>
      <p:sp>
        <p:nvSpPr>
          <p:cNvPr id="112" name="EngineerB"/>
          <p:cNvSpPr txBox="1"/>
          <p:nvPr/>
        </p:nvSpPr>
        <p:spPr>
          <a:xfrm>
            <a:off x="658368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B</a:t>
            </a:r>
          </a:p>
        </p:txBody>
      </p:sp>
      <p:sp>
        <p:nvSpPr>
          <p:cNvPr id="113" name="EngineerACaption"/>
          <p:cNvSpPr txBox="1"/>
          <p:nvPr/>
        </p:nvSpPr>
        <p:spPr>
          <a:xfrm>
            <a:off x="274320" y="3803904"/>
            <a:ext cx="2286000" cy="274320"/>
          </a:xfrm>
          <a:prstGeom prst="rect">
            <a:avLst/>
          </a:prstGeom>
          <a:noFill/>
          <a:ln>
            <a:noFill/>
          </a:ln>
        </p:spPr>
        <p:txBody>
          <a:bodyPr wrap="square" lIns="0" tIns="0" rIns="0" bIns="0" anchor="t"/>
          <a:lstStyle/>
          <a:p>
            <a:pPr algn="ctr">
              <a:spcAft>
                <a:spcPts val="0"/>
              </a:spcAft>
              <a:buNone/>
            </a:pPr>
            <a:r>
              <a:rPr lang="en-US" sz="1300" b="0" i="1" dirty="0">
                <a:solidFill>
                  <a:srgbClr val="5C4826"/>
                </a:solidFill>
              </a:rPr>
              <a:t xml:space="preserve">intent · context · judgment</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 xml:space="preserve">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 xml:space="preserve">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13"/>
                                        </p:tgtEl>
                                        <p:attrNameLst>
                                          <p:attrName>style.visibility</p:attrName>
                                        </p:attrNameLst>
                                      </p:cBhvr>
                                      <p:to>
                                        <p:strVal val="visible"/>
                                      </p:to>
                                    </p:set>
                                    <p:animEffect transition="in" filter="fade">
                                      <p:cBhvr>
                                        <p:cTn id="18" dur="500"/>
                                        <p:tgtEl>
                                          <p:spTgt spid="113"/>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5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5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fade">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Kicker"/>
          <p:cNvSpPr txBox="1"/>
          <p:nvPr/>
        </p:nvSpPr>
        <p:spPr>
          <a:xfrm>
            <a:off x="365760" y="1097280"/>
            <a:ext cx="8412480" cy="393192"/>
          </a:xfrm>
          <a:prstGeom prst="rect">
            <a:avLst/>
          </a:prstGeom>
          <a:noFill/>
          <a:ln>
            <a:noFill/>
          </a:ln>
        </p:spPr>
        <p:txBody>
          <a:bodyPr wrap="square" lIns="18288" tIns="18288" rIns="18288" bIns="18288" anchor="t"/>
          <a:lstStyle/>
          <a:p>
            <a:pPr algn="l">
              <a:spcAft>
                <a:spcPts val="0"/>
              </a:spcAft>
              <a:buNone/>
            </a:pPr>
            <a:r>
              <a:rPr lang="en-US" sz="2000" b="1" i="0" dirty="0">
                <a:solidFill>
                  <a:srgbClr val="8E6F3E"/>
                </a:solidFill>
              </a:rPr>
              <a:t>BEFORE THE MODEL</a:t>
            </a:r>
          </a:p>
        </p:txBody>
      </p:sp>
      <p:sp>
        <p:nvSpPr>
          <p:cNvPr id="111" name="C1"/>
          <p:cNvSpPr/>
          <p:nvPr/>
        </p:nvSpPr>
        <p:spPr>
          <a:xfrm>
            <a:off x="685800" y="1554480"/>
            <a:ext cx="7772400" cy="77724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CUSTOMER REQUIREMENT</a:t>
            </a:r>
          </a:p>
          <a:p>
            <a:pPr algn="l">
              <a:spcAft>
                <a:spcPts val="0"/>
              </a:spcAft>
              <a:buNone/>
            </a:pPr>
            <a:r>
              <a:rPr lang="en-US" sz="1600" b="0" i="0" dirty="0">
                <a:solidFill>
                  <a:srgbClr val="5C4826"/>
                </a:solidFill>
              </a:rPr>
              <a:t>The controller must operate for a full 8-hour shift without battery replacement.</a:t>
            </a:r>
          </a:p>
        </p:txBody>
      </p:sp>
      <p:cxnSp>
        <p:nvCxnSpPr>
          <p:cNvPr id="112" name="A1"/>
          <p:cNvCxnSpPr/>
          <p:nvPr/>
        </p:nvCxnSpPr>
        <p:spPr>
          <a:xfrm>
            <a:off x="4572000" y="2331720"/>
            <a:ext cx="0" cy="228600"/>
          </a:xfrm>
          <a:prstGeom prst="straightConnector1">
            <a:avLst/>
          </a:prstGeom>
          <a:ln w="28575">
            <a:solidFill>
              <a:srgbClr val="8E6F3E"/>
            </a:solidFill>
            <a:tailEnd type="triangle" w="med" len="med"/>
          </a:ln>
        </p:spPr>
      </p:cxnSp>
      <p:sp>
        <p:nvSpPr>
          <p:cNvPr id="113" name="C2"/>
          <p:cNvSpPr/>
          <p:nvPr/>
        </p:nvSpPr>
        <p:spPr>
          <a:xfrm>
            <a:off x="685800" y="2560320"/>
            <a:ext cx="7772400" cy="82296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TOP-LEVEL SPECIFICATION</a:t>
            </a:r>
          </a:p>
          <a:p>
            <a:pPr algn="l">
              <a:spcAft>
                <a:spcPts val="0"/>
              </a:spcAft>
              <a:buNone/>
            </a:pPr>
            <a:r>
              <a:rPr lang="en-US" sz="1600" b="0" i="0" dirty="0">
                <a:solidFill>
                  <a:srgbClr val="5C4826"/>
                </a:solidFill>
              </a:rPr>
              <a:t>Under the specified operating profile, battery voltage shall remain above V_min for at least 8 hours.</a:t>
            </a:r>
          </a:p>
        </p:txBody>
      </p:sp>
      <p:cxnSp>
        <p:nvCxnSpPr>
          <p:cNvPr id="114" name="A2"/>
          <p:cNvCxnSpPr/>
          <p:nvPr/>
        </p:nvCxnSpPr>
        <p:spPr>
          <a:xfrm>
            <a:off x="3200400" y="3383280"/>
            <a:ext cx="0" cy="228600"/>
          </a:xfrm>
          <a:prstGeom prst="straightConnector1">
            <a:avLst/>
          </a:prstGeom>
          <a:ln w="28575">
            <a:solidFill>
              <a:srgbClr val="8E6F3E"/>
            </a:solidFill>
            <a:tailEnd type="triangle" w="med" len="med"/>
          </a:ln>
        </p:spPr>
      </p:cxnSp>
      <p:sp>
        <p:nvSpPr>
          <p:cNvPr id="115" name="C3"/>
          <p:cNvSpPr/>
          <p:nvPr/>
        </p:nvSpPr>
        <p:spPr>
          <a:xfrm>
            <a:off x="685800" y="3611880"/>
            <a:ext cx="5029200" cy="685800"/>
          </a:xfrm>
          <a:prstGeom prst="rect">
            <a:avLst/>
          </a:prstGeom>
          <a:solidFill>
            <a:srgbClr val="8E6F3E"/>
          </a:solidFill>
          <a:ln>
            <a:noFill/>
          </a:ln>
        </p:spPr>
        <p:txBody>
          <a:bodyPr wrap="square" lIns="27432" tIns="22860" rIns="27432" bIns="22860" anchor="ctr"/>
          <a:lstStyle/>
          <a:p>
            <a:pPr algn="l">
              <a:spcAft>
                <a:spcPts val="300"/>
              </a:spcAft>
              <a:buNone/>
            </a:pPr>
            <a:r>
              <a:rPr lang="en-US" sz="1400" b="1" i="0" dirty="0">
                <a:solidFill>
                  <a:srgbClr val="F5F1E8"/>
                </a:solidFill>
              </a:rPr>
              <a:t>ENGINEERING QUESTION</a:t>
            </a:r>
          </a:p>
          <a:p>
            <a:pPr algn="l">
              <a:spcAft>
                <a:spcPts val="0"/>
              </a:spcAft>
              <a:buNone/>
            </a:pPr>
            <a:r>
              <a:rPr lang="en-US" sz="1800" b="1" i="0" dirty="0">
                <a:solidFill>
                  <a:srgbClr val="FFFFFF"/>
                </a:solidFill>
              </a:rPr>
              <a:t>Can this design satisfy the 8-hour obligation?</a:t>
            </a:r>
          </a:p>
        </p:txBody>
      </p:sp>
      <p:sp>
        <p:nvSpPr>
          <p:cNvPr id="116" name="Ctrl"/>
          <p:cNvSpPr/>
          <p:nvPr/>
        </p:nvSpPr>
        <p:spPr>
          <a:xfrm>
            <a:off x="5943600" y="3726180"/>
            <a:ext cx="11430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CONTROLLER</a:t>
            </a:r>
          </a:p>
        </p:txBody>
      </p:sp>
      <p:cxnSp>
        <p:nvCxnSpPr>
          <p:cNvPr id="117" name="CB"/>
          <p:cNvCxnSpPr/>
          <p:nvPr/>
        </p:nvCxnSpPr>
        <p:spPr>
          <a:xfrm>
            <a:off x="7086600" y="3954780"/>
            <a:ext cx="228600" cy="0"/>
          </a:xfrm>
          <a:prstGeom prst="straightConnector1">
            <a:avLst/>
          </a:prstGeom>
          <a:ln w="19050">
            <a:solidFill>
              <a:srgbClr val="C9B991"/>
            </a:solidFill>
            <a:headEnd type="triangle" w="med" len="med"/>
          </a:ln>
        </p:spPr>
      </p:cxnSp>
      <p:sp>
        <p:nvSpPr>
          <p:cNvPr id="118" name="Bat"/>
          <p:cNvSpPr/>
          <p:nvPr/>
        </p:nvSpPr>
        <p:spPr>
          <a:xfrm>
            <a:off x="7315200" y="3726180"/>
            <a:ext cx="11430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200" b="1" i="0" dirty="0">
                <a:solidFill>
                  <a:srgbClr val="5C4826"/>
                </a:solidFill>
              </a:rPr>
              <a:t>BATTERY</a:t>
            </a:r>
          </a:p>
        </p:txBody>
      </p:sp>
      <p:sp>
        <p:nvSpPr>
          <p:cNvPr id="119" name="Ital"/>
          <p:cNvSpPr txBox="1"/>
          <p:nvPr/>
        </p:nvSpPr>
        <p:spPr>
          <a:xfrm>
            <a:off x="685800" y="4663440"/>
            <a:ext cx="7772400" cy="594360"/>
          </a:xfrm>
          <a:prstGeom prst="rect">
            <a:avLst/>
          </a:prstGeom>
          <a:noFill/>
          <a:ln>
            <a:noFill/>
          </a:ln>
        </p:spPr>
        <p:txBody>
          <a:bodyPr wrap="square" lIns="0" tIns="0" rIns="0" bIns="0" anchor="t"/>
          <a:lstStyle/>
          <a:p>
            <a:pPr algn="ctr">
              <a:spcAft>
                <a:spcPts val="0"/>
              </a:spcAft>
              <a:buNone/>
            </a:pPr>
            <a:r>
              <a:rPr lang="en-US" sz="1500" b="0" i="1" dirty="0">
                <a:solidFill>
                  <a:srgbClr val="555960"/>
                </a:solidFill>
              </a:rPr>
              <a:t>The specification states the obligation. A model is how we find out whether the design meets it.</a:t>
            </a:r>
          </a:p>
        </p:txBody>
      </p:sp>
      <p:sp>
        <p:nvSpPr>
          <p:cNvPr id="120"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REQUIREMENT  →  SPECIFICATION  →  [ </a:t>
            </a:r>
            <a:r>
              <a:rPr lang="en-US" sz="2000" b="1" i="0" dirty="0">
                <a:solidFill>
                  <a:srgbClr val="FFFFFF"/>
                </a:solidFill>
              </a:rPr>
              <a:t>MODELING</a:t>
            </a:r>
            <a:r>
              <a:rPr lang="en-US" sz="1600" b="1" i="0" dirty="0">
                <a:solidFill>
                  <a:srgbClr val="FFFFFF"/>
                </a:solidFill>
              </a:rPr>
              <a:t> ]  →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fade">
                                      <p:cBhvr>
                                        <p:cTn id="7" dur="500"/>
                                        <p:tgtEl>
                                          <p:spTgt spid="112"/>
                                        </p:tgtEl>
                                      </p:cBhvr>
                                    </p:animEffect>
                                  </p:childTnLst>
                                </p:cTn>
                              </p:par>
                              <p:par>
                                <p:cTn id="8" presetID="10" presetClass="entr" presetSubtype="0" fill="hold" nodeType="withEffect">
                                  <p:stCondLst>
                                    <p:cond delay="0"/>
                                  </p:stCondLst>
                                  <p:childTnLst>
                                    <p:set>
                                      <p:cBhvr>
                                        <p:cTn id="9" dur="1" fill="hold">
                                          <p:stCondLst>
                                            <p:cond delay="0"/>
                                          </p:stCondLst>
                                        </p:cTn>
                                        <p:tgtEl>
                                          <p:spTgt spid="113"/>
                                        </p:tgtEl>
                                        <p:attrNameLst>
                                          <p:attrName>style.visibility</p:attrName>
                                        </p:attrNameLst>
                                      </p:cBhvr>
                                      <p:to>
                                        <p:strVal val="visible"/>
                                      </p:to>
                                    </p:set>
                                    <p:animEffect transition="in" filter="fade">
                                      <p:cBhvr>
                                        <p:cTn id="10" dur="500"/>
                                        <p:tgtEl>
                                          <p:spTgt spid="1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4"/>
                                        </p:tgtEl>
                                        <p:attrNameLst>
                                          <p:attrName>style.visibility</p:attrName>
                                        </p:attrNameLst>
                                      </p:cBhvr>
                                      <p:to>
                                        <p:strVal val="visible"/>
                                      </p:to>
                                    </p:set>
                                    <p:animEffect transition="in" filter="fade">
                                      <p:cBhvr>
                                        <p:cTn id="15" dur="500"/>
                                        <p:tgtEl>
                                          <p:spTgt spid="114"/>
                                        </p:tgtEl>
                                      </p:cBhvr>
                                    </p:animEffect>
                                  </p:childTnLst>
                                </p:cTn>
                              </p:par>
                              <p:par>
                                <p:cTn id="16" presetID="10" presetClass="entr" presetSubtype="0" fill="hold" nodeType="withEffect">
                                  <p:stCondLst>
                                    <p:cond delay="0"/>
                                  </p:stCondLst>
                                  <p:childTnLst>
                                    <p:set>
                                      <p:cBhvr>
                                        <p:cTn id="17" dur="1" fill="hold">
                                          <p:stCondLst>
                                            <p:cond delay="0"/>
                                          </p:stCondLst>
                                        </p:cTn>
                                        <p:tgtEl>
                                          <p:spTgt spid="115"/>
                                        </p:tgtEl>
                                        <p:attrNameLst>
                                          <p:attrName>style.visibility</p:attrName>
                                        </p:attrNameLst>
                                      </p:cBhvr>
                                      <p:to>
                                        <p:strVal val="visible"/>
                                      </p:to>
                                    </p:set>
                                    <p:animEffect transition="in" filter="fade">
                                      <p:cBhvr>
                                        <p:cTn id="18" dur="500"/>
                                        <p:tgtEl>
                                          <p:spTgt spid="115"/>
                                        </p:tgtEl>
                                      </p:cBhvr>
                                    </p:animEffect>
                                  </p:childTnLst>
                                </p:cTn>
                              </p:par>
                              <p:par>
                                <p:cTn id="19" presetID="10"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animEffect transition="in" filter="fade">
                                      <p:cBhvr>
                                        <p:cTn id="21" dur="500"/>
                                        <p:tgtEl>
                                          <p:spTgt spid="116"/>
                                        </p:tgtEl>
                                      </p:cBhvr>
                                    </p:animEffect>
                                  </p:childTnLst>
                                </p:cTn>
                              </p:par>
                              <p:par>
                                <p:cTn id="22" presetID="10" presetClass="entr" presetSubtype="0" fill="hold" nodeType="withEffect">
                                  <p:stCondLst>
                                    <p:cond delay="0"/>
                                  </p:stCondLst>
                                  <p:childTnLst>
                                    <p:set>
                                      <p:cBhvr>
                                        <p:cTn id="23" dur="1" fill="hold">
                                          <p:stCondLst>
                                            <p:cond delay="0"/>
                                          </p:stCondLst>
                                        </p:cTn>
                                        <p:tgtEl>
                                          <p:spTgt spid="117"/>
                                        </p:tgtEl>
                                        <p:attrNameLst>
                                          <p:attrName>style.visibility</p:attrName>
                                        </p:attrNameLst>
                                      </p:cBhvr>
                                      <p:to>
                                        <p:strVal val="visible"/>
                                      </p:to>
                                    </p:set>
                                    <p:animEffect transition="in" filter="fade">
                                      <p:cBhvr>
                                        <p:cTn id="24" dur="500"/>
                                        <p:tgtEl>
                                          <p:spTgt spid="117"/>
                                        </p:tgtEl>
                                      </p:cBhvr>
                                    </p:animEffect>
                                  </p:childTnLst>
                                </p:cTn>
                              </p:par>
                              <p:par>
                                <p:cTn id="25" presetID="10" presetClass="entr" presetSubtype="0" fill="hold" nodeType="withEffect">
                                  <p:stCondLst>
                                    <p:cond delay="0"/>
                                  </p:stCondLst>
                                  <p:childTnLst>
                                    <p:set>
                                      <p:cBhvr>
                                        <p:cTn id="26" dur="1" fill="hold">
                                          <p:stCondLst>
                                            <p:cond delay="0"/>
                                          </p:stCondLst>
                                        </p:cTn>
                                        <p:tgtEl>
                                          <p:spTgt spid="118"/>
                                        </p:tgtEl>
                                        <p:attrNameLst>
                                          <p:attrName>style.visibility</p:attrName>
                                        </p:attrNameLst>
                                      </p:cBhvr>
                                      <p:to>
                                        <p:strVal val="visible"/>
                                      </p:to>
                                    </p:set>
                                    <p:animEffect transition="in" filter="fade">
                                      <p:cBhvr>
                                        <p:cTn id="27" dur="500"/>
                                        <p:tgtEl>
                                          <p:spTgt spid="1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9"/>
                                        </p:tgtEl>
                                        <p:attrNameLst>
                                          <p:attrName>style.visibility</p:attrName>
                                        </p:attrNameLst>
                                      </p:cBhvr>
                                      <p:to>
                                        <p:strVal val="visible"/>
                                      </p:to>
                                    </p:set>
                                    <p:animEffect transition="in" filter="fade">
                                      <p:cBhvr>
                                        <p:cTn id="32" dur="5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0"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 xml:space="preserve">p(T,M,R,H)</a:t>
            </a:r>
          </a:p>
        </p:txBody>
      </p:sp>
      <p:sp>
        <p:nvSpPr>
          <p:cNvPr id="101"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0" dirty="0">
                <a:solidFill>
                  <a:srgbClr val="555960"/>
                </a:solidFill>
              </a:rPr>
              <a:t xml:space="preserve">Probability that one attempt produces an acceptable candidate</a:t>
            </a:r>
          </a:p>
        </p:txBody>
      </p:sp>
      <p:sp>
        <p:nvSpPr>
          <p:cNvPr id="102" name="Pivot"/>
          <p:cNvSpPr txBox="1"/>
          <p:nvPr/>
        </p:nvSpPr>
        <p:spPr>
          <a:xfrm>
            <a:off x="274320" y="3566160"/>
            <a:ext cx="859536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2000" b="1" i="0" dirty="0">
                <a:solidFill>
                  <a:srgbClr val="5C4826"/>
                </a:solidFill>
              </a:rPr>
              <a:t xml:space="preserve">But engineering does not maximize probability at any cost.</a:t>
            </a:r>
          </a:p>
        </p:txBody>
      </p:sp>
      <p:sp>
        <p:nvSpPr>
          <p:cNvPr id="103" name="Ask"/>
          <p:cNvSpPr txBox="1"/>
          <p:nvPr/>
        </p:nvSpPr>
        <p:spPr>
          <a:xfrm>
            <a:off x="274320" y="4663440"/>
            <a:ext cx="8595360" cy="91440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800" b="1" i="0" dirty="0">
                <a:solidFill>
                  <a:srgbClr val="8E6F3E"/>
                </a:solidFill>
              </a:rPr>
              <a:t xml:space="preserve">What does modeling cost? What does it buy?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fade">
                                      <p:cBhvr>
                                        <p:cTn id="7" dur="500"/>
                                        <p:tgtEl>
                                          <p:spTgt spid="10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3"/>
                                        </p:tgtEl>
                                        <p:attrNameLst>
                                          <p:attrName>style.visibility</p:attrName>
                                        </p:attrNameLst>
                                      </p:cBhvr>
                                      <p:to>
                                        <p:strVal val="visible"/>
                                      </p:to>
                                    </p:set>
                                    <p:animEffect transition="in" filter="fade">
                                      <p:cBhvr>
                                        <p:cTn id="12" dur="5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100" name="ScaffLbl"/>
          <p:cNvSpPr txBox="1"/>
          <p:nvPr/>
        </p:nvSpPr>
        <p:spPr>
          <a:xfrm>
            <a:off x="274320" y="880000"/>
            <a:ext cx="8595360" cy="23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 xml:space="preserve">MORE SCAFFOLDING →</a:t>
            </a:r>
          </a:p>
        </p:txBody>
      </p:sp>
      <p:sp>
        <p:nvSpPr>
          <p:cNvPr id="128" name="VerdBand"/>
          <p:cNvSpPr txBox="1"/>
          <p:nvPr/>
        </p:nvSpPr>
        <p:spPr>
          <a:xfrm>
            <a:off x="274320" y="3470000"/>
            <a:ext cx="8595360" cy="390000"/>
          </a:xfrm>
          <a:prstGeom prst="rect">
            <a:avLst/>
          </a:prstGeom>
          <a:solidFill>
            <a:srgbClr val="F5F1E8"/>
          </a:solidFill>
          <a:ln>
            <a:noFill/>
          </a:ln>
        </p:spPr>
        <p:txBody>
          <a:bodyPr wrap="square" lIns="0" tIns="0" rIns="0" bIns="0" anchor="ctr"/>
          <a:lstStyle/>
          <a:p>
            <a:pPr algn="ctr">
              <a:spcAft>
                <a:spcPts val="0"/>
              </a:spcAft>
              <a:buNone/>
            </a:pPr>
          </a:p>
        </p:txBody>
      </p:sp>
      <p:sp>
        <p:nvSpPr>
          <p:cNvPr id="110" name="Bar0"/>
          <p:cNvSpPr/>
          <p:nvPr/>
        </p:nvSpPr>
        <p:spPr>
          <a:xfrm>
            <a:off x="474320" y="2270000"/>
            <a:ext cx="674420" cy="110000"/>
          </a:xfrm>
          <a:prstGeom prst="rect">
            <a:avLst/>
          </a:prstGeom>
          <a:solidFill>
            <a:srgbClr val="C9B991"/>
          </a:solidFill>
          <a:ln w="9525">
            <a:solidFill>
              <a:srgbClr val="8E6F3E"/>
            </a:solidFill>
          </a:ln>
        </p:spPr>
        <p:txBody>
          <a:bodyPr/>
          <a:lstStyle/>
          <a:p/>
        </p:txBody>
      </p:sp>
      <p:sp>
        <p:nvSpPr>
          <p:cNvPr id="120" name="Name0"/>
          <p:cNvSpPr txBox="1"/>
          <p:nvPr/>
        </p:nvSpPr>
        <p:spPr>
          <a:xfrm>
            <a:off x="27432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senior</a:t>
            </a:r>
            <a:br>
              <a:rPr lang="en-US" sz="1200" b="1" i="0"/>
            </a:br>
            <a:r>
              <a:rPr lang="en-US" sz="1200" b="1" i="0" dirty="0">
                <a:solidFill>
                  <a:srgbClr val="5C4826"/>
                </a:solidFill>
              </a:rPr>
              <a:t xml:space="preserve">engineer</a:t>
            </a:r>
          </a:p>
        </p:txBody>
      </p:sp>
      <p:sp>
        <p:nvSpPr>
          <p:cNvPr id="130" name="Verd0"/>
          <p:cNvSpPr txBox="1"/>
          <p:nvPr/>
        </p:nvSpPr>
        <p:spPr>
          <a:xfrm>
            <a:off x="27432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 xml:space="preserve">✓</a:t>
            </a:r>
          </a:p>
        </p:txBody>
      </p:sp>
      <p:sp>
        <p:nvSpPr>
          <p:cNvPr id="111" name="Bar1"/>
          <p:cNvSpPr/>
          <p:nvPr/>
        </p:nvSpPr>
        <p:spPr>
          <a:xfrm>
            <a:off x="1548740" y="2115000"/>
            <a:ext cx="674420" cy="265000"/>
          </a:xfrm>
          <a:prstGeom prst="rect">
            <a:avLst/>
          </a:prstGeom>
          <a:solidFill>
            <a:srgbClr val="C9B991"/>
          </a:solidFill>
          <a:ln w="9525">
            <a:solidFill>
              <a:srgbClr val="8E6F3E"/>
            </a:solidFill>
          </a:ln>
        </p:spPr>
        <p:txBody>
          <a:bodyPr/>
          <a:lstStyle/>
          <a:p/>
        </p:txBody>
      </p:sp>
      <p:sp>
        <p:nvSpPr>
          <p:cNvPr id="121" name="Name1"/>
          <p:cNvSpPr txBox="1"/>
          <p:nvPr/>
        </p:nvSpPr>
        <p:spPr>
          <a:xfrm>
            <a:off x="134874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junior</a:t>
            </a:r>
            <a:br>
              <a:rPr lang="en-US" sz="1200" b="1" i="0"/>
            </a:br>
            <a:r>
              <a:rPr lang="en-US" sz="1200" b="1" i="0" dirty="0">
                <a:solidFill>
                  <a:srgbClr val="5C4826"/>
                </a:solidFill>
              </a:rPr>
              <a:t xml:space="preserve">engineer</a:t>
            </a:r>
          </a:p>
        </p:txBody>
      </p:sp>
      <p:sp>
        <p:nvSpPr>
          <p:cNvPr id="131" name="Verd1"/>
          <p:cNvSpPr txBox="1"/>
          <p:nvPr/>
        </p:nvSpPr>
        <p:spPr>
          <a:xfrm>
            <a:off x="134874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 xml:space="preserve">✓</a:t>
            </a:r>
          </a:p>
        </p:txBody>
      </p:sp>
      <p:sp>
        <p:nvSpPr>
          <p:cNvPr id="112" name="Bar2"/>
          <p:cNvSpPr/>
          <p:nvPr/>
        </p:nvSpPr>
        <p:spPr>
          <a:xfrm>
            <a:off x="2623160" y="1960000"/>
            <a:ext cx="674420" cy="420000"/>
          </a:xfrm>
          <a:prstGeom prst="rect">
            <a:avLst/>
          </a:prstGeom>
          <a:solidFill>
            <a:srgbClr val="C9B991"/>
          </a:solidFill>
          <a:ln w="9525">
            <a:solidFill>
              <a:srgbClr val="8E6F3E"/>
            </a:solidFill>
          </a:ln>
        </p:spPr>
        <p:txBody>
          <a:bodyPr/>
          <a:lstStyle/>
          <a:p/>
        </p:txBody>
      </p:sp>
      <p:sp>
        <p:nvSpPr>
          <p:cNvPr id="122" name="Name2"/>
          <p:cNvSpPr txBox="1"/>
          <p:nvPr/>
        </p:nvSpPr>
        <p:spPr>
          <a:xfrm>
            <a:off x="242316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Purdue</a:t>
            </a:r>
            <a:br>
              <a:rPr lang="en-US" sz="1200" b="1" i="0"/>
            </a:br>
            <a:r>
              <a:rPr lang="en-US" sz="1200" b="1" i="0" dirty="0">
                <a:solidFill>
                  <a:srgbClr val="5C4826"/>
                </a:solidFill>
              </a:rPr>
              <a:t xml:space="preserve">intern</a:t>
            </a:r>
          </a:p>
        </p:txBody>
      </p:sp>
      <p:sp>
        <p:nvSpPr>
          <p:cNvPr id="132" name="Verd2"/>
          <p:cNvSpPr txBox="1"/>
          <p:nvPr/>
        </p:nvSpPr>
        <p:spPr>
          <a:xfrm>
            <a:off x="242316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 xml:space="preserve">✓</a:t>
            </a:r>
          </a:p>
        </p:txBody>
      </p:sp>
      <p:sp>
        <p:nvSpPr>
          <p:cNvPr id="113" name="Bar3"/>
          <p:cNvSpPr/>
          <p:nvPr/>
        </p:nvSpPr>
        <p:spPr>
          <a:xfrm>
            <a:off x="3697580" y="1805000"/>
            <a:ext cx="674420" cy="575000"/>
          </a:xfrm>
          <a:prstGeom prst="rect">
            <a:avLst/>
          </a:prstGeom>
          <a:solidFill>
            <a:srgbClr val="C9B991"/>
          </a:solidFill>
          <a:ln w="9525">
            <a:solidFill>
              <a:srgbClr val="8E6F3E"/>
            </a:solidFill>
          </a:ln>
        </p:spPr>
        <p:txBody>
          <a:bodyPr/>
          <a:lstStyle/>
          <a:p/>
        </p:txBody>
      </p:sp>
      <p:sp>
        <p:nvSpPr>
          <p:cNvPr id="123" name="Name3"/>
          <p:cNvSpPr txBox="1"/>
          <p:nvPr/>
        </p:nvSpPr>
        <p:spPr>
          <a:xfrm>
            <a:off x="349758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IU</a:t>
            </a:r>
            <a:br>
              <a:rPr lang="en-US" sz="1200" b="1" i="0"/>
            </a:br>
            <a:r>
              <a:rPr lang="en-US" sz="1200" b="1" i="0" dirty="0">
                <a:solidFill>
                  <a:srgbClr val="5C4826"/>
                </a:solidFill>
              </a:rPr>
              <a:t xml:space="preserve">intern</a:t>
            </a:r>
          </a:p>
        </p:txBody>
      </p:sp>
      <p:sp>
        <p:nvSpPr>
          <p:cNvPr id="133" name="Verd3"/>
          <p:cNvSpPr txBox="1"/>
          <p:nvPr/>
        </p:nvSpPr>
        <p:spPr>
          <a:xfrm>
            <a:off x="349758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4" name="Bar4"/>
          <p:cNvSpPr/>
          <p:nvPr/>
        </p:nvSpPr>
        <p:spPr>
          <a:xfrm>
            <a:off x="4772000" y="1650000"/>
            <a:ext cx="674420" cy="730000"/>
          </a:xfrm>
          <a:prstGeom prst="rect">
            <a:avLst/>
          </a:prstGeom>
          <a:solidFill>
            <a:srgbClr val="C9B991"/>
          </a:solidFill>
          <a:ln w="9525">
            <a:solidFill>
              <a:srgbClr val="8E6F3E"/>
            </a:solidFill>
          </a:ln>
        </p:spPr>
        <p:txBody>
          <a:bodyPr/>
          <a:lstStyle/>
          <a:p/>
        </p:txBody>
      </p:sp>
      <p:sp>
        <p:nvSpPr>
          <p:cNvPr id="124" name="Name4"/>
          <p:cNvSpPr txBox="1"/>
          <p:nvPr/>
        </p:nvSpPr>
        <p:spPr>
          <a:xfrm>
            <a:off x="457200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high-school</a:t>
            </a:r>
            <a:br>
              <a:rPr lang="en-US" sz="1200" b="1" i="0"/>
            </a:br>
            <a:r>
              <a:rPr lang="en-US" sz="1200" b="1" i="0" dirty="0">
                <a:solidFill>
                  <a:srgbClr val="5C4826"/>
                </a:solidFill>
              </a:rPr>
              <a:t xml:space="preserve">intern</a:t>
            </a:r>
          </a:p>
        </p:txBody>
      </p:sp>
      <p:sp>
        <p:nvSpPr>
          <p:cNvPr id="134" name="Verd4"/>
          <p:cNvSpPr txBox="1"/>
          <p:nvPr/>
        </p:nvSpPr>
        <p:spPr>
          <a:xfrm>
            <a:off x="457200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5" name="Bar5"/>
          <p:cNvSpPr/>
          <p:nvPr/>
        </p:nvSpPr>
        <p:spPr>
          <a:xfrm>
            <a:off x="5846420" y="1495000"/>
            <a:ext cx="674420" cy="885000"/>
          </a:xfrm>
          <a:prstGeom prst="rect">
            <a:avLst/>
          </a:prstGeom>
          <a:solidFill>
            <a:srgbClr val="C9B991"/>
          </a:solidFill>
          <a:ln w="9525">
            <a:solidFill>
              <a:srgbClr val="8E6F3E"/>
            </a:solidFill>
          </a:ln>
        </p:spPr>
        <p:txBody>
          <a:bodyPr/>
          <a:lstStyle/>
          <a:p/>
        </p:txBody>
      </p:sp>
      <p:sp>
        <p:nvSpPr>
          <p:cNvPr id="125" name="Name5"/>
          <p:cNvSpPr txBox="1"/>
          <p:nvPr/>
        </p:nvSpPr>
        <p:spPr>
          <a:xfrm>
            <a:off x="564642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10 babies</a:t>
            </a:r>
          </a:p>
        </p:txBody>
      </p:sp>
      <p:sp>
        <p:nvSpPr>
          <p:cNvPr id="135" name="Verd5"/>
          <p:cNvSpPr txBox="1"/>
          <p:nvPr/>
        </p:nvSpPr>
        <p:spPr>
          <a:xfrm>
            <a:off x="564642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6" name="Bar6"/>
          <p:cNvSpPr/>
          <p:nvPr/>
        </p:nvSpPr>
        <p:spPr>
          <a:xfrm>
            <a:off x="6920840" y="1340000"/>
            <a:ext cx="674420" cy="1040000"/>
          </a:xfrm>
          <a:prstGeom prst="rect">
            <a:avLst/>
          </a:prstGeom>
          <a:solidFill>
            <a:srgbClr val="C9B991"/>
          </a:solidFill>
          <a:ln w="9525">
            <a:solidFill>
              <a:srgbClr val="8E6F3E"/>
            </a:solidFill>
          </a:ln>
        </p:spPr>
        <p:txBody>
          <a:bodyPr/>
          <a:lstStyle/>
          <a:p/>
        </p:txBody>
      </p:sp>
      <p:sp>
        <p:nvSpPr>
          <p:cNvPr id="126" name="Name6"/>
          <p:cNvSpPr txBox="1"/>
          <p:nvPr/>
        </p:nvSpPr>
        <p:spPr>
          <a:xfrm>
            <a:off x="672084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1,000</a:t>
            </a:r>
            <a:br>
              <a:rPr lang="en-US" sz="1200" b="1" i="0"/>
            </a:br>
            <a:r>
              <a:rPr lang="en-US" sz="1200" b="1" i="0" dirty="0">
                <a:solidFill>
                  <a:srgbClr val="5C4826"/>
                </a:solidFill>
              </a:rPr>
              <a:t xml:space="preserve">monkeys</a:t>
            </a:r>
          </a:p>
        </p:txBody>
      </p:sp>
      <p:sp>
        <p:nvSpPr>
          <p:cNvPr id="136" name="Verd6"/>
          <p:cNvSpPr txBox="1"/>
          <p:nvPr/>
        </p:nvSpPr>
        <p:spPr>
          <a:xfrm>
            <a:off x="672084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7" name="Bar7"/>
          <p:cNvSpPr/>
          <p:nvPr/>
        </p:nvSpPr>
        <p:spPr>
          <a:xfrm>
            <a:off x="7995260" y="1185000"/>
            <a:ext cx="674420" cy="1195000"/>
          </a:xfrm>
          <a:prstGeom prst="rect">
            <a:avLst/>
          </a:prstGeom>
          <a:solidFill>
            <a:srgbClr val="C9B991"/>
          </a:solidFill>
          <a:ln w="9525">
            <a:solidFill>
              <a:srgbClr val="8E6F3E"/>
            </a:solidFill>
          </a:ln>
        </p:spPr>
        <p:txBody>
          <a:bodyPr/>
          <a:lstStyle/>
          <a:p/>
        </p:txBody>
      </p:sp>
      <p:sp>
        <p:nvSpPr>
          <p:cNvPr id="127" name="Name7"/>
          <p:cNvSpPr txBox="1"/>
          <p:nvPr/>
        </p:nvSpPr>
        <p:spPr>
          <a:xfrm>
            <a:off x="779526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waves hitting</a:t>
            </a:r>
            <a:br>
              <a:rPr lang="en-US" sz="1200" b="1" i="0"/>
            </a:br>
            <a:r>
              <a:rPr lang="en-US" sz="1200" b="1" i="0" dirty="0">
                <a:solidFill>
                  <a:srgbClr val="5C4826"/>
                </a:solidFill>
              </a:rPr>
              <a:t xml:space="preserve">a rock</a:t>
            </a:r>
            <a:br>
              <a:rPr lang="en-US" sz="1200" b="1" i="0"/>
            </a:br>
            <a:r>
              <a:rPr lang="en-US" sz="1200" b="1" i="0" dirty="0">
                <a:solidFill>
                  <a:srgbClr val="5C4826"/>
                </a:solidFill>
              </a:rPr>
              <a:t xml:space="preserve">connected to</a:t>
            </a:r>
            <a:br>
              <a:rPr lang="en-US" sz="1200" b="1" i="0"/>
            </a:br>
            <a:r>
              <a:rPr lang="en-US" sz="1200" b="1" i="0" dirty="0">
                <a:solidFill>
                  <a:srgbClr val="5C4826"/>
                </a:solidFill>
              </a:rPr>
              <a:t xml:space="preserve">a keyboard</a:t>
            </a:r>
          </a:p>
        </p:txBody>
      </p:sp>
      <p:sp>
        <p:nvSpPr>
          <p:cNvPr id="137" name="Verd7"/>
          <p:cNvSpPr txBox="1"/>
          <p:nvPr/>
        </p:nvSpPr>
        <p:spPr>
          <a:xfrm>
            <a:off x="779526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40" name="Annot0"/>
          <p:cNvSpPr txBox="1"/>
          <p:nvPr/>
        </p:nvSpPr>
        <p:spPr>
          <a:xfrm>
            <a:off x="27432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give them</a:t>
            </a:r>
            <a:br>
              <a:rPr lang="en-US" sz="1100" b="0" i="1"/>
            </a:br>
            <a:r>
              <a:rPr lang="en-US" sz="1100" b="0" i="1" dirty="0">
                <a:solidFill>
                  <a:srgbClr val="5C4826"/>
                </a:solidFill>
              </a:rPr>
              <a:t xml:space="preserve">the model</a:t>
            </a:r>
          </a:p>
        </p:txBody>
      </p:sp>
      <p:sp>
        <p:nvSpPr>
          <p:cNvPr id="141" name="Annot1"/>
          <p:cNvSpPr txBox="1"/>
          <p:nvPr/>
        </p:nvSpPr>
        <p:spPr>
          <a:xfrm>
            <a:off x="134874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maybe add</a:t>
            </a:r>
            <a:br>
              <a:rPr lang="en-US" sz="1100" b="0" i="1"/>
            </a:br>
            <a:r>
              <a:rPr lang="en-US" sz="1100" b="0" i="1" dirty="0">
                <a:solidFill>
                  <a:srgbClr val="5C4826"/>
                </a:solidFill>
              </a:rPr>
              <a:t xml:space="preserve">some context</a:t>
            </a:r>
          </a:p>
        </p:txBody>
      </p:sp>
      <p:sp>
        <p:nvSpPr>
          <p:cNvPr id="142" name="Annot2"/>
          <p:cNvSpPr txBox="1"/>
          <p:nvPr/>
        </p:nvSpPr>
        <p:spPr>
          <a:xfrm>
            <a:off x="242316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add examples</a:t>
            </a:r>
            <a:br>
              <a:rPr lang="en-US" sz="1100" b="0" i="1"/>
            </a:br>
            <a:r>
              <a:rPr lang="en-US" sz="1100" b="0" i="1" dirty="0">
                <a:solidFill>
                  <a:srgbClr val="5C4826"/>
                </a:solidFill>
              </a:rPr>
              <a:t xml:space="preserve">and constraints</a:t>
            </a:r>
          </a:p>
        </p:txBody>
      </p:sp>
      <p:sp>
        <p:nvSpPr>
          <p:cNvPr id="143" name="Annot3"/>
          <p:cNvSpPr txBox="1"/>
          <p:nvPr/>
        </p:nvSpPr>
        <p:spPr>
          <a:xfrm>
            <a:off x="349758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add more</a:t>
            </a:r>
            <a:br>
              <a:rPr lang="en-US" sz="1100" b="0" i="1"/>
            </a:br>
            <a:r>
              <a:rPr lang="en-US" sz="1100" b="0" i="1" dirty="0">
                <a:solidFill>
                  <a:srgbClr val="5C4826"/>
                </a:solidFill>
              </a:rPr>
              <a:t xml:space="preserve">examples and</a:t>
            </a:r>
            <a:br>
              <a:rPr lang="en-US" sz="1100" b="0" i="1"/>
            </a:br>
            <a:r>
              <a:rPr lang="en-US" sz="1100" b="0" i="1" dirty="0">
                <a:solidFill>
                  <a:srgbClr val="5C4826"/>
                </a:solidFill>
              </a:rPr>
              <a:t xml:space="preserve">constraints</a:t>
            </a:r>
          </a:p>
        </p:txBody>
      </p:sp>
      <p:sp>
        <p:nvSpPr>
          <p:cNvPr id="150" name="Line1"/>
          <p:cNvSpPr txBox="1"/>
          <p:nvPr/>
        </p:nvSpPr>
        <p:spPr>
          <a:xfrm>
            <a:off x="274320" y="4830000"/>
            <a:ext cx="8595360" cy="5600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2000" b="1" i="0" dirty="0">
                <a:solidFill>
                  <a:srgbClr val="5C4826"/>
                </a:solidFill>
              </a:rPr>
              <a:t xml:space="preserve">More scaffolding can compensate for less capability — only up to a point.</a:t>
            </a:r>
          </a:p>
        </p:txBody>
      </p:sp>
      <p:sp>
        <p:nvSpPr>
          <p:cNvPr id="151" name="Line2"/>
          <p:cNvSpPr txBox="1"/>
          <p:nvPr/>
        </p:nvSpPr>
        <p:spPr>
          <a:xfrm>
            <a:off x="274320" y="5560000"/>
            <a:ext cx="8595360" cy="70000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800" b="1" i="0" dirty="0">
                <a:solidFill>
                  <a:srgbClr val="8E6F3E"/>
                </a:solidFill>
              </a:rPr>
              <a:t xml:space="preserve">Scaffolding does not create capability.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par>
                                <p:cTn id="11" presetID="10" presetClass="entr" presetSubtype="0" fill="hold" nodeType="withEffect">
                                  <p:stCondLst>
                                    <p:cond delay="0"/>
                                  </p:stCondLst>
                                  <p:childTnLst>
                                    <p:set>
                                      <p:cBhvr>
                                        <p:cTn id="12" dur="1" fill="hold">
                                          <p:stCondLst>
                                            <p:cond delay="0"/>
                                          </p:stCondLst>
                                        </p:cTn>
                                        <p:tgtEl>
                                          <p:spTgt spid="130"/>
                                        </p:tgtEl>
                                        <p:attrNameLst>
                                          <p:attrName>style.visibility</p:attrName>
                                        </p:attrNameLst>
                                      </p:cBhvr>
                                      <p:to>
                                        <p:strVal val="visible"/>
                                      </p:to>
                                    </p:set>
                                    <p:animEffect transition="in" filter="fade">
                                      <p:cBhvr>
                                        <p:cTn id="13" dur="500"/>
                                        <p:tgtEl>
                                          <p:spTgt spid="130"/>
                                        </p:tgtEl>
                                      </p:cBhvr>
                                    </p:animEffect>
                                  </p:childTnLst>
                                </p:cTn>
                              </p:par>
                              <p:par>
                                <p:cTn id="14" presetID="10" presetClass="entr" presetSubtype="0" fill="hold" nodeType="withEffect">
                                  <p:stCondLst>
                                    <p:cond delay="0"/>
                                  </p:stCondLst>
                                  <p:childTnLst>
                                    <p:set>
                                      <p:cBhvr>
                                        <p:cTn id="15" dur="1" fill="hold">
                                          <p:stCondLst>
                                            <p:cond delay="0"/>
                                          </p:stCondLst>
                                        </p:cTn>
                                        <p:tgtEl>
                                          <p:spTgt spid="140"/>
                                        </p:tgtEl>
                                        <p:attrNameLst>
                                          <p:attrName>style.visibility</p:attrName>
                                        </p:attrNameLst>
                                      </p:cBhvr>
                                      <p:to>
                                        <p:strVal val="visible"/>
                                      </p:to>
                                    </p:set>
                                    <p:animEffect transition="in" filter="fade">
                                      <p:cBhvr>
                                        <p:cTn id="16" dur="500"/>
                                        <p:tgtEl>
                                          <p:spTgt spid="14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11"/>
                                        </p:tgtEl>
                                        <p:attrNameLst>
                                          <p:attrName>style.visibility</p:attrName>
                                        </p:attrNameLst>
                                      </p:cBhvr>
                                      <p:to>
                                        <p:strVal val="visible"/>
                                      </p:to>
                                    </p:set>
                                    <p:animEffect transition="in" filter="fade">
                                      <p:cBhvr>
                                        <p:cTn id="21" dur="500"/>
                                        <p:tgtEl>
                                          <p:spTgt spid="111"/>
                                        </p:tgtEl>
                                      </p:cBhvr>
                                    </p:animEffect>
                                  </p:childTnLst>
                                </p:cTn>
                              </p:par>
                              <p:par>
                                <p:cTn id="22" presetID="10" presetClass="entr" presetSubtype="0" fill="hold"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500"/>
                                        <p:tgtEl>
                                          <p:spTgt spid="121"/>
                                        </p:tgtEl>
                                      </p:cBhvr>
                                    </p:animEffect>
                                  </p:childTnLst>
                                </p:cTn>
                              </p:par>
                              <p:par>
                                <p:cTn id="25" presetID="10" presetClass="entr" presetSubtype="0" fill="hold" nodeType="withEffect">
                                  <p:stCondLst>
                                    <p:cond delay="0"/>
                                  </p:stCondLst>
                                  <p:childTnLst>
                                    <p:set>
                                      <p:cBhvr>
                                        <p:cTn id="26" dur="1" fill="hold">
                                          <p:stCondLst>
                                            <p:cond delay="0"/>
                                          </p:stCondLst>
                                        </p:cTn>
                                        <p:tgtEl>
                                          <p:spTgt spid="131"/>
                                        </p:tgtEl>
                                        <p:attrNameLst>
                                          <p:attrName>style.visibility</p:attrName>
                                        </p:attrNameLst>
                                      </p:cBhvr>
                                      <p:to>
                                        <p:strVal val="visible"/>
                                      </p:to>
                                    </p:set>
                                    <p:animEffect transition="in" filter="fade">
                                      <p:cBhvr>
                                        <p:cTn id="27" dur="500"/>
                                        <p:tgtEl>
                                          <p:spTgt spid="131"/>
                                        </p:tgtEl>
                                      </p:cBhvr>
                                    </p:animEffect>
                                  </p:childTnLst>
                                </p:cTn>
                              </p:par>
                              <p:par>
                                <p:cTn id="28" presetID="10" presetClass="entr" presetSubtype="0" fill="hold" nodeType="withEffect">
                                  <p:stCondLst>
                                    <p:cond delay="0"/>
                                  </p:stCondLst>
                                  <p:childTnLst>
                                    <p:set>
                                      <p:cBhvr>
                                        <p:cTn id="29" dur="1" fill="hold">
                                          <p:stCondLst>
                                            <p:cond delay="0"/>
                                          </p:stCondLst>
                                        </p:cTn>
                                        <p:tgtEl>
                                          <p:spTgt spid="141"/>
                                        </p:tgtEl>
                                        <p:attrNameLst>
                                          <p:attrName>style.visibility</p:attrName>
                                        </p:attrNameLst>
                                      </p:cBhvr>
                                      <p:to>
                                        <p:strVal val="visible"/>
                                      </p:to>
                                    </p:set>
                                    <p:animEffect transition="in" filter="fade">
                                      <p:cBhvr>
                                        <p:cTn id="30" dur="500"/>
                                        <p:tgtEl>
                                          <p:spTgt spid="14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12"/>
                                        </p:tgtEl>
                                        <p:attrNameLst>
                                          <p:attrName>style.visibility</p:attrName>
                                        </p:attrNameLst>
                                      </p:cBhvr>
                                      <p:to>
                                        <p:strVal val="visible"/>
                                      </p:to>
                                    </p:set>
                                    <p:animEffect transition="in" filter="fade">
                                      <p:cBhvr>
                                        <p:cTn id="35" dur="500"/>
                                        <p:tgtEl>
                                          <p:spTgt spid="112"/>
                                        </p:tgtEl>
                                      </p:cBhvr>
                                    </p:animEffect>
                                  </p:childTnLst>
                                </p:cTn>
                              </p:par>
                              <p:par>
                                <p:cTn id="36" presetID="10" presetClass="entr" presetSubtype="0" fill="hold" nodeType="withEffect">
                                  <p:stCondLst>
                                    <p:cond delay="0"/>
                                  </p:stCondLst>
                                  <p:childTnLst>
                                    <p:set>
                                      <p:cBhvr>
                                        <p:cTn id="37" dur="1" fill="hold">
                                          <p:stCondLst>
                                            <p:cond delay="0"/>
                                          </p:stCondLst>
                                        </p:cTn>
                                        <p:tgtEl>
                                          <p:spTgt spid="122"/>
                                        </p:tgtEl>
                                        <p:attrNameLst>
                                          <p:attrName>style.visibility</p:attrName>
                                        </p:attrNameLst>
                                      </p:cBhvr>
                                      <p:to>
                                        <p:strVal val="visible"/>
                                      </p:to>
                                    </p:set>
                                    <p:animEffect transition="in" filter="fade">
                                      <p:cBhvr>
                                        <p:cTn id="38" dur="500"/>
                                        <p:tgtEl>
                                          <p:spTgt spid="122"/>
                                        </p:tgtEl>
                                      </p:cBhvr>
                                    </p:animEffect>
                                  </p:childTnLst>
                                </p:cTn>
                              </p:par>
                              <p:par>
                                <p:cTn id="39" presetID="10" presetClass="entr" presetSubtype="0" fill="hold" nodeType="withEffect">
                                  <p:stCondLst>
                                    <p:cond delay="0"/>
                                  </p:stCondLst>
                                  <p:childTnLst>
                                    <p:set>
                                      <p:cBhvr>
                                        <p:cTn id="40" dur="1" fill="hold">
                                          <p:stCondLst>
                                            <p:cond delay="0"/>
                                          </p:stCondLst>
                                        </p:cTn>
                                        <p:tgtEl>
                                          <p:spTgt spid="132"/>
                                        </p:tgtEl>
                                        <p:attrNameLst>
                                          <p:attrName>style.visibility</p:attrName>
                                        </p:attrNameLst>
                                      </p:cBhvr>
                                      <p:to>
                                        <p:strVal val="visible"/>
                                      </p:to>
                                    </p:set>
                                    <p:animEffect transition="in" filter="fade">
                                      <p:cBhvr>
                                        <p:cTn id="41" dur="500"/>
                                        <p:tgtEl>
                                          <p:spTgt spid="132"/>
                                        </p:tgtEl>
                                      </p:cBhvr>
                                    </p:animEffect>
                                  </p:childTnLst>
                                </p:cTn>
                              </p:par>
                              <p:par>
                                <p:cTn id="42" presetID="10" presetClass="entr" presetSubtype="0" fill="hold" nodeType="withEffect">
                                  <p:stCondLst>
                                    <p:cond delay="0"/>
                                  </p:stCondLst>
                                  <p:childTnLst>
                                    <p:set>
                                      <p:cBhvr>
                                        <p:cTn id="43" dur="1" fill="hold">
                                          <p:stCondLst>
                                            <p:cond delay="0"/>
                                          </p:stCondLst>
                                        </p:cTn>
                                        <p:tgtEl>
                                          <p:spTgt spid="142"/>
                                        </p:tgtEl>
                                        <p:attrNameLst>
                                          <p:attrName>style.visibility</p:attrName>
                                        </p:attrNameLst>
                                      </p:cBhvr>
                                      <p:to>
                                        <p:strVal val="visible"/>
                                      </p:to>
                                    </p:set>
                                    <p:animEffect transition="in" filter="fade">
                                      <p:cBhvr>
                                        <p:cTn id="44" dur="500"/>
                                        <p:tgtEl>
                                          <p:spTgt spid="142"/>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13"/>
                                        </p:tgtEl>
                                        <p:attrNameLst>
                                          <p:attrName>style.visibility</p:attrName>
                                        </p:attrNameLst>
                                      </p:cBhvr>
                                      <p:to>
                                        <p:strVal val="visible"/>
                                      </p:to>
                                    </p:set>
                                    <p:animEffect transition="in" filter="fade">
                                      <p:cBhvr>
                                        <p:cTn id="49" dur="500"/>
                                        <p:tgtEl>
                                          <p:spTgt spid="113"/>
                                        </p:tgtEl>
                                      </p:cBhvr>
                                    </p:animEffect>
                                  </p:childTnLst>
                                </p:cTn>
                              </p:par>
                              <p:par>
                                <p:cTn id="50" presetID="10" presetClass="entr" presetSubtype="0" fill="hold" nodeType="withEffect">
                                  <p:stCondLst>
                                    <p:cond delay="0"/>
                                  </p:stCondLst>
                                  <p:childTnLst>
                                    <p:set>
                                      <p:cBhvr>
                                        <p:cTn id="51" dur="1" fill="hold">
                                          <p:stCondLst>
                                            <p:cond delay="0"/>
                                          </p:stCondLst>
                                        </p:cTn>
                                        <p:tgtEl>
                                          <p:spTgt spid="123"/>
                                        </p:tgtEl>
                                        <p:attrNameLst>
                                          <p:attrName>style.visibility</p:attrName>
                                        </p:attrNameLst>
                                      </p:cBhvr>
                                      <p:to>
                                        <p:strVal val="visible"/>
                                      </p:to>
                                    </p:set>
                                    <p:animEffect transition="in" filter="fade">
                                      <p:cBhvr>
                                        <p:cTn id="52" dur="500"/>
                                        <p:tgtEl>
                                          <p:spTgt spid="123"/>
                                        </p:tgtEl>
                                      </p:cBhvr>
                                    </p:animEffect>
                                  </p:childTnLst>
                                </p:cTn>
                              </p:par>
                              <p:par>
                                <p:cTn id="53" presetID="10" presetClass="entr" presetSubtype="0" fill="hold" nodeType="withEffect">
                                  <p:stCondLst>
                                    <p:cond delay="0"/>
                                  </p:stCondLst>
                                  <p:childTnLst>
                                    <p:set>
                                      <p:cBhvr>
                                        <p:cTn id="54" dur="1" fill="hold">
                                          <p:stCondLst>
                                            <p:cond delay="0"/>
                                          </p:stCondLst>
                                        </p:cTn>
                                        <p:tgtEl>
                                          <p:spTgt spid="133"/>
                                        </p:tgtEl>
                                        <p:attrNameLst>
                                          <p:attrName>style.visibility</p:attrName>
                                        </p:attrNameLst>
                                      </p:cBhvr>
                                      <p:to>
                                        <p:strVal val="visible"/>
                                      </p:to>
                                    </p:set>
                                    <p:animEffect transition="in" filter="fade">
                                      <p:cBhvr>
                                        <p:cTn id="55" dur="500"/>
                                        <p:tgtEl>
                                          <p:spTgt spid="133"/>
                                        </p:tgtEl>
                                      </p:cBhvr>
                                    </p:animEffect>
                                  </p:childTnLst>
                                </p:cTn>
                              </p:par>
                              <p:par>
                                <p:cTn id="56" presetID="10" presetClass="entr" presetSubtype="0" fill="hold" nodeType="withEffect">
                                  <p:stCondLst>
                                    <p:cond delay="0"/>
                                  </p:stCondLst>
                                  <p:childTnLst>
                                    <p:set>
                                      <p:cBhvr>
                                        <p:cTn id="57" dur="1" fill="hold">
                                          <p:stCondLst>
                                            <p:cond delay="0"/>
                                          </p:stCondLst>
                                        </p:cTn>
                                        <p:tgtEl>
                                          <p:spTgt spid="143"/>
                                        </p:tgtEl>
                                        <p:attrNameLst>
                                          <p:attrName>style.visibility</p:attrName>
                                        </p:attrNameLst>
                                      </p:cBhvr>
                                      <p:to>
                                        <p:strVal val="visible"/>
                                      </p:to>
                                    </p:set>
                                    <p:animEffect transition="in" filter="fade">
                                      <p:cBhvr>
                                        <p:cTn id="58" dur="500"/>
                                        <p:tgtEl>
                                          <p:spTgt spid="143"/>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14"/>
                                        </p:tgtEl>
                                        <p:attrNameLst>
                                          <p:attrName>style.visibility</p:attrName>
                                        </p:attrNameLst>
                                      </p:cBhvr>
                                      <p:to>
                                        <p:strVal val="visible"/>
                                      </p:to>
                                    </p:set>
                                    <p:animEffect transition="in" filter="fade">
                                      <p:cBhvr>
                                        <p:cTn id="63" dur="500"/>
                                        <p:tgtEl>
                                          <p:spTgt spid="114"/>
                                        </p:tgtEl>
                                      </p:cBhvr>
                                    </p:animEffect>
                                  </p:childTnLst>
                                </p:cTn>
                              </p:par>
                              <p:par>
                                <p:cTn id="64" presetID="10" presetClass="entr" presetSubtype="0" fill="hold" nodeType="withEffect">
                                  <p:stCondLst>
                                    <p:cond delay="0"/>
                                  </p:stCondLst>
                                  <p:childTnLst>
                                    <p:set>
                                      <p:cBhvr>
                                        <p:cTn id="65" dur="1" fill="hold">
                                          <p:stCondLst>
                                            <p:cond delay="0"/>
                                          </p:stCondLst>
                                        </p:cTn>
                                        <p:tgtEl>
                                          <p:spTgt spid="124"/>
                                        </p:tgtEl>
                                        <p:attrNameLst>
                                          <p:attrName>style.visibility</p:attrName>
                                        </p:attrNameLst>
                                      </p:cBhvr>
                                      <p:to>
                                        <p:strVal val="visible"/>
                                      </p:to>
                                    </p:set>
                                    <p:animEffect transition="in" filter="fade">
                                      <p:cBhvr>
                                        <p:cTn id="66" dur="500"/>
                                        <p:tgtEl>
                                          <p:spTgt spid="124"/>
                                        </p:tgtEl>
                                      </p:cBhvr>
                                    </p:animEffect>
                                  </p:childTnLst>
                                </p:cTn>
                              </p:par>
                              <p:par>
                                <p:cTn id="67" presetID="10" presetClass="entr" presetSubtype="0" fill="hold" nodeType="withEffect">
                                  <p:stCondLst>
                                    <p:cond delay="0"/>
                                  </p:stCondLst>
                                  <p:childTnLst>
                                    <p:set>
                                      <p:cBhvr>
                                        <p:cTn id="68" dur="1" fill="hold">
                                          <p:stCondLst>
                                            <p:cond delay="0"/>
                                          </p:stCondLst>
                                        </p:cTn>
                                        <p:tgtEl>
                                          <p:spTgt spid="134"/>
                                        </p:tgtEl>
                                        <p:attrNameLst>
                                          <p:attrName>style.visibility</p:attrName>
                                        </p:attrNameLst>
                                      </p:cBhvr>
                                      <p:to>
                                        <p:strVal val="visible"/>
                                      </p:to>
                                    </p:set>
                                    <p:animEffect transition="in" filter="fade">
                                      <p:cBhvr>
                                        <p:cTn id="69" dur="500"/>
                                        <p:tgtEl>
                                          <p:spTgt spid="13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115"/>
                                        </p:tgtEl>
                                        <p:attrNameLst>
                                          <p:attrName>style.visibility</p:attrName>
                                        </p:attrNameLst>
                                      </p:cBhvr>
                                      <p:to>
                                        <p:strVal val="visible"/>
                                      </p:to>
                                    </p:set>
                                    <p:animEffect transition="in" filter="fade">
                                      <p:cBhvr>
                                        <p:cTn id="74" dur="500"/>
                                        <p:tgtEl>
                                          <p:spTgt spid="115"/>
                                        </p:tgtEl>
                                      </p:cBhvr>
                                    </p:animEffect>
                                  </p:childTnLst>
                                </p:cTn>
                              </p:par>
                              <p:par>
                                <p:cTn id="75" presetID="10" presetClass="entr" presetSubtype="0" fill="hold" nodeType="withEffect">
                                  <p:stCondLst>
                                    <p:cond delay="0"/>
                                  </p:stCondLst>
                                  <p:childTnLst>
                                    <p:set>
                                      <p:cBhvr>
                                        <p:cTn id="76" dur="1" fill="hold">
                                          <p:stCondLst>
                                            <p:cond delay="0"/>
                                          </p:stCondLst>
                                        </p:cTn>
                                        <p:tgtEl>
                                          <p:spTgt spid="125"/>
                                        </p:tgtEl>
                                        <p:attrNameLst>
                                          <p:attrName>style.visibility</p:attrName>
                                        </p:attrNameLst>
                                      </p:cBhvr>
                                      <p:to>
                                        <p:strVal val="visible"/>
                                      </p:to>
                                    </p:set>
                                    <p:animEffect transition="in" filter="fade">
                                      <p:cBhvr>
                                        <p:cTn id="77" dur="500"/>
                                        <p:tgtEl>
                                          <p:spTgt spid="125"/>
                                        </p:tgtEl>
                                      </p:cBhvr>
                                    </p:animEffect>
                                  </p:childTnLst>
                                </p:cTn>
                              </p:par>
                              <p:par>
                                <p:cTn id="78" presetID="10" presetClass="entr" presetSubtype="0" fill="hold" nodeType="withEffect">
                                  <p:stCondLst>
                                    <p:cond delay="0"/>
                                  </p:stCondLst>
                                  <p:childTnLst>
                                    <p:set>
                                      <p:cBhvr>
                                        <p:cTn id="79" dur="1" fill="hold">
                                          <p:stCondLst>
                                            <p:cond delay="0"/>
                                          </p:stCondLst>
                                        </p:cTn>
                                        <p:tgtEl>
                                          <p:spTgt spid="135"/>
                                        </p:tgtEl>
                                        <p:attrNameLst>
                                          <p:attrName>style.visibility</p:attrName>
                                        </p:attrNameLst>
                                      </p:cBhvr>
                                      <p:to>
                                        <p:strVal val="visible"/>
                                      </p:to>
                                    </p:set>
                                    <p:animEffect transition="in" filter="fade">
                                      <p:cBhvr>
                                        <p:cTn id="80" dur="500"/>
                                        <p:tgtEl>
                                          <p:spTgt spid="135"/>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nodeType="clickEffect">
                                  <p:stCondLst>
                                    <p:cond delay="0"/>
                                  </p:stCondLst>
                                  <p:childTnLst>
                                    <p:set>
                                      <p:cBhvr>
                                        <p:cTn id="84" dur="1" fill="hold">
                                          <p:stCondLst>
                                            <p:cond delay="0"/>
                                          </p:stCondLst>
                                        </p:cTn>
                                        <p:tgtEl>
                                          <p:spTgt spid="116"/>
                                        </p:tgtEl>
                                        <p:attrNameLst>
                                          <p:attrName>style.visibility</p:attrName>
                                        </p:attrNameLst>
                                      </p:cBhvr>
                                      <p:to>
                                        <p:strVal val="visible"/>
                                      </p:to>
                                    </p:set>
                                    <p:animEffect transition="in" filter="fade">
                                      <p:cBhvr>
                                        <p:cTn id="85" dur="500"/>
                                        <p:tgtEl>
                                          <p:spTgt spid="116"/>
                                        </p:tgtEl>
                                      </p:cBhvr>
                                    </p:animEffect>
                                  </p:childTnLst>
                                </p:cTn>
                              </p:par>
                              <p:par>
                                <p:cTn id="86" presetID="10" presetClass="entr" presetSubtype="0" fill="hold" nodeType="withEffect">
                                  <p:stCondLst>
                                    <p:cond delay="0"/>
                                  </p:stCondLst>
                                  <p:childTnLst>
                                    <p:set>
                                      <p:cBhvr>
                                        <p:cTn id="87" dur="1" fill="hold">
                                          <p:stCondLst>
                                            <p:cond delay="0"/>
                                          </p:stCondLst>
                                        </p:cTn>
                                        <p:tgtEl>
                                          <p:spTgt spid="126"/>
                                        </p:tgtEl>
                                        <p:attrNameLst>
                                          <p:attrName>style.visibility</p:attrName>
                                        </p:attrNameLst>
                                      </p:cBhvr>
                                      <p:to>
                                        <p:strVal val="visible"/>
                                      </p:to>
                                    </p:set>
                                    <p:animEffect transition="in" filter="fade">
                                      <p:cBhvr>
                                        <p:cTn id="88" dur="500"/>
                                        <p:tgtEl>
                                          <p:spTgt spid="126"/>
                                        </p:tgtEl>
                                      </p:cBhvr>
                                    </p:animEffect>
                                  </p:childTnLst>
                                </p:cTn>
                              </p:par>
                              <p:par>
                                <p:cTn id="89" presetID="10" presetClass="entr" presetSubtype="0" fill="hold" nodeType="withEffect">
                                  <p:stCondLst>
                                    <p:cond delay="0"/>
                                  </p:stCondLst>
                                  <p:childTnLst>
                                    <p:set>
                                      <p:cBhvr>
                                        <p:cTn id="90" dur="1" fill="hold">
                                          <p:stCondLst>
                                            <p:cond delay="0"/>
                                          </p:stCondLst>
                                        </p:cTn>
                                        <p:tgtEl>
                                          <p:spTgt spid="136"/>
                                        </p:tgtEl>
                                        <p:attrNameLst>
                                          <p:attrName>style.visibility</p:attrName>
                                        </p:attrNameLst>
                                      </p:cBhvr>
                                      <p:to>
                                        <p:strVal val="visible"/>
                                      </p:to>
                                    </p:set>
                                    <p:animEffect transition="in" filter="fade">
                                      <p:cBhvr>
                                        <p:cTn id="91" dur="500"/>
                                        <p:tgtEl>
                                          <p:spTgt spid="136"/>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nodeType="clickEffect">
                                  <p:stCondLst>
                                    <p:cond delay="0"/>
                                  </p:stCondLst>
                                  <p:childTnLst>
                                    <p:set>
                                      <p:cBhvr>
                                        <p:cTn id="95" dur="1" fill="hold">
                                          <p:stCondLst>
                                            <p:cond delay="0"/>
                                          </p:stCondLst>
                                        </p:cTn>
                                        <p:tgtEl>
                                          <p:spTgt spid="117"/>
                                        </p:tgtEl>
                                        <p:attrNameLst>
                                          <p:attrName>style.visibility</p:attrName>
                                        </p:attrNameLst>
                                      </p:cBhvr>
                                      <p:to>
                                        <p:strVal val="visible"/>
                                      </p:to>
                                    </p:set>
                                    <p:animEffect transition="in" filter="fade">
                                      <p:cBhvr>
                                        <p:cTn id="96" dur="500"/>
                                        <p:tgtEl>
                                          <p:spTgt spid="117"/>
                                        </p:tgtEl>
                                      </p:cBhvr>
                                    </p:animEffect>
                                  </p:childTnLst>
                                </p:cTn>
                              </p:par>
                              <p:par>
                                <p:cTn id="97" presetID="10" presetClass="entr" presetSubtype="0" fill="hold" nodeType="withEffect">
                                  <p:stCondLst>
                                    <p:cond delay="0"/>
                                  </p:stCondLst>
                                  <p:childTnLst>
                                    <p:set>
                                      <p:cBhvr>
                                        <p:cTn id="98" dur="1" fill="hold">
                                          <p:stCondLst>
                                            <p:cond delay="0"/>
                                          </p:stCondLst>
                                        </p:cTn>
                                        <p:tgtEl>
                                          <p:spTgt spid="127"/>
                                        </p:tgtEl>
                                        <p:attrNameLst>
                                          <p:attrName>style.visibility</p:attrName>
                                        </p:attrNameLst>
                                      </p:cBhvr>
                                      <p:to>
                                        <p:strVal val="visible"/>
                                      </p:to>
                                    </p:set>
                                    <p:animEffect transition="in" filter="fade">
                                      <p:cBhvr>
                                        <p:cTn id="99" dur="500"/>
                                        <p:tgtEl>
                                          <p:spTgt spid="127"/>
                                        </p:tgtEl>
                                      </p:cBhvr>
                                    </p:animEffect>
                                  </p:childTnLst>
                                </p:cTn>
                              </p:par>
                              <p:par>
                                <p:cTn id="100" presetID="10" presetClass="entr" presetSubtype="0" fill="hold" nodeType="withEffect">
                                  <p:stCondLst>
                                    <p:cond delay="0"/>
                                  </p:stCondLst>
                                  <p:childTnLst>
                                    <p:set>
                                      <p:cBhvr>
                                        <p:cTn id="101" dur="1" fill="hold">
                                          <p:stCondLst>
                                            <p:cond delay="0"/>
                                          </p:stCondLst>
                                        </p:cTn>
                                        <p:tgtEl>
                                          <p:spTgt spid="137"/>
                                        </p:tgtEl>
                                        <p:attrNameLst>
                                          <p:attrName>style.visibility</p:attrName>
                                        </p:attrNameLst>
                                      </p:cBhvr>
                                      <p:to>
                                        <p:strVal val="visible"/>
                                      </p:to>
                                    </p:set>
                                    <p:animEffect transition="in" filter="fade">
                                      <p:cBhvr>
                                        <p:cTn id="102" dur="500"/>
                                        <p:tgtEl>
                                          <p:spTgt spid="137"/>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nodeType="clickEffect">
                                  <p:stCondLst>
                                    <p:cond delay="0"/>
                                  </p:stCondLst>
                                  <p:childTnLst>
                                    <p:set>
                                      <p:cBhvr>
                                        <p:cTn id="106" dur="1" fill="hold">
                                          <p:stCondLst>
                                            <p:cond delay="0"/>
                                          </p:stCondLst>
                                        </p:cTn>
                                        <p:tgtEl>
                                          <p:spTgt spid="150"/>
                                        </p:tgtEl>
                                        <p:attrNameLst>
                                          <p:attrName>style.visibility</p:attrName>
                                        </p:attrNameLst>
                                      </p:cBhvr>
                                      <p:to>
                                        <p:strVal val="visible"/>
                                      </p:to>
                                    </p:set>
                                    <p:animEffect transition="in" filter="fade">
                                      <p:cBhvr>
                                        <p:cTn id="107" dur="500"/>
                                        <p:tgtEl>
                                          <p:spTgt spid="150"/>
                                        </p:tgtEl>
                                      </p:cBhvr>
                                    </p:animEffect>
                                  </p:childTnLst>
                                </p:cTn>
                              </p:par>
                            </p:childTnLst>
                          </p:cTn>
                        </p:par>
                      </p:childTnLst>
                    </p:cTn>
                  </p:par>
                  <p:par>
                    <p:cTn id="108" fill="hold">
                      <p:stCondLst>
                        <p:cond delay="indefinite"/>
                      </p:stCondLst>
                      <p:childTnLst>
                        <p:par>
                          <p:cTn id="109" fill="hold">
                            <p:stCondLst>
                              <p:cond delay="0"/>
                            </p:stCondLst>
                            <p:childTnLst>
                              <p:par>
                                <p:cTn id="110" presetID="10" presetClass="entr" presetSubtype="0" fill="hold" nodeType="clickEffect">
                                  <p:stCondLst>
                                    <p:cond delay="0"/>
                                  </p:stCondLst>
                                  <p:childTnLst>
                                    <p:set>
                                      <p:cBhvr>
                                        <p:cTn id="111" dur="1" fill="hold">
                                          <p:stCondLst>
                                            <p:cond delay="0"/>
                                          </p:stCondLst>
                                        </p:cTn>
                                        <p:tgtEl>
                                          <p:spTgt spid="151"/>
                                        </p:tgtEl>
                                        <p:attrNameLst>
                                          <p:attrName>style.visibility</p:attrName>
                                        </p:attrNameLst>
                                      </p:cBhvr>
                                      <p:to>
                                        <p:strVal val="visible"/>
                                      </p:to>
                                    </p:set>
                                    <p:animEffect transition="in" filter="fade">
                                      <p:cBhvr>
                                        <p:cTn id="112" dur="500"/>
                                        <p:tgtEl>
                                          <p:spTgt spid="1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0" name="Tier1"/>
          <p:cNvSpPr txBox="1"/>
          <p:nvPr/>
        </p:nvSpPr>
        <p:spPr>
          <a:xfrm>
            <a:off x="274320" y="1230000"/>
            <a:ext cx="8595360" cy="600000"/>
          </a:xfrm>
          <a:prstGeom prst="rect">
            <a:avLst/>
          </a:prstGeom>
          <a:noFill/>
          <a:ln>
            <a:noFill/>
          </a:ln>
        </p:spPr>
        <p:txBody>
          <a:bodyPr wrap="square" lIns="0" tIns="0" rIns="0" bIns="0" anchor="ctr"/>
          <a:lstStyle/>
          <a:p>
            <a:pPr algn="ctr">
              <a:spcAft>
                <a:spcPts val="0"/>
              </a:spcAft>
              <a:buNone/>
            </a:pPr>
            <a:r>
              <a:rPr lang="en-US" sz="3600" b="1" i="0" dirty="0">
                <a:solidFill>
                  <a:srgbClr val="5C4826"/>
                </a:solidFill>
              </a:rPr>
              <a:t xml:space="preserve">$0.01–$1 of inference</a:t>
            </a:r>
          </a:p>
        </p:txBody>
      </p:sp>
      <p:sp>
        <p:nvSpPr>
          <p:cNvPr id="101" name="Arrow1"/>
          <p:cNvSpPr/>
          <p:nvPr/>
        </p:nvSpPr>
        <p:spPr>
          <a:xfrm>
            <a:off x="4452000" y="1880000"/>
            <a:ext cx="240000" cy="400000"/>
          </a:xfrm>
          <a:prstGeom prst="downArrow">
            <a:avLst/>
          </a:prstGeom>
          <a:solidFill>
            <a:srgbClr val="8E6F3E"/>
          </a:solidFill>
          <a:ln>
            <a:noFill/>
          </a:ln>
        </p:spPr>
        <p:txBody>
          <a:bodyPr/>
          <a:lstStyle/>
          <a:p/>
        </p:txBody>
      </p:sp>
      <p:sp>
        <p:nvSpPr>
          <p:cNvPr id="102" name="Tier2"/>
          <p:cNvSpPr txBox="1"/>
          <p:nvPr/>
        </p:nvSpPr>
        <p:spPr>
          <a:xfrm>
            <a:off x="1143000" y="2340000"/>
            <a:ext cx="6858000" cy="900000"/>
          </a:xfrm>
          <a:prstGeom prst="rect">
            <a:avLst/>
          </a:prstGeom>
          <a:noFill/>
          <a:ln>
            <a:noFill/>
          </a:ln>
        </p:spPr>
        <p:txBody>
          <a:bodyPr wrap="square" lIns="0" tIns="0" rIns="0" bIns="0" anchor="ctr"/>
          <a:lstStyle/>
          <a:p>
            <a:pPr algn="ctr">
              <a:spcAft>
                <a:spcPts val="0"/>
              </a:spcAft>
              <a:buNone/>
            </a:pPr>
            <a:r>
              <a:rPr lang="en-US" sz="2400" b="0" i="0" dirty="0">
                <a:solidFill>
                  <a:srgbClr val="5C4826"/>
                </a:solidFill>
              </a:rPr>
              <a:t xml:space="preserve">a foundation model trained on an enormous corpus of human-produced code and technical knowledge</a:t>
            </a:r>
          </a:p>
        </p:txBody>
      </p:sp>
      <p:sp>
        <p:nvSpPr>
          <p:cNvPr id="103" name="Arrow2"/>
          <p:cNvSpPr/>
          <p:nvPr/>
        </p:nvSpPr>
        <p:spPr>
          <a:xfrm>
            <a:off x="4452000" y="3300000"/>
            <a:ext cx="240000" cy="400000"/>
          </a:xfrm>
          <a:prstGeom prst="downArrow">
            <a:avLst/>
          </a:prstGeom>
          <a:solidFill>
            <a:srgbClr val="8E6F3E"/>
          </a:solidFill>
          <a:ln>
            <a:noFill/>
          </a:ln>
        </p:spPr>
        <p:txBody>
          <a:bodyPr/>
          <a:lstStyle/>
          <a:p/>
        </p:txBody>
      </p:sp>
      <p:sp>
        <p:nvSpPr>
          <p:cNvPr id="104" name="Tier3"/>
          <p:cNvSpPr txBox="1"/>
          <p:nvPr/>
        </p:nvSpPr>
        <p:spPr>
          <a:xfrm>
            <a:off x="274320" y="3750000"/>
            <a:ext cx="8595360" cy="600000"/>
          </a:xfrm>
          <a:prstGeom prst="rect">
            <a:avLst/>
          </a:prstGeom>
          <a:noFill/>
          <a:ln>
            <a:noFill/>
          </a:ln>
        </p:spPr>
        <p:txBody>
          <a:bodyPr wrap="square" lIns="0" tIns="0" rIns="0" bIns="0" anchor="ctr"/>
          <a:lstStyle/>
          <a:p>
            <a:pPr algn="ctr">
              <a:spcAft>
                <a:spcPts val="0"/>
              </a:spcAft>
              <a:buNone/>
            </a:pPr>
            <a:r>
              <a:rPr lang="en-US" sz="3600" b="1" i="0" dirty="0">
                <a:solidFill>
                  <a:srgbClr val="5C4826"/>
                </a:solidFill>
              </a:rPr>
              <a:t xml:space="preserve">working implementation?</a:t>
            </a:r>
          </a:p>
        </p:txBody>
      </p:sp>
      <p:sp>
        <p:nvSpPr>
          <p:cNvPr id="105" name="Seems"/>
          <p:cNvSpPr txBox="1"/>
          <p:nvPr/>
        </p:nvSpPr>
        <p:spPr>
          <a:xfrm>
            <a:off x="274320" y="4880000"/>
            <a:ext cx="8595360" cy="430000"/>
          </a:xfrm>
          <a:prstGeom prst="rect">
            <a:avLst/>
          </a:prstGeom>
          <a:noFill/>
          <a:ln>
            <a:noFill/>
          </a:ln>
        </p:spPr>
        <p:txBody>
          <a:bodyPr wrap="square" lIns="0" tIns="0" rIns="0" bIns="0" anchor="ctr"/>
          <a:lstStyle/>
          <a:p>
            <a:pPr algn="ctr">
              <a:spcAft>
                <a:spcPts val="0"/>
              </a:spcAft>
              <a:buNone/>
            </a:pPr>
            <a:r>
              <a:rPr lang="en-US" sz="2400" b="0" i="1" dirty="0">
                <a:solidFill>
                  <a:srgbClr val="5C4826"/>
                </a:solidFill>
              </a:rPr>
              <a:t xml:space="preserve">It sure seems like this should work.</a:t>
            </a:r>
          </a:p>
        </p:txBody>
      </p:sp>
      <p:sp>
        <p:nvSpPr>
          <p:cNvPr id="106" name="Ask"/>
          <p:cNvSpPr txBox="1"/>
          <p:nvPr/>
        </p:nvSpPr>
        <p:spPr>
          <a:xfrm>
            <a:off x="274320" y="5570000"/>
            <a:ext cx="8595360" cy="650000"/>
          </a:xfrm>
          <a:prstGeom prst="rect">
            <a:avLst/>
          </a:prstGeom>
          <a:noFill/>
          <a:ln>
            <a:noFill/>
          </a:ln>
        </p:spPr>
        <p:txBody>
          <a:bodyPr wrap="square" lIns="0" tIns="0" rIns="0" bIns="0" anchor="ctr"/>
          <a:lstStyle/>
          <a:p>
            <a:pPr algn="ctr">
              <a:spcAft>
                <a:spcPts val="0"/>
              </a:spcAft>
              <a:buNone/>
            </a:pPr>
            <a:r>
              <a:rPr lang="en-US" sz="3600" b="1" i="0" dirty="0">
                <a:solidFill>
                  <a:srgbClr val="8E6F3E"/>
                </a:solidFill>
              </a:rPr>
              <a:t xml:space="preserve">How little do we have to specify?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5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animEffect transition="in" filter="fade">
                                      <p:cBhvr>
                                        <p:cTn id="15" dur="500"/>
                                        <p:tgtEl>
                                          <p:spTgt spid="103"/>
                                        </p:tgtEl>
                                      </p:cBhvr>
                                    </p:animEffect>
                                  </p:childTnLst>
                                </p:cTn>
                              </p:par>
                              <p:par>
                                <p:cTn id="16" presetID="10" presetClass="entr" presetSubtype="0" fill="hold" nodeType="withEffect">
                                  <p:stCondLst>
                                    <p:cond delay="0"/>
                                  </p:stCondLst>
                                  <p:childTnLst>
                                    <p:set>
                                      <p:cBhvr>
                                        <p:cTn id="17" dur="1" fill="hold">
                                          <p:stCondLst>
                                            <p:cond delay="0"/>
                                          </p:stCondLst>
                                        </p:cTn>
                                        <p:tgtEl>
                                          <p:spTgt spid="104"/>
                                        </p:tgtEl>
                                        <p:attrNameLst>
                                          <p:attrName>style.visibility</p:attrName>
                                        </p:attrNameLst>
                                      </p:cBhvr>
                                      <p:to>
                                        <p:strVal val="visible"/>
                                      </p:to>
                                    </p:set>
                                    <p:animEffect transition="in" filter="fade">
                                      <p:cBhvr>
                                        <p:cTn id="18" dur="500"/>
                                        <p:tgtEl>
                                          <p:spTgt spid="10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05"/>
                                        </p:tgtEl>
                                        <p:attrNameLst>
                                          <p:attrName>style.visibility</p:attrName>
                                        </p:attrNameLst>
                                      </p:cBhvr>
                                      <p:to>
                                        <p:strVal val="visible"/>
                                      </p:to>
                                    </p:set>
                                    <p:animEffect transition="in" filter="fade">
                                      <p:cBhvr>
                                        <p:cTn id="23" dur="500"/>
                                        <p:tgtEl>
                                          <p:spTgt spid="105"/>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HdrLeft"/>
          <p:cNvSpPr txBox="1"/>
          <p:nvPr/>
        </p:nvSpPr>
        <p:spPr>
          <a:xfrm>
            <a:off x="274320" y="1965000"/>
            <a:ext cx="2300000" cy="27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 xml:space="preserve">WHAT MUST BE TRUE</a:t>
            </a:r>
          </a:p>
        </p:txBody>
      </p:sp>
      <p:sp>
        <p:nvSpPr>
          <p:cNvPr id="101" name="BoxLeft"/>
          <p:cNvSpPr txBox="1"/>
          <p:nvPr/>
        </p:nvSpPr>
        <p:spPr>
          <a:xfrm>
            <a:off x="274320" y="2285000"/>
            <a:ext cx="2300000" cy="1150000"/>
          </a:xfrm>
          <a:prstGeom prst="rect">
            <a:avLst/>
          </a:prstGeom>
          <a:solidFill>
            <a:srgbClr val="FBF8F2"/>
          </a:solidFill>
          <a:ln w="19050">
            <a:solidFill>
              <a:srgbClr val="8E6F3E"/>
            </a:solidFill>
          </a:ln>
        </p:spPr>
        <p:txBody>
          <a:bodyPr wrap="square" lIns="91440" tIns="45720" rIns="91440" bIns="45720" anchor="ctr"/>
          <a:lstStyle/>
          <a:p>
            <a:pPr algn="ctr">
              <a:spcAft>
                <a:spcPts val="600"/>
              </a:spcAft>
              <a:buNone/>
            </a:pPr>
            <a:r>
              <a:rPr lang="en-US" sz="1600" b="1" i="0" dirty="0">
                <a:solidFill>
                  <a:srgbClr val="5C4826"/>
                </a:solidFill>
              </a:rPr>
              <a:t xml:space="preserve">PRODUCT MODEL</a:t>
            </a:r>
          </a:p>
          <a:p>
            <a:pPr algn="ctr">
              <a:spcAft>
                <a:spcPts val="0"/>
              </a:spcAft>
              <a:buNone/>
            </a:pPr>
            <a:r>
              <a:rPr lang="en-US" sz="1300" b="0" i="0" dirty="0">
                <a:solidFill>
                  <a:srgbClr val="555960"/>
                </a:solidFill>
              </a:rPr>
              <a:t xml:space="preserve">obligations</a:t>
            </a:r>
          </a:p>
          <a:p>
            <a:pPr algn="ctr">
              <a:spcAft>
                <a:spcPts val="0"/>
              </a:spcAft>
              <a:buNone/>
            </a:pPr>
            <a:r>
              <a:rPr lang="en-US" sz="1300" b="0" i="0" dirty="0">
                <a:solidFill>
                  <a:srgbClr val="555960"/>
                </a:solidFill>
              </a:rPr>
              <a:t xml:space="preserve">key distinctions</a:t>
            </a:r>
          </a:p>
        </p:txBody>
      </p:sp>
      <p:sp>
        <p:nvSpPr>
          <p:cNvPr id="102" name="HdrRight"/>
          <p:cNvSpPr txBox="1"/>
          <p:nvPr/>
        </p:nvSpPr>
        <p:spPr>
          <a:xfrm>
            <a:off x="4400000" y="1300000"/>
            <a:ext cx="4469680" cy="27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 xml:space="preserve">IMPLEMENTATION</a:t>
            </a:r>
          </a:p>
        </p:txBody>
      </p:sp>
      <p:sp>
        <p:nvSpPr>
          <p:cNvPr id="103" name="BoxRight"/>
          <p:cNvSpPr txBox="1"/>
          <p:nvPr/>
        </p:nvSpPr>
        <p:spPr>
          <a:xfrm>
            <a:off x="4400000" y="1620000"/>
            <a:ext cx="4469680" cy="2480000"/>
          </a:xfrm>
          <a:prstGeom prst="rect">
            <a:avLst/>
          </a:prstGeom>
          <a:solidFill>
            <a:srgbClr val="F5F1E8"/>
          </a:solidFill>
          <a:ln w="12700">
            <a:solidFill>
              <a:srgbClr val="C9B991"/>
            </a:solidFill>
          </a:ln>
        </p:spPr>
        <p:txBody>
          <a:bodyPr wrap="square" lIns="91440" tIns="45720" rIns="91440" bIns="45720" anchor="ctr"/>
          <a:lstStyle/>
          <a:p>
            <a:pPr algn="ctr">
              <a:spcAft>
                <a:spcPts val="800"/>
              </a:spcAft>
              <a:buNone/>
            </a:pPr>
            <a:r>
              <a:rPr lang="en-US" sz="2000" b="1" i="0" dirty="0">
                <a:solidFill>
                  <a:srgbClr val="5C4826"/>
                </a:solidFill>
              </a:rPr>
              <a:t xml:space="preserve">WORKING SOFTWARE</a:t>
            </a:r>
          </a:p>
          <a:p>
            <a:pPr algn="ctr">
              <a:spcAft>
                <a:spcPts val="0"/>
              </a:spcAft>
              <a:buNone/>
            </a:pPr>
            <a:r>
              <a:rPr lang="en-US" sz="1400" b="0" i="0" dirty="0">
                <a:solidFill>
                  <a:srgbClr val="555960"/>
                </a:solidFill>
              </a:rPr>
              <a:t xml:space="preserve">many realization choices</a:t>
            </a:r>
          </a:p>
        </p:txBody>
      </p:sp>
      <p:sp>
        <p:nvSpPr>
          <p:cNvPr id="104" name="AgentLbl"/>
          <p:cNvSpPr txBox="1"/>
          <p:nvPr/>
        </p:nvSpPr>
        <p:spPr>
          <a:xfrm>
            <a:off x="2620000" y="2420000"/>
            <a:ext cx="1620000" cy="300000"/>
          </a:xfrm>
          <a:prstGeom prst="rect">
            <a:avLst/>
          </a:prstGeom>
          <a:noFill/>
          <a:ln>
            <a:noFill/>
          </a:ln>
        </p:spPr>
        <p:txBody>
          <a:bodyPr wrap="square" lIns="0" tIns="0" rIns="0" bIns="0" anchor="ctr"/>
          <a:lstStyle/>
          <a:p>
            <a:pPr algn="ctr">
              <a:spcAft>
                <a:spcPts val="0"/>
              </a:spcAft>
              <a:buNone/>
            </a:pPr>
            <a:r>
              <a:rPr lang="en-US" sz="1400" b="1" i="0" dirty="0">
                <a:solidFill>
                  <a:srgbClr val="8E6F3E"/>
                </a:solidFill>
              </a:rPr>
              <a:t xml:space="preserve">AGENT</a:t>
            </a:r>
          </a:p>
        </p:txBody>
      </p:sp>
      <p:sp>
        <p:nvSpPr>
          <p:cNvPr id="105" name="AgentArrow"/>
          <p:cNvSpPr/>
          <p:nvPr/>
        </p:nvSpPr>
        <p:spPr>
          <a:xfrm>
            <a:off x="2620000" y="2770000"/>
            <a:ext cx="1740000" cy="180000"/>
          </a:xfrm>
          <a:prstGeom prst="rightArrow">
            <a:avLst/>
          </a:prstGeom>
          <a:solidFill>
            <a:srgbClr val="8E6F3E"/>
          </a:solidFill>
          <a:ln>
            <a:noFill/>
          </a:ln>
        </p:spPr>
        <p:txBody>
          <a:bodyPr/>
          <a:lstStyle/>
          <a:p/>
        </p:txBody>
      </p:sp>
      <p:sp>
        <p:nvSpPr>
          <p:cNvPr id="106" name="Line1"/>
          <p:cNvSpPr txBox="1"/>
          <p:nvPr/>
        </p:nvSpPr>
        <p:spPr>
          <a:xfrm>
            <a:off x="274320" y="4440000"/>
            <a:ext cx="8595360" cy="90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600" b="1" i="0" dirty="0">
                <a:solidFill>
                  <a:srgbClr val="8E6F3E"/>
                </a:solidFill>
              </a:rPr>
              <a:t xml:space="preserve">If implementation is cheap, perhaps we only need to model what matters.</a:t>
            </a:r>
          </a:p>
        </p:txBody>
      </p:sp>
      <p:sp>
        <p:nvSpPr>
          <p:cNvPr id="107" name="Line2"/>
          <p:cNvSpPr txBox="1"/>
          <p:nvPr/>
        </p:nvSpPr>
        <p:spPr>
          <a:xfrm>
            <a:off x="274320" y="5540000"/>
            <a:ext cx="8595360" cy="600000"/>
          </a:xfrm>
          <a:prstGeom prst="rect">
            <a:avLst/>
          </a:prstGeom>
          <a:noFill/>
          <a:ln>
            <a:noFill/>
          </a:ln>
        </p:spPr>
        <p:txBody>
          <a:bodyPr wrap="square" lIns="0" tIns="0" rIns="0" bIns="0" anchor="ctr"/>
          <a:lstStyle/>
          <a:p>
            <a:pPr algn="ctr">
              <a:spcAft>
                <a:spcPts val="0"/>
              </a:spcAft>
              <a:buNone/>
            </a:pPr>
            <a:r>
              <a:rPr lang="en-US" sz="2000" b="0" i="1" dirty="0">
                <a:solidFill>
                  <a:srgbClr val="5C4826"/>
                </a:solidFill>
              </a:rPr>
              <a:t xml:space="preserve">The agent can supply the realization choices we deliberately left free.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6"/>
                                        </p:tgtEl>
                                        <p:attrNameLst>
                                          <p:attrName>style.visibility</p:attrName>
                                        </p:attrNameLst>
                                      </p:cBhvr>
                                      <p:to>
                                        <p:strVal val="visible"/>
                                      </p:to>
                                    </p:set>
                                    <p:animEffect transition="in" filter="fade">
                                      <p:cBhvr>
                                        <p:cTn id="7" dur="500"/>
                                        <p:tgtEl>
                                          <p:spTgt spid="10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7"/>
                                        </p:tgtEl>
                                        <p:attrNameLst>
                                          <p:attrName>style.visibility</p:attrName>
                                        </p:attrNameLst>
                                      </p:cBhvr>
                                      <p:to>
                                        <p:strVal val="visible"/>
                                      </p:to>
                                    </p:set>
                                    <p:animEffect transition="in" filter="fade">
                                      <p:cBhvr>
                                        <p:cTn id="12" dur="500"/>
                                        <p:tgtEl>
                                          <p:spTgt spid="1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
        <p:nvSpPr>
          <p:cNvPr id="100" name="Kicker"/>
          <p:cNvSpPr txBox="1"/>
          <p:nvPr/>
        </p:nvSpPr>
        <p:spPr>
          <a:xfrm>
            <a:off x="365760" y="1097280"/>
            <a:ext cx="8412480" cy="340000"/>
          </a:xfrm>
          <a:prstGeom prst="rect">
            <a:avLst/>
          </a:prstGeom>
          <a:noFill/>
          <a:ln>
            <a:noFill/>
          </a:ln>
        </p:spPr>
        <p:txBody>
          <a:bodyPr wrap="square" lIns="18288" tIns="18288" rIns="18288" bIns="18288" anchor="t"/>
          <a:lstStyle/>
          <a:p>
            <a:pPr algn="l">
              <a:spcAft>
                <a:spcPts val="0"/>
              </a:spcAft>
              <a:buNone/>
            </a:pPr>
            <a:r>
              <a:rPr lang="en-US" sz="1300" b="1" i="0" dirty="0">
                <a:solidFill>
                  <a:srgbClr val="8E6F3E"/>
                </a:solidFill>
              </a:rPr>
              <a:t xml:space="preserve">ONLY BECAUSE IT KEEPS CHOOSING BADLY — NOT A LIST OF THINGS THAT MUST BE SPECIFIED</a:t>
            </a:r>
          </a:p>
        </p:txBody>
      </p:sp>
      <p:sp>
        <p:nvSpPr>
          <p:cNvPr id="101" name="ModelHdr"/>
          <p:cNvSpPr txBox="1"/>
          <p:nvPr/>
        </p:nvSpPr>
        <p:spPr>
          <a:xfrm>
            <a:off x="365760" y="1430000"/>
            <a:ext cx="3350000" cy="270000"/>
          </a:xfrm>
          <a:prstGeom prst="rect">
            <a:avLst/>
          </a:prstGeom>
          <a:noFill/>
          <a:ln>
            <a:noFill/>
          </a:ln>
        </p:spPr>
        <p:txBody>
          <a:bodyPr wrap="square" lIns="0" tIns="0" rIns="0" bIns="0" anchor="t"/>
          <a:lstStyle/>
          <a:p>
            <a:pPr algn="ctr">
              <a:spcAft>
                <a:spcPts val="0"/>
              </a:spcAft>
              <a:buNone/>
            </a:pPr>
            <a:r>
              <a:rPr lang="en-US" sz="1200" b="1" i="0" dirty="0">
                <a:solidFill>
                  <a:srgbClr val="8E6F3E"/>
                </a:solidFill>
              </a:rPr>
              <a:t xml:space="preserve">MODEL</a:t>
            </a:r>
          </a:p>
        </p:txBody>
      </p:sp>
      <p:sp>
        <p:nvSpPr>
          <p:cNvPr id="102" name="SchemaBox"/>
          <p:cNvSpPr txBox="1"/>
          <p:nvPr/>
        </p:nvSpPr>
        <p:spPr>
          <a:xfrm>
            <a:off x="852040" y="1940000"/>
            <a:ext cx="2377440" cy="1005840"/>
          </a:xfrm>
          <a:prstGeom prst="rect">
            <a:avLst/>
          </a:prstGeom>
          <a:solidFill>
            <a:srgbClr val="F5F1E8"/>
          </a:solidFill>
          <a:ln w="12700">
            <a:solidFill>
              <a:srgbClr val="C9B991"/>
            </a:solidFill>
          </a:ln>
        </p:spPr>
        <p:txBody>
          <a:bodyPr wrap="square" lIns="27432" tIns="22860" rIns="27432" bIns="22860" anchor="t"/>
          <a:lstStyle/>
          <a:p>
            <a:pPr algn="l">
              <a:spcAft>
                <a:spcPts val="900"/>
              </a:spcAft>
              <a:buNone/>
            </a:pPr>
            <a:r>
              <a:rPr lang="en-US" sz="1300" b="1" i="0" dirty="0">
                <a:solidFill>
                  <a:srgbClr val="8E6F3E"/>
                </a:solidFill>
              </a:rPr>
              <a:t xml:space="preserve">ACCOUNT</a:t>
            </a:r>
          </a:p>
          <a:p>
            <a:pPr algn="l">
              <a:spcAft>
                <a:spcPts val="250"/>
              </a:spcAft>
              <a:buNone/>
            </a:pPr>
            <a:r>
              <a:rPr lang="en-US" sz="1050" b="0" i="0" dirty="0">
                <a:solidFill>
                  <a:srgbClr val="5C4826"/>
                </a:solidFill>
              </a:rPr>
              <a:t xml:space="preserve">quota_type {metered, unlimited}</a:t>
            </a:r>
          </a:p>
          <a:p>
            <a:pPr algn="l">
              <a:spcAft>
                <a:spcPts val="250"/>
              </a:spcAft>
              <a:buNone/>
            </a:pPr>
            <a:r>
              <a:rPr lang="en-US" sz="1050" b="0" i="0" dirty="0">
                <a:solidFill>
                  <a:srgbClr val="5C4826"/>
                </a:solidFill>
              </a:rPr>
              <a:t xml:space="preserve">credits_remaining</a:t>
            </a:r>
          </a:p>
          <a:p>
            <a:pPr algn="l">
              <a:spcAft>
                <a:spcPts val="0"/>
              </a:spcAft>
              <a:buNone/>
            </a:pPr>
            <a:r>
              <a:rPr lang="en-US" sz="1050" b="0" i="0" dirty="0">
                <a:solidFill>
                  <a:srgbClr val="5C4826"/>
                </a:solidFill>
              </a:rPr>
              <a:t xml:space="preserve">renewal</a:t>
            </a:r>
          </a:p>
        </p:txBody>
      </p:sp>
      <p:sp>
        <p:nvSpPr>
          <p:cNvPr id="103" name="SchemaRule"/>
          <p:cNvSpPr txBox="1"/>
          <p:nvPr/>
        </p:nvSpPr>
        <p:spPr>
          <a:xfrm>
            <a:off x="943480" y="2227020"/>
            <a:ext cx="2194560" cy="9525"/>
          </a:xfrm>
          <a:prstGeom prst="rect">
            <a:avLst/>
          </a:prstGeom>
          <a:solidFill>
            <a:srgbClr val="C9B991"/>
          </a:solidFill>
          <a:ln>
            <a:noFill/>
          </a:ln>
        </p:spPr>
        <p:txBody>
          <a:bodyPr wrap="square" lIns="91440" tIns="45720" rIns="91440" bIns="45720" anchor="ctr"/>
          <a:lstStyle/>
          <a:p>
            <a:pPr>
              <a:buNone/>
            </a:pPr>
            <a:endParaRPr lang="en-US"/>
          </a:p>
        </p:txBody>
      </p:sp>
      <p:sp>
        <p:nvSpPr>
          <p:cNvPr id="104" name="DownArrow1"/>
          <p:cNvSpPr/>
          <p:nvPr/>
        </p:nvSpPr>
        <p:spPr>
          <a:xfrm>
            <a:off x="1950760" y="3000000"/>
            <a:ext cx="180000" cy="200000"/>
          </a:xfrm>
          <a:prstGeom prst="downArrow">
            <a:avLst/>
          </a:prstGeom>
          <a:solidFill>
            <a:srgbClr val="8E6F3E"/>
          </a:solidFill>
          <a:ln>
            <a:noFill/>
          </a:ln>
        </p:spPr>
        <p:txBody>
          <a:bodyPr wrap="square" lIns="91440" tIns="45720" rIns="91440" bIns="45720" anchor="ctr"/>
          <a:lstStyle/>
          <a:p>
            <a:pPr>
              <a:buNone/>
            </a:pPr>
            <a:endParaRPr lang="en-US"/>
          </a:p>
        </p:txBody>
      </p:sp>
      <p:sp>
        <p:nvSpPr>
          <p:cNvPr id="105" name="AgentLbl"/>
          <p:cNvSpPr txBox="1"/>
          <p:nvPr/>
        </p:nvSpPr>
        <p:spPr>
          <a:xfrm>
            <a:off x="1240760" y="3250000"/>
            <a:ext cx="1600000" cy="330000"/>
          </a:xfrm>
          <a:prstGeom prst="rect">
            <a:avLst/>
          </a:prstGeom>
          <a:solidFill>
            <a:srgbClr val="FBF8F2"/>
          </a:solidFill>
          <a:ln w="19050">
            <a:solidFill>
              <a:srgbClr val="8E6F3E"/>
            </a:solidFill>
          </a:ln>
        </p:spPr>
        <p:txBody>
          <a:bodyPr wrap="square" lIns="91440" tIns="45720" rIns="91440" bIns="45720" anchor="ctr"/>
          <a:lstStyle/>
          <a:p>
            <a:pPr algn="ctr">
              <a:spcAft>
                <a:spcPts val="0"/>
              </a:spcAft>
              <a:buNone/>
            </a:pPr>
            <a:r>
              <a:rPr lang="en-US" sz="1400" b="1" i="0" dirty="0">
                <a:solidFill>
                  <a:srgbClr val="8E6F3E"/>
                </a:solidFill>
              </a:rPr>
              <a:t xml:space="preserve">AGENT</a:t>
            </a:r>
          </a:p>
        </p:txBody>
      </p:sp>
      <p:sp>
        <p:nvSpPr>
          <p:cNvPr id="106" name="DownArrow2"/>
          <p:cNvSpPr/>
          <p:nvPr/>
        </p:nvSpPr>
        <p:spPr>
          <a:xfrm>
            <a:off x="1950760" y="3650000"/>
            <a:ext cx="180000" cy="200000"/>
          </a:xfrm>
          <a:prstGeom prst="downArrow">
            <a:avLst/>
          </a:prstGeom>
          <a:solidFill>
            <a:srgbClr val="8E6F3E"/>
          </a:solidFill>
          <a:ln>
            <a:noFill/>
          </a:ln>
        </p:spPr>
        <p:txBody>
          <a:bodyPr wrap="square" lIns="91440" tIns="45720" rIns="91440" bIns="45720" anchor="ctr"/>
          <a:lstStyle/>
          <a:p>
            <a:pPr>
              <a:buNone/>
            </a:pPr>
            <a:endParaRPr lang="en-US"/>
          </a:p>
        </p:txBody>
      </p:sp>
      <p:sp>
        <p:nvSpPr>
          <p:cNvPr id="107" name="ImplLbl"/>
          <p:cNvSpPr txBox="1"/>
          <p:nvPr/>
        </p:nvSpPr>
        <p:spPr>
          <a:xfrm>
            <a:off x="852040" y="3900000"/>
            <a:ext cx="2377440" cy="420000"/>
          </a:xfrm>
          <a:prstGeom prst="rect">
            <a:avLst/>
          </a:prstGeom>
          <a:solidFill>
            <a:srgbClr val="F5F1E8"/>
          </a:solidFill>
          <a:ln w="12700">
            <a:solidFill>
              <a:srgbClr val="C9B991"/>
            </a:solidFill>
          </a:ln>
        </p:spPr>
        <p:txBody>
          <a:bodyPr wrap="square" lIns="91440" tIns="45720" rIns="91440" bIns="45720" anchor="ctr"/>
          <a:lstStyle/>
          <a:p>
            <a:pPr algn="ctr">
              <a:spcAft>
                <a:spcPts val="0"/>
              </a:spcAft>
              <a:buNone/>
            </a:pPr>
            <a:r>
              <a:rPr lang="en-US" sz="1300" b="1" i="0" dirty="0">
                <a:solidFill>
                  <a:srgbClr val="5C4826"/>
                </a:solidFill>
              </a:rPr>
              <a:t xml:space="preserve">IMPLEMENTATION</a:t>
            </a:r>
          </a:p>
        </p:txBody>
      </p:sp>
      <p:sp>
        <p:nvSpPr>
          <p:cNvPr id="108" name="Caption"/>
          <p:cNvSpPr txBox="1"/>
          <p:nvPr/>
        </p:nvSpPr>
        <p:spPr>
          <a:xfrm>
            <a:off x="365760" y="4380000"/>
            <a:ext cx="3350000" cy="420000"/>
          </a:xfrm>
          <a:prstGeom prst="rect">
            <a:avLst/>
          </a:prstGeom>
          <a:noFill/>
          <a:ln>
            <a:noFill/>
          </a:ln>
        </p:spPr>
        <p:txBody>
          <a:bodyPr wrap="square" lIns="0" tIns="0" rIns="0" bIns="0" anchor="ctr"/>
          <a:lstStyle/>
          <a:p>
            <a:pPr algn="ctr">
              <a:spcAft>
                <a:spcPts val="0"/>
              </a:spcAft>
              <a:buNone/>
            </a:pPr>
            <a:r>
              <a:rPr lang="en-US" sz="1300" b="0" i="1" dirty="0">
                <a:solidFill>
                  <a:srgbClr val="5C4826"/>
                </a:solidFill>
              </a:rPr>
              <a:t xml:space="preserve">Great. Let the agent choose the realization.</a:t>
            </a:r>
          </a:p>
        </p:txBody>
      </p:sp>
      <p:sp>
        <p:nvSpPr>
          <p:cNvPr id="110" name="ScafHdr"/>
          <p:cNvSpPr txBox="1"/>
          <p:nvPr/>
        </p:nvSpPr>
        <p:spPr>
          <a:xfrm>
            <a:off x="3900000" y="1430000"/>
            <a:ext cx="4878240" cy="460000"/>
          </a:xfrm>
          <a:prstGeom prst="rect">
            <a:avLst/>
          </a:prstGeom>
          <a:noFill/>
          <a:ln>
            <a:noFill/>
          </a:ln>
        </p:spPr>
        <p:txBody>
          <a:bodyPr wrap="square" lIns="0" tIns="0" rIns="0" bIns="0" anchor="t"/>
          <a:lstStyle/>
          <a:p>
            <a:pPr algn="ctr">
              <a:spcAft>
                <a:spcPts val="200"/>
              </a:spcAft>
              <a:buNone/>
            </a:pPr>
            <a:r>
              <a:rPr lang="en-US" sz="1100" b="1" i="0" dirty="0">
                <a:solidFill>
                  <a:srgbClr val="8E6F3E"/>
                </a:solidFill>
              </a:rPr>
              <a:t xml:space="preserve">EVERYTHING ABOUT THE IMPLEMENTATION</a:t>
            </a:r>
          </a:p>
          <a:p>
            <a:pPr algn="ctr">
              <a:spcAft>
                <a:spcPts val="0"/>
              </a:spcAft>
              <a:buNone/>
            </a:pPr>
            <a:r>
              <a:rPr lang="en-US" sz="1100" b="0" i="1" dirty="0">
                <a:solidFill>
                  <a:srgbClr val="5C4826"/>
                </a:solidFill>
              </a:rPr>
              <a:t xml:space="preserve">each line is scaffolding we added in response to a bad choice</a:t>
            </a:r>
          </a:p>
        </p:txBody>
      </p:sp>
      <p:sp>
        <p:nvSpPr>
          <p:cNvPr id="111" name="MeterBox"/>
          <p:cNvSpPr txBox="1"/>
          <p:nvPr/>
        </p:nvSpPr>
        <p:spPr>
          <a:xfrm>
            <a:off x="3900000" y="1940000"/>
            <a:ext cx="4878240" cy="2860000"/>
          </a:xfrm>
          <a:prstGeom prst="rect">
            <a:avLst/>
          </a:prstGeom>
          <a:solidFill>
            <a:srgbClr val="FBF8F2"/>
          </a:solidFill>
          <a:ln w="12700">
            <a:solidFill>
              <a:srgbClr val="C9B991"/>
            </a:solidFill>
          </a:ln>
        </p:spPr>
        <p:txBody>
          <a:bodyPr wrap="square" lIns="91440" tIns="45720" rIns="91440" bIns="45720" anchor="ctr"/>
          <a:lstStyle/>
          <a:p>
            <a:pPr>
              <a:buNone/>
            </a:pPr>
            <a:endParaRPr lang="en-US"/>
          </a:p>
        </p:txBody>
      </p:sp>
      <p:sp>
        <p:nvSpPr>
          <p:cNvPr id="120" name="AgentBox1"/>
          <p:cNvSpPr txBox="1"/>
          <p:nvPr/>
        </p:nvSpPr>
        <p:spPr>
          <a:xfrm>
            <a:off x="3900000" y="1940000"/>
            <a:ext cx="4878240" cy="286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33" name="ScafItem1"/>
          <p:cNvSpPr txBox="1"/>
          <p:nvPr/>
        </p:nvSpPr>
        <p:spPr>
          <a:xfrm>
            <a:off x="3900000" y="1940000"/>
            <a:ext cx="4878240" cy="340000"/>
          </a:xfrm>
          <a:prstGeom prst="rect">
            <a:avLst/>
          </a:prstGeom>
          <a:solidFill>
            <a:srgbClr val="F5F1E8"/>
          </a:solidFill>
          <a:ln w="9525">
            <a:solidFill>
              <a:srgbClr val="C9B991"/>
            </a:solidFill>
          </a:ln>
        </p:spPr>
        <p:txBody>
          <a:bodyPr wrap="square" lIns="100000" tIns="27432" rIns="100000" bIns="27432" anchor="ctr"/>
          <a:lstStyle/>
          <a:p>
            <a:pPr algn="l">
              <a:spcAft>
                <a:spcPts val="0"/>
              </a:spcAft>
              <a:buNone/>
            </a:pPr>
            <a:r>
              <a:rPr lang="en-US" sz="1200" b="0" i="0" dirty="0">
                <a:solidFill>
                  <a:srgbClr val="5C4826"/>
                </a:solidFill>
              </a:rPr>
              <a:t xml:space="preserve">+ Use separate persisted fields</a:t>
            </a:r>
          </a:p>
        </p:txBody>
      </p:sp>
      <p:sp>
        <p:nvSpPr>
          <p:cNvPr id="134" name="Annot1"/>
          <p:cNvSpPr txBox="1"/>
          <p:nvPr/>
        </p:nvSpPr>
        <p:spPr>
          <a:xfrm>
            <a:off x="6878240" y="1940000"/>
            <a:ext cx="1800000" cy="340000"/>
          </a:xfrm>
          <a:prstGeom prst="rect">
            <a:avLst/>
          </a:prstGeom>
          <a:noFill/>
          <a:ln>
            <a:noFill/>
          </a:ln>
        </p:spPr>
        <p:txBody>
          <a:bodyPr wrap="square" lIns="0" tIns="27432" rIns="0" bIns="27432" anchor="ctr"/>
          <a:lstStyle/>
          <a:p>
            <a:pPr algn="r">
              <a:spcAft>
                <a:spcPts val="0"/>
              </a:spcAft>
              <a:buNone/>
            </a:pPr>
            <a:r>
              <a:rPr lang="en-US" sz="1100" b="0" i="1" dirty="0">
                <a:solidFill>
                  <a:srgbClr val="5C4826"/>
                </a:solidFill>
              </a:rPr>
              <a:t xml:space="preserve">bad persistence choice</a:t>
            </a:r>
          </a:p>
        </p:txBody>
      </p:sp>
      <p:sp>
        <p:nvSpPr>
          <p:cNvPr id="121" name="AgentBox2"/>
          <p:cNvSpPr txBox="1"/>
          <p:nvPr/>
        </p:nvSpPr>
        <p:spPr>
          <a:xfrm>
            <a:off x="3900000" y="2280000"/>
            <a:ext cx="4878240" cy="252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36" name="ScafItem2"/>
          <p:cNvSpPr txBox="1"/>
          <p:nvPr/>
        </p:nvSpPr>
        <p:spPr>
          <a:xfrm>
            <a:off x="3900000" y="2280000"/>
            <a:ext cx="4878240" cy="340000"/>
          </a:xfrm>
          <a:prstGeom prst="rect">
            <a:avLst/>
          </a:prstGeom>
          <a:solidFill>
            <a:srgbClr val="F5F1E8"/>
          </a:solidFill>
          <a:ln w="9525">
            <a:solidFill>
              <a:srgbClr val="C9B991"/>
            </a:solidFill>
          </a:ln>
        </p:spPr>
        <p:txBody>
          <a:bodyPr wrap="square" lIns="100000" tIns="27432" rIns="100000" bIns="27432" anchor="ctr"/>
          <a:lstStyle/>
          <a:p>
            <a:pPr algn="l">
              <a:spcAft>
                <a:spcPts val="0"/>
              </a:spcAft>
              <a:buNone/>
            </a:pPr>
            <a:r>
              <a:rPr lang="en-US" sz="1200" b="0" i="0" dirty="0">
                <a:solidFill>
                  <a:srgbClr val="5C4826"/>
                </a:solidFill>
              </a:rPr>
              <a:t xml:space="preserve">+ Add an index for account lookup</a:t>
            </a:r>
          </a:p>
        </p:txBody>
      </p:sp>
      <p:sp>
        <p:nvSpPr>
          <p:cNvPr id="137" name="Annot2"/>
          <p:cNvSpPr txBox="1"/>
          <p:nvPr/>
        </p:nvSpPr>
        <p:spPr>
          <a:xfrm>
            <a:off x="6878240" y="2280000"/>
            <a:ext cx="1800000" cy="340000"/>
          </a:xfrm>
          <a:prstGeom prst="rect">
            <a:avLst/>
          </a:prstGeom>
          <a:noFill/>
          <a:ln>
            <a:noFill/>
          </a:ln>
        </p:spPr>
        <p:txBody>
          <a:bodyPr wrap="square" lIns="0" tIns="27432" rIns="0" bIns="27432" anchor="ctr"/>
          <a:lstStyle/>
          <a:p>
            <a:pPr algn="r">
              <a:spcAft>
                <a:spcPts val="0"/>
              </a:spcAft>
              <a:buNone/>
            </a:pPr>
            <a:r>
              <a:rPr lang="en-US" sz="1100" b="0" i="1" dirty="0">
                <a:solidFill>
                  <a:srgbClr val="5C4826"/>
                </a:solidFill>
              </a:rPr>
              <a:t xml:space="preserve">bad query performance</a:t>
            </a:r>
          </a:p>
        </p:txBody>
      </p:sp>
      <p:sp>
        <p:nvSpPr>
          <p:cNvPr id="122" name="AgentBox3"/>
          <p:cNvSpPr txBox="1"/>
          <p:nvPr/>
        </p:nvSpPr>
        <p:spPr>
          <a:xfrm>
            <a:off x="3900000" y="2620000"/>
            <a:ext cx="4878240" cy="218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39" name="ScafItem3"/>
          <p:cNvSpPr txBox="1"/>
          <p:nvPr/>
        </p:nvSpPr>
        <p:spPr>
          <a:xfrm>
            <a:off x="3900000" y="2620000"/>
            <a:ext cx="4878240" cy="340000"/>
          </a:xfrm>
          <a:prstGeom prst="rect">
            <a:avLst/>
          </a:prstGeom>
          <a:solidFill>
            <a:srgbClr val="F5F1E8"/>
          </a:solidFill>
          <a:ln w="9525">
            <a:solidFill>
              <a:srgbClr val="C9B991"/>
            </a:solidFill>
          </a:ln>
        </p:spPr>
        <p:txBody>
          <a:bodyPr wrap="square" lIns="100000" tIns="27432" rIns="100000" bIns="27432" anchor="ctr"/>
          <a:lstStyle/>
          <a:p>
            <a:pPr algn="l">
              <a:spcAft>
                <a:spcPts val="0"/>
              </a:spcAft>
              <a:buNone/>
            </a:pPr>
            <a:r>
              <a:rPr lang="en-US" sz="1200" b="0" i="0" dirty="0">
                <a:solidFill>
                  <a:srgbClr val="5C4826"/>
                </a:solidFill>
              </a:rPr>
              <a:t xml:space="preserve">+ Use this relationship between…</a:t>
            </a:r>
          </a:p>
        </p:txBody>
      </p:sp>
      <p:sp>
        <p:nvSpPr>
          <p:cNvPr id="140" name="Annot3"/>
          <p:cNvSpPr txBox="1"/>
          <p:nvPr/>
        </p:nvSpPr>
        <p:spPr>
          <a:xfrm>
            <a:off x="6878240" y="2620000"/>
            <a:ext cx="1800000" cy="340000"/>
          </a:xfrm>
          <a:prstGeom prst="rect">
            <a:avLst/>
          </a:prstGeom>
          <a:noFill/>
          <a:ln>
            <a:noFill/>
          </a:ln>
        </p:spPr>
        <p:txBody>
          <a:bodyPr wrap="square" lIns="0" tIns="27432" rIns="0" bIns="27432" anchor="ctr"/>
          <a:lstStyle/>
          <a:p>
            <a:pPr algn="r">
              <a:spcAft>
                <a:spcPts val="0"/>
              </a:spcAft>
              <a:buNone/>
            </a:pPr>
            <a:r>
              <a:rPr lang="en-US" sz="1100" b="0" i="1" dirty="0">
                <a:solidFill>
                  <a:srgbClr val="5C4826"/>
                </a:solidFill>
              </a:rPr>
              <a:t xml:space="preserve">bad join choice</a:t>
            </a:r>
          </a:p>
        </p:txBody>
      </p:sp>
      <p:sp>
        <p:nvSpPr>
          <p:cNvPr id="123" name="AgentBox4"/>
          <p:cNvSpPr txBox="1"/>
          <p:nvPr/>
        </p:nvSpPr>
        <p:spPr>
          <a:xfrm>
            <a:off x="3900000" y="2960000"/>
            <a:ext cx="4878240" cy="184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42" name="ScafItem4"/>
          <p:cNvSpPr txBox="1"/>
          <p:nvPr/>
        </p:nvSpPr>
        <p:spPr>
          <a:xfrm>
            <a:off x="3900000" y="2960000"/>
            <a:ext cx="4878240" cy="650000"/>
          </a:xfrm>
          <a:prstGeom prst="rect">
            <a:avLst/>
          </a:prstGeom>
          <a:solidFill>
            <a:srgbClr val="F5F1E8"/>
          </a:solidFill>
          <a:ln w="9525">
            <a:solidFill>
              <a:srgbClr val="C9B991"/>
            </a:solidFill>
          </a:ln>
        </p:spPr>
        <p:txBody>
          <a:bodyPr wrap="square" lIns="100000" tIns="27432" rIns="100000" bIns="27432" anchor="ctr"/>
          <a:lstStyle/>
          <a:p>
            <a:pPr algn="l">
              <a:spcAft>
                <a:spcPts val="0"/>
              </a:spcAft>
              <a:buNone/>
            </a:pPr>
            <a:r>
              <a:rPr lang="en-US" sz="1200" b="0" i="0" dirty="0">
                <a:solidFill>
                  <a:srgbClr val="5C4826"/>
                </a:solidFill>
              </a:rPr>
              <a:t xml:space="preserve">+ Use this transaction boundary</a:t>
            </a:r>
          </a:p>
          <a:p>
            <a:pPr algn="l">
              <a:spcAft>
                <a:spcPts val="0"/>
              </a:spcAft>
              <a:buNone/>
            </a:pPr>
            <a:r>
              <a:rPr lang="en-US" sz="1200" b="0" i="0" dirty="0">
                <a:solidFill>
                  <a:srgbClr val="5C4826"/>
                </a:solidFill>
              </a:rPr>
              <a:t xml:space="preserve">+ Structure the query this way</a:t>
            </a:r>
          </a:p>
          <a:p>
            <a:pPr algn="l">
              <a:spcAft>
                <a:spcPts val="0"/>
              </a:spcAft>
              <a:buNone/>
            </a:pPr>
            <a:r>
              <a:rPr lang="en-US" sz="1200" b="0" i="0" dirty="0">
                <a:solidFill>
                  <a:srgbClr val="5C4826"/>
                </a:solidFill>
              </a:rPr>
              <a:t xml:space="preserve">+ Put this logic in…</a:t>
            </a:r>
          </a:p>
        </p:txBody>
      </p:sp>
      <p:sp>
        <p:nvSpPr>
          <p:cNvPr id="124" name="AgentBox5"/>
          <p:cNvSpPr txBox="1"/>
          <p:nvPr/>
        </p:nvSpPr>
        <p:spPr>
          <a:xfrm>
            <a:off x="3900000" y="3610000"/>
            <a:ext cx="4878240" cy="119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45" name="ScafItem5"/>
          <p:cNvSpPr txBox="1"/>
          <p:nvPr/>
        </p:nvSpPr>
        <p:spPr>
          <a:xfrm>
            <a:off x="3900000" y="3610000"/>
            <a:ext cx="4878240" cy="280000"/>
          </a:xfrm>
          <a:prstGeom prst="rect">
            <a:avLst/>
          </a:prstGeom>
          <a:solidFill>
            <a:srgbClr val="F5F1E8"/>
          </a:solidFill>
          <a:ln w="9525">
            <a:solidFill>
              <a:srgbClr val="C9B991"/>
            </a:solidFill>
          </a:ln>
        </p:spPr>
        <p:txBody>
          <a:bodyPr wrap="square" lIns="100000" tIns="27432" rIns="100000" bIns="27432" anchor="ctr"/>
          <a:lstStyle/>
          <a:p>
            <a:pPr algn="l">
              <a:spcAft>
                <a:spcPts val="0"/>
              </a:spcAft>
              <a:buNone/>
            </a:pPr>
            <a:r>
              <a:rPr lang="en-US" sz="1200" b="0" i="0" dirty="0">
                <a:solidFill>
                  <a:srgbClr val="5C4826"/>
                </a:solidFill>
              </a:rPr>
              <a:t xml:space="preserve">+ Name this variable quota_mode</a:t>
            </a:r>
          </a:p>
        </p:txBody>
      </p:sp>
      <p:sp>
        <p:nvSpPr>
          <p:cNvPr id="125" name="AgentBox6"/>
          <p:cNvSpPr txBox="1"/>
          <p:nvPr/>
        </p:nvSpPr>
        <p:spPr>
          <a:xfrm>
            <a:off x="3900000" y="3890000"/>
            <a:ext cx="4878240" cy="91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60" name="Oops"/>
          <p:cNvSpPr txBox="1"/>
          <p:nvPr/>
        </p:nvSpPr>
        <p:spPr>
          <a:xfrm>
            <a:off x="365760" y="5010000"/>
            <a:ext cx="8412480" cy="82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400" b="1" i="0" dirty="0">
                <a:solidFill>
                  <a:srgbClr val="8E6F3E"/>
                </a:solidFill>
              </a:rPr>
              <a:t xml:space="preserve">Oops. We are writing the implementation again.</a:t>
            </a:r>
          </a:p>
        </p:txBody>
      </p:sp>
      <p:sp>
        <p:nvSpPr>
          <p:cNvPr id="161" name="Close"/>
          <p:cNvSpPr txBox="1"/>
          <p:nvPr/>
        </p:nvSpPr>
        <p:spPr>
          <a:xfrm>
            <a:off x="365760" y="5890000"/>
            <a:ext cx="8412480" cy="500000"/>
          </a:xfrm>
          <a:prstGeom prst="rect">
            <a:avLst/>
          </a:prstGeom>
          <a:noFill/>
          <a:ln>
            <a:noFill/>
          </a:ln>
        </p:spPr>
        <p:txBody>
          <a:bodyPr wrap="square" lIns="0" tIns="0" rIns="0" bIns="0" anchor="ctr"/>
          <a:lstStyle/>
          <a:p>
            <a:pPr algn="ctr">
              <a:spcAft>
                <a:spcPts val="0"/>
              </a:spcAft>
              <a:buNone/>
            </a:pPr>
            <a:r>
              <a:rPr lang="en-US" sz="1800" b="0" i="1" dirty="0">
                <a:solidFill>
                  <a:srgbClr val="5C4826"/>
                </a:solidFill>
              </a:rPr>
              <a:t xml:space="preserve">Cheap realization only helps while the scaffolding needed to obtain it remains cheap.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3"/>
                                        </p:tgtEl>
                                        <p:attrNameLst>
                                          <p:attrName>style.visibility</p:attrName>
                                        </p:attrNameLst>
                                      </p:cBhvr>
                                      <p:to>
                                        <p:strVal val="visible"/>
                                      </p:to>
                                    </p:set>
                                    <p:animEffect transition="in" filter="fade">
                                      <p:cBhvr>
                                        <p:cTn id="7" dur="500"/>
                                        <p:tgtEl>
                                          <p:spTgt spid="133"/>
                                        </p:tgtEl>
                                      </p:cBhvr>
                                    </p:animEffect>
                                  </p:childTnLst>
                                </p:cTn>
                              </p:par>
                              <p:par>
                                <p:cTn id="8" presetID="10" presetClass="entr" presetSubtype="0" fill="hold" nodeType="withEffect">
                                  <p:stCondLst>
                                    <p:cond delay="0"/>
                                  </p:stCondLst>
                                  <p:childTnLst>
                                    <p:set>
                                      <p:cBhvr>
                                        <p:cTn id="9" dur="1" fill="hold">
                                          <p:stCondLst>
                                            <p:cond delay="0"/>
                                          </p:stCondLst>
                                        </p:cTn>
                                        <p:tgtEl>
                                          <p:spTgt spid="134"/>
                                        </p:tgtEl>
                                        <p:attrNameLst>
                                          <p:attrName>style.visibility</p:attrName>
                                        </p:attrNameLst>
                                      </p:cBhvr>
                                      <p:to>
                                        <p:strVal val="visible"/>
                                      </p:to>
                                    </p:set>
                                    <p:animEffect transition="in" filter="fade">
                                      <p:cBhvr>
                                        <p:cTn id="10" dur="500"/>
                                        <p:tgtEl>
                                          <p:spTgt spid="134"/>
                                        </p:tgtEl>
                                      </p:cBhvr>
                                    </p:animEffect>
                                  </p:childTnLst>
                                </p:cTn>
                              </p:par>
                              <p:par>
                                <p:cTn id="11" presetID="10" presetClass="entr" presetSubtype="0" fill="hold" nodeType="with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fade">
                                      <p:cBhvr>
                                        <p:cTn id="13" dur="500"/>
                                        <p:tgtEl>
                                          <p:spTgt spid="12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36"/>
                                        </p:tgtEl>
                                        <p:attrNameLst>
                                          <p:attrName>style.visibility</p:attrName>
                                        </p:attrNameLst>
                                      </p:cBhvr>
                                      <p:to>
                                        <p:strVal val="visible"/>
                                      </p:to>
                                    </p:set>
                                    <p:animEffect transition="in" filter="fade">
                                      <p:cBhvr>
                                        <p:cTn id="18" dur="500"/>
                                        <p:tgtEl>
                                          <p:spTgt spid="136"/>
                                        </p:tgtEl>
                                      </p:cBhvr>
                                    </p:animEffect>
                                  </p:childTnLst>
                                </p:cTn>
                              </p:par>
                              <p:par>
                                <p:cTn id="19" presetID="10" presetClass="entr" presetSubtype="0" fill="hold" nodeType="withEffect">
                                  <p:stCondLst>
                                    <p:cond delay="0"/>
                                  </p:stCondLst>
                                  <p:childTnLst>
                                    <p:set>
                                      <p:cBhvr>
                                        <p:cTn id="20" dur="1" fill="hold">
                                          <p:stCondLst>
                                            <p:cond delay="0"/>
                                          </p:stCondLst>
                                        </p:cTn>
                                        <p:tgtEl>
                                          <p:spTgt spid="137"/>
                                        </p:tgtEl>
                                        <p:attrNameLst>
                                          <p:attrName>style.visibility</p:attrName>
                                        </p:attrNameLst>
                                      </p:cBhvr>
                                      <p:to>
                                        <p:strVal val="visible"/>
                                      </p:to>
                                    </p:set>
                                    <p:animEffect transition="in" filter="fade">
                                      <p:cBhvr>
                                        <p:cTn id="21" dur="500"/>
                                        <p:tgtEl>
                                          <p:spTgt spid="137"/>
                                        </p:tgtEl>
                                      </p:cBhvr>
                                    </p:animEffect>
                                  </p:childTnLst>
                                </p:cTn>
                              </p:par>
                              <p:par>
                                <p:cTn id="22" presetID="10" presetClass="entr" presetSubtype="0" fill="hold" nodeType="withEffect">
                                  <p:stCondLst>
                                    <p:cond delay="0"/>
                                  </p:stCondLst>
                                  <p:childTnLst>
                                    <p:set>
                                      <p:cBhvr>
                                        <p:cTn id="23" dur="1" fill="hold">
                                          <p:stCondLst>
                                            <p:cond delay="0"/>
                                          </p:stCondLst>
                                        </p:cTn>
                                        <p:tgtEl>
                                          <p:spTgt spid="122"/>
                                        </p:tgtEl>
                                        <p:attrNameLst>
                                          <p:attrName>style.visibility</p:attrName>
                                        </p:attrNameLst>
                                      </p:cBhvr>
                                      <p:to>
                                        <p:strVal val="visible"/>
                                      </p:to>
                                    </p:set>
                                    <p:animEffect transition="in" filter="fade">
                                      <p:cBhvr>
                                        <p:cTn id="24" dur="500"/>
                                        <p:tgtEl>
                                          <p:spTgt spid="12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9"/>
                                        </p:tgtEl>
                                        <p:attrNameLst>
                                          <p:attrName>style.visibility</p:attrName>
                                        </p:attrNameLst>
                                      </p:cBhvr>
                                      <p:to>
                                        <p:strVal val="visible"/>
                                      </p:to>
                                    </p:set>
                                    <p:animEffect transition="in" filter="fade">
                                      <p:cBhvr>
                                        <p:cTn id="29" dur="500"/>
                                        <p:tgtEl>
                                          <p:spTgt spid="139"/>
                                        </p:tgtEl>
                                      </p:cBhvr>
                                    </p:animEffect>
                                  </p:childTnLst>
                                </p:cTn>
                              </p:par>
                              <p:par>
                                <p:cTn id="30" presetID="10" presetClass="entr" presetSubtype="0" fill="hold" nodeType="withEffect">
                                  <p:stCondLst>
                                    <p:cond delay="0"/>
                                  </p:stCondLst>
                                  <p:childTnLst>
                                    <p:set>
                                      <p:cBhvr>
                                        <p:cTn id="31" dur="1" fill="hold">
                                          <p:stCondLst>
                                            <p:cond delay="0"/>
                                          </p:stCondLst>
                                        </p:cTn>
                                        <p:tgtEl>
                                          <p:spTgt spid="140"/>
                                        </p:tgtEl>
                                        <p:attrNameLst>
                                          <p:attrName>style.visibility</p:attrName>
                                        </p:attrNameLst>
                                      </p:cBhvr>
                                      <p:to>
                                        <p:strVal val="visible"/>
                                      </p:to>
                                    </p:set>
                                    <p:animEffect transition="in" filter="fade">
                                      <p:cBhvr>
                                        <p:cTn id="32" dur="500"/>
                                        <p:tgtEl>
                                          <p:spTgt spid="140"/>
                                        </p:tgtEl>
                                      </p:cBhvr>
                                    </p:animEffect>
                                  </p:childTnLst>
                                </p:cTn>
                              </p:par>
                              <p:par>
                                <p:cTn id="33" presetID="10" presetClass="entr" presetSubtype="0" fill="hold" nodeType="withEffect">
                                  <p:stCondLst>
                                    <p:cond delay="0"/>
                                  </p:stCondLst>
                                  <p:childTnLst>
                                    <p:set>
                                      <p:cBhvr>
                                        <p:cTn id="34" dur="1" fill="hold">
                                          <p:stCondLst>
                                            <p:cond delay="0"/>
                                          </p:stCondLst>
                                        </p:cTn>
                                        <p:tgtEl>
                                          <p:spTgt spid="123"/>
                                        </p:tgtEl>
                                        <p:attrNameLst>
                                          <p:attrName>style.visibility</p:attrName>
                                        </p:attrNameLst>
                                      </p:cBhvr>
                                      <p:to>
                                        <p:strVal val="visible"/>
                                      </p:to>
                                    </p:set>
                                    <p:animEffect transition="in" filter="fade">
                                      <p:cBhvr>
                                        <p:cTn id="35" dur="500"/>
                                        <p:tgtEl>
                                          <p:spTgt spid="123"/>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42"/>
                                        </p:tgtEl>
                                        <p:attrNameLst>
                                          <p:attrName>style.visibility</p:attrName>
                                        </p:attrNameLst>
                                      </p:cBhvr>
                                      <p:to>
                                        <p:strVal val="visible"/>
                                      </p:to>
                                    </p:set>
                                    <p:animEffect transition="in" filter="fade">
                                      <p:cBhvr>
                                        <p:cTn id="40" dur="500"/>
                                        <p:tgtEl>
                                          <p:spTgt spid="142"/>
                                        </p:tgtEl>
                                      </p:cBhvr>
                                    </p:animEffect>
                                  </p:childTnLst>
                                </p:cTn>
                              </p:par>
                              <p:par>
                                <p:cTn id="41" presetID="10" presetClass="entr" presetSubtype="0" fill="hold" nodeType="withEffect">
                                  <p:stCondLst>
                                    <p:cond delay="0"/>
                                  </p:stCondLst>
                                  <p:childTnLst>
                                    <p:set>
                                      <p:cBhvr>
                                        <p:cTn id="42" dur="1" fill="hold">
                                          <p:stCondLst>
                                            <p:cond delay="0"/>
                                          </p:stCondLst>
                                        </p:cTn>
                                        <p:tgtEl>
                                          <p:spTgt spid="124"/>
                                        </p:tgtEl>
                                        <p:attrNameLst>
                                          <p:attrName>style.visibility</p:attrName>
                                        </p:attrNameLst>
                                      </p:cBhvr>
                                      <p:to>
                                        <p:strVal val="visible"/>
                                      </p:to>
                                    </p:set>
                                    <p:animEffect transition="in" filter="fade">
                                      <p:cBhvr>
                                        <p:cTn id="43" dur="500"/>
                                        <p:tgtEl>
                                          <p:spTgt spid="12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45"/>
                                        </p:tgtEl>
                                        <p:attrNameLst>
                                          <p:attrName>style.visibility</p:attrName>
                                        </p:attrNameLst>
                                      </p:cBhvr>
                                      <p:to>
                                        <p:strVal val="visible"/>
                                      </p:to>
                                    </p:set>
                                    <p:animEffect transition="in" filter="fade">
                                      <p:cBhvr>
                                        <p:cTn id="48" dur="500"/>
                                        <p:tgtEl>
                                          <p:spTgt spid="145"/>
                                        </p:tgtEl>
                                      </p:cBhvr>
                                    </p:animEffect>
                                  </p:childTnLst>
                                </p:cTn>
                              </p:par>
                              <p:par>
                                <p:cTn id="49" presetID="10" presetClass="entr" presetSubtype="0" fill="hold" nodeType="withEffect">
                                  <p:stCondLst>
                                    <p:cond delay="0"/>
                                  </p:stCondLst>
                                  <p:childTnLst>
                                    <p:set>
                                      <p:cBhvr>
                                        <p:cTn id="50" dur="1" fill="hold">
                                          <p:stCondLst>
                                            <p:cond delay="0"/>
                                          </p:stCondLst>
                                        </p:cTn>
                                        <p:tgtEl>
                                          <p:spTgt spid="125"/>
                                        </p:tgtEl>
                                        <p:attrNameLst>
                                          <p:attrName>style.visibility</p:attrName>
                                        </p:attrNameLst>
                                      </p:cBhvr>
                                      <p:to>
                                        <p:strVal val="visible"/>
                                      </p:to>
                                    </p:set>
                                    <p:animEffect transition="in" filter="fade">
                                      <p:cBhvr>
                                        <p:cTn id="51" dur="500"/>
                                        <p:tgtEl>
                                          <p:spTgt spid="125"/>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60"/>
                                        </p:tgtEl>
                                        <p:attrNameLst>
                                          <p:attrName>style.visibility</p:attrName>
                                        </p:attrNameLst>
                                      </p:cBhvr>
                                      <p:to>
                                        <p:strVal val="visible"/>
                                      </p:to>
                                    </p:set>
                                    <p:animEffect transition="in" filter="fade">
                                      <p:cBhvr>
                                        <p:cTn id="56" dur="500"/>
                                        <p:tgtEl>
                                          <p:spTgt spid="160"/>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161"/>
                                        </p:tgtEl>
                                        <p:attrNameLst>
                                          <p:attrName>style.visibility</p:attrName>
                                        </p:attrNameLst>
                                      </p:cBhvr>
                                      <p:to>
                                        <p:strVal val="visible"/>
                                      </p:to>
                                    </p:set>
                                    <p:animEffect transition="in" filter="fade">
                                      <p:cBhvr>
                                        <p:cTn id="61" dur="500"/>
                                        <p:tgtEl>
                                          <p:spTgt spid="1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35</a:t>
            </a:fld>
            <a:endParaRPr lang="en-US"/>
          </a:p>
        </p:txBody>
      </p:sp>
      <p:sp>
        <p:nvSpPr>
          <p:cNvPr id="100" name="Axis"/>
          <p:cNvSpPr/>
          <p:nvPr/>
        </p:nvSpPr>
        <p:spPr>
          <a:xfrm>
            <a:off x="365760" y="1680000"/>
            <a:ext cx="8412480" cy="120000"/>
          </a:xfrm>
          <a:prstGeom prst="leftRightArrow">
            <a:avLst/>
          </a:prstGeom>
          <a:solidFill>
            <a:srgbClr val="C9B991"/>
          </a:solidFill>
          <a:ln w="12700">
            <a:solidFill>
              <a:srgbClr val="8E6F3E"/>
            </a:solidFill>
          </a:ln>
        </p:spPr>
        <p:txBody>
          <a:bodyPr wrap="square" lIns="91440" tIns="45720" rIns="91440" bIns="45720" anchor="ctr"/>
          <a:lstStyle/>
          <a:p>
            <a:pPr>
              <a:buNone/>
            </a:pPr>
            <a:endParaRPr lang="en-US"/>
          </a:p>
        </p:txBody>
      </p:sp>
      <p:sp>
        <p:nvSpPr>
          <p:cNvPr id="101" name="TooLittle"/>
          <p:cNvSpPr txBox="1"/>
          <p:nvPr/>
        </p:nvSpPr>
        <p:spPr>
          <a:xfrm>
            <a:off x="365760" y="1850000"/>
            <a:ext cx="3000000" cy="380000"/>
          </a:xfrm>
          <a:prstGeom prst="rect">
            <a:avLst/>
          </a:prstGeom>
          <a:noFill/>
          <a:ln>
            <a:noFill/>
          </a:ln>
        </p:spPr>
        <p:txBody>
          <a:bodyPr wrap="square" lIns="0" tIns="0" rIns="0" bIns="0" anchor="ctr"/>
          <a:lstStyle/>
          <a:p>
            <a:pPr algn="l">
              <a:spcAft>
                <a:spcPts val="0"/>
              </a:spcAft>
              <a:buNone/>
            </a:pPr>
            <a:r>
              <a:rPr lang="en-US" sz="1400" b="1" i="0" dirty="0">
                <a:solidFill>
                  <a:srgbClr val="8E6F3E"/>
                </a:solidFill>
              </a:rPr>
              <a:t xml:space="preserve">TOO LITTLE</a:t>
            </a:r>
            <a:r>
              <a:rPr lang="en-US" sz="1100" b="0" i="1" dirty="0">
                <a:solidFill>
                  <a:srgbClr val="5C4826"/>
                </a:solidFill>
              </a:rPr>
              <a:t xml:space="preserve">   product model</a:t>
            </a:r>
          </a:p>
        </p:txBody>
      </p:sp>
      <p:sp>
        <p:nvSpPr>
          <p:cNvPr id="102" name="TooMuch"/>
          <p:cNvSpPr txBox="1"/>
          <p:nvPr/>
        </p:nvSpPr>
        <p:spPr>
          <a:xfrm>
            <a:off x="5778240" y="1850000"/>
            <a:ext cx="3000000" cy="380000"/>
          </a:xfrm>
          <a:prstGeom prst="rect">
            <a:avLst/>
          </a:prstGeom>
          <a:noFill/>
          <a:ln>
            <a:noFill/>
          </a:ln>
        </p:spPr>
        <p:txBody>
          <a:bodyPr wrap="square" lIns="0" tIns="0" rIns="0" bIns="0" anchor="ctr"/>
          <a:lstStyle/>
          <a:p>
            <a:pPr algn="r">
              <a:spcAft>
                <a:spcPts val="0"/>
              </a:spcAft>
              <a:buNone/>
            </a:pPr>
            <a:r>
              <a:rPr lang="en-US" sz="1100" b="0" i="1" dirty="0">
                <a:solidFill>
                  <a:srgbClr val="5C4826"/>
                </a:solidFill>
              </a:rPr>
              <a:t xml:space="preserve">code   </a:t>
            </a:r>
            <a:r>
              <a:rPr lang="en-US" sz="1400" b="1" i="0" dirty="0">
                <a:solidFill>
                  <a:srgbClr val="8E6F3E"/>
                </a:solidFill>
              </a:rPr>
              <a:t xml:space="preserve">TOO MUCH</a:t>
            </a:r>
          </a:p>
        </p:txBody>
      </p:sp>
      <p:sp>
        <p:nvSpPr>
          <p:cNvPr id="103" name="WarnLeft"/>
          <p:cNvSpPr txBox="1"/>
          <p:nvPr/>
        </p:nvSpPr>
        <p:spPr>
          <a:xfrm>
            <a:off x="365760" y="1000000"/>
            <a:ext cx="3800000" cy="600000"/>
          </a:xfrm>
          <a:prstGeom prst="rect">
            <a:avLst/>
          </a:prstGeom>
          <a:noFill/>
          <a:ln>
            <a:noFill/>
          </a:ln>
        </p:spPr>
        <p:txBody>
          <a:bodyPr wrap="square" lIns="0" tIns="0" rIns="0" bIns="0" anchor="b"/>
          <a:lstStyle/>
          <a:p>
            <a:pPr algn="l">
              <a:spcAft>
                <a:spcPts val="0"/>
              </a:spcAft>
              <a:buNone/>
            </a:pPr>
            <a:r>
              <a:rPr lang="en-US" sz="1100" b="0" i="0" dirty="0">
                <a:solidFill>
                  <a:srgbClr val="5C4826"/>
                </a:solidFill>
              </a:rPr>
              <a:t xml:space="preserve">Under-specify the delegate — repeated bad realization choices, correction and rework, unreliable outcomes.</a:t>
            </a:r>
          </a:p>
        </p:txBody>
      </p:sp>
      <p:sp>
        <p:nvSpPr>
          <p:cNvPr id="104" name="WarnRight"/>
          <p:cNvSpPr txBox="1"/>
          <p:nvPr/>
        </p:nvSpPr>
        <p:spPr>
          <a:xfrm>
            <a:off x="4978240" y="1000000"/>
            <a:ext cx="3800000" cy="600000"/>
          </a:xfrm>
          <a:prstGeom prst="rect">
            <a:avLst/>
          </a:prstGeom>
          <a:noFill/>
          <a:ln>
            <a:noFill/>
          </a:ln>
        </p:spPr>
        <p:txBody>
          <a:bodyPr wrap="square" lIns="0" tIns="0" rIns="0" bIns="0" anchor="b"/>
          <a:lstStyle/>
          <a:p>
            <a:pPr algn="r">
              <a:spcAft>
                <a:spcPts val="0"/>
              </a:spcAft>
              <a:buNone/>
            </a:pPr>
            <a:r>
              <a:rPr lang="en-US" sz="1100" b="0" i="0" dirty="0">
                <a:solidFill>
                  <a:srgbClr val="5C4826"/>
                </a:solidFill>
              </a:rPr>
              <a:t xml:space="preserve">Over-specify the delegate — modeling becomes implementation, freedom disappears, delegation savings disappear.</a:t>
            </a:r>
          </a:p>
        </p:txBody>
      </p:sp>
      <p:sp>
        <p:nvSpPr>
          <p:cNvPr id="105" name="Center"/>
          <p:cNvSpPr txBox="1"/>
          <p:nvPr/>
        </p:nvSpPr>
        <p:spPr>
          <a:xfrm>
            <a:off x="365760" y="2330000"/>
            <a:ext cx="8412480" cy="108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800" b="1" i="0" dirty="0">
                <a:solidFill>
                  <a:srgbClr val="8E6F3E"/>
                </a:solidFill>
              </a:rPr>
              <a:t xml:space="preserve">What is the least scaffolding this delegate needs for reliable realization?</a:t>
            </a:r>
          </a:p>
        </p:txBody>
      </p:sp>
      <p:sp>
        <p:nvSpPr>
          <p:cNvPr id="106" name="ProdQ"/>
          <p:cNvSpPr txBox="1"/>
          <p:nvPr/>
        </p:nvSpPr>
        <p:spPr>
          <a:xfrm>
            <a:off x="365760" y="3520000"/>
            <a:ext cx="4100000" cy="620000"/>
          </a:xfrm>
          <a:prstGeom prst="rect">
            <a:avLst/>
          </a:prstGeom>
          <a:solidFill>
            <a:srgbClr val="F5F1E8"/>
          </a:solidFill>
          <a:ln w="12700">
            <a:solidFill>
              <a:srgbClr val="C9B991"/>
            </a:solidFill>
          </a:ln>
        </p:spPr>
        <p:txBody>
          <a:bodyPr wrap="square" lIns="91440" tIns="45720" rIns="91440" bIns="45720" anchor="ctr"/>
          <a:lstStyle/>
          <a:p>
            <a:pPr algn="ctr">
              <a:spcAft>
                <a:spcPts val="300"/>
              </a:spcAft>
              <a:buNone/>
            </a:pPr>
            <a:r>
              <a:rPr lang="en-US" sz="1100" b="1" i="0" dirty="0">
                <a:solidFill>
                  <a:srgbClr val="8E6F3E"/>
                </a:solidFill>
              </a:rPr>
              <a:t xml:space="preserve">PRODUCT QUESTION</a:t>
            </a:r>
          </a:p>
          <a:p>
            <a:pPr algn="ctr">
              <a:spcAft>
                <a:spcPts val="0"/>
              </a:spcAft>
              <a:buNone/>
            </a:pPr>
            <a:r>
              <a:rPr lang="en-US" sz="1200" b="0" i="0" dirty="0">
                <a:solidFill>
                  <a:srgbClr val="5C4826"/>
                </a:solidFill>
              </a:rPr>
              <a:t xml:space="preserve">What distinctions must the model preserve?</a:t>
            </a:r>
          </a:p>
        </p:txBody>
      </p:sp>
      <p:sp>
        <p:nvSpPr>
          <p:cNvPr id="107" name="DelQ"/>
          <p:cNvSpPr txBox="1"/>
          <p:nvPr/>
        </p:nvSpPr>
        <p:spPr>
          <a:xfrm>
            <a:off x="4678240" y="3520000"/>
            <a:ext cx="4100000" cy="620000"/>
          </a:xfrm>
          <a:prstGeom prst="rect">
            <a:avLst/>
          </a:prstGeom>
          <a:solidFill>
            <a:srgbClr val="F5F1E8"/>
          </a:solidFill>
          <a:ln w="12700">
            <a:solidFill>
              <a:srgbClr val="C9B991"/>
            </a:solidFill>
          </a:ln>
        </p:spPr>
        <p:txBody>
          <a:bodyPr wrap="square" lIns="91440" tIns="45720" rIns="91440" bIns="45720" anchor="ctr"/>
          <a:lstStyle/>
          <a:p>
            <a:pPr algn="ctr">
              <a:spcAft>
                <a:spcPts val="300"/>
              </a:spcAft>
              <a:buNone/>
            </a:pPr>
            <a:r>
              <a:rPr lang="en-US" sz="1100" b="1" i="0" dirty="0">
                <a:solidFill>
                  <a:srgbClr val="8E6F3E"/>
                </a:solidFill>
              </a:rPr>
              <a:t xml:space="preserve">DELEGATION QUESTION</a:t>
            </a:r>
          </a:p>
          <a:p>
            <a:pPr algn="ctr">
              <a:spcAft>
                <a:spcPts val="0"/>
              </a:spcAft>
              <a:buNone/>
            </a:pPr>
            <a:r>
              <a:rPr lang="en-US" sz="1200" b="0" i="0" dirty="0">
                <a:solidFill>
                  <a:srgbClr val="5C4826"/>
                </a:solidFill>
              </a:rPr>
              <a:t xml:space="preserve">What additional distinctions must this fabricator be given?</a:t>
            </a:r>
          </a:p>
        </p:txBody>
      </p:sp>
      <p:sp>
        <p:nvSpPr>
          <p:cNvPr id="110" name="Cap1"/>
          <p:cNvSpPr txBox="1"/>
          <p:nvPr/>
        </p:nvSpPr>
        <p:spPr>
          <a:xfrm>
            <a:off x="365760" y="4270000"/>
            <a:ext cx="1560000" cy="820000"/>
          </a:xfrm>
          <a:prstGeom prst="rect">
            <a:avLst/>
          </a:prstGeom>
          <a:solidFill>
            <a:srgbClr val="F5F1E8"/>
          </a:solidFill>
          <a:ln w="12700">
            <a:solidFill>
              <a:srgbClr val="C9B991"/>
            </a:solidFill>
          </a:ln>
        </p:spPr>
        <p:txBody>
          <a:bodyPr wrap="square" lIns="45720" tIns="45720" rIns="45720" bIns="45720" anchor="ctr"/>
          <a:lstStyle/>
          <a:p>
            <a:pPr algn="ctr">
              <a:spcAft>
                <a:spcPts val="150"/>
              </a:spcAft>
              <a:buNone/>
            </a:pPr>
            <a:r>
              <a:rPr lang="en-US" sz="1100" b="1" i="0" dirty="0">
                <a:solidFill>
                  <a:srgbClr val="5C4826"/>
                </a:solidFill>
              </a:rPr>
              <a:t xml:space="preserve">MORE CAPABLE</a:t>
            </a:r>
          </a:p>
          <a:p>
            <a:pPr algn="ctr">
              <a:spcAft>
                <a:spcPts val="0"/>
              </a:spcAft>
              <a:buNone/>
            </a:pPr>
            <a:r>
              <a:rPr lang="en-US" sz="1100" b="1" i="0" dirty="0">
                <a:solidFill>
                  <a:srgbClr val="5C4826"/>
                </a:solidFill>
              </a:rPr>
              <a:t xml:space="preserve">DELEGATE</a:t>
            </a:r>
          </a:p>
        </p:txBody>
      </p:sp>
      <p:sp>
        <p:nvSpPr>
          <p:cNvPr id="111" name="Cap2"/>
          <p:cNvSpPr txBox="1"/>
          <p:nvPr/>
        </p:nvSpPr>
        <p:spPr>
          <a:xfrm>
            <a:off x="2145760" y="4270000"/>
            <a:ext cx="1560000" cy="820000"/>
          </a:xfrm>
          <a:prstGeom prst="rect">
            <a:avLst/>
          </a:prstGeom>
          <a:solidFill>
            <a:srgbClr val="F5F1E8"/>
          </a:solidFill>
          <a:ln w="12700">
            <a:solidFill>
              <a:srgbClr val="C9B991"/>
            </a:solidFill>
          </a:ln>
        </p:spPr>
        <p:txBody>
          <a:bodyPr wrap="square" lIns="45720" tIns="45720" rIns="45720" bIns="45720" anchor="ctr"/>
          <a:lstStyle/>
          <a:p>
            <a:pPr algn="ctr">
              <a:spcAft>
                <a:spcPts val="150"/>
              </a:spcAft>
              <a:buNone/>
            </a:pPr>
            <a:r>
              <a:rPr lang="en-US" sz="1100" b="1" i="0" dirty="0">
                <a:solidFill>
                  <a:srgbClr val="5C4826"/>
                </a:solidFill>
              </a:rPr>
              <a:t xml:space="preserve">LESS SCAFFOLDING</a:t>
            </a:r>
          </a:p>
          <a:p>
            <a:pPr algn="ctr">
              <a:spcAft>
                <a:spcPts val="0"/>
              </a:spcAft>
              <a:buNone/>
            </a:pPr>
            <a:r>
              <a:rPr lang="en-US" sz="1100" b="1" i="0" dirty="0">
                <a:solidFill>
                  <a:srgbClr val="5C4826"/>
                </a:solidFill>
              </a:rPr>
              <a:t xml:space="preserve">NEEDED</a:t>
            </a:r>
          </a:p>
        </p:txBody>
      </p:sp>
      <p:sp>
        <p:nvSpPr>
          <p:cNvPr id="112" name="Cap3"/>
          <p:cNvSpPr txBox="1"/>
          <p:nvPr/>
        </p:nvSpPr>
        <p:spPr>
          <a:xfrm>
            <a:off x="3925760" y="4270000"/>
            <a:ext cx="1560000" cy="820000"/>
          </a:xfrm>
          <a:prstGeom prst="rect">
            <a:avLst/>
          </a:prstGeom>
          <a:solidFill>
            <a:srgbClr val="F5F1E8"/>
          </a:solidFill>
          <a:ln w="12700">
            <a:solidFill>
              <a:srgbClr val="C9B991"/>
            </a:solidFill>
          </a:ln>
        </p:spPr>
        <p:txBody>
          <a:bodyPr wrap="square" lIns="45720" tIns="45720" rIns="45720" bIns="45720" anchor="ctr"/>
          <a:lstStyle/>
          <a:p>
            <a:pPr algn="ctr">
              <a:spcAft>
                <a:spcPts val="150"/>
              </a:spcAft>
              <a:buNone/>
            </a:pPr>
            <a:r>
              <a:rPr lang="en-US" sz="1100" b="1" i="0" dirty="0">
                <a:solidFill>
                  <a:srgbClr val="5C4826"/>
                </a:solidFill>
              </a:rPr>
              <a:t xml:space="preserve">MORE LEGITIMATE</a:t>
            </a:r>
          </a:p>
          <a:p>
            <a:pPr algn="ctr">
              <a:spcAft>
                <a:spcPts val="0"/>
              </a:spcAft>
              <a:buNone/>
            </a:pPr>
            <a:r>
              <a:rPr lang="en-US" sz="1100" b="1" i="0" dirty="0">
                <a:solidFill>
                  <a:srgbClr val="5C4826"/>
                </a:solidFill>
              </a:rPr>
              <a:t xml:space="preserve">FREEDOM</a:t>
            </a:r>
          </a:p>
        </p:txBody>
      </p:sp>
      <p:sp>
        <p:nvSpPr>
          <p:cNvPr id="116" name="Arr1"/>
          <p:cNvSpPr/>
          <p:nvPr/>
        </p:nvSpPr>
        <p:spPr>
          <a:xfrm>
            <a:off x="1925760" y="4590000"/>
            <a:ext cx="220000" cy="180000"/>
          </a:xfrm>
          <a:prstGeom prst="rightArrow">
            <a:avLst/>
          </a:prstGeom>
          <a:solidFill>
            <a:srgbClr val="8E6F3E"/>
          </a:solidFill>
          <a:ln>
            <a:noFill/>
          </a:ln>
        </p:spPr>
        <p:txBody>
          <a:bodyPr wrap="square" lIns="91440" tIns="45720" rIns="91440" bIns="45720" anchor="ctr"/>
          <a:lstStyle/>
          <a:p>
            <a:pPr>
              <a:buNone/>
            </a:pPr>
            <a:endParaRPr lang="en-US"/>
          </a:p>
        </p:txBody>
      </p:sp>
      <p:sp>
        <p:nvSpPr>
          <p:cNvPr id="117" name="Arr2"/>
          <p:cNvSpPr/>
          <p:nvPr/>
        </p:nvSpPr>
        <p:spPr>
          <a:xfrm>
            <a:off x="3705760" y="4590000"/>
            <a:ext cx="220000" cy="180000"/>
          </a:xfrm>
          <a:prstGeom prst="rightArrow">
            <a:avLst/>
          </a:prstGeom>
          <a:solidFill>
            <a:srgbClr val="8E6F3E"/>
          </a:solidFill>
          <a:ln>
            <a:noFill/>
          </a:ln>
        </p:spPr>
        <p:txBody>
          <a:bodyPr wrap="square" lIns="91440" tIns="45720" rIns="91440" bIns="45720" anchor="ctr"/>
          <a:lstStyle/>
          <a:p>
            <a:pPr>
              <a:buNone/>
            </a:pPr>
            <a:endParaRPr lang="en-US"/>
          </a:p>
        </p:txBody>
      </p:sp>
      <p:sp>
        <p:nvSpPr>
          <p:cNvPr id="118" name="Wall1"/>
          <p:cNvSpPr txBox="1"/>
          <p:nvPr/>
        </p:nvSpPr>
        <p:spPr>
          <a:xfrm>
            <a:off x="5684305" y="4270000"/>
            <a:ext cx="19050" cy="820000"/>
          </a:xfrm>
          <a:prstGeom prst="rect">
            <a:avLst/>
          </a:prstGeom>
          <a:solidFill>
            <a:srgbClr val="8E6F3E"/>
          </a:solidFill>
          <a:ln>
            <a:noFill/>
          </a:ln>
        </p:spPr>
        <p:txBody>
          <a:bodyPr wrap="square" lIns="91440" tIns="45720" rIns="91440" bIns="45720" anchor="ctr"/>
          <a:lstStyle/>
          <a:p>
            <a:pPr>
              <a:buNone/>
            </a:pPr>
            <a:endParaRPr lang="en-US"/>
          </a:p>
        </p:txBody>
      </p:sp>
      <p:sp>
        <p:nvSpPr>
          <p:cNvPr id="108" name="Wall2"/>
          <p:cNvSpPr txBox="1"/>
          <p:nvPr/>
        </p:nvSpPr>
        <p:spPr>
          <a:xfrm>
            <a:off x="5722405" y="4270000"/>
            <a:ext cx="19050" cy="820000"/>
          </a:xfrm>
          <a:prstGeom prst="rect">
            <a:avLst/>
          </a:prstGeom>
          <a:solidFill>
            <a:srgbClr val="8E6F3E"/>
          </a:solidFill>
          <a:ln>
            <a:noFill/>
          </a:ln>
        </p:spPr>
        <p:txBody>
          <a:bodyPr wrap="square" lIns="91440" tIns="45720" rIns="91440" bIns="45720" anchor="ctr"/>
          <a:lstStyle/>
          <a:p>
            <a:pPr>
              <a:buNone/>
            </a:pPr>
            <a:endParaRPr lang="en-US"/>
          </a:p>
        </p:txBody>
      </p:sp>
      <p:sp>
        <p:nvSpPr>
          <p:cNvPr id="119" name="OblBox"/>
          <p:cNvSpPr txBox="1"/>
          <p:nvPr/>
        </p:nvSpPr>
        <p:spPr>
          <a:xfrm>
            <a:off x="5940000" y="4270000"/>
            <a:ext cx="2838240" cy="820000"/>
          </a:xfrm>
          <a:prstGeom prst="rect">
            <a:avLst/>
          </a:prstGeom>
          <a:solidFill>
            <a:srgbClr val="FBF8F2"/>
          </a:solidFill>
          <a:ln w="19050">
            <a:solidFill>
              <a:srgbClr val="8E6F3E"/>
            </a:solidFill>
          </a:ln>
        </p:spPr>
        <p:txBody>
          <a:bodyPr wrap="square" lIns="91440" tIns="45720" rIns="91440" bIns="45720" anchor="ctr"/>
          <a:lstStyle/>
          <a:p>
            <a:pPr algn="ctr">
              <a:spcAft>
                <a:spcPts val="250"/>
              </a:spcAft>
              <a:buNone/>
            </a:pPr>
            <a:r>
              <a:rPr lang="en-US" sz="1100" b="1" i="0" dirty="0">
                <a:solidFill>
                  <a:srgbClr val="8E6F3E"/>
                </a:solidFill>
              </a:rPr>
              <a:t xml:space="preserve">PRODUCT OBLIGATION</a:t>
            </a:r>
          </a:p>
          <a:p>
            <a:pPr algn="ctr">
              <a:spcAft>
                <a:spcPts val="0"/>
              </a:spcAft>
              <a:buNone/>
            </a:pPr>
            <a:r>
              <a:rPr lang="en-US" sz="1600" b="1" i="0" dirty="0">
                <a:solidFill>
                  <a:srgbClr val="5C4826"/>
                </a:solidFill>
              </a:rPr>
              <a:t xml:space="preserve">unchanged</a:t>
            </a:r>
          </a:p>
        </p:txBody>
      </p:sp>
      <p:sp>
        <p:nvSpPr>
          <p:cNvPr id="130" name="QRPlaceholder" descr="Dashed outline marking the slot where the feedback form's QR code will go."/>
          <p:cNvSpPr txBox="1"/>
          <p:nvPr/>
        </p:nvSpPr>
        <p:spPr>
          <a:xfrm>
            <a:off x="7878240" y="5300000"/>
            <a:ext cx="900000" cy="980000"/>
          </a:xfrm>
          <a:prstGeom prst="rect">
            <a:avLst/>
          </a:prstGeom>
          <a:solidFill>
            <a:srgbClr val="FBF8F2"/>
          </a:solidFill>
          <a:ln w="15875">
            <a:solidFill>
              <a:srgbClr val="C9B991"/>
            </a:solidFill>
            <a:prstDash val="dash"/>
          </a:ln>
        </p:spPr>
        <p:txBody>
          <a:bodyPr wrap="square" lIns="27432" tIns="27432" rIns="27432" bIns="22860" anchor="b"/>
          <a:lstStyle/>
          <a:p>
            <a:pPr algn="ctr">
              <a:spcAft>
                <a:spcPts val="0"/>
              </a:spcAft>
              <a:buNone/>
            </a:pPr>
            <a:r>
              <a:rPr lang="en-US" sz="900" b="0" i="0" dirty="0">
                <a:solidFill>
                  <a:srgbClr val="5C4826"/>
                </a:solidFill>
              </a:rPr>
              <a:t xml:space="preserve">Feedback QR</a:t>
            </a:r>
          </a:p>
        </p:txBody>
      </p:sp>
      <p:grpSp>
        <p:nvGrpSpPr>
          <p:cNvPr id="131" name="QRVoidMark" descr="A large red X across the slot: the feedback form QR code has not been added yet."/>
          <p:cNvGrpSpPr/>
          <p:nvPr/>
        </p:nvGrpSpPr>
        <p:grpSpPr>
          <a:xfrm>
            <a:off x="8018240" y="5390000"/>
            <a:ext cx="620000" cy="620000"/>
            <a:chOff x="8018240" y="5390000"/>
            <a:chExt cx="620000" cy="620000"/>
          </a:xfrm>
        </p:grpSpPr>
        <p:cxnSp>
          <p:nvCxnSpPr>
            <p:cNvPr id="132" name="QRVoidStrokeTLBR"/>
            <p:cNvCxnSpPr/>
            <p:nvPr/>
          </p:nvCxnSpPr>
          <p:spPr>
            <a:xfrm>
              <a:off x="8018240" y="5390000"/>
              <a:ext cx="620000" cy="620000"/>
            </a:xfrm>
            <a:prstGeom prst="straightConnector1">
              <a:avLst/>
            </a:prstGeom>
            <a:ln w="25400" cap="rnd">
              <a:solidFill>
                <a:srgbClr val="C00000"/>
              </a:solidFill>
              <a:round/>
            </a:ln>
          </p:spPr>
        </p:cxnSp>
        <p:cxnSp>
          <p:nvCxnSpPr>
            <p:cNvPr id="133" name="QRVoidStrokeTRBL"/>
            <p:cNvCxnSpPr/>
            <p:nvPr/>
          </p:nvCxnSpPr>
          <p:spPr>
            <a:xfrm flipH="1">
              <a:off x="8018240" y="5390000"/>
              <a:ext cx="620000" cy="620000"/>
            </a:xfrm>
            <a:prstGeom prst="straightConnector1">
              <a:avLst/>
            </a:prstGeom>
            <a:ln w="25400" cap="rnd">
              <a:solidFill>
                <a:srgbClr val="C00000"/>
              </a:solidFill>
              <a:roun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fade">
                                      <p:cBhvr>
                                        <p:cTn id="7" dur="500"/>
                                        <p:tgtEl>
                                          <p:spTgt spid="103"/>
                                        </p:tgtEl>
                                      </p:cBhvr>
                                    </p:animEffect>
                                  </p:childTnLst>
                                </p:cTn>
                              </p:par>
                              <p:par>
                                <p:cTn id="8" presetID="10" presetClass="entr" presetSubtype="0" fill="hold" nodeType="withEffect">
                                  <p:stCondLst>
                                    <p:cond delay="0"/>
                                  </p:stCondLst>
                                  <p:childTnLst>
                                    <p:set>
                                      <p:cBhvr>
                                        <p:cTn id="9" dur="1" fill="hold">
                                          <p:stCondLst>
                                            <p:cond delay="0"/>
                                          </p:stCondLst>
                                        </p:cTn>
                                        <p:tgtEl>
                                          <p:spTgt spid="104"/>
                                        </p:tgtEl>
                                        <p:attrNameLst>
                                          <p:attrName>style.visibility</p:attrName>
                                        </p:attrNameLst>
                                      </p:cBhvr>
                                      <p:to>
                                        <p:strVal val="visible"/>
                                      </p:to>
                                    </p:set>
                                    <p:animEffect transition="in" filter="fade">
                                      <p:cBhvr>
                                        <p:cTn id="10" dur="500"/>
                                        <p:tgtEl>
                                          <p:spTgt spid="10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5"/>
                                        </p:tgtEl>
                                        <p:attrNameLst>
                                          <p:attrName>style.visibility</p:attrName>
                                        </p:attrNameLst>
                                      </p:cBhvr>
                                      <p:to>
                                        <p:strVal val="visible"/>
                                      </p:to>
                                    </p:set>
                                    <p:animEffect transition="in" filter="fade">
                                      <p:cBhvr>
                                        <p:cTn id="15" dur="500"/>
                                        <p:tgtEl>
                                          <p:spTgt spid="10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06"/>
                                        </p:tgtEl>
                                        <p:attrNameLst>
                                          <p:attrName>style.visibility</p:attrName>
                                        </p:attrNameLst>
                                      </p:cBhvr>
                                      <p:to>
                                        <p:strVal val="visible"/>
                                      </p:to>
                                    </p:set>
                                    <p:animEffect transition="in" filter="fade">
                                      <p:cBhvr>
                                        <p:cTn id="20" dur="500"/>
                                        <p:tgtEl>
                                          <p:spTgt spid="106"/>
                                        </p:tgtEl>
                                      </p:cBhvr>
                                    </p:animEffect>
                                  </p:childTnLst>
                                </p:cTn>
                              </p:par>
                              <p:par>
                                <p:cTn id="21" presetID="10" presetClass="entr" presetSubtype="0" fill="hold" nodeType="withEffect">
                                  <p:stCondLst>
                                    <p:cond delay="0"/>
                                  </p:stCondLst>
                                  <p:childTnLst>
                                    <p:set>
                                      <p:cBhvr>
                                        <p:cTn id="22" dur="1" fill="hold">
                                          <p:stCondLst>
                                            <p:cond delay="0"/>
                                          </p:stCondLst>
                                        </p:cTn>
                                        <p:tgtEl>
                                          <p:spTgt spid="107"/>
                                        </p:tgtEl>
                                        <p:attrNameLst>
                                          <p:attrName>style.visibility</p:attrName>
                                        </p:attrNameLst>
                                      </p:cBhvr>
                                      <p:to>
                                        <p:strVal val="visible"/>
                                      </p:to>
                                    </p:set>
                                    <p:animEffect transition="in" filter="fade">
                                      <p:cBhvr>
                                        <p:cTn id="23" dur="500"/>
                                        <p:tgtEl>
                                          <p:spTgt spid="10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10"/>
                                        </p:tgtEl>
                                        <p:attrNameLst>
                                          <p:attrName>style.visibility</p:attrName>
                                        </p:attrNameLst>
                                      </p:cBhvr>
                                      <p:to>
                                        <p:strVal val="visible"/>
                                      </p:to>
                                    </p:set>
                                    <p:animEffect transition="in" filter="fade">
                                      <p:cBhvr>
                                        <p:cTn id="28" dur="500"/>
                                        <p:tgtEl>
                                          <p:spTgt spid="110"/>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16"/>
                                        </p:tgtEl>
                                        <p:attrNameLst>
                                          <p:attrName>style.visibility</p:attrName>
                                        </p:attrNameLst>
                                      </p:cBhvr>
                                      <p:to>
                                        <p:strVal val="visible"/>
                                      </p:to>
                                    </p:set>
                                    <p:animEffect transition="in" filter="fade">
                                      <p:cBhvr>
                                        <p:cTn id="33" dur="500"/>
                                        <p:tgtEl>
                                          <p:spTgt spid="116"/>
                                        </p:tgtEl>
                                      </p:cBhvr>
                                    </p:animEffect>
                                  </p:childTnLst>
                                </p:cTn>
                              </p:par>
                              <p:par>
                                <p:cTn id="34" presetID="10" presetClass="entr" presetSubtype="0" fill="hold" nodeType="withEffect">
                                  <p:stCondLst>
                                    <p:cond delay="0"/>
                                  </p:stCondLst>
                                  <p:childTnLst>
                                    <p:set>
                                      <p:cBhvr>
                                        <p:cTn id="35" dur="1" fill="hold">
                                          <p:stCondLst>
                                            <p:cond delay="0"/>
                                          </p:stCondLst>
                                        </p:cTn>
                                        <p:tgtEl>
                                          <p:spTgt spid="111"/>
                                        </p:tgtEl>
                                        <p:attrNameLst>
                                          <p:attrName>style.visibility</p:attrName>
                                        </p:attrNameLst>
                                      </p:cBhvr>
                                      <p:to>
                                        <p:strVal val="visible"/>
                                      </p:to>
                                    </p:set>
                                    <p:animEffect transition="in" filter="fade">
                                      <p:cBhvr>
                                        <p:cTn id="36" dur="500"/>
                                        <p:tgtEl>
                                          <p:spTgt spid="111"/>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7"/>
                                        </p:tgtEl>
                                        <p:attrNameLst>
                                          <p:attrName>style.visibility</p:attrName>
                                        </p:attrNameLst>
                                      </p:cBhvr>
                                      <p:to>
                                        <p:strVal val="visible"/>
                                      </p:to>
                                    </p:set>
                                    <p:animEffect transition="in" filter="fade">
                                      <p:cBhvr>
                                        <p:cTn id="41" dur="500"/>
                                        <p:tgtEl>
                                          <p:spTgt spid="117"/>
                                        </p:tgtEl>
                                      </p:cBhvr>
                                    </p:animEffect>
                                  </p:childTnLst>
                                </p:cTn>
                              </p:par>
                              <p:par>
                                <p:cTn id="42" presetID="10" presetClass="entr" presetSubtype="0" fill="hold" nodeType="withEffect">
                                  <p:stCondLst>
                                    <p:cond delay="0"/>
                                  </p:stCondLst>
                                  <p:childTnLst>
                                    <p:set>
                                      <p:cBhvr>
                                        <p:cTn id="43" dur="1" fill="hold">
                                          <p:stCondLst>
                                            <p:cond delay="0"/>
                                          </p:stCondLst>
                                        </p:cTn>
                                        <p:tgtEl>
                                          <p:spTgt spid="112"/>
                                        </p:tgtEl>
                                        <p:attrNameLst>
                                          <p:attrName>style.visibility</p:attrName>
                                        </p:attrNameLst>
                                      </p:cBhvr>
                                      <p:to>
                                        <p:strVal val="visible"/>
                                      </p:to>
                                    </p:set>
                                    <p:animEffect transition="in" filter="fade">
                                      <p:cBhvr>
                                        <p:cTn id="44" dur="500"/>
                                        <p:tgtEl>
                                          <p:spTgt spid="112"/>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18"/>
                                        </p:tgtEl>
                                        <p:attrNameLst>
                                          <p:attrName>style.visibility</p:attrName>
                                        </p:attrNameLst>
                                      </p:cBhvr>
                                      <p:to>
                                        <p:strVal val="visible"/>
                                      </p:to>
                                    </p:set>
                                    <p:animEffect transition="in" filter="fade">
                                      <p:cBhvr>
                                        <p:cTn id="49" dur="500"/>
                                        <p:tgtEl>
                                          <p:spTgt spid="118"/>
                                        </p:tgtEl>
                                      </p:cBhvr>
                                    </p:animEffect>
                                  </p:childTnLst>
                                </p:cTn>
                              </p:par>
                              <p:par>
                                <p:cTn id="50" presetID="10" presetClass="entr" presetSubtype="0" fill="hold" nodeType="withEffect">
                                  <p:stCondLst>
                                    <p:cond delay="0"/>
                                  </p:stCondLst>
                                  <p:childTnLst>
                                    <p:set>
                                      <p:cBhvr>
                                        <p:cTn id="51" dur="1" fill="hold">
                                          <p:stCondLst>
                                            <p:cond delay="0"/>
                                          </p:stCondLst>
                                        </p:cTn>
                                        <p:tgtEl>
                                          <p:spTgt spid="108"/>
                                        </p:tgtEl>
                                        <p:attrNameLst>
                                          <p:attrName>style.visibility</p:attrName>
                                        </p:attrNameLst>
                                      </p:cBhvr>
                                      <p:to>
                                        <p:strVal val="visible"/>
                                      </p:to>
                                    </p:set>
                                    <p:animEffect transition="in" filter="fade">
                                      <p:cBhvr>
                                        <p:cTn id="52" dur="500"/>
                                        <p:tgtEl>
                                          <p:spTgt spid="108"/>
                                        </p:tgtEl>
                                      </p:cBhvr>
                                    </p:animEffect>
                                  </p:childTnLst>
                                </p:cTn>
                              </p:par>
                              <p:par>
                                <p:cTn id="53" presetID="10" presetClass="entr" presetSubtype="0" fill="hold" nodeType="withEffect">
                                  <p:stCondLst>
                                    <p:cond delay="0"/>
                                  </p:stCondLst>
                                  <p:childTnLst>
                                    <p:set>
                                      <p:cBhvr>
                                        <p:cTn id="54" dur="1" fill="hold">
                                          <p:stCondLst>
                                            <p:cond delay="0"/>
                                          </p:stCondLst>
                                        </p:cTn>
                                        <p:tgtEl>
                                          <p:spTgt spid="119"/>
                                        </p:tgtEl>
                                        <p:attrNameLst>
                                          <p:attrName>style.visibility</p:attrName>
                                        </p:attrNameLst>
                                      </p:cBhvr>
                                      <p:to>
                                        <p:strVal val="visible"/>
                                      </p:to>
                                    </p:set>
                                    <p:animEffect transition="in" filter="fade">
                                      <p:cBhvr>
                                        <p:cTn id="55" dur="5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If code gets cheaper, which side of the ledger changes?</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04" name="RecallLbl"/>
          <p:cNvSpPr txBox="1"/>
          <p:nvPr/>
        </p:nvSpPr>
        <p:spPr>
          <a:xfrm>
            <a:off x="274320" y="1097280"/>
            <a:ext cx="8595360" cy="320040"/>
          </a:xfrm>
          <a:prstGeom prst="rect">
            <a:avLst/>
          </a:prstGeom>
          <a:noFill/>
          <a:ln>
            <a:noFill/>
          </a:ln>
        </p:spPr>
        <p:txBody>
          <a:bodyPr wrap="square" lIns="0" tIns="0" rIns="0" bIns="0" anchor="t"/>
          <a:lstStyle/>
          <a:p>
            <a:pPr algn="l">
              <a:spcAft>
                <a:spcPts val="0"/>
              </a:spcAft>
              <a:buNone/>
            </a:pPr>
            <a:r>
              <a:rPr lang="en-US" sz="1400" b="1" i="0" dirty="0">
                <a:solidFill>
                  <a:srgbClr val="8E6F3E"/>
                </a:solidFill>
              </a:rPr>
              <a:t xml:space="preserve">WE ASKED EARLIER</a:t>
            </a:r>
          </a:p>
        </p:txBody>
      </p:sp>
      <p:sp>
        <p:nvSpPr>
          <p:cNvPr id="105" name="Recall1"/>
          <p:cNvSpPr txBox="1"/>
          <p:nvPr/>
        </p:nvSpPr>
        <p:spPr>
          <a:xfrm>
            <a:off x="27432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If this works, why do software engineers draw boxes and arrows for a day, then go code for a week?</a:t>
            </a:r>
          </a:p>
        </p:txBody>
      </p:sp>
      <p:sp>
        <p:nvSpPr>
          <p:cNvPr id="106" name="Recall2"/>
          <p:cNvSpPr txBox="1"/>
          <p:nvPr/>
        </p:nvSpPr>
        <p:spPr>
          <a:xfrm>
            <a:off x="323088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Why is outsourcing software development so hard?</a:t>
            </a:r>
          </a:p>
        </p:txBody>
      </p:sp>
      <p:sp>
        <p:nvSpPr>
          <p:cNvPr id="107" name="Recall3"/>
          <p:cNvSpPr txBox="1"/>
          <p:nvPr/>
        </p:nvSpPr>
        <p:spPr>
          <a:xfrm>
            <a:off x="618744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And does GenAI change this?</a:t>
            </a:r>
          </a:p>
        </p:txBody>
      </p:sp>
      <p:sp>
        <p:nvSpPr>
          <p:cNvPr id="108" name="NewQ"/>
          <p:cNvSpPr txBox="1"/>
          <p:nvPr/>
        </p:nvSpPr>
        <p:spPr>
          <a:xfrm>
            <a:off x="274320" y="2926080"/>
            <a:ext cx="8595360" cy="118872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200" b="1" i="0" dirty="0">
                <a:solidFill>
                  <a:srgbClr val="8E6F3E"/>
                </a:solidFill>
              </a:rPr>
              <a:t xml:space="preserve">Suppose implementation becomes dramatically cheaper. How does that change the cost/benefit calculation for modeling?</a:t>
            </a:r>
          </a:p>
        </p:txBody>
      </p:sp>
      <p:sp>
        <p:nvSpPr>
          <p:cNvPr id="109" name="Close"/>
          <p:cNvSpPr txBox="1"/>
          <p:nvPr/>
        </p:nvSpPr>
        <p:spPr>
          <a:xfrm>
            <a:off x="274320" y="4663440"/>
            <a:ext cx="8595360" cy="1005840"/>
          </a:xfrm>
          <a:prstGeom prst="rect">
            <a:avLst/>
          </a:prstGeom>
          <a:noFill/>
          <a:ln>
            <a:noFill/>
          </a:ln>
        </p:spPr>
        <p:txBody>
          <a:bodyPr wrap="square" lIns="0" tIns="0" rIns="0" bIns="0" anchor="ctr"/>
          <a:lstStyle/>
          <a:p>
            <a:pPr algn="ctr">
              <a:spcAft>
                <a:spcPts val="0"/>
              </a:spcAft>
              <a:buNone/>
            </a:pPr>
            <a:r>
              <a:rPr lang="en-US" sz="1800" b="0" i="1" dirty="0">
                <a:solidFill>
                  <a:srgbClr val="5C4826"/>
                </a:solidFill>
              </a:rPr>
              <a:t xml:space="preserve">When is whiteboard + code economically rational,</a:t>
            </a:r>
          </a:p>
          <a:p>
            <a:pPr algn="ctr">
              <a:spcAft>
                <a:spcPts val="0"/>
              </a:spcAft>
              <a:buNone/>
            </a:pPr>
            <a:r>
              <a:rPr lang="en-US" sz="1800" b="0" i="1" dirty="0">
                <a:solidFill>
                  <a:srgbClr val="5C4826"/>
                </a:solidFill>
              </a:rPr>
              <a:t xml:space="preserve">and when is an explicit model worth maintaining?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8"/>
                                        </p:tgtEl>
                                        <p:attrNameLst>
                                          <p:attrName>style.visibility</p:attrName>
                                        </p:attrNameLst>
                                      </p:cBhvr>
                                      <p:to>
                                        <p:strVal val="visible"/>
                                      </p:to>
                                    </p:set>
                                    <p:animEffect transition="in" filter="fade">
                                      <p:cBhvr>
                                        <p:cTn id="7" dur="500"/>
                                        <p:tgtEl>
                                          <p:spTgt spid="10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9"/>
                                        </p:tgtEl>
                                        <p:attrNameLst>
                                          <p:attrName>style.visibility</p:attrName>
                                        </p:attrNameLst>
                                      </p:cBhvr>
                                      <p:to>
                                        <p:strVal val="visible"/>
                                      </p:to>
                                    </p:set>
                                    <p:animEffect transition="in" filter="fade">
                                      <p:cBhvr>
                                        <p:cTn id="12" dur="5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