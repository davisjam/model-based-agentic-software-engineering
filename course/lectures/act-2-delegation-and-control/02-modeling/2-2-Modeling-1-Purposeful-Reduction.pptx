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960000"/>
            <a:ext cx="8595360" cy="2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MORE SCAFFOLDING →</a:t>
            </a:r>
          </a:p>
        </p:txBody>
      </p:sp>
      <p:sp>
        <p:nvSpPr>
          <p:cNvPr id="128" name="VerdBand"/>
          <p:cNvSpPr txBox="1"/>
          <p:nvPr/>
        </p:nvSpPr>
        <p:spPr>
          <a:xfrm>
            <a:off x="274320" y="3545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330000"/>
            <a:ext cx="674420" cy="110000"/>
          </a:xfrm>
          <a:prstGeom prst="rect">
            <a:avLst/>
          </a:prstGeom>
          <a:solidFill>
            <a:srgbClr val="C9B991"/>
          </a:solidFill>
          <a:ln>
            <a:noFill/>
          </a:ln>
        </p:spPr>
        <p:txBody>
          <a:bodyPr/>
          <a:lstStyle/>
          <a:p/>
        </p:txBody>
      </p:sp>
      <p:sp>
        <p:nvSpPr>
          <p:cNvPr id="120" name="Name0"/>
          <p:cNvSpPr txBox="1"/>
          <p:nvPr/>
        </p:nvSpPr>
        <p:spPr>
          <a:xfrm>
            <a:off x="27432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 senior</a:t>
            </a:r>
            <a:br>
              <a:rPr lang="en-US" sz="1100" b="1" i="0"/>
            </a:br>
            <a:r>
              <a:rPr lang="en-US" sz="1100" b="1" i="0" dirty="0">
                <a:solidFill>
                  <a:srgbClr val="5C4826"/>
                </a:solidFill>
              </a:rPr>
              <a:t xml:space="preserve">engineer</a:t>
            </a:r>
          </a:p>
        </p:txBody>
      </p:sp>
      <p:sp>
        <p:nvSpPr>
          <p:cNvPr id="130" name="Verd0"/>
          <p:cNvSpPr txBox="1"/>
          <p:nvPr/>
        </p:nvSpPr>
        <p:spPr>
          <a:xfrm>
            <a:off x="27432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75000"/>
            <a:ext cx="674420" cy="265000"/>
          </a:xfrm>
          <a:prstGeom prst="rect">
            <a:avLst/>
          </a:prstGeom>
          <a:solidFill>
            <a:srgbClr val="C9B991"/>
          </a:solidFill>
          <a:ln>
            <a:noFill/>
          </a:ln>
        </p:spPr>
        <p:txBody>
          <a:bodyPr/>
          <a:lstStyle/>
          <a:p/>
        </p:txBody>
      </p:sp>
      <p:sp>
        <p:nvSpPr>
          <p:cNvPr id="121" name="Name1"/>
          <p:cNvSpPr txBox="1"/>
          <p:nvPr/>
        </p:nvSpPr>
        <p:spPr>
          <a:xfrm>
            <a:off x="134874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 junior</a:t>
            </a:r>
            <a:br>
              <a:rPr lang="en-US" sz="1100" b="1" i="0"/>
            </a:br>
            <a:r>
              <a:rPr lang="en-US" sz="1100" b="1" i="0" dirty="0">
                <a:solidFill>
                  <a:srgbClr val="5C4826"/>
                </a:solidFill>
              </a:rPr>
              <a:t xml:space="preserve">engineer</a:t>
            </a:r>
          </a:p>
        </p:txBody>
      </p:sp>
      <p:sp>
        <p:nvSpPr>
          <p:cNvPr id="131" name="Verd1"/>
          <p:cNvSpPr txBox="1"/>
          <p:nvPr/>
        </p:nvSpPr>
        <p:spPr>
          <a:xfrm>
            <a:off x="134874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2020000"/>
            <a:ext cx="674420" cy="420000"/>
          </a:xfrm>
          <a:prstGeom prst="rect">
            <a:avLst/>
          </a:prstGeom>
          <a:solidFill>
            <a:srgbClr val="C9B991"/>
          </a:solidFill>
          <a:ln>
            <a:noFill/>
          </a:ln>
        </p:spPr>
        <p:txBody>
          <a:bodyPr/>
          <a:lstStyle/>
          <a:p/>
        </p:txBody>
      </p:sp>
      <p:sp>
        <p:nvSpPr>
          <p:cNvPr id="122" name="Name2"/>
          <p:cNvSpPr txBox="1"/>
          <p:nvPr/>
        </p:nvSpPr>
        <p:spPr>
          <a:xfrm>
            <a:off x="242316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 Purdue</a:t>
            </a:r>
            <a:br>
              <a:rPr lang="en-US" sz="1100" b="1" i="0"/>
            </a:br>
            <a:r>
              <a:rPr lang="en-US" sz="1100" b="1" i="0" dirty="0">
                <a:solidFill>
                  <a:srgbClr val="5C4826"/>
                </a:solidFill>
              </a:rPr>
              <a:t xml:space="preserve">intern</a:t>
            </a:r>
          </a:p>
        </p:txBody>
      </p:sp>
      <p:sp>
        <p:nvSpPr>
          <p:cNvPr id="132" name="Verd2"/>
          <p:cNvSpPr txBox="1"/>
          <p:nvPr/>
        </p:nvSpPr>
        <p:spPr>
          <a:xfrm>
            <a:off x="242316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65000"/>
            <a:ext cx="674420" cy="575000"/>
          </a:xfrm>
          <a:prstGeom prst="rect">
            <a:avLst/>
          </a:prstGeom>
          <a:solidFill>
            <a:srgbClr val="C9B991"/>
          </a:solidFill>
          <a:ln>
            <a:noFill/>
          </a:ln>
        </p:spPr>
        <p:txBody>
          <a:bodyPr/>
          <a:lstStyle/>
          <a:p/>
        </p:txBody>
      </p:sp>
      <p:sp>
        <p:nvSpPr>
          <p:cNvPr id="123" name="Name3"/>
          <p:cNvSpPr txBox="1"/>
          <p:nvPr/>
        </p:nvSpPr>
        <p:spPr>
          <a:xfrm>
            <a:off x="349758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 IU</a:t>
            </a:r>
            <a:br>
              <a:rPr lang="en-US" sz="1100" b="1" i="0"/>
            </a:br>
            <a:r>
              <a:rPr lang="en-US" sz="1100" b="1" i="0" dirty="0">
                <a:solidFill>
                  <a:srgbClr val="5C4826"/>
                </a:solidFill>
              </a:rPr>
              <a:t xml:space="preserve">intern</a:t>
            </a:r>
          </a:p>
        </p:txBody>
      </p:sp>
      <p:sp>
        <p:nvSpPr>
          <p:cNvPr id="133" name="Verd3"/>
          <p:cNvSpPr txBox="1"/>
          <p:nvPr/>
        </p:nvSpPr>
        <p:spPr>
          <a:xfrm>
            <a:off x="349758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710000"/>
            <a:ext cx="674420" cy="730000"/>
          </a:xfrm>
          <a:prstGeom prst="rect">
            <a:avLst/>
          </a:prstGeom>
          <a:solidFill>
            <a:srgbClr val="C9B991"/>
          </a:solidFill>
          <a:ln>
            <a:noFill/>
          </a:ln>
        </p:spPr>
        <p:txBody>
          <a:bodyPr/>
          <a:lstStyle/>
          <a:p/>
        </p:txBody>
      </p:sp>
      <p:sp>
        <p:nvSpPr>
          <p:cNvPr id="124" name="Name4"/>
          <p:cNvSpPr txBox="1"/>
          <p:nvPr/>
        </p:nvSpPr>
        <p:spPr>
          <a:xfrm>
            <a:off x="457200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 high-school</a:t>
            </a:r>
            <a:br>
              <a:rPr lang="en-US" sz="1100" b="1" i="0"/>
            </a:br>
            <a:r>
              <a:rPr lang="en-US" sz="1100" b="1" i="0" dirty="0">
                <a:solidFill>
                  <a:srgbClr val="5C4826"/>
                </a:solidFill>
              </a:rPr>
              <a:t xml:space="preserve">intern</a:t>
            </a:r>
          </a:p>
        </p:txBody>
      </p:sp>
      <p:sp>
        <p:nvSpPr>
          <p:cNvPr id="134" name="Verd4"/>
          <p:cNvSpPr txBox="1"/>
          <p:nvPr/>
        </p:nvSpPr>
        <p:spPr>
          <a:xfrm>
            <a:off x="457200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555000"/>
            <a:ext cx="674420" cy="885000"/>
          </a:xfrm>
          <a:prstGeom prst="rect">
            <a:avLst/>
          </a:prstGeom>
          <a:solidFill>
            <a:srgbClr val="C9B991"/>
          </a:solidFill>
          <a:ln>
            <a:noFill/>
          </a:ln>
        </p:spPr>
        <p:txBody>
          <a:bodyPr/>
          <a:lstStyle/>
          <a:p/>
        </p:txBody>
      </p:sp>
      <p:sp>
        <p:nvSpPr>
          <p:cNvPr id="125" name="Name5"/>
          <p:cNvSpPr txBox="1"/>
          <p:nvPr/>
        </p:nvSpPr>
        <p:spPr>
          <a:xfrm>
            <a:off x="564642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10 babies</a:t>
            </a:r>
          </a:p>
        </p:txBody>
      </p:sp>
      <p:sp>
        <p:nvSpPr>
          <p:cNvPr id="135" name="Verd5"/>
          <p:cNvSpPr txBox="1"/>
          <p:nvPr/>
        </p:nvSpPr>
        <p:spPr>
          <a:xfrm>
            <a:off x="564642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400000"/>
            <a:ext cx="674420" cy="1040000"/>
          </a:xfrm>
          <a:prstGeom prst="rect">
            <a:avLst/>
          </a:prstGeom>
          <a:solidFill>
            <a:srgbClr val="C9B991"/>
          </a:solidFill>
          <a:ln>
            <a:noFill/>
          </a:ln>
        </p:spPr>
        <p:txBody>
          <a:bodyPr/>
          <a:lstStyle/>
          <a:p/>
        </p:txBody>
      </p:sp>
      <p:sp>
        <p:nvSpPr>
          <p:cNvPr id="126" name="Name6"/>
          <p:cNvSpPr txBox="1"/>
          <p:nvPr/>
        </p:nvSpPr>
        <p:spPr>
          <a:xfrm>
            <a:off x="672084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1,000</a:t>
            </a:r>
            <a:br>
              <a:rPr lang="en-US" sz="1100" b="1" i="0"/>
            </a:br>
            <a:r>
              <a:rPr lang="en-US" sz="1100" b="1" i="0" dirty="0">
                <a:solidFill>
                  <a:srgbClr val="5C4826"/>
                </a:solidFill>
              </a:rPr>
              <a:t xml:space="preserve">monkeys</a:t>
            </a:r>
          </a:p>
        </p:txBody>
      </p:sp>
      <p:sp>
        <p:nvSpPr>
          <p:cNvPr id="136" name="Verd6"/>
          <p:cNvSpPr txBox="1"/>
          <p:nvPr/>
        </p:nvSpPr>
        <p:spPr>
          <a:xfrm>
            <a:off x="672084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245000"/>
            <a:ext cx="674420" cy="1195000"/>
          </a:xfrm>
          <a:prstGeom prst="rect">
            <a:avLst/>
          </a:prstGeom>
          <a:solidFill>
            <a:srgbClr val="C9B991"/>
          </a:solidFill>
          <a:ln>
            <a:noFill/>
          </a:ln>
        </p:spPr>
        <p:txBody>
          <a:bodyPr/>
          <a:lstStyle/>
          <a:p/>
        </p:txBody>
      </p:sp>
      <p:sp>
        <p:nvSpPr>
          <p:cNvPr id="127" name="Name7"/>
          <p:cNvSpPr txBox="1"/>
          <p:nvPr/>
        </p:nvSpPr>
        <p:spPr>
          <a:xfrm>
            <a:off x="7795260" y="2520000"/>
            <a:ext cx="1074420" cy="1000000"/>
          </a:xfrm>
          <a:prstGeom prst="rect">
            <a:avLst/>
          </a:prstGeom>
          <a:noFill/>
          <a:ln>
            <a:noFill/>
          </a:ln>
        </p:spPr>
        <p:txBody>
          <a:bodyPr wrap="square" lIns="18288" tIns="0" rIns="18288" bIns="0" anchor="t"/>
          <a:lstStyle/>
          <a:p>
            <a:pPr algn="ctr">
              <a:spcAft>
                <a:spcPts val="0"/>
              </a:spcAft>
              <a:buNone/>
            </a:pPr>
            <a:r>
              <a:rPr lang="en-US" sz="1100" b="1" i="0" dirty="0">
                <a:solidFill>
                  <a:srgbClr val="5C4826"/>
                </a:solidFill>
              </a:rPr>
              <a:t xml:space="preserve">waves hitting</a:t>
            </a:r>
            <a:br>
              <a:rPr lang="en-US" sz="1100" b="1" i="0"/>
            </a:br>
            <a:r>
              <a:rPr lang="en-US" sz="1100" b="1" i="0" dirty="0">
                <a:solidFill>
                  <a:srgbClr val="5C4826"/>
                </a:solidFill>
              </a:rPr>
              <a:t xml:space="preserve">a rock</a:t>
            </a:r>
            <a:br>
              <a:rPr lang="en-US" sz="1100" b="1" i="0"/>
            </a:br>
            <a:r>
              <a:rPr lang="en-US" sz="1100" b="1" i="0" dirty="0">
                <a:solidFill>
                  <a:srgbClr val="5C4826"/>
                </a:solidFill>
              </a:rPr>
              <a:t xml:space="preserve">connected to</a:t>
            </a:r>
            <a:br>
              <a:rPr lang="en-US" sz="1100" b="1" i="0"/>
            </a:br>
            <a:r>
              <a:rPr lang="en-US" sz="1100" b="1" i="0" dirty="0">
                <a:solidFill>
                  <a:srgbClr val="5C4826"/>
                </a:solidFill>
              </a:rPr>
              <a:t xml:space="preserve">a keyboard</a:t>
            </a:r>
          </a:p>
        </p:txBody>
      </p:sp>
      <p:sp>
        <p:nvSpPr>
          <p:cNvPr id="137" name="Verd7"/>
          <p:cNvSpPr txBox="1"/>
          <p:nvPr/>
        </p:nvSpPr>
        <p:spPr>
          <a:xfrm>
            <a:off x="7795260" y="3570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90000"/>
            <a:ext cx="1074420" cy="700000"/>
          </a:xfrm>
          <a:prstGeom prst="rect">
            <a:avLst/>
          </a:prstGeom>
          <a:noFill/>
          <a:ln>
            <a:noFill/>
          </a:ln>
        </p:spPr>
        <p:txBody>
          <a:bodyPr wrap="square" lIns="18288" tIns="0" rIns="18288" bIns="0" anchor="t"/>
          <a:lstStyle/>
          <a:p>
            <a:pPr algn="ctr">
              <a:spcAft>
                <a:spcPts val="0"/>
              </a:spcAft>
              <a:buNone/>
            </a:pPr>
            <a:r>
              <a:rPr lang="en-US" sz="1100" b="0" i="1" dirty="0">
                <a:solidFill>
                  <a:srgbClr val="555960"/>
                </a:solidFill>
              </a:rPr>
              <a:t xml:space="preserve">give them the model</a:t>
            </a:r>
          </a:p>
        </p:txBody>
      </p:sp>
      <p:sp>
        <p:nvSpPr>
          <p:cNvPr id="141" name="Annot1"/>
          <p:cNvSpPr txBox="1"/>
          <p:nvPr/>
        </p:nvSpPr>
        <p:spPr>
          <a:xfrm>
            <a:off x="1348740" y="3990000"/>
            <a:ext cx="1074420" cy="700000"/>
          </a:xfrm>
          <a:prstGeom prst="rect">
            <a:avLst/>
          </a:prstGeom>
          <a:noFill/>
          <a:ln>
            <a:noFill/>
          </a:ln>
        </p:spPr>
        <p:txBody>
          <a:bodyPr wrap="square" lIns="18288" tIns="0" rIns="18288" bIns="0" anchor="t"/>
          <a:lstStyle/>
          <a:p>
            <a:pPr algn="ctr">
              <a:spcAft>
                <a:spcPts val="0"/>
              </a:spcAft>
              <a:buNone/>
            </a:pPr>
            <a:r>
              <a:rPr lang="en-US" sz="1100" b="0" i="1" dirty="0">
                <a:solidFill>
                  <a:srgbClr val="555960"/>
                </a:solidFill>
              </a:rPr>
              <a:t xml:space="preserve">maybe add some context</a:t>
            </a:r>
          </a:p>
        </p:txBody>
      </p:sp>
      <p:sp>
        <p:nvSpPr>
          <p:cNvPr id="142" name="Annot2"/>
          <p:cNvSpPr txBox="1"/>
          <p:nvPr/>
        </p:nvSpPr>
        <p:spPr>
          <a:xfrm>
            <a:off x="2423160" y="3990000"/>
            <a:ext cx="1074420" cy="700000"/>
          </a:xfrm>
          <a:prstGeom prst="rect">
            <a:avLst/>
          </a:prstGeom>
          <a:noFill/>
          <a:ln>
            <a:noFill/>
          </a:ln>
        </p:spPr>
        <p:txBody>
          <a:bodyPr wrap="square" lIns="18288" tIns="0" rIns="18288" bIns="0" anchor="t"/>
          <a:lstStyle/>
          <a:p>
            <a:pPr algn="ctr">
              <a:spcAft>
                <a:spcPts val="0"/>
              </a:spcAft>
              <a:buNone/>
            </a:pPr>
            <a:r>
              <a:rPr lang="en-US" sz="1100" b="0" i="1" dirty="0">
                <a:solidFill>
                  <a:srgbClr val="555960"/>
                </a:solidFill>
              </a:rPr>
              <a:t xml:space="preserve">add examples and constraints</a:t>
            </a:r>
          </a:p>
        </p:txBody>
      </p:sp>
      <p:sp>
        <p:nvSpPr>
          <p:cNvPr id="143" name="Annot3"/>
          <p:cNvSpPr txBox="1"/>
          <p:nvPr/>
        </p:nvSpPr>
        <p:spPr>
          <a:xfrm>
            <a:off x="3497580" y="3990000"/>
            <a:ext cx="1074420" cy="700000"/>
          </a:xfrm>
          <a:prstGeom prst="rect">
            <a:avLst/>
          </a:prstGeom>
          <a:noFill/>
          <a:ln>
            <a:noFill/>
          </a:ln>
        </p:spPr>
        <p:txBody>
          <a:bodyPr wrap="square" lIns="18288" tIns="0" rIns="18288" bIns="0" anchor="t"/>
          <a:lstStyle/>
          <a:p>
            <a:pPr algn="ctr">
              <a:spcAft>
                <a:spcPts val="0"/>
              </a:spcAft>
              <a:buNone/>
            </a:pPr>
            <a:r>
              <a:rPr lang="en-US" sz="1100" b="0" i="1" dirty="0">
                <a:solidFill>
                  <a:srgbClr val="555960"/>
                </a:solidFill>
              </a:rPr>
              <a:t xml:space="preserve">add more examples and constraints</a:t>
            </a:r>
          </a:p>
        </p:txBody>
      </p:sp>
      <p:sp>
        <p:nvSpPr>
          <p:cNvPr id="150" name="Line1"/>
          <p:cNvSpPr txBox="1"/>
          <p:nvPr/>
        </p:nvSpPr>
        <p:spPr>
          <a:xfrm>
            <a:off x="274320" y="4830000"/>
            <a:ext cx="8595360" cy="64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19000" y="1900000"/>
            <a:ext cx="306000" cy="36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19000" y="3310000"/>
            <a:ext cx="306000" cy="36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30000"/>
            <a:ext cx="8595360" cy="48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20000"/>
            <a:ext cx="8595360" cy="700000"/>
          </a:xfrm>
          <a:prstGeom prst="rect">
            <a:avLst/>
          </a:prstGeom>
          <a:noFill/>
          <a:ln>
            <a:noFill/>
          </a:ln>
        </p:spPr>
        <p:txBody>
          <a:bodyPr wrap="square" lIns="0" tIns="0" rIns="0" bIns="0" anchor="ctr"/>
          <a:lstStyle/>
          <a:p>
            <a:pPr algn="ctr">
              <a:spcAft>
                <a:spcPts val="0"/>
              </a:spcAft>
              <a:buNone/>
            </a:pPr>
            <a:r>
              <a:rPr lang="en-US" sz="32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200" b="0" i="0" dirty="0">
                <a:solidFill>
                  <a:srgbClr val="555960"/>
                </a:solidFill>
              </a:rPr>
              <a:t xml:space="preserve">obligations</a:t>
            </a:r>
          </a:p>
          <a:p>
            <a:pPr algn="ctr">
              <a:spcAft>
                <a:spcPts val="0"/>
              </a:spcAft>
              <a:buNone/>
            </a:pPr>
            <a:r>
              <a:rPr lang="en-US" sz="12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620000" cy="180000"/>
          </a:xfrm>
          <a:prstGeom prst="rightArrow">
            <a:avLst/>
          </a:prstGeom>
          <a:solidFill>
            <a:srgbClr val="8E6F3E"/>
          </a:solidFill>
          <a:ln>
            <a:noFill/>
          </a:ln>
        </p:spPr>
        <p:txBody>
          <a:bodyPr/>
          <a:lstStyle/>
          <a:p/>
        </p:txBody>
      </p:sp>
      <p:sp>
        <p:nvSpPr>
          <p:cNvPr id="106" name="Line1"/>
          <p:cNvSpPr txBox="1"/>
          <p:nvPr/>
        </p:nvSpPr>
        <p:spPr>
          <a:xfrm>
            <a:off x="274320" y="4420000"/>
            <a:ext cx="8595360" cy="86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420000"/>
            <a:ext cx="8595360" cy="66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