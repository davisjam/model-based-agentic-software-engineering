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Ask the correspondence question orally and hold it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to the next slide rather than forward to Alignment: if the model admits all three, why does anyone bother writing the code at all? That is the next slide’s first question.</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Spine strip: the PROPERTY stage is highlighted. FLAGGED, not a styling preference — Correspondence also highlights PROPERTY, so the strip does not advance monotonically across the four section headers. The tail reconciliation unit owns the ruling (Q-E).</a:t>
            </a:r>
          </a:p>
          <a:p>
            <a:r>
              <a:rPr lang="en-US" dirty="0"/>
              <a:t>Budget for the section: about eleven minutes. Header 0.5, the exercise 4-5, the reveal 1.5, the closing questions 4-5.</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Timebox the whole slide at four to five minutes and move even if the room is enjoying itself.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transfer understanding directly, so we encode it, ship it, and hope interpretation recovers the consequential part. That is the whole problem of delegation, human or otherwise.</a:t>
            </a:r>
          </a:p>
          <a:p>
            <a:r>
              <a:rPr lang="en-US" dirty="0"/>
              <a:t>Last click, then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decomposition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N6: “From requirement to specification”. Content and speaker notes owed by U-3 per restructure plan v2 §2.</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implemented</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1026947" y="868680"/>
            <a:ext cx="7090107"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And why is outsourcing software development so hard?</a:t>
            </a:r>
          </a:p>
        </p:txBody>
      </p:sp>
      <p:sp>
        <p:nvSpPr>
          <p:cNvPr id="130" name="EncodeLbl"/>
          <p:cNvSpPr txBox="1"/>
          <p:nvPr/>
        </p:nvSpPr>
        <p:spPr>
          <a:xfrm>
            <a:off x="2240280" y="2724912"/>
            <a:ext cx="141732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 xml:space="preserve">ENCODE</a:t>
            </a:r>
          </a:p>
        </p:txBody>
      </p:sp>
      <p:sp>
        <p:nvSpPr>
          <p:cNvPr id="131" name="InterpretLbl"/>
          <p:cNvSpPr txBox="1"/>
          <p:nvPr/>
        </p:nvSpPr>
        <p:spPr>
          <a:xfrm>
            <a:off x="5486400" y="2724912"/>
            <a:ext cx="141732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 xml:space="preserve">INTERPRET</a:t>
            </a:r>
          </a:p>
        </p:txBody>
      </p:sp>
      <p:sp>
        <p:nvSpPr>
          <p:cNvPr id="110" name="EngineerA"/>
          <p:cNvSpPr txBox="1"/>
          <p:nvPr/>
        </p:nvSpPr>
        <p:spPr>
          <a:xfrm>
            <a:off x="274320" y="3063240"/>
            <a:ext cx="2103120" cy="100584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800" b="1" i="0" dirty="0">
                <a:solidFill>
                  <a:srgbClr val="5C4826"/>
                </a:solidFill>
              </a:rPr>
              <a:t xml:space="preserve">ENGINEER A</a:t>
            </a:r>
          </a:p>
          <a:p>
            <a:pPr algn="ctr">
              <a:spcAft>
                <a:spcPts val="0"/>
              </a:spcAft>
              <a:buNone/>
            </a:pPr>
            <a:r>
              <a:rPr lang="en-US" sz="1100" b="0" i="1" dirty="0">
                <a:solidFill>
                  <a:srgbClr val="555960"/>
                </a:solidFill>
              </a:rPr>
              <a:t xml:space="preserve">intent · context · judgment</a:t>
            </a:r>
          </a:p>
        </p:txBody>
      </p:sp>
      <p:cxnSp>
        <p:nvCxnSpPr>
          <p:cNvPr id="120" name="Hop1"/>
          <p:cNvCxnSpPr/>
          <p:nvPr/>
        </p:nvCxnSpPr>
        <p:spPr>
          <a:xfrm>
            <a:off x="2468880" y="3566160"/>
            <a:ext cx="960120" cy="0"/>
          </a:xfrm>
          <a:prstGeom prst="straightConnector1">
            <a:avLst/>
          </a:prstGeom>
          <a:ln w="28575">
            <a:solidFill>
              <a:srgbClr val="8E6F3E"/>
            </a:solidFill>
            <a:tailEnd type="triangle" w="med" len="med"/>
          </a:ln>
        </p:spPr>
      </p:cxnSp>
      <p:sp>
        <p:nvSpPr>
          <p:cNvPr id="111" name="Representation"/>
          <p:cNvSpPr txBox="1"/>
          <p:nvPr/>
        </p:nvSpPr>
        <p:spPr>
          <a:xfrm>
            <a:off x="3520440" y="3063240"/>
            <a:ext cx="2103120" cy="100584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715000" y="3566160"/>
            <a:ext cx="960120" cy="0"/>
          </a:xfrm>
          <a:prstGeom prst="straightConnector1">
            <a:avLst/>
          </a:prstGeom>
          <a:ln w="28575">
            <a:solidFill>
              <a:srgbClr val="8E6F3E"/>
            </a:solidFill>
            <a:tailEnd type="triangle" w="med" len="med"/>
          </a:ln>
        </p:spPr>
      </p:cxnSp>
      <p:sp>
        <p:nvSpPr>
          <p:cNvPr id="112" name="EngineerB"/>
          <p:cNvSpPr txBox="1"/>
          <p:nvPr/>
        </p:nvSpPr>
        <p:spPr>
          <a:xfrm>
            <a:off x="6766560" y="3063240"/>
            <a:ext cx="2103120" cy="10058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0"/>
                                        </p:tgtEl>
                                        <p:attrNameLst>
                                          <p:attrName>style.visibility</p:attrName>
                                        </p:attrNameLst>
                                      </p:cBhvr>
                                      <p:to>
                                        <p:strVal val="visible"/>
                                      </p:to>
                                    </p:set>
                                    <p:animEffect transition="in" filter="fade">
                                      <p:cBhvr>
                                        <p:cTn id="17" dur="500"/>
                                        <p:tgtEl>
                                          <p:spTgt spid="130"/>
                                        </p:tgtEl>
                                      </p:cBhvr>
                                    </p:animEffect>
                                  </p:childTnLst>
                                </p:cTn>
                              </p:par>
                              <p:par>
                                <p:cTn id="18" presetID="10" presetClass="entr" presetSubtype="0" fill="hold" nodeType="withEffect">
                                  <p:stCondLst>
                                    <p:cond delay="0"/>
                                  </p:stCondLst>
                                  <p:childTnLst>
                                    <p:set>
                                      <p:cBhvr>
                                        <p:cTn id="19" dur="1" fill="hold">
                                          <p:stCondLst>
                                            <p:cond delay="0"/>
                                          </p:stCondLst>
                                        </p:cTn>
                                        <p:tgtEl>
                                          <p:spTgt spid="110"/>
                                        </p:tgtEl>
                                        <p:attrNameLst>
                                          <p:attrName>style.visibility</p:attrName>
                                        </p:attrNameLst>
                                      </p:cBhvr>
                                      <p:to>
                                        <p:strVal val="visible"/>
                                      </p:to>
                                    </p:set>
                                    <p:animEffect transition="in" filter="fade">
                                      <p:cBhvr>
                                        <p:cTn id="20" dur="500"/>
                                        <p:tgtEl>
                                          <p:spTgt spid="110"/>
                                        </p:tgtEl>
                                      </p:cBhvr>
                                    </p:animEffect>
                                  </p:childTnLst>
                                </p:cTn>
                              </p:par>
                              <p:par>
                                <p:cTn id="21" presetID="10" presetClass="entr" presetSubtype="0" fill="hold" nodeType="withEffect">
                                  <p:stCondLst>
                                    <p:cond delay="0"/>
                                  </p:stCondLst>
                                  <p:childTnLst>
                                    <p:set>
                                      <p:cBhvr>
                                        <p:cTn id="22" dur="1" fill="hold">
                                          <p:stCondLst>
                                            <p:cond delay="0"/>
                                          </p:stCondLst>
                                        </p:cTn>
                                        <p:tgtEl>
                                          <p:spTgt spid="120"/>
                                        </p:tgtEl>
                                        <p:attrNameLst>
                                          <p:attrName>style.visibility</p:attrName>
                                        </p:attrNameLst>
                                      </p:cBhvr>
                                      <p:to>
                                        <p:strVal val="visible"/>
                                      </p:to>
                                    </p:set>
                                    <p:animEffect transition="in" filter="fade">
                                      <p:cBhvr>
                                        <p:cTn id="23" dur="500"/>
                                        <p:tgtEl>
                                          <p:spTgt spid="120"/>
                                        </p:tgtEl>
                                      </p:cBhvr>
                                    </p:animEffect>
                                  </p:childTnLst>
                                </p:cTn>
                              </p:par>
                              <p:par>
                                <p:cTn id="24" presetID="10" presetClass="entr" presetSubtype="0" fill="hold" nodeType="with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par>
                                <p:cTn id="27" presetID="10" presetClass="entr" presetSubtype="0" fill="hold" nodeType="withEffect">
                                  <p:stCondLst>
                                    <p:cond delay="0"/>
                                  </p:stCondLst>
                                  <p:childTnLst>
                                    <p:set>
                                      <p:cBhvr>
                                        <p:cTn id="28" dur="1" fill="hold">
                                          <p:stCondLst>
                                            <p:cond delay="0"/>
                                          </p:stCondLst>
                                        </p:cTn>
                                        <p:tgtEl>
                                          <p:spTgt spid="121"/>
                                        </p:tgtEl>
                                        <p:attrNameLst>
                                          <p:attrName>style.visibility</p:attrName>
                                        </p:attrNameLst>
                                      </p:cBhvr>
                                      <p:to>
                                        <p:strVal val="visible"/>
                                      </p:to>
                                    </p:set>
                                    <p:animEffect transition="in" filter="fade">
                                      <p:cBhvr>
                                        <p:cTn id="29" dur="500"/>
                                        <p:tgtEl>
                                          <p:spTgt spid="121"/>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par>
                                <p:cTn id="33" presetID="10" presetClass="entr" presetSubtype="0" fill="hold" nodeType="withEffect">
                                  <p:stCondLst>
                                    <p:cond delay="0"/>
                                  </p:stCondLst>
                                  <p:childTnLst>
                                    <p:set>
                                      <p:cBhvr>
                                        <p:cTn id="34" dur="1" fill="hold">
                                          <p:stCondLst>
                                            <p:cond delay="0"/>
                                          </p:stCondLst>
                                        </p:cTn>
                                        <p:tgtEl>
                                          <p:spTgt spid="131"/>
                                        </p:tgtEl>
                                        <p:attrNameLst>
                                          <p:attrName>style.visibility</p:attrName>
                                        </p:attrNameLst>
                                      </p:cBhvr>
                                      <p:to>
                                        <p:strVal val="visible"/>
                                      </p:to>
                                    </p:set>
                                    <p:animEffect transition="in" filter="fade">
                                      <p:cBhvr>
                                        <p:cTn id="35" dur="500"/>
                                        <p:tgtEl>
                                          <p:spTgt spid="131"/>
                                        </p:tgtEl>
                                      </p:cBhvr>
                                    </p:animEffect>
                                  </p:childTnLst>
                                </p:cTn>
                              </p:par>
                              <p:par>
                                <p:cTn id="36" presetID="10" presetClass="entr" presetSubtype="0" fill="hold" nodeType="with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