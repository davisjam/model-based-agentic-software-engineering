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92" r:id="rId42"/>
    <p:sldId id="293" r:id="rId43"/>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same state machine they saw on the tour — the same image, not a redrawing. Say so: "you have seen this one." The recognition is the setup. If they think it is a new diagram, the slide does not work.</a:t>
            </a:r>
          </a:p>
          <a:p>
            <a:r>
              <a:rPr lang="en-US" dirty="0"/>
              <a:t>Three realizations, all on screen together. A state field plus transition logic; State objects, one class per state; a transition table an engine reads at runtime. None is more correct than the others, and the model does not choose between them.</a:t>
            </a:r>
          </a:p>
          <a:p>
            <a:r>
              <a:rPr lang="en-US" dirty="0"/>
              <a:t>Then the class question, and let it breathe — about a minute, no more. What has to remain true for each of these to correspond to the model? The answers you are fishing for: the four states exist and are distinguishable; the legal transitions are exactly those and no others; there is no path from Draft to Published.</a:t>
            </a:r>
          </a:p>
          <a:p>
            <a:r>
              <a:rPr lang="en-US" dirty="0"/>
              <a:t>This is what makes degrees of freedom concrete. Between the boundaries the model establishes, the implementation has enormous freedom — and that freedom is not sloppiness, it is what the reduction bought.</a:t>
            </a:r>
          </a:p>
          <a:p>
            <a:r>
              <a:rPr lang="en-US" dirty="0"/>
              <a:t>One sentence toward Alignment, then stop: Modeling says what correspondence MEANS; Alignment will ask how we establish and enforce it.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Start at the accented use case — Drop a course, the one drawn slightly accented back on the use-case tour slide. This is the callback that slide set up; now it pays.</a:t>
            </a:r>
          </a:p>
          <a:p>
            <a:r>
              <a:rPr lang="en-US" dirty="0"/>
              <a:t>Walk the chain downward once: the use case says what interaction must be supported; the sequence model says who collaborates; the state model says which transitions are legal; the data model says what must persist; then implementation.</a:t>
            </a:r>
          </a:p>
          <a:p>
            <a:r>
              <a:rPr lang="en-US" dirty="0"/>
              <a:t>Then immediately break the line. Two solid arrows leave the accented use case, so Drop a course induces more than one model. Then point at the three dashed arrows, which are the ones that break the single column: a second use case feeding the state model, the state model branching sideways to an interface model, and a second path into implementation. Say the words — this is NOT a mandatory waterfall.</a:t>
            </a:r>
          </a:p>
          <a:p>
            <a:r>
              <a:rPr lang="en-US" dirty="0"/>
              <a:t>TERMINOLOGY GUARD: model refinement, a system of models. Do NOT reach for the meta- prefix. A model of a modeling language — UML described in terms of its own constructs — is a different idea entirely.</a:t>
            </a:r>
          </a:p>
          <a:p>
            <a:r>
              <a:rPr lang="en-US" dirty="0"/>
              <a:t>Cliffhanger into the next lecture, one sentence, then move: one useful model is easy. A real system has many, and their meanings overlap.</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realizations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unchanged from the tour</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ClassQ"/>
          <p:cNvSpPr/>
          <p:nvPr/>
        </p:nvSpPr>
        <p:spPr>
          <a:xfrm>
            <a:off x="274320" y="4983480"/>
            <a:ext cx="85953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What has to remain true for each implementation to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Models refine into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40" name="UC1"/>
          <p:cNvSpPr/>
          <p:nvPr/>
        </p:nvSpPr>
        <p:spPr>
          <a:xfrm>
            <a:off x="1120140" y="1143000"/>
            <a:ext cx="2834640" cy="502920"/>
          </a:xfrm>
          <a:prstGeom prst="rect">
            <a:avLst/>
          </a:prstGeom>
          <a:solidFill>
            <a:srgbClr val="F5F1E8"/>
          </a:solidFill>
          <a:ln w="25400">
            <a:solidFill>
              <a:srgbClr val="8E6F3E"/>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Drop a course</a:t>
            </a:r>
          </a:p>
        </p:txBody>
      </p:sp>
      <p:sp>
        <p:nvSpPr>
          <p:cNvPr id="41" name="UC2"/>
          <p:cNvSpPr/>
          <p:nvPr/>
        </p:nvSpPr>
        <p:spPr>
          <a:xfrm>
            <a:off x="5326380" y="1143000"/>
            <a:ext cx="30175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Register for a section</a:t>
            </a:r>
          </a:p>
        </p:txBody>
      </p:sp>
      <p:sp>
        <p:nvSpPr>
          <p:cNvPr id="42" name="SEQ"/>
          <p:cNvSpPr/>
          <p:nvPr/>
        </p:nvSpPr>
        <p:spPr>
          <a:xfrm>
            <a:off x="80010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SEQUENCE MODEL</a:t>
            </a:r>
          </a:p>
        </p:txBody>
      </p:sp>
      <p:sp>
        <p:nvSpPr>
          <p:cNvPr id="43" name="STATE"/>
          <p:cNvSpPr/>
          <p:nvPr/>
        </p:nvSpPr>
        <p:spPr>
          <a:xfrm>
            <a:off x="386334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STATE MODEL</a:t>
            </a:r>
          </a:p>
        </p:txBody>
      </p:sp>
      <p:sp>
        <p:nvSpPr>
          <p:cNvPr id="44" name="DATA"/>
          <p:cNvSpPr/>
          <p:nvPr/>
        </p:nvSpPr>
        <p:spPr>
          <a:xfrm>
            <a:off x="2171700" y="3154680"/>
            <a:ext cx="26517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DATA / CLASS MODEL</a:t>
            </a:r>
          </a:p>
        </p:txBody>
      </p:sp>
      <p:sp>
        <p:nvSpPr>
          <p:cNvPr id="45" name="INTF"/>
          <p:cNvSpPr/>
          <p:nvPr/>
        </p:nvSpPr>
        <p:spPr>
          <a:xfrm>
            <a:off x="5509260" y="315468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INTERFACE MODEL</a:t>
            </a:r>
          </a:p>
        </p:txBody>
      </p:sp>
      <p:sp>
        <p:nvSpPr>
          <p:cNvPr id="46" name="IMPL"/>
          <p:cNvSpPr/>
          <p:nvPr/>
        </p:nvSpPr>
        <p:spPr>
          <a:xfrm>
            <a:off x="3223260" y="4160520"/>
            <a:ext cx="28346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IMPLEMENTATION</a:t>
            </a:r>
          </a:p>
        </p:txBody>
      </p:sp>
      <p:cxnSp>
        <p:nvCxnSpPr>
          <p:cNvPr id="150" name="A1"/>
          <p:cNvCxnSpPr/>
          <p:nvPr/>
        </p:nvCxnSpPr>
        <p:spPr>
          <a:xfrm>
            <a:off x="1828800" y="1645920"/>
            <a:ext cx="160020" cy="502920"/>
          </a:xfrm>
          <a:prstGeom prst="straightConnector1">
            <a:avLst/>
          </a:prstGeom>
          <a:ln w="19050">
            <a:solidFill>
              <a:srgbClr val="8E6F3E"/>
            </a:solidFill>
            <a:tailEnd type="triangle" w="med" len="med"/>
          </a:ln>
        </p:spPr>
      </p:cxnSp>
      <p:cxnSp>
        <p:nvCxnSpPr>
          <p:cNvPr id="151" name="A2"/>
          <p:cNvCxnSpPr/>
          <p:nvPr/>
        </p:nvCxnSpPr>
        <p:spPr>
          <a:xfrm>
            <a:off x="3017520" y="1645920"/>
            <a:ext cx="1371600" cy="502920"/>
          </a:xfrm>
          <a:prstGeom prst="straightConnector1">
            <a:avLst/>
          </a:prstGeom>
          <a:ln w="19050">
            <a:solidFill>
              <a:srgbClr val="8E6F3E"/>
            </a:solidFill>
            <a:tailEnd type="triangle" w="med" len="med"/>
          </a:ln>
        </p:spPr>
      </p:cxnSp>
      <p:cxnSp>
        <p:nvCxnSpPr>
          <p:cNvPr id="152" name="A3"/>
          <p:cNvCxnSpPr/>
          <p:nvPr/>
        </p:nvCxnSpPr>
        <p:spPr>
          <a:xfrm flipH="1">
            <a:off x="5715000" y="1645920"/>
            <a:ext cx="1120140" cy="502920"/>
          </a:xfrm>
          <a:prstGeom prst="straightConnector1">
            <a:avLst/>
          </a:prstGeom>
          <a:ln w="19050">
            <a:solidFill>
              <a:srgbClr val="8E6F3E"/>
            </a:solidFill>
            <a:prstDash val="dash"/>
            <a:tailEnd type="triangle" w="med" len="med"/>
          </a:ln>
        </p:spPr>
      </p:cxnSp>
      <p:cxnSp>
        <p:nvCxnSpPr>
          <p:cNvPr id="153" name="A4"/>
          <p:cNvCxnSpPr/>
          <p:nvPr/>
        </p:nvCxnSpPr>
        <p:spPr>
          <a:xfrm>
            <a:off x="1988820" y="2651760"/>
            <a:ext cx="937260" cy="502920"/>
          </a:xfrm>
          <a:prstGeom prst="straightConnector1">
            <a:avLst/>
          </a:prstGeom>
          <a:ln w="19050">
            <a:solidFill>
              <a:srgbClr val="8E6F3E"/>
            </a:solidFill>
            <a:tailEnd type="triangle" w="med" len="med"/>
          </a:ln>
        </p:spPr>
      </p:cxnSp>
      <p:cxnSp>
        <p:nvCxnSpPr>
          <p:cNvPr id="154" name="A5"/>
          <p:cNvCxnSpPr/>
          <p:nvPr/>
        </p:nvCxnSpPr>
        <p:spPr>
          <a:xfrm flipH="1">
            <a:off x="4069080" y="2651760"/>
            <a:ext cx="502920" cy="502920"/>
          </a:xfrm>
          <a:prstGeom prst="straightConnector1">
            <a:avLst/>
          </a:prstGeom>
          <a:ln w="19050">
            <a:solidFill>
              <a:srgbClr val="8E6F3E"/>
            </a:solidFill>
            <a:tailEnd type="triangle" w="med" len="med"/>
          </a:ln>
        </p:spPr>
      </p:cxnSp>
      <p:cxnSp>
        <p:nvCxnSpPr>
          <p:cNvPr id="155" name="A6"/>
          <p:cNvCxnSpPr/>
          <p:nvPr/>
        </p:nvCxnSpPr>
        <p:spPr>
          <a:xfrm>
            <a:off x="5486400" y="2651760"/>
            <a:ext cx="731520" cy="502920"/>
          </a:xfrm>
          <a:prstGeom prst="straightConnector1">
            <a:avLst/>
          </a:prstGeom>
          <a:ln w="19050">
            <a:solidFill>
              <a:srgbClr val="8E6F3E"/>
            </a:solidFill>
            <a:prstDash val="dash"/>
            <a:tailEnd type="triangle" w="med" len="med"/>
          </a:ln>
        </p:spPr>
      </p:cxnSp>
      <p:cxnSp>
        <p:nvCxnSpPr>
          <p:cNvPr id="156" name="A7"/>
          <p:cNvCxnSpPr/>
          <p:nvPr/>
        </p:nvCxnSpPr>
        <p:spPr>
          <a:xfrm>
            <a:off x="3497580" y="3657600"/>
            <a:ext cx="434340" cy="502920"/>
          </a:xfrm>
          <a:prstGeom prst="straightConnector1">
            <a:avLst/>
          </a:prstGeom>
          <a:ln w="19050">
            <a:solidFill>
              <a:srgbClr val="8E6F3E"/>
            </a:solidFill>
            <a:tailEnd type="triangle" w="med" len="med"/>
          </a:ln>
        </p:spPr>
      </p:cxnSp>
      <p:cxnSp>
        <p:nvCxnSpPr>
          <p:cNvPr id="157" name="A8"/>
          <p:cNvCxnSpPr/>
          <p:nvPr/>
        </p:nvCxnSpPr>
        <p:spPr>
          <a:xfrm flipH="1">
            <a:off x="5303520" y="3657600"/>
            <a:ext cx="1394460" cy="502920"/>
          </a:xfrm>
          <a:prstGeom prst="straightConnector1">
            <a:avLst/>
          </a:prstGeom>
          <a:ln w="19050">
            <a:solidFill>
              <a:srgbClr val="8E6F3E"/>
            </a:solidFill>
            <a:prstDash val="dash"/>
            <a:tailEnd type="triangle" w="med" len="med"/>
          </a:ln>
        </p:spPr>
      </p:cxnSp>
      <p:sp>
        <p:nvSpPr>
          <p:cNvPr id="90" name="Caption"/>
          <p:cNvSpPr txBox="1"/>
          <p:nvPr/>
        </p:nvSpPr>
        <p:spPr>
          <a:xfrm>
            <a:off x="274320" y="489204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 xml:space="preserve">One use case induces several models. One model serves several use cases.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Not a mandatory waterfall. A system of models.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