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43"/>
  </p:notesMasterIdLst>
  <p:sldIdLst>
    <p:sldId id="701" r:id="rId48"/>
    <p:sldId id="702" r:id="rId49"/>
    <p:sldId id="703" r:id="rId50"/>
    <p:sldId id="704" r:id="rId51"/>
    <p:sldId id="705" r:id="rId52"/>
    <p:sldId id="706" r:id="rId53"/>
    <p:sldId id="707" r:id="rId54"/>
    <p:sldId id="708" r:id="rId55"/>
    <p:sldId id="709" r:id="rId56"/>
    <p:sldId id="710" r:id="rId57"/>
    <p:sldId id="711" r:id="rId58"/>
    <p:sldId id="712" r:id="rId59"/>
    <p:sldId id="713" r:id="rId60"/>
    <p:sldId id="714" r:id="rId61"/>
    <p:sldId id="715" r:id="rId62"/>
    <p:sldId id="716" r:id="rId63"/>
    <p:sldId id="717" r:id="rId64"/>
    <p:sldId id="718" r:id="rId65"/>
    <p:sldId id="719" r:id="rId66"/>
    <p:sldId id="720" r:id="rId67"/>
    <p:sldId id="721" r:id="rId68"/>
    <p:sldId id="722" r:id="rId69"/>
    <p:sldId id="723" r:id="rId70"/>
    <p:sldId id="724" r:id="rId71"/>
    <p:sldId id="725" r:id="rId72"/>
    <p:sldId id="726" r:id="rId73"/>
    <p:sldId id="727" r:id="rId74"/>
    <p:sldId id="728" r:id="rId75"/>
    <p:sldId id="729" r:id="rId76"/>
    <p:sldId id="730" r:id="rId7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56164"/>
  </p:normalViewPr>
  <p:slideViewPr>
    <p:cSldViewPr snapToGrid="0" snapToObjects="1">
      <p:cViewPr varScale="1">
        <p:scale>
          <a:sx n="64" d="100"/>
          <a:sy n="64" d="100"/>
        </p:scale>
        <p:origin x="3032" y="16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Relationships xmlns="http://schemas.openxmlformats.org/package/2006/relationships"><Relationship Id="rId47" Type="http://schemas.openxmlformats.org/officeDocument/2006/relationships/tableStyles" Target="tableStyles.xml"/><Relationship Id="rId1" Type="http://schemas.openxmlformats.org/officeDocument/2006/relationships/slideMaster" Target="slideMasters/slideMaster1.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notesMaster" Target="notesMasters/notesMaster1.xml"/><Relationship Id="rId46" Type="http://schemas.openxmlformats.org/officeDocument/2006/relationships/theme" Target="theme/theme1.xml"/><Relationship Id="rId48" Type="http://schemas.openxmlformats.org/officeDocument/2006/relationships/slide" Target="slides/slide1.xml"/><Relationship Id="rId49" Type="http://schemas.openxmlformats.org/officeDocument/2006/relationships/slide" Target="slides/slide2.xml"/><Relationship Id="rId50" Type="http://schemas.openxmlformats.org/officeDocument/2006/relationships/slide" Target="slides/slide3.xml"/><Relationship Id="rId51" Type="http://schemas.openxmlformats.org/officeDocument/2006/relationships/slide" Target="slides/slide4.xml"/><Relationship Id="rId52" Type="http://schemas.openxmlformats.org/officeDocument/2006/relationships/slide" Target="slides/slide5.xml"/><Relationship Id="rId53" Type="http://schemas.openxmlformats.org/officeDocument/2006/relationships/slide" Target="slides/slide6.xml"/><Relationship Id="rId54" Type="http://schemas.openxmlformats.org/officeDocument/2006/relationships/slide" Target="slides/slide7.xml"/><Relationship Id="rId55" Type="http://schemas.openxmlformats.org/officeDocument/2006/relationships/slide" Target="slides/slide8.xml"/><Relationship Id="rId56" Type="http://schemas.openxmlformats.org/officeDocument/2006/relationships/slide" Target="slides/slide9.xml"/><Relationship Id="rId57" Type="http://schemas.openxmlformats.org/officeDocument/2006/relationships/slide" Target="slides/slide10.xml"/><Relationship Id="rId58" Type="http://schemas.openxmlformats.org/officeDocument/2006/relationships/slide" Target="slides/slide11.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4.xml"/><Relationship Id="rId62" Type="http://schemas.openxmlformats.org/officeDocument/2006/relationships/slide" Target="slides/slide15.xml"/><Relationship Id="rId63" Type="http://schemas.openxmlformats.org/officeDocument/2006/relationships/slide" Target="slides/slide16.xml"/><Relationship Id="rId64" Type="http://schemas.openxmlformats.org/officeDocument/2006/relationships/slide" Target="slides/slide17.xml"/><Relationship Id="rId65" Type="http://schemas.openxmlformats.org/officeDocument/2006/relationships/slide" Target="slides/slide18.xml"/><Relationship Id="rId66" Type="http://schemas.openxmlformats.org/officeDocument/2006/relationships/slide" Target="slides/slide19.xml"/><Relationship Id="rId67" Type="http://schemas.openxmlformats.org/officeDocument/2006/relationships/slide" Target="slides/slide20.xml"/><Relationship Id="rId68" Type="http://schemas.openxmlformats.org/officeDocument/2006/relationships/slide" Target="slides/slide21.xml"/><Relationship Id="rId69" Type="http://schemas.openxmlformats.org/officeDocument/2006/relationships/slide" Target="slides/slide22.xml"/><Relationship Id="rId70" Type="http://schemas.openxmlformats.org/officeDocument/2006/relationships/slide" Target="slides/slide23.xml"/><Relationship Id="rId71" Type="http://schemas.openxmlformats.org/officeDocument/2006/relationships/slide" Target="slides/slide24.xml"/><Relationship Id="rId72" Type="http://schemas.openxmlformats.org/officeDocument/2006/relationships/slide" Target="slides/slide25.xml"/><Relationship Id="rId73" Type="http://schemas.openxmlformats.org/officeDocument/2006/relationships/slide" Target="slides/slide26.xml"/><Relationship Id="rId74" Type="http://schemas.openxmlformats.org/officeDocument/2006/relationships/slide" Target="slides/slide27.xml"/><Relationship Id="rId75" Type="http://schemas.openxmlformats.org/officeDocument/2006/relationships/slide" Target="slides/slide28.xml"/><Relationship Id="rId76" Type="http://schemas.openxmlformats.org/officeDocument/2006/relationships/slide" Target="slides/slide29.xml"/><Relationship Id="rId77" Type="http://schemas.openxmlformats.org/officeDocument/2006/relationships/slide" Target="slides/slide3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9/29/26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Frame the session: Lecture 1 built one model for one question; a production system needs many models, built for different questions, maintained in different places. Today: how they retain meaning and stay connected to the system.</a:t>
            </a:r>
          </a:p>
          <a:p>
            <a:r>
              <a:rPr dirty="0"/>
              <a:t>This lecture is engineering a model ecosystem, not drawing models.</a:t>
            </a:r>
          </a:p>
          <a:p>
            <a:r>
              <a:rPr dirty="0"/>
              <a:t>ASSUMPTION (plan 8.1): filename 2-2-Modeling-2-Systems-of-Models.pptx pending author ratification.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five satellite models are DocAble's real family (book: ~130 structured records) - say 'on the order of a hundred structured records' verbally, not on the slide.</a:t>
            </a:r>
          </a:p>
          <a:p>
            <a:r>
              <a:rPr dirty="0"/>
              <a:t>The models are individually familiar from Lecture 1; the COLLECTION is today's subject. Establish the new problem immediately.</a:t>
            </a:r>
          </a:p>
          <a:p>
            <a:r>
              <a:rPr dirty="0"/>
              <a:t>(Merges the brief's recap slide and many-models slide per plan 7.2 trim.)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Map the four failures onto the deck's arc explicitly: semantics - disagree; correspondence - drift; authority - duplicate; identity and composition - can't join. This is the agenda slide, so the spine strip on the section breaks will feel earned.</a:t>
            </a:r>
          </a:p>
          <a:p>
            <a:r>
              <a:rPr dirty="0"/>
              <a:t>Don't belabor; 90 seconds.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One sentence of transition: before models can be trusted together, each must mean something on its own.</a:t>
            </a:r>
          </a:p>
          <a:p>
            <a:r>
              <a:rPr dirty="0"/>
              <a:t>ASSUMPTION (plan 8.3): spine strip motif MEANING - CORRESPONDENCE - IDENTITY - COMPOSITION pending author ratification.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Run the poll for real - the disagreement in the room IS the content. Harvest 3-4 answers BEFORE the click; then reveal the four readings and name the pattern: a diagram that permits four readings licenses none.</a:t>
            </a:r>
          </a:p>
          <a:p>
            <a:r>
              <a:rPr dirty="0"/>
              <a:t>(Merges the brief's ask-slide and reveal-slide into one animated slide - trim ledger C; the live interaction is preserved by the staged reveal.)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Plant for Alignment, one sentence only: whether a missing edge is a prohibition you can enforce or merely unrecorded decides what a gate may conclude later. Preview, don't teach.</a:t>
            </a:r>
          </a:p>
          <a:p>
            <a:r>
              <a:rPr dirty="0"/>
              <a:t>DocAble grounding for the verbal example: the crash-recovery model's absent transition (no path reaches the DB record while the artifact is only staged) carries the obligation.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Section exit: the fix for ambiguity is not more detail but better semantics.</a:t>
            </a:r>
          </a:p>
          <a:p>
            <a:r>
              <a:rPr dirty="0"/>
              <a:t>Tie to Lecture 1's P(correctly interpret c | r) seed in one sentence: semantics raise the probability that the intended claim is recovered - by people and by agents. That seed is the section's bridge; no economics.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One-line transition: a model that means something can still stop being true of its system.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Name the danger from the book: a family of models invites a second system of record that quietly diverges from the first; the answer is to engineer the map-territory relationship, not to stop modeling.</a:t>
            </a:r>
          </a:p>
          <a:p>
            <a:r>
              <a:rPr dirty="0"/>
              <a:t>(Merges the brief's s9 and s10 - one claim: change is why correspondence is an obligation.)</a:t>
            </a:r>
          </a:p>
          <a:p>
            <a:r>
              <a:rPr dirty="0"/>
              <a:t>Set up the triptych: which machinery you reach for depends on which side owns the fact.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Say why this direction is common when models arrive in an existing codebase: the engineer never authors the edges, so one whole class of drift is impossible by construction.</a:t>
            </a:r>
          </a:p>
          <a:p>
            <a:r>
              <a:rPr dirty="0"/>
              <a:t>Keep the examples generic-by-role; DocAble instances named verbally.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consequential sense of 'generate': realization follows the model rather than reconstructing composition from the pieces.</a:t>
            </a:r>
          </a:p>
          <a:p>
            <a:r>
              <a:rPr dirty="0"/>
              <a:t>One authoritative source can serve both directions at once - execution consumes the authoritative model while analysis views derive from it; the question is always which representation owns the fact.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Close the triptych by replaying all three arrows in one breath: derive where the implementation owns the fact, generate where the model owns it, check where neither does.</a:t>
            </a:r>
          </a:p>
          <a:p>
            <a:r>
              <a:rPr dirty="0"/>
              <a:t>The arrows changing direction across three identical slides IS the figure - the eye should register only the arrow flipping.</a:t>
            </a:r>
          </a:p>
          <a:p>
            <a:r>
              <a:rPr dirty="0"/>
              <a:t>Live anchors: a snapshot pointer is itself a model that drifts; resolve against current code at check time, not a stored line number.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This distinction matters enormously before Alignment: gates built on models inherit model quality. A pointer can resolve while its meaning changed; a schema and its generated client can agree while a live producer emits something else.</a:t>
            </a:r>
          </a:p>
          <a:p>
            <a:r>
              <a:rPr dirty="0"/>
              <a:t>Keep it to 90 seconds; it lands again in the handoff.</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Transition: meaning made each model claim something; correspondence kept it true; now models must MEET.</a:t>
            </a:r>
          </a:p>
          <a:p>
            <a:r>
              <a:rPr dirty="0"/>
              <a:t>(Absorbs the brief's same-thing intro slide into the break's question - trim ledger C.)</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Use the DocAble-ish example, not FooService (brief's explicit instruction). Verbal grounding from the book: a computation identity lets measured latency and cost join the computation graph; a service identity connects flow policy, deployment, and access control.</a:t>
            </a:r>
          </a:p>
          <a:p>
            <a:r>
              <a:rPr dirty="0"/>
              <a:t>The teaser strip replaces the brief's standalone joins-possible slide (trim ledger C); the full join is performed in Section 4.</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CONSTRAINT SLIDE - exact framing matters. Do not say authority belongs to the model, or that any model is THE authority over the system. Authority attaches to each FACT, and different facts have different authoritative sources: some owned by implementation (the derive case), some by a model (the generate case) - this slide closes the loop with Section 2.</a:t>
            </a:r>
          </a:p>
          <a:p>
            <a:r>
              <a:rPr dirty="0"/>
              <a:t>Lecture 1's model-vs-representation distinction pays off here: several representations may legitimately expose the same fact. DRY-for-knowledge framing is fine verbally.</a:t>
            </a:r>
          </a:p>
          <a:p>
            <a:r>
              <a:rPr dirty="0"/>
              <a:t>(Title shortened to one line; the rule on the slide is verbatim.)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section question is itself the worked example's question - deliberately concrete where the other three breaks are abstract.</a:t>
            </a:r>
          </a:p>
          <a:p>
            <a:r>
              <a:rPr dirty="0"/>
              <a:t>Say: no model you have seen so far answers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Pause on the dimmed 'not:' halves - the join motivation is that each model's omissions are PURPOSEFUL (Lecture 1), so the answer cannot live in any one of them.</a:t>
            </a:r>
          </a:p>
          <a:p>
            <a:r>
              <a:rPr dirty="0"/>
              <a:t>This slide stages exactly the fragments slide 19 joins; the shared ID is typographically identical across cards so the join reads as inevitable.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Origin story from the book (verbal): the join was modeled after living the failure - service URLs once wired correctly while the matching invocation grant was absent; staging went down with authorization errors; the repair made URL wiring and authorization two consequences of the same modeled edge.</a:t>
            </a:r>
          </a:p>
          <a:p>
            <a:r>
              <a:rPr dirty="0"/>
              <a:t>Be exact about the mechanism: the declared edge model is held in exact correspondence with the deployment edge set, and deployment then derives IAM invocation grants from those declared edges. Do NOT flatten this into 'deployment config is generated from the model.'</a:t>
            </a:r>
          </a:p>
          <a:p>
            <a:r>
              <a:rPr dirty="0"/>
              <a:t>The book's sharp phrasing: connections can create information no individual model contains.</a:t>
            </a:r>
          </a:p>
          <a:p>
            <a:r>
              <a:rPr dirty="0"/>
              <a:t>Closing beat (absorbs the joined-is-not-one-model slide, trim C): the four models remain four models - each keeps its purpose and semantics; the answer lives in the relation, not in a merger.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CONSTRAINT SLIDE - exact framing matters. Say 'There need not be a grand model' - never 'there is no grand model.' Present both poles as legitimate: sometimes unifying is worthwhile.</a:t>
            </a:r>
          </a:p>
          <a:p>
            <a:r>
              <a:rPr dirty="0"/>
              <a:t>What tips the decision: how often cross-cutting questions recur, and who pays the semantic + correspondence burden.</a:t>
            </a:r>
          </a:p>
          <a:p>
            <a:r>
              <a:rPr dirty="0"/>
              <a:t>Kruchten's 4+1 (assigned reading) is the classical precedent for the right pole - several views, no collapse; connect in one sentence.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This is the recursion payoff - land it slowly. The model ecosystem is itself a territory, and how much of it to unify is a reduction decision.</a:t>
            </a:r>
          </a:p>
          <a:p>
            <a:r>
              <a:rPr dirty="0"/>
              <a:t>Hinge into the activity: you are about to make exactly this judgment on two tiny models. Preview the mechanics in one sentence so the transition is clean.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Expected discovery: the dependency model says restricted-data processing may flow toward Model Gateway; the classification model says Model Gateway accepts only PUBLIC. The join exposes a POTENTIAL incompatibility neither model states alone.</a:t>
            </a:r>
          </a:p>
          <a:p>
            <a:r>
              <a:rPr dirty="0"/>
              <a:t>Facilitation: if a group finishes early, ask them to state their claim as a single sentence with its evidence - do NOT hint at the next slide's question. Do not debrief yet; harvest 2-3 claims verbally, then advance.</a:t>
            </a:r>
          </a:p>
          <a:p>
            <a:r>
              <a:rPr dirty="0"/>
              <a:t>The three service names are typographically identical across both cards - the join key, visible but unremarked; let them find it.</a:t>
            </a:r>
          </a:p>
          <a:p>
            <a:r>
              <a:rPr dirty="0"/>
              <a:t>ASSUMPTION (plan 8.2): QR is a marked placeholder until the author supplies the forms.gle URL; alt text = URL when real.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This question is what turns a database-join exercise into a Modeling exercise - give it its full 3-4 minutes; groups re-huddle briefly. Reveal the answer AFTER discussion (click).</a:t>
            </a:r>
          </a:p>
          <a:p>
            <a:r>
              <a:rPr dirty="0"/>
              <a:t>The trap to surface: treating a join as magical completeness.</a:t>
            </a:r>
          </a:p>
          <a:p>
            <a:r>
              <a:rPr dirty="0"/>
              <a:t>Tie back to slide 5 in one sentence: the whole discussion is about what the arrow's semantics do and do not claim.</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point to make precise: a STRONGER JOINED MODEL supports a stronger conclusion - the conclusion strengthened because the preserved information grew, not because we reasoned harder.</a:t>
            </a:r>
          </a:p>
          <a:p>
            <a:r>
              <a:rPr dirty="0"/>
              <a:t>Still a design-level claim ('the design permits'), not an observation that it happens at runtime; even the strengthened join has a boundary.</a:t>
            </a:r>
          </a:p>
          <a:p>
            <a:r>
              <a:rPr dirty="0"/>
              <a:t>Students are doing informal model algebra: determining what becomes knowable through composition.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activity exercised essentially everything in the lecture - say so, chip by chip, in under two minutes: semantics mattered (MEANING), identity enabled the join (IDENTITY), the join enabled a new claim (COMPOSITION), and semantics bounded the license (MEANING again).</a:t>
            </a:r>
          </a:p>
          <a:p>
            <a:r>
              <a:rPr dirty="0"/>
              <a:t>This is the deck's thesis in operational form; the handoff section now asks what happens when a licensed conclusion meets reality.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Two minutes; the room just finished group work.</a:t>
            </a:r>
          </a:p>
          <a:p>
            <a:r>
              <a:rPr dirty="0"/>
              <a:t>ASSUMPTION (plan 8.4): post-Join placement (~min 62) per the plan default; the flagged alternative is immediately before the activity (~min 46), which matches 2-1's ~60% precedent. Slides are identical either way - only position moves.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Deliberately triumphant tone - the lecture's machinery works: meaning made the claims precise, correspondence kept them true, identity and joins made the cross-model ones derivable.</a:t>
            </a:r>
          </a:p>
          <a:p>
            <a:r>
              <a:rPr dirty="0"/>
              <a:t>One-sentence recall of slide 13's caveat (expressible and in-sync is not the same as right).</a:t>
            </a:r>
          </a:p>
          <a:p>
            <a:r>
              <a:rPr dirty="0"/>
              <a:t>The next slide breaks the spell.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Reveal the rungs one click at a time; hold the silence after the last rung - the model itself determines NONE of these.</a:t>
            </a:r>
          </a:p>
          <a:p>
            <a:r>
              <a:rPr dirty="0"/>
              <a:t>The book's concrete instance (verbal): DocAble's quantitative model deliberately says cost CAN BE COMPARED against a budget, not that it MUST NOT EXCEED one; whether crossing the budget blocks work, alarms, or is merely recorded is a separate decision. That separation is the next unit's opening question.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Close the unit's frame: Delegation asked what work and freedom to give an agent; Modeling asked what knowledge must be explicit; Alignment asks what consequence that knowledge should have.</a:t>
            </a:r>
          </a:p>
          <a:p>
            <a:r>
              <a:rPr dirty="0"/>
              <a:t>Stop there - do not teach Alignment.</a:t>
            </a:r>
          </a:p>
          <a:p>
            <a:r>
              <a:rPr dirty="0"/>
              <a:t>ASSUMPTION (plan 8.3): the strip extension is the recommended motif's payoff, pending author ratification.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Housekeeping only; not counted against the intellectual arc.</a:t>
            </a:r>
          </a:p>
          <a:p>
            <a:r>
              <a:rPr dirty="0"/>
              <a:t>ASSUMPTION (plan 8.2): QR is a marked placeholder until the author supplies the feedback form URL; alt text = URL when real.</a:t>
            </a:r>
          </a:p>
        </p:txBody>
      </p:sp>
    </p:spTree>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3" name="Slide Number Placeholder 5"/>
          <p:cNvSpPr>
            <a:spLocks noGrp="1"/>
          </p:cNvSpPr>
          <p:nvPr>
            <p:ph type="sldNum" sz="quarter" idx="4"/>
          </p:nvPr>
        </p:nvSpPr>
        <p:spPr/>
        <p:txBody>
          <a:bodyPr/>
          <a:lstStyle/>
          <a:p>
            <a:fld id="{B7EB45DA-9A0D-DC49-8E02-F30A5DDC21C3}" type="slidenum">
              <a:rPr lang="en-US" smtClean="0"/>
              <a:t>1</a:t>
            </a:fld>
            <a:endParaRPr lang="en-US"/>
          </a:p>
        </p:txBody>
      </p:sp>
      <p:sp>
        <p:nvSpPr>
          <p:cNvPr id="101" name="TitleBlock"/>
          <p:cNvSpPr txBox="1"/>
          <p:nvPr/>
        </p:nvSpPr>
        <p:spPr>
          <a:xfrm>
            <a:off x="224028" y="1371600"/>
            <a:ext cx="8695944" cy="2148840"/>
          </a:xfrm>
          <a:prstGeom prst="rect">
            <a:avLst/>
          </a:prstGeom>
          <a:noFill/>
          <a:ln>
            <a:noFill/>
          </a:ln>
        </p:spPr>
        <p:txBody>
          <a:bodyPr wrap="square" lIns="0" tIns="0" rIns="0" bIns="0" anchor="t"/>
          <a:lstStyle/>
          <a:p>
            <a:pPr algn="ctr">
              <a:spcAft>
                <a:spcPts val="0"/>
              </a:spcAft>
              <a:buNone/>
            </a:pPr>
            <a:r>
              <a:rPr lang="en-US" sz="4000" b="0" dirty="0">
                <a:solidFill>
                  <a:srgbClr val="000000"/>
                </a:solidFill>
              </a:rPr>
              <a:t>Modeling: Systems of Models</a:t>
            </a:r>
          </a:p>
          <a:p>
            <a:pPr algn="ctr">
              <a:spcAft>
                <a:spcPts val="0"/>
              </a:spcAft>
              <a:buNone/>
            </a:pPr>
            <a:r>
              <a:rPr lang="en-US" sz="2300" b="0" i="1" dirty="0">
                <a:solidFill>
                  <a:srgbClr val="8E6F3E"/>
                </a:solidFill>
              </a:rPr>
              <a:t>How do several purposeful reductions</a:t>
            </a:r>
          </a:p>
          <a:p>
            <a:pPr algn="ctr">
              <a:spcAft>
                <a:spcPts val="0"/>
              </a:spcAft>
              <a:buNone/>
            </a:pPr>
            <a:r>
              <a:rPr lang="en-US" sz="2300" b="0" i="1" dirty="0">
                <a:solidFill>
                  <a:srgbClr val="8E6F3E"/>
                </a:solidFill>
              </a:rPr>
              <a:t>become dependable engineering knowledge?</a:t>
            </a:r>
          </a:p>
          <a:p>
            <a:pPr algn="ctr">
              <a:spcAft>
                <a:spcPts val="0"/>
              </a:spcAft>
              <a:buNone/>
            </a:pPr>
            <a:r>
              <a:rPr lang="en-US" sz="2000" b="0" i="1" dirty="0">
                <a:solidFill>
                  <a:srgbClr val="000000"/>
                </a:solidFill>
              </a:rPr>
              <a:t>Prof. James C. Davis</a:t>
            </a:r>
          </a:p>
          <a:p>
            <a:pPr algn="ctr">
              <a:spcAft>
                <a:spcPts val="0"/>
              </a:spcAft>
              <a:buNone/>
            </a:pPr>
            <a:r>
              <a:rPr lang="en-US" sz="2000" b="0" i="1" dirty="0">
                <a:solidFill>
                  <a:srgbClr val="000000"/>
                </a:solidFill>
              </a:rPr>
              <a:t>Prof. Steve France</a:t>
            </a:r>
          </a:p>
        </p:txBody>
      </p:sp>
      <p:sp>
        <p:nvSpPr>
          <p:cNvPr id="102" name="Label"/>
          <p:cNvSpPr txBox="1"/>
          <p:nvPr/>
        </p:nvSpPr>
        <p:spPr>
          <a:xfrm>
            <a:off x="224028" y="3639312"/>
            <a:ext cx="8695944" cy="301752"/>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THE ARC OF THIS LECTURE</a:t>
            </a:r>
          </a:p>
        </p:txBody>
      </p:sp>
      <p:sp>
        <p:nvSpPr>
          <p:cNvPr id="103" name="N0"/>
          <p:cNvSpPr/>
          <p:nvPr/>
        </p:nvSpPr>
        <p:spPr>
          <a:xfrm>
            <a:off x="278892" y="4041648"/>
            <a:ext cx="192024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800" b="1" dirty="0">
                <a:solidFill>
                  <a:srgbClr val="5C4826"/>
                </a:solidFill>
              </a:rPr>
              <a:t>MEANING</a:t>
            </a:r>
          </a:p>
        </p:txBody>
      </p:sp>
      <p:cxnSp>
        <p:nvCxnSpPr>
          <p:cNvPr id="104" name="NA0"/>
          <p:cNvCxnSpPr/>
          <p:nvPr/>
        </p:nvCxnSpPr>
        <p:spPr>
          <a:xfrm>
            <a:off x="2208276" y="4407408"/>
            <a:ext cx="274320" cy="0"/>
          </a:xfrm>
          <a:prstGeom prst="straightConnector1">
            <a:avLst/>
          </a:prstGeom>
          <a:ln w="28575">
            <a:solidFill>
              <a:srgbClr val="8E6F3E"/>
            </a:solidFill>
            <a:tailEnd type="triangle" w="med" len="med"/>
          </a:ln>
        </p:spPr>
      </p:cxnSp>
      <p:sp>
        <p:nvSpPr>
          <p:cNvPr id="105" name="N1"/>
          <p:cNvSpPr/>
          <p:nvPr/>
        </p:nvSpPr>
        <p:spPr>
          <a:xfrm>
            <a:off x="2500884" y="4041648"/>
            <a:ext cx="192024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800" b="1" dirty="0">
                <a:solidFill>
                  <a:srgbClr val="5C4826"/>
                </a:solidFill>
              </a:rPr>
              <a:t>CORRESPONDENCE</a:t>
            </a:r>
          </a:p>
        </p:txBody>
      </p:sp>
      <p:cxnSp>
        <p:nvCxnSpPr>
          <p:cNvPr id="106" name="NA1"/>
          <p:cNvCxnSpPr/>
          <p:nvPr/>
        </p:nvCxnSpPr>
        <p:spPr>
          <a:xfrm>
            <a:off x="4430268" y="4407408"/>
            <a:ext cx="274320" cy="0"/>
          </a:xfrm>
          <a:prstGeom prst="straightConnector1">
            <a:avLst/>
          </a:prstGeom>
          <a:ln w="28575">
            <a:solidFill>
              <a:srgbClr val="8E6F3E"/>
            </a:solidFill>
            <a:tailEnd type="triangle" w="med" len="med"/>
          </a:ln>
        </p:spPr>
      </p:cxnSp>
      <p:sp>
        <p:nvSpPr>
          <p:cNvPr id="107" name="N2"/>
          <p:cNvSpPr/>
          <p:nvPr/>
        </p:nvSpPr>
        <p:spPr>
          <a:xfrm>
            <a:off x="4722876" y="4041648"/>
            <a:ext cx="192024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800" b="1" dirty="0">
                <a:solidFill>
                  <a:srgbClr val="5C4826"/>
                </a:solidFill>
              </a:rPr>
              <a:t>IDENTITY</a:t>
            </a:r>
          </a:p>
        </p:txBody>
      </p:sp>
      <p:cxnSp>
        <p:nvCxnSpPr>
          <p:cNvPr id="108" name="NA2"/>
          <p:cNvCxnSpPr/>
          <p:nvPr/>
        </p:nvCxnSpPr>
        <p:spPr>
          <a:xfrm>
            <a:off x="6652260" y="4407408"/>
            <a:ext cx="274320" cy="0"/>
          </a:xfrm>
          <a:prstGeom prst="straightConnector1">
            <a:avLst/>
          </a:prstGeom>
          <a:ln w="28575">
            <a:solidFill>
              <a:srgbClr val="8E6F3E"/>
            </a:solidFill>
            <a:tailEnd type="triangle" w="med" len="med"/>
          </a:ln>
        </p:spPr>
      </p:cxnSp>
      <p:sp>
        <p:nvSpPr>
          <p:cNvPr id="109" name="N3"/>
          <p:cNvSpPr/>
          <p:nvPr/>
        </p:nvSpPr>
        <p:spPr>
          <a:xfrm>
            <a:off x="6944868" y="4041648"/>
            <a:ext cx="192024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800" b="1" dirty="0">
                <a:solidFill>
                  <a:srgbClr val="5C4826"/>
                </a:solidFill>
              </a:rPr>
              <a:t>COMPOSITION</a:t>
            </a:r>
          </a:p>
        </p:txBody>
      </p:sp>
      <p:sp>
        <p:nvSpPr>
          <p:cNvPr id="110" name="TwoLines"/>
          <p:cNvSpPr txBox="1"/>
          <p:nvPr/>
        </p:nvSpPr>
        <p:spPr>
          <a:xfrm>
            <a:off x="224028" y="4956048"/>
            <a:ext cx="8695944" cy="822960"/>
          </a:xfrm>
          <a:prstGeom prst="rect">
            <a:avLst/>
          </a:prstGeom>
          <a:noFill/>
          <a:ln>
            <a:noFill/>
          </a:ln>
        </p:spPr>
        <p:txBody>
          <a:bodyPr wrap="square" lIns="0" tIns="0" rIns="0" bIns="0" anchor="t"/>
          <a:lstStyle/>
          <a:p>
            <a:pPr algn="ctr">
              <a:spcAft>
                <a:spcPts val="0"/>
              </a:spcAft>
              <a:buNone/>
            </a:pPr>
            <a:r>
              <a:rPr lang="en-US" sz="2000" b="0" dirty="0">
                <a:solidFill>
                  <a:srgbClr val="555960"/>
                </a:solidFill>
              </a:rPr>
              <a:t>Lecture 2 of 2: many models around one changing system.</a:t>
            </a:r>
          </a:p>
          <a:p>
            <a:pPr algn="ctr">
              <a:spcAft>
                <a:spcPts val="0"/>
              </a:spcAft>
              <a:buNone/>
            </a:pPr>
            <a:r>
              <a:rPr lang="en-US" sz="2000" b="0" dirty="0">
                <a:solidFill>
                  <a:srgbClr val="555960"/>
                </a:solidFill>
              </a:rPr>
              <a:t>Builds on Lecture 1: one model, one question.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Many models, one changing system</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Panel"/>
          <p:cNvSpPr/>
          <p:nvPr/>
        </p:nvSpPr>
        <p:spPr>
          <a:xfrm>
            <a:off x="274320" y="1371600"/>
            <a:ext cx="2377440" cy="3154680"/>
          </a:xfrm>
          <a:prstGeom prst="rect">
            <a:avLst/>
          </a:prstGeom>
          <a:noFill/>
          <a:ln w="12700">
            <a:solidFill>
              <a:srgbClr val="C9B991"/>
            </a:solidFill>
          </a:ln>
        </p:spPr>
        <p:txBody>
          <a:bodyPr wrap="square" lIns="27432" tIns="22860" rIns="27432" bIns="22860" anchor="ctr"/>
          <a:lstStyle/>
          <a:p>
            <a:endParaRPr lang="en-US"/>
          </a:p>
        </p:txBody>
      </p:sp>
      <p:sp>
        <p:nvSpPr>
          <p:cNvPr id="102" name="PC0"/>
          <p:cNvSpPr txBox="1"/>
          <p:nvPr/>
        </p:nvSpPr>
        <p:spPr>
          <a:xfrm>
            <a:off x="365760" y="1417320"/>
            <a:ext cx="2194560" cy="274320"/>
          </a:xfrm>
          <a:prstGeom prst="rect">
            <a:avLst/>
          </a:prstGeom>
          <a:noFill/>
          <a:ln>
            <a:noFill/>
          </a:ln>
        </p:spPr>
        <p:txBody>
          <a:bodyPr wrap="square" lIns="18288" tIns="18288" rIns="18288" bIns="18288" anchor="t"/>
          <a:lstStyle/>
          <a:p>
            <a:pPr algn="l">
              <a:spcAft>
                <a:spcPts val="0"/>
              </a:spcAft>
              <a:buNone/>
            </a:pPr>
            <a:r>
              <a:rPr lang="en-US" sz="1400" b="1" dirty="0">
                <a:solidFill>
                  <a:srgbClr val="555960"/>
                </a:solidFill>
              </a:rPr>
              <a:t>LECTURE 1</a:t>
            </a:r>
          </a:p>
        </p:txBody>
      </p:sp>
      <p:sp>
        <p:nvSpPr>
          <p:cNvPr id="103" name="TB0"/>
          <p:cNvSpPr/>
          <p:nvPr/>
        </p:nvSpPr>
        <p:spPr>
          <a:xfrm>
            <a:off x="548640" y="1828800"/>
            <a:ext cx="1828800" cy="3657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the territory</a:t>
            </a:r>
          </a:p>
        </p:txBody>
      </p:sp>
      <p:cxnSp>
        <p:nvCxnSpPr>
          <p:cNvPr id="104" name="PA0"/>
          <p:cNvCxnSpPr/>
          <p:nvPr/>
        </p:nvCxnSpPr>
        <p:spPr>
          <a:xfrm>
            <a:off x="1463040" y="2194560"/>
            <a:ext cx="0" cy="274320"/>
          </a:xfrm>
          <a:prstGeom prst="straightConnector1">
            <a:avLst/>
          </a:prstGeom>
          <a:ln w="19050">
            <a:solidFill>
              <a:srgbClr val="8E6F3E"/>
            </a:solidFill>
            <a:tailEnd type="triangle" w="med" len="med"/>
          </a:ln>
        </p:spPr>
      </p:cxnSp>
      <p:sp>
        <p:nvSpPr>
          <p:cNvPr id="105" name="PL0"/>
          <p:cNvSpPr txBox="1"/>
          <p:nvPr/>
        </p:nvSpPr>
        <p:spPr>
          <a:xfrm>
            <a:off x="1554480" y="2217420"/>
            <a:ext cx="1005840" cy="22860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reduce</a:t>
            </a:r>
          </a:p>
        </p:txBody>
      </p:sp>
      <p:sp>
        <p:nvSpPr>
          <p:cNvPr id="106" name="MC0"/>
          <p:cNvSpPr/>
          <p:nvPr/>
        </p:nvSpPr>
        <p:spPr>
          <a:xfrm>
            <a:off x="548640" y="2468880"/>
            <a:ext cx="18288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one purposeful reduction</a:t>
            </a:r>
          </a:p>
        </p:txBody>
      </p:sp>
      <p:cxnSp>
        <p:nvCxnSpPr>
          <p:cNvPr id="107" name="PA1"/>
          <p:cNvCxnSpPr/>
          <p:nvPr/>
        </p:nvCxnSpPr>
        <p:spPr>
          <a:xfrm>
            <a:off x="1463040" y="2834640"/>
            <a:ext cx="0" cy="274320"/>
          </a:xfrm>
          <a:prstGeom prst="straightConnector1">
            <a:avLst/>
          </a:prstGeom>
          <a:ln w="19050">
            <a:solidFill>
              <a:srgbClr val="8E6F3E"/>
            </a:solidFill>
            <a:tailEnd type="triangle" w="med" len="med"/>
          </a:ln>
        </p:spPr>
      </p:cxnSp>
      <p:sp>
        <p:nvSpPr>
          <p:cNvPr id="108" name="PL1"/>
          <p:cNvSpPr txBox="1"/>
          <p:nvPr/>
        </p:nvSpPr>
        <p:spPr>
          <a:xfrm>
            <a:off x="1554480" y="2857500"/>
            <a:ext cx="1005840" cy="22860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answers</a:t>
            </a:r>
          </a:p>
        </p:txBody>
      </p:sp>
      <p:sp>
        <p:nvSpPr>
          <p:cNvPr id="109" name="QB0"/>
          <p:cNvSpPr/>
          <p:nvPr/>
        </p:nvSpPr>
        <p:spPr>
          <a:xfrm>
            <a:off x="548640" y="3108960"/>
            <a:ext cx="1828800" cy="3657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one engineering question</a:t>
            </a:r>
          </a:p>
        </p:txBody>
      </p:sp>
      <p:sp>
        <p:nvSpPr>
          <p:cNvPr id="110" name="QS0"/>
          <p:cNvSpPr txBox="1"/>
          <p:nvPr/>
        </p:nvSpPr>
        <p:spPr>
          <a:xfrm>
            <a:off x="365760" y="3840480"/>
            <a:ext cx="2194560" cy="548640"/>
          </a:xfrm>
          <a:prstGeom prst="rect">
            <a:avLst/>
          </a:prstGeom>
          <a:noFill/>
          <a:ln>
            <a:noFill/>
          </a:ln>
        </p:spPr>
        <p:txBody>
          <a:bodyPr wrap="square" lIns="18288" tIns="18288" rIns="18288" bIns="18288" anchor="ctr"/>
          <a:lstStyle/>
          <a:p>
            <a:pPr algn="ctr">
              <a:spcAft>
                <a:spcPts val="0"/>
              </a:spcAft>
              <a:buNone/>
            </a:pPr>
            <a:r>
              <a:rPr lang="en-US" sz="1300" b="0" i="1" dirty="0">
                <a:solidFill>
                  <a:srgbClr val="555960"/>
                </a:solidFill>
              </a:rPr>
              <a:t>question → model → property → quality</a:t>
            </a:r>
          </a:p>
        </p:txBody>
      </p:sp>
      <p:sp>
        <p:nvSpPr>
          <p:cNvPr id="111" name="K0"/>
          <p:cNvSpPr/>
          <p:nvPr/>
        </p:nvSpPr>
        <p:spPr>
          <a:xfrm>
            <a:off x="2834640" y="1371600"/>
            <a:ext cx="1645920" cy="91440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STRUCTURAL</a:t>
            </a:r>
          </a:p>
          <a:p>
            <a:pPr algn="ctr">
              <a:spcAft>
                <a:spcPts val="0"/>
              </a:spcAft>
              <a:buNone/>
            </a:pPr>
            <a:r>
              <a:rPr lang="en-US" sz="1300" b="0" dirty="0">
                <a:solidFill>
                  <a:srgbClr val="555960"/>
                </a:solidFill>
              </a:rPr>
              <a:t>where may code mutate state?</a:t>
            </a:r>
          </a:p>
        </p:txBody>
      </p:sp>
      <p:sp>
        <p:nvSpPr>
          <p:cNvPr id="112" name="K1"/>
          <p:cNvSpPr/>
          <p:nvPr/>
        </p:nvSpPr>
        <p:spPr>
          <a:xfrm>
            <a:off x="6675120" y="1371600"/>
            <a:ext cx="1645920" cy="91440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COMPUTATION GRAPH</a:t>
            </a:r>
          </a:p>
          <a:p>
            <a:pPr algn="ctr">
              <a:spcAft>
                <a:spcPts val="0"/>
              </a:spcAft>
              <a:buNone/>
            </a:pPr>
            <a:r>
              <a:rPr lang="en-US" sz="1300" b="0" dirty="0">
                <a:solidFill>
                  <a:srgbClr val="555960"/>
                </a:solidFill>
              </a:rPr>
              <a:t>what feeds what?</a:t>
            </a:r>
          </a:p>
        </p:txBody>
      </p:sp>
      <p:sp>
        <p:nvSpPr>
          <p:cNvPr id="113" name="K2"/>
          <p:cNvSpPr/>
          <p:nvPr/>
        </p:nvSpPr>
        <p:spPr>
          <a:xfrm>
            <a:off x="2834640" y="2971800"/>
            <a:ext cx="1645920" cy="91440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OWNERSHIP / LEASE</a:t>
            </a:r>
          </a:p>
          <a:p>
            <a:pPr algn="ctr">
              <a:spcAft>
                <a:spcPts val="0"/>
              </a:spcAft>
              <a:buNone/>
            </a:pPr>
            <a:r>
              <a:rPr lang="en-US" sz="1300" b="0" dirty="0">
                <a:solidFill>
                  <a:srgbClr val="555960"/>
                </a:solidFill>
              </a:rPr>
              <a:t>who owns this now?</a:t>
            </a:r>
          </a:p>
        </p:txBody>
      </p:sp>
      <p:sp>
        <p:nvSpPr>
          <p:cNvPr id="114" name="K3"/>
          <p:cNvSpPr/>
          <p:nvPr/>
        </p:nvSpPr>
        <p:spPr>
          <a:xfrm>
            <a:off x="6675120" y="2971800"/>
            <a:ext cx="1645920" cy="91440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SERVICE FLOW</a:t>
            </a:r>
          </a:p>
          <a:p>
            <a:pPr algn="ctr">
              <a:spcAft>
                <a:spcPts val="0"/>
              </a:spcAft>
              <a:buNone/>
            </a:pPr>
            <a:r>
              <a:rPr lang="en-US" sz="1300" b="0" dirty="0">
                <a:solidFill>
                  <a:srgbClr val="555960"/>
                </a:solidFill>
              </a:rPr>
              <a:t>which calls are intended?</a:t>
            </a:r>
          </a:p>
        </p:txBody>
      </p:sp>
      <p:sp>
        <p:nvSpPr>
          <p:cNvPr id="115" name="K4"/>
          <p:cNvSpPr/>
          <p:nvPr/>
        </p:nvSpPr>
        <p:spPr>
          <a:xfrm>
            <a:off x="4754880" y="4572000"/>
            <a:ext cx="1645920" cy="91440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QUANTITATIVE</a:t>
            </a:r>
          </a:p>
          <a:p>
            <a:pPr algn="ctr">
              <a:spcAft>
                <a:spcPts val="0"/>
              </a:spcAft>
              <a:buNone/>
            </a:pPr>
            <a:r>
              <a:rPr lang="en-US" sz="1300" b="0" dirty="0">
                <a:solidFill>
                  <a:srgbClr val="555960"/>
                </a:solidFill>
              </a:rPr>
              <a:t>does cost stay in bounds?</a:t>
            </a:r>
          </a:p>
        </p:txBody>
      </p:sp>
      <p:sp>
        <p:nvSpPr>
          <p:cNvPr id="116" name="RC"/>
          <p:cNvSpPr/>
          <p:nvPr/>
        </p:nvSpPr>
        <p:spPr>
          <a:xfrm>
            <a:off x="4754880" y="2971800"/>
            <a:ext cx="1645920" cy="914400"/>
          </a:xfrm>
          <a:prstGeom prst="roundRect">
            <a:avLst/>
          </a:prstGeom>
          <a:solidFill>
            <a:srgbClr val="555960"/>
          </a:solidFill>
          <a:ln>
            <a:noFill/>
          </a:ln>
        </p:spPr>
        <p:txBody>
          <a:bodyPr wrap="square" lIns="27432" tIns="22860" rIns="27432" bIns="22860" anchor="ctr"/>
          <a:lstStyle/>
          <a:p>
            <a:pPr algn="ctr">
              <a:spcAft>
                <a:spcPts val="300"/>
              </a:spcAft>
              <a:buNone/>
            </a:pPr>
            <a:r>
              <a:rPr lang="en-US" sz="1400" b="1" dirty="0">
                <a:solidFill>
                  <a:srgbClr val="FFFFFF"/>
                </a:solidFill>
              </a:rPr>
              <a:t>THE IMPLEMENTATION</a:t>
            </a:r>
          </a:p>
          <a:p>
            <a:pPr algn="ctr">
              <a:spcAft>
                <a:spcPts val="0"/>
              </a:spcAft>
              <a:buNone/>
            </a:pPr>
            <a:r>
              <a:rPr lang="en-US" sz="1300" b="0" dirty="0">
                <a:solidFill>
                  <a:srgbClr val="FFFFFF"/>
                </a:solidFill>
              </a:rPr>
              <a:t>(changing)</a:t>
            </a:r>
          </a:p>
        </p:txBody>
      </p:sp>
      <p:cxnSp>
        <p:nvCxnSpPr>
          <p:cNvPr id="117" name="D0"/>
          <p:cNvCxnSpPr/>
          <p:nvPr/>
        </p:nvCxnSpPr>
        <p:spPr>
          <a:xfrm>
            <a:off x="3657600" y="2286000"/>
            <a:ext cx="1645920" cy="685800"/>
          </a:xfrm>
          <a:prstGeom prst="straightConnector1">
            <a:avLst/>
          </a:prstGeom>
          <a:ln w="19050">
            <a:solidFill>
              <a:srgbClr val="C9B991"/>
            </a:solidFill>
            <a:tailEnd type="triangle" w="med" len="med"/>
          </a:ln>
        </p:spPr>
      </p:cxnSp>
      <p:cxnSp>
        <p:nvCxnSpPr>
          <p:cNvPr id="118" name="D1"/>
          <p:cNvCxnSpPr/>
          <p:nvPr/>
        </p:nvCxnSpPr>
        <p:spPr>
          <a:xfrm flipH="1">
            <a:off x="5852160" y="2286000"/>
            <a:ext cx="1645620" cy="685800"/>
          </a:xfrm>
          <a:prstGeom prst="straightConnector1">
            <a:avLst/>
          </a:prstGeom>
          <a:ln w="19050">
            <a:solidFill>
              <a:srgbClr val="C9B991"/>
            </a:solidFill>
            <a:tailEnd type="triangle" w="med" len="med"/>
          </a:ln>
        </p:spPr>
      </p:cxnSp>
      <p:cxnSp>
        <p:nvCxnSpPr>
          <p:cNvPr id="119" name="D2"/>
          <p:cNvCxnSpPr/>
          <p:nvPr/>
        </p:nvCxnSpPr>
        <p:spPr>
          <a:xfrm>
            <a:off x="4480560" y="3429000"/>
            <a:ext cx="274320" cy="0"/>
          </a:xfrm>
          <a:prstGeom prst="straightConnector1">
            <a:avLst/>
          </a:prstGeom>
          <a:ln w="19050">
            <a:solidFill>
              <a:srgbClr val="C9B991"/>
            </a:solidFill>
            <a:tailEnd type="triangle" w="med" len="med"/>
          </a:ln>
        </p:spPr>
      </p:cxnSp>
      <p:cxnSp>
        <p:nvCxnSpPr>
          <p:cNvPr id="120" name="D3"/>
          <p:cNvCxnSpPr/>
          <p:nvPr/>
        </p:nvCxnSpPr>
        <p:spPr>
          <a:xfrm flipH="1">
            <a:off x="6400800" y="3429000"/>
            <a:ext cx="274320" cy="0"/>
          </a:xfrm>
          <a:prstGeom prst="straightConnector1">
            <a:avLst/>
          </a:prstGeom>
          <a:ln w="19050">
            <a:solidFill>
              <a:srgbClr val="C9B991"/>
            </a:solidFill>
            <a:tailEnd type="triangle" w="med" len="med"/>
          </a:ln>
        </p:spPr>
      </p:cxnSp>
      <p:cxnSp>
        <p:nvCxnSpPr>
          <p:cNvPr id="121" name="D4"/>
          <p:cNvCxnSpPr/>
          <p:nvPr/>
        </p:nvCxnSpPr>
        <p:spPr>
          <a:xfrm flipV="1">
            <a:off x="5577840" y="3886200"/>
            <a:ext cx="0" cy="685800"/>
          </a:xfrm>
          <a:prstGeom prst="straightConnector1">
            <a:avLst/>
          </a:prstGeom>
          <a:ln w="19050">
            <a:solidFill>
              <a:srgbClr val="C9B991"/>
            </a:solidFill>
            <a:tailEnd type="triangle" w="med" len="med"/>
          </a:ln>
        </p:spPr>
      </p:cxnSp>
      <p:sp>
        <p:nvSpPr>
          <p:cNvPr id="122" name="LG0"/>
          <p:cNvSpPr txBox="1"/>
          <p:nvPr/>
        </p:nvSpPr>
        <p:spPr>
          <a:xfrm>
            <a:off x="2834640" y="5486400"/>
            <a:ext cx="548640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each line: the model describes the implementation</a:t>
            </a:r>
          </a:p>
        </p:txBody>
      </p:sp>
      <p:sp>
        <p:nvSpPr>
          <p:cNvPr id="12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The models are familiar. The collection is the subject.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Useful alone does not mean dependable together</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Frame"/>
          <p:cNvSpPr txBox="1"/>
          <p:nvPr/>
        </p:nvSpPr>
        <p:spPr>
          <a:xfrm>
            <a:off x="685800" y="1097280"/>
            <a:ext cx="7772400" cy="36576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Each reduction is sensible on its own. The collection can still fail.</a:t>
            </a:r>
          </a:p>
        </p:txBody>
      </p:sp>
      <p:sp>
        <p:nvSpPr>
          <p:cNvPr id="102" name="H0"/>
          <p:cNvSpPr txBox="1"/>
          <p:nvPr/>
        </p:nvSpPr>
        <p:spPr>
          <a:xfrm>
            <a:off x="685800" y="160020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DISAGREE</a:t>
            </a:r>
          </a:p>
        </p:txBody>
      </p:sp>
      <p:sp>
        <p:nvSpPr>
          <p:cNvPr id="103" name="B0"/>
          <p:cNvSpPr/>
          <p:nvPr/>
        </p:nvSpPr>
        <p:spPr>
          <a:xfrm>
            <a:off x="685800" y="2057400"/>
            <a:ext cx="3703320" cy="1188720"/>
          </a:xfrm>
          <a:prstGeom prst="rect">
            <a:avLst/>
          </a:prstGeom>
          <a:solidFill>
            <a:srgbClr val="F5F1E8"/>
          </a:solidFill>
          <a:ln w="12700">
            <a:solidFill>
              <a:srgbClr val="C9B991"/>
            </a:solidFill>
          </a:ln>
        </p:spPr>
        <p:txBody>
          <a:bodyPr wrap="square" lIns="128016" tIns="91440" rIns="118872" bIns="91440" anchor="t"/>
          <a:lstStyle/>
          <a:p>
            <a:pPr algn="l">
              <a:spcAft>
                <a:spcPts val="0"/>
              </a:spcAft>
              <a:buNone/>
            </a:pPr>
            <a:r>
              <a:rPr lang="en-US" sz="1600" b="0" dirty="0">
                <a:solidFill>
                  <a:srgbClr val="5C4826"/>
                </a:solidFill>
              </a:rPr>
              <a:t>Two models make contradictory claims.</a:t>
            </a:r>
          </a:p>
        </p:txBody>
      </p:sp>
      <p:sp>
        <p:nvSpPr>
          <p:cNvPr id="104" name="H1"/>
          <p:cNvSpPr txBox="1"/>
          <p:nvPr/>
        </p:nvSpPr>
        <p:spPr>
          <a:xfrm>
            <a:off x="4754880" y="160020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DRIFT</a:t>
            </a:r>
          </a:p>
        </p:txBody>
      </p:sp>
      <p:sp>
        <p:nvSpPr>
          <p:cNvPr id="105" name="B1"/>
          <p:cNvSpPr/>
          <p:nvPr/>
        </p:nvSpPr>
        <p:spPr>
          <a:xfrm>
            <a:off x="4754880" y="2057400"/>
            <a:ext cx="3703320" cy="1188720"/>
          </a:xfrm>
          <a:prstGeom prst="rect">
            <a:avLst/>
          </a:prstGeom>
          <a:solidFill>
            <a:srgbClr val="F5F1E8"/>
          </a:solidFill>
          <a:ln w="12700">
            <a:solidFill>
              <a:srgbClr val="C9B991"/>
            </a:solidFill>
          </a:ln>
        </p:spPr>
        <p:txBody>
          <a:bodyPr wrap="square" lIns="128016" tIns="91440" rIns="118872" bIns="91440" anchor="t"/>
          <a:lstStyle/>
          <a:p>
            <a:pPr algn="l">
              <a:spcAft>
                <a:spcPts val="0"/>
              </a:spcAft>
              <a:buNone/>
            </a:pPr>
            <a:r>
              <a:rPr lang="en-US" sz="1600" b="0" dirty="0">
                <a:solidFill>
                  <a:srgbClr val="5C4826"/>
                </a:solidFill>
              </a:rPr>
              <a:t>The system changed; a model did not.</a:t>
            </a:r>
          </a:p>
        </p:txBody>
      </p:sp>
      <p:sp>
        <p:nvSpPr>
          <p:cNvPr id="106" name="H2"/>
          <p:cNvSpPr txBox="1"/>
          <p:nvPr/>
        </p:nvSpPr>
        <p:spPr>
          <a:xfrm>
            <a:off x="685800" y="361188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DUPLICATE</a:t>
            </a:r>
          </a:p>
        </p:txBody>
      </p:sp>
      <p:sp>
        <p:nvSpPr>
          <p:cNvPr id="107" name="B2"/>
          <p:cNvSpPr/>
          <p:nvPr/>
        </p:nvSpPr>
        <p:spPr>
          <a:xfrm>
            <a:off x="685800" y="4069080"/>
            <a:ext cx="3703320" cy="1188720"/>
          </a:xfrm>
          <a:prstGeom prst="rect">
            <a:avLst/>
          </a:prstGeom>
          <a:solidFill>
            <a:srgbClr val="F5F1E8"/>
          </a:solidFill>
          <a:ln w="12700">
            <a:solidFill>
              <a:srgbClr val="C9B991"/>
            </a:solidFill>
          </a:ln>
        </p:spPr>
        <p:txBody>
          <a:bodyPr wrap="square" lIns="128016" tIns="91440" rIns="118872" bIns="91440" anchor="t"/>
          <a:lstStyle/>
          <a:p>
            <a:pPr algn="l">
              <a:spcAft>
                <a:spcPts val="0"/>
              </a:spcAft>
              <a:buNone/>
            </a:pPr>
            <a:r>
              <a:rPr lang="en-US" sz="1600" b="0" dirty="0">
                <a:solidFill>
                  <a:srgbClr val="5C4826"/>
                </a:solidFill>
              </a:rPr>
              <a:t>One fact, independently</a:t>
            </a:r>
            <a:br>
              <a:rPr lang="en-US" sz="1600" b="0" dirty="0"/>
            </a:br>
            <a:r>
              <a:rPr lang="en-US" sz="1600" b="0" dirty="0">
                <a:solidFill>
                  <a:srgbClr val="5C4826"/>
                </a:solidFill>
              </a:rPr>
              <a:t>maintained twice.</a:t>
            </a:r>
          </a:p>
        </p:txBody>
      </p:sp>
      <p:sp>
        <p:nvSpPr>
          <p:cNvPr id="108" name="H3"/>
          <p:cNvSpPr txBox="1"/>
          <p:nvPr/>
        </p:nvSpPr>
        <p:spPr>
          <a:xfrm>
            <a:off x="4754880" y="361188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CAN'T JOIN</a:t>
            </a:r>
          </a:p>
        </p:txBody>
      </p:sp>
      <p:sp>
        <p:nvSpPr>
          <p:cNvPr id="109" name="B3"/>
          <p:cNvSpPr/>
          <p:nvPr/>
        </p:nvSpPr>
        <p:spPr>
          <a:xfrm>
            <a:off x="4754880" y="4069080"/>
            <a:ext cx="3703320" cy="1188720"/>
          </a:xfrm>
          <a:prstGeom prst="rect">
            <a:avLst/>
          </a:prstGeom>
          <a:solidFill>
            <a:srgbClr val="F5F1E8"/>
          </a:solidFill>
          <a:ln w="12700">
            <a:solidFill>
              <a:srgbClr val="C9B991"/>
            </a:solidFill>
          </a:ln>
        </p:spPr>
        <p:txBody>
          <a:bodyPr wrap="square" lIns="128016" tIns="91440" rIns="118872" bIns="91440" anchor="t"/>
          <a:lstStyle/>
          <a:p>
            <a:pPr algn="l">
              <a:spcAft>
                <a:spcPts val="0"/>
              </a:spcAft>
              <a:buNone/>
            </a:pPr>
            <a:r>
              <a:rPr lang="en-US" sz="1600" b="0" dirty="0">
                <a:solidFill>
                  <a:srgbClr val="5C4826"/>
                </a:solidFill>
              </a:rPr>
              <a:t>No shared identity — the cross-model question has no answer.</a:t>
            </a:r>
          </a:p>
        </p:txBody>
      </p:sp>
      <p:cxnSp>
        <p:nvCxnSpPr>
          <p:cNvPr id="110" name="G0a"/>
          <p:cNvCxnSpPr/>
          <p:nvPr/>
        </p:nvCxnSpPr>
        <p:spPr>
          <a:xfrm>
            <a:off x="2080260" y="2925763"/>
            <a:ext cx="411480" cy="0"/>
          </a:xfrm>
          <a:prstGeom prst="straightConnector1">
            <a:avLst/>
          </a:prstGeom>
          <a:ln w="19050">
            <a:solidFill>
              <a:srgbClr val="555960"/>
            </a:solidFill>
            <a:tailEnd type="triangle" w="med" len="med"/>
          </a:ln>
        </p:spPr>
      </p:cxnSp>
      <p:cxnSp>
        <p:nvCxnSpPr>
          <p:cNvPr id="111" name="G0b"/>
          <p:cNvCxnSpPr/>
          <p:nvPr/>
        </p:nvCxnSpPr>
        <p:spPr>
          <a:xfrm flipH="1">
            <a:off x="2583180" y="2925763"/>
            <a:ext cx="411480" cy="0"/>
          </a:xfrm>
          <a:prstGeom prst="straightConnector1">
            <a:avLst/>
          </a:prstGeom>
          <a:ln w="19050">
            <a:solidFill>
              <a:srgbClr val="555960"/>
            </a:solidFill>
            <a:tailEnd type="triangle" w="med" len="med"/>
          </a:ln>
        </p:spPr>
      </p:cxnSp>
      <p:sp>
        <p:nvSpPr>
          <p:cNvPr id="112" name="G1a"/>
          <p:cNvSpPr/>
          <p:nvPr/>
        </p:nvSpPr>
        <p:spPr>
          <a:xfrm>
            <a:off x="6217920" y="2788603"/>
            <a:ext cx="365760" cy="274320"/>
          </a:xfrm>
          <a:prstGeom prst="rect">
            <a:avLst/>
          </a:prstGeom>
          <a:noFill/>
          <a:ln w="12700">
            <a:solidFill>
              <a:srgbClr val="555960"/>
            </a:solidFill>
          </a:ln>
        </p:spPr>
        <p:txBody>
          <a:bodyPr wrap="square" lIns="27432" tIns="22860" rIns="27432" bIns="22860" anchor="ctr"/>
          <a:lstStyle/>
          <a:p>
            <a:endParaRPr lang="en-US"/>
          </a:p>
        </p:txBody>
      </p:sp>
      <p:sp>
        <p:nvSpPr>
          <p:cNvPr id="113" name="G1b"/>
          <p:cNvSpPr/>
          <p:nvPr/>
        </p:nvSpPr>
        <p:spPr>
          <a:xfrm>
            <a:off x="6400800" y="2880043"/>
            <a:ext cx="365760" cy="274320"/>
          </a:xfrm>
          <a:prstGeom prst="rect">
            <a:avLst/>
          </a:prstGeom>
          <a:noFill/>
          <a:ln w="12700">
            <a:solidFill>
              <a:srgbClr val="555960"/>
            </a:solidFill>
            <a:prstDash val="dash"/>
          </a:ln>
        </p:spPr>
        <p:txBody>
          <a:bodyPr wrap="square" lIns="27432" tIns="22860" rIns="27432" bIns="22860" anchor="ctr"/>
          <a:lstStyle/>
          <a:p>
            <a:endParaRPr lang="en-US"/>
          </a:p>
        </p:txBody>
      </p:sp>
      <p:sp>
        <p:nvSpPr>
          <p:cNvPr id="114" name="G2a"/>
          <p:cNvSpPr/>
          <p:nvPr/>
        </p:nvSpPr>
        <p:spPr>
          <a:xfrm>
            <a:off x="2034540" y="4937443"/>
            <a:ext cx="365760" cy="274320"/>
          </a:xfrm>
          <a:prstGeom prst="rect">
            <a:avLst/>
          </a:prstGeom>
          <a:noFill/>
          <a:ln w="12700">
            <a:solidFill>
              <a:srgbClr val="555960"/>
            </a:solidFill>
          </a:ln>
        </p:spPr>
        <p:txBody>
          <a:bodyPr wrap="square" lIns="27432" tIns="22860" rIns="27432" bIns="22860" anchor="ctr"/>
          <a:lstStyle/>
          <a:p>
            <a:endParaRPr lang="en-US"/>
          </a:p>
        </p:txBody>
      </p:sp>
      <p:sp>
        <p:nvSpPr>
          <p:cNvPr id="115" name="NE0"/>
          <p:cNvSpPr txBox="1"/>
          <p:nvPr/>
        </p:nvSpPr>
        <p:spPr>
          <a:xfrm>
            <a:off x="2446020" y="4937443"/>
            <a:ext cx="274320" cy="274320"/>
          </a:xfrm>
          <a:prstGeom prst="rect">
            <a:avLst/>
          </a:prstGeom>
          <a:noFill/>
          <a:ln>
            <a:noFill/>
          </a:ln>
        </p:spPr>
        <p:txBody>
          <a:bodyPr wrap="square" lIns="0" tIns="0" rIns="0" bIns="0" anchor="ctr"/>
          <a:lstStyle/>
          <a:p>
            <a:pPr algn="ctr">
              <a:spcAft>
                <a:spcPts val="0"/>
              </a:spcAft>
              <a:buNone/>
            </a:pPr>
            <a:r>
              <a:rPr lang="en-US" sz="1400" b="1" dirty="0">
                <a:solidFill>
                  <a:srgbClr val="555960"/>
                </a:solidFill>
              </a:rPr>
              <a:t>≠</a:t>
            </a:r>
          </a:p>
        </p:txBody>
      </p:sp>
      <p:sp>
        <p:nvSpPr>
          <p:cNvPr id="116" name="G2b"/>
          <p:cNvSpPr/>
          <p:nvPr/>
        </p:nvSpPr>
        <p:spPr>
          <a:xfrm>
            <a:off x="2766060" y="4937443"/>
            <a:ext cx="365760" cy="274320"/>
          </a:xfrm>
          <a:prstGeom prst="rect">
            <a:avLst/>
          </a:prstGeom>
          <a:noFill/>
          <a:ln w="12700">
            <a:solidFill>
              <a:srgbClr val="555960"/>
            </a:solidFill>
          </a:ln>
        </p:spPr>
        <p:txBody>
          <a:bodyPr wrap="square" lIns="27432" tIns="22860" rIns="27432" bIns="22860" anchor="ctr"/>
          <a:lstStyle/>
          <a:p>
            <a:endParaRPr lang="en-US"/>
          </a:p>
        </p:txBody>
      </p:sp>
      <p:sp>
        <p:nvSpPr>
          <p:cNvPr id="117" name="G3a"/>
          <p:cNvSpPr/>
          <p:nvPr/>
        </p:nvSpPr>
        <p:spPr>
          <a:xfrm>
            <a:off x="6103620" y="4891723"/>
            <a:ext cx="365760" cy="274320"/>
          </a:xfrm>
          <a:prstGeom prst="rect">
            <a:avLst/>
          </a:prstGeom>
          <a:noFill/>
          <a:ln w="12700">
            <a:solidFill>
              <a:srgbClr val="555960"/>
            </a:solidFill>
          </a:ln>
        </p:spPr>
        <p:txBody>
          <a:bodyPr wrap="square" lIns="27432" tIns="22860" rIns="27432" bIns="22860" anchor="ctr"/>
          <a:lstStyle/>
          <a:p>
            <a:endParaRPr lang="en-US"/>
          </a:p>
        </p:txBody>
      </p:sp>
      <p:cxnSp>
        <p:nvCxnSpPr>
          <p:cNvPr id="118" name="G3c"/>
          <p:cNvCxnSpPr/>
          <p:nvPr/>
        </p:nvCxnSpPr>
        <p:spPr>
          <a:xfrm>
            <a:off x="6480180" y="5005903"/>
            <a:ext cx="228600" cy="0"/>
          </a:xfrm>
          <a:prstGeom prst="straightConnector1">
            <a:avLst/>
          </a:prstGeom>
          <a:ln w="19050">
            <a:solidFill>
              <a:srgbClr val="555960"/>
            </a:solidFill>
            <a:prstDash val="dash"/>
          </a:ln>
        </p:spPr>
      </p:cxnSp>
      <p:sp>
        <p:nvSpPr>
          <p:cNvPr id="119" name="G3b"/>
          <p:cNvSpPr/>
          <p:nvPr/>
        </p:nvSpPr>
        <p:spPr>
          <a:xfrm>
            <a:off x="6743700" y="4914583"/>
            <a:ext cx="365760" cy="274320"/>
          </a:xfrm>
          <a:prstGeom prst="rect">
            <a:avLst/>
          </a:prstGeom>
          <a:noFill/>
          <a:ln w="12700">
            <a:solidFill>
              <a:srgbClr val="555960"/>
            </a:solidFill>
          </a:ln>
        </p:spPr>
        <p:txBody>
          <a:bodyPr wrap="square" lIns="27432" tIns="22860" rIns="27432" bIns="22860" anchor="ctr"/>
          <a:lstStyle/>
          <a:p>
            <a:endParaRPr lang="en-US"/>
          </a:p>
        </p:txBody>
      </p:sp>
      <p:sp>
        <p:nvSpPr>
          <p:cNvPr id="120"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These four failures set today's agenda.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ectionLabel"/>
          <p:cNvSpPr txBox="1"/>
          <p:nvPr/>
        </p:nvSpPr>
        <p:spPr>
          <a:xfrm>
            <a:off x="685800" y="1243584"/>
            <a:ext cx="7772400" cy="365760"/>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SECTION 1</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MEANING</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2" name="Question"/>
          <p:cNvSpPr txBox="1"/>
          <p:nvPr/>
        </p:nvSpPr>
        <p:spPr>
          <a:xfrm>
            <a:off x="685800" y="2798064"/>
            <a:ext cx="7772400" cy="475488"/>
          </a:xfrm>
          <a:prstGeom prst="rect">
            <a:avLst/>
          </a:prstGeom>
          <a:noFill/>
          <a:ln>
            <a:noFill/>
          </a:ln>
        </p:spPr>
        <p:txBody>
          <a:bodyPr wrap="square" lIns="0" tIns="0" rIns="0" bIns="0" anchor="t"/>
          <a:lstStyle/>
          <a:p>
            <a:pPr algn="ctr">
              <a:spcAft>
                <a:spcPts val="0"/>
              </a:spcAft>
              <a:buNone/>
            </a:pPr>
            <a:r>
              <a:rPr lang="en-US" sz="2400" b="0" dirty="0">
                <a:solidFill>
                  <a:srgbClr val="5C4826"/>
                </a:solidFill>
              </a:rPr>
              <a:t>What does an arrow claim?</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endParaRPr lang="en-US"/>
          </a:p>
        </p:txBody>
      </p:sp>
      <p:sp>
        <p:nvSpPr>
          <p:cNvPr id="104" name="N0"/>
          <p:cNvSpPr/>
          <p:nvPr/>
        </p:nvSpPr>
        <p:spPr>
          <a:xfrm>
            <a:off x="278892" y="4718304"/>
            <a:ext cx="192024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MEANING</a:t>
            </a:r>
          </a:p>
        </p:txBody>
      </p:sp>
      <p:cxnSp>
        <p:nvCxnSpPr>
          <p:cNvPr id="105" name="NA0"/>
          <p:cNvCxnSpPr/>
          <p:nvPr/>
        </p:nvCxnSpPr>
        <p:spPr>
          <a:xfrm>
            <a:off x="2208276" y="5001768"/>
            <a:ext cx="274320" cy="0"/>
          </a:xfrm>
          <a:prstGeom prst="straightConnector1">
            <a:avLst/>
          </a:prstGeom>
          <a:ln w="19050">
            <a:solidFill>
              <a:srgbClr val="C9B991"/>
            </a:solidFill>
            <a:tailEnd type="triangle" w="med" len="med"/>
          </a:ln>
        </p:spPr>
      </p:cxnSp>
      <p:sp>
        <p:nvSpPr>
          <p:cNvPr id="106" name="N1"/>
          <p:cNvSpPr/>
          <p:nvPr/>
        </p:nvSpPr>
        <p:spPr>
          <a:xfrm>
            <a:off x="2500884"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CORRESPONDENCE</a:t>
            </a:r>
          </a:p>
        </p:txBody>
      </p:sp>
      <p:cxnSp>
        <p:nvCxnSpPr>
          <p:cNvPr id="107" name="NA1"/>
          <p:cNvCxnSpPr/>
          <p:nvPr/>
        </p:nvCxnSpPr>
        <p:spPr>
          <a:xfrm>
            <a:off x="4430268" y="5001768"/>
            <a:ext cx="274320" cy="0"/>
          </a:xfrm>
          <a:prstGeom prst="straightConnector1">
            <a:avLst/>
          </a:prstGeom>
          <a:ln w="19050">
            <a:solidFill>
              <a:srgbClr val="C9B991"/>
            </a:solidFill>
            <a:tailEnd type="triangle" w="med" len="med"/>
          </a:ln>
        </p:spPr>
      </p:cxnSp>
      <p:sp>
        <p:nvSpPr>
          <p:cNvPr id="108" name="N2"/>
          <p:cNvSpPr/>
          <p:nvPr/>
        </p:nvSpPr>
        <p:spPr>
          <a:xfrm>
            <a:off x="4722876"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IDENTITY</a:t>
            </a:r>
          </a:p>
        </p:txBody>
      </p:sp>
      <p:cxnSp>
        <p:nvCxnSpPr>
          <p:cNvPr id="109" name="NA2"/>
          <p:cNvCxnSpPr/>
          <p:nvPr/>
        </p:nvCxnSpPr>
        <p:spPr>
          <a:xfrm>
            <a:off x="6652260" y="5001768"/>
            <a:ext cx="274320" cy="0"/>
          </a:xfrm>
          <a:prstGeom prst="straightConnector1">
            <a:avLst/>
          </a:prstGeom>
          <a:ln w="19050">
            <a:solidFill>
              <a:srgbClr val="C9B991"/>
            </a:solidFill>
            <a:tailEnd type="triangle" w="med" len="med"/>
          </a:ln>
        </p:spPr>
      </p:cxnSp>
      <p:sp>
        <p:nvSpPr>
          <p:cNvPr id="110" name="N3"/>
          <p:cNvSpPr/>
          <p:nvPr/>
        </p:nvSpPr>
        <p:spPr>
          <a:xfrm>
            <a:off x="6944868"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COMPOSITION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arrow has no semantics by itself</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A0"/>
          <p:cNvSpPr/>
          <p:nvPr/>
        </p:nvSpPr>
        <p:spPr>
          <a:xfrm>
            <a:off x="2377440" y="1600200"/>
            <a:ext cx="1371600" cy="6858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2000" b="1" dirty="0">
                <a:solidFill>
                  <a:srgbClr val="5C4826"/>
                </a:solidFill>
              </a:rPr>
              <a:t>A</a:t>
            </a:r>
          </a:p>
        </p:txBody>
      </p:sp>
      <p:cxnSp>
        <p:nvCxnSpPr>
          <p:cNvPr id="102" name="AR0"/>
          <p:cNvCxnSpPr/>
          <p:nvPr/>
        </p:nvCxnSpPr>
        <p:spPr>
          <a:xfrm>
            <a:off x="3749040" y="1943100"/>
            <a:ext cx="1646640" cy="0"/>
          </a:xfrm>
          <a:prstGeom prst="straightConnector1">
            <a:avLst/>
          </a:prstGeom>
          <a:ln w="38100">
            <a:solidFill>
              <a:srgbClr val="8E6F3E"/>
            </a:solidFill>
            <a:tailEnd type="triangle" w="med" len="med"/>
          </a:ln>
        </p:spPr>
      </p:cxnSp>
      <p:sp>
        <p:nvSpPr>
          <p:cNvPr id="103" name="B0"/>
          <p:cNvSpPr/>
          <p:nvPr/>
        </p:nvSpPr>
        <p:spPr>
          <a:xfrm>
            <a:off x="5395680" y="1600200"/>
            <a:ext cx="1371600" cy="6858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2000" b="1" dirty="0">
                <a:solidFill>
                  <a:srgbClr val="5C4826"/>
                </a:solidFill>
              </a:rPr>
              <a:t>B</a:t>
            </a:r>
          </a:p>
        </p:txBody>
      </p:sp>
      <p:sp>
        <p:nvSpPr>
          <p:cNvPr id="104" name="Prompt"/>
          <p:cNvSpPr txBox="1"/>
          <p:nvPr/>
        </p:nvSpPr>
        <p:spPr>
          <a:xfrm>
            <a:off x="685800" y="2606040"/>
            <a:ext cx="7772400" cy="365760"/>
          </a:xfrm>
          <a:prstGeom prst="rect">
            <a:avLst/>
          </a:prstGeom>
          <a:noFill/>
          <a:ln>
            <a:noFill/>
          </a:ln>
        </p:spPr>
        <p:txBody>
          <a:bodyPr wrap="square" lIns="0" tIns="0" rIns="0" bIns="0" anchor="t"/>
          <a:lstStyle/>
          <a:p>
            <a:pPr algn="ctr">
              <a:spcAft>
                <a:spcPts val="0"/>
              </a:spcAft>
              <a:buNone/>
            </a:pPr>
            <a:r>
              <a:rPr lang="en-US" sz="2000" b="0" i="1" dirty="0">
                <a:solidFill>
                  <a:srgbClr val="555960"/>
                </a:solidFill>
              </a:rPr>
              <a:t>What does this diagram claim?</a:t>
            </a:r>
          </a:p>
        </p:txBody>
      </p:sp>
      <p:sp>
        <p:nvSpPr>
          <p:cNvPr id="105" name="C0"/>
          <p:cNvSpPr/>
          <p:nvPr/>
        </p:nvSpPr>
        <p:spPr>
          <a:xfrm>
            <a:off x="525780" y="3474720"/>
            <a:ext cx="1920240" cy="100584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500" b="1" dirty="0">
                <a:solidFill>
                  <a:srgbClr val="5C4826"/>
                </a:solidFill>
              </a:rPr>
              <a:t>A calls B</a:t>
            </a:r>
          </a:p>
          <a:p>
            <a:pPr algn="ctr">
              <a:spcAft>
                <a:spcPts val="0"/>
              </a:spcAft>
              <a:buNone/>
            </a:pPr>
            <a:r>
              <a:rPr lang="en-US" sz="1300" b="0" dirty="0">
                <a:solidFill>
                  <a:srgbClr val="555960"/>
                </a:solidFill>
              </a:rPr>
              <a:t>a structural claim</a:t>
            </a:r>
          </a:p>
        </p:txBody>
      </p:sp>
      <p:sp>
        <p:nvSpPr>
          <p:cNvPr id="106" name="C1"/>
          <p:cNvSpPr/>
          <p:nvPr/>
        </p:nvSpPr>
        <p:spPr>
          <a:xfrm>
            <a:off x="2583180" y="3474720"/>
            <a:ext cx="1920240" cy="100584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500" b="1" dirty="0">
                <a:solidFill>
                  <a:srgbClr val="5C4826"/>
                </a:solidFill>
              </a:rPr>
              <a:t>A may call B</a:t>
            </a:r>
          </a:p>
          <a:p>
            <a:pPr algn="ctr">
              <a:spcAft>
                <a:spcPts val="0"/>
              </a:spcAft>
              <a:buNone/>
            </a:pPr>
            <a:r>
              <a:rPr lang="en-US" sz="1300" b="0" dirty="0">
                <a:solidFill>
                  <a:srgbClr val="555960"/>
                </a:solidFill>
              </a:rPr>
              <a:t>a decision claim</a:t>
            </a:r>
          </a:p>
        </p:txBody>
      </p:sp>
      <p:sp>
        <p:nvSpPr>
          <p:cNvPr id="107" name="C2"/>
          <p:cNvSpPr/>
          <p:nvPr/>
        </p:nvSpPr>
        <p:spPr>
          <a:xfrm>
            <a:off x="4640580" y="3474720"/>
            <a:ext cx="1920240" cy="100584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500" b="1" dirty="0">
                <a:solidFill>
                  <a:srgbClr val="5C4826"/>
                </a:solidFill>
              </a:rPr>
              <a:t>A was observed</a:t>
            </a:r>
            <a:br>
              <a:rPr lang="en-US" sz="1500" b="1" dirty="0"/>
            </a:br>
            <a:r>
              <a:rPr lang="en-US" sz="1500" b="1" dirty="0">
                <a:solidFill>
                  <a:srgbClr val="5C4826"/>
                </a:solidFill>
              </a:rPr>
              <a:t>calling B</a:t>
            </a:r>
          </a:p>
          <a:p>
            <a:pPr algn="ctr">
              <a:spcAft>
                <a:spcPts val="0"/>
              </a:spcAft>
              <a:buNone/>
            </a:pPr>
            <a:r>
              <a:rPr lang="en-US" sz="1300" b="0" dirty="0">
                <a:solidFill>
                  <a:srgbClr val="555960"/>
                </a:solidFill>
              </a:rPr>
              <a:t>an observation</a:t>
            </a:r>
          </a:p>
        </p:txBody>
      </p:sp>
      <p:sp>
        <p:nvSpPr>
          <p:cNvPr id="108" name="C3"/>
          <p:cNvSpPr/>
          <p:nvPr/>
        </p:nvSpPr>
        <p:spPr>
          <a:xfrm>
            <a:off x="6697980" y="3474720"/>
            <a:ext cx="1920240" cy="100584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500" b="1" dirty="0">
                <a:solidFill>
                  <a:srgbClr val="5C4826"/>
                </a:solidFill>
              </a:rPr>
              <a:t>A depends on B</a:t>
            </a:r>
          </a:p>
          <a:p>
            <a:pPr algn="ctr">
              <a:spcAft>
                <a:spcPts val="0"/>
              </a:spcAft>
              <a:buNone/>
            </a:pPr>
            <a:r>
              <a:rPr lang="en-US" sz="1300" b="0" dirty="0">
                <a:solidFill>
                  <a:srgbClr val="555960"/>
                </a:solidFill>
              </a:rPr>
              <a:t>a build-structure claim</a:t>
            </a:r>
          </a:p>
        </p:txBody>
      </p:sp>
      <p:sp>
        <p:nvSpPr>
          <p:cNvPr id="109" name="Ital"/>
          <p:cNvSpPr txBox="1"/>
          <p:nvPr/>
        </p:nvSpPr>
        <p:spPr>
          <a:xfrm>
            <a:off x="685800" y="4709160"/>
            <a:ext cx="7772400" cy="41148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Same nodes, same arrow, four different engineering claims.</a:t>
            </a:r>
          </a:p>
        </p:txBody>
      </p:sp>
      <p:sp>
        <p:nvSpPr>
          <p:cNvPr id="110"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A diagram that permits four readings licenses none.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par>
                                <p:cTn id="8" presetID="10" presetClass="entr" presetSubtype="0" fill="hold" nodeType="withEffect">
                                  <p:stCondLst>
                                    <p:cond delay="0"/>
                                  </p:stCondLst>
                                  <p:childTnLst>
                                    <p:set>
                                      <p:cBhvr>
                                        <p:cTn id="9" dur="1" fill="hold">
                                          <p:stCondLst>
                                            <p:cond delay="0"/>
                                          </p:stCondLst>
                                        </p:cTn>
                                        <p:tgtEl>
                                          <p:spTgt spid="106"/>
                                        </p:tgtEl>
                                        <p:attrNameLst>
                                          <p:attrName>style.visibility</p:attrName>
                                        </p:attrNameLst>
                                      </p:cBhvr>
                                      <p:to>
                                        <p:strVal val="visible"/>
                                      </p:to>
                                    </p:set>
                                    <p:animEffect transition="in" filter="fade">
                                      <p:cBhvr>
                                        <p:cTn id="10" dur="500"/>
                                        <p:tgtEl>
                                          <p:spTgt spid="106"/>
                                        </p:tgtEl>
                                      </p:cBhvr>
                                    </p:animEffect>
                                  </p:childTnLst>
                                </p:cTn>
                              </p:par>
                              <p:par>
                                <p:cTn id="11" presetID="10"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animEffect transition="in" filter="fade">
                                      <p:cBhvr>
                                        <p:cTn id="13" dur="500"/>
                                        <p:tgtEl>
                                          <p:spTgt spid="107"/>
                                        </p:tgtEl>
                                      </p:cBhvr>
                                    </p:animEffect>
                                  </p:childTnLst>
                                </p:cTn>
                              </p:par>
                              <p:par>
                                <p:cTn id="14" presetID="10" presetClass="entr" presetSubtype="0" fill="hold"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par>
                                <p:cTn id="20" presetID="10" presetClass="entr" presetSubtype="0" fill="hold" nodeType="withEffect">
                                  <p:stCondLst>
                                    <p:cond delay="0"/>
                                  </p:stCondLst>
                                  <p:childTnLst>
                                    <p:set>
                                      <p:cBhvr>
                                        <p:cTn id="21" dur="1" fill="hold">
                                          <p:stCondLst>
                                            <p:cond delay="0"/>
                                          </p:stCondLst>
                                        </p:cTn>
                                        <p:tgtEl>
                                          <p:spTgt spid="110"/>
                                        </p:tgtEl>
                                        <p:attrNameLst>
                                          <p:attrName>style.visibility</p:attrName>
                                        </p:attrNameLst>
                                      </p:cBhvr>
                                      <p:to>
                                        <p:strVal val="visible"/>
                                      </p:to>
                                    </p:set>
                                    <p:animEffect transition="in" filter="fade">
                                      <p:cBhvr>
                                        <p:cTn id="22"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Absence has semantics too</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A0"/>
          <p:cNvSpPr/>
          <p:nvPr/>
        </p:nvSpPr>
        <p:spPr>
          <a:xfrm>
            <a:off x="2377440" y="1417320"/>
            <a:ext cx="1371600" cy="6858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2000" b="1" dirty="0">
                <a:solidFill>
                  <a:srgbClr val="5C4826"/>
                </a:solidFill>
              </a:rPr>
              <a:t>A</a:t>
            </a:r>
          </a:p>
        </p:txBody>
      </p:sp>
      <p:cxnSp>
        <p:nvCxnSpPr>
          <p:cNvPr id="102" name="GE0"/>
          <p:cNvCxnSpPr/>
          <p:nvPr/>
        </p:nvCxnSpPr>
        <p:spPr>
          <a:xfrm>
            <a:off x="3749040" y="1760220"/>
            <a:ext cx="1646640" cy="0"/>
          </a:xfrm>
          <a:prstGeom prst="straightConnector1">
            <a:avLst/>
          </a:prstGeom>
          <a:ln w="19050">
            <a:solidFill>
              <a:srgbClr val="C9B991"/>
            </a:solidFill>
            <a:prstDash val="dash"/>
          </a:ln>
        </p:spPr>
      </p:cxnSp>
      <p:cxnSp>
        <p:nvCxnSpPr>
          <p:cNvPr id="103" name="X0"/>
          <p:cNvCxnSpPr/>
          <p:nvPr/>
        </p:nvCxnSpPr>
        <p:spPr>
          <a:xfrm>
            <a:off x="4503420" y="1691640"/>
            <a:ext cx="137160" cy="137160"/>
          </a:xfrm>
          <a:prstGeom prst="straightConnector1">
            <a:avLst/>
          </a:prstGeom>
          <a:ln w="19050">
            <a:solidFill>
              <a:srgbClr val="555960"/>
            </a:solidFill>
          </a:ln>
        </p:spPr>
      </p:cxnSp>
      <p:cxnSp>
        <p:nvCxnSpPr>
          <p:cNvPr id="104" name="X1"/>
          <p:cNvCxnSpPr/>
          <p:nvPr/>
        </p:nvCxnSpPr>
        <p:spPr>
          <a:xfrm flipH="1">
            <a:off x="4503420" y="1691640"/>
            <a:ext cx="137160" cy="137160"/>
          </a:xfrm>
          <a:prstGeom prst="straightConnector1">
            <a:avLst/>
          </a:prstGeom>
          <a:ln w="19050">
            <a:solidFill>
              <a:srgbClr val="555960"/>
            </a:solidFill>
          </a:ln>
        </p:spPr>
      </p:cxnSp>
      <p:sp>
        <p:nvSpPr>
          <p:cNvPr id="105" name="B0"/>
          <p:cNvSpPr/>
          <p:nvPr/>
        </p:nvSpPr>
        <p:spPr>
          <a:xfrm>
            <a:off x="5395680" y="1417320"/>
            <a:ext cx="1371600" cy="6858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2000" b="1" dirty="0">
                <a:solidFill>
                  <a:srgbClr val="5C4826"/>
                </a:solidFill>
              </a:rPr>
              <a:t>B</a:t>
            </a:r>
          </a:p>
        </p:txBody>
      </p:sp>
      <p:sp>
        <p:nvSpPr>
          <p:cNvPr id="106" name="Prompt"/>
          <p:cNvSpPr txBox="1"/>
          <p:nvPr/>
        </p:nvSpPr>
        <p:spPr>
          <a:xfrm>
            <a:off x="685800" y="2331720"/>
            <a:ext cx="7772400" cy="365760"/>
          </a:xfrm>
          <a:prstGeom prst="rect">
            <a:avLst/>
          </a:prstGeom>
          <a:noFill/>
          <a:ln>
            <a:noFill/>
          </a:ln>
        </p:spPr>
        <p:txBody>
          <a:bodyPr wrap="square" lIns="0" tIns="0" rIns="0" bIns="0" anchor="t"/>
          <a:lstStyle/>
          <a:p>
            <a:pPr algn="ctr">
              <a:spcAft>
                <a:spcPts val="0"/>
              </a:spcAft>
              <a:buNone/>
            </a:pPr>
            <a:r>
              <a:rPr lang="en-US" sz="2000" b="0" i="1" dirty="0">
                <a:solidFill>
                  <a:srgbClr val="555960"/>
                </a:solidFill>
              </a:rPr>
              <a:t>There is no arrow from A to B. What does that claim?</a:t>
            </a:r>
          </a:p>
        </p:txBody>
      </p:sp>
      <p:sp>
        <p:nvSpPr>
          <p:cNvPr id="107" name="O0"/>
          <p:cNvSpPr/>
          <p:nvPr/>
        </p:nvSpPr>
        <p:spPr>
          <a:xfrm>
            <a:off x="525780" y="2971800"/>
            <a:ext cx="192024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prohibited?</a:t>
            </a:r>
          </a:p>
        </p:txBody>
      </p:sp>
      <p:sp>
        <p:nvSpPr>
          <p:cNvPr id="108" name="O1"/>
          <p:cNvSpPr/>
          <p:nvPr/>
        </p:nvSpPr>
        <p:spPr>
          <a:xfrm>
            <a:off x="2583180" y="2971800"/>
            <a:ext cx="192024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impossible?</a:t>
            </a:r>
          </a:p>
        </p:txBody>
      </p:sp>
      <p:sp>
        <p:nvSpPr>
          <p:cNvPr id="109" name="O2"/>
          <p:cNvSpPr/>
          <p:nvPr/>
        </p:nvSpPr>
        <p:spPr>
          <a:xfrm>
            <a:off x="4640580" y="2971800"/>
            <a:ext cx="192024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unobserved?</a:t>
            </a:r>
          </a:p>
        </p:txBody>
      </p:sp>
      <p:sp>
        <p:nvSpPr>
          <p:cNvPr id="110" name="O3"/>
          <p:cNvSpPr/>
          <p:nvPr/>
        </p:nvSpPr>
        <p:spPr>
          <a:xfrm>
            <a:off x="6697980" y="2971800"/>
            <a:ext cx="192024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not represented?</a:t>
            </a:r>
          </a:p>
        </p:txBody>
      </p:sp>
      <p:sp>
        <p:nvSpPr>
          <p:cNvPr id="111" name="ClaimBox"/>
          <p:cNvSpPr/>
          <p:nvPr/>
        </p:nvSpPr>
        <p:spPr>
          <a:xfrm>
            <a:off x="1143000" y="3886200"/>
            <a:ext cx="6858000" cy="1371600"/>
          </a:xfrm>
          <a:prstGeom prst="rect">
            <a:avLst/>
          </a:prstGeom>
          <a:solidFill>
            <a:srgbClr val="F5F1E8"/>
          </a:solidFill>
          <a:ln w="12700">
            <a:solidFill>
              <a:srgbClr val="C9B991"/>
            </a:solidFill>
          </a:ln>
        </p:spPr>
        <p:txBody>
          <a:bodyPr wrap="square" lIns="128016" tIns="91440" rIns="118872" bIns="91440" anchor="ctr"/>
          <a:lstStyle/>
          <a:p>
            <a:pPr algn="ctr">
              <a:spcAft>
                <a:spcPts val="800"/>
              </a:spcAft>
              <a:buNone/>
            </a:pPr>
            <a:r>
              <a:rPr lang="en-US" sz="1800" b="0" dirty="0">
                <a:solidFill>
                  <a:srgbClr val="5C4826"/>
                </a:solidFill>
              </a:rPr>
              <a:t>In a structural model, an absent edge represents nothing.</a:t>
            </a:r>
          </a:p>
          <a:p>
            <a:pPr algn="ctr">
              <a:spcAft>
                <a:spcPts val="0"/>
              </a:spcAft>
              <a:buNone/>
            </a:pPr>
            <a:r>
              <a:rPr lang="en-US" sz="1800" b="1" dirty="0">
                <a:solidFill>
                  <a:srgbClr val="5C4826"/>
                </a:solidFill>
              </a:rPr>
              <a:t>In a decision model, an absent edge may state a prohibition.</a:t>
            </a:r>
          </a:p>
        </p:txBody>
      </p:sp>
      <p:sp>
        <p:nvSpPr>
          <p:cNvPr id="112"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Semantics diverge hardest at the absent edge.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Models need semantics, not just syntax</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PanL"/>
          <p:cNvSpPr/>
          <p:nvPr/>
        </p:nvSpPr>
        <p:spPr>
          <a:xfrm>
            <a:off x="365760" y="1280160"/>
            <a:ext cx="4023360" cy="3200400"/>
          </a:xfrm>
          <a:prstGeom prst="rect">
            <a:avLst/>
          </a:prstGeom>
          <a:noFill/>
          <a:ln w="12700">
            <a:solidFill>
              <a:srgbClr val="C9B991"/>
            </a:solidFill>
          </a:ln>
        </p:spPr>
        <p:txBody>
          <a:bodyPr wrap="square" lIns="27432" tIns="22860" rIns="27432" bIns="22860" anchor="ctr"/>
          <a:lstStyle/>
          <a:p>
            <a:endParaRPr lang="en-US"/>
          </a:p>
        </p:txBody>
      </p:sp>
      <p:sp>
        <p:nvSpPr>
          <p:cNvPr id="102" name="PCL"/>
          <p:cNvSpPr txBox="1"/>
          <p:nvPr/>
        </p:nvSpPr>
        <p:spPr>
          <a:xfrm>
            <a:off x="457200" y="1325880"/>
            <a:ext cx="3840480" cy="274320"/>
          </a:xfrm>
          <a:prstGeom prst="rect">
            <a:avLst/>
          </a:prstGeom>
          <a:noFill/>
          <a:ln>
            <a:noFill/>
          </a:ln>
        </p:spPr>
        <p:txBody>
          <a:bodyPr wrap="square" lIns="18288" tIns="18288" rIns="18288" bIns="18288" anchor="t"/>
          <a:lstStyle/>
          <a:p>
            <a:pPr algn="l">
              <a:spcAft>
                <a:spcPts val="0"/>
              </a:spcAft>
              <a:buNone/>
            </a:pPr>
            <a:r>
              <a:rPr lang="en-US" sz="1400" b="1" dirty="0">
                <a:solidFill>
                  <a:srgbClr val="555960"/>
                </a:solidFill>
              </a:rPr>
              <a:t>A TIDY DIAGRAM</a:t>
            </a:r>
          </a:p>
        </p:txBody>
      </p:sp>
      <p:sp>
        <p:nvSpPr>
          <p:cNvPr id="103" name="V0"/>
          <p:cNvSpPr/>
          <p:nvPr/>
        </p:nvSpPr>
        <p:spPr>
          <a:xfrm>
            <a:off x="731520" y="1874520"/>
            <a:ext cx="548640" cy="365760"/>
          </a:xfrm>
          <a:prstGeom prst="rect">
            <a:avLst/>
          </a:prstGeom>
          <a:solidFill>
            <a:srgbClr val="FBF8F2"/>
          </a:solidFill>
          <a:ln w="12700">
            <a:solidFill>
              <a:srgbClr val="555960"/>
            </a:solidFill>
          </a:ln>
        </p:spPr>
        <p:txBody>
          <a:bodyPr wrap="square" lIns="27432" tIns="22860" rIns="27432" bIns="22860" anchor="ctr"/>
          <a:lstStyle/>
          <a:p>
            <a:endParaRPr lang="en-US"/>
          </a:p>
        </p:txBody>
      </p:sp>
      <p:sp>
        <p:nvSpPr>
          <p:cNvPr id="104" name="V1"/>
          <p:cNvSpPr/>
          <p:nvPr/>
        </p:nvSpPr>
        <p:spPr>
          <a:xfrm>
            <a:off x="2011680" y="1737360"/>
            <a:ext cx="548640" cy="365760"/>
          </a:xfrm>
          <a:prstGeom prst="ellipse">
            <a:avLst/>
          </a:prstGeom>
          <a:solidFill>
            <a:srgbClr val="FBF8F2"/>
          </a:solidFill>
          <a:ln w="12700">
            <a:solidFill>
              <a:srgbClr val="555960"/>
            </a:solidFill>
          </a:ln>
        </p:spPr>
        <p:txBody>
          <a:bodyPr wrap="square" lIns="27432" tIns="22860" rIns="27432" bIns="22860" anchor="ctr"/>
          <a:lstStyle/>
          <a:p>
            <a:endParaRPr lang="en-US"/>
          </a:p>
        </p:txBody>
      </p:sp>
      <p:sp>
        <p:nvSpPr>
          <p:cNvPr id="105" name="V2"/>
          <p:cNvSpPr/>
          <p:nvPr/>
        </p:nvSpPr>
        <p:spPr>
          <a:xfrm>
            <a:off x="3291840" y="1874520"/>
            <a:ext cx="548640" cy="365760"/>
          </a:xfrm>
          <a:prstGeom prst="rect">
            <a:avLst/>
          </a:prstGeom>
          <a:solidFill>
            <a:srgbClr val="FBF8F2"/>
          </a:solidFill>
          <a:ln w="12700">
            <a:solidFill>
              <a:srgbClr val="555960"/>
            </a:solidFill>
          </a:ln>
        </p:spPr>
        <p:txBody>
          <a:bodyPr wrap="square" lIns="27432" tIns="22860" rIns="27432" bIns="22860" anchor="ctr"/>
          <a:lstStyle/>
          <a:p>
            <a:endParaRPr lang="en-US"/>
          </a:p>
        </p:txBody>
      </p:sp>
      <p:sp>
        <p:nvSpPr>
          <p:cNvPr id="106" name="V3"/>
          <p:cNvSpPr/>
          <p:nvPr/>
        </p:nvSpPr>
        <p:spPr>
          <a:xfrm>
            <a:off x="1188720" y="2971800"/>
            <a:ext cx="548640" cy="365760"/>
          </a:xfrm>
          <a:prstGeom prst="ellipse">
            <a:avLst/>
          </a:prstGeom>
          <a:solidFill>
            <a:srgbClr val="FBF8F2"/>
          </a:solidFill>
          <a:ln w="12700">
            <a:solidFill>
              <a:srgbClr val="555960"/>
            </a:solidFill>
          </a:ln>
        </p:spPr>
        <p:txBody>
          <a:bodyPr wrap="square" lIns="27432" tIns="22860" rIns="27432" bIns="22860" anchor="ctr"/>
          <a:lstStyle/>
          <a:p>
            <a:endParaRPr lang="en-US"/>
          </a:p>
        </p:txBody>
      </p:sp>
      <p:sp>
        <p:nvSpPr>
          <p:cNvPr id="107" name="V4"/>
          <p:cNvSpPr/>
          <p:nvPr/>
        </p:nvSpPr>
        <p:spPr>
          <a:xfrm>
            <a:off x="2468880" y="3108960"/>
            <a:ext cx="548640" cy="365760"/>
          </a:xfrm>
          <a:prstGeom prst="rect">
            <a:avLst/>
          </a:prstGeom>
          <a:solidFill>
            <a:srgbClr val="FBF8F2"/>
          </a:solidFill>
          <a:ln w="12700">
            <a:solidFill>
              <a:srgbClr val="555960"/>
            </a:solidFill>
          </a:ln>
        </p:spPr>
        <p:txBody>
          <a:bodyPr wrap="square" lIns="27432" tIns="22860" rIns="27432" bIns="22860" anchor="ctr"/>
          <a:lstStyle/>
          <a:p>
            <a:endParaRPr lang="en-US"/>
          </a:p>
        </p:txBody>
      </p:sp>
      <p:sp>
        <p:nvSpPr>
          <p:cNvPr id="108" name="V5"/>
          <p:cNvSpPr/>
          <p:nvPr/>
        </p:nvSpPr>
        <p:spPr>
          <a:xfrm>
            <a:off x="3474720" y="2880360"/>
            <a:ext cx="548640" cy="365760"/>
          </a:xfrm>
          <a:prstGeom prst="ellipse">
            <a:avLst/>
          </a:prstGeom>
          <a:solidFill>
            <a:srgbClr val="FBF8F2"/>
          </a:solidFill>
          <a:ln w="12700">
            <a:solidFill>
              <a:srgbClr val="555960"/>
            </a:solidFill>
          </a:ln>
        </p:spPr>
        <p:txBody>
          <a:bodyPr wrap="square" lIns="27432" tIns="22860" rIns="27432" bIns="22860" anchor="ctr"/>
          <a:lstStyle/>
          <a:p>
            <a:endParaRPr lang="en-US"/>
          </a:p>
        </p:txBody>
      </p:sp>
      <p:cxnSp>
        <p:nvCxnSpPr>
          <p:cNvPr id="109" name="W0"/>
          <p:cNvCxnSpPr/>
          <p:nvPr/>
        </p:nvCxnSpPr>
        <p:spPr>
          <a:xfrm>
            <a:off x="1280160" y="2057400"/>
            <a:ext cx="731520" cy="0"/>
          </a:xfrm>
          <a:prstGeom prst="straightConnector1">
            <a:avLst/>
          </a:prstGeom>
          <a:ln w="9525">
            <a:solidFill>
              <a:srgbClr val="555960"/>
            </a:solidFill>
            <a:tailEnd type="triangle" w="med" len="med"/>
          </a:ln>
        </p:spPr>
      </p:cxnSp>
      <p:cxnSp>
        <p:nvCxnSpPr>
          <p:cNvPr id="110" name="W1"/>
          <p:cNvCxnSpPr/>
          <p:nvPr/>
        </p:nvCxnSpPr>
        <p:spPr>
          <a:xfrm>
            <a:off x="2560320" y="1920240"/>
            <a:ext cx="731520" cy="91440"/>
          </a:xfrm>
          <a:prstGeom prst="straightConnector1">
            <a:avLst/>
          </a:prstGeom>
          <a:ln w="9525">
            <a:solidFill>
              <a:srgbClr val="555960"/>
            </a:solidFill>
            <a:tailEnd type="triangle" w="med" len="med"/>
          </a:ln>
        </p:spPr>
      </p:cxnSp>
      <p:cxnSp>
        <p:nvCxnSpPr>
          <p:cNvPr id="111" name="W2"/>
          <p:cNvCxnSpPr/>
          <p:nvPr/>
        </p:nvCxnSpPr>
        <p:spPr>
          <a:xfrm>
            <a:off x="1005840" y="2240280"/>
            <a:ext cx="365760" cy="731520"/>
          </a:xfrm>
          <a:prstGeom prst="straightConnector1">
            <a:avLst/>
          </a:prstGeom>
          <a:ln w="9525">
            <a:solidFill>
              <a:srgbClr val="555960"/>
            </a:solidFill>
            <a:tailEnd type="triangle" w="med" len="med"/>
          </a:ln>
        </p:spPr>
      </p:cxnSp>
      <p:cxnSp>
        <p:nvCxnSpPr>
          <p:cNvPr id="112" name="W3"/>
          <p:cNvCxnSpPr/>
          <p:nvPr/>
        </p:nvCxnSpPr>
        <p:spPr>
          <a:xfrm>
            <a:off x="2286000" y="2103120"/>
            <a:ext cx="365760" cy="1005840"/>
          </a:xfrm>
          <a:prstGeom prst="straightConnector1">
            <a:avLst/>
          </a:prstGeom>
          <a:ln w="9525">
            <a:solidFill>
              <a:srgbClr val="555960"/>
            </a:solidFill>
            <a:tailEnd type="triangle" w="med" len="med"/>
          </a:ln>
        </p:spPr>
      </p:cxnSp>
      <p:cxnSp>
        <p:nvCxnSpPr>
          <p:cNvPr id="113" name="W4"/>
          <p:cNvCxnSpPr/>
          <p:nvPr/>
        </p:nvCxnSpPr>
        <p:spPr>
          <a:xfrm flipV="1">
            <a:off x="3017520" y="3200400"/>
            <a:ext cx="457200" cy="91440"/>
          </a:xfrm>
          <a:prstGeom prst="straightConnector1">
            <a:avLst/>
          </a:prstGeom>
          <a:ln w="9525">
            <a:solidFill>
              <a:srgbClr val="555960"/>
            </a:solidFill>
            <a:tailEnd type="triangle" w="med" len="med"/>
          </a:ln>
        </p:spPr>
      </p:cxnSp>
      <p:cxnSp>
        <p:nvCxnSpPr>
          <p:cNvPr id="114" name="W5"/>
          <p:cNvCxnSpPr/>
          <p:nvPr/>
        </p:nvCxnSpPr>
        <p:spPr>
          <a:xfrm>
            <a:off x="3566160" y="2240280"/>
            <a:ext cx="182880" cy="640080"/>
          </a:xfrm>
          <a:prstGeom prst="straightConnector1">
            <a:avLst/>
          </a:prstGeom>
          <a:ln w="9525">
            <a:solidFill>
              <a:srgbClr val="555960"/>
            </a:solidFill>
            <a:tailEnd type="triangle" w="med" len="med"/>
          </a:ln>
        </p:spPr>
      </p:cxnSp>
      <p:sp>
        <p:nvSpPr>
          <p:cNvPr id="115" name="PSL"/>
          <p:cNvSpPr txBox="1"/>
          <p:nvPr/>
        </p:nvSpPr>
        <p:spPr>
          <a:xfrm>
            <a:off x="457200" y="4114800"/>
            <a:ext cx="3840480" cy="274320"/>
          </a:xfrm>
          <a:prstGeom prst="rect">
            <a:avLst/>
          </a:prstGeom>
          <a:noFill/>
          <a:ln>
            <a:noFill/>
          </a:ln>
        </p:spPr>
        <p:txBody>
          <a:bodyPr wrap="square" lIns="18288" tIns="0" rIns="18288" bIns="0" anchor="t"/>
          <a:lstStyle/>
          <a:p>
            <a:pPr algn="l">
              <a:spcAft>
                <a:spcPts val="0"/>
              </a:spcAft>
              <a:buNone/>
            </a:pPr>
            <a:r>
              <a:rPr lang="en-US" sz="1300" b="0" i="1" dirty="0">
                <a:solidFill>
                  <a:srgbClr val="555960"/>
                </a:solidFill>
              </a:rPr>
              <a:t>a tidy layout; every arrow unlabeled</a:t>
            </a:r>
          </a:p>
        </p:txBody>
      </p:sp>
      <p:sp>
        <p:nvSpPr>
          <p:cNvPr id="116" name="PanR"/>
          <p:cNvSpPr/>
          <p:nvPr/>
        </p:nvSpPr>
        <p:spPr>
          <a:xfrm>
            <a:off x="4754880" y="1280160"/>
            <a:ext cx="4023360" cy="3200400"/>
          </a:xfrm>
          <a:prstGeom prst="rect">
            <a:avLst/>
          </a:prstGeom>
          <a:noFill/>
          <a:ln w="12700">
            <a:solidFill>
              <a:srgbClr val="C9B991"/>
            </a:solidFill>
          </a:ln>
        </p:spPr>
        <p:txBody>
          <a:bodyPr wrap="square" lIns="27432" tIns="22860" rIns="27432" bIns="22860" anchor="ctr"/>
          <a:lstStyle/>
          <a:p>
            <a:endParaRPr lang="en-US"/>
          </a:p>
        </p:txBody>
      </p:sp>
      <p:sp>
        <p:nvSpPr>
          <p:cNvPr id="117" name="PCR"/>
          <p:cNvSpPr txBox="1"/>
          <p:nvPr/>
        </p:nvSpPr>
        <p:spPr>
          <a:xfrm>
            <a:off x="4846320" y="1325880"/>
            <a:ext cx="3840480" cy="274320"/>
          </a:xfrm>
          <a:prstGeom prst="rect">
            <a:avLst/>
          </a:prstGeom>
          <a:noFill/>
          <a:ln>
            <a:noFill/>
          </a:ln>
        </p:spPr>
        <p:txBody>
          <a:bodyPr wrap="square" lIns="18288" tIns="18288" rIns="18288" bIns="18288" anchor="t"/>
          <a:lstStyle/>
          <a:p>
            <a:pPr algn="l">
              <a:spcAft>
                <a:spcPts val="0"/>
              </a:spcAft>
              <a:buNone/>
            </a:pPr>
            <a:r>
              <a:rPr lang="en-US" sz="1400" b="1" dirty="0">
                <a:solidFill>
                  <a:srgbClr val="555960"/>
                </a:solidFill>
              </a:rPr>
              <a:t>A TYPED RELATION</a:t>
            </a:r>
          </a:p>
        </p:txBody>
      </p:sp>
      <p:sp>
        <p:nvSpPr>
          <p:cNvPr id="118" name="R0"/>
          <p:cNvSpPr/>
          <p:nvPr/>
        </p:nvSpPr>
        <p:spPr>
          <a:xfrm>
            <a:off x="4937760" y="1737360"/>
            <a:ext cx="3657600" cy="457200"/>
          </a:xfrm>
          <a:prstGeom prst="rect">
            <a:avLst/>
          </a:prstGeom>
          <a:solidFill>
            <a:srgbClr val="F5F1E8"/>
          </a:solidFill>
          <a:ln w="12700">
            <a:solidFill>
              <a:srgbClr val="C9B991"/>
            </a:solidFill>
          </a:ln>
        </p:spPr>
        <p:txBody>
          <a:bodyPr wrap="square" lIns="91440" tIns="22860" rIns="27432" bIns="22860" anchor="ctr"/>
          <a:lstStyle/>
          <a:p>
            <a:pPr algn="l">
              <a:spcAft>
                <a:spcPts val="0"/>
              </a:spcAft>
              <a:buNone/>
            </a:pPr>
            <a:r>
              <a:rPr lang="en-US" sz="1500" b="0" dirty="0">
                <a:solidFill>
                  <a:srgbClr val="5C4826"/>
                </a:solidFill>
              </a:rPr>
              <a:t>A → B : may call</a:t>
            </a:r>
          </a:p>
        </p:txBody>
      </p:sp>
      <p:sp>
        <p:nvSpPr>
          <p:cNvPr id="119" name="R1"/>
          <p:cNvSpPr/>
          <p:nvPr/>
        </p:nvSpPr>
        <p:spPr>
          <a:xfrm>
            <a:off x="4937760" y="2331720"/>
            <a:ext cx="3657600" cy="457200"/>
          </a:xfrm>
          <a:prstGeom prst="rect">
            <a:avLst/>
          </a:prstGeom>
          <a:solidFill>
            <a:srgbClr val="F5F1E8"/>
          </a:solidFill>
          <a:ln w="12700">
            <a:solidFill>
              <a:srgbClr val="C9B991"/>
            </a:solidFill>
          </a:ln>
        </p:spPr>
        <p:txBody>
          <a:bodyPr wrap="square" lIns="91440" tIns="22860" rIns="27432" bIns="22860" anchor="ctr"/>
          <a:lstStyle/>
          <a:p>
            <a:pPr algn="l">
              <a:spcAft>
                <a:spcPts val="0"/>
              </a:spcAft>
              <a:buNone/>
            </a:pPr>
            <a:r>
              <a:rPr lang="en-US" sz="1500" b="0" dirty="0">
                <a:solidFill>
                  <a:srgbClr val="5C4826"/>
                </a:solidFill>
              </a:rPr>
              <a:t>B → C : may call</a:t>
            </a:r>
          </a:p>
        </p:txBody>
      </p:sp>
      <p:sp>
        <p:nvSpPr>
          <p:cNvPr id="120" name="R2"/>
          <p:cNvSpPr/>
          <p:nvPr/>
        </p:nvSpPr>
        <p:spPr>
          <a:xfrm>
            <a:off x="4937760" y="2926080"/>
            <a:ext cx="3657600" cy="457200"/>
          </a:xfrm>
          <a:prstGeom prst="rect">
            <a:avLst/>
          </a:prstGeom>
          <a:solidFill>
            <a:srgbClr val="F5F1E8"/>
          </a:solidFill>
          <a:ln w="12700">
            <a:solidFill>
              <a:srgbClr val="C9B991"/>
            </a:solidFill>
          </a:ln>
        </p:spPr>
        <p:txBody>
          <a:bodyPr wrap="square" lIns="91440" tIns="22860" rIns="27432" bIns="22860" anchor="ctr"/>
          <a:lstStyle/>
          <a:p>
            <a:pPr algn="l">
              <a:spcAft>
                <a:spcPts val="0"/>
              </a:spcAft>
              <a:buNone/>
            </a:pPr>
            <a:r>
              <a:rPr lang="en-US" sz="1500" b="0" dirty="0">
                <a:solidFill>
                  <a:srgbClr val="5C4826"/>
                </a:solidFill>
              </a:rPr>
              <a:t>A → C : absent</a:t>
            </a:r>
          </a:p>
        </p:txBody>
      </p:sp>
      <p:sp>
        <p:nvSpPr>
          <p:cNvPr id="121" name="PDR"/>
          <p:cNvSpPr txBox="1"/>
          <p:nvPr/>
        </p:nvSpPr>
        <p:spPr>
          <a:xfrm>
            <a:off x="4937760" y="3611880"/>
            <a:ext cx="3657600" cy="731520"/>
          </a:xfrm>
          <a:prstGeom prst="rect">
            <a:avLst/>
          </a:prstGeom>
          <a:noFill/>
          <a:ln>
            <a:noFill/>
          </a:ln>
        </p:spPr>
        <p:txBody>
          <a:bodyPr wrap="square" lIns="18288" tIns="18288" rIns="18288" bIns="18288" anchor="t"/>
          <a:lstStyle/>
          <a:p>
            <a:pPr algn="l">
              <a:spcAft>
                <a:spcPts val="200"/>
              </a:spcAft>
              <a:buNone/>
            </a:pPr>
            <a:r>
              <a:rPr lang="en-US" sz="1400" b="0" dirty="0">
                <a:solidFill>
                  <a:srgbClr val="555960"/>
                </a:solidFill>
              </a:rPr>
              <a:t>declared: edge = may call</a:t>
            </a:r>
          </a:p>
          <a:p>
            <a:pPr algn="l">
              <a:spcAft>
                <a:spcPts val="0"/>
              </a:spcAft>
              <a:buNone/>
            </a:pPr>
            <a:r>
              <a:rPr lang="en-US" sz="1400" b="0" dirty="0">
                <a:solidFill>
                  <a:srgbClr val="555960"/>
                </a:solidFill>
              </a:rPr>
              <a:t>declared: absence = prohibition</a:t>
            </a:r>
          </a:p>
        </p:txBody>
      </p:sp>
      <p:sp>
        <p:nvSpPr>
          <p:cNvPr id="122" name="Claim"/>
          <p:cNvSpPr txBox="1"/>
          <p:nvPr/>
        </p:nvSpPr>
        <p:spPr>
          <a:xfrm>
            <a:off x="685800" y="4709160"/>
            <a:ext cx="7772400" cy="73152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The compact relation carries more information, and is more reliably interpreted, than the prettier picture.</a:t>
            </a:r>
          </a:p>
        </p:txBody>
      </p:sp>
      <p:sp>
        <p:nvSpPr>
          <p:cNvPr id="12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Better semantics beat more detail.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ectionLabel"/>
          <p:cNvSpPr txBox="1"/>
          <p:nvPr/>
        </p:nvSpPr>
        <p:spPr>
          <a:xfrm>
            <a:off x="685800" y="1243584"/>
            <a:ext cx="7772400" cy="365760"/>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SECTION 2</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CORRESPONDENCE</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2" name="Question"/>
          <p:cNvSpPr txBox="1"/>
          <p:nvPr/>
        </p:nvSpPr>
        <p:spPr>
          <a:xfrm>
            <a:off x="685800" y="2798064"/>
            <a:ext cx="7772400" cy="475488"/>
          </a:xfrm>
          <a:prstGeom prst="rect">
            <a:avLst/>
          </a:prstGeom>
          <a:noFill/>
          <a:ln>
            <a:noFill/>
          </a:ln>
        </p:spPr>
        <p:txBody>
          <a:bodyPr wrap="square" lIns="0" tIns="0" rIns="0" bIns="0" anchor="t"/>
          <a:lstStyle/>
          <a:p>
            <a:pPr algn="ctr">
              <a:spcAft>
                <a:spcPts val="0"/>
              </a:spcAft>
              <a:buNone/>
            </a:pPr>
            <a:r>
              <a:rPr lang="en-US" sz="2400" b="0" dirty="0">
                <a:solidFill>
                  <a:srgbClr val="5C4826"/>
                </a:solidFill>
              </a:rPr>
              <a:t>When the system changes, what happens to the model?</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endParaRPr lang="en-US"/>
          </a:p>
        </p:txBody>
      </p:sp>
      <p:sp>
        <p:nvSpPr>
          <p:cNvPr id="104" name="N0"/>
          <p:cNvSpPr/>
          <p:nvPr/>
        </p:nvSpPr>
        <p:spPr>
          <a:xfrm>
            <a:off x="278892"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MEANING</a:t>
            </a:r>
          </a:p>
        </p:txBody>
      </p:sp>
      <p:cxnSp>
        <p:nvCxnSpPr>
          <p:cNvPr id="105" name="NA0"/>
          <p:cNvCxnSpPr/>
          <p:nvPr/>
        </p:nvCxnSpPr>
        <p:spPr>
          <a:xfrm>
            <a:off x="2208276" y="5001768"/>
            <a:ext cx="274320" cy="0"/>
          </a:xfrm>
          <a:prstGeom prst="straightConnector1">
            <a:avLst/>
          </a:prstGeom>
          <a:ln w="19050">
            <a:solidFill>
              <a:srgbClr val="C9B991"/>
            </a:solidFill>
            <a:tailEnd type="triangle" w="med" len="med"/>
          </a:ln>
        </p:spPr>
      </p:cxnSp>
      <p:sp>
        <p:nvSpPr>
          <p:cNvPr id="106" name="N1"/>
          <p:cNvSpPr/>
          <p:nvPr/>
        </p:nvSpPr>
        <p:spPr>
          <a:xfrm>
            <a:off x="2500884" y="4718304"/>
            <a:ext cx="192024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CORRESPONDENCE</a:t>
            </a:r>
          </a:p>
        </p:txBody>
      </p:sp>
      <p:cxnSp>
        <p:nvCxnSpPr>
          <p:cNvPr id="107" name="NA1"/>
          <p:cNvCxnSpPr/>
          <p:nvPr/>
        </p:nvCxnSpPr>
        <p:spPr>
          <a:xfrm>
            <a:off x="4430268" y="5001768"/>
            <a:ext cx="274320" cy="0"/>
          </a:xfrm>
          <a:prstGeom prst="straightConnector1">
            <a:avLst/>
          </a:prstGeom>
          <a:ln w="19050">
            <a:solidFill>
              <a:srgbClr val="C9B991"/>
            </a:solidFill>
            <a:tailEnd type="triangle" w="med" len="med"/>
          </a:ln>
        </p:spPr>
      </p:cxnSp>
      <p:sp>
        <p:nvSpPr>
          <p:cNvPr id="108" name="N2"/>
          <p:cNvSpPr/>
          <p:nvPr/>
        </p:nvSpPr>
        <p:spPr>
          <a:xfrm>
            <a:off x="4722876"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IDENTITY</a:t>
            </a:r>
          </a:p>
        </p:txBody>
      </p:sp>
      <p:cxnSp>
        <p:nvCxnSpPr>
          <p:cNvPr id="109" name="NA2"/>
          <p:cNvCxnSpPr/>
          <p:nvPr/>
        </p:nvCxnSpPr>
        <p:spPr>
          <a:xfrm>
            <a:off x="6652260" y="5001768"/>
            <a:ext cx="274320" cy="0"/>
          </a:xfrm>
          <a:prstGeom prst="straightConnector1">
            <a:avLst/>
          </a:prstGeom>
          <a:ln w="19050">
            <a:solidFill>
              <a:srgbClr val="C9B991"/>
            </a:solidFill>
            <a:tailEnd type="triangle" w="med" len="med"/>
          </a:ln>
        </p:spPr>
      </p:cxnSp>
      <p:sp>
        <p:nvSpPr>
          <p:cNvPr id="110" name="N3"/>
          <p:cNvSpPr/>
          <p:nvPr/>
        </p:nvSpPr>
        <p:spPr>
          <a:xfrm>
            <a:off x="6944868"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COMPOSITION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Correspondence is an engineering obligation</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Claim"/>
          <p:cNvSpPr txBox="1"/>
          <p:nvPr/>
        </p:nvSpPr>
        <p:spPr>
          <a:xfrm>
            <a:off x="685800" y="1417320"/>
            <a:ext cx="7772400" cy="73152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If we depend on a model to answer questions, we depend on a maintained relationship between the model and the thing modeled.</a:t>
            </a:r>
          </a:p>
        </p:txBody>
      </p:sp>
      <p:sp>
        <p:nvSpPr>
          <p:cNvPr id="102" name="MD0"/>
          <p:cNvSpPr/>
          <p:nvPr/>
        </p:nvSpPr>
        <p:spPr>
          <a:xfrm>
            <a:off x="6400800" y="2469515"/>
            <a:ext cx="1828800" cy="64008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600" b="1" dirty="0">
                <a:solidFill>
                  <a:srgbClr val="5C4826"/>
                </a:solidFill>
              </a:rPr>
              <a:t>THE MODEL</a:t>
            </a:r>
          </a:p>
          <a:p>
            <a:pPr algn="ctr">
              <a:spcAft>
                <a:spcPts val="0"/>
              </a:spcAft>
              <a:buNone/>
            </a:pPr>
            <a:r>
              <a:rPr lang="en-US" sz="1300" b="0" dirty="0">
                <a:solidFill>
                  <a:srgbClr val="555960"/>
                </a:solidFill>
              </a:rPr>
              <a:t>written in March</a:t>
            </a:r>
          </a:p>
        </p:txBody>
      </p:sp>
      <p:cxnSp>
        <p:nvCxnSpPr>
          <p:cNvPr id="103" name="TIE"/>
          <p:cNvCxnSpPr/>
          <p:nvPr/>
        </p:nvCxnSpPr>
        <p:spPr>
          <a:xfrm>
            <a:off x="7315200" y="3109595"/>
            <a:ext cx="0" cy="913765"/>
          </a:xfrm>
          <a:prstGeom prst="straightConnector1">
            <a:avLst/>
          </a:prstGeom>
          <a:ln w="19050">
            <a:solidFill>
              <a:srgbClr val="555960"/>
            </a:solidFill>
            <a:prstDash val="dash"/>
          </a:ln>
        </p:spPr>
      </p:cxnSp>
      <p:sp>
        <p:nvSpPr>
          <p:cNvPr id="104" name="TQ0"/>
          <p:cNvSpPr txBox="1"/>
          <p:nvPr/>
        </p:nvSpPr>
        <p:spPr>
          <a:xfrm>
            <a:off x="7452360" y="3429000"/>
            <a:ext cx="1463040" cy="274320"/>
          </a:xfrm>
          <a:prstGeom prst="rect">
            <a:avLst/>
          </a:prstGeom>
          <a:noFill/>
          <a:ln>
            <a:noFill/>
          </a:ln>
        </p:spPr>
        <p:txBody>
          <a:bodyPr wrap="square" lIns="0" tIns="0" rIns="0" bIns="0" anchor="ctr"/>
          <a:lstStyle/>
          <a:p>
            <a:pPr algn="l">
              <a:spcAft>
                <a:spcPts val="0"/>
              </a:spcAft>
              <a:buNone/>
            </a:pPr>
            <a:r>
              <a:rPr lang="en-US" sz="1600" b="1" dirty="0">
                <a:solidFill>
                  <a:srgbClr val="8E6F3E"/>
                </a:solidFill>
              </a:rPr>
              <a:t>still true?</a:t>
            </a:r>
          </a:p>
        </p:txBody>
      </p:sp>
      <p:cxnSp>
        <p:nvCxnSpPr>
          <p:cNvPr id="105" name="AX0"/>
          <p:cNvCxnSpPr/>
          <p:nvPr/>
        </p:nvCxnSpPr>
        <p:spPr>
          <a:xfrm>
            <a:off x="914400" y="4114800"/>
            <a:ext cx="6858000" cy="0"/>
          </a:xfrm>
          <a:prstGeom prst="straightConnector1">
            <a:avLst/>
          </a:prstGeom>
          <a:ln w="12700">
            <a:solidFill>
              <a:srgbClr val="555960"/>
            </a:solidFill>
            <a:tailEnd type="triangle" w="med" len="med"/>
          </a:ln>
        </p:spPr>
      </p:cxnSp>
      <p:sp>
        <p:nvSpPr>
          <p:cNvPr id="106" name="AXL"/>
          <p:cNvSpPr txBox="1"/>
          <p:nvPr/>
        </p:nvSpPr>
        <p:spPr>
          <a:xfrm>
            <a:off x="8092440" y="4251960"/>
            <a:ext cx="548640" cy="228600"/>
          </a:xfrm>
          <a:prstGeom prst="rect">
            <a:avLst/>
          </a:prstGeom>
          <a:noFill/>
          <a:ln>
            <a:noFill/>
          </a:ln>
        </p:spPr>
        <p:txBody>
          <a:bodyPr wrap="square" lIns="0" tIns="0" rIns="0" bIns="0" anchor="t"/>
          <a:lstStyle/>
          <a:p>
            <a:pPr algn="l">
              <a:spcAft>
                <a:spcPts val="0"/>
              </a:spcAft>
              <a:buNone/>
            </a:pPr>
            <a:r>
              <a:rPr lang="en-US" sz="1300" b="0" i="1" dirty="0">
                <a:solidFill>
                  <a:srgbClr val="555960"/>
                </a:solidFill>
              </a:rPr>
              <a:t>time</a:t>
            </a:r>
          </a:p>
        </p:txBody>
      </p:sp>
      <p:cxnSp>
        <p:nvCxnSpPr>
          <p:cNvPr id="107" name="TK0"/>
          <p:cNvCxnSpPr/>
          <p:nvPr/>
        </p:nvCxnSpPr>
        <p:spPr>
          <a:xfrm>
            <a:off x="1828800" y="4023360"/>
            <a:ext cx="0" cy="182880"/>
          </a:xfrm>
          <a:prstGeom prst="straightConnector1">
            <a:avLst/>
          </a:prstGeom>
          <a:ln w="19050">
            <a:solidFill>
              <a:srgbClr val="555960"/>
            </a:solidFill>
          </a:ln>
        </p:spPr>
      </p:cxnSp>
      <p:sp>
        <p:nvSpPr>
          <p:cNvPr id="108" name="TKL0"/>
          <p:cNvSpPr txBox="1"/>
          <p:nvPr/>
        </p:nvSpPr>
        <p:spPr>
          <a:xfrm>
            <a:off x="1143000" y="4251960"/>
            <a:ext cx="1371600" cy="27432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code</a:t>
            </a:r>
          </a:p>
        </p:txBody>
      </p:sp>
      <p:cxnSp>
        <p:nvCxnSpPr>
          <p:cNvPr id="109" name="TK1"/>
          <p:cNvCxnSpPr/>
          <p:nvPr/>
        </p:nvCxnSpPr>
        <p:spPr>
          <a:xfrm>
            <a:off x="3657600" y="4023360"/>
            <a:ext cx="0" cy="182880"/>
          </a:xfrm>
          <a:prstGeom prst="straightConnector1">
            <a:avLst/>
          </a:prstGeom>
          <a:ln w="19050">
            <a:solidFill>
              <a:srgbClr val="555960"/>
            </a:solidFill>
          </a:ln>
        </p:spPr>
      </p:cxnSp>
      <p:sp>
        <p:nvSpPr>
          <p:cNvPr id="110" name="TKL1"/>
          <p:cNvSpPr txBox="1"/>
          <p:nvPr/>
        </p:nvSpPr>
        <p:spPr>
          <a:xfrm>
            <a:off x="2971800" y="4251960"/>
            <a:ext cx="1371600" cy="27432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deployment</a:t>
            </a:r>
          </a:p>
        </p:txBody>
      </p:sp>
      <p:cxnSp>
        <p:nvCxnSpPr>
          <p:cNvPr id="111" name="TK2"/>
          <p:cNvCxnSpPr/>
          <p:nvPr/>
        </p:nvCxnSpPr>
        <p:spPr>
          <a:xfrm>
            <a:off x="5486400" y="4023360"/>
            <a:ext cx="0" cy="182880"/>
          </a:xfrm>
          <a:prstGeom prst="straightConnector1">
            <a:avLst/>
          </a:prstGeom>
          <a:ln w="19050">
            <a:solidFill>
              <a:srgbClr val="555960"/>
            </a:solidFill>
          </a:ln>
        </p:spPr>
      </p:cxnSp>
      <p:sp>
        <p:nvSpPr>
          <p:cNvPr id="112" name="TKL2"/>
          <p:cNvSpPr txBox="1"/>
          <p:nvPr/>
        </p:nvSpPr>
        <p:spPr>
          <a:xfrm>
            <a:off x="4800600" y="4251960"/>
            <a:ext cx="1371600" cy="27432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policy</a:t>
            </a:r>
          </a:p>
        </p:txBody>
      </p:sp>
      <p:cxnSp>
        <p:nvCxnSpPr>
          <p:cNvPr id="113" name="TK3"/>
          <p:cNvCxnSpPr/>
          <p:nvPr/>
        </p:nvCxnSpPr>
        <p:spPr>
          <a:xfrm>
            <a:off x="7315200" y="4023360"/>
            <a:ext cx="0" cy="182880"/>
          </a:xfrm>
          <a:prstGeom prst="straightConnector1">
            <a:avLst/>
          </a:prstGeom>
          <a:ln w="19050">
            <a:solidFill>
              <a:srgbClr val="555960"/>
            </a:solidFill>
          </a:ln>
        </p:spPr>
      </p:cxnSp>
      <p:sp>
        <p:nvSpPr>
          <p:cNvPr id="114" name="TKL3"/>
          <p:cNvSpPr txBox="1"/>
          <p:nvPr/>
        </p:nvSpPr>
        <p:spPr>
          <a:xfrm>
            <a:off x="6629400" y="4251960"/>
            <a:ext cx="1371600" cy="27432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runtime state</a:t>
            </a:r>
          </a:p>
        </p:txBody>
      </p:sp>
      <p:sp>
        <p:nvSpPr>
          <p:cNvPr id="115" name="CapT"/>
          <p:cNvSpPr txBox="1"/>
          <p:nvPr/>
        </p:nvSpPr>
        <p:spPr>
          <a:xfrm>
            <a:off x="914400" y="4709160"/>
            <a:ext cx="685800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what changes underneath a model</a:t>
            </a:r>
          </a:p>
        </p:txBody>
      </p:sp>
      <p:sp>
        <p:nvSpPr>
          <p:cNvPr id="116"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Correspondence is engineered, not assumed.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Derive — when the implementation owns the fact</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Kicker"/>
          <p:cNvSpPr txBox="1"/>
          <p:nvPr/>
        </p:nvSpPr>
        <p:spPr>
          <a:xfrm>
            <a:off x="685800" y="1188720"/>
            <a:ext cx="7772400" cy="365760"/>
          </a:xfrm>
          <a:prstGeom prst="rect">
            <a:avLst/>
          </a:prstGeom>
          <a:noFill/>
          <a:ln>
            <a:noFill/>
          </a:ln>
        </p:spPr>
        <p:txBody>
          <a:bodyPr wrap="square" lIns="0" tIns="0" rIns="0" bIns="0" anchor="t"/>
          <a:lstStyle/>
          <a:p>
            <a:pPr algn="l">
              <a:spcAft>
                <a:spcPts val="0"/>
              </a:spcAft>
              <a:buNone/>
            </a:pPr>
            <a:r>
              <a:rPr lang="en-US" sz="2000" b="1" dirty="0">
                <a:solidFill>
                  <a:srgbClr val="8E6F3E"/>
                </a:solidFill>
              </a:rPr>
              <a:t>CORRESPONDENCE MACHINERY · 1 OF 3</a:t>
            </a:r>
          </a:p>
        </p:txBody>
      </p:sp>
      <p:sp>
        <p:nvSpPr>
          <p:cNvPr id="102" name="IB0"/>
          <p:cNvSpPr/>
          <p:nvPr/>
        </p:nvSpPr>
        <p:spPr>
          <a:xfrm>
            <a:off x="685800" y="2057400"/>
            <a:ext cx="2743200" cy="1188720"/>
          </a:xfrm>
          <a:prstGeom prst="rect">
            <a:avLst/>
          </a:prstGeom>
          <a:solidFill>
            <a:srgbClr val="555960"/>
          </a:solidFill>
          <a:ln>
            <a:noFill/>
          </a:ln>
        </p:spPr>
        <p:txBody>
          <a:bodyPr wrap="square" lIns="27432" tIns="22860" rIns="27432" bIns="22860" anchor="ctr"/>
          <a:lstStyle/>
          <a:p>
            <a:pPr algn="ctr">
              <a:spcAft>
                <a:spcPts val="300"/>
              </a:spcAft>
              <a:buNone/>
            </a:pPr>
            <a:r>
              <a:rPr lang="en-US" sz="1800" b="1" dirty="0">
                <a:solidFill>
                  <a:srgbClr val="FFFFFF"/>
                </a:solidFill>
              </a:rPr>
              <a:t>THE IMPLEMENTATION</a:t>
            </a:r>
          </a:p>
          <a:p>
            <a:pPr algn="ctr">
              <a:spcAft>
                <a:spcPts val="0"/>
              </a:spcAft>
              <a:buNone/>
            </a:pPr>
            <a:r>
              <a:rPr lang="en-US" sz="1400" b="0" dirty="0">
                <a:solidFill>
                  <a:srgbClr val="FFFFFF"/>
                </a:solidFill>
              </a:rPr>
              <a:t>owns the fact</a:t>
            </a:r>
          </a:p>
        </p:txBody>
      </p:sp>
      <p:sp>
        <p:nvSpPr>
          <p:cNvPr id="103" name="MB0"/>
          <p:cNvSpPr/>
          <p:nvPr/>
        </p:nvSpPr>
        <p:spPr>
          <a:xfrm>
            <a:off x="5715000" y="2057400"/>
            <a:ext cx="2743200" cy="118872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800" b="1" dirty="0">
                <a:solidFill>
                  <a:srgbClr val="5C4826"/>
                </a:solidFill>
              </a:rPr>
              <a:t>THE MODEL</a:t>
            </a:r>
          </a:p>
          <a:p>
            <a:pPr algn="ctr">
              <a:spcAft>
                <a:spcPts val="0"/>
              </a:spcAft>
              <a:buNone/>
            </a:pPr>
            <a:r>
              <a:rPr lang="en-US" sz="1400" b="0" dirty="0">
                <a:solidFill>
                  <a:srgbClr val="5C4826"/>
                </a:solidFill>
              </a:rPr>
              <a:t>a derived projection</a:t>
            </a:r>
          </a:p>
        </p:txBody>
      </p:sp>
      <p:cxnSp>
        <p:nvCxnSpPr>
          <p:cNvPr id="104" name="BAR"/>
          <p:cNvCxnSpPr/>
          <p:nvPr/>
        </p:nvCxnSpPr>
        <p:spPr>
          <a:xfrm>
            <a:off x="3520440" y="2651760"/>
            <a:ext cx="2103120" cy="0"/>
          </a:xfrm>
          <a:prstGeom prst="straightConnector1">
            <a:avLst/>
          </a:prstGeom>
          <a:ln w="57150">
            <a:solidFill>
              <a:srgbClr val="8E6F3E"/>
            </a:solidFill>
            <a:tailEnd type="triangle" w="med" len="med"/>
          </a:ln>
        </p:spPr>
      </p:cxnSp>
      <p:sp>
        <p:nvSpPr>
          <p:cNvPr id="105" name="ArrLbl"/>
          <p:cNvSpPr txBox="1"/>
          <p:nvPr/>
        </p:nvSpPr>
        <p:spPr>
          <a:xfrm>
            <a:off x="3520440" y="2194560"/>
            <a:ext cx="2103120" cy="365760"/>
          </a:xfrm>
          <a:prstGeom prst="rect">
            <a:avLst/>
          </a:prstGeom>
          <a:noFill/>
          <a:ln>
            <a:noFill/>
          </a:ln>
        </p:spPr>
        <p:txBody>
          <a:bodyPr wrap="square" lIns="0" tIns="0" rIns="0" bIns="0" anchor="ctr"/>
          <a:lstStyle/>
          <a:p>
            <a:pPr algn="ctr">
              <a:spcAft>
                <a:spcPts val="0"/>
              </a:spcAft>
              <a:buNone/>
            </a:pPr>
            <a:r>
              <a:rPr lang="en-US" sz="1800" b="1" dirty="0">
                <a:solidFill>
                  <a:srgbClr val="8E6F3E"/>
                </a:solidFill>
              </a:rPr>
              <a:t>derive</a:t>
            </a:r>
          </a:p>
        </p:txBody>
      </p:sp>
      <p:sp>
        <p:nvSpPr>
          <p:cNvPr id="106" name="BG0"/>
          <p:cNvSpPr/>
          <p:nvPr/>
        </p:nvSpPr>
        <p:spPr>
          <a:xfrm>
            <a:off x="3155950" y="3383280"/>
            <a:ext cx="2832100" cy="640080"/>
          </a:xfrm>
          <a:prstGeom prst="rect">
            <a:avLst/>
          </a:prstGeom>
          <a:solidFill>
            <a:srgbClr val="FBF8F2"/>
          </a:solidFill>
          <a:ln w="12700">
            <a:solidFill>
              <a:srgbClr val="C9B991"/>
            </a:solidFill>
          </a:ln>
        </p:spPr>
        <p:txBody>
          <a:bodyPr wrap="square" lIns="45720" tIns="27432" rIns="45720" bIns="27432" anchor="ctr"/>
          <a:lstStyle/>
          <a:p>
            <a:pPr algn="ctr">
              <a:spcAft>
                <a:spcPts val="0"/>
              </a:spcAft>
              <a:buNone/>
            </a:pPr>
            <a:r>
              <a:rPr lang="en-US" sz="1300" b="0" dirty="0">
                <a:solidFill>
                  <a:srgbClr val="555960"/>
                </a:solidFill>
              </a:rPr>
              <a:t>reconciler on the arrow:</a:t>
            </a:r>
            <a:br>
              <a:rPr lang="en-US" sz="1300" b="0" dirty="0"/>
            </a:br>
            <a:r>
              <a:rPr lang="en-US" sz="1300" b="0" dirty="0">
                <a:solidFill>
                  <a:srgbClr val="555960"/>
                </a:solidFill>
              </a:rPr>
              <a:t>divergence is a failure</a:t>
            </a:r>
          </a:p>
        </p:txBody>
      </p:sp>
      <p:sp>
        <p:nvSpPr>
          <p:cNvPr id="107" name="EX0"/>
          <p:cNvSpPr txBox="1"/>
          <p:nvPr/>
        </p:nvSpPr>
        <p:spPr>
          <a:xfrm>
            <a:off x="685800" y="4160520"/>
            <a:ext cx="2377440" cy="274320"/>
          </a:xfrm>
          <a:prstGeom prst="rect">
            <a:avLst/>
          </a:prstGeom>
          <a:noFill/>
          <a:ln>
            <a:noFill/>
          </a:ln>
        </p:spPr>
        <p:txBody>
          <a:bodyPr wrap="square" lIns="0" tIns="0" rIns="0" bIns="0" anchor="t"/>
          <a:lstStyle/>
          <a:p>
            <a:pPr algn="l">
              <a:spcAft>
                <a:spcPts val="0"/>
              </a:spcAft>
              <a:buNone/>
            </a:pPr>
            <a:r>
              <a:rPr lang="en-US" sz="1300" b="0" i="1" dirty="0">
                <a:solidFill>
                  <a:srgbClr val="555960"/>
                </a:solidFill>
              </a:rPr>
              <a:t>examples, by role</a:t>
            </a:r>
          </a:p>
        </p:txBody>
      </p:sp>
      <p:sp>
        <p:nvSpPr>
          <p:cNvPr id="108" name="E0"/>
          <p:cNvSpPr/>
          <p:nvPr/>
        </p:nvSpPr>
        <p:spPr>
          <a:xfrm>
            <a:off x="68580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 component registry</a:t>
            </a:r>
            <a:br>
              <a:rPr lang="en-US" sz="1400" b="0" dirty="0"/>
            </a:br>
            <a:r>
              <a:rPr lang="en-US" sz="1400" b="0" dirty="0">
                <a:solidFill>
                  <a:srgbClr val="5C4826"/>
                </a:solidFill>
              </a:rPr>
              <a:t>read from the directory tree</a:t>
            </a:r>
          </a:p>
        </p:txBody>
      </p:sp>
      <p:sp>
        <p:nvSpPr>
          <p:cNvPr id="109" name="E1"/>
          <p:cNvSpPr/>
          <p:nvPr/>
        </p:nvSpPr>
        <p:spPr>
          <a:xfrm>
            <a:off x="338328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 dependency list induced</a:t>
            </a:r>
            <a:br>
              <a:rPr lang="en-US" sz="1400" b="0" dirty="0"/>
            </a:br>
            <a:r>
              <a:rPr lang="en-US" sz="1400" b="0" dirty="0">
                <a:solidFill>
                  <a:srgbClr val="5C4826"/>
                </a:solidFill>
              </a:rPr>
              <a:t>from real call sites</a:t>
            </a:r>
          </a:p>
        </p:txBody>
      </p:sp>
      <p:sp>
        <p:nvSpPr>
          <p:cNvPr id="110" name="E2"/>
          <p:cNvSpPr/>
          <p:nvPr/>
        </p:nvSpPr>
        <p:spPr>
          <a:xfrm>
            <a:off x="608076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 topology measured,</a:t>
            </a:r>
            <a:br>
              <a:rPr lang="en-US" sz="1400" b="0" dirty="0"/>
            </a:br>
            <a:r>
              <a:rPr lang="en-US" sz="1400" b="0" dirty="0">
                <a:solidFill>
                  <a:srgbClr val="5C4826"/>
                </a:solidFill>
              </a:rPr>
              <a:t>not asserted</a:t>
            </a:r>
          </a:p>
        </p:txBody>
      </p:sp>
      <p:sp>
        <p:nvSpPr>
          <p:cNvPr id="11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One class of drift is impossible by construction.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Generate — when the model owns the fact</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Kicker"/>
          <p:cNvSpPr txBox="1"/>
          <p:nvPr/>
        </p:nvSpPr>
        <p:spPr>
          <a:xfrm>
            <a:off x="685800" y="1188720"/>
            <a:ext cx="7772400" cy="365760"/>
          </a:xfrm>
          <a:prstGeom prst="rect">
            <a:avLst/>
          </a:prstGeom>
          <a:noFill/>
          <a:ln>
            <a:noFill/>
          </a:ln>
        </p:spPr>
        <p:txBody>
          <a:bodyPr wrap="square" lIns="0" tIns="0" rIns="0" bIns="0" anchor="t"/>
          <a:lstStyle/>
          <a:p>
            <a:pPr algn="l">
              <a:spcAft>
                <a:spcPts val="0"/>
              </a:spcAft>
              <a:buNone/>
            </a:pPr>
            <a:r>
              <a:rPr lang="en-US" sz="2000" b="1" dirty="0">
                <a:solidFill>
                  <a:srgbClr val="8E6F3E"/>
                </a:solidFill>
              </a:rPr>
              <a:t>CORRESPONDENCE MACHINERY · 2 OF 3</a:t>
            </a:r>
          </a:p>
        </p:txBody>
      </p:sp>
      <p:sp>
        <p:nvSpPr>
          <p:cNvPr id="102" name="IB0"/>
          <p:cNvSpPr/>
          <p:nvPr/>
        </p:nvSpPr>
        <p:spPr>
          <a:xfrm>
            <a:off x="685800" y="2057400"/>
            <a:ext cx="2743200" cy="1188720"/>
          </a:xfrm>
          <a:prstGeom prst="rect">
            <a:avLst/>
          </a:prstGeom>
          <a:solidFill>
            <a:srgbClr val="555960"/>
          </a:solidFill>
          <a:ln>
            <a:noFill/>
          </a:ln>
        </p:spPr>
        <p:txBody>
          <a:bodyPr wrap="square" lIns="27432" tIns="22860" rIns="27432" bIns="22860" anchor="ctr"/>
          <a:lstStyle/>
          <a:p>
            <a:pPr algn="ctr">
              <a:spcAft>
                <a:spcPts val="300"/>
              </a:spcAft>
              <a:buNone/>
            </a:pPr>
            <a:r>
              <a:rPr lang="en-US" sz="1800" b="1" dirty="0">
                <a:solidFill>
                  <a:srgbClr val="FFFFFF"/>
                </a:solidFill>
              </a:rPr>
              <a:t>THE IMPLEMENTATION</a:t>
            </a:r>
          </a:p>
          <a:p>
            <a:pPr algn="ctr">
              <a:spcAft>
                <a:spcPts val="0"/>
              </a:spcAft>
              <a:buNone/>
            </a:pPr>
            <a:r>
              <a:rPr lang="en-US" sz="1400" b="0" dirty="0">
                <a:solidFill>
                  <a:srgbClr val="FFFFFF"/>
                </a:solidFill>
              </a:rPr>
              <a:t>an emitted artifact</a:t>
            </a:r>
          </a:p>
        </p:txBody>
      </p:sp>
      <p:sp>
        <p:nvSpPr>
          <p:cNvPr id="103" name="MB0"/>
          <p:cNvSpPr/>
          <p:nvPr/>
        </p:nvSpPr>
        <p:spPr>
          <a:xfrm>
            <a:off x="5715000" y="2057400"/>
            <a:ext cx="2743200" cy="118872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800" b="1" dirty="0">
                <a:solidFill>
                  <a:srgbClr val="5C4826"/>
                </a:solidFill>
              </a:rPr>
              <a:t>THE MODEL</a:t>
            </a:r>
          </a:p>
          <a:p>
            <a:pPr algn="ctr">
              <a:spcAft>
                <a:spcPts val="0"/>
              </a:spcAft>
              <a:buNone/>
            </a:pPr>
            <a:r>
              <a:rPr lang="en-US" sz="1400" b="0" dirty="0">
                <a:solidFill>
                  <a:srgbClr val="5C4826"/>
                </a:solidFill>
              </a:rPr>
              <a:t>owns the fact</a:t>
            </a:r>
          </a:p>
        </p:txBody>
      </p:sp>
      <p:cxnSp>
        <p:nvCxnSpPr>
          <p:cNvPr id="104" name="BAR"/>
          <p:cNvCxnSpPr/>
          <p:nvPr/>
        </p:nvCxnSpPr>
        <p:spPr>
          <a:xfrm flipH="1">
            <a:off x="3520440" y="2651760"/>
            <a:ext cx="2103120" cy="0"/>
          </a:xfrm>
          <a:prstGeom prst="straightConnector1">
            <a:avLst/>
          </a:prstGeom>
          <a:ln w="57150">
            <a:solidFill>
              <a:srgbClr val="8E6F3E"/>
            </a:solidFill>
            <a:tailEnd type="triangle" w="med" len="med"/>
          </a:ln>
        </p:spPr>
      </p:cxnSp>
      <p:sp>
        <p:nvSpPr>
          <p:cNvPr id="105" name="ArrLbl"/>
          <p:cNvSpPr txBox="1"/>
          <p:nvPr/>
        </p:nvSpPr>
        <p:spPr>
          <a:xfrm>
            <a:off x="3520440" y="2194560"/>
            <a:ext cx="2103120" cy="365760"/>
          </a:xfrm>
          <a:prstGeom prst="rect">
            <a:avLst/>
          </a:prstGeom>
          <a:noFill/>
          <a:ln>
            <a:noFill/>
          </a:ln>
        </p:spPr>
        <p:txBody>
          <a:bodyPr wrap="square" lIns="0" tIns="0" rIns="0" bIns="0" anchor="ctr"/>
          <a:lstStyle/>
          <a:p>
            <a:pPr algn="ctr">
              <a:spcAft>
                <a:spcPts val="0"/>
              </a:spcAft>
              <a:buNone/>
            </a:pPr>
            <a:r>
              <a:rPr lang="en-US" sz="1800" b="1" dirty="0">
                <a:solidFill>
                  <a:srgbClr val="8E6F3E"/>
                </a:solidFill>
              </a:rPr>
              <a:t>generate</a:t>
            </a:r>
          </a:p>
        </p:txBody>
      </p:sp>
      <p:sp>
        <p:nvSpPr>
          <p:cNvPr id="106" name="BG0"/>
          <p:cNvSpPr/>
          <p:nvPr/>
        </p:nvSpPr>
        <p:spPr>
          <a:xfrm>
            <a:off x="3155950" y="3383280"/>
            <a:ext cx="2832100" cy="640080"/>
          </a:xfrm>
          <a:prstGeom prst="rect">
            <a:avLst/>
          </a:prstGeom>
          <a:solidFill>
            <a:srgbClr val="FBF8F2"/>
          </a:solidFill>
          <a:ln w="12700">
            <a:solidFill>
              <a:srgbClr val="C9B991"/>
            </a:solidFill>
          </a:ln>
        </p:spPr>
        <p:txBody>
          <a:bodyPr wrap="square" lIns="45720" tIns="27432" rIns="45720" bIns="27432" anchor="ctr"/>
          <a:lstStyle/>
          <a:p>
            <a:pPr algn="ctr">
              <a:spcAft>
                <a:spcPts val="0"/>
              </a:spcAft>
              <a:buNone/>
            </a:pPr>
            <a:r>
              <a:rPr lang="en-US" sz="1300" b="0" dirty="0">
                <a:solidFill>
                  <a:srgbClr val="555960"/>
                </a:solidFill>
              </a:rPr>
              <a:t>provenance header: hand-edits and stale output are findings</a:t>
            </a:r>
          </a:p>
        </p:txBody>
      </p:sp>
      <p:sp>
        <p:nvSpPr>
          <p:cNvPr id="107" name="EX0"/>
          <p:cNvSpPr txBox="1"/>
          <p:nvPr/>
        </p:nvSpPr>
        <p:spPr>
          <a:xfrm>
            <a:off x="685800" y="4160520"/>
            <a:ext cx="2377440" cy="274320"/>
          </a:xfrm>
          <a:prstGeom prst="rect">
            <a:avLst/>
          </a:prstGeom>
          <a:noFill/>
          <a:ln>
            <a:noFill/>
          </a:ln>
        </p:spPr>
        <p:txBody>
          <a:bodyPr wrap="square" lIns="0" tIns="0" rIns="0" bIns="0" anchor="t"/>
          <a:lstStyle/>
          <a:p>
            <a:pPr algn="l">
              <a:spcAft>
                <a:spcPts val="0"/>
              </a:spcAft>
              <a:buNone/>
            </a:pPr>
            <a:r>
              <a:rPr lang="en-US" sz="1300" b="0" i="1" dirty="0">
                <a:solidFill>
                  <a:srgbClr val="555960"/>
                </a:solidFill>
              </a:rPr>
              <a:t>examples, by role</a:t>
            </a:r>
          </a:p>
        </p:txBody>
      </p:sp>
      <p:sp>
        <p:nvSpPr>
          <p:cNvPr id="108" name="E0"/>
          <p:cNvSpPr/>
          <p:nvPr/>
        </p:nvSpPr>
        <p:spPr>
          <a:xfrm>
            <a:off x="68580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 service catalog generated from the flow model</a:t>
            </a:r>
          </a:p>
        </p:txBody>
      </p:sp>
      <p:sp>
        <p:nvSpPr>
          <p:cNvPr id="109" name="E1"/>
          <p:cNvSpPr/>
          <p:nvPr/>
        </p:nvSpPr>
        <p:spPr>
          <a:xfrm>
            <a:off x="338328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wire-contract types emitted from one schema</a:t>
            </a:r>
          </a:p>
        </p:txBody>
      </p:sp>
      <p:sp>
        <p:nvSpPr>
          <p:cNvPr id="110" name="E2"/>
          <p:cNvSpPr/>
          <p:nvPr/>
        </p:nvSpPr>
        <p:spPr>
          <a:xfrm>
            <a:off x="608076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composition order read from the model</a:t>
            </a:r>
          </a:p>
        </p:txBody>
      </p:sp>
      <p:sp>
        <p:nvSpPr>
          <p:cNvPr id="11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Realization follows the 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 — when neither can simply derive the other</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Kicker"/>
          <p:cNvSpPr txBox="1"/>
          <p:nvPr/>
        </p:nvSpPr>
        <p:spPr>
          <a:xfrm>
            <a:off x="685800" y="1188720"/>
            <a:ext cx="7772400" cy="365760"/>
          </a:xfrm>
          <a:prstGeom prst="rect">
            <a:avLst/>
          </a:prstGeom>
          <a:noFill/>
          <a:ln>
            <a:noFill/>
          </a:ln>
        </p:spPr>
        <p:txBody>
          <a:bodyPr wrap="square" lIns="0" tIns="0" rIns="0" bIns="0" anchor="t"/>
          <a:lstStyle/>
          <a:p>
            <a:pPr algn="l">
              <a:spcAft>
                <a:spcPts val="0"/>
              </a:spcAft>
              <a:buNone/>
            </a:pPr>
            <a:r>
              <a:rPr lang="en-US" sz="2000" b="1" dirty="0">
                <a:solidFill>
                  <a:srgbClr val="8E6F3E"/>
                </a:solidFill>
              </a:rPr>
              <a:t>CORRESPONDENCE MACHINERY · 3 OF 3</a:t>
            </a:r>
          </a:p>
        </p:txBody>
      </p:sp>
      <p:sp>
        <p:nvSpPr>
          <p:cNvPr id="102" name="IB0"/>
          <p:cNvSpPr/>
          <p:nvPr/>
        </p:nvSpPr>
        <p:spPr>
          <a:xfrm>
            <a:off x="685800" y="2057400"/>
            <a:ext cx="2743200" cy="1188720"/>
          </a:xfrm>
          <a:prstGeom prst="rect">
            <a:avLst/>
          </a:prstGeom>
          <a:solidFill>
            <a:srgbClr val="555960"/>
          </a:solidFill>
          <a:ln>
            <a:noFill/>
          </a:ln>
        </p:spPr>
        <p:txBody>
          <a:bodyPr wrap="square" lIns="27432" tIns="22860" rIns="27432" bIns="22860" anchor="ctr"/>
          <a:lstStyle/>
          <a:p>
            <a:pPr algn="ctr">
              <a:spcAft>
                <a:spcPts val="300"/>
              </a:spcAft>
              <a:buNone/>
            </a:pPr>
            <a:r>
              <a:rPr lang="en-US" sz="1800" b="1" dirty="0">
                <a:solidFill>
                  <a:srgbClr val="FFFFFF"/>
                </a:solidFill>
              </a:rPr>
              <a:t>THE IMPLEMENTATION</a:t>
            </a:r>
          </a:p>
          <a:p>
            <a:pPr algn="ctr">
              <a:spcAft>
                <a:spcPts val="0"/>
              </a:spcAft>
              <a:buNone/>
            </a:pPr>
            <a:r>
              <a:rPr lang="en-US" sz="1400" b="0" dirty="0">
                <a:solidFill>
                  <a:srgbClr val="FFFFFF"/>
                </a:solidFill>
              </a:rPr>
              <a:t>realizes the elements</a:t>
            </a:r>
          </a:p>
        </p:txBody>
      </p:sp>
      <p:sp>
        <p:nvSpPr>
          <p:cNvPr id="103" name="MB0"/>
          <p:cNvSpPr/>
          <p:nvPr/>
        </p:nvSpPr>
        <p:spPr>
          <a:xfrm>
            <a:off x="5715000" y="2057400"/>
            <a:ext cx="2743200" cy="118872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800" b="1" dirty="0">
                <a:solidFill>
                  <a:srgbClr val="5C4826"/>
                </a:solidFill>
              </a:rPr>
              <a:t>THE MODEL</a:t>
            </a:r>
          </a:p>
          <a:p>
            <a:pPr algn="ctr">
              <a:spcAft>
                <a:spcPts val="0"/>
              </a:spcAft>
              <a:buNone/>
            </a:pPr>
            <a:r>
              <a:rPr lang="en-US" sz="1400" b="0" dirty="0">
                <a:solidFill>
                  <a:srgbClr val="5C4826"/>
                </a:solidFill>
              </a:rPr>
              <a:t>claims the elements</a:t>
            </a:r>
          </a:p>
        </p:txBody>
      </p:sp>
      <p:cxnSp>
        <p:nvCxnSpPr>
          <p:cNvPr id="104" name="BAR"/>
          <p:cNvCxnSpPr/>
          <p:nvPr/>
        </p:nvCxnSpPr>
        <p:spPr>
          <a:xfrm>
            <a:off x="3520440" y="2651760"/>
            <a:ext cx="2103120" cy="0"/>
          </a:xfrm>
          <a:prstGeom prst="straightConnector1">
            <a:avLst/>
          </a:prstGeom>
          <a:ln w="57150">
            <a:solidFill>
              <a:srgbClr val="8E6F3E"/>
            </a:solidFill>
            <a:headEnd type="triangle" w="med" len="med"/>
            <a:tailEnd type="triangle" w="med" len="med"/>
          </a:ln>
        </p:spPr>
      </p:cxnSp>
      <p:sp>
        <p:nvSpPr>
          <p:cNvPr id="105" name="ArrLbl"/>
          <p:cNvSpPr txBox="1"/>
          <p:nvPr/>
        </p:nvSpPr>
        <p:spPr>
          <a:xfrm>
            <a:off x="3520440" y="2194560"/>
            <a:ext cx="2103120" cy="365760"/>
          </a:xfrm>
          <a:prstGeom prst="rect">
            <a:avLst/>
          </a:prstGeom>
          <a:noFill/>
          <a:ln>
            <a:noFill/>
          </a:ln>
        </p:spPr>
        <p:txBody>
          <a:bodyPr wrap="square" lIns="0" tIns="0" rIns="0" bIns="0" anchor="ctr"/>
          <a:lstStyle/>
          <a:p>
            <a:pPr algn="ctr">
              <a:spcAft>
                <a:spcPts val="0"/>
              </a:spcAft>
              <a:buNone/>
            </a:pPr>
            <a:r>
              <a:rPr lang="en-US" sz="1800" b="1" dirty="0">
                <a:solidFill>
                  <a:srgbClr val="8E6F3E"/>
                </a:solidFill>
              </a:rPr>
              <a:t>trace + check</a:t>
            </a:r>
          </a:p>
        </p:txBody>
      </p:sp>
      <p:sp>
        <p:nvSpPr>
          <p:cNvPr id="106" name="BG0"/>
          <p:cNvSpPr/>
          <p:nvPr/>
        </p:nvSpPr>
        <p:spPr>
          <a:xfrm>
            <a:off x="2881630" y="3383280"/>
            <a:ext cx="3380740" cy="640080"/>
          </a:xfrm>
          <a:prstGeom prst="rect">
            <a:avLst/>
          </a:prstGeom>
          <a:solidFill>
            <a:srgbClr val="FBF8F2"/>
          </a:solidFill>
          <a:ln w="12700">
            <a:solidFill>
              <a:srgbClr val="C9B991"/>
            </a:solidFill>
          </a:ln>
        </p:spPr>
        <p:txBody>
          <a:bodyPr wrap="square" lIns="45720" tIns="27432" rIns="45720" bIns="27432" anchor="ctr"/>
          <a:lstStyle/>
          <a:p>
            <a:pPr algn="ctr">
              <a:spcAft>
                <a:spcPts val="0"/>
              </a:spcAft>
              <a:buNone/>
            </a:pPr>
            <a:r>
              <a:rPr lang="en-US" sz="1300" b="0" dirty="0">
                <a:solidFill>
                  <a:srgbClr val="555960"/>
                </a:solidFill>
              </a:rPr>
              <a:t>the decidable surface: what a machine can decide; anchors resolve at check time</a:t>
            </a:r>
          </a:p>
        </p:txBody>
      </p:sp>
      <p:sp>
        <p:nvSpPr>
          <p:cNvPr id="107" name="EX0"/>
          <p:cNvSpPr txBox="1"/>
          <p:nvPr/>
        </p:nvSpPr>
        <p:spPr>
          <a:xfrm>
            <a:off x="685800" y="4160520"/>
            <a:ext cx="2377440" cy="274320"/>
          </a:xfrm>
          <a:prstGeom prst="rect">
            <a:avLst/>
          </a:prstGeom>
          <a:noFill/>
          <a:ln>
            <a:noFill/>
          </a:ln>
        </p:spPr>
        <p:txBody>
          <a:bodyPr wrap="square" lIns="0" tIns="0" rIns="0" bIns="0" anchor="t"/>
          <a:lstStyle/>
          <a:p>
            <a:pPr algn="l">
              <a:spcAft>
                <a:spcPts val="0"/>
              </a:spcAft>
              <a:buNone/>
            </a:pPr>
            <a:r>
              <a:rPr lang="en-US" sz="1300" b="0" i="1" dirty="0">
                <a:solidFill>
                  <a:srgbClr val="555960"/>
                </a:solidFill>
              </a:rPr>
              <a:t>examples, by role</a:t>
            </a:r>
          </a:p>
        </p:txBody>
      </p:sp>
      <p:sp>
        <p:nvSpPr>
          <p:cNvPr id="108" name="E0"/>
          <p:cNvSpPr/>
          <p:nvPr/>
        </p:nvSpPr>
        <p:spPr>
          <a:xfrm>
            <a:off x="68580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each element traced to the code that realizes it</a:t>
            </a:r>
          </a:p>
        </p:txBody>
      </p:sp>
      <p:sp>
        <p:nvSpPr>
          <p:cNvPr id="109" name="E1"/>
          <p:cNvSpPr/>
          <p:nvPr/>
        </p:nvSpPr>
        <p:spPr>
          <a:xfrm>
            <a:off x="338328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 deleted target is a finding, not a stale green edge</a:t>
            </a:r>
          </a:p>
        </p:txBody>
      </p:sp>
      <p:sp>
        <p:nvSpPr>
          <p:cNvPr id="110" name="E2"/>
          <p:cNvSpPr/>
          <p:nvPr/>
        </p:nvSpPr>
        <p:spPr>
          <a:xfrm>
            <a:off x="6080760" y="4434840"/>
            <a:ext cx="2377440" cy="8229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anchors are live lookups, not stored line numbers</a:t>
            </a:r>
          </a:p>
        </p:txBody>
      </p:sp>
      <p:sp>
        <p:nvSpPr>
          <p:cNvPr id="11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Who owns the fact decides the arrow.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Correspondence does not mean correctness</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Claim"/>
          <p:cNvSpPr txBox="1"/>
          <p:nvPr/>
        </p:nvSpPr>
        <p:spPr>
          <a:xfrm>
            <a:off x="685800" y="1188720"/>
            <a:ext cx="7772400" cy="73152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Synchronization establishes agreement between map and territory. It does not establish that either is right for the engineering question.</a:t>
            </a:r>
          </a:p>
        </p:txBody>
      </p:sp>
      <p:sp>
        <p:nvSpPr>
          <p:cNvPr id="102" name="MC0"/>
          <p:cNvSpPr/>
          <p:nvPr/>
        </p:nvSpPr>
        <p:spPr>
          <a:xfrm>
            <a:off x="2286000" y="2377440"/>
            <a:ext cx="182880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THE MODEL</a:t>
            </a:r>
          </a:p>
        </p:txBody>
      </p:sp>
      <p:cxnSp>
        <p:nvCxnSpPr>
          <p:cNvPr id="103" name="SY0"/>
          <p:cNvCxnSpPr/>
          <p:nvPr/>
        </p:nvCxnSpPr>
        <p:spPr>
          <a:xfrm>
            <a:off x="4114800" y="2743200"/>
            <a:ext cx="914400" cy="0"/>
          </a:xfrm>
          <a:prstGeom prst="straightConnector1">
            <a:avLst/>
          </a:prstGeom>
          <a:ln w="19050">
            <a:solidFill>
              <a:srgbClr val="C9B991"/>
            </a:solidFill>
            <a:headEnd type="triangle" w="med" len="med"/>
            <a:tailEnd type="triangle" w="med" len="med"/>
          </a:ln>
        </p:spPr>
      </p:cxnSp>
      <p:sp>
        <p:nvSpPr>
          <p:cNvPr id="104" name="TL0"/>
          <p:cNvSpPr txBox="1"/>
          <p:nvPr/>
        </p:nvSpPr>
        <p:spPr>
          <a:xfrm>
            <a:off x="3931920" y="2286000"/>
            <a:ext cx="1280160" cy="274320"/>
          </a:xfrm>
          <a:prstGeom prst="rect">
            <a:avLst/>
          </a:prstGeom>
          <a:noFill/>
          <a:ln>
            <a:noFill/>
          </a:ln>
        </p:spPr>
        <p:txBody>
          <a:bodyPr wrap="square" lIns="0" tIns="0" rIns="0" bIns="0" anchor="ctr"/>
          <a:lstStyle/>
          <a:p>
            <a:pPr algn="ctr">
              <a:spcAft>
                <a:spcPts val="0"/>
              </a:spcAft>
              <a:buNone/>
            </a:pPr>
            <a:r>
              <a:rPr lang="en-US" sz="1600" b="1" dirty="0">
                <a:solidFill>
                  <a:srgbClr val="5C4826"/>
                </a:solidFill>
              </a:rPr>
              <a:t>in sync ✓</a:t>
            </a:r>
          </a:p>
        </p:txBody>
      </p:sp>
      <p:sp>
        <p:nvSpPr>
          <p:cNvPr id="105" name="IB0"/>
          <p:cNvSpPr/>
          <p:nvPr/>
        </p:nvSpPr>
        <p:spPr>
          <a:xfrm>
            <a:off x="5029200" y="2377440"/>
            <a:ext cx="1828800" cy="731520"/>
          </a:xfrm>
          <a:prstGeom prst="rect">
            <a:avLst/>
          </a:prstGeom>
          <a:solidFill>
            <a:srgbClr val="555960"/>
          </a:solidFill>
          <a:ln>
            <a:noFill/>
          </a:ln>
        </p:spPr>
        <p:txBody>
          <a:bodyPr wrap="square" lIns="27432" tIns="22860" rIns="27432" bIns="22860" anchor="ctr"/>
          <a:lstStyle/>
          <a:p>
            <a:pPr algn="ctr">
              <a:spcAft>
                <a:spcPts val="0"/>
              </a:spcAft>
              <a:buNone/>
            </a:pPr>
            <a:r>
              <a:rPr lang="en-US" sz="1400" b="1" dirty="0">
                <a:solidFill>
                  <a:srgbClr val="FFFFFF"/>
                </a:solidFill>
              </a:rPr>
              <a:t>THE IMPLEMENTATION</a:t>
            </a:r>
          </a:p>
        </p:txBody>
      </p:sp>
      <p:sp>
        <p:nvSpPr>
          <p:cNvPr id="106" name="BS0"/>
          <p:cNvSpPr/>
          <p:nvPr/>
        </p:nvSpPr>
        <p:spPr>
          <a:xfrm>
            <a:off x="1828800" y="3108960"/>
            <a:ext cx="5486400" cy="3657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1" dirty="0">
                <a:solidFill>
                  <a:srgbClr val="555960"/>
                </a:solidFill>
              </a:rPr>
              <a:t>WRONG DESIGN</a:t>
            </a:r>
          </a:p>
        </p:txBody>
      </p:sp>
      <p:cxnSp>
        <p:nvCxnSpPr>
          <p:cNvPr id="107" name="CR0"/>
          <p:cNvCxnSpPr/>
          <p:nvPr/>
        </p:nvCxnSpPr>
        <p:spPr>
          <a:xfrm flipH="1">
            <a:off x="2971800" y="3108960"/>
            <a:ext cx="137160" cy="182880"/>
          </a:xfrm>
          <a:prstGeom prst="straightConnector1">
            <a:avLst/>
          </a:prstGeom>
          <a:ln w="19050">
            <a:solidFill>
              <a:srgbClr val="555960"/>
            </a:solidFill>
          </a:ln>
        </p:spPr>
      </p:cxnSp>
      <p:cxnSp>
        <p:nvCxnSpPr>
          <p:cNvPr id="108" name="CR1"/>
          <p:cNvCxnSpPr/>
          <p:nvPr/>
        </p:nvCxnSpPr>
        <p:spPr>
          <a:xfrm>
            <a:off x="2971800" y="3291840"/>
            <a:ext cx="137160" cy="182880"/>
          </a:xfrm>
          <a:prstGeom prst="straightConnector1">
            <a:avLst/>
          </a:prstGeom>
          <a:ln w="19050">
            <a:solidFill>
              <a:srgbClr val="555960"/>
            </a:solidFill>
          </a:ln>
        </p:spPr>
      </p:cxnSp>
      <p:sp>
        <p:nvSpPr>
          <p:cNvPr id="109" name="GL0"/>
          <p:cNvSpPr txBox="1"/>
          <p:nvPr/>
        </p:nvSpPr>
        <p:spPr>
          <a:xfrm>
            <a:off x="1600200" y="3886200"/>
            <a:ext cx="5943600" cy="27432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THE HONEST GUARANTEE</a:t>
            </a:r>
          </a:p>
        </p:txBody>
      </p:sp>
      <p:sp>
        <p:nvSpPr>
          <p:cNvPr id="110" name="Guarantee"/>
          <p:cNvSpPr/>
          <p:nvPr/>
        </p:nvSpPr>
        <p:spPr>
          <a:xfrm>
            <a:off x="1600200" y="4206240"/>
            <a:ext cx="5943600" cy="914400"/>
          </a:xfrm>
          <a:prstGeom prst="rect">
            <a:avLst/>
          </a:prstGeom>
          <a:solidFill>
            <a:srgbClr val="F5F1E8"/>
          </a:solidFill>
          <a:ln w="12700">
            <a:solidFill>
              <a:srgbClr val="C9B991"/>
            </a:solidFill>
          </a:ln>
        </p:spPr>
        <p:txBody>
          <a:bodyPr wrap="square" lIns="128016" tIns="91440" rIns="118872" bIns="91440" anchor="ctr"/>
          <a:lstStyle/>
          <a:p>
            <a:pPr algn="ctr">
              <a:spcAft>
                <a:spcPts val="0"/>
              </a:spcAft>
              <a:buNone/>
            </a:pPr>
            <a:r>
              <a:rPr lang="en-US" sz="1800" b="1" dirty="0">
                <a:solidFill>
                  <a:srgbClr val="5C4826"/>
                </a:solidFill>
              </a:rPr>
              <a:t>For the surface the model claims, check the correspondence that can actually be decided.</a:t>
            </a:r>
          </a:p>
        </p:txBody>
      </p:sp>
      <p:sp>
        <p:nvSpPr>
          <p:cNvPr id="11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A model can correspond perfectly to a bad 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ectionLabel"/>
          <p:cNvSpPr txBox="1"/>
          <p:nvPr/>
        </p:nvSpPr>
        <p:spPr>
          <a:xfrm>
            <a:off x="685800" y="1243584"/>
            <a:ext cx="7772400" cy="365760"/>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SECTION 3</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IDENTITY</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2" name="Question"/>
          <p:cNvSpPr txBox="1"/>
          <p:nvPr/>
        </p:nvSpPr>
        <p:spPr>
          <a:xfrm>
            <a:off x="685800" y="2798064"/>
            <a:ext cx="7772400" cy="475488"/>
          </a:xfrm>
          <a:prstGeom prst="rect">
            <a:avLst/>
          </a:prstGeom>
          <a:noFill/>
          <a:ln>
            <a:noFill/>
          </a:ln>
        </p:spPr>
        <p:txBody>
          <a:bodyPr wrap="square" lIns="0" tIns="0" rIns="0" bIns="0" anchor="t"/>
          <a:lstStyle/>
          <a:p>
            <a:pPr algn="ctr">
              <a:spcAft>
                <a:spcPts val="0"/>
              </a:spcAft>
              <a:buNone/>
            </a:pPr>
            <a:r>
              <a:rPr lang="en-US" sz="2400" b="0" dirty="0">
                <a:solidFill>
                  <a:srgbClr val="5C4826"/>
                </a:solidFill>
              </a:rPr>
              <a:t>How do different models know they mean the same thing?</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endParaRPr lang="en-US"/>
          </a:p>
        </p:txBody>
      </p:sp>
      <p:sp>
        <p:nvSpPr>
          <p:cNvPr id="104" name="N0"/>
          <p:cNvSpPr/>
          <p:nvPr/>
        </p:nvSpPr>
        <p:spPr>
          <a:xfrm>
            <a:off x="278892"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MEANING</a:t>
            </a:r>
          </a:p>
        </p:txBody>
      </p:sp>
      <p:cxnSp>
        <p:nvCxnSpPr>
          <p:cNvPr id="105" name="NA0"/>
          <p:cNvCxnSpPr/>
          <p:nvPr/>
        </p:nvCxnSpPr>
        <p:spPr>
          <a:xfrm>
            <a:off x="2208276" y="5001768"/>
            <a:ext cx="274320" cy="0"/>
          </a:xfrm>
          <a:prstGeom prst="straightConnector1">
            <a:avLst/>
          </a:prstGeom>
          <a:ln w="19050">
            <a:solidFill>
              <a:srgbClr val="C9B991"/>
            </a:solidFill>
            <a:tailEnd type="triangle" w="med" len="med"/>
          </a:ln>
        </p:spPr>
      </p:cxnSp>
      <p:sp>
        <p:nvSpPr>
          <p:cNvPr id="106" name="N1"/>
          <p:cNvSpPr/>
          <p:nvPr/>
        </p:nvSpPr>
        <p:spPr>
          <a:xfrm>
            <a:off x="2500884"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CORRESPONDENCE</a:t>
            </a:r>
          </a:p>
        </p:txBody>
      </p:sp>
      <p:cxnSp>
        <p:nvCxnSpPr>
          <p:cNvPr id="107" name="NA1"/>
          <p:cNvCxnSpPr/>
          <p:nvPr/>
        </p:nvCxnSpPr>
        <p:spPr>
          <a:xfrm>
            <a:off x="4430268" y="5001768"/>
            <a:ext cx="274320" cy="0"/>
          </a:xfrm>
          <a:prstGeom prst="straightConnector1">
            <a:avLst/>
          </a:prstGeom>
          <a:ln w="19050">
            <a:solidFill>
              <a:srgbClr val="C9B991"/>
            </a:solidFill>
            <a:tailEnd type="triangle" w="med" len="med"/>
          </a:ln>
        </p:spPr>
      </p:cxnSp>
      <p:sp>
        <p:nvSpPr>
          <p:cNvPr id="108" name="N2"/>
          <p:cNvSpPr/>
          <p:nvPr/>
        </p:nvSpPr>
        <p:spPr>
          <a:xfrm>
            <a:off x="4722876" y="4718304"/>
            <a:ext cx="192024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IDENTITY</a:t>
            </a:r>
          </a:p>
        </p:txBody>
      </p:sp>
      <p:cxnSp>
        <p:nvCxnSpPr>
          <p:cNvPr id="109" name="NA2"/>
          <p:cNvCxnSpPr/>
          <p:nvPr/>
        </p:nvCxnSpPr>
        <p:spPr>
          <a:xfrm>
            <a:off x="6652260" y="5001768"/>
            <a:ext cx="274320" cy="0"/>
          </a:xfrm>
          <a:prstGeom prst="straightConnector1">
            <a:avLst/>
          </a:prstGeom>
          <a:ln w="19050">
            <a:solidFill>
              <a:srgbClr val="C9B991"/>
            </a:solidFill>
            <a:tailEnd type="triangle" w="med" len="med"/>
          </a:ln>
        </p:spPr>
      </p:cxnSp>
      <p:sp>
        <p:nvSpPr>
          <p:cNvPr id="110" name="N3"/>
          <p:cNvSpPr/>
          <p:nvPr/>
        </p:nvSpPr>
        <p:spPr>
          <a:xfrm>
            <a:off x="6944868"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COMPOSITION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Names are not identities</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IDT"/>
          <p:cNvSpPr/>
          <p:nvPr/>
        </p:nvSpPr>
        <p:spPr>
          <a:xfrm>
            <a:off x="3657600" y="2011680"/>
            <a:ext cx="1828800" cy="914400"/>
          </a:xfrm>
          <a:prstGeom prst="roundRect">
            <a:avLst/>
          </a:prstGeom>
          <a:solidFill>
            <a:srgbClr val="8E6F3E"/>
          </a:solidFill>
          <a:ln>
            <a:noFill/>
          </a:ln>
        </p:spPr>
        <p:txBody>
          <a:bodyPr wrap="square" lIns="27432" tIns="22860" rIns="27432" bIns="22860" anchor="ctr"/>
          <a:lstStyle/>
          <a:p>
            <a:pPr algn="ctr">
              <a:spcAft>
                <a:spcPts val="200"/>
              </a:spcAft>
              <a:buNone/>
            </a:pPr>
            <a:r>
              <a:rPr lang="en-US" sz="1500" b="1" dirty="0">
                <a:solidFill>
                  <a:srgbClr val="FFFFFF"/>
                </a:solidFill>
              </a:rPr>
              <a:t>ONE SERVICE</a:t>
            </a:r>
          </a:p>
          <a:p>
            <a:pPr algn="ctr">
              <a:spcAft>
                <a:spcPts val="0"/>
              </a:spcAft>
              <a:buNone/>
            </a:pPr>
            <a:r>
              <a:rPr lang="en-US" sz="1300" b="0" dirty="0">
                <a:solidFill>
                  <a:srgbClr val="FFFFFF"/>
                </a:solidFill>
              </a:rPr>
              <a:t>a stable identity</a:t>
            </a:r>
          </a:p>
        </p:txBody>
      </p:sp>
      <p:sp>
        <p:nvSpPr>
          <p:cNvPr id="102" name="L0"/>
          <p:cNvSpPr/>
          <p:nvPr/>
        </p:nvSpPr>
        <p:spPr>
          <a:xfrm>
            <a:off x="685800" y="1554480"/>
            <a:ext cx="2560320" cy="82296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500" b="1" dirty="0">
                <a:solidFill>
                  <a:srgbClr val="5C4826"/>
                </a:solidFill>
              </a:rPr>
              <a:t>“Remediation Service”</a:t>
            </a:r>
          </a:p>
          <a:p>
            <a:pPr algn="ctr">
              <a:spcAft>
                <a:spcPts val="0"/>
              </a:spcAft>
              <a:buNone/>
            </a:pPr>
            <a:r>
              <a:rPr lang="en-US" sz="1300" b="0" i="1" dirty="0">
                <a:solidFill>
                  <a:srgbClr val="555960"/>
                </a:solidFill>
              </a:rPr>
              <a:t>the human label</a:t>
            </a:r>
          </a:p>
        </p:txBody>
      </p:sp>
      <p:sp>
        <p:nvSpPr>
          <p:cNvPr id="103" name="L1"/>
          <p:cNvSpPr/>
          <p:nvPr/>
        </p:nvSpPr>
        <p:spPr>
          <a:xfrm>
            <a:off x="5897880" y="1554480"/>
            <a:ext cx="2560320" cy="82296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500" b="1" dirty="0">
                <a:solidFill>
                  <a:srgbClr val="5C4826"/>
                </a:solidFill>
              </a:rPr>
              <a:t>remediation-svc</a:t>
            </a:r>
          </a:p>
          <a:p>
            <a:pPr algn="ctr">
              <a:spcAft>
                <a:spcPts val="0"/>
              </a:spcAft>
              <a:buNone/>
            </a:pPr>
            <a:r>
              <a:rPr lang="en-US" sz="1300" b="0" i="1" dirty="0">
                <a:solidFill>
                  <a:srgbClr val="555960"/>
                </a:solidFill>
              </a:rPr>
              <a:t>the deployment name</a:t>
            </a:r>
          </a:p>
        </p:txBody>
      </p:sp>
      <p:sp>
        <p:nvSpPr>
          <p:cNvPr id="104" name="L2"/>
          <p:cNvSpPr/>
          <p:nvPr/>
        </p:nvSpPr>
        <p:spPr>
          <a:xfrm>
            <a:off x="685800" y="2743200"/>
            <a:ext cx="2560320" cy="82296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500" b="1" dirty="0">
                <a:solidFill>
                  <a:srgbClr val="5C4826"/>
                </a:solidFill>
              </a:rPr>
              <a:t>RemediationService</a:t>
            </a:r>
          </a:p>
          <a:p>
            <a:pPr algn="ctr">
              <a:spcAft>
                <a:spcPts val="0"/>
              </a:spcAft>
              <a:buNone/>
            </a:pPr>
            <a:r>
              <a:rPr lang="en-US" sz="1300" b="0" i="1" dirty="0">
                <a:solidFill>
                  <a:srgbClr val="555960"/>
                </a:solidFill>
              </a:rPr>
              <a:t>the code symbol</a:t>
            </a:r>
          </a:p>
        </p:txBody>
      </p:sp>
      <p:sp>
        <p:nvSpPr>
          <p:cNvPr id="105" name="L3"/>
          <p:cNvSpPr/>
          <p:nvPr/>
        </p:nvSpPr>
        <p:spPr>
          <a:xfrm>
            <a:off x="5897880" y="2743200"/>
            <a:ext cx="2560320" cy="82296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500" b="1" dirty="0">
                <a:solidFill>
                  <a:srgbClr val="5C4826"/>
                </a:solidFill>
              </a:rPr>
              <a:t>sa-remediation</a:t>
            </a:r>
          </a:p>
          <a:p>
            <a:pPr algn="ctr">
              <a:spcAft>
                <a:spcPts val="0"/>
              </a:spcAft>
              <a:buNone/>
            </a:pPr>
            <a:r>
              <a:rPr lang="en-US" sz="1300" b="0" i="1" dirty="0">
                <a:solidFill>
                  <a:srgbClr val="555960"/>
                </a:solidFill>
              </a:rPr>
              <a:t>the runtime identity</a:t>
            </a:r>
          </a:p>
        </p:txBody>
      </p:sp>
      <p:cxnSp>
        <p:nvCxnSpPr>
          <p:cNvPr id="106" name="T0"/>
          <p:cNvCxnSpPr/>
          <p:nvPr/>
        </p:nvCxnSpPr>
        <p:spPr>
          <a:xfrm>
            <a:off x="3246120" y="2103120"/>
            <a:ext cx="411480" cy="137160"/>
          </a:xfrm>
          <a:prstGeom prst="straightConnector1">
            <a:avLst/>
          </a:prstGeom>
          <a:ln w="19050">
            <a:solidFill>
              <a:srgbClr val="C9B991"/>
            </a:solidFill>
            <a:tailEnd type="triangle" w="med" len="med"/>
          </a:ln>
        </p:spPr>
      </p:cxnSp>
      <p:cxnSp>
        <p:nvCxnSpPr>
          <p:cNvPr id="107" name="T1"/>
          <p:cNvCxnSpPr/>
          <p:nvPr/>
        </p:nvCxnSpPr>
        <p:spPr>
          <a:xfrm flipH="1">
            <a:off x="5486400" y="2103120"/>
            <a:ext cx="411480" cy="137160"/>
          </a:xfrm>
          <a:prstGeom prst="straightConnector1">
            <a:avLst/>
          </a:prstGeom>
          <a:ln w="19050">
            <a:solidFill>
              <a:srgbClr val="C9B991"/>
            </a:solidFill>
            <a:tailEnd type="triangle" w="med" len="med"/>
          </a:ln>
        </p:spPr>
      </p:cxnSp>
      <p:cxnSp>
        <p:nvCxnSpPr>
          <p:cNvPr id="108" name="T2"/>
          <p:cNvCxnSpPr/>
          <p:nvPr/>
        </p:nvCxnSpPr>
        <p:spPr>
          <a:xfrm flipV="1">
            <a:off x="3246120" y="2834640"/>
            <a:ext cx="411480" cy="137160"/>
          </a:xfrm>
          <a:prstGeom prst="straightConnector1">
            <a:avLst/>
          </a:prstGeom>
          <a:ln w="19050">
            <a:solidFill>
              <a:srgbClr val="C9B991"/>
            </a:solidFill>
            <a:tailEnd type="triangle" w="med" len="med"/>
          </a:ln>
        </p:spPr>
      </p:cxnSp>
      <p:cxnSp>
        <p:nvCxnSpPr>
          <p:cNvPr id="109" name="T3"/>
          <p:cNvCxnSpPr/>
          <p:nvPr/>
        </p:nvCxnSpPr>
        <p:spPr>
          <a:xfrm flipH="1" flipV="1">
            <a:off x="5486400" y="2834640"/>
            <a:ext cx="411480" cy="137160"/>
          </a:xfrm>
          <a:prstGeom prst="straightConnector1">
            <a:avLst/>
          </a:prstGeom>
          <a:ln w="19050">
            <a:solidFill>
              <a:srgbClr val="C9B991"/>
            </a:solidFill>
            <a:tailEnd type="triangle" w="med" len="med"/>
          </a:ln>
        </p:spPr>
      </p:cxnSp>
      <p:sp>
        <p:nvSpPr>
          <p:cNvPr id="110" name="LG0"/>
          <p:cNvSpPr txBox="1"/>
          <p:nvPr/>
        </p:nvSpPr>
        <p:spPr>
          <a:xfrm>
            <a:off x="685800" y="3703320"/>
            <a:ext cx="7772400" cy="274320"/>
          </a:xfrm>
          <a:prstGeom prst="rect">
            <a:avLst/>
          </a:prstGeom>
          <a:noFill/>
          <a:ln>
            <a:noFill/>
          </a:ln>
        </p:spPr>
        <p:txBody>
          <a:bodyPr wrap="square" lIns="0" tIns="0" rIns="0" bIns="0" anchor="t"/>
          <a:lstStyle/>
          <a:p>
            <a:pPr algn="ctr">
              <a:spcAft>
                <a:spcPts val="0"/>
              </a:spcAft>
              <a:buNone/>
            </a:pPr>
            <a:r>
              <a:rPr lang="en-US" sz="1300" b="0" i="1" dirty="0">
                <a:solidFill>
                  <a:srgbClr val="555960"/>
                </a:solidFill>
              </a:rPr>
              <a:t>each arrow: this label resolves to the same identity</a:t>
            </a:r>
          </a:p>
        </p:txBody>
      </p:sp>
      <p:sp>
        <p:nvSpPr>
          <p:cNvPr id="111" name="Claim"/>
          <p:cNvSpPr txBox="1"/>
          <p:nvPr/>
        </p:nvSpPr>
        <p:spPr>
          <a:xfrm>
            <a:off x="685800" y="4023360"/>
            <a:ext cx="7772400" cy="36576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Four labels, four representations. The identity is the thing they all resolve to.</a:t>
            </a:r>
          </a:p>
        </p:txBody>
      </p:sp>
      <p:sp>
        <p:nvSpPr>
          <p:cNvPr id="112" name="F0"/>
          <p:cNvSpPr/>
          <p:nvPr/>
        </p:nvSpPr>
        <p:spPr>
          <a:xfrm>
            <a:off x="457200" y="4526280"/>
            <a:ext cx="3429000" cy="59436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300" b="0" i="1" dirty="0">
                <a:solidFill>
                  <a:srgbClr val="555960"/>
                </a:solidFill>
              </a:rPr>
              <a:t>flow model</a:t>
            </a:r>
          </a:p>
          <a:p>
            <a:pPr algn="ctr">
              <a:spcAft>
                <a:spcPts val="0"/>
              </a:spcAft>
              <a:buNone/>
            </a:pPr>
            <a:r>
              <a:rPr lang="en-US" sz="1300" b="0" dirty="0">
                <a:solidFill>
                  <a:srgbClr val="5C4826"/>
                </a:solidFill>
              </a:rPr>
              <a:t>doc-api → </a:t>
            </a:r>
            <a:r>
              <a:rPr lang="en-US" sz="1300" b="1" dirty="0">
                <a:solidFill>
                  <a:srgbClr val="5C4826"/>
                </a:solidFill>
              </a:rPr>
              <a:t>remediation-svc</a:t>
            </a:r>
            <a:r>
              <a:rPr lang="en-US" sz="1300" b="0" dirty="0">
                <a:solidFill>
                  <a:srgbClr val="5C4826"/>
                </a:solidFill>
              </a:rPr>
              <a:t> : may invoke</a:t>
            </a:r>
          </a:p>
        </p:txBody>
      </p:sp>
      <p:cxnSp>
        <p:nvCxnSpPr>
          <p:cNvPr id="113" name="TJ0"/>
          <p:cNvCxnSpPr/>
          <p:nvPr/>
        </p:nvCxnSpPr>
        <p:spPr>
          <a:xfrm>
            <a:off x="3886200" y="4823460"/>
            <a:ext cx="1371600" cy="0"/>
          </a:xfrm>
          <a:prstGeom prst="straightConnector1">
            <a:avLst/>
          </a:prstGeom>
          <a:ln w="19050">
            <a:solidFill>
              <a:srgbClr val="8E6F3E"/>
            </a:solidFill>
            <a:headEnd type="triangle" w="med" len="med"/>
            <a:tailEnd type="triangle" w="med" len="med"/>
          </a:ln>
        </p:spPr>
      </p:cxnSp>
      <p:sp>
        <p:nvSpPr>
          <p:cNvPr id="114" name="TJL"/>
          <p:cNvSpPr txBox="1"/>
          <p:nvPr/>
        </p:nvSpPr>
        <p:spPr>
          <a:xfrm>
            <a:off x="3886200" y="4480560"/>
            <a:ext cx="1371600" cy="274320"/>
          </a:xfrm>
          <a:prstGeom prst="rect">
            <a:avLst/>
          </a:prstGeom>
          <a:noFill/>
          <a:ln>
            <a:noFill/>
          </a:ln>
        </p:spPr>
        <p:txBody>
          <a:bodyPr wrap="square" lIns="0" tIns="0" rIns="0" bIns="0" anchor="ctr"/>
          <a:lstStyle/>
          <a:p>
            <a:pPr algn="ctr">
              <a:spcAft>
                <a:spcPts val="0"/>
              </a:spcAft>
              <a:buNone/>
            </a:pPr>
            <a:r>
              <a:rPr lang="en-US" sz="1300" b="1" dirty="0">
                <a:solidFill>
                  <a:srgbClr val="8E6F3E"/>
                </a:solidFill>
              </a:rPr>
              <a:t>joinable</a:t>
            </a:r>
          </a:p>
        </p:txBody>
      </p:sp>
      <p:sp>
        <p:nvSpPr>
          <p:cNvPr id="115" name="F1"/>
          <p:cNvSpPr/>
          <p:nvPr/>
        </p:nvSpPr>
        <p:spPr>
          <a:xfrm>
            <a:off x="5257800" y="4526280"/>
            <a:ext cx="3429000" cy="59436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300" b="0" i="1" dirty="0">
                <a:solidFill>
                  <a:srgbClr val="555960"/>
                </a:solidFill>
              </a:rPr>
              <a:t>deployment model</a:t>
            </a:r>
          </a:p>
          <a:p>
            <a:pPr algn="ctr">
              <a:spcAft>
                <a:spcPts val="0"/>
              </a:spcAft>
              <a:buNone/>
            </a:pPr>
            <a:r>
              <a:rPr lang="en-US" sz="1300" b="1" dirty="0">
                <a:solidFill>
                  <a:srgbClr val="5C4826"/>
                </a:solidFill>
              </a:rPr>
              <a:t>remediation-svc</a:t>
            </a:r>
            <a:r>
              <a:rPr lang="en-US" sz="1300" b="0" dirty="0">
                <a:solidFill>
                  <a:srgbClr val="5C4826"/>
                </a:solidFill>
              </a:rPr>
              <a:t> → its endpoint</a:t>
            </a:r>
          </a:p>
        </p:txBody>
      </p:sp>
      <p:sp>
        <p:nvSpPr>
          <p:cNvPr id="116" name="TCap"/>
          <p:cNvSpPr txBox="1"/>
          <p:nvPr/>
        </p:nvSpPr>
        <p:spPr>
          <a:xfrm>
            <a:off x="685800" y="5257800"/>
            <a:ext cx="777240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a shared identity is what makes two models joinable</a:t>
            </a:r>
          </a:p>
        </p:txBody>
      </p:sp>
      <p:sp>
        <p:nvSpPr>
          <p:cNvPr id="117"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Names vary by representation. The identity does not.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Give each consequential fact an authoritative source</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HL"/>
          <p:cNvSpPr txBox="1"/>
          <p:nvPr/>
        </p:nvSpPr>
        <p:spPr>
          <a:xfrm>
            <a:off x="685800" y="114300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FINE</a:t>
            </a:r>
            <a:r>
              <a:rPr lang="en-US" sz="1600" b="0" dirty="0">
                <a:solidFill>
                  <a:srgbClr val="555960"/>
                </a:solidFill>
              </a:rPr>
              <a:t>  many representations</a:t>
            </a:r>
          </a:p>
        </p:txBody>
      </p:sp>
      <p:sp>
        <p:nvSpPr>
          <p:cNvPr id="102" name="SRC"/>
          <p:cNvSpPr/>
          <p:nvPr/>
        </p:nvSpPr>
        <p:spPr>
          <a:xfrm>
            <a:off x="1371600" y="1600200"/>
            <a:ext cx="2332990" cy="548640"/>
          </a:xfrm>
          <a:prstGeom prst="rect">
            <a:avLst/>
          </a:prstGeom>
          <a:solidFill>
            <a:srgbClr val="8E6F3E"/>
          </a:solidFill>
          <a:ln>
            <a:noFill/>
          </a:ln>
        </p:spPr>
        <p:txBody>
          <a:bodyPr wrap="square" lIns="27432" tIns="22860" rIns="27432" bIns="22860" anchor="ctr"/>
          <a:lstStyle/>
          <a:p>
            <a:pPr algn="ctr">
              <a:spcAft>
                <a:spcPts val="0"/>
              </a:spcAft>
              <a:buNone/>
            </a:pPr>
            <a:r>
              <a:rPr lang="en-US" sz="1400" b="1" dirty="0">
                <a:solidFill>
                  <a:srgbClr val="FFFFFF"/>
                </a:solidFill>
              </a:rPr>
              <a:t>the authoritative source</a:t>
            </a:r>
          </a:p>
        </p:txBody>
      </p:sp>
      <p:sp>
        <p:nvSpPr>
          <p:cNvPr id="103" name="V0"/>
          <p:cNvSpPr/>
          <p:nvPr/>
        </p:nvSpPr>
        <p:spPr>
          <a:xfrm>
            <a:off x="685800" y="3108960"/>
            <a:ext cx="118872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a diagram</a:t>
            </a:r>
          </a:p>
        </p:txBody>
      </p:sp>
      <p:sp>
        <p:nvSpPr>
          <p:cNvPr id="104" name="V1"/>
          <p:cNvSpPr/>
          <p:nvPr/>
        </p:nvSpPr>
        <p:spPr>
          <a:xfrm>
            <a:off x="2011680" y="3108960"/>
            <a:ext cx="118872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a cache</a:t>
            </a:r>
          </a:p>
        </p:txBody>
      </p:sp>
      <p:sp>
        <p:nvSpPr>
          <p:cNvPr id="105" name="V2"/>
          <p:cNvSpPr/>
          <p:nvPr/>
        </p:nvSpPr>
        <p:spPr>
          <a:xfrm>
            <a:off x="3337560" y="3108960"/>
            <a:ext cx="1188720" cy="50292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an agent view</a:t>
            </a:r>
          </a:p>
        </p:txBody>
      </p:sp>
      <p:cxnSp>
        <p:nvCxnSpPr>
          <p:cNvPr id="106" name="DA0"/>
          <p:cNvCxnSpPr/>
          <p:nvPr/>
        </p:nvCxnSpPr>
        <p:spPr>
          <a:xfrm flipH="1">
            <a:off x="1280160" y="2148840"/>
            <a:ext cx="1005840" cy="960120"/>
          </a:xfrm>
          <a:prstGeom prst="straightConnector1">
            <a:avLst/>
          </a:prstGeom>
          <a:ln w="19050">
            <a:solidFill>
              <a:srgbClr val="C9B991"/>
            </a:solidFill>
            <a:tailEnd type="triangle" w="med" len="med"/>
          </a:ln>
        </p:spPr>
      </p:cxnSp>
      <p:cxnSp>
        <p:nvCxnSpPr>
          <p:cNvPr id="107" name="DA1"/>
          <p:cNvCxnSpPr/>
          <p:nvPr/>
        </p:nvCxnSpPr>
        <p:spPr>
          <a:xfrm>
            <a:off x="2560320" y="2148840"/>
            <a:ext cx="0" cy="960120"/>
          </a:xfrm>
          <a:prstGeom prst="straightConnector1">
            <a:avLst/>
          </a:prstGeom>
          <a:ln w="19050">
            <a:solidFill>
              <a:srgbClr val="C9B991"/>
            </a:solidFill>
            <a:tailEnd type="triangle" w="med" len="med"/>
          </a:ln>
        </p:spPr>
      </p:cxnSp>
      <p:cxnSp>
        <p:nvCxnSpPr>
          <p:cNvPr id="108" name="DA2"/>
          <p:cNvCxnSpPr/>
          <p:nvPr/>
        </p:nvCxnSpPr>
        <p:spPr>
          <a:xfrm>
            <a:off x="2834640" y="2148840"/>
            <a:ext cx="1005840" cy="960120"/>
          </a:xfrm>
          <a:prstGeom prst="straightConnector1">
            <a:avLst/>
          </a:prstGeom>
          <a:ln w="19050">
            <a:solidFill>
              <a:srgbClr val="C9B991"/>
            </a:solidFill>
            <a:tailEnd type="triangle" w="med" len="med"/>
          </a:ln>
        </p:spPr>
      </p:cxnSp>
      <p:sp>
        <p:nvSpPr>
          <p:cNvPr id="109" name="DLG"/>
          <p:cNvSpPr txBox="1"/>
          <p:nvPr/>
        </p:nvSpPr>
        <p:spPr>
          <a:xfrm>
            <a:off x="685800" y="3703320"/>
            <a:ext cx="3703320" cy="274320"/>
          </a:xfrm>
          <a:prstGeom prst="rect">
            <a:avLst/>
          </a:prstGeom>
          <a:noFill/>
          <a:ln>
            <a:noFill/>
          </a:ln>
        </p:spPr>
        <p:txBody>
          <a:bodyPr wrap="square" lIns="0" tIns="0" rIns="0" bIns="0" anchor="t"/>
          <a:lstStyle/>
          <a:p>
            <a:pPr algn="ctr">
              <a:spcAft>
                <a:spcPts val="0"/>
              </a:spcAft>
              <a:buNone/>
            </a:pPr>
            <a:r>
              <a:rPr lang="en-US" sz="1300" b="0" i="1" dirty="0">
                <a:solidFill>
                  <a:srgbClr val="555960"/>
                </a:solidFill>
              </a:rPr>
              <a:t>each arrow: derived from the source</a:t>
            </a:r>
          </a:p>
        </p:txBody>
      </p:sp>
      <p:sp>
        <p:nvSpPr>
          <p:cNvPr id="110" name="HR"/>
          <p:cNvSpPr txBox="1"/>
          <p:nvPr/>
        </p:nvSpPr>
        <p:spPr>
          <a:xfrm>
            <a:off x="4937760" y="1143000"/>
            <a:ext cx="3703320" cy="365760"/>
          </a:xfrm>
          <a:prstGeom prst="rect">
            <a:avLst/>
          </a:prstGeom>
          <a:noFill/>
          <a:ln>
            <a:noFill/>
          </a:ln>
        </p:spPr>
        <p:txBody>
          <a:bodyPr wrap="square" lIns="0" tIns="0" rIns="0" bIns="0" anchor="ctr"/>
          <a:lstStyle/>
          <a:p>
            <a:pPr algn="l">
              <a:spcAft>
                <a:spcPts val="0"/>
              </a:spcAft>
              <a:buNone/>
            </a:pPr>
            <a:r>
              <a:rPr lang="en-US" sz="2000" b="1" dirty="0">
                <a:solidFill>
                  <a:srgbClr val="8E6F3E"/>
                </a:solidFill>
              </a:rPr>
              <a:t>DANGEROUS</a:t>
            </a:r>
            <a:r>
              <a:rPr lang="en-US" sz="1600" b="0" dirty="0">
                <a:solidFill>
                  <a:srgbClr val="555960"/>
                </a:solidFill>
              </a:rPr>
              <a:t>  two independent sources</a:t>
            </a:r>
          </a:p>
        </p:txBody>
      </p:sp>
      <p:sp>
        <p:nvSpPr>
          <p:cNvPr id="111" name="P0"/>
          <p:cNvSpPr/>
          <p:nvPr/>
        </p:nvSpPr>
        <p:spPr>
          <a:xfrm>
            <a:off x="4937760" y="2103120"/>
            <a:ext cx="1600200" cy="73152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400" b="1" dirty="0">
                <a:solidFill>
                  <a:srgbClr val="5C4826"/>
                </a:solidFill>
              </a:rPr>
              <a:t>COPY 1</a:t>
            </a:r>
          </a:p>
          <a:p>
            <a:pPr algn="ctr">
              <a:spcAft>
                <a:spcPts val="0"/>
              </a:spcAft>
              <a:buNone/>
            </a:pPr>
            <a:r>
              <a:rPr lang="en-US" sz="1300" b="0" dirty="0">
                <a:solidFill>
                  <a:srgbClr val="555960"/>
                </a:solidFill>
              </a:rPr>
              <a:t>maintained by hand</a:t>
            </a:r>
          </a:p>
        </p:txBody>
      </p:sp>
      <p:sp>
        <p:nvSpPr>
          <p:cNvPr id="112" name="NE0"/>
          <p:cNvSpPr txBox="1"/>
          <p:nvPr/>
        </p:nvSpPr>
        <p:spPr>
          <a:xfrm>
            <a:off x="6583680" y="2331720"/>
            <a:ext cx="274320" cy="274320"/>
          </a:xfrm>
          <a:prstGeom prst="rect">
            <a:avLst/>
          </a:prstGeom>
          <a:noFill/>
          <a:ln>
            <a:noFill/>
          </a:ln>
        </p:spPr>
        <p:txBody>
          <a:bodyPr wrap="square" lIns="0" tIns="0" rIns="0" bIns="0" anchor="ctr"/>
          <a:lstStyle/>
          <a:p>
            <a:pPr algn="ctr">
              <a:spcAft>
                <a:spcPts val="0"/>
              </a:spcAft>
              <a:buNone/>
            </a:pPr>
            <a:r>
              <a:rPr lang="en-US" sz="1600" b="1" dirty="0">
                <a:solidFill>
                  <a:srgbClr val="555960"/>
                </a:solidFill>
              </a:rPr>
              <a:t>≠</a:t>
            </a:r>
          </a:p>
        </p:txBody>
      </p:sp>
      <p:sp>
        <p:nvSpPr>
          <p:cNvPr id="113" name="P1"/>
          <p:cNvSpPr/>
          <p:nvPr/>
        </p:nvSpPr>
        <p:spPr>
          <a:xfrm>
            <a:off x="6903720" y="2103120"/>
            <a:ext cx="1600200" cy="731520"/>
          </a:xfrm>
          <a:prstGeom prst="rect">
            <a:avLst/>
          </a:prstGeom>
          <a:solidFill>
            <a:srgbClr val="F5F1E8"/>
          </a:solidFill>
          <a:ln w="12700">
            <a:solidFill>
              <a:srgbClr val="C9B991"/>
            </a:solidFill>
          </a:ln>
        </p:spPr>
        <p:txBody>
          <a:bodyPr wrap="square" lIns="27432" tIns="22860" rIns="27432" bIns="22860" anchor="ctr"/>
          <a:lstStyle/>
          <a:p>
            <a:pPr algn="ctr">
              <a:spcAft>
                <a:spcPts val="200"/>
              </a:spcAft>
              <a:buNone/>
            </a:pPr>
            <a:r>
              <a:rPr lang="en-US" sz="1400" b="1" dirty="0">
                <a:solidFill>
                  <a:srgbClr val="5C4826"/>
                </a:solidFill>
              </a:rPr>
              <a:t>COPY 2</a:t>
            </a:r>
          </a:p>
          <a:p>
            <a:pPr algn="ctr">
              <a:spcAft>
                <a:spcPts val="0"/>
              </a:spcAft>
              <a:buNone/>
            </a:pPr>
            <a:r>
              <a:rPr lang="en-US" sz="1300" b="0" dirty="0">
                <a:solidFill>
                  <a:srgbClr val="555960"/>
                </a:solidFill>
              </a:rPr>
              <a:t>maintained by hand</a:t>
            </a:r>
          </a:p>
        </p:txBody>
      </p:sp>
      <p:sp>
        <p:nvSpPr>
          <p:cNvPr id="114" name="PQ"/>
          <p:cNvSpPr txBox="1"/>
          <p:nvPr/>
        </p:nvSpPr>
        <p:spPr>
          <a:xfrm>
            <a:off x="4937760" y="2971800"/>
            <a:ext cx="356616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which one is believed?</a:t>
            </a:r>
          </a:p>
        </p:txBody>
      </p:sp>
      <p:sp>
        <p:nvSpPr>
          <p:cNvPr id="115" name="RLbl"/>
          <p:cNvSpPr txBox="1"/>
          <p:nvPr/>
        </p:nvSpPr>
        <p:spPr>
          <a:xfrm>
            <a:off x="685800" y="4160520"/>
            <a:ext cx="7772400" cy="27432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THE RULE</a:t>
            </a:r>
          </a:p>
        </p:txBody>
      </p:sp>
      <p:sp>
        <p:nvSpPr>
          <p:cNvPr id="116" name="RuleText"/>
          <p:cNvSpPr txBox="1"/>
          <p:nvPr/>
        </p:nvSpPr>
        <p:spPr>
          <a:xfrm>
            <a:off x="685800" y="4480560"/>
            <a:ext cx="7772400" cy="731520"/>
          </a:xfrm>
          <a:prstGeom prst="rect">
            <a:avLst/>
          </a:prstGeom>
          <a:noFill/>
          <a:ln>
            <a:noFill/>
          </a:ln>
        </p:spPr>
        <p:txBody>
          <a:bodyPr wrap="square" lIns="0" tIns="0" rIns="0" bIns="0" anchor="t"/>
          <a:lstStyle/>
          <a:p>
            <a:pPr algn="ctr">
              <a:spcAft>
                <a:spcPts val="0"/>
              </a:spcAft>
              <a:buNone/>
            </a:pPr>
            <a:r>
              <a:rPr lang="en-US" sz="2000" b="1" dirty="0">
                <a:solidFill>
                  <a:srgbClr val="5C4826"/>
                </a:solidFill>
              </a:rPr>
              <a:t>Give each consequential fact an authoritative source;</a:t>
            </a:r>
          </a:p>
          <a:p>
            <a:pPr algn="ctr">
              <a:spcAft>
                <a:spcPts val="0"/>
              </a:spcAft>
              <a:buNone/>
            </a:pPr>
            <a:r>
              <a:rPr lang="en-US" sz="2000" b="1" dirty="0">
                <a:solidFill>
                  <a:srgbClr val="5C4826"/>
                </a:solidFill>
              </a:rPr>
              <a:t>derive or check the rest.</a:t>
            </a:r>
          </a:p>
        </p:txBody>
      </p:sp>
      <p:sp>
        <p:nvSpPr>
          <p:cNvPr id="117" name="Ital"/>
          <p:cNvSpPr txBox="1"/>
          <p:nvPr/>
        </p:nvSpPr>
        <p:spPr>
          <a:xfrm>
            <a:off x="685800" y="5303520"/>
            <a:ext cx="7772400" cy="32004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The rule is not “never duplicate bytes.”</a:t>
            </a:r>
          </a:p>
        </p:txBody>
      </p:sp>
      <p:sp>
        <p:nvSpPr>
          <p:cNvPr id="118"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Different facts have different authoritative sources.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ectionLabel"/>
          <p:cNvSpPr txBox="1"/>
          <p:nvPr/>
        </p:nvSpPr>
        <p:spPr>
          <a:xfrm>
            <a:off x="685800" y="1243584"/>
            <a:ext cx="7772400" cy="365760"/>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SECTION 4</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COMPOSITION</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2" name="Question"/>
          <p:cNvSpPr txBox="1"/>
          <p:nvPr/>
        </p:nvSpPr>
        <p:spPr>
          <a:xfrm>
            <a:off x="685800" y="2798064"/>
            <a:ext cx="7772400" cy="950976"/>
          </a:xfrm>
          <a:prstGeom prst="rect">
            <a:avLst/>
          </a:prstGeom>
          <a:noFill/>
          <a:ln>
            <a:noFill/>
          </a:ln>
        </p:spPr>
        <p:txBody>
          <a:bodyPr wrap="square" lIns="0" tIns="0" rIns="0" bIns="0" anchor="t"/>
          <a:lstStyle/>
          <a:p>
            <a:pPr algn="ctr">
              <a:spcAft>
                <a:spcPts val="0"/>
              </a:spcAft>
              <a:buNone/>
            </a:pPr>
            <a:r>
              <a:rPr lang="en-US" sz="2400" b="0" dirty="0">
                <a:solidFill>
                  <a:srgbClr val="5C4826"/>
                </a:solidFill>
              </a:rPr>
              <a:t>May this deployed service make this call</a:t>
            </a:r>
          </a:p>
          <a:p>
            <a:pPr algn="ctr">
              <a:spcAft>
                <a:spcPts val="0"/>
              </a:spcAft>
              <a:buNone/>
            </a:pPr>
            <a:r>
              <a:rPr lang="en-US" sz="2400" b="0" dirty="0">
                <a:solidFill>
                  <a:srgbClr val="5C4826"/>
                </a:solidFill>
              </a:rPr>
              <a:t>under this identity?</a:t>
            </a:r>
          </a:p>
        </p:txBody>
      </p:sp>
      <p:sp>
        <p:nvSpPr>
          <p:cNvPr id="103" name="Rule"/>
          <p:cNvSpPr/>
          <p:nvPr/>
        </p:nvSpPr>
        <p:spPr>
          <a:xfrm>
            <a:off x="3429000" y="3675888"/>
            <a:ext cx="2286000" cy="51206"/>
          </a:xfrm>
          <a:prstGeom prst="rect">
            <a:avLst/>
          </a:prstGeom>
          <a:solidFill>
            <a:srgbClr val="8E6F3E"/>
          </a:solidFill>
          <a:ln>
            <a:noFill/>
          </a:ln>
        </p:spPr>
        <p:txBody>
          <a:bodyPr wrap="square" lIns="27432" tIns="22860" rIns="27432" bIns="22860" anchor="ctr"/>
          <a:lstStyle/>
          <a:p>
            <a:endParaRPr lang="en-US"/>
          </a:p>
        </p:txBody>
      </p:sp>
      <p:sp>
        <p:nvSpPr>
          <p:cNvPr id="104" name="N0"/>
          <p:cNvSpPr/>
          <p:nvPr/>
        </p:nvSpPr>
        <p:spPr>
          <a:xfrm>
            <a:off x="278892"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MEANING</a:t>
            </a:r>
          </a:p>
        </p:txBody>
      </p:sp>
      <p:cxnSp>
        <p:nvCxnSpPr>
          <p:cNvPr id="105" name="NA0"/>
          <p:cNvCxnSpPr/>
          <p:nvPr/>
        </p:nvCxnSpPr>
        <p:spPr>
          <a:xfrm>
            <a:off x="2208276" y="5001768"/>
            <a:ext cx="274320" cy="0"/>
          </a:xfrm>
          <a:prstGeom prst="straightConnector1">
            <a:avLst/>
          </a:prstGeom>
          <a:ln w="19050">
            <a:solidFill>
              <a:srgbClr val="C9B991"/>
            </a:solidFill>
            <a:tailEnd type="triangle" w="med" len="med"/>
          </a:ln>
        </p:spPr>
      </p:cxnSp>
      <p:sp>
        <p:nvSpPr>
          <p:cNvPr id="106" name="N1"/>
          <p:cNvSpPr/>
          <p:nvPr/>
        </p:nvSpPr>
        <p:spPr>
          <a:xfrm>
            <a:off x="2500884"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CORRESPONDENCE</a:t>
            </a:r>
          </a:p>
        </p:txBody>
      </p:sp>
      <p:cxnSp>
        <p:nvCxnSpPr>
          <p:cNvPr id="107" name="NA1"/>
          <p:cNvCxnSpPr/>
          <p:nvPr/>
        </p:nvCxnSpPr>
        <p:spPr>
          <a:xfrm>
            <a:off x="4430268" y="5001768"/>
            <a:ext cx="274320" cy="0"/>
          </a:xfrm>
          <a:prstGeom prst="straightConnector1">
            <a:avLst/>
          </a:prstGeom>
          <a:ln w="19050">
            <a:solidFill>
              <a:srgbClr val="C9B991"/>
            </a:solidFill>
            <a:tailEnd type="triangle" w="med" len="med"/>
          </a:ln>
        </p:spPr>
      </p:cxnSp>
      <p:sp>
        <p:nvSpPr>
          <p:cNvPr id="108" name="N2"/>
          <p:cNvSpPr/>
          <p:nvPr/>
        </p:nvSpPr>
        <p:spPr>
          <a:xfrm>
            <a:off x="4722876" y="4718304"/>
            <a:ext cx="1920240" cy="566928"/>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8A8F98"/>
                </a:solidFill>
              </a:rPr>
              <a:t>IDENTITY</a:t>
            </a:r>
          </a:p>
        </p:txBody>
      </p:sp>
      <p:cxnSp>
        <p:nvCxnSpPr>
          <p:cNvPr id="109" name="NA2"/>
          <p:cNvCxnSpPr/>
          <p:nvPr/>
        </p:nvCxnSpPr>
        <p:spPr>
          <a:xfrm>
            <a:off x="6652260" y="5001768"/>
            <a:ext cx="274320" cy="0"/>
          </a:xfrm>
          <a:prstGeom prst="straightConnector1">
            <a:avLst/>
          </a:prstGeom>
          <a:ln w="19050">
            <a:solidFill>
              <a:srgbClr val="C9B991"/>
            </a:solidFill>
            <a:tailEnd type="triangle" w="med" len="med"/>
          </a:ln>
        </p:spPr>
      </p:cxnSp>
      <p:sp>
        <p:nvSpPr>
          <p:cNvPr id="110" name="N3"/>
          <p:cNvSpPr/>
          <p:nvPr/>
        </p:nvSpPr>
        <p:spPr>
          <a:xfrm>
            <a:off x="6944868" y="4718304"/>
            <a:ext cx="192024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COMPOSITION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 single model answers it</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FC0"/>
          <p:cNvSpPr/>
          <p:nvPr/>
        </p:nvSpPr>
        <p:spPr>
          <a:xfrm>
            <a:off x="365760" y="1188720"/>
            <a:ext cx="2743200" cy="160020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SERVICE RELATION</a:t>
            </a:r>
          </a:p>
          <a:p>
            <a:pPr algn="l">
              <a:spcAft>
                <a:spcPts val="300"/>
              </a:spcAft>
              <a:buNone/>
            </a:pPr>
            <a:r>
              <a:rPr lang="en-US" sz="1300" b="0" dirty="0">
                <a:solidFill>
                  <a:srgbClr val="5C4826"/>
                </a:solidFill>
              </a:rPr>
              <a:t>doc-api → </a:t>
            </a:r>
            <a:r>
              <a:rPr lang="en-US" sz="1300" b="1" dirty="0">
                <a:solidFill>
                  <a:srgbClr val="5C4826"/>
                </a:solidFill>
              </a:rPr>
              <a:t>remediation-svc</a:t>
            </a:r>
            <a:br>
              <a:rPr lang="en-US" sz="1300" b="0" dirty="0"/>
            </a:br>
            <a:r>
              <a:rPr lang="en-US" sz="1300" b="0" dirty="0">
                <a:solidFill>
                  <a:srgbClr val="5C4826"/>
                </a:solidFill>
              </a:rPr>
              <a:t>: may invoke</a:t>
            </a:r>
          </a:p>
          <a:p>
            <a:pPr algn="l">
              <a:spcAft>
                <a:spcPts val="0"/>
              </a:spcAft>
              <a:buNone/>
            </a:pPr>
            <a:r>
              <a:rPr lang="en-US" sz="1300" b="0" i="1" dirty="0">
                <a:solidFill>
                  <a:srgbClr val="555960"/>
                </a:solidFill>
              </a:rPr>
              <a:t>not: where anything runs</a:t>
            </a:r>
          </a:p>
        </p:txBody>
      </p:sp>
      <p:sp>
        <p:nvSpPr>
          <p:cNvPr id="102" name="FC1"/>
          <p:cNvSpPr/>
          <p:nvPr/>
        </p:nvSpPr>
        <p:spPr>
          <a:xfrm>
            <a:off x="6035040" y="1188720"/>
            <a:ext cx="2743200" cy="160020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DEPLOYMENT</a:t>
            </a:r>
          </a:p>
          <a:p>
            <a:pPr algn="l">
              <a:spcAft>
                <a:spcPts val="300"/>
              </a:spcAft>
              <a:buNone/>
            </a:pPr>
            <a:r>
              <a:rPr lang="en-US" sz="1300" b="1" dirty="0">
                <a:solidFill>
                  <a:srgbClr val="5C4826"/>
                </a:solidFill>
              </a:rPr>
              <a:t>remediation-svc</a:t>
            </a:r>
            <a:r>
              <a:rPr lang="en-US" sz="1300" b="0" dirty="0">
                <a:solidFill>
                  <a:srgbClr val="5C4826"/>
                </a:solidFill>
              </a:rPr>
              <a:t> → its endpoint URL</a:t>
            </a:r>
          </a:p>
          <a:p>
            <a:pPr algn="l">
              <a:spcAft>
                <a:spcPts val="0"/>
              </a:spcAft>
              <a:buNone/>
            </a:pPr>
            <a:r>
              <a:rPr lang="en-US" sz="1300" b="0" i="1" dirty="0">
                <a:solidFill>
                  <a:srgbClr val="555960"/>
                </a:solidFill>
              </a:rPr>
              <a:t>not: who may call it</a:t>
            </a:r>
          </a:p>
        </p:txBody>
      </p:sp>
      <p:sp>
        <p:nvSpPr>
          <p:cNvPr id="103" name="FC2"/>
          <p:cNvSpPr/>
          <p:nvPr/>
        </p:nvSpPr>
        <p:spPr>
          <a:xfrm>
            <a:off x="365760" y="4023360"/>
            <a:ext cx="2743200" cy="160020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RUNTIME IDENTITY</a:t>
            </a:r>
          </a:p>
          <a:p>
            <a:pPr algn="l">
              <a:spcAft>
                <a:spcPts val="300"/>
              </a:spcAft>
              <a:buNone/>
            </a:pPr>
            <a:r>
              <a:rPr lang="en-US" sz="1300" b="1" dirty="0">
                <a:solidFill>
                  <a:srgbClr val="5C4826"/>
                </a:solidFill>
              </a:rPr>
              <a:t>remediation-svc</a:t>
            </a:r>
            <a:br>
              <a:rPr lang="en-US" sz="1300" b="0" dirty="0"/>
            </a:br>
            <a:r>
              <a:rPr lang="en-US" sz="1300" b="0" dirty="0">
                <a:solidFill>
                  <a:srgbClr val="5C4826"/>
                </a:solidFill>
              </a:rPr>
              <a:t>runs as sa-remediation</a:t>
            </a:r>
          </a:p>
          <a:p>
            <a:pPr algn="l">
              <a:spcAft>
                <a:spcPts val="0"/>
              </a:spcAft>
              <a:buNone/>
            </a:pPr>
            <a:r>
              <a:rPr lang="en-US" sz="1300" b="0" i="1" dirty="0">
                <a:solidFill>
                  <a:srgbClr val="555960"/>
                </a:solidFill>
              </a:rPr>
              <a:t>not: the intended topology</a:t>
            </a:r>
          </a:p>
        </p:txBody>
      </p:sp>
      <p:sp>
        <p:nvSpPr>
          <p:cNvPr id="104" name="FC3"/>
          <p:cNvSpPr/>
          <p:nvPr/>
        </p:nvSpPr>
        <p:spPr>
          <a:xfrm>
            <a:off x="6035040" y="4023360"/>
            <a:ext cx="2743200" cy="160020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ACCESS POLICY</a:t>
            </a:r>
          </a:p>
          <a:p>
            <a:pPr algn="l">
              <a:spcAft>
                <a:spcPts val="300"/>
              </a:spcAft>
              <a:buNone/>
            </a:pPr>
            <a:r>
              <a:rPr lang="en-US" sz="1300" b="0" dirty="0">
                <a:solidFill>
                  <a:srgbClr val="5C4826"/>
                </a:solidFill>
              </a:rPr>
              <a:t>grant: sa-doc-api → invoke </a:t>
            </a:r>
            <a:r>
              <a:rPr lang="en-US" sz="1300" b="1" dirty="0">
                <a:solidFill>
                  <a:srgbClr val="5C4826"/>
                </a:solidFill>
              </a:rPr>
              <a:t>remediation-svc</a:t>
            </a:r>
          </a:p>
          <a:p>
            <a:pPr algn="l">
              <a:spcAft>
                <a:spcPts val="0"/>
              </a:spcAft>
              <a:buNone/>
            </a:pPr>
            <a:r>
              <a:rPr lang="en-US" sz="1300" b="0" i="1" dirty="0">
                <a:solidFill>
                  <a:srgbClr val="555960"/>
                </a:solidFill>
              </a:rPr>
              <a:t>not: what is realized</a:t>
            </a:r>
          </a:p>
        </p:txBody>
      </p:sp>
      <p:sp>
        <p:nvSpPr>
          <p:cNvPr id="106" name="QLbl"/>
          <p:cNvSpPr txBox="1"/>
          <p:nvPr/>
        </p:nvSpPr>
        <p:spPr>
          <a:xfrm>
            <a:off x="2971800" y="2606040"/>
            <a:ext cx="3200400" cy="274320"/>
          </a:xfrm>
          <a:prstGeom prst="rect">
            <a:avLst/>
          </a:prstGeom>
          <a:noFill/>
          <a:ln>
            <a:noFill/>
          </a:ln>
        </p:spPr>
        <p:txBody>
          <a:bodyPr wrap="square" lIns="0" tIns="0" rIns="0" bIns="0" anchor="ctr"/>
          <a:lstStyle/>
          <a:p>
            <a:pPr algn="ctr">
              <a:spcAft>
                <a:spcPts val="0"/>
              </a:spcAft>
              <a:buNone/>
            </a:pPr>
            <a:r>
              <a:rPr lang="en-US" sz="1400" b="1" dirty="0">
                <a:solidFill>
                  <a:srgbClr val="8E6F3E"/>
                </a:solidFill>
              </a:rPr>
              <a:t>THE SECTION QUESTION</a:t>
            </a:r>
          </a:p>
        </p:txBody>
      </p:sp>
      <p:sp>
        <p:nvSpPr>
          <p:cNvPr id="105" name="QChip"/>
          <p:cNvSpPr/>
          <p:nvPr/>
        </p:nvSpPr>
        <p:spPr>
          <a:xfrm>
            <a:off x="2971800" y="2925763"/>
            <a:ext cx="3200400" cy="1005840"/>
          </a:xfrm>
          <a:prstGeom prst="rect">
            <a:avLst/>
          </a:prstGeom>
          <a:solidFill>
            <a:srgbClr val="FBF8F2"/>
          </a:solidFill>
          <a:ln w="25400">
            <a:solidFill>
              <a:srgbClr val="8E6F3E"/>
            </a:solidFill>
          </a:ln>
        </p:spPr>
        <p:txBody>
          <a:bodyPr wrap="square" lIns="128016" tIns="91440" rIns="118872" bIns="91440" anchor="ctr"/>
          <a:lstStyle/>
          <a:p>
            <a:pPr algn="ctr">
              <a:spcAft>
                <a:spcPts val="0"/>
              </a:spcAft>
              <a:buNone/>
            </a:pPr>
            <a:r>
              <a:rPr lang="en-US" sz="1800" b="1" dirty="0">
                <a:solidFill>
                  <a:srgbClr val="5C4826"/>
                </a:solidFill>
              </a:rPr>
              <a:t>May this deployed service</a:t>
            </a:r>
            <a:br>
              <a:rPr lang="en-US" sz="1800" b="1" dirty="0"/>
            </a:br>
            <a:r>
              <a:rPr lang="en-US" sz="1800" b="1" dirty="0">
                <a:solidFill>
                  <a:srgbClr val="5C4826"/>
                </a:solidFill>
              </a:rPr>
              <a:t>make this call</a:t>
            </a:r>
            <a:br>
              <a:rPr lang="en-US" sz="1800" b="1" dirty="0"/>
            </a:br>
            <a:r>
              <a:rPr lang="en-US" sz="1800" b="1" dirty="0">
                <a:solidFill>
                  <a:srgbClr val="5C4826"/>
                </a:solidFill>
              </a:rPr>
              <a:t>under this identity?</a:t>
            </a:r>
          </a:p>
        </p:txBody>
      </p:sp>
      <p:sp>
        <p:nvSpPr>
          <p:cNvPr id="107" name="IDL"/>
          <p:cNvSpPr txBox="1"/>
          <p:nvPr/>
        </p:nvSpPr>
        <p:spPr>
          <a:xfrm>
            <a:off x="365760" y="2971800"/>
            <a:ext cx="2333752" cy="640080"/>
          </a:xfrm>
          <a:prstGeom prst="rect">
            <a:avLst/>
          </a:prstGeom>
          <a:noFill/>
          <a:ln>
            <a:noFill/>
          </a:ln>
        </p:spPr>
        <p:txBody>
          <a:bodyPr wrap="square" lIns="18288" tIns="18288" rIns="18288" bIns="18288" anchor="ctr"/>
          <a:lstStyle/>
          <a:p>
            <a:pPr algn="ctr">
              <a:spcAft>
                <a:spcPts val="200"/>
              </a:spcAft>
              <a:buNone/>
            </a:pPr>
            <a:r>
              <a:rPr lang="en-US" sz="1300" b="0" i="1" dirty="0">
                <a:solidFill>
                  <a:srgbClr val="555960"/>
                </a:solidFill>
              </a:rPr>
              <a:t>the shared identity, visible</a:t>
            </a:r>
            <a:br>
              <a:rPr lang="en-US" sz="1300" b="0" i="1" dirty="0"/>
            </a:br>
            <a:r>
              <a:rPr lang="en-US" sz="1300" b="0" i="1" dirty="0">
                <a:solidFill>
                  <a:srgbClr val="555960"/>
                </a:solidFill>
              </a:rPr>
              <a:t>in every fragment:</a:t>
            </a:r>
          </a:p>
          <a:p>
            <a:pPr algn="ctr">
              <a:spcAft>
                <a:spcPts val="0"/>
              </a:spcAft>
              <a:buNone/>
            </a:pPr>
            <a:r>
              <a:rPr lang="en-US" sz="1400" b="1" dirty="0">
                <a:solidFill>
                  <a:srgbClr val="5C4826"/>
                </a:solidFill>
              </a:rPr>
              <a:t>remediation-svc</a:t>
            </a:r>
          </a:p>
        </p:txBody>
      </p:sp>
      <p:sp>
        <p:nvSpPr>
          <p:cNvPr id="108" name="DimL"/>
          <p:cNvSpPr txBox="1"/>
          <p:nvPr/>
        </p:nvSpPr>
        <p:spPr>
          <a:xfrm>
            <a:off x="6217920" y="2971800"/>
            <a:ext cx="2560320" cy="640080"/>
          </a:xfrm>
          <a:prstGeom prst="rect">
            <a:avLst/>
          </a:prstGeom>
          <a:noFill/>
          <a:ln>
            <a:noFill/>
          </a:ln>
        </p:spPr>
        <p:txBody>
          <a:bodyPr wrap="square" lIns="18288" tIns="18288" rIns="18288" bIns="18288" anchor="ctr"/>
          <a:lstStyle/>
          <a:p>
            <a:pPr algn="ctr">
              <a:spcAft>
                <a:spcPts val="0"/>
              </a:spcAft>
              <a:buNone/>
            </a:pPr>
            <a:r>
              <a:rPr lang="en-US" sz="1300" b="0" i="1" dirty="0">
                <a:solidFill>
                  <a:srgbClr val="555960"/>
                </a:solidFill>
              </a:rPr>
              <a:t>the dimmed lines: what each model purposefully omits</a:t>
            </a:r>
          </a:p>
        </p:txBody>
      </p:sp>
      <p:sp>
        <p:nvSpPr>
          <p:cNvPr id="10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Each omission is purposeful. No one model can answer.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answer lives in the join</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JC0"/>
          <p:cNvSpPr/>
          <p:nvPr/>
        </p:nvSpPr>
        <p:spPr>
          <a:xfrm>
            <a:off x="365760" y="1188720"/>
            <a:ext cx="2286000" cy="118872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SERVICE RELATION</a:t>
            </a:r>
          </a:p>
          <a:p>
            <a:pPr algn="l">
              <a:spcAft>
                <a:spcPts val="300"/>
              </a:spcAft>
              <a:buNone/>
            </a:pPr>
            <a:r>
              <a:rPr lang="en-US" sz="1300" b="0" dirty="0">
                <a:solidFill>
                  <a:srgbClr val="5C4826"/>
                </a:solidFill>
              </a:rPr>
              <a:t>doc-api → </a:t>
            </a:r>
            <a:r>
              <a:rPr lang="en-US" sz="1300" b="1" dirty="0">
                <a:solidFill>
                  <a:srgbClr val="5C4826"/>
                </a:solidFill>
              </a:rPr>
              <a:t>remediation-svc</a:t>
            </a:r>
            <a:br>
              <a:rPr lang="en-US" sz="1300" b="0" dirty="0"/>
            </a:br>
            <a:r>
              <a:rPr lang="en-US" sz="1300" b="0" dirty="0">
                <a:solidFill>
                  <a:srgbClr val="5C4826"/>
                </a:solidFill>
              </a:rPr>
              <a:t>: may invoke</a:t>
            </a:r>
          </a:p>
        </p:txBody>
      </p:sp>
      <p:sp>
        <p:nvSpPr>
          <p:cNvPr id="102" name="JC1"/>
          <p:cNvSpPr/>
          <p:nvPr/>
        </p:nvSpPr>
        <p:spPr>
          <a:xfrm>
            <a:off x="6492240" y="1188720"/>
            <a:ext cx="2286000" cy="118872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DEPLOYMENT</a:t>
            </a:r>
          </a:p>
          <a:p>
            <a:pPr algn="l">
              <a:spcAft>
                <a:spcPts val="300"/>
              </a:spcAft>
              <a:buNone/>
            </a:pPr>
            <a:r>
              <a:rPr lang="en-US" sz="1300" b="1" dirty="0">
                <a:solidFill>
                  <a:srgbClr val="5C4826"/>
                </a:solidFill>
              </a:rPr>
              <a:t>remediation-svc</a:t>
            </a:r>
            <a:r>
              <a:rPr lang="en-US" sz="1300" b="0" dirty="0">
                <a:solidFill>
                  <a:srgbClr val="5C4826"/>
                </a:solidFill>
              </a:rPr>
              <a:t> →</a:t>
            </a:r>
            <a:br>
              <a:rPr lang="en-US" sz="1300" b="0" dirty="0"/>
            </a:br>
            <a:r>
              <a:rPr lang="en-US" sz="1300" b="0" dirty="0">
                <a:solidFill>
                  <a:srgbClr val="5C4826"/>
                </a:solidFill>
              </a:rPr>
              <a:t>its endpoint URL</a:t>
            </a:r>
          </a:p>
        </p:txBody>
      </p:sp>
      <p:sp>
        <p:nvSpPr>
          <p:cNvPr id="103" name="JC2"/>
          <p:cNvSpPr/>
          <p:nvPr/>
        </p:nvSpPr>
        <p:spPr>
          <a:xfrm>
            <a:off x="365760" y="3520440"/>
            <a:ext cx="2286000" cy="118872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RUNTIME IDENTITY</a:t>
            </a:r>
          </a:p>
          <a:p>
            <a:pPr algn="l">
              <a:spcAft>
                <a:spcPts val="300"/>
              </a:spcAft>
              <a:buNone/>
            </a:pPr>
            <a:r>
              <a:rPr lang="en-US" sz="1300" b="1" dirty="0">
                <a:solidFill>
                  <a:srgbClr val="5C4826"/>
                </a:solidFill>
              </a:rPr>
              <a:t>remediation-svc</a:t>
            </a:r>
            <a:br>
              <a:rPr lang="en-US" sz="1300" b="0" dirty="0"/>
            </a:br>
            <a:r>
              <a:rPr lang="en-US" sz="1300" b="0" dirty="0">
                <a:solidFill>
                  <a:srgbClr val="5C4826"/>
                </a:solidFill>
              </a:rPr>
              <a:t>runs as sa-remediation</a:t>
            </a:r>
          </a:p>
        </p:txBody>
      </p:sp>
      <p:sp>
        <p:nvSpPr>
          <p:cNvPr id="104" name="JC3"/>
          <p:cNvSpPr/>
          <p:nvPr/>
        </p:nvSpPr>
        <p:spPr>
          <a:xfrm>
            <a:off x="6492240" y="3520440"/>
            <a:ext cx="2286000" cy="1188720"/>
          </a:xfrm>
          <a:prstGeom prst="rect">
            <a:avLst/>
          </a:prstGeom>
          <a:solidFill>
            <a:srgbClr val="F5F1E8"/>
          </a:solidFill>
          <a:ln w="12700">
            <a:solidFill>
              <a:srgbClr val="C9B991"/>
            </a:solidFill>
          </a:ln>
        </p:spPr>
        <p:txBody>
          <a:bodyPr wrap="square" lIns="91440" tIns="68580" rIns="68580" bIns="45720" anchor="t"/>
          <a:lstStyle/>
          <a:p>
            <a:pPr algn="l">
              <a:spcAft>
                <a:spcPts val="300"/>
              </a:spcAft>
              <a:buNone/>
            </a:pPr>
            <a:r>
              <a:rPr lang="en-US" sz="1400" b="1" dirty="0">
                <a:solidFill>
                  <a:srgbClr val="5C4826"/>
                </a:solidFill>
              </a:rPr>
              <a:t>ACCESS POLICY</a:t>
            </a:r>
          </a:p>
          <a:p>
            <a:pPr algn="l">
              <a:spcAft>
                <a:spcPts val="300"/>
              </a:spcAft>
              <a:buNone/>
            </a:pPr>
            <a:r>
              <a:rPr lang="en-US" sz="1300" b="0" dirty="0">
                <a:solidFill>
                  <a:srgbClr val="5C4826"/>
                </a:solidFill>
              </a:rPr>
              <a:t>grant: sa-doc-api → invoke </a:t>
            </a:r>
            <a:r>
              <a:rPr lang="en-US" sz="1300" b="1" dirty="0">
                <a:solidFill>
                  <a:srgbClr val="5C4826"/>
                </a:solidFill>
              </a:rPr>
              <a:t>remediation-svc</a:t>
            </a:r>
          </a:p>
        </p:txBody>
      </p:sp>
      <p:cxnSp>
        <p:nvCxnSpPr>
          <p:cNvPr id="105" name="J0"/>
          <p:cNvCxnSpPr/>
          <p:nvPr/>
        </p:nvCxnSpPr>
        <p:spPr>
          <a:xfrm>
            <a:off x="2651760" y="1897380"/>
            <a:ext cx="320040" cy="731520"/>
          </a:xfrm>
          <a:prstGeom prst="straightConnector1">
            <a:avLst/>
          </a:prstGeom>
          <a:ln w="19050">
            <a:solidFill>
              <a:srgbClr val="8E6F3E"/>
            </a:solidFill>
            <a:tailEnd type="triangle" w="med" len="med"/>
          </a:ln>
        </p:spPr>
      </p:cxnSp>
      <p:cxnSp>
        <p:nvCxnSpPr>
          <p:cNvPr id="106" name="J1"/>
          <p:cNvCxnSpPr/>
          <p:nvPr/>
        </p:nvCxnSpPr>
        <p:spPr>
          <a:xfrm flipH="1">
            <a:off x="6172200" y="1897380"/>
            <a:ext cx="320040" cy="731520"/>
          </a:xfrm>
          <a:prstGeom prst="straightConnector1">
            <a:avLst/>
          </a:prstGeom>
          <a:ln w="19050">
            <a:solidFill>
              <a:srgbClr val="8E6F3E"/>
            </a:solidFill>
            <a:tailEnd type="triangle" w="med" len="med"/>
          </a:ln>
        </p:spPr>
      </p:cxnSp>
      <p:cxnSp>
        <p:nvCxnSpPr>
          <p:cNvPr id="107" name="J2"/>
          <p:cNvCxnSpPr/>
          <p:nvPr/>
        </p:nvCxnSpPr>
        <p:spPr>
          <a:xfrm flipV="1">
            <a:off x="2651760" y="3291840"/>
            <a:ext cx="320040" cy="822960"/>
          </a:xfrm>
          <a:prstGeom prst="straightConnector1">
            <a:avLst/>
          </a:prstGeom>
          <a:ln w="19050">
            <a:solidFill>
              <a:srgbClr val="8E6F3E"/>
            </a:solidFill>
            <a:tailEnd type="triangle" w="med" len="med"/>
          </a:ln>
        </p:spPr>
      </p:cxnSp>
      <p:cxnSp>
        <p:nvCxnSpPr>
          <p:cNvPr id="108" name="J3"/>
          <p:cNvCxnSpPr/>
          <p:nvPr/>
        </p:nvCxnSpPr>
        <p:spPr>
          <a:xfrm flipH="1" flipV="1">
            <a:off x="6172200" y="3291840"/>
            <a:ext cx="320040" cy="822960"/>
          </a:xfrm>
          <a:prstGeom prst="straightConnector1">
            <a:avLst/>
          </a:prstGeom>
          <a:ln w="19050">
            <a:solidFill>
              <a:srgbClr val="8E6F3E"/>
            </a:solidFill>
            <a:tailEnd type="triangle" w="med" len="med"/>
          </a:ln>
        </p:spPr>
      </p:cxnSp>
      <p:sp>
        <p:nvSpPr>
          <p:cNvPr id="110" name="DC"/>
          <p:cNvSpPr/>
          <p:nvPr/>
        </p:nvSpPr>
        <p:spPr>
          <a:xfrm>
            <a:off x="2971800" y="2011680"/>
            <a:ext cx="3200400" cy="1737360"/>
          </a:xfrm>
          <a:prstGeom prst="rect">
            <a:avLst/>
          </a:prstGeom>
          <a:solidFill>
            <a:srgbClr val="FBF8F2"/>
          </a:solidFill>
          <a:ln w="25400">
            <a:solidFill>
              <a:srgbClr val="8E6F3E"/>
            </a:solidFill>
          </a:ln>
        </p:spPr>
        <p:txBody>
          <a:bodyPr wrap="square" lIns="91440" tIns="68580" rIns="68580" bIns="45720" anchor="t"/>
          <a:lstStyle/>
          <a:p>
            <a:pPr algn="l">
              <a:spcAft>
                <a:spcPts val="200"/>
              </a:spcAft>
              <a:buNone/>
            </a:pPr>
            <a:r>
              <a:rPr lang="en-US" sz="1400" b="1" dirty="0">
                <a:solidFill>
                  <a:srgbClr val="8E6F3E"/>
                </a:solidFill>
              </a:rPr>
              <a:t>DERIVED — for the declared edge</a:t>
            </a:r>
          </a:p>
          <a:p>
            <a:pPr algn="l">
              <a:spcAft>
                <a:spcPts val="400"/>
              </a:spcAft>
              <a:buNone/>
            </a:pPr>
            <a:r>
              <a:rPr lang="en-US" sz="1300" b="1" dirty="0">
                <a:solidFill>
                  <a:srgbClr val="5C4826"/>
                </a:solidFill>
              </a:rPr>
              <a:t>doc-api → remediation-svc : may invoke</a:t>
            </a:r>
          </a:p>
          <a:p>
            <a:pPr algn="l">
              <a:spcAft>
                <a:spcPts val="300"/>
              </a:spcAft>
              <a:buNone/>
            </a:pPr>
            <a:r>
              <a:rPr lang="en-US" sz="1300" b="0" dirty="0">
                <a:solidFill>
                  <a:srgbClr val="5C4826"/>
                </a:solidFill>
              </a:rPr>
              <a:t>the endpoint — from deployment</a:t>
            </a:r>
          </a:p>
          <a:p>
            <a:pPr algn="l">
              <a:spcAft>
                <a:spcPts val="300"/>
              </a:spcAft>
              <a:buNone/>
            </a:pPr>
            <a:r>
              <a:rPr lang="en-US" sz="1300" b="0" dirty="0">
                <a:solidFill>
                  <a:srgbClr val="5C4826"/>
                </a:solidFill>
              </a:rPr>
              <a:t>the principal — from runtime identity</a:t>
            </a:r>
          </a:p>
          <a:p>
            <a:pPr algn="l">
              <a:spcAft>
                <a:spcPts val="0"/>
              </a:spcAft>
              <a:buNone/>
            </a:pPr>
            <a:r>
              <a:rPr lang="en-US" sz="1300" b="0" dirty="0">
                <a:solidFill>
                  <a:srgbClr val="5C4826"/>
                </a:solidFill>
              </a:rPr>
              <a:t>the invocation grant — from access policy</a:t>
            </a:r>
          </a:p>
        </p:txBody>
      </p:sp>
      <p:sp>
        <p:nvSpPr>
          <p:cNvPr id="111" name="DB"/>
          <p:cNvSpPr txBox="1"/>
          <p:nvPr/>
        </p:nvSpPr>
        <p:spPr>
          <a:xfrm>
            <a:off x="2971800" y="3794760"/>
            <a:ext cx="3200400" cy="274320"/>
          </a:xfrm>
          <a:prstGeom prst="rect">
            <a:avLst/>
          </a:prstGeom>
          <a:noFill/>
          <a:ln>
            <a:noFill/>
          </a:ln>
        </p:spPr>
        <p:txBody>
          <a:bodyPr wrap="square" lIns="0" tIns="0" rIns="0" bIns="0" anchor="ctr"/>
          <a:lstStyle/>
          <a:p>
            <a:pPr algn="ctr">
              <a:spcAft>
                <a:spcPts val="0"/>
              </a:spcAft>
              <a:buNone/>
            </a:pPr>
            <a:r>
              <a:rPr lang="en-US" sz="1300" b="0" i="1" dirty="0">
                <a:solidFill>
                  <a:srgbClr val="8E6F3E"/>
                </a:solidFill>
              </a:rPr>
              <a:t>derived, not authored</a:t>
            </a:r>
          </a:p>
        </p:txBody>
      </p:sp>
      <p:sp>
        <p:nvSpPr>
          <p:cNvPr id="109" name="TieLg"/>
          <p:cNvSpPr txBox="1"/>
          <p:nvPr/>
        </p:nvSpPr>
        <p:spPr>
          <a:xfrm>
            <a:off x="685800" y="4800600"/>
            <a:ext cx="7772400" cy="274320"/>
          </a:xfrm>
          <a:prstGeom prst="rect">
            <a:avLst/>
          </a:prstGeom>
          <a:noFill/>
          <a:ln>
            <a:noFill/>
          </a:ln>
        </p:spPr>
        <p:txBody>
          <a:bodyPr wrap="square" lIns="0" tIns="0" rIns="0" bIns="0" anchor="t"/>
          <a:lstStyle/>
          <a:p>
            <a:pPr algn="ctr">
              <a:spcAft>
                <a:spcPts val="0"/>
              </a:spcAft>
              <a:buNone/>
            </a:pPr>
            <a:r>
              <a:rPr lang="en-US" sz="1300" b="0" i="1" dirty="0">
                <a:solidFill>
                  <a:srgbClr val="555960"/>
                </a:solidFill>
              </a:rPr>
              <a:t>each tie: join on the shared service identity — remediation-svc</a:t>
            </a:r>
          </a:p>
        </p:txBody>
      </p:sp>
      <p:sp>
        <p:nvSpPr>
          <p:cNvPr id="112" name="Mech"/>
          <p:cNvSpPr txBox="1"/>
          <p:nvPr/>
        </p:nvSpPr>
        <p:spPr>
          <a:xfrm>
            <a:off x="685800" y="5120640"/>
            <a:ext cx="7772400" cy="640080"/>
          </a:xfrm>
          <a:prstGeom prst="rect">
            <a:avLst/>
          </a:prstGeom>
          <a:noFill/>
          <a:ln>
            <a:noFill/>
          </a:ln>
        </p:spPr>
        <p:txBody>
          <a:bodyPr wrap="square" lIns="0" tIns="0" rIns="0" bIns="0" anchor="t"/>
          <a:lstStyle/>
          <a:p>
            <a:pPr algn="ctr">
              <a:spcAft>
                <a:spcPts val="200"/>
              </a:spcAft>
              <a:buNone/>
            </a:pPr>
            <a:r>
              <a:rPr lang="en-US" sz="1400" b="1" dirty="0">
                <a:solidFill>
                  <a:srgbClr val="8E6F3E"/>
                </a:solidFill>
              </a:rPr>
              <a:t>at scale: 28 declared call edges → 10 distinct invocation grants</a:t>
            </a:r>
          </a:p>
          <a:p>
            <a:pPr algn="ctr">
              <a:spcAft>
                <a:spcPts val="0"/>
              </a:spcAft>
              <a:buNone/>
            </a:pPr>
            <a:r>
              <a:rPr lang="en-US" sz="1400" b="0" i="1" dirty="0">
                <a:solidFill>
                  <a:srgbClr val="555960"/>
                </a:solidFill>
              </a:rPr>
              <a:t>the four models remain four models — the answer lives in the relation, not in a merger</a:t>
            </a:r>
          </a:p>
        </p:txBody>
      </p:sp>
      <p:sp>
        <p:nvSpPr>
          <p:cNvPr id="11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No single artifact contains the answer. It emerges from the join.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par>
                                <p:cTn id="8" presetID="10" presetClass="entr" presetSubtype="0" fill="hold" nodeType="withEffect">
                                  <p:stCondLst>
                                    <p:cond delay="0"/>
                                  </p:stCondLst>
                                  <p:childTnLst>
                                    <p:set>
                                      <p:cBhvr>
                                        <p:cTn id="9" dur="1" fill="hold">
                                          <p:stCondLst>
                                            <p:cond delay="0"/>
                                          </p:stCondLst>
                                        </p:cTn>
                                        <p:tgtEl>
                                          <p:spTgt spid="106"/>
                                        </p:tgtEl>
                                        <p:attrNameLst>
                                          <p:attrName>style.visibility</p:attrName>
                                        </p:attrNameLst>
                                      </p:cBhvr>
                                      <p:to>
                                        <p:strVal val="visible"/>
                                      </p:to>
                                    </p:set>
                                    <p:animEffect transition="in" filter="fade">
                                      <p:cBhvr>
                                        <p:cTn id="10" dur="500"/>
                                        <p:tgtEl>
                                          <p:spTgt spid="106"/>
                                        </p:tgtEl>
                                      </p:cBhvr>
                                    </p:animEffect>
                                  </p:childTnLst>
                                </p:cTn>
                              </p:par>
                              <p:par>
                                <p:cTn id="11" presetID="10" presetClass="entr" presetSubtype="0" fill="hold" nodeType="withEffect">
                                  <p:stCondLst>
                                    <p:cond delay="0"/>
                                  </p:stCondLst>
                                  <p:childTnLst>
                                    <p:set>
                                      <p:cBhvr>
                                        <p:cTn id="12" dur="1" fill="hold">
                                          <p:stCondLst>
                                            <p:cond delay="0"/>
                                          </p:stCondLst>
                                        </p:cTn>
                                        <p:tgtEl>
                                          <p:spTgt spid="107"/>
                                        </p:tgtEl>
                                        <p:attrNameLst>
                                          <p:attrName>style.visibility</p:attrName>
                                        </p:attrNameLst>
                                      </p:cBhvr>
                                      <p:to>
                                        <p:strVal val="visible"/>
                                      </p:to>
                                    </p:set>
                                    <p:animEffect transition="in" filter="fade">
                                      <p:cBhvr>
                                        <p:cTn id="13" dur="500"/>
                                        <p:tgtEl>
                                          <p:spTgt spid="107"/>
                                        </p:tgtEl>
                                      </p:cBhvr>
                                    </p:animEffect>
                                  </p:childTnLst>
                                </p:cTn>
                              </p:par>
                              <p:par>
                                <p:cTn id="14" presetID="10" presetClass="entr" presetSubtype="0" fill="hold"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0"/>
                                        </p:tgtEl>
                                        <p:attrNameLst>
                                          <p:attrName>style.visibility</p:attrName>
                                        </p:attrNameLst>
                                      </p:cBhvr>
                                      <p:to>
                                        <p:strVal val="visible"/>
                                      </p:to>
                                    </p:set>
                                    <p:animEffect transition="in" filter="fade">
                                      <p:cBhvr>
                                        <p:cTn id="24" dur="500"/>
                                        <p:tgtEl>
                                          <p:spTgt spid="110"/>
                                        </p:tgtEl>
                                      </p:cBhvr>
                                    </p:animEffect>
                                  </p:childTnLst>
                                </p:cTn>
                              </p:par>
                              <p:par>
                                <p:cTn id="25" presetID="10" presetClass="entr" presetSubtype="0" fill="hold" nodeType="withEffect">
                                  <p:stCondLst>
                                    <p:cond delay="0"/>
                                  </p:stCondLst>
                                  <p:childTnLst>
                                    <p:set>
                                      <p:cBhvr>
                                        <p:cTn id="26" dur="1" fill="hold">
                                          <p:stCondLst>
                                            <p:cond delay="0"/>
                                          </p:stCondLst>
                                        </p:cTn>
                                        <p:tgtEl>
                                          <p:spTgt spid="111"/>
                                        </p:tgtEl>
                                        <p:attrNameLst>
                                          <p:attrName>style.visibility</p:attrName>
                                        </p:attrNameLst>
                                      </p:cBhvr>
                                      <p:to>
                                        <p:strVal val="visible"/>
                                      </p:to>
                                    </p:set>
                                    <p:animEffect transition="in" filter="fade">
                                      <p:cBhvr>
                                        <p:cTn id="27" dur="500"/>
                                        <p:tgtEl>
                                          <p:spTgt spid="1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2"/>
                                        </p:tgtEl>
                                        <p:attrNameLst>
                                          <p:attrName>style.visibility</p:attrName>
                                        </p:attrNameLst>
                                      </p:cBhvr>
                                      <p:to>
                                        <p:strVal val="visible"/>
                                      </p:to>
                                    </p:set>
                                    <p:animEffect transition="in" filter="fade">
                                      <p:cBhvr>
                                        <p:cTn id="3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There need not be a grand model</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Frame"/>
          <p:cNvSpPr txBox="1"/>
          <p:nvPr/>
        </p:nvSpPr>
        <p:spPr>
          <a:xfrm>
            <a:off x="685800" y="1188720"/>
            <a:ext cx="7772400" cy="36576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Unification is an engineering tradeoff, not a doctrine in either direction.</a:t>
            </a:r>
          </a:p>
        </p:txBody>
      </p:sp>
      <p:sp>
        <p:nvSpPr>
          <p:cNvPr id="102" name="PL0"/>
          <p:cNvSpPr/>
          <p:nvPr/>
        </p:nvSpPr>
        <p:spPr>
          <a:xfrm>
            <a:off x="365760" y="1965960"/>
            <a:ext cx="2377440" cy="7315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ONE UNIFIED MODEL</a:t>
            </a:r>
          </a:p>
        </p:txBody>
      </p:sp>
      <p:cxnSp>
        <p:nvCxnSpPr>
          <p:cNvPr id="103" name="SB0"/>
          <p:cNvCxnSpPr/>
          <p:nvPr/>
        </p:nvCxnSpPr>
        <p:spPr>
          <a:xfrm>
            <a:off x="2834640" y="2331720"/>
            <a:ext cx="3474720" cy="0"/>
          </a:xfrm>
          <a:prstGeom prst="straightConnector1">
            <a:avLst/>
          </a:prstGeom>
          <a:ln w="28575">
            <a:solidFill>
              <a:srgbClr val="C9B991"/>
            </a:solidFill>
            <a:headEnd type="triangle" w="med" len="med"/>
            <a:tailEnd type="triangle" w="med" len="med"/>
          </a:ln>
        </p:spPr>
      </p:cxnSp>
      <p:sp>
        <p:nvSpPr>
          <p:cNvPr id="104" name="SBL"/>
          <p:cNvSpPr txBox="1"/>
          <p:nvPr/>
        </p:nvSpPr>
        <p:spPr>
          <a:xfrm>
            <a:off x="2834640" y="1965960"/>
            <a:ext cx="347472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where on this spectrum? an engineering choice</a:t>
            </a:r>
          </a:p>
        </p:txBody>
      </p:sp>
      <p:sp>
        <p:nvSpPr>
          <p:cNvPr id="105" name="PR0"/>
          <p:cNvSpPr/>
          <p:nvPr/>
        </p:nvSpPr>
        <p:spPr>
          <a:xfrm>
            <a:off x="6400800" y="1965960"/>
            <a:ext cx="2377440" cy="731520"/>
          </a:xfrm>
          <a:prstGeom prst="rect">
            <a:avLst/>
          </a:prstGeom>
          <a:solidFill>
            <a:srgbClr val="F5F1E8"/>
          </a:solidFill>
          <a:ln w="12700">
            <a:solidFill>
              <a:srgbClr val="C9B991"/>
            </a:solidFill>
          </a:ln>
        </p:spPr>
        <p:txBody>
          <a:bodyPr wrap="square" lIns="27432" tIns="22860" rIns="27432" bIns="22860" anchor="ctr"/>
          <a:lstStyle/>
          <a:p>
            <a:pPr algn="ctr">
              <a:spcAft>
                <a:spcPts val="100"/>
              </a:spcAft>
              <a:buNone/>
            </a:pPr>
            <a:r>
              <a:rPr lang="en-US" sz="1400" b="1" dirty="0">
                <a:solidFill>
                  <a:srgbClr val="5C4826"/>
                </a:solidFill>
              </a:rPr>
              <a:t>PURPOSEFUL REDUCTIONS</a:t>
            </a:r>
          </a:p>
          <a:p>
            <a:pPr algn="ctr">
              <a:spcAft>
                <a:spcPts val="0"/>
              </a:spcAft>
              <a:buNone/>
            </a:pPr>
            <a:r>
              <a:rPr lang="en-US" sz="1400" b="1" dirty="0">
                <a:solidFill>
                  <a:srgbClr val="5C4826"/>
                </a:solidFill>
              </a:rPr>
              <a:t>+ JOINS</a:t>
            </a:r>
          </a:p>
        </p:txBody>
      </p:sp>
      <p:sp>
        <p:nvSpPr>
          <p:cNvPr id="106" name="StkL"/>
          <p:cNvSpPr txBox="1"/>
          <p:nvPr/>
        </p:nvSpPr>
        <p:spPr>
          <a:xfrm>
            <a:off x="365760" y="2971800"/>
            <a:ext cx="3931920" cy="1600200"/>
          </a:xfrm>
          <a:prstGeom prst="rect">
            <a:avLst/>
          </a:prstGeom>
          <a:noFill/>
          <a:ln>
            <a:noFill/>
          </a:ln>
        </p:spPr>
        <p:txBody>
          <a:bodyPr wrap="square" lIns="18288" tIns="18288" rIns="18288" bIns="18288" anchor="t"/>
          <a:lstStyle/>
          <a:p>
            <a:pPr algn="l">
              <a:spcAft>
                <a:spcPts val="600"/>
              </a:spcAft>
              <a:buNone/>
            </a:pPr>
            <a:r>
              <a:rPr lang="en-US" sz="1600" b="0" dirty="0">
                <a:solidFill>
                  <a:srgbClr val="555960"/>
                </a:solidFill>
              </a:rPr>
              <a:t>+  cross-cutting questions are easier to state and analyze</a:t>
            </a:r>
          </a:p>
          <a:p>
            <a:pPr algn="l">
              <a:spcAft>
                <a:spcPts val="0"/>
              </a:spcAft>
              <a:buNone/>
            </a:pPr>
            <a:r>
              <a:rPr lang="en-US" sz="1600" b="0" dirty="0">
                <a:solidFill>
                  <a:srgbClr val="555960"/>
                </a:solidFill>
              </a:rPr>
              <a:t>−  one larger artifact: all of its semantics and correspondences maintained together</a:t>
            </a:r>
          </a:p>
        </p:txBody>
      </p:sp>
      <p:sp>
        <p:nvSpPr>
          <p:cNvPr id="107" name="StkR"/>
          <p:cNvSpPr txBox="1"/>
          <p:nvPr/>
        </p:nvSpPr>
        <p:spPr>
          <a:xfrm>
            <a:off x="4846320" y="2971800"/>
            <a:ext cx="3931920" cy="1600200"/>
          </a:xfrm>
          <a:prstGeom prst="rect">
            <a:avLst/>
          </a:prstGeom>
          <a:noFill/>
          <a:ln>
            <a:noFill/>
          </a:ln>
        </p:spPr>
        <p:txBody>
          <a:bodyPr wrap="square" lIns="18288" tIns="18288" rIns="18288" bIns="18288" anchor="t"/>
          <a:lstStyle/>
          <a:p>
            <a:pPr algn="l">
              <a:spcAft>
                <a:spcPts val="600"/>
              </a:spcAft>
              <a:buNone/>
            </a:pPr>
            <a:r>
              <a:rPr lang="en-US" sz="1600" b="0" dirty="0">
                <a:solidFill>
                  <a:srgbClr val="555960"/>
                </a:solidFill>
              </a:rPr>
              <a:t>+  local parsimony: each model stays small and purposeful</a:t>
            </a:r>
          </a:p>
          <a:p>
            <a:pPr algn="l">
              <a:spcAft>
                <a:spcPts val="0"/>
              </a:spcAft>
              <a:buNone/>
            </a:pPr>
            <a:r>
              <a:rPr lang="en-US" sz="1600" b="0" dirty="0">
                <a:solidFill>
                  <a:srgbClr val="555960"/>
                </a:solidFill>
              </a:rPr>
              <a:t>−  the joins must themselves be dependable: semantics, identity, correspondence</a:t>
            </a:r>
          </a:p>
        </p:txBody>
      </p:sp>
      <p:sp>
        <p:nvSpPr>
          <p:cNvPr id="108" name="Ital"/>
          <p:cNvSpPr txBox="1"/>
          <p:nvPr/>
        </p:nvSpPr>
        <p:spPr>
          <a:xfrm>
            <a:off x="685800" y="4709160"/>
            <a:ext cx="7772400" cy="41148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What tips it: how often cross-cutting questions recur, and who pays the semantic and correspondence burden.</a:t>
            </a:r>
          </a:p>
        </p:txBody>
      </p:sp>
      <p:sp>
        <p:nvSpPr>
          <p:cNvPr id="10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Both poles are legitimate.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much to unify is itself a modeling decision</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Prose"/>
          <p:cNvSpPr txBox="1"/>
          <p:nvPr/>
        </p:nvSpPr>
        <p:spPr>
          <a:xfrm>
            <a:off x="685800" y="1188720"/>
            <a:ext cx="7772400" cy="1188720"/>
          </a:xfrm>
          <a:prstGeom prst="rect">
            <a:avLst/>
          </a:prstGeom>
          <a:noFill/>
          <a:ln>
            <a:noFill/>
          </a:ln>
        </p:spPr>
        <p:txBody>
          <a:bodyPr wrap="square" lIns="0" tIns="0" rIns="0" bIns="0" anchor="t"/>
          <a:lstStyle/>
          <a:p>
            <a:pPr algn="ctr">
              <a:spcAft>
                <a:spcPts val="800"/>
              </a:spcAft>
              <a:buNone/>
            </a:pPr>
            <a:r>
              <a:rPr lang="en-US" sz="1800" b="0" dirty="0">
                <a:solidFill>
                  <a:srgbClr val="555960"/>
                </a:solidFill>
              </a:rPr>
              <a:t>The spectrum position is chosen per question-family, not once for the system.</a:t>
            </a:r>
          </a:p>
          <a:p>
            <a:pPr algn="ctr">
              <a:spcAft>
                <a:spcPts val="0"/>
              </a:spcAft>
              <a:buNone/>
            </a:pPr>
            <a:r>
              <a:rPr lang="en-US" sz="1800" b="0" dirty="0">
                <a:solidFill>
                  <a:srgbClr val="555960"/>
                </a:solidFill>
              </a:rPr>
              <a:t>Purposeful reduction applies recursively: the model ecosystem is itself a territory.</a:t>
            </a:r>
          </a:p>
        </p:txBody>
      </p:sp>
      <p:sp>
        <p:nvSpPr>
          <p:cNvPr id="102" name="MPL"/>
          <p:cNvSpPr/>
          <p:nvPr/>
        </p:nvSpPr>
        <p:spPr>
          <a:xfrm>
            <a:off x="1600200" y="2606040"/>
            <a:ext cx="1600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unified</a:t>
            </a:r>
          </a:p>
        </p:txBody>
      </p:sp>
      <p:cxnSp>
        <p:nvCxnSpPr>
          <p:cNvPr id="103" name="MSB"/>
          <p:cNvCxnSpPr/>
          <p:nvPr/>
        </p:nvCxnSpPr>
        <p:spPr>
          <a:xfrm>
            <a:off x="3291840" y="2811780"/>
            <a:ext cx="2560320" cy="0"/>
          </a:xfrm>
          <a:prstGeom prst="straightConnector1">
            <a:avLst/>
          </a:prstGeom>
          <a:ln w="28575">
            <a:solidFill>
              <a:srgbClr val="C9B991"/>
            </a:solidFill>
            <a:headEnd type="triangle" w="med" len="med"/>
            <a:tailEnd type="triangle" w="med" len="med"/>
          </a:ln>
        </p:spPr>
      </p:cxnSp>
      <p:sp>
        <p:nvSpPr>
          <p:cNvPr id="104" name="MK0"/>
          <p:cNvSpPr/>
          <p:nvPr/>
        </p:nvSpPr>
        <p:spPr>
          <a:xfrm rot="10800000">
            <a:off x="4297680" y="2628900"/>
            <a:ext cx="182880" cy="182880"/>
          </a:xfrm>
          <a:prstGeom prst="triangle">
            <a:avLst/>
          </a:prstGeom>
          <a:solidFill>
            <a:srgbClr val="8E6F3E"/>
          </a:solidFill>
          <a:ln>
            <a:noFill/>
          </a:ln>
        </p:spPr>
        <p:txBody>
          <a:bodyPr wrap="square" lIns="27432" tIns="22860" rIns="27432" bIns="22860" anchor="ctr"/>
          <a:lstStyle/>
          <a:p>
            <a:endParaRPr lang="en-US"/>
          </a:p>
        </p:txBody>
      </p:sp>
      <p:sp>
        <p:nvSpPr>
          <p:cNvPr id="105" name="MKL"/>
          <p:cNvSpPr txBox="1"/>
          <p:nvPr/>
        </p:nvSpPr>
        <p:spPr>
          <a:xfrm>
            <a:off x="3291840" y="2148840"/>
            <a:ext cx="256032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chosen per question-family</a:t>
            </a:r>
          </a:p>
        </p:txBody>
      </p:sp>
      <p:sp>
        <p:nvSpPr>
          <p:cNvPr id="106" name="MPR"/>
          <p:cNvSpPr/>
          <p:nvPr/>
        </p:nvSpPr>
        <p:spPr>
          <a:xfrm>
            <a:off x="5943600" y="2606040"/>
            <a:ext cx="1600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reductions + joins</a:t>
            </a:r>
          </a:p>
        </p:txBody>
      </p:sp>
      <p:sp>
        <p:nvSpPr>
          <p:cNvPr id="107" name="AskQ"/>
          <p:cNvSpPr txBox="1"/>
          <p:nvPr/>
        </p:nvSpPr>
        <p:spPr>
          <a:xfrm>
            <a:off x="685800" y="3383280"/>
            <a:ext cx="7772400" cy="411480"/>
          </a:xfrm>
          <a:prstGeom prst="rect">
            <a:avLst/>
          </a:prstGeom>
          <a:noFill/>
          <a:ln>
            <a:noFill/>
          </a:ln>
        </p:spPr>
        <p:txBody>
          <a:bodyPr wrap="square" lIns="0" tIns="0" rIns="0" bIns="0" anchor="t"/>
          <a:lstStyle/>
          <a:p>
            <a:pPr algn="ctr">
              <a:spcAft>
                <a:spcPts val="0"/>
              </a:spcAft>
              <a:buNone/>
            </a:pPr>
            <a:r>
              <a:rPr lang="en-US" sz="2000" b="1" dirty="0">
                <a:solidFill>
                  <a:srgbClr val="5C4826"/>
                </a:solidFill>
              </a:rPr>
              <a:t>What must this joined view preserve? What may stay separate?</a:t>
            </a:r>
          </a:p>
        </p:txBody>
      </p:sp>
      <p:sp>
        <p:nvSpPr>
          <p:cNvPr id="108" name="E0"/>
          <p:cNvSpPr/>
          <p:nvPr/>
        </p:nvSpPr>
        <p:spPr>
          <a:xfrm>
            <a:off x="278892" y="4160520"/>
            <a:ext cx="1920240" cy="5029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ENGINEERING QUESTION</a:t>
            </a:r>
          </a:p>
        </p:txBody>
      </p:sp>
      <p:cxnSp>
        <p:nvCxnSpPr>
          <p:cNvPr id="109" name="EA0"/>
          <p:cNvCxnSpPr/>
          <p:nvPr/>
        </p:nvCxnSpPr>
        <p:spPr>
          <a:xfrm>
            <a:off x="2208276" y="4411980"/>
            <a:ext cx="274320" cy="0"/>
          </a:xfrm>
          <a:prstGeom prst="straightConnector1">
            <a:avLst/>
          </a:prstGeom>
          <a:ln w="19050">
            <a:solidFill>
              <a:srgbClr val="C9B991"/>
            </a:solidFill>
            <a:tailEnd type="triangle" w="med" len="med"/>
          </a:ln>
        </p:spPr>
      </p:cxnSp>
      <p:sp>
        <p:nvSpPr>
          <p:cNvPr id="110" name="E1"/>
          <p:cNvSpPr/>
          <p:nvPr/>
        </p:nvSpPr>
        <p:spPr>
          <a:xfrm>
            <a:off x="2500884" y="4160520"/>
            <a:ext cx="1920240" cy="5029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MODEL</a:t>
            </a:r>
          </a:p>
        </p:txBody>
      </p:sp>
      <p:cxnSp>
        <p:nvCxnSpPr>
          <p:cNvPr id="111" name="EA1"/>
          <p:cNvCxnSpPr/>
          <p:nvPr/>
        </p:nvCxnSpPr>
        <p:spPr>
          <a:xfrm>
            <a:off x="4430268" y="4411980"/>
            <a:ext cx="274320" cy="0"/>
          </a:xfrm>
          <a:prstGeom prst="straightConnector1">
            <a:avLst/>
          </a:prstGeom>
          <a:ln w="19050">
            <a:solidFill>
              <a:srgbClr val="C9B991"/>
            </a:solidFill>
            <a:tailEnd type="triangle" w="med" len="med"/>
          </a:ln>
        </p:spPr>
      </p:cxnSp>
      <p:sp>
        <p:nvSpPr>
          <p:cNvPr id="112" name="E2"/>
          <p:cNvSpPr/>
          <p:nvPr/>
        </p:nvSpPr>
        <p:spPr>
          <a:xfrm>
            <a:off x="4722876" y="4160520"/>
            <a:ext cx="1920240" cy="5029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PROPERTY</a:t>
            </a:r>
          </a:p>
        </p:txBody>
      </p:sp>
      <p:cxnSp>
        <p:nvCxnSpPr>
          <p:cNvPr id="113" name="EA2"/>
          <p:cNvCxnSpPr/>
          <p:nvPr/>
        </p:nvCxnSpPr>
        <p:spPr>
          <a:xfrm>
            <a:off x="6652260" y="4411980"/>
            <a:ext cx="274320" cy="0"/>
          </a:xfrm>
          <a:prstGeom prst="straightConnector1">
            <a:avLst/>
          </a:prstGeom>
          <a:ln w="19050">
            <a:solidFill>
              <a:srgbClr val="C9B991"/>
            </a:solidFill>
            <a:tailEnd type="triangle" w="med" len="med"/>
          </a:ln>
        </p:spPr>
      </p:cxnSp>
      <p:sp>
        <p:nvSpPr>
          <p:cNvPr id="114" name="E3"/>
          <p:cNvSpPr/>
          <p:nvPr/>
        </p:nvSpPr>
        <p:spPr>
          <a:xfrm>
            <a:off x="6944868" y="4160520"/>
            <a:ext cx="1920240" cy="50292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QUALITY</a:t>
            </a:r>
          </a:p>
        </p:txBody>
      </p:sp>
      <p:sp>
        <p:nvSpPr>
          <p:cNvPr id="115" name="Ital"/>
          <p:cNvSpPr txBox="1"/>
          <p:nvPr/>
        </p:nvSpPr>
        <p:spPr>
          <a:xfrm>
            <a:off x="685800" y="4800600"/>
            <a:ext cx="7772400" cy="32004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the same discipline — now asked of the ecosystem</a:t>
            </a:r>
          </a:p>
        </p:txBody>
      </p:sp>
      <p:sp>
        <p:nvSpPr>
          <p:cNvPr id="116"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You are about to make exactly this judgment.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Activity: Join — what follows?</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KickerBadge"/>
          <p:cNvSpPr/>
          <p:nvPr/>
        </p:nvSpPr>
        <p:spPr>
          <a:xfrm>
            <a:off x="5620000" y="205000"/>
            <a:ext cx="3249680" cy="470000"/>
          </a:xfrm>
          <a:prstGeom prst="roundRect">
            <a:avLst/>
          </a:prstGeom>
          <a:solidFill>
            <a:srgbClr val="FBF8F2"/>
          </a:solidFill>
          <a:ln w="15875">
            <a:solidFill>
              <a:srgbClr val="8E6F3E"/>
            </a:solidFill>
          </a:ln>
        </p:spPr>
        <p:txBody>
          <a:bodyPr wrap="square" lIns="91440" tIns="27432" rIns="91440" bIns="27432" anchor="ctr"/>
          <a:lstStyle/>
          <a:p>
            <a:pPr algn="ctr">
              <a:spcAft>
                <a:spcPts val="0"/>
              </a:spcAft>
              <a:buNone/>
            </a:pPr>
            <a:r>
              <a:rPr lang="en-US" sz="1800" b="1" dirty="0">
                <a:solidFill>
                  <a:srgbClr val="8E6F3E"/>
                </a:solidFill>
              </a:rPr>
              <a:t>TEAM ACTIVITY  ·  6 MINUTES</a:t>
            </a:r>
          </a:p>
        </p:txBody>
      </p:sp>
      <p:sp>
        <p:nvSpPr>
          <p:cNvPr id="102" name="Intro"/>
          <p:cNvSpPr txBox="1"/>
          <p:nvPr/>
        </p:nvSpPr>
        <p:spPr>
          <a:xfrm>
            <a:off x="365760" y="932688"/>
            <a:ext cx="8412480" cy="411480"/>
          </a:xfrm>
          <a:prstGeom prst="rect">
            <a:avLst/>
          </a:prstGeom>
          <a:noFill/>
          <a:ln>
            <a:noFill/>
          </a:ln>
        </p:spPr>
        <p:txBody>
          <a:bodyPr wrap="square" lIns="18288" tIns="18288" rIns="18288" bIns="18288" anchor="t"/>
          <a:lstStyle/>
          <a:p>
            <a:pPr algn="l">
              <a:spcAft>
                <a:spcPts val="0"/>
              </a:spcAft>
              <a:buNone/>
            </a:pPr>
            <a:r>
              <a:rPr lang="en-US" sz="1800" b="0" dirty="0">
                <a:solidFill>
                  <a:srgbClr val="555960"/>
                </a:solidFill>
              </a:rPr>
              <a:t>Join the two models by service identity. What new engineering claims can you make?</a:t>
            </a:r>
          </a:p>
        </p:txBody>
      </p:sp>
      <p:sp>
        <p:nvSpPr>
          <p:cNvPr id="103" name="LblA"/>
          <p:cNvSpPr txBox="1"/>
          <p:nvPr/>
        </p:nvSpPr>
        <p:spPr>
          <a:xfrm>
            <a:off x="365760" y="1508760"/>
            <a:ext cx="2971800" cy="365760"/>
          </a:xfrm>
          <a:prstGeom prst="rect">
            <a:avLst/>
          </a:prstGeom>
          <a:noFill/>
          <a:ln>
            <a:noFill/>
          </a:ln>
        </p:spPr>
        <p:txBody>
          <a:bodyPr wrap="square" lIns="18288" tIns="18288" rIns="18288" bIns="18288" anchor="ctr"/>
          <a:lstStyle/>
          <a:p>
            <a:pPr algn="l">
              <a:spcAft>
                <a:spcPts val="0"/>
              </a:spcAft>
              <a:buNone/>
            </a:pPr>
            <a:r>
              <a:rPr lang="en-US" sz="1400" b="1" dirty="0">
                <a:solidFill>
                  <a:srgbClr val="8E6F3E"/>
                </a:solidFill>
              </a:rPr>
              <a:t>MODEL A — SERVICE DEPENDENCIES</a:t>
            </a:r>
          </a:p>
        </p:txBody>
      </p:sp>
      <p:sp>
        <p:nvSpPr>
          <p:cNvPr id="104" name="CardA"/>
          <p:cNvSpPr/>
          <p:nvPr/>
        </p:nvSpPr>
        <p:spPr>
          <a:xfrm>
            <a:off x="365760" y="1920240"/>
            <a:ext cx="2971800" cy="3383280"/>
          </a:xfrm>
          <a:prstGeom prst="rect">
            <a:avLst/>
          </a:prstGeom>
          <a:solidFill>
            <a:srgbClr val="F5F1E8"/>
          </a:solidFill>
          <a:ln w="12700">
            <a:solidFill>
              <a:srgbClr val="C9B991"/>
            </a:solidFill>
          </a:ln>
        </p:spPr>
        <p:txBody>
          <a:bodyPr wrap="square" lIns="27432" tIns="22860" rIns="27432" bIns="22860" anchor="ctr"/>
          <a:lstStyle/>
          <a:p>
            <a:endParaRPr lang="en-US"/>
          </a:p>
        </p:txBody>
      </p:sp>
      <p:sp>
        <p:nvSpPr>
          <p:cNvPr id="105" name="CN0"/>
          <p:cNvSpPr/>
          <p:nvPr/>
        </p:nvSpPr>
        <p:spPr>
          <a:xfrm>
            <a:off x="594360" y="2057400"/>
            <a:ext cx="210312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Document API</a:t>
            </a:r>
          </a:p>
        </p:txBody>
      </p:sp>
      <p:sp>
        <p:nvSpPr>
          <p:cNvPr id="106" name="CN1"/>
          <p:cNvSpPr/>
          <p:nvPr/>
        </p:nvSpPr>
        <p:spPr>
          <a:xfrm>
            <a:off x="594360" y="2971800"/>
            <a:ext cx="210312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Remediation Service</a:t>
            </a:r>
          </a:p>
        </p:txBody>
      </p:sp>
      <p:sp>
        <p:nvSpPr>
          <p:cNvPr id="107" name="CN2"/>
          <p:cNvSpPr/>
          <p:nvPr/>
        </p:nvSpPr>
        <p:spPr>
          <a:xfrm>
            <a:off x="594360" y="3886200"/>
            <a:ext cx="210312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Model Gateway</a:t>
            </a:r>
          </a:p>
        </p:txBody>
      </p:sp>
      <p:cxnSp>
        <p:nvCxnSpPr>
          <p:cNvPr id="108" name="AA0"/>
          <p:cNvCxnSpPr/>
          <p:nvPr/>
        </p:nvCxnSpPr>
        <p:spPr>
          <a:xfrm>
            <a:off x="1645920" y="2514600"/>
            <a:ext cx="0" cy="457200"/>
          </a:xfrm>
          <a:prstGeom prst="straightConnector1">
            <a:avLst/>
          </a:prstGeom>
          <a:ln w="19050">
            <a:solidFill>
              <a:srgbClr val="8E6F3E"/>
            </a:solidFill>
            <a:tailEnd type="triangle" w="med" len="med"/>
          </a:ln>
        </p:spPr>
      </p:cxnSp>
      <p:sp>
        <p:nvSpPr>
          <p:cNvPr id="109" name="AL0"/>
          <p:cNvSpPr txBox="1"/>
          <p:nvPr/>
        </p:nvSpPr>
        <p:spPr>
          <a:xfrm>
            <a:off x="1737360" y="2606040"/>
            <a:ext cx="118872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may invoke</a:t>
            </a:r>
          </a:p>
        </p:txBody>
      </p:sp>
      <p:cxnSp>
        <p:nvCxnSpPr>
          <p:cNvPr id="110" name="AA1"/>
          <p:cNvCxnSpPr/>
          <p:nvPr/>
        </p:nvCxnSpPr>
        <p:spPr>
          <a:xfrm>
            <a:off x="1645920" y="3429000"/>
            <a:ext cx="0" cy="457200"/>
          </a:xfrm>
          <a:prstGeom prst="straightConnector1">
            <a:avLst/>
          </a:prstGeom>
          <a:ln w="19050">
            <a:solidFill>
              <a:srgbClr val="8E6F3E"/>
            </a:solidFill>
            <a:tailEnd type="triangle" w="med" len="med"/>
          </a:ln>
        </p:spPr>
      </p:cxnSp>
      <p:sp>
        <p:nvSpPr>
          <p:cNvPr id="111" name="AL1"/>
          <p:cNvSpPr txBox="1"/>
          <p:nvPr/>
        </p:nvSpPr>
        <p:spPr>
          <a:xfrm>
            <a:off x="1737360" y="3520440"/>
            <a:ext cx="118872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may invoke</a:t>
            </a:r>
          </a:p>
        </p:txBody>
      </p:sp>
      <p:sp>
        <p:nvSpPr>
          <p:cNvPr id="112" name="ASem"/>
          <p:cNvSpPr txBox="1"/>
          <p:nvPr/>
        </p:nvSpPr>
        <p:spPr>
          <a:xfrm>
            <a:off x="502920" y="4480560"/>
            <a:ext cx="2697480" cy="685800"/>
          </a:xfrm>
          <a:prstGeom prst="rect">
            <a:avLst/>
          </a:prstGeom>
          <a:noFill/>
          <a:ln>
            <a:noFill/>
          </a:ln>
        </p:spPr>
        <p:txBody>
          <a:bodyPr wrap="square" lIns="18288" tIns="18288" rIns="18288" bIns="18288" anchor="t"/>
          <a:lstStyle/>
          <a:p>
            <a:pPr algn="ctr">
              <a:spcAft>
                <a:spcPts val="0"/>
              </a:spcAft>
              <a:buNone/>
            </a:pPr>
            <a:r>
              <a:rPr lang="en-US" sz="1300" b="0" i="1" dirty="0">
                <a:solidFill>
                  <a:srgbClr val="5C4826"/>
                </a:solidFill>
              </a:rPr>
              <a:t>A → B means: A may invoke B.</a:t>
            </a:r>
          </a:p>
        </p:txBody>
      </p:sp>
      <p:sp>
        <p:nvSpPr>
          <p:cNvPr id="113" name="LblB"/>
          <p:cNvSpPr txBox="1"/>
          <p:nvPr/>
        </p:nvSpPr>
        <p:spPr>
          <a:xfrm>
            <a:off x="3520440" y="1508760"/>
            <a:ext cx="2926080" cy="365760"/>
          </a:xfrm>
          <a:prstGeom prst="rect">
            <a:avLst/>
          </a:prstGeom>
          <a:noFill/>
          <a:ln>
            <a:noFill/>
          </a:ln>
        </p:spPr>
        <p:txBody>
          <a:bodyPr wrap="square" lIns="18288" tIns="18288" rIns="18288" bIns="18288" anchor="ctr"/>
          <a:lstStyle/>
          <a:p>
            <a:pPr algn="l">
              <a:spcAft>
                <a:spcPts val="0"/>
              </a:spcAft>
              <a:buNone/>
            </a:pPr>
            <a:r>
              <a:rPr lang="en-US" sz="1400" b="1" dirty="0">
                <a:solidFill>
                  <a:srgbClr val="8E6F3E"/>
                </a:solidFill>
              </a:rPr>
              <a:t>MODEL B — DATA CLASSIFICATION</a:t>
            </a:r>
          </a:p>
        </p:txBody>
      </p:sp>
      <p:sp>
        <p:nvSpPr>
          <p:cNvPr id="114" name="CardB"/>
          <p:cNvSpPr/>
          <p:nvPr/>
        </p:nvSpPr>
        <p:spPr>
          <a:xfrm>
            <a:off x="3520440" y="1920240"/>
            <a:ext cx="2926080" cy="3383280"/>
          </a:xfrm>
          <a:prstGeom prst="rect">
            <a:avLst/>
          </a:prstGeom>
          <a:solidFill>
            <a:srgbClr val="F5F1E8"/>
          </a:solidFill>
          <a:ln w="12700">
            <a:solidFill>
              <a:srgbClr val="C9B991"/>
            </a:solidFill>
          </a:ln>
        </p:spPr>
        <p:txBody>
          <a:bodyPr wrap="square" lIns="27432" tIns="22860" rIns="27432" bIns="22860" anchor="ctr"/>
          <a:lstStyle/>
          <a:p>
            <a:endParaRPr lang="en-US"/>
          </a:p>
        </p:txBody>
      </p:sp>
      <p:sp>
        <p:nvSpPr>
          <p:cNvPr id="115" name="BR0"/>
          <p:cNvSpPr/>
          <p:nvPr/>
        </p:nvSpPr>
        <p:spPr>
          <a:xfrm>
            <a:off x="3703320" y="2057400"/>
            <a:ext cx="2560320" cy="64008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400" b="1" dirty="0">
                <a:solidFill>
                  <a:srgbClr val="5C4826"/>
                </a:solidFill>
              </a:rPr>
              <a:t>Document API</a:t>
            </a:r>
          </a:p>
          <a:p>
            <a:pPr algn="ctr">
              <a:spcAft>
                <a:spcPts val="0"/>
              </a:spcAft>
              <a:buNone/>
            </a:pPr>
            <a:r>
              <a:rPr lang="en-US" sz="1300" b="0" dirty="0">
                <a:solidFill>
                  <a:srgbClr val="555960"/>
                </a:solidFill>
              </a:rPr>
              <a:t>RESTRICTED</a:t>
            </a:r>
          </a:p>
        </p:txBody>
      </p:sp>
      <p:sp>
        <p:nvSpPr>
          <p:cNvPr id="116" name="BR1"/>
          <p:cNvSpPr/>
          <p:nvPr/>
        </p:nvSpPr>
        <p:spPr>
          <a:xfrm>
            <a:off x="3703320" y="2971800"/>
            <a:ext cx="2560320" cy="64008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400" b="1" dirty="0">
                <a:solidFill>
                  <a:srgbClr val="5C4826"/>
                </a:solidFill>
              </a:rPr>
              <a:t>Remediation Service</a:t>
            </a:r>
          </a:p>
          <a:p>
            <a:pPr algn="ctr">
              <a:spcAft>
                <a:spcPts val="0"/>
              </a:spcAft>
              <a:buNone/>
            </a:pPr>
            <a:r>
              <a:rPr lang="en-US" sz="1300" b="0" dirty="0">
                <a:solidFill>
                  <a:srgbClr val="555960"/>
                </a:solidFill>
              </a:rPr>
              <a:t>RESTRICTED</a:t>
            </a:r>
          </a:p>
        </p:txBody>
      </p:sp>
      <p:sp>
        <p:nvSpPr>
          <p:cNvPr id="117" name="BR2"/>
          <p:cNvSpPr/>
          <p:nvPr/>
        </p:nvSpPr>
        <p:spPr>
          <a:xfrm>
            <a:off x="3703320" y="3886200"/>
            <a:ext cx="2560320" cy="64008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400" b="1" dirty="0">
                <a:solidFill>
                  <a:srgbClr val="5C4826"/>
                </a:solidFill>
              </a:rPr>
              <a:t>Model Gateway</a:t>
            </a:r>
          </a:p>
          <a:p>
            <a:pPr algn="ctr">
              <a:spcAft>
                <a:spcPts val="0"/>
              </a:spcAft>
              <a:buNone/>
            </a:pPr>
            <a:r>
              <a:rPr lang="en-US" sz="1300" b="0" dirty="0">
                <a:solidFill>
                  <a:srgbClr val="555960"/>
                </a:solidFill>
              </a:rPr>
              <a:t>PUBLIC only</a:t>
            </a:r>
          </a:p>
        </p:txBody>
      </p:sp>
      <p:sp>
        <p:nvSpPr>
          <p:cNvPr id="118" name="BSem"/>
          <p:cNvSpPr txBox="1"/>
          <p:nvPr/>
        </p:nvSpPr>
        <p:spPr>
          <a:xfrm>
            <a:off x="3657600" y="4480560"/>
            <a:ext cx="2651760" cy="685800"/>
          </a:xfrm>
          <a:prstGeom prst="rect">
            <a:avLst/>
          </a:prstGeom>
          <a:noFill/>
          <a:ln>
            <a:noFill/>
          </a:ln>
        </p:spPr>
        <p:txBody>
          <a:bodyPr wrap="square" lIns="18288" tIns="18288" rIns="18288" bIns="18288" anchor="t"/>
          <a:lstStyle/>
          <a:p>
            <a:pPr algn="ctr">
              <a:spcAft>
                <a:spcPts val="0"/>
              </a:spcAft>
              <a:buNone/>
            </a:pPr>
            <a:r>
              <a:rPr lang="en-US" sz="1300" b="0" i="1" dirty="0">
                <a:solidFill>
                  <a:srgbClr val="5C4826"/>
                </a:solidFill>
              </a:rPr>
              <a:t>each node carries the highest classification of data it may receive.</a:t>
            </a:r>
          </a:p>
        </p:txBody>
      </p:sp>
      <p:sp>
        <p:nvSpPr>
          <p:cNvPr id="119" name="QRPlaceholder"/>
          <p:cNvSpPr/>
          <p:nvPr/>
        </p:nvSpPr>
        <p:spPr>
          <a:xfrm>
            <a:off x="6605016" y="1891094"/>
            <a:ext cx="2264664" cy="2264664"/>
          </a:xfrm>
          <a:prstGeom prst="rect">
            <a:avLst/>
          </a:prstGeom>
          <a:solidFill>
            <a:srgbClr val="FBF8F2"/>
          </a:solidFill>
          <a:ln w="15875">
            <a:solidFill>
              <a:srgbClr val="C9B991"/>
            </a:solidFill>
            <a:prstDash val="dash"/>
          </a:ln>
        </p:spPr>
        <p:txBody>
          <a:bodyPr wrap="square" lIns="91440" tIns="91440" rIns="91440" bIns="91440" anchor="ctr"/>
          <a:lstStyle/>
          <a:p>
            <a:pPr algn="ctr">
              <a:spcAft>
                <a:spcPts val="0"/>
              </a:spcAft>
              <a:buNone/>
            </a:pPr>
            <a:r>
              <a:rPr lang="en-US" sz="1800" b="1" dirty="0">
                <a:solidFill>
                  <a:srgbClr val="8E6F3E"/>
                </a:solidFill>
              </a:rPr>
              <a:t>QR PLACEHOLDER</a:t>
            </a:r>
          </a:p>
          <a:p>
            <a:pPr algn="ctr">
              <a:spcAft>
                <a:spcPts val="0"/>
              </a:spcAft>
              <a:buNone/>
            </a:pPr>
            <a:r>
              <a:rPr lang="en-US" sz="1800" b="0" i="1" dirty="0">
                <a:solidFill>
                  <a:srgbClr val="555960"/>
                </a:solidFill>
              </a:rPr>
              <a:t>form URL pending</a:t>
            </a:r>
          </a:p>
        </p:txBody>
      </p:sp>
      <p:sp>
        <p:nvSpPr>
          <p:cNvPr id="120" name="TextBox 11"/>
          <p:cNvSpPr txBox="1"/>
          <p:nvPr/>
        </p:nvSpPr>
        <p:spPr>
          <a:xfrm>
            <a:off x="6743700" y="4389989"/>
            <a:ext cx="1984248" cy="685800"/>
          </a:xfrm>
          <a:prstGeom prst="rect">
            <a:avLst/>
          </a:prstGeom>
          <a:noFill/>
          <a:ln>
            <a:noFill/>
          </a:ln>
        </p:spPr>
        <p:txBody>
          <a:bodyPr wrap="square" lIns="18288" tIns="18288" rIns="18288" bIns="18288" anchor="t"/>
          <a:lstStyle/>
          <a:p>
            <a:pPr algn="ctr">
              <a:spcAft>
                <a:spcPts val="0"/>
              </a:spcAft>
              <a:buNone/>
            </a:pPr>
            <a:r>
              <a:rPr lang="en-US" sz="1600" b="0" dirty="0">
                <a:solidFill>
                  <a:srgbClr val="555960"/>
                </a:solidFill>
              </a:rPr>
              <a:t>Team response</a:t>
            </a:r>
          </a:p>
          <a:p>
            <a:pPr algn="ctr">
              <a:spcAft>
                <a:spcPts val="0"/>
              </a:spcAft>
              <a:buNone/>
            </a:pPr>
            <a:r>
              <a:rPr lang="en-US" sz="1600" b="0" dirty="0">
                <a:solidFill>
                  <a:srgbClr val="555960"/>
                </a:solidFill>
              </a:rPr>
              <a:t>Google Form</a:t>
            </a:r>
          </a:p>
        </p:txBody>
      </p:sp>
      <p:sp>
        <p:nvSpPr>
          <p:cNvPr id="12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Groups of 2–3. Submit one claim per team, with its evidence.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can you NOT conclude?</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WLbl"/>
          <p:cNvSpPr txBox="1"/>
          <p:nvPr/>
        </p:nvSpPr>
        <p:spPr>
          <a:xfrm>
            <a:off x="365760" y="1188720"/>
            <a:ext cx="2560320" cy="274320"/>
          </a:xfrm>
          <a:prstGeom prst="rect">
            <a:avLst/>
          </a:prstGeom>
          <a:noFill/>
          <a:ln>
            <a:noFill/>
          </a:ln>
        </p:spPr>
        <p:txBody>
          <a:bodyPr wrap="square" lIns="0" tIns="0" rIns="0" bIns="0" anchor="ctr"/>
          <a:lstStyle/>
          <a:p>
            <a:pPr algn="l">
              <a:spcAft>
                <a:spcPts val="0"/>
              </a:spcAft>
              <a:buNone/>
            </a:pPr>
            <a:r>
              <a:rPr lang="en-US" sz="1300" b="1" dirty="0">
                <a:solidFill>
                  <a:srgbClr val="555960"/>
                </a:solidFill>
              </a:rPr>
              <a:t>THE JOINED MODELS</a:t>
            </a:r>
          </a:p>
        </p:txBody>
      </p:sp>
      <p:sp>
        <p:nvSpPr>
          <p:cNvPr id="102" name="CN0"/>
          <p:cNvSpPr/>
          <p:nvPr/>
        </p:nvSpPr>
        <p:spPr>
          <a:xfrm>
            <a:off x="457200" y="150876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Document API</a:t>
            </a:r>
          </a:p>
        </p:txBody>
      </p:sp>
      <p:sp>
        <p:nvSpPr>
          <p:cNvPr id="103" name="CN1"/>
          <p:cNvSpPr/>
          <p:nvPr/>
        </p:nvSpPr>
        <p:spPr>
          <a:xfrm>
            <a:off x="457200" y="233172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Remediation Service</a:t>
            </a:r>
          </a:p>
        </p:txBody>
      </p:sp>
      <p:sp>
        <p:nvSpPr>
          <p:cNvPr id="104" name="CN2"/>
          <p:cNvSpPr/>
          <p:nvPr/>
        </p:nvSpPr>
        <p:spPr>
          <a:xfrm>
            <a:off x="457200" y="352044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Model Gateway</a:t>
            </a:r>
          </a:p>
        </p:txBody>
      </p:sp>
      <p:cxnSp>
        <p:nvCxnSpPr>
          <p:cNvPr id="105" name="WA0"/>
          <p:cNvCxnSpPr/>
          <p:nvPr/>
        </p:nvCxnSpPr>
        <p:spPr>
          <a:xfrm>
            <a:off x="1371600" y="1965960"/>
            <a:ext cx="0" cy="365760"/>
          </a:xfrm>
          <a:prstGeom prst="straightConnector1">
            <a:avLst/>
          </a:prstGeom>
          <a:ln w="19050">
            <a:solidFill>
              <a:srgbClr val="C9B991"/>
            </a:solidFill>
            <a:tailEnd type="triangle" w="med" len="med"/>
          </a:ln>
        </p:spPr>
      </p:cxnSp>
      <p:sp>
        <p:nvSpPr>
          <p:cNvPr id="106" name="WL0"/>
          <p:cNvSpPr txBox="1"/>
          <p:nvPr/>
        </p:nvSpPr>
        <p:spPr>
          <a:xfrm>
            <a:off x="1463040" y="2011680"/>
            <a:ext cx="100584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may invoke</a:t>
            </a:r>
          </a:p>
        </p:txBody>
      </p:sp>
      <p:cxnSp>
        <p:nvCxnSpPr>
          <p:cNvPr id="107" name="WA1"/>
          <p:cNvCxnSpPr/>
          <p:nvPr/>
        </p:nvCxnSpPr>
        <p:spPr>
          <a:xfrm>
            <a:off x="1371600" y="2788920"/>
            <a:ext cx="0" cy="731520"/>
          </a:xfrm>
          <a:prstGeom prst="straightConnector1">
            <a:avLst/>
          </a:prstGeom>
          <a:ln w="38100">
            <a:solidFill>
              <a:srgbClr val="8E6F3E"/>
            </a:solidFill>
            <a:tailEnd type="triangle" w="med" len="med"/>
          </a:ln>
        </p:spPr>
      </p:cxnSp>
      <p:sp>
        <p:nvSpPr>
          <p:cNvPr id="108" name="WL1"/>
          <p:cNvSpPr txBox="1"/>
          <p:nvPr/>
        </p:nvSpPr>
        <p:spPr>
          <a:xfrm>
            <a:off x="1463040" y="2846070"/>
            <a:ext cx="1600200" cy="274320"/>
          </a:xfrm>
          <a:prstGeom prst="rect">
            <a:avLst/>
          </a:prstGeom>
          <a:noFill/>
          <a:ln>
            <a:noFill/>
          </a:ln>
        </p:spPr>
        <p:txBody>
          <a:bodyPr wrap="square" lIns="0" tIns="0" rIns="0" bIns="0" anchor="ctr"/>
          <a:lstStyle/>
          <a:p>
            <a:pPr algn="l">
              <a:spcAft>
                <a:spcPts val="0"/>
              </a:spcAft>
              <a:buNone/>
            </a:pPr>
            <a:r>
              <a:rPr lang="en-US" sz="1600" b="1" dirty="0">
                <a:solidFill>
                  <a:srgbClr val="8E6F3E"/>
                </a:solidFill>
              </a:rPr>
              <a:t>may invoke</a:t>
            </a:r>
          </a:p>
        </p:txBody>
      </p:sp>
      <p:sp>
        <p:nvSpPr>
          <p:cNvPr id="109" name="WL2"/>
          <p:cNvSpPr txBox="1"/>
          <p:nvPr/>
        </p:nvSpPr>
        <p:spPr>
          <a:xfrm>
            <a:off x="1463040" y="3143250"/>
            <a:ext cx="1828800" cy="274320"/>
          </a:xfrm>
          <a:prstGeom prst="rect">
            <a:avLst/>
          </a:prstGeom>
          <a:noFill/>
          <a:ln>
            <a:noFill/>
          </a:ln>
        </p:spPr>
        <p:txBody>
          <a:bodyPr wrap="square" lIns="0" tIns="0" rIns="0" bIns="0" anchor="ctr"/>
          <a:lstStyle/>
          <a:p>
            <a:pPr algn="l">
              <a:spcAft>
                <a:spcPts val="0"/>
              </a:spcAft>
              <a:buNone/>
            </a:pPr>
            <a:r>
              <a:rPr lang="en-US" sz="1300" b="0" strike="sngStrike" dirty="0">
                <a:solidFill>
                  <a:srgbClr val="555960"/>
                </a:solidFill>
              </a:rPr>
              <a:t>passes input unchanged</a:t>
            </a:r>
          </a:p>
        </p:txBody>
      </p:sp>
      <p:sp>
        <p:nvSpPr>
          <p:cNvPr id="110" name="WB0"/>
          <p:cNvSpPr/>
          <p:nvPr/>
        </p:nvSpPr>
        <p:spPr>
          <a:xfrm>
            <a:off x="457200" y="4343400"/>
            <a:ext cx="1828800" cy="64008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300" b="1" dirty="0">
                <a:solidFill>
                  <a:srgbClr val="555960"/>
                </a:solidFill>
              </a:rPr>
              <a:t>MODEL B</a:t>
            </a:r>
          </a:p>
          <a:p>
            <a:pPr algn="ctr">
              <a:spcAft>
                <a:spcPts val="100"/>
              </a:spcAft>
              <a:buNone/>
            </a:pPr>
            <a:r>
              <a:rPr lang="en-US" sz="1300" b="1" dirty="0">
                <a:solidFill>
                  <a:srgbClr val="5C4826"/>
                </a:solidFill>
              </a:rPr>
              <a:t>Model Gateway</a:t>
            </a:r>
          </a:p>
          <a:p>
            <a:pPr algn="ctr">
              <a:spcAft>
                <a:spcPts val="0"/>
              </a:spcAft>
              <a:buNone/>
            </a:pPr>
            <a:r>
              <a:rPr lang="en-US" sz="1300" b="0" dirty="0">
                <a:solidFill>
                  <a:srgbClr val="555960"/>
                </a:solidFill>
              </a:rPr>
              <a:t>PUBLIC only</a:t>
            </a:r>
          </a:p>
        </p:txBody>
      </p:sp>
      <p:sp>
        <p:nvSpPr>
          <p:cNvPr id="111" name="Reveal"/>
          <p:cNvSpPr/>
          <p:nvPr/>
        </p:nvSpPr>
        <p:spPr>
          <a:xfrm>
            <a:off x="3429000" y="1508760"/>
            <a:ext cx="5349240" cy="2469515"/>
          </a:xfrm>
          <a:prstGeom prst="rect">
            <a:avLst/>
          </a:prstGeom>
          <a:solidFill>
            <a:srgbClr val="F5F1E8"/>
          </a:solidFill>
          <a:ln w="12700">
            <a:solidFill>
              <a:srgbClr val="C9B991"/>
            </a:solidFill>
          </a:ln>
        </p:spPr>
        <p:txBody>
          <a:bodyPr wrap="square" lIns="128016" tIns="91440" rIns="118872" bIns="91440" anchor="ctr"/>
          <a:lstStyle/>
          <a:p>
            <a:pPr algn="l">
              <a:spcAft>
                <a:spcPts val="800"/>
              </a:spcAft>
              <a:buNone/>
            </a:pPr>
            <a:r>
              <a:rPr lang="en-US" sz="1800" b="1" dirty="0">
                <a:solidFill>
                  <a:srgbClr val="5C4826"/>
                </a:solidFill>
              </a:rPr>
              <a:t>You cannot conclude that restricted data actually reaches Model Gateway.</a:t>
            </a:r>
          </a:p>
          <a:p>
            <a:pPr algn="l">
              <a:spcAft>
                <a:spcPts val="800"/>
              </a:spcAft>
              <a:buNone/>
            </a:pPr>
            <a:r>
              <a:rPr lang="en-US" sz="1800" b="0" dirty="0">
                <a:solidFill>
                  <a:srgbClr val="5C4826"/>
                </a:solidFill>
              </a:rPr>
              <a:t>“May invoke” is not “passes its input unchanged.”</a:t>
            </a:r>
          </a:p>
          <a:p>
            <a:pPr algn="l">
              <a:spcAft>
                <a:spcPts val="0"/>
              </a:spcAft>
              <a:buNone/>
            </a:pPr>
            <a:r>
              <a:rPr lang="en-US" sz="1800" b="0" dirty="0">
                <a:solidFill>
                  <a:srgbClr val="5C4826"/>
                </a:solidFill>
              </a:rPr>
              <a:t>Perhaps Remediation Service strips content, or sends only metadata.</a:t>
            </a:r>
          </a:p>
        </p:txBody>
      </p:sp>
      <p:sp>
        <p:nvSpPr>
          <p:cNvPr id="112" name="Bound"/>
          <p:cNvSpPr txBox="1"/>
          <p:nvPr/>
        </p:nvSpPr>
        <p:spPr>
          <a:xfrm>
            <a:off x="3429000" y="4160520"/>
            <a:ext cx="5349240" cy="822960"/>
          </a:xfrm>
          <a:prstGeom prst="rect">
            <a:avLst/>
          </a:prstGeom>
          <a:noFill/>
          <a:ln>
            <a:noFill/>
          </a:ln>
        </p:spPr>
        <p:txBody>
          <a:bodyPr wrap="square" lIns="0" tIns="0" rIns="0" bIns="0" anchor="t"/>
          <a:lstStyle/>
          <a:p>
            <a:pPr algn="l">
              <a:spcAft>
                <a:spcPts val="0"/>
              </a:spcAft>
              <a:buNone/>
            </a:pPr>
            <a:r>
              <a:rPr lang="en-US" sz="2000" b="1" dirty="0">
                <a:solidFill>
                  <a:srgbClr val="8E6F3E"/>
                </a:solidFill>
              </a:rPr>
              <a:t>The semantics of the constituent models bound what the join licenses.</a:t>
            </a:r>
          </a:p>
        </p:txBody>
      </p:sp>
      <p:sp>
        <p:nvSpPr>
          <p:cNvPr id="11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A join is not magical completeness.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par>
                                <p:cTn id="8" presetID="10" presetClass="entr" presetSubtype="0" fill="hold" nodeType="withEffect">
                                  <p:stCondLst>
                                    <p:cond delay="0"/>
                                  </p:stCondLst>
                                  <p:childTnLst>
                                    <p:set>
                                      <p:cBhvr>
                                        <p:cTn id="9" dur="1" fill="hold">
                                          <p:stCondLst>
                                            <p:cond delay="0"/>
                                          </p:stCondLst>
                                        </p:cTn>
                                        <p:tgtEl>
                                          <p:spTgt spid="112"/>
                                        </p:tgtEl>
                                        <p:attrNameLst>
                                          <p:attrName>style.visibility</p:attrName>
                                        </p:attrNameLst>
                                      </p:cBhvr>
                                      <p:to>
                                        <p:strVal val="visible"/>
                                      </p:to>
                                    </p:set>
                                    <p:animEffect transition="in" filter="fade">
                                      <p:cBhvr>
                                        <p:cTn id="10"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Second reveal: payload = document content</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WLbl"/>
          <p:cNvSpPr txBox="1"/>
          <p:nvPr/>
        </p:nvSpPr>
        <p:spPr>
          <a:xfrm>
            <a:off x="365760" y="1188720"/>
            <a:ext cx="2560320" cy="274320"/>
          </a:xfrm>
          <a:prstGeom prst="rect">
            <a:avLst/>
          </a:prstGeom>
          <a:noFill/>
          <a:ln>
            <a:noFill/>
          </a:ln>
        </p:spPr>
        <p:txBody>
          <a:bodyPr wrap="square" lIns="0" tIns="0" rIns="0" bIns="0" anchor="ctr"/>
          <a:lstStyle/>
          <a:p>
            <a:pPr algn="l">
              <a:spcAft>
                <a:spcPts val="0"/>
              </a:spcAft>
              <a:buNone/>
            </a:pPr>
            <a:r>
              <a:rPr lang="en-US" sz="1300" b="1" dirty="0">
                <a:solidFill>
                  <a:srgbClr val="555960"/>
                </a:solidFill>
              </a:rPr>
              <a:t>THE JOINED MODELS</a:t>
            </a:r>
          </a:p>
        </p:txBody>
      </p:sp>
      <p:sp>
        <p:nvSpPr>
          <p:cNvPr id="102" name="CN0"/>
          <p:cNvSpPr/>
          <p:nvPr/>
        </p:nvSpPr>
        <p:spPr>
          <a:xfrm>
            <a:off x="457200" y="150876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Document API</a:t>
            </a:r>
          </a:p>
        </p:txBody>
      </p:sp>
      <p:sp>
        <p:nvSpPr>
          <p:cNvPr id="103" name="CN1"/>
          <p:cNvSpPr/>
          <p:nvPr/>
        </p:nvSpPr>
        <p:spPr>
          <a:xfrm>
            <a:off x="457200" y="233172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Remediation Service</a:t>
            </a:r>
          </a:p>
        </p:txBody>
      </p:sp>
      <p:sp>
        <p:nvSpPr>
          <p:cNvPr id="104" name="CN2"/>
          <p:cNvSpPr/>
          <p:nvPr/>
        </p:nvSpPr>
        <p:spPr>
          <a:xfrm>
            <a:off x="457200" y="3520440"/>
            <a:ext cx="1828800" cy="4572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Model Gateway</a:t>
            </a:r>
          </a:p>
        </p:txBody>
      </p:sp>
      <p:cxnSp>
        <p:nvCxnSpPr>
          <p:cNvPr id="105" name="WA0"/>
          <p:cNvCxnSpPr/>
          <p:nvPr/>
        </p:nvCxnSpPr>
        <p:spPr>
          <a:xfrm>
            <a:off x="1371600" y="1965960"/>
            <a:ext cx="0" cy="365760"/>
          </a:xfrm>
          <a:prstGeom prst="straightConnector1">
            <a:avLst/>
          </a:prstGeom>
          <a:ln w="19050">
            <a:solidFill>
              <a:srgbClr val="C9B991"/>
            </a:solidFill>
            <a:tailEnd type="triangle" w="med" len="med"/>
          </a:ln>
        </p:spPr>
      </p:cxnSp>
      <p:sp>
        <p:nvSpPr>
          <p:cNvPr id="106" name="WL0"/>
          <p:cNvSpPr txBox="1"/>
          <p:nvPr/>
        </p:nvSpPr>
        <p:spPr>
          <a:xfrm>
            <a:off x="1463040" y="2011680"/>
            <a:ext cx="100584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may invoke</a:t>
            </a:r>
          </a:p>
        </p:txBody>
      </p:sp>
      <p:cxnSp>
        <p:nvCxnSpPr>
          <p:cNvPr id="107" name="WA1"/>
          <p:cNvCxnSpPr/>
          <p:nvPr/>
        </p:nvCxnSpPr>
        <p:spPr>
          <a:xfrm>
            <a:off x="1371600" y="2788920"/>
            <a:ext cx="0" cy="731520"/>
          </a:xfrm>
          <a:prstGeom prst="straightConnector1">
            <a:avLst/>
          </a:prstGeom>
          <a:ln w="19050">
            <a:solidFill>
              <a:srgbClr val="C9B991"/>
            </a:solidFill>
            <a:tailEnd type="triangle" w="med" len="med"/>
          </a:ln>
        </p:spPr>
      </p:cxnSp>
      <p:sp>
        <p:nvSpPr>
          <p:cNvPr id="108" name="WL1"/>
          <p:cNvSpPr txBox="1"/>
          <p:nvPr/>
        </p:nvSpPr>
        <p:spPr>
          <a:xfrm>
            <a:off x="1463040" y="2971800"/>
            <a:ext cx="100584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may invoke</a:t>
            </a:r>
          </a:p>
        </p:txBody>
      </p:sp>
      <p:sp>
        <p:nvSpPr>
          <p:cNvPr id="109" name="WB0"/>
          <p:cNvSpPr/>
          <p:nvPr/>
        </p:nvSpPr>
        <p:spPr>
          <a:xfrm>
            <a:off x="457200" y="4343400"/>
            <a:ext cx="1828800" cy="640080"/>
          </a:xfrm>
          <a:prstGeom prst="rect">
            <a:avLst/>
          </a:prstGeom>
          <a:solidFill>
            <a:srgbClr val="FBF8F2"/>
          </a:solidFill>
          <a:ln w="12700">
            <a:solidFill>
              <a:srgbClr val="C9B991"/>
            </a:solidFill>
          </a:ln>
        </p:spPr>
        <p:txBody>
          <a:bodyPr wrap="square" lIns="27432" tIns="22860" rIns="27432" bIns="22860" anchor="ctr"/>
          <a:lstStyle/>
          <a:p>
            <a:pPr algn="ctr">
              <a:spcAft>
                <a:spcPts val="100"/>
              </a:spcAft>
              <a:buNone/>
            </a:pPr>
            <a:r>
              <a:rPr lang="en-US" sz="1300" b="1" dirty="0">
                <a:solidFill>
                  <a:srgbClr val="555960"/>
                </a:solidFill>
              </a:rPr>
              <a:t>MODEL B</a:t>
            </a:r>
          </a:p>
          <a:p>
            <a:pPr algn="ctr">
              <a:spcAft>
                <a:spcPts val="100"/>
              </a:spcAft>
              <a:buNone/>
            </a:pPr>
            <a:r>
              <a:rPr lang="en-US" sz="1300" b="1" dirty="0">
                <a:solidFill>
                  <a:srgbClr val="5C4826"/>
                </a:solidFill>
              </a:rPr>
              <a:t>Model Gateway</a:t>
            </a:r>
          </a:p>
          <a:p>
            <a:pPr algn="ctr">
              <a:spcAft>
                <a:spcPts val="0"/>
              </a:spcAft>
              <a:buNone/>
            </a:pPr>
            <a:r>
              <a:rPr lang="en-US" sz="1300" b="0" dirty="0">
                <a:solidFill>
                  <a:srgbClr val="555960"/>
                </a:solidFill>
              </a:rPr>
              <a:t>PUBLIC only</a:t>
            </a:r>
          </a:p>
        </p:txBody>
      </p:sp>
      <p:sp>
        <p:nvSpPr>
          <p:cNvPr id="110" name="PC0"/>
          <p:cNvSpPr/>
          <p:nvPr/>
        </p:nvSpPr>
        <p:spPr>
          <a:xfrm>
            <a:off x="2377440" y="2971800"/>
            <a:ext cx="2286000" cy="640080"/>
          </a:xfrm>
          <a:prstGeom prst="rect">
            <a:avLst/>
          </a:prstGeom>
          <a:solidFill>
            <a:srgbClr val="F5F1E8"/>
          </a:solidFill>
          <a:ln w="15875">
            <a:solidFill>
              <a:srgbClr val="8E6F3E"/>
            </a:solidFill>
          </a:ln>
        </p:spPr>
        <p:txBody>
          <a:bodyPr wrap="square" lIns="27432" tIns="22860" rIns="27432" bIns="22860" anchor="ctr"/>
          <a:lstStyle/>
          <a:p>
            <a:pPr algn="ctr">
              <a:spcAft>
                <a:spcPts val="200"/>
              </a:spcAft>
              <a:buNone/>
            </a:pPr>
            <a:r>
              <a:rPr lang="en-US" sz="1400" b="1" dirty="0">
                <a:solidFill>
                  <a:srgbClr val="8E6F3E"/>
                </a:solidFill>
              </a:rPr>
              <a:t>NEW FACT, ON THIS EDGE</a:t>
            </a:r>
          </a:p>
          <a:p>
            <a:pPr algn="ctr">
              <a:spcAft>
                <a:spcPts val="0"/>
              </a:spcAft>
              <a:buNone/>
            </a:pPr>
            <a:r>
              <a:rPr lang="en-US" sz="1400" b="1" dirty="0">
                <a:solidFill>
                  <a:srgbClr val="5C4826"/>
                </a:solidFill>
              </a:rPr>
              <a:t>payload = document content</a:t>
            </a:r>
          </a:p>
        </p:txBody>
      </p:sp>
      <p:cxnSp>
        <p:nvCxnSpPr>
          <p:cNvPr id="111" name="PCA"/>
          <p:cNvCxnSpPr/>
          <p:nvPr/>
        </p:nvCxnSpPr>
        <p:spPr>
          <a:xfrm>
            <a:off x="1417320" y="3291840"/>
            <a:ext cx="960120" cy="0"/>
          </a:xfrm>
          <a:prstGeom prst="straightConnector1">
            <a:avLst/>
          </a:prstGeom>
          <a:ln w="19050">
            <a:solidFill>
              <a:srgbClr val="8E6F3E"/>
            </a:solidFill>
            <a:headEnd type="triangle" w="med" len="med"/>
          </a:ln>
        </p:spPr>
      </p:cxnSp>
      <p:sp>
        <p:nvSpPr>
          <p:cNvPr id="112" name="Ask"/>
          <p:cNvSpPr txBox="1"/>
          <p:nvPr/>
        </p:nvSpPr>
        <p:spPr>
          <a:xfrm>
            <a:off x="4846320" y="1508760"/>
            <a:ext cx="3931920" cy="411480"/>
          </a:xfrm>
          <a:prstGeom prst="rect">
            <a:avLst/>
          </a:prstGeom>
          <a:noFill/>
          <a:ln>
            <a:noFill/>
          </a:ln>
        </p:spPr>
        <p:txBody>
          <a:bodyPr wrap="square" lIns="0" tIns="0" rIns="0" bIns="0" anchor="t"/>
          <a:lstStyle/>
          <a:p>
            <a:pPr algn="l">
              <a:spcAft>
                <a:spcPts val="0"/>
              </a:spcAft>
              <a:buNone/>
            </a:pPr>
            <a:r>
              <a:rPr lang="en-US" sz="2000" b="0" i="1" dirty="0">
                <a:solidFill>
                  <a:srgbClr val="555960"/>
                </a:solidFill>
              </a:rPr>
              <a:t>What follows now?</a:t>
            </a:r>
          </a:p>
        </p:txBody>
      </p:sp>
      <p:sp>
        <p:nvSpPr>
          <p:cNvPr id="113" name="Reveal"/>
          <p:cNvSpPr/>
          <p:nvPr/>
        </p:nvSpPr>
        <p:spPr>
          <a:xfrm>
            <a:off x="4846320" y="2057400"/>
            <a:ext cx="3931920" cy="2103120"/>
          </a:xfrm>
          <a:prstGeom prst="rect">
            <a:avLst/>
          </a:prstGeom>
          <a:solidFill>
            <a:srgbClr val="F5F1E8"/>
          </a:solidFill>
          <a:ln w="12700">
            <a:solidFill>
              <a:srgbClr val="C9B991"/>
            </a:solidFill>
          </a:ln>
        </p:spPr>
        <p:txBody>
          <a:bodyPr wrap="square" lIns="128016" tIns="91440" rIns="118872" bIns="91440" anchor="ctr"/>
          <a:lstStyle/>
          <a:p>
            <a:pPr algn="l">
              <a:spcAft>
                <a:spcPts val="0"/>
              </a:spcAft>
              <a:buNone/>
            </a:pPr>
            <a:r>
              <a:rPr lang="en-US" sz="1800" b="1" dirty="0">
                <a:solidFill>
                  <a:srgbClr val="5C4826"/>
                </a:solidFill>
              </a:rPr>
              <a:t>This design permits restricted document content to be sent to a component whose modeled policy permits only PUBLIC data.</a:t>
            </a:r>
          </a:p>
        </p:txBody>
      </p:sp>
      <p:sp>
        <p:nvSpPr>
          <p:cNvPr id="114" name="Ital"/>
          <p:cNvSpPr txBox="1"/>
          <p:nvPr/>
        </p:nvSpPr>
        <p:spPr>
          <a:xfrm>
            <a:off x="4846320" y="4297680"/>
            <a:ext cx="3931920" cy="1005840"/>
          </a:xfrm>
          <a:prstGeom prst="rect">
            <a:avLst/>
          </a:prstGeom>
          <a:noFill/>
          <a:ln>
            <a:noFill/>
          </a:ln>
        </p:spPr>
        <p:txBody>
          <a:bodyPr wrap="square" lIns="0" tIns="0" rIns="0" bIns="0" anchor="t"/>
          <a:lstStyle/>
          <a:p>
            <a:pPr algn="l">
              <a:spcAft>
                <a:spcPts val="400"/>
              </a:spcAft>
              <a:buNone/>
            </a:pPr>
            <a:r>
              <a:rPr lang="en-US" sz="1700" b="0" i="1" dirty="0">
                <a:solidFill>
                  <a:srgbClr val="555960"/>
                </a:solidFill>
              </a:rPr>
              <a:t>A stronger joined model supports a stronger conclusion —</a:t>
            </a:r>
            <a:br>
              <a:rPr lang="en-US" sz="1700" b="0" i="1" dirty="0"/>
            </a:br>
            <a:r>
              <a:rPr lang="en-US" sz="1700" b="0" i="1" dirty="0">
                <a:solidFill>
                  <a:srgbClr val="555960"/>
                </a:solidFill>
              </a:rPr>
              <a:t>the preserved information grew.</a:t>
            </a:r>
          </a:p>
          <a:p>
            <a:pPr algn="l">
              <a:spcAft>
                <a:spcPts val="0"/>
              </a:spcAft>
              <a:buNone/>
            </a:pPr>
            <a:r>
              <a:rPr lang="en-US" sz="1700" b="0" i="1" dirty="0">
                <a:solidFill>
                  <a:srgbClr val="555960"/>
                </a:solidFill>
              </a:rPr>
              <a:t>Still a design-level claim: the design permits. Not an observation that it happens.</a:t>
            </a:r>
          </a:p>
        </p:txBody>
      </p:sp>
      <p:sp>
        <p:nvSpPr>
          <p:cNvPr id="115"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Model algebra: what becomes knowable through composition.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par>
                                <p:cTn id="8" presetID="10" presetClass="entr" presetSubtype="0" fill="hold" nodeType="withEffect">
                                  <p:stCondLst>
                                    <p:cond delay="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join creates leverage, not certainty</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Bound"/>
          <p:cNvSpPr txBox="1"/>
          <p:nvPr/>
        </p:nvSpPr>
        <p:spPr>
          <a:xfrm>
            <a:off x="685800" y="1188720"/>
            <a:ext cx="7772400" cy="82296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The conclusions available from a join are bounded by the semantics and the information preserved in its constituent models.</a:t>
            </a:r>
          </a:p>
        </p:txBody>
      </p:sp>
      <p:sp>
        <p:nvSpPr>
          <p:cNvPr id="102" name="C0"/>
          <p:cNvSpPr/>
          <p:nvPr/>
        </p:nvSpPr>
        <p:spPr>
          <a:xfrm>
            <a:off x="457200" y="2560320"/>
            <a:ext cx="1783080" cy="109728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semantics matter</a:t>
            </a:r>
          </a:p>
          <a:p>
            <a:pPr algn="ctr">
              <a:spcAft>
                <a:spcPts val="0"/>
              </a:spcAft>
              <a:buNone/>
            </a:pPr>
            <a:r>
              <a:rPr lang="en-US" sz="1400" b="1" dirty="0">
                <a:solidFill>
                  <a:srgbClr val="8E6F3E"/>
                </a:solidFill>
              </a:rPr>
              <a:t>MEANING</a:t>
            </a:r>
          </a:p>
        </p:txBody>
      </p:sp>
      <p:cxnSp>
        <p:nvCxnSpPr>
          <p:cNvPr id="103" name="CA0"/>
          <p:cNvCxnSpPr/>
          <p:nvPr/>
        </p:nvCxnSpPr>
        <p:spPr>
          <a:xfrm>
            <a:off x="2286000" y="3108960"/>
            <a:ext cx="274320" cy="0"/>
          </a:xfrm>
          <a:prstGeom prst="straightConnector1">
            <a:avLst/>
          </a:prstGeom>
          <a:ln w="19050">
            <a:solidFill>
              <a:srgbClr val="C9B991"/>
            </a:solidFill>
            <a:tailEnd type="triangle" w="med" len="med"/>
          </a:ln>
        </p:spPr>
      </p:cxnSp>
      <p:sp>
        <p:nvSpPr>
          <p:cNvPr id="104" name="C1"/>
          <p:cNvSpPr/>
          <p:nvPr/>
        </p:nvSpPr>
        <p:spPr>
          <a:xfrm>
            <a:off x="2606040" y="2560320"/>
            <a:ext cx="1783080" cy="109728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identity enables</a:t>
            </a:r>
            <a:br>
              <a:rPr lang="en-US" sz="1400" b="1" dirty="0"/>
            </a:br>
            <a:r>
              <a:rPr lang="en-US" sz="1400" b="1" dirty="0">
                <a:solidFill>
                  <a:srgbClr val="5C4826"/>
                </a:solidFill>
              </a:rPr>
              <a:t>the join</a:t>
            </a:r>
          </a:p>
          <a:p>
            <a:pPr algn="ctr">
              <a:spcAft>
                <a:spcPts val="0"/>
              </a:spcAft>
              <a:buNone/>
            </a:pPr>
            <a:r>
              <a:rPr lang="en-US" sz="1400" b="1" dirty="0">
                <a:solidFill>
                  <a:srgbClr val="8E6F3E"/>
                </a:solidFill>
              </a:rPr>
              <a:t>IDENTITY</a:t>
            </a:r>
          </a:p>
        </p:txBody>
      </p:sp>
      <p:cxnSp>
        <p:nvCxnSpPr>
          <p:cNvPr id="105" name="CA1"/>
          <p:cNvCxnSpPr/>
          <p:nvPr/>
        </p:nvCxnSpPr>
        <p:spPr>
          <a:xfrm>
            <a:off x="4434840" y="3108960"/>
            <a:ext cx="274320" cy="0"/>
          </a:xfrm>
          <a:prstGeom prst="straightConnector1">
            <a:avLst/>
          </a:prstGeom>
          <a:ln w="19050">
            <a:solidFill>
              <a:srgbClr val="C9B991"/>
            </a:solidFill>
            <a:tailEnd type="triangle" w="med" len="med"/>
          </a:ln>
        </p:spPr>
      </p:cxnSp>
      <p:sp>
        <p:nvSpPr>
          <p:cNvPr id="106" name="C2"/>
          <p:cNvSpPr/>
          <p:nvPr/>
        </p:nvSpPr>
        <p:spPr>
          <a:xfrm>
            <a:off x="4754880" y="2560320"/>
            <a:ext cx="1783080" cy="109728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the join enables</a:t>
            </a:r>
            <a:br>
              <a:rPr lang="en-US" sz="1400" b="1" dirty="0"/>
            </a:br>
            <a:r>
              <a:rPr lang="en-US" sz="1400" b="1" dirty="0">
                <a:solidFill>
                  <a:srgbClr val="5C4826"/>
                </a:solidFill>
              </a:rPr>
              <a:t>a new claim</a:t>
            </a:r>
          </a:p>
          <a:p>
            <a:pPr algn="ctr">
              <a:spcAft>
                <a:spcPts val="0"/>
              </a:spcAft>
              <a:buNone/>
            </a:pPr>
            <a:r>
              <a:rPr lang="en-US" sz="1400" b="1" dirty="0">
                <a:solidFill>
                  <a:srgbClr val="8E6F3E"/>
                </a:solidFill>
              </a:rPr>
              <a:t>COMPOSITION</a:t>
            </a:r>
          </a:p>
        </p:txBody>
      </p:sp>
      <p:cxnSp>
        <p:nvCxnSpPr>
          <p:cNvPr id="107" name="CA2"/>
          <p:cNvCxnSpPr/>
          <p:nvPr/>
        </p:nvCxnSpPr>
        <p:spPr>
          <a:xfrm>
            <a:off x="6583680" y="3108960"/>
            <a:ext cx="274320" cy="0"/>
          </a:xfrm>
          <a:prstGeom prst="straightConnector1">
            <a:avLst/>
          </a:prstGeom>
          <a:ln w="19050">
            <a:solidFill>
              <a:srgbClr val="C9B991"/>
            </a:solidFill>
            <a:tailEnd type="triangle" w="med" len="med"/>
          </a:ln>
        </p:spPr>
      </p:cxnSp>
      <p:sp>
        <p:nvSpPr>
          <p:cNvPr id="108" name="C3"/>
          <p:cNvSpPr/>
          <p:nvPr/>
        </p:nvSpPr>
        <p:spPr>
          <a:xfrm>
            <a:off x="6903720" y="2560320"/>
            <a:ext cx="1783080" cy="1097280"/>
          </a:xfrm>
          <a:prstGeom prst="rect">
            <a:avLst/>
          </a:prstGeom>
          <a:solidFill>
            <a:srgbClr val="F5F1E8"/>
          </a:solidFill>
          <a:ln w="12700">
            <a:solidFill>
              <a:srgbClr val="C9B991"/>
            </a:solidFill>
          </a:ln>
        </p:spPr>
        <p:txBody>
          <a:bodyPr wrap="square" lIns="27432" tIns="22860" rIns="27432" bIns="22860" anchor="ctr"/>
          <a:lstStyle/>
          <a:p>
            <a:pPr algn="ctr">
              <a:spcAft>
                <a:spcPts val="300"/>
              </a:spcAft>
              <a:buNone/>
            </a:pPr>
            <a:r>
              <a:rPr lang="en-US" sz="1400" b="1" dirty="0">
                <a:solidFill>
                  <a:srgbClr val="5C4826"/>
                </a:solidFill>
              </a:rPr>
              <a:t>semantics bound</a:t>
            </a:r>
            <a:br>
              <a:rPr lang="en-US" sz="1400" b="1" dirty="0"/>
            </a:br>
            <a:r>
              <a:rPr lang="en-US" sz="1400" b="1" dirty="0">
                <a:solidFill>
                  <a:srgbClr val="5C4826"/>
                </a:solidFill>
              </a:rPr>
              <a:t>the license</a:t>
            </a:r>
          </a:p>
          <a:p>
            <a:pPr algn="ctr">
              <a:spcAft>
                <a:spcPts val="0"/>
              </a:spcAft>
              <a:buNone/>
            </a:pPr>
            <a:r>
              <a:rPr lang="en-US" sz="1400" b="1" dirty="0">
                <a:solidFill>
                  <a:srgbClr val="8E6F3E"/>
                </a:solidFill>
              </a:rPr>
              <a:t>MEANING, again</a:t>
            </a:r>
          </a:p>
        </p:txBody>
      </p:sp>
      <p:sp>
        <p:nvSpPr>
          <p:cNvPr id="109" name="CLG"/>
          <p:cNvSpPr txBox="1"/>
          <p:nvPr/>
        </p:nvSpPr>
        <p:spPr>
          <a:xfrm>
            <a:off x="685800" y="3794760"/>
            <a:ext cx="7772400" cy="274320"/>
          </a:xfrm>
          <a:prstGeom prst="rect">
            <a:avLst/>
          </a:prstGeom>
          <a:noFill/>
          <a:ln>
            <a:noFill/>
          </a:ln>
        </p:spPr>
        <p:txBody>
          <a:bodyPr wrap="square" lIns="0" tIns="0" rIns="0" bIns="0" anchor="t"/>
          <a:lstStyle/>
          <a:p>
            <a:pPr algn="ctr">
              <a:spcAft>
                <a:spcPts val="0"/>
              </a:spcAft>
              <a:buNone/>
            </a:pPr>
            <a:r>
              <a:rPr lang="en-US" sz="1300" b="0" i="1" dirty="0">
                <a:solidFill>
                  <a:srgbClr val="555960"/>
                </a:solidFill>
              </a:rPr>
              <a:t>each arrow: what the activity exercised next</a:t>
            </a:r>
          </a:p>
        </p:txBody>
      </p:sp>
      <p:sp>
        <p:nvSpPr>
          <p:cNvPr id="110" name="Ital"/>
          <p:cNvSpPr txBox="1"/>
          <p:nvPr/>
        </p:nvSpPr>
        <p:spPr>
          <a:xfrm>
            <a:off x="685800" y="4389120"/>
            <a:ext cx="7772400" cy="41148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Next question: what happens when a licensed conclusion meets reality?</a:t>
            </a:r>
          </a:p>
        </p:txBody>
      </p:sp>
      <p:sp>
        <p:nvSpPr>
          <p:cNvPr id="11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You just exercised the whole lecture.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139696"/>
            <a:ext cx="7772400" cy="1444752"/>
          </a:xfrm>
        </p:spPr>
        <p:txBody>
          <a:bodyPr>
            <a:normAutofit/>
          </a:bodyPr>
          <a:lstStyle/>
          <a:p>
            <a:pPr algn="ctr">
              <a:buNone/>
              <a:defRPr b="0"/>
            </a:pPr>
            <a:r>
              <a:rPr lang="en-US" sz="3400" b="0" i="0" dirty="0">
                <a:solidFill>
                  <a:srgbClr val="000000"/>
                </a:solidFill>
              </a:rPr>
              <a:t>Stretch break</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Rule"/>
          <p:cNvSpPr/>
          <p:nvPr/>
        </p:nvSpPr>
        <p:spPr>
          <a:xfrm>
            <a:off x="3429000" y="3383280"/>
            <a:ext cx="2286000" cy="51206"/>
          </a:xfrm>
          <a:prstGeom prst="rect">
            <a:avLst/>
          </a:prstGeom>
          <a:solidFill>
            <a:srgbClr val="8E6F3E"/>
          </a:solidFill>
          <a:ln>
            <a:noFill/>
          </a:ln>
        </p:spPr>
        <p:txBody>
          <a:bodyPr wrap="square" lIns="27432" tIns="22860" rIns="27432" bIns="22860" anchor="ctr"/>
          <a:lstStyle/>
          <a:p>
            <a:pPr>
              <a:buNone/>
            </a:pP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model can state an obligation</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Frame"/>
          <p:cNvSpPr txBox="1"/>
          <p:nvPr/>
        </p:nvSpPr>
        <p:spPr>
          <a:xfrm>
            <a:off x="685800" y="1143000"/>
            <a:ext cx="7772400" cy="36576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Each claim is expressible, precise, and checkable. Modeling did its job.</a:t>
            </a:r>
          </a:p>
        </p:txBody>
      </p:sp>
      <p:sp>
        <p:nvSpPr>
          <p:cNvPr id="102" name="CD0"/>
          <p:cNvSpPr/>
          <p:nvPr/>
        </p:nvSpPr>
        <p:spPr>
          <a:xfrm>
            <a:off x="365760" y="1737360"/>
            <a:ext cx="2560320" cy="2971800"/>
          </a:xfrm>
          <a:prstGeom prst="rect">
            <a:avLst/>
          </a:prstGeom>
          <a:solidFill>
            <a:srgbClr val="F5F1E8"/>
          </a:solidFill>
          <a:ln w="12700">
            <a:solidFill>
              <a:srgbClr val="C9B991"/>
            </a:solidFill>
          </a:ln>
        </p:spPr>
        <p:txBody>
          <a:bodyPr wrap="square" lIns="27432" tIns="22860" rIns="27432" bIns="22860" anchor="ctr"/>
          <a:lstStyle/>
          <a:p>
            <a:endParaRPr lang="en-US"/>
          </a:p>
        </p:txBody>
      </p:sp>
      <p:sp>
        <p:nvSpPr>
          <p:cNvPr id="103" name="CH0"/>
          <p:cNvSpPr txBox="1"/>
          <p:nvPr/>
        </p:nvSpPr>
        <p:spPr>
          <a:xfrm>
            <a:off x="365760" y="1828800"/>
            <a:ext cx="2560320" cy="320040"/>
          </a:xfrm>
          <a:prstGeom prst="rect">
            <a:avLst/>
          </a:prstGeom>
          <a:noFill/>
          <a:ln>
            <a:noFill/>
          </a:ln>
        </p:spPr>
        <p:txBody>
          <a:bodyPr wrap="square" lIns="0" tIns="0" rIns="0" bIns="0" anchor="ctr"/>
          <a:lstStyle/>
          <a:p>
            <a:pPr algn="ctr">
              <a:spcAft>
                <a:spcPts val="0"/>
              </a:spcAft>
              <a:buNone/>
            </a:pPr>
            <a:r>
              <a:rPr lang="en-US" sz="1400" b="1" dirty="0">
                <a:solidFill>
                  <a:srgbClr val="5C4826"/>
                </a:solidFill>
              </a:rPr>
              <a:t>STATE MODEL</a:t>
            </a:r>
          </a:p>
        </p:txBody>
      </p:sp>
      <p:sp>
        <p:nvSpPr>
          <p:cNvPr id="104" name="CD1"/>
          <p:cNvSpPr/>
          <p:nvPr/>
        </p:nvSpPr>
        <p:spPr>
          <a:xfrm>
            <a:off x="3291840" y="1737360"/>
            <a:ext cx="2560320" cy="2971800"/>
          </a:xfrm>
          <a:prstGeom prst="rect">
            <a:avLst/>
          </a:prstGeom>
          <a:solidFill>
            <a:srgbClr val="F5F1E8"/>
          </a:solidFill>
          <a:ln w="12700">
            <a:solidFill>
              <a:srgbClr val="C9B991"/>
            </a:solidFill>
          </a:ln>
        </p:spPr>
        <p:txBody>
          <a:bodyPr wrap="square" lIns="27432" tIns="22860" rIns="27432" bIns="22860" anchor="ctr"/>
          <a:lstStyle/>
          <a:p>
            <a:endParaRPr lang="en-US"/>
          </a:p>
        </p:txBody>
      </p:sp>
      <p:sp>
        <p:nvSpPr>
          <p:cNvPr id="105" name="CH1"/>
          <p:cNvSpPr txBox="1"/>
          <p:nvPr/>
        </p:nvSpPr>
        <p:spPr>
          <a:xfrm>
            <a:off x="3291840" y="1828800"/>
            <a:ext cx="2560320" cy="320040"/>
          </a:xfrm>
          <a:prstGeom prst="rect">
            <a:avLst/>
          </a:prstGeom>
          <a:noFill/>
          <a:ln>
            <a:noFill/>
          </a:ln>
        </p:spPr>
        <p:txBody>
          <a:bodyPr wrap="square" lIns="0" tIns="0" rIns="0" bIns="0" anchor="ctr"/>
          <a:lstStyle/>
          <a:p>
            <a:pPr algn="ctr">
              <a:spcAft>
                <a:spcPts val="0"/>
              </a:spcAft>
              <a:buNone/>
            </a:pPr>
            <a:r>
              <a:rPr lang="en-US" sz="1400" b="1" dirty="0">
                <a:solidFill>
                  <a:srgbClr val="5C4826"/>
                </a:solidFill>
              </a:rPr>
              <a:t>DECISION MODEL</a:t>
            </a:r>
          </a:p>
        </p:txBody>
      </p:sp>
      <p:sp>
        <p:nvSpPr>
          <p:cNvPr id="106" name="CD2"/>
          <p:cNvSpPr/>
          <p:nvPr/>
        </p:nvSpPr>
        <p:spPr>
          <a:xfrm>
            <a:off x="6217920" y="1737360"/>
            <a:ext cx="2560320" cy="2971800"/>
          </a:xfrm>
          <a:prstGeom prst="rect">
            <a:avLst/>
          </a:prstGeom>
          <a:solidFill>
            <a:srgbClr val="F5F1E8"/>
          </a:solidFill>
          <a:ln w="12700">
            <a:solidFill>
              <a:srgbClr val="C9B991"/>
            </a:solidFill>
          </a:ln>
        </p:spPr>
        <p:txBody>
          <a:bodyPr wrap="square" lIns="27432" tIns="22860" rIns="27432" bIns="22860" anchor="ctr"/>
          <a:lstStyle/>
          <a:p>
            <a:endParaRPr lang="en-US"/>
          </a:p>
        </p:txBody>
      </p:sp>
      <p:sp>
        <p:nvSpPr>
          <p:cNvPr id="107" name="CH2"/>
          <p:cNvSpPr txBox="1"/>
          <p:nvPr/>
        </p:nvSpPr>
        <p:spPr>
          <a:xfrm>
            <a:off x="6217920" y="1828800"/>
            <a:ext cx="2560320" cy="320040"/>
          </a:xfrm>
          <a:prstGeom prst="rect">
            <a:avLst/>
          </a:prstGeom>
          <a:noFill/>
          <a:ln>
            <a:noFill/>
          </a:ln>
        </p:spPr>
        <p:txBody>
          <a:bodyPr wrap="square" lIns="0" tIns="0" rIns="0" bIns="0" anchor="ctr"/>
          <a:lstStyle/>
          <a:p>
            <a:pPr algn="ctr">
              <a:spcAft>
                <a:spcPts val="0"/>
              </a:spcAft>
              <a:buNone/>
            </a:pPr>
            <a:r>
              <a:rPr lang="en-US" sz="1400" b="1" dirty="0">
                <a:solidFill>
                  <a:srgbClr val="5C4826"/>
                </a:solidFill>
              </a:rPr>
              <a:t>QUANTITATIVE MODEL</a:t>
            </a:r>
          </a:p>
        </p:txBody>
      </p:sp>
      <p:sp>
        <p:nvSpPr>
          <p:cNvPr id="108" name="Sa1"/>
          <p:cNvSpPr/>
          <p:nvPr/>
        </p:nvSpPr>
        <p:spPr>
          <a:xfrm>
            <a:off x="548640" y="2331720"/>
            <a:ext cx="960120" cy="41148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staged</a:t>
            </a:r>
          </a:p>
        </p:txBody>
      </p:sp>
      <p:sp>
        <p:nvSpPr>
          <p:cNvPr id="109" name="Sb1"/>
          <p:cNvSpPr/>
          <p:nvPr/>
        </p:nvSpPr>
        <p:spPr>
          <a:xfrm>
            <a:off x="1783080" y="2331720"/>
            <a:ext cx="960120" cy="41148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published</a:t>
            </a:r>
          </a:p>
        </p:txBody>
      </p:sp>
      <p:cxnSp>
        <p:nvCxnSpPr>
          <p:cNvPr id="110" name="Sc1"/>
          <p:cNvCxnSpPr/>
          <p:nvPr/>
        </p:nvCxnSpPr>
        <p:spPr>
          <a:xfrm>
            <a:off x="1508760" y="2469515"/>
            <a:ext cx="274320" cy="0"/>
          </a:xfrm>
          <a:prstGeom prst="straightConnector1">
            <a:avLst/>
          </a:prstGeom>
          <a:ln w="19050">
            <a:solidFill>
              <a:srgbClr val="C9B991"/>
            </a:solidFill>
            <a:tailEnd type="triangle" w="med" len="med"/>
          </a:ln>
        </p:spPr>
      </p:cxnSp>
      <p:sp>
        <p:nvSpPr>
          <p:cNvPr id="190" name="AL0"/>
          <p:cNvSpPr txBox="1"/>
          <p:nvPr/>
        </p:nvSpPr>
        <p:spPr>
          <a:xfrm>
            <a:off x="1188720" y="2133720"/>
            <a:ext cx="914400" cy="18288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allowed</a:t>
            </a:r>
          </a:p>
        </p:txBody>
      </p:sp>
      <p:sp>
        <p:nvSpPr>
          <p:cNvPr id="111" name="Sd1"/>
          <p:cNvSpPr txBox="1"/>
          <p:nvPr/>
        </p:nvSpPr>
        <p:spPr>
          <a:xfrm>
            <a:off x="548640" y="2971800"/>
            <a:ext cx="2194560" cy="274320"/>
          </a:xfrm>
          <a:prstGeom prst="rect">
            <a:avLst/>
          </a:prstGeom>
          <a:noFill/>
          <a:ln>
            <a:noFill/>
          </a:ln>
        </p:spPr>
        <p:txBody>
          <a:bodyPr wrap="square" lIns="0" tIns="0" rIns="0" bIns="0" anchor="ctr"/>
          <a:lstStyle/>
          <a:p>
            <a:pPr algn="ctr">
              <a:spcAft>
                <a:spcPts val="0"/>
              </a:spcAft>
              <a:buNone/>
            </a:pPr>
            <a:r>
              <a:rPr lang="en-US" sz="1400" b="0" strike="sngStrike" dirty="0">
                <a:solidFill>
                  <a:srgbClr val="555960"/>
                </a:solidFill>
              </a:rPr>
              <a:t>published → staged</a:t>
            </a:r>
          </a:p>
        </p:txBody>
      </p:sp>
      <p:sp>
        <p:nvSpPr>
          <p:cNvPr id="112" name="Se1"/>
          <p:cNvSpPr txBox="1"/>
          <p:nvPr/>
        </p:nvSpPr>
        <p:spPr>
          <a:xfrm>
            <a:off x="548640" y="3291840"/>
            <a:ext cx="219456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this transition: forbidden</a:t>
            </a:r>
          </a:p>
        </p:txBody>
      </p:sp>
      <p:sp>
        <p:nvSpPr>
          <p:cNvPr id="113" name="Sa2"/>
          <p:cNvSpPr/>
          <p:nvPr/>
        </p:nvSpPr>
        <p:spPr>
          <a:xfrm>
            <a:off x="3474720" y="2331720"/>
            <a:ext cx="960120" cy="41148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doc-api</a:t>
            </a:r>
          </a:p>
        </p:txBody>
      </p:sp>
      <p:sp>
        <p:nvSpPr>
          <p:cNvPr id="114" name="Sb2"/>
          <p:cNvSpPr/>
          <p:nvPr/>
        </p:nvSpPr>
        <p:spPr>
          <a:xfrm>
            <a:off x="4709160" y="2331720"/>
            <a:ext cx="960120" cy="41148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300" b="0" dirty="0">
                <a:solidFill>
                  <a:srgbClr val="5C4826"/>
                </a:solidFill>
              </a:rPr>
              <a:t>billing</a:t>
            </a:r>
          </a:p>
        </p:txBody>
      </p:sp>
      <p:cxnSp>
        <p:nvCxnSpPr>
          <p:cNvPr id="115" name="Sc2"/>
          <p:cNvCxnSpPr/>
          <p:nvPr/>
        </p:nvCxnSpPr>
        <p:spPr>
          <a:xfrm>
            <a:off x="4434840" y="2469515"/>
            <a:ext cx="274320" cy="0"/>
          </a:xfrm>
          <a:prstGeom prst="straightConnector1">
            <a:avLst/>
          </a:prstGeom>
          <a:ln w="19050">
            <a:solidFill>
              <a:srgbClr val="C9B991"/>
            </a:solidFill>
            <a:prstDash val="dash"/>
            <a:tailEnd type="triangle" w="med" len="med"/>
          </a:ln>
        </p:spPr>
      </p:cxnSp>
      <p:sp>
        <p:nvSpPr>
          <p:cNvPr id="116" name="Sx2"/>
          <p:cNvSpPr txBox="1"/>
          <p:nvPr/>
        </p:nvSpPr>
        <p:spPr>
          <a:xfrm>
            <a:off x="4480560" y="2377440"/>
            <a:ext cx="182880" cy="182880"/>
          </a:xfrm>
          <a:prstGeom prst="rect">
            <a:avLst/>
          </a:prstGeom>
          <a:noFill/>
          <a:ln>
            <a:noFill/>
          </a:ln>
        </p:spPr>
        <p:txBody>
          <a:bodyPr wrap="square" lIns="0" tIns="0" rIns="0" bIns="0" anchor="ctr"/>
          <a:lstStyle/>
          <a:p>
            <a:pPr algn="ctr">
              <a:spcAft>
                <a:spcPts val="0"/>
              </a:spcAft>
              <a:buNone/>
            </a:pPr>
            <a:r>
              <a:rPr lang="en-US" sz="1300" b="1" dirty="0">
                <a:solidFill>
                  <a:srgbClr val="555960"/>
                </a:solidFill>
              </a:rPr>
              <a:t>✕</a:t>
            </a:r>
          </a:p>
        </p:txBody>
      </p:sp>
      <p:sp>
        <p:nvSpPr>
          <p:cNvPr id="117" name="Sd2"/>
          <p:cNvSpPr txBox="1"/>
          <p:nvPr/>
        </p:nvSpPr>
        <p:spPr>
          <a:xfrm>
            <a:off x="3474720" y="2971800"/>
            <a:ext cx="2194560" cy="274320"/>
          </a:xfrm>
          <a:prstGeom prst="rect">
            <a:avLst/>
          </a:prstGeom>
          <a:noFill/>
          <a:ln>
            <a:noFill/>
          </a:ln>
        </p:spPr>
        <p:txBody>
          <a:bodyPr wrap="square" lIns="0" tIns="0" rIns="0" bIns="0" anchor="ctr"/>
          <a:lstStyle/>
          <a:p>
            <a:pPr algn="ctr">
              <a:spcAft>
                <a:spcPts val="0"/>
              </a:spcAft>
              <a:buNone/>
            </a:pPr>
            <a:r>
              <a:rPr lang="en-US" sz="1400" b="0" dirty="0">
                <a:solidFill>
                  <a:srgbClr val="555960"/>
                </a:solidFill>
              </a:rPr>
              <a:t>may invoke: absent</a:t>
            </a:r>
          </a:p>
        </p:txBody>
      </p:sp>
      <p:sp>
        <p:nvSpPr>
          <p:cNvPr id="118" name="Se2"/>
          <p:cNvSpPr txBox="1"/>
          <p:nvPr/>
        </p:nvSpPr>
        <p:spPr>
          <a:xfrm>
            <a:off x="3474720" y="3291840"/>
            <a:ext cx="219456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this call: prohibited</a:t>
            </a:r>
          </a:p>
        </p:txBody>
      </p:sp>
      <p:sp>
        <p:nvSpPr>
          <p:cNvPr id="119" name="Sa3"/>
          <p:cNvSpPr/>
          <p:nvPr/>
        </p:nvSpPr>
        <p:spPr>
          <a:xfrm>
            <a:off x="6400800" y="2400300"/>
            <a:ext cx="2194560" cy="274320"/>
          </a:xfrm>
          <a:prstGeom prst="rect">
            <a:avLst/>
          </a:prstGeom>
          <a:noFill/>
          <a:ln w="12700">
            <a:solidFill>
              <a:srgbClr val="C9B991"/>
            </a:solidFill>
          </a:ln>
        </p:spPr>
        <p:txBody>
          <a:bodyPr wrap="square" lIns="27432" tIns="22860" rIns="27432" bIns="22860" anchor="ctr"/>
          <a:lstStyle/>
          <a:p>
            <a:endParaRPr lang="en-US"/>
          </a:p>
        </p:txBody>
      </p:sp>
      <p:sp>
        <p:nvSpPr>
          <p:cNvPr id="120" name="Sb3"/>
          <p:cNvSpPr/>
          <p:nvPr/>
        </p:nvSpPr>
        <p:spPr>
          <a:xfrm>
            <a:off x="6400800" y="2400300"/>
            <a:ext cx="1737360" cy="274320"/>
          </a:xfrm>
          <a:prstGeom prst="rect">
            <a:avLst/>
          </a:prstGeom>
          <a:solidFill>
            <a:srgbClr val="C9B991"/>
          </a:solidFill>
          <a:ln>
            <a:noFill/>
          </a:ln>
        </p:spPr>
        <p:txBody>
          <a:bodyPr wrap="square" lIns="27432" tIns="22860" rIns="27432" bIns="22860" anchor="ctr"/>
          <a:lstStyle/>
          <a:p>
            <a:endParaRPr lang="en-US"/>
          </a:p>
        </p:txBody>
      </p:sp>
      <p:cxnSp>
        <p:nvCxnSpPr>
          <p:cNvPr id="121" name="Sc3"/>
          <p:cNvCxnSpPr/>
          <p:nvPr/>
        </p:nvCxnSpPr>
        <p:spPr>
          <a:xfrm>
            <a:off x="7772400" y="2354580"/>
            <a:ext cx="0" cy="411480"/>
          </a:xfrm>
          <a:prstGeom prst="straightConnector1">
            <a:avLst/>
          </a:prstGeom>
          <a:ln w="28575">
            <a:solidFill>
              <a:srgbClr val="8E6F3E"/>
            </a:solidFill>
          </a:ln>
        </p:spPr>
      </p:cxnSp>
      <p:sp>
        <p:nvSpPr>
          <p:cNvPr id="122" name="Sd3"/>
          <p:cNvSpPr txBox="1"/>
          <p:nvPr/>
        </p:nvSpPr>
        <p:spPr>
          <a:xfrm>
            <a:off x="7315200" y="2080260"/>
            <a:ext cx="960120" cy="274320"/>
          </a:xfrm>
          <a:prstGeom prst="rect">
            <a:avLst/>
          </a:prstGeom>
          <a:noFill/>
          <a:ln>
            <a:noFill/>
          </a:ln>
        </p:spPr>
        <p:txBody>
          <a:bodyPr wrap="square" lIns="0" tIns="0" rIns="0" bIns="0" anchor="ctr"/>
          <a:lstStyle/>
          <a:p>
            <a:pPr algn="ctr">
              <a:spcAft>
                <a:spcPts val="0"/>
              </a:spcAft>
              <a:buNone/>
            </a:pPr>
            <a:r>
              <a:rPr lang="en-US" sz="1300" b="0" dirty="0">
                <a:solidFill>
                  <a:srgbClr val="555960"/>
                </a:solidFill>
              </a:rPr>
              <a:t>the bound</a:t>
            </a:r>
          </a:p>
        </p:txBody>
      </p:sp>
      <p:sp>
        <p:nvSpPr>
          <p:cNvPr id="123" name="Se3"/>
          <p:cNvSpPr txBox="1"/>
          <p:nvPr/>
        </p:nvSpPr>
        <p:spPr>
          <a:xfrm>
            <a:off x="6400800" y="2971800"/>
            <a:ext cx="2194560" cy="274320"/>
          </a:xfrm>
          <a:prstGeom prst="rect">
            <a:avLst/>
          </a:prstGeom>
          <a:noFill/>
          <a:ln>
            <a:noFill/>
          </a:ln>
        </p:spPr>
        <p:txBody>
          <a:bodyPr wrap="square" lIns="0" tIns="0" rIns="0" bIns="0" anchor="ctr"/>
          <a:lstStyle/>
          <a:p>
            <a:pPr algn="ctr">
              <a:spcAft>
                <a:spcPts val="0"/>
              </a:spcAft>
              <a:buNone/>
            </a:pPr>
            <a:r>
              <a:rPr lang="en-US" sz="1400" b="0" dirty="0">
                <a:solidFill>
                  <a:srgbClr val="555960"/>
                </a:solidFill>
              </a:rPr>
              <a:t>measured &gt; bound</a:t>
            </a:r>
          </a:p>
        </p:txBody>
      </p:sp>
      <p:sp>
        <p:nvSpPr>
          <p:cNvPr id="124" name="Sf3"/>
          <p:cNvSpPr txBox="1"/>
          <p:nvPr/>
        </p:nvSpPr>
        <p:spPr>
          <a:xfrm>
            <a:off x="6400800" y="3291840"/>
            <a:ext cx="2194560" cy="274320"/>
          </a:xfrm>
          <a:prstGeom prst="rect">
            <a:avLst/>
          </a:prstGeom>
          <a:noFill/>
          <a:ln>
            <a:noFill/>
          </a:ln>
        </p:spPr>
        <p:txBody>
          <a:bodyPr wrap="square" lIns="0" tIns="0" rIns="0" bIns="0" anchor="ctr"/>
          <a:lstStyle/>
          <a:p>
            <a:pPr algn="ctr">
              <a:spcAft>
                <a:spcPts val="0"/>
              </a:spcAft>
              <a:buNone/>
            </a:pPr>
            <a:r>
              <a:rPr lang="en-US" sz="1300" b="0" i="1" dirty="0">
                <a:solidFill>
                  <a:srgbClr val="555960"/>
                </a:solidFill>
              </a:rPr>
              <a:t>this bound: exceeded</a:t>
            </a:r>
          </a:p>
        </p:txBody>
      </p:sp>
      <p:sp>
        <p:nvSpPr>
          <p:cNvPr id="125" name="CQ0"/>
          <p:cNvSpPr txBox="1"/>
          <p:nvPr/>
        </p:nvSpPr>
        <p:spPr>
          <a:xfrm>
            <a:off x="365760" y="3931920"/>
            <a:ext cx="2560320" cy="548640"/>
          </a:xfrm>
          <a:prstGeom prst="rect">
            <a:avLst/>
          </a:prstGeom>
          <a:noFill/>
          <a:ln>
            <a:noFill/>
          </a:ln>
        </p:spPr>
        <p:txBody>
          <a:bodyPr wrap="square" lIns="18288" tIns="18288" rIns="18288" bIns="18288" anchor="ctr"/>
          <a:lstStyle/>
          <a:p>
            <a:pPr algn="ctr">
              <a:spcAft>
                <a:spcPts val="0"/>
              </a:spcAft>
              <a:buNone/>
            </a:pPr>
            <a:r>
              <a:rPr lang="en-US" sz="1400" b="1" dirty="0">
                <a:solidFill>
                  <a:srgbClr val="8E6F3E"/>
                </a:solidFill>
              </a:rPr>
              <a:t>“This transition is forbidden.”</a:t>
            </a:r>
          </a:p>
        </p:txBody>
      </p:sp>
      <p:sp>
        <p:nvSpPr>
          <p:cNvPr id="126" name="CQ1"/>
          <p:cNvSpPr txBox="1"/>
          <p:nvPr/>
        </p:nvSpPr>
        <p:spPr>
          <a:xfrm>
            <a:off x="3291840" y="3931920"/>
            <a:ext cx="2560320" cy="548640"/>
          </a:xfrm>
          <a:prstGeom prst="rect">
            <a:avLst/>
          </a:prstGeom>
          <a:noFill/>
          <a:ln>
            <a:noFill/>
          </a:ln>
        </p:spPr>
        <p:txBody>
          <a:bodyPr wrap="square" lIns="18288" tIns="18288" rIns="18288" bIns="18288" anchor="ctr"/>
          <a:lstStyle/>
          <a:p>
            <a:pPr algn="ctr">
              <a:spcAft>
                <a:spcPts val="0"/>
              </a:spcAft>
              <a:buNone/>
            </a:pPr>
            <a:r>
              <a:rPr lang="en-US" sz="1400" b="1" dirty="0">
                <a:solidFill>
                  <a:srgbClr val="8E6F3E"/>
                </a:solidFill>
              </a:rPr>
              <a:t>“This call is prohibited.”</a:t>
            </a:r>
          </a:p>
        </p:txBody>
      </p:sp>
      <p:sp>
        <p:nvSpPr>
          <p:cNvPr id="127" name="CQ2"/>
          <p:cNvSpPr txBox="1"/>
          <p:nvPr/>
        </p:nvSpPr>
        <p:spPr>
          <a:xfrm>
            <a:off x="6217920" y="3931920"/>
            <a:ext cx="2560320" cy="548640"/>
          </a:xfrm>
          <a:prstGeom prst="rect">
            <a:avLst/>
          </a:prstGeom>
          <a:noFill/>
          <a:ln>
            <a:noFill/>
          </a:ln>
        </p:spPr>
        <p:txBody>
          <a:bodyPr wrap="square" lIns="18288" tIns="18288" rIns="18288" bIns="18288" anchor="ctr"/>
          <a:lstStyle/>
          <a:p>
            <a:pPr algn="ctr">
              <a:spcAft>
                <a:spcPts val="0"/>
              </a:spcAft>
              <a:buNone/>
            </a:pPr>
            <a:r>
              <a:rPr lang="en-US" sz="1400" b="1" dirty="0">
                <a:solidFill>
                  <a:srgbClr val="8E6F3E"/>
                </a:solidFill>
              </a:rPr>
              <a:t>“This bound is exceeded.”</a:t>
            </a:r>
          </a:p>
        </p:txBody>
      </p:sp>
      <p:sp>
        <p:nvSpPr>
          <p:cNvPr id="128" name="Ital"/>
          <p:cNvSpPr txBox="1"/>
          <p:nvPr/>
        </p:nvSpPr>
        <p:spPr>
          <a:xfrm>
            <a:off x="685800" y="4937760"/>
            <a:ext cx="7772400" cy="32004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Expressible and in sync is still not the same as right.</a:t>
            </a:r>
          </a:p>
        </p:txBody>
      </p:sp>
      <p:sp>
        <p:nvSpPr>
          <p:cNvPr id="12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Meaning, correspondence, identity, joins: the machinery works.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But what happens when reality disagrees?</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1" name="OB0"/>
          <p:cNvSpPr/>
          <p:nvPr/>
        </p:nvSpPr>
        <p:spPr>
          <a:xfrm>
            <a:off x="731520" y="1143000"/>
            <a:ext cx="22860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transition forbidden</a:t>
            </a:r>
          </a:p>
        </p:txBody>
      </p:sp>
      <p:sp>
        <p:nvSpPr>
          <p:cNvPr id="102" name="OB1"/>
          <p:cNvSpPr/>
          <p:nvPr/>
        </p:nvSpPr>
        <p:spPr>
          <a:xfrm>
            <a:off x="3429000" y="1143000"/>
            <a:ext cx="22860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call prohibited</a:t>
            </a:r>
          </a:p>
        </p:txBody>
      </p:sp>
      <p:sp>
        <p:nvSpPr>
          <p:cNvPr id="103" name="OB2"/>
          <p:cNvSpPr/>
          <p:nvPr/>
        </p:nvSpPr>
        <p:spPr>
          <a:xfrm>
            <a:off x="6126480" y="1143000"/>
            <a:ext cx="22860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1" dirty="0">
                <a:solidFill>
                  <a:srgbClr val="5C4826"/>
                </a:solidFill>
              </a:rPr>
              <a:t>bound exceeded</a:t>
            </a:r>
          </a:p>
        </p:txBody>
      </p:sp>
      <p:cxnSp>
        <p:nvCxnSpPr>
          <p:cNvPr id="104" name="BLT0"/>
          <p:cNvCxnSpPr/>
          <p:nvPr/>
        </p:nvCxnSpPr>
        <p:spPr>
          <a:xfrm>
            <a:off x="1874520" y="1600200"/>
            <a:ext cx="1508760" cy="411480"/>
          </a:xfrm>
          <a:prstGeom prst="straightConnector1">
            <a:avLst/>
          </a:prstGeom>
          <a:ln w="19050">
            <a:solidFill>
              <a:srgbClr val="8E6F3E"/>
            </a:solidFill>
            <a:tailEnd type="triangle" w="med" len="med"/>
          </a:ln>
        </p:spPr>
      </p:cxnSp>
      <p:cxnSp>
        <p:nvCxnSpPr>
          <p:cNvPr id="105" name="BLT1"/>
          <p:cNvCxnSpPr/>
          <p:nvPr/>
        </p:nvCxnSpPr>
        <p:spPr>
          <a:xfrm>
            <a:off x="4572000" y="1600200"/>
            <a:ext cx="0" cy="411480"/>
          </a:xfrm>
          <a:prstGeom prst="straightConnector1">
            <a:avLst/>
          </a:prstGeom>
          <a:ln w="19050">
            <a:solidFill>
              <a:srgbClr val="8E6F3E"/>
            </a:solidFill>
            <a:tailEnd type="triangle" w="med" len="med"/>
          </a:ln>
        </p:spPr>
      </p:cxnSp>
      <p:cxnSp>
        <p:nvCxnSpPr>
          <p:cNvPr id="106" name="BLT2"/>
          <p:cNvCxnSpPr/>
          <p:nvPr/>
        </p:nvCxnSpPr>
        <p:spPr>
          <a:xfrm flipH="1">
            <a:off x="5760720" y="1600200"/>
            <a:ext cx="1508760" cy="411480"/>
          </a:xfrm>
          <a:prstGeom prst="straightConnector1">
            <a:avLst/>
          </a:prstGeom>
          <a:ln w="19050">
            <a:solidFill>
              <a:srgbClr val="8E6F3E"/>
            </a:solidFill>
            <a:tailEnd type="triangle" w="med" len="med"/>
          </a:ln>
        </p:spPr>
      </p:cxnSp>
      <p:sp>
        <p:nvSpPr>
          <p:cNvPr id="107" name="BLbl"/>
          <p:cNvSpPr txBox="1"/>
          <p:nvPr/>
        </p:nvSpPr>
        <p:spPr>
          <a:xfrm>
            <a:off x="5943600" y="2240280"/>
            <a:ext cx="3063240" cy="274320"/>
          </a:xfrm>
          <a:prstGeom prst="rect">
            <a:avLst/>
          </a:prstGeom>
          <a:noFill/>
          <a:ln>
            <a:noFill/>
          </a:ln>
        </p:spPr>
        <p:txBody>
          <a:bodyPr wrap="square" lIns="0" tIns="0" rIns="0" bIns="0" anchor="ctr"/>
          <a:lstStyle/>
          <a:p>
            <a:pPr algn="l">
              <a:spcAft>
                <a:spcPts val="0"/>
              </a:spcAft>
              <a:buNone/>
            </a:pPr>
            <a:r>
              <a:rPr lang="en-US" sz="1300" b="0" i="1" dirty="0">
                <a:solidFill>
                  <a:srgbClr val="555960"/>
                </a:solidFill>
              </a:rPr>
              <a:t>each arrow: reality disagrees with the claim</a:t>
            </a:r>
          </a:p>
        </p:txBody>
      </p:sp>
      <p:sp>
        <p:nvSpPr>
          <p:cNvPr id="108" name="R0"/>
          <p:cNvSpPr/>
          <p:nvPr/>
        </p:nvSpPr>
        <p:spPr>
          <a:xfrm>
            <a:off x="3429000" y="2103120"/>
            <a:ext cx="2286000" cy="54864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record?</a:t>
            </a:r>
          </a:p>
        </p:txBody>
      </p:sp>
      <p:sp>
        <p:nvSpPr>
          <p:cNvPr id="109" name="R1"/>
          <p:cNvSpPr/>
          <p:nvPr/>
        </p:nvSpPr>
        <p:spPr>
          <a:xfrm>
            <a:off x="3200400" y="2788920"/>
            <a:ext cx="2743200" cy="54864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warn?</a:t>
            </a:r>
          </a:p>
        </p:txBody>
      </p:sp>
      <p:sp>
        <p:nvSpPr>
          <p:cNvPr id="110" name="R2"/>
          <p:cNvSpPr/>
          <p:nvPr/>
        </p:nvSpPr>
        <p:spPr>
          <a:xfrm>
            <a:off x="2971800" y="3474720"/>
            <a:ext cx="32004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check in CI?</a:t>
            </a:r>
          </a:p>
        </p:txBody>
      </p:sp>
      <p:sp>
        <p:nvSpPr>
          <p:cNvPr id="111" name="R3"/>
          <p:cNvSpPr/>
          <p:nvPr/>
        </p:nvSpPr>
        <p:spPr>
          <a:xfrm>
            <a:off x="2743200" y="4160520"/>
            <a:ext cx="36576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block deployment?</a:t>
            </a:r>
          </a:p>
        </p:txBody>
      </p:sp>
      <p:sp>
        <p:nvSpPr>
          <p:cNvPr id="112" name="R4"/>
          <p:cNvSpPr/>
          <p:nvPr/>
        </p:nvSpPr>
        <p:spPr>
          <a:xfrm>
            <a:off x="2514600" y="4846320"/>
            <a:ext cx="4114800" cy="548640"/>
          </a:xfrm>
          <a:prstGeom prst="rect">
            <a:avLst/>
          </a:prstGeom>
          <a:solidFill>
            <a:srgbClr val="8E6F3E"/>
          </a:solidFill>
          <a:ln>
            <a:noFill/>
          </a:ln>
        </p:spPr>
        <p:txBody>
          <a:bodyPr wrap="square" lIns="27432" tIns="22860" rIns="27432" bIns="22860" anchor="ctr"/>
          <a:lstStyle/>
          <a:p>
            <a:pPr algn="ctr">
              <a:spcAft>
                <a:spcPts val="0"/>
              </a:spcAft>
              <a:buNone/>
            </a:pPr>
            <a:r>
              <a:rPr lang="en-US" sz="1600" b="1" dirty="0">
                <a:solidFill>
                  <a:srgbClr val="FFFFFF"/>
                </a:solidFill>
              </a:rPr>
              <a:t>prevent by construction?</a:t>
            </a:r>
          </a:p>
        </p:txBody>
      </p:sp>
      <p:sp>
        <p:nvSpPr>
          <p:cNvPr id="11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The model determines none of these.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500"/>
                                        <p:tgtEl>
                                          <p:spTgt spid="1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500"/>
                                        <p:tgtEl>
                                          <p:spTgt spid="1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hesis"/>
          <p:cNvSpPr txBox="1"/>
          <p:nvPr/>
        </p:nvSpPr>
        <p:spPr>
          <a:xfrm>
            <a:off x="685800" y="1417320"/>
            <a:ext cx="7772400" cy="1371600"/>
          </a:xfrm>
          <a:prstGeom prst="rect">
            <a:avLst/>
          </a:prstGeom>
          <a:noFill/>
          <a:ln>
            <a:noFill/>
          </a:ln>
        </p:spPr>
        <p:txBody>
          <a:bodyPr wrap="square" lIns="0" tIns="0" rIns="0" bIns="0" anchor="t"/>
          <a:lstStyle/>
          <a:p>
            <a:pPr algn="ctr">
              <a:spcAft>
                <a:spcPts val="600"/>
              </a:spcAft>
              <a:buNone/>
            </a:pPr>
            <a:r>
              <a:rPr lang="en-US" sz="3200" b="0" dirty="0">
                <a:solidFill>
                  <a:srgbClr val="000000"/>
                </a:solidFill>
              </a:rPr>
              <a:t>Modeling makes knowledge explicit.</a:t>
            </a:r>
          </a:p>
          <a:p>
            <a:pPr algn="ctr">
              <a:spcAft>
                <a:spcPts val="0"/>
              </a:spcAft>
              <a:buNone/>
            </a:pPr>
            <a:r>
              <a:rPr lang="en-US" sz="3200" b="0" dirty="0">
                <a:solidFill>
                  <a:srgbClr val="000000"/>
                </a:solidFill>
              </a:rPr>
              <a:t>Alignment gives it consequence.</a:t>
            </a:r>
          </a:p>
        </p:txBody>
      </p:sp>
      <p:sp>
        <p:nvSpPr>
          <p:cNvPr id="3"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102" name="Subline"/>
          <p:cNvSpPr txBox="1"/>
          <p:nvPr/>
        </p:nvSpPr>
        <p:spPr>
          <a:xfrm>
            <a:off x="1143000" y="3063240"/>
            <a:ext cx="6858000" cy="822960"/>
          </a:xfrm>
          <a:prstGeom prst="rect">
            <a:avLst/>
          </a:prstGeom>
          <a:noFill/>
          <a:ln>
            <a:noFill/>
          </a:ln>
        </p:spPr>
        <p:txBody>
          <a:bodyPr wrap="square" lIns="0" tIns="0" rIns="0" bIns="0" anchor="t"/>
          <a:lstStyle/>
          <a:p>
            <a:pPr algn="ctr">
              <a:spcAft>
                <a:spcPts val="300"/>
              </a:spcAft>
              <a:buNone/>
            </a:pPr>
            <a:r>
              <a:rPr lang="en-US" sz="1800" b="0" dirty="0">
                <a:solidFill>
                  <a:srgbClr val="555960"/>
                </a:solidFill>
              </a:rPr>
              <a:t>A model can make an illegal transition, a prohibited call, or an exceeded bound expressible.</a:t>
            </a:r>
          </a:p>
          <a:p>
            <a:pPr algn="ctr">
              <a:spcAft>
                <a:spcPts val="0"/>
              </a:spcAft>
              <a:buNone/>
            </a:pPr>
            <a:r>
              <a:rPr lang="en-US" sz="1800" b="0" dirty="0">
                <a:solidFill>
                  <a:srgbClr val="555960"/>
                </a:solidFill>
              </a:rPr>
              <a:t>It does not determine what the environment does about disagreement.</a:t>
            </a:r>
          </a:p>
        </p:txBody>
      </p:sp>
      <p:sp>
        <p:nvSpPr>
          <p:cNvPr id="103" name="HoLbl"/>
          <p:cNvSpPr txBox="1"/>
          <p:nvPr/>
        </p:nvSpPr>
        <p:spPr>
          <a:xfrm>
            <a:off x="685800" y="4343400"/>
            <a:ext cx="7772400" cy="27432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THE ARC — AND THE HANDOFF</a:t>
            </a:r>
          </a:p>
        </p:txBody>
      </p:sp>
      <p:sp>
        <p:nvSpPr>
          <p:cNvPr id="104" name="X0"/>
          <p:cNvSpPr/>
          <p:nvPr/>
        </p:nvSpPr>
        <p:spPr>
          <a:xfrm>
            <a:off x="274320" y="4718304"/>
            <a:ext cx="1508760" cy="56692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MEANING</a:t>
            </a:r>
          </a:p>
        </p:txBody>
      </p:sp>
      <p:cxnSp>
        <p:nvCxnSpPr>
          <p:cNvPr id="105" name="XA0"/>
          <p:cNvCxnSpPr/>
          <p:nvPr/>
        </p:nvCxnSpPr>
        <p:spPr>
          <a:xfrm>
            <a:off x="1805940" y="5001768"/>
            <a:ext cx="217170" cy="0"/>
          </a:xfrm>
          <a:prstGeom prst="straightConnector1">
            <a:avLst/>
          </a:prstGeom>
          <a:ln w="19050">
            <a:solidFill>
              <a:srgbClr val="C9B991"/>
            </a:solidFill>
            <a:tailEnd type="triangle" w="med" len="med"/>
          </a:ln>
        </p:spPr>
      </p:cxnSp>
      <p:sp>
        <p:nvSpPr>
          <p:cNvPr id="106" name="X1"/>
          <p:cNvSpPr/>
          <p:nvPr/>
        </p:nvSpPr>
        <p:spPr>
          <a:xfrm>
            <a:off x="2045970" y="4718304"/>
            <a:ext cx="1508760" cy="56692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CORRESPONDENCE</a:t>
            </a:r>
          </a:p>
        </p:txBody>
      </p:sp>
      <p:cxnSp>
        <p:nvCxnSpPr>
          <p:cNvPr id="107" name="XA1"/>
          <p:cNvCxnSpPr/>
          <p:nvPr/>
        </p:nvCxnSpPr>
        <p:spPr>
          <a:xfrm>
            <a:off x="3577590" y="5001768"/>
            <a:ext cx="217170" cy="0"/>
          </a:xfrm>
          <a:prstGeom prst="straightConnector1">
            <a:avLst/>
          </a:prstGeom>
          <a:ln w="19050">
            <a:solidFill>
              <a:srgbClr val="C9B991"/>
            </a:solidFill>
            <a:tailEnd type="triangle" w="med" len="med"/>
          </a:ln>
        </p:spPr>
      </p:cxnSp>
      <p:sp>
        <p:nvSpPr>
          <p:cNvPr id="108" name="X2"/>
          <p:cNvSpPr/>
          <p:nvPr/>
        </p:nvSpPr>
        <p:spPr>
          <a:xfrm>
            <a:off x="3817620" y="4718304"/>
            <a:ext cx="1508760" cy="56692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IDENTITY</a:t>
            </a:r>
          </a:p>
        </p:txBody>
      </p:sp>
      <p:cxnSp>
        <p:nvCxnSpPr>
          <p:cNvPr id="109" name="XA2"/>
          <p:cNvCxnSpPr/>
          <p:nvPr/>
        </p:nvCxnSpPr>
        <p:spPr>
          <a:xfrm>
            <a:off x="5349240" y="5001768"/>
            <a:ext cx="217170" cy="0"/>
          </a:xfrm>
          <a:prstGeom prst="straightConnector1">
            <a:avLst/>
          </a:prstGeom>
          <a:ln w="19050">
            <a:solidFill>
              <a:srgbClr val="C9B991"/>
            </a:solidFill>
            <a:tailEnd type="triangle" w="med" len="med"/>
          </a:ln>
        </p:spPr>
      </p:cxnSp>
      <p:sp>
        <p:nvSpPr>
          <p:cNvPr id="110" name="X3"/>
          <p:cNvSpPr/>
          <p:nvPr/>
        </p:nvSpPr>
        <p:spPr>
          <a:xfrm>
            <a:off x="5589270" y="4718304"/>
            <a:ext cx="1508760" cy="56692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300" b="1" dirty="0">
                <a:solidFill>
                  <a:srgbClr val="5C4826"/>
                </a:solidFill>
              </a:rPr>
              <a:t>COMPOSITION</a:t>
            </a:r>
          </a:p>
        </p:txBody>
      </p:sp>
      <p:cxnSp>
        <p:nvCxnSpPr>
          <p:cNvPr id="111" name="XA3"/>
          <p:cNvCxnSpPr/>
          <p:nvPr/>
        </p:nvCxnSpPr>
        <p:spPr>
          <a:xfrm>
            <a:off x="7120890" y="5001768"/>
            <a:ext cx="217170" cy="0"/>
          </a:xfrm>
          <a:prstGeom prst="straightConnector1">
            <a:avLst/>
          </a:prstGeom>
          <a:ln w="38100">
            <a:solidFill>
              <a:srgbClr val="8E6F3E"/>
            </a:solidFill>
            <a:tailEnd type="triangle" w="med" len="med"/>
          </a:ln>
        </p:spPr>
      </p:cxnSp>
      <p:sp>
        <p:nvSpPr>
          <p:cNvPr id="112" name="X4"/>
          <p:cNvSpPr/>
          <p:nvPr/>
        </p:nvSpPr>
        <p:spPr>
          <a:xfrm>
            <a:off x="7360920" y="4718304"/>
            <a:ext cx="15087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1300" b="1" dirty="0">
                <a:solidFill>
                  <a:srgbClr val="FFFFFF"/>
                </a:solidFill>
              </a:rPr>
              <a:t>ALIGNMENT</a:t>
            </a:r>
          </a:p>
        </p:txBody>
      </p:sp>
      <p:sp>
        <p:nvSpPr>
          <p:cNvPr id="113" name="Pointer"/>
          <p:cNvSpPr txBox="1"/>
          <p:nvPr/>
        </p:nvSpPr>
        <p:spPr>
          <a:xfrm>
            <a:off x="685800" y="5486400"/>
            <a:ext cx="7772400" cy="365760"/>
          </a:xfrm>
          <a:prstGeom prst="rect">
            <a:avLst/>
          </a:prstGeom>
          <a:noFill/>
          <a:ln>
            <a:noFill/>
          </a:ln>
        </p:spPr>
        <p:txBody>
          <a:bodyPr wrap="square" lIns="0" tIns="0" rIns="0" bIns="0" anchor="t"/>
          <a:lstStyle/>
          <a:p>
            <a:pPr algn="ctr">
              <a:spcAft>
                <a:spcPts val="0"/>
              </a:spcAft>
              <a:buNone/>
            </a:pPr>
            <a:r>
              <a:rPr lang="en-US" sz="1800" b="0" i="1" dirty="0">
                <a:solidFill>
                  <a:srgbClr val="555960"/>
                </a:solidFill>
              </a:rPr>
              <a:t>Next: Alignment — what consequence should explicit knowledge have?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That’s the Modeling unit</a:t>
            </a:r>
          </a:p>
        </p:txBody>
      </p:sp>
      <p:sp>
        <p:nvSpPr>
          <p:cNvPr id="2" name="Content Placeholder 1"/>
          <p:cNvSpPr>
            <a:spLocks noGrp="1"/>
          </p:cNvSpPr>
          <p:nvPr>
            <p:ph idx="1"/>
          </p:nvPr>
        </p:nvSpPr>
        <p:spPr/>
        <p:txBody>
          <a:bodyPr/>
          <a:lstStyle/>
          <a:p>
            <a:r>
              <a:rPr lang="en-US" dirty="0"/>
              <a:t>Feedback: two minutes, anonymous — what landed, what didn’t.</a:t>
            </a:r>
          </a:p>
          <a:p>
            <a:r>
              <a:rPr lang="en-US" dirty="0"/>
              <a:t>Next session: Alignment.</a:t>
            </a:r>
          </a:p>
        </p:txBody>
      </p:sp>
      <p:sp>
        <p:nvSpPr>
          <p:cNvPr id="4" name="Slide Number Placeholder 3"/>
          <p:cNvSpPr>
            <a:spLocks noGrp="1"/>
          </p:cNvSpPr>
          <p:nvPr>
            <p:ph type="sldNum" sz="quarter" idx="4"/>
          </p:nvPr>
        </p:nvSpPr>
        <p:spPr/>
        <p:txBody>
          <a:bodyPr/>
          <a:lstStyle/>
          <a:p>
            <a:fld id="{B7EB45DA-9A0D-DC49-8E02-F30A5DDC21C3}" type="slidenum">
              <a:rPr lang="en-US" smtClean="0"/>
              <a:t>1</a:t>
            </a:fld>
            <a:endParaRPr lang="en-US"/>
          </a:p>
        </p:txBody>
      </p:sp>
      <p:sp>
        <p:nvSpPr>
          <p:cNvPr id="5" name="QRPlaceholder"/>
          <p:cNvSpPr/>
          <p:nvPr/>
        </p:nvSpPr>
        <p:spPr>
          <a:xfrm>
            <a:off x="3273984" y="2956964"/>
            <a:ext cx="2596032" cy="2596032"/>
          </a:xfrm>
          <a:prstGeom prst="rect">
            <a:avLst/>
          </a:prstGeom>
          <a:solidFill>
            <a:srgbClr val="FBF8F2"/>
          </a:solidFill>
          <a:ln w="15875">
            <a:solidFill>
              <a:srgbClr val="C9B991"/>
            </a:solidFill>
            <a:prstDash val="dash"/>
          </a:ln>
        </p:spPr>
        <p:txBody>
          <a:bodyPr wrap="square" lIns="91440" tIns="91440" rIns="91440" bIns="91440" anchor="ctr"/>
          <a:lstStyle/>
          <a:p>
            <a:pPr algn="ctr">
              <a:buNone/>
            </a:pPr>
            <a:r>
              <a:rPr lang="en-US" sz="1800" b="1" i="0" dirty="0">
                <a:solidFill>
                  <a:srgbClr val="8E6F3E"/>
                </a:solidFill>
              </a:rPr>
              <a:t>QR PLACEHOLDER</a:t>
            </a:r>
          </a:p>
          <a:p>
            <a:pPr algn="ctr">
              <a:buNone/>
            </a:pPr>
            <a:r>
              <a:rPr lang="en-US" sz="1800" b="0" i="1" dirty="0">
                <a:solidFill>
                  <a:srgbClr val="555960"/>
                </a:solidFill>
              </a:rPr>
              <a:t>feedback form pending</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8564</TotalTime>
  <Words>3469</Words>
  <Application>Microsoft Macintosh PowerPoint</Application>
  <PresentationFormat>On-screen Show (4:3)</PresentationFormat>
  <Paragraphs>694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Purdue1</vt:lpstr>
      <vt:lpstr>PowerPoint Presentation</vt:lpstr>
      <vt:lpstr>Many models, one changing system</vt:lpstr>
      <vt:lpstr>Useful alone does not mean dependable together</vt:lpstr>
      <vt:lpstr>MEANING</vt:lpstr>
      <vt:lpstr>An arrow has no semantics by itself</vt:lpstr>
      <vt:lpstr>Absence has semantics too</vt:lpstr>
      <vt:lpstr>Models need semantics, not just syntax</vt:lpstr>
      <vt:lpstr>CORRESPONDENCE</vt:lpstr>
      <vt:lpstr>Correspondence is an engineering obligation</vt:lpstr>
      <vt:lpstr>Derive — when the implementation owns the fact</vt:lpstr>
      <vt:lpstr>Generate — when the model owns the fact</vt:lpstr>
      <vt:lpstr>Check — when neither can simply derive the other</vt:lpstr>
      <vt:lpstr>Correspondence does not mean correctness</vt:lpstr>
      <vt:lpstr>IDENTITY</vt:lpstr>
      <vt:lpstr>Names are not identities</vt:lpstr>
      <vt:lpstr>Give each fact an authoritative source</vt:lpstr>
      <vt:lpstr>COMPOSITION</vt:lpstr>
      <vt:lpstr>No single model answers it</vt:lpstr>
      <vt:lpstr>The answer lives in the join</vt:lpstr>
      <vt:lpstr>There need not be a grand model</vt:lpstr>
      <vt:lpstr>How much to unify is itself a modeling decision</vt:lpstr>
      <vt:lpstr>Activity: Join — what follows?</vt:lpstr>
      <vt:lpstr>What can you NOT conclude?</vt:lpstr>
      <vt:lpstr>Second reveal: payload = document content</vt:lpstr>
      <vt:lpstr>A join creates leverage, not certainty</vt:lpstr>
      <vt:lpstr>Stretch break</vt:lpstr>
      <vt:lpstr>A model can state an obligation</vt:lpstr>
      <vt:lpstr>But what happens when reality disagrees?</vt:lpstr>
      <vt:lpstr>PowerPoint Presentation</vt:lpstr>
      <vt:lpstr>That’s the Modeling unit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398</cp:revision>
  <dcterms:created xsi:type="dcterms:W3CDTF">2020-02-21T23:00:33Z</dcterms:created>
  <dcterms:modified xsi:type="dcterms:W3CDTF">2026-09-29T15:52:00Z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