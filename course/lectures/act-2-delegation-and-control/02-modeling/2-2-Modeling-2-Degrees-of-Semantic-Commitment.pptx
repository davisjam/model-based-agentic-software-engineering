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81" r:id="rId33"/>
    <p:sldId id="260" r:id="rId12"/>
    <p:sldId id="261" r:id="rId13"/>
    <p:sldId id="262" r:id="rId14"/>
    <p:sldId id="263" r:id="rId15"/>
    <p:sldId id="280" r:id="rId32"/>
    <p:sldId id="264" r:id="rId16"/>
    <p:sldId id="265" r:id="rId17"/>
    <p:sldId id="266" r:id="rId18"/>
    <p:sldId id="279" r:id="rId31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14.xml"/><Relationship Id="rId32" Type="http://schemas.openxmlformats.org/officeDocument/2006/relationships/slide" Target="slides/slide10.xml"/><Relationship Id="rId33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2 of the Modeling unit. Last time: one model, one question — purposeful reduction. Today: a second, independent axis — how much of its meaning a representation carries explicitly — and then we work with a semantically defined model in the MAGE Workbench.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Thirty-second callback. Bring back degrees of freedom explicitly — slide 7 needs them. The banner is deliberately half a sentence: slide 4 completes it (semantic commitment governs how much the model itself says about what it means).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Motivation, not technical argument — which is why this slide lives in the opening. Wording discipline: 'helped develop the standard', not 'use it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thesis of the lecture, plus the map. The arc: what does the representation mean → what can we do because it means that → what is it like to work with one. §4 is optional/reference.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Reused from the strongest material of the previous deck. Run the readings quickly; the point lands in one beat. This is the itch §1 scratches: where does the meaning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Folds the draft's cost slide in. No disparagement of informal modeling — the sketch is often the right engineering choice. The question is what the representation must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draft wanted this visually strong: the two-axis figure IS the slide. Folds degrees of freedom back in from Lecture 1. Sets up the table's non-monotonic realization-freedom column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culmination of §1 — the Chapter 2 table (book §2.1.4, label semantic-commitment-spectrum), deck-condensed from six columns to five (row-label and Agentic-implication columns dropped; 'What it enables' added back per the author's deck sketch; cell wording from the landed chapter, including the renamed Interpretation-burden column). The burden column relocates interpretive work — it does not rank informal=human-friendly vs formal=machine-friendly. SysML/KerML appears only as the strongest-commitment row. The red cell is the point: the freedom column is NOT monotonically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concrete example per operation, not five bare nouns. The examples are drawn from the embedded-sensor-node model students meet in §3 — deliberate foreshadowing.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honest answer to the skeptical question: sometimes we should — deterministic transformation for what the model genuinely determines. Then the tension: fully-generative modeling collapses into programming. Ties §2 back to purposeful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§2 synthesis: machine-operable semantics → generation challenge → the agentic answer. Agents can cross the realization gap a purposeful model deliberately leaves. Don't teach 'agents should extend the language' — teach promotion of recurring consequential knowledge into durable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screenshot: the Embedded Sensor Node example loaded, viewing the Sensor Firmware SRAM model. Orientation only: the models rail and saved properties (left), the drawn model and its declared purpose (center), inspector and actions (right). Don't tour controls — the next slide starts from an engineering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panels are real Workbench output for the shipped example. Surface honesty: the quantity question runs as a SAVED question ('The modeled firmware fits in the 256 KiB SRAM budget') — the composable ask surface covers graph questions. Provenance is displayed: DERIVED FROM both models, 'exhaustive over 1 configuration', plus an evaluation fingerprint.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agent from the friction, not as a feature checklist. The agent operates the model through window.mage; the semantic result comes from the model's machinery, and the agent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Release students into the activity. The numbers come from the shipped model: 9 allocations totalling 232 KB against 256 KiB; doubling telemetry-queue breaks the pinned requirement by 8 KB; restoring a 20% margin needs ≤204.8 KB. Largest single allocation: model-weights at 72 KB (31% of budget).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 payoff, and the lecture's punchline — quoted from the shipped artifact itself, not asserted. The model's purpose block lists 'operating modes' as its first declared omission. Students can try the agent first; the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Alignment handoff closes the core lecture (kept from the previous deck). §4 is optional/reference. The frame: §3's model documented operating modes as its missing distinction; §4 works a sibling system where those distinctions are modeled — in SysML v2, the strongest-commitment row of slide 8's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system once, with the actual numbers; slides 19-21 reason over them. The excerpt is abridged notation, not a complete model. Power figures: Sleep 0.1 mW; Sample 5 mW for 50 ms per sample; Transmit 60 mW while draining at 4 KiB/s.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trap: average-rate reasoning. The machine: Sleep -sample timer-&gt; Sample -done-&gt; Sleep; Sleep -tx timer-&gt; Transmit -tx done-&gt; Sleep; Sample -buffer full-&gt; Transmit. Data is drained only in Transmit, so the buffer's fate depends on when Transmit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composition slowly. Honesty constraint: the derivation is hand-performed; the language's semantics license it (typed quantities, units, state occupancy), but no available tool executes it — foreshadow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are chosen so the answer is nontrivial and mechanically derivable BY HAND: the naive overflow prediction is wrong (behavior rescues it), and the passing power budget flips to failing. Arithmetic: 12 samples per 30 s; transmit 12x512/4096 = 1.5 s -&gt; 60 mW x 1.5 s = 90 mJ; sample 5 mW x 12 x 0.05 s = 3.0 mJ; sleep 0.1 mW x (30 - 1.5 - 0.6) = 0.1 x 27.9 = 2.79 mJ; total 95.79 mJ / 30 s = 3.19 = ~3.2 mW against a 2 mW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slide. The derivations of slides 19-21 are licensed by the language's defined semantics and were carried out by hand. Measured ground truth (workbench differential-conformance design, Oct 2026): the Pilot parses/validates but cannot execute machines, produce verification verdicts, or normalize quantities; dimension conformance is unchecked at kernel 0.62.0. Express vs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Symmetry close: the same question that ended §3 ends §4. Even the strongest-commitment language leaves purposeful omissions; commitment buys precision about what IS modeled, never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 spc="200">
                <a:solidFill>
                  <a:srgbClr val="353638"/>
                </a:solidFill>
                <a:latin typeface="Calibri"/>
              </a:rPr>
              <a:t>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 spc="160">
                <a:solidFill>
                  <a:srgbClr val="353638"/>
                </a:solidFill>
                <a:latin typeface="Calibri"/>
              </a:rPr>
              <a:t>ECE 30861 / CSCI 45000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412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00" b="0" i="0">
                <a:solidFill>
                  <a:srgbClr val="000000"/>
                </a:solidFill>
                <a:latin typeface="Calibri"/>
              </a:rPr>
              <a:t>Modeling: Degrees of Semantic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8E6F3E"/>
                </a:solidFill>
                <a:latin typeface="Calibri"/>
              </a:rPr>
              <a:t>Models carry different amounts of their own meaning.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353638"/>
                </a:solidFill>
                <a:latin typeface="Calibri"/>
              </a:rPr>
              <a:t>Prof. James C. Davis</a:t>
            </a:r>
          </a:p>
          <a:p>
            <a:pPr algn="ctr"/>
            <a:r>
              <a:rPr sz="1300" b="0" i="1">
                <a:solidFill>
                  <a:srgbClr val="353638"/>
                </a:solidFill>
                <a:latin typeface="Calibri"/>
              </a:rPr>
              <a:t>Prof. Steve France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77439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1772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5800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the same marks can carry more — or less — of their own meaning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53638"/>
                </a:solidFill>
                <a:latin typeface="Calibri"/>
              </a:rPr>
              <a:t>Lecture 1: Purposeful reduction — what must the model preserve?</a:t>
            </a:r>
          </a:p>
          <a:p>
            <a:pPr algn="ctr"/>
            <a:r>
              <a:rPr sz="1300" b="0" i="0">
                <a:solidFill>
                  <a:srgbClr val="353638"/>
                </a:solidFill>
                <a:latin typeface="Calibri"/>
              </a:rPr>
              <a:t>Lecture 2 (today): Semantic commitment — and a modeling laboratory.</a:t>
            </a:r>
          </a:p>
        </p:txBody>
      </p:sp>
      <p:pic>
        <p:nvPicPr>
          <p:cNvPr id="18" name="Picture 17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5669280"/>
            <a:ext cx="4389120" cy="4698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Last time: purposeful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5C4826"/>
                </a:solidFill>
                <a:latin typeface="Calibri"/>
              </a:rPr>
              <a:t>An engineering model preserves the distinctions required by a question</a:t>
            </a:r>
          </a:p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5C4826"/>
                </a:solidFill>
                <a:latin typeface="Calibri"/>
              </a:rPr>
              <a:t>and deliberately leaves other choices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2888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52928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34256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54296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35624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55664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8920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the discipline from Lecture 1 — every model starts from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8E6F3E"/>
                </a:solidFill>
                <a:latin typeface="Calibri"/>
              </a:rPr>
              <a:t>WHAT THE MODEL PRESERVES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The distinctions the question requires: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states and forbidden transitions, typed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relations, quantities and bounds.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8E6F3E"/>
                </a:solidFill>
                <a:latin typeface="Calibri"/>
              </a:rPr>
              <a:t>WHAT STAYS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93192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Degrees of freedom — realization choices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the model deliberately does not settle: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algorithms, data structures, naming,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decomposition.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Purposeful reduction governs what the model says.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Who uses semantic models?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AEROSPACE &amp;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Boeing · Airbus · Lockheed Martin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AUTOMOTIVE &amp; INDUSTRIAL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Siemens · peer industrial firms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ENGINEERING-TOOL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Dassault Systèmes · Ansys · PTC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GOVERNMENT &amp;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Space and defense agencies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· research laboratories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53638"/>
                </a:solidFill>
                <a:latin typeface="Calibri"/>
              </a:rPr>
              <a:t>These organizations helped develop SysML v2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— the OMG contributor and signatory ecosystem.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33672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960"/>
                </a:solidFill>
                <a:latin typeface="Calibri"/>
              </a:rPr>
              <a:t>That is the claim — not that every one of them runs SysML v2 in production today.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09160"/>
            <a:ext cx="804672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7589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C4826"/>
                </a:solidFill>
                <a:latin typeface="Calibri"/>
              </a:rPr>
              <a:t>The commonality: they engineer consequential systems where software meets physical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C4826"/>
                </a:solidFill>
                <a:latin typeface="Calibri"/>
              </a:rPr>
              <a:t>resources, timing, safety, power, hardware, organizations, requirements, and other systems.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They need models that support consequential engineering reasoning — not merely pictures.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3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Today: from meaning to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53638"/>
                </a:solidFill>
                <a:latin typeface="Calibri"/>
              </a:rPr>
              <a:t>Two independent questions about any model: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9319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What distinctions does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the model preserve?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6F3E"/>
                </a:solidFill>
                <a:latin typeface="Calibri"/>
              </a:rPr>
              <a:t>purposeful reduction — Lecture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25880"/>
            <a:ext cx="3931920" cy="137160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How explicitly does the representation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define what those distinctions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6F3E"/>
                </a:solidFill>
                <a:latin typeface="Calibri"/>
              </a:rPr>
              <a:t>semantic commitment —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10515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SECTION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1752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does the representation mean?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39"/>
            <a:ext cx="10515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4903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Engineering with Semantic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3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can we do because it means that?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59"/>
            <a:ext cx="10515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48055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Working with Semantic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8055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is it like to work with one?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→ the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79"/>
            <a:ext cx="1051560" cy="566928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SECTION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21207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Optional: Reasoning with</a:t>
            </a:r>
          </a:p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SysML and KerML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521207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reference — a worked example,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after the core lecture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Two models can preserve the same distinctions and carry their meaning very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4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DEGREES OF SEMANTIC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How much meaning does the representation carry?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does this arrow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0312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400" b="1" i="0">
                <a:solidFill>
                  <a:srgbClr val="5C4826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400" b="1" i="0">
                <a:solidFill>
                  <a:srgbClr val="5C4826"/>
                </a:solidFill>
                <a:latin typeface="Calibri"/>
              </a:rPr>
              <a:t>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714500"/>
            <a:ext cx="2560320" cy="0"/>
          </a:xfrm>
          <a:prstGeom prst="line">
            <a:avLst/>
          </a:prstGeom>
          <a:ln w="381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606040"/>
            <a:ext cx="9601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calls?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606040"/>
            <a:ext cx="12344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may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606040"/>
            <a:ext cx="14173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depends 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6" y="2606040"/>
            <a:ext cx="16002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sends data to?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06040"/>
            <a:ext cx="22860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was observed calling?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53638"/>
                </a:solidFill>
                <a:latin typeface="Calibri"/>
              </a:rPr>
              <a:t>Same marks. </a:t>
            </a:r>
            <a:r>
              <a:rPr sz="1600" b="0" i="0">
                <a:solidFill>
                  <a:srgbClr val="353638"/>
                </a:solidFill>
                <a:latin typeface="Calibri"/>
              </a:rPr>
              <a:t>Different engineering claims.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069080"/>
            <a:ext cx="6766560" cy="1554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79392"/>
            <a:ext cx="6217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A diagram that permits five readings licenses none.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Whoever interprets the sketch — teammate or agent — supplies the meaning
the marks do not carry.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marks are the same; the meaning is supplied by the interpreter.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5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Models carry different amounts of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589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8E6F3E"/>
                </a:solidFill>
                <a:latin typeface="Calibri"/>
              </a:rPr>
              <a:t>SEMANTIC COMMITMENT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5C4826"/>
                </a:solidFill>
                <a:latin typeface="Calibri"/>
              </a:rPr>
              <a:t>How much of a representation's meaning is carried explicitly by the representation itself,
rather than supplied by whoever — or whatever — interprets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379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examples along one axis — not maturity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53638"/>
                </a:solidFill>
                <a:latin typeface="Calibri"/>
              </a:rPr>
              <a:t>A quick sketch may be exactly right when several engineers need to communicate an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53638"/>
                </a:solidFill>
                <a:latin typeface="Calibri"/>
              </a:rPr>
              <a:t>architectural idea to one another — or to an agent for a prototype.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STRONGER SEMANTICS 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reliable interpretation · query ·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composition · analysis ·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AND THEY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498848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authoring effort · expertise · tooling ·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maintenance · sometimes human accessibility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engineering decision is not “maximize semantics.”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Precision is not completeness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005840" y="1188720"/>
            <a:ext cx="0" cy="329184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4480560"/>
            <a:ext cx="3474720" cy="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960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80">
                <a:solidFill>
                  <a:srgbClr val="5C4826"/>
                </a:solidFill>
                <a:latin typeface="Calibri"/>
              </a:rPr>
              <a:t>AMOUNT 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5902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80">
                <a:solidFill>
                  <a:srgbClr val="5C4826"/>
                </a:solidFill>
                <a:latin typeface="Calibri"/>
              </a:rPr>
              <a:t>PRECISION OF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554480"/>
            <a:ext cx="17373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an enormous prose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spec — still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ambiguous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3200400"/>
            <a:ext cx="1737360" cy="7772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a tiny model —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semantically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precise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114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The two axes are independent.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Neither corner implies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188720"/>
            <a:ext cx="365760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 spc="60">
                <a:solidFill>
                  <a:srgbClr val="8E6F3E"/>
                </a:solidFill>
                <a:latin typeface="Calibri"/>
              </a:rPr>
              <a:t>DEGREES OF FREEDOM SURVIVE</a:t>
            </a:r>
          </a:p>
          <a:p>
            <a:pPr algn="l">
              <a:lnSpc>
                <a:spcPct val="110000"/>
              </a:lnSpc>
            </a:pPr>
            <a:r>
              <a:rPr sz="1200" b="1" i="0" spc="60">
                <a:solidFill>
                  <a:srgbClr val="8E6F3E"/>
                </a:solidFill>
                <a:latin typeface="Calibri"/>
              </a:rPr>
              <a:t>STRONGER SEMANTICS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 model may precisely define memory,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allocation, units, and a resource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constraint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1546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— while saying nothing about data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structures, algorithms, task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decomposition, naming, or logging.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5720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1">
                <a:solidFill>
                  <a:srgbClr val="5C4826"/>
                </a:solidFill>
                <a:latin typeface="Calibri"/>
              </a:rPr>
              <a:t>Those are not gaps. They are</a:t>
            </a:r>
          </a:p>
          <a:p>
            <a:pPr algn="l">
              <a:lnSpc>
                <a:spcPct val="110000"/>
              </a:lnSpc>
            </a:pPr>
            <a:r>
              <a:rPr sz="1200" b="1" i="1">
                <a:solidFill>
                  <a:srgbClr val="5C4826"/>
                </a:solidFill>
                <a:latin typeface="Calibri"/>
              </a:rPr>
              <a:t>authorized freedom.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Precision about modeled decisions does not settle unmodeled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7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3716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Concrete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960120"/>
            <a:ext cx="18288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Where the meaning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960120"/>
            <a:ext cx="18288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Interpretation burden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960120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it enables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960120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Remaining realization freedom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7048"/>
            <a:ext cx="13716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Informal box-and-arrow sketch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527048"/>
            <a:ext cx="18288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Almost none in the marks — the team supplies what boxes and arrows mean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527048"/>
            <a:ext cx="18288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Low if you share the context; high if you do not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527048"/>
            <a:ext cx="164592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Fast communication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527048"/>
            <a:ext cx="164592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Very large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14600"/>
            <a:ext cx="13716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UML 2.5.1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514600"/>
            <a:ext cx="18288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Standardized model elements and relationships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514600"/>
            <a:ext cx="18288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Requires notation knowledge and project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2514600"/>
            <a:ext cx="164592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More precise shared interpretation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514600"/>
            <a:ext cx="164592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Large — describes selected aspects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19272"/>
            <a:ext cx="13716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OpenAPI 3.1 / JSON Schema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319272"/>
            <a:ext cx="18288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Explicit machine-readable types, fields, constraints, references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3319272"/>
            <a:ext cx="18288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Structure explicit; domain intent remains contextual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319272"/>
            <a:ext cx="164592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Inspection, validation, transformation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3319272"/>
            <a:ext cx="164592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Often still large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51960"/>
            <a:ext cx="13716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251960"/>
            <a:ext cx="18288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Types, relationships, expressions, constraints defined as part of the language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4251960"/>
            <a:ext cx="18288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Language and tool knowledge up front — less semantics to reconstruct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4251960"/>
            <a:ext cx="164592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Query, composition, analysis, machine reasoning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51960"/>
            <a:ext cx="164592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C8102E"/>
                </a:solidFill>
                <a:latin typeface="Calibri"/>
              </a:rPr>
              <a:t>Potentially very large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495544"/>
            <a:ext cx="8321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5C4826"/>
                </a:solidFill>
                <a:latin typeface="Calibri"/>
              </a:rPr>
              <a:t>Interpretation burden is relocated, not removed. </a:t>
            </a:r>
            <a:r>
              <a:rPr sz="1100" b="0" i="1">
                <a:solidFill>
                  <a:srgbClr val="555960"/>
                </a:solidFill>
                <a:latin typeface="Calibri"/>
              </a:rPr>
              <a:t>And realization freedom does not shrink as commitment grows — </a:t>
            </a:r>
            <a:r>
              <a:rPr sz="1100" b="1" i="1">
                <a:solidFill>
                  <a:srgbClr val="C8102E"/>
                </a:solidFill>
                <a:latin typeface="Calibri"/>
              </a:rPr>
              <a:t>precise semantics do not imply complete specification.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These are examples, not maturity levels. Semantic precision and amount specified are different dimensions.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8</a:t>
            </a:r>
          </a:p>
        </p:txBody>
      </p:sp>
      <p:pic>
        <p:nvPicPr>
          <p:cNvPr id="32" name="Picture 3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ENGINEERING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What can we do because the model carries meaning?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semantics buys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560320"/>
            <a:ext cx="1828800" cy="11887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SEMANTIC</a:t>
            </a:r>
          </a:p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377440" y="1435607"/>
            <a:ext cx="640080" cy="1719073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017520" y="1051560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051560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“which buffers does the radio stack own?”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77440" y="2368296"/>
            <a:ext cx="640080" cy="786384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017520" y="1984248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984248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join two models: “does an optional component feed an essential one?”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154680"/>
            <a:ext cx="640080" cy="146304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017520" y="2916936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2916936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“do the allocations fit the 256 KiB budget — with how much margin?”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3154680"/>
            <a:ext cx="640080" cy="1078992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017520" y="3849624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validate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3849624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“is this comparison licensed by a declared ordered domain?”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154680"/>
            <a:ext cx="640080" cy="201168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017520" y="4782312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generate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82312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“emit the interface types from the one declared schema”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7607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960"/>
                </a:solidFill>
                <a:latin typeface="Calibri"/>
              </a:rPr>
              <a:t>one concrete example each — the first four return as questions in §3's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Selected meanings become machine-operable.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9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If machines understand the model, why not generate the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5C4826"/>
                </a:solidFill>
                <a:latin typeface="Calibri"/>
              </a:rPr>
              <a:t>Sometimes we should.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886200" cy="2697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GENERATE WHAT THE MODEL DETERMINES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configuration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interfaces and schemas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state-machine fragments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deployment artifacts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boilerplate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783080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Want the generator to decide less</a:t>
            </a:r>
          </a:p>
        </p:txBody>
      </p:sp>
      <p:sp>
        <p:nvSpPr>
          <p:cNvPr id="9" name="Down Arrow 8"/>
          <p:cNvSpPr/>
          <p:nvPr/>
        </p:nvSpPr>
        <p:spPr>
          <a:xfrm>
            <a:off x="6629400" y="2313432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2578608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The model must decide more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629400" y="3108960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46320" y="3374136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More realization encoded in the 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29400" y="3904487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4169663"/>
            <a:ext cx="3749039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At the limit: you have built another</a:t>
            </a:r>
          </a:p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programming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7492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53638"/>
                </a:solidFill>
                <a:latin typeface="Calibri"/>
              </a:rPr>
              <a:t>Purposeful reduction says: that may not be what we want. </a:t>
            </a:r>
            <a:r>
              <a:rPr sz="1400" b="0" i="0">
                <a:solidFill>
                  <a:srgbClr val="353638"/>
                </a:solidFill>
                <a:latin typeface="Calibri"/>
              </a:rPr>
              <a:t>The decisions worth modeling are not
always the decisions needed to determine the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Generation needs the decision to be made.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10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Generate, delegate, or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6517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purposeful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obligations + freedom</a:t>
            </a:r>
          </a:p>
        </p:txBody>
      </p:sp>
      <p:sp>
        <p:nvSpPr>
          <p:cNvPr id="6" name="Down Arrow 5"/>
          <p:cNvSpPr/>
          <p:nvPr/>
        </p:nvSpPr>
        <p:spPr>
          <a:xfrm>
            <a:off x="1783080" y="169164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743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realization choices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83080" y="269748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65176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353638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Traditional generator: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specify enough to
determine the transformation.</a:t>
            </a:r>
          </a:p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Agentic implementation: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specify what
matters; delegate the remaining choices.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097280"/>
            <a:ext cx="210312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Kind of 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554480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Mechanically determined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1554480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Generate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212848"/>
            <a:ext cx="210312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Open within modeled obligations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212848"/>
            <a:ext cx="182880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Delegate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871215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Recurring and consequential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2871215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Consider modeling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600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The third row is how recurring, consequential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knowledge gets promoted into durable structure —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a library, a domain extension.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804672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2920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8E6F3E"/>
                </a:solidFill>
                <a:latin typeface="Calibri"/>
              </a:rPr>
              <a:t>MODEL: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  what matters · obligations · properties        </a:t>
            </a:r>
            <a:r>
              <a:rPr sz="1250" b="1" i="0">
                <a:solidFill>
                  <a:srgbClr val="8E6F3E"/>
                </a:solidFill>
                <a:latin typeface="Calibri"/>
              </a:rPr>
              <a:t>IMPLEMENTATION: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  one realization · many further decisions</a:t>
            </a:r>
          </a:p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960"/>
                </a:solidFill>
                <a:latin typeface="Calibri"/>
              </a:rPr>
              <a:t>Some relationships are generation, some delegation, some validation back against the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model is not another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11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3  · 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WORKING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3075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What is it like to engineer with one?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The MAGE Workbench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wb-slide1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863840" cy="4406208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  <a:latin typeface="Consolas"/>
              </a:rPr>
              <a:t>davisjam.github.io/model-based-agentic-software-engineering/workbench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Models · saved questions · evidence · an agent API — one-minute orientation, then we start from 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Ask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1">
                <a:solidFill>
                  <a:srgbClr val="5C4826"/>
                </a:solidFill>
                <a:latin typeface="Calibri"/>
              </a:rPr>
              <a:t>Does this configuration fit within its memory budget?</a:t>
            </a:r>
          </a:p>
        </p:txBody>
      </p:sp>
      <p:pic>
        <p:nvPicPr>
          <p:cNvPr id="5" name="Picture 4" descr="wb-memtable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2670829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pic>
        <p:nvPicPr>
          <p:cNvPr id="6" name="Picture 5" descr="wb-evidence-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2240280" cy="3765577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the saved question, run deterministically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the verdict carries its evidence:</a:t>
            </a:r>
          </a:p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derived from which models,</a:t>
            </a:r>
          </a:p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exhaustive over what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39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0280" y="470916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semantic machinery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No LLM required.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Elements, relations, and quantities have
declared semantics; the answer is computed, with provenance.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232 KB of 256 KB — 24 KB of margin. The answer arrives with its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13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Ask through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1">
                <a:solidFill>
                  <a:srgbClr val="5C4826"/>
                </a:solidFill>
                <a:latin typeface="Calibri"/>
              </a:rPr>
              <a:t>“What is consuming memory on the sensor node?”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Interacting with models can be tedious: navigate the model, find the right question form, formulate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the query. The Workbench's composable ask surface covers graph questions; the rest run as saved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331720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057400" y="280720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284378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6323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57400" y="353872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57530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model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94759"/>
            <a:ext cx="192024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57400" y="427024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430682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semantic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52627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500176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503834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explanation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257799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31720"/>
            <a:ext cx="37490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AGENT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C4826"/>
                </a:solidFill>
                <a:latin typeface="Consolas"/>
              </a:rPr>
              <a:t>window.mage</a:t>
            </a:r>
            <a:r>
              <a:rPr sz="1200" b="0" i="0">
                <a:solidFill>
                  <a:srgbClr val="353638"/>
                </a:solidFill>
                <a:latin typeface="Calibri"/>
              </a:rPr>
              <a:t> — the Workbench exposes
the model to agents: typed operations,
questions,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3749039" cy="1691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KEY DISTINCTION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5720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The agent helps interpret the question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and operate on the model.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It need not invent the engineering facts.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Natural questions in — the model's semantics still produce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14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Lab: model → query →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89520" y="201168"/>
            <a:ext cx="1234440" cy="43891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Determine current memory consumption and margin.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Identify the largest consumers.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Double the telemetry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Re-evaluate the budget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Restore a margin of at least 20%.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5C4826"/>
                </a:solidFill>
                <a:latin typeface="Calibri"/>
              </a:rPr>
              <a:t>Tasks, not UI instructions.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Use whichever surface you prefer: 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run the saved questions and read the evidence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edit through the workspace, or through the agent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ask the agent — then check it against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51560"/>
            <a:ext cx="2788920" cy="4160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188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50">
                <a:solidFill>
                  <a:srgbClr val="8E6F3E"/>
                </a:solidFill>
                <a:latin typeface="Calibri"/>
              </a:rPr>
              <a:t>WHAT THE MODEL DECLARES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536192"/>
            <a:ext cx="23774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budget: </a:t>
            </a:r>
            <a:r>
              <a:rPr sz="1150" b="0" i="0">
                <a:solidFill>
                  <a:srgbClr val="353638"/>
                </a:solidFill>
                <a:latin typeface="Calibri"/>
              </a:rPr>
              <a:t>256 KiB of SRAM</a:t>
            </a:r>
          </a:p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total: </a:t>
            </a:r>
            <a:r>
              <a:rPr sz="1150" b="0" i="0">
                <a:solidFill>
                  <a:srgbClr val="353638"/>
                </a:solidFill>
                <a:latin typeface="Calibri"/>
              </a:rPr>
              <a:t>232 KB → 24 KB margin (9.4%)</a:t>
            </a:r>
          </a:p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pinned requirement: </a:t>
            </a:r>
          </a:p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“the modeled firmware fits in the
256 KiB SRAM budget”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doubling the telemetry queue
(32 → 64 KB) takes the total to
264 KB — the requirement fails
by 8 KB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a ≥20% margin needs the total
at or under 204.8 KB — several
changes achieve it, several
near-misses do not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55960"/>
                </a:solidFill>
                <a:latin typeface="Calibri"/>
              </a:rPr>
              <a:t>the model's KB tokens are binary:
256 KB here is exactly 256 KiB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search is the design activity, not a lookup.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15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can’t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96596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740664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5C4826"/>
                </a:solidFill>
                <a:latin typeface="Calibri"/>
              </a:rPr>
              <a:t>“It answers ‘what if everything is live at once’, and it cannot answer ‘is everything live at once’. The second question needs operating modes — Sleeping, Sampling, Inferring, Transmitting — and resource lifetimes tied to them … That is the earned transition to Behavior, and it is deliberately not in this file.”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960"/>
                </a:solidFill>
                <a:latin typeface="Calibri"/>
              </a:rPr>
              <a:t>— the shipped model's own header, embedded-sensor-node/system.mage.yaml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C4826"/>
                </a:solidFill>
                <a:latin typeface="Calibri"/>
              </a:rPr>
              <a:t>More prompting cannot create missing engineering knowledge. 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53638"/>
                </a:solidFill>
                <a:latin typeface="Calibri"/>
              </a:rPr>
              <a:t>The agent can navigate, infer, or propose — but if the answer needs distinctions the purposeful
model does not preserve, stronger prompting does not repair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8E6F3E"/>
                </a:solidFill>
                <a:latin typeface="Calibri"/>
              </a:rPr>
              <a:t>Lab closing question: </a:t>
            </a:r>
            <a:r>
              <a:rPr sz="1350" b="0" i="1">
                <a:solidFill>
                  <a:srgbClr val="353638"/>
                </a:solidFill>
                <a:latin typeface="Calibri"/>
              </a:rPr>
              <a:t>what would we need to add to make this question answerable?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5960"/>
                </a:solidFill>
                <a:latin typeface="Calibri"/>
              </a:rPr>
              <a:t>— exactly Lecture 1's judgment: which distinctions must the model preserve, and at what cost?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model states its own boundary — an omission declared on its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16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200">
                <a:solidFill>
                  <a:srgbClr val="555960"/>
                </a:solidFill>
                <a:latin typeface="Calibri"/>
              </a:rPr>
              <a:t>END OF THE CORE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5C4826"/>
                </a:solidFill>
                <a:latin typeface="Calibri"/>
              </a:rPr>
              <a:t>Modeling makes knowledge explicit.</a:t>
            </a:r>
          </a:p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5C4826"/>
                </a:solidFill>
                <a:latin typeface="Calibri"/>
              </a:rPr>
              <a:t>Alignment gives it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353638"/>
                </a:solidFill>
                <a:latin typeface="Calibri"/>
              </a:rPr>
              <a:t>The model says the margin stays above 20%.</a:t>
            </a:r>
          </a:p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353638"/>
                </a:solidFill>
                <a:latin typeface="Calibri"/>
              </a:rPr>
              <a:t>Next lecture: what happens when reality disagrees?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6217920" cy="365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370332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OPTIONAL ·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Section 4 — Reasoning with SysML and KerML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8348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The sensor node named what it was missing: operating modes.</a:t>
            </a:r>
          </a:p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These six slides take a sibling system where modes, flow, and quantities are modeled —</a:t>
            </a:r>
          </a:p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and show what the stronger semantics let us derive. Not “SysML 101.”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 sensing system — behavior and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4297680" cy="3931920"/>
          </a:xfrm>
          <a:prstGeom prst="rect">
            <a:avLst/>
          </a:prstGeom>
          <a:solidFill>
            <a:srgbClr val="2B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39319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part def SensorNode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samplingPeriod = 5 [s];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sampleSize = 512 [B];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bufferCap = 4096 [B];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radioRate = 4096 [B/s];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txPeriod = 30 [s];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state def Modes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Sleep;    // 0.1 mW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Sample;   // 5 mW, 50 ms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Transmit; // 60 mW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requirement avgPowerBudget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// average power &lt;= 2 [mW]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SysML v2 textual notation — excerpt, abridged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005840"/>
            <a:ext cx="352044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1704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ONE RICHER EMBEDDED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536192"/>
            <a:ext cx="3108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modes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Sleep / Sample / Transmit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sampling period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5 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sample size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512 B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buffer capacity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4 KiB = 8 samples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radio throughput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4 KiB/s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transmit timer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every 30 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mode power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0.1 / 5 / 60 mW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requirements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average power ≤ 2 mW,
and the buffer must not overflow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8046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4826"/>
                </a:solidFill>
                <a:latin typeface="Calibri"/>
              </a:rPr>
              <a:t>Exactly the distinctions the sensor node declared as omissions: operating modes, and resource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4826"/>
                </a:solidFill>
                <a:latin typeface="Calibri"/>
              </a:rPr>
              <a:t>lifetimes tied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Enough SysML to establish the actual model — the constructs earn their keep on the next slides.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18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Can the buffer overflow?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8E6F3E"/>
                </a:solidFill>
                <a:latin typeface="Calibri"/>
              </a:rPr>
              <a:t>Given:  </a:t>
            </a:r>
            <a:r>
              <a:rPr sz="1150" b="0" i="0">
                <a:solidFill>
                  <a:srgbClr val="353638"/>
                </a:solidFill>
                <a:latin typeface="Consolas"/>
              </a:rPr>
              <a:t>avg production rate (512 B / 5 s ≈ 102 B/s)  &lt;  radio throughput (4096 B/s)</a:t>
            </a:r>
          </a:p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Locally plausible: “then it cannot overflow.”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743200"/>
            <a:ext cx="15544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Transmit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92608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67004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sample timer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324612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68880" y="331012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done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926080"/>
            <a:ext cx="1371600" cy="0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49240" y="267004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1">
                <a:solidFill>
                  <a:srgbClr val="C8102E"/>
                </a:solidFill>
                <a:latin typeface="Calibri"/>
              </a:rPr>
              <a:t>buffer full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00200" y="3401568"/>
            <a:ext cx="0" cy="393192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00200" y="3794760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52360" y="3419856"/>
            <a:ext cx="0" cy="374904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3840480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tx timer (30 s)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5236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00200" y="2359152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212140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tx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55960"/>
                </a:solidFill>
                <a:latin typeface="Calibri"/>
              </a:rPr>
              <a:t>Sample produces data. Transmit consumes it. Modes draw different power.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8046720" cy="1234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Comparing the two rates cannot answer the question.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The radio drains the buffer only while
Transmit is active — transmission availability depends on state behavior, batching, and timing.</a:t>
            </a:r>
          </a:p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E6F3E"/>
                </a:solidFill>
                <a:latin typeface="Calibri"/>
              </a:rPr>
              <a:t>The honest answer needs behavior, flow, and quantity composed. That is the next slide.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 locally plausible conclusion can be wrong — now the semantics do real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19</a:t>
            </a:r>
          </a:p>
        </p:txBody>
      </p:sp>
      <p:pic>
        <p:nvPicPr>
          <p:cNvPr id="28" name="Picture 2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Behavior, flow, and quantity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state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occurrences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5104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3704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sample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0168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buffer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13832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transmission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0296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quantities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+ units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34840" y="1783080"/>
            <a:ext cx="219456" cy="310896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2176272"/>
            <a:ext cx="30175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buffer property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8046720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2724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BASELINE, DERIVED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74980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samples per 30 s transmit cycle: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30 s ÷ 5 s = 6  ≤  capacity 8  →  no overflow (6/8)</a:t>
            </a:r>
          </a:p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transmit time per cycle: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6 × 512 B ÷ 4096 B/s = 0.75 s</a:t>
            </a:r>
          </a:p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average power: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(60·0.75 + 5·6·0.05 + 0.1·29.0) mW·s / 30 s ≈ 1.65 mW  ≤  2 mW  ✓</a:t>
            </a:r>
          </a:p>
          <a:p>
            <a:pPr algn="l">
              <a:lnSpc>
                <a:spcPct val="145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every step is licensed by a declared quantity, unit, or state occurrence — nothing is folklore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Derived by hand from the model.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The semantics make each step well-defined; no tool computed
this verdict for us — slide 22 says exactly what tools can and cannot decide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This is where SysML/KerML earns its keep: one property composed across three views.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20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Change the sampling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E6F3E"/>
                </a:solidFill>
                <a:latin typeface="Calibri"/>
              </a:rPr>
              <a:t>Perturbation: </a:t>
            </a:r>
            <a:r>
              <a:rPr sz="1500" b="0" i="0">
                <a:solidFill>
                  <a:srgbClr val="353638"/>
                </a:solidFill>
                <a:latin typeface="Calibri"/>
              </a:rPr>
              <a:t>sampling period 5 s → 2.5 s.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  <a:latin typeface="Calibri"/>
              </a:rPr>
              <a:t>What changed?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60">
                <a:solidFill>
                  <a:srgbClr val="8E6F3E"/>
                </a:solidFill>
                <a:latin typeface="Calibri"/>
              </a:rPr>
              <a:t>THE BUFFER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474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12 samples per cycle  &gt;  capacity 8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Overflow? </a:t>
            </a:r>
            <a:r>
              <a:rPr sz="1250" b="1" i="0">
                <a:solidFill>
                  <a:srgbClr val="5C4826"/>
                </a:solidFill>
                <a:latin typeface="Calibri"/>
              </a:rPr>
              <a:t>No.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53638"/>
                </a:solidFill>
                <a:latin typeface="Calibri"/>
              </a:rPr>
              <a:t>At the 8th sample the buffer-full
transition fires and Transmit
drains early.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STILL HOLDS — because of
behavior, not arithmetic.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783080"/>
            <a:ext cx="3931920" cy="2743200"/>
          </a:xfrm>
          <a:prstGeom prst="rect">
            <a:avLst/>
          </a:prstGeom>
          <a:solidFill>
            <a:srgbClr val="FBF8F2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60">
                <a:solidFill>
                  <a:srgbClr val="C8102E"/>
                </a:solidFill>
                <a:latin typeface="Calibri"/>
              </a:rPr>
              <a:t>THE POWER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86000"/>
            <a:ext cx="34747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transmit: 12 × 512 ÷ 4096 = 1.5 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avg ≈ (90 + 3.0 + 2.79) mJ / 30 s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353638"/>
                </a:solidFill>
                <a:latin typeface="Consolas"/>
              </a:rPr>
              <a:t>    ≈ 3.2 mW  &gt;  2 mW budget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C8102E"/>
                </a:solidFill>
                <a:latin typeface="Calibri"/>
              </a:rPr>
              <a:t>NOW FAILS — the same change,
a different property, the opposite
verdict.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53638"/>
                </a:solidFill>
                <a:latin typeface="Calibri"/>
              </a:rPr>
              <a:t>One model modification propagates into multiple engineering properties. 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C8102E"/>
                </a:solidFill>
                <a:latin typeface="Calibri"/>
              </a:rPr>
              <a:t>All numbers hand-derived from the model's declared quantities — and the slide says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One change, two properties, two different verdicts.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21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Why can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4160520" cy="3383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WHAT THE SEMANTICS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74903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typed features + units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512 [B] ÷ 4096 [B/s] is well-defined;
a magnitude is a number with exactly
one unit of its dimension</a:t>
            </a:r>
          </a:p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state occurrences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when Transmit is active determines
when the buffer drains</a:t>
            </a:r>
          </a:p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expressions + constraints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the requirement is a claim over model
values, not a comment</a:t>
            </a:r>
          </a:p>
          <a:p>
            <a:pPr algn="l">
              <a:lnSpc>
                <a:spcPct val="122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SysML supplies the systems concepts;
KerML, the semantic foundation beneath.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960120"/>
            <a:ext cx="3703320" cy="3383280"/>
          </a:xfrm>
          <a:prstGeom prst="rect">
            <a:avLst/>
          </a:prstGeom>
          <a:solidFill>
            <a:srgbClr val="F5F1E8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097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C8102E"/>
                </a:solidFill>
                <a:latin typeface="Calibri"/>
              </a:rPr>
              <a:t>MEASURED —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4475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SysML v2 Pilot Implementation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(release 2026-08, kernel 0.62.0):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5740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✓  parses + validates these models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✓  name resolution, typed structure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cannot execute state machines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cannot compute a verification
    verdict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quantity expressions stay
    symbolic (d + e unevaluated)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2 [kg] assigned to a length
    validates silently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8046720" cy="658368"/>
          </a:xfrm>
          <a:prstGeom prst="rect">
            <a:avLst/>
          </a:prstGeom>
          <a:solidFill>
            <a:srgbClr val="5C4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50" b="0" i="1">
                <a:solidFill>
                  <a:srgbClr val="FFFFFF"/>
                </a:solidFill>
                <a:latin typeface="Calibri"/>
              </a:rPr>
              <a:t>“SysML v2 can express far more than its reference implementation can decide.”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“The semantics make it derivable” is a claim about the language — not about a tool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22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still can’t be known?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960"/>
                </a:solidFill>
                <a:latin typeface="Calibri"/>
              </a:rPr>
              <a:t>Asked of the richer model this time — modes, flow, power, and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8E6F3E"/>
                </a:solidFill>
                <a:latin typeface="Calibri"/>
              </a:rPr>
              <a:t>Still missing: </a:t>
            </a:r>
            <a:r>
              <a:rPr sz="1350" b="0" i="0">
                <a:solidFill>
                  <a:srgbClr val="353638"/>
                </a:solidFill>
                <a:latin typeface="Calibri"/>
              </a:rPr>
              <a:t>stack depth under interrupt nesting · allocator fragmentation · DMA buffers
· which allocations are simultaneously resident within a mode</a:t>
            </a:r>
          </a:p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5C4826"/>
                </a:solidFill>
                <a:latin typeface="Calibri"/>
              </a:rPr>
              <a:t>Insufficient information — unless we model the distinctions that property requires.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80467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74980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5C4826"/>
                </a:solidFill>
                <a:latin typeface="Calibri"/>
              </a:rPr>
              <a:t>Section 3's model named its missing distinction — operating modes. §4 modeled them — and still
has a boundary. </a:t>
            </a:r>
            <a:r>
              <a:rPr sz="1350" b="1" i="0">
                <a:solidFill>
                  <a:srgbClr val="8E6F3E"/>
                </a:solidFill>
                <a:latin typeface="Calibri"/>
              </a:rPr>
              <a:t>Every purposeful model does.</a:t>
            </a:r>
          </a:p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353638"/>
                </a:solidFill>
                <a:latin typeface="Calibri"/>
              </a:rPr>
              <a:t>The question is never “is the model complete?” It is “does it preserve the distinctions this
question requires — and is adding more worth the cost?”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960"/>
                </a:solidFill>
                <a:latin typeface="Calibri"/>
              </a:rPr>
              <a:t>The optional section closes where the lecture began: on purposeful reduction and degrees of</a:t>
            </a:r>
          </a:p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960"/>
                </a:solidFill>
                <a:latin typeface="Calibri"/>
              </a:rPr>
              <a:t>semantic commitment — not on SysML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Stronger semantics sharpen the boundary; they do not remove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23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