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1" r:id="rId2"/>
  </p:sldMasterIdLst>
  <p:notesMasterIdLst>
    <p:notesMasterId r:id="rId29"/>
  </p:notesMasterIdLst>
  <p:sldIdLst>
    <p:sldId id="1291" r:id="rId3"/>
    <p:sldId id="257" r:id="rId4"/>
    <p:sldId id="259" r:id="rId5"/>
    <p:sldId id="258" r:id="rId6"/>
    <p:sldId id="706" r:id="rId7"/>
    <p:sldId id="260" r:id="rId8"/>
    <p:sldId id="261" r:id="rId9"/>
    <p:sldId id="262" r:id="rId10"/>
    <p:sldId id="263" r:id="rId11"/>
    <p:sldId id="1292" r:id="rId12"/>
    <p:sldId id="264" r:id="rId13"/>
    <p:sldId id="265" r:id="rId14"/>
    <p:sldId id="266" r:id="rId15"/>
    <p:sldId id="1293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34"/>
    <p:restoredTop sz="60959"/>
  </p:normalViewPr>
  <p:slideViewPr>
    <p:cSldViewPr snapToGrid="0" snapToObjects="1">
      <p:cViewPr>
        <p:scale>
          <a:sx n="81" d="100"/>
          <a:sy n="81" d="100"/>
        </p:scale>
        <p:origin x="2616" y="-5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067659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Lecture 2 of the Modeling unit. Last time: one model, one question — purposeful reduction. Today: a second, independent axis — how much of its meaning a representation carries explicitly — and then we work with a semantically defined model in the MAGE Workbench.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Thirty-second callback. Bring back degrees of freedom explicitly — slide 7 needs them. The banner is deliberately half a sentence: slide 4 completes it (semantic commitment governs how much the model itself says about what it means).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conceptual thesis of the lecture, plus the map. The arc: what does the representation mean → what can we do because it means that → what is it like to work with one. §4 is optional/reference.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41272790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Motivation, not technical argument — which is why this slide lives in the opening. Wording discipline: 'helped develop the standard', not 'use it in production'.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0.5 minutes — </a:t>
            </a:r>
            <a:r>
              <a:rPr i="1" dirty="0"/>
              <a:t>Section break: BOUND.</a:t>
            </a:r>
          </a:p>
          <a:p>
            <a:endParaRPr dirty="0"/>
          </a:p>
          <a:p>
            <a:r>
              <a:rPr dirty="0"/>
              <a:t>- We know the delegation problem. First decide what is being delegated.</a:t>
            </a:r>
          </a:p>
          <a:p>
            <a:r>
              <a:rPr dirty="0"/>
              <a:t>- This is not merely task sizing. It determines which relationships and degrees of freedom another reasoner must handle.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Reused from the strongest material of the previous deck. Run the readings quickly; the point lands in one beat. This is the itch §1 scratches: where does the meaning live?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Folds the draft's cost slide in. No disparagement of informal modeling — the sketch is often the right engineering choice. The question is what the representation must support.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draft wanted this visually strong: the two-axis figure IS the slide. Folds degrees of freedom back in from Lecture 1. Sets up the table's non-monotonic realization-freedom column on slide 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culmination of §1 — the Chapter 2 table (book §2.1.4, label semantic-commitment-spectrum), deck-condensed from six columns to five (row-label and Agentic-implication columns dropped; 'What it enables' added back per the author's deck sketch; cell wording from the landed chapter, including the renamed Interpretation-burden column). The burden column relocates interpretive work — it does not rank informal=human-friendly vs formal=machine-friendly. SysML/KerML appears only as the strongest-commitment row. The red cell is the point: the freedom column is NOT monotonically decreasing.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1BC61A-1E4E-EAFE-6A6F-C8D2229837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>
            <a:extLst>
              <a:ext uri="{FF2B5EF4-FFF2-40B4-BE49-F238E27FC236}">
                <a16:creationId xmlns:a16="http://schemas.microsoft.com/office/drawing/2014/main" id="{90EB552F-0A12-3597-8D15-C02E6B723A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0.5 minutes — </a:t>
            </a:r>
            <a:r>
              <a:rPr i="1" dirty="0"/>
              <a:t>Section break: BOUND.</a:t>
            </a:r>
          </a:p>
          <a:p>
            <a:endParaRPr dirty="0"/>
          </a:p>
          <a:p>
            <a:r>
              <a:rPr dirty="0"/>
              <a:t>- We know the delegation problem. First decide what is being delegated.</a:t>
            </a:r>
          </a:p>
          <a:p>
            <a:r>
              <a:rPr dirty="0"/>
              <a:t>- This is not merely task sizing. It determines which relationships and degrees of freedom another reasoner must handle.</a:t>
            </a:r>
          </a:p>
        </p:txBody>
      </p:sp>
    </p:spTree>
    <p:extLst>
      <p:ext uri="{BB962C8B-B14F-4D97-AF65-F5344CB8AC3E}">
        <p14:creationId xmlns:p14="http://schemas.microsoft.com/office/powerpoint/2010/main" val="304606494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One concrete example per operation, not five bare nouns. The examples are drawn from the embedded-sensor-node model students meet in §3 — deliberate foreshadowing.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Animations walk through.</a:t>
            </a:r>
          </a:p>
          <a:p>
            <a:endParaRPr lang="en-US" dirty="0"/>
          </a:p>
          <a:p>
            <a:r>
              <a:rPr lang="en-US" dirty="0"/>
              <a:t>The final animation asks “Why not?” and this is a subtlety well worth drawing out.</a:t>
            </a:r>
          </a:p>
          <a:p>
            <a:endParaRPr lang="en-US" dirty="0"/>
          </a:p>
          <a:p>
            <a:r>
              <a:rPr lang="en-US" b="1" dirty="0"/>
              <a:t>Pause at “Why not?” Do not answer immediately.</a:t>
            </a:r>
            <a:endParaRPr lang="en-US" dirty="0"/>
          </a:p>
          <a:p>
            <a:r>
              <a:rPr lang="en-US" dirty="0"/>
              <a:t>Ask:</a:t>
            </a:r>
          </a:p>
          <a:p>
            <a:r>
              <a:rPr lang="en-US" i="1" dirty="0"/>
              <a:t>“Suppose we could specify enough that the implementation just falls out. Why wouldn’t we?”</a:t>
            </a:r>
          </a:p>
          <a:p>
            <a:endParaRPr lang="en-US" dirty="0"/>
          </a:p>
          <a:p>
            <a:r>
              <a:rPr lang="en-US" dirty="0"/>
              <a:t>Give them time. Likely first answer: </a:t>
            </a:r>
            <a:r>
              <a:rPr lang="en-US" b="1" dirty="0"/>
              <a:t>because writing all that specification is expensive / takes too much time.</a:t>
            </a:r>
            <a:endParaRPr lang="en-US" dirty="0"/>
          </a:p>
          <a:p>
            <a:endParaRPr lang="en-US" dirty="0"/>
          </a:p>
          <a:p>
            <a:r>
              <a:rPr lang="en-US" i="1" dirty="0"/>
              <a:t>“Yes. That’s one answer. We don’t want to spend human effort specifying choices we don’t care about. But suppose specification were free. Is there still a reason not to decide everything now?”</a:t>
            </a:r>
          </a:p>
          <a:p>
            <a:endParaRPr lang="en-US" dirty="0"/>
          </a:p>
          <a:p>
            <a:r>
              <a:rPr lang="en-US" dirty="0"/>
              <a:t>This is the important turn. Try to draw out </a:t>
            </a:r>
            <a:r>
              <a:rPr lang="en-US" b="1" dirty="0"/>
              <a:t>later information</a:t>
            </a:r>
            <a:r>
              <a:rPr lang="en-US" dirty="0"/>
              <a:t>.</a:t>
            </a:r>
          </a:p>
          <a:p>
            <a:r>
              <a:rPr lang="en-US" dirty="0"/>
              <a:t>If necessary, prompt:</a:t>
            </a:r>
          </a:p>
          <a:p>
            <a:r>
              <a:rPr lang="en-US" i="1" dirty="0"/>
              <a:t>“Are we necessarily at the best point in the process to make every implementation decision?”</a:t>
            </a:r>
          </a:p>
          <a:p>
            <a:r>
              <a:rPr lang="en-US" i="1" dirty="0"/>
              <a:t>“What might we know during implementation that we don’t know when we construct the model?”</a:t>
            </a:r>
          </a:p>
          <a:p>
            <a:r>
              <a:rPr lang="en-US" dirty="0"/>
              <a:t>Look for: actual workload, target hardware, surrounding code, available libraries, measurements, consequences of earlier decisions.</a:t>
            </a:r>
          </a:p>
          <a:p>
            <a:endParaRPr lang="en-US" dirty="0"/>
          </a:p>
          <a:p>
            <a:r>
              <a:rPr lang="en-US" dirty="0"/>
              <a:t>Then sharpen:</a:t>
            </a:r>
          </a:p>
          <a:p>
            <a:r>
              <a:rPr lang="en-US" i="1" dirty="0"/>
              <a:t>“Right. Some decisions are better made later because </a:t>
            </a:r>
            <a:r>
              <a:rPr lang="en-US" b="1" i="1" dirty="0"/>
              <a:t>information arrives later</a:t>
            </a:r>
            <a:r>
              <a:rPr lang="en-US" i="1" dirty="0"/>
              <a:t>. If I specify them now, I’m not merely doing extra work. I may be making the wrong decision, or at least, a non-optimal decision.”</a:t>
            </a:r>
          </a:p>
          <a:p>
            <a:endParaRPr lang="en-US" dirty="0"/>
          </a:p>
          <a:p>
            <a:r>
              <a:rPr lang="en-US" dirty="0"/>
              <a:t>Then ask the second question:</a:t>
            </a:r>
          </a:p>
          <a:p>
            <a:endParaRPr lang="en-US" dirty="0"/>
          </a:p>
          <a:p>
            <a:r>
              <a:rPr lang="en-US" i="1" dirty="0"/>
              <a:t>“But does the realizing agent have to wait passively for information to arrive?”</a:t>
            </a:r>
          </a:p>
          <a:p>
            <a:r>
              <a:rPr lang="en-US" dirty="0"/>
              <a:t>Draw out experimentation. If needed:</a:t>
            </a:r>
          </a:p>
          <a:p>
            <a:r>
              <a:rPr lang="en-US" i="1" dirty="0"/>
              <a:t>“Suppose it has three plausible implementations. What could it do?”</a:t>
            </a:r>
          </a:p>
          <a:p>
            <a:r>
              <a:rPr lang="en-US" dirty="0"/>
              <a:t>Look for: implement them, run them, benchmark, test, measure, tune.</a:t>
            </a:r>
          </a:p>
          <a:p>
            <a:r>
              <a:rPr lang="en-US" dirty="0"/>
              <a:t>Then:</a:t>
            </a:r>
          </a:p>
          <a:p>
            <a:endParaRPr lang="en-US" dirty="0"/>
          </a:p>
          <a:p>
            <a:r>
              <a:rPr lang="en-US" i="1" dirty="0"/>
              <a:t>“Exactly. The later decision-maker can also </a:t>
            </a:r>
            <a:r>
              <a:rPr lang="en-US" b="1" i="1" dirty="0"/>
              <a:t>produce information</a:t>
            </a:r>
            <a:r>
              <a:rPr lang="en-US" i="1" dirty="0"/>
              <a:t>. It can run pilots, compare alternatives, benchmark them, tune parameters, and make the choice using evidence.”</a:t>
            </a:r>
          </a:p>
          <a:p>
            <a:endParaRPr lang="en-US" dirty="0"/>
          </a:p>
          <a:p>
            <a:r>
              <a:rPr lang="en-US" dirty="0"/>
              <a:t>Brief qualification:</a:t>
            </a:r>
          </a:p>
          <a:p>
            <a:endParaRPr lang="en-US" dirty="0"/>
          </a:p>
          <a:p>
            <a:r>
              <a:rPr lang="en-US" i="1" dirty="0"/>
              <a:t>“There’s nothing uniquely agentic about that. Human engineers do this. Evolutionary algorithms, </a:t>
            </a:r>
            <a:r>
              <a:rPr lang="en-US" i="1" dirty="0" err="1"/>
              <a:t>autotuners</a:t>
            </a:r>
            <a:r>
              <a:rPr lang="en-US" i="1" dirty="0"/>
              <a:t>, search procedures, compilers, and optimizers do versions of it too. What commodity intelligence changes is how cheaply and broadly we can do this during ordinary realization.”</a:t>
            </a:r>
          </a:p>
          <a:p>
            <a:endParaRPr lang="en-US" dirty="0"/>
          </a:p>
          <a:p>
            <a:r>
              <a:rPr lang="en-US" dirty="0"/>
              <a:t>Then return to the slide:</a:t>
            </a:r>
          </a:p>
          <a:p>
            <a:r>
              <a:rPr lang="en-US" i="1" dirty="0"/>
              <a:t>“So there are actually two costs to over-specifying. One is obvious: we had to encode decisions we didn’t need to encode. The more interesting one is that we </a:t>
            </a:r>
            <a:r>
              <a:rPr lang="en-US" b="1" i="1" dirty="0"/>
              <a:t>spent degrees of freedom too early</a:t>
            </a:r>
            <a:r>
              <a:rPr lang="en-US" i="1" dirty="0"/>
              <a:t>. We took a choice that could have been made later, with better evidence, and committed to it now.”</a:t>
            </a:r>
            <a:endParaRPr lang="en-US" dirty="0"/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§2 synthesis: machine-operable semantics → generation challenge → the agentic answer. Agents can cross the realization gap a purposeful model deliberately leaves. Don't teach 'agents should extend the language' — teach promotion of recurring consequential knowledge into durable structure.</a:t>
            </a:r>
          </a:p>
          <a:p>
            <a:endParaRPr/>
          </a:p>
          <a:p>
            <a:r>
              <a:t>Some relationships are generation, some delegation, some validation back against the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0F82AC-5337-3417-389F-B06B7874B9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>
            <a:extLst>
              <a:ext uri="{FF2B5EF4-FFF2-40B4-BE49-F238E27FC236}">
                <a16:creationId xmlns:a16="http://schemas.microsoft.com/office/drawing/2014/main" id="{91E02092-7AE6-164A-28F3-F1419173C7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0.5 minutes — </a:t>
            </a:r>
            <a:r>
              <a:rPr i="1" dirty="0"/>
              <a:t>Section break: BOUND.</a:t>
            </a:r>
          </a:p>
          <a:p>
            <a:endParaRPr dirty="0"/>
          </a:p>
          <a:p>
            <a:r>
              <a:rPr dirty="0"/>
              <a:t>- We know the delegation problem. First decide what is being delegated.</a:t>
            </a:r>
          </a:p>
          <a:p>
            <a:r>
              <a:rPr dirty="0"/>
              <a:t>- This is not merely task sizing. It determines which relationships and degrees of freedom another reasoner must handle.</a:t>
            </a:r>
          </a:p>
        </p:txBody>
      </p:sp>
    </p:spTree>
    <p:extLst>
      <p:ext uri="{BB962C8B-B14F-4D97-AF65-F5344CB8AC3E}">
        <p14:creationId xmlns:p14="http://schemas.microsoft.com/office/powerpoint/2010/main" val="108940491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Real screenshot: the Embedded Sensor Node example loaded, viewing the Sensor Firmware SRAM model. Orientation only: the models rail and saved properties (left), the drawn model and its declared purpose (center), inspector and actions (right). Don't tour controls — the next slide starts from an engineering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Both panels are real Workbench output for the shipped example. Surface honesty: the quantity question runs as a SAVED question ('The modeled firmware fits in the 256 KiB SRAM budget') — the composable ask surface covers graph questions. Provenance is displayed: DERIVED FROM both models, 'exhaustive over 1 configuration', plus an evaluation fingerprint.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Introduce the agent from the friction, not as a feature checklist. The agent operates the model through window.mage; the semantic result comes from the model's machinery, and the agent explains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Release students into the activity. The numbers come from the shipped model: 9 allocations totalling 232 KB against 256 KiB; doubling telemetry-queue breaks the pinned requirement by 8 KB; restoring a 20% margin needs ≤204.8 KB. Largest single allocation: model-weights at 72 KB (31% of budget).</a:t>
            </a:r>
          </a:p>
          <a:p>
            <a:endParaRPr/>
          </a:p>
          <a:p>
            <a:r>
              <a:t>The model's KB tokens are binary: 256 KB here is exactly 256 KiB.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lab payoff, and the lecture's punchline — quoted from the shipped artifact itself, not asserted. The model's purpose block lists 'operating modes' as its first declared omission. Students can try the agent first; the boundary holds.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Alignment handoff closes the core lecture (kept from the previous deck). §4 is optional/reference. The frame: §3's model documented operating modes as its missing distinction; §4 works a sibling system where those distinctions are modeled — in SysML v2, the strongest-commitment row of slide 8's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Introduce the system once, with the actual numbers; slides 19-21 reason over them. The excerpt is abridged notation, not a complete model. Power figures: Sleep 0.1 mW; Sample 5 mW for 50 ms per sample; Transmit 60 mW while draining at 4 KiB/s.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trap: average-rate reasoning. The machine: Sleep -sample timer-&gt; Sample -done-&gt; Sleep; Sleep -tx timer-&gt; Transmit -tx done-&gt; Sleep; Sample -buffer full-&gt; Transmit. Data is drained only in Transmit, so the buffer's fate depends on when Transmit runs.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Walk the composition slowly. Honesty constraint: the derivation is hand-performed; the language's semantics license it (typed quantities, units, state occupancy), but no available tool executes it — foreshadow slide 22.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numbers are chosen so the answer is nontrivial and mechanically derivable BY HAND: the naive overflow prediction is wrong (behavior rescues it), and the passing power budget flips to failing. Arithmetic: 12 samples per 30 s; transmit 12x512/4096 = 1.5 s -&gt; 60 mW x 1.5 s = 90 mJ; sample 5 mW x 12 x 0.05 s = 3.0 mJ; sleep 0.1 mW x (30 - 1.5 - 0.6) = 0.1 x 27.9 = 2.79 mJ; total 95.79 mJ / 30 s = 3.19 = ~3.2 mW against a 2 mW requirement.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honesty slide. The derivations of slides 19-21 are licensed by the language's defined semantics and were carried out by hand. Measured ground truth (workbench differential-conformance design, Oct 2026): the Pilot parses/validates but cannot execute machines, produce verification verdicts, or normalize quantities; dimension conformance is unchecked at kernel 0.62.0. Express vs decide.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Symmetry close: the same question that ended §3 ends §4. Even the strongest-commitment language leaves purposeful omissions; commitment buys precision about what IS modeled, never completeness.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e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slide - si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918" name="Rectangle 14"/>
          <p:cNvSpPr>
            <a:spLocks noGrp="1" noChangeArrowheads="1"/>
          </p:cNvSpPr>
          <p:nvPr>
            <p:ph type="subTitle" idx="1"/>
          </p:nvPr>
        </p:nvSpPr>
        <p:spPr>
          <a:xfrm>
            <a:off x="1308100" y="3235325"/>
            <a:ext cx="6400800" cy="1881188"/>
          </a:xfrm>
        </p:spPr>
        <p:txBody>
          <a:bodyPr/>
          <a:lstStyle>
            <a:lvl1pPr marL="0" indent="0" algn="ctr">
              <a:buFont typeface="Times" pitchFamily="18" charset="0"/>
              <a:buNone/>
              <a:defRPr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subtitle style</a:t>
            </a:r>
          </a:p>
        </p:txBody>
      </p:sp>
      <p:sp>
        <p:nvSpPr>
          <p:cNvPr id="251914" name="Rectangle 10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1127125" y="2078038"/>
            <a:ext cx="7031038" cy="874712"/>
          </a:xfrm>
          <a:ln>
            <a:noFill/>
          </a:ln>
        </p:spPr>
        <p:txBody>
          <a:bodyPr/>
          <a:lstStyle>
            <a:lvl1pPr algn="ctr">
              <a:defRPr sz="3600" cap="none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title style</a:t>
            </a:r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9629C0A1-FA46-974B-8B59-DAFA34D587F5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16760" y="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Line 66">
            <a:extLst>
              <a:ext uri="{FF2B5EF4-FFF2-40B4-BE49-F238E27FC236}">
                <a16:creationId xmlns:a16="http://schemas.microsoft.com/office/drawing/2014/main" id="{F21F285B-3B58-4149-B959-9010CE636448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0" y="685800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pic>
        <p:nvPicPr>
          <p:cNvPr id="12" name="Purdue CoBrand">
            <a:extLst>
              <a:ext uri="{FF2B5EF4-FFF2-40B4-BE49-F238E27FC236}">
                <a16:creationId xmlns:a16="http://schemas.microsoft.com/office/drawing/2014/main" id="{BCBD89D8-43BD-5D41-99C6-91B0B6A5190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097131" y="5715964"/>
            <a:ext cx="5091026" cy="542584"/>
          </a:xfrm>
          <a:prstGeom prst="rect">
            <a:avLst/>
          </a:prstGeom>
        </p:spPr>
      </p:pic>
      <p:sp>
        <p:nvSpPr>
          <p:cNvPr id="10" name="Slide Number Placeholder 4">
            <a:extLst>
              <a:ext uri="{FF2B5EF4-FFF2-40B4-BE49-F238E27FC236}">
                <a16:creationId xmlns:a16="http://schemas.microsoft.com/office/drawing/2014/main" id="{5F3C42A2-A875-7F49-9930-886B64F262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02728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si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918" name="Rectangle 14"/>
          <p:cNvSpPr>
            <a:spLocks noGrp="1" noChangeArrowheads="1"/>
          </p:cNvSpPr>
          <p:nvPr>
            <p:ph type="subTitle" idx="1"/>
          </p:nvPr>
        </p:nvSpPr>
        <p:spPr>
          <a:xfrm>
            <a:off x="1308100" y="3235325"/>
            <a:ext cx="6400800" cy="1881188"/>
          </a:xfrm>
        </p:spPr>
        <p:txBody>
          <a:bodyPr/>
          <a:lstStyle>
            <a:lvl1pPr marL="0" indent="0" algn="ctr">
              <a:buFont typeface="Times" pitchFamily="18" charset="0"/>
              <a:buNone/>
              <a:defRPr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subtitle style</a:t>
            </a:r>
          </a:p>
        </p:txBody>
      </p:sp>
      <p:sp>
        <p:nvSpPr>
          <p:cNvPr id="251914" name="Rectangle 10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1127125" y="2078038"/>
            <a:ext cx="7031038" cy="874712"/>
          </a:xfrm>
          <a:ln>
            <a:noFill/>
          </a:ln>
        </p:spPr>
        <p:txBody>
          <a:bodyPr/>
          <a:lstStyle>
            <a:lvl1pPr algn="ctr">
              <a:defRPr sz="3600" cap="none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title style</a:t>
            </a:r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9629C0A1-FA46-974B-8B59-DAFA34D587F5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16760" y="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Line 66">
            <a:extLst>
              <a:ext uri="{FF2B5EF4-FFF2-40B4-BE49-F238E27FC236}">
                <a16:creationId xmlns:a16="http://schemas.microsoft.com/office/drawing/2014/main" id="{F21F285B-3B58-4149-B959-9010CE636448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0" y="685800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0" name="Slide Number Placeholder 4">
            <a:extLst>
              <a:ext uri="{FF2B5EF4-FFF2-40B4-BE49-F238E27FC236}">
                <a16:creationId xmlns:a16="http://schemas.microsoft.com/office/drawing/2014/main" id="{5F3C42A2-A875-7F49-9930-886B64F262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  <p:pic>
        <p:nvPicPr>
          <p:cNvPr id="1026" name="Purdue CoBrand">
            <a:extLst>
              <a:ext uri="{FF2B5EF4-FFF2-40B4-BE49-F238E27FC236}">
                <a16:creationId xmlns:a16="http://schemas.microsoft.com/office/drawing/2014/main" id="{BCBD89D8-43BD-5D41-99C6-91B0B6A5190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097131" y="5715964"/>
            <a:ext cx="5091026" cy="542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174084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 hasCustomPrompt="1"/>
          </p:nvPr>
        </p:nvSpPr>
        <p:spPr>
          <a:xfrm>
            <a:off x="277148" y="1305004"/>
            <a:ext cx="8557768" cy="5166916"/>
          </a:xfrm>
        </p:spPr>
        <p:txBody>
          <a:bodyPr/>
          <a:lstStyle>
            <a:lvl2pPr>
              <a:defRPr/>
            </a:lvl2pPr>
            <a:lvl3pPr>
              <a:defRPr/>
            </a:lvl3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  <a:p>
            <a:pPr lvl="1"/>
            <a:r>
              <a:rPr lang="en-US" altLang="ko-KR" dirty="0"/>
              <a:t>Words</a:t>
            </a:r>
            <a:endParaRPr lang="ko-KR" altLang="en-US" dirty="0"/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67B3E873-1394-3543-8BD2-2C910090ECB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57769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010635A2-0953-8C4C-807B-9F1EE80A1B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049940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sz="half" idx="1" hasCustomPrompt="1"/>
          </p:nvPr>
        </p:nvSpPr>
        <p:spPr>
          <a:xfrm>
            <a:off x="484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675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43238AEC-E676-EF48-A1EE-CE1856C5DB8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2" name="제목 1">
            <a:extLst>
              <a:ext uri="{FF2B5EF4-FFF2-40B4-BE49-F238E27FC236}">
                <a16:creationId xmlns:a16="http://schemas.microsoft.com/office/drawing/2014/main" id="{4EEA1B3E-FF6B-734D-830E-C9FC203C0A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3596EAF3-2266-1C40-896A-50BCE8F3A5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64944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685800" y="2747963"/>
            <a:ext cx="7772400" cy="1362075"/>
          </a:xfrm>
          <a:ln>
            <a:noFill/>
          </a:ln>
        </p:spPr>
        <p:txBody>
          <a:bodyPr anchor="t"/>
          <a:lstStyle>
            <a:lvl1pPr algn="ctr">
              <a:defRPr sz="4000" b="0" cap="none"/>
            </a:lvl1pPr>
          </a:lstStyle>
          <a:p>
            <a:r>
              <a:rPr lang="en-US" altLang="ko-KR" dirty="0"/>
              <a:t>Section heading</a:t>
            </a:r>
            <a:endParaRPr lang="ko-KR" alt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5A7CBECB-F891-1E49-A038-D12E9EBD544E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6" name="Line 66">
            <a:extLst>
              <a:ext uri="{FF2B5EF4-FFF2-40B4-BE49-F238E27FC236}">
                <a16:creationId xmlns:a16="http://schemas.microsoft.com/office/drawing/2014/main" id="{A0F4931F-670B-5345-A445-E4A05AED83C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78517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8B85C08C-FD8D-C643-B13D-155D9A63D5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23465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 - titl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idx="1" hasCustomPrompt="1"/>
          </p:nvPr>
        </p:nvSpPr>
        <p:spPr>
          <a:xfrm>
            <a:off x="457200" y="1258655"/>
            <a:ext cx="4040188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Left title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57200" y="1898417"/>
            <a:ext cx="4040188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 hasCustomPrompt="1"/>
          </p:nvPr>
        </p:nvSpPr>
        <p:spPr>
          <a:xfrm>
            <a:off x="4645025" y="1258655"/>
            <a:ext cx="4041775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Right title</a:t>
            </a:r>
            <a:endParaRPr lang="ko-KR" altLang="en-US" dirty="0"/>
          </a:p>
        </p:txBody>
      </p:sp>
      <p:sp>
        <p:nvSpPr>
          <p:cNvPr id="6" name="내용 개체 틀 5"/>
          <p:cNvSpPr>
            <a:spLocks noGrp="1"/>
          </p:cNvSpPr>
          <p:nvPr>
            <p:ph sz="quarter" idx="4" hasCustomPrompt="1"/>
          </p:nvPr>
        </p:nvSpPr>
        <p:spPr>
          <a:xfrm>
            <a:off x="4645025" y="1898417"/>
            <a:ext cx="4041775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9" name="Line 66">
            <a:extLst>
              <a:ext uri="{FF2B5EF4-FFF2-40B4-BE49-F238E27FC236}">
                <a16:creationId xmlns:a16="http://schemas.microsoft.com/office/drawing/2014/main" id="{2473502F-33E0-294C-B0A7-D634CB78173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AA231EA3-1A2F-1844-B410-74339C343F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9B355AFC-141A-4E45-A581-13630ADD3A5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743935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ust bor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6ABDBE64-F9E8-B742-A7A4-414B9EF73E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204026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adra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5" name="그림 개체 틀 2">
            <a:extLst>
              <a:ext uri="{FF2B5EF4-FFF2-40B4-BE49-F238E27FC236}">
                <a16:creationId xmlns:a16="http://schemas.microsoft.com/office/drawing/2014/main" id="{672F7B82-6823-A344-B297-9A5CC48E1F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877888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7" name="그림 개체 틀 2">
            <a:extLst>
              <a:ext uri="{FF2B5EF4-FFF2-40B4-BE49-F238E27FC236}">
                <a16:creationId xmlns:a16="http://schemas.microsoft.com/office/drawing/2014/main" id="{07CA502D-41E1-4240-B817-57AFD70BC6F0}"/>
              </a:ext>
            </a:extLst>
          </p:cNvPr>
          <p:cNvSpPr>
            <a:spLocks noGrp="1"/>
          </p:cNvSpPr>
          <p:nvPr>
            <p:ph type="pic" idx="10"/>
          </p:nvPr>
        </p:nvSpPr>
        <p:spPr>
          <a:xfrm>
            <a:off x="5204723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2" name="그림 개체 틀 2">
            <a:extLst>
              <a:ext uri="{FF2B5EF4-FFF2-40B4-BE49-F238E27FC236}">
                <a16:creationId xmlns:a16="http://schemas.microsoft.com/office/drawing/2014/main" id="{D1C72364-3DC9-604F-9514-883DF7EEBE18}"/>
              </a:ext>
            </a:extLst>
          </p:cNvPr>
          <p:cNvSpPr>
            <a:spLocks noGrp="1"/>
          </p:cNvSpPr>
          <p:nvPr>
            <p:ph type="pic" idx="11"/>
          </p:nvPr>
        </p:nvSpPr>
        <p:spPr>
          <a:xfrm>
            <a:off x="877887" y="3596647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6" name="그림 개체 틀 2">
            <a:extLst>
              <a:ext uri="{FF2B5EF4-FFF2-40B4-BE49-F238E27FC236}">
                <a16:creationId xmlns:a16="http://schemas.microsoft.com/office/drawing/2014/main" id="{4193784B-AAFC-0447-AC84-915471C69183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5204723" y="3616525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32" name="Text Placeholder 31">
            <a:extLst>
              <a:ext uri="{FF2B5EF4-FFF2-40B4-BE49-F238E27FC236}">
                <a16:creationId xmlns:a16="http://schemas.microsoft.com/office/drawing/2014/main" id="{4036BF46-3CC3-FB43-A785-15DF5595B7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77819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6" name="Text Placeholder 31">
            <a:extLst>
              <a:ext uri="{FF2B5EF4-FFF2-40B4-BE49-F238E27FC236}">
                <a16:creationId xmlns:a16="http://schemas.microsoft.com/office/drawing/2014/main" id="{8484378F-A4EB-7845-937E-05F96717894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05344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7" name="Text Placeholder 31">
            <a:extLst>
              <a:ext uri="{FF2B5EF4-FFF2-40B4-BE49-F238E27FC236}">
                <a16:creationId xmlns:a16="http://schemas.microsoft.com/office/drawing/2014/main" id="{1EB6C479-EE50-B041-BED8-613EFA5D95F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77819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8" name="Text Placeholder 31">
            <a:extLst>
              <a:ext uri="{FF2B5EF4-FFF2-40B4-BE49-F238E27FC236}">
                <a16:creationId xmlns:a16="http://schemas.microsoft.com/office/drawing/2014/main" id="{7D0CA80B-F16F-FF48-80A3-27652129D32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205344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14" name="Slide Number Placeholder 4">
            <a:extLst>
              <a:ext uri="{FF2B5EF4-FFF2-40B4-BE49-F238E27FC236}">
                <a16:creationId xmlns:a16="http://schemas.microsoft.com/office/drawing/2014/main" id="{A66D64DC-EDD3-FD46-B93B-F8B818A43F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085725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2000" b="1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 hasCustomPrompt="1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ko-KR" dirty="0"/>
              <a:t>Remarks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00379C94-9660-514E-8573-54286DE89411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D15DDF22-1F41-F644-A1F1-7ADD56BDE3A3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68A78BD7-835C-4B42-B0A0-24D4E1AA39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06799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ibu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3A8F23-A2CA-264E-8907-B0144A7D91A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95200" y="106023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1</a:t>
            </a:r>
            <a:r>
              <a:rPr lang="en-US" b="1" u="none" dirty="0"/>
              <a:t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86516E46-FEB4-8747-ABDB-067B42ABF68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21898EFD-2916-7E45-875E-EDC4A17C4091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7610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Picture Placeholder 7">
            <a:extLst>
              <a:ext uri="{FF2B5EF4-FFF2-40B4-BE49-F238E27FC236}">
                <a16:creationId xmlns:a16="http://schemas.microsoft.com/office/drawing/2014/main" id="{1F72ABDE-5179-AD48-8D9D-B12289E15BE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8438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B91A572F-A890-4245-9D69-1E7986ADF74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5200" y="312988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2</a:t>
            </a:r>
            <a:r>
              <a:rPr lang="en-US" b="1" u="none" dirty="0"/>
              <a:t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23" name="Picture Placeholder 7">
            <a:extLst>
              <a:ext uri="{FF2B5EF4-FFF2-40B4-BE49-F238E27FC236}">
                <a16:creationId xmlns:a16="http://schemas.microsoft.com/office/drawing/2014/main" id="{15D737B2-4D4D-4242-8E23-8DE607338BC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7610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4" name="Picture Placeholder 7">
            <a:extLst>
              <a:ext uri="{FF2B5EF4-FFF2-40B4-BE49-F238E27FC236}">
                <a16:creationId xmlns:a16="http://schemas.microsoft.com/office/drawing/2014/main" id="{96C1B088-3A02-5945-975E-54F1F9D0E5E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438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제목 1">
            <a:extLst>
              <a:ext uri="{FF2B5EF4-FFF2-40B4-BE49-F238E27FC236}">
                <a16:creationId xmlns:a16="http://schemas.microsoft.com/office/drawing/2014/main" id="{763F7E14-41AB-9449-929A-4F43668AF0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Summary of contributions</a:t>
            </a:r>
            <a:endParaRPr lang="ko-KR" altLang="en-US" dirty="0"/>
          </a:p>
        </p:txBody>
      </p:sp>
      <p:sp>
        <p:nvSpPr>
          <p:cNvPr id="13" name="Slide Number Placeholder 4">
            <a:extLst>
              <a:ext uri="{FF2B5EF4-FFF2-40B4-BE49-F238E27FC236}">
                <a16:creationId xmlns:a16="http://schemas.microsoft.com/office/drawing/2014/main" id="{218A7F7C-A154-3640-88AE-9E855B94CC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838926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theme" Target="../theme/theme2.xml"/><Relationship Id="rId11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1606045" y="964692"/>
            <a:ext cx="5937755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06045" y="2638045"/>
            <a:ext cx="5937755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C6965342-B6F4-4E4D-AE27-465DB42B2B52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8746670" y="6562249"/>
            <a:ext cx="292555" cy="156273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ABD288-7B20-F443-BAE8-CBAAD13A46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rgbClr val="555960"/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46199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</p:sldLayoutIdLst>
  <p:hf hd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600" kern="1200" cap="none" spc="200" baseline="0">
          <a:solidFill>
            <a:srgbClr val="262626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5pPr>
      <a:lvl6pPr marL="13144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59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28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  <p15:guide id="3" orient="horz" pos="4056">
          <p15:clr>
            <a:srgbClr val="F26B43"/>
          </p15:clr>
        </p15:guide>
        <p15:guide id="4" orient="horz" pos="3936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7A610390-B9F9-1640-9974-0C21350E01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4171" y="2488406"/>
            <a:ext cx="8695654" cy="1881188"/>
          </a:xfrm>
        </p:spPr>
        <p:txBody>
          <a:bodyPr>
            <a:normAutofit fontScale="85000" lnSpcReduction="20000"/>
          </a:bodyPr>
          <a:lstStyle/>
          <a:p>
            <a:r>
              <a:rPr lang="en-US" sz="4000" dirty="0"/>
              <a:t>Modeling 2: Degrees of Semantic Commitment</a:t>
            </a:r>
          </a:p>
          <a:p>
            <a:endParaRPr lang="en-US" dirty="0"/>
          </a:p>
          <a:p>
            <a:r>
              <a:rPr lang="en-US" i="1" dirty="0"/>
              <a:t>Prof. James C. Davis</a:t>
            </a:r>
          </a:p>
          <a:p>
            <a:r>
              <a:rPr lang="en-US" i="1" dirty="0"/>
              <a:t>Prof. Steve France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B22D48-A395-DA43-BD56-73B6F8BCB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/>
              <a:t>1</a:t>
            </a:fld>
            <a:endParaRPr lang="en-US"/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DD7291C3-5AE9-477A-3F39-34A06A62D99C}"/>
              </a:ext>
            </a:extLst>
          </p:cNvPr>
          <p:cNvSpPr txBox="1">
            <a:spLocks/>
          </p:cNvSpPr>
          <p:nvPr/>
        </p:nvSpPr>
        <p:spPr bwMode="black">
          <a:xfrm>
            <a:off x="439339" y="565149"/>
            <a:ext cx="8265319" cy="1195411"/>
          </a:xfrm>
          <a:prstGeom prst="rect">
            <a:avLst/>
          </a:prstGeom>
          <a:solidFill>
            <a:srgbClr val="FFFFFF"/>
          </a:solidFill>
          <a:ln w="31750" cap="sq">
            <a:noFill/>
            <a:miter lim="800000"/>
          </a:ln>
        </p:spPr>
        <p:txBody>
          <a:bodyPr vert="horz" lIns="182880" tIns="182880" rIns="182880" bIns="18288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none" spc="200" baseline="0">
                <a:solidFill>
                  <a:srgbClr val="000000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US" sz="2000" i="1" dirty="0"/>
              <a:t>Software Engineering</a:t>
            </a:r>
            <a:br>
              <a:rPr lang="en-US" sz="2000" i="1" dirty="0"/>
            </a:br>
            <a:br>
              <a:rPr lang="en-US" sz="2000" i="1" dirty="0"/>
            </a:br>
            <a:r>
              <a:rPr lang="en-US" sz="1600" i="1" dirty="0"/>
              <a:t>ECE 30861 / CSCI 45000</a:t>
            </a:r>
            <a:endParaRPr lang="en-US" sz="2000" i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EE3BDBC-95FD-1558-408F-2A8CF7F5B80F}"/>
              </a:ext>
            </a:extLst>
          </p:cNvPr>
          <p:cNvSpPr txBox="1"/>
          <p:nvPr/>
        </p:nvSpPr>
        <p:spPr>
          <a:xfrm>
            <a:off x="457200" y="4526280"/>
            <a:ext cx="8229600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i="0" dirty="0">
                <a:solidFill>
                  <a:srgbClr val="353638"/>
                </a:solidFill>
                <a:latin typeface="Calibri"/>
              </a:rPr>
              <a:t>Lecture 1: Purposeful reduction — what must the model preserve?</a:t>
            </a:r>
          </a:p>
          <a:p>
            <a:pPr algn="ctr"/>
            <a:r>
              <a:rPr sz="1600" b="1" i="1" dirty="0">
                <a:solidFill>
                  <a:srgbClr val="353638"/>
                </a:solidFill>
                <a:latin typeface="Calibri"/>
              </a:rPr>
              <a:t>Lecture 2 (today): Semantic</a:t>
            </a:r>
            <a:r>
              <a:rPr lang="en-US" sz="1600" b="1" i="1" dirty="0">
                <a:solidFill>
                  <a:srgbClr val="353638"/>
                </a:solidFill>
                <a:latin typeface="Calibri"/>
              </a:rPr>
              <a:t>s</a:t>
            </a:r>
            <a:r>
              <a:rPr sz="1600" b="1" i="1" dirty="0">
                <a:solidFill>
                  <a:srgbClr val="353638"/>
                </a:solidFill>
                <a:latin typeface="Calibri"/>
              </a:rPr>
              <a:t> and a modeling laboratory.</a:t>
            </a:r>
          </a:p>
        </p:txBody>
      </p:sp>
    </p:spTree>
    <p:extLst>
      <p:ext uri="{BB962C8B-B14F-4D97-AF65-F5344CB8AC3E}">
        <p14:creationId xmlns:p14="http://schemas.microsoft.com/office/powerpoint/2010/main" val="19234513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245102"/>
            <a:ext cx="850392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0" i="0" spc="140" dirty="0">
                <a:solidFill>
                  <a:srgbClr val="353638"/>
                </a:solidFill>
                <a:latin typeface="Calibri"/>
              </a:rPr>
              <a:t>Last time: </a:t>
            </a:r>
            <a:r>
              <a:rPr lang="en-US" sz="2400" b="0" i="0" spc="140" dirty="0">
                <a:solidFill>
                  <a:srgbClr val="353638"/>
                </a:solidFill>
                <a:latin typeface="Calibri"/>
              </a:rPr>
              <a:t>P</a:t>
            </a:r>
            <a:r>
              <a:rPr sz="2400" b="0" i="0" spc="140" dirty="0">
                <a:solidFill>
                  <a:srgbClr val="353638"/>
                </a:solidFill>
                <a:latin typeface="Calibri"/>
              </a:rPr>
              <a:t>urposeful reduction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48640" y="1005840"/>
            <a:ext cx="8046720" cy="929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10000"/>
              </a:lnSpc>
            </a:pPr>
            <a:r>
              <a:rPr sz="2000" b="0" i="1">
                <a:solidFill>
                  <a:srgbClr val="5C4826"/>
                </a:solidFill>
                <a:latin typeface="Calibri"/>
              </a:rPr>
              <a:t>An engineering model preserves the distinctions required by a question</a:t>
            </a:r>
          </a:p>
          <a:p>
            <a:pPr algn="ctr">
              <a:lnSpc>
                <a:spcPct val="110000"/>
              </a:lnSpc>
            </a:pPr>
            <a:r>
              <a:rPr sz="2000" b="0" i="1">
                <a:solidFill>
                  <a:srgbClr val="5C4826"/>
                </a:solidFill>
                <a:latin typeface="Calibri"/>
              </a:rPr>
              <a:t>and deliberately leaves other choices free.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64177" y="2299282"/>
            <a:ext cx="1691640" cy="591312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1" i="0" dirty="0">
                <a:solidFill>
                  <a:srgbClr val="FFFFFF"/>
                </a:solidFill>
                <a:latin typeface="Calibri"/>
              </a:rPr>
              <a:t>ENGINEERING</a:t>
            </a:r>
          </a:p>
          <a:p>
            <a:pPr algn="ctr"/>
            <a:r>
              <a:rPr sz="1800" b="1" i="0" dirty="0">
                <a:solidFill>
                  <a:srgbClr val="FFFFFF"/>
                </a:solidFill>
                <a:latin typeface="Calibri"/>
              </a:rPr>
              <a:t>QUESTION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519825" y="2453206"/>
            <a:ext cx="274320" cy="201168"/>
          </a:xfrm>
          <a:prstGeom prst="rightArrow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839865" y="2279470"/>
            <a:ext cx="141732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321193" y="2453206"/>
            <a:ext cx="274320" cy="201168"/>
          </a:xfrm>
          <a:prstGeom prst="rightArrow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641233" y="2279470"/>
            <a:ext cx="141732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PROPERTY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122561" y="2453206"/>
            <a:ext cx="274320" cy="201168"/>
          </a:xfrm>
          <a:prstGeom prst="rightArrow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42601" y="2279470"/>
            <a:ext cx="141732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QUALITY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5033" y="3099751"/>
            <a:ext cx="713232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1800" b="0" i="1" dirty="0">
                <a:solidFill>
                  <a:srgbClr val="555960"/>
                </a:solidFill>
                <a:latin typeface="Calibri"/>
              </a:rPr>
              <a:t>E</a:t>
            </a:r>
            <a:r>
              <a:rPr sz="1800" b="0" i="1" dirty="0">
                <a:solidFill>
                  <a:srgbClr val="555960"/>
                </a:solidFill>
                <a:latin typeface="Calibri"/>
              </a:rPr>
              <a:t>very model starts from a question</a:t>
            </a:r>
            <a:r>
              <a:rPr lang="en-US" sz="1800" b="0" i="1" dirty="0">
                <a:solidFill>
                  <a:srgbClr val="555960"/>
                </a:solidFill>
                <a:latin typeface="Calibri"/>
              </a:rPr>
              <a:t> or property</a:t>
            </a:r>
            <a:endParaRPr sz="1800" b="0" i="1" dirty="0">
              <a:solidFill>
                <a:srgbClr val="555960"/>
              </a:solidFill>
              <a:latin typeface="Calibr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535577" y="3644540"/>
            <a:ext cx="3931920" cy="24688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64177" y="382742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spc="100">
                <a:solidFill>
                  <a:srgbClr val="8E6F3E"/>
                </a:solidFill>
                <a:latin typeface="Calibri"/>
              </a:rPr>
              <a:t>WHAT THE MODEL PRESERVES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877" y="4193180"/>
            <a:ext cx="3703320" cy="1255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 dirty="0">
                <a:solidFill>
                  <a:srgbClr val="353638"/>
                </a:solidFill>
                <a:latin typeface="Calibri"/>
              </a:rPr>
              <a:t>The distinctions the question requires:</a:t>
            </a:r>
          </a:p>
          <a:p>
            <a:pPr marL="285750" indent="-285750" algn="l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353638"/>
                </a:solidFill>
                <a:latin typeface="Calibri"/>
              </a:rPr>
              <a:t>S</a:t>
            </a:r>
            <a:r>
              <a:rPr sz="1800" b="0" i="0" dirty="0">
                <a:solidFill>
                  <a:srgbClr val="353638"/>
                </a:solidFill>
                <a:latin typeface="Calibri"/>
              </a:rPr>
              <a:t>tates and forbidden transitions</a:t>
            </a:r>
            <a:endParaRPr lang="en-US" dirty="0">
              <a:solidFill>
                <a:srgbClr val="353638"/>
              </a:solidFill>
              <a:latin typeface="Calibri"/>
            </a:endParaRPr>
          </a:p>
          <a:p>
            <a:pPr marL="285750" indent="-285750" algn="l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sz="1800" b="0" i="0" dirty="0">
                <a:solidFill>
                  <a:srgbClr val="353638"/>
                </a:solidFill>
                <a:latin typeface="Calibri"/>
              </a:rPr>
              <a:t>T</a:t>
            </a:r>
            <a:r>
              <a:rPr sz="1800" b="0" i="0" dirty="0">
                <a:solidFill>
                  <a:srgbClr val="353638"/>
                </a:solidFill>
                <a:latin typeface="Calibri"/>
              </a:rPr>
              <a:t>yped</a:t>
            </a:r>
            <a:r>
              <a:rPr lang="en-US" dirty="0">
                <a:solidFill>
                  <a:srgbClr val="353638"/>
                </a:solidFill>
                <a:latin typeface="Calibri"/>
              </a:rPr>
              <a:t> </a:t>
            </a:r>
            <a:r>
              <a:rPr sz="1800" b="0" i="0" dirty="0">
                <a:solidFill>
                  <a:srgbClr val="353638"/>
                </a:solidFill>
                <a:latin typeface="Calibri"/>
              </a:rPr>
              <a:t>relations</a:t>
            </a:r>
            <a:endParaRPr lang="en-US" sz="1800" b="0" i="0" dirty="0">
              <a:solidFill>
                <a:srgbClr val="353638"/>
              </a:solidFill>
              <a:latin typeface="Calibri"/>
            </a:endParaRPr>
          </a:p>
          <a:p>
            <a:pPr marL="285750" indent="-285750" algn="l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353638"/>
                </a:solidFill>
                <a:latin typeface="Calibri"/>
              </a:rPr>
              <a:t>Q</a:t>
            </a:r>
            <a:r>
              <a:rPr sz="1800" b="0" i="0" dirty="0">
                <a:solidFill>
                  <a:srgbClr val="353638"/>
                </a:solidFill>
                <a:latin typeface="Calibri"/>
              </a:rPr>
              <a:t>uantities and bounds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50377" y="3644539"/>
            <a:ext cx="4160520" cy="2468879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878977" y="382742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spc="100">
                <a:solidFill>
                  <a:srgbClr val="8E6F3E"/>
                </a:solidFill>
                <a:latin typeface="Calibri"/>
              </a:rPr>
              <a:t>WHAT STAYS FREE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41817" y="4193180"/>
            <a:ext cx="3931920" cy="1255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85750" indent="-285750" algn="l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353638"/>
                </a:solidFill>
                <a:latin typeface="Calibri"/>
              </a:rPr>
              <a:t>R</a:t>
            </a:r>
            <a:r>
              <a:rPr sz="1800" b="0" i="0" dirty="0">
                <a:solidFill>
                  <a:srgbClr val="353638"/>
                </a:solidFill>
                <a:latin typeface="Calibri"/>
              </a:rPr>
              <a:t>ealization choices</a:t>
            </a:r>
            <a:r>
              <a:rPr lang="en-US" sz="1800" b="0" i="0" dirty="0">
                <a:solidFill>
                  <a:srgbClr val="353638"/>
                </a:solidFill>
                <a:latin typeface="Calibri"/>
              </a:rPr>
              <a:t> </a:t>
            </a:r>
            <a:r>
              <a:rPr sz="1800" b="0" i="0" dirty="0">
                <a:solidFill>
                  <a:srgbClr val="353638"/>
                </a:solidFill>
                <a:latin typeface="Calibri"/>
              </a:rPr>
              <a:t>the model </a:t>
            </a:r>
            <a:r>
              <a:rPr lang="en-US" sz="1800" b="0" i="0" dirty="0">
                <a:solidFill>
                  <a:srgbClr val="353638"/>
                </a:solidFill>
                <a:latin typeface="Calibri"/>
              </a:rPr>
              <a:t>omits</a:t>
            </a:r>
            <a:endParaRPr sz="1800" b="0" i="0" dirty="0">
              <a:solidFill>
                <a:srgbClr val="353638"/>
              </a:solidFill>
              <a:latin typeface="Calibri"/>
            </a:endParaRPr>
          </a:p>
          <a:p>
            <a:pPr marL="285750" indent="-285750" algn="l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353638"/>
                </a:solidFill>
                <a:latin typeface="Calibri"/>
              </a:rPr>
              <a:t>A</a:t>
            </a:r>
            <a:r>
              <a:rPr sz="1800" b="0" i="0" dirty="0">
                <a:solidFill>
                  <a:srgbClr val="353638"/>
                </a:solidFill>
                <a:latin typeface="Calibri"/>
              </a:rPr>
              <a:t>lgorithms, data structures</a:t>
            </a:r>
            <a:endParaRPr lang="en-US" dirty="0">
              <a:solidFill>
                <a:srgbClr val="353638"/>
              </a:solidFill>
              <a:latin typeface="Calibri"/>
            </a:endParaRPr>
          </a:p>
          <a:p>
            <a:pPr marL="285750" indent="-285750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353638"/>
                </a:solidFill>
              </a:rPr>
              <a:t>Decomposition</a:t>
            </a:r>
            <a:endParaRPr lang="en-US" dirty="0">
              <a:solidFill>
                <a:srgbClr val="353638"/>
              </a:solidFill>
              <a:latin typeface="Calibri"/>
            </a:endParaRPr>
          </a:p>
          <a:p>
            <a:pPr marL="285750" indent="-285750" algn="l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353638"/>
                </a:solidFill>
                <a:latin typeface="Calibri"/>
              </a:rPr>
              <a:t>N</a:t>
            </a:r>
            <a:r>
              <a:rPr sz="1800" b="0" i="0" dirty="0">
                <a:solidFill>
                  <a:srgbClr val="353638"/>
                </a:solidFill>
                <a:latin typeface="Calibri"/>
              </a:rPr>
              <a:t>amin</a:t>
            </a:r>
            <a:r>
              <a:rPr lang="en-US" sz="1800" b="0" i="0" dirty="0">
                <a:solidFill>
                  <a:srgbClr val="353638"/>
                </a:solidFill>
                <a:latin typeface="Calibri"/>
              </a:rPr>
              <a:t>g</a:t>
            </a:r>
            <a:endParaRPr sz="1800" b="0" i="0" dirty="0">
              <a:solidFill>
                <a:srgbClr val="353638"/>
              </a:solidFill>
              <a:latin typeface="Calibr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2</a:t>
            </a:r>
          </a:p>
        </p:txBody>
      </p:sp>
      <p:pic>
        <p:nvPicPr>
          <p:cNvPr id="21" name="Picture 20" descr="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245102"/>
            <a:ext cx="850392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0" i="0" spc="140" dirty="0">
                <a:solidFill>
                  <a:srgbClr val="353638"/>
                </a:solidFill>
                <a:latin typeface="Calibri"/>
              </a:rPr>
              <a:t>Today: </a:t>
            </a:r>
            <a:r>
              <a:rPr lang="en-US" sz="2400" b="0" i="0" spc="140" dirty="0">
                <a:solidFill>
                  <a:srgbClr val="353638"/>
                </a:solidFill>
                <a:latin typeface="Calibri"/>
              </a:rPr>
              <a:t>What does a model mean, anyway?</a:t>
            </a:r>
            <a:endParaRPr sz="2400" b="0" i="0" spc="140" dirty="0">
              <a:solidFill>
                <a:srgbClr val="353638"/>
              </a:solidFill>
              <a:latin typeface="Calibri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804672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000" b="0" i="0" dirty="0">
                <a:solidFill>
                  <a:srgbClr val="353638"/>
                </a:solidFill>
                <a:latin typeface="Calibri"/>
              </a:rPr>
              <a:t>Every model must be understood in light of </a:t>
            </a:r>
            <a:r>
              <a:rPr lang="en-US" sz="2000" b="1" dirty="0">
                <a:solidFill>
                  <a:srgbClr val="353638"/>
                </a:solidFill>
                <a:latin typeface="Calibri"/>
              </a:rPr>
              <a:t>TWO QUESTIONS</a:t>
            </a:r>
            <a:endParaRPr sz="2000" b="1" i="0" dirty="0">
              <a:solidFill>
                <a:srgbClr val="353638"/>
              </a:solidFill>
              <a:latin typeface="Calibri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3931920" cy="13716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34747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5C4826"/>
                </a:solidFill>
                <a:latin typeface="Calibri"/>
              </a:rPr>
              <a:t>What distinctions does</a:t>
            </a:r>
          </a:p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5C4826"/>
                </a:solidFill>
                <a:latin typeface="Calibri"/>
              </a:rPr>
              <a:t>the model preserve?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194560"/>
            <a:ext cx="347472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i="1" dirty="0">
                <a:solidFill>
                  <a:srgbClr val="8E6F3E"/>
                </a:solidFill>
                <a:latin typeface="Calibri"/>
              </a:rPr>
              <a:t>P</a:t>
            </a:r>
            <a:r>
              <a:rPr sz="1800" b="0" i="1" dirty="0">
                <a:solidFill>
                  <a:srgbClr val="8E6F3E"/>
                </a:solidFill>
                <a:latin typeface="Calibri"/>
              </a:rPr>
              <a:t>urposeful reduction — Lecture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325880"/>
            <a:ext cx="4480560" cy="1371600"/>
          </a:xfrm>
          <a:prstGeom prst="rect">
            <a:avLst/>
          </a:prstGeom>
          <a:solidFill>
            <a:srgbClr val="F5F1E8"/>
          </a:solidFill>
          <a:ln w="19050">
            <a:solidFill>
              <a:srgbClr val="8E6F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892039" y="1463040"/>
            <a:ext cx="4193159" cy="633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 dirty="0">
                <a:solidFill>
                  <a:srgbClr val="5C4826"/>
                </a:solidFill>
                <a:latin typeface="Calibri"/>
              </a:rPr>
              <a:t>How explicitly does the representation</a:t>
            </a:r>
          </a:p>
          <a:p>
            <a:pPr algn="l">
              <a:lnSpc>
                <a:spcPct val="105000"/>
              </a:lnSpc>
            </a:pPr>
            <a:r>
              <a:rPr sz="2000" b="1" i="0" dirty="0">
                <a:solidFill>
                  <a:srgbClr val="5C4826"/>
                </a:solidFill>
                <a:latin typeface="Calibri"/>
              </a:rPr>
              <a:t>define those distinctions?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92040" y="2194560"/>
            <a:ext cx="347472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i="1" dirty="0">
                <a:solidFill>
                  <a:srgbClr val="8E6F3E"/>
                </a:solidFill>
                <a:latin typeface="Calibri"/>
              </a:rPr>
              <a:t>S</a:t>
            </a:r>
            <a:r>
              <a:rPr lang="en-US" sz="1800" b="0" i="1" dirty="0">
                <a:solidFill>
                  <a:srgbClr val="8E6F3E"/>
                </a:solidFill>
                <a:latin typeface="Calibri"/>
              </a:rPr>
              <a:t>emantic commitment — Today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9634" y="3210553"/>
            <a:ext cx="12801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SECTION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50422" y="3226528"/>
            <a:ext cx="39319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353638"/>
                </a:solidFill>
                <a:latin typeface="Calibri"/>
              </a:rPr>
              <a:t>Degrees of Semantic Commitment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0902" y="3384256"/>
            <a:ext cx="347472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1" dirty="0">
                <a:solidFill>
                  <a:srgbClr val="555960"/>
                </a:solidFill>
                <a:latin typeface="Calibri"/>
              </a:rPr>
              <a:t>What does the representation mean?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9634" y="3942072"/>
            <a:ext cx="12801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SECTION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50422" y="3958047"/>
            <a:ext cx="39319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353638"/>
                </a:solidFill>
                <a:latin typeface="Calibri"/>
              </a:rPr>
              <a:t>Engineering with Semantic Models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90902" y="3996938"/>
            <a:ext cx="329184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1" dirty="0">
                <a:solidFill>
                  <a:srgbClr val="555960"/>
                </a:solidFill>
                <a:latin typeface="Calibri"/>
              </a:rPr>
              <a:t>What can we do because it means that?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9634" y="4673592"/>
            <a:ext cx="12801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SECTION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50422" y="4689567"/>
            <a:ext cx="39319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353638"/>
                </a:solidFill>
                <a:latin typeface="Calibri"/>
              </a:rPr>
              <a:t>Working with Semantic Models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90902" y="4728457"/>
            <a:ext cx="3291840" cy="67665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1">
                <a:solidFill>
                  <a:srgbClr val="555960"/>
                </a:solidFill>
                <a:latin typeface="Calibri"/>
              </a:rPr>
              <a:t>What is it like to work with one?</a:t>
            </a:r>
          </a:p>
          <a:p>
            <a:pPr algn="l">
              <a:lnSpc>
                <a:spcPct val="100000"/>
              </a:lnSpc>
            </a:pPr>
            <a:r>
              <a:rPr sz="1800" b="0" i="1">
                <a:solidFill>
                  <a:srgbClr val="555960"/>
                </a:solidFill>
                <a:latin typeface="Calibri"/>
              </a:rPr>
              <a:t>→ the lab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9634" y="5405112"/>
            <a:ext cx="1280160" cy="566928"/>
          </a:xfrm>
          <a:prstGeom prst="rect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2000" b="1" i="0" dirty="0">
                <a:solidFill>
                  <a:srgbClr val="5C4826"/>
                </a:solidFill>
                <a:latin typeface="Calibri"/>
              </a:rPr>
              <a:t>SECTION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50422" y="5421087"/>
            <a:ext cx="39319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353638"/>
                </a:solidFill>
                <a:latin typeface="Calibri"/>
              </a:rPr>
              <a:t>Optional: Reasoning with</a:t>
            </a:r>
          </a:p>
          <a:p>
            <a:pPr algn="l"/>
            <a:r>
              <a:rPr sz="2000" b="1" i="0">
                <a:solidFill>
                  <a:srgbClr val="353638"/>
                </a:solidFill>
                <a:latin typeface="Calibri"/>
              </a:rPr>
              <a:t>SysML and KerML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90902" y="5596609"/>
            <a:ext cx="329184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i="1" dirty="0">
                <a:solidFill>
                  <a:srgbClr val="555960"/>
                </a:solidFill>
                <a:latin typeface="Calibri"/>
              </a:rPr>
              <a:t>R</a:t>
            </a:r>
            <a:r>
              <a:rPr sz="1800" b="0" i="1" dirty="0">
                <a:solidFill>
                  <a:srgbClr val="555960"/>
                </a:solidFill>
                <a:latin typeface="Calibri"/>
              </a:rPr>
              <a:t>eference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4</a:t>
            </a:r>
          </a:p>
        </p:txBody>
      </p:sp>
      <p:pic>
        <p:nvPicPr>
          <p:cNvPr id="25" name="Picture 24" descr="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82119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245102"/>
            <a:ext cx="850392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0" i="0" spc="140" dirty="0">
                <a:solidFill>
                  <a:srgbClr val="353638"/>
                </a:solidFill>
                <a:latin typeface="Calibri"/>
              </a:rPr>
              <a:t>Who uses semantic </a:t>
            </a:r>
            <a:r>
              <a:rPr lang="en-US" sz="2400" b="0" i="0" spc="140" dirty="0">
                <a:solidFill>
                  <a:srgbClr val="353638"/>
                </a:solidFill>
                <a:latin typeface="Calibri"/>
              </a:rPr>
              <a:t>engineering </a:t>
            </a:r>
            <a:r>
              <a:rPr sz="2400" b="0" i="0" spc="140" dirty="0">
                <a:solidFill>
                  <a:srgbClr val="353638"/>
                </a:solidFill>
                <a:latin typeface="Calibri"/>
              </a:rPr>
              <a:t>models?</a:t>
            </a:r>
            <a:r>
              <a:rPr lang="en-US" sz="2400" b="0" i="0" spc="140" dirty="0">
                <a:solidFill>
                  <a:srgbClr val="353638"/>
                </a:solidFill>
                <a:latin typeface="Calibri"/>
              </a:rPr>
              <a:t> </a:t>
            </a:r>
            <a:r>
              <a:rPr lang="en-US" sz="2400" b="0" i="1" spc="140" dirty="0">
                <a:solidFill>
                  <a:srgbClr val="353638"/>
                </a:solidFill>
                <a:latin typeface="Calibri"/>
              </a:rPr>
              <a:t>(Some examples)</a:t>
            </a:r>
            <a:endParaRPr sz="2400" b="0" i="1" spc="140" dirty="0">
              <a:solidFill>
                <a:srgbClr val="353638"/>
              </a:solidFill>
              <a:latin typeface="Calibri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3931920" cy="10972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188719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spc="80">
                <a:solidFill>
                  <a:srgbClr val="8E6F3E"/>
                </a:solidFill>
                <a:latin typeface="Calibri"/>
              </a:rPr>
              <a:t>AEROSPACE &amp; DEFENSE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508760"/>
            <a:ext cx="35661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353638"/>
                </a:solidFill>
                <a:latin typeface="Calibri"/>
              </a:rPr>
              <a:t>Boeing · Airbus · Lockheed Martin</a:t>
            </a:r>
          </a:p>
        </p:txBody>
      </p:sp>
      <p:sp>
        <p:nvSpPr>
          <p:cNvPr id="7" name="Rectangle 6"/>
          <p:cNvSpPr/>
          <p:nvPr/>
        </p:nvSpPr>
        <p:spPr>
          <a:xfrm>
            <a:off x="4663440" y="1051560"/>
            <a:ext cx="3931920" cy="10972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892040" y="1188719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spc="80">
                <a:solidFill>
                  <a:srgbClr val="8E6F3E"/>
                </a:solidFill>
                <a:latin typeface="Calibri"/>
              </a:rPr>
              <a:t>AUTOMOTIVE &amp; INDUSTRIAL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1508760"/>
            <a:ext cx="3566160" cy="2894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 dirty="0">
                <a:solidFill>
                  <a:srgbClr val="353638"/>
                </a:solidFill>
                <a:latin typeface="Calibri"/>
              </a:rPr>
              <a:t>Siemens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377440"/>
            <a:ext cx="3931920" cy="10972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2514600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spc="80">
                <a:solidFill>
                  <a:srgbClr val="8E6F3E"/>
                </a:solidFill>
                <a:latin typeface="Calibri"/>
              </a:rPr>
              <a:t>ENGINEERING-TOOL VENDORS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34640"/>
            <a:ext cx="35661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353638"/>
                </a:solidFill>
                <a:latin typeface="Calibri"/>
              </a:rPr>
              <a:t>Dassault Systèmes · Ansys · PTC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63440" y="2377440"/>
            <a:ext cx="3931920" cy="10972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892040" y="2514600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spc="80">
                <a:solidFill>
                  <a:srgbClr val="8E6F3E"/>
                </a:solidFill>
                <a:latin typeface="Calibri"/>
              </a:rPr>
              <a:t>GOVERNMENT &amp; RESEARCH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92040" y="2834640"/>
            <a:ext cx="3566160" cy="5941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 dirty="0">
                <a:solidFill>
                  <a:srgbClr val="353638"/>
                </a:solidFill>
                <a:latin typeface="Calibri"/>
              </a:rPr>
              <a:t>Space and defense agencies</a:t>
            </a:r>
          </a:p>
          <a:p>
            <a:pPr algn="l">
              <a:lnSpc>
                <a:spcPct val="110000"/>
              </a:lnSpc>
            </a:pPr>
            <a:r>
              <a:rPr lang="en-US" dirty="0">
                <a:solidFill>
                  <a:srgbClr val="353638"/>
                </a:solidFill>
                <a:latin typeface="Calibri"/>
              </a:rPr>
              <a:t>R</a:t>
            </a:r>
            <a:r>
              <a:rPr sz="1800" b="0" i="0" dirty="0">
                <a:solidFill>
                  <a:srgbClr val="353638"/>
                </a:solidFill>
                <a:latin typeface="Calibri"/>
              </a:rPr>
              <a:t>esearch laboratories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377669"/>
            <a:ext cx="8001000" cy="103906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2000" b="0" i="0" dirty="0">
                <a:solidFill>
                  <a:srgbClr val="5C4826"/>
                </a:solidFill>
                <a:latin typeface="Calibri"/>
              </a:rPr>
              <a:t>They</a:t>
            </a:r>
            <a:r>
              <a:rPr sz="2000" b="0" i="0" dirty="0">
                <a:solidFill>
                  <a:srgbClr val="5C4826"/>
                </a:solidFill>
                <a:latin typeface="Calibri"/>
              </a:rPr>
              <a:t> engineer </a:t>
            </a:r>
            <a:r>
              <a:rPr sz="2000" b="1" i="0" dirty="0">
                <a:solidFill>
                  <a:srgbClr val="5C4826"/>
                </a:solidFill>
                <a:latin typeface="Calibri"/>
              </a:rPr>
              <a:t>consequential systems</a:t>
            </a:r>
            <a:r>
              <a:rPr sz="2000" b="0" i="0" dirty="0">
                <a:solidFill>
                  <a:srgbClr val="5C4826"/>
                </a:solidFill>
                <a:latin typeface="Calibri"/>
              </a:rPr>
              <a:t> wh</a:t>
            </a:r>
            <a:r>
              <a:rPr lang="en-US" sz="2000" b="0" i="0" dirty="0">
                <a:solidFill>
                  <a:srgbClr val="5C4826"/>
                </a:solidFill>
                <a:latin typeface="Calibri"/>
              </a:rPr>
              <a:t>ose</a:t>
            </a:r>
            <a:r>
              <a:rPr sz="2000" b="0" i="0" dirty="0">
                <a:solidFill>
                  <a:srgbClr val="5C4826"/>
                </a:solidFill>
                <a:latin typeface="Calibri"/>
              </a:rPr>
              <a:t> software meets </a:t>
            </a:r>
            <a:r>
              <a:rPr lang="en-US" sz="2000" b="0" i="0" dirty="0">
                <a:solidFill>
                  <a:srgbClr val="5C4826"/>
                </a:solidFill>
                <a:latin typeface="Calibri"/>
              </a:rPr>
              <a:t>hardware, </a:t>
            </a:r>
            <a:r>
              <a:rPr sz="2000" b="0" i="0" dirty="0">
                <a:solidFill>
                  <a:srgbClr val="5C4826"/>
                </a:solidFill>
                <a:latin typeface="Calibri"/>
              </a:rPr>
              <a:t>physical</a:t>
            </a:r>
            <a:r>
              <a:rPr lang="en-US" sz="2000" b="0" i="0" dirty="0">
                <a:solidFill>
                  <a:srgbClr val="5C4826"/>
                </a:solidFill>
                <a:latin typeface="Calibri"/>
              </a:rPr>
              <a:t> </a:t>
            </a:r>
            <a:r>
              <a:rPr sz="2000" b="0" i="0" dirty="0">
                <a:solidFill>
                  <a:srgbClr val="5C4826"/>
                </a:solidFill>
                <a:latin typeface="Calibri"/>
              </a:rPr>
              <a:t>resources, timing, safety, power, </a:t>
            </a:r>
            <a:r>
              <a:rPr lang="en-US" sz="2000" b="0" i="0" dirty="0">
                <a:solidFill>
                  <a:srgbClr val="5C4826"/>
                </a:solidFill>
                <a:latin typeface="Calibri"/>
              </a:rPr>
              <a:t>&amp;</a:t>
            </a:r>
            <a:r>
              <a:rPr sz="2000" b="0" i="0" dirty="0">
                <a:solidFill>
                  <a:srgbClr val="5C4826"/>
                </a:solidFill>
                <a:latin typeface="Calibri"/>
              </a:rPr>
              <a:t> other systems.</a:t>
            </a:r>
            <a:endParaRPr lang="en-US" sz="2000" b="0" i="0" dirty="0">
              <a:solidFill>
                <a:srgbClr val="5C4826"/>
              </a:solidFill>
              <a:latin typeface="Calibri"/>
            </a:endParaRPr>
          </a:p>
          <a:p>
            <a:pPr algn="l">
              <a:lnSpc>
                <a:spcPct val="115000"/>
              </a:lnSpc>
            </a:pPr>
            <a:r>
              <a:rPr lang="en-US" sz="2000" dirty="0">
                <a:solidFill>
                  <a:srgbClr val="5C4826"/>
                </a:solidFill>
                <a:latin typeface="Calibri"/>
              </a:rPr>
              <a:t>	</a:t>
            </a:r>
            <a:r>
              <a:rPr lang="en-US" sz="2000" dirty="0">
                <a:solidFill>
                  <a:srgbClr val="5C4826"/>
                </a:solidFill>
                <a:latin typeface="Calibri"/>
                <a:sym typeface="Wingdings" pitchFamily="2" charset="2"/>
              </a:rPr>
              <a:t> </a:t>
            </a:r>
            <a:r>
              <a:rPr lang="en-US" sz="2000" dirty="0" err="1">
                <a:solidFill>
                  <a:srgbClr val="5C4826"/>
                </a:solidFill>
                <a:latin typeface="Calibri"/>
                <a:sym typeface="Wingdings" pitchFamily="2" charset="2"/>
              </a:rPr>
              <a:t>CompE</a:t>
            </a:r>
            <a:r>
              <a:rPr lang="en-US" sz="2000" dirty="0">
                <a:solidFill>
                  <a:srgbClr val="5C4826"/>
                </a:solidFill>
                <a:latin typeface="Calibri"/>
                <a:sym typeface="Wingdings" pitchFamily="2" charset="2"/>
              </a:rPr>
              <a:t>, anyone?</a:t>
            </a:r>
            <a:endParaRPr lang="en-US" sz="2000" dirty="0">
              <a:solidFill>
                <a:srgbClr val="5C4826"/>
              </a:solidFill>
              <a:latin typeface="Calibri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320040" y="6007607"/>
            <a:ext cx="8503920" cy="55778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1" i="0" dirty="0">
                <a:solidFill>
                  <a:srgbClr val="FFFFFF"/>
                </a:solidFill>
                <a:latin typeface="Calibri"/>
              </a:rPr>
              <a:t>They need models that support engineering reasoning — not </a:t>
            </a:r>
            <a:r>
              <a:rPr lang="en-US" sz="1800" b="1" i="0" dirty="0">
                <a:solidFill>
                  <a:srgbClr val="FFFFFF"/>
                </a:solidFill>
                <a:latin typeface="Calibri"/>
              </a:rPr>
              <a:t>just </a:t>
            </a:r>
            <a:r>
              <a:rPr sz="1800" b="1" i="0" dirty="0">
                <a:solidFill>
                  <a:srgbClr val="FFFFFF"/>
                </a:solidFill>
                <a:latin typeface="Calibri"/>
              </a:rPr>
              <a:t>pictures.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3</a:t>
            </a:r>
          </a:p>
        </p:txBody>
      </p:sp>
      <p:pic>
        <p:nvPicPr>
          <p:cNvPr id="22" name="Picture 21" descr="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BE1117B9-2BC2-EC57-14A0-04491592F6C0}"/>
              </a:ext>
            </a:extLst>
          </p:cNvPr>
          <p:cNvSpPr txBox="1"/>
          <p:nvPr/>
        </p:nvSpPr>
        <p:spPr>
          <a:xfrm>
            <a:off x="418011" y="3683726"/>
            <a:ext cx="45838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What do these organizations have in common?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1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 fontScale="90000"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Degrees of semantic commitment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How much meaning does the representation carry?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0" i="0" spc="140">
                <a:solidFill>
                  <a:srgbClr val="353638"/>
                </a:solidFill>
                <a:latin typeface="Calibri"/>
              </a:rPr>
              <a:t>What does this arrow mean?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103120" y="1371600"/>
            <a:ext cx="1188720" cy="685800"/>
          </a:xfrm>
          <a:prstGeom prst="rect">
            <a:avLst/>
          </a:prstGeom>
          <a:solidFill>
            <a:srgbClr val="F5F1E8"/>
          </a:solidFill>
          <a:ln w="19050">
            <a:solidFill>
              <a:srgbClr val="5C48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2000" b="1" i="0">
                <a:solidFill>
                  <a:srgbClr val="5C4826"/>
                </a:solidFill>
                <a:latin typeface="Calibri"/>
              </a:rPr>
              <a:t>A</a:t>
            </a:r>
          </a:p>
        </p:txBody>
      </p:sp>
      <p:sp>
        <p:nvSpPr>
          <p:cNvPr id="5" name="Rectangle 4"/>
          <p:cNvSpPr/>
          <p:nvPr/>
        </p:nvSpPr>
        <p:spPr>
          <a:xfrm>
            <a:off x="5852160" y="1371600"/>
            <a:ext cx="1188720" cy="685800"/>
          </a:xfrm>
          <a:prstGeom prst="rect">
            <a:avLst/>
          </a:prstGeom>
          <a:solidFill>
            <a:srgbClr val="F5F1E8"/>
          </a:solidFill>
          <a:ln w="19050">
            <a:solidFill>
              <a:srgbClr val="5C48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2000" b="1" i="0">
                <a:solidFill>
                  <a:srgbClr val="5C4826"/>
                </a:solidFill>
                <a:latin typeface="Calibri"/>
              </a:rPr>
              <a:t>B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291840" y="1714500"/>
            <a:ext cx="2560320" cy="0"/>
          </a:xfrm>
          <a:prstGeom prst="line">
            <a:avLst/>
          </a:prstGeom>
          <a:ln w="38100">
            <a:solidFill>
              <a:srgbClr val="5C482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502920" y="2606040"/>
            <a:ext cx="960120" cy="457200"/>
          </a:xfrm>
          <a:prstGeom prst="rect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1" i="0">
                <a:solidFill>
                  <a:srgbClr val="5C4826"/>
                </a:solidFill>
                <a:latin typeface="Calibri"/>
              </a:rPr>
              <a:t>calls?</a:t>
            </a:r>
          </a:p>
        </p:txBody>
      </p:sp>
      <p:sp>
        <p:nvSpPr>
          <p:cNvPr id="8" name="Rectangle 7"/>
          <p:cNvSpPr/>
          <p:nvPr/>
        </p:nvSpPr>
        <p:spPr>
          <a:xfrm>
            <a:off x="1627632" y="2606040"/>
            <a:ext cx="1234440" cy="457200"/>
          </a:xfrm>
          <a:prstGeom prst="rect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1" i="0">
                <a:solidFill>
                  <a:srgbClr val="5C4826"/>
                </a:solidFill>
                <a:latin typeface="Calibri"/>
              </a:rPr>
              <a:t>may call?</a:t>
            </a:r>
          </a:p>
        </p:txBody>
      </p:sp>
      <p:sp>
        <p:nvSpPr>
          <p:cNvPr id="9" name="Rectangle 8"/>
          <p:cNvSpPr/>
          <p:nvPr/>
        </p:nvSpPr>
        <p:spPr>
          <a:xfrm>
            <a:off x="3026664" y="2606040"/>
            <a:ext cx="1417320" cy="457200"/>
          </a:xfrm>
          <a:prstGeom prst="rect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1" i="0">
                <a:solidFill>
                  <a:srgbClr val="5C4826"/>
                </a:solidFill>
                <a:latin typeface="Calibri"/>
              </a:rPr>
              <a:t>depends on?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08576" y="2606040"/>
            <a:ext cx="1600200" cy="457200"/>
          </a:xfrm>
          <a:prstGeom prst="rect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1" i="0">
                <a:solidFill>
                  <a:srgbClr val="5C4826"/>
                </a:solidFill>
                <a:latin typeface="Calibri"/>
              </a:rPr>
              <a:t>sends data to?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73368" y="2606040"/>
            <a:ext cx="2286000" cy="557784"/>
          </a:xfrm>
          <a:prstGeom prst="rect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1" i="0">
                <a:solidFill>
                  <a:srgbClr val="5C4826"/>
                </a:solidFill>
                <a:latin typeface="Calibri"/>
              </a:rPr>
              <a:t>was observed calling?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8328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 i="0">
                <a:solidFill>
                  <a:srgbClr val="353638"/>
                </a:solidFill>
                <a:latin typeface="Calibri"/>
              </a:rPr>
              <a:t>Same marks. </a:t>
            </a:r>
            <a:r>
              <a:rPr sz="2000" b="0" i="0">
                <a:solidFill>
                  <a:srgbClr val="353638"/>
                </a:solidFill>
                <a:latin typeface="Calibri"/>
              </a:rPr>
              <a:t>Different engineering claims.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88720" y="4069080"/>
            <a:ext cx="6766560" cy="15544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463040" y="4279392"/>
            <a:ext cx="6217920" cy="1239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 i="0">
                <a:solidFill>
                  <a:srgbClr val="5C4826"/>
                </a:solidFill>
                <a:latin typeface="Calibri"/>
              </a:rPr>
              <a:t>A diagram that permits five readings licenses none.</a:t>
            </a:r>
          </a:p>
          <a:p>
            <a:pPr algn="l">
              <a:lnSpc>
                <a:spcPct val="125000"/>
              </a:lnSpc>
            </a:pPr>
            <a:r>
              <a:rPr sz="2000" b="0" i="0">
                <a:solidFill>
                  <a:srgbClr val="353638"/>
                </a:solidFill>
                <a:latin typeface="Calibri"/>
              </a:rPr>
              <a:t>Whoever interprets the sketch — teammate or agent — supplies the meaning
the marks do not carry.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6144768"/>
            <a:ext cx="8503920" cy="42062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The marks are the same; the meaning is supplied by the interpreter.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5</a:t>
            </a:r>
          </a:p>
        </p:txBody>
      </p:sp>
      <p:pic>
        <p:nvPicPr>
          <p:cNvPr id="17" name="Picture 16" descr="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0" i="0" spc="140">
                <a:solidFill>
                  <a:srgbClr val="353638"/>
                </a:solidFill>
                <a:latin typeface="Calibri"/>
              </a:rPr>
              <a:t>Models carry different amounts of meaning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8046720" cy="868680"/>
          </a:xfrm>
          <a:prstGeom prst="rect">
            <a:avLst/>
          </a:prstGeom>
          <a:solidFill>
            <a:srgbClr val="F5F1E8"/>
          </a:solidFill>
          <a:ln w="15875">
            <a:solidFill>
              <a:srgbClr val="8E6F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078992"/>
            <a:ext cx="7589520" cy="10149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8E6F3E"/>
                </a:solidFill>
                <a:latin typeface="Calibri"/>
              </a:rPr>
              <a:t>SEMANTIC COMMITMENT</a:t>
            </a:r>
          </a:p>
          <a:p>
            <a:pPr algn="l">
              <a:lnSpc>
                <a:spcPct val="110000"/>
              </a:lnSpc>
            </a:pPr>
            <a:r>
              <a:rPr sz="2000" b="0" i="1">
                <a:solidFill>
                  <a:srgbClr val="5C4826"/>
                </a:solidFill>
                <a:latin typeface="Calibri"/>
              </a:rPr>
              <a:t>How much of a representation's meaning is carried explicitly by the representation itself,
rather than supplied by whoever — or whatever — interprets 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148840"/>
            <a:ext cx="1691640" cy="5029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0" i="0">
                <a:solidFill>
                  <a:srgbClr val="5C4826"/>
                </a:solidFill>
                <a:latin typeface="Calibri"/>
              </a:rPr>
              <a:t>quick sketch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423160" y="2304288"/>
            <a:ext cx="274320" cy="182880"/>
          </a:xfrm>
          <a:prstGeom prst="rightArrow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743200" y="2148840"/>
            <a:ext cx="1691640" cy="5029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0" i="0">
                <a:solidFill>
                  <a:srgbClr val="5C4826"/>
                </a:solidFill>
                <a:latin typeface="Calibri"/>
              </a:rPr>
              <a:t>UML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480560" y="2304288"/>
            <a:ext cx="274320" cy="182880"/>
          </a:xfrm>
          <a:prstGeom prst="rightArrow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800600" y="2148840"/>
            <a:ext cx="1691640" cy="5029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0" i="0">
                <a:solidFill>
                  <a:srgbClr val="5C4826"/>
                </a:solidFill>
                <a:latin typeface="Calibri"/>
              </a:rPr>
              <a:t>structured schemas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537960" y="2304288"/>
            <a:ext cx="274320" cy="182880"/>
          </a:xfrm>
          <a:prstGeom prst="rightArrow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858000" y="2148840"/>
            <a:ext cx="1691640" cy="5029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1" i="0">
                <a:solidFill>
                  <a:srgbClr val="5C4826"/>
                </a:solidFill>
                <a:latin typeface="Calibri"/>
              </a:rPr>
              <a:t>SysML v2 + KerML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743200"/>
            <a:ext cx="7772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  <a:latin typeface="Calibri"/>
              </a:rPr>
              <a:t>examples along one axis — not maturity levels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154680"/>
            <a:ext cx="8046720" cy="8366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1">
                <a:solidFill>
                  <a:srgbClr val="353638"/>
                </a:solidFill>
                <a:latin typeface="Calibri"/>
              </a:rPr>
              <a:t>A quick sketch may be exactly right when several engineers need to communicate an</a:t>
            </a:r>
          </a:p>
          <a:p>
            <a:pPr algn="l">
              <a:lnSpc>
                <a:spcPct val="115000"/>
              </a:lnSpc>
            </a:pPr>
            <a:r>
              <a:rPr sz="1800" b="0" i="1">
                <a:solidFill>
                  <a:srgbClr val="353638"/>
                </a:solidFill>
                <a:latin typeface="Calibri"/>
              </a:rPr>
              <a:t>architectural idea to one another — or to an agent for a prototype.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977639"/>
            <a:ext cx="3931920" cy="14630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77240" y="4133087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spc="80">
                <a:solidFill>
                  <a:srgbClr val="8E6F3E"/>
                </a:solidFill>
                <a:latin typeface="Calibri"/>
              </a:rPr>
              <a:t>STRONGER SEMANTICS BUY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498848"/>
            <a:ext cx="3474720" cy="11155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353638"/>
                </a:solidFill>
                <a:latin typeface="Calibri"/>
              </a:rPr>
              <a:t>reliable interpretation · query ·</a:t>
            </a:r>
          </a:p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353638"/>
                </a:solidFill>
                <a:latin typeface="Calibri"/>
              </a:rPr>
              <a:t>composition · analysis · validation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63440" y="3977639"/>
            <a:ext cx="3931920" cy="14630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892040" y="4133087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spc="80">
                <a:solidFill>
                  <a:srgbClr val="8E6F3E"/>
                </a:solidFill>
                <a:latin typeface="Calibri"/>
              </a:rPr>
              <a:t>AND THEY COST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92040" y="4498848"/>
            <a:ext cx="3474720" cy="11155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353638"/>
                </a:solidFill>
                <a:latin typeface="Calibri"/>
              </a:rPr>
              <a:t>authoring effort · expertise · tooling ·</a:t>
            </a:r>
          </a:p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353638"/>
                </a:solidFill>
                <a:latin typeface="Calibri"/>
              </a:rPr>
              <a:t>maintenance · sometimes human accessibility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6144768"/>
            <a:ext cx="8503920" cy="42062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The engineering decision is not “maximize semantics.”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6</a:t>
            </a:r>
          </a:p>
        </p:txBody>
      </p:sp>
      <p:pic>
        <p:nvPicPr>
          <p:cNvPr id="23" name="Picture 22" descr="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0" i="0" spc="140">
                <a:solidFill>
                  <a:srgbClr val="353638"/>
                </a:solidFill>
                <a:latin typeface="Calibri"/>
              </a:rPr>
              <a:t>Precision is not completeness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cxnSp>
        <p:nvCxnSpPr>
          <p:cNvPr id="4" name="Connector 3"/>
          <p:cNvCxnSpPr/>
          <p:nvPr/>
        </p:nvCxnSpPr>
        <p:spPr>
          <a:xfrm flipV="1">
            <a:off x="1005840" y="1188720"/>
            <a:ext cx="0" cy="3291840"/>
          </a:xfrm>
          <a:prstGeom prst="line">
            <a:avLst/>
          </a:prstGeom>
          <a:ln w="25400">
            <a:solidFill>
              <a:srgbClr val="5C482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05840" y="4480560"/>
            <a:ext cx="3474720" cy="0"/>
          </a:xfrm>
          <a:prstGeom prst="line">
            <a:avLst/>
          </a:prstGeom>
          <a:ln w="25400">
            <a:solidFill>
              <a:srgbClr val="5C482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94360" y="96012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spc="80">
                <a:solidFill>
                  <a:srgbClr val="5C4826"/>
                </a:solidFill>
                <a:latin typeface="Calibri"/>
              </a:rPr>
              <a:t>AMOUNT SPECIFIED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40" y="4590288"/>
            <a:ext cx="2103120" cy="4297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spc="80">
                <a:solidFill>
                  <a:srgbClr val="5C4826"/>
                </a:solidFill>
                <a:latin typeface="Calibri"/>
              </a:rPr>
              <a:t>PRECISION OF MEANING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1325880" y="1554480"/>
            <a:ext cx="1737360" cy="11155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0000"/>
              </a:lnSpc>
            </a:pPr>
            <a:r>
              <a:rPr sz="1800" b="0" i="0">
                <a:solidFill>
                  <a:srgbClr val="353638"/>
                </a:solidFill>
                <a:latin typeface="Calibri"/>
              </a:rPr>
              <a:t>an enormous prose</a:t>
            </a:r>
          </a:p>
          <a:p>
            <a:pPr algn="ctr">
              <a:lnSpc>
                <a:spcPct val="100000"/>
              </a:lnSpc>
            </a:pPr>
            <a:r>
              <a:rPr sz="1800" b="0" i="0">
                <a:solidFill>
                  <a:srgbClr val="353638"/>
                </a:solidFill>
                <a:latin typeface="Calibri"/>
              </a:rPr>
              <a:t>spec — still</a:t>
            </a:r>
          </a:p>
          <a:p>
            <a:pPr algn="ctr">
              <a:lnSpc>
                <a:spcPct val="100000"/>
              </a:lnSpc>
            </a:pPr>
            <a:r>
              <a:rPr sz="1800" b="0" i="0">
                <a:solidFill>
                  <a:srgbClr val="353638"/>
                </a:solidFill>
                <a:latin typeface="Calibri"/>
              </a:rPr>
              <a:t>ambiguous</a:t>
            </a:r>
          </a:p>
        </p:txBody>
      </p:sp>
      <p:sp>
        <p:nvSpPr>
          <p:cNvPr id="9" name="Rectangle 8"/>
          <p:cNvSpPr/>
          <p:nvPr/>
        </p:nvSpPr>
        <p:spPr>
          <a:xfrm>
            <a:off x="3063240" y="3200400"/>
            <a:ext cx="1737360" cy="777240"/>
          </a:xfrm>
          <a:prstGeom prst="rect">
            <a:avLst/>
          </a:prstGeom>
          <a:solidFill>
            <a:srgbClr val="F5F1E8"/>
          </a:solidFill>
          <a:ln w="15875">
            <a:solidFill>
              <a:srgbClr val="8E6F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0000"/>
              </a:lnSpc>
            </a:pPr>
            <a:r>
              <a:rPr sz="1800" b="0" i="0">
                <a:solidFill>
                  <a:srgbClr val="5C4826"/>
                </a:solidFill>
                <a:latin typeface="Calibri"/>
              </a:rPr>
              <a:t>a tiny model —</a:t>
            </a:r>
          </a:p>
          <a:p>
            <a:pPr algn="ctr">
              <a:lnSpc>
                <a:spcPct val="100000"/>
              </a:lnSpc>
            </a:pPr>
            <a:r>
              <a:rPr sz="1800" b="0" i="0">
                <a:solidFill>
                  <a:srgbClr val="5C4826"/>
                </a:solidFill>
                <a:latin typeface="Calibri"/>
              </a:rPr>
              <a:t>semantically</a:t>
            </a:r>
          </a:p>
          <a:p>
            <a:pPr algn="ctr">
              <a:lnSpc>
                <a:spcPct val="100000"/>
              </a:lnSpc>
            </a:pPr>
            <a:r>
              <a:rPr sz="1800" b="0" i="0">
                <a:solidFill>
                  <a:srgbClr val="5C4826"/>
                </a:solidFill>
                <a:latin typeface="Calibri"/>
              </a:rPr>
              <a:t>precise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074920"/>
            <a:ext cx="41148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1">
                <a:solidFill>
                  <a:srgbClr val="555960"/>
                </a:solidFill>
                <a:latin typeface="Calibri"/>
              </a:rPr>
              <a:t>The two axes are independent.</a:t>
            </a:r>
          </a:p>
          <a:p>
            <a:pPr algn="l">
              <a:lnSpc>
                <a:spcPct val="115000"/>
              </a:lnSpc>
            </a:pPr>
            <a:r>
              <a:rPr sz="1800" b="0" i="1">
                <a:solidFill>
                  <a:srgbClr val="555960"/>
                </a:solidFill>
                <a:latin typeface="Calibri"/>
              </a:rPr>
              <a:t>Neither corner implies the other.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83480" y="1188720"/>
            <a:ext cx="3657600" cy="39319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212080" y="1371600"/>
            <a:ext cx="3200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 spc="60">
                <a:solidFill>
                  <a:srgbClr val="8E6F3E"/>
                </a:solidFill>
                <a:latin typeface="Calibri"/>
              </a:rPr>
              <a:t>DEGREES OF FREEDOM SURVIVE</a:t>
            </a:r>
          </a:p>
          <a:p>
            <a:pPr algn="l">
              <a:lnSpc>
                <a:spcPct val="110000"/>
              </a:lnSpc>
            </a:pPr>
            <a:r>
              <a:rPr sz="1800" b="1" i="0" spc="60">
                <a:solidFill>
                  <a:srgbClr val="8E6F3E"/>
                </a:solidFill>
                <a:latin typeface="Calibri"/>
              </a:rPr>
              <a:t>STRONGER SEMANTICS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2057400"/>
            <a:ext cx="3200400" cy="13944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53638"/>
                </a:solidFill>
                <a:latin typeface="Calibri"/>
              </a:rPr>
              <a:t>A model may precisely define memory,</a:t>
            </a:r>
          </a:p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53638"/>
                </a:solidFill>
                <a:latin typeface="Calibri"/>
              </a:rPr>
              <a:t>allocation, units, and a resource</a:t>
            </a:r>
          </a:p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53638"/>
                </a:solidFill>
                <a:latin typeface="Calibri"/>
              </a:rPr>
              <a:t>constraint 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3154680"/>
            <a:ext cx="32004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53638"/>
                </a:solidFill>
                <a:latin typeface="Calibri"/>
              </a:rPr>
              <a:t>— while saying nothing about data</a:t>
            </a:r>
          </a:p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53638"/>
                </a:solidFill>
                <a:latin typeface="Calibri"/>
              </a:rPr>
              <a:t>structures, algorithms, task</a:t>
            </a:r>
          </a:p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53638"/>
                </a:solidFill>
                <a:latin typeface="Calibri"/>
              </a:rPr>
              <a:t>decomposition, naming, or logging.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4572000"/>
            <a:ext cx="3200400" cy="5577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1">
                <a:solidFill>
                  <a:srgbClr val="5C4826"/>
                </a:solidFill>
                <a:latin typeface="Calibri"/>
              </a:rPr>
              <a:t>Those are not gaps. They are</a:t>
            </a:r>
          </a:p>
          <a:p>
            <a:pPr algn="l">
              <a:lnSpc>
                <a:spcPct val="110000"/>
              </a:lnSpc>
            </a:pPr>
            <a:r>
              <a:rPr sz="1800" b="1" i="1">
                <a:solidFill>
                  <a:srgbClr val="5C4826"/>
                </a:solidFill>
                <a:latin typeface="Calibri"/>
              </a:rPr>
              <a:t>authorized freedom.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6144768"/>
            <a:ext cx="8503920" cy="42062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Precision about modeled decisions does not settle unmodeled decisions.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7</a:t>
            </a:r>
          </a:p>
        </p:txBody>
      </p:sp>
      <p:pic>
        <p:nvPicPr>
          <p:cNvPr id="18" name="Picture 17" descr="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0" i="0" spc="140">
                <a:solidFill>
                  <a:srgbClr val="353638"/>
                </a:solidFill>
                <a:latin typeface="Calibri"/>
              </a:rPr>
              <a:t>Degrees of semantic commitment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11480" y="5623560"/>
            <a:ext cx="8321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1">
                <a:solidFill>
                  <a:srgbClr val="5C4826"/>
                </a:solidFill>
                <a:latin typeface="Calibri"/>
              </a:rPr>
              <a:t>Semantic commitment does not determine realization freedom.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6007607"/>
            <a:ext cx="8503920" cy="55778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These are examples, not maturity levels. Semantic precision and amount specified are different dimensions.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8</a:t>
            </a:r>
          </a:p>
        </p:txBody>
      </p:sp>
      <p:pic>
        <p:nvPicPr>
          <p:cNvPr id="32" name="Picture 31" descr="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960120"/>
          <a:ext cx="8321040" cy="44988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737360"/>
                <a:gridCol w="2194560"/>
                <a:gridCol w="2194560"/>
                <a:gridCol w="2194560"/>
              </a:tblGrid>
              <a:tr h="5486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Example</a:t>
                      </a:r>
                    </a:p>
                  </a:txBody>
                  <a:tcPr anchor="ctr" marL="118872" marR="82296" marT="54864" marB="54864">
                    <a:solidFill>
                      <a:srgbClr val="8E6F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Meaning carried by</a:t>
                      </a:r>
                    </a:p>
                  </a:txBody>
                  <a:tcPr anchor="ctr" marL="118872" marR="82296" marT="54864" marB="54864">
                    <a:solidFill>
                      <a:srgbClr val="8E6F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Interpretation burden</a:t>
                      </a:r>
                    </a:p>
                  </a:txBody>
                  <a:tcPr anchor="ctr" marL="118872" marR="82296" marT="54864" marB="54864">
                    <a:solidFill>
                      <a:srgbClr val="8E6F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Enables</a:t>
                      </a:r>
                    </a:p>
                  </a:txBody>
                  <a:tcPr anchor="ctr" marL="118872" marR="82296" marT="54864" marB="54864">
                    <a:solidFill>
                      <a:srgbClr val="8E6F3E"/>
                    </a:solidFill>
                  </a:tcPr>
                </a:tc>
              </a:tr>
              <a:tr h="987552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8E6F3E"/>
                          </a:solidFill>
                        </a:rPr>
                        <a:t>Informal sketch</a:t>
                      </a:r>
                    </a:p>
                  </a:txBody>
                  <a:tcPr anchor="ctr" marL="118872" marR="82296" marT="54864" marB="54864"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53638"/>
                          </a:solidFill>
                        </a:rPr>
                        <a:t>Team context</a:t>
                      </a:r>
                    </a:p>
                  </a:txBody>
                  <a:tcPr anchor="ctr" marL="118872" marR="82296" marT="54864" marB="54864"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53638"/>
                          </a:solidFill>
                        </a:rPr>
                        <a:t>Low if context is shared</a:t>
                      </a:r>
                    </a:p>
                  </a:txBody>
                  <a:tcPr anchor="ctr" marL="118872" marR="82296" marT="54864" marB="54864"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53638"/>
                          </a:solidFill>
                        </a:rPr>
                        <a:t>Fast communication</a:t>
                      </a:r>
                    </a:p>
                  </a:txBody>
                  <a:tcPr anchor="ctr" marL="118872" marR="82296" marT="54864" marB="54864">
                    <a:solidFill>
                      <a:srgbClr val="F7F3EC"/>
                    </a:solidFill>
                  </a:tcPr>
                </a:tc>
              </a:tr>
              <a:tr h="987552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8E6F3E"/>
                          </a:solidFill>
                        </a:rPr>
                        <a:t>UML 2.5.1</a:t>
                      </a:r>
                    </a:p>
                  </a:txBody>
                  <a:tcPr anchor="ctr" marL="118872" marR="82296" marT="54864" marB="54864"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53638"/>
                          </a:solidFill>
                        </a:rPr>
                        <a:t>Standardized elements + relations</a:t>
                      </a:r>
                    </a:p>
                  </a:txBody>
                  <a:tcPr anchor="ctr" marL="118872" marR="82296" marT="54864" marB="54864"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53638"/>
                          </a:solidFill>
                        </a:rPr>
                        <a:t>Notation + project context</a:t>
                      </a:r>
                    </a:p>
                  </a:txBody>
                  <a:tcPr anchor="ctr" marL="118872" marR="82296" marT="54864" marB="54864"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53638"/>
                          </a:solidFill>
                        </a:rPr>
                        <a:t>Shared interpretation</a:t>
                      </a:r>
                    </a:p>
                  </a:txBody>
                  <a:tcPr anchor="ctr" marL="118872" marR="82296" marT="54864" marB="54864">
                    <a:solidFill>
                      <a:srgbClr val="F7F3EC"/>
                    </a:solidFill>
                  </a:tcPr>
                </a:tc>
              </a:tr>
              <a:tr h="987552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8E6F3E"/>
                          </a:solidFill>
                        </a:rPr>
                        <a:t>OpenAPI / JSON Schema</a:t>
                      </a:r>
                    </a:p>
                  </a:txBody>
                  <a:tcPr anchor="ctr" marL="118872" marR="82296" marT="54864" marB="54864"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53638"/>
                          </a:solidFill>
                        </a:rPr>
                        <a:t>Machine-readable structure + constraints</a:t>
                      </a:r>
                    </a:p>
                  </a:txBody>
                  <a:tcPr anchor="ctr" marL="118872" marR="82296" marT="54864" marB="54864"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53638"/>
                          </a:solidFill>
                        </a:rPr>
                        <a:t>Domain intent remains contextual</a:t>
                      </a:r>
                    </a:p>
                  </a:txBody>
                  <a:tcPr anchor="ctr" marL="118872" marR="82296" marT="54864" marB="54864"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53638"/>
                          </a:solidFill>
                        </a:rPr>
                        <a:t>Validation + transformation</a:t>
                      </a:r>
                    </a:p>
                  </a:txBody>
                  <a:tcPr anchor="ctr" marL="118872" marR="82296" marT="54864" marB="54864">
                    <a:solidFill>
                      <a:srgbClr val="F7F3EC"/>
                    </a:solidFill>
                  </a:tcPr>
                </a:tc>
              </a:tr>
              <a:tr h="987552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8E6F3E"/>
                          </a:solidFill>
                        </a:rPr>
                        <a:t>SysML v2 + KerML</a:t>
                      </a:r>
                    </a:p>
                  </a:txBody>
                  <a:tcPr anchor="ctr" marL="118872" marR="82296" marT="54864" marB="54864"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53638"/>
                          </a:solidFill>
                        </a:rPr>
                        <a:t>Language-defined semantics</a:t>
                      </a:r>
                    </a:p>
                  </a:txBody>
                  <a:tcPr anchor="ctr" marL="118872" marR="82296" marT="54864" marB="54864"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53638"/>
                          </a:solidFill>
                        </a:rPr>
                        <a:t>Language + tool knowledge</a:t>
                      </a:r>
                    </a:p>
                  </a:txBody>
                  <a:tcPr anchor="ctr" marL="118872" marR="82296" marT="54864" marB="54864"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53638"/>
                          </a:solidFill>
                        </a:rPr>
                        <a:t>Query + analysis + composition</a:t>
                      </a:r>
                    </a:p>
                  </a:txBody>
                  <a:tcPr anchor="ctr" marL="118872" marR="82296" marT="54864" marB="54864">
                    <a:solidFill>
                      <a:srgbClr val="F7F3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A86D28-52C7-2868-C971-96E8B012E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>
            <a:extLst>
              <a:ext uri="{FF2B5EF4-FFF2-40B4-BE49-F238E27FC236}">
                <a16:creationId xmlns:a16="http://schemas.microsoft.com/office/drawing/2014/main" id="{50258CF4-7888-2BCF-AAAF-481A37A88DE1}"/>
              </a:ext>
            </a:extLst>
          </p:cNvPr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C850D57-C430-D53D-578F-C13F71184F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 fontScale="90000"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Engineering with Semantic Models</a:t>
            </a: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3C3F00F5-76EA-016A-8CA9-2B6E53A4BEF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>
            <a:extLst>
              <a:ext uri="{FF2B5EF4-FFF2-40B4-BE49-F238E27FC236}">
                <a16:creationId xmlns:a16="http://schemas.microsoft.com/office/drawing/2014/main" id="{2AA87FCB-8D49-AC14-3216-7C7C497B32D6}"/>
              </a:ext>
            </a:extLst>
          </p:cNvPr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What can we do because the model has meaning?</a:t>
            </a:r>
          </a:p>
        </p:txBody>
      </p:sp>
      <p:sp>
        <p:nvSpPr>
          <p:cNvPr id="103" name="Rule">
            <a:extLst>
              <a:ext uri="{FF2B5EF4-FFF2-40B4-BE49-F238E27FC236}">
                <a16:creationId xmlns:a16="http://schemas.microsoft.com/office/drawing/2014/main" id="{F2FE5A5C-1315-D099-741E-4E7639DE3760}"/>
              </a:ext>
            </a:extLst>
          </p:cNvPr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111876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0" i="0" spc="140">
                <a:solidFill>
                  <a:srgbClr val="353638"/>
                </a:solidFill>
                <a:latin typeface="Calibri"/>
              </a:rPr>
              <a:t>What semantics buys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74321" y="2574036"/>
            <a:ext cx="1828800" cy="118872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SEMANTIC</a:t>
            </a:r>
          </a:p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3017520" y="1051560"/>
            <a:ext cx="1371600" cy="502920"/>
          </a:xfrm>
          <a:prstGeom prst="rect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2000" b="1" i="0">
                <a:solidFill>
                  <a:srgbClr val="5C4826"/>
                </a:solidFill>
                <a:latin typeface="Calibri"/>
              </a:rPr>
              <a:t>query</a:t>
            </a:r>
          </a:p>
        </p:txBody>
      </p:sp>
      <p:sp>
        <p:nvSpPr>
          <p:cNvPr id="7" name="Rectangle 6"/>
          <p:cNvSpPr/>
          <p:nvPr/>
        </p:nvSpPr>
        <p:spPr>
          <a:xfrm>
            <a:off x="4467478" y="960120"/>
            <a:ext cx="4617721" cy="685800"/>
          </a:xfrm>
          <a:prstGeom prst="rect">
            <a:avLst/>
          </a:prstGeom>
          <a:solidFill>
            <a:srgbClr val="FBF8F2"/>
          </a:solidFill>
          <a:ln w="9525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bIns="27432" rtlCol="0" anchor="ctr"/>
          <a:lstStyle/>
          <a:p>
            <a:pPr algn="l">
              <a:lnSpc>
                <a:spcPct val="95000"/>
              </a:lnSpc>
            </a:pPr>
            <a:r>
              <a:rPr sz="2000" b="0" i="1" dirty="0">
                <a:solidFill>
                  <a:srgbClr val="353638"/>
                </a:solidFill>
                <a:latin typeface="Calibri"/>
              </a:rPr>
              <a:t>“Which buffers does the radio stack</a:t>
            </a:r>
            <a:r>
              <a:rPr lang="en-US" sz="2000" b="0" i="1" dirty="0">
                <a:solidFill>
                  <a:srgbClr val="353638"/>
                </a:solidFill>
                <a:latin typeface="Calibri"/>
              </a:rPr>
              <a:t> </a:t>
            </a:r>
            <a:r>
              <a:rPr sz="2000" b="0" i="1" dirty="0">
                <a:solidFill>
                  <a:srgbClr val="353638"/>
                </a:solidFill>
                <a:latin typeface="Calibri"/>
              </a:rPr>
              <a:t>own?”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1984248"/>
            <a:ext cx="1371600" cy="502920"/>
          </a:xfrm>
          <a:prstGeom prst="rect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2000" b="1" i="0">
                <a:solidFill>
                  <a:srgbClr val="5C4826"/>
                </a:solidFill>
                <a:latin typeface="Calibri"/>
              </a:rPr>
              <a:t>compose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67478" y="1919587"/>
            <a:ext cx="4558919" cy="685800"/>
          </a:xfrm>
          <a:prstGeom prst="rect">
            <a:avLst/>
          </a:prstGeom>
          <a:solidFill>
            <a:srgbClr val="FBF8F2"/>
          </a:solidFill>
          <a:ln w="9525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bIns="27432" rtlCol="0" anchor="ctr"/>
          <a:lstStyle/>
          <a:p>
            <a:pPr algn="l">
              <a:lnSpc>
                <a:spcPct val="95000"/>
              </a:lnSpc>
            </a:pPr>
            <a:r>
              <a:rPr sz="2000" b="0" i="1" dirty="0">
                <a:solidFill>
                  <a:srgbClr val="353638"/>
                </a:solidFill>
                <a:latin typeface="Calibri"/>
              </a:rPr>
              <a:t>“Does an optional component feed an essential one?”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17520" y="2916936"/>
            <a:ext cx="1371600" cy="502920"/>
          </a:xfrm>
          <a:prstGeom prst="rect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2000" b="1" i="0">
                <a:solidFill>
                  <a:srgbClr val="5C4826"/>
                </a:solidFill>
                <a:latin typeface="Calibri"/>
              </a:rPr>
              <a:t>analyze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67478" y="2837252"/>
            <a:ext cx="4558918" cy="685800"/>
          </a:xfrm>
          <a:prstGeom prst="rect">
            <a:avLst/>
          </a:prstGeom>
          <a:solidFill>
            <a:srgbClr val="FBF8F2"/>
          </a:solidFill>
          <a:ln w="9525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bIns="27432" rtlCol="0" anchor="ctr"/>
          <a:lstStyle/>
          <a:p>
            <a:pPr algn="l">
              <a:lnSpc>
                <a:spcPct val="95000"/>
              </a:lnSpc>
            </a:pPr>
            <a:r>
              <a:rPr sz="2000" b="0" i="1" dirty="0">
                <a:solidFill>
                  <a:srgbClr val="353638"/>
                </a:solidFill>
                <a:latin typeface="Calibri"/>
              </a:rPr>
              <a:t>“Do allocations fit the 256 KiB budget?”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17520" y="3849624"/>
            <a:ext cx="1371600" cy="502920"/>
          </a:xfrm>
          <a:prstGeom prst="rect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2000" b="1" i="0">
                <a:solidFill>
                  <a:srgbClr val="5C4826"/>
                </a:solidFill>
                <a:latin typeface="Calibri"/>
              </a:rPr>
              <a:t>validate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67478" y="3753612"/>
            <a:ext cx="4558918" cy="685800"/>
          </a:xfrm>
          <a:prstGeom prst="rect">
            <a:avLst/>
          </a:prstGeom>
          <a:solidFill>
            <a:srgbClr val="FBF8F2"/>
          </a:solidFill>
          <a:ln w="9525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bIns="27432" rtlCol="0" anchor="ctr"/>
          <a:lstStyle/>
          <a:p>
            <a:pPr algn="l">
              <a:lnSpc>
                <a:spcPct val="95000"/>
              </a:lnSpc>
            </a:pPr>
            <a:r>
              <a:rPr sz="2000" b="0" i="1" dirty="0">
                <a:solidFill>
                  <a:srgbClr val="353638"/>
                </a:solidFill>
                <a:latin typeface="Calibri"/>
              </a:rPr>
              <a:t>“Is this comparison semantically valid?”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017520" y="4782312"/>
            <a:ext cx="1371600" cy="502920"/>
          </a:xfrm>
          <a:prstGeom prst="rect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2000" b="1" i="0">
                <a:solidFill>
                  <a:srgbClr val="5C4826"/>
                </a:solidFill>
                <a:latin typeface="Calibri"/>
              </a:rPr>
              <a:t>generate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67478" y="4690872"/>
            <a:ext cx="4558918" cy="685800"/>
          </a:xfrm>
          <a:prstGeom prst="rect">
            <a:avLst/>
          </a:prstGeom>
          <a:solidFill>
            <a:srgbClr val="FBF8F2"/>
          </a:solidFill>
          <a:ln w="9525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bIns="27432" rtlCol="0" anchor="ctr"/>
          <a:lstStyle/>
          <a:p>
            <a:pPr algn="l">
              <a:lnSpc>
                <a:spcPct val="95000"/>
              </a:lnSpc>
            </a:pPr>
            <a:r>
              <a:rPr sz="2000" b="0" i="1">
                <a:solidFill>
                  <a:srgbClr val="353638"/>
                </a:solidFill>
                <a:latin typeface="Calibri"/>
              </a:rPr>
              <a:t>“Emit interface types from the schema.”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6144768"/>
            <a:ext cx="8503920" cy="42062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Selected meanings become machine-operable.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9</a:t>
            </a:r>
          </a:p>
        </p:txBody>
      </p:sp>
      <p:pic>
        <p:nvPicPr>
          <p:cNvPr id="23" name="Picture 22" descr="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  <p:cxnSp>
        <p:nvCxnSpPr>
          <p:cNvPr id="27" name="Elbow Connector 26">
            <a:extLst>
              <a:ext uri="{FF2B5EF4-FFF2-40B4-BE49-F238E27FC236}">
                <a16:creationId xmlns:a16="http://schemas.microsoft.com/office/drawing/2014/main" id="{6E885D22-077E-FAE3-B368-4EF985E56A1E}"/>
              </a:ext>
            </a:extLst>
          </p:cNvPr>
          <p:cNvCxnSpPr>
            <a:stCxn id="4" idx="3"/>
            <a:endCxn id="6" idx="1"/>
          </p:cNvCxnSpPr>
          <p:nvPr/>
        </p:nvCxnSpPr>
        <p:spPr>
          <a:xfrm flipV="1">
            <a:off x="2103121" y="1303020"/>
            <a:ext cx="914399" cy="1865376"/>
          </a:xfrm>
          <a:prstGeom prst="bentConnector3">
            <a:avLst/>
          </a:prstGeom>
          <a:ln>
            <a:solidFill>
              <a:schemeClr val="bg2">
                <a:lumMod val="50000"/>
              </a:schemeClr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Elbow Connector 27">
            <a:extLst>
              <a:ext uri="{FF2B5EF4-FFF2-40B4-BE49-F238E27FC236}">
                <a16:creationId xmlns:a16="http://schemas.microsoft.com/office/drawing/2014/main" id="{B6AA5FE8-723C-BF3D-4809-7CF89E49B63E}"/>
              </a:ext>
            </a:extLst>
          </p:cNvPr>
          <p:cNvCxnSpPr>
            <a:cxnSpLocks/>
            <a:stCxn id="4" idx="3"/>
            <a:endCxn id="9" idx="1"/>
          </p:cNvCxnSpPr>
          <p:nvPr/>
        </p:nvCxnSpPr>
        <p:spPr>
          <a:xfrm flipV="1">
            <a:off x="2103121" y="2235708"/>
            <a:ext cx="914399" cy="932688"/>
          </a:xfrm>
          <a:prstGeom prst="bentConnector3">
            <a:avLst>
              <a:gd name="adj1" fmla="val 50000"/>
            </a:avLst>
          </a:prstGeom>
          <a:ln>
            <a:solidFill>
              <a:schemeClr val="bg2">
                <a:lumMod val="50000"/>
              </a:schemeClr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Elbow Connector 31">
            <a:extLst>
              <a:ext uri="{FF2B5EF4-FFF2-40B4-BE49-F238E27FC236}">
                <a16:creationId xmlns:a16="http://schemas.microsoft.com/office/drawing/2014/main" id="{05479FA4-A0A6-1068-447E-5435D5C2B90D}"/>
              </a:ext>
            </a:extLst>
          </p:cNvPr>
          <p:cNvCxnSpPr>
            <a:cxnSpLocks/>
            <a:endCxn id="12" idx="1"/>
          </p:cNvCxnSpPr>
          <p:nvPr/>
        </p:nvCxnSpPr>
        <p:spPr>
          <a:xfrm>
            <a:off x="2103121" y="3163824"/>
            <a:ext cx="914399" cy="4572"/>
          </a:xfrm>
          <a:prstGeom prst="bentConnector3">
            <a:avLst>
              <a:gd name="adj1" fmla="val 50000"/>
            </a:avLst>
          </a:prstGeom>
          <a:ln>
            <a:solidFill>
              <a:schemeClr val="bg2">
                <a:lumMod val="50000"/>
              </a:schemeClr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A53A2F16-3D1A-1036-A54B-40823BE5AA39}"/>
              </a:ext>
            </a:extLst>
          </p:cNvPr>
          <p:cNvCxnSpPr>
            <a:cxnSpLocks/>
            <a:stCxn id="4" idx="3"/>
            <a:endCxn id="15" idx="1"/>
          </p:cNvCxnSpPr>
          <p:nvPr/>
        </p:nvCxnSpPr>
        <p:spPr>
          <a:xfrm>
            <a:off x="2103121" y="3168396"/>
            <a:ext cx="914399" cy="932688"/>
          </a:xfrm>
          <a:prstGeom prst="bentConnector3">
            <a:avLst>
              <a:gd name="adj1" fmla="val 50000"/>
            </a:avLst>
          </a:prstGeom>
          <a:ln>
            <a:solidFill>
              <a:schemeClr val="bg2">
                <a:lumMod val="50000"/>
              </a:schemeClr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Elbow Connector 37">
            <a:extLst>
              <a:ext uri="{FF2B5EF4-FFF2-40B4-BE49-F238E27FC236}">
                <a16:creationId xmlns:a16="http://schemas.microsoft.com/office/drawing/2014/main" id="{182DE1A3-A702-B10D-A823-EC9F9F3F3F99}"/>
              </a:ext>
            </a:extLst>
          </p:cNvPr>
          <p:cNvCxnSpPr>
            <a:cxnSpLocks/>
            <a:stCxn id="4" idx="3"/>
            <a:endCxn id="18" idx="1"/>
          </p:cNvCxnSpPr>
          <p:nvPr/>
        </p:nvCxnSpPr>
        <p:spPr>
          <a:xfrm>
            <a:off x="2103121" y="3168396"/>
            <a:ext cx="914399" cy="1865376"/>
          </a:xfrm>
          <a:prstGeom prst="bentConnector3">
            <a:avLst>
              <a:gd name="adj1" fmla="val 50000"/>
            </a:avLst>
          </a:prstGeom>
          <a:ln>
            <a:solidFill>
              <a:schemeClr val="bg2">
                <a:lumMod val="50000"/>
              </a:schemeClr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25334" y="215884"/>
            <a:ext cx="9241971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0" i="0" spc="140" dirty="0">
                <a:solidFill>
                  <a:srgbClr val="353638"/>
                </a:solidFill>
                <a:latin typeface="Calibri"/>
              </a:rPr>
              <a:t>If machines understand the model, why not generate the code?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804672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dirty="0">
                <a:solidFill>
                  <a:srgbClr val="5C4826"/>
                </a:solidFill>
                <a:latin typeface="Calibri"/>
              </a:rPr>
              <a:t>Sometimes we should</a:t>
            </a:r>
            <a:r>
              <a:rPr lang="en-US" sz="2000" b="1" i="0" dirty="0">
                <a:solidFill>
                  <a:srgbClr val="5C4826"/>
                </a:solidFill>
                <a:latin typeface="Calibri"/>
              </a:rPr>
              <a:t> (and do)</a:t>
            </a:r>
            <a:endParaRPr sz="2000" b="1" i="0" dirty="0">
              <a:solidFill>
                <a:srgbClr val="5C4826"/>
              </a:solidFill>
              <a:latin typeface="Calibri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48640" y="2112264"/>
            <a:ext cx="3886200" cy="2276855"/>
          </a:xfrm>
          <a:prstGeom prst="rect">
            <a:avLst/>
          </a:prstGeom>
          <a:noFill/>
          <a:ln w="1270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411668"/>
            <a:ext cx="4630783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800" b="1" i="0" spc="50" dirty="0">
                <a:solidFill>
                  <a:srgbClr val="8E6F3E"/>
                </a:solidFill>
                <a:latin typeface="Calibri"/>
              </a:rPr>
              <a:t>Generate what the model determines</a:t>
            </a:r>
            <a:endParaRPr sz="1800" b="1" i="0" spc="50" dirty="0">
              <a:solidFill>
                <a:srgbClr val="8E6F3E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54380" y="1759421"/>
            <a:ext cx="3474720" cy="2041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342900" indent="-342900" algn="l">
              <a:lnSpc>
                <a:spcPct val="135000"/>
              </a:lnSpc>
              <a:buFont typeface="Arial" panose="020B0604020202020204" pitchFamily="34" charset="0"/>
              <a:buChar char="•"/>
            </a:pPr>
            <a:r>
              <a:rPr sz="2000" b="0" i="0" dirty="0">
                <a:solidFill>
                  <a:srgbClr val="353638"/>
                </a:solidFill>
                <a:latin typeface="Calibri"/>
              </a:rPr>
              <a:t>configuration</a:t>
            </a:r>
          </a:p>
          <a:p>
            <a:pPr marL="342900" indent="-342900" algn="l">
              <a:lnSpc>
                <a:spcPct val="135000"/>
              </a:lnSpc>
              <a:buFont typeface="Arial" panose="020B0604020202020204" pitchFamily="34" charset="0"/>
              <a:buChar char="•"/>
            </a:pPr>
            <a:r>
              <a:rPr sz="2000" b="0" i="0" dirty="0">
                <a:solidFill>
                  <a:srgbClr val="353638"/>
                </a:solidFill>
                <a:latin typeface="Calibri"/>
              </a:rPr>
              <a:t>interfaces and schemas</a:t>
            </a:r>
          </a:p>
          <a:p>
            <a:pPr marL="342900" indent="-342900" algn="l">
              <a:lnSpc>
                <a:spcPct val="135000"/>
              </a:lnSpc>
              <a:buFont typeface="Arial" panose="020B0604020202020204" pitchFamily="34" charset="0"/>
              <a:buChar char="•"/>
            </a:pPr>
            <a:r>
              <a:rPr sz="2000" b="0" i="0" dirty="0">
                <a:solidFill>
                  <a:srgbClr val="353638"/>
                </a:solidFill>
                <a:latin typeface="Calibri"/>
              </a:rPr>
              <a:t>state-machine fragments</a:t>
            </a:r>
          </a:p>
          <a:p>
            <a:pPr marL="342900" indent="-342900" algn="l">
              <a:lnSpc>
                <a:spcPct val="135000"/>
              </a:lnSpc>
              <a:buFont typeface="Arial" panose="020B0604020202020204" pitchFamily="34" charset="0"/>
              <a:buChar char="•"/>
            </a:pPr>
            <a:r>
              <a:rPr sz="2000" b="0" i="0" dirty="0">
                <a:solidFill>
                  <a:srgbClr val="353638"/>
                </a:solidFill>
                <a:latin typeface="Calibri"/>
              </a:rPr>
              <a:t>deployment artifacts</a:t>
            </a:r>
          </a:p>
          <a:p>
            <a:pPr marL="342900" indent="-342900" algn="l">
              <a:lnSpc>
                <a:spcPct val="135000"/>
              </a:lnSpc>
              <a:buFont typeface="Arial" panose="020B0604020202020204" pitchFamily="34" charset="0"/>
              <a:buChar char="•"/>
            </a:pPr>
            <a:r>
              <a:rPr lang="en-US" sz="2000" b="0" i="0" dirty="0">
                <a:solidFill>
                  <a:srgbClr val="353638"/>
                </a:solidFill>
                <a:latin typeface="Calibri"/>
              </a:rPr>
              <a:t>"</a:t>
            </a:r>
            <a:r>
              <a:rPr sz="2000" b="0" i="0" dirty="0">
                <a:solidFill>
                  <a:srgbClr val="353638"/>
                </a:solidFill>
                <a:latin typeface="Calibri"/>
              </a:rPr>
              <a:t>boilerplate</a:t>
            </a:r>
            <a:r>
              <a:rPr lang="en-US" sz="2000" b="0" i="0" dirty="0">
                <a:solidFill>
                  <a:srgbClr val="353638"/>
                </a:solidFill>
                <a:latin typeface="Calibri"/>
              </a:rPr>
              <a:t>"</a:t>
            </a:r>
            <a:endParaRPr sz="2000" b="0" i="0" dirty="0">
              <a:solidFill>
                <a:srgbClr val="353638"/>
              </a:solidFill>
              <a:latin typeface="Calibri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4846320" y="1783080"/>
            <a:ext cx="3749039" cy="5029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0" i="0">
                <a:solidFill>
                  <a:srgbClr val="5C4826"/>
                </a:solidFill>
                <a:latin typeface="Calibri"/>
              </a:rPr>
              <a:t>Want the generator to decide less</a:t>
            </a:r>
          </a:p>
        </p:txBody>
      </p:sp>
      <p:sp>
        <p:nvSpPr>
          <p:cNvPr id="9" name="Down Arrow 8"/>
          <p:cNvSpPr/>
          <p:nvPr/>
        </p:nvSpPr>
        <p:spPr>
          <a:xfrm>
            <a:off x="6629400" y="2313432"/>
            <a:ext cx="182880" cy="237744"/>
          </a:xfrm>
          <a:prstGeom prst="downArrow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601399" y="2564893"/>
            <a:ext cx="4238879" cy="5029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0" i="0" dirty="0">
                <a:solidFill>
                  <a:srgbClr val="5C4826"/>
                </a:solidFill>
                <a:latin typeface="Calibri"/>
              </a:rPr>
              <a:t>The </a:t>
            </a:r>
            <a:r>
              <a:rPr lang="en-US" sz="1800" b="0" i="0" dirty="0">
                <a:solidFill>
                  <a:srgbClr val="5C4826"/>
                </a:solidFill>
                <a:latin typeface="Calibri"/>
              </a:rPr>
              <a:t>engineering </a:t>
            </a:r>
            <a:r>
              <a:rPr sz="1800" b="0" i="0" dirty="0">
                <a:solidFill>
                  <a:srgbClr val="5C4826"/>
                </a:solidFill>
                <a:latin typeface="Calibri"/>
              </a:rPr>
              <a:t>model must decide more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6629400" y="3108960"/>
            <a:ext cx="182880" cy="237744"/>
          </a:xfrm>
          <a:prstGeom prst="downArrow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846320" y="3374136"/>
            <a:ext cx="3749039" cy="5029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0" i="0">
                <a:solidFill>
                  <a:srgbClr val="5C4826"/>
                </a:solidFill>
                <a:latin typeface="Calibri"/>
              </a:rPr>
              <a:t>More realization encoded in the model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6629400" y="3904487"/>
            <a:ext cx="182880" cy="237744"/>
          </a:xfrm>
          <a:prstGeom prst="downArrow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846320" y="4169663"/>
            <a:ext cx="3749039" cy="836676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0000"/>
              </a:lnSpc>
            </a:pPr>
            <a:r>
              <a:rPr sz="1800" b="1" i="0" dirty="0">
                <a:solidFill>
                  <a:srgbClr val="FFFFFF"/>
                </a:solidFill>
                <a:latin typeface="Calibri"/>
              </a:rPr>
              <a:t>At the limit: you have built another</a:t>
            </a:r>
          </a:p>
          <a:p>
            <a:pPr algn="ctr">
              <a:lnSpc>
                <a:spcPct val="100000"/>
              </a:lnSpc>
            </a:pPr>
            <a:r>
              <a:rPr sz="1800" b="1" i="0" dirty="0">
                <a:solidFill>
                  <a:srgbClr val="FFFFFF"/>
                </a:solidFill>
                <a:latin typeface="Calibri"/>
              </a:rPr>
              <a:t>programming language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5366598"/>
            <a:ext cx="6309360" cy="9208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 dirty="0">
                <a:solidFill>
                  <a:srgbClr val="353638"/>
                </a:solidFill>
                <a:latin typeface="Calibri"/>
              </a:rPr>
              <a:t>Purposeful reduction says: </a:t>
            </a:r>
            <a:r>
              <a:rPr lang="en-US" sz="2000" b="1" i="0" dirty="0">
                <a:solidFill>
                  <a:srgbClr val="353638"/>
                </a:solidFill>
                <a:latin typeface="Calibri"/>
              </a:rPr>
              <a:t>T</a:t>
            </a:r>
            <a:r>
              <a:rPr sz="2000" b="1" i="0" dirty="0">
                <a:solidFill>
                  <a:srgbClr val="353638"/>
                </a:solidFill>
                <a:latin typeface="Calibri"/>
              </a:rPr>
              <a:t>hat may not be what we want.</a:t>
            </a:r>
            <a:endParaRPr lang="en-US" sz="2000" b="1" dirty="0">
              <a:solidFill>
                <a:srgbClr val="353638"/>
              </a:solidFill>
              <a:latin typeface="Calibri"/>
            </a:endParaRPr>
          </a:p>
          <a:p>
            <a:pPr algn="ctr">
              <a:lnSpc>
                <a:spcPct val="120000"/>
              </a:lnSpc>
            </a:pPr>
            <a:r>
              <a:rPr lang="en-US" sz="3200" i="0" dirty="0">
                <a:solidFill>
                  <a:srgbClr val="353638"/>
                </a:solidFill>
                <a:latin typeface="Calibri"/>
              </a:rPr>
              <a:t>Why not?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10</a:t>
            </a:r>
          </a:p>
        </p:txBody>
      </p:sp>
      <p:pic>
        <p:nvPicPr>
          <p:cNvPr id="18" name="Picture 17" descr="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1DE28E8F-D519-1022-0A02-B7BC91FEE490}"/>
              </a:ext>
            </a:extLst>
          </p:cNvPr>
          <p:cNvSpPr txBox="1"/>
          <p:nvPr/>
        </p:nvSpPr>
        <p:spPr>
          <a:xfrm>
            <a:off x="5597434" y="1408289"/>
            <a:ext cx="242969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800" b="1" i="0" spc="50" dirty="0">
                <a:solidFill>
                  <a:srgbClr val="8E6F3E"/>
                </a:solidFill>
                <a:latin typeface="Calibri"/>
              </a:rPr>
              <a:t>And what it does not?</a:t>
            </a:r>
            <a:endParaRPr sz="1800" b="1" i="0" spc="50" dirty="0">
              <a:solidFill>
                <a:srgbClr val="8E6F3E"/>
              </a:solidFill>
              <a:latin typeface="Calibri"/>
            </a:endParaRPr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B250A4C1-5F83-8DBE-7C58-45A7F644A478}"/>
              </a:ext>
            </a:extLst>
          </p:cNvPr>
          <p:cNvSpPr/>
          <p:nvPr/>
        </p:nvSpPr>
        <p:spPr>
          <a:xfrm>
            <a:off x="3931921" y="3814354"/>
            <a:ext cx="705393" cy="1476103"/>
          </a:xfrm>
          <a:custGeom>
            <a:avLst/>
            <a:gdLst>
              <a:gd name="csX0" fmla="*/ 705393 w 705393"/>
              <a:gd name="csY0" fmla="*/ 0 h 1476103"/>
              <a:gd name="csX1" fmla="*/ 248193 w 705393"/>
              <a:gd name="csY1" fmla="*/ 169817 h 1476103"/>
              <a:gd name="csX2" fmla="*/ 26125 w 705393"/>
              <a:gd name="csY2" fmla="*/ 836023 h 1476103"/>
              <a:gd name="csX3" fmla="*/ 13062 w 705393"/>
              <a:gd name="csY3" fmla="*/ 1476103 h 14761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05393" h="1476103">
                <a:moveTo>
                  <a:pt x="705393" y="0"/>
                </a:moveTo>
                <a:cubicBezTo>
                  <a:pt x="533398" y="15240"/>
                  <a:pt x="361404" y="30480"/>
                  <a:pt x="248193" y="169817"/>
                </a:cubicBezTo>
                <a:cubicBezTo>
                  <a:pt x="134982" y="309154"/>
                  <a:pt x="65313" y="618309"/>
                  <a:pt x="26125" y="836023"/>
                </a:cubicBezTo>
                <a:cubicBezTo>
                  <a:pt x="-13063" y="1053737"/>
                  <a:pt x="-1" y="1264920"/>
                  <a:pt x="13062" y="1476103"/>
                </a:cubicBezTo>
              </a:path>
            </a:pathLst>
          </a:custGeom>
          <a:noFill/>
          <a:ln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/>
      <p:bldP spid="19" grpId="0"/>
      <p:bldP spid="2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0" i="0" spc="140">
                <a:solidFill>
                  <a:srgbClr val="353638"/>
                </a:solidFill>
                <a:latin typeface="Calibri"/>
              </a:rPr>
              <a:t>Generate, delegate, or model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265176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purposeful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1737360"/>
            <a:ext cx="2103120" cy="3108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>
                <a:solidFill>
                  <a:srgbClr val="555960"/>
                </a:solidFill>
                <a:latin typeface="Calibri"/>
              </a:rPr>
              <a:t>obligations + freedom</a:t>
            </a:r>
          </a:p>
        </p:txBody>
      </p:sp>
      <p:sp>
        <p:nvSpPr>
          <p:cNvPr id="6" name="Down Arrow 5"/>
          <p:cNvSpPr/>
          <p:nvPr/>
        </p:nvSpPr>
        <p:spPr>
          <a:xfrm>
            <a:off x="1783080" y="1691640"/>
            <a:ext cx="182880" cy="365760"/>
          </a:xfrm>
          <a:prstGeom prst="downArrow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2103120"/>
            <a:ext cx="2651760" cy="548640"/>
          </a:xfrm>
          <a:prstGeom prst="rect">
            <a:avLst/>
          </a:prstGeom>
          <a:solidFill>
            <a:srgbClr val="F5F1E8"/>
          </a:solidFill>
          <a:ln w="15875">
            <a:solidFill>
              <a:srgbClr val="8E6F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1" i="0">
                <a:solidFill>
                  <a:srgbClr val="5C4826"/>
                </a:solidFill>
                <a:latin typeface="Calibri"/>
              </a:rPr>
              <a:t>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2743200"/>
            <a:ext cx="2103120" cy="3108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>
                <a:solidFill>
                  <a:srgbClr val="555960"/>
                </a:solidFill>
                <a:latin typeface="Calibri"/>
              </a:rPr>
              <a:t>realization choices</a:t>
            </a:r>
          </a:p>
        </p:txBody>
      </p:sp>
      <p:sp>
        <p:nvSpPr>
          <p:cNvPr id="9" name="Down Arrow 8"/>
          <p:cNvSpPr/>
          <p:nvPr/>
        </p:nvSpPr>
        <p:spPr>
          <a:xfrm>
            <a:off x="1783080" y="2697480"/>
            <a:ext cx="182880" cy="365760"/>
          </a:xfrm>
          <a:prstGeom prst="downArrow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8640" y="3108960"/>
            <a:ext cx="2651760" cy="5486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1" i="0">
                <a:solidFill>
                  <a:srgbClr val="353638"/>
                </a:solidFill>
                <a:latin typeface="Calibri"/>
              </a:rPr>
              <a:t>implementation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886200"/>
            <a:ext cx="3977639" cy="11910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 dirty="0"/>
              <a:t>Traditional generator</a:t>
            </a:r>
            <a:r>
              <a:rPr sz="1800" b="0" i="0" dirty="0"/>
              <a:t>: specify enough to determine the transformation.</a:t>
            </a:r>
          </a:p>
          <a:p>
            <a:r>
              <a:rPr sz="1800" b="1" i="0" dirty="0"/>
              <a:t>Agentic </a:t>
            </a:r>
            <a:r>
              <a:rPr lang="en-US" sz="1800" b="1" i="0" dirty="0"/>
              <a:t>generator</a:t>
            </a:r>
            <a:r>
              <a:rPr sz="1800" b="0" i="0" dirty="0"/>
              <a:t>: specify what matters; delegate the rest.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5257800"/>
            <a:ext cx="8046720" cy="7315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2960" y="5376672"/>
            <a:ext cx="7498079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8E6F3E"/>
                </a:solidFill>
              </a:rPr>
              <a:t>MODEL:</a:t>
            </a:r>
            <a:r>
              <a:rPr sz="1800" b="0"/>
              <a:t> what matters · obligations · properties</a:t>
            </a:r>
          </a:p>
          <a:p>
            <a:r>
              <a:rPr sz="1800" b="1">
                <a:solidFill>
                  <a:srgbClr val="8E6F3E"/>
                </a:solidFill>
              </a:rPr>
              <a:t>IMPLEMENTATION:</a:t>
            </a:r>
            <a:r>
              <a:rPr sz="1800" b="0"/>
              <a:t> one realization · many further decisions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6144768"/>
            <a:ext cx="8503920" cy="42062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The model is not another implementation.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11</a:t>
            </a:r>
          </a:p>
        </p:txBody>
      </p:sp>
      <p:pic>
        <p:nvPicPr>
          <p:cNvPr id="25" name="Picture 24" descr="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709160" y="1097280"/>
          <a:ext cx="3931920" cy="243230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86000"/>
                <a:gridCol w="1645920"/>
              </a:tblGrid>
              <a:tr h="4572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Kind of decision</a:t>
                      </a:r>
                    </a:p>
                  </a:txBody>
                  <a:tcPr anchor="ctr" marL="118872" marR="82296" marT="54864" marB="54864">
                    <a:solidFill>
                      <a:srgbClr val="8E6F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Response</a:t>
                      </a:r>
                    </a:p>
                  </a:txBody>
                  <a:tcPr anchor="ctr" marL="118872" marR="82296" marT="54864" marB="54864">
                    <a:solidFill>
                      <a:srgbClr val="8E6F3E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53638"/>
                          </a:solidFill>
                        </a:rPr>
                        <a:t>Mechanically determined</a:t>
                      </a:r>
                    </a:p>
                  </a:txBody>
                  <a:tcPr anchor="ctr" marL="118872" marR="82296" marT="54864" marB="54864"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8E6F3E"/>
                          </a:solidFill>
                        </a:rPr>
                        <a:t>Generate it</a:t>
                      </a:r>
                    </a:p>
                  </a:txBody>
                  <a:tcPr anchor="ctr" marL="118872" marR="82296" marT="54864" marB="54864">
                    <a:solidFill>
                      <a:srgbClr val="F7F3E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53638"/>
                          </a:solidFill>
                        </a:rPr>
                        <a:t>Open within modeled obligations</a:t>
                      </a:r>
                    </a:p>
                  </a:txBody>
                  <a:tcPr anchor="ctr" marL="118872" marR="82296" marT="54864" marB="54864"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8E6F3E"/>
                          </a:solidFill>
                        </a:rPr>
                        <a:t>Delegate it</a:t>
                      </a:r>
                    </a:p>
                  </a:txBody>
                  <a:tcPr anchor="ctr" marL="118872" marR="82296" marT="54864" marB="54864">
                    <a:solidFill>
                      <a:srgbClr val="F7F3E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53638"/>
                          </a:solidFill>
                        </a:rPr>
                        <a:t>Recurring and consequential</a:t>
                      </a:r>
                    </a:p>
                  </a:txBody>
                  <a:tcPr anchor="ctr" marL="118872" marR="82296" marT="54864" marB="54864">
                    <a:solidFill>
                      <a:srgbClr val="F7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8E6F3E"/>
                          </a:solidFill>
                        </a:rPr>
                        <a:t>Consider modeling it</a:t>
                      </a:r>
                    </a:p>
                  </a:txBody>
                  <a:tcPr anchor="ctr" marL="118872" marR="82296" marT="54864" marB="54864">
                    <a:solidFill>
                      <a:srgbClr val="F7F3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391F22-F1C8-679F-4AC4-CE74536581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>
            <a:extLst>
              <a:ext uri="{FF2B5EF4-FFF2-40B4-BE49-F238E27FC236}">
                <a16:creationId xmlns:a16="http://schemas.microsoft.com/office/drawing/2014/main" id="{FD631580-CBAF-720B-62CE-F15C904DF9BA}"/>
              </a:ext>
            </a:extLst>
          </p:cNvPr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3 – Lab setup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4A5DE4-521B-045A-B6C2-FA8A41C185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Working with Semantic Models</a:t>
            </a: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AEE7A943-9774-526A-7882-AED3113BAA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>
            <a:extLst>
              <a:ext uri="{FF2B5EF4-FFF2-40B4-BE49-F238E27FC236}">
                <a16:creationId xmlns:a16="http://schemas.microsoft.com/office/drawing/2014/main" id="{C0020A40-032C-F7E5-1C56-F150FF7B9B7E}"/>
              </a:ext>
            </a:extLst>
          </p:cNvPr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What is it like to engineer with one?</a:t>
            </a:r>
          </a:p>
        </p:txBody>
      </p:sp>
      <p:sp>
        <p:nvSpPr>
          <p:cNvPr id="103" name="Rule">
            <a:extLst>
              <a:ext uri="{FF2B5EF4-FFF2-40B4-BE49-F238E27FC236}">
                <a16:creationId xmlns:a16="http://schemas.microsoft.com/office/drawing/2014/main" id="{AC08E601-E9FB-82FE-948D-0DD060527481}"/>
              </a:ext>
            </a:extLst>
          </p:cNvPr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493298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0" i="0" spc="140">
                <a:solidFill>
                  <a:srgbClr val="353638"/>
                </a:solidFill>
                <a:latin typeface="Calibri"/>
              </a:rPr>
              <a:t>The MAGE Workbench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4" name="Picture 3" descr="wb-slide12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914400"/>
            <a:ext cx="7863840" cy="4406208"/>
          </a:xfrm>
          <a:prstGeom prst="rect">
            <a:avLst/>
          </a:prstGeom>
          <a:ln w="12700">
            <a:solidFill>
              <a:srgbClr val="C9B991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640080" y="5577840"/>
            <a:ext cx="7863840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8E6F3E"/>
                </a:solidFill>
                <a:latin typeface="Consolas"/>
              </a:rPr>
              <a:t>davisjam.github.io/model-based-agentic-software-engineering/workbench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6007607"/>
            <a:ext cx="8503920" cy="55778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Models · saved questions · evidence · an agent API — one-minute orientation, then we start from a question.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12</a:t>
            </a:r>
          </a:p>
        </p:txBody>
      </p:sp>
      <p:pic>
        <p:nvPicPr>
          <p:cNvPr id="8" name="Picture 7" descr="image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0" i="0" spc="140">
                <a:solidFill>
                  <a:srgbClr val="353638"/>
                </a:solidFill>
                <a:latin typeface="Calibri"/>
              </a:rPr>
              <a:t>Ask the model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896112"/>
            <a:ext cx="804672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1">
                <a:solidFill>
                  <a:srgbClr val="5C4826"/>
                </a:solidFill>
                <a:latin typeface="Calibri"/>
              </a:rPr>
              <a:t>Does this configuration fit within its memory budget?</a:t>
            </a:r>
          </a:p>
        </p:txBody>
      </p:sp>
      <p:pic>
        <p:nvPicPr>
          <p:cNvPr id="5" name="Picture 4" descr="wb-memtable-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5486400" cy="2670829"/>
          </a:xfrm>
          <a:prstGeom prst="rect">
            <a:avLst/>
          </a:prstGeom>
          <a:ln w="12700">
            <a:solidFill>
              <a:srgbClr val="C9B991"/>
            </a:solidFill>
          </a:ln>
        </p:spPr>
      </p:pic>
      <p:pic>
        <p:nvPicPr>
          <p:cNvPr id="6" name="Picture 5" descr="wb-evidence-pa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1371600"/>
            <a:ext cx="2240280" cy="3765577"/>
          </a:xfrm>
          <a:prstGeom prst="rect">
            <a:avLst/>
          </a:prstGeom>
          <a:ln w="12700">
            <a:solidFill>
              <a:srgbClr val="C9B991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548640" y="4160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>
                <a:solidFill>
                  <a:srgbClr val="555960"/>
                </a:solidFill>
                <a:latin typeface="Calibri"/>
              </a:rPr>
              <a:t>the saved question, run deterministically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5440680"/>
            <a:ext cx="22860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i="0"/>
              <a:t>the verdict carries its evidence:</a:t>
            </a:r>
          </a:p>
          <a:p>
            <a:r>
              <a:rPr sz="1800" i="0"/>
              <a:t>which models it derives from,</a:t>
            </a:r>
          </a:p>
          <a:p>
            <a:r>
              <a:rPr sz="1800" i="0"/>
              <a:t>what the analysis exhausts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709160"/>
            <a:ext cx="1325880" cy="457200"/>
          </a:xfrm>
          <a:prstGeom prst="rect">
            <a:avLst/>
          </a:prstGeom>
          <a:solidFill>
            <a:srgbClr val="F5F1E8"/>
          </a:solidFill>
          <a:ln w="12700">
            <a:solidFill>
              <a:srgbClr val="8E6F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1" i="0">
                <a:solidFill>
                  <a:srgbClr val="5C4826"/>
                </a:solidFill>
                <a:latin typeface="Calibri"/>
              </a:rPr>
              <a:t>model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1920239" y="4846320"/>
            <a:ext cx="274320" cy="182880"/>
          </a:xfrm>
          <a:prstGeom prst="rightArrow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240280" y="4709160"/>
            <a:ext cx="1828800" cy="55778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semantic machinery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14800" y="4846320"/>
            <a:ext cx="274320" cy="182880"/>
          </a:xfrm>
          <a:prstGeom prst="rightArrow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434840" y="4709160"/>
            <a:ext cx="1325880" cy="457200"/>
          </a:xfrm>
          <a:prstGeom prst="rect">
            <a:avLst/>
          </a:prstGeom>
          <a:solidFill>
            <a:srgbClr val="F5F1E8"/>
          </a:solidFill>
          <a:ln w="12700">
            <a:solidFill>
              <a:srgbClr val="8E6F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1" i="0">
                <a:solidFill>
                  <a:srgbClr val="5C4826"/>
                </a:solidFill>
                <a:latin typeface="Calibri"/>
              </a:rPr>
              <a:t>result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349240"/>
            <a:ext cx="5394960" cy="740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5C4826"/>
                </a:solidFill>
                <a:latin typeface="Calibri"/>
              </a:rPr>
              <a:t>No LLM required. </a:t>
            </a:r>
            <a:r>
              <a:rPr sz="1800" b="0" i="0">
                <a:solidFill>
                  <a:srgbClr val="353638"/>
                </a:solidFill>
                <a:latin typeface="Calibri"/>
              </a:rPr>
              <a:t>Elements, relations, and quantities have
declared semantics; the answer is computed, with provenance.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6144768"/>
            <a:ext cx="8503920" cy="42062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232 KB of 256 KB — 24 KB of margin. The answer arrives with its evidence.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13</a:t>
            </a:r>
          </a:p>
        </p:txBody>
      </p:sp>
      <p:pic>
        <p:nvPicPr>
          <p:cNvPr id="17" name="Picture 16" descr="image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0" i="0" spc="140">
                <a:solidFill>
                  <a:srgbClr val="353638"/>
                </a:solidFill>
                <a:latin typeface="Calibri"/>
              </a:rPr>
              <a:t>Ask through an agent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8046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1">
                <a:solidFill>
                  <a:srgbClr val="5C4826"/>
                </a:solidFill>
                <a:latin typeface="Calibri"/>
              </a:rPr>
              <a:t>“What is consuming memory on the sensor node?”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8046720" cy="9052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i="0"/>
              <a:t>Interacting with models can be tedious: navigate the model, select the operation,</a:t>
            </a:r>
          </a:p>
          <a:p>
            <a:r>
              <a:rPr sz="1800" i="0"/>
              <a:t>formulate the query. An agent can mediate that interaction.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88720" y="2331720"/>
            <a:ext cx="1920240" cy="457200"/>
          </a:xfrm>
          <a:prstGeom prst="rect">
            <a:avLst/>
          </a:prstGeom>
          <a:solidFill>
            <a:srgbClr val="F5F1E8"/>
          </a:solidFill>
          <a:ln w="12700">
            <a:solidFill>
              <a:srgbClr val="8E6F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1" i="0">
                <a:solidFill>
                  <a:srgbClr val="5C4826"/>
                </a:solidFill>
                <a:latin typeface="Calibri"/>
              </a:rPr>
              <a:t>Engineer</a:t>
            </a:r>
          </a:p>
        </p:txBody>
      </p:sp>
      <p:sp>
        <p:nvSpPr>
          <p:cNvPr id="7" name="Down Arrow 6"/>
          <p:cNvSpPr/>
          <p:nvPr/>
        </p:nvSpPr>
        <p:spPr>
          <a:xfrm>
            <a:off x="2057400" y="2807208"/>
            <a:ext cx="164592" cy="237744"/>
          </a:xfrm>
          <a:prstGeom prst="downArrow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331720" y="2843784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>
                <a:solidFill>
                  <a:srgbClr val="555960"/>
                </a:solidFill>
                <a:latin typeface="Calibri"/>
              </a:rPr>
              <a:t>question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3063239"/>
            <a:ext cx="1920240" cy="457200"/>
          </a:xfrm>
          <a:prstGeom prst="rect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1" i="0">
                <a:solidFill>
                  <a:srgbClr val="5C4826"/>
                </a:solidFill>
                <a:latin typeface="Calibri"/>
              </a:rPr>
              <a:t>Agent</a:t>
            </a:r>
          </a:p>
        </p:txBody>
      </p:sp>
      <p:sp>
        <p:nvSpPr>
          <p:cNvPr id="10" name="Down Arrow 9"/>
          <p:cNvSpPr/>
          <p:nvPr/>
        </p:nvSpPr>
        <p:spPr>
          <a:xfrm>
            <a:off x="2057400" y="3538727"/>
            <a:ext cx="164592" cy="237744"/>
          </a:xfrm>
          <a:prstGeom prst="downArrow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331720" y="3575303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>
                <a:solidFill>
                  <a:srgbClr val="555960"/>
                </a:solidFill>
                <a:latin typeface="Calibri"/>
              </a:rPr>
              <a:t>model operations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88720" y="3794759"/>
            <a:ext cx="1920240" cy="4572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2057400" y="4270248"/>
            <a:ext cx="164592" cy="237744"/>
          </a:xfrm>
          <a:prstGeom prst="downArrow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331720" y="4306823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>
                <a:solidFill>
                  <a:srgbClr val="555960"/>
                </a:solidFill>
                <a:latin typeface="Calibri"/>
              </a:rPr>
              <a:t>semantic result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88720" y="4526279"/>
            <a:ext cx="1920240" cy="457200"/>
          </a:xfrm>
          <a:prstGeom prst="rect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1" i="0">
                <a:solidFill>
                  <a:srgbClr val="5C4826"/>
                </a:solidFill>
                <a:latin typeface="Calibri"/>
              </a:rPr>
              <a:t>Agent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2057400" y="5001767"/>
            <a:ext cx="164592" cy="237744"/>
          </a:xfrm>
          <a:prstGeom prst="downArrow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331720" y="5038344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>
                <a:solidFill>
                  <a:srgbClr val="555960"/>
                </a:solidFill>
                <a:latin typeface="Calibri"/>
              </a:rPr>
              <a:t>explanation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88720" y="5257799"/>
            <a:ext cx="1920240" cy="457200"/>
          </a:xfrm>
          <a:prstGeom prst="rect">
            <a:avLst/>
          </a:prstGeom>
          <a:solidFill>
            <a:srgbClr val="F5F1E8"/>
          </a:solidFill>
          <a:ln w="12700">
            <a:solidFill>
              <a:srgbClr val="8E6F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1" i="0">
                <a:solidFill>
                  <a:srgbClr val="5C4826"/>
                </a:solidFill>
                <a:latin typeface="Calibri"/>
              </a:rPr>
              <a:t>Engineer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46320" y="2331720"/>
            <a:ext cx="3749039" cy="14630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074920" y="2487168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spc="60">
                <a:solidFill>
                  <a:srgbClr val="8E6F3E"/>
                </a:solidFill>
                <a:latin typeface="Calibri"/>
              </a:rPr>
              <a:t>THE AGENT SURFACE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2816352"/>
            <a:ext cx="3291840" cy="11155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C4826"/>
                </a:solidFill>
                <a:latin typeface="Consolas"/>
              </a:rPr>
              <a:t>window.mage</a:t>
            </a:r>
            <a:r>
              <a:rPr sz="1800" b="0" i="0">
                <a:solidFill>
                  <a:srgbClr val="353638"/>
                </a:solidFill>
                <a:latin typeface="Calibri"/>
              </a:rPr>
              <a:t> — the Workbench exposes
the model to agents: typed operations,
questions, evidence.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4069080"/>
            <a:ext cx="3749039" cy="1691640"/>
          </a:xfrm>
          <a:prstGeom prst="rect">
            <a:avLst/>
          </a:prstGeom>
          <a:solidFill>
            <a:srgbClr val="F5F1E8"/>
          </a:solidFill>
          <a:ln w="15875">
            <a:solidFill>
              <a:srgbClr val="8E6F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074920" y="4224528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spc="60">
                <a:solidFill>
                  <a:srgbClr val="8E6F3E"/>
                </a:solidFill>
                <a:latin typeface="Calibri"/>
              </a:rPr>
              <a:t>THE KEY DISTINCTION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74920" y="4572000"/>
            <a:ext cx="3291840" cy="13944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5C4826"/>
                </a:solidFill>
                <a:latin typeface="Calibri"/>
              </a:rPr>
              <a:t>The agent helps interpret the question</a:t>
            </a:r>
          </a:p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5C4826"/>
                </a:solidFill>
                <a:latin typeface="Calibri"/>
              </a:rPr>
              <a:t>and operate on the model.</a:t>
            </a:r>
          </a:p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5C4826"/>
                </a:solidFill>
                <a:latin typeface="Calibri"/>
              </a:rPr>
              <a:t>It need not invent the engineering facts.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6144768"/>
            <a:ext cx="8503920" cy="42062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Natural questions in — the model's semantics still produce the facts.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14</a:t>
            </a:r>
          </a:p>
        </p:txBody>
      </p:sp>
      <p:pic>
        <p:nvPicPr>
          <p:cNvPr id="27" name="Picture 26" descr="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0" i="0" spc="140">
                <a:solidFill>
                  <a:srgbClr val="353638"/>
                </a:solidFill>
                <a:latin typeface="Calibri"/>
              </a:rPr>
              <a:t>Lab: model → query → revise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7589520" y="201168"/>
            <a:ext cx="1234440" cy="438912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LAB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51560"/>
            <a:ext cx="411480" cy="41148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051560"/>
            <a:ext cx="4572000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 i="0">
                <a:solidFill>
                  <a:srgbClr val="353638"/>
                </a:solidFill>
                <a:latin typeface="Calibri"/>
              </a:rPr>
              <a:t>Determine current memory consumption and margin.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00200"/>
            <a:ext cx="411480" cy="41148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600200"/>
            <a:ext cx="45720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 i="0">
                <a:solidFill>
                  <a:srgbClr val="353638"/>
                </a:solidFill>
                <a:latin typeface="Calibri"/>
              </a:rPr>
              <a:t>Identify the largest consumers.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148840"/>
            <a:ext cx="411480" cy="41148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48840"/>
            <a:ext cx="45720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 i="0">
                <a:solidFill>
                  <a:srgbClr val="353638"/>
                </a:solidFill>
                <a:latin typeface="Calibri"/>
              </a:rPr>
              <a:t>Double the telemetry queue.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697480"/>
            <a:ext cx="411480" cy="41148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697480"/>
            <a:ext cx="45720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 i="0">
                <a:solidFill>
                  <a:srgbClr val="353638"/>
                </a:solidFill>
                <a:latin typeface="Calibri"/>
              </a:rPr>
              <a:t>Re-evaluate the budget requirement.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246120"/>
            <a:ext cx="411480" cy="41148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246120"/>
            <a:ext cx="45720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 i="0">
                <a:solidFill>
                  <a:srgbClr val="353638"/>
                </a:solidFill>
                <a:latin typeface="Calibri"/>
              </a:rPr>
              <a:t>Restore a margin of at least 20%.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977639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1">
                <a:solidFill>
                  <a:srgbClr val="5C4826"/>
                </a:solidFill>
                <a:latin typeface="Calibri"/>
              </a:rPr>
              <a:t>Tasks, not UI instructions.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343400"/>
            <a:ext cx="5029200" cy="1673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53638"/>
                </a:solidFill>
                <a:latin typeface="Calibri"/>
              </a:rPr>
              <a:t>Use whichever surface you prefer: </a:t>
            </a:r>
          </a:p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53638"/>
                </a:solidFill>
                <a:latin typeface="Calibri"/>
              </a:rPr>
              <a:t>• run the saved questions and read the evidence</a:t>
            </a:r>
          </a:p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53638"/>
                </a:solidFill>
                <a:latin typeface="Calibri"/>
              </a:rPr>
              <a:t>• edit in the workspace, or via the agent</a:t>
            </a:r>
          </a:p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53638"/>
                </a:solidFill>
                <a:latin typeface="Calibri"/>
              </a:rPr>
              <a:t>• ask the agent — then check it against the model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23560" y="1051560"/>
            <a:ext cx="2971800" cy="48463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806440" y="1188720"/>
            <a:ext cx="26060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/>
              <a:t>WHAT THE MODEL DECLARES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06440" y="1920240"/>
            <a:ext cx="2606040" cy="416966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 i="0"/>
              <a:t>budget: 256 KiB of SRAM</a:t>
            </a:r>
          </a:p>
          <a:p>
            <a:r>
              <a:rPr sz="1800" b="1" i="0"/>
              <a:t>total: 232 KB → 24 KB margin</a:t>
            </a:r>
          </a:p>
          <a:p>
            <a:r>
              <a:rPr sz="1800" b="1" i="0"/>
              <a:t>pinned: “fits in the 256 KiB SRAM budget”</a:t>
            </a:r>
          </a:p>
          <a:p>
            <a:endParaRPr sz="1800" b="1" i="0"/>
          </a:p>
          <a:p>
            <a:r>
              <a:rPr sz="1800" b="0" i="0"/>
              <a:t>doubling telemetry (32 → 64 KB) → 264 KB: fails by 8 KB</a:t>
            </a:r>
          </a:p>
          <a:p>
            <a:endParaRPr sz="1800" b="0" i="0"/>
          </a:p>
          <a:p>
            <a:r>
              <a:rPr sz="1800" b="0" i="0"/>
              <a:t>a ≥20% margin needs ≤ 204.8 KB — several changes achieve it, several near-misses do not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6144768"/>
            <a:ext cx="8503920" cy="42062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The search is the design activity, not a lookup.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15</a:t>
            </a:r>
          </a:p>
        </p:txBody>
      </p:sp>
      <p:pic>
        <p:nvPicPr>
          <p:cNvPr id="22" name="Picture 21" descr="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0" i="0" spc="140">
                <a:solidFill>
                  <a:srgbClr val="353638"/>
                </a:solidFill>
                <a:latin typeface="Calibri"/>
              </a:rPr>
              <a:t>What can’t the model answer?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1">
                <a:solidFill>
                  <a:srgbClr val="5C4826"/>
                </a:solidFill>
                <a:latin typeface="Calibri"/>
              </a:rPr>
              <a:t>What is peak SRAM consumption?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8046720" cy="1965960"/>
          </a:xfrm>
          <a:prstGeom prst="rect">
            <a:avLst/>
          </a:prstGeom>
          <a:solidFill>
            <a:srgbClr val="F5F1E8"/>
          </a:solidFill>
          <a:ln w="15875">
            <a:solidFill>
              <a:srgbClr val="8E6F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1664208"/>
            <a:ext cx="7406640" cy="202996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 i="1">
                <a:solidFill>
                  <a:srgbClr val="5C4826"/>
                </a:solidFill>
                <a:latin typeface="Calibri"/>
              </a:rPr>
              <a:t>“It answers ‘what if everything is live at once’, and it cannot answer ‘is everything live at once’. The second question needs operating modes — Sleeping, Sampling, Inferring, Transmitting — and resource lifetimes tied to them … That is the earned transition to Behavior, and it is deliberately not in this file.”</a:t>
            </a:r>
          </a:p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555960"/>
                </a:solidFill>
                <a:latin typeface="Calibri"/>
              </a:rPr>
              <a:t>— the shipped model's own header, embedded-sensor-node/system.mage.yaml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749039"/>
            <a:ext cx="8046720" cy="10881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5C4826"/>
                </a:solidFill>
                <a:latin typeface="Calibri"/>
              </a:rPr>
              <a:t>More prompting cannot create missing engineering knowledge. </a:t>
            </a:r>
          </a:p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53638"/>
                </a:solidFill>
                <a:latin typeface="Calibri"/>
              </a:rPr>
              <a:t>The agent can navigate, infer, or propose — but if the answer needs distinctions the purposeful
model does not preserve, stronger prompting does not repair the model.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92040"/>
            <a:ext cx="8046720" cy="11155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8E6F3E"/>
                </a:solidFill>
                <a:latin typeface="Calibri"/>
              </a:rPr>
              <a:t>Lab closing question: </a:t>
            </a:r>
            <a:r>
              <a:rPr sz="1800" b="0" i="1">
                <a:solidFill>
                  <a:srgbClr val="353638"/>
                </a:solidFill>
                <a:latin typeface="Calibri"/>
              </a:rPr>
              <a:t>what would we need to add to make this question answerable?</a:t>
            </a:r>
          </a:p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555960"/>
                </a:solidFill>
                <a:latin typeface="Calibri"/>
              </a:rPr>
              <a:t>— exactly Lecture 1's judgment: which distinctions must the model preserve, and at what cost?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6144768"/>
            <a:ext cx="8503920" cy="42062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The model states its own boundary — an omission declared on its purpose.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16</a:t>
            </a:r>
          </a:p>
        </p:txBody>
      </p:sp>
      <p:pic>
        <p:nvPicPr>
          <p:cNvPr id="11" name="Picture 10" descr="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693408"/>
            <a:ext cx="9144000" cy="16459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7680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 spc="200">
                <a:solidFill>
                  <a:srgbClr val="555960"/>
                </a:solidFill>
                <a:latin typeface="Calibri"/>
              </a:rPr>
              <a:t>END OF THE CORE LECTURE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5C4826"/>
                </a:solidFill>
                <a:latin typeface="Calibri"/>
              </a:rPr>
              <a:t>Modeling makes knowledge explicit.</a:t>
            </a:r>
          </a:p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5C4826"/>
                </a:solidFill>
                <a:latin typeface="Calibri"/>
              </a:rPr>
              <a:t>Alignment gives it consequence.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514600"/>
            <a:ext cx="7680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 i="1">
                <a:solidFill>
                  <a:srgbClr val="353638"/>
                </a:solidFill>
                <a:latin typeface="Calibri"/>
              </a:rPr>
              <a:t>The model says the margin stays above 20%.</a:t>
            </a:r>
          </a:p>
          <a:p>
            <a:pPr algn="ctr">
              <a:lnSpc>
                <a:spcPct val="115000"/>
              </a:lnSpc>
            </a:pPr>
            <a:r>
              <a:rPr sz="2000" b="0" i="1">
                <a:solidFill>
                  <a:srgbClr val="353638"/>
                </a:solidFill>
                <a:latin typeface="Calibri"/>
              </a:rPr>
              <a:t>Next lecture: what happens when reality disagrees?</a:t>
            </a:r>
          </a:p>
        </p:txBody>
      </p:sp>
      <p:sp>
        <p:nvSpPr>
          <p:cNvPr id="8" name="Rectangle 7"/>
          <p:cNvSpPr/>
          <p:nvPr/>
        </p:nvSpPr>
        <p:spPr>
          <a:xfrm>
            <a:off x="1463040" y="3383280"/>
            <a:ext cx="6217920" cy="36576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566160" y="3703320"/>
            <a:ext cx="2011680" cy="50292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OPTIONAL · REFERENCE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34840"/>
            <a:ext cx="76809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 i="0">
                <a:solidFill>
                  <a:srgbClr val="353638"/>
                </a:solidFill>
                <a:latin typeface="Calibri"/>
              </a:rPr>
              <a:t>Section 4 — Reasoning with SysML and KerML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983480"/>
            <a:ext cx="6949440" cy="13944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 i="1">
                <a:solidFill>
                  <a:srgbClr val="555960"/>
                </a:solidFill>
                <a:latin typeface="Calibri"/>
              </a:rPr>
              <a:t>The sensor node named what it was missing: operating modes.</a:t>
            </a:r>
          </a:p>
          <a:p>
            <a:pPr algn="ctr">
              <a:lnSpc>
                <a:spcPct val="125000"/>
              </a:lnSpc>
            </a:pPr>
            <a:r>
              <a:rPr sz="1800" b="0" i="1">
                <a:solidFill>
                  <a:srgbClr val="555960"/>
                </a:solidFill>
                <a:latin typeface="Calibri"/>
              </a:rPr>
              <a:t>These six slides take a sibling system where modes, flow, and quantities are modeled —</a:t>
            </a:r>
          </a:p>
          <a:p>
            <a:pPr algn="ctr">
              <a:lnSpc>
                <a:spcPct val="125000"/>
              </a:lnSpc>
            </a:pPr>
            <a:r>
              <a:rPr sz="1800" b="0" i="1">
                <a:solidFill>
                  <a:srgbClr val="555960"/>
                </a:solidFill>
                <a:latin typeface="Calibri"/>
              </a:rPr>
              <a:t>and show what the stronger semantics let us derive. Not “SysML 101.”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41080" y="6419088"/>
            <a:ext cx="365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0" i="0" spc="140">
                <a:solidFill>
                  <a:srgbClr val="353638"/>
                </a:solidFill>
                <a:latin typeface="Calibri"/>
              </a:rPr>
              <a:t>A sensing system — behavior and resources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48640" y="1005840"/>
            <a:ext cx="5257800" cy="3931920"/>
          </a:xfrm>
          <a:prstGeom prst="rect">
            <a:avLst/>
          </a:prstGeom>
          <a:solidFill>
            <a:srgbClr val="2B2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207008"/>
            <a:ext cx="4892040" cy="3566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>
                <a:solidFill>
                  <a:srgbClr val="ECE2D0"/>
                </a:solidFill>
                <a:latin typeface="Consolas"/>
              </a:rPr>
              <a:t>part def SensorNode {</a:t>
            </a:r>
          </a:p>
          <a:p>
            <a:r>
              <a:rPr sz="1800">
                <a:solidFill>
                  <a:srgbClr val="ECE2D0"/>
                </a:solidFill>
                <a:latin typeface="Consolas"/>
              </a:rPr>
              <a:t>  attribute samplingPeriod = 5 [s];</a:t>
            </a:r>
          </a:p>
          <a:p>
            <a:r>
              <a:rPr sz="1800">
                <a:solidFill>
                  <a:srgbClr val="ECE2D0"/>
                </a:solidFill>
                <a:latin typeface="Consolas"/>
              </a:rPr>
              <a:t>  attribute sampleSize = 512 [B];</a:t>
            </a:r>
          </a:p>
          <a:p>
            <a:r>
              <a:rPr sz="1800">
                <a:solidFill>
                  <a:srgbClr val="ECE2D0"/>
                </a:solidFill>
                <a:latin typeface="Consolas"/>
              </a:rPr>
              <a:t>  attribute bufferCap = 4096 [B];</a:t>
            </a:r>
          </a:p>
          <a:p>
            <a:r>
              <a:rPr sz="1800">
                <a:solidFill>
                  <a:srgbClr val="ECE2D0"/>
                </a:solidFill>
                <a:latin typeface="Consolas"/>
              </a:rPr>
              <a:t>  attribute radioRate = 4096 [B/s];</a:t>
            </a:r>
          </a:p>
          <a:p>
            <a:r>
              <a:rPr sz="1800">
                <a:solidFill>
                  <a:srgbClr val="ECE2D0"/>
                </a:solidFill>
                <a:latin typeface="Consolas"/>
              </a:rPr>
              <a:t>  attribute txPeriod = 30 [s];</a:t>
            </a:r>
          </a:p>
          <a:p>
            <a:endParaRPr sz="1800">
              <a:solidFill>
                <a:srgbClr val="ECE2D0"/>
              </a:solidFill>
              <a:latin typeface="Consolas"/>
            </a:endParaRPr>
          </a:p>
          <a:p>
            <a:r>
              <a:rPr sz="1800">
                <a:solidFill>
                  <a:srgbClr val="ECE2D0"/>
                </a:solidFill>
                <a:latin typeface="Consolas"/>
              </a:rPr>
              <a:t>  state def Modes { … }</a:t>
            </a:r>
          </a:p>
          <a:p>
            <a:r>
              <a:rPr sz="1800">
                <a:solidFill>
                  <a:srgbClr val="ECE2D0"/>
                </a:solidFill>
                <a:latin typeface="Consolas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0"/>
            <a:ext cx="4297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/>
              <a:t>SysML v2 textual notation — excerpt, abridged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0" y="1005840"/>
            <a:ext cx="2651760" cy="39319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126480" y="1170432"/>
            <a:ext cx="2331720" cy="3108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spc="50">
                <a:solidFill>
                  <a:srgbClr val="8E6F3E"/>
                </a:solidFill>
                <a:latin typeface="Calibri"/>
              </a:rPr>
              <a:t>ONE RICHER EMBEDDED SYSTEM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536192"/>
            <a:ext cx="2331720" cy="3291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/>
              <a:t>modes</a:t>
            </a:r>
          </a:p>
          <a:p>
            <a:r>
              <a:rPr sz="1800"/>
              <a:t>  Sleep / Sample / Transmit</a:t>
            </a:r>
          </a:p>
          <a:p>
            <a:r>
              <a:rPr sz="1800"/>
              <a:t>sampling  5 s</a:t>
            </a:r>
          </a:p>
          <a:p>
            <a:r>
              <a:rPr sz="1800"/>
              <a:t>sample  512 B</a:t>
            </a:r>
          </a:p>
          <a:p>
            <a:r>
              <a:rPr sz="1800"/>
              <a:t>buffer  4 KiB = 8</a:t>
            </a:r>
          </a:p>
          <a:p>
            <a:r>
              <a:rPr sz="1800"/>
              <a:t>radio  4 KiB/s</a:t>
            </a:r>
          </a:p>
          <a:p>
            <a:r>
              <a:rPr sz="1800"/>
              <a:t>tx timer  30 s</a:t>
            </a:r>
          </a:p>
          <a:p>
            <a:r>
              <a:rPr sz="1800"/>
              <a:t>power  0.1 / 5 / 60 mW</a:t>
            </a:r>
          </a:p>
          <a:p>
            <a:r>
              <a:rPr sz="1800"/>
              <a:t>avg power ≤ 2 mW</a:t>
            </a:r>
          </a:p>
          <a:p>
            <a:r>
              <a:rPr sz="1800"/>
              <a:t>no buffer overflow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394960"/>
            <a:ext cx="80467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/>
              <a:t>Exactly the distinctions the sensor node declared as omissions:</a:t>
            </a:r>
          </a:p>
          <a:p>
            <a:r>
              <a:rPr sz="1800"/>
              <a:t>operating modes, and resource lifetimes tied to them.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6007607"/>
            <a:ext cx="8503920" cy="55778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Enough SysML to establish the actual model — the constructs earn their keep on the next slides.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18</a:t>
            </a:r>
          </a:p>
        </p:txBody>
      </p:sp>
      <p:pic>
        <p:nvPicPr>
          <p:cNvPr id="13" name="Picture 12" descr="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0" i="0" spc="140">
                <a:solidFill>
                  <a:srgbClr val="353638"/>
                </a:solidFill>
                <a:latin typeface="Calibri"/>
              </a:rPr>
              <a:t>Can the buffer overflow?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8046720" cy="8686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097280"/>
            <a:ext cx="7498079" cy="8366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8E6F3E"/>
                </a:solidFill>
                <a:latin typeface="Calibri"/>
              </a:rPr>
              <a:t>Given:  </a:t>
            </a:r>
            <a:r>
              <a:rPr sz="1800" b="0" i="0">
                <a:solidFill>
                  <a:srgbClr val="353638"/>
                </a:solidFill>
                <a:latin typeface="Consolas"/>
              </a:rPr>
              <a:t>avg production rate (512 B / 5 s ≈ 102 B/s)  &lt;  radio throughput (4096 B/s)</a:t>
            </a:r>
          </a:p>
          <a:p>
            <a:pPr algn="l">
              <a:lnSpc>
                <a:spcPct val="135000"/>
              </a:lnSpc>
            </a:pPr>
            <a:r>
              <a:rPr sz="1800" b="0" i="1">
                <a:solidFill>
                  <a:srgbClr val="555960"/>
                </a:solidFill>
                <a:latin typeface="Calibri"/>
              </a:rPr>
              <a:t>Locally plausible: “then it cannot overflow.”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743200"/>
            <a:ext cx="1554480" cy="640080"/>
          </a:xfrm>
          <a:prstGeom prst="rect">
            <a:avLst/>
          </a:prstGeom>
          <a:solidFill>
            <a:srgbClr val="FBF8F2"/>
          </a:solidFill>
          <a:ln w="15875">
            <a:solidFill>
              <a:srgbClr val="5C48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2000" b="1" i="0">
                <a:solidFill>
                  <a:srgbClr val="5C4826"/>
                </a:solidFill>
                <a:latin typeface="Calibri"/>
              </a:rPr>
              <a:t>Sleep</a:t>
            </a:r>
          </a:p>
        </p:txBody>
      </p:sp>
      <p:sp>
        <p:nvSpPr>
          <p:cNvPr id="7" name="Rectangle 6"/>
          <p:cNvSpPr/>
          <p:nvPr/>
        </p:nvSpPr>
        <p:spPr>
          <a:xfrm>
            <a:off x="3749039" y="2743200"/>
            <a:ext cx="1554480" cy="640080"/>
          </a:xfrm>
          <a:prstGeom prst="rect">
            <a:avLst/>
          </a:prstGeom>
          <a:solidFill>
            <a:srgbClr val="FBF8F2"/>
          </a:solidFill>
          <a:ln w="15875">
            <a:solidFill>
              <a:srgbClr val="5C48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2000" b="1" i="0">
                <a:solidFill>
                  <a:srgbClr val="5C4826"/>
                </a:solidFill>
                <a:latin typeface="Calibri"/>
              </a:rPr>
              <a:t>Sample</a:t>
            </a:r>
          </a:p>
        </p:txBody>
      </p:sp>
      <p:sp>
        <p:nvSpPr>
          <p:cNvPr id="8" name="Rectangle 7"/>
          <p:cNvSpPr/>
          <p:nvPr/>
        </p:nvSpPr>
        <p:spPr>
          <a:xfrm>
            <a:off x="6675120" y="2743200"/>
            <a:ext cx="1554480" cy="64008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Transmit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377440" y="2926080"/>
            <a:ext cx="1371599" cy="0"/>
          </a:xfrm>
          <a:prstGeom prst="line">
            <a:avLst/>
          </a:prstGeom>
          <a:ln w="19050">
            <a:solidFill>
              <a:srgbClr val="5C482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468880" y="2670048"/>
            <a:ext cx="1280160" cy="5577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  <a:latin typeface="Calibri"/>
              </a:rPr>
              <a:t>sample timer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2377440" y="3246120"/>
            <a:ext cx="1371599" cy="0"/>
          </a:xfrm>
          <a:prstGeom prst="line">
            <a:avLst/>
          </a:prstGeom>
          <a:ln w="19050">
            <a:solidFill>
              <a:srgbClr val="5C482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2468880" y="3310128"/>
            <a:ext cx="12801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  <a:latin typeface="Calibri"/>
              </a:rPr>
              <a:t>done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303520" y="2926080"/>
            <a:ext cx="1371600" cy="0"/>
          </a:xfrm>
          <a:prstGeom prst="line">
            <a:avLst/>
          </a:prstGeom>
          <a:ln w="25400">
            <a:solidFill>
              <a:srgbClr val="C810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349240" y="2670048"/>
            <a:ext cx="1371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1">
                <a:solidFill>
                  <a:srgbClr val="C8102E"/>
                </a:solidFill>
                <a:latin typeface="Calibri"/>
              </a:rPr>
              <a:t>buffer full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600200" y="3401568"/>
            <a:ext cx="0" cy="393192"/>
          </a:xfrm>
          <a:prstGeom prst="line">
            <a:avLst/>
          </a:prstGeom>
          <a:ln w="19050">
            <a:solidFill>
              <a:srgbClr val="5C482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600200" y="3794760"/>
            <a:ext cx="5852160" cy="0"/>
          </a:xfrm>
          <a:prstGeom prst="line">
            <a:avLst/>
          </a:prstGeom>
          <a:ln w="19050">
            <a:solidFill>
              <a:srgbClr val="5C482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7452360" y="3419856"/>
            <a:ext cx="0" cy="374904"/>
          </a:xfrm>
          <a:prstGeom prst="line">
            <a:avLst/>
          </a:prstGeom>
          <a:ln w="19050">
            <a:solidFill>
              <a:srgbClr val="5C482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566160" y="3840480"/>
            <a:ext cx="20116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  <a:latin typeface="Calibri"/>
              </a:rPr>
              <a:t>tx timer (30 s)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7452360" y="2359152"/>
            <a:ext cx="0" cy="365760"/>
          </a:xfrm>
          <a:prstGeom prst="line">
            <a:avLst/>
          </a:prstGeom>
          <a:ln w="19050">
            <a:solidFill>
              <a:srgbClr val="5C482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1600200" y="2359152"/>
            <a:ext cx="5852160" cy="0"/>
          </a:xfrm>
          <a:prstGeom prst="line">
            <a:avLst/>
          </a:prstGeom>
          <a:ln w="19050">
            <a:solidFill>
              <a:srgbClr val="5C482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600200" y="2359152"/>
            <a:ext cx="0" cy="365760"/>
          </a:xfrm>
          <a:prstGeom prst="line">
            <a:avLst/>
          </a:prstGeom>
          <a:ln w="19050">
            <a:solidFill>
              <a:srgbClr val="5C482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566160" y="2121408"/>
            <a:ext cx="20116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  <a:latin typeface="Calibri"/>
              </a:rPr>
              <a:t>tx done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4160520"/>
            <a:ext cx="7772400" cy="5577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>
                <a:solidFill>
                  <a:srgbClr val="555960"/>
                </a:solidFill>
                <a:latin typeface="Calibri"/>
              </a:rPr>
              <a:t>Sample produces data. Transmit consumes it. Modes draw different power.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4617720"/>
            <a:ext cx="8046720" cy="12344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2960" y="4773168"/>
            <a:ext cx="7498079" cy="13167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5C4826"/>
                </a:solidFill>
                <a:latin typeface="Calibri"/>
              </a:rPr>
              <a:t>Comparing the two rates cannot answer the question. </a:t>
            </a:r>
            <a:r>
              <a:rPr sz="1800" b="0" i="0">
                <a:solidFill>
                  <a:srgbClr val="353638"/>
                </a:solidFill>
                <a:latin typeface="Calibri"/>
              </a:rPr>
              <a:t>The radio drains the buffer only while
Transmit is active — transmission availability depends on state behavior, batching, and timing.</a:t>
            </a:r>
          </a:p>
          <a:p>
            <a:pPr algn="l">
              <a:lnSpc>
                <a:spcPct val="125000"/>
              </a:lnSpc>
            </a:pPr>
            <a:r>
              <a:rPr sz="1800" b="0" i="1">
                <a:solidFill>
                  <a:srgbClr val="8E6F3E"/>
                </a:solidFill>
                <a:latin typeface="Calibri"/>
              </a:rPr>
              <a:t>The honest answer needs behavior, flow, and quantity composed. That is the next slide.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6007607"/>
            <a:ext cx="8503920" cy="55778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A locally plausible conclusion can be wrong — now the semantics do real work.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19</a:t>
            </a:r>
          </a:p>
        </p:txBody>
      </p:sp>
      <p:pic>
        <p:nvPicPr>
          <p:cNvPr id="28" name="Picture 27" descr="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0" i="0" spc="140">
                <a:solidFill>
                  <a:srgbClr val="353638"/>
                </a:solidFill>
                <a:latin typeface="Calibri"/>
              </a:rPr>
              <a:t>Behavior, flow, and quantity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141732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95000"/>
              </a:lnSpc>
            </a:pPr>
            <a:r>
              <a:rPr sz="1800" b="0" i="0">
                <a:solidFill>
                  <a:srgbClr val="5C4826"/>
                </a:solidFill>
                <a:latin typeface="Calibri"/>
              </a:rPr>
              <a:t>state</a:t>
            </a:r>
          </a:p>
          <a:p>
            <a:pPr algn="ctr">
              <a:lnSpc>
                <a:spcPct val="95000"/>
              </a:lnSpc>
            </a:pPr>
            <a:r>
              <a:rPr sz="1800" b="0" i="0">
                <a:solidFill>
                  <a:srgbClr val="5C4826"/>
                </a:solidFill>
                <a:latin typeface="Calibri"/>
              </a:rPr>
              <a:t>occurrences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75104" y="1207008"/>
            <a:ext cx="23774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  <a:latin typeface="Calibri"/>
              </a:rPr>
              <a:t>+</a:t>
            </a:r>
          </a:p>
        </p:txBody>
      </p:sp>
      <p:sp>
        <p:nvSpPr>
          <p:cNvPr id="6" name="Rectangle 5"/>
          <p:cNvSpPr/>
          <p:nvPr/>
        </p:nvSpPr>
        <p:spPr>
          <a:xfrm>
            <a:off x="2203704" y="1051560"/>
            <a:ext cx="141732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95000"/>
              </a:lnSpc>
            </a:pPr>
            <a:r>
              <a:rPr sz="1800" b="0" i="0">
                <a:solidFill>
                  <a:srgbClr val="5C4826"/>
                </a:solidFill>
                <a:latin typeface="Calibri"/>
              </a:rPr>
              <a:t>sample</a:t>
            </a:r>
          </a:p>
          <a:p>
            <a:pPr algn="ctr">
              <a:lnSpc>
                <a:spcPct val="95000"/>
              </a:lnSpc>
            </a:pPr>
            <a:r>
              <a:rPr sz="1800" b="0" i="0">
                <a:solidFill>
                  <a:srgbClr val="5C4826"/>
                </a:solidFill>
                <a:latin typeface="Calibri"/>
              </a:rPr>
              <a:t>production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30168" y="1207008"/>
            <a:ext cx="23774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  <a:latin typeface="Calibri"/>
              </a:rPr>
              <a:t>+</a:t>
            </a:r>
          </a:p>
        </p:txBody>
      </p:sp>
      <p:sp>
        <p:nvSpPr>
          <p:cNvPr id="8" name="Rectangle 7"/>
          <p:cNvSpPr/>
          <p:nvPr/>
        </p:nvSpPr>
        <p:spPr>
          <a:xfrm>
            <a:off x="3858768" y="1051560"/>
            <a:ext cx="141732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95000"/>
              </a:lnSpc>
            </a:pPr>
            <a:r>
              <a:rPr sz="1800" b="0" i="0">
                <a:solidFill>
                  <a:srgbClr val="5C4826"/>
                </a:solidFill>
                <a:latin typeface="Calibri"/>
              </a:rPr>
              <a:t>buffer</a:t>
            </a:r>
          </a:p>
          <a:p>
            <a:pPr algn="ctr">
              <a:lnSpc>
                <a:spcPct val="95000"/>
              </a:lnSpc>
            </a:pPr>
            <a:r>
              <a:rPr sz="1800" b="0" i="0">
                <a:solidFill>
                  <a:srgbClr val="5C4826"/>
                </a:solidFill>
                <a:latin typeface="Calibri"/>
              </a:rPr>
              <a:t>capacity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85232" y="1207008"/>
            <a:ext cx="23774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  <a:latin typeface="Calibri"/>
              </a:rPr>
              <a:t>+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13832" y="1051560"/>
            <a:ext cx="141732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95000"/>
              </a:lnSpc>
            </a:pPr>
            <a:r>
              <a:rPr sz="1800" b="0" i="0">
                <a:solidFill>
                  <a:srgbClr val="5C4826"/>
                </a:solidFill>
                <a:latin typeface="Calibri"/>
              </a:rPr>
              <a:t>transmission</a:t>
            </a:r>
          </a:p>
          <a:p>
            <a:pPr algn="ctr">
              <a:lnSpc>
                <a:spcPct val="95000"/>
              </a:lnSpc>
            </a:pPr>
            <a:r>
              <a:rPr sz="1800" b="0" i="0">
                <a:solidFill>
                  <a:srgbClr val="5C4826"/>
                </a:solidFill>
                <a:latin typeface="Calibri"/>
              </a:rPr>
              <a:t>behavior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0296" y="1207008"/>
            <a:ext cx="23774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  <a:latin typeface="Calibri"/>
              </a:rPr>
              <a:t>+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68896" y="1051560"/>
            <a:ext cx="141732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95000"/>
              </a:lnSpc>
            </a:pPr>
            <a:r>
              <a:rPr sz="1800" b="0" i="0">
                <a:solidFill>
                  <a:srgbClr val="5C4826"/>
                </a:solidFill>
                <a:latin typeface="Calibri"/>
              </a:rPr>
              <a:t>quantities</a:t>
            </a:r>
          </a:p>
          <a:p>
            <a:pPr algn="ctr">
              <a:lnSpc>
                <a:spcPct val="95000"/>
              </a:lnSpc>
            </a:pPr>
            <a:r>
              <a:rPr sz="1800" b="0" i="0">
                <a:solidFill>
                  <a:srgbClr val="5C4826"/>
                </a:solidFill>
                <a:latin typeface="Calibri"/>
              </a:rPr>
              <a:t>+ units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4434840" y="1783080"/>
            <a:ext cx="219456" cy="310896"/>
          </a:xfrm>
          <a:prstGeom prst="downArrow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063240" y="2176272"/>
            <a:ext cx="301752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the buffer property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2971800"/>
            <a:ext cx="8503920" cy="23317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48640" y="3127248"/>
            <a:ext cx="8046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spc="60">
                <a:solidFill>
                  <a:srgbClr val="8E6F3E"/>
                </a:solidFill>
                <a:latin typeface="Calibri"/>
              </a:rPr>
              <a:t>THE BASELINE, DERIVED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456432"/>
            <a:ext cx="8046720" cy="23550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1">
                <a:latin typeface="Calibri"/>
              </a:rPr>
              <a:t>samples per cycle:  </a:t>
            </a:r>
            <a:r>
              <a:rPr sz="1800" b="0">
                <a:latin typeface="Consolas"/>
              </a:rPr>
              <a:t>30 s ÷ 5 s = 6  ≤  capacity 8  →  no overflow</a:t>
            </a:r>
          </a:p>
          <a:p>
            <a:r>
              <a:rPr sz="1800" b="1">
                <a:latin typeface="Calibri"/>
              </a:rPr>
              <a:t>transmit time:  </a:t>
            </a:r>
            <a:r>
              <a:rPr sz="1800" b="0">
                <a:latin typeface="Consolas"/>
              </a:rPr>
              <a:t>6 × 512 B ÷ 4096 B/s = 0.75 s</a:t>
            </a:r>
          </a:p>
          <a:p>
            <a:r>
              <a:rPr sz="1800" b="1">
                <a:latin typeface="Calibri"/>
              </a:rPr>
              <a:t>average power:  </a:t>
            </a:r>
            <a:r>
              <a:rPr sz="1800" b="0">
                <a:latin typeface="Consolas"/>
              </a:rPr>
              <a:t>(60·0.75 + 5·6·0.05 + 0.1·29.0) mW·s / 30 s</a:t>
            </a:r>
          </a:p>
          <a:p>
            <a:r>
              <a:rPr sz="1800" b="0">
                <a:latin typeface="Consolas"/>
              </a:rPr>
              <a:t>                    ≈ 1.65 mW  ≤  2 mW  ✓</a:t>
            </a:r>
          </a:p>
          <a:p>
            <a:endParaRPr sz="1800" b="0">
              <a:latin typeface="Consolas"/>
            </a:endParaRPr>
          </a:p>
          <a:p>
            <a:r>
              <a:rPr sz="1800">
                <a:latin typeface="Calibri"/>
              </a:rPr>
              <a:t>Every step is licensed by a declared quantity, unit, or state occurrence.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532120"/>
            <a:ext cx="80467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/>
              <a:t>Derived by hand from the model. No tool computed this verdict.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6007607"/>
            <a:ext cx="8503920" cy="55778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This is where SysML/KerML earns its keep: one property composed across three views.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20</a:t>
            </a:r>
          </a:p>
        </p:txBody>
      </p:sp>
      <p:pic>
        <p:nvPicPr>
          <p:cNvPr id="21" name="Picture 20" descr="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0" i="0" spc="140">
                <a:solidFill>
                  <a:srgbClr val="353638"/>
                </a:solidFill>
                <a:latin typeface="Calibri"/>
              </a:rPr>
              <a:t>Change the sampling rate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8E6F3E"/>
                </a:solidFill>
                <a:latin typeface="Calibri"/>
              </a:rPr>
              <a:t>Perturbation: </a:t>
            </a:r>
            <a:r>
              <a:rPr sz="2000" b="0" i="0">
                <a:solidFill>
                  <a:srgbClr val="353638"/>
                </a:solidFill>
                <a:latin typeface="Calibri"/>
              </a:rPr>
              <a:t>sampling period 5 s → 2.5 s.  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98448"/>
            <a:ext cx="8046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1">
                <a:solidFill>
                  <a:srgbClr val="555960"/>
                </a:solidFill>
                <a:latin typeface="Calibri"/>
              </a:rPr>
              <a:t>What changed?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3931920" cy="27432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192024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spc="60">
                <a:solidFill>
                  <a:srgbClr val="8E6F3E"/>
                </a:solidFill>
                <a:latin typeface="Calibri"/>
              </a:rPr>
              <a:t>THE BUFFER PROPERTY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86000"/>
            <a:ext cx="347472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353638"/>
                </a:solidFill>
                <a:latin typeface="Consolas"/>
              </a:rPr>
              <a:t>12 samples per cycle  &gt;  capacity 8</a:t>
            </a:r>
          </a:p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353638"/>
                </a:solidFill>
                <a:latin typeface="Calibri"/>
              </a:rPr>
              <a:t>Overflow? </a:t>
            </a:r>
            <a:r>
              <a:rPr sz="1800" b="1" i="0">
                <a:solidFill>
                  <a:srgbClr val="5C4826"/>
                </a:solidFill>
                <a:latin typeface="Calibri"/>
              </a:rPr>
              <a:t>No.</a:t>
            </a:r>
          </a:p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353638"/>
                </a:solidFill>
                <a:latin typeface="Calibri"/>
              </a:rPr>
              <a:t>At the 8th sample the buffer-full
transition fires and Transmit
drains early.</a:t>
            </a:r>
          </a:p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5C4826"/>
                </a:solidFill>
                <a:latin typeface="Calibri"/>
              </a:rPr>
              <a:t>STILL HOLDS — because of
behavior, not arithmetic.</a:t>
            </a:r>
          </a:p>
        </p:txBody>
      </p:sp>
      <p:sp>
        <p:nvSpPr>
          <p:cNvPr id="9" name="Rectangle 8"/>
          <p:cNvSpPr/>
          <p:nvPr/>
        </p:nvSpPr>
        <p:spPr>
          <a:xfrm>
            <a:off x="4663440" y="1783080"/>
            <a:ext cx="3931920" cy="2743200"/>
          </a:xfrm>
          <a:prstGeom prst="rect">
            <a:avLst/>
          </a:prstGeom>
          <a:solidFill>
            <a:srgbClr val="FBF8F2"/>
          </a:solidFill>
          <a:ln w="15875">
            <a:solidFill>
              <a:srgbClr val="C810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892040" y="192024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spc="60">
                <a:solidFill>
                  <a:srgbClr val="C8102E"/>
                </a:solidFill>
                <a:latin typeface="Calibri"/>
              </a:rPr>
              <a:t>THE POWER REQUIREMENT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92040" y="2286000"/>
            <a:ext cx="3474720" cy="24597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353638"/>
                </a:solidFill>
                <a:latin typeface="Consolas"/>
              </a:rPr>
              <a:t>transmit: 12 × 512 ÷ 4096 = 1.5 s</a:t>
            </a:r>
          </a:p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353638"/>
                </a:solidFill>
                <a:latin typeface="Consolas"/>
              </a:rPr>
              <a:t>avg ≈ (90 + 3.0 + 2.79) mJ / 30 s</a:t>
            </a:r>
          </a:p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353638"/>
                </a:solidFill>
                <a:latin typeface="Consolas"/>
              </a:rPr>
              <a:t>    ≈ 3.2 mW  &gt;  2 mW budget</a:t>
            </a:r>
          </a:p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C8102E"/>
                </a:solidFill>
                <a:latin typeface="Calibri"/>
              </a:rPr>
              <a:t>NOW FAILS — the same change,
a different property, the opposite
verdict.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800600"/>
            <a:ext cx="8046720" cy="11155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353638"/>
                </a:solidFill>
                <a:latin typeface="Calibri"/>
              </a:rPr>
              <a:t>One model modification propagates into multiple engineering properties. </a:t>
            </a:r>
          </a:p>
          <a:p>
            <a:pPr algn="l">
              <a:lnSpc>
                <a:spcPct val="120000"/>
              </a:lnSpc>
            </a:pPr>
            <a:r>
              <a:rPr sz="1800" b="0" i="1">
                <a:solidFill>
                  <a:srgbClr val="C8102E"/>
                </a:solidFill>
                <a:latin typeface="Calibri"/>
              </a:rPr>
              <a:t>All numbers hand-derived from the model's declared quantities — and the slide says so.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6144768"/>
            <a:ext cx="8503920" cy="42062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One change, two properties, two different verdicts.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21</a:t>
            </a:r>
          </a:p>
        </p:txBody>
      </p:sp>
      <p:pic>
        <p:nvPicPr>
          <p:cNvPr id="15" name="Picture 14" descr="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0" i="0" spc="140">
                <a:solidFill>
                  <a:srgbClr val="353638"/>
                </a:solidFill>
                <a:latin typeface="Calibri"/>
              </a:rPr>
              <a:t>Why can the model answer?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4160520" cy="48463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097280"/>
            <a:ext cx="374903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spc="50">
                <a:solidFill>
                  <a:srgbClr val="8E6F3E"/>
                </a:solidFill>
                <a:latin typeface="Calibri"/>
              </a:rPr>
              <a:t>WHAT THE SEMANTICS LICENSE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3749039" cy="4206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1" i="0"/>
              <a:t>typed features + units</a:t>
            </a:r>
          </a:p>
          <a:p>
            <a:r>
              <a:rPr sz="1800" b="0" i="0"/>
              <a:t>512 [B] ÷ 4096 [B/s] is well-defined</a:t>
            </a:r>
          </a:p>
          <a:p>
            <a:r>
              <a:rPr sz="1800" b="1" i="0"/>
              <a:t>state occurrences</a:t>
            </a:r>
          </a:p>
          <a:p>
            <a:r>
              <a:rPr sz="1800" b="0" i="0"/>
              <a:t>Transmit being active determines when the buffer drains</a:t>
            </a:r>
          </a:p>
          <a:p>
            <a:r>
              <a:rPr sz="1800" b="1" i="0"/>
              <a:t>expressions + constraints</a:t>
            </a:r>
          </a:p>
          <a:p>
            <a:r>
              <a:rPr sz="1800" b="0" i="0"/>
              <a:t>the requirement is a claim over model values, not a comment</a:t>
            </a:r>
          </a:p>
          <a:p>
            <a:endParaRPr sz="1800" b="0" i="0"/>
          </a:p>
          <a:p>
            <a:r>
              <a:rPr sz="1800" b="0" i="1"/>
              <a:t>SysML supplies the systems concepts; KerML the semantic foundation.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892040" y="960120"/>
            <a:ext cx="3703320" cy="4846320"/>
          </a:xfrm>
          <a:prstGeom prst="rect">
            <a:avLst/>
          </a:prstGeom>
          <a:solidFill>
            <a:srgbClr val="F5F1E8"/>
          </a:solidFill>
          <a:ln w="15875">
            <a:solidFill>
              <a:srgbClr val="C810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120640" y="1097280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spc="50">
                <a:solidFill>
                  <a:srgbClr val="C8102E"/>
                </a:solidFill>
                <a:latin typeface="Calibri"/>
              </a:rPr>
              <a:t>MEASURED — OCTOBER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1444752"/>
            <a:ext cx="3291840" cy="5577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1">
                <a:solidFill>
                  <a:srgbClr val="353638"/>
                </a:solidFill>
                <a:latin typeface="Calibri"/>
              </a:rPr>
              <a:t>SysML v2 Pilot Implementation</a:t>
            </a:r>
          </a:p>
          <a:p>
            <a:pPr algn="l">
              <a:lnSpc>
                <a:spcPct val="110000"/>
              </a:lnSpc>
            </a:pPr>
            <a:r>
              <a:rPr sz="1800" b="0" i="1">
                <a:solidFill>
                  <a:srgbClr val="353638"/>
                </a:solidFill>
                <a:latin typeface="Calibri"/>
              </a:rPr>
              <a:t>(release 2026-08, kernel 0.62.0):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0" y="2057400"/>
            <a:ext cx="3291840" cy="3611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/>
              <a:t>✓  parses + validates these models</a:t>
            </a:r>
          </a:p>
          <a:p>
            <a:r>
              <a:rPr sz="1800" b="0" i="0"/>
              <a:t>✓  name resolution, typed structure</a:t>
            </a:r>
          </a:p>
          <a:p>
            <a:r>
              <a:rPr sz="1800" b="0" i="0"/>
              <a:t>✗  cannot execute state machines</a:t>
            </a:r>
          </a:p>
          <a:p>
            <a:r>
              <a:rPr sz="1800" b="0" i="0"/>
              <a:t>✗  cannot compute a verification verdict</a:t>
            </a:r>
          </a:p>
          <a:p>
            <a:r>
              <a:rPr sz="1800" b="0" i="0"/>
              <a:t>✗  quantity expressions stay unevaluated — it validates silently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6007607"/>
            <a:ext cx="8503920" cy="55778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“The semantics make it derivable” is a claim about the language — not about a tool run.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22</a:t>
            </a:r>
          </a:p>
        </p:txBody>
      </p:sp>
      <p:pic>
        <p:nvPicPr>
          <p:cNvPr id="14" name="Picture 13" descr="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0" i="0" spc="140">
                <a:solidFill>
                  <a:srgbClr val="353638"/>
                </a:solidFill>
                <a:latin typeface="Calibri"/>
              </a:rPr>
              <a:t>What still can’t be known?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1">
                <a:solidFill>
                  <a:srgbClr val="5C4826"/>
                </a:solidFill>
                <a:latin typeface="Calibri"/>
              </a:rPr>
              <a:t>What is peak SRAM consumption?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8046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>
                <a:solidFill>
                  <a:srgbClr val="555960"/>
                </a:solidFill>
                <a:latin typeface="Calibri"/>
              </a:rPr>
              <a:t>Asked of the richer model this time — modes, flow, power, and all.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8046720" cy="13716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2057400"/>
            <a:ext cx="7498079" cy="13944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8E6F3E"/>
                </a:solidFill>
                <a:latin typeface="Calibri"/>
              </a:rPr>
              <a:t>Still missing: </a:t>
            </a:r>
            <a:r>
              <a:rPr sz="1800" b="0" i="0">
                <a:solidFill>
                  <a:srgbClr val="353638"/>
                </a:solidFill>
                <a:latin typeface="Calibri"/>
              </a:rPr>
              <a:t>stack depth under interrupt nesting · allocator fragmentation · DMA buffers
· which allocations are simultaneously resident within a mode</a:t>
            </a:r>
          </a:p>
          <a:p>
            <a:pPr algn="l">
              <a:lnSpc>
                <a:spcPct val="130000"/>
              </a:lnSpc>
            </a:pPr>
            <a:r>
              <a:rPr sz="1800" b="0" i="1">
                <a:solidFill>
                  <a:srgbClr val="5C4826"/>
                </a:solidFill>
                <a:latin typeface="Calibri"/>
              </a:rPr>
              <a:t>Insufficient information — unless we model the distinctions that property requires.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520440"/>
            <a:ext cx="8046720" cy="14630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3657600"/>
            <a:ext cx="7498079" cy="1545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i="0"/>
              <a:t>Section 3's model named operating modes as a missing distinction. Section 4 modeled them</a:t>
            </a:r>
          </a:p>
          <a:p>
            <a:r>
              <a:rPr sz="1800" i="0"/>
              <a:t>and still has a boundary. Every purposeful model does.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257800"/>
            <a:ext cx="8046720" cy="832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1">
                <a:solidFill>
                  <a:srgbClr val="555960"/>
                </a:solidFill>
                <a:latin typeface="Calibri"/>
              </a:rPr>
              <a:t>The optional section closes where the lecture began: on purposeful reduction and degrees of</a:t>
            </a:r>
          </a:p>
          <a:p>
            <a:pPr algn="l">
              <a:lnSpc>
                <a:spcPct val="120000"/>
              </a:lnSpc>
            </a:pPr>
            <a:r>
              <a:rPr sz="1800" b="0" i="1">
                <a:solidFill>
                  <a:srgbClr val="555960"/>
                </a:solidFill>
                <a:latin typeface="Calibri"/>
              </a:rPr>
              <a:t>semantic commitment — not on SysML syntax.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6144768"/>
            <a:ext cx="8503920" cy="42062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Stronger semantics sharpen the boundary; they do not remove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23</a:t>
            </a:r>
          </a:p>
        </p:txBody>
      </p:sp>
      <p:pic>
        <p:nvPicPr>
          <p:cNvPr id="13" name="Picture 12" descr="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Purdue1">
  <a:themeElements>
    <a:clrScheme name="PurdueColors">
      <a:dk1>
        <a:srgbClr val="000000"/>
      </a:dk1>
      <a:lt1>
        <a:srgbClr val="000000"/>
      </a:lt1>
      <a:dk2>
        <a:srgbClr val="C4BFC0"/>
      </a:dk2>
      <a:lt2>
        <a:srgbClr val="C9B991"/>
      </a:lt2>
      <a:accent1>
        <a:srgbClr val="8E6F3E"/>
      </a:accent1>
      <a:accent2>
        <a:srgbClr val="555960"/>
      </a:accent2>
      <a:accent3>
        <a:srgbClr val="C9B991"/>
      </a:accent3>
      <a:accent4>
        <a:srgbClr val="FFFFFF"/>
      </a:accent4>
      <a:accent5>
        <a:srgbClr val="000000"/>
      </a:accent5>
      <a:accent6>
        <a:srgbClr val="555960"/>
      </a:accent6>
      <a:hlink>
        <a:srgbClr val="000000"/>
      </a:hlink>
      <a:folHlink>
        <a:srgbClr val="55596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U-CoBrand_Template_Gold_Theme_Std_Screen_2.pptx" id="{33130098-72E9-B14B-8D33-14895F32E203}" vid="{24A02D5D-460C-B047-B557-67731F776B76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CBB41474-50AF-6E4D-A061-FCA8EB91F85E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f6384a8e-b03b-4fc0-a7fa-4e9432f78350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34</TotalTime>
  <Words>4162</Words>
  <Application>Microsoft Macintosh PowerPoint</Application>
  <PresentationFormat>On-screen Show (4:3)</PresentationFormat>
  <Paragraphs>484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26</vt:i4>
      </vt:variant>
    </vt:vector>
  </HeadingPairs>
  <TitlesOfParts>
    <vt:vector size="32" baseType="lpstr">
      <vt:lpstr>Arial</vt:lpstr>
      <vt:lpstr>Calibri</vt:lpstr>
      <vt:lpstr>Consolas</vt:lpstr>
      <vt:lpstr>Times</vt:lpstr>
      <vt:lpstr>Office Theme</vt:lpstr>
      <vt:lpstr>Purdue1</vt:lpstr>
      <vt:lpstr>PowerPoint Presentation</vt:lpstr>
      <vt:lpstr>PowerPoint Presentation</vt:lpstr>
      <vt:lpstr>PowerPoint Presentation</vt:lpstr>
      <vt:lpstr>PowerPoint Presentation</vt:lpstr>
      <vt:lpstr>Degrees of semantic commitment</vt:lpstr>
      <vt:lpstr>PowerPoint Presentation</vt:lpstr>
      <vt:lpstr>PowerPoint Presentation</vt:lpstr>
      <vt:lpstr>PowerPoint Presentation</vt:lpstr>
      <vt:lpstr>PowerPoint Presentation</vt:lpstr>
      <vt:lpstr>Engineering with Semantic Models</vt:lpstr>
      <vt:lpstr>PowerPoint Presentation</vt:lpstr>
      <vt:lpstr>PowerPoint Presentation</vt:lpstr>
      <vt:lpstr>PowerPoint Presentation</vt:lpstr>
      <vt:lpstr>Working with Semantic Models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James C Davis</cp:lastModifiedBy>
  <cp:revision>83</cp:revision>
  <dcterms:created xsi:type="dcterms:W3CDTF">2013-01-27T09:14:16Z</dcterms:created>
  <dcterms:modified xsi:type="dcterms:W3CDTF">2026-10-06T01:09:17Z</dcterms:modified>
  <cp:category/>
</cp:coreProperties>
</file>