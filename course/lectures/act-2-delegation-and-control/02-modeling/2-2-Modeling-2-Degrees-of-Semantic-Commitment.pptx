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Lst>
  <p:notesMasterIdLst>
    <p:notesMasterId r:id="rId29"/>
  </p:notesMasterIdLst>
  <p:sldIdLst>
    <p:sldId id="1291" r:id="rId3"/>
    <p:sldId id="257" r:id="rId4"/>
    <p:sldId id="259" r:id="rId5"/>
    <p:sldId id="258" r:id="rId6"/>
    <p:sldId id="706" r:id="rId7"/>
    <p:sldId id="260" r:id="rId8"/>
    <p:sldId id="261" r:id="rId9"/>
    <p:sldId id="262" r:id="rId10"/>
    <p:sldId id="263" r:id="rId11"/>
    <p:sldId id="1292" r:id="rId12"/>
    <p:sldId id="1294" r:id="rId13"/>
    <p:sldId id="1295" r:id="rId14"/>
    <p:sldId id="273" r:id="rId15"/>
    <p:sldId id="264" r:id="rId16"/>
    <p:sldId id="265" r:id="rId17"/>
    <p:sldId id="266" r:id="rId18"/>
    <p:sldId id="1293" r:id="rId19"/>
    <p:sldId id="267" r:id="rId20"/>
    <p:sldId id="1296" r:id="rId21"/>
    <p:sldId id="269" r:id="rId22"/>
    <p:sldId id="1300" r:id="rId23"/>
    <p:sldId id="1297" r:id="rId24"/>
    <p:sldId id="1298" r:id="rId25"/>
    <p:sldId id="1299" r:id="rId26"/>
    <p:sldId id="1301" r:id="rId27"/>
    <p:sldId id="1302"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232"/>
    <p:restoredTop sz="71073"/>
  </p:normalViewPr>
  <p:slideViewPr>
    <p:cSldViewPr snapToGrid="0" snapToObjects="1">
      <p:cViewPr>
        <p:scale>
          <a:sx n="101" d="100"/>
          <a:sy n="101" d="100"/>
        </p:scale>
        <p:origin x="184" y="2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6765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2 of the Modeling unit. Last time: one model, one question — purposeful reduction. Today: a second, independent axis — how much of its meaning a representation carries explicitly — and then we work with a semantically defined model in the MAGE Workbench.</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Thirty-second callback. Bring back degrees of freedom explicitly — slide 7 needs them. The banner is deliberately half a sentence: slide 4 completes it (semantic commitment governs how much the model itself says about what it means).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conceptual thesis of the lecture, plus the map. The arc: what does the representation mean → what can we do because it means that → what is it like to work with one. §4 is optional/reference.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7279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Motivation, not technical argument — which is why this slide lives in the opening. Wording discipline: 'helped develop the standard', not 'use it in production'.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0.5 minutes — </a:t>
            </a:r>
            <a:r>
              <a:rPr i="1" dirty="0"/>
              <a:t>Section break: BOUND.</a:t>
            </a:r>
          </a:p>
          <a:p>
            <a:endParaRPr dirty="0"/>
          </a:p>
          <a:p>
            <a:r>
              <a:rPr dirty="0"/>
              <a:t>- We know the delegation problem. First decide what is being delegated.</a:t>
            </a:r>
          </a:p>
          <a:p>
            <a:r>
              <a:rPr dirty="0"/>
              <a:t>- This is not merely task sizing. It determines which relationships and degrees of freedom another reasoner must handle.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SEMANTIC COMMITMENT — walk the continuum</a:t>
            </a:r>
            <a:endParaRPr lang="en-US" dirty="0"/>
          </a:p>
          <a:p>
            <a:pPr lvl="0"/>
            <a:r>
              <a:rPr lang="en-US" b="1" dirty="0"/>
              <a:t>Quick sketch</a:t>
            </a:r>
            <a:endParaRPr lang="en-US" dirty="0"/>
          </a:p>
          <a:p>
            <a:pPr lvl="1"/>
            <a:r>
              <a:rPr lang="en-US" dirty="0"/>
              <a:t>Shapes, labels, arrows; conventions are mostly local.</a:t>
            </a:r>
          </a:p>
          <a:p>
            <a:pPr lvl="1"/>
            <a:r>
              <a:rPr lang="en-US" dirty="0"/>
              <a:t>An arrow might mean “calls,” “depends on,” “sends data to,” or simply “related to.”</a:t>
            </a:r>
          </a:p>
          <a:p>
            <a:pPr lvl="1"/>
            <a:r>
              <a:rPr lang="en-US" dirty="0"/>
              <a:t>Humans infer the intended meaning from context.</a:t>
            </a:r>
          </a:p>
          <a:p>
            <a:pPr lvl="1"/>
            <a:r>
              <a:rPr lang="en-US" dirty="0"/>
              <a:t>Cheap to create and change; often exactly the right model for communication.</a:t>
            </a:r>
          </a:p>
          <a:p>
            <a:pPr lvl="1"/>
            <a:r>
              <a:rPr lang="en-US" dirty="0"/>
              <a:t>But software cannot reliably reason over meaning that was never made explicit.</a:t>
            </a:r>
          </a:p>
          <a:p>
            <a:pPr lvl="0"/>
            <a:r>
              <a:rPr lang="en-US" b="1" dirty="0"/>
              <a:t>UML</a:t>
            </a:r>
            <a:endParaRPr lang="en-US" dirty="0"/>
          </a:p>
          <a:p>
            <a:pPr lvl="1"/>
            <a:r>
              <a:rPr lang="en-US" dirty="0"/>
              <a:t>Introduces standardized vocabulary and diagram-specific rules.</a:t>
            </a:r>
          </a:p>
          <a:p>
            <a:pPr lvl="1"/>
            <a:r>
              <a:rPr lang="en-US" dirty="0"/>
              <a:t>A class, association, state, transition, multiplicity, etc. have defined meanings.</a:t>
            </a:r>
          </a:p>
          <a:p>
            <a:pPr lvl="1"/>
            <a:r>
              <a:rPr lang="en-US" dirty="0"/>
              <a:t>We have committed to more distinctions, so fewer interpretations are left to the reader.</a:t>
            </a:r>
          </a:p>
          <a:p>
            <a:pPr lvl="1"/>
            <a:r>
              <a:rPr lang="en-US" dirty="0"/>
              <a:t>But much meaning remains informal or underspecified; UML is a family of notations with varying semantic strength.</a:t>
            </a:r>
          </a:p>
          <a:p>
            <a:pPr lvl="1"/>
            <a:r>
              <a:rPr lang="en-US" dirty="0"/>
              <a:t>Useful when the standardized distinctions match the engineering question.</a:t>
            </a:r>
          </a:p>
          <a:p>
            <a:pPr lvl="0"/>
            <a:r>
              <a:rPr lang="en-US" b="1" dirty="0"/>
              <a:t>Structured schemas</a:t>
            </a:r>
            <a:endParaRPr lang="en-US" dirty="0"/>
          </a:p>
          <a:p>
            <a:pPr lvl="1"/>
            <a:r>
              <a:rPr lang="en-US" dirty="0"/>
              <a:t>Move beyond visual vocabulary to </a:t>
            </a:r>
            <a:r>
              <a:rPr lang="en-US" b="1" dirty="0"/>
              <a:t>machine-checkable structure</a:t>
            </a:r>
            <a:r>
              <a:rPr lang="en-US" dirty="0"/>
              <a:t>.</a:t>
            </a:r>
          </a:p>
          <a:p>
            <a:pPr lvl="1"/>
            <a:r>
              <a:rPr lang="en-US" dirty="0"/>
              <a:t>Types, fields, relationships, cardinalities, constraints, units, or other domain concepts can be represented explicitly.</a:t>
            </a:r>
          </a:p>
          <a:p>
            <a:pPr lvl="1"/>
            <a:r>
              <a:rPr lang="en-US" dirty="0"/>
              <a:t>Tools can now query, validate, transform, and compose information rather than merely display it.</a:t>
            </a:r>
          </a:p>
          <a:p>
            <a:pPr lvl="1"/>
            <a:r>
              <a:rPr lang="en-US" dirty="0"/>
              <a:t>The schema commits us to what distinctions exist, but it does not necessarily give those distinctions a full behavioral or mathematical semantics.</a:t>
            </a:r>
          </a:p>
          <a:p>
            <a:pPr lvl="0"/>
            <a:r>
              <a:rPr lang="en-US" b="1" dirty="0" err="1"/>
              <a:t>SysML</a:t>
            </a:r>
            <a:r>
              <a:rPr lang="en-US" b="1" dirty="0"/>
              <a:t> v2 + KerML</a:t>
            </a:r>
            <a:endParaRPr lang="en-US" dirty="0"/>
          </a:p>
          <a:p>
            <a:pPr lvl="1"/>
            <a:r>
              <a:rPr lang="en-US" dirty="0"/>
              <a:t>The language defines a richer formal semantic foundation for system concepts and their relationships.</a:t>
            </a:r>
          </a:p>
          <a:p>
            <a:pPr lvl="1"/>
            <a:r>
              <a:rPr lang="en-US" dirty="0"/>
              <a:t>Meaning is not merely a convention adopted by the people drawing the diagram; substantially more is defined by the language/model itself.</a:t>
            </a:r>
          </a:p>
          <a:p>
            <a:pPr lvl="1"/>
            <a:r>
              <a:rPr lang="en-US" dirty="0"/>
              <a:t>That supports stronger composition, analysis, querying, validation, and interchange.</a:t>
            </a:r>
          </a:p>
          <a:p>
            <a:pPr lvl="1"/>
            <a:r>
              <a:rPr lang="en-US" dirty="0"/>
              <a:t>But this is correspondingly more expensive: the author must understand and state distinctions that a sketch could leave implicit.</a:t>
            </a:r>
          </a:p>
          <a:p>
            <a:endParaRPr lang="en-US" i="0" dirty="0"/>
          </a:p>
          <a:p>
            <a:r>
              <a:rPr i="0" dirty="0"/>
              <a:t>No disparagement of informal modeling — the sketch is often the right engineering choice. The question is what the representation must support.</a:t>
            </a:r>
            <a:endParaRPr lang="en-US" i="0" dirty="0"/>
          </a:p>
          <a:p>
            <a:endParaRPr lang="en-US" i="0" dirty="0"/>
          </a:p>
          <a:p>
            <a:pPr algn="l">
              <a:lnSpc>
                <a:spcPct val="115000"/>
              </a:lnSpc>
            </a:pPr>
            <a:r>
              <a:rPr lang="en-US" sz="1200" b="0" i="0" dirty="0">
                <a:solidFill>
                  <a:srgbClr val="353638"/>
                </a:solidFill>
                <a:latin typeface="Calibri"/>
              </a:rPr>
              <a:t>A quick sketch may be exactly right when several engineers need to communicate an architectural idea to one another or to an agent for a prototype.</a:t>
            </a:r>
          </a:p>
          <a:p>
            <a:endParaRPr i="0"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draft wanted this visually strong: the two-axis figure IS the slide. Folds degrees of freedom back in from Lecture 1. Sets up the table's non-monotonic realization-freedom column on slide 8.</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353638"/>
                </a:solidFill>
                <a:latin typeface="Calibri"/>
              </a:rPr>
              <a:t>A model may precisely define memory</a:t>
            </a:r>
            <a:r>
              <a:rPr lang="en-US" dirty="0">
                <a:solidFill>
                  <a:srgbClr val="353638"/>
                </a:solidFill>
                <a:latin typeface="Calibri"/>
              </a:rPr>
              <a:t> </a:t>
            </a:r>
            <a:r>
              <a:rPr lang="en-US" b="0" i="0" dirty="0">
                <a:solidFill>
                  <a:srgbClr val="353638"/>
                </a:solidFill>
                <a:latin typeface="Calibri"/>
              </a:rPr>
              <a:t>allocation, resource constraint</a:t>
            </a:r>
            <a:r>
              <a:rPr lang="en-US" dirty="0">
                <a:solidFill>
                  <a:srgbClr val="353638"/>
                </a:solidFill>
                <a:latin typeface="Calibri"/>
              </a:rPr>
              <a:t>s, </a:t>
            </a:r>
            <a:r>
              <a:rPr lang="en-US" dirty="0">
                <a:solidFill>
                  <a:srgbClr val="353638"/>
                </a:solidFill>
              </a:rPr>
              <a:t>while saying nothing about data structures, algorithms, etc.</a:t>
            </a:r>
            <a:endParaRPr lang="en-US" b="0" i="0" dirty="0">
              <a:solidFill>
                <a:srgbClr val="353638"/>
              </a:solidFill>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171450" lvl="0" indent="-171450">
              <a:buFont typeface="Arial" panose="020B0604020202020204" pitchFamily="34" charset="0"/>
              <a:buChar char="•"/>
            </a:pPr>
            <a:r>
              <a:rPr lang="en-US" b="1" dirty="0"/>
              <a:t>Informal sketch:</a:t>
            </a:r>
            <a:r>
              <a:rPr lang="en-US" dirty="0"/>
              <a:t> Meaning lives mostly in shared team context. Very cheap, very fast, and often exactly right when the people involved already know what the boxes and arrows mean.</a:t>
            </a:r>
          </a:p>
          <a:p>
            <a:pPr marL="171450" lvl="0" indent="-171450">
              <a:buFont typeface="Arial" panose="020B0604020202020204" pitchFamily="34" charset="0"/>
              <a:buChar char="•"/>
            </a:pPr>
            <a:r>
              <a:rPr lang="en-US" b="1" dirty="0"/>
              <a:t>UML:</a:t>
            </a:r>
            <a:r>
              <a:rPr lang="en-US" dirty="0"/>
              <a:t> Standardized elements and relationships carry more of the meaning. Readers still need the notation and project context, but they no longer have to invent the meaning of every symbol themselves.</a:t>
            </a:r>
          </a:p>
          <a:p>
            <a:pPr marL="171450" lvl="0" indent="-171450">
              <a:buFont typeface="Arial" panose="020B0604020202020204" pitchFamily="34" charset="0"/>
              <a:buChar char="•"/>
            </a:pPr>
            <a:r>
              <a:rPr lang="en-US" b="1" dirty="0" err="1"/>
              <a:t>OpenAPI</a:t>
            </a:r>
            <a:r>
              <a:rPr lang="en-US" b="1" dirty="0"/>
              <a:t> / JSON Schema:</a:t>
            </a:r>
            <a:r>
              <a:rPr lang="en-US" dirty="0"/>
              <a:t> Structure and constraints become machine-readable. Domain intent still comes from outside the schema, but tools can now validate and transform the representation reliably.</a:t>
            </a:r>
          </a:p>
          <a:p>
            <a:pPr marL="171450" lvl="0" indent="-171450">
              <a:buFont typeface="Arial" panose="020B0604020202020204" pitchFamily="34" charset="0"/>
              <a:buChar char="•"/>
            </a:pPr>
            <a:r>
              <a:rPr lang="en-US" b="1" dirty="0" err="1"/>
              <a:t>SysML</a:t>
            </a:r>
            <a:r>
              <a:rPr lang="en-US" b="1" dirty="0"/>
              <a:t> + KerML:</a:t>
            </a:r>
            <a:r>
              <a:rPr lang="en-US" dirty="0"/>
              <a:t> More meaning is defined by the language itself. That requires language and tooling knowledge, but enables richer queries, analysis, and composition across models.</a:t>
            </a:r>
          </a:p>
          <a:p>
            <a:pPr lvl="0"/>
            <a:endParaRPr lang="en-US" b="1" dirty="0"/>
          </a:p>
          <a:p>
            <a:pPr lvl="0"/>
            <a:r>
              <a:rPr lang="en-US" b="1" dirty="0"/>
              <a:t>Takeaway:</a:t>
            </a:r>
            <a:r>
              <a:rPr lang="en-US" dirty="0"/>
              <a:t> These are degrees of semantic commitment, not maturity levels. Choose the amount and kind of meaning that the engineering task requires.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BC61A-1E4E-EAFE-6A6F-C8D222983727}"/>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90EB552F-0A12-3597-8D15-C02E6B723ABB}"/>
              </a:ext>
            </a:extLst>
          </p:cNvPr>
          <p:cNvSpPr>
            <a:spLocks noGrp="1"/>
          </p:cNvSpPr>
          <p:nvPr>
            <p:ph type="body" idx="1"/>
          </p:nvPr>
        </p:nvSpPr>
        <p:spPr/>
        <p:txBody>
          <a:bodyPr/>
          <a:lstStyle/>
          <a:p>
            <a:r>
              <a:rPr dirty="0"/>
              <a:t>0.5 minutes — </a:t>
            </a:r>
            <a:r>
              <a:rPr i="1" dirty="0"/>
              <a:t>Section break: BOUND.</a:t>
            </a:r>
          </a:p>
          <a:p>
            <a:endParaRPr dirty="0"/>
          </a:p>
          <a:p>
            <a:r>
              <a:rPr dirty="0"/>
              <a:t>- We know the delegation problem. First decide what is being delegated.</a:t>
            </a:r>
          </a:p>
          <a:p>
            <a:r>
              <a:rPr dirty="0"/>
              <a:t>- This is not merely task sizing. It determines which relationships and degrees of freedom another reasoner must handle.</a:t>
            </a:r>
          </a:p>
        </p:txBody>
      </p:sp>
    </p:spTree>
    <p:extLst>
      <p:ext uri="{BB962C8B-B14F-4D97-AF65-F5344CB8AC3E}">
        <p14:creationId xmlns:p14="http://schemas.microsoft.com/office/powerpoint/2010/main" val="3046064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pPr lvl="0"/>
            <a:r>
              <a:rPr lang="en-US" b="1" dirty="0"/>
              <a:t>Informal sketch only.</a:t>
            </a:r>
            <a:r>
              <a:rPr lang="en-US" dirty="0"/>
              <a:t> “Here’s our sensor system. What can I learn?” We can see which components interact. Then probe the limits: “Can I tell whether the buffer is large enough?” No. “Can I tell when the radio runs?” No. Do </a:t>
            </a:r>
            <a:r>
              <a:rPr lang="en-US" b="1" dirty="0"/>
              <a:t>not</a:t>
            </a:r>
            <a:r>
              <a:rPr lang="en-US" dirty="0"/>
              <a:t> say “because semantics.” Let them experience what the sketch cannot answer.</a:t>
            </a:r>
          </a:p>
          <a:p>
            <a:pPr lvl="0"/>
            <a:endParaRPr lang="en-US" dirty="0"/>
          </a:p>
          <a:p>
            <a:pPr lvl="0"/>
            <a:r>
              <a:rPr lang="en-US" b="1" dirty="0"/>
              <a:t>Resource model appears.</a:t>
            </a:r>
            <a:r>
              <a:rPr lang="en-US" dirty="0"/>
              <a:t> “Same components. What did I add?” Quantities, units, and typed meaning on the relationships. “What question became answerable?” → </a:t>
            </a:r>
            <a:r>
              <a:rPr lang="en-US" i="1" dirty="0"/>
              <a:t>How much data can we buffer?</a:t>
            </a:r>
            <a:r>
              <a:rPr lang="en-US" dirty="0"/>
              <a:t> Lecture-1 callback: “Did I need to tell you anything about Sleep, Sample, or Transmit to answer that?” No. That is purposeful reduction: preserve the distinctions needed for the question and omit the rest.</a:t>
            </a:r>
          </a:p>
          <a:p>
            <a:pPr lvl="0"/>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REMINDER:</a:t>
            </a:r>
            <a:r>
              <a:rPr lang="en-US" dirty="0"/>
              <a:t> These are two representations of the same system, constructed for different engineering questions. The resource model is not simply a more detailed version of the sketch. It introduces particular semantics so that a particular class of questions becomes answerable. And it deliberately leaves other things out.</a:t>
            </a:r>
          </a:p>
          <a:p>
            <a:pPr lvl="0"/>
            <a:endParaRPr lang="en-US" dirty="0"/>
          </a:p>
          <a:p>
            <a:pPr lvl="0"/>
            <a:r>
              <a:rPr lang="en-US" b="1" dirty="0"/>
              <a:t>DISCUSSION/THINK PAIR SHARE</a:t>
            </a:r>
            <a:r>
              <a:rPr lang="en-US" dirty="0"/>
              <a:t>:</a:t>
            </a:r>
          </a:p>
          <a:p>
            <a:pPr lvl="0"/>
            <a:r>
              <a:rPr lang="en-US" dirty="0"/>
              <a:t>For example…is the buffer big enough? What kind of information would we still need to answer this question?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lang="en-US" b="1" dirty="0"/>
              <a:t>Build 1 — Introduce the second model</a:t>
            </a:r>
          </a:p>
          <a:p>
            <a:r>
              <a:rPr lang="en-US" dirty="0"/>
              <a:t>“Last time, adding a resource model let us answer a question the informal sketch could not. Here we need another model.”</a:t>
            </a:r>
          </a:p>
          <a:p>
            <a:r>
              <a:rPr lang="en-US" dirty="0"/>
              <a:t>Point to the behavior model.</a:t>
            </a:r>
          </a:p>
          <a:p>
            <a:r>
              <a:rPr lang="en-US" dirty="0"/>
              <a:t>“This is the behavior of the worker thread that manages the same buffer. Every five seconds, the sample timer causes it to sample the sensor. Every forty seconds, the transmit timer causes it to drain the buffer through the radio.”</a:t>
            </a:r>
          </a:p>
          <a:p>
            <a:r>
              <a:rPr lang="en-US" dirty="0"/>
              <a:t>Point out the dotted lines.</a:t>
            </a:r>
          </a:p>
          <a:p>
            <a:r>
              <a:rPr lang="en-US" dirty="0"/>
              <a:t>“These are not two unrelated diagrams. They describe different aspects of the same system. The buffer in the resource model is the buffer manipulated by this worker.”</a:t>
            </a:r>
          </a:p>
          <a:p>
            <a:endParaRPr lang="en-US" dirty="0"/>
          </a:p>
          <a:p>
            <a:r>
              <a:rPr lang="en-US" b="1" dirty="0"/>
              <a:t>Build 2 — Compose, then discover what is missing</a:t>
            </a:r>
          </a:p>
          <a:p>
            <a:r>
              <a:rPr lang="en-US" dirty="0"/>
              <a:t>Then return to the question:</a:t>
            </a:r>
          </a:p>
          <a:p>
            <a:r>
              <a:rPr lang="en-US" dirty="0"/>
              <a:t>“Now can we answer: </a:t>
            </a:r>
            <a:r>
              <a:rPr lang="en-US" i="1" dirty="0"/>
              <a:t>Can the buffer overflow?</a:t>
            </a:r>
            <a:r>
              <a:rPr lang="en-US" dirty="0"/>
              <a:t>”</a:t>
            </a:r>
          </a:p>
          <a:p>
            <a:endParaRPr lang="en-US" dirty="0"/>
          </a:p>
          <a:p>
            <a:r>
              <a:rPr lang="en-US" dirty="0"/>
              <a:t>Animate the two pertinent-facts boxes.</a:t>
            </a:r>
          </a:p>
          <a:p>
            <a:r>
              <a:rPr lang="en-US" dirty="0"/>
              <a:t>“The resource model tells us the capacity: 4 KB, or eight 512-byte samples. The behavior model tells us that we sample every five seconds and transmit every forty seconds.”</a:t>
            </a:r>
          </a:p>
          <a:p>
            <a:r>
              <a:rPr lang="en-US" dirty="0"/>
              <a:t>Pause.</a:t>
            </a:r>
          </a:p>
          <a:p>
            <a:endParaRPr lang="en-US" dirty="0"/>
          </a:p>
          <a:p>
            <a:r>
              <a:rPr lang="en-US" dirty="0"/>
              <a:t>“So: </a:t>
            </a:r>
            <a:r>
              <a:rPr lang="en-US" b="1" dirty="0"/>
              <a:t>could we ever lose a sample? Do you have enough information to answer that?</a:t>
            </a:r>
            <a:r>
              <a:rPr lang="en-US" dirty="0"/>
              <a:t>” </a:t>
            </a:r>
          </a:p>
          <a:p>
            <a:endParaRPr lang="en-US" dirty="0"/>
          </a:p>
          <a:p>
            <a:r>
              <a:rPr lang="en-US" dirty="0"/>
              <a:t>Let them work it out. The obvious first answer is: eight samples fit, and there are eight five-second intervals in forty seconds.</a:t>
            </a:r>
          </a:p>
          <a:p>
            <a:endParaRPr lang="en-US" dirty="0"/>
          </a:p>
          <a:p>
            <a:r>
              <a:rPr lang="en-US" dirty="0"/>
              <a:t>Then push:</a:t>
            </a:r>
          </a:p>
          <a:p>
            <a:r>
              <a:rPr lang="en-US" dirty="0" err="1"/>
              <a:t>A“What</a:t>
            </a:r>
            <a:r>
              <a:rPr lang="en-US" dirty="0"/>
              <a:t> is the precision of these timers?”</a:t>
            </a:r>
          </a:p>
          <a:p>
            <a:endParaRPr lang="en-US" dirty="0"/>
          </a:p>
          <a:p>
            <a:r>
              <a:rPr lang="en-US" dirty="0"/>
              <a:t>“And at 40 seconds, when the sample timer and transmit timer fire together, </a:t>
            </a:r>
            <a:r>
              <a:rPr lang="en-US" b="1" dirty="0"/>
              <a:t>which happens first?</a:t>
            </a:r>
            <a:r>
              <a:rPr lang="en-US" dirty="0"/>
              <a:t>”</a:t>
            </a:r>
          </a:p>
          <a:p>
            <a:endParaRPr lang="en-US" dirty="0"/>
          </a:p>
          <a:p>
            <a:r>
              <a:rPr lang="en-US" dirty="0"/>
              <a:t>“So we still cannot prove the property. Trying to answer the question exposed system semantics that our models do not yet specify.”</a:t>
            </a:r>
          </a:p>
          <a:p>
            <a:r>
              <a:rPr lang="en-US" dirty="0"/>
              <a:t>That last sentence is the important teaching point.</a:t>
            </a:r>
          </a:p>
          <a:p>
            <a:endParaRPr lang="en-US" b="1" dirty="0"/>
          </a:p>
          <a:p>
            <a:r>
              <a:rPr lang="en-US" b="1" dirty="0"/>
              <a:t>Build 3 — Move from analysis to design</a:t>
            </a:r>
          </a:p>
          <a:p>
            <a:r>
              <a:rPr lang="en-US" dirty="0"/>
              <a:t>Animate </a:t>
            </a:r>
            <a:r>
              <a:rPr lang="en-US" b="1" dirty="0"/>
              <a:t>What could you change?</a:t>
            </a:r>
            <a:r>
              <a:rPr lang="en-US" dirty="0"/>
              <a:t> </a:t>
            </a:r>
          </a:p>
          <a:p>
            <a:endParaRPr lang="en-US" dirty="0"/>
          </a:p>
          <a:p>
            <a:r>
              <a:rPr lang="en-US" dirty="0"/>
              <a:t>“Suppose you don’t like that answer. What could you change?”</a:t>
            </a:r>
          </a:p>
          <a:p>
            <a:endParaRPr lang="en-US" dirty="0"/>
          </a:p>
          <a:p>
            <a:r>
              <a:rPr lang="en-US" dirty="0"/>
              <a:t>Let them nominate things: increase buffer capacity, transmit more frequently, change scheduling/priority semantics, impose timer-precision requirements, perhaps change the worker design entirely.</a:t>
            </a:r>
          </a:p>
          <a:p>
            <a:endParaRPr lang="en-US" dirty="0"/>
          </a:p>
          <a:p>
            <a:r>
              <a:rPr lang="en-US" dirty="0"/>
              <a:t>Then:</a:t>
            </a:r>
          </a:p>
          <a:p>
            <a:endParaRPr lang="en-US" dirty="0"/>
          </a:p>
          <a:p>
            <a:r>
              <a:rPr lang="en-US" dirty="0"/>
              <a:t>“Notice what just happened. Modeling did not merely tell us whether the current system works. It exposed </a:t>
            </a:r>
            <a:r>
              <a:rPr lang="en-US" b="1" dirty="0"/>
              <a:t>degrees of freedom in the design</a:t>
            </a:r>
            <a:r>
              <a:rPr lang="en-US" dirty="0"/>
              <a:t>.”</a:t>
            </a:r>
          </a:p>
          <a:p>
            <a:r>
              <a:rPr lang="en-US" dirty="0"/>
              <a:t>That gives you the Architecture/Design callback naturally: some missing information should be modeled; some uncomfortable boundary conditions should instead motivate a </a:t>
            </a:r>
            <a:r>
              <a:rPr lang="en-US" b="1" dirty="0"/>
              <a:t>design change</a:t>
            </a:r>
            <a:r>
              <a:rPr lang="en-US" dirty="0"/>
              <a:t>.</a:t>
            </a:r>
          </a:p>
          <a:p>
            <a:endParaRPr lang="en-US" b="1" dirty="0"/>
          </a:p>
          <a:p>
            <a:r>
              <a:rPr lang="en-US" b="1" dirty="0"/>
              <a:t>SUMMARY:</a:t>
            </a:r>
          </a:p>
          <a:p>
            <a:r>
              <a:rPr lang="en-US" b="1" dirty="0"/>
              <a:t>compose models → attempt reasoning → discover missing semantics → expose design choices.</a:t>
            </a:r>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Introduce the system once, with the actual numbers; slides 19-21 reason over them. The excerpt is abridged notation, not a complete model. Power figures: Sleep 0.1 </a:t>
            </a:r>
            <a:r>
              <a:rPr dirty="0" err="1"/>
              <a:t>mW</a:t>
            </a:r>
            <a:r>
              <a:rPr dirty="0"/>
              <a:t>; Sample 5 </a:t>
            </a:r>
            <a:r>
              <a:rPr dirty="0" err="1"/>
              <a:t>mW</a:t>
            </a:r>
            <a:r>
              <a:rPr dirty="0"/>
              <a:t> for 50 </a:t>
            </a:r>
            <a:r>
              <a:rPr dirty="0" err="1"/>
              <a:t>ms</a:t>
            </a:r>
            <a:r>
              <a:rPr dirty="0"/>
              <a:t> per sample; Transmit 60 </a:t>
            </a:r>
            <a:r>
              <a:rPr dirty="0" err="1"/>
              <a:t>mW</a:t>
            </a:r>
            <a:r>
              <a:rPr dirty="0"/>
              <a:t> while draining at 4 KiB/s.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90568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One concrete example per operation, not five bare nouns. The examples are drawn from the embedded-sensor-node model students meet in §3 — deliberate foreshadowing.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Animations walk through.</a:t>
            </a:r>
          </a:p>
          <a:p>
            <a:endParaRPr lang="en-US" dirty="0"/>
          </a:p>
          <a:p>
            <a:r>
              <a:rPr lang="en-US" dirty="0"/>
              <a:t>The final animation asks “Why not?” and this is a subtlety well worth drawing out.</a:t>
            </a:r>
          </a:p>
          <a:p>
            <a:endParaRPr lang="en-US" dirty="0"/>
          </a:p>
          <a:p>
            <a:r>
              <a:rPr lang="en-US" b="1" dirty="0"/>
              <a:t>Pause at “Why not?” Do not answer immediately.</a:t>
            </a:r>
            <a:endParaRPr lang="en-US" dirty="0"/>
          </a:p>
          <a:p>
            <a:r>
              <a:rPr lang="en-US" dirty="0"/>
              <a:t>Ask:</a:t>
            </a:r>
          </a:p>
          <a:p>
            <a:r>
              <a:rPr lang="en-US" i="1" dirty="0"/>
              <a:t>“Suppose we could specify enough that the implementation just falls out. Why wouldn’t we?”</a:t>
            </a:r>
          </a:p>
          <a:p>
            <a:endParaRPr lang="en-US" dirty="0"/>
          </a:p>
          <a:p>
            <a:r>
              <a:rPr lang="en-US" dirty="0"/>
              <a:t>Give them time. Likely first answer: </a:t>
            </a:r>
            <a:r>
              <a:rPr lang="en-US" b="1" dirty="0"/>
              <a:t>because writing all that specification is expensive / takes too much time.</a:t>
            </a:r>
            <a:endParaRPr lang="en-US" dirty="0"/>
          </a:p>
          <a:p>
            <a:endParaRPr lang="en-US" dirty="0"/>
          </a:p>
          <a:p>
            <a:r>
              <a:rPr lang="en-US" i="1" dirty="0"/>
              <a:t>“Yes. That’s one answer. We don’t want to spend human effort specifying choices we don’t care about. But suppose specification were free. Is there still a reason not to decide everything now?”</a:t>
            </a:r>
          </a:p>
          <a:p>
            <a:endParaRPr lang="en-US" dirty="0"/>
          </a:p>
          <a:p>
            <a:r>
              <a:rPr lang="en-US" dirty="0"/>
              <a:t>This is the important turn. Try to draw out </a:t>
            </a:r>
            <a:r>
              <a:rPr lang="en-US" b="1" dirty="0"/>
              <a:t>later information</a:t>
            </a:r>
            <a:r>
              <a:rPr lang="en-US" dirty="0"/>
              <a:t>.</a:t>
            </a:r>
          </a:p>
          <a:p>
            <a:r>
              <a:rPr lang="en-US" dirty="0"/>
              <a:t>If necessary, prompt:</a:t>
            </a:r>
          </a:p>
          <a:p>
            <a:r>
              <a:rPr lang="en-US" i="1" dirty="0"/>
              <a:t>“Are we necessarily at the best point in the process to make every implementation decision?”</a:t>
            </a:r>
          </a:p>
          <a:p>
            <a:r>
              <a:rPr lang="en-US" i="1" dirty="0"/>
              <a:t>“What might we know during implementation that we don’t know when we construct the model?”</a:t>
            </a:r>
          </a:p>
          <a:p>
            <a:r>
              <a:rPr lang="en-US" dirty="0"/>
              <a:t>Look for: actual workload, target hardware, surrounding code, available libraries, measurements, consequences of earlier decisions.</a:t>
            </a:r>
          </a:p>
          <a:p>
            <a:endParaRPr lang="en-US" dirty="0"/>
          </a:p>
          <a:p>
            <a:r>
              <a:rPr lang="en-US" dirty="0"/>
              <a:t>Then sharpen:</a:t>
            </a:r>
          </a:p>
          <a:p>
            <a:r>
              <a:rPr lang="en-US" i="1" dirty="0"/>
              <a:t>“Right. Some decisions are better made later because </a:t>
            </a:r>
            <a:r>
              <a:rPr lang="en-US" b="1" i="1" dirty="0"/>
              <a:t>information arrives later</a:t>
            </a:r>
            <a:r>
              <a:rPr lang="en-US" i="1" dirty="0"/>
              <a:t>. If I specify them now, I’m not merely doing extra work. I may be making the wrong decision, or at least, a non-optimal decision.”</a:t>
            </a:r>
          </a:p>
          <a:p>
            <a:endParaRPr lang="en-US" dirty="0"/>
          </a:p>
          <a:p>
            <a:r>
              <a:rPr lang="en-US" dirty="0"/>
              <a:t>Then ask the second question:</a:t>
            </a:r>
          </a:p>
          <a:p>
            <a:endParaRPr lang="en-US" dirty="0"/>
          </a:p>
          <a:p>
            <a:r>
              <a:rPr lang="en-US" i="1" dirty="0"/>
              <a:t>“But does the realizing agent have to wait passively for information to arrive?”</a:t>
            </a:r>
          </a:p>
          <a:p>
            <a:r>
              <a:rPr lang="en-US" dirty="0"/>
              <a:t>Draw out experimentation. If needed:</a:t>
            </a:r>
          </a:p>
          <a:p>
            <a:r>
              <a:rPr lang="en-US" i="1" dirty="0"/>
              <a:t>“Suppose it has three plausible implementations. What could it do?”</a:t>
            </a:r>
          </a:p>
          <a:p>
            <a:r>
              <a:rPr lang="en-US" dirty="0"/>
              <a:t>Look for: implement them, run them, benchmark, test, measure, tune.</a:t>
            </a:r>
          </a:p>
          <a:p>
            <a:r>
              <a:rPr lang="en-US" dirty="0"/>
              <a:t>Then:</a:t>
            </a:r>
          </a:p>
          <a:p>
            <a:endParaRPr lang="en-US" dirty="0"/>
          </a:p>
          <a:p>
            <a:r>
              <a:rPr lang="en-US" i="1" dirty="0"/>
              <a:t>“Exactly. The later decision-maker can also </a:t>
            </a:r>
            <a:r>
              <a:rPr lang="en-US" b="1" i="1" dirty="0"/>
              <a:t>produce information</a:t>
            </a:r>
            <a:r>
              <a:rPr lang="en-US" i="1" dirty="0"/>
              <a:t>. It can run pilots, compare alternatives, benchmark them, tune parameters, and make the choice using evidence.”</a:t>
            </a:r>
          </a:p>
          <a:p>
            <a:endParaRPr lang="en-US" dirty="0"/>
          </a:p>
          <a:p>
            <a:r>
              <a:rPr lang="en-US" dirty="0"/>
              <a:t>Brief qualification:</a:t>
            </a:r>
          </a:p>
          <a:p>
            <a:endParaRPr lang="en-US" dirty="0"/>
          </a:p>
          <a:p>
            <a:r>
              <a:rPr lang="en-US" i="1" dirty="0"/>
              <a:t>“There’s nothing uniquely agentic about that. Human engineers do this. Evolutionary algorithms, </a:t>
            </a:r>
            <a:r>
              <a:rPr lang="en-US" i="1" dirty="0" err="1"/>
              <a:t>autotuners</a:t>
            </a:r>
            <a:r>
              <a:rPr lang="en-US" i="1" dirty="0"/>
              <a:t>, search procedures, compilers, and optimizers do versions of it too. What commodity intelligence changes is how cheaply and broadly we can do this during ordinary realization.”</a:t>
            </a:r>
          </a:p>
          <a:p>
            <a:endParaRPr lang="en-US" dirty="0"/>
          </a:p>
          <a:p>
            <a:r>
              <a:rPr lang="en-US" dirty="0"/>
              <a:t>Then return to the slide:</a:t>
            </a:r>
          </a:p>
          <a:p>
            <a:r>
              <a:rPr lang="en-US" i="1" dirty="0"/>
              <a:t>“So there are actually two costs to over-specifying. One is obvious: we had to encode decisions we didn’t need to encode. The more interesting one is that we </a:t>
            </a:r>
            <a:r>
              <a:rPr lang="en-US" b="1" i="1" dirty="0"/>
              <a:t>spent degrees of freedom too early</a:t>
            </a:r>
            <a:r>
              <a:rPr lang="en-US" i="1" dirty="0"/>
              <a:t>. We took a choice that could have been made later, with better evidence, and committed to it now.”</a:t>
            </a:r>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§2 synthesis: machine-operable semantics → generation challenge → the agentic answer. Agents can cross the realization gap a purposeful model deliberately leaves. Don't teach 'agents should extend the language' — teach promotion of recurring consequential knowledge into durable structure.</a:t>
            </a:r>
          </a:p>
          <a:p>
            <a:endParaRPr dirty="0"/>
          </a:p>
          <a:p>
            <a:r>
              <a:rPr dirty="0"/>
              <a:t>Some relationships are generation, some delegation, some validation back against the model.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82AC-5337-3417-389F-B06B7874B9A9}"/>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91E02092-7AE6-164A-28F3-F1419173C762}"/>
              </a:ext>
            </a:extLst>
          </p:cNvPr>
          <p:cNvSpPr>
            <a:spLocks noGrp="1"/>
          </p:cNvSpPr>
          <p:nvPr>
            <p:ph type="body" idx="1"/>
          </p:nvPr>
        </p:nvSpPr>
        <p:spPr/>
        <p:txBody>
          <a:bodyPr/>
          <a:lstStyle/>
          <a:p>
            <a:r>
              <a:rPr dirty="0"/>
              <a:t>0.5 minutes — </a:t>
            </a:r>
            <a:r>
              <a:rPr i="1" dirty="0"/>
              <a:t>Section break: BOUND.</a:t>
            </a:r>
          </a:p>
          <a:p>
            <a:endParaRPr dirty="0"/>
          </a:p>
          <a:p>
            <a:r>
              <a:rPr dirty="0"/>
              <a:t>- We know the delegation problem. First decide what is being delegated.</a:t>
            </a:r>
          </a:p>
          <a:p>
            <a:r>
              <a:rPr dirty="0"/>
              <a:t>- This is not merely task sizing. It determines which relationships and degrees of freedom another reasoner must handle.</a:t>
            </a:r>
          </a:p>
        </p:txBody>
      </p:sp>
    </p:spTree>
    <p:extLst>
      <p:ext uri="{BB962C8B-B14F-4D97-AF65-F5344CB8AC3E}">
        <p14:creationId xmlns:p14="http://schemas.microsoft.com/office/powerpoint/2010/main" val="10894049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Real screenshot: the Embedded Sensor Node example loaded, viewing the Sensor Firmware SRAM model. Orientation only: the models rail and saved properties (left), the drawn model and its declared purpose (center), inspector and actions (right). Don't tour controls — the next slide starts from an engineering question.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Introduce the agent from the friction, not as a feature checklist. The agent operates the model through </a:t>
            </a:r>
            <a:r>
              <a:rPr dirty="0" err="1"/>
              <a:t>window.mage</a:t>
            </a:r>
            <a:r>
              <a:rPr dirty="0"/>
              <a:t>; the semantic result comes from the model's machinery, and the agent explains it.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0475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060272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26117408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4104994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236494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702346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9374393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420402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0808572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8506799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0483892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339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image" Target="../media/image2.png"/><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theme" Target="../theme/theme2.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2"/>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1364619934"/>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hyperlink" Target="https://docs.google.com/forms/d/1iY1PxTm5UIqieob5FyCqPPYBRVvunLlPIxQ_gkODPHI/edit" TargetMode="External"/><Relationship Id="rId2" Type="http://schemas.openxmlformats.org/officeDocument/2006/relationships/hyperlink" Target="https://chromewebstore.google.com/search/claude" TargetMode="External"/><Relationship Id="rId1" Type="http://schemas.openxmlformats.org/officeDocument/2006/relationships/slideLayout" Target="../slideLayouts/slideLayout14.xml"/><Relationship Id="rId5" Type="http://schemas.openxmlformats.org/officeDocument/2006/relationships/image" Target="../media/image7.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27C8242-DA59-6BF9-DDD4-4B1E7DCF142A}"/>
              </a:ext>
            </a:extLst>
          </p:cNvPr>
          <p:cNvSpPr>
            <a:spLocks noGrp="1"/>
          </p:cNvSpPr>
          <p:nvPr>
            <p:ph type="ctrTitle"/>
          </p:nvPr>
        </p:nvSpPr>
        <p:spPr>
          <a:xfrm>
            <a:off x="1127125" y="2078038"/>
            <a:ext cx="7031038" cy="2448242"/>
          </a:xfrm>
        </p:spPr>
        <p:txBody>
          <a:bodyPr>
            <a:normAutofit fontScale="90000"/>
          </a:bodyPr>
          <a:lstStyle/>
          <a:p>
            <a:r>
              <a:rPr lang="en-US" dirty="0"/>
              <a:t>Modeling 2: Degrees of Semantic Commitment</a:t>
            </a:r>
            <a:br>
              <a:rPr lang="en-US" dirty="0"/>
            </a:br>
            <a:br>
              <a:rPr lang="en-US" dirty="0"/>
            </a:br>
            <a:r>
              <a:rPr lang="en-US" i="1" dirty="0"/>
              <a:t>Prof. James C. Davis</a:t>
            </a:r>
            <a:br>
              <a:rPr lang="en-US" i="1" dirty="0"/>
            </a:br>
            <a:r>
              <a:rPr lang="en-US" i="1" dirty="0"/>
              <a:t>Prof. Steve France</a:t>
            </a:r>
            <a:br>
              <a:rPr lang="en-US" i="1" dirty="0"/>
            </a:br>
            <a:endParaRPr lang="en-US" dirty="0"/>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TextBox 2">
            <a:extLst>
              <a:ext uri="{FF2B5EF4-FFF2-40B4-BE49-F238E27FC236}">
                <a16:creationId xmlns:a16="http://schemas.microsoft.com/office/drawing/2014/main" id="{AEE3BDBC-95FD-1558-408F-2A8CF7F5B80F}"/>
              </a:ext>
            </a:extLst>
          </p:cNvPr>
          <p:cNvSpPr txBox="1"/>
          <p:nvPr/>
        </p:nvSpPr>
        <p:spPr>
          <a:xfrm>
            <a:off x="457200" y="4526280"/>
            <a:ext cx="8229600" cy="492443"/>
          </a:xfrm>
          <a:prstGeom prst="rect">
            <a:avLst/>
          </a:prstGeom>
          <a:noFill/>
        </p:spPr>
        <p:txBody>
          <a:bodyPr wrap="square" lIns="0" tIns="0" rIns="0" bIns="0" anchor="t">
            <a:spAutoFit/>
          </a:bodyPr>
          <a:lstStyle/>
          <a:p>
            <a:pPr algn="ctr"/>
            <a:r>
              <a:rPr sz="1600" b="0" i="0" dirty="0">
                <a:solidFill>
                  <a:srgbClr val="353638"/>
                </a:solidFill>
                <a:latin typeface="Calibri"/>
              </a:rPr>
              <a:t>Lecture 1: Purposeful reduction — what must the model preserve?</a:t>
            </a:r>
          </a:p>
          <a:p>
            <a:pPr algn="ctr"/>
            <a:r>
              <a:rPr sz="1600" b="1" i="1" dirty="0">
                <a:solidFill>
                  <a:srgbClr val="353638"/>
                </a:solidFill>
                <a:latin typeface="Calibri"/>
              </a:rPr>
              <a:t>Lecture 2 (today): Semantic</a:t>
            </a:r>
            <a:r>
              <a:rPr lang="en-US" sz="1600" b="1" i="1" dirty="0">
                <a:solidFill>
                  <a:srgbClr val="353638"/>
                </a:solidFill>
                <a:latin typeface="Calibri"/>
              </a:rPr>
              <a:t>s</a:t>
            </a:r>
            <a:r>
              <a:rPr sz="1600" b="1" i="1" dirty="0">
                <a:solidFill>
                  <a:srgbClr val="353638"/>
                </a:solidFill>
                <a:latin typeface="Calibri"/>
              </a:rPr>
              <a:t> and a modeling laboratory.</a:t>
            </a:r>
          </a:p>
        </p:txBody>
      </p:sp>
    </p:spTree>
    <p:extLst>
      <p:ext uri="{BB962C8B-B14F-4D97-AF65-F5344CB8AC3E}">
        <p14:creationId xmlns:p14="http://schemas.microsoft.com/office/powerpoint/2010/main" val="1923451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sz="2400" b="0" i="0" spc="140" dirty="0">
                <a:solidFill>
                  <a:srgbClr val="353638"/>
                </a:solidFill>
                <a:latin typeface="Calibri"/>
              </a:rPr>
              <a:t>Last time: </a:t>
            </a:r>
            <a:r>
              <a:rPr lang="en-US" sz="2400" b="0" i="0" spc="140" dirty="0">
                <a:solidFill>
                  <a:srgbClr val="353638"/>
                </a:solidFill>
                <a:latin typeface="Calibri"/>
              </a:rPr>
              <a:t>P</a:t>
            </a:r>
            <a:r>
              <a:rPr sz="2400" b="0" i="0" spc="140" dirty="0">
                <a:solidFill>
                  <a:srgbClr val="353638"/>
                </a:solidFill>
                <a:latin typeface="Calibri"/>
              </a:rPr>
              <a:t>urposeful reduction</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05840"/>
            <a:ext cx="8046720" cy="929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10000"/>
              </a:lnSpc>
            </a:pPr>
            <a:r>
              <a:rPr sz="2000" b="0" i="1">
                <a:solidFill>
                  <a:srgbClr val="5C4826"/>
                </a:solidFill>
                <a:latin typeface="Calibri"/>
              </a:rPr>
              <a:t>An engineering model preserves the distinctions required by a question</a:t>
            </a:r>
          </a:p>
          <a:p>
            <a:pPr algn="ctr">
              <a:lnSpc>
                <a:spcPct val="110000"/>
              </a:lnSpc>
            </a:pPr>
            <a:r>
              <a:rPr sz="2000" b="0" i="1">
                <a:solidFill>
                  <a:srgbClr val="5C4826"/>
                </a:solidFill>
                <a:latin typeface="Calibri"/>
              </a:rPr>
              <a:t>and deliberately leaves other choices free.</a:t>
            </a:r>
          </a:p>
        </p:txBody>
      </p:sp>
      <p:sp>
        <p:nvSpPr>
          <p:cNvPr id="5" name="Rectangle 4"/>
          <p:cNvSpPr/>
          <p:nvPr/>
        </p:nvSpPr>
        <p:spPr>
          <a:xfrm>
            <a:off x="764177" y="2299282"/>
            <a:ext cx="1691640" cy="59131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ENGINEERING</a:t>
            </a:r>
          </a:p>
          <a:p>
            <a:pPr algn="ctr"/>
            <a:r>
              <a:rPr sz="1800" b="1" i="0" dirty="0">
                <a:solidFill>
                  <a:srgbClr val="FFFFFF"/>
                </a:solidFill>
                <a:latin typeface="Calibri"/>
              </a:rPr>
              <a:t>QUESTION</a:t>
            </a:r>
          </a:p>
        </p:txBody>
      </p:sp>
      <p:sp>
        <p:nvSpPr>
          <p:cNvPr id="6" name="Right Arrow 5"/>
          <p:cNvSpPr/>
          <p:nvPr/>
        </p:nvSpPr>
        <p:spPr>
          <a:xfrm>
            <a:off x="2519825" y="2453206"/>
            <a:ext cx="274320" cy="201168"/>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839865" y="2279470"/>
            <a:ext cx="1417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MODEL</a:t>
            </a:r>
          </a:p>
        </p:txBody>
      </p:sp>
      <p:sp>
        <p:nvSpPr>
          <p:cNvPr id="8" name="Right Arrow 7"/>
          <p:cNvSpPr/>
          <p:nvPr/>
        </p:nvSpPr>
        <p:spPr>
          <a:xfrm>
            <a:off x="4321193" y="2453206"/>
            <a:ext cx="274320" cy="201168"/>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641233" y="2279470"/>
            <a:ext cx="1417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PROPERTY</a:t>
            </a:r>
          </a:p>
        </p:txBody>
      </p:sp>
      <p:sp>
        <p:nvSpPr>
          <p:cNvPr id="10" name="Right Arrow 9"/>
          <p:cNvSpPr/>
          <p:nvPr/>
        </p:nvSpPr>
        <p:spPr>
          <a:xfrm>
            <a:off x="6122561" y="2453206"/>
            <a:ext cx="274320" cy="201168"/>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42601" y="2279470"/>
            <a:ext cx="1417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QUALITY</a:t>
            </a:r>
          </a:p>
        </p:txBody>
      </p:sp>
      <p:sp>
        <p:nvSpPr>
          <p:cNvPr id="12" name="TextBox 11"/>
          <p:cNvSpPr txBox="1"/>
          <p:nvPr/>
        </p:nvSpPr>
        <p:spPr>
          <a:xfrm>
            <a:off x="755033" y="3099751"/>
            <a:ext cx="7132320" cy="276999"/>
          </a:xfrm>
          <a:prstGeom prst="rect">
            <a:avLst/>
          </a:prstGeom>
          <a:noFill/>
        </p:spPr>
        <p:txBody>
          <a:bodyPr wrap="square" lIns="0" tIns="0" rIns="0" bIns="0" anchor="t">
            <a:spAutoFit/>
          </a:bodyPr>
          <a:lstStyle/>
          <a:p>
            <a:r>
              <a:rPr lang="en-US" sz="1800" b="0" i="1" dirty="0">
                <a:solidFill>
                  <a:srgbClr val="555960"/>
                </a:solidFill>
                <a:latin typeface="Calibri"/>
              </a:rPr>
              <a:t>E</a:t>
            </a:r>
            <a:r>
              <a:rPr sz="1800" b="0" i="1" dirty="0">
                <a:solidFill>
                  <a:srgbClr val="555960"/>
                </a:solidFill>
                <a:latin typeface="Calibri"/>
              </a:rPr>
              <a:t>very model starts from a question</a:t>
            </a:r>
            <a:r>
              <a:rPr lang="en-US" sz="1800" b="0" i="1" dirty="0">
                <a:solidFill>
                  <a:srgbClr val="555960"/>
                </a:solidFill>
                <a:latin typeface="Calibri"/>
              </a:rPr>
              <a:t> or property</a:t>
            </a:r>
            <a:endParaRPr sz="1800" b="0" i="1" dirty="0">
              <a:solidFill>
                <a:srgbClr val="555960"/>
              </a:solidFill>
              <a:latin typeface="Calibri"/>
            </a:endParaRPr>
          </a:p>
        </p:txBody>
      </p:sp>
      <p:sp>
        <p:nvSpPr>
          <p:cNvPr id="13" name="Rectangle 12"/>
          <p:cNvSpPr/>
          <p:nvPr/>
        </p:nvSpPr>
        <p:spPr>
          <a:xfrm>
            <a:off x="535577" y="3644540"/>
            <a:ext cx="3931920" cy="24688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764177" y="3827420"/>
            <a:ext cx="3474720" cy="274320"/>
          </a:xfrm>
          <a:prstGeom prst="rect">
            <a:avLst/>
          </a:prstGeom>
          <a:noFill/>
        </p:spPr>
        <p:txBody>
          <a:bodyPr wrap="square" lIns="0" tIns="0" rIns="0" bIns="0" anchor="t">
            <a:spAutoFit/>
          </a:bodyPr>
          <a:lstStyle/>
          <a:p>
            <a:pPr algn="l"/>
            <a:r>
              <a:rPr sz="1800" b="1" i="0" spc="100">
                <a:solidFill>
                  <a:srgbClr val="8E6F3E"/>
                </a:solidFill>
                <a:latin typeface="Calibri"/>
              </a:rPr>
              <a:t>WHAT THE MODEL PRESERVES</a:t>
            </a:r>
          </a:p>
        </p:txBody>
      </p:sp>
      <p:sp>
        <p:nvSpPr>
          <p:cNvPr id="15" name="TextBox 14"/>
          <p:cNvSpPr txBox="1"/>
          <p:nvPr/>
        </p:nvSpPr>
        <p:spPr>
          <a:xfrm>
            <a:off x="649877" y="4193180"/>
            <a:ext cx="3703320" cy="1255472"/>
          </a:xfrm>
          <a:prstGeom prst="rect">
            <a:avLst/>
          </a:prstGeom>
          <a:noFill/>
        </p:spPr>
        <p:txBody>
          <a:bodyPr wrap="square" lIns="0" tIns="0" rIns="0" bIns="0" anchor="t">
            <a:spAutoFit/>
          </a:bodyPr>
          <a:lstStyle/>
          <a:p>
            <a:pPr algn="l">
              <a:lnSpc>
                <a:spcPct val="115000"/>
              </a:lnSpc>
            </a:pPr>
            <a:r>
              <a:rPr sz="1800" b="0" i="0" dirty="0">
                <a:solidFill>
                  <a:srgbClr val="353638"/>
                </a:solidFill>
                <a:latin typeface="Calibri"/>
              </a:rPr>
              <a:t>The distinctions the question requires:</a:t>
            </a:r>
          </a:p>
          <a:p>
            <a:pPr marL="285750" indent="-285750" algn="l">
              <a:lnSpc>
                <a:spcPct val="115000"/>
              </a:lnSpc>
              <a:buFont typeface="Arial" panose="020B0604020202020204" pitchFamily="34" charset="0"/>
              <a:buChar char="•"/>
            </a:pPr>
            <a:r>
              <a:rPr lang="en-US" dirty="0">
                <a:solidFill>
                  <a:srgbClr val="353638"/>
                </a:solidFill>
                <a:latin typeface="Calibri"/>
              </a:rPr>
              <a:t>S</a:t>
            </a:r>
            <a:r>
              <a:rPr sz="1800" b="0" i="0" dirty="0">
                <a:solidFill>
                  <a:srgbClr val="353638"/>
                </a:solidFill>
                <a:latin typeface="Calibri"/>
              </a:rPr>
              <a:t>tates and forbidden transitions</a:t>
            </a:r>
            <a:endParaRPr lang="en-US" dirty="0">
              <a:solidFill>
                <a:srgbClr val="353638"/>
              </a:solidFill>
              <a:latin typeface="Calibri"/>
            </a:endParaRPr>
          </a:p>
          <a:p>
            <a:pPr marL="285750" indent="-285750" algn="l">
              <a:lnSpc>
                <a:spcPct val="115000"/>
              </a:lnSpc>
              <a:buFont typeface="Arial" panose="020B0604020202020204" pitchFamily="34" charset="0"/>
              <a:buChar char="•"/>
            </a:pPr>
            <a:r>
              <a:rPr lang="en-US" sz="1800" b="0" i="0" dirty="0">
                <a:solidFill>
                  <a:srgbClr val="353638"/>
                </a:solidFill>
                <a:latin typeface="Calibri"/>
              </a:rPr>
              <a:t>T</a:t>
            </a:r>
            <a:r>
              <a:rPr sz="1800" b="0" i="0" dirty="0">
                <a:solidFill>
                  <a:srgbClr val="353638"/>
                </a:solidFill>
                <a:latin typeface="Calibri"/>
              </a:rPr>
              <a:t>yped</a:t>
            </a:r>
            <a:r>
              <a:rPr lang="en-US" dirty="0">
                <a:solidFill>
                  <a:srgbClr val="353638"/>
                </a:solidFill>
                <a:latin typeface="Calibri"/>
              </a:rPr>
              <a:t> </a:t>
            </a:r>
            <a:r>
              <a:rPr sz="1800" b="0" i="0" dirty="0">
                <a:solidFill>
                  <a:srgbClr val="353638"/>
                </a:solidFill>
                <a:latin typeface="Calibri"/>
              </a:rPr>
              <a:t>relations</a:t>
            </a:r>
            <a:endParaRPr lang="en-US" sz="1800" b="0" i="0" dirty="0">
              <a:solidFill>
                <a:srgbClr val="353638"/>
              </a:solidFill>
              <a:latin typeface="Calibri"/>
            </a:endParaRPr>
          </a:p>
          <a:p>
            <a:pPr marL="285750" indent="-285750" algn="l">
              <a:lnSpc>
                <a:spcPct val="115000"/>
              </a:lnSpc>
              <a:buFont typeface="Arial" panose="020B0604020202020204" pitchFamily="34" charset="0"/>
              <a:buChar char="•"/>
            </a:pPr>
            <a:r>
              <a:rPr lang="en-US" dirty="0">
                <a:solidFill>
                  <a:srgbClr val="353638"/>
                </a:solidFill>
                <a:latin typeface="Calibri"/>
              </a:rPr>
              <a:t>Q</a:t>
            </a:r>
            <a:r>
              <a:rPr sz="1800" b="0" i="0" dirty="0">
                <a:solidFill>
                  <a:srgbClr val="353638"/>
                </a:solidFill>
                <a:latin typeface="Calibri"/>
              </a:rPr>
              <a:t>uantities and bounds</a:t>
            </a:r>
          </a:p>
        </p:txBody>
      </p:sp>
      <p:sp>
        <p:nvSpPr>
          <p:cNvPr id="16" name="Rectangle 15"/>
          <p:cNvSpPr/>
          <p:nvPr/>
        </p:nvSpPr>
        <p:spPr>
          <a:xfrm>
            <a:off x="4650377" y="3644539"/>
            <a:ext cx="4160520" cy="2468879"/>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4878977" y="3827420"/>
            <a:ext cx="3474720" cy="274320"/>
          </a:xfrm>
          <a:prstGeom prst="rect">
            <a:avLst/>
          </a:prstGeom>
          <a:noFill/>
        </p:spPr>
        <p:txBody>
          <a:bodyPr wrap="square" lIns="0" tIns="0" rIns="0" bIns="0" anchor="t">
            <a:spAutoFit/>
          </a:bodyPr>
          <a:lstStyle/>
          <a:p>
            <a:pPr algn="l"/>
            <a:r>
              <a:rPr sz="1800" b="1" i="0" spc="100">
                <a:solidFill>
                  <a:srgbClr val="8E6F3E"/>
                </a:solidFill>
                <a:latin typeface="Calibri"/>
              </a:rPr>
              <a:t>WHAT STAYS FREE</a:t>
            </a:r>
          </a:p>
        </p:txBody>
      </p:sp>
      <p:sp>
        <p:nvSpPr>
          <p:cNvPr id="18" name="TextBox 17"/>
          <p:cNvSpPr txBox="1"/>
          <p:nvPr/>
        </p:nvSpPr>
        <p:spPr>
          <a:xfrm>
            <a:off x="4741817" y="4193180"/>
            <a:ext cx="3931920" cy="1255472"/>
          </a:xfrm>
          <a:prstGeom prst="rect">
            <a:avLst/>
          </a:prstGeom>
          <a:noFill/>
        </p:spPr>
        <p:txBody>
          <a:bodyPr wrap="square" lIns="0" tIns="0" rIns="0" bIns="0" anchor="t">
            <a:spAutoFit/>
          </a:bodyPr>
          <a:lstStyle/>
          <a:p>
            <a:pPr marL="285750" indent="-285750" algn="l">
              <a:lnSpc>
                <a:spcPct val="115000"/>
              </a:lnSpc>
              <a:buFont typeface="Arial" panose="020B0604020202020204" pitchFamily="34" charset="0"/>
              <a:buChar char="•"/>
            </a:pPr>
            <a:r>
              <a:rPr lang="en-US" dirty="0">
                <a:solidFill>
                  <a:srgbClr val="353638"/>
                </a:solidFill>
                <a:latin typeface="Calibri"/>
              </a:rPr>
              <a:t>R</a:t>
            </a:r>
            <a:r>
              <a:rPr sz="1800" b="0" i="0" dirty="0">
                <a:solidFill>
                  <a:srgbClr val="353638"/>
                </a:solidFill>
                <a:latin typeface="Calibri"/>
              </a:rPr>
              <a:t>ealization choices</a:t>
            </a:r>
            <a:r>
              <a:rPr lang="en-US" sz="1800" b="0" i="0" dirty="0">
                <a:solidFill>
                  <a:srgbClr val="353638"/>
                </a:solidFill>
                <a:latin typeface="Calibri"/>
              </a:rPr>
              <a:t> </a:t>
            </a:r>
            <a:r>
              <a:rPr sz="1800" b="0" i="0" dirty="0">
                <a:solidFill>
                  <a:srgbClr val="353638"/>
                </a:solidFill>
                <a:latin typeface="Calibri"/>
              </a:rPr>
              <a:t>the model </a:t>
            </a:r>
            <a:r>
              <a:rPr lang="en-US" sz="1800" b="0" i="0" dirty="0">
                <a:solidFill>
                  <a:srgbClr val="353638"/>
                </a:solidFill>
                <a:latin typeface="Calibri"/>
              </a:rPr>
              <a:t>omits</a:t>
            </a:r>
            <a:endParaRPr sz="1800" b="0" i="0" dirty="0">
              <a:solidFill>
                <a:srgbClr val="353638"/>
              </a:solidFill>
              <a:latin typeface="Calibri"/>
            </a:endParaRPr>
          </a:p>
          <a:p>
            <a:pPr marL="285750" indent="-285750" algn="l">
              <a:lnSpc>
                <a:spcPct val="115000"/>
              </a:lnSpc>
              <a:buFont typeface="Arial" panose="020B0604020202020204" pitchFamily="34" charset="0"/>
              <a:buChar char="•"/>
            </a:pPr>
            <a:r>
              <a:rPr lang="en-US" dirty="0">
                <a:solidFill>
                  <a:srgbClr val="353638"/>
                </a:solidFill>
                <a:latin typeface="Calibri"/>
              </a:rPr>
              <a:t>A</a:t>
            </a:r>
            <a:r>
              <a:rPr sz="1800" b="0" i="0" dirty="0">
                <a:solidFill>
                  <a:srgbClr val="353638"/>
                </a:solidFill>
                <a:latin typeface="Calibri"/>
              </a:rPr>
              <a:t>lgorithms, data structures</a:t>
            </a:r>
            <a:endParaRPr lang="en-US" dirty="0">
              <a:solidFill>
                <a:srgbClr val="353638"/>
              </a:solidFill>
              <a:latin typeface="Calibri"/>
            </a:endParaRPr>
          </a:p>
          <a:p>
            <a:pPr marL="285750" indent="-285750">
              <a:lnSpc>
                <a:spcPct val="115000"/>
              </a:lnSpc>
              <a:buFont typeface="Arial" panose="020B0604020202020204" pitchFamily="34" charset="0"/>
              <a:buChar char="•"/>
            </a:pPr>
            <a:r>
              <a:rPr lang="en-US" dirty="0">
                <a:solidFill>
                  <a:srgbClr val="353638"/>
                </a:solidFill>
              </a:rPr>
              <a:t>Decomposition</a:t>
            </a:r>
            <a:endParaRPr lang="en-US" dirty="0">
              <a:solidFill>
                <a:srgbClr val="353638"/>
              </a:solidFill>
              <a:latin typeface="Calibri"/>
            </a:endParaRPr>
          </a:p>
          <a:p>
            <a:pPr marL="285750" indent="-285750" algn="l">
              <a:lnSpc>
                <a:spcPct val="115000"/>
              </a:lnSpc>
              <a:buFont typeface="Arial" panose="020B0604020202020204" pitchFamily="34" charset="0"/>
              <a:buChar char="•"/>
            </a:pPr>
            <a:r>
              <a:rPr lang="en-US" dirty="0">
                <a:solidFill>
                  <a:srgbClr val="353638"/>
                </a:solidFill>
                <a:latin typeface="Calibri"/>
              </a:rPr>
              <a:t>N</a:t>
            </a:r>
            <a:r>
              <a:rPr sz="1800" b="0" i="0" dirty="0">
                <a:solidFill>
                  <a:srgbClr val="353638"/>
                </a:solidFill>
                <a:latin typeface="Calibri"/>
              </a:rPr>
              <a:t>amin</a:t>
            </a:r>
            <a:r>
              <a:rPr lang="en-US" sz="1800" b="0" i="0" dirty="0">
                <a:solidFill>
                  <a:srgbClr val="353638"/>
                </a:solidFill>
                <a:latin typeface="Calibri"/>
              </a:rPr>
              <a:t>g</a:t>
            </a:r>
            <a:endParaRPr sz="1800" b="0" i="0" dirty="0">
              <a:solidFill>
                <a:srgbClr val="353638"/>
              </a:solidFill>
              <a:latin typeface="Calibri"/>
            </a:endParaRPr>
          </a:p>
        </p:txBody>
      </p:sp>
      <p:sp>
        <p:nvSpPr>
          <p:cNvPr id="20" name="TextBox 19"/>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2</a:t>
            </a:r>
          </a:p>
        </p:txBody>
      </p:sp>
      <p:pic>
        <p:nvPicPr>
          <p:cNvPr id="21" name="Picture 20" descr="image1.png"/>
          <p:cNvPicPr>
            <a:picLocks noChangeAspect="1"/>
          </p:cNvPicPr>
          <p:nvPr/>
        </p:nvPicPr>
        <p:blipFill>
          <a:blip r:embed="rId3"/>
          <a:stretch>
            <a:fillRect/>
          </a:stretch>
        </p:blipFill>
        <p:spPr>
          <a:xfrm>
            <a:off x="8759952" y="6638544"/>
            <a:ext cx="325247" cy="17373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sz="2400" b="0" i="0" spc="140" dirty="0">
                <a:solidFill>
                  <a:srgbClr val="353638"/>
                </a:solidFill>
                <a:latin typeface="Calibri"/>
              </a:rPr>
              <a:t>Today: </a:t>
            </a:r>
            <a:r>
              <a:rPr lang="en-US" sz="2400" b="0" i="0" spc="140" dirty="0">
                <a:solidFill>
                  <a:srgbClr val="353638"/>
                </a:solidFill>
                <a:latin typeface="Calibri"/>
              </a:rPr>
              <a:t>What does a model mean, anyway?</a:t>
            </a:r>
            <a:endParaRPr sz="2400" b="0" i="0"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48640" y="960120"/>
            <a:ext cx="8046720" cy="307777"/>
          </a:xfrm>
          <a:prstGeom prst="rect">
            <a:avLst/>
          </a:prstGeom>
          <a:noFill/>
        </p:spPr>
        <p:txBody>
          <a:bodyPr wrap="square" lIns="0" tIns="0" rIns="0" bIns="0" anchor="t">
            <a:spAutoFit/>
          </a:bodyPr>
          <a:lstStyle/>
          <a:p>
            <a:pPr algn="l"/>
            <a:r>
              <a:rPr lang="en-US" sz="2000" b="0" i="0" dirty="0">
                <a:solidFill>
                  <a:srgbClr val="353638"/>
                </a:solidFill>
                <a:latin typeface="Calibri"/>
              </a:rPr>
              <a:t>Every model must be understood in light of </a:t>
            </a:r>
            <a:r>
              <a:rPr lang="en-US" sz="2000" b="1" dirty="0">
                <a:solidFill>
                  <a:srgbClr val="353638"/>
                </a:solidFill>
                <a:latin typeface="Calibri"/>
              </a:rPr>
              <a:t>TWO QUESTIONS</a:t>
            </a:r>
            <a:endParaRPr sz="2000" b="1" i="0" dirty="0">
              <a:solidFill>
                <a:srgbClr val="353638"/>
              </a:solidFill>
              <a:latin typeface="Calibri"/>
            </a:endParaRPr>
          </a:p>
        </p:txBody>
      </p:sp>
      <p:sp>
        <p:nvSpPr>
          <p:cNvPr id="5" name="Rectangle 4"/>
          <p:cNvSpPr/>
          <p:nvPr/>
        </p:nvSpPr>
        <p:spPr>
          <a:xfrm>
            <a:off x="228600" y="1342527"/>
            <a:ext cx="3931920" cy="1371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457200" y="1479687"/>
            <a:ext cx="3474720" cy="548640"/>
          </a:xfrm>
          <a:prstGeom prst="rect">
            <a:avLst/>
          </a:prstGeom>
          <a:noFill/>
        </p:spPr>
        <p:txBody>
          <a:bodyPr wrap="square" lIns="0" tIns="0" rIns="0" bIns="0" anchor="t">
            <a:spAutoFit/>
          </a:bodyPr>
          <a:lstStyle/>
          <a:p>
            <a:pPr algn="l">
              <a:lnSpc>
                <a:spcPct val="105000"/>
              </a:lnSpc>
            </a:pPr>
            <a:r>
              <a:rPr sz="2000" b="1" i="0">
                <a:solidFill>
                  <a:srgbClr val="5C4826"/>
                </a:solidFill>
                <a:latin typeface="Calibri"/>
              </a:rPr>
              <a:t>What distinctions does</a:t>
            </a:r>
          </a:p>
          <a:p>
            <a:pPr algn="l">
              <a:lnSpc>
                <a:spcPct val="105000"/>
              </a:lnSpc>
            </a:pPr>
            <a:r>
              <a:rPr sz="2000" b="1" i="0">
                <a:solidFill>
                  <a:srgbClr val="5C4826"/>
                </a:solidFill>
                <a:latin typeface="Calibri"/>
              </a:rPr>
              <a:t>the model preserve?</a:t>
            </a:r>
          </a:p>
        </p:txBody>
      </p:sp>
      <p:sp>
        <p:nvSpPr>
          <p:cNvPr id="7" name="TextBox 6"/>
          <p:cNvSpPr txBox="1"/>
          <p:nvPr/>
        </p:nvSpPr>
        <p:spPr>
          <a:xfrm>
            <a:off x="457200" y="2211207"/>
            <a:ext cx="3474720" cy="276999"/>
          </a:xfrm>
          <a:prstGeom prst="rect">
            <a:avLst/>
          </a:prstGeom>
          <a:noFill/>
        </p:spPr>
        <p:txBody>
          <a:bodyPr wrap="square" lIns="0" tIns="0" rIns="0" bIns="0" anchor="t">
            <a:spAutoFit/>
          </a:bodyPr>
          <a:lstStyle/>
          <a:p>
            <a:pPr algn="l"/>
            <a:r>
              <a:rPr lang="en-US" i="1" dirty="0">
                <a:solidFill>
                  <a:srgbClr val="8E6F3E"/>
                </a:solidFill>
                <a:latin typeface="Calibri"/>
              </a:rPr>
              <a:t>P</a:t>
            </a:r>
            <a:r>
              <a:rPr sz="1800" b="0" i="1" dirty="0">
                <a:solidFill>
                  <a:srgbClr val="8E6F3E"/>
                </a:solidFill>
                <a:latin typeface="Calibri"/>
              </a:rPr>
              <a:t>urposeful reduction — Lecture 1</a:t>
            </a:r>
          </a:p>
        </p:txBody>
      </p:sp>
      <p:sp>
        <p:nvSpPr>
          <p:cNvPr id="8" name="Rectangle 7"/>
          <p:cNvSpPr/>
          <p:nvPr/>
        </p:nvSpPr>
        <p:spPr>
          <a:xfrm>
            <a:off x="4343400" y="1342527"/>
            <a:ext cx="4480560" cy="1371600"/>
          </a:xfrm>
          <a:prstGeom prst="rect">
            <a:avLst/>
          </a:prstGeom>
          <a:solidFill>
            <a:srgbClr val="F5F1E8"/>
          </a:solidFill>
          <a:ln w="1905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4571999" y="1479687"/>
            <a:ext cx="4193159" cy="633250"/>
          </a:xfrm>
          <a:prstGeom prst="rect">
            <a:avLst/>
          </a:prstGeom>
          <a:noFill/>
        </p:spPr>
        <p:txBody>
          <a:bodyPr wrap="square" lIns="0" tIns="0" rIns="0" bIns="0" anchor="t">
            <a:spAutoFit/>
          </a:bodyPr>
          <a:lstStyle/>
          <a:p>
            <a:pPr algn="l">
              <a:lnSpc>
                <a:spcPct val="105000"/>
              </a:lnSpc>
            </a:pPr>
            <a:r>
              <a:rPr sz="2000" b="1" i="0" dirty="0">
                <a:solidFill>
                  <a:srgbClr val="5C4826"/>
                </a:solidFill>
                <a:latin typeface="Calibri"/>
              </a:rPr>
              <a:t>How explicitly does the representation</a:t>
            </a:r>
          </a:p>
          <a:p>
            <a:pPr algn="l">
              <a:lnSpc>
                <a:spcPct val="105000"/>
              </a:lnSpc>
            </a:pPr>
            <a:r>
              <a:rPr sz="2000" b="1" i="0" dirty="0">
                <a:solidFill>
                  <a:srgbClr val="5C4826"/>
                </a:solidFill>
                <a:latin typeface="Calibri"/>
              </a:rPr>
              <a:t>define those distinctions?</a:t>
            </a:r>
          </a:p>
        </p:txBody>
      </p:sp>
      <p:sp>
        <p:nvSpPr>
          <p:cNvPr id="10" name="TextBox 9"/>
          <p:cNvSpPr txBox="1"/>
          <p:nvPr/>
        </p:nvSpPr>
        <p:spPr>
          <a:xfrm>
            <a:off x="4572000" y="2211207"/>
            <a:ext cx="3474720" cy="276999"/>
          </a:xfrm>
          <a:prstGeom prst="rect">
            <a:avLst/>
          </a:prstGeom>
          <a:noFill/>
        </p:spPr>
        <p:txBody>
          <a:bodyPr wrap="square" lIns="0" tIns="0" rIns="0" bIns="0" anchor="t">
            <a:spAutoFit/>
          </a:bodyPr>
          <a:lstStyle/>
          <a:p>
            <a:pPr algn="l"/>
            <a:r>
              <a:rPr lang="en-US" i="1" dirty="0">
                <a:solidFill>
                  <a:srgbClr val="8E6F3E"/>
                </a:solidFill>
                <a:latin typeface="Calibri"/>
              </a:rPr>
              <a:t>S</a:t>
            </a:r>
            <a:r>
              <a:rPr lang="en-US" sz="1800" b="0" i="1" dirty="0">
                <a:solidFill>
                  <a:srgbClr val="8E6F3E"/>
                </a:solidFill>
                <a:latin typeface="Calibri"/>
              </a:rPr>
              <a:t>emantic commitment — Today</a:t>
            </a:r>
          </a:p>
        </p:txBody>
      </p:sp>
      <p:sp>
        <p:nvSpPr>
          <p:cNvPr id="11" name="Rectangle 10"/>
          <p:cNvSpPr/>
          <p:nvPr/>
        </p:nvSpPr>
        <p:spPr>
          <a:xfrm>
            <a:off x="339634" y="3210553"/>
            <a:ext cx="12801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SECTION 1</a:t>
            </a:r>
          </a:p>
        </p:txBody>
      </p:sp>
      <p:sp>
        <p:nvSpPr>
          <p:cNvPr id="12" name="TextBox 11"/>
          <p:cNvSpPr txBox="1"/>
          <p:nvPr/>
        </p:nvSpPr>
        <p:spPr>
          <a:xfrm>
            <a:off x="1750422" y="3226528"/>
            <a:ext cx="3931920" cy="566928"/>
          </a:xfrm>
          <a:prstGeom prst="rect">
            <a:avLst/>
          </a:prstGeom>
          <a:noFill/>
        </p:spPr>
        <p:txBody>
          <a:bodyPr wrap="square" lIns="0" tIns="0" rIns="0" bIns="0" anchor="ctr">
            <a:spAutoFit/>
          </a:bodyPr>
          <a:lstStyle/>
          <a:p>
            <a:pPr algn="l"/>
            <a:r>
              <a:rPr sz="2000" b="1" i="0">
                <a:solidFill>
                  <a:srgbClr val="353638"/>
                </a:solidFill>
                <a:latin typeface="Calibri"/>
              </a:rPr>
              <a:t>Degrees of Semantic Commitment</a:t>
            </a:r>
          </a:p>
        </p:txBody>
      </p:sp>
      <p:sp>
        <p:nvSpPr>
          <p:cNvPr id="13" name="TextBox 12"/>
          <p:cNvSpPr txBox="1"/>
          <p:nvPr/>
        </p:nvSpPr>
        <p:spPr>
          <a:xfrm>
            <a:off x="5590902" y="3384256"/>
            <a:ext cx="3474720" cy="276999"/>
          </a:xfrm>
          <a:prstGeom prst="rect">
            <a:avLst/>
          </a:prstGeom>
          <a:noFill/>
        </p:spPr>
        <p:txBody>
          <a:bodyPr wrap="square" lIns="0" tIns="0" rIns="0" bIns="0" anchor="ctr">
            <a:spAutoFit/>
          </a:bodyPr>
          <a:lstStyle/>
          <a:p>
            <a:pPr algn="l">
              <a:lnSpc>
                <a:spcPct val="100000"/>
              </a:lnSpc>
            </a:pPr>
            <a:r>
              <a:rPr sz="1800" b="0" i="1" dirty="0">
                <a:solidFill>
                  <a:srgbClr val="555960"/>
                </a:solidFill>
                <a:latin typeface="Calibri"/>
              </a:rPr>
              <a:t>What does the representation mean?</a:t>
            </a:r>
          </a:p>
        </p:txBody>
      </p:sp>
      <p:sp>
        <p:nvSpPr>
          <p:cNvPr id="14" name="Rectangle 13"/>
          <p:cNvSpPr/>
          <p:nvPr/>
        </p:nvSpPr>
        <p:spPr>
          <a:xfrm>
            <a:off x="339634" y="3942072"/>
            <a:ext cx="12801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SECTION 2</a:t>
            </a:r>
          </a:p>
        </p:txBody>
      </p:sp>
      <p:sp>
        <p:nvSpPr>
          <p:cNvPr id="15" name="TextBox 14"/>
          <p:cNvSpPr txBox="1"/>
          <p:nvPr/>
        </p:nvSpPr>
        <p:spPr>
          <a:xfrm>
            <a:off x="1750422" y="3958047"/>
            <a:ext cx="3931920" cy="566928"/>
          </a:xfrm>
          <a:prstGeom prst="rect">
            <a:avLst/>
          </a:prstGeom>
          <a:noFill/>
        </p:spPr>
        <p:txBody>
          <a:bodyPr wrap="square" lIns="0" tIns="0" rIns="0" bIns="0" anchor="ctr">
            <a:spAutoFit/>
          </a:bodyPr>
          <a:lstStyle/>
          <a:p>
            <a:pPr algn="l"/>
            <a:r>
              <a:rPr sz="2000" b="1" i="0">
                <a:solidFill>
                  <a:srgbClr val="353638"/>
                </a:solidFill>
                <a:latin typeface="Calibri"/>
              </a:rPr>
              <a:t>Engineering with Semantic Models</a:t>
            </a:r>
          </a:p>
        </p:txBody>
      </p:sp>
      <p:sp>
        <p:nvSpPr>
          <p:cNvPr id="16" name="TextBox 15"/>
          <p:cNvSpPr txBox="1"/>
          <p:nvPr/>
        </p:nvSpPr>
        <p:spPr>
          <a:xfrm>
            <a:off x="5590902" y="3996938"/>
            <a:ext cx="3291840" cy="566928"/>
          </a:xfrm>
          <a:prstGeom prst="rect">
            <a:avLst/>
          </a:prstGeom>
          <a:noFill/>
        </p:spPr>
        <p:txBody>
          <a:bodyPr wrap="square" lIns="0" tIns="0" rIns="0" bIns="0" anchor="ctr">
            <a:spAutoFit/>
          </a:bodyPr>
          <a:lstStyle/>
          <a:p>
            <a:pPr algn="l">
              <a:lnSpc>
                <a:spcPct val="100000"/>
              </a:lnSpc>
            </a:pPr>
            <a:r>
              <a:rPr sz="1800" b="0" i="1" dirty="0">
                <a:solidFill>
                  <a:srgbClr val="555960"/>
                </a:solidFill>
                <a:latin typeface="Calibri"/>
              </a:rPr>
              <a:t>What can we do because it means that?</a:t>
            </a:r>
          </a:p>
        </p:txBody>
      </p:sp>
      <p:sp>
        <p:nvSpPr>
          <p:cNvPr id="17" name="Rectangle 16"/>
          <p:cNvSpPr/>
          <p:nvPr/>
        </p:nvSpPr>
        <p:spPr>
          <a:xfrm>
            <a:off x="339634" y="4673592"/>
            <a:ext cx="12801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SECTION 3</a:t>
            </a:r>
          </a:p>
        </p:txBody>
      </p:sp>
      <p:sp>
        <p:nvSpPr>
          <p:cNvPr id="18" name="TextBox 17"/>
          <p:cNvSpPr txBox="1"/>
          <p:nvPr/>
        </p:nvSpPr>
        <p:spPr>
          <a:xfrm>
            <a:off x="1750422" y="4689567"/>
            <a:ext cx="3931920" cy="566928"/>
          </a:xfrm>
          <a:prstGeom prst="rect">
            <a:avLst/>
          </a:prstGeom>
          <a:noFill/>
        </p:spPr>
        <p:txBody>
          <a:bodyPr wrap="square" lIns="0" tIns="0" rIns="0" bIns="0" anchor="ctr">
            <a:spAutoFit/>
          </a:bodyPr>
          <a:lstStyle/>
          <a:p>
            <a:pPr algn="l"/>
            <a:r>
              <a:rPr sz="2000" b="1" i="0">
                <a:solidFill>
                  <a:srgbClr val="353638"/>
                </a:solidFill>
                <a:latin typeface="Calibri"/>
              </a:rPr>
              <a:t>Working with Semantic Models</a:t>
            </a:r>
          </a:p>
        </p:txBody>
      </p:sp>
      <p:sp>
        <p:nvSpPr>
          <p:cNvPr id="19" name="TextBox 18"/>
          <p:cNvSpPr txBox="1"/>
          <p:nvPr/>
        </p:nvSpPr>
        <p:spPr>
          <a:xfrm>
            <a:off x="5590902" y="4728457"/>
            <a:ext cx="3291840" cy="676655"/>
          </a:xfrm>
          <a:prstGeom prst="rect">
            <a:avLst/>
          </a:prstGeom>
          <a:noFill/>
        </p:spPr>
        <p:txBody>
          <a:bodyPr wrap="square" lIns="0" tIns="0" rIns="0" bIns="0" anchor="ctr">
            <a:spAutoFit/>
          </a:bodyPr>
          <a:lstStyle/>
          <a:p>
            <a:pPr algn="l">
              <a:lnSpc>
                <a:spcPct val="100000"/>
              </a:lnSpc>
            </a:pPr>
            <a:r>
              <a:rPr sz="1800" b="0" i="1">
                <a:solidFill>
                  <a:srgbClr val="555960"/>
                </a:solidFill>
                <a:latin typeface="Calibri"/>
              </a:rPr>
              <a:t>What is it like to work with one?</a:t>
            </a:r>
          </a:p>
          <a:p>
            <a:pPr algn="l">
              <a:lnSpc>
                <a:spcPct val="100000"/>
              </a:lnSpc>
            </a:pPr>
            <a:r>
              <a:rPr sz="1800" b="0" i="1">
                <a:solidFill>
                  <a:srgbClr val="555960"/>
                </a:solidFill>
                <a:latin typeface="Calibri"/>
              </a:rPr>
              <a:t>→ the lab</a:t>
            </a:r>
          </a:p>
        </p:txBody>
      </p:sp>
      <p:sp>
        <p:nvSpPr>
          <p:cNvPr id="20" name="Rectangle 19"/>
          <p:cNvSpPr/>
          <p:nvPr/>
        </p:nvSpPr>
        <p:spPr>
          <a:xfrm>
            <a:off x="339634" y="5405112"/>
            <a:ext cx="1280160" cy="566928"/>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dirty="0">
                <a:solidFill>
                  <a:srgbClr val="5C4826"/>
                </a:solidFill>
                <a:latin typeface="Calibri"/>
              </a:rPr>
              <a:t>SECTION 4</a:t>
            </a:r>
          </a:p>
        </p:txBody>
      </p:sp>
      <p:sp>
        <p:nvSpPr>
          <p:cNvPr id="21" name="TextBox 20"/>
          <p:cNvSpPr txBox="1"/>
          <p:nvPr/>
        </p:nvSpPr>
        <p:spPr>
          <a:xfrm>
            <a:off x="1750422" y="5421087"/>
            <a:ext cx="3931920" cy="566928"/>
          </a:xfrm>
          <a:prstGeom prst="rect">
            <a:avLst/>
          </a:prstGeom>
          <a:noFill/>
        </p:spPr>
        <p:txBody>
          <a:bodyPr wrap="square" lIns="0" tIns="0" rIns="0" bIns="0" anchor="ctr">
            <a:spAutoFit/>
          </a:bodyPr>
          <a:lstStyle/>
          <a:p>
            <a:pPr algn="l"/>
            <a:r>
              <a:rPr sz="2000" b="1" i="0">
                <a:solidFill>
                  <a:srgbClr val="353638"/>
                </a:solidFill>
                <a:latin typeface="Calibri"/>
              </a:rPr>
              <a:t>Optional: Reasoning with</a:t>
            </a:r>
          </a:p>
          <a:p>
            <a:pPr algn="l"/>
            <a:r>
              <a:rPr sz="2000" b="1" i="0">
                <a:solidFill>
                  <a:srgbClr val="353638"/>
                </a:solidFill>
                <a:latin typeface="Calibri"/>
              </a:rPr>
              <a:t>SysML and KerML</a:t>
            </a:r>
          </a:p>
        </p:txBody>
      </p:sp>
      <p:sp>
        <p:nvSpPr>
          <p:cNvPr id="22" name="TextBox 21"/>
          <p:cNvSpPr txBox="1"/>
          <p:nvPr/>
        </p:nvSpPr>
        <p:spPr>
          <a:xfrm>
            <a:off x="5590902" y="5596609"/>
            <a:ext cx="3291840" cy="276999"/>
          </a:xfrm>
          <a:prstGeom prst="rect">
            <a:avLst/>
          </a:prstGeom>
          <a:noFill/>
        </p:spPr>
        <p:txBody>
          <a:bodyPr wrap="square" lIns="0" tIns="0" rIns="0" bIns="0" anchor="ctr">
            <a:spAutoFit/>
          </a:bodyPr>
          <a:lstStyle/>
          <a:p>
            <a:pPr algn="l">
              <a:lnSpc>
                <a:spcPct val="100000"/>
              </a:lnSpc>
            </a:pPr>
            <a:r>
              <a:rPr lang="en-US" i="1" dirty="0">
                <a:solidFill>
                  <a:srgbClr val="555960"/>
                </a:solidFill>
                <a:latin typeface="Calibri"/>
              </a:rPr>
              <a:t>R</a:t>
            </a:r>
            <a:r>
              <a:rPr sz="1800" b="0" i="1" dirty="0">
                <a:solidFill>
                  <a:srgbClr val="555960"/>
                </a:solidFill>
                <a:latin typeface="Calibri"/>
              </a:rPr>
              <a:t>eference</a:t>
            </a:r>
          </a:p>
        </p:txBody>
      </p:sp>
      <p:sp>
        <p:nvSpPr>
          <p:cNvPr id="24" name="TextBox 23"/>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4</a:t>
            </a:r>
          </a:p>
        </p:txBody>
      </p:sp>
      <p:pic>
        <p:nvPicPr>
          <p:cNvPr id="25" name="Picture 24" descr="image1.png"/>
          <p:cNvPicPr>
            <a:picLocks noChangeAspect="1"/>
          </p:cNvPicPr>
          <p:nvPr/>
        </p:nvPicPr>
        <p:blipFill>
          <a:blip r:embed="rId3"/>
          <a:stretch>
            <a:fillRect/>
          </a:stretch>
        </p:blipFill>
        <p:spPr>
          <a:xfrm>
            <a:off x="8759952" y="6638544"/>
            <a:ext cx="325247" cy="173736"/>
          </a:xfrm>
          <a:prstGeom prst="rect">
            <a:avLst/>
          </a:prstGeom>
        </p:spPr>
      </p:pic>
    </p:spTree>
    <p:extLst>
      <p:ext uri="{BB962C8B-B14F-4D97-AF65-F5344CB8AC3E}">
        <p14:creationId xmlns:p14="http://schemas.microsoft.com/office/powerpoint/2010/main" val="3988211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sz="2400" b="0" i="0" spc="140" dirty="0">
                <a:solidFill>
                  <a:srgbClr val="353638"/>
                </a:solidFill>
                <a:latin typeface="Calibri"/>
              </a:rPr>
              <a:t>Who uses semantic </a:t>
            </a:r>
            <a:r>
              <a:rPr lang="en-US" sz="2400" b="0" i="0" spc="140" dirty="0">
                <a:solidFill>
                  <a:srgbClr val="353638"/>
                </a:solidFill>
                <a:latin typeface="Calibri"/>
              </a:rPr>
              <a:t>engineering </a:t>
            </a:r>
            <a:r>
              <a:rPr sz="2400" b="0" i="0" spc="140" dirty="0">
                <a:solidFill>
                  <a:srgbClr val="353638"/>
                </a:solidFill>
                <a:latin typeface="Calibri"/>
              </a:rPr>
              <a:t>models?</a:t>
            </a:r>
            <a:r>
              <a:rPr lang="en-US" sz="2400" b="0" i="0" spc="140" dirty="0">
                <a:solidFill>
                  <a:srgbClr val="353638"/>
                </a:solidFill>
                <a:latin typeface="Calibri"/>
              </a:rPr>
              <a:t> </a:t>
            </a:r>
            <a:r>
              <a:rPr lang="en-US" sz="2400" b="0" i="1" spc="140" dirty="0">
                <a:solidFill>
                  <a:srgbClr val="353638"/>
                </a:solidFill>
                <a:latin typeface="Calibri"/>
              </a:rPr>
              <a:t>(Some examples)</a:t>
            </a:r>
            <a:endParaRPr sz="2400" b="0" i="1"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5156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77240" y="1188719"/>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AEROSPACE &amp; DEFENSE</a:t>
            </a:r>
          </a:p>
        </p:txBody>
      </p:sp>
      <p:sp>
        <p:nvSpPr>
          <p:cNvPr id="6" name="TextBox 5"/>
          <p:cNvSpPr txBox="1"/>
          <p:nvPr/>
        </p:nvSpPr>
        <p:spPr>
          <a:xfrm>
            <a:off x="777240" y="1508760"/>
            <a:ext cx="3566160" cy="548640"/>
          </a:xfrm>
          <a:prstGeom prst="rect">
            <a:avLst/>
          </a:prstGeom>
          <a:noFill/>
        </p:spPr>
        <p:txBody>
          <a:bodyPr wrap="square" lIns="0" tIns="0" rIns="0" bIns="0" anchor="t">
            <a:spAutoFit/>
          </a:bodyPr>
          <a:lstStyle/>
          <a:p>
            <a:pPr algn="l">
              <a:lnSpc>
                <a:spcPct val="110000"/>
              </a:lnSpc>
            </a:pPr>
            <a:r>
              <a:rPr sz="1800" b="0" i="0" dirty="0">
                <a:solidFill>
                  <a:srgbClr val="353638"/>
                </a:solidFill>
                <a:latin typeface="Calibri"/>
              </a:rPr>
              <a:t>Boeing · Airbus · Lockheed Martin</a:t>
            </a:r>
          </a:p>
        </p:txBody>
      </p:sp>
      <p:sp>
        <p:nvSpPr>
          <p:cNvPr id="7" name="Rectangle 6"/>
          <p:cNvSpPr/>
          <p:nvPr/>
        </p:nvSpPr>
        <p:spPr>
          <a:xfrm>
            <a:off x="4663440" y="105156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4892040" y="1188719"/>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AUTOMOTIVE &amp; INDUSTRIAL</a:t>
            </a:r>
          </a:p>
        </p:txBody>
      </p:sp>
      <p:sp>
        <p:nvSpPr>
          <p:cNvPr id="9" name="TextBox 8"/>
          <p:cNvSpPr txBox="1"/>
          <p:nvPr/>
        </p:nvSpPr>
        <p:spPr>
          <a:xfrm>
            <a:off x="4892040" y="1508760"/>
            <a:ext cx="3566160" cy="289438"/>
          </a:xfrm>
          <a:prstGeom prst="rect">
            <a:avLst/>
          </a:prstGeom>
          <a:noFill/>
        </p:spPr>
        <p:txBody>
          <a:bodyPr wrap="square" lIns="0" tIns="0" rIns="0" bIns="0" anchor="t">
            <a:spAutoFit/>
          </a:bodyPr>
          <a:lstStyle/>
          <a:p>
            <a:pPr algn="l">
              <a:lnSpc>
                <a:spcPct val="110000"/>
              </a:lnSpc>
            </a:pPr>
            <a:r>
              <a:rPr sz="1800" b="0" i="0" dirty="0">
                <a:solidFill>
                  <a:srgbClr val="353638"/>
                </a:solidFill>
                <a:latin typeface="Calibri"/>
              </a:rPr>
              <a:t>Siemens</a:t>
            </a:r>
          </a:p>
        </p:txBody>
      </p:sp>
      <p:sp>
        <p:nvSpPr>
          <p:cNvPr id="10" name="Rectangle 9"/>
          <p:cNvSpPr/>
          <p:nvPr/>
        </p:nvSpPr>
        <p:spPr>
          <a:xfrm>
            <a:off x="548640" y="237744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777240" y="2514600"/>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ENGINEERING-TOOL VENDORS</a:t>
            </a:r>
          </a:p>
        </p:txBody>
      </p:sp>
      <p:sp>
        <p:nvSpPr>
          <p:cNvPr id="12" name="TextBox 11"/>
          <p:cNvSpPr txBox="1"/>
          <p:nvPr/>
        </p:nvSpPr>
        <p:spPr>
          <a:xfrm>
            <a:off x="777240" y="2834640"/>
            <a:ext cx="3566160" cy="548640"/>
          </a:xfrm>
          <a:prstGeom prst="rect">
            <a:avLst/>
          </a:prstGeom>
          <a:noFill/>
        </p:spPr>
        <p:txBody>
          <a:bodyPr wrap="square" lIns="0" tIns="0" rIns="0" bIns="0" anchor="t">
            <a:spAutoFit/>
          </a:bodyPr>
          <a:lstStyle/>
          <a:p>
            <a:pPr algn="l">
              <a:lnSpc>
                <a:spcPct val="110000"/>
              </a:lnSpc>
            </a:pPr>
            <a:r>
              <a:rPr sz="1800" b="0" i="0">
                <a:solidFill>
                  <a:srgbClr val="353638"/>
                </a:solidFill>
                <a:latin typeface="Calibri"/>
              </a:rPr>
              <a:t>Dassault Systèmes · Ansys · PTC</a:t>
            </a:r>
          </a:p>
        </p:txBody>
      </p:sp>
      <p:sp>
        <p:nvSpPr>
          <p:cNvPr id="13" name="Rectangle 12"/>
          <p:cNvSpPr/>
          <p:nvPr/>
        </p:nvSpPr>
        <p:spPr>
          <a:xfrm>
            <a:off x="4663440" y="2377440"/>
            <a:ext cx="393192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4892040" y="2514600"/>
            <a:ext cx="3566160" cy="274320"/>
          </a:xfrm>
          <a:prstGeom prst="rect">
            <a:avLst/>
          </a:prstGeom>
          <a:noFill/>
        </p:spPr>
        <p:txBody>
          <a:bodyPr wrap="square" lIns="0" tIns="0" rIns="0" bIns="0" anchor="t">
            <a:spAutoFit/>
          </a:bodyPr>
          <a:lstStyle/>
          <a:p>
            <a:pPr algn="l"/>
            <a:r>
              <a:rPr sz="1800" b="1" i="0" spc="80">
                <a:solidFill>
                  <a:srgbClr val="8E6F3E"/>
                </a:solidFill>
                <a:latin typeface="Calibri"/>
              </a:rPr>
              <a:t>GOVERNMENT &amp; RESEARCH</a:t>
            </a:r>
          </a:p>
        </p:txBody>
      </p:sp>
      <p:sp>
        <p:nvSpPr>
          <p:cNvPr id="15" name="TextBox 14"/>
          <p:cNvSpPr txBox="1"/>
          <p:nvPr/>
        </p:nvSpPr>
        <p:spPr>
          <a:xfrm>
            <a:off x="4892040" y="2834640"/>
            <a:ext cx="3566160" cy="594137"/>
          </a:xfrm>
          <a:prstGeom prst="rect">
            <a:avLst/>
          </a:prstGeom>
          <a:noFill/>
        </p:spPr>
        <p:txBody>
          <a:bodyPr wrap="square" lIns="0" tIns="0" rIns="0" bIns="0" anchor="t">
            <a:spAutoFit/>
          </a:bodyPr>
          <a:lstStyle/>
          <a:p>
            <a:pPr algn="l">
              <a:lnSpc>
                <a:spcPct val="110000"/>
              </a:lnSpc>
            </a:pPr>
            <a:r>
              <a:rPr sz="1800" b="0" i="0" dirty="0">
                <a:solidFill>
                  <a:srgbClr val="353638"/>
                </a:solidFill>
                <a:latin typeface="Calibri"/>
              </a:rPr>
              <a:t>Space and defense agencies</a:t>
            </a:r>
          </a:p>
          <a:p>
            <a:pPr algn="l">
              <a:lnSpc>
                <a:spcPct val="110000"/>
              </a:lnSpc>
            </a:pPr>
            <a:r>
              <a:rPr lang="en-US" dirty="0">
                <a:solidFill>
                  <a:srgbClr val="353638"/>
                </a:solidFill>
                <a:latin typeface="Calibri"/>
              </a:rPr>
              <a:t>R</a:t>
            </a:r>
            <a:r>
              <a:rPr sz="1800" b="0" i="0" dirty="0">
                <a:solidFill>
                  <a:srgbClr val="353638"/>
                </a:solidFill>
                <a:latin typeface="Calibri"/>
              </a:rPr>
              <a:t>esearch laboratories</a:t>
            </a:r>
          </a:p>
        </p:txBody>
      </p:sp>
      <p:sp>
        <p:nvSpPr>
          <p:cNvPr id="19" name="TextBox 18"/>
          <p:cNvSpPr txBox="1"/>
          <p:nvPr/>
        </p:nvSpPr>
        <p:spPr>
          <a:xfrm>
            <a:off x="685800" y="4377669"/>
            <a:ext cx="8001000" cy="1039067"/>
          </a:xfrm>
          <a:prstGeom prst="rect">
            <a:avLst/>
          </a:prstGeom>
          <a:noFill/>
        </p:spPr>
        <p:txBody>
          <a:bodyPr wrap="square" lIns="0" tIns="0" rIns="0" bIns="0" anchor="t">
            <a:spAutoFit/>
          </a:bodyPr>
          <a:lstStyle/>
          <a:p>
            <a:pPr algn="l">
              <a:lnSpc>
                <a:spcPct val="115000"/>
              </a:lnSpc>
            </a:pPr>
            <a:r>
              <a:rPr lang="en-US" sz="2000" b="0" i="0" dirty="0">
                <a:solidFill>
                  <a:srgbClr val="5C4826"/>
                </a:solidFill>
                <a:latin typeface="Calibri"/>
              </a:rPr>
              <a:t>They</a:t>
            </a:r>
            <a:r>
              <a:rPr sz="2000" b="0" i="0" dirty="0">
                <a:solidFill>
                  <a:srgbClr val="5C4826"/>
                </a:solidFill>
                <a:latin typeface="Calibri"/>
              </a:rPr>
              <a:t> engineer </a:t>
            </a:r>
            <a:r>
              <a:rPr sz="2000" b="1" i="0" dirty="0">
                <a:solidFill>
                  <a:srgbClr val="5C4826"/>
                </a:solidFill>
                <a:latin typeface="Calibri"/>
              </a:rPr>
              <a:t>consequential systems</a:t>
            </a:r>
            <a:r>
              <a:rPr sz="2000" b="0" i="0" dirty="0">
                <a:solidFill>
                  <a:srgbClr val="5C4826"/>
                </a:solidFill>
                <a:latin typeface="Calibri"/>
              </a:rPr>
              <a:t> wh</a:t>
            </a:r>
            <a:r>
              <a:rPr lang="en-US" sz="2000" b="0" i="0" dirty="0">
                <a:solidFill>
                  <a:srgbClr val="5C4826"/>
                </a:solidFill>
                <a:latin typeface="Calibri"/>
              </a:rPr>
              <a:t>ose</a:t>
            </a:r>
            <a:r>
              <a:rPr sz="2000" b="0" i="0" dirty="0">
                <a:solidFill>
                  <a:srgbClr val="5C4826"/>
                </a:solidFill>
                <a:latin typeface="Calibri"/>
              </a:rPr>
              <a:t> software meets </a:t>
            </a:r>
            <a:r>
              <a:rPr lang="en-US" sz="2000" b="0" i="0" dirty="0">
                <a:solidFill>
                  <a:srgbClr val="5C4826"/>
                </a:solidFill>
                <a:latin typeface="Calibri"/>
              </a:rPr>
              <a:t>hardware, </a:t>
            </a:r>
            <a:r>
              <a:rPr sz="2000" b="0" i="0" dirty="0">
                <a:solidFill>
                  <a:srgbClr val="5C4826"/>
                </a:solidFill>
                <a:latin typeface="Calibri"/>
              </a:rPr>
              <a:t>physical</a:t>
            </a:r>
            <a:r>
              <a:rPr lang="en-US" sz="2000" b="0" i="0" dirty="0">
                <a:solidFill>
                  <a:srgbClr val="5C4826"/>
                </a:solidFill>
                <a:latin typeface="Calibri"/>
              </a:rPr>
              <a:t> </a:t>
            </a:r>
            <a:r>
              <a:rPr sz="2000" b="0" i="0" dirty="0">
                <a:solidFill>
                  <a:srgbClr val="5C4826"/>
                </a:solidFill>
                <a:latin typeface="Calibri"/>
              </a:rPr>
              <a:t>resources, timing, safety, power, </a:t>
            </a:r>
            <a:r>
              <a:rPr lang="en-US" sz="2000" b="0" i="0" dirty="0">
                <a:solidFill>
                  <a:srgbClr val="5C4826"/>
                </a:solidFill>
                <a:latin typeface="Calibri"/>
              </a:rPr>
              <a:t>&amp;</a:t>
            </a:r>
            <a:r>
              <a:rPr sz="2000" b="0" i="0" dirty="0">
                <a:solidFill>
                  <a:srgbClr val="5C4826"/>
                </a:solidFill>
                <a:latin typeface="Calibri"/>
              </a:rPr>
              <a:t> other systems.</a:t>
            </a:r>
            <a:endParaRPr lang="en-US" sz="2000" b="0" i="0" dirty="0">
              <a:solidFill>
                <a:srgbClr val="5C4826"/>
              </a:solidFill>
              <a:latin typeface="Calibri"/>
            </a:endParaRPr>
          </a:p>
          <a:p>
            <a:pPr algn="l">
              <a:lnSpc>
                <a:spcPct val="115000"/>
              </a:lnSpc>
            </a:pPr>
            <a:r>
              <a:rPr lang="en-US" sz="2000" dirty="0">
                <a:solidFill>
                  <a:srgbClr val="5C4826"/>
                </a:solidFill>
                <a:latin typeface="Calibri"/>
              </a:rPr>
              <a:t>	</a:t>
            </a:r>
            <a:r>
              <a:rPr lang="en-US" sz="2000" dirty="0">
                <a:solidFill>
                  <a:srgbClr val="5C4826"/>
                </a:solidFill>
                <a:latin typeface="Calibri"/>
                <a:sym typeface="Wingdings" pitchFamily="2" charset="2"/>
              </a:rPr>
              <a:t> CmpE, anyone?</a:t>
            </a:r>
            <a:endParaRPr lang="en-US" sz="2000" dirty="0">
              <a:solidFill>
                <a:srgbClr val="5C4826"/>
              </a:solidFill>
              <a:latin typeface="Calibri"/>
            </a:endParaRPr>
          </a:p>
        </p:txBody>
      </p:sp>
      <p:sp>
        <p:nvSpPr>
          <p:cNvPr id="20" name="Rectangle 19"/>
          <p:cNvSpPr/>
          <p:nvPr/>
        </p:nvSpPr>
        <p:spPr>
          <a:xfrm>
            <a:off x="320040" y="6007607"/>
            <a:ext cx="8503920" cy="55778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They need models that support engineering reasoning</a:t>
            </a:r>
            <a:r>
              <a:rPr lang="en-US" sz="1800" b="1" i="0" dirty="0">
                <a:solidFill>
                  <a:srgbClr val="FFFFFF"/>
                </a:solidFill>
                <a:latin typeface="Calibri"/>
              </a:rPr>
              <a:t>, </a:t>
            </a:r>
            <a:r>
              <a:rPr sz="1800" b="1" i="0" dirty="0">
                <a:solidFill>
                  <a:srgbClr val="FFFFFF"/>
                </a:solidFill>
                <a:latin typeface="Calibri"/>
              </a:rPr>
              <a:t>not </a:t>
            </a:r>
            <a:r>
              <a:rPr lang="en-US" sz="1800" b="1" i="0" dirty="0">
                <a:solidFill>
                  <a:srgbClr val="FFFFFF"/>
                </a:solidFill>
                <a:latin typeface="Calibri"/>
              </a:rPr>
              <a:t>just </a:t>
            </a:r>
            <a:r>
              <a:rPr sz="1800" b="1" i="0" dirty="0">
                <a:solidFill>
                  <a:srgbClr val="FFFFFF"/>
                </a:solidFill>
                <a:latin typeface="Calibri"/>
              </a:rPr>
              <a:t>pictures.</a:t>
            </a:r>
          </a:p>
        </p:txBody>
      </p:sp>
      <p:sp>
        <p:nvSpPr>
          <p:cNvPr id="21" name="TextBox 20"/>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3</a:t>
            </a:r>
          </a:p>
        </p:txBody>
      </p:sp>
      <p:pic>
        <p:nvPicPr>
          <p:cNvPr id="22" name="Picture 21" descr="image1.png"/>
          <p:cNvPicPr>
            <a:picLocks noChangeAspect="1"/>
          </p:cNvPicPr>
          <p:nvPr/>
        </p:nvPicPr>
        <p:blipFill>
          <a:blip r:embed="rId3"/>
          <a:stretch>
            <a:fillRect/>
          </a:stretch>
        </p:blipFill>
        <p:spPr>
          <a:xfrm>
            <a:off x="8759952" y="6638544"/>
            <a:ext cx="325247" cy="173736"/>
          </a:xfrm>
          <a:prstGeom prst="rect">
            <a:avLst/>
          </a:prstGeom>
        </p:spPr>
      </p:pic>
      <p:sp>
        <p:nvSpPr>
          <p:cNvPr id="23" name="TextBox 22">
            <a:extLst>
              <a:ext uri="{FF2B5EF4-FFF2-40B4-BE49-F238E27FC236}">
                <a16:creationId xmlns:a16="http://schemas.microsoft.com/office/drawing/2014/main" id="{BE1117B9-2BC2-EC57-14A0-04491592F6C0}"/>
              </a:ext>
            </a:extLst>
          </p:cNvPr>
          <p:cNvSpPr txBox="1"/>
          <p:nvPr/>
        </p:nvSpPr>
        <p:spPr>
          <a:xfrm>
            <a:off x="418011" y="3683726"/>
            <a:ext cx="4583819" cy="369332"/>
          </a:xfrm>
          <a:prstGeom prst="rect">
            <a:avLst/>
          </a:prstGeom>
          <a:noFill/>
        </p:spPr>
        <p:txBody>
          <a:bodyPr wrap="none" rtlCol="0">
            <a:spAutoFit/>
          </a:bodyPr>
          <a:lstStyle/>
          <a:p>
            <a:r>
              <a:rPr lang="en-US" dirty="0"/>
              <a:t>What do these organizations have in common?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Degrees of semantic commitment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much meaning does the representation carry?</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What does this arrow mean?</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2103120" y="1371600"/>
            <a:ext cx="1188720" cy="685800"/>
          </a:xfrm>
          <a:prstGeom prst="rect">
            <a:avLst/>
          </a:prstGeom>
          <a:solidFill>
            <a:srgbClr val="F5F1E8"/>
          </a:solidFill>
          <a:ln w="19050">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A</a:t>
            </a:r>
          </a:p>
        </p:txBody>
      </p:sp>
      <p:sp>
        <p:nvSpPr>
          <p:cNvPr id="5" name="Rectangle 4"/>
          <p:cNvSpPr/>
          <p:nvPr/>
        </p:nvSpPr>
        <p:spPr>
          <a:xfrm>
            <a:off x="5852160" y="1371600"/>
            <a:ext cx="1188720" cy="685800"/>
          </a:xfrm>
          <a:prstGeom prst="rect">
            <a:avLst/>
          </a:prstGeom>
          <a:solidFill>
            <a:srgbClr val="F5F1E8"/>
          </a:solidFill>
          <a:ln w="19050">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B</a:t>
            </a:r>
          </a:p>
        </p:txBody>
      </p:sp>
      <p:cxnSp>
        <p:nvCxnSpPr>
          <p:cNvPr id="6" name="Connector 5"/>
          <p:cNvCxnSpPr/>
          <p:nvPr/>
        </p:nvCxnSpPr>
        <p:spPr>
          <a:xfrm>
            <a:off x="3291840" y="1714500"/>
            <a:ext cx="2560320" cy="0"/>
          </a:xfrm>
          <a:prstGeom prst="line">
            <a:avLst/>
          </a:prstGeom>
          <a:ln w="7620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02920" y="2606040"/>
            <a:ext cx="96012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calls?</a:t>
            </a:r>
          </a:p>
        </p:txBody>
      </p:sp>
      <p:sp>
        <p:nvSpPr>
          <p:cNvPr id="8" name="Rectangle 7"/>
          <p:cNvSpPr/>
          <p:nvPr/>
        </p:nvSpPr>
        <p:spPr>
          <a:xfrm>
            <a:off x="1627632" y="2606040"/>
            <a:ext cx="123444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may call?</a:t>
            </a:r>
          </a:p>
        </p:txBody>
      </p:sp>
      <p:sp>
        <p:nvSpPr>
          <p:cNvPr id="9" name="Rectangle 8"/>
          <p:cNvSpPr/>
          <p:nvPr/>
        </p:nvSpPr>
        <p:spPr>
          <a:xfrm>
            <a:off x="3026664" y="2606040"/>
            <a:ext cx="141732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depends on?</a:t>
            </a:r>
          </a:p>
        </p:txBody>
      </p:sp>
      <p:sp>
        <p:nvSpPr>
          <p:cNvPr id="10" name="Rectangle 9"/>
          <p:cNvSpPr/>
          <p:nvPr/>
        </p:nvSpPr>
        <p:spPr>
          <a:xfrm>
            <a:off x="4608576" y="2606040"/>
            <a:ext cx="160020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sends data to?</a:t>
            </a:r>
          </a:p>
        </p:txBody>
      </p:sp>
      <p:sp>
        <p:nvSpPr>
          <p:cNvPr id="11" name="Rectangle 10"/>
          <p:cNvSpPr/>
          <p:nvPr/>
        </p:nvSpPr>
        <p:spPr>
          <a:xfrm>
            <a:off x="6373368" y="2606040"/>
            <a:ext cx="2286000" cy="448056"/>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was observed calling?</a:t>
            </a:r>
          </a:p>
        </p:txBody>
      </p:sp>
      <p:sp>
        <p:nvSpPr>
          <p:cNvPr id="12" name="TextBox 11"/>
          <p:cNvSpPr txBox="1"/>
          <p:nvPr/>
        </p:nvSpPr>
        <p:spPr>
          <a:xfrm>
            <a:off x="548640" y="3383280"/>
            <a:ext cx="8046720" cy="365760"/>
          </a:xfrm>
          <a:prstGeom prst="rect">
            <a:avLst/>
          </a:prstGeom>
          <a:noFill/>
        </p:spPr>
        <p:txBody>
          <a:bodyPr wrap="square" lIns="0" tIns="0" rIns="0" bIns="0" anchor="t">
            <a:spAutoFit/>
          </a:bodyPr>
          <a:lstStyle/>
          <a:p>
            <a:pPr algn="ctr"/>
            <a:r>
              <a:rPr sz="2000" b="1" i="0" dirty="0">
                <a:solidFill>
                  <a:srgbClr val="353638"/>
                </a:solidFill>
                <a:latin typeface="Calibri"/>
              </a:rPr>
              <a:t>Same marks. </a:t>
            </a:r>
            <a:r>
              <a:rPr sz="2000" b="0" i="0" dirty="0">
                <a:solidFill>
                  <a:srgbClr val="353638"/>
                </a:solidFill>
                <a:latin typeface="Calibri"/>
              </a:rPr>
              <a:t>Different engineering claims.</a:t>
            </a:r>
          </a:p>
        </p:txBody>
      </p:sp>
      <p:sp>
        <p:nvSpPr>
          <p:cNvPr id="13" name="Rectangle 12"/>
          <p:cNvSpPr/>
          <p:nvPr/>
        </p:nvSpPr>
        <p:spPr>
          <a:xfrm>
            <a:off x="548639" y="4069080"/>
            <a:ext cx="8046719" cy="15544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750951" y="4425543"/>
            <a:ext cx="7715250" cy="740972"/>
          </a:xfrm>
          <a:prstGeom prst="rect">
            <a:avLst/>
          </a:prstGeom>
          <a:noFill/>
        </p:spPr>
        <p:txBody>
          <a:bodyPr wrap="square" lIns="0" tIns="0" rIns="0" bIns="0" anchor="t">
            <a:spAutoFit/>
          </a:bodyPr>
          <a:lstStyle/>
          <a:p>
            <a:pPr algn="l">
              <a:lnSpc>
                <a:spcPct val="125000"/>
              </a:lnSpc>
            </a:pPr>
            <a:r>
              <a:rPr sz="2000" b="1" i="0" dirty="0">
                <a:solidFill>
                  <a:srgbClr val="5C4826"/>
                </a:solidFill>
                <a:latin typeface="Calibri"/>
              </a:rPr>
              <a:t>A diagram that permits five </a:t>
            </a:r>
            <a:r>
              <a:rPr lang="en-US" sz="2000" b="1" i="0" dirty="0">
                <a:solidFill>
                  <a:srgbClr val="5C4826"/>
                </a:solidFill>
                <a:latin typeface="Calibri"/>
              </a:rPr>
              <a:t>interpretations</a:t>
            </a:r>
            <a:r>
              <a:rPr sz="2000" b="1" i="0" dirty="0">
                <a:solidFill>
                  <a:srgbClr val="5C4826"/>
                </a:solidFill>
                <a:latin typeface="Calibri"/>
              </a:rPr>
              <a:t> </a:t>
            </a:r>
            <a:r>
              <a:rPr lang="en-US" sz="2000" b="1" i="0" dirty="0">
                <a:solidFill>
                  <a:srgbClr val="5C4826"/>
                </a:solidFill>
                <a:latin typeface="Calibri"/>
              </a:rPr>
              <a:t>makes</a:t>
            </a:r>
            <a:r>
              <a:rPr sz="2000" b="1" i="0" dirty="0">
                <a:solidFill>
                  <a:srgbClr val="5C4826"/>
                </a:solidFill>
                <a:latin typeface="Calibri"/>
              </a:rPr>
              <a:t> none</a:t>
            </a:r>
            <a:r>
              <a:rPr lang="en-US" sz="2000" b="1" i="0" dirty="0">
                <a:solidFill>
                  <a:srgbClr val="5C4826"/>
                </a:solidFill>
                <a:latin typeface="Calibri"/>
              </a:rPr>
              <a:t> of them clear.</a:t>
            </a:r>
            <a:endParaRPr sz="2000" b="1" i="0" dirty="0">
              <a:solidFill>
                <a:srgbClr val="5C4826"/>
              </a:solidFill>
              <a:latin typeface="Calibri"/>
            </a:endParaRPr>
          </a:p>
          <a:p>
            <a:pPr algn="l">
              <a:lnSpc>
                <a:spcPct val="125000"/>
              </a:lnSpc>
            </a:pPr>
            <a:r>
              <a:rPr sz="2000" b="0" i="0" dirty="0">
                <a:solidFill>
                  <a:srgbClr val="353638"/>
                </a:solidFill>
                <a:latin typeface="Calibri"/>
              </a:rPr>
              <a:t>Whoever interprets the sketch</a:t>
            </a:r>
            <a:r>
              <a:rPr lang="en-US" sz="2000" b="0" i="0" dirty="0">
                <a:solidFill>
                  <a:srgbClr val="353638"/>
                </a:solidFill>
                <a:latin typeface="Calibri"/>
              </a:rPr>
              <a:t> (</a:t>
            </a:r>
            <a:r>
              <a:rPr sz="2000" b="0" i="0" dirty="0">
                <a:solidFill>
                  <a:srgbClr val="353638"/>
                </a:solidFill>
                <a:latin typeface="Calibri"/>
              </a:rPr>
              <a:t>teammate or agent</a:t>
            </a:r>
            <a:r>
              <a:rPr lang="en-US" sz="2000" dirty="0">
                <a:solidFill>
                  <a:srgbClr val="353638"/>
                </a:solidFill>
                <a:latin typeface="Calibri"/>
              </a:rPr>
              <a:t>)</a:t>
            </a:r>
            <a:r>
              <a:rPr sz="2000" b="0" i="0" dirty="0">
                <a:solidFill>
                  <a:srgbClr val="353638"/>
                </a:solidFill>
                <a:latin typeface="Calibri"/>
              </a:rPr>
              <a:t> supplies the meaning</a:t>
            </a:r>
            <a:r>
              <a:rPr lang="en-US" sz="2000" b="0" i="0" dirty="0">
                <a:solidFill>
                  <a:srgbClr val="353638"/>
                </a:solidFill>
                <a:latin typeface="Calibri"/>
              </a:rPr>
              <a:t>.</a:t>
            </a:r>
            <a:endParaRPr lang="en-US" sz="2000" dirty="0">
              <a:solidFill>
                <a:srgbClr val="353638"/>
              </a:solidFill>
              <a:latin typeface="Calibri"/>
            </a:endParaRPr>
          </a:p>
        </p:txBody>
      </p:sp>
      <p:sp>
        <p:nvSpPr>
          <p:cNvPr id="15" name="Rectangle 14"/>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lang="en-US" sz="1800" b="1" i="0" dirty="0">
                <a:solidFill>
                  <a:srgbClr val="FFFFFF"/>
                </a:solidFill>
                <a:latin typeface="Calibri"/>
              </a:rPr>
              <a:t>Under-specified models require interpretation – “context-dependent”</a:t>
            </a:r>
            <a:endParaRPr sz="1800" b="1" i="0" dirty="0">
              <a:solidFill>
                <a:srgbClr val="FFFFFF"/>
              </a:solidFill>
              <a:latin typeface="Calibri"/>
            </a:endParaRPr>
          </a:p>
        </p:txBody>
      </p:sp>
      <p:sp>
        <p:nvSpPr>
          <p:cNvPr id="16" name="TextBox 15"/>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5</a:t>
            </a:r>
          </a:p>
        </p:txBody>
      </p:sp>
      <p:pic>
        <p:nvPicPr>
          <p:cNvPr id="17" name="Picture 16" descr="image1.png"/>
          <p:cNvPicPr>
            <a:picLocks noChangeAspect="1"/>
          </p:cNvPicPr>
          <p:nvPr/>
        </p:nvPicPr>
        <p:blipFill>
          <a:blip r:embed="rId3"/>
          <a:stretch>
            <a:fillRect/>
          </a:stretch>
        </p:blipFill>
        <p:spPr>
          <a:xfrm>
            <a:off x="8759952" y="6638544"/>
            <a:ext cx="325247" cy="173736"/>
          </a:xfrm>
          <a:prstGeom prst="rect">
            <a:avLst/>
          </a:prstGeom>
        </p:spPr>
      </p:pic>
      <p:cxnSp>
        <p:nvCxnSpPr>
          <p:cNvPr id="19" name="Straight Connector 18">
            <a:extLst>
              <a:ext uri="{FF2B5EF4-FFF2-40B4-BE49-F238E27FC236}">
                <a16:creationId xmlns:a16="http://schemas.microsoft.com/office/drawing/2014/main" id="{8F985ECE-F4FB-85C7-12D6-2BA4F8BD6BFB}"/>
              </a:ext>
            </a:extLst>
          </p:cNvPr>
          <p:cNvCxnSpPr/>
          <p:nvPr/>
        </p:nvCxnSpPr>
        <p:spPr>
          <a:xfrm>
            <a:off x="2597426" y="658368"/>
            <a:ext cx="1846558" cy="931893"/>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1" animBg="1"/>
      <p:bldP spid="14" grpId="0"/>
      <p:bldP spid="1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Models carry different amounts of meaning</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960120"/>
            <a:ext cx="8046720" cy="1160716"/>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77240" y="1078992"/>
            <a:ext cx="7680960" cy="898836"/>
          </a:xfrm>
          <a:prstGeom prst="rect">
            <a:avLst/>
          </a:prstGeom>
          <a:noFill/>
        </p:spPr>
        <p:txBody>
          <a:bodyPr wrap="square" lIns="0" tIns="0" rIns="0" bIns="0" anchor="t">
            <a:spAutoFit/>
          </a:bodyPr>
          <a:lstStyle/>
          <a:p>
            <a:pPr algn="l">
              <a:lnSpc>
                <a:spcPct val="110000"/>
              </a:lnSpc>
            </a:pPr>
            <a:r>
              <a:rPr b="1" i="0" dirty="0">
                <a:solidFill>
                  <a:srgbClr val="8E6F3E"/>
                </a:solidFill>
                <a:latin typeface="Calibri"/>
              </a:rPr>
              <a:t>SEMANTIC</a:t>
            </a:r>
            <a:r>
              <a:rPr lang="en-US" b="1" i="0" dirty="0">
                <a:solidFill>
                  <a:srgbClr val="8E6F3E"/>
                </a:solidFill>
                <a:latin typeface="Calibri"/>
              </a:rPr>
              <a:t>S</a:t>
            </a:r>
            <a:endParaRPr b="1" i="0" dirty="0">
              <a:solidFill>
                <a:srgbClr val="8E6F3E"/>
              </a:solidFill>
              <a:latin typeface="Calibri"/>
            </a:endParaRPr>
          </a:p>
          <a:p>
            <a:pPr algn="l">
              <a:lnSpc>
                <a:spcPct val="110000"/>
              </a:lnSpc>
            </a:pPr>
            <a:r>
              <a:rPr b="0" i="1" dirty="0">
                <a:solidFill>
                  <a:srgbClr val="5C4826"/>
                </a:solidFill>
                <a:latin typeface="Calibri"/>
              </a:rPr>
              <a:t>How much of a representation's meaning is carried explicitly by the representation itself,</a:t>
            </a:r>
            <a:r>
              <a:rPr lang="en-US" b="0" i="1" dirty="0">
                <a:solidFill>
                  <a:srgbClr val="5C4826"/>
                </a:solidFill>
                <a:latin typeface="Calibri"/>
              </a:rPr>
              <a:t> </a:t>
            </a:r>
            <a:r>
              <a:rPr b="0" i="1" dirty="0">
                <a:solidFill>
                  <a:srgbClr val="5C4826"/>
                </a:solidFill>
                <a:latin typeface="Calibri"/>
              </a:rPr>
              <a:t>rather than supplied by whoever</a:t>
            </a:r>
            <a:r>
              <a:rPr lang="en-US" b="0" i="1" dirty="0">
                <a:solidFill>
                  <a:srgbClr val="5C4826"/>
                </a:solidFill>
                <a:latin typeface="Calibri"/>
              </a:rPr>
              <a:t> o</a:t>
            </a:r>
            <a:r>
              <a:rPr b="0" i="1" dirty="0">
                <a:solidFill>
                  <a:srgbClr val="5C4826"/>
                </a:solidFill>
                <a:latin typeface="Calibri"/>
              </a:rPr>
              <a:t>r whatever</a:t>
            </a:r>
            <a:r>
              <a:rPr lang="en-US" b="0" i="1" dirty="0">
                <a:solidFill>
                  <a:srgbClr val="5C4826"/>
                </a:solidFill>
                <a:latin typeface="Calibri"/>
              </a:rPr>
              <a:t> </a:t>
            </a:r>
            <a:r>
              <a:rPr b="0" i="1" dirty="0">
                <a:solidFill>
                  <a:srgbClr val="5C4826"/>
                </a:solidFill>
                <a:latin typeface="Calibri"/>
              </a:rPr>
              <a:t>interprets it.</a:t>
            </a:r>
          </a:p>
        </p:txBody>
      </p:sp>
      <p:sp>
        <p:nvSpPr>
          <p:cNvPr id="6" name="Rectangle 5"/>
          <p:cNvSpPr/>
          <p:nvPr/>
        </p:nvSpPr>
        <p:spPr>
          <a:xfrm>
            <a:off x="6858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quick sketch</a:t>
            </a:r>
          </a:p>
        </p:txBody>
      </p:sp>
      <p:sp>
        <p:nvSpPr>
          <p:cNvPr id="7" name="Right Arrow 6"/>
          <p:cNvSpPr/>
          <p:nvPr/>
        </p:nvSpPr>
        <p:spPr>
          <a:xfrm>
            <a:off x="2423160" y="2840503"/>
            <a:ext cx="274320" cy="182880"/>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UML</a:t>
            </a:r>
          </a:p>
        </p:txBody>
      </p:sp>
      <p:sp>
        <p:nvSpPr>
          <p:cNvPr id="9" name="Right Arrow 8"/>
          <p:cNvSpPr/>
          <p:nvPr/>
        </p:nvSpPr>
        <p:spPr>
          <a:xfrm>
            <a:off x="4480560" y="2840503"/>
            <a:ext cx="274320" cy="182880"/>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8006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lang="en-US" sz="1800" b="0" i="0" dirty="0">
                <a:solidFill>
                  <a:srgbClr val="5C4826"/>
                </a:solidFill>
                <a:latin typeface="Calibri"/>
              </a:rPr>
              <a:t>S</a:t>
            </a:r>
            <a:r>
              <a:rPr sz="1800" b="0" i="0" dirty="0">
                <a:solidFill>
                  <a:srgbClr val="5C4826"/>
                </a:solidFill>
                <a:latin typeface="Calibri"/>
              </a:rPr>
              <a:t>tructured schemas</a:t>
            </a:r>
          </a:p>
        </p:txBody>
      </p:sp>
      <p:sp>
        <p:nvSpPr>
          <p:cNvPr id="11" name="Right Arrow 10"/>
          <p:cNvSpPr/>
          <p:nvPr/>
        </p:nvSpPr>
        <p:spPr>
          <a:xfrm>
            <a:off x="6537960" y="2840503"/>
            <a:ext cx="274320" cy="182880"/>
          </a:xfrm>
          <a:prstGeom prst="right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858000" y="2685055"/>
            <a:ext cx="1691640" cy="5029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i="0" dirty="0" err="1">
                <a:solidFill>
                  <a:srgbClr val="5C4826"/>
                </a:solidFill>
                <a:latin typeface="Calibri"/>
              </a:rPr>
              <a:t>SysML</a:t>
            </a:r>
            <a:r>
              <a:rPr sz="1800" i="0" dirty="0">
                <a:solidFill>
                  <a:srgbClr val="5C4826"/>
                </a:solidFill>
                <a:latin typeface="Calibri"/>
              </a:rPr>
              <a:t> v2 + KerML</a:t>
            </a:r>
          </a:p>
        </p:txBody>
      </p:sp>
      <p:sp>
        <p:nvSpPr>
          <p:cNvPr id="13" name="TextBox 12"/>
          <p:cNvSpPr txBox="1"/>
          <p:nvPr/>
        </p:nvSpPr>
        <p:spPr>
          <a:xfrm>
            <a:off x="685800" y="3233695"/>
            <a:ext cx="7772400" cy="276999"/>
          </a:xfrm>
          <a:prstGeom prst="rect">
            <a:avLst/>
          </a:prstGeom>
          <a:noFill/>
        </p:spPr>
        <p:txBody>
          <a:bodyPr wrap="square" lIns="0" tIns="0" rIns="0" bIns="0" anchor="t">
            <a:spAutoFit/>
          </a:bodyPr>
          <a:lstStyle/>
          <a:p>
            <a:pPr algn="ctr"/>
            <a:r>
              <a:rPr lang="en-US" sz="1800" b="0" i="1" dirty="0">
                <a:solidFill>
                  <a:srgbClr val="555960"/>
                </a:solidFill>
                <a:latin typeface="Calibri"/>
              </a:rPr>
              <a:t>NOT MATURITY LEVELS</a:t>
            </a:r>
            <a:endParaRPr sz="1800" b="0" i="1" dirty="0">
              <a:solidFill>
                <a:srgbClr val="555960"/>
              </a:solidFill>
              <a:latin typeface="Calibri"/>
            </a:endParaRPr>
          </a:p>
        </p:txBody>
      </p:sp>
      <p:sp>
        <p:nvSpPr>
          <p:cNvPr id="15" name="Rectangle 14"/>
          <p:cNvSpPr/>
          <p:nvPr/>
        </p:nvSpPr>
        <p:spPr>
          <a:xfrm>
            <a:off x="502920" y="4358830"/>
            <a:ext cx="3931920" cy="14630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731520" y="4514278"/>
            <a:ext cx="3474720" cy="274320"/>
          </a:xfrm>
          <a:prstGeom prst="rect">
            <a:avLst/>
          </a:prstGeom>
          <a:noFill/>
        </p:spPr>
        <p:txBody>
          <a:bodyPr wrap="square" lIns="0" tIns="0" rIns="0" bIns="0" anchor="t">
            <a:spAutoFit/>
          </a:bodyPr>
          <a:lstStyle/>
          <a:p>
            <a:pPr algn="l"/>
            <a:r>
              <a:rPr sz="1800" b="1" i="0" spc="80">
                <a:solidFill>
                  <a:srgbClr val="8E6F3E"/>
                </a:solidFill>
                <a:latin typeface="Calibri"/>
              </a:rPr>
              <a:t>STRONGER SEMANTICS BUY</a:t>
            </a:r>
          </a:p>
        </p:txBody>
      </p:sp>
      <p:sp>
        <p:nvSpPr>
          <p:cNvPr id="17" name="TextBox 16"/>
          <p:cNvSpPr txBox="1"/>
          <p:nvPr/>
        </p:nvSpPr>
        <p:spPr>
          <a:xfrm>
            <a:off x="731520" y="4880039"/>
            <a:ext cx="3474720" cy="1115568"/>
          </a:xfrm>
          <a:prstGeom prst="rect">
            <a:avLst/>
          </a:prstGeom>
          <a:noFill/>
        </p:spPr>
        <p:txBody>
          <a:bodyPr wrap="square" lIns="0" tIns="0" rIns="0" bIns="0" anchor="t">
            <a:spAutoFit/>
          </a:bodyPr>
          <a:lstStyle/>
          <a:p>
            <a:pPr algn="l">
              <a:lnSpc>
                <a:spcPct val="130000"/>
              </a:lnSpc>
            </a:pPr>
            <a:r>
              <a:rPr sz="1800" b="0" i="0">
                <a:solidFill>
                  <a:srgbClr val="353638"/>
                </a:solidFill>
                <a:latin typeface="Calibri"/>
              </a:rPr>
              <a:t>reliable interpretation · query ·</a:t>
            </a:r>
          </a:p>
          <a:p>
            <a:pPr algn="l">
              <a:lnSpc>
                <a:spcPct val="130000"/>
              </a:lnSpc>
            </a:pPr>
            <a:r>
              <a:rPr sz="1800" b="0" i="0">
                <a:solidFill>
                  <a:srgbClr val="353638"/>
                </a:solidFill>
                <a:latin typeface="Calibri"/>
              </a:rPr>
              <a:t>composition · analysis · validation</a:t>
            </a:r>
          </a:p>
        </p:txBody>
      </p:sp>
      <p:sp>
        <p:nvSpPr>
          <p:cNvPr id="18" name="Rectangle 17"/>
          <p:cNvSpPr/>
          <p:nvPr/>
        </p:nvSpPr>
        <p:spPr>
          <a:xfrm>
            <a:off x="4617720" y="4358830"/>
            <a:ext cx="3931920" cy="14630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4846320" y="4514278"/>
            <a:ext cx="3474720" cy="274320"/>
          </a:xfrm>
          <a:prstGeom prst="rect">
            <a:avLst/>
          </a:prstGeom>
          <a:noFill/>
        </p:spPr>
        <p:txBody>
          <a:bodyPr wrap="square" lIns="0" tIns="0" rIns="0" bIns="0" anchor="t">
            <a:spAutoFit/>
          </a:bodyPr>
          <a:lstStyle/>
          <a:p>
            <a:pPr algn="l"/>
            <a:r>
              <a:rPr sz="1800" b="1" i="0" spc="80">
                <a:solidFill>
                  <a:srgbClr val="8E6F3E"/>
                </a:solidFill>
                <a:latin typeface="Calibri"/>
              </a:rPr>
              <a:t>AND THEY COST</a:t>
            </a:r>
          </a:p>
        </p:txBody>
      </p:sp>
      <p:sp>
        <p:nvSpPr>
          <p:cNvPr id="20" name="TextBox 19"/>
          <p:cNvSpPr txBox="1"/>
          <p:nvPr/>
        </p:nvSpPr>
        <p:spPr>
          <a:xfrm>
            <a:off x="4846320" y="4880039"/>
            <a:ext cx="3474720" cy="691087"/>
          </a:xfrm>
          <a:prstGeom prst="rect">
            <a:avLst/>
          </a:prstGeom>
          <a:noFill/>
        </p:spPr>
        <p:txBody>
          <a:bodyPr wrap="square" lIns="0" tIns="0" rIns="0" bIns="0" anchor="t">
            <a:spAutoFit/>
          </a:bodyPr>
          <a:lstStyle/>
          <a:p>
            <a:pPr algn="l">
              <a:lnSpc>
                <a:spcPct val="130000"/>
              </a:lnSpc>
            </a:pPr>
            <a:r>
              <a:rPr sz="1800" b="0" i="0" dirty="0">
                <a:solidFill>
                  <a:srgbClr val="353638"/>
                </a:solidFill>
                <a:latin typeface="Calibri"/>
              </a:rPr>
              <a:t>authoring effort · expertise · tooling ·</a:t>
            </a:r>
          </a:p>
          <a:p>
            <a:pPr algn="l">
              <a:lnSpc>
                <a:spcPct val="130000"/>
              </a:lnSpc>
            </a:pPr>
            <a:r>
              <a:rPr sz="1800" b="0" i="0" dirty="0">
                <a:solidFill>
                  <a:srgbClr val="353638"/>
                </a:solidFill>
                <a:latin typeface="Calibri"/>
              </a:rPr>
              <a:t>maintenance · human accessibility</a:t>
            </a:r>
          </a:p>
        </p:txBody>
      </p:sp>
      <p:sp>
        <p:nvSpPr>
          <p:cNvPr id="21" name="Rectangle 20"/>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The engineering decision is not “maximize semantics.”</a:t>
            </a:r>
          </a:p>
        </p:txBody>
      </p:sp>
      <p:sp>
        <p:nvSpPr>
          <p:cNvPr id="22" name="TextBox 21"/>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6</a:t>
            </a:r>
          </a:p>
        </p:txBody>
      </p:sp>
      <p:pic>
        <p:nvPicPr>
          <p:cNvPr id="23" name="Picture 22" descr="image1.png"/>
          <p:cNvPicPr>
            <a:picLocks noChangeAspect="1"/>
          </p:cNvPicPr>
          <p:nvPr/>
        </p:nvPicPr>
        <p:blipFill>
          <a:blip r:embed="rId3"/>
          <a:stretch>
            <a:fillRect/>
          </a:stretch>
        </p:blipFill>
        <p:spPr>
          <a:xfrm>
            <a:off x="8759952" y="6638544"/>
            <a:ext cx="325247" cy="17373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Verbosity is not the same thing as p</a:t>
            </a:r>
            <a:r>
              <a:rPr sz="2400" b="0" i="0" spc="140" dirty="0">
                <a:solidFill>
                  <a:srgbClr val="353638"/>
                </a:solidFill>
                <a:latin typeface="Calibri"/>
              </a:rPr>
              <a:t>recision</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cxnSp>
        <p:nvCxnSpPr>
          <p:cNvPr id="4" name="Connector 3"/>
          <p:cNvCxnSpPr>
            <a:cxnSpLocks/>
          </p:cNvCxnSpPr>
          <p:nvPr/>
        </p:nvCxnSpPr>
        <p:spPr>
          <a:xfrm flipV="1">
            <a:off x="685800" y="1234440"/>
            <a:ext cx="0" cy="3246120"/>
          </a:xfrm>
          <a:prstGeom prst="line">
            <a:avLst/>
          </a:prstGeom>
          <a:ln w="2540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a:cxnSpLocks/>
          </p:cNvCxnSpPr>
          <p:nvPr/>
        </p:nvCxnSpPr>
        <p:spPr>
          <a:xfrm>
            <a:off x="685800" y="4480560"/>
            <a:ext cx="3794760" cy="0"/>
          </a:xfrm>
          <a:prstGeom prst="line">
            <a:avLst/>
          </a:prstGeom>
          <a:ln w="2540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91477" y="978407"/>
            <a:ext cx="2377440" cy="274320"/>
          </a:xfrm>
          <a:prstGeom prst="rect">
            <a:avLst/>
          </a:prstGeom>
          <a:noFill/>
        </p:spPr>
        <p:txBody>
          <a:bodyPr wrap="square" lIns="0" tIns="0" rIns="0" bIns="0" anchor="t">
            <a:spAutoFit/>
          </a:bodyPr>
          <a:lstStyle/>
          <a:p>
            <a:pPr algn="l"/>
            <a:r>
              <a:rPr sz="1800" b="1" i="0" spc="80" dirty="0">
                <a:solidFill>
                  <a:srgbClr val="5C4826"/>
                </a:solidFill>
                <a:latin typeface="Calibri"/>
              </a:rPr>
              <a:t>AMOUNT SPECIFIED</a:t>
            </a:r>
          </a:p>
        </p:txBody>
      </p:sp>
      <p:sp>
        <p:nvSpPr>
          <p:cNvPr id="7" name="TextBox 6"/>
          <p:cNvSpPr txBox="1"/>
          <p:nvPr/>
        </p:nvSpPr>
        <p:spPr>
          <a:xfrm>
            <a:off x="2834640" y="4590288"/>
            <a:ext cx="2103120" cy="429768"/>
          </a:xfrm>
          <a:prstGeom prst="rect">
            <a:avLst/>
          </a:prstGeom>
          <a:noFill/>
        </p:spPr>
        <p:txBody>
          <a:bodyPr wrap="square" lIns="0" tIns="0" rIns="0" bIns="0" anchor="t">
            <a:spAutoFit/>
          </a:bodyPr>
          <a:lstStyle/>
          <a:p>
            <a:pPr algn="l"/>
            <a:r>
              <a:rPr sz="1800" b="1" i="0" spc="80">
                <a:solidFill>
                  <a:srgbClr val="5C4826"/>
                </a:solidFill>
                <a:latin typeface="Calibri"/>
              </a:rPr>
              <a:t>PRECISION OF MEANING</a:t>
            </a:r>
          </a:p>
        </p:txBody>
      </p:sp>
      <p:sp>
        <p:nvSpPr>
          <p:cNvPr id="8" name="Rectangle 7"/>
          <p:cNvSpPr/>
          <p:nvPr/>
        </p:nvSpPr>
        <p:spPr>
          <a:xfrm>
            <a:off x="934403" y="1488186"/>
            <a:ext cx="1965951" cy="11155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0" i="0" dirty="0">
                <a:solidFill>
                  <a:srgbClr val="353638"/>
                </a:solidFill>
                <a:latin typeface="Calibri"/>
              </a:rPr>
              <a:t>an enormous prose</a:t>
            </a:r>
          </a:p>
          <a:p>
            <a:pPr algn="ctr">
              <a:lnSpc>
                <a:spcPct val="100000"/>
              </a:lnSpc>
            </a:pPr>
            <a:r>
              <a:rPr sz="1800" b="0" i="0" dirty="0">
                <a:solidFill>
                  <a:srgbClr val="353638"/>
                </a:solidFill>
                <a:latin typeface="Calibri"/>
              </a:rPr>
              <a:t>spec — still</a:t>
            </a:r>
          </a:p>
          <a:p>
            <a:pPr algn="ctr">
              <a:lnSpc>
                <a:spcPct val="100000"/>
              </a:lnSpc>
            </a:pPr>
            <a:r>
              <a:rPr sz="1800" b="0" i="0" dirty="0">
                <a:solidFill>
                  <a:srgbClr val="353638"/>
                </a:solidFill>
                <a:latin typeface="Calibri"/>
              </a:rPr>
              <a:t>ambiguous</a:t>
            </a:r>
          </a:p>
        </p:txBody>
      </p:sp>
      <p:sp>
        <p:nvSpPr>
          <p:cNvPr id="9" name="Rectangle 8"/>
          <p:cNvSpPr/>
          <p:nvPr/>
        </p:nvSpPr>
        <p:spPr>
          <a:xfrm>
            <a:off x="2468880" y="3342133"/>
            <a:ext cx="2103120" cy="777240"/>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0" i="0" dirty="0">
                <a:solidFill>
                  <a:srgbClr val="5C4826"/>
                </a:solidFill>
                <a:latin typeface="Calibri"/>
              </a:rPr>
              <a:t>a tiny model —</a:t>
            </a:r>
          </a:p>
          <a:p>
            <a:pPr algn="ctr">
              <a:lnSpc>
                <a:spcPct val="100000"/>
              </a:lnSpc>
            </a:pPr>
            <a:r>
              <a:rPr sz="1800" b="0" i="0" dirty="0">
                <a:solidFill>
                  <a:srgbClr val="5C4826"/>
                </a:solidFill>
                <a:latin typeface="Calibri"/>
              </a:rPr>
              <a:t>semantically</a:t>
            </a:r>
          </a:p>
          <a:p>
            <a:pPr algn="ctr">
              <a:lnSpc>
                <a:spcPct val="100000"/>
              </a:lnSpc>
            </a:pPr>
            <a:r>
              <a:rPr sz="1800" b="0" i="0" dirty="0">
                <a:solidFill>
                  <a:srgbClr val="5C4826"/>
                </a:solidFill>
                <a:latin typeface="Calibri"/>
              </a:rPr>
              <a:t>precise</a:t>
            </a:r>
          </a:p>
        </p:txBody>
      </p:sp>
      <p:sp>
        <p:nvSpPr>
          <p:cNvPr id="10" name="TextBox 9"/>
          <p:cNvSpPr txBox="1"/>
          <p:nvPr/>
        </p:nvSpPr>
        <p:spPr>
          <a:xfrm>
            <a:off x="117764" y="4606893"/>
            <a:ext cx="4114800" cy="299826"/>
          </a:xfrm>
          <a:prstGeom prst="rect">
            <a:avLst/>
          </a:prstGeom>
          <a:noFill/>
        </p:spPr>
        <p:txBody>
          <a:bodyPr wrap="square" lIns="0" tIns="0" rIns="0" bIns="0" anchor="t">
            <a:spAutoFit/>
          </a:bodyPr>
          <a:lstStyle/>
          <a:p>
            <a:pPr algn="l">
              <a:lnSpc>
                <a:spcPct val="115000"/>
              </a:lnSpc>
            </a:pPr>
            <a:r>
              <a:rPr lang="en-US" sz="1800" b="0" i="1" dirty="0">
                <a:solidFill>
                  <a:srgbClr val="555960"/>
                </a:solidFill>
                <a:latin typeface="Calibri"/>
              </a:rPr>
              <a:t>Independent </a:t>
            </a:r>
            <a:r>
              <a:rPr sz="1800" b="0" i="1" dirty="0">
                <a:solidFill>
                  <a:srgbClr val="555960"/>
                </a:solidFill>
                <a:latin typeface="Calibri"/>
              </a:rPr>
              <a:t>axes</a:t>
            </a:r>
          </a:p>
        </p:txBody>
      </p:sp>
      <p:sp>
        <p:nvSpPr>
          <p:cNvPr id="11" name="Rectangle 10"/>
          <p:cNvSpPr/>
          <p:nvPr/>
        </p:nvSpPr>
        <p:spPr>
          <a:xfrm>
            <a:off x="4983479" y="1188720"/>
            <a:ext cx="3794753" cy="22402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5212080" y="1371600"/>
            <a:ext cx="3474720" cy="594137"/>
          </a:xfrm>
          <a:prstGeom prst="rect">
            <a:avLst/>
          </a:prstGeom>
          <a:noFill/>
        </p:spPr>
        <p:txBody>
          <a:bodyPr wrap="square" lIns="0" tIns="0" rIns="0" bIns="0" anchor="t">
            <a:spAutoFit/>
          </a:bodyPr>
          <a:lstStyle/>
          <a:p>
            <a:pPr algn="l">
              <a:lnSpc>
                <a:spcPct val="110000"/>
              </a:lnSpc>
            </a:pPr>
            <a:r>
              <a:rPr lang="en-US" sz="1800" b="1" i="0" spc="60" dirty="0">
                <a:solidFill>
                  <a:srgbClr val="8E6F3E"/>
                </a:solidFill>
                <a:latin typeface="Calibri"/>
              </a:rPr>
              <a:t>Stronger semantics</a:t>
            </a:r>
          </a:p>
          <a:p>
            <a:pPr algn="l">
              <a:lnSpc>
                <a:spcPct val="110000"/>
              </a:lnSpc>
            </a:pPr>
            <a:r>
              <a:rPr lang="en-US" b="1" spc="60" dirty="0">
                <a:solidFill>
                  <a:srgbClr val="8E6F3E"/>
                </a:solidFill>
                <a:latin typeface="Calibri"/>
              </a:rPr>
              <a:t>  != Removing degrees of freedom</a:t>
            </a:r>
            <a:endParaRPr sz="1800" b="1" i="0" spc="60" dirty="0">
              <a:solidFill>
                <a:srgbClr val="8E6F3E"/>
              </a:solidFill>
              <a:latin typeface="Calibri"/>
            </a:endParaRPr>
          </a:p>
        </p:txBody>
      </p:sp>
      <p:sp>
        <p:nvSpPr>
          <p:cNvPr id="15" name="TextBox 14"/>
          <p:cNvSpPr txBox="1"/>
          <p:nvPr/>
        </p:nvSpPr>
        <p:spPr>
          <a:xfrm>
            <a:off x="5257800" y="2599157"/>
            <a:ext cx="3200400" cy="594137"/>
          </a:xfrm>
          <a:prstGeom prst="rect">
            <a:avLst/>
          </a:prstGeom>
          <a:noFill/>
        </p:spPr>
        <p:txBody>
          <a:bodyPr wrap="square" lIns="0" tIns="0" rIns="0" bIns="0" anchor="t">
            <a:spAutoFit/>
          </a:bodyPr>
          <a:lstStyle/>
          <a:p>
            <a:pPr algn="l">
              <a:lnSpc>
                <a:spcPct val="110000"/>
              </a:lnSpc>
            </a:pPr>
            <a:r>
              <a:rPr lang="en-US" b="1" i="1" dirty="0">
                <a:solidFill>
                  <a:srgbClr val="5C4826"/>
                </a:solidFill>
                <a:latin typeface="Calibri"/>
              </a:rPr>
              <a:t>A specification gap is not necessarily a defect.</a:t>
            </a:r>
            <a:endParaRPr sz="1800" b="1" i="1" dirty="0">
              <a:solidFill>
                <a:srgbClr val="5C4826"/>
              </a:solidFill>
              <a:latin typeface="Calibri"/>
            </a:endParaRPr>
          </a:p>
        </p:txBody>
      </p:sp>
      <p:sp>
        <p:nvSpPr>
          <p:cNvPr id="16" name="Rectangle 15"/>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Precision about modeled decisions does not settle unmodeled decisions.</a:t>
            </a:r>
          </a:p>
        </p:txBody>
      </p:sp>
      <p:sp>
        <p:nvSpPr>
          <p:cNvPr id="17" name="TextBox 16"/>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7</a:t>
            </a:r>
          </a:p>
        </p:txBody>
      </p:sp>
      <p:pic>
        <p:nvPicPr>
          <p:cNvPr id="18" name="Picture 17" descr="image1.png"/>
          <p:cNvPicPr>
            <a:picLocks noChangeAspect="1"/>
          </p:cNvPicPr>
          <p:nvPr/>
        </p:nvPicPr>
        <p:blipFill>
          <a:blip r:embed="rId3"/>
          <a:stretch>
            <a:fillRect/>
          </a:stretch>
        </p:blipFill>
        <p:spPr>
          <a:xfrm>
            <a:off x="8759952" y="6638544"/>
            <a:ext cx="325247" cy="173736"/>
          </a:xfrm>
          <a:prstGeom prst="rect">
            <a:avLst/>
          </a:prstGeom>
        </p:spPr>
      </p:pic>
      <p:sp>
        <p:nvSpPr>
          <p:cNvPr id="14" name="Right Brace 13">
            <a:extLst>
              <a:ext uri="{FF2B5EF4-FFF2-40B4-BE49-F238E27FC236}">
                <a16:creationId xmlns:a16="http://schemas.microsoft.com/office/drawing/2014/main" id="{989E0CDC-8527-BCD9-FF44-5408AB29BCFC}"/>
              </a:ext>
            </a:extLst>
          </p:cNvPr>
          <p:cNvSpPr/>
          <p:nvPr/>
        </p:nvSpPr>
        <p:spPr>
          <a:xfrm>
            <a:off x="4614260" y="1488186"/>
            <a:ext cx="320036" cy="1812297"/>
          </a:xfrm>
          <a:prstGeom prst="rightBrace">
            <a:avLst/>
          </a:prstGeom>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P spid="15" grpId="0"/>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Degrees of semantic commitment</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8</a:t>
            </a:r>
          </a:p>
        </p:txBody>
      </p:sp>
      <p:pic>
        <p:nvPicPr>
          <p:cNvPr id="32" name="Picture 31" descr="image1.png"/>
          <p:cNvPicPr>
            <a:picLocks noChangeAspect="1"/>
          </p:cNvPicPr>
          <p:nvPr/>
        </p:nvPicPr>
        <p:blipFill>
          <a:blip r:embed="rId3"/>
          <a:stretch>
            <a:fillRect/>
          </a:stretch>
        </p:blipFill>
        <p:spPr>
          <a:xfrm>
            <a:off x="8759952" y="6638544"/>
            <a:ext cx="325247" cy="173736"/>
          </a:xfrm>
          <a:prstGeom prst="rect">
            <a:avLst/>
          </a:prstGeom>
        </p:spPr>
      </p:pic>
      <p:graphicFrame>
        <p:nvGraphicFramePr>
          <p:cNvPr id="33" name="Table 32"/>
          <p:cNvGraphicFramePr>
            <a:graphicFrameLocks noGrp="1"/>
          </p:cNvGraphicFramePr>
          <p:nvPr>
            <p:extLst>
              <p:ext uri="{D42A27DB-BD31-4B8C-83A1-F6EECF244321}">
                <p14:modId xmlns:p14="http://schemas.microsoft.com/office/powerpoint/2010/main" val="1880342771"/>
              </p:ext>
            </p:extLst>
          </p:nvPr>
        </p:nvGraphicFramePr>
        <p:xfrm>
          <a:off x="411480" y="1124712"/>
          <a:ext cx="8321040" cy="4608576"/>
        </p:xfrm>
        <a:graphic>
          <a:graphicData uri="http://schemas.openxmlformats.org/drawingml/2006/table">
            <a:tbl>
              <a:tblPr firstRow="1">
                <a:tableStyleId>{5C22544A-7EE6-4342-B048-85BDC9FD1C3A}</a:tableStyleId>
              </a:tblPr>
              <a:tblGrid>
                <a:gridCol w="1737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48640">
                <a:tc>
                  <a:txBody>
                    <a:bodyPr/>
                    <a:lstStyle/>
                    <a:p>
                      <a:r>
                        <a:rPr sz="1800" b="1">
                          <a:solidFill>
                            <a:srgbClr val="FFFFFF"/>
                          </a:solidFill>
                        </a:rPr>
                        <a:t>Example</a:t>
                      </a:r>
                    </a:p>
                  </a:txBody>
                  <a:tcPr marL="118872" marR="82296" marT="54864" marB="54864" anchor="ctr">
                    <a:solidFill>
                      <a:srgbClr val="8E6F3E"/>
                    </a:solidFill>
                  </a:tcPr>
                </a:tc>
                <a:tc>
                  <a:txBody>
                    <a:bodyPr/>
                    <a:lstStyle/>
                    <a:p>
                      <a:r>
                        <a:rPr sz="1800" b="1">
                          <a:solidFill>
                            <a:srgbClr val="FFFFFF"/>
                          </a:solidFill>
                        </a:rPr>
                        <a:t>Meaning carried by</a:t>
                      </a:r>
                    </a:p>
                  </a:txBody>
                  <a:tcPr marL="118872" marR="82296" marT="54864" marB="54864" anchor="ctr">
                    <a:solidFill>
                      <a:srgbClr val="8E6F3E"/>
                    </a:solidFill>
                  </a:tcPr>
                </a:tc>
                <a:tc>
                  <a:txBody>
                    <a:bodyPr/>
                    <a:lstStyle/>
                    <a:p>
                      <a:r>
                        <a:rPr sz="1800" b="1">
                          <a:solidFill>
                            <a:srgbClr val="FFFFFF"/>
                          </a:solidFill>
                        </a:rPr>
                        <a:t>Interpretation burden</a:t>
                      </a:r>
                    </a:p>
                  </a:txBody>
                  <a:tcPr marL="118872" marR="82296" marT="54864" marB="54864" anchor="ctr">
                    <a:solidFill>
                      <a:srgbClr val="8E6F3E"/>
                    </a:solidFill>
                  </a:tcPr>
                </a:tc>
                <a:tc>
                  <a:txBody>
                    <a:bodyPr/>
                    <a:lstStyle/>
                    <a:p>
                      <a:r>
                        <a:rPr sz="1800" b="1">
                          <a:solidFill>
                            <a:srgbClr val="FFFFFF"/>
                          </a:solidFill>
                        </a:rPr>
                        <a:t>Enables</a:t>
                      </a:r>
                    </a:p>
                  </a:txBody>
                  <a:tcPr marL="118872" marR="82296" marT="54864" marB="54864" anchor="ctr">
                    <a:solidFill>
                      <a:srgbClr val="8E6F3E"/>
                    </a:solidFill>
                  </a:tcPr>
                </a:tc>
                <a:extLst>
                  <a:ext uri="{0D108BD9-81ED-4DB2-BD59-A6C34878D82A}">
                    <a16:rowId xmlns:a16="http://schemas.microsoft.com/office/drawing/2014/main" val="10000"/>
                  </a:ext>
                </a:extLst>
              </a:tr>
              <a:tr h="987552">
                <a:tc>
                  <a:txBody>
                    <a:bodyPr/>
                    <a:lstStyle/>
                    <a:p>
                      <a:r>
                        <a:rPr sz="1800" b="1">
                          <a:solidFill>
                            <a:srgbClr val="8E6F3E"/>
                          </a:solidFill>
                        </a:rPr>
                        <a:t>Informal sketch</a:t>
                      </a:r>
                    </a:p>
                  </a:txBody>
                  <a:tcPr marL="118872" marR="82296" marT="54864" marB="54864" anchor="ctr">
                    <a:solidFill>
                      <a:srgbClr val="F7F3EC"/>
                    </a:solidFill>
                  </a:tcPr>
                </a:tc>
                <a:tc>
                  <a:txBody>
                    <a:bodyPr/>
                    <a:lstStyle/>
                    <a:p>
                      <a:r>
                        <a:rPr sz="1800" b="0">
                          <a:solidFill>
                            <a:srgbClr val="353638"/>
                          </a:solidFill>
                        </a:rPr>
                        <a:t>Team context</a:t>
                      </a:r>
                    </a:p>
                  </a:txBody>
                  <a:tcPr marL="118872" marR="82296" marT="54864" marB="54864" anchor="ctr">
                    <a:solidFill>
                      <a:srgbClr val="F7F3EC"/>
                    </a:solidFill>
                  </a:tcPr>
                </a:tc>
                <a:tc>
                  <a:txBody>
                    <a:bodyPr/>
                    <a:lstStyle/>
                    <a:p>
                      <a:r>
                        <a:rPr sz="1800" b="0">
                          <a:solidFill>
                            <a:srgbClr val="353638"/>
                          </a:solidFill>
                        </a:rPr>
                        <a:t>Low if context is shared</a:t>
                      </a:r>
                    </a:p>
                  </a:txBody>
                  <a:tcPr marL="118872" marR="82296" marT="54864" marB="54864" anchor="ctr">
                    <a:solidFill>
                      <a:srgbClr val="F7F3EC"/>
                    </a:solidFill>
                  </a:tcPr>
                </a:tc>
                <a:tc>
                  <a:txBody>
                    <a:bodyPr/>
                    <a:lstStyle/>
                    <a:p>
                      <a:r>
                        <a:rPr sz="1800" b="0">
                          <a:solidFill>
                            <a:srgbClr val="353638"/>
                          </a:solidFill>
                        </a:rPr>
                        <a:t>Fast communication</a:t>
                      </a:r>
                    </a:p>
                  </a:txBody>
                  <a:tcPr marL="118872" marR="82296" marT="54864" marB="54864" anchor="ctr">
                    <a:solidFill>
                      <a:srgbClr val="F7F3EC"/>
                    </a:solidFill>
                  </a:tcPr>
                </a:tc>
                <a:extLst>
                  <a:ext uri="{0D108BD9-81ED-4DB2-BD59-A6C34878D82A}">
                    <a16:rowId xmlns:a16="http://schemas.microsoft.com/office/drawing/2014/main" val="10001"/>
                  </a:ext>
                </a:extLst>
              </a:tr>
              <a:tr h="987552">
                <a:tc>
                  <a:txBody>
                    <a:bodyPr/>
                    <a:lstStyle/>
                    <a:p>
                      <a:r>
                        <a:rPr sz="1800" b="1" dirty="0">
                          <a:solidFill>
                            <a:srgbClr val="8E6F3E"/>
                          </a:solidFill>
                        </a:rPr>
                        <a:t>UML</a:t>
                      </a:r>
                    </a:p>
                  </a:txBody>
                  <a:tcPr marL="118872" marR="82296" marT="54864" marB="54864" anchor="ctr">
                    <a:solidFill>
                      <a:srgbClr val="F7F3EC"/>
                    </a:solidFill>
                  </a:tcPr>
                </a:tc>
                <a:tc>
                  <a:txBody>
                    <a:bodyPr/>
                    <a:lstStyle/>
                    <a:p>
                      <a:r>
                        <a:rPr sz="1800" b="0">
                          <a:solidFill>
                            <a:srgbClr val="353638"/>
                          </a:solidFill>
                        </a:rPr>
                        <a:t>Standardized elements + relations</a:t>
                      </a:r>
                    </a:p>
                  </a:txBody>
                  <a:tcPr marL="118872" marR="82296" marT="54864" marB="54864" anchor="ctr">
                    <a:solidFill>
                      <a:srgbClr val="F7F3EC"/>
                    </a:solidFill>
                  </a:tcPr>
                </a:tc>
                <a:tc>
                  <a:txBody>
                    <a:bodyPr/>
                    <a:lstStyle/>
                    <a:p>
                      <a:r>
                        <a:rPr sz="1800" b="0">
                          <a:solidFill>
                            <a:srgbClr val="353638"/>
                          </a:solidFill>
                        </a:rPr>
                        <a:t>Notation + project context</a:t>
                      </a:r>
                    </a:p>
                  </a:txBody>
                  <a:tcPr marL="118872" marR="82296" marT="54864" marB="54864" anchor="ctr">
                    <a:solidFill>
                      <a:srgbClr val="F7F3EC"/>
                    </a:solidFill>
                  </a:tcPr>
                </a:tc>
                <a:tc>
                  <a:txBody>
                    <a:bodyPr/>
                    <a:lstStyle/>
                    <a:p>
                      <a:r>
                        <a:rPr sz="1800" b="0">
                          <a:solidFill>
                            <a:srgbClr val="353638"/>
                          </a:solidFill>
                        </a:rPr>
                        <a:t>Shared interpretation</a:t>
                      </a:r>
                    </a:p>
                  </a:txBody>
                  <a:tcPr marL="118872" marR="82296" marT="54864" marB="54864" anchor="ctr">
                    <a:solidFill>
                      <a:srgbClr val="F7F3EC"/>
                    </a:solidFill>
                  </a:tcPr>
                </a:tc>
                <a:extLst>
                  <a:ext uri="{0D108BD9-81ED-4DB2-BD59-A6C34878D82A}">
                    <a16:rowId xmlns:a16="http://schemas.microsoft.com/office/drawing/2014/main" val="10002"/>
                  </a:ext>
                </a:extLst>
              </a:tr>
              <a:tr h="987552">
                <a:tc>
                  <a:txBody>
                    <a:bodyPr/>
                    <a:lstStyle/>
                    <a:p>
                      <a:r>
                        <a:rPr sz="1800" b="1">
                          <a:solidFill>
                            <a:srgbClr val="8E6F3E"/>
                          </a:solidFill>
                        </a:rPr>
                        <a:t>OpenAPI / JSON Schema</a:t>
                      </a:r>
                    </a:p>
                  </a:txBody>
                  <a:tcPr marL="118872" marR="82296" marT="54864" marB="54864" anchor="ctr">
                    <a:solidFill>
                      <a:srgbClr val="F7F3EC"/>
                    </a:solidFill>
                  </a:tcPr>
                </a:tc>
                <a:tc>
                  <a:txBody>
                    <a:bodyPr/>
                    <a:lstStyle/>
                    <a:p>
                      <a:r>
                        <a:rPr sz="1800" b="0">
                          <a:solidFill>
                            <a:srgbClr val="353638"/>
                          </a:solidFill>
                        </a:rPr>
                        <a:t>Machine-readable structure + constraints</a:t>
                      </a:r>
                    </a:p>
                  </a:txBody>
                  <a:tcPr marL="118872" marR="82296" marT="54864" marB="54864" anchor="ctr">
                    <a:solidFill>
                      <a:srgbClr val="F7F3EC"/>
                    </a:solidFill>
                  </a:tcPr>
                </a:tc>
                <a:tc>
                  <a:txBody>
                    <a:bodyPr/>
                    <a:lstStyle/>
                    <a:p>
                      <a:r>
                        <a:rPr sz="1800" b="0">
                          <a:solidFill>
                            <a:srgbClr val="353638"/>
                          </a:solidFill>
                        </a:rPr>
                        <a:t>Domain intent remains contextual</a:t>
                      </a:r>
                    </a:p>
                  </a:txBody>
                  <a:tcPr marL="118872" marR="82296" marT="54864" marB="54864" anchor="ctr">
                    <a:solidFill>
                      <a:srgbClr val="F7F3EC"/>
                    </a:solidFill>
                  </a:tcPr>
                </a:tc>
                <a:tc>
                  <a:txBody>
                    <a:bodyPr/>
                    <a:lstStyle/>
                    <a:p>
                      <a:r>
                        <a:rPr sz="1800" b="0">
                          <a:solidFill>
                            <a:srgbClr val="353638"/>
                          </a:solidFill>
                        </a:rPr>
                        <a:t>Validation + transformation</a:t>
                      </a:r>
                    </a:p>
                  </a:txBody>
                  <a:tcPr marL="118872" marR="82296" marT="54864" marB="54864" anchor="ctr">
                    <a:solidFill>
                      <a:srgbClr val="F7F3EC"/>
                    </a:solidFill>
                  </a:tcPr>
                </a:tc>
                <a:extLst>
                  <a:ext uri="{0D108BD9-81ED-4DB2-BD59-A6C34878D82A}">
                    <a16:rowId xmlns:a16="http://schemas.microsoft.com/office/drawing/2014/main" val="10003"/>
                  </a:ext>
                </a:extLst>
              </a:tr>
              <a:tr h="987552">
                <a:tc>
                  <a:txBody>
                    <a:bodyPr/>
                    <a:lstStyle/>
                    <a:p>
                      <a:r>
                        <a:rPr sz="1800" b="1" dirty="0" err="1">
                          <a:solidFill>
                            <a:srgbClr val="8E6F3E"/>
                          </a:solidFill>
                        </a:rPr>
                        <a:t>SysML</a:t>
                      </a:r>
                      <a:r>
                        <a:rPr sz="1800" b="1" dirty="0">
                          <a:solidFill>
                            <a:srgbClr val="8E6F3E"/>
                          </a:solidFill>
                        </a:rPr>
                        <a:t> + KerML</a:t>
                      </a:r>
                    </a:p>
                  </a:txBody>
                  <a:tcPr marL="118872" marR="82296" marT="54864" marB="54864" anchor="ctr">
                    <a:solidFill>
                      <a:srgbClr val="F7F3EC"/>
                    </a:solidFill>
                  </a:tcPr>
                </a:tc>
                <a:tc>
                  <a:txBody>
                    <a:bodyPr/>
                    <a:lstStyle/>
                    <a:p>
                      <a:r>
                        <a:rPr sz="1800" b="0">
                          <a:solidFill>
                            <a:srgbClr val="353638"/>
                          </a:solidFill>
                        </a:rPr>
                        <a:t>Language-defined semantics</a:t>
                      </a:r>
                    </a:p>
                  </a:txBody>
                  <a:tcPr marL="118872" marR="82296" marT="54864" marB="54864" anchor="ctr">
                    <a:solidFill>
                      <a:srgbClr val="F7F3EC"/>
                    </a:solidFill>
                  </a:tcPr>
                </a:tc>
                <a:tc>
                  <a:txBody>
                    <a:bodyPr/>
                    <a:lstStyle/>
                    <a:p>
                      <a:r>
                        <a:rPr sz="1800" b="0" dirty="0">
                          <a:solidFill>
                            <a:srgbClr val="353638"/>
                          </a:solidFill>
                        </a:rPr>
                        <a:t>Language +</a:t>
                      </a:r>
                      <a:endParaRPr lang="en-US" sz="1800" b="0" dirty="0">
                        <a:solidFill>
                          <a:srgbClr val="353638"/>
                        </a:solidFill>
                      </a:endParaRPr>
                    </a:p>
                    <a:p>
                      <a:r>
                        <a:rPr sz="1800" b="0" dirty="0">
                          <a:solidFill>
                            <a:srgbClr val="353638"/>
                          </a:solidFill>
                        </a:rPr>
                        <a:t>tool knowledge</a:t>
                      </a:r>
                    </a:p>
                  </a:txBody>
                  <a:tcPr marL="118872" marR="82296" marT="54864" marB="54864" anchor="ctr">
                    <a:solidFill>
                      <a:srgbClr val="F7F3EC"/>
                    </a:solidFill>
                  </a:tcPr>
                </a:tc>
                <a:tc>
                  <a:txBody>
                    <a:bodyPr/>
                    <a:lstStyle/>
                    <a:p>
                      <a:r>
                        <a:rPr sz="1800" b="0" dirty="0">
                          <a:solidFill>
                            <a:srgbClr val="353638"/>
                          </a:solidFill>
                        </a:rPr>
                        <a:t>Query + analysis + composition</a:t>
                      </a:r>
                    </a:p>
                  </a:txBody>
                  <a:tcPr marL="118872" marR="82296" marT="54864" marB="54864" anchor="ctr">
                    <a:solidFill>
                      <a:srgbClr val="F7F3EC"/>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86D28-52C7-2868-C971-96E8B012E02E}"/>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50258CF4-7888-2BCF-AAAF-481A37A88DE1}"/>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a:extLst>
              <a:ext uri="{FF2B5EF4-FFF2-40B4-BE49-F238E27FC236}">
                <a16:creationId xmlns:a16="http://schemas.microsoft.com/office/drawing/2014/main" id="{DC850D57-C430-D53D-578F-C13F71184F2F}"/>
              </a:ext>
            </a:extLst>
          </p:cNvPr>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Engineering with Semantic Models</a:t>
            </a:r>
          </a:p>
        </p:txBody>
      </p:sp>
      <p:sp>
        <p:nvSpPr>
          <p:cNvPr id="3" name="Slide Number Placeholder 3">
            <a:extLst>
              <a:ext uri="{FF2B5EF4-FFF2-40B4-BE49-F238E27FC236}">
                <a16:creationId xmlns:a16="http://schemas.microsoft.com/office/drawing/2014/main" id="{3C3F00F5-76EA-016A-8CA9-2B6E53A4BEF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2AA87FCB-8D49-AC14-3216-7C7C497B32D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can we do because the model has meaning?</a:t>
            </a:r>
          </a:p>
        </p:txBody>
      </p:sp>
      <p:sp>
        <p:nvSpPr>
          <p:cNvPr id="103" name="Rule">
            <a:extLst>
              <a:ext uri="{FF2B5EF4-FFF2-40B4-BE49-F238E27FC236}">
                <a16:creationId xmlns:a16="http://schemas.microsoft.com/office/drawing/2014/main" id="{F2FE5A5C-1315-D099-741E-4E7639DE3760}"/>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11187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Same system, different questions</a:t>
            </a:r>
          </a:p>
        </p:txBody>
      </p:sp>
      <p:sp>
        <p:nvSpPr>
          <p:cNvPr id="3" name="Title rule"/>
          <p:cNvSpPr/>
          <p:nvPr/>
        </p:nvSpPr>
        <p:spPr>
          <a:xfrm>
            <a:off x="1676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4" name="Footer takeaway"/>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Same components. Different distinctions. Different questions become answerable.</a:t>
            </a:r>
          </a:p>
        </p:txBody>
      </p:sp>
      <p:sp>
        <p:nvSpPr>
          <p:cNvPr id="5" name="Page number"/>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11</a:t>
            </a:r>
          </a:p>
        </p:txBody>
      </p:sp>
      <p:sp>
        <p:nvSpPr>
          <p:cNvPr id="6" name="Header INFORMAL SKETCH"/>
          <p:cNvSpPr txBox="1"/>
          <p:nvPr/>
        </p:nvSpPr>
        <p:spPr>
          <a:xfrm>
            <a:off x="413639" y="839478"/>
            <a:ext cx="2286000" cy="274320"/>
          </a:xfrm>
          <a:prstGeom prst="rect">
            <a:avLst/>
          </a:prstGeom>
          <a:noFill/>
        </p:spPr>
        <p:txBody>
          <a:bodyPr wrap="square" lIns="0" tIns="0" rIns="0" bIns="0" anchor="t">
            <a:spAutoFit/>
          </a:bodyPr>
          <a:lstStyle/>
          <a:p>
            <a:pPr algn="ctr"/>
            <a:r>
              <a:rPr sz="1800" b="1" i="0" spc="100">
                <a:solidFill>
                  <a:srgbClr val="8E6F3E"/>
                </a:solidFill>
                <a:latin typeface="Calibri"/>
              </a:rPr>
              <a:t>INFORMAL SKETCH</a:t>
            </a:r>
          </a:p>
        </p:txBody>
      </p:sp>
      <p:sp>
        <p:nvSpPr>
          <p:cNvPr id="7" name="Header RESOURCE MODEL"/>
          <p:cNvSpPr txBox="1"/>
          <p:nvPr/>
        </p:nvSpPr>
        <p:spPr>
          <a:xfrm>
            <a:off x="2841318" y="839478"/>
            <a:ext cx="2926080" cy="274320"/>
          </a:xfrm>
          <a:prstGeom prst="rect">
            <a:avLst/>
          </a:prstGeom>
          <a:noFill/>
        </p:spPr>
        <p:txBody>
          <a:bodyPr wrap="square" lIns="0" tIns="0" rIns="0" bIns="0" anchor="t">
            <a:spAutoFit/>
          </a:bodyPr>
          <a:lstStyle/>
          <a:p>
            <a:pPr algn="ctr"/>
            <a:r>
              <a:rPr sz="1800" b="1" i="0" spc="100">
                <a:solidFill>
                  <a:srgbClr val="8E6F3E"/>
                </a:solidFill>
                <a:latin typeface="Calibri"/>
              </a:rPr>
              <a:t>RESOURCE MODEL</a:t>
            </a:r>
          </a:p>
        </p:txBody>
      </p:sp>
      <p:sp>
        <p:nvSpPr>
          <p:cNvPr id="9" name="B1 Informal Sensor"/>
          <p:cNvSpPr/>
          <p:nvPr/>
        </p:nvSpPr>
        <p:spPr>
          <a:xfrm>
            <a:off x="779399" y="1231638"/>
            <a:ext cx="1554480" cy="640080"/>
          </a:xfrm>
          <a:prstGeom prst="rect">
            <a:avLst/>
          </a:prstGeom>
          <a:solidFill>
            <a:srgbClr val="FFFFFF"/>
          </a:solidFill>
          <a:ln w="12700">
            <a:solidFill>
              <a:srgbClr val="55596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0" i="0">
                <a:solidFill>
                  <a:srgbClr val="353638"/>
                </a:solidFill>
                <a:latin typeface="Calibri"/>
              </a:rPr>
              <a:t>Sensor</a:t>
            </a:r>
          </a:p>
        </p:txBody>
      </p:sp>
      <p:sp>
        <p:nvSpPr>
          <p:cNvPr id="10" name="B1 Informal Buffer"/>
          <p:cNvSpPr/>
          <p:nvPr/>
        </p:nvSpPr>
        <p:spPr>
          <a:xfrm>
            <a:off x="779399" y="2511798"/>
            <a:ext cx="1554480" cy="640080"/>
          </a:xfrm>
          <a:prstGeom prst="rect">
            <a:avLst/>
          </a:prstGeom>
          <a:solidFill>
            <a:srgbClr val="FFFFFF"/>
          </a:solidFill>
          <a:ln w="12700">
            <a:solidFill>
              <a:srgbClr val="55596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0" i="0">
                <a:solidFill>
                  <a:srgbClr val="353638"/>
                </a:solidFill>
                <a:latin typeface="Calibri"/>
              </a:rPr>
              <a:t>Buffer</a:t>
            </a:r>
          </a:p>
        </p:txBody>
      </p:sp>
      <p:sp>
        <p:nvSpPr>
          <p:cNvPr id="11" name="B1 Informal Radio"/>
          <p:cNvSpPr/>
          <p:nvPr/>
        </p:nvSpPr>
        <p:spPr>
          <a:xfrm>
            <a:off x="779399" y="3791958"/>
            <a:ext cx="1554480" cy="640080"/>
          </a:xfrm>
          <a:prstGeom prst="rect">
            <a:avLst/>
          </a:prstGeom>
          <a:solidFill>
            <a:srgbClr val="FFFFFF"/>
          </a:solidFill>
          <a:ln w="12700">
            <a:solidFill>
              <a:srgbClr val="55596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0" i="0">
                <a:solidFill>
                  <a:srgbClr val="353638"/>
                </a:solidFill>
                <a:latin typeface="Calibri"/>
              </a:rPr>
              <a:t>Radio</a:t>
            </a:r>
          </a:p>
        </p:txBody>
      </p:sp>
      <p:cxnSp>
        <p:nvCxnSpPr>
          <p:cNvPr id="12" name="B1 Informal arrow 1"/>
          <p:cNvCxnSpPr/>
          <p:nvPr/>
        </p:nvCxnSpPr>
        <p:spPr>
          <a:xfrm>
            <a:off x="1556639" y="1871718"/>
            <a:ext cx="0" cy="640080"/>
          </a:xfrm>
          <a:prstGeom prst="line">
            <a:avLst/>
          </a:prstGeom>
          <a:ln w="12700">
            <a:solidFill>
              <a:srgbClr val="55596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B1 Informal arrow 2"/>
          <p:cNvCxnSpPr/>
          <p:nvPr/>
        </p:nvCxnSpPr>
        <p:spPr>
          <a:xfrm>
            <a:off x="1556639" y="3151878"/>
            <a:ext cx="0" cy="640080"/>
          </a:xfrm>
          <a:prstGeom prst="line">
            <a:avLst/>
          </a:prstGeom>
          <a:ln w="12700">
            <a:solidFill>
              <a:srgbClr val="55596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B2 Resource Sensor"/>
          <p:cNvSpPr/>
          <p:nvPr/>
        </p:nvSpPr>
        <p:spPr>
          <a:xfrm>
            <a:off x="3527118" y="1231638"/>
            <a:ext cx="1554480" cy="64008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Sensor</a:t>
            </a:r>
          </a:p>
        </p:txBody>
      </p:sp>
      <p:sp>
        <p:nvSpPr>
          <p:cNvPr id="15" name="B2 Resource Buffer"/>
          <p:cNvSpPr/>
          <p:nvPr/>
        </p:nvSpPr>
        <p:spPr>
          <a:xfrm>
            <a:off x="3527118" y="2511798"/>
            <a:ext cx="1554480" cy="64008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dirty="0">
                <a:solidFill>
                  <a:srgbClr val="5C4826"/>
                </a:solidFill>
                <a:latin typeface="Calibri"/>
              </a:rPr>
              <a:t>Buffer</a:t>
            </a:r>
          </a:p>
          <a:p>
            <a:pPr algn="ctr"/>
            <a:r>
              <a:rPr lang="en-US" dirty="0">
                <a:solidFill>
                  <a:srgbClr val="5C4826"/>
                </a:solidFill>
                <a:latin typeface="Consolas"/>
              </a:rPr>
              <a:t>C</a:t>
            </a:r>
            <a:r>
              <a:rPr b="0" i="0" dirty="0">
                <a:solidFill>
                  <a:srgbClr val="5C4826"/>
                </a:solidFill>
                <a:latin typeface="Consolas"/>
              </a:rPr>
              <a:t>ap</a:t>
            </a:r>
            <a:r>
              <a:rPr lang="en-US" b="0" i="0" dirty="0">
                <a:solidFill>
                  <a:srgbClr val="5C4826"/>
                </a:solidFill>
                <a:latin typeface="Consolas"/>
              </a:rPr>
              <a:t>:</a:t>
            </a:r>
            <a:r>
              <a:rPr b="0" i="0" dirty="0">
                <a:solidFill>
                  <a:srgbClr val="5C4826"/>
                </a:solidFill>
                <a:latin typeface="Consolas"/>
              </a:rPr>
              <a:t> 4 KB</a:t>
            </a:r>
          </a:p>
        </p:txBody>
      </p:sp>
      <p:sp>
        <p:nvSpPr>
          <p:cNvPr id="16" name="B2 Resource Radio"/>
          <p:cNvSpPr/>
          <p:nvPr/>
        </p:nvSpPr>
        <p:spPr>
          <a:xfrm>
            <a:off x="3527118" y="3791958"/>
            <a:ext cx="1554480" cy="64008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Radio</a:t>
            </a:r>
          </a:p>
        </p:txBody>
      </p:sp>
      <p:cxnSp>
        <p:nvCxnSpPr>
          <p:cNvPr id="17" name="B2 Resource arrow 1"/>
          <p:cNvCxnSpPr/>
          <p:nvPr/>
        </p:nvCxnSpPr>
        <p:spPr>
          <a:xfrm>
            <a:off x="4304358" y="1871718"/>
            <a:ext cx="0" cy="64008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B2 Resource arrow 2"/>
          <p:cNvCxnSpPr/>
          <p:nvPr/>
        </p:nvCxnSpPr>
        <p:spPr>
          <a:xfrm>
            <a:off x="4304358" y="3151878"/>
            <a:ext cx="0" cy="64008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B2 Resource label produces"/>
          <p:cNvSpPr txBox="1"/>
          <p:nvPr/>
        </p:nvSpPr>
        <p:spPr>
          <a:xfrm>
            <a:off x="4766079" y="1961758"/>
            <a:ext cx="1550000" cy="553998"/>
          </a:xfrm>
          <a:prstGeom prst="rect">
            <a:avLst/>
          </a:prstGeom>
          <a:noFill/>
        </p:spPr>
        <p:txBody>
          <a:bodyPr wrap="square" lIns="0" tIns="0" rIns="0" bIns="0" anchor="t">
            <a:spAutoFit/>
          </a:bodyPr>
          <a:lstStyle/>
          <a:p>
            <a:pPr algn="l"/>
            <a:r>
              <a:rPr sz="1800" b="0" i="1" dirty="0">
                <a:solidFill>
                  <a:srgbClr val="555960"/>
                </a:solidFill>
                <a:latin typeface="Calibri"/>
              </a:rPr>
              <a:t>produces</a:t>
            </a:r>
          </a:p>
          <a:p>
            <a:pPr algn="l"/>
            <a:r>
              <a:rPr sz="1800" b="0" i="0" dirty="0">
                <a:solidFill>
                  <a:srgbClr val="353638"/>
                </a:solidFill>
                <a:latin typeface="Consolas"/>
              </a:rPr>
              <a:t>512 B/</a:t>
            </a:r>
            <a:r>
              <a:rPr lang="en-US" sz="1800" b="0" i="0" dirty="0">
                <a:solidFill>
                  <a:srgbClr val="353638"/>
                </a:solidFill>
                <a:latin typeface="Consolas"/>
              </a:rPr>
              <a:t>5</a:t>
            </a:r>
            <a:r>
              <a:rPr sz="1800" b="0" i="0" dirty="0">
                <a:solidFill>
                  <a:srgbClr val="353638"/>
                </a:solidFill>
                <a:latin typeface="Consolas"/>
              </a:rPr>
              <a:t>s</a:t>
            </a:r>
          </a:p>
        </p:txBody>
      </p:sp>
      <p:sp>
        <p:nvSpPr>
          <p:cNvPr id="20" name="B2 Resource label drained"/>
          <p:cNvSpPr txBox="1"/>
          <p:nvPr/>
        </p:nvSpPr>
        <p:spPr>
          <a:xfrm>
            <a:off x="4766079" y="3241918"/>
            <a:ext cx="1550000" cy="460000"/>
          </a:xfrm>
          <a:prstGeom prst="rect">
            <a:avLst/>
          </a:prstGeom>
          <a:noFill/>
        </p:spPr>
        <p:txBody>
          <a:bodyPr wrap="square" lIns="0" tIns="0" rIns="0" bIns="0" anchor="t">
            <a:spAutoFit/>
          </a:bodyPr>
          <a:lstStyle/>
          <a:p>
            <a:pPr algn="l"/>
            <a:r>
              <a:rPr sz="1800" b="0" i="1" dirty="0">
                <a:solidFill>
                  <a:srgbClr val="555960"/>
                </a:solidFill>
                <a:latin typeface="Calibri"/>
              </a:rPr>
              <a:t>drained by</a:t>
            </a:r>
          </a:p>
          <a:p>
            <a:pPr algn="l"/>
            <a:r>
              <a:rPr sz="1800" b="0" i="0" dirty="0">
                <a:solidFill>
                  <a:srgbClr val="353638"/>
                </a:solidFill>
                <a:latin typeface="Consolas"/>
              </a:rPr>
              <a:t>4096 B/s</a:t>
            </a:r>
          </a:p>
        </p:txBody>
      </p:sp>
      <p:sp>
        <p:nvSpPr>
          <p:cNvPr id="40" name="B1 Question"/>
          <p:cNvSpPr/>
          <p:nvPr/>
        </p:nvSpPr>
        <p:spPr>
          <a:xfrm>
            <a:off x="413639" y="5209278"/>
            <a:ext cx="2286000" cy="64008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2000" b="0" i="1">
                <a:solidFill>
                  <a:srgbClr val="353638"/>
                </a:solidFill>
                <a:latin typeface="Calibri"/>
              </a:rPr>
              <a:t>“What components interact?”</a:t>
            </a:r>
          </a:p>
        </p:txBody>
      </p:sp>
      <p:sp>
        <p:nvSpPr>
          <p:cNvPr id="41" name="B2 Question"/>
          <p:cNvSpPr/>
          <p:nvPr/>
        </p:nvSpPr>
        <p:spPr>
          <a:xfrm>
            <a:off x="3233039" y="5209278"/>
            <a:ext cx="2131441" cy="64008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sz="2000" b="0" i="1" dirty="0">
                <a:solidFill>
                  <a:srgbClr val="353638"/>
                </a:solidFill>
                <a:latin typeface="Calibri"/>
              </a:rPr>
              <a:t>“How much data </a:t>
            </a:r>
            <a:endParaRPr lang="en-US" sz="2000" b="0" i="1" dirty="0">
              <a:solidFill>
                <a:srgbClr val="353638"/>
              </a:solidFill>
              <a:latin typeface="Calibri"/>
            </a:endParaRPr>
          </a:p>
          <a:p>
            <a:pPr algn="ctr">
              <a:lnSpc>
                <a:spcPct val="95000"/>
              </a:lnSpc>
            </a:pPr>
            <a:r>
              <a:rPr sz="2000" b="0" i="1" dirty="0">
                <a:solidFill>
                  <a:srgbClr val="353638"/>
                </a:solidFill>
                <a:latin typeface="Calibri"/>
              </a:rPr>
              <a:t>can we buffer?”</a:t>
            </a:r>
          </a:p>
        </p:txBody>
      </p:sp>
      <p:pic>
        <p:nvPicPr>
          <p:cNvPr id="43" name="Picture 43" descr="image1.png"/>
          <p:cNvPicPr>
            <a:picLocks noChangeAspect="1"/>
          </p:cNvPicPr>
          <p:nvPr/>
        </p:nvPicPr>
        <p:blipFill>
          <a:blip r:embed="rId3"/>
          <a:stretch>
            <a:fillRect/>
          </a:stretch>
        </p:blipFill>
        <p:spPr>
          <a:xfrm>
            <a:off x="8759952" y="6638544"/>
            <a:ext cx="325247" cy="173736"/>
          </a:xfrm>
          <a:prstGeom prst="rect">
            <a:avLst/>
          </a:prstGeom>
        </p:spPr>
      </p:pic>
      <p:sp>
        <p:nvSpPr>
          <p:cNvPr id="44" name="B2 Question">
            <a:extLst>
              <a:ext uri="{FF2B5EF4-FFF2-40B4-BE49-F238E27FC236}">
                <a16:creationId xmlns:a16="http://schemas.microsoft.com/office/drawing/2014/main" id="{40D2160A-76A9-5E0B-40D6-7C183D6C1D47}"/>
              </a:ext>
            </a:extLst>
          </p:cNvPr>
          <p:cNvSpPr/>
          <p:nvPr/>
        </p:nvSpPr>
        <p:spPr>
          <a:xfrm>
            <a:off x="5897880" y="5209278"/>
            <a:ext cx="2926080" cy="64008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95000"/>
              </a:lnSpc>
            </a:pPr>
            <a:r>
              <a:rPr lang="en-US" sz="2000" i="1" dirty="0">
                <a:solidFill>
                  <a:srgbClr val="353638"/>
                </a:solidFill>
                <a:latin typeface="Calibri"/>
              </a:rPr>
              <a:t>“Can the buffer overflow?”</a:t>
            </a:r>
            <a:endParaRPr sz="2000" b="0" i="1" dirty="0">
              <a:solidFill>
                <a:srgbClr val="353638"/>
              </a:solidFill>
              <a:latin typeface="Calibri"/>
            </a:endParaRPr>
          </a:p>
        </p:txBody>
      </p:sp>
      <p:sp>
        <p:nvSpPr>
          <p:cNvPr id="45" name="TPSbadge">
            <a:extLst>
              <a:ext uri="{FF2B5EF4-FFF2-40B4-BE49-F238E27FC236}">
                <a16:creationId xmlns:a16="http://schemas.microsoft.com/office/drawing/2014/main" id="{F6B48F27-991E-AA43-F826-9C96BF327D07}"/>
              </a:ext>
            </a:extLst>
          </p:cNvPr>
          <p:cNvSpPr/>
          <p:nvPr/>
        </p:nvSpPr>
        <p:spPr>
          <a:xfrm>
            <a:off x="5852160" y="4374703"/>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1" nodeType="click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p:bldP spid="14" grpId="0" animBg="1"/>
      <p:bldP spid="15" grpId="0" animBg="1"/>
      <p:bldP spid="16" grpId="0" animBg="1"/>
      <p:bldP spid="19" grpId="0"/>
      <p:bldP spid="20" grpId="0"/>
      <p:bldP spid="41" grpId="0" animBg="1"/>
      <p:bldP spid="44" grpId="1" animBg="1"/>
      <p:bldP spid="4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More questions often need more </a:t>
            </a:r>
            <a:r>
              <a:rPr sz="2400" b="0" i="0" spc="140" dirty="0">
                <a:solidFill>
                  <a:srgbClr val="353638"/>
                </a:solidFill>
                <a:latin typeface="Calibri"/>
              </a:rPr>
              <a:t>models</a:t>
            </a:r>
            <a:r>
              <a:rPr lang="en-US" sz="2400" b="0" i="0" spc="140" dirty="0">
                <a:solidFill>
                  <a:srgbClr val="353638"/>
                </a:solidFill>
                <a:latin typeface="Calibri"/>
              </a:rPr>
              <a:t>, or combinations</a:t>
            </a:r>
            <a:endParaRPr sz="2400" b="0" i="0" spc="140" dirty="0">
              <a:solidFill>
                <a:srgbClr val="353638"/>
              </a:solidFill>
              <a:latin typeface="Calibri"/>
            </a:endParaRPr>
          </a:p>
        </p:txBody>
      </p:sp>
      <p:sp>
        <p:nvSpPr>
          <p:cNvPr id="3" name="Title rule"/>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5" name="Page number"/>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12</a:t>
            </a:r>
          </a:p>
        </p:txBody>
      </p:sp>
      <p:sp>
        <p:nvSpPr>
          <p:cNvPr id="6" name="The question"/>
          <p:cNvSpPr/>
          <p:nvPr/>
        </p:nvSpPr>
        <p:spPr>
          <a:xfrm>
            <a:off x="2472000" y="871728"/>
            <a:ext cx="4200000" cy="4800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1">
                <a:solidFill>
                  <a:srgbClr val="353638"/>
                </a:solidFill>
                <a:latin typeface="Calibri"/>
              </a:rPr>
              <a:t>“Can the buffer overflow?”</a:t>
            </a:r>
          </a:p>
        </p:txBody>
      </p:sp>
      <p:sp>
        <p:nvSpPr>
          <p:cNvPr id="7" name="Header RESOURCE MODEL"/>
          <p:cNvSpPr txBox="1"/>
          <p:nvPr/>
        </p:nvSpPr>
        <p:spPr>
          <a:xfrm>
            <a:off x="320040" y="1500000"/>
            <a:ext cx="4114800" cy="274320"/>
          </a:xfrm>
          <a:prstGeom prst="rect">
            <a:avLst/>
          </a:prstGeom>
          <a:noFill/>
        </p:spPr>
        <p:txBody>
          <a:bodyPr wrap="square" lIns="0" tIns="0" rIns="0" bIns="0" anchor="t">
            <a:spAutoFit/>
          </a:bodyPr>
          <a:lstStyle/>
          <a:p>
            <a:pPr algn="ctr"/>
            <a:r>
              <a:rPr sz="1800" b="1" i="0" spc="100">
                <a:solidFill>
                  <a:srgbClr val="8E6F3E"/>
                </a:solidFill>
                <a:latin typeface="Calibri"/>
              </a:rPr>
              <a:t>RESOURCE MODEL</a:t>
            </a:r>
          </a:p>
        </p:txBody>
      </p:sp>
      <p:sp>
        <p:nvSpPr>
          <p:cNvPr id="8" name="Header BEHAVIOR MODEL"/>
          <p:cNvSpPr txBox="1"/>
          <p:nvPr/>
        </p:nvSpPr>
        <p:spPr>
          <a:xfrm>
            <a:off x="4709160" y="1500000"/>
            <a:ext cx="4114800" cy="274320"/>
          </a:xfrm>
          <a:prstGeom prst="rect">
            <a:avLst/>
          </a:prstGeom>
          <a:noFill/>
        </p:spPr>
        <p:txBody>
          <a:bodyPr wrap="square" lIns="0" tIns="0" rIns="0" bIns="0" anchor="t">
            <a:spAutoFit/>
          </a:bodyPr>
          <a:lstStyle/>
          <a:p>
            <a:pPr algn="ctr"/>
            <a:r>
              <a:rPr sz="1800" b="1" i="0" spc="100">
                <a:solidFill>
                  <a:srgbClr val="8E6F3E"/>
                </a:solidFill>
                <a:latin typeface="Calibri"/>
              </a:rPr>
              <a:t>BEHAVIOR MODEL</a:t>
            </a:r>
          </a:p>
        </p:txBody>
      </p:sp>
      <p:sp>
        <p:nvSpPr>
          <p:cNvPr id="9" name="Resource Sensor"/>
          <p:cNvSpPr/>
          <p:nvPr/>
        </p:nvSpPr>
        <p:spPr>
          <a:xfrm>
            <a:off x="1600200" y="1874520"/>
            <a:ext cx="1554480" cy="54864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Sensor</a:t>
            </a:r>
          </a:p>
        </p:txBody>
      </p:sp>
      <p:sp>
        <p:nvSpPr>
          <p:cNvPr id="10" name="Resource Buffer"/>
          <p:cNvSpPr/>
          <p:nvPr/>
        </p:nvSpPr>
        <p:spPr>
          <a:xfrm>
            <a:off x="1600200" y="2971800"/>
            <a:ext cx="1554480" cy="54864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dirty="0">
                <a:solidFill>
                  <a:srgbClr val="5C4826"/>
                </a:solidFill>
                <a:latin typeface="Calibri"/>
              </a:rPr>
              <a:t>Buffer</a:t>
            </a:r>
          </a:p>
          <a:p>
            <a:pPr algn="ctr"/>
            <a:r>
              <a:rPr lang="en-US" sz="1800" b="0" i="0" dirty="0">
                <a:solidFill>
                  <a:srgbClr val="5C4826"/>
                </a:solidFill>
                <a:latin typeface="Consolas"/>
              </a:rPr>
              <a:t>C</a:t>
            </a:r>
            <a:r>
              <a:rPr sz="1800" b="0" i="0" dirty="0">
                <a:solidFill>
                  <a:srgbClr val="5C4826"/>
                </a:solidFill>
                <a:latin typeface="Consolas"/>
              </a:rPr>
              <a:t>ap</a:t>
            </a:r>
            <a:r>
              <a:rPr lang="en-US" sz="1800" b="0" i="0" dirty="0">
                <a:solidFill>
                  <a:srgbClr val="5C4826"/>
                </a:solidFill>
                <a:latin typeface="Consolas"/>
              </a:rPr>
              <a:t>:</a:t>
            </a:r>
            <a:r>
              <a:rPr sz="1800" b="0" i="0" dirty="0">
                <a:solidFill>
                  <a:srgbClr val="5C4826"/>
                </a:solidFill>
                <a:latin typeface="Consolas"/>
              </a:rPr>
              <a:t> 4 KB</a:t>
            </a:r>
          </a:p>
        </p:txBody>
      </p:sp>
      <p:sp>
        <p:nvSpPr>
          <p:cNvPr id="11" name="Resource Radio"/>
          <p:cNvSpPr/>
          <p:nvPr/>
        </p:nvSpPr>
        <p:spPr>
          <a:xfrm>
            <a:off x="1600200" y="4069080"/>
            <a:ext cx="1554480" cy="54864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Radio</a:t>
            </a:r>
          </a:p>
        </p:txBody>
      </p:sp>
      <p:cxnSp>
        <p:nvCxnSpPr>
          <p:cNvPr id="12" name="Resource arrow 1"/>
          <p:cNvCxnSpPr/>
          <p:nvPr/>
        </p:nvCxnSpPr>
        <p:spPr>
          <a:xfrm>
            <a:off x="2377440" y="242316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Resource arrow 2"/>
          <p:cNvCxnSpPr/>
          <p:nvPr/>
        </p:nvCxnSpPr>
        <p:spPr>
          <a:xfrm>
            <a:off x="2377440" y="352044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source label produces"/>
          <p:cNvSpPr txBox="1"/>
          <p:nvPr/>
        </p:nvSpPr>
        <p:spPr>
          <a:xfrm>
            <a:off x="2447440" y="2442080"/>
            <a:ext cx="1550000" cy="553998"/>
          </a:xfrm>
          <a:prstGeom prst="rect">
            <a:avLst/>
          </a:prstGeom>
          <a:noFill/>
        </p:spPr>
        <p:txBody>
          <a:bodyPr wrap="square" lIns="0" tIns="0" rIns="0" bIns="0" anchor="t">
            <a:spAutoFit/>
          </a:bodyPr>
          <a:lstStyle/>
          <a:p>
            <a:pPr algn="l"/>
            <a:r>
              <a:rPr sz="1800" b="0" i="1" dirty="0">
                <a:solidFill>
                  <a:srgbClr val="555960"/>
                </a:solidFill>
                <a:latin typeface="Calibri"/>
              </a:rPr>
              <a:t>produces</a:t>
            </a:r>
          </a:p>
          <a:p>
            <a:pPr algn="l"/>
            <a:r>
              <a:rPr sz="1800" b="0" i="0" dirty="0">
                <a:solidFill>
                  <a:srgbClr val="353638"/>
                </a:solidFill>
                <a:latin typeface="Consolas"/>
              </a:rPr>
              <a:t>512 B</a:t>
            </a:r>
            <a:r>
              <a:rPr lang="en-US" sz="1800" b="0" i="0" dirty="0">
                <a:solidFill>
                  <a:srgbClr val="353638"/>
                </a:solidFill>
                <a:latin typeface="Consolas"/>
              </a:rPr>
              <a:t>/5</a:t>
            </a:r>
            <a:r>
              <a:rPr sz="1800" b="0" i="0" dirty="0">
                <a:solidFill>
                  <a:srgbClr val="353638"/>
                </a:solidFill>
                <a:latin typeface="Consolas"/>
              </a:rPr>
              <a:t>s</a:t>
            </a:r>
          </a:p>
        </p:txBody>
      </p:sp>
      <p:sp>
        <p:nvSpPr>
          <p:cNvPr id="15" name="Resource label drained"/>
          <p:cNvSpPr txBox="1"/>
          <p:nvPr/>
        </p:nvSpPr>
        <p:spPr>
          <a:xfrm>
            <a:off x="2447440" y="3643448"/>
            <a:ext cx="1550000" cy="276999"/>
          </a:xfrm>
          <a:prstGeom prst="rect">
            <a:avLst/>
          </a:prstGeom>
          <a:noFill/>
        </p:spPr>
        <p:txBody>
          <a:bodyPr wrap="square" lIns="0" tIns="0" rIns="0" bIns="0" anchor="t">
            <a:spAutoFit/>
          </a:bodyPr>
          <a:lstStyle/>
          <a:p>
            <a:pPr algn="l"/>
            <a:r>
              <a:rPr sz="1800" b="0" i="1" dirty="0">
                <a:solidFill>
                  <a:srgbClr val="555960"/>
                </a:solidFill>
                <a:latin typeface="Calibri"/>
              </a:rPr>
              <a:t>drained by</a:t>
            </a:r>
          </a:p>
        </p:txBody>
      </p:sp>
      <p:sp>
        <p:nvSpPr>
          <p:cNvPr id="16" name="Behavior Sleep"/>
          <p:cNvSpPr/>
          <p:nvPr/>
        </p:nvSpPr>
        <p:spPr>
          <a:xfrm>
            <a:off x="6126480" y="1874520"/>
            <a:ext cx="1280160" cy="548640"/>
          </a:xfrm>
          <a:prstGeom prst="rect">
            <a:avLst/>
          </a:prstGeom>
          <a:solidFill>
            <a:srgbClr val="FBF8F2"/>
          </a:solidFill>
          <a:ln w="15875">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Sleep</a:t>
            </a:r>
          </a:p>
        </p:txBody>
      </p:sp>
      <p:sp>
        <p:nvSpPr>
          <p:cNvPr id="17" name="Behavior Sample"/>
          <p:cNvSpPr/>
          <p:nvPr/>
        </p:nvSpPr>
        <p:spPr>
          <a:xfrm>
            <a:off x="6126480" y="2971800"/>
            <a:ext cx="1280160" cy="548640"/>
          </a:xfrm>
          <a:prstGeom prst="rect">
            <a:avLst/>
          </a:prstGeom>
          <a:solidFill>
            <a:srgbClr val="FBF8F2"/>
          </a:solidFill>
          <a:ln w="15875">
            <a:solidFill>
              <a:srgbClr val="5C482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Sample</a:t>
            </a:r>
          </a:p>
        </p:txBody>
      </p:sp>
      <p:sp>
        <p:nvSpPr>
          <p:cNvPr id="18" name="Behavior Transmit"/>
          <p:cNvSpPr/>
          <p:nvPr/>
        </p:nvSpPr>
        <p:spPr>
          <a:xfrm>
            <a:off x="6126480" y="4069080"/>
            <a:ext cx="12801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FFFFFF"/>
                </a:solidFill>
                <a:latin typeface="Calibri"/>
              </a:rPr>
              <a:t>Transmit</a:t>
            </a:r>
          </a:p>
        </p:txBody>
      </p:sp>
      <p:cxnSp>
        <p:nvCxnSpPr>
          <p:cNvPr id="19" name="Behavior t sample-timer"/>
          <p:cNvCxnSpPr/>
          <p:nvPr/>
        </p:nvCxnSpPr>
        <p:spPr>
          <a:xfrm>
            <a:off x="6586560" y="242316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Behavior t done"/>
          <p:cNvCxnSpPr/>
          <p:nvPr/>
        </p:nvCxnSpPr>
        <p:spPr>
          <a:xfrm flipV="1">
            <a:off x="6946560" y="2423160"/>
            <a:ext cx="0" cy="54864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Behavior lbl sample timer"/>
          <p:cNvSpPr txBox="1"/>
          <p:nvPr/>
        </p:nvSpPr>
        <p:spPr>
          <a:xfrm>
            <a:off x="5606560" y="2467480"/>
            <a:ext cx="900000" cy="553998"/>
          </a:xfrm>
          <a:prstGeom prst="rect">
            <a:avLst/>
          </a:prstGeom>
          <a:noFill/>
        </p:spPr>
        <p:txBody>
          <a:bodyPr wrap="square" lIns="0" tIns="0" rIns="0" bIns="0" anchor="t">
            <a:spAutoFit/>
          </a:bodyPr>
          <a:lstStyle/>
          <a:p>
            <a:pPr algn="r"/>
            <a:r>
              <a:rPr sz="1800" b="0" i="1" dirty="0">
                <a:solidFill>
                  <a:srgbClr val="555960"/>
                </a:solidFill>
                <a:latin typeface="Calibri"/>
              </a:rPr>
              <a:t>sample</a:t>
            </a:r>
          </a:p>
          <a:p>
            <a:pPr algn="r"/>
            <a:r>
              <a:rPr lang="en-US" sz="1800" b="0" i="1" dirty="0">
                <a:solidFill>
                  <a:srgbClr val="555960"/>
                </a:solidFill>
                <a:latin typeface="Calibri"/>
              </a:rPr>
              <a:t>sensor</a:t>
            </a:r>
            <a:endParaRPr sz="1800" b="0" i="1" dirty="0">
              <a:solidFill>
                <a:srgbClr val="555960"/>
              </a:solidFill>
              <a:latin typeface="Calibri"/>
            </a:endParaRPr>
          </a:p>
        </p:txBody>
      </p:sp>
      <p:sp>
        <p:nvSpPr>
          <p:cNvPr id="22" name="Behavior lbl done"/>
          <p:cNvSpPr txBox="1"/>
          <p:nvPr/>
        </p:nvSpPr>
        <p:spPr>
          <a:xfrm>
            <a:off x="7016559" y="2442080"/>
            <a:ext cx="1327389" cy="553998"/>
          </a:xfrm>
          <a:prstGeom prst="rect">
            <a:avLst/>
          </a:prstGeom>
          <a:noFill/>
        </p:spPr>
        <p:txBody>
          <a:bodyPr wrap="square" lIns="0" tIns="0" rIns="0" bIns="0" anchor="t">
            <a:spAutoFit/>
          </a:bodyPr>
          <a:lstStyle/>
          <a:p>
            <a:pPr algn="l"/>
            <a:r>
              <a:rPr lang="en-US" sz="1800" b="0" i="1" dirty="0">
                <a:solidFill>
                  <a:srgbClr val="555960"/>
                </a:solidFill>
                <a:latin typeface="Calibri"/>
              </a:rPr>
              <a:t>D</a:t>
            </a:r>
            <a:r>
              <a:rPr sz="1800" b="0" i="1" dirty="0">
                <a:solidFill>
                  <a:srgbClr val="555960"/>
                </a:solidFill>
                <a:latin typeface="Calibri"/>
              </a:rPr>
              <a:t>one</a:t>
            </a:r>
            <a:endParaRPr lang="en-US" sz="1800" b="0" i="1" dirty="0">
              <a:solidFill>
                <a:srgbClr val="555960"/>
              </a:solidFill>
              <a:latin typeface="Calibri"/>
            </a:endParaRPr>
          </a:p>
          <a:p>
            <a:pPr algn="l"/>
            <a:r>
              <a:rPr lang="en-US" i="1" dirty="0">
                <a:solidFill>
                  <a:srgbClr val="555960"/>
                </a:solidFill>
                <a:latin typeface="Calibri"/>
              </a:rPr>
              <a:t>Timer 1 @5s</a:t>
            </a:r>
            <a:endParaRPr sz="1800" b="0" i="1" dirty="0">
              <a:solidFill>
                <a:srgbClr val="555960"/>
              </a:solidFill>
              <a:latin typeface="Calibri"/>
            </a:endParaRPr>
          </a:p>
        </p:txBody>
      </p:sp>
      <p:cxnSp>
        <p:nvCxnSpPr>
          <p:cNvPr id="25" name="Behavior rail-r top-h"/>
          <p:cNvCxnSpPr>
            <a:cxnSpLocks/>
          </p:cNvCxnSpPr>
          <p:nvPr/>
        </p:nvCxnSpPr>
        <p:spPr>
          <a:xfrm>
            <a:off x="7406640" y="2148840"/>
            <a:ext cx="822960" cy="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26" name="Behavior rail-r v1"/>
          <p:cNvCxnSpPr/>
          <p:nvPr/>
        </p:nvCxnSpPr>
        <p:spPr>
          <a:xfrm>
            <a:off x="8230754" y="2148840"/>
            <a:ext cx="0" cy="86728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sp>
        <p:nvSpPr>
          <p:cNvPr id="27" name="Behavior lbl tx timer"/>
          <p:cNvSpPr txBox="1"/>
          <p:nvPr/>
        </p:nvSpPr>
        <p:spPr>
          <a:xfrm>
            <a:off x="7496559" y="3039480"/>
            <a:ext cx="1327399" cy="553998"/>
          </a:xfrm>
          <a:prstGeom prst="rect">
            <a:avLst/>
          </a:prstGeom>
          <a:noFill/>
        </p:spPr>
        <p:txBody>
          <a:bodyPr wrap="square" lIns="0" tIns="0" rIns="0" bIns="0" anchor="t">
            <a:spAutoFit/>
          </a:bodyPr>
          <a:lstStyle/>
          <a:p>
            <a:pPr algn="ctr"/>
            <a:r>
              <a:rPr lang="en-US" sz="1800" b="0" i="1" dirty="0">
                <a:solidFill>
                  <a:srgbClr val="555960"/>
                </a:solidFill>
                <a:latin typeface="Calibri"/>
              </a:rPr>
              <a:t>Transmit</a:t>
            </a:r>
          </a:p>
          <a:p>
            <a:pPr algn="ctr"/>
            <a:r>
              <a:rPr lang="en-US" i="1" dirty="0">
                <a:solidFill>
                  <a:srgbClr val="555960"/>
                </a:solidFill>
                <a:latin typeface="Calibri"/>
              </a:rPr>
              <a:t>timer 2 @40s</a:t>
            </a:r>
            <a:endParaRPr sz="1800" b="0" i="1" dirty="0">
              <a:solidFill>
                <a:srgbClr val="555960"/>
              </a:solidFill>
              <a:latin typeface="Calibri"/>
            </a:endParaRPr>
          </a:p>
        </p:txBody>
      </p:sp>
      <p:cxnSp>
        <p:nvCxnSpPr>
          <p:cNvPr id="28" name="Behavior rail-r v2"/>
          <p:cNvCxnSpPr>
            <a:cxnSpLocks/>
          </p:cNvCxnSpPr>
          <p:nvPr/>
        </p:nvCxnSpPr>
        <p:spPr>
          <a:xfrm>
            <a:off x="8229600" y="3580118"/>
            <a:ext cx="0" cy="763282"/>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29" name="Behavior rail-r bot-h"/>
          <p:cNvCxnSpPr>
            <a:cxnSpLocks/>
          </p:cNvCxnSpPr>
          <p:nvPr/>
        </p:nvCxnSpPr>
        <p:spPr>
          <a:xfrm flipH="1">
            <a:off x="7406640" y="4343400"/>
            <a:ext cx="822960" cy="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Behavior rail-l bot-h"/>
          <p:cNvCxnSpPr/>
          <p:nvPr/>
        </p:nvCxnSpPr>
        <p:spPr>
          <a:xfrm>
            <a:off x="5585640" y="4343400"/>
            <a:ext cx="540840" cy="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31" name="Behavior rail-l v2"/>
          <p:cNvCxnSpPr/>
          <p:nvPr/>
        </p:nvCxnSpPr>
        <p:spPr>
          <a:xfrm>
            <a:off x="5585640" y="3381120"/>
            <a:ext cx="0" cy="96228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sp>
        <p:nvSpPr>
          <p:cNvPr id="32" name="Behavior lbl tx done"/>
          <p:cNvSpPr txBox="1"/>
          <p:nvPr/>
        </p:nvSpPr>
        <p:spPr>
          <a:xfrm>
            <a:off x="5235640" y="3131120"/>
            <a:ext cx="700000" cy="230000"/>
          </a:xfrm>
          <a:prstGeom prst="rect">
            <a:avLst/>
          </a:prstGeom>
          <a:noFill/>
        </p:spPr>
        <p:txBody>
          <a:bodyPr wrap="square" lIns="0" tIns="0" rIns="0" bIns="0" anchor="t">
            <a:spAutoFit/>
          </a:bodyPr>
          <a:lstStyle/>
          <a:p>
            <a:pPr algn="ctr"/>
            <a:r>
              <a:rPr sz="1800" b="0" i="1">
                <a:solidFill>
                  <a:srgbClr val="555960"/>
                </a:solidFill>
                <a:latin typeface="Calibri"/>
              </a:rPr>
              <a:t>tx done</a:t>
            </a:r>
          </a:p>
        </p:txBody>
      </p:sp>
      <p:cxnSp>
        <p:nvCxnSpPr>
          <p:cNvPr id="33" name="Behavior rail-l v1"/>
          <p:cNvCxnSpPr/>
          <p:nvPr/>
        </p:nvCxnSpPr>
        <p:spPr>
          <a:xfrm>
            <a:off x="5585640" y="2148840"/>
            <a:ext cx="0" cy="962280"/>
          </a:xfrm>
          <a:prstGeom prst="line">
            <a:avLst/>
          </a:prstGeom>
          <a:ln w="19050">
            <a:solidFill>
              <a:srgbClr val="5C4826"/>
            </a:solidFill>
          </a:ln>
          <a:effectLst/>
        </p:spPr>
        <p:style>
          <a:lnRef idx="2">
            <a:schemeClr val="accent1"/>
          </a:lnRef>
          <a:fillRef idx="0">
            <a:schemeClr val="accent1"/>
          </a:fillRef>
          <a:effectRef idx="1">
            <a:schemeClr val="accent1"/>
          </a:effectRef>
          <a:fontRef idx="minor">
            <a:schemeClr val="tx1"/>
          </a:fontRef>
        </p:style>
      </p:cxnSp>
      <p:cxnSp>
        <p:nvCxnSpPr>
          <p:cNvPr id="34" name="Behavior rail-l top-h"/>
          <p:cNvCxnSpPr/>
          <p:nvPr/>
        </p:nvCxnSpPr>
        <p:spPr>
          <a:xfrm>
            <a:off x="5585640" y="2148840"/>
            <a:ext cx="540840" cy="0"/>
          </a:xfrm>
          <a:prstGeom prst="line">
            <a:avLst/>
          </a:prstGeom>
          <a:ln w="19050">
            <a:solidFill>
              <a:srgbClr val="5C482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esource facts"/>
          <p:cNvSpPr/>
          <p:nvPr/>
        </p:nvSpPr>
        <p:spPr>
          <a:xfrm>
            <a:off x="320040" y="4800000"/>
            <a:ext cx="4114800" cy="5486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0" i="0" dirty="0">
                <a:solidFill>
                  <a:srgbClr val="353638"/>
                </a:solidFill>
                <a:latin typeface="Calibri"/>
              </a:rPr>
              <a:t>capacity = 4 KB · sample = 512 B</a:t>
            </a:r>
          </a:p>
        </p:txBody>
      </p:sp>
      <p:sp>
        <p:nvSpPr>
          <p:cNvPr id="36" name="Behavior facts"/>
          <p:cNvSpPr/>
          <p:nvPr/>
        </p:nvSpPr>
        <p:spPr>
          <a:xfrm>
            <a:off x="4709160" y="4800000"/>
            <a:ext cx="4114800" cy="5486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lang="en-US" sz="1800" b="0" i="0" dirty="0">
                <a:solidFill>
                  <a:srgbClr val="353638"/>
                </a:solidFill>
                <a:latin typeface="Calibri"/>
              </a:rPr>
              <a:t>Every 40s, t</a:t>
            </a:r>
            <a:r>
              <a:rPr sz="1800" b="0" i="0" dirty="0">
                <a:solidFill>
                  <a:srgbClr val="353638"/>
                </a:solidFill>
                <a:latin typeface="Calibri"/>
              </a:rPr>
              <a:t>ransmit drains buffer</a:t>
            </a:r>
          </a:p>
        </p:txBody>
      </p:sp>
      <p:pic>
        <p:nvPicPr>
          <p:cNvPr id="44" name="Picture 44" descr="image1.png"/>
          <p:cNvPicPr>
            <a:picLocks noChangeAspect="1"/>
          </p:cNvPicPr>
          <p:nvPr/>
        </p:nvPicPr>
        <p:blipFill>
          <a:blip r:embed="rId3"/>
          <a:stretch>
            <a:fillRect/>
          </a:stretch>
        </p:blipFill>
        <p:spPr>
          <a:xfrm>
            <a:off x="8759952" y="6638544"/>
            <a:ext cx="325247" cy="173736"/>
          </a:xfrm>
          <a:prstGeom prst="rect">
            <a:avLst/>
          </a:prstGeom>
        </p:spPr>
      </p:pic>
      <p:sp>
        <p:nvSpPr>
          <p:cNvPr id="45" name="TextBox 44">
            <a:extLst>
              <a:ext uri="{FF2B5EF4-FFF2-40B4-BE49-F238E27FC236}">
                <a16:creationId xmlns:a16="http://schemas.microsoft.com/office/drawing/2014/main" id="{87F4351F-07AF-CB9B-86CC-E4C9A5FC0E1C}"/>
              </a:ext>
            </a:extLst>
          </p:cNvPr>
          <p:cNvSpPr txBox="1"/>
          <p:nvPr/>
        </p:nvSpPr>
        <p:spPr>
          <a:xfrm>
            <a:off x="304800" y="1257300"/>
            <a:ext cx="184731" cy="369332"/>
          </a:xfrm>
          <a:prstGeom prst="rect">
            <a:avLst/>
          </a:prstGeom>
          <a:noFill/>
        </p:spPr>
        <p:txBody>
          <a:bodyPr wrap="none" rtlCol="0">
            <a:spAutoFit/>
          </a:bodyPr>
          <a:lstStyle/>
          <a:p>
            <a:endParaRPr lang="en-US" dirty="0"/>
          </a:p>
        </p:txBody>
      </p:sp>
      <p:cxnSp>
        <p:nvCxnSpPr>
          <p:cNvPr id="47" name="Straight Connector 46">
            <a:extLst>
              <a:ext uri="{FF2B5EF4-FFF2-40B4-BE49-F238E27FC236}">
                <a16:creationId xmlns:a16="http://schemas.microsoft.com/office/drawing/2014/main" id="{6CD2327E-F595-8E61-BA66-043A8059CCBB}"/>
              </a:ext>
            </a:extLst>
          </p:cNvPr>
          <p:cNvCxnSpPr/>
          <p:nvPr/>
        </p:nvCxnSpPr>
        <p:spPr>
          <a:xfrm flipV="1">
            <a:off x="3154680" y="2148840"/>
            <a:ext cx="2217320" cy="962280"/>
          </a:xfrm>
          <a:prstGeom prst="line">
            <a:avLst/>
          </a:prstGeom>
          <a:ln>
            <a:solidFill>
              <a:schemeClr val="bg2">
                <a:lumMod val="50000"/>
              </a:schemeClr>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305FC33-D5B1-752C-195E-50BB76D6BD32}"/>
              </a:ext>
            </a:extLst>
          </p:cNvPr>
          <p:cNvCxnSpPr>
            <a:cxnSpLocks/>
          </p:cNvCxnSpPr>
          <p:nvPr/>
        </p:nvCxnSpPr>
        <p:spPr>
          <a:xfrm>
            <a:off x="3154680" y="3429000"/>
            <a:ext cx="2217320" cy="777240"/>
          </a:xfrm>
          <a:prstGeom prst="line">
            <a:avLst/>
          </a:prstGeom>
          <a:ln>
            <a:solidFill>
              <a:schemeClr val="bg2">
                <a:lumMod val="50000"/>
              </a:schemeClr>
            </a:solidFill>
            <a:prstDash val="sysDot"/>
          </a:ln>
          <a:effectLst/>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8961D44A-2098-C87F-72EB-0BEF83E0A66D}"/>
              </a:ext>
            </a:extLst>
          </p:cNvPr>
          <p:cNvSpPr txBox="1"/>
          <p:nvPr/>
        </p:nvSpPr>
        <p:spPr>
          <a:xfrm>
            <a:off x="3506815" y="3063958"/>
            <a:ext cx="1730730" cy="400110"/>
          </a:xfrm>
          <a:prstGeom prst="rect">
            <a:avLst/>
          </a:prstGeom>
          <a:noFill/>
        </p:spPr>
        <p:txBody>
          <a:bodyPr wrap="none" rtlCol="0">
            <a:spAutoFit/>
          </a:bodyPr>
          <a:lstStyle/>
          <a:p>
            <a:r>
              <a:rPr lang="en-US" sz="2000" b="1" i="1" dirty="0"/>
              <a:t>Worker thread</a:t>
            </a:r>
          </a:p>
        </p:txBody>
      </p:sp>
      <p:sp>
        <p:nvSpPr>
          <p:cNvPr id="52" name="TextBox 51">
            <a:extLst>
              <a:ext uri="{FF2B5EF4-FFF2-40B4-BE49-F238E27FC236}">
                <a16:creationId xmlns:a16="http://schemas.microsoft.com/office/drawing/2014/main" id="{26E8389F-3ED2-2FBB-D1EE-F2565052D00D}"/>
              </a:ext>
            </a:extLst>
          </p:cNvPr>
          <p:cNvSpPr txBox="1"/>
          <p:nvPr/>
        </p:nvSpPr>
        <p:spPr>
          <a:xfrm>
            <a:off x="281070" y="5656242"/>
            <a:ext cx="4478727" cy="523220"/>
          </a:xfrm>
          <a:prstGeom prst="rect">
            <a:avLst/>
          </a:prstGeom>
          <a:noFill/>
        </p:spPr>
        <p:txBody>
          <a:bodyPr wrap="none" rtlCol="0">
            <a:spAutoFit/>
          </a:bodyPr>
          <a:lstStyle/>
          <a:p>
            <a:pPr algn="ctr"/>
            <a:r>
              <a:rPr lang="en-US" sz="2800" dirty="0"/>
              <a:t>Could we ever lose a sample?</a:t>
            </a:r>
          </a:p>
        </p:txBody>
      </p:sp>
      <p:sp>
        <p:nvSpPr>
          <p:cNvPr id="58" name="TextBox 57">
            <a:extLst>
              <a:ext uri="{FF2B5EF4-FFF2-40B4-BE49-F238E27FC236}">
                <a16:creationId xmlns:a16="http://schemas.microsoft.com/office/drawing/2014/main" id="{162A0ABC-B2B6-4EDA-5D17-0BB8092D6F18}"/>
              </a:ext>
            </a:extLst>
          </p:cNvPr>
          <p:cNvSpPr txBox="1"/>
          <p:nvPr/>
        </p:nvSpPr>
        <p:spPr>
          <a:xfrm>
            <a:off x="5025106" y="5656242"/>
            <a:ext cx="3773149" cy="523220"/>
          </a:xfrm>
          <a:prstGeom prst="rect">
            <a:avLst/>
          </a:prstGeom>
          <a:noFill/>
        </p:spPr>
        <p:txBody>
          <a:bodyPr wrap="none" rtlCol="0">
            <a:spAutoFit/>
          </a:bodyPr>
          <a:lstStyle/>
          <a:p>
            <a:pPr algn="ctr"/>
            <a:r>
              <a:rPr lang="en-US" sz="2800" dirty="0"/>
              <a:t>What could you change?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52" grpId="0"/>
      <p:bldP spid="5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Example: </a:t>
            </a:r>
            <a:r>
              <a:rPr lang="en-US" sz="2400" b="0" i="0" spc="140" dirty="0" err="1">
                <a:solidFill>
                  <a:srgbClr val="353638"/>
                </a:solidFill>
                <a:latin typeface="Calibri"/>
              </a:rPr>
              <a:t>SensorNode</a:t>
            </a:r>
            <a:r>
              <a:rPr lang="en-US" sz="2400" b="0" i="0" spc="140" dirty="0">
                <a:solidFill>
                  <a:srgbClr val="353638"/>
                </a:solidFill>
                <a:latin typeface="Calibri"/>
              </a:rPr>
              <a:t>, declared in </a:t>
            </a:r>
            <a:r>
              <a:rPr lang="en-US" sz="2400" b="0" i="0" spc="140" dirty="0" err="1">
                <a:solidFill>
                  <a:srgbClr val="353638"/>
                </a:solidFill>
                <a:latin typeface="Calibri"/>
              </a:rPr>
              <a:t>SysML</a:t>
            </a:r>
            <a:endParaRPr sz="2400" b="0" i="0"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05840"/>
            <a:ext cx="5257800" cy="3931920"/>
          </a:xfrm>
          <a:prstGeom prst="rect">
            <a:avLst/>
          </a:prstGeom>
          <a:solidFill>
            <a:srgbClr val="2B261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77240" y="1207008"/>
            <a:ext cx="4892040" cy="3566160"/>
          </a:xfrm>
          <a:prstGeom prst="rect">
            <a:avLst/>
          </a:prstGeom>
          <a:noFill/>
        </p:spPr>
        <p:txBody>
          <a:bodyPr wrap="square" lIns="0" tIns="0" rIns="0" bIns="0" anchor="t">
            <a:spAutoFit/>
          </a:bodyPr>
          <a:lstStyle/>
          <a:p>
            <a:pPr algn="l">
              <a:lnSpc>
                <a:spcPct val="112000"/>
              </a:lnSpc>
            </a:pPr>
            <a:r>
              <a:rPr sz="1800" dirty="0">
                <a:solidFill>
                  <a:srgbClr val="ECE2D0"/>
                </a:solidFill>
                <a:latin typeface="Consolas"/>
              </a:rPr>
              <a:t>part def </a:t>
            </a:r>
            <a:r>
              <a:rPr sz="1800" dirty="0" err="1">
                <a:solidFill>
                  <a:srgbClr val="ECE2D0"/>
                </a:solidFill>
                <a:latin typeface="Consolas"/>
              </a:rPr>
              <a:t>SensorNode</a:t>
            </a:r>
            <a:r>
              <a:rPr sz="1800" dirty="0">
                <a:solidFill>
                  <a:srgbClr val="ECE2D0"/>
                </a:solidFill>
                <a:latin typeface="Consolas"/>
              </a:rPr>
              <a:t> {</a:t>
            </a:r>
          </a:p>
          <a:p>
            <a:r>
              <a:rPr sz="1800" dirty="0">
                <a:solidFill>
                  <a:srgbClr val="ECE2D0"/>
                </a:solidFill>
                <a:latin typeface="Consolas"/>
              </a:rPr>
              <a:t>  attribute </a:t>
            </a:r>
            <a:r>
              <a:rPr sz="1800" dirty="0" err="1">
                <a:solidFill>
                  <a:srgbClr val="ECE2D0"/>
                </a:solidFill>
                <a:latin typeface="Consolas"/>
              </a:rPr>
              <a:t>samplingPeriod</a:t>
            </a:r>
            <a:r>
              <a:rPr sz="1800" dirty="0">
                <a:solidFill>
                  <a:srgbClr val="ECE2D0"/>
                </a:solidFill>
                <a:latin typeface="Consolas"/>
              </a:rPr>
              <a:t> = 5 [s];</a:t>
            </a:r>
          </a:p>
          <a:p>
            <a:r>
              <a:rPr sz="1800" dirty="0">
                <a:solidFill>
                  <a:srgbClr val="ECE2D0"/>
                </a:solidFill>
                <a:latin typeface="Consolas"/>
              </a:rPr>
              <a:t>  attribute </a:t>
            </a:r>
            <a:r>
              <a:rPr sz="1800" dirty="0" err="1">
                <a:solidFill>
                  <a:srgbClr val="ECE2D0"/>
                </a:solidFill>
                <a:latin typeface="Consolas"/>
              </a:rPr>
              <a:t>sampleSize</a:t>
            </a:r>
            <a:r>
              <a:rPr sz="1800" dirty="0">
                <a:solidFill>
                  <a:srgbClr val="ECE2D0"/>
                </a:solidFill>
                <a:latin typeface="Consolas"/>
              </a:rPr>
              <a:t> = 512 [B];</a:t>
            </a:r>
          </a:p>
          <a:p>
            <a:r>
              <a:rPr sz="1800" dirty="0">
                <a:solidFill>
                  <a:srgbClr val="ECE2D0"/>
                </a:solidFill>
                <a:latin typeface="Consolas"/>
              </a:rPr>
              <a:t>  attribute </a:t>
            </a:r>
            <a:r>
              <a:rPr sz="1800" dirty="0" err="1">
                <a:solidFill>
                  <a:srgbClr val="ECE2D0"/>
                </a:solidFill>
                <a:latin typeface="Consolas"/>
              </a:rPr>
              <a:t>bufferCap</a:t>
            </a:r>
            <a:r>
              <a:rPr sz="1800" dirty="0">
                <a:solidFill>
                  <a:srgbClr val="ECE2D0"/>
                </a:solidFill>
                <a:latin typeface="Consolas"/>
              </a:rPr>
              <a:t> = 4096 [B];</a:t>
            </a:r>
          </a:p>
          <a:p>
            <a:r>
              <a:rPr sz="1800" dirty="0">
                <a:solidFill>
                  <a:srgbClr val="ECE2D0"/>
                </a:solidFill>
                <a:latin typeface="Consolas"/>
              </a:rPr>
              <a:t>  attribute </a:t>
            </a:r>
            <a:r>
              <a:rPr sz="1800" dirty="0" err="1">
                <a:solidFill>
                  <a:srgbClr val="ECE2D0"/>
                </a:solidFill>
                <a:latin typeface="Consolas"/>
              </a:rPr>
              <a:t>radioRate</a:t>
            </a:r>
            <a:r>
              <a:rPr sz="1800" dirty="0">
                <a:solidFill>
                  <a:srgbClr val="ECE2D0"/>
                </a:solidFill>
                <a:latin typeface="Consolas"/>
              </a:rPr>
              <a:t> = 4096 [B/s];</a:t>
            </a:r>
          </a:p>
          <a:p>
            <a:r>
              <a:rPr sz="1800" dirty="0">
                <a:solidFill>
                  <a:srgbClr val="ECE2D0"/>
                </a:solidFill>
                <a:latin typeface="Consolas"/>
              </a:rPr>
              <a:t>  attribute </a:t>
            </a:r>
            <a:r>
              <a:rPr sz="1800" dirty="0" err="1">
                <a:solidFill>
                  <a:srgbClr val="ECE2D0"/>
                </a:solidFill>
                <a:latin typeface="Consolas"/>
              </a:rPr>
              <a:t>txPeriod</a:t>
            </a:r>
            <a:r>
              <a:rPr sz="1800" dirty="0">
                <a:solidFill>
                  <a:srgbClr val="ECE2D0"/>
                </a:solidFill>
                <a:latin typeface="Consolas"/>
              </a:rPr>
              <a:t> = 30 [s];</a:t>
            </a:r>
          </a:p>
          <a:p>
            <a:endParaRPr sz="1800" dirty="0">
              <a:solidFill>
                <a:srgbClr val="ECE2D0"/>
              </a:solidFill>
              <a:latin typeface="Consolas"/>
            </a:endParaRPr>
          </a:p>
          <a:p>
            <a:r>
              <a:rPr sz="1800" dirty="0">
                <a:solidFill>
                  <a:srgbClr val="ECE2D0"/>
                </a:solidFill>
                <a:latin typeface="Consolas"/>
              </a:rPr>
              <a:t>  state def Modes { … }</a:t>
            </a:r>
          </a:p>
          <a:p>
            <a:r>
              <a:rPr sz="1800" dirty="0">
                <a:solidFill>
                  <a:srgbClr val="ECE2D0"/>
                </a:solidFill>
                <a:latin typeface="Consolas"/>
              </a:rPr>
              <a:t>}</a:t>
            </a:r>
          </a:p>
        </p:txBody>
      </p:sp>
      <p:sp>
        <p:nvSpPr>
          <p:cNvPr id="12" name="TextBox 11"/>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18</a:t>
            </a:r>
          </a:p>
        </p:txBody>
      </p:sp>
      <p:pic>
        <p:nvPicPr>
          <p:cNvPr id="13" name="Picture 12" descr="image1.png"/>
          <p:cNvPicPr>
            <a:picLocks noChangeAspect="1"/>
          </p:cNvPicPr>
          <p:nvPr/>
        </p:nvPicPr>
        <p:blipFill>
          <a:blip r:embed="rId3"/>
          <a:stretch>
            <a:fillRect/>
          </a:stretch>
        </p:blipFill>
        <p:spPr>
          <a:xfrm>
            <a:off x="8759952" y="6638544"/>
            <a:ext cx="325247" cy="173736"/>
          </a:xfrm>
          <a:prstGeom prst="rect">
            <a:avLst/>
          </a:prstGeom>
        </p:spPr>
      </p:pic>
    </p:spTree>
    <p:extLst>
      <p:ext uri="{BB962C8B-B14F-4D97-AF65-F5344CB8AC3E}">
        <p14:creationId xmlns:p14="http://schemas.microsoft.com/office/powerpoint/2010/main" val="29138935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What semantics buys</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274321" y="2574036"/>
            <a:ext cx="182880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5000"/>
              </a:lnSpc>
            </a:pPr>
            <a:r>
              <a:rPr sz="2000" b="1" i="0">
                <a:solidFill>
                  <a:srgbClr val="FFFFFF"/>
                </a:solidFill>
                <a:latin typeface="Calibri"/>
              </a:rPr>
              <a:t>SEMANTIC</a:t>
            </a:r>
          </a:p>
          <a:p>
            <a:pPr algn="ctr">
              <a:lnSpc>
                <a:spcPct val="105000"/>
              </a:lnSpc>
            </a:pPr>
            <a:r>
              <a:rPr sz="2000" b="1" i="0">
                <a:solidFill>
                  <a:srgbClr val="FFFFFF"/>
                </a:solidFill>
                <a:latin typeface="Calibri"/>
              </a:rPr>
              <a:t>MODEL</a:t>
            </a:r>
          </a:p>
        </p:txBody>
      </p:sp>
      <p:sp>
        <p:nvSpPr>
          <p:cNvPr id="6" name="Rectangle 5"/>
          <p:cNvSpPr/>
          <p:nvPr/>
        </p:nvSpPr>
        <p:spPr>
          <a:xfrm>
            <a:off x="3017520" y="1051560"/>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query</a:t>
            </a:r>
          </a:p>
        </p:txBody>
      </p:sp>
      <p:sp>
        <p:nvSpPr>
          <p:cNvPr id="7" name="Rectangle 6"/>
          <p:cNvSpPr/>
          <p:nvPr/>
        </p:nvSpPr>
        <p:spPr>
          <a:xfrm>
            <a:off x="4467479" y="960120"/>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“Which buffers does the radio stack</a:t>
            </a:r>
            <a:r>
              <a:rPr lang="en-US" sz="2000" b="0" i="1" dirty="0">
                <a:solidFill>
                  <a:srgbClr val="353638"/>
                </a:solidFill>
                <a:latin typeface="Calibri"/>
              </a:rPr>
              <a:t> </a:t>
            </a:r>
            <a:r>
              <a:rPr sz="2000" b="0" i="1" dirty="0">
                <a:solidFill>
                  <a:srgbClr val="353638"/>
                </a:solidFill>
                <a:latin typeface="Calibri"/>
              </a:rPr>
              <a:t>own?”</a:t>
            </a:r>
          </a:p>
        </p:txBody>
      </p:sp>
      <p:sp>
        <p:nvSpPr>
          <p:cNvPr id="9" name="Rectangle 8"/>
          <p:cNvSpPr/>
          <p:nvPr/>
        </p:nvSpPr>
        <p:spPr>
          <a:xfrm>
            <a:off x="3017520" y="1984248"/>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compose</a:t>
            </a:r>
          </a:p>
        </p:txBody>
      </p:sp>
      <p:sp>
        <p:nvSpPr>
          <p:cNvPr id="10" name="Rectangle 9"/>
          <p:cNvSpPr/>
          <p:nvPr/>
        </p:nvSpPr>
        <p:spPr>
          <a:xfrm>
            <a:off x="4467478" y="1919587"/>
            <a:ext cx="4558919"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“Does an optional component feed an essential one?”</a:t>
            </a:r>
          </a:p>
        </p:txBody>
      </p:sp>
      <p:sp>
        <p:nvSpPr>
          <p:cNvPr id="12" name="Rectangle 11"/>
          <p:cNvSpPr/>
          <p:nvPr/>
        </p:nvSpPr>
        <p:spPr>
          <a:xfrm>
            <a:off x="3017520" y="2916936"/>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analyze</a:t>
            </a:r>
          </a:p>
        </p:txBody>
      </p:sp>
      <p:sp>
        <p:nvSpPr>
          <p:cNvPr id="13" name="Rectangle 12"/>
          <p:cNvSpPr/>
          <p:nvPr/>
        </p:nvSpPr>
        <p:spPr>
          <a:xfrm>
            <a:off x="4467478" y="2837252"/>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“Do allocations fit the 256 KB budget?”</a:t>
            </a:r>
          </a:p>
        </p:txBody>
      </p:sp>
      <p:sp>
        <p:nvSpPr>
          <p:cNvPr id="15" name="Rectangle 14"/>
          <p:cNvSpPr/>
          <p:nvPr/>
        </p:nvSpPr>
        <p:spPr>
          <a:xfrm>
            <a:off x="3017520" y="3849624"/>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validate</a:t>
            </a:r>
          </a:p>
        </p:txBody>
      </p:sp>
      <p:sp>
        <p:nvSpPr>
          <p:cNvPr id="16" name="Rectangle 15"/>
          <p:cNvSpPr/>
          <p:nvPr/>
        </p:nvSpPr>
        <p:spPr>
          <a:xfrm>
            <a:off x="4467478" y="3753612"/>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dirty="0">
                <a:solidFill>
                  <a:srgbClr val="353638"/>
                </a:solidFill>
                <a:latin typeface="Calibri"/>
              </a:rPr>
              <a:t>“Is this comparison semantically valid?”</a:t>
            </a:r>
          </a:p>
        </p:txBody>
      </p:sp>
      <p:sp>
        <p:nvSpPr>
          <p:cNvPr id="18" name="Rectangle 17"/>
          <p:cNvSpPr/>
          <p:nvPr/>
        </p:nvSpPr>
        <p:spPr>
          <a:xfrm>
            <a:off x="3017520" y="4782312"/>
            <a:ext cx="1371600" cy="50292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2000" b="1" i="0">
                <a:solidFill>
                  <a:srgbClr val="5C4826"/>
                </a:solidFill>
                <a:latin typeface="Calibri"/>
              </a:rPr>
              <a:t>generate</a:t>
            </a:r>
          </a:p>
        </p:txBody>
      </p:sp>
      <p:sp>
        <p:nvSpPr>
          <p:cNvPr id="19" name="Rectangle 18"/>
          <p:cNvSpPr/>
          <p:nvPr/>
        </p:nvSpPr>
        <p:spPr>
          <a:xfrm>
            <a:off x="4467478" y="4690872"/>
            <a:ext cx="4558918" cy="68580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lnSpc>
                <a:spcPct val="95000"/>
              </a:lnSpc>
            </a:pPr>
            <a:r>
              <a:rPr sz="2000" b="0" i="1">
                <a:solidFill>
                  <a:srgbClr val="353638"/>
                </a:solidFill>
                <a:latin typeface="Calibri"/>
              </a:rPr>
              <a:t>“Emit interface types from the schema.”</a:t>
            </a:r>
          </a:p>
        </p:txBody>
      </p:sp>
      <p:sp>
        <p:nvSpPr>
          <p:cNvPr id="21" name="Rectangle 20"/>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Selected meanings become machine-operable.</a:t>
            </a:r>
          </a:p>
        </p:txBody>
      </p:sp>
      <p:sp>
        <p:nvSpPr>
          <p:cNvPr id="22" name="TextBox 21"/>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9</a:t>
            </a:r>
          </a:p>
        </p:txBody>
      </p:sp>
      <p:pic>
        <p:nvPicPr>
          <p:cNvPr id="23" name="Picture 22" descr="image1.png"/>
          <p:cNvPicPr>
            <a:picLocks noChangeAspect="1"/>
          </p:cNvPicPr>
          <p:nvPr/>
        </p:nvPicPr>
        <p:blipFill>
          <a:blip r:embed="rId3"/>
          <a:stretch>
            <a:fillRect/>
          </a:stretch>
        </p:blipFill>
        <p:spPr>
          <a:xfrm>
            <a:off x="8759952" y="6638544"/>
            <a:ext cx="325247" cy="173736"/>
          </a:xfrm>
          <a:prstGeom prst="rect">
            <a:avLst/>
          </a:prstGeom>
        </p:spPr>
      </p:pic>
      <p:cxnSp>
        <p:nvCxnSpPr>
          <p:cNvPr id="27" name="Elbow Connector 26">
            <a:extLst>
              <a:ext uri="{FF2B5EF4-FFF2-40B4-BE49-F238E27FC236}">
                <a16:creationId xmlns:a16="http://schemas.microsoft.com/office/drawing/2014/main" id="{6E885D22-077E-FAE3-B368-4EF985E56A1E}"/>
              </a:ext>
            </a:extLst>
          </p:cNvPr>
          <p:cNvCxnSpPr>
            <a:stCxn id="4" idx="3"/>
            <a:endCxn id="6" idx="1"/>
          </p:cNvCxnSpPr>
          <p:nvPr/>
        </p:nvCxnSpPr>
        <p:spPr>
          <a:xfrm flipV="1">
            <a:off x="2103121" y="1303020"/>
            <a:ext cx="914399" cy="1865376"/>
          </a:xfrm>
          <a:prstGeom prst="bentConnector3">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Elbow Connector 27">
            <a:extLst>
              <a:ext uri="{FF2B5EF4-FFF2-40B4-BE49-F238E27FC236}">
                <a16:creationId xmlns:a16="http://schemas.microsoft.com/office/drawing/2014/main" id="{B6AA5FE8-723C-BF3D-4809-7CF89E49B63E}"/>
              </a:ext>
            </a:extLst>
          </p:cNvPr>
          <p:cNvCxnSpPr>
            <a:cxnSpLocks/>
            <a:stCxn id="4" idx="3"/>
            <a:endCxn id="9" idx="1"/>
          </p:cNvCxnSpPr>
          <p:nvPr/>
        </p:nvCxnSpPr>
        <p:spPr>
          <a:xfrm flipV="1">
            <a:off x="2103121" y="2235708"/>
            <a:ext cx="914399" cy="932688"/>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2" name="Elbow Connector 31">
            <a:extLst>
              <a:ext uri="{FF2B5EF4-FFF2-40B4-BE49-F238E27FC236}">
                <a16:creationId xmlns:a16="http://schemas.microsoft.com/office/drawing/2014/main" id="{05479FA4-A0A6-1068-447E-5435D5C2B90D}"/>
              </a:ext>
            </a:extLst>
          </p:cNvPr>
          <p:cNvCxnSpPr>
            <a:cxnSpLocks/>
            <a:endCxn id="12" idx="1"/>
          </p:cNvCxnSpPr>
          <p:nvPr/>
        </p:nvCxnSpPr>
        <p:spPr>
          <a:xfrm>
            <a:off x="2103121" y="3163824"/>
            <a:ext cx="914399" cy="4572"/>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5" name="Elbow Connector 34">
            <a:extLst>
              <a:ext uri="{FF2B5EF4-FFF2-40B4-BE49-F238E27FC236}">
                <a16:creationId xmlns:a16="http://schemas.microsoft.com/office/drawing/2014/main" id="{A53A2F16-3D1A-1036-A54B-40823BE5AA39}"/>
              </a:ext>
            </a:extLst>
          </p:cNvPr>
          <p:cNvCxnSpPr>
            <a:cxnSpLocks/>
            <a:stCxn id="4" idx="3"/>
            <a:endCxn id="15" idx="1"/>
          </p:cNvCxnSpPr>
          <p:nvPr/>
        </p:nvCxnSpPr>
        <p:spPr>
          <a:xfrm>
            <a:off x="2103121" y="3168396"/>
            <a:ext cx="914399" cy="932688"/>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38" name="Elbow Connector 37">
            <a:extLst>
              <a:ext uri="{FF2B5EF4-FFF2-40B4-BE49-F238E27FC236}">
                <a16:creationId xmlns:a16="http://schemas.microsoft.com/office/drawing/2014/main" id="{182DE1A3-A702-B10D-A823-EC9F9F3F3F99}"/>
              </a:ext>
            </a:extLst>
          </p:cNvPr>
          <p:cNvCxnSpPr>
            <a:cxnSpLocks/>
            <a:stCxn id="4" idx="3"/>
            <a:endCxn id="18" idx="1"/>
          </p:cNvCxnSpPr>
          <p:nvPr/>
        </p:nvCxnSpPr>
        <p:spPr>
          <a:xfrm>
            <a:off x="2103121" y="3168396"/>
            <a:ext cx="914399" cy="1865376"/>
          </a:xfrm>
          <a:prstGeom prst="bentConnector3">
            <a:avLst>
              <a:gd name="adj1" fmla="val 50000"/>
            </a:avLst>
          </a:prstGeom>
          <a:ln>
            <a:solidFill>
              <a:schemeClr val="bg2">
                <a:lumMod val="50000"/>
              </a:schemeClr>
            </a:solidFill>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5334" y="215884"/>
            <a:ext cx="9241971" cy="369332"/>
          </a:xfrm>
          <a:prstGeom prst="rect">
            <a:avLst/>
          </a:prstGeom>
          <a:noFill/>
        </p:spPr>
        <p:txBody>
          <a:bodyPr wrap="square" lIns="0" tIns="0" rIns="0" bIns="0" anchor="ctr">
            <a:spAutoFit/>
          </a:bodyPr>
          <a:lstStyle/>
          <a:p>
            <a:pPr algn="l"/>
            <a:r>
              <a:rPr sz="2400" b="0" i="0" spc="140" dirty="0">
                <a:solidFill>
                  <a:srgbClr val="353638"/>
                </a:solidFill>
                <a:latin typeface="Calibri"/>
              </a:rPr>
              <a:t>If machines understand the model, why not generate the code?</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48640" y="1005840"/>
            <a:ext cx="8046720" cy="307777"/>
          </a:xfrm>
          <a:prstGeom prst="rect">
            <a:avLst/>
          </a:prstGeom>
          <a:noFill/>
        </p:spPr>
        <p:txBody>
          <a:bodyPr wrap="square" lIns="0" tIns="0" rIns="0" bIns="0" anchor="t">
            <a:spAutoFit/>
          </a:bodyPr>
          <a:lstStyle/>
          <a:p>
            <a:pPr algn="l"/>
            <a:r>
              <a:rPr sz="2000" b="1" i="0" dirty="0">
                <a:solidFill>
                  <a:srgbClr val="5C4826"/>
                </a:solidFill>
                <a:latin typeface="Calibri"/>
              </a:rPr>
              <a:t>Sometimes we should</a:t>
            </a:r>
            <a:r>
              <a:rPr lang="en-US" sz="2000" b="1" i="0" dirty="0">
                <a:solidFill>
                  <a:srgbClr val="5C4826"/>
                </a:solidFill>
                <a:latin typeface="Calibri"/>
              </a:rPr>
              <a:t> (and do)</a:t>
            </a:r>
            <a:endParaRPr sz="2000" b="1" i="0" dirty="0">
              <a:solidFill>
                <a:srgbClr val="5C4826"/>
              </a:solidFill>
              <a:latin typeface="Calibri"/>
            </a:endParaRPr>
          </a:p>
        </p:txBody>
      </p:sp>
      <p:sp>
        <p:nvSpPr>
          <p:cNvPr id="5" name="Rectangle 4"/>
          <p:cNvSpPr/>
          <p:nvPr/>
        </p:nvSpPr>
        <p:spPr>
          <a:xfrm>
            <a:off x="548640" y="2112264"/>
            <a:ext cx="3886200" cy="2276855"/>
          </a:xfrm>
          <a:prstGeom prst="rect">
            <a:avLst/>
          </a:prstGeom>
          <a:noFill/>
          <a:ln w="12700">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548640" y="1411668"/>
            <a:ext cx="4630783" cy="276999"/>
          </a:xfrm>
          <a:prstGeom prst="rect">
            <a:avLst/>
          </a:prstGeom>
          <a:noFill/>
        </p:spPr>
        <p:txBody>
          <a:bodyPr wrap="square" lIns="0" tIns="0" rIns="0" bIns="0" anchor="t">
            <a:spAutoFit/>
          </a:bodyPr>
          <a:lstStyle/>
          <a:p>
            <a:pPr algn="l"/>
            <a:r>
              <a:rPr lang="en-US" sz="1800" b="1" i="0" spc="50" dirty="0">
                <a:solidFill>
                  <a:srgbClr val="8E6F3E"/>
                </a:solidFill>
                <a:latin typeface="Calibri"/>
              </a:rPr>
              <a:t>Generate what the model determines</a:t>
            </a:r>
            <a:endParaRPr sz="1800" b="1" i="0" spc="50" dirty="0">
              <a:solidFill>
                <a:srgbClr val="8E6F3E"/>
              </a:solidFill>
              <a:latin typeface="Calibri"/>
            </a:endParaRPr>
          </a:p>
        </p:txBody>
      </p:sp>
      <p:sp>
        <p:nvSpPr>
          <p:cNvPr id="7" name="TextBox 6"/>
          <p:cNvSpPr txBox="1"/>
          <p:nvPr/>
        </p:nvSpPr>
        <p:spPr>
          <a:xfrm>
            <a:off x="754380" y="1759421"/>
            <a:ext cx="3474720" cy="2041328"/>
          </a:xfrm>
          <a:prstGeom prst="rect">
            <a:avLst/>
          </a:prstGeom>
          <a:noFill/>
        </p:spPr>
        <p:txBody>
          <a:bodyPr wrap="square" lIns="0" tIns="0" rIns="0" bIns="0" anchor="t">
            <a:spAutoFit/>
          </a:bodyPr>
          <a:lstStyle/>
          <a:p>
            <a:pPr marL="342900" indent="-342900" algn="l">
              <a:lnSpc>
                <a:spcPct val="135000"/>
              </a:lnSpc>
              <a:buFont typeface="Arial" panose="020B0604020202020204" pitchFamily="34" charset="0"/>
              <a:buChar char="•"/>
            </a:pPr>
            <a:r>
              <a:rPr sz="2000" b="0" i="0" dirty="0">
                <a:solidFill>
                  <a:srgbClr val="353638"/>
                </a:solidFill>
                <a:latin typeface="Calibri"/>
              </a:rPr>
              <a:t>configuration</a:t>
            </a:r>
          </a:p>
          <a:p>
            <a:pPr marL="342900" indent="-342900" algn="l">
              <a:lnSpc>
                <a:spcPct val="135000"/>
              </a:lnSpc>
              <a:buFont typeface="Arial" panose="020B0604020202020204" pitchFamily="34" charset="0"/>
              <a:buChar char="•"/>
            </a:pPr>
            <a:r>
              <a:rPr sz="2000" b="0" i="0" dirty="0">
                <a:solidFill>
                  <a:srgbClr val="353638"/>
                </a:solidFill>
                <a:latin typeface="Calibri"/>
              </a:rPr>
              <a:t>interfaces and schemas</a:t>
            </a:r>
          </a:p>
          <a:p>
            <a:pPr marL="342900" indent="-342900" algn="l">
              <a:lnSpc>
                <a:spcPct val="135000"/>
              </a:lnSpc>
              <a:buFont typeface="Arial" panose="020B0604020202020204" pitchFamily="34" charset="0"/>
              <a:buChar char="•"/>
            </a:pPr>
            <a:r>
              <a:rPr sz="2000" b="0" i="0" dirty="0">
                <a:solidFill>
                  <a:srgbClr val="353638"/>
                </a:solidFill>
                <a:latin typeface="Calibri"/>
              </a:rPr>
              <a:t>state-machine fragments</a:t>
            </a:r>
          </a:p>
          <a:p>
            <a:pPr marL="342900" indent="-342900" algn="l">
              <a:lnSpc>
                <a:spcPct val="135000"/>
              </a:lnSpc>
              <a:buFont typeface="Arial" panose="020B0604020202020204" pitchFamily="34" charset="0"/>
              <a:buChar char="•"/>
            </a:pPr>
            <a:r>
              <a:rPr sz="2000" b="0" i="0" dirty="0">
                <a:solidFill>
                  <a:srgbClr val="353638"/>
                </a:solidFill>
                <a:latin typeface="Calibri"/>
              </a:rPr>
              <a:t>deployment artifacts</a:t>
            </a:r>
          </a:p>
          <a:p>
            <a:pPr marL="342900" indent="-342900" algn="l">
              <a:lnSpc>
                <a:spcPct val="135000"/>
              </a:lnSpc>
              <a:buFont typeface="Arial" panose="020B0604020202020204" pitchFamily="34" charset="0"/>
              <a:buChar char="•"/>
            </a:pPr>
            <a:r>
              <a:rPr lang="en-US" sz="2000" b="0" i="0" dirty="0">
                <a:solidFill>
                  <a:srgbClr val="353638"/>
                </a:solidFill>
                <a:latin typeface="Calibri"/>
              </a:rPr>
              <a:t>"</a:t>
            </a:r>
            <a:r>
              <a:rPr sz="2000" b="0" i="0" dirty="0">
                <a:solidFill>
                  <a:srgbClr val="353638"/>
                </a:solidFill>
                <a:latin typeface="Calibri"/>
              </a:rPr>
              <a:t>boilerplate</a:t>
            </a:r>
            <a:r>
              <a:rPr lang="en-US" sz="2000" b="0" i="0" dirty="0">
                <a:solidFill>
                  <a:srgbClr val="353638"/>
                </a:solidFill>
                <a:latin typeface="Calibri"/>
              </a:rPr>
              <a:t>"</a:t>
            </a:r>
            <a:endParaRPr sz="2000" b="0" i="0" dirty="0">
              <a:solidFill>
                <a:srgbClr val="353638"/>
              </a:solidFill>
              <a:latin typeface="Calibri"/>
            </a:endParaRPr>
          </a:p>
        </p:txBody>
      </p:sp>
      <p:sp>
        <p:nvSpPr>
          <p:cNvPr id="8" name="Rectangle 7"/>
          <p:cNvSpPr/>
          <p:nvPr/>
        </p:nvSpPr>
        <p:spPr>
          <a:xfrm>
            <a:off x="4846320" y="1783080"/>
            <a:ext cx="3749039"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Want the generator to decide less</a:t>
            </a:r>
          </a:p>
        </p:txBody>
      </p:sp>
      <p:sp>
        <p:nvSpPr>
          <p:cNvPr id="9" name="Down Arrow 8"/>
          <p:cNvSpPr/>
          <p:nvPr/>
        </p:nvSpPr>
        <p:spPr>
          <a:xfrm>
            <a:off x="6629400" y="2313432"/>
            <a:ext cx="182880"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601399" y="2564893"/>
            <a:ext cx="4238879"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dirty="0">
                <a:solidFill>
                  <a:srgbClr val="5C4826"/>
                </a:solidFill>
                <a:latin typeface="Calibri"/>
              </a:rPr>
              <a:t>The </a:t>
            </a:r>
            <a:r>
              <a:rPr lang="en-US" sz="1800" b="0" i="0" dirty="0">
                <a:solidFill>
                  <a:srgbClr val="5C4826"/>
                </a:solidFill>
                <a:latin typeface="Calibri"/>
              </a:rPr>
              <a:t>engineering </a:t>
            </a:r>
            <a:r>
              <a:rPr sz="1800" b="0" i="0" dirty="0">
                <a:solidFill>
                  <a:srgbClr val="5C4826"/>
                </a:solidFill>
                <a:latin typeface="Calibri"/>
              </a:rPr>
              <a:t>model must decide more</a:t>
            </a:r>
          </a:p>
        </p:txBody>
      </p:sp>
      <p:sp>
        <p:nvSpPr>
          <p:cNvPr id="11" name="Down Arrow 10"/>
          <p:cNvSpPr/>
          <p:nvPr/>
        </p:nvSpPr>
        <p:spPr>
          <a:xfrm>
            <a:off x="6629400" y="3108960"/>
            <a:ext cx="182880"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846320" y="3374136"/>
            <a:ext cx="3749039"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0" i="0">
                <a:solidFill>
                  <a:srgbClr val="5C4826"/>
                </a:solidFill>
                <a:latin typeface="Calibri"/>
              </a:rPr>
              <a:t>More realization encoded in the model</a:t>
            </a:r>
          </a:p>
        </p:txBody>
      </p:sp>
      <p:sp>
        <p:nvSpPr>
          <p:cNvPr id="13" name="Down Arrow 12"/>
          <p:cNvSpPr/>
          <p:nvPr/>
        </p:nvSpPr>
        <p:spPr>
          <a:xfrm>
            <a:off x="6629400" y="3904487"/>
            <a:ext cx="182880"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846320" y="4169663"/>
            <a:ext cx="3749039" cy="83667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lnSpc>
                <a:spcPct val="100000"/>
              </a:lnSpc>
            </a:pPr>
            <a:r>
              <a:rPr sz="1800" b="1" i="0" dirty="0">
                <a:solidFill>
                  <a:srgbClr val="FFFFFF"/>
                </a:solidFill>
                <a:latin typeface="Calibri"/>
              </a:rPr>
              <a:t>At the limit: you have built another</a:t>
            </a:r>
          </a:p>
          <a:p>
            <a:pPr algn="ctr">
              <a:lnSpc>
                <a:spcPct val="100000"/>
              </a:lnSpc>
            </a:pPr>
            <a:r>
              <a:rPr sz="1800" b="1" i="0" dirty="0">
                <a:solidFill>
                  <a:srgbClr val="FFFFFF"/>
                </a:solidFill>
                <a:latin typeface="Calibri"/>
              </a:rPr>
              <a:t>programming language</a:t>
            </a:r>
          </a:p>
        </p:txBody>
      </p:sp>
      <p:sp>
        <p:nvSpPr>
          <p:cNvPr id="15" name="TextBox 14"/>
          <p:cNvSpPr txBox="1"/>
          <p:nvPr/>
        </p:nvSpPr>
        <p:spPr>
          <a:xfrm>
            <a:off x="1417320" y="5366598"/>
            <a:ext cx="6309360" cy="920830"/>
          </a:xfrm>
          <a:prstGeom prst="rect">
            <a:avLst/>
          </a:prstGeom>
          <a:noFill/>
        </p:spPr>
        <p:txBody>
          <a:bodyPr wrap="square" lIns="0" tIns="0" rIns="0" bIns="0" anchor="t">
            <a:spAutoFit/>
          </a:bodyPr>
          <a:lstStyle/>
          <a:p>
            <a:pPr algn="ctr">
              <a:lnSpc>
                <a:spcPct val="120000"/>
              </a:lnSpc>
            </a:pPr>
            <a:r>
              <a:rPr sz="2000" b="1" i="0" dirty="0">
                <a:solidFill>
                  <a:srgbClr val="353638"/>
                </a:solidFill>
                <a:latin typeface="Calibri"/>
              </a:rPr>
              <a:t>Purposeful reduction says: </a:t>
            </a:r>
            <a:r>
              <a:rPr lang="en-US" sz="2000" b="1" i="0" dirty="0">
                <a:solidFill>
                  <a:srgbClr val="353638"/>
                </a:solidFill>
                <a:latin typeface="Calibri"/>
              </a:rPr>
              <a:t>T</a:t>
            </a:r>
            <a:r>
              <a:rPr sz="2000" b="1" i="0" dirty="0">
                <a:solidFill>
                  <a:srgbClr val="353638"/>
                </a:solidFill>
                <a:latin typeface="Calibri"/>
              </a:rPr>
              <a:t>hat may not be what we want.</a:t>
            </a:r>
            <a:endParaRPr lang="en-US" sz="2000" b="1" dirty="0">
              <a:solidFill>
                <a:srgbClr val="353638"/>
              </a:solidFill>
              <a:latin typeface="Calibri"/>
            </a:endParaRPr>
          </a:p>
          <a:p>
            <a:pPr algn="ctr">
              <a:lnSpc>
                <a:spcPct val="120000"/>
              </a:lnSpc>
            </a:pPr>
            <a:r>
              <a:rPr lang="en-US" sz="3200" i="0" dirty="0">
                <a:solidFill>
                  <a:srgbClr val="353638"/>
                </a:solidFill>
                <a:latin typeface="Calibri"/>
              </a:rPr>
              <a:t>Why not?</a:t>
            </a:r>
          </a:p>
        </p:txBody>
      </p:sp>
      <p:sp>
        <p:nvSpPr>
          <p:cNvPr id="17" name="TextBox 16"/>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10</a:t>
            </a:r>
          </a:p>
        </p:txBody>
      </p:sp>
      <p:pic>
        <p:nvPicPr>
          <p:cNvPr id="18" name="Picture 17" descr="image1.png"/>
          <p:cNvPicPr>
            <a:picLocks noChangeAspect="1"/>
          </p:cNvPicPr>
          <p:nvPr/>
        </p:nvPicPr>
        <p:blipFill>
          <a:blip r:embed="rId3"/>
          <a:stretch>
            <a:fillRect/>
          </a:stretch>
        </p:blipFill>
        <p:spPr>
          <a:xfrm>
            <a:off x="8759952" y="6638544"/>
            <a:ext cx="325247" cy="173736"/>
          </a:xfrm>
          <a:prstGeom prst="rect">
            <a:avLst/>
          </a:prstGeom>
        </p:spPr>
      </p:pic>
      <p:sp>
        <p:nvSpPr>
          <p:cNvPr id="19" name="TextBox 18">
            <a:extLst>
              <a:ext uri="{FF2B5EF4-FFF2-40B4-BE49-F238E27FC236}">
                <a16:creationId xmlns:a16="http://schemas.microsoft.com/office/drawing/2014/main" id="{1DE28E8F-D519-1022-0A02-B7BC91FEE490}"/>
              </a:ext>
            </a:extLst>
          </p:cNvPr>
          <p:cNvSpPr txBox="1"/>
          <p:nvPr/>
        </p:nvSpPr>
        <p:spPr>
          <a:xfrm>
            <a:off x="5597434" y="1408289"/>
            <a:ext cx="2429692" cy="276999"/>
          </a:xfrm>
          <a:prstGeom prst="rect">
            <a:avLst/>
          </a:prstGeom>
          <a:noFill/>
        </p:spPr>
        <p:txBody>
          <a:bodyPr wrap="square" lIns="0" tIns="0" rIns="0" bIns="0" anchor="t">
            <a:spAutoFit/>
          </a:bodyPr>
          <a:lstStyle/>
          <a:p>
            <a:pPr algn="l"/>
            <a:r>
              <a:rPr lang="en-US" sz="1800" b="1" i="0" spc="50" dirty="0">
                <a:solidFill>
                  <a:srgbClr val="8E6F3E"/>
                </a:solidFill>
                <a:latin typeface="Calibri"/>
              </a:rPr>
              <a:t>And what it does not?</a:t>
            </a:r>
            <a:endParaRPr sz="1800" b="1" i="0" spc="50" dirty="0">
              <a:solidFill>
                <a:srgbClr val="8E6F3E"/>
              </a:solidFill>
              <a:latin typeface="Calibri"/>
            </a:endParaRPr>
          </a:p>
        </p:txBody>
      </p:sp>
      <p:sp>
        <p:nvSpPr>
          <p:cNvPr id="21" name="Freeform 20">
            <a:extLst>
              <a:ext uri="{FF2B5EF4-FFF2-40B4-BE49-F238E27FC236}">
                <a16:creationId xmlns:a16="http://schemas.microsoft.com/office/drawing/2014/main" id="{B250A4C1-5F83-8DBE-7C58-45A7F644A478}"/>
              </a:ext>
            </a:extLst>
          </p:cNvPr>
          <p:cNvSpPr/>
          <p:nvPr/>
        </p:nvSpPr>
        <p:spPr>
          <a:xfrm>
            <a:off x="3931921" y="3814354"/>
            <a:ext cx="705393" cy="1476103"/>
          </a:xfrm>
          <a:custGeom>
            <a:avLst/>
            <a:gdLst>
              <a:gd name="csX0" fmla="*/ 705393 w 705393"/>
              <a:gd name="csY0" fmla="*/ 0 h 1476103"/>
              <a:gd name="csX1" fmla="*/ 248193 w 705393"/>
              <a:gd name="csY1" fmla="*/ 169817 h 1476103"/>
              <a:gd name="csX2" fmla="*/ 26125 w 705393"/>
              <a:gd name="csY2" fmla="*/ 836023 h 1476103"/>
              <a:gd name="csX3" fmla="*/ 13062 w 705393"/>
              <a:gd name="csY3" fmla="*/ 1476103 h 1476103"/>
            </a:gdLst>
            <a:ahLst/>
            <a:cxnLst>
              <a:cxn ang="0">
                <a:pos x="csX0" y="csY0"/>
              </a:cxn>
              <a:cxn ang="0">
                <a:pos x="csX1" y="csY1"/>
              </a:cxn>
              <a:cxn ang="0">
                <a:pos x="csX2" y="csY2"/>
              </a:cxn>
              <a:cxn ang="0">
                <a:pos x="csX3" y="csY3"/>
              </a:cxn>
            </a:cxnLst>
            <a:rect l="l" t="t" r="r" b="b"/>
            <a:pathLst>
              <a:path w="705393" h="1476103">
                <a:moveTo>
                  <a:pt x="705393" y="0"/>
                </a:moveTo>
                <a:cubicBezTo>
                  <a:pt x="533398" y="15240"/>
                  <a:pt x="361404" y="30480"/>
                  <a:pt x="248193" y="169817"/>
                </a:cubicBezTo>
                <a:cubicBezTo>
                  <a:pt x="134982" y="309154"/>
                  <a:pt x="65313" y="618309"/>
                  <a:pt x="26125" y="836023"/>
                </a:cubicBezTo>
                <a:cubicBezTo>
                  <a:pt x="-13063" y="1053737"/>
                  <a:pt x="-1" y="1264920"/>
                  <a:pt x="13062" y="1476103"/>
                </a:cubicBezTo>
              </a:path>
            </a:pathLst>
          </a:custGeom>
          <a:noFill/>
          <a:ln>
            <a:solidFill>
              <a:schemeClr val="bg2">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p:bldP spid="19" grpId="0"/>
      <p:bldP spid="2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45102"/>
            <a:ext cx="8503920" cy="369332"/>
          </a:xfrm>
          <a:prstGeom prst="rect">
            <a:avLst/>
          </a:prstGeom>
          <a:noFill/>
        </p:spPr>
        <p:txBody>
          <a:bodyPr wrap="square" lIns="0" tIns="0" rIns="0" bIns="0" anchor="ctr">
            <a:spAutoFit/>
          </a:bodyPr>
          <a:lstStyle/>
          <a:p>
            <a:pPr algn="l"/>
            <a:r>
              <a:rPr lang="en-US" sz="2400" b="0" i="0" spc="140" dirty="0">
                <a:solidFill>
                  <a:srgbClr val="353638"/>
                </a:solidFill>
                <a:latin typeface="Calibri"/>
              </a:rPr>
              <a:t>Summary: To </a:t>
            </a:r>
            <a:r>
              <a:rPr lang="en-US" sz="2400" spc="140" dirty="0">
                <a:solidFill>
                  <a:srgbClr val="353638"/>
                </a:solidFill>
                <a:latin typeface="Calibri"/>
              </a:rPr>
              <a:t>ge</a:t>
            </a:r>
            <a:r>
              <a:rPr sz="2400" b="0" i="0" spc="140" dirty="0">
                <a:solidFill>
                  <a:srgbClr val="353638"/>
                </a:solidFill>
                <a:latin typeface="Calibri"/>
              </a:rPr>
              <a:t>nerate,</a:t>
            </a:r>
            <a:r>
              <a:rPr lang="en-US" sz="2400" b="0" i="0" spc="140" dirty="0">
                <a:solidFill>
                  <a:srgbClr val="353638"/>
                </a:solidFill>
                <a:latin typeface="Calibri"/>
              </a:rPr>
              <a:t> to</a:t>
            </a:r>
            <a:r>
              <a:rPr sz="2400" b="0" i="0" spc="140" dirty="0">
                <a:solidFill>
                  <a:srgbClr val="353638"/>
                </a:solidFill>
                <a:latin typeface="Calibri"/>
              </a:rPr>
              <a:t> delegate, or </a:t>
            </a:r>
            <a:r>
              <a:rPr lang="en-US" sz="2400" b="0" i="0" spc="140" dirty="0">
                <a:solidFill>
                  <a:srgbClr val="353638"/>
                </a:solidFill>
                <a:latin typeface="Calibri"/>
              </a:rPr>
              <a:t>to </a:t>
            </a:r>
            <a:r>
              <a:rPr sz="2400" b="0" i="0" spc="140" dirty="0">
                <a:solidFill>
                  <a:srgbClr val="353638"/>
                </a:solidFill>
                <a:latin typeface="Calibri"/>
              </a:rPr>
              <a:t>model</a:t>
            </a:r>
            <a:r>
              <a:rPr lang="en-US" sz="2400" b="0" i="0" spc="140" dirty="0">
                <a:solidFill>
                  <a:srgbClr val="353638"/>
                </a:solidFill>
                <a:latin typeface="Calibri"/>
              </a:rPr>
              <a:t>?</a:t>
            </a:r>
            <a:endParaRPr sz="2400" b="0" i="0" spc="140" dirty="0">
              <a:solidFill>
                <a:srgbClr val="353638"/>
              </a:solidFill>
              <a:latin typeface="Calibri"/>
            </a:endParaRP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Rectangle 3"/>
          <p:cNvSpPr/>
          <p:nvPr/>
        </p:nvSpPr>
        <p:spPr>
          <a:xfrm>
            <a:off x="548640" y="1097280"/>
            <a:ext cx="26517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purposeful model</a:t>
            </a:r>
          </a:p>
        </p:txBody>
      </p:sp>
      <p:sp>
        <p:nvSpPr>
          <p:cNvPr id="5" name="TextBox 4"/>
          <p:cNvSpPr txBox="1"/>
          <p:nvPr/>
        </p:nvSpPr>
        <p:spPr>
          <a:xfrm>
            <a:off x="2103120" y="1737360"/>
            <a:ext cx="2103120" cy="310895"/>
          </a:xfrm>
          <a:prstGeom prst="rect">
            <a:avLst/>
          </a:prstGeom>
          <a:noFill/>
        </p:spPr>
        <p:txBody>
          <a:bodyPr wrap="square" lIns="0" tIns="0" rIns="0" bIns="0" anchor="t">
            <a:spAutoFit/>
          </a:bodyPr>
          <a:lstStyle/>
          <a:p>
            <a:pPr algn="l"/>
            <a:r>
              <a:rPr sz="1800" b="0" i="1">
                <a:solidFill>
                  <a:srgbClr val="555960"/>
                </a:solidFill>
                <a:latin typeface="Calibri"/>
              </a:rPr>
              <a:t>obligations + freedom</a:t>
            </a:r>
          </a:p>
        </p:txBody>
      </p:sp>
      <p:sp>
        <p:nvSpPr>
          <p:cNvPr id="6" name="Down Arrow 5"/>
          <p:cNvSpPr/>
          <p:nvPr/>
        </p:nvSpPr>
        <p:spPr>
          <a:xfrm>
            <a:off x="1783080" y="1691640"/>
            <a:ext cx="182880" cy="365760"/>
          </a:xfrm>
          <a:prstGeom prst="down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103120"/>
            <a:ext cx="2651760" cy="548640"/>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agent</a:t>
            </a:r>
          </a:p>
        </p:txBody>
      </p:sp>
      <p:sp>
        <p:nvSpPr>
          <p:cNvPr id="8" name="TextBox 7"/>
          <p:cNvSpPr txBox="1"/>
          <p:nvPr/>
        </p:nvSpPr>
        <p:spPr>
          <a:xfrm>
            <a:off x="2103120" y="2743200"/>
            <a:ext cx="2103120" cy="310895"/>
          </a:xfrm>
          <a:prstGeom prst="rect">
            <a:avLst/>
          </a:prstGeom>
          <a:noFill/>
        </p:spPr>
        <p:txBody>
          <a:bodyPr wrap="square" lIns="0" tIns="0" rIns="0" bIns="0" anchor="t">
            <a:spAutoFit/>
          </a:bodyPr>
          <a:lstStyle/>
          <a:p>
            <a:pPr algn="l"/>
            <a:r>
              <a:rPr sz="1800" b="0" i="1">
                <a:solidFill>
                  <a:srgbClr val="555960"/>
                </a:solidFill>
                <a:latin typeface="Calibri"/>
              </a:rPr>
              <a:t>realization choices</a:t>
            </a:r>
          </a:p>
        </p:txBody>
      </p:sp>
      <p:sp>
        <p:nvSpPr>
          <p:cNvPr id="9" name="Down Arrow 8"/>
          <p:cNvSpPr/>
          <p:nvPr/>
        </p:nvSpPr>
        <p:spPr>
          <a:xfrm>
            <a:off x="1783080" y="2697480"/>
            <a:ext cx="182880" cy="365760"/>
          </a:xfrm>
          <a:prstGeom prst="downArrow">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3108960"/>
            <a:ext cx="2651760" cy="5486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353638"/>
                </a:solidFill>
                <a:latin typeface="Calibri"/>
              </a:rPr>
              <a:t>implementation</a:t>
            </a:r>
          </a:p>
        </p:txBody>
      </p:sp>
      <p:sp>
        <p:nvSpPr>
          <p:cNvPr id="11" name="TextBox 10"/>
          <p:cNvSpPr txBox="1"/>
          <p:nvPr/>
        </p:nvSpPr>
        <p:spPr>
          <a:xfrm>
            <a:off x="548640" y="3886200"/>
            <a:ext cx="3977639" cy="1191095"/>
          </a:xfrm>
          <a:prstGeom prst="rect">
            <a:avLst/>
          </a:prstGeom>
          <a:noFill/>
        </p:spPr>
        <p:txBody>
          <a:bodyPr wrap="square" lIns="0" tIns="0" rIns="0" bIns="0" anchor="t">
            <a:spAutoFit/>
          </a:bodyPr>
          <a:lstStyle/>
          <a:p>
            <a:pPr algn="l">
              <a:lnSpc>
                <a:spcPct val="115000"/>
              </a:lnSpc>
            </a:pPr>
            <a:r>
              <a:rPr sz="1800" b="1" i="0" dirty="0"/>
              <a:t>Traditional generator</a:t>
            </a:r>
            <a:r>
              <a:rPr sz="1800" b="0" i="0" dirty="0"/>
              <a:t>: specify enough to determine the transformation.</a:t>
            </a:r>
          </a:p>
          <a:p>
            <a:r>
              <a:rPr sz="1800" b="1" i="0" dirty="0"/>
              <a:t>Agentic </a:t>
            </a:r>
            <a:r>
              <a:rPr lang="en-US" sz="1800" b="1" i="0" dirty="0"/>
              <a:t>generator</a:t>
            </a:r>
            <a:r>
              <a:rPr sz="1800" b="0" i="0" dirty="0"/>
              <a:t>: specify what matters; delegate the rest.</a:t>
            </a:r>
          </a:p>
        </p:txBody>
      </p:sp>
      <p:sp>
        <p:nvSpPr>
          <p:cNvPr id="21" name="Rectangle 20"/>
          <p:cNvSpPr/>
          <p:nvPr/>
        </p:nvSpPr>
        <p:spPr>
          <a:xfrm>
            <a:off x="548640" y="5257800"/>
            <a:ext cx="804672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22960" y="5305895"/>
            <a:ext cx="7498079" cy="548640"/>
          </a:xfrm>
          <a:prstGeom prst="rect">
            <a:avLst/>
          </a:prstGeom>
          <a:noFill/>
        </p:spPr>
        <p:txBody>
          <a:bodyPr wrap="square" lIns="0" tIns="0" rIns="0" bIns="0" anchor="t">
            <a:spAutoFit/>
          </a:bodyPr>
          <a:lstStyle/>
          <a:p>
            <a:pPr algn="l">
              <a:lnSpc>
                <a:spcPct val="130000"/>
              </a:lnSpc>
            </a:pPr>
            <a:r>
              <a:rPr sz="1800" b="1" dirty="0">
                <a:solidFill>
                  <a:srgbClr val="8E6F3E"/>
                </a:solidFill>
              </a:rPr>
              <a:t>MODEL:</a:t>
            </a:r>
            <a:r>
              <a:rPr sz="1800" b="0" dirty="0"/>
              <a:t> what matters · obligations · properties</a:t>
            </a:r>
          </a:p>
          <a:p>
            <a:r>
              <a:rPr sz="1800" b="1" dirty="0">
                <a:solidFill>
                  <a:srgbClr val="8E6F3E"/>
                </a:solidFill>
              </a:rPr>
              <a:t>IMPLEMENTATION:</a:t>
            </a:r>
            <a:r>
              <a:rPr sz="1800" b="0" dirty="0"/>
              <a:t> one realization · many further decisions</a:t>
            </a:r>
          </a:p>
        </p:txBody>
      </p:sp>
      <p:sp>
        <p:nvSpPr>
          <p:cNvPr id="23" name="Rectangle 22"/>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The model is not another implementation.</a:t>
            </a:r>
          </a:p>
        </p:txBody>
      </p:sp>
      <p:sp>
        <p:nvSpPr>
          <p:cNvPr id="24" name="TextBox 23"/>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11</a:t>
            </a:r>
          </a:p>
        </p:txBody>
      </p:sp>
      <p:pic>
        <p:nvPicPr>
          <p:cNvPr id="25" name="Picture 24" descr="image1.png"/>
          <p:cNvPicPr>
            <a:picLocks noChangeAspect="1"/>
          </p:cNvPicPr>
          <p:nvPr/>
        </p:nvPicPr>
        <p:blipFill>
          <a:blip r:embed="rId3"/>
          <a:stretch>
            <a:fillRect/>
          </a:stretch>
        </p:blipFill>
        <p:spPr>
          <a:xfrm>
            <a:off x="8759952" y="6638544"/>
            <a:ext cx="325247" cy="173736"/>
          </a:xfrm>
          <a:prstGeom prst="rect">
            <a:avLst/>
          </a:prstGeom>
        </p:spPr>
      </p:pic>
      <p:graphicFrame>
        <p:nvGraphicFramePr>
          <p:cNvPr id="26" name="Table 25"/>
          <p:cNvGraphicFramePr>
            <a:graphicFrameLocks noGrp="1"/>
          </p:cNvGraphicFramePr>
          <p:nvPr/>
        </p:nvGraphicFramePr>
        <p:xfrm>
          <a:off x="4709160" y="1097280"/>
          <a:ext cx="3931920" cy="2432304"/>
        </p:xfrm>
        <a:graphic>
          <a:graphicData uri="http://schemas.openxmlformats.org/drawingml/2006/table">
            <a:tbl>
              <a:tblPr firstRow="1">
                <a:tableStyleId>{5C22544A-7EE6-4342-B048-85BDC9FD1C3A}</a:tableStyleId>
              </a:tblPr>
              <a:tblGrid>
                <a:gridCol w="22860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57200">
                <a:tc>
                  <a:txBody>
                    <a:bodyPr/>
                    <a:lstStyle/>
                    <a:p>
                      <a:r>
                        <a:rPr sz="1800" b="1">
                          <a:solidFill>
                            <a:srgbClr val="FFFFFF"/>
                          </a:solidFill>
                        </a:rPr>
                        <a:t>Kind of decision</a:t>
                      </a:r>
                    </a:p>
                  </a:txBody>
                  <a:tcPr marL="118872" marR="82296" marT="54864" marB="54864" anchor="ctr">
                    <a:solidFill>
                      <a:srgbClr val="8E6F3E"/>
                    </a:solidFill>
                  </a:tcPr>
                </a:tc>
                <a:tc>
                  <a:txBody>
                    <a:bodyPr/>
                    <a:lstStyle/>
                    <a:p>
                      <a:r>
                        <a:rPr sz="1800" b="1">
                          <a:solidFill>
                            <a:srgbClr val="FFFFFF"/>
                          </a:solidFill>
                        </a:rPr>
                        <a:t>Response</a:t>
                      </a:r>
                    </a:p>
                  </a:txBody>
                  <a:tcPr marL="118872" marR="82296" marT="54864" marB="54864" anchor="ctr">
                    <a:solidFill>
                      <a:srgbClr val="8E6F3E"/>
                    </a:solidFill>
                  </a:tcPr>
                </a:tc>
                <a:extLst>
                  <a:ext uri="{0D108BD9-81ED-4DB2-BD59-A6C34878D82A}">
                    <a16:rowId xmlns:a16="http://schemas.microsoft.com/office/drawing/2014/main" val="10000"/>
                  </a:ext>
                </a:extLst>
              </a:tr>
              <a:tr h="658368">
                <a:tc>
                  <a:txBody>
                    <a:bodyPr/>
                    <a:lstStyle/>
                    <a:p>
                      <a:r>
                        <a:rPr sz="1800" b="0">
                          <a:solidFill>
                            <a:srgbClr val="353638"/>
                          </a:solidFill>
                        </a:rPr>
                        <a:t>Mechanically determined</a:t>
                      </a:r>
                    </a:p>
                  </a:txBody>
                  <a:tcPr marL="118872" marR="82296" marT="54864" marB="54864" anchor="ctr">
                    <a:solidFill>
                      <a:srgbClr val="F7F3EC"/>
                    </a:solidFill>
                  </a:tcPr>
                </a:tc>
                <a:tc>
                  <a:txBody>
                    <a:bodyPr/>
                    <a:lstStyle/>
                    <a:p>
                      <a:r>
                        <a:rPr sz="1800" b="1">
                          <a:solidFill>
                            <a:srgbClr val="8E6F3E"/>
                          </a:solidFill>
                        </a:rPr>
                        <a:t>Generate it</a:t>
                      </a:r>
                    </a:p>
                  </a:txBody>
                  <a:tcPr marL="118872" marR="82296" marT="54864" marB="54864" anchor="ctr">
                    <a:solidFill>
                      <a:srgbClr val="F7F3EC"/>
                    </a:solidFill>
                  </a:tcPr>
                </a:tc>
                <a:extLst>
                  <a:ext uri="{0D108BD9-81ED-4DB2-BD59-A6C34878D82A}">
                    <a16:rowId xmlns:a16="http://schemas.microsoft.com/office/drawing/2014/main" val="10001"/>
                  </a:ext>
                </a:extLst>
              </a:tr>
              <a:tr h="658368">
                <a:tc>
                  <a:txBody>
                    <a:bodyPr/>
                    <a:lstStyle/>
                    <a:p>
                      <a:r>
                        <a:rPr sz="1800" b="0">
                          <a:solidFill>
                            <a:srgbClr val="353638"/>
                          </a:solidFill>
                        </a:rPr>
                        <a:t>Open within modeled obligations</a:t>
                      </a:r>
                    </a:p>
                  </a:txBody>
                  <a:tcPr marL="118872" marR="82296" marT="54864" marB="54864" anchor="ctr">
                    <a:solidFill>
                      <a:srgbClr val="F7F3EC"/>
                    </a:solidFill>
                  </a:tcPr>
                </a:tc>
                <a:tc>
                  <a:txBody>
                    <a:bodyPr/>
                    <a:lstStyle/>
                    <a:p>
                      <a:r>
                        <a:rPr sz="1800" b="1">
                          <a:solidFill>
                            <a:srgbClr val="8E6F3E"/>
                          </a:solidFill>
                        </a:rPr>
                        <a:t>Delegate it</a:t>
                      </a:r>
                    </a:p>
                  </a:txBody>
                  <a:tcPr marL="118872" marR="82296" marT="54864" marB="54864" anchor="ctr">
                    <a:solidFill>
                      <a:srgbClr val="F7F3EC"/>
                    </a:solidFill>
                  </a:tcPr>
                </a:tc>
                <a:extLst>
                  <a:ext uri="{0D108BD9-81ED-4DB2-BD59-A6C34878D82A}">
                    <a16:rowId xmlns:a16="http://schemas.microsoft.com/office/drawing/2014/main" val="10002"/>
                  </a:ext>
                </a:extLst>
              </a:tr>
              <a:tr h="658368">
                <a:tc>
                  <a:txBody>
                    <a:bodyPr/>
                    <a:lstStyle/>
                    <a:p>
                      <a:r>
                        <a:rPr sz="1800" b="0">
                          <a:solidFill>
                            <a:srgbClr val="353638"/>
                          </a:solidFill>
                        </a:rPr>
                        <a:t>Recurring and consequential</a:t>
                      </a:r>
                    </a:p>
                  </a:txBody>
                  <a:tcPr marL="118872" marR="82296" marT="54864" marB="54864" anchor="ctr">
                    <a:solidFill>
                      <a:srgbClr val="F7F3EC"/>
                    </a:solidFill>
                  </a:tcPr>
                </a:tc>
                <a:tc>
                  <a:txBody>
                    <a:bodyPr/>
                    <a:lstStyle/>
                    <a:p>
                      <a:r>
                        <a:rPr sz="1800" b="1">
                          <a:solidFill>
                            <a:srgbClr val="8E6F3E"/>
                          </a:solidFill>
                        </a:rPr>
                        <a:t>Consider modeling it</a:t>
                      </a:r>
                    </a:p>
                  </a:txBody>
                  <a:tcPr marL="118872" marR="82296" marT="54864" marB="54864" anchor="ctr">
                    <a:solidFill>
                      <a:srgbClr val="F7F3EC"/>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91F22-F1C8-679F-4AC4-CE7453658117}"/>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FD631580-CBAF-720B-62CE-F15C904DF9BA}"/>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 – Lab setup</a:t>
            </a:r>
          </a:p>
        </p:txBody>
      </p:sp>
      <p:sp>
        <p:nvSpPr>
          <p:cNvPr id="2" name="Title 1">
            <a:extLst>
              <a:ext uri="{FF2B5EF4-FFF2-40B4-BE49-F238E27FC236}">
                <a16:creationId xmlns:a16="http://schemas.microsoft.com/office/drawing/2014/main" id="{7B4A5DE4-521B-045A-B6C2-FA8A41C1856C}"/>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Working with Semantic Models</a:t>
            </a:r>
          </a:p>
        </p:txBody>
      </p:sp>
      <p:sp>
        <p:nvSpPr>
          <p:cNvPr id="3" name="Slide Number Placeholder 3">
            <a:extLst>
              <a:ext uri="{FF2B5EF4-FFF2-40B4-BE49-F238E27FC236}">
                <a16:creationId xmlns:a16="http://schemas.microsoft.com/office/drawing/2014/main" id="{AEE7A943-9774-526A-7882-AED3113BAA09}"/>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C0020A40-032C-F7E5-1C56-F150FF7B9B7E}"/>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In-class lab!</a:t>
            </a:r>
          </a:p>
        </p:txBody>
      </p:sp>
      <p:sp>
        <p:nvSpPr>
          <p:cNvPr id="103" name="Rule">
            <a:extLst>
              <a:ext uri="{FF2B5EF4-FFF2-40B4-BE49-F238E27FC236}">
                <a16:creationId xmlns:a16="http://schemas.microsoft.com/office/drawing/2014/main" id="{AC08E601-E9FB-82FE-948D-0DD060527481}"/>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9329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lang="en-US" sz="2400" b="0" i="0" spc="140" dirty="0">
                <a:solidFill>
                  <a:srgbClr val="353638"/>
                </a:solidFill>
                <a:latin typeface="Calibri"/>
              </a:rPr>
              <a:t>The MAGE Workbench</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pic>
        <p:nvPicPr>
          <p:cNvPr id="4" name="Picture 3" descr="wb-slide12-crop.png"/>
          <p:cNvPicPr>
            <a:picLocks noChangeAspect="1"/>
          </p:cNvPicPr>
          <p:nvPr/>
        </p:nvPicPr>
        <p:blipFill>
          <a:blip r:embed="rId3"/>
          <a:stretch>
            <a:fillRect/>
          </a:stretch>
        </p:blipFill>
        <p:spPr>
          <a:xfrm>
            <a:off x="640080" y="914400"/>
            <a:ext cx="7863840" cy="4406208"/>
          </a:xfrm>
          <a:prstGeom prst="rect">
            <a:avLst/>
          </a:prstGeom>
          <a:ln w="12700">
            <a:solidFill>
              <a:srgbClr val="C9B991"/>
            </a:solidFill>
          </a:ln>
        </p:spPr>
      </p:pic>
      <p:sp>
        <p:nvSpPr>
          <p:cNvPr id="5" name="TextBox 4"/>
          <p:cNvSpPr txBox="1"/>
          <p:nvPr/>
        </p:nvSpPr>
        <p:spPr>
          <a:xfrm>
            <a:off x="104171" y="5577840"/>
            <a:ext cx="8981027" cy="276999"/>
          </a:xfrm>
          <a:prstGeom prst="rect">
            <a:avLst/>
          </a:prstGeom>
          <a:noFill/>
        </p:spPr>
        <p:txBody>
          <a:bodyPr wrap="square" lIns="0" tIns="0" rIns="0" bIns="0" anchor="t">
            <a:spAutoFit/>
          </a:bodyPr>
          <a:lstStyle/>
          <a:p>
            <a:pPr algn="ctr"/>
            <a:r>
              <a:rPr sz="1800" b="1" i="0" dirty="0" err="1">
                <a:latin typeface="Consolas"/>
              </a:rPr>
              <a:t>davisjam.github.io</a:t>
            </a:r>
            <a:r>
              <a:rPr sz="1800" b="1" i="0" dirty="0">
                <a:latin typeface="Consolas"/>
              </a:rPr>
              <a:t>/model-based-agentic-software-engineering/workbench</a:t>
            </a:r>
          </a:p>
        </p:txBody>
      </p:sp>
      <p:sp>
        <p:nvSpPr>
          <p:cNvPr id="6" name="Rectangle 5"/>
          <p:cNvSpPr/>
          <p:nvPr/>
        </p:nvSpPr>
        <p:spPr>
          <a:xfrm>
            <a:off x="320040" y="6007607"/>
            <a:ext cx="8503920" cy="55778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dirty="0">
                <a:solidFill>
                  <a:srgbClr val="FFFFFF"/>
                </a:solidFill>
                <a:latin typeface="Calibri"/>
              </a:rPr>
              <a:t>Models · saved questions · evidence · an agent API.</a:t>
            </a:r>
          </a:p>
        </p:txBody>
      </p:sp>
      <p:sp>
        <p:nvSpPr>
          <p:cNvPr id="7" name="TextBox 6"/>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12</a:t>
            </a:r>
          </a:p>
        </p:txBody>
      </p:sp>
      <p:pic>
        <p:nvPicPr>
          <p:cNvPr id="8" name="Picture 7" descr="image1.png"/>
          <p:cNvPicPr>
            <a:picLocks noChangeAspect="1"/>
          </p:cNvPicPr>
          <p:nvPr/>
        </p:nvPicPr>
        <p:blipFill>
          <a:blip r:embed="rId4"/>
          <a:stretch>
            <a:fillRect/>
          </a:stretch>
        </p:blipFill>
        <p:spPr>
          <a:xfrm>
            <a:off x="8759952" y="6638544"/>
            <a:ext cx="325247" cy="17373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E752484-0DC4-6F6E-69E2-3658D0BA564D}"/>
              </a:ext>
            </a:extLst>
          </p:cNvPr>
          <p:cNvPicPr>
            <a:picLocks noChangeAspect="1"/>
          </p:cNvPicPr>
          <p:nvPr/>
        </p:nvPicPr>
        <p:blipFill>
          <a:blip r:embed="rId2"/>
          <a:stretch>
            <a:fillRect/>
          </a:stretch>
        </p:blipFill>
        <p:spPr>
          <a:xfrm>
            <a:off x="685800" y="1868380"/>
            <a:ext cx="7772400" cy="3881819"/>
          </a:xfrm>
          <a:prstGeom prst="rect">
            <a:avLst/>
          </a:prstGeom>
        </p:spPr>
      </p:pic>
      <p:sp>
        <p:nvSpPr>
          <p:cNvPr id="3" name="Title 2">
            <a:extLst>
              <a:ext uri="{FF2B5EF4-FFF2-40B4-BE49-F238E27FC236}">
                <a16:creationId xmlns:a16="http://schemas.microsoft.com/office/drawing/2014/main" id="{CD30BE28-EB89-D5E6-0C76-0E61EC9F7B76}"/>
              </a:ext>
            </a:extLst>
          </p:cNvPr>
          <p:cNvSpPr>
            <a:spLocks noGrp="1"/>
          </p:cNvSpPr>
          <p:nvPr>
            <p:ph type="title"/>
          </p:nvPr>
        </p:nvSpPr>
        <p:spPr/>
        <p:txBody>
          <a:bodyPr>
            <a:normAutofit fontScale="90000"/>
          </a:bodyPr>
          <a:lstStyle/>
          <a:p>
            <a:r>
              <a:rPr lang="en-US" dirty="0"/>
              <a:t>Workbench supports Human/Agent interaction</a:t>
            </a:r>
          </a:p>
        </p:txBody>
      </p:sp>
      <p:sp>
        <p:nvSpPr>
          <p:cNvPr id="5" name="TextBox 4">
            <a:extLst>
              <a:ext uri="{FF2B5EF4-FFF2-40B4-BE49-F238E27FC236}">
                <a16:creationId xmlns:a16="http://schemas.microsoft.com/office/drawing/2014/main" id="{CBA379BF-F74A-5D4F-6F89-55F519954F12}"/>
              </a:ext>
            </a:extLst>
          </p:cNvPr>
          <p:cNvSpPr txBox="1"/>
          <p:nvPr/>
        </p:nvSpPr>
        <p:spPr>
          <a:xfrm>
            <a:off x="796637" y="989326"/>
            <a:ext cx="7959436" cy="646331"/>
          </a:xfrm>
          <a:prstGeom prst="rect">
            <a:avLst/>
          </a:prstGeom>
          <a:noFill/>
        </p:spPr>
        <p:txBody>
          <a:bodyPr wrap="square" rtlCol="0">
            <a:spAutoFit/>
          </a:bodyPr>
          <a:lstStyle/>
          <a:p>
            <a:r>
              <a:rPr lang="en-US" dirty="0"/>
              <a:t>Motivation: I have never seen a modeling workbench that wasn’t a pain in the butt, because we all want natural-language but the workbench demands precision.</a:t>
            </a:r>
          </a:p>
        </p:txBody>
      </p:sp>
      <p:sp>
        <p:nvSpPr>
          <p:cNvPr id="6" name="TextBox 5">
            <a:extLst>
              <a:ext uri="{FF2B5EF4-FFF2-40B4-BE49-F238E27FC236}">
                <a16:creationId xmlns:a16="http://schemas.microsoft.com/office/drawing/2014/main" id="{DACE0173-0C59-3B22-6EF4-B15F2379D113}"/>
              </a:ext>
            </a:extLst>
          </p:cNvPr>
          <p:cNvSpPr txBox="1"/>
          <p:nvPr/>
        </p:nvSpPr>
        <p:spPr>
          <a:xfrm>
            <a:off x="796637" y="5750199"/>
            <a:ext cx="5898474" cy="923330"/>
          </a:xfrm>
          <a:prstGeom prst="rect">
            <a:avLst/>
          </a:prstGeom>
          <a:noFill/>
        </p:spPr>
        <p:txBody>
          <a:bodyPr wrap="none" rtlCol="0">
            <a:spAutoFit/>
          </a:bodyPr>
          <a:lstStyle/>
          <a:p>
            <a:r>
              <a:rPr lang="en-US" dirty="0"/>
              <a:t>Approach:</a:t>
            </a:r>
          </a:p>
          <a:p>
            <a:pPr marL="285750" indent="-285750">
              <a:buFont typeface="Arial" panose="020B0604020202020204" pitchFamily="34" charset="0"/>
              <a:buChar char="•"/>
            </a:pPr>
            <a:r>
              <a:rPr lang="en-US" dirty="0"/>
              <a:t>Open a Chromium-based browser (Chrome, Brave)</a:t>
            </a:r>
          </a:p>
          <a:p>
            <a:pPr marL="285750" indent="-285750">
              <a:buFont typeface="Arial" panose="020B0604020202020204" pitchFamily="34" charset="0"/>
              <a:buChar char="•"/>
            </a:pPr>
            <a:r>
              <a:rPr lang="en-US" dirty="0"/>
              <a:t>Your agent can use Chrome </a:t>
            </a:r>
            <a:r>
              <a:rPr lang="en-US" dirty="0" err="1"/>
              <a:t>DevTools</a:t>
            </a:r>
            <a:r>
              <a:rPr lang="en-US" dirty="0"/>
              <a:t> to interact alongside</a:t>
            </a:r>
          </a:p>
        </p:txBody>
      </p:sp>
    </p:spTree>
    <p:extLst>
      <p:ext uri="{BB962C8B-B14F-4D97-AF65-F5344CB8AC3E}">
        <p14:creationId xmlns:p14="http://schemas.microsoft.com/office/powerpoint/2010/main" val="4917027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0040" y="201168"/>
            <a:ext cx="8503920" cy="457200"/>
          </a:xfrm>
          <a:prstGeom prst="rect">
            <a:avLst/>
          </a:prstGeom>
          <a:noFill/>
        </p:spPr>
        <p:txBody>
          <a:bodyPr wrap="square" lIns="0" tIns="0" rIns="0" bIns="0" anchor="ctr">
            <a:spAutoFit/>
          </a:bodyPr>
          <a:lstStyle/>
          <a:p>
            <a:pPr algn="l"/>
            <a:r>
              <a:rPr sz="2400" b="0" i="0" spc="140">
                <a:solidFill>
                  <a:srgbClr val="353638"/>
                </a:solidFill>
                <a:latin typeface="Calibri"/>
              </a:rPr>
              <a:t>Ask through an agent</a:t>
            </a:r>
          </a:p>
        </p:txBody>
      </p:sp>
      <p:sp>
        <p:nvSpPr>
          <p:cNvPr id="3" name="Rectangle 2"/>
          <p:cNvSpPr/>
          <p:nvPr/>
        </p:nvSpPr>
        <p:spPr>
          <a:xfrm>
            <a:off x="320040" y="731520"/>
            <a:ext cx="8503920" cy="4114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 name="TextBox 3"/>
          <p:cNvSpPr txBox="1"/>
          <p:nvPr/>
        </p:nvSpPr>
        <p:spPr>
          <a:xfrm>
            <a:off x="548640" y="914400"/>
            <a:ext cx="8046720" cy="320040"/>
          </a:xfrm>
          <a:prstGeom prst="rect">
            <a:avLst/>
          </a:prstGeom>
          <a:noFill/>
        </p:spPr>
        <p:txBody>
          <a:bodyPr wrap="square" lIns="0" tIns="0" rIns="0" bIns="0" anchor="t">
            <a:spAutoFit/>
          </a:bodyPr>
          <a:lstStyle/>
          <a:p>
            <a:pPr algn="l"/>
            <a:r>
              <a:rPr sz="2000" b="1" i="1">
                <a:solidFill>
                  <a:srgbClr val="5C4826"/>
                </a:solidFill>
                <a:latin typeface="Calibri"/>
              </a:rPr>
              <a:t>“What is consuming memory on the sensor node?”</a:t>
            </a:r>
          </a:p>
        </p:txBody>
      </p:sp>
      <p:sp>
        <p:nvSpPr>
          <p:cNvPr id="5" name="TextBox 4"/>
          <p:cNvSpPr txBox="1"/>
          <p:nvPr/>
        </p:nvSpPr>
        <p:spPr>
          <a:xfrm>
            <a:off x="548640" y="1371600"/>
            <a:ext cx="8046720" cy="905255"/>
          </a:xfrm>
          <a:prstGeom prst="rect">
            <a:avLst/>
          </a:prstGeom>
          <a:noFill/>
        </p:spPr>
        <p:txBody>
          <a:bodyPr wrap="square" lIns="0" tIns="0" rIns="0" bIns="0" anchor="t">
            <a:spAutoFit/>
          </a:bodyPr>
          <a:lstStyle/>
          <a:p>
            <a:pPr algn="l">
              <a:lnSpc>
                <a:spcPct val="115000"/>
              </a:lnSpc>
            </a:pPr>
            <a:r>
              <a:rPr sz="1800" i="0"/>
              <a:t>Interacting with models can be tedious: navigate the model, select the operation,</a:t>
            </a:r>
          </a:p>
          <a:p>
            <a:r>
              <a:rPr sz="1800" i="0"/>
              <a:t>formulate the query. An agent can mediate that interaction.</a:t>
            </a:r>
          </a:p>
        </p:txBody>
      </p:sp>
      <p:sp>
        <p:nvSpPr>
          <p:cNvPr id="6" name="Rectangle 5"/>
          <p:cNvSpPr/>
          <p:nvPr/>
        </p:nvSpPr>
        <p:spPr>
          <a:xfrm>
            <a:off x="1188720" y="2331720"/>
            <a:ext cx="1920240" cy="457200"/>
          </a:xfrm>
          <a:prstGeom prst="rect">
            <a:avLst/>
          </a:prstGeom>
          <a:solidFill>
            <a:srgbClr val="F5F1E8"/>
          </a:solidFill>
          <a:ln w="127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Engineer</a:t>
            </a:r>
          </a:p>
        </p:txBody>
      </p:sp>
      <p:sp>
        <p:nvSpPr>
          <p:cNvPr id="7" name="Down Arrow 6"/>
          <p:cNvSpPr/>
          <p:nvPr/>
        </p:nvSpPr>
        <p:spPr>
          <a:xfrm>
            <a:off x="2057400" y="2807208"/>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31720" y="2843784"/>
            <a:ext cx="2011680" cy="256032"/>
          </a:xfrm>
          <a:prstGeom prst="rect">
            <a:avLst/>
          </a:prstGeom>
          <a:noFill/>
        </p:spPr>
        <p:txBody>
          <a:bodyPr wrap="square" lIns="0" tIns="0" rIns="0" bIns="0" anchor="t">
            <a:spAutoFit/>
          </a:bodyPr>
          <a:lstStyle/>
          <a:p>
            <a:pPr algn="l"/>
            <a:r>
              <a:rPr sz="1800" b="0" i="1">
                <a:solidFill>
                  <a:srgbClr val="555960"/>
                </a:solidFill>
                <a:latin typeface="Calibri"/>
              </a:rPr>
              <a:t>question</a:t>
            </a:r>
          </a:p>
        </p:txBody>
      </p:sp>
      <p:sp>
        <p:nvSpPr>
          <p:cNvPr id="9" name="Rectangle 8"/>
          <p:cNvSpPr/>
          <p:nvPr/>
        </p:nvSpPr>
        <p:spPr>
          <a:xfrm>
            <a:off x="1188720" y="3063239"/>
            <a:ext cx="192024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Agent</a:t>
            </a:r>
          </a:p>
        </p:txBody>
      </p:sp>
      <p:sp>
        <p:nvSpPr>
          <p:cNvPr id="10" name="Down Arrow 9"/>
          <p:cNvSpPr/>
          <p:nvPr/>
        </p:nvSpPr>
        <p:spPr>
          <a:xfrm>
            <a:off x="2057400" y="3538727"/>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31720" y="3575303"/>
            <a:ext cx="2011680" cy="256032"/>
          </a:xfrm>
          <a:prstGeom prst="rect">
            <a:avLst/>
          </a:prstGeom>
          <a:noFill/>
        </p:spPr>
        <p:txBody>
          <a:bodyPr wrap="square" lIns="0" tIns="0" rIns="0" bIns="0" anchor="t">
            <a:spAutoFit/>
          </a:bodyPr>
          <a:lstStyle/>
          <a:p>
            <a:pPr algn="l"/>
            <a:r>
              <a:rPr sz="1800" b="0" i="1">
                <a:solidFill>
                  <a:srgbClr val="555960"/>
                </a:solidFill>
                <a:latin typeface="Calibri"/>
              </a:rPr>
              <a:t>model operations</a:t>
            </a:r>
          </a:p>
        </p:txBody>
      </p:sp>
      <p:sp>
        <p:nvSpPr>
          <p:cNvPr id="12" name="Rectangle 11"/>
          <p:cNvSpPr/>
          <p:nvPr/>
        </p:nvSpPr>
        <p:spPr>
          <a:xfrm>
            <a:off x="1188720" y="3794759"/>
            <a:ext cx="19202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Model</a:t>
            </a:r>
          </a:p>
        </p:txBody>
      </p:sp>
      <p:sp>
        <p:nvSpPr>
          <p:cNvPr id="13" name="Down Arrow 12"/>
          <p:cNvSpPr/>
          <p:nvPr/>
        </p:nvSpPr>
        <p:spPr>
          <a:xfrm>
            <a:off x="2057400" y="4270248"/>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31720" y="4306823"/>
            <a:ext cx="2011680" cy="256032"/>
          </a:xfrm>
          <a:prstGeom prst="rect">
            <a:avLst/>
          </a:prstGeom>
          <a:noFill/>
        </p:spPr>
        <p:txBody>
          <a:bodyPr wrap="square" lIns="0" tIns="0" rIns="0" bIns="0" anchor="t">
            <a:spAutoFit/>
          </a:bodyPr>
          <a:lstStyle/>
          <a:p>
            <a:pPr algn="l"/>
            <a:r>
              <a:rPr sz="1800" b="0" i="1">
                <a:solidFill>
                  <a:srgbClr val="555960"/>
                </a:solidFill>
                <a:latin typeface="Calibri"/>
              </a:rPr>
              <a:t>semantic result</a:t>
            </a:r>
          </a:p>
        </p:txBody>
      </p:sp>
      <p:sp>
        <p:nvSpPr>
          <p:cNvPr id="15" name="Rectangle 14"/>
          <p:cNvSpPr/>
          <p:nvPr/>
        </p:nvSpPr>
        <p:spPr>
          <a:xfrm>
            <a:off x="1188720" y="4526279"/>
            <a:ext cx="1920240" cy="457200"/>
          </a:xfrm>
          <a:prstGeom prst="rect">
            <a:avLst/>
          </a:prstGeom>
          <a:solidFill>
            <a:srgbClr val="C9B991"/>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Agent</a:t>
            </a:r>
          </a:p>
        </p:txBody>
      </p:sp>
      <p:sp>
        <p:nvSpPr>
          <p:cNvPr id="16" name="Down Arrow 15"/>
          <p:cNvSpPr/>
          <p:nvPr/>
        </p:nvSpPr>
        <p:spPr>
          <a:xfrm>
            <a:off x="2057400" y="5001767"/>
            <a:ext cx="164592" cy="23774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31720" y="5038344"/>
            <a:ext cx="2011680" cy="256032"/>
          </a:xfrm>
          <a:prstGeom prst="rect">
            <a:avLst/>
          </a:prstGeom>
          <a:noFill/>
        </p:spPr>
        <p:txBody>
          <a:bodyPr wrap="square" lIns="0" tIns="0" rIns="0" bIns="0" anchor="t">
            <a:spAutoFit/>
          </a:bodyPr>
          <a:lstStyle/>
          <a:p>
            <a:pPr algn="l"/>
            <a:r>
              <a:rPr sz="1800" b="0" i="1">
                <a:solidFill>
                  <a:srgbClr val="555960"/>
                </a:solidFill>
                <a:latin typeface="Calibri"/>
              </a:rPr>
              <a:t>explanation</a:t>
            </a:r>
          </a:p>
        </p:txBody>
      </p:sp>
      <p:sp>
        <p:nvSpPr>
          <p:cNvPr id="18" name="Rectangle 17"/>
          <p:cNvSpPr/>
          <p:nvPr/>
        </p:nvSpPr>
        <p:spPr>
          <a:xfrm>
            <a:off x="1188720" y="5257799"/>
            <a:ext cx="1920240" cy="457200"/>
          </a:xfrm>
          <a:prstGeom prst="rect">
            <a:avLst/>
          </a:prstGeom>
          <a:solidFill>
            <a:srgbClr val="F5F1E8"/>
          </a:solidFill>
          <a:ln w="127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5C4826"/>
                </a:solidFill>
                <a:latin typeface="Calibri"/>
              </a:rPr>
              <a:t>Engineer</a:t>
            </a:r>
          </a:p>
        </p:txBody>
      </p:sp>
      <p:sp>
        <p:nvSpPr>
          <p:cNvPr id="19" name="Rectangle 18"/>
          <p:cNvSpPr/>
          <p:nvPr/>
        </p:nvSpPr>
        <p:spPr>
          <a:xfrm>
            <a:off x="4846320" y="2331720"/>
            <a:ext cx="3749039" cy="146304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5074920" y="2487168"/>
            <a:ext cx="3291840" cy="274320"/>
          </a:xfrm>
          <a:prstGeom prst="rect">
            <a:avLst/>
          </a:prstGeom>
          <a:noFill/>
        </p:spPr>
        <p:txBody>
          <a:bodyPr wrap="square" lIns="0" tIns="0" rIns="0" bIns="0" anchor="t">
            <a:spAutoFit/>
          </a:bodyPr>
          <a:lstStyle/>
          <a:p>
            <a:pPr algn="l"/>
            <a:r>
              <a:rPr sz="1800" b="1" i="0" spc="60">
                <a:solidFill>
                  <a:srgbClr val="8E6F3E"/>
                </a:solidFill>
                <a:latin typeface="Calibri"/>
              </a:rPr>
              <a:t>THE AGENT SURFACE</a:t>
            </a:r>
          </a:p>
        </p:txBody>
      </p:sp>
      <p:sp>
        <p:nvSpPr>
          <p:cNvPr id="21" name="TextBox 20"/>
          <p:cNvSpPr txBox="1"/>
          <p:nvPr/>
        </p:nvSpPr>
        <p:spPr>
          <a:xfrm>
            <a:off x="5074920" y="2816352"/>
            <a:ext cx="3291840" cy="549702"/>
          </a:xfrm>
          <a:prstGeom prst="rect">
            <a:avLst/>
          </a:prstGeom>
          <a:noFill/>
        </p:spPr>
        <p:txBody>
          <a:bodyPr wrap="square" lIns="0" tIns="0" rIns="0" bIns="0" anchor="t">
            <a:spAutoFit/>
          </a:bodyPr>
          <a:lstStyle/>
          <a:p>
            <a:pPr algn="l">
              <a:lnSpc>
                <a:spcPct val="115000"/>
              </a:lnSpc>
            </a:pPr>
            <a:r>
              <a:rPr sz="1600" b="1" i="0" dirty="0" err="1">
                <a:solidFill>
                  <a:srgbClr val="5C4826"/>
                </a:solidFill>
                <a:latin typeface="Consolas"/>
              </a:rPr>
              <a:t>window.mage</a:t>
            </a:r>
            <a:r>
              <a:rPr sz="1600" b="0" i="0" dirty="0">
                <a:solidFill>
                  <a:srgbClr val="353638"/>
                </a:solidFill>
                <a:latin typeface="Calibri"/>
              </a:rPr>
              <a:t> — the Workbench exposes</a:t>
            </a:r>
            <a:r>
              <a:rPr lang="en-US" sz="1600" b="0" i="0" dirty="0">
                <a:solidFill>
                  <a:srgbClr val="353638"/>
                </a:solidFill>
                <a:latin typeface="Calibri"/>
              </a:rPr>
              <a:t> </a:t>
            </a:r>
            <a:r>
              <a:rPr sz="1600" b="0" i="0" dirty="0">
                <a:solidFill>
                  <a:srgbClr val="353638"/>
                </a:solidFill>
                <a:latin typeface="Calibri"/>
              </a:rPr>
              <a:t>the model to agents</a:t>
            </a:r>
          </a:p>
        </p:txBody>
      </p:sp>
      <p:sp>
        <p:nvSpPr>
          <p:cNvPr id="22" name="Rectangle 21"/>
          <p:cNvSpPr/>
          <p:nvPr/>
        </p:nvSpPr>
        <p:spPr>
          <a:xfrm>
            <a:off x="4846320" y="4069080"/>
            <a:ext cx="3749039" cy="1691640"/>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5074920" y="4333811"/>
            <a:ext cx="3291840" cy="1162178"/>
          </a:xfrm>
          <a:prstGeom prst="rect">
            <a:avLst/>
          </a:prstGeom>
          <a:noFill/>
        </p:spPr>
        <p:txBody>
          <a:bodyPr wrap="square" lIns="0" tIns="0" rIns="0" bIns="0" anchor="t">
            <a:spAutoFit/>
          </a:bodyPr>
          <a:lstStyle/>
          <a:p>
            <a:pPr algn="l">
              <a:lnSpc>
                <a:spcPct val="120000"/>
              </a:lnSpc>
            </a:pPr>
            <a:r>
              <a:rPr sz="1600" b="1" i="0" dirty="0">
                <a:solidFill>
                  <a:srgbClr val="5C4826"/>
                </a:solidFill>
                <a:latin typeface="Calibri"/>
              </a:rPr>
              <a:t>The agent helps interpret the question</a:t>
            </a:r>
          </a:p>
          <a:p>
            <a:pPr algn="l">
              <a:lnSpc>
                <a:spcPct val="120000"/>
              </a:lnSpc>
            </a:pPr>
            <a:r>
              <a:rPr lang="en-US" sz="1600" b="1" i="0" dirty="0">
                <a:solidFill>
                  <a:srgbClr val="5C4826"/>
                </a:solidFill>
                <a:latin typeface="Calibri"/>
              </a:rPr>
              <a:t>  </a:t>
            </a:r>
            <a:r>
              <a:rPr sz="1600" b="1" i="0" dirty="0">
                <a:solidFill>
                  <a:srgbClr val="5C4826"/>
                </a:solidFill>
                <a:latin typeface="Calibri"/>
              </a:rPr>
              <a:t>and operate on the model.</a:t>
            </a:r>
            <a:endParaRPr lang="en-US" sz="1600" b="1" i="0" dirty="0">
              <a:solidFill>
                <a:srgbClr val="5C4826"/>
              </a:solidFill>
              <a:latin typeface="Calibri"/>
            </a:endParaRPr>
          </a:p>
          <a:p>
            <a:pPr algn="l">
              <a:lnSpc>
                <a:spcPct val="120000"/>
              </a:lnSpc>
            </a:pPr>
            <a:endParaRPr sz="1600" b="1" i="0" dirty="0">
              <a:solidFill>
                <a:srgbClr val="5C4826"/>
              </a:solidFill>
              <a:latin typeface="Calibri"/>
            </a:endParaRPr>
          </a:p>
          <a:p>
            <a:pPr algn="l">
              <a:lnSpc>
                <a:spcPct val="120000"/>
              </a:lnSpc>
            </a:pPr>
            <a:r>
              <a:rPr lang="en-US" sz="1600" b="1" i="0" dirty="0">
                <a:solidFill>
                  <a:srgbClr val="5C4826"/>
                </a:solidFill>
                <a:latin typeface="Calibri"/>
              </a:rPr>
              <a:t>Models help you agree on th</a:t>
            </a:r>
            <a:r>
              <a:rPr lang="en-US" sz="1600" b="1" dirty="0">
                <a:solidFill>
                  <a:srgbClr val="5C4826"/>
                </a:solidFill>
                <a:latin typeface="Calibri"/>
              </a:rPr>
              <a:t>e facts.</a:t>
            </a:r>
            <a:endParaRPr sz="1600" b="1" i="0" dirty="0">
              <a:solidFill>
                <a:srgbClr val="5C4826"/>
              </a:solidFill>
              <a:latin typeface="Calibri"/>
            </a:endParaRPr>
          </a:p>
        </p:txBody>
      </p:sp>
      <p:sp>
        <p:nvSpPr>
          <p:cNvPr id="25" name="Rectangle 24"/>
          <p:cNvSpPr/>
          <p:nvPr/>
        </p:nvSpPr>
        <p:spPr>
          <a:xfrm>
            <a:off x="320040" y="6144768"/>
            <a:ext cx="8503920" cy="42062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FFFFFF"/>
                </a:solidFill>
                <a:latin typeface="Calibri"/>
              </a:rPr>
              <a:t>Natural questions in — the model's semantics still produce the facts.</a:t>
            </a:r>
          </a:p>
        </p:txBody>
      </p:sp>
      <p:sp>
        <p:nvSpPr>
          <p:cNvPr id="26" name="TextBox 25"/>
          <p:cNvSpPr txBox="1"/>
          <p:nvPr/>
        </p:nvSpPr>
        <p:spPr>
          <a:xfrm>
            <a:off x="8229600" y="6647688"/>
            <a:ext cx="457200" cy="228600"/>
          </a:xfrm>
          <a:prstGeom prst="rect">
            <a:avLst/>
          </a:prstGeom>
          <a:noFill/>
        </p:spPr>
        <p:txBody>
          <a:bodyPr wrap="square" lIns="0" tIns="0" rIns="0" bIns="0" anchor="t">
            <a:spAutoFit/>
          </a:bodyPr>
          <a:lstStyle/>
          <a:p>
            <a:pPr algn="r"/>
            <a:r>
              <a:rPr sz="900" b="0" i="0">
                <a:solidFill>
                  <a:srgbClr val="555960"/>
                </a:solidFill>
                <a:latin typeface="Calibri"/>
              </a:rPr>
              <a:t>14</a:t>
            </a:r>
          </a:p>
        </p:txBody>
      </p:sp>
      <p:pic>
        <p:nvPicPr>
          <p:cNvPr id="27" name="Picture 26" descr="image1.png"/>
          <p:cNvPicPr>
            <a:picLocks noChangeAspect="1"/>
          </p:cNvPicPr>
          <p:nvPr/>
        </p:nvPicPr>
        <p:blipFill>
          <a:blip r:embed="rId3"/>
          <a:stretch>
            <a:fillRect/>
          </a:stretch>
        </p:blipFill>
        <p:spPr>
          <a:xfrm>
            <a:off x="8759952" y="6638544"/>
            <a:ext cx="325247" cy="173736"/>
          </a:xfrm>
          <a:prstGeom prst="rect">
            <a:avLst/>
          </a:prstGeom>
        </p:spPr>
      </p:pic>
    </p:spTree>
    <p:extLst>
      <p:ext uri="{BB962C8B-B14F-4D97-AF65-F5344CB8AC3E}">
        <p14:creationId xmlns:p14="http://schemas.microsoft.com/office/powerpoint/2010/main" val="16831293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9733F7-B888-FB38-3F31-FA4F52735AD0}"/>
              </a:ext>
            </a:extLst>
          </p:cNvPr>
          <p:cNvSpPr>
            <a:spLocks noGrp="1"/>
          </p:cNvSpPr>
          <p:nvPr>
            <p:ph type="title"/>
          </p:nvPr>
        </p:nvSpPr>
        <p:spPr/>
        <p:txBody>
          <a:bodyPr>
            <a:normAutofit fontScale="90000"/>
          </a:bodyPr>
          <a:lstStyle/>
          <a:p>
            <a:r>
              <a:rPr lang="en-US" dirty="0"/>
              <a:t>Intended use: GenAI + Workbench</a:t>
            </a:r>
          </a:p>
        </p:txBody>
      </p:sp>
      <p:sp>
        <p:nvSpPr>
          <p:cNvPr id="4" name="Slide Number Placeholder 3">
            <a:extLst>
              <a:ext uri="{FF2B5EF4-FFF2-40B4-BE49-F238E27FC236}">
                <a16:creationId xmlns:a16="http://schemas.microsoft.com/office/drawing/2014/main" id="{5D9AA4E9-693D-04C7-59A0-98E1B5CE7474}"/>
              </a:ext>
            </a:extLst>
          </p:cNvPr>
          <p:cNvSpPr>
            <a:spLocks noGrp="1"/>
          </p:cNvSpPr>
          <p:nvPr>
            <p:ph type="sldNum" sz="quarter" idx="4"/>
          </p:nvPr>
        </p:nvSpPr>
        <p:spPr/>
        <p:txBody>
          <a:bodyPr/>
          <a:lstStyle/>
          <a:p>
            <a:fld id="{B7EB45DA-9A0D-DC49-8E02-F30A5DDC21C3}" type="slidenum">
              <a:rPr lang="en-US" smtClean="0"/>
              <a:t>21</a:t>
            </a:fld>
            <a:endParaRPr lang="en-US"/>
          </a:p>
        </p:txBody>
      </p:sp>
      <p:pic>
        <p:nvPicPr>
          <p:cNvPr id="5" name="Picture 4">
            <a:extLst>
              <a:ext uri="{FF2B5EF4-FFF2-40B4-BE49-F238E27FC236}">
                <a16:creationId xmlns:a16="http://schemas.microsoft.com/office/drawing/2014/main" id="{39CD0854-0B6A-86C7-1320-08D6A085CC20}"/>
              </a:ext>
            </a:extLst>
          </p:cNvPr>
          <p:cNvPicPr>
            <a:picLocks noChangeAspect="1"/>
          </p:cNvPicPr>
          <p:nvPr/>
        </p:nvPicPr>
        <p:blipFill>
          <a:blip r:embed="rId2"/>
          <a:stretch>
            <a:fillRect/>
          </a:stretch>
        </p:blipFill>
        <p:spPr>
          <a:xfrm>
            <a:off x="685800" y="1147197"/>
            <a:ext cx="7772400" cy="4214724"/>
          </a:xfrm>
          <a:prstGeom prst="rect">
            <a:avLst/>
          </a:prstGeom>
        </p:spPr>
      </p:pic>
      <p:sp>
        <p:nvSpPr>
          <p:cNvPr id="6" name="TextBox 5">
            <a:extLst>
              <a:ext uri="{FF2B5EF4-FFF2-40B4-BE49-F238E27FC236}">
                <a16:creationId xmlns:a16="http://schemas.microsoft.com/office/drawing/2014/main" id="{0905251A-EABE-6D80-1553-3522F34432DA}"/>
              </a:ext>
            </a:extLst>
          </p:cNvPr>
          <p:cNvSpPr txBox="1"/>
          <p:nvPr/>
        </p:nvSpPr>
        <p:spPr>
          <a:xfrm>
            <a:off x="1011382" y="5639732"/>
            <a:ext cx="2970365" cy="923330"/>
          </a:xfrm>
          <a:prstGeom prst="rect">
            <a:avLst/>
          </a:prstGeom>
          <a:noFill/>
        </p:spPr>
        <p:txBody>
          <a:bodyPr wrap="none" rtlCol="0">
            <a:spAutoFit/>
          </a:bodyPr>
          <a:lstStyle/>
          <a:p>
            <a:pPr marL="285750" indent="-285750">
              <a:buFont typeface="Arial" panose="020B0604020202020204" pitchFamily="34" charset="0"/>
              <a:buChar char="•"/>
            </a:pPr>
            <a:r>
              <a:rPr lang="en-US" dirty="0"/>
              <a:t>Ingest activity1.md</a:t>
            </a:r>
          </a:p>
          <a:p>
            <a:pPr marL="285750" indent="-285750">
              <a:buFont typeface="Arial" panose="020B0604020202020204" pitchFamily="34" charset="0"/>
              <a:buChar char="•"/>
            </a:pPr>
            <a:r>
              <a:rPr lang="en-US" dirty="0"/>
              <a:t>Let’s make the base model</a:t>
            </a:r>
          </a:p>
          <a:p>
            <a:pPr marL="285750" indent="-285750">
              <a:buFont typeface="Arial" panose="020B0604020202020204" pitchFamily="34" charset="0"/>
              <a:buChar char="•"/>
            </a:pPr>
            <a:r>
              <a:rPr lang="en-US" dirty="0"/>
              <a:t>I want to…</a:t>
            </a:r>
          </a:p>
        </p:txBody>
      </p:sp>
      <p:sp>
        <p:nvSpPr>
          <p:cNvPr id="7" name="TextBox 6">
            <a:extLst>
              <a:ext uri="{FF2B5EF4-FFF2-40B4-BE49-F238E27FC236}">
                <a16:creationId xmlns:a16="http://schemas.microsoft.com/office/drawing/2014/main" id="{D17FBDC8-8D23-0044-9590-0B4C12A52E1F}"/>
              </a:ext>
            </a:extLst>
          </p:cNvPr>
          <p:cNvSpPr txBox="1"/>
          <p:nvPr/>
        </p:nvSpPr>
        <p:spPr>
          <a:xfrm>
            <a:off x="4966510" y="5752515"/>
            <a:ext cx="4177490" cy="646331"/>
          </a:xfrm>
          <a:prstGeom prst="rect">
            <a:avLst/>
          </a:prstGeom>
          <a:noFill/>
        </p:spPr>
        <p:txBody>
          <a:bodyPr wrap="none" rtlCol="0">
            <a:spAutoFit/>
          </a:bodyPr>
          <a:lstStyle/>
          <a:p>
            <a:pPr marL="285750" indent="-285750">
              <a:buFont typeface="Arial" panose="020B0604020202020204" pitchFamily="34" charset="0"/>
              <a:buChar char="•"/>
            </a:pPr>
            <a:r>
              <a:rPr lang="en-US" dirty="0"/>
              <a:t>Browser-as-GUI</a:t>
            </a:r>
          </a:p>
          <a:p>
            <a:pPr marL="285750" indent="-285750">
              <a:buFont typeface="Arial" panose="020B0604020202020204" pitchFamily="34" charset="0"/>
              <a:buChar char="•"/>
            </a:pPr>
            <a:r>
              <a:rPr lang="en-US" dirty="0"/>
              <a:t>(Browser also has the modeling engine)</a:t>
            </a:r>
          </a:p>
        </p:txBody>
      </p:sp>
    </p:spTree>
    <p:extLst>
      <p:ext uri="{BB962C8B-B14F-4D97-AF65-F5344CB8AC3E}">
        <p14:creationId xmlns:p14="http://schemas.microsoft.com/office/powerpoint/2010/main" val="25467739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09137B-E0CD-E4FE-6DD3-3AC7146D8AA0}"/>
              </a:ext>
            </a:extLst>
          </p:cNvPr>
          <p:cNvSpPr>
            <a:spLocks noGrp="1"/>
          </p:cNvSpPr>
          <p:nvPr>
            <p:ph idx="1"/>
          </p:nvPr>
        </p:nvSpPr>
        <p:spPr>
          <a:xfrm>
            <a:off x="124691" y="1305004"/>
            <a:ext cx="9019309" cy="5166916"/>
          </a:xfrm>
        </p:spPr>
        <p:txBody>
          <a:bodyPr/>
          <a:lstStyle/>
          <a:p>
            <a:r>
              <a:rPr lang="en-US" b="1" dirty="0"/>
              <a:t>Agent desktop app</a:t>
            </a:r>
          </a:p>
          <a:p>
            <a:pPr lvl="1"/>
            <a:r>
              <a:rPr lang="en-US" dirty="0"/>
              <a:t>Launch your browser with debugging enabled</a:t>
            </a:r>
          </a:p>
          <a:p>
            <a:pPr lvl="2"/>
            <a:r>
              <a:rPr lang="en-US" dirty="0"/>
              <a:t>$ open -</a:t>
            </a:r>
            <a:r>
              <a:rPr lang="en-US" dirty="0" err="1"/>
              <a:t>na</a:t>
            </a:r>
            <a:r>
              <a:rPr lang="en-US" dirty="0"/>
              <a:t> "Brave Browser" --</a:t>
            </a:r>
            <a:r>
              <a:rPr lang="en-US" dirty="0" err="1"/>
              <a:t>args</a:t>
            </a:r>
            <a:r>
              <a:rPr lang="en-US" dirty="0"/>
              <a:t> --remote-debugging-port=9223</a:t>
            </a:r>
          </a:p>
          <a:p>
            <a:pPr lvl="1"/>
            <a:r>
              <a:rPr lang="en-US" dirty="0"/>
              <a:t>“I have opened </a:t>
            </a:r>
            <a:r>
              <a:rPr lang="en-US" b="1" dirty="0"/>
              <a:t>https://</a:t>
            </a:r>
            <a:r>
              <a:rPr lang="en-US" b="1" dirty="0" err="1"/>
              <a:t>davisjam.github.io</a:t>
            </a:r>
            <a:r>
              <a:rPr lang="en-US" b="1" dirty="0"/>
              <a:t>/model-based-agentic-software-engineering/workbench </a:t>
            </a:r>
            <a:r>
              <a:rPr lang="en-US" dirty="0"/>
              <a:t>in Brave with a clean workspace. Can you use chrome </a:t>
            </a:r>
            <a:r>
              <a:rPr lang="en-US" dirty="0" err="1"/>
              <a:t>devtools</a:t>
            </a:r>
            <a:r>
              <a:rPr lang="en-US" dirty="0"/>
              <a:t> to attach? Read the </a:t>
            </a:r>
            <a:r>
              <a:rPr lang="en-US" dirty="0" err="1"/>
              <a:t>llms.txt</a:t>
            </a:r>
            <a:r>
              <a:rPr lang="en-US" dirty="0"/>
              <a:t> here: https://</a:t>
            </a:r>
            <a:r>
              <a:rPr lang="en-US" dirty="0" err="1"/>
              <a:t>davisjam.github.io</a:t>
            </a:r>
            <a:r>
              <a:rPr lang="en-US" dirty="0"/>
              <a:t>/model-based-agentic-software-engineering/</a:t>
            </a:r>
            <a:r>
              <a:rPr lang="en-US" dirty="0" err="1"/>
              <a:t>llms.txt</a:t>
            </a:r>
            <a:r>
              <a:rPr lang="en-US" dirty="0"/>
              <a:t>”</a:t>
            </a:r>
          </a:p>
          <a:p>
            <a:r>
              <a:rPr lang="en-US" b="1" dirty="0"/>
              <a:t>Browser plugin</a:t>
            </a:r>
          </a:p>
          <a:p>
            <a:pPr lvl="1"/>
            <a:r>
              <a:rPr lang="en-US" dirty="0"/>
              <a:t>Install Claude Chrome extension and fire it up – </a:t>
            </a:r>
            <a:r>
              <a:rPr lang="en-US" dirty="0">
                <a:hlinkClick r:id="rId2"/>
              </a:rPr>
              <a:t>https://chromewebstore.google.com/search/claude</a:t>
            </a:r>
            <a:endParaRPr lang="en-US" dirty="0"/>
          </a:p>
          <a:p>
            <a:endParaRPr lang="en-US" dirty="0"/>
          </a:p>
          <a:p>
            <a:r>
              <a:rPr lang="en-US" dirty="0"/>
              <a:t>Lab submission: </a:t>
            </a:r>
            <a:r>
              <a:rPr lang="en-US" dirty="0">
                <a:hlinkClick r:id="rId3"/>
              </a:rPr>
              <a:t>https://docs.google.com/forms/d/1iY1PxTm5UIqieob5FyCqPPYBRVvunLlPIxQ_gkODPHI/edit</a:t>
            </a:r>
            <a:endParaRPr lang="en-US" dirty="0"/>
          </a:p>
          <a:p>
            <a:r>
              <a:rPr lang="en-US" dirty="0"/>
              <a:t>Lab is open until Thursday night</a:t>
            </a:r>
          </a:p>
        </p:txBody>
      </p:sp>
      <p:sp>
        <p:nvSpPr>
          <p:cNvPr id="3" name="Title 2">
            <a:extLst>
              <a:ext uri="{FF2B5EF4-FFF2-40B4-BE49-F238E27FC236}">
                <a16:creationId xmlns:a16="http://schemas.microsoft.com/office/drawing/2014/main" id="{57485E67-012E-B6F2-E6F8-F870C11A44F2}"/>
              </a:ext>
            </a:extLst>
          </p:cNvPr>
          <p:cNvSpPr>
            <a:spLocks noGrp="1"/>
          </p:cNvSpPr>
          <p:nvPr>
            <p:ph type="title"/>
          </p:nvPr>
        </p:nvSpPr>
        <p:spPr/>
        <p:txBody>
          <a:bodyPr>
            <a:normAutofit fontScale="90000"/>
          </a:bodyPr>
          <a:lstStyle/>
          <a:p>
            <a:r>
              <a:rPr lang="en-US" dirty="0"/>
              <a:t>Getting started</a:t>
            </a:r>
          </a:p>
        </p:txBody>
      </p:sp>
      <p:sp>
        <p:nvSpPr>
          <p:cNvPr id="4" name="Slide Number Placeholder 3">
            <a:extLst>
              <a:ext uri="{FF2B5EF4-FFF2-40B4-BE49-F238E27FC236}">
                <a16:creationId xmlns:a16="http://schemas.microsoft.com/office/drawing/2014/main" id="{2AD5A93C-C96F-D011-C5C2-1C85739ECE1B}"/>
              </a:ext>
            </a:extLst>
          </p:cNvPr>
          <p:cNvSpPr>
            <a:spLocks noGrp="1"/>
          </p:cNvSpPr>
          <p:nvPr>
            <p:ph type="sldNum" sz="quarter" idx="4"/>
          </p:nvPr>
        </p:nvSpPr>
        <p:spPr/>
        <p:txBody>
          <a:bodyPr/>
          <a:lstStyle/>
          <a:p>
            <a:fld id="{B7EB45DA-9A0D-DC49-8E02-F30A5DDC21C3}" type="slidenum">
              <a:rPr lang="en-US" smtClean="0"/>
              <a:t>22</a:t>
            </a:fld>
            <a:endParaRPr lang="en-US"/>
          </a:p>
        </p:txBody>
      </p:sp>
      <p:pic>
        <p:nvPicPr>
          <p:cNvPr id="5" name="Picture 4">
            <a:extLst>
              <a:ext uri="{FF2B5EF4-FFF2-40B4-BE49-F238E27FC236}">
                <a16:creationId xmlns:a16="http://schemas.microsoft.com/office/drawing/2014/main" id="{E75EE936-E311-C41D-654F-60630CC826CE}"/>
              </a:ext>
            </a:extLst>
          </p:cNvPr>
          <p:cNvPicPr>
            <a:picLocks noChangeAspect="1"/>
          </p:cNvPicPr>
          <p:nvPr/>
        </p:nvPicPr>
        <p:blipFill>
          <a:blip r:embed="rId4"/>
          <a:stretch>
            <a:fillRect/>
          </a:stretch>
        </p:blipFill>
        <p:spPr>
          <a:xfrm>
            <a:off x="5845444" y="5123374"/>
            <a:ext cx="1588532" cy="1598101"/>
          </a:xfrm>
          <a:prstGeom prst="rect">
            <a:avLst/>
          </a:prstGeom>
        </p:spPr>
      </p:pic>
      <p:pic>
        <p:nvPicPr>
          <p:cNvPr id="7" name="Picture 6">
            <a:extLst>
              <a:ext uri="{FF2B5EF4-FFF2-40B4-BE49-F238E27FC236}">
                <a16:creationId xmlns:a16="http://schemas.microsoft.com/office/drawing/2014/main" id="{495D339F-45E9-C0DE-2394-DFD041F53C13}"/>
              </a:ext>
            </a:extLst>
          </p:cNvPr>
          <p:cNvPicPr>
            <a:picLocks noChangeAspect="1"/>
          </p:cNvPicPr>
          <p:nvPr/>
        </p:nvPicPr>
        <p:blipFill>
          <a:blip r:embed="rId5"/>
          <a:stretch>
            <a:fillRect/>
          </a:stretch>
        </p:blipFill>
        <p:spPr>
          <a:xfrm>
            <a:off x="3093027" y="67225"/>
            <a:ext cx="5472545" cy="1603471"/>
          </a:xfrm>
          <a:prstGeom prst="rect">
            <a:avLst/>
          </a:prstGeom>
        </p:spPr>
      </p:pic>
      <p:sp>
        <p:nvSpPr>
          <p:cNvPr id="8" name="Rectangle 7">
            <a:extLst>
              <a:ext uri="{FF2B5EF4-FFF2-40B4-BE49-F238E27FC236}">
                <a16:creationId xmlns:a16="http://schemas.microsoft.com/office/drawing/2014/main" id="{84402317-E2FE-B2C1-121D-31057E84A976}"/>
              </a:ext>
            </a:extLst>
          </p:cNvPr>
          <p:cNvSpPr/>
          <p:nvPr/>
        </p:nvSpPr>
        <p:spPr>
          <a:xfrm>
            <a:off x="7448205" y="396486"/>
            <a:ext cx="742495" cy="185940"/>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5385CB24-B5EE-D55C-7815-6914C91F066E}"/>
              </a:ext>
            </a:extLst>
          </p:cNvPr>
          <p:cNvCxnSpPr>
            <a:endCxn id="8" idx="2"/>
          </p:cNvCxnSpPr>
          <p:nvPr/>
        </p:nvCxnSpPr>
        <p:spPr>
          <a:xfrm flipV="1">
            <a:off x="7048500" y="582426"/>
            <a:ext cx="770953" cy="18559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23287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D7D82EC-71C5-16B1-5972-1D77BD1CAE53}"/>
              </a:ext>
            </a:extLst>
          </p:cNvPr>
          <p:cNvSpPr>
            <a:spLocks noGrp="1"/>
          </p:cNvSpPr>
          <p:nvPr>
            <p:ph idx="1"/>
          </p:nvPr>
        </p:nvSpPr>
        <p:spPr>
          <a:xfrm>
            <a:off x="138574" y="1145195"/>
            <a:ext cx="8866852" cy="5211155"/>
          </a:xfrm>
        </p:spPr>
        <p:txBody>
          <a:bodyPr>
            <a:normAutofit fontScale="92500" lnSpcReduction="10000"/>
          </a:bodyPr>
          <a:lstStyle/>
          <a:p>
            <a:pPr lvl="0"/>
            <a:r>
              <a:rPr lang="en-US" b="1" dirty="0"/>
              <a:t>Scenario:</a:t>
            </a:r>
            <a:r>
              <a:rPr lang="en-US" dirty="0"/>
              <a:t> Embedded device with three concurrent threads and 48 KB of working memory</a:t>
            </a:r>
          </a:p>
          <a:p>
            <a:pPr lvl="0"/>
            <a:r>
              <a:rPr lang="en-US" b="1" dirty="0"/>
              <a:t>Property to ensure:</a:t>
            </a:r>
            <a:r>
              <a:rPr lang="en-US" dirty="0"/>
              <a:t> The device never exceeds its 48 KB memory budget</a:t>
            </a:r>
          </a:p>
          <a:p>
            <a:pPr lvl="0"/>
            <a:endParaRPr lang="en-US" dirty="0"/>
          </a:p>
          <a:p>
            <a:pPr lvl="0"/>
            <a:r>
              <a:rPr lang="en-US" b="1" dirty="0"/>
              <a:t>Step 1. Model the system.</a:t>
            </a:r>
            <a:r>
              <a:rPr lang="en-US" dirty="0"/>
              <a:t> Three threads need up to 20, 24, and 27 KB. All run concurrently. Does the property hold?</a:t>
            </a:r>
          </a:p>
          <a:p>
            <a:pPr lvl="1"/>
            <a:r>
              <a:rPr lang="en-US" dirty="0"/>
              <a:t>Refresh the workbench and look at the model. Discuss with your agent.</a:t>
            </a:r>
          </a:p>
          <a:p>
            <a:pPr lvl="0"/>
            <a:endParaRPr lang="en-US" dirty="0"/>
          </a:p>
          <a:p>
            <a:pPr lvl="0"/>
            <a:r>
              <a:rPr lang="en-US" b="1" dirty="0"/>
              <a:t>Step 2. Add a conservative scheduling policy.</a:t>
            </a:r>
            <a:r>
              <a:rPr lang="en-US" dirty="0"/>
              <a:t> Ensure only one thread holds working memory at a time. Show that the property now holds.</a:t>
            </a:r>
          </a:p>
          <a:p>
            <a:pPr lvl="1"/>
            <a:r>
              <a:rPr lang="en-US" dirty="0"/>
              <a:t>Instruct the agent. Refresh the workbench and inspect the model(s). Discuss with your agent.</a:t>
            </a:r>
          </a:p>
          <a:p>
            <a:pPr lvl="0"/>
            <a:endParaRPr lang="en-US" dirty="0"/>
          </a:p>
          <a:p>
            <a:pPr lvl="0"/>
            <a:r>
              <a:rPr lang="en-US" b="1" dirty="0"/>
              <a:t>Step 3. Refine the design.</a:t>
            </a:r>
            <a:r>
              <a:rPr lang="en-US" dirty="0"/>
              <a:t> The policy is safe but underuses available memory. Design a less restrictive policy that safely uses more of the 48 KB.</a:t>
            </a:r>
          </a:p>
          <a:p>
            <a:pPr lvl="1"/>
            <a:r>
              <a:rPr lang="en-US" dirty="0"/>
              <a:t>Instruct the agent. Refresh the workbench and inspect the model(s). Discuss with your agent.</a:t>
            </a:r>
          </a:p>
          <a:p>
            <a:pPr lvl="1"/>
            <a:r>
              <a:rPr lang="en-US" dirty="0"/>
              <a:t>Sample prompt for ideation: “</a:t>
            </a:r>
            <a:r>
              <a:rPr lang="en-US" i="1" dirty="0"/>
              <a:t>Are there any OTHER possible designs for this? Can we get rid of the scheduler and have the threads self-organize?</a:t>
            </a:r>
            <a:r>
              <a:rPr lang="en-US" dirty="0"/>
              <a:t>”</a:t>
            </a:r>
          </a:p>
        </p:txBody>
      </p:sp>
      <p:sp>
        <p:nvSpPr>
          <p:cNvPr id="3" name="Title 2">
            <a:extLst>
              <a:ext uri="{FF2B5EF4-FFF2-40B4-BE49-F238E27FC236}">
                <a16:creationId xmlns:a16="http://schemas.microsoft.com/office/drawing/2014/main" id="{F1F77570-AE59-6B62-92BA-4C49B89217E8}"/>
              </a:ext>
            </a:extLst>
          </p:cNvPr>
          <p:cNvSpPr>
            <a:spLocks noGrp="1"/>
          </p:cNvSpPr>
          <p:nvPr>
            <p:ph type="title"/>
          </p:nvPr>
        </p:nvSpPr>
        <p:spPr>
          <a:xfrm>
            <a:off x="277148" y="118428"/>
            <a:ext cx="8866852" cy="638175"/>
          </a:xfrm>
        </p:spPr>
        <p:txBody>
          <a:bodyPr>
            <a:normAutofit fontScale="90000"/>
          </a:bodyPr>
          <a:lstStyle/>
          <a:p>
            <a:r>
              <a:rPr lang="en-US" dirty="0"/>
              <a:t>Lab activity 1: Avoiding OOM with a tight memory budget</a:t>
            </a:r>
          </a:p>
        </p:txBody>
      </p:sp>
      <p:sp>
        <p:nvSpPr>
          <p:cNvPr id="4" name="Slide Number Placeholder 3">
            <a:extLst>
              <a:ext uri="{FF2B5EF4-FFF2-40B4-BE49-F238E27FC236}">
                <a16:creationId xmlns:a16="http://schemas.microsoft.com/office/drawing/2014/main" id="{433B4232-AE68-3018-1E94-B412D32A9650}"/>
              </a:ext>
            </a:extLst>
          </p:cNvPr>
          <p:cNvSpPr>
            <a:spLocks noGrp="1"/>
          </p:cNvSpPr>
          <p:nvPr>
            <p:ph type="sldNum" sz="quarter" idx="4"/>
          </p:nvPr>
        </p:nvSpPr>
        <p:spPr/>
        <p:txBody>
          <a:bodyPr/>
          <a:lstStyle/>
          <a:p>
            <a:fld id="{B7EB45DA-9A0D-DC49-8E02-F30A5DDC21C3}" type="slidenum">
              <a:rPr lang="en-US" smtClean="0"/>
              <a:t>23</a:t>
            </a:fld>
            <a:endParaRPr lang="en-US"/>
          </a:p>
        </p:txBody>
      </p:sp>
    </p:spTree>
    <p:extLst>
      <p:ext uri="{BB962C8B-B14F-4D97-AF65-F5344CB8AC3E}">
        <p14:creationId xmlns:p14="http://schemas.microsoft.com/office/powerpoint/2010/main" val="1324936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CBA06-A26D-EC82-2445-4FC7A117E0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411A0B-DD11-122A-0FD6-72E9B872BC2A}"/>
              </a:ext>
            </a:extLst>
          </p:cNvPr>
          <p:cNvSpPr>
            <a:spLocks noGrp="1"/>
          </p:cNvSpPr>
          <p:nvPr>
            <p:ph idx="1"/>
          </p:nvPr>
        </p:nvSpPr>
        <p:spPr>
          <a:xfrm>
            <a:off x="277148" y="889001"/>
            <a:ext cx="8557768" cy="5969000"/>
          </a:xfrm>
        </p:spPr>
        <p:txBody>
          <a:bodyPr>
            <a:normAutofit fontScale="92500" lnSpcReduction="20000"/>
          </a:bodyPr>
          <a:lstStyle/>
          <a:p>
            <a:pPr lvl="0"/>
            <a:r>
              <a:rPr lang="en-US" b="1" dirty="0"/>
              <a:t>Scenario:</a:t>
            </a:r>
            <a:r>
              <a:rPr lang="en-US" dirty="0"/>
              <a:t> A Producer sends messages through a Bus to a Worker. The Bus retains a message until the Worker acknowledges it; after acknowledgment, the Bus removes it. If the Worker fails before acknowledgment, the message can be redelivered. The Worker can fail at any time.</a:t>
            </a:r>
          </a:p>
          <a:p>
            <a:pPr lvl="0"/>
            <a:r>
              <a:rPr lang="en-US" b="1" dirty="0"/>
              <a:t>Property to ensure:</a:t>
            </a:r>
            <a:r>
              <a:rPr lang="en-US" dirty="0"/>
              <a:t> A message is never lost before it is successfully processed</a:t>
            </a:r>
          </a:p>
          <a:p>
            <a:pPr lvl="0"/>
            <a:endParaRPr lang="en-US" dirty="0"/>
          </a:p>
          <a:p>
            <a:pPr lvl="0"/>
            <a:r>
              <a:rPr lang="en-US" b="1" dirty="0"/>
              <a:t>Step 1. Model the system.</a:t>
            </a:r>
            <a:r>
              <a:rPr lang="en-US" dirty="0"/>
              <a:t> The Worker currently acknowledges each message </a:t>
            </a:r>
            <a:r>
              <a:rPr lang="en-US" b="1" dirty="0"/>
              <a:t>before</a:t>
            </a:r>
            <a:r>
              <a:rPr lang="en-US" dirty="0"/>
              <a:t> processing it. Does the property hold?</a:t>
            </a:r>
          </a:p>
          <a:p>
            <a:pPr lvl="1"/>
            <a:r>
              <a:rPr lang="en-US" dirty="0"/>
              <a:t>Refresh the workbench and look at the model. Discuss with your agent.</a:t>
            </a:r>
          </a:p>
          <a:p>
            <a:pPr lvl="0"/>
            <a:endParaRPr lang="en-US" dirty="0"/>
          </a:p>
          <a:p>
            <a:pPr lvl="0"/>
            <a:r>
              <a:rPr lang="en-US" b="1" dirty="0"/>
              <a:t>Step 2. Add a conservative delivery policy.</a:t>
            </a:r>
            <a:r>
              <a:rPr lang="en-US" dirty="0"/>
              <a:t> Acknowledge only after successful processing. Show that the property now holds.</a:t>
            </a:r>
          </a:p>
          <a:p>
            <a:pPr lvl="1"/>
            <a:r>
              <a:rPr lang="en-US" dirty="0"/>
              <a:t>Instruct the agent. Refresh the workbench and inspect the model(s). Discuss with your agent.</a:t>
            </a:r>
          </a:p>
          <a:p>
            <a:pPr lvl="0"/>
            <a:endParaRPr lang="en-US" dirty="0"/>
          </a:p>
          <a:p>
            <a:pPr lvl="0"/>
            <a:r>
              <a:rPr lang="en-US" b="1" dirty="0"/>
              <a:t>Step 3. Refine the design.</a:t>
            </a:r>
            <a:r>
              <a:rPr lang="en-US" dirty="0"/>
              <a:t> Delayed acknowledgment is safe but can cause duplicate processing after failures. Design a protocol that safely acknowledges earlier.</a:t>
            </a:r>
          </a:p>
          <a:p>
            <a:pPr lvl="1"/>
            <a:r>
              <a:rPr lang="en-US" dirty="0"/>
              <a:t>Instruct the agent. Refresh the workbench and inspect the model(s). Discuss with your agent.</a:t>
            </a:r>
          </a:p>
          <a:p>
            <a:endParaRPr lang="en-US" dirty="0"/>
          </a:p>
          <a:p>
            <a:r>
              <a:rPr lang="en-US" i="1" dirty="0"/>
              <a:t>Note: By the end of this activity, you should have at least one version with two distinct state machines, separating the message lifecycle from component state.</a:t>
            </a:r>
            <a:endParaRPr lang="en-US" dirty="0"/>
          </a:p>
        </p:txBody>
      </p:sp>
      <p:sp>
        <p:nvSpPr>
          <p:cNvPr id="3" name="Title 2">
            <a:extLst>
              <a:ext uri="{FF2B5EF4-FFF2-40B4-BE49-F238E27FC236}">
                <a16:creationId xmlns:a16="http://schemas.microsoft.com/office/drawing/2014/main" id="{6E987A11-9CA7-A160-EBAB-2ED2BF28239D}"/>
              </a:ext>
            </a:extLst>
          </p:cNvPr>
          <p:cNvSpPr>
            <a:spLocks noGrp="1"/>
          </p:cNvSpPr>
          <p:nvPr>
            <p:ph type="title"/>
          </p:nvPr>
        </p:nvSpPr>
        <p:spPr/>
        <p:txBody>
          <a:bodyPr>
            <a:normAutofit fontScale="90000"/>
          </a:bodyPr>
          <a:lstStyle/>
          <a:p>
            <a:r>
              <a:rPr lang="en-US" dirty="0"/>
              <a:t>Lab activity 2: Ensuring no lost messages</a:t>
            </a:r>
          </a:p>
        </p:txBody>
      </p:sp>
      <p:sp>
        <p:nvSpPr>
          <p:cNvPr id="4" name="Slide Number Placeholder 3">
            <a:extLst>
              <a:ext uri="{FF2B5EF4-FFF2-40B4-BE49-F238E27FC236}">
                <a16:creationId xmlns:a16="http://schemas.microsoft.com/office/drawing/2014/main" id="{B68A707D-CA0F-CC06-0E35-F811A24DDEAE}"/>
              </a:ext>
            </a:extLst>
          </p:cNvPr>
          <p:cNvSpPr>
            <a:spLocks noGrp="1"/>
          </p:cNvSpPr>
          <p:nvPr>
            <p:ph type="sldNum" sz="quarter" idx="4"/>
          </p:nvPr>
        </p:nvSpPr>
        <p:spPr/>
        <p:txBody>
          <a:bodyPr/>
          <a:lstStyle/>
          <a:p>
            <a:fld id="{B7EB45DA-9A0D-DC49-8E02-F30A5DDC21C3}" type="slidenum">
              <a:rPr lang="en-US" smtClean="0"/>
              <a:t>24</a:t>
            </a:fld>
            <a:endParaRPr lang="en-US"/>
          </a:p>
        </p:txBody>
      </p:sp>
    </p:spTree>
    <p:extLst>
      <p:ext uri="{BB962C8B-B14F-4D97-AF65-F5344CB8AC3E}">
        <p14:creationId xmlns:p14="http://schemas.microsoft.com/office/powerpoint/2010/main" val="37432603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4D61D9-286B-83CB-F353-9CEBF8227F68}"/>
              </a:ext>
            </a:extLst>
          </p:cNvPr>
          <p:cNvSpPr>
            <a:spLocks noGrp="1"/>
          </p:cNvSpPr>
          <p:nvPr>
            <p:ph type="title"/>
          </p:nvPr>
        </p:nvSpPr>
        <p:spPr/>
        <p:txBody>
          <a:bodyPr>
            <a:normAutofit fontScale="90000"/>
          </a:bodyPr>
          <a:lstStyle/>
          <a:p>
            <a:r>
              <a:rPr lang="en-US" dirty="0"/>
              <a:t>Lab is somewhat unstructured – Go exploring</a:t>
            </a:r>
          </a:p>
        </p:txBody>
      </p:sp>
      <p:sp>
        <p:nvSpPr>
          <p:cNvPr id="4" name="Slide Number Placeholder 3">
            <a:extLst>
              <a:ext uri="{FF2B5EF4-FFF2-40B4-BE49-F238E27FC236}">
                <a16:creationId xmlns:a16="http://schemas.microsoft.com/office/drawing/2014/main" id="{961DE320-4CED-673A-EA61-D0404DC5576B}"/>
              </a:ext>
            </a:extLst>
          </p:cNvPr>
          <p:cNvSpPr>
            <a:spLocks noGrp="1"/>
          </p:cNvSpPr>
          <p:nvPr>
            <p:ph type="sldNum" sz="quarter" idx="4"/>
          </p:nvPr>
        </p:nvSpPr>
        <p:spPr/>
        <p:txBody>
          <a:bodyPr/>
          <a:lstStyle/>
          <a:p>
            <a:fld id="{B7EB45DA-9A0D-DC49-8E02-F30A5DDC21C3}" type="slidenum">
              <a:rPr lang="en-US" smtClean="0"/>
              <a:t>25</a:t>
            </a:fld>
            <a:endParaRPr lang="en-US"/>
          </a:p>
        </p:txBody>
      </p:sp>
      <p:pic>
        <p:nvPicPr>
          <p:cNvPr id="5" name="Picture 4">
            <a:extLst>
              <a:ext uri="{FF2B5EF4-FFF2-40B4-BE49-F238E27FC236}">
                <a16:creationId xmlns:a16="http://schemas.microsoft.com/office/drawing/2014/main" id="{C618E5AA-7411-10E4-045B-AD2F66AC196F}"/>
              </a:ext>
            </a:extLst>
          </p:cNvPr>
          <p:cNvPicPr>
            <a:picLocks noChangeAspect="1"/>
          </p:cNvPicPr>
          <p:nvPr/>
        </p:nvPicPr>
        <p:blipFill>
          <a:blip r:embed="rId2"/>
          <a:stretch>
            <a:fillRect/>
          </a:stretch>
        </p:blipFill>
        <p:spPr>
          <a:xfrm>
            <a:off x="2060029" y="857884"/>
            <a:ext cx="5023942" cy="5881688"/>
          </a:xfrm>
          <a:prstGeom prst="rect">
            <a:avLst/>
          </a:prstGeom>
        </p:spPr>
      </p:pic>
    </p:spTree>
    <p:extLst>
      <p:ext uri="{BB962C8B-B14F-4D97-AF65-F5344CB8AC3E}">
        <p14:creationId xmlns:p14="http://schemas.microsoft.com/office/powerpoint/2010/main" val="1239682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8E92C-0CA3-48AC-9EC4-8103FD82415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F5739E-CA88-35AF-688C-FA1787DF4E6A}"/>
              </a:ext>
            </a:extLst>
          </p:cNvPr>
          <p:cNvSpPr>
            <a:spLocks noGrp="1"/>
          </p:cNvSpPr>
          <p:nvPr>
            <p:ph type="title"/>
          </p:nvPr>
        </p:nvSpPr>
        <p:spPr>
          <a:xfrm>
            <a:off x="685800" y="736601"/>
            <a:ext cx="7772400" cy="4953000"/>
          </a:xfrm>
        </p:spPr>
        <p:txBody>
          <a:bodyPr>
            <a:normAutofit fontScale="90000"/>
          </a:bodyPr>
          <a:lstStyle/>
          <a:p>
            <a:r>
              <a:rPr lang="en-US" dirty="0"/>
              <a:t>RULE</a:t>
            </a:r>
            <a:br>
              <a:rPr lang="en-US" dirty="0"/>
            </a:br>
            <a:r>
              <a:rPr lang="en-US" dirty="0"/>
              <a:t>You are talking to agent</a:t>
            </a:r>
            <a:br>
              <a:rPr lang="en-US" dirty="0"/>
            </a:br>
            <a:br>
              <a:rPr lang="en-US" dirty="0"/>
            </a:br>
            <a:r>
              <a:rPr lang="en-US" dirty="0"/>
              <a:t>Agent is a natural-language interface to the workbench</a:t>
            </a:r>
            <a:br>
              <a:rPr lang="en-US" dirty="0"/>
            </a:br>
            <a:br>
              <a:rPr lang="en-US" dirty="0"/>
            </a:br>
            <a:r>
              <a:rPr lang="en-US" dirty="0"/>
              <a:t>You are the responsible engineer</a:t>
            </a:r>
            <a:br>
              <a:rPr lang="en-US" dirty="0"/>
            </a:br>
            <a:endParaRPr lang="en-US" dirty="0"/>
          </a:p>
        </p:txBody>
      </p:sp>
      <p:sp>
        <p:nvSpPr>
          <p:cNvPr id="4" name="Slide Number Placeholder 3">
            <a:extLst>
              <a:ext uri="{FF2B5EF4-FFF2-40B4-BE49-F238E27FC236}">
                <a16:creationId xmlns:a16="http://schemas.microsoft.com/office/drawing/2014/main" id="{1FB0F35F-BCE9-6C3C-D4C7-5806E9676A82}"/>
              </a:ext>
            </a:extLst>
          </p:cNvPr>
          <p:cNvSpPr>
            <a:spLocks noGrp="1"/>
          </p:cNvSpPr>
          <p:nvPr>
            <p:ph type="sldNum" sz="quarter" idx="4"/>
          </p:nvPr>
        </p:nvSpPr>
        <p:spPr/>
        <p:txBody>
          <a:bodyPr/>
          <a:lstStyle/>
          <a:p>
            <a:fld id="{B7EB45DA-9A0D-DC49-8E02-F30A5DDC21C3}" type="slidenum">
              <a:rPr lang="en-US" smtClean="0"/>
              <a:t>26</a:t>
            </a:fld>
            <a:endParaRPr lang="en-US"/>
          </a:p>
        </p:txBody>
      </p:sp>
    </p:spTree>
    <p:extLst>
      <p:ext uri="{BB962C8B-B14F-4D97-AF65-F5344CB8AC3E}">
        <p14:creationId xmlns:p14="http://schemas.microsoft.com/office/powerpoint/2010/main" val="11763955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BB41474-50AF-6E4D-A061-FCA8EB91F85E}">
  <we:reference id="WA200010001" version="1.0.0.1" store="Omex" storeType="OMEX"/>
  <we:alternateReferences>
    <we:reference id="WA200010001" version="1.0.0.1" store="WA200010001" storeType="OMEX"/>
  </we:alternateReferences>
  <we:properties>
    <we:property name="claude.fileId" value="&quot;f6384a8e-b03b-4fc0-a7fa-4e9432f7835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382</TotalTime>
  <Words>4084</Words>
  <Application>Microsoft Macintosh PowerPoint</Application>
  <PresentationFormat>On-screen Show (4:3)</PresentationFormat>
  <Paragraphs>479</Paragraphs>
  <Slides>26</Slides>
  <Notes>19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26</vt:i4>
      </vt:variant>
    </vt:vector>
  </HeadingPairs>
  <TitlesOfParts>
    <vt:vector size="32" baseType="lpstr">
      <vt:lpstr>Arial</vt:lpstr>
      <vt:lpstr>Calibri</vt:lpstr>
      <vt:lpstr>Consolas</vt:lpstr>
      <vt:lpstr>Times</vt:lpstr>
      <vt:lpstr>Office Theme</vt:lpstr>
      <vt:lpstr>Purdue1</vt:lpstr>
      <vt:lpstr>Modeling 2: Degrees of Semantic Commitment  Prof. James C. Davis Prof. Steve France </vt:lpstr>
      <vt:lpstr>PowerPoint Presentation</vt:lpstr>
      <vt:lpstr>PowerPoint Presentation</vt:lpstr>
      <vt:lpstr>PowerPoint Presentation</vt:lpstr>
      <vt:lpstr>Degrees of semantic commitment</vt:lpstr>
      <vt:lpstr>PowerPoint Presentation</vt:lpstr>
      <vt:lpstr>PowerPoint Presentation</vt:lpstr>
      <vt:lpstr>PowerPoint Presentation</vt:lpstr>
      <vt:lpstr>PowerPoint Presentation</vt:lpstr>
      <vt:lpstr>Engineering with Semantic Models</vt:lpstr>
      <vt:lpstr>PowerPoint Presentation</vt:lpstr>
      <vt:lpstr>PowerPoint Presentation</vt:lpstr>
      <vt:lpstr>PowerPoint Presentation</vt:lpstr>
      <vt:lpstr>PowerPoint Presentation</vt:lpstr>
      <vt:lpstr>PowerPoint Presentation</vt:lpstr>
      <vt:lpstr>PowerPoint Presentation</vt:lpstr>
      <vt:lpstr>Working with Semantic Models</vt:lpstr>
      <vt:lpstr>PowerPoint Presentation</vt:lpstr>
      <vt:lpstr>Workbench supports Human/Agent interaction</vt:lpstr>
      <vt:lpstr>PowerPoint Presentation</vt:lpstr>
      <vt:lpstr>Intended use: GenAI + Workbench</vt:lpstr>
      <vt:lpstr>Getting started</vt:lpstr>
      <vt:lpstr>Lab activity 1: Avoiding OOM with a tight memory budget</vt:lpstr>
      <vt:lpstr>Lab activity 2: Ensuring no lost messages</vt:lpstr>
      <vt:lpstr>Lab is somewhat unstructured – Go exploring</vt:lpstr>
      <vt:lpstr>RULE You are talking to agent  Agent is a natural-language interface to the workbench  You are the responsible engineer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James C Davis</cp:lastModifiedBy>
  <cp:revision>300</cp:revision>
  <dcterms:created xsi:type="dcterms:W3CDTF">2013-01-27T09:14:16Z</dcterms:created>
  <dcterms:modified xsi:type="dcterms:W3CDTF">2026-10-06T21:02:44Z</dcterms:modified>
  <cp:category/>
</cp:coreProperties>
</file>