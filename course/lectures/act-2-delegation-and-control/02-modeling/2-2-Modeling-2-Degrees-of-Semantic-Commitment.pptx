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1" r:id="rId2"/>
  </p:sldMasterIdLst>
  <p:notesMasterIdLst>
    <p:notesMasterId r:id="rId29"/>
  </p:notesMasterIdLst>
  <p:sldIdLst>
    <p:sldId id="1291" r:id="rId3"/>
    <p:sldId id="257" r:id="rId4"/>
    <p:sldId id="259" r:id="rId5"/>
    <p:sldId id="258" r:id="rId6"/>
    <p:sldId id="706" r:id="rId7"/>
    <p:sldId id="260" r:id="rId8"/>
    <p:sldId id="261" r:id="rId9"/>
    <p:sldId id="262" r:id="rId10"/>
    <p:sldId id="263" r:id="rId11"/>
    <p:sldId id="1292" r:id="rId12"/>
    <p:sldId id="264" r:id="rId13"/>
    <p:sldId id="265" r:id="rId14"/>
    <p:sldId id="266" r:id="rId15"/>
    <p:sldId id="1293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60959"/>
  </p:normalViewPr>
  <p:slideViewPr>
    <p:cSldViewPr snapToGrid="0" snapToObjects="1">
      <p:cViewPr>
        <p:scale>
          <a:sx n="81" d="100"/>
          <a:sy n="81" d="100"/>
        </p:scale>
        <p:origin x="2616" y="-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presProps" Target="presProp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6765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Lecture 2 of the Modeling unit. Last time: one model, one question — purposeful reduction. Today: a second, independent axis — how much of its meaning a representation carries explicitly — and then we work with a semantically defined model in the MAGE Workbench.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Thirty-second callback. Bring back degrees of freedom explicitly — slide 7 needs them. The banner is deliberately half a sentence: slide 4 completes it (semantic commitment governs how much the model itself says about what it means).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conceptual thesis of the lecture, plus the map. The arc: what does the representation mean → what can we do because it means that → what is it like to work with one. §4 is optional/reference.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127279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Motivation, not technical argument — which is why this slide lives in the opening. Wording discipline: 'helped develop the standard', not 'use it in production'.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Section break: BOUND.</a:t>
            </a:r>
          </a:p>
          <a:p>
            <a:endParaRPr dirty="0"/>
          </a:p>
          <a:p>
            <a:r>
              <a:rPr dirty="0"/>
              <a:t>- We know the delegation problem. First decide what is being delegated.</a:t>
            </a:r>
          </a:p>
          <a:p>
            <a:r>
              <a:rPr dirty="0"/>
              <a:t>- This is not merely task sizing. It determines which relationships and degrees of freedom another reasoner must handle.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Reused from the strongest material of the previous deck. Run the readings quickly; the point lands in one beat. This is the itch §1 scratches: where does the meaning live?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Folds the draft's cost slide in. No disparagement of informal modeling — the sketch is often the right engineering choice. The question is what the representation must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draft wanted this visually strong: the two-axis figure IS the slide. Folds degrees of freedom back in from Lecture 1. Sets up the table's non-monotonic realization-freedom column on slide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culmination of §1 — the Chapter 2 table (book §2.1.4, label semantic-commitment-spectrum), deck-condensed from six columns to five (row-label and Agentic-implication columns dropped; 'What it enables' added back per the author's deck sketch; cell wording from the landed chapter, including the renamed Interpretation-burden column). The burden column relocates interpretive work — it does not rank informal=human-friendly vs formal=machine-friendly. SysML/KerML appears only as the strongest-commitment row. The red cell is the point: the freedom column is NOT monotonically decreasing.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BC61A-1E4E-EAFE-6A6F-C8D222983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90EB552F-0A12-3597-8D15-C02E6B723A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Section break: BOUND.</a:t>
            </a:r>
          </a:p>
          <a:p>
            <a:endParaRPr dirty="0"/>
          </a:p>
          <a:p>
            <a:r>
              <a:rPr dirty="0"/>
              <a:t>- We know the delegation problem. First decide what is being delegated.</a:t>
            </a:r>
          </a:p>
          <a:p>
            <a:r>
              <a:rPr dirty="0"/>
              <a:t>- This is not merely task sizing. It determines which relationships and degrees of freedom another reasoner must handle.</a:t>
            </a:r>
          </a:p>
        </p:txBody>
      </p:sp>
    </p:spTree>
    <p:extLst>
      <p:ext uri="{BB962C8B-B14F-4D97-AF65-F5344CB8AC3E}">
        <p14:creationId xmlns:p14="http://schemas.microsoft.com/office/powerpoint/2010/main" val="30460649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concrete example per operation, not five bare nouns. The examples are drawn from the embedded-sensor-node model students meet in §3 — deliberate foreshadowing.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Animations walk through.</a:t>
            </a:r>
          </a:p>
          <a:p>
            <a:endParaRPr lang="en-US" dirty="0"/>
          </a:p>
          <a:p>
            <a:r>
              <a:rPr lang="en-US" dirty="0"/>
              <a:t>The final animation asks “Why not?” and this is a subtlety well worth drawing out.</a:t>
            </a:r>
          </a:p>
          <a:p>
            <a:endParaRPr lang="en-US" dirty="0"/>
          </a:p>
          <a:p>
            <a:r>
              <a:rPr lang="en-US" b="1" dirty="0"/>
              <a:t>Pause at “Why not?” Do not answer immediately.</a:t>
            </a:r>
            <a:endParaRPr lang="en-US" dirty="0"/>
          </a:p>
          <a:p>
            <a:r>
              <a:rPr lang="en-US" dirty="0"/>
              <a:t>Ask:</a:t>
            </a:r>
          </a:p>
          <a:p>
            <a:r>
              <a:rPr lang="en-US" i="1" dirty="0"/>
              <a:t>“Suppose we could specify enough that the implementation just falls out. Why wouldn’t we?”</a:t>
            </a:r>
          </a:p>
          <a:p>
            <a:endParaRPr lang="en-US" dirty="0"/>
          </a:p>
          <a:p>
            <a:r>
              <a:rPr lang="en-US" dirty="0"/>
              <a:t>Give them time. Likely first answer: </a:t>
            </a:r>
            <a:r>
              <a:rPr lang="en-US" b="1" dirty="0"/>
              <a:t>because writing all that specification is expensive / takes too much time.</a:t>
            </a:r>
            <a:endParaRPr lang="en-US" dirty="0"/>
          </a:p>
          <a:p>
            <a:endParaRPr lang="en-US" dirty="0"/>
          </a:p>
          <a:p>
            <a:r>
              <a:rPr lang="en-US" i="1" dirty="0"/>
              <a:t>“Yes. That’s one answer. We don’t want to spend human effort specifying choices we don’t care about. But suppose specification were free. Is there still a reason not to decide everything now?”</a:t>
            </a:r>
          </a:p>
          <a:p>
            <a:endParaRPr lang="en-US" dirty="0"/>
          </a:p>
          <a:p>
            <a:r>
              <a:rPr lang="en-US" dirty="0"/>
              <a:t>This is the important turn. Try to draw out </a:t>
            </a:r>
            <a:r>
              <a:rPr lang="en-US" b="1" dirty="0"/>
              <a:t>later information</a:t>
            </a:r>
            <a:r>
              <a:rPr lang="en-US" dirty="0"/>
              <a:t>.</a:t>
            </a:r>
          </a:p>
          <a:p>
            <a:r>
              <a:rPr lang="en-US" dirty="0"/>
              <a:t>If necessary, prompt:</a:t>
            </a:r>
          </a:p>
          <a:p>
            <a:r>
              <a:rPr lang="en-US" i="1" dirty="0"/>
              <a:t>“Are we necessarily at the best point in the process to make every implementation decision?”</a:t>
            </a:r>
          </a:p>
          <a:p>
            <a:r>
              <a:rPr lang="en-US" i="1" dirty="0"/>
              <a:t>“What might we know during implementation that we don’t know when we construct the model?”</a:t>
            </a:r>
          </a:p>
          <a:p>
            <a:r>
              <a:rPr lang="en-US" dirty="0"/>
              <a:t>Look for: actual workload, target hardware, surrounding code, available libraries, measurements, consequences of earlier decisions.</a:t>
            </a:r>
          </a:p>
          <a:p>
            <a:endParaRPr lang="en-US" dirty="0"/>
          </a:p>
          <a:p>
            <a:r>
              <a:rPr lang="en-US" dirty="0"/>
              <a:t>Then sharpen:</a:t>
            </a:r>
          </a:p>
          <a:p>
            <a:r>
              <a:rPr lang="en-US" i="1" dirty="0"/>
              <a:t>“Right. Some decisions are better made later because </a:t>
            </a:r>
            <a:r>
              <a:rPr lang="en-US" b="1" i="1" dirty="0"/>
              <a:t>information arrives later</a:t>
            </a:r>
            <a:r>
              <a:rPr lang="en-US" i="1" dirty="0"/>
              <a:t>. If I specify them now, I’m not merely doing extra work. I may be making the wrong decision, or at least, a non-optimal decision.”</a:t>
            </a:r>
          </a:p>
          <a:p>
            <a:endParaRPr lang="en-US" dirty="0"/>
          </a:p>
          <a:p>
            <a:r>
              <a:rPr lang="en-US" dirty="0"/>
              <a:t>Then ask the second question:</a:t>
            </a:r>
          </a:p>
          <a:p>
            <a:endParaRPr lang="en-US" dirty="0"/>
          </a:p>
          <a:p>
            <a:r>
              <a:rPr lang="en-US" i="1" dirty="0"/>
              <a:t>“But does the realizing agent have to wait passively for information to arrive?”</a:t>
            </a:r>
          </a:p>
          <a:p>
            <a:r>
              <a:rPr lang="en-US" dirty="0"/>
              <a:t>Draw out experimentation. If needed:</a:t>
            </a:r>
          </a:p>
          <a:p>
            <a:r>
              <a:rPr lang="en-US" i="1" dirty="0"/>
              <a:t>“Suppose it has three plausible implementations. What could it do?”</a:t>
            </a:r>
          </a:p>
          <a:p>
            <a:r>
              <a:rPr lang="en-US" dirty="0"/>
              <a:t>Look for: implement them, run them, benchmark, test, measure, tune.</a:t>
            </a:r>
          </a:p>
          <a:p>
            <a:r>
              <a:rPr lang="en-US" dirty="0"/>
              <a:t>Then:</a:t>
            </a:r>
          </a:p>
          <a:p>
            <a:endParaRPr lang="en-US" dirty="0"/>
          </a:p>
          <a:p>
            <a:r>
              <a:rPr lang="en-US" i="1" dirty="0"/>
              <a:t>“Exactly. The later decision-maker can also </a:t>
            </a:r>
            <a:r>
              <a:rPr lang="en-US" b="1" i="1" dirty="0"/>
              <a:t>produce information</a:t>
            </a:r>
            <a:r>
              <a:rPr lang="en-US" i="1" dirty="0"/>
              <a:t>. It can run pilots, compare alternatives, benchmark them, tune parameters, and make the choice using evidence.”</a:t>
            </a:r>
          </a:p>
          <a:p>
            <a:endParaRPr lang="en-US" dirty="0"/>
          </a:p>
          <a:p>
            <a:r>
              <a:rPr lang="en-US" dirty="0"/>
              <a:t>Brief qualification:</a:t>
            </a:r>
          </a:p>
          <a:p>
            <a:endParaRPr lang="en-US" dirty="0"/>
          </a:p>
          <a:p>
            <a:r>
              <a:rPr lang="en-US" i="1" dirty="0"/>
              <a:t>“There’s nothing uniquely agentic about that. Human engineers do this. Evolutionary algorithms, </a:t>
            </a:r>
            <a:r>
              <a:rPr lang="en-US" i="1" dirty="0" err="1"/>
              <a:t>autotuners</a:t>
            </a:r>
            <a:r>
              <a:rPr lang="en-US" i="1" dirty="0"/>
              <a:t>, search procedures, compilers, and optimizers do versions of it too. What commodity intelligence changes is how cheaply and broadly we can do this during ordinary realization.”</a:t>
            </a:r>
          </a:p>
          <a:p>
            <a:endParaRPr lang="en-US" dirty="0"/>
          </a:p>
          <a:p>
            <a:r>
              <a:rPr lang="en-US" dirty="0"/>
              <a:t>Then return to the slide:</a:t>
            </a:r>
          </a:p>
          <a:p>
            <a:r>
              <a:rPr lang="en-US" i="1" dirty="0"/>
              <a:t>“So there are actually two costs to over-specifying. One is obvious: we had to encode decisions we didn’t need to encode. The more interesting one is that we </a:t>
            </a:r>
            <a:r>
              <a:rPr lang="en-US" b="1" i="1" dirty="0"/>
              <a:t>spent degrees of freedom too early</a:t>
            </a:r>
            <a:r>
              <a:rPr lang="en-US" i="1" dirty="0"/>
              <a:t>. We took a choice that could have been made later, with better evidence, and committed to it now.”</a:t>
            </a:r>
            <a:endParaRPr lang="en-US" dirty="0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§2 synthesis: machine-operable semantics → generation challenge → the agentic answer. Agents can cross the realization gap a purposeful model deliberately leaves. Don't teach 'agents should extend the language' — teach promotion of recurring consequential knowledge into durable structure.</a:t>
            </a:r>
          </a:p>
          <a:p>
            <a:endParaRPr/>
          </a:p>
          <a:p>
            <a:r>
              <a:t>Some relationships are generation, some delegation, some validation back against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F82AC-5337-3417-389F-B06B7874B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91E02092-7AE6-164A-28F3-F1419173C7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Section break: BOUND.</a:t>
            </a:r>
          </a:p>
          <a:p>
            <a:endParaRPr dirty="0"/>
          </a:p>
          <a:p>
            <a:r>
              <a:rPr dirty="0"/>
              <a:t>- We know the delegation problem. First decide what is being delegated.</a:t>
            </a:r>
          </a:p>
          <a:p>
            <a:r>
              <a:rPr dirty="0"/>
              <a:t>- This is not merely task sizing. It determines which relationships and degrees of freedom another reasoner must handle.</a:t>
            </a:r>
          </a:p>
        </p:txBody>
      </p:sp>
    </p:spTree>
    <p:extLst>
      <p:ext uri="{BB962C8B-B14F-4D97-AF65-F5344CB8AC3E}">
        <p14:creationId xmlns:p14="http://schemas.microsoft.com/office/powerpoint/2010/main" val="10894049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Real screenshot: the Embedded Sensor Node example loaded, viewing the Sensor Firmware SRAM model. Orientation only: the models rail and saved properties (left), the drawn model and its declared purpose (center), inspector and actions (right). Don't tour controls — the next slide starts from an engineering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Both panels are real Workbench output for the shipped example. Surface honesty: the quantity question runs as a SAVED question ('The modeled firmware fits in the 256 KiB SRAM budget') — the composable ask surface covers graph questions. Provenance is displayed: DERIVED FROM both models, 'exhaustive over 1 configuration', plus an evaluation fingerprint.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Introduce the agent from the friction, not as a feature checklist. The agent operates the model through window.mage; the semantic result comes from the model's machinery, and the agent explains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Release students into the activity. The numbers come from the shipped model: 9 allocations totalling 232 KB against 256 KiB; doubling telemetry-queue breaks the pinned requirement by 8 KB; restoring a 20% margin needs ≤204.8 KB. Largest single allocation: model-weights at 72 KB (31% of budget).</a:t>
            </a:r>
          </a:p>
          <a:p>
            <a:endParaRPr/>
          </a:p>
          <a:p>
            <a:r>
              <a:t>The model's KB tokens are binary: 256 KB here is exactly 256 KiB.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lab payoff, and the lecture's punchline — quoted from the shipped artifact itself, not asserted. The model's purpose block lists 'operating modes' as its first declared omission. Students can try the agent first; the boundary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Alignment handoff closes the core lecture (kept from the previous deck). §4 is optional/reference. The frame: §3's model documented operating modes as its missing distinction; §4 works a sibling system where those distinctions are modeled — in SysML v2, the strongest-commitment row of slide 8's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Introduce the system once, with the actual numbers; slides 19-21 reason over them. The excerpt is abridged notation, not a complete model. Power figures: Sleep 0.1 mW; Sample 5 mW for 50 ms per sample; Transmit 60 mW while draining at 4 KiB/s.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trap: average-rate reasoning. The machine: Sleep -sample timer-&gt; Sample -done-&gt; Sleep; Sleep -tx timer-&gt; Transmit -tx done-&gt; Sleep; Sample -buffer full-&gt; Transmit. Data is drained only in Transmit, so the buffer's fate depends on when Transmit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the composition slowly. Honesty constraint: the derivation is hand-performed; the language's semantics license it (typed quantities, units, state occupancy), but no available tool executes it — foreshadow slide 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numbers are chosen so the answer is nontrivial and mechanically derivable BY HAND: the naive overflow prediction is wrong (behavior rescues it), and the passing power budget flips to failing. Arithmetic: 12 samples per 30 s; transmit 12x512/4096 = 1.5 s -&gt; 60 mW x 1.5 s = 90 mJ; sample 5 mW x 12 x 0.05 s = 3.0 mJ; sleep 0.1 mW x (30 - 1.5 - 0.6) = 0.1 x 27.9 = 2.79 mJ; total 95.79 mJ / 30 s = 3.19 = ~3.2 mW against a 2 mW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honesty slide. The derivations of slides 19-21 are licensed by the language's defined semantics and were carried out by hand. Measured ground truth (workbench differential-conformance design, Oct 2026): the Pilot parses/validates but cannot execute machines, produce verification verdicts, or normalize quantities; dimension conformance is unchecked at kernel 0.62.0. Express vs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Symmetry close: the same question that ended §3 ends §4. Even the strongest-commitment language leaves purposeful omissions; commitment buys precision about what IS modeled, never completeness.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pic>
        <p:nvPicPr>
          <p:cNvPr id="12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272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7408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49940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64944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2346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4393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0402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85725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06799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83892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17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619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A610390-B9F9-1640-9974-0C21350E01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4171" y="2488406"/>
            <a:ext cx="8695654" cy="1881188"/>
          </a:xfrm>
        </p:spPr>
        <p:txBody>
          <a:bodyPr>
            <a:normAutofit fontScale="85000" lnSpcReduction="20000"/>
          </a:bodyPr>
          <a:lstStyle/>
          <a:p>
            <a:r>
              <a:rPr lang="en-US" sz="4000" dirty="0"/>
              <a:t>Modeling 2: Degrees of Semantic Commitment</a:t>
            </a:r>
          </a:p>
          <a:p>
            <a:endParaRPr lang="en-US" dirty="0"/>
          </a:p>
          <a:p>
            <a:r>
              <a:rPr lang="en-US" i="1" dirty="0"/>
              <a:t>Prof. James C. Davis</a:t>
            </a:r>
          </a:p>
          <a:p>
            <a:r>
              <a:rPr lang="en-US" i="1" dirty="0"/>
              <a:t>Prof. Steve France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22D48-A395-DA43-BD56-73B6F8BCB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/>
              <a:t>1</a:t>
            </a:fld>
            <a:endParaRPr lang="en-US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E3BDBC-95FD-1558-408F-2A8CF7F5B80F}"/>
              </a:ext>
            </a:extLst>
          </p:cNvPr>
          <p:cNvSpPr txBox="1"/>
          <p:nvPr/>
        </p:nvSpPr>
        <p:spPr>
          <a:xfrm>
            <a:off x="457200" y="4526280"/>
            <a:ext cx="82296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 dirty="0">
                <a:solidFill>
                  <a:srgbClr val="353638"/>
                </a:solidFill>
                <a:latin typeface="Calibri"/>
              </a:rPr>
              <a:t>Lecture 1: Purposeful reduction — what must the model preserve?</a:t>
            </a:r>
          </a:p>
          <a:p>
            <a:pPr algn="ctr"/>
            <a:r>
              <a:rPr sz="1600" b="1" i="1" dirty="0">
                <a:solidFill>
                  <a:srgbClr val="353638"/>
                </a:solidFill>
                <a:latin typeface="Calibri"/>
              </a:rPr>
              <a:t>Lecture 2 (today): Semantic</a:t>
            </a:r>
            <a:r>
              <a:rPr lang="en-US" sz="1600" b="1" i="1" dirty="0">
                <a:solidFill>
                  <a:srgbClr val="353638"/>
                </a:solidFill>
                <a:latin typeface="Calibri"/>
              </a:rPr>
              <a:t>s</a:t>
            </a:r>
            <a:r>
              <a:rPr sz="1600" b="1" i="1" dirty="0">
                <a:solidFill>
                  <a:srgbClr val="353638"/>
                </a:solidFill>
                <a:latin typeface="Calibri"/>
              </a:rPr>
              <a:t> and a modeling laboratory.</a:t>
            </a:r>
          </a:p>
        </p:txBody>
      </p:sp>
    </p:spTree>
    <p:extLst>
      <p:ext uri="{BB962C8B-B14F-4D97-AF65-F5344CB8AC3E}">
        <p14:creationId xmlns:p14="http://schemas.microsoft.com/office/powerpoint/2010/main" val="19234513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45102"/>
            <a:ext cx="85039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 dirty="0">
                <a:solidFill>
                  <a:srgbClr val="353638"/>
                </a:solidFill>
                <a:latin typeface="Calibri"/>
              </a:rPr>
              <a:t>Last time: </a:t>
            </a:r>
            <a:r>
              <a:rPr lang="en-US" sz="2400" b="0" i="0" spc="140" dirty="0">
                <a:solidFill>
                  <a:srgbClr val="353638"/>
                </a:solidFill>
                <a:latin typeface="Calibri"/>
              </a:rPr>
              <a:t>P</a:t>
            </a:r>
            <a:r>
              <a:rPr sz="2400" b="0" i="0" spc="140" dirty="0">
                <a:solidFill>
                  <a:srgbClr val="353638"/>
                </a:solidFill>
                <a:latin typeface="Calibri"/>
              </a:rPr>
              <a:t>urposeful reduction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8046720" cy="929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5C4826"/>
                </a:solidFill>
                <a:latin typeface="Calibri"/>
              </a:rPr>
              <a:t>An engineering model preserves the distinctions required by a question</a:t>
            </a:r>
          </a:p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5C4826"/>
                </a:solidFill>
                <a:latin typeface="Calibri"/>
              </a:rPr>
              <a:t>and deliberately leaves other choices free.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4177" y="2299282"/>
            <a:ext cx="1691640" cy="591312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 dirty="0">
                <a:solidFill>
                  <a:srgbClr val="FFFFFF"/>
                </a:solidFill>
                <a:latin typeface="Calibri"/>
              </a:rPr>
              <a:t>ENGINEERING</a:t>
            </a:r>
          </a:p>
          <a:p>
            <a:pPr algn="ctr"/>
            <a:r>
              <a:rPr sz="1800" b="1" i="0" dirty="0">
                <a:solidFill>
                  <a:srgbClr val="FFFFFF"/>
                </a:solidFill>
                <a:latin typeface="Calibri"/>
              </a:rPr>
              <a:t>QUESTION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19825" y="2453206"/>
            <a:ext cx="274320" cy="201168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839865" y="2279470"/>
            <a:ext cx="141732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321193" y="2453206"/>
            <a:ext cx="274320" cy="201168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641233" y="2279470"/>
            <a:ext cx="141732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PROPERTY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122561" y="2453206"/>
            <a:ext cx="274320" cy="201168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42601" y="2279470"/>
            <a:ext cx="141732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5033" y="3099751"/>
            <a:ext cx="71323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800" b="0" i="1" dirty="0">
                <a:solidFill>
                  <a:srgbClr val="555960"/>
                </a:solidFill>
                <a:latin typeface="Calibri"/>
              </a:rPr>
              <a:t>E</a:t>
            </a:r>
            <a:r>
              <a:rPr sz="1800" b="0" i="1" dirty="0">
                <a:solidFill>
                  <a:srgbClr val="555960"/>
                </a:solidFill>
                <a:latin typeface="Calibri"/>
              </a:rPr>
              <a:t>very model starts from a question</a:t>
            </a:r>
            <a:r>
              <a:rPr lang="en-US" sz="1800" b="0" i="1" dirty="0">
                <a:solidFill>
                  <a:srgbClr val="555960"/>
                </a:solidFill>
                <a:latin typeface="Calibri"/>
              </a:rPr>
              <a:t> or property</a:t>
            </a:r>
            <a:endParaRPr sz="1800" b="0" i="1" dirty="0">
              <a:solidFill>
                <a:srgbClr val="555960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35577" y="3644540"/>
            <a:ext cx="3931920" cy="24688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4177" y="382742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100">
                <a:solidFill>
                  <a:srgbClr val="8E6F3E"/>
                </a:solidFill>
                <a:latin typeface="Calibri"/>
              </a:rPr>
              <a:t>WHAT THE MODEL PRESERVES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877" y="4193180"/>
            <a:ext cx="3703320" cy="1255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 dirty="0">
                <a:solidFill>
                  <a:srgbClr val="353638"/>
                </a:solidFill>
                <a:latin typeface="Calibri"/>
              </a:rPr>
              <a:t>The distinctions the question requires:</a:t>
            </a:r>
          </a:p>
          <a:p>
            <a:pPr marL="285750" indent="-285750" algn="l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53638"/>
                </a:solidFill>
                <a:latin typeface="Calibri"/>
              </a:rPr>
              <a:t>S</a:t>
            </a:r>
            <a:r>
              <a:rPr sz="1800" b="0" i="0" dirty="0">
                <a:solidFill>
                  <a:srgbClr val="353638"/>
                </a:solidFill>
                <a:latin typeface="Calibri"/>
              </a:rPr>
              <a:t>tates and forbidden transitions</a:t>
            </a:r>
            <a:endParaRPr lang="en-US" dirty="0">
              <a:solidFill>
                <a:srgbClr val="353638"/>
              </a:solidFill>
              <a:latin typeface="Calibri"/>
            </a:endParaRPr>
          </a:p>
          <a:p>
            <a:pPr marL="285750" indent="-285750" algn="l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rgbClr val="353638"/>
                </a:solidFill>
                <a:latin typeface="Calibri"/>
              </a:rPr>
              <a:t>T</a:t>
            </a:r>
            <a:r>
              <a:rPr sz="1800" b="0" i="0" dirty="0">
                <a:solidFill>
                  <a:srgbClr val="353638"/>
                </a:solidFill>
                <a:latin typeface="Calibri"/>
              </a:rPr>
              <a:t>yped</a:t>
            </a:r>
            <a:r>
              <a:rPr lang="en-US" dirty="0">
                <a:solidFill>
                  <a:srgbClr val="353638"/>
                </a:solidFill>
                <a:latin typeface="Calibri"/>
              </a:rPr>
              <a:t> </a:t>
            </a:r>
            <a:r>
              <a:rPr sz="1800" b="0" i="0" dirty="0">
                <a:solidFill>
                  <a:srgbClr val="353638"/>
                </a:solidFill>
                <a:latin typeface="Calibri"/>
              </a:rPr>
              <a:t>relations</a:t>
            </a:r>
            <a:endParaRPr lang="en-US" sz="1800" b="0" i="0" dirty="0">
              <a:solidFill>
                <a:srgbClr val="353638"/>
              </a:solidFill>
              <a:latin typeface="Calibri"/>
            </a:endParaRPr>
          </a:p>
          <a:p>
            <a:pPr marL="285750" indent="-285750" algn="l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53638"/>
                </a:solidFill>
                <a:latin typeface="Calibri"/>
              </a:rPr>
              <a:t>Q</a:t>
            </a:r>
            <a:r>
              <a:rPr sz="1800" b="0" i="0" dirty="0">
                <a:solidFill>
                  <a:srgbClr val="353638"/>
                </a:solidFill>
                <a:latin typeface="Calibri"/>
              </a:rPr>
              <a:t>uantities and bounds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50377" y="3644539"/>
            <a:ext cx="4160520" cy="2468879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78977" y="382742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100">
                <a:solidFill>
                  <a:srgbClr val="8E6F3E"/>
                </a:solidFill>
                <a:latin typeface="Calibri"/>
              </a:rPr>
              <a:t>WHAT STAYS FREE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1817" y="4193180"/>
            <a:ext cx="3931920" cy="1255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53638"/>
                </a:solidFill>
                <a:latin typeface="Calibri"/>
              </a:rPr>
              <a:t>R</a:t>
            </a:r>
            <a:r>
              <a:rPr sz="1800" b="0" i="0" dirty="0">
                <a:solidFill>
                  <a:srgbClr val="353638"/>
                </a:solidFill>
                <a:latin typeface="Calibri"/>
              </a:rPr>
              <a:t>ealization choices</a:t>
            </a:r>
            <a:r>
              <a:rPr lang="en-US" sz="1800" b="0" i="0" dirty="0">
                <a:solidFill>
                  <a:srgbClr val="353638"/>
                </a:solidFill>
                <a:latin typeface="Calibri"/>
              </a:rPr>
              <a:t> </a:t>
            </a:r>
            <a:r>
              <a:rPr sz="1800" b="0" i="0" dirty="0">
                <a:solidFill>
                  <a:srgbClr val="353638"/>
                </a:solidFill>
                <a:latin typeface="Calibri"/>
              </a:rPr>
              <a:t>the model </a:t>
            </a:r>
            <a:r>
              <a:rPr lang="en-US" sz="1800" b="0" i="0" dirty="0">
                <a:solidFill>
                  <a:srgbClr val="353638"/>
                </a:solidFill>
                <a:latin typeface="Calibri"/>
              </a:rPr>
              <a:t>omits</a:t>
            </a:r>
            <a:endParaRPr sz="1800" b="0" i="0" dirty="0">
              <a:solidFill>
                <a:srgbClr val="353638"/>
              </a:solidFill>
              <a:latin typeface="Calibri"/>
            </a:endParaRPr>
          </a:p>
          <a:p>
            <a:pPr marL="285750" indent="-285750" algn="l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53638"/>
                </a:solidFill>
                <a:latin typeface="Calibri"/>
              </a:rPr>
              <a:t>A</a:t>
            </a:r>
            <a:r>
              <a:rPr sz="1800" b="0" i="0" dirty="0">
                <a:solidFill>
                  <a:srgbClr val="353638"/>
                </a:solidFill>
                <a:latin typeface="Calibri"/>
              </a:rPr>
              <a:t>lgorithms, data structures</a:t>
            </a:r>
            <a:endParaRPr lang="en-US" dirty="0">
              <a:solidFill>
                <a:srgbClr val="353638"/>
              </a:solidFill>
              <a:latin typeface="Calibri"/>
            </a:endParaRPr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53638"/>
                </a:solidFill>
              </a:rPr>
              <a:t>Decomposition</a:t>
            </a:r>
            <a:endParaRPr lang="en-US" dirty="0">
              <a:solidFill>
                <a:srgbClr val="353638"/>
              </a:solidFill>
              <a:latin typeface="Calibri"/>
            </a:endParaRPr>
          </a:p>
          <a:p>
            <a:pPr marL="285750" indent="-285750" algn="l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53638"/>
                </a:solidFill>
                <a:latin typeface="Calibri"/>
              </a:rPr>
              <a:t>N</a:t>
            </a:r>
            <a:r>
              <a:rPr sz="1800" b="0" i="0" dirty="0">
                <a:solidFill>
                  <a:srgbClr val="353638"/>
                </a:solidFill>
                <a:latin typeface="Calibri"/>
              </a:rPr>
              <a:t>amin</a:t>
            </a:r>
            <a:r>
              <a:rPr lang="en-US" sz="1800" b="0" i="0" dirty="0">
                <a:solidFill>
                  <a:srgbClr val="353638"/>
                </a:solidFill>
                <a:latin typeface="Calibri"/>
              </a:rPr>
              <a:t>g</a:t>
            </a:r>
            <a:endParaRPr sz="1800" b="0" i="0" dirty="0">
              <a:solidFill>
                <a:srgbClr val="353638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2</a:t>
            </a:r>
          </a:p>
        </p:txBody>
      </p:sp>
      <p:pic>
        <p:nvPicPr>
          <p:cNvPr id="21" name="Picture 20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45102"/>
            <a:ext cx="85039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 dirty="0">
                <a:solidFill>
                  <a:srgbClr val="353638"/>
                </a:solidFill>
                <a:latin typeface="Calibri"/>
              </a:rPr>
              <a:t>Today: </a:t>
            </a:r>
            <a:r>
              <a:rPr lang="en-US" sz="2400" b="0" i="0" spc="140" dirty="0">
                <a:solidFill>
                  <a:srgbClr val="353638"/>
                </a:solidFill>
                <a:latin typeface="Calibri"/>
              </a:rPr>
              <a:t>What does a model mean, anyway?</a:t>
            </a:r>
            <a:endParaRPr sz="2400" b="0" i="0" spc="140" dirty="0">
              <a:solidFill>
                <a:srgbClr val="353638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80467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000" b="0" i="0" dirty="0">
                <a:solidFill>
                  <a:srgbClr val="353638"/>
                </a:solidFill>
                <a:latin typeface="Calibri"/>
              </a:rPr>
              <a:t>Every model must be understood in light of </a:t>
            </a:r>
            <a:r>
              <a:rPr lang="en-US" sz="2000" b="1" dirty="0">
                <a:solidFill>
                  <a:srgbClr val="353638"/>
                </a:solidFill>
                <a:latin typeface="Calibri"/>
              </a:rPr>
              <a:t>TWO QUESTIONS</a:t>
            </a:r>
            <a:endParaRPr sz="2000" b="1" i="0" dirty="0">
              <a:solidFill>
                <a:srgbClr val="353638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3931920" cy="13716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474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5C4826"/>
                </a:solidFill>
                <a:latin typeface="Calibri"/>
              </a:rPr>
              <a:t>What distinctions does</a:t>
            </a:r>
          </a:p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5C4826"/>
                </a:solidFill>
                <a:latin typeface="Calibri"/>
              </a:rPr>
              <a:t>the model preserve?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34747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i="1" dirty="0">
                <a:solidFill>
                  <a:srgbClr val="8E6F3E"/>
                </a:solidFill>
                <a:latin typeface="Calibri"/>
              </a:rPr>
              <a:t>P</a:t>
            </a:r>
            <a:r>
              <a:rPr sz="1800" b="0" i="1" dirty="0">
                <a:solidFill>
                  <a:srgbClr val="8E6F3E"/>
                </a:solidFill>
                <a:latin typeface="Calibri"/>
              </a:rPr>
              <a:t>urposeful reduction — Lecture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325880"/>
            <a:ext cx="4480560" cy="1371600"/>
          </a:xfrm>
          <a:prstGeom prst="rect">
            <a:avLst/>
          </a:prstGeom>
          <a:solidFill>
            <a:srgbClr val="F5F1E8"/>
          </a:solidFill>
          <a:ln w="19050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92039" y="1463040"/>
            <a:ext cx="4193159" cy="633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 dirty="0">
                <a:solidFill>
                  <a:srgbClr val="5C4826"/>
                </a:solidFill>
                <a:latin typeface="Calibri"/>
              </a:rPr>
              <a:t>How explicitly does the representation</a:t>
            </a:r>
          </a:p>
          <a:p>
            <a:pPr algn="l">
              <a:lnSpc>
                <a:spcPct val="105000"/>
              </a:lnSpc>
            </a:pPr>
            <a:r>
              <a:rPr sz="2000" b="1" i="0" dirty="0">
                <a:solidFill>
                  <a:srgbClr val="5C4826"/>
                </a:solidFill>
                <a:latin typeface="Calibri"/>
              </a:rPr>
              <a:t>define those distinctions?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2194560"/>
            <a:ext cx="34747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i="1" dirty="0">
                <a:solidFill>
                  <a:srgbClr val="8E6F3E"/>
                </a:solidFill>
                <a:latin typeface="Calibri"/>
              </a:rPr>
              <a:t>S</a:t>
            </a:r>
            <a:r>
              <a:rPr lang="en-US" sz="1800" b="0" i="1" dirty="0">
                <a:solidFill>
                  <a:srgbClr val="8E6F3E"/>
                </a:solidFill>
                <a:latin typeface="Calibri"/>
              </a:rPr>
              <a:t>emantic commitment — Today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9634" y="3210553"/>
            <a:ext cx="12801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SECTION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50422" y="3226528"/>
            <a:ext cx="3931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353638"/>
                </a:solidFill>
                <a:latin typeface="Calibri"/>
              </a:rPr>
              <a:t>Degrees of Semantic Commitment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0902" y="3384256"/>
            <a:ext cx="34747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1" dirty="0">
                <a:solidFill>
                  <a:srgbClr val="555960"/>
                </a:solidFill>
                <a:latin typeface="Calibri"/>
              </a:rPr>
              <a:t>What does the representation mean?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9634" y="3942072"/>
            <a:ext cx="12801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SECTION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50422" y="3958047"/>
            <a:ext cx="3931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353638"/>
                </a:solidFill>
                <a:latin typeface="Calibri"/>
              </a:rPr>
              <a:t>Engineering with Semantic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0902" y="3996938"/>
            <a:ext cx="32918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1" dirty="0">
                <a:solidFill>
                  <a:srgbClr val="555960"/>
                </a:solidFill>
                <a:latin typeface="Calibri"/>
              </a:rPr>
              <a:t>What can we do because it means that?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634" y="4673592"/>
            <a:ext cx="12801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SECTION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50422" y="4689567"/>
            <a:ext cx="3931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353638"/>
                </a:solidFill>
                <a:latin typeface="Calibri"/>
              </a:rPr>
              <a:t>Working with Semantic Models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90902" y="4728457"/>
            <a:ext cx="3291840" cy="6766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What is it like to work with one?</a:t>
            </a:r>
          </a:p>
          <a:p>
            <a:pPr algn="l">
              <a:lnSpc>
                <a:spcPct val="100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→ the lab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9634" y="5405112"/>
            <a:ext cx="1280160" cy="566928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  <a:latin typeface="Calibri"/>
              </a:rPr>
              <a:t>SECTION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0422" y="5421087"/>
            <a:ext cx="3931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353638"/>
                </a:solidFill>
                <a:latin typeface="Calibri"/>
              </a:rPr>
              <a:t>Optional: Reasoning with</a:t>
            </a:r>
          </a:p>
          <a:p>
            <a:pPr algn="l"/>
            <a:r>
              <a:rPr sz="2000" b="1" i="0">
                <a:solidFill>
                  <a:srgbClr val="353638"/>
                </a:solidFill>
                <a:latin typeface="Calibri"/>
              </a:rPr>
              <a:t>SysML and KerML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90902" y="5596609"/>
            <a:ext cx="329184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i="1" dirty="0">
                <a:solidFill>
                  <a:srgbClr val="555960"/>
                </a:solidFill>
                <a:latin typeface="Calibri"/>
              </a:rPr>
              <a:t>R</a:t>
            </a:r>
            <a:r>
              <a:rPr sz="1800" b="0" i="1" dirty="0">
                <a:solidFill>
                  <a:srgbClr val="555960"/>
                </a:solidFill>
                <a:latin typeface="Calibri"/>
              </a:rPr>
              <a:t>eference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4</a:t>
            </a:r>
          </a:p>
        </p:txBody>
      </p:sp>
      <p:pic>
        <p:nvPicPr>
          <p:cNvPr id="25" name="Picture 24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2119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45102"/>
            <a:ext cx="85039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 dirty="0">
                <a:solidFill>
                  <a:srgbClr val="353638"/>
                </a:solidFill>
                <a:latin typeface="Calibri"/>
              </a:rPr>
              <a:t>Who uses semantic </a:t>
            </a:r>
            <a:r>
              <a:rPr lang="en-US" sz="2400" b="0" i="0" spc="140" dirty="0">
                <a:solidFill>
                  <a:srgbClr val="353638"/>
                </a:solidFill>
                <a:latin typeface="Calibri"/>
              </a:rPr>
              <a:t>engineering </a:t>
            </a:r>
            <a:r>
              <a:rPr sz="2400" b="0" i="0" spc="140" dirty="0">
                <a:solidFill>
                  <a:srgbClr val="353638"/>
                </a:solidFill>
                <a:latin typeface="Calibri"/>
              </a:rPr>
              <a:t>models?</a:t>
            </a:r>
            <a:r>
              <a:rPr lang="en-US" sz="2400" b="0" i="0" spc="140" dirty="0">
                <a:solidFill>
                  <a:srgbClr val="353638"/>
                </a:solidFill>
                <a:latin typeface="Calibri"/>
              </a:rPr>
              <a:t> </a:t>
            </a:r>
            <a:r>
              <a:rPr lang="en-US" sz="2400" b="0" i="1" spc="140" dirty="0">
                <a:solidFill>
                  <a:srgbClr val="353638"/>
                </a:solidFill>
                <a:latin typeface="Calibri"/>
              </a:rPr>
              <a:t>(Some examples)</a:t>
            </a:r>
            <a:endParaRPr sz="2400" b="0" i="1" spc="140" dirty="0">
              <a:solidFill>
                <a:srgbClr val="353638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3931920" cy="10972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188719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80">
                <a:solidFill>
                  <a:srgbClr val="8E6F3E"/>
                </a:solidFill>
                <a:latin typeface="Calibri"/>
              </a:rPr>
              <a:t>AEROSPACE &amp;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3566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Boeing · Airbus · Lockheed Martin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051560"/>
            <a:ext cx="3931920" cy="10972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892040" y="1188719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80">
                <a:solidFill>
                  <a:srgbClr val="8E6F3E"/>
                </a:solidFill>
                <a:latin typeface="Calibri"/>
              </a:rPr>
              <a:t>AUTOMOTIVE &amp; INDUSTRIAL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508760"/>
            <a:ext cx="3566160" cy="2894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 dirty="0">
                <a:solidFill>
                  <a:srgbClr val="353638"/>
                </a:solidFill>
                <a:latin typeface="Calibri"/>
              </a:rPr>
              <a:t>Siemens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77440"/>
            <a:ext cx="3931920" cy="10972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51460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80">
                <a:solidFill>
                  <a:srgbClr val="8E6F3E"/>
                </a:solidFill>
                <a:latin typeface="Calibri"/>
              </a:rPr>
              <a:t>ENGINEERING-TOOL VENDORS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34640"/>
            <a:ext cx="3566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Dassault Systèmes · Ansys · PTC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2377440"/>
            <a:ext cx="3931920" cy="10972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92040" y="251460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80">
                <a:solidFill>
                  <a:srgbClr val="8E6F3E"/>
                </a:solidFill>
                <a:latin typeface="Calibri"/>
              </a:rPr>
              <a:t>GOVERNMENT &amp;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834640"/>
            <a:ext cx="3566160" cy="5941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 dirty="0">
                <a:solidFill>
                  <a:srgbClr val="353638"/>
                </a:solidFill>
                <a:latin typeface="Calibri"/>
              </a:rPr>
              <a:t>Space and defense agencies</a:t>
            </a:r>
          </a:p>
          <a:p>
            <a:pPr algn="l">
              <a:lnSpc>
                <a:spcPct val="110000"/>
              </a:lnSpc>
            </a:pPr>
            <a:r>
              <a:rPr lang="en-US" dirty="0">
                <a:solidFill>
                  <a:srgbClr val="353638"/>
                </a:solidFill>
                <a:latin typeface="Calibri"/>
              </a:rPr>
              <a:t>R</a:t>
            </a:r>
            <a:r>
              <a:rPr sz="1800" b="0" i="0" dirty="0">
                <a:solidFill>
                  <a:srgbClr val="353638"/>
                </a:solidFill>
                <a:latin typeface="Calibri"/>
              </a:rPr>
              <a:t>esearch laboratories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377669"/>
            <a:ext cx="8001000" cy="10390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2000" b="0" i="0" dirty="0">
                <a:solidFill>
                  <a:srgbClr val="5C4826"/>
                </a:solidFill>
                <a:latin typeface="Calibri"/>
              </a:rPr>
              <a:t>They</a:t>
            </a:r>
            <a:r>
              <a:rPr sz="2000" b="0" i="0" dirty="0">
                <a:solidFill>
                  <a:srgbClr val="5C4826"/>
                </a:solidFill>
                <a:latin typeface="Calibri"/>
              </a:rPr>
              <a:t> engineer </a:t>
            </a:r>
            <a:r>
              <a:rPr sz="2000" b="1" i="0" dirty="0">
                <a:solidFill>
                  <a:srgbClr val="5C4826"/>
                </a:solidFill>
                <a:latin typeface="Calibri"/>
              </a:rPr>
              <a:t>consequential systems</a:t>
            </a:r>
            <a:r>
              <a:rPr sz="2000" b="0" i="0" dirty="0">
                <a:solidFill>
                  <a:srgbClr val="5C4826"/>
                </a:solidFill>
                <a:latin typeface="Calibri"/>
              </a:rPr>
              <a:t> wh</a:t>
            </a:r>
            <a:r>
              <a:rPr lang="en-US" sz="2000" b="0" i="0" dirty="0">
                <a:solidFill>
                  <a:srgbClr val="5C4826"/>
                </a:solidFill>
                <a:latin typeface="Calibri"/>
              </a:rPr>
              <a:t>ose</a:t>
            </a:r>
            <a:r>
              <a:rPr sz="2000" b="0" i="0" dirty="0">
                <a:solidFill>
                  <a:srgbClr val="5C4826"/>
                </a:solidFill>
                <a:latin typeface="Calibri"/>
              </a:rPr>
              <a:t> software meets </a:t>
            </a:r>
            <a:r>
              <a:rPr lang="en-US" sz="2000" b="0" i="0" dirty="0">
                <a:solidFill>
                  <a:srgbClr val="5C4826"/>
                </a:solidFill>
                <a:latin typeface="Calibri"/>
              </a:rPr>
              <a:t>hardware, </a:t>
            </a:r>
            <a:r>
              <a:rPr sz="2000" b="0" i="0" dirty="0">
                <a:solidFill>
                  <a:srgbClr val="5C4826"/>
                </a:solidFill>
                <a:latin typeface="Calibri"/>
              </a:rPr>
              <a:t>physical</a:t>
            </a:r>
            <a:r>
              <a:rPr lang="en-US" sz="2000" b="0" i="0" dirty="0">
                <a:solidFill>
                  <a:srgbClr val="5C4826"/>
                </a:solidFill>
                <a:latin typeface="Calibri"/>
              </a:rPr>
              <a:t> </a:t>
            </a:r>
            <a:r>
              <a:rPr sz="2000" b="0" i="0" dirty="0">
                <a:solidFill>
                  <a:srgbClr val="5C4826"/>
                </a:solidFill>
                <a:latin typeface="Calibri"/>
              </a:rPr>
              <a:t>resources, timing, safety, power, </a:t>
            </a:r>
            <a:r>
              <a:rPr lang="en-US" sz="2000" b="0" i="0" dirty="0">
                <a:solidFill>
                  <a:srgbClr val="5C4826"/>
                </a:solidFill>
                <a:latin typeface="Calibri"/>
              </a:rPr>
              <a:t>&amp;</a:t>
            </a:r>
            <a:r>
              <a:rPr sz="2000" b="0" i="0" dirty="0">
                <a:solidFill>
                  <a:srgbClr val="5C4826"/>
                </a:solidFill>
                <a:latin typeface="Calibri"/>
              </a:rPr>
              <a:t> other systems.</a:t>
            </a:r>
            <a:endParaRPr lang="en-US" sz="2000" b="0" i="0" dirty="0">
              <a:solidFill>
                <a:srgbClr val="5C4826"/>
              </a:solidFill>
              <a:latin typeface="Calibri"/>
            </a:endParaRPr>
          </a:p>
          <a:p>
            <a:pPr algn="l">
              <a:lnSpc>
                <a:spcPct val="115000"/>
              </a:lnSpc>
            </a:pPr>
            <a:r>
              <a:rPr lang="en-US" sz="2000" dirty="0">
                <a:solidFill>
                  <a:srgbClr val="5C4826"/>
                </a:solidFill>
                <a:latin typeface="Calibri"/>
              </a:rPr>
              <a:t>	</a:t>
            </a:r>
            <a:r>
              <a:rPr lang="en-US" sz="2000" dirty="0">
                <a:solidFill>
                  <a:srgbClr val="5C4826"/>
                </a:solidFill>
                <a:latin typeface="Calibri"/>
                <a:sym typeface="Wingdings" pitchFamily="2" charset="2"/>
              </a:rPr>
              <a:t> </a:t>
            </a:r>
            <a:r>
              <a:rPr lang="en-US" sz="2000" dirty="0" err="1">
                <a:solidFill>
                  <a:srgbClr val="5C4826"/>
                </a:solidFill>
                <a:latin typeface="Calibri"/>
                <a:sym typeface="Wingdings" pitchFamily="2" charset="2"/>
              </a:rPr>
              <a:t>CompE</a:t>
            </a:r>
            <a:r>
              <a:rPr lang="en-US" sz="2000" dirty="0">
                <a:solidFill>
                  <a:srgbClr val="5C4826"/>
                </a:solidFill>
                <a:latin typeface="Calibri"/>
                <a:sym typeface="Wingdings" pitchFamily="2" charset="2"/>
              </a:rPr>
              <a:t>, anyone?</a:t>
            </a:r>
            <a:endParaRPr lang="en-US" sz="2000" dirty="0">
              <a:solidFill>
                <a:srgbClr val="5C4826"/>
              </a:solidFill>
              <a:latin typeface="Calibr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320040" y="6007607"/>
            <a:ext cx="8503920" cy="55778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 dirty="0">
                <a:solidFill>
                  <a:srgbClr val="FFFFFF"/>
                </a:solidFill>
                <a:latin typeface="Calibri"/>
              </a:rPr>
              <a:t>They need models that support engineering reasoning — not </a:t>
            </a:r>
            <a:r>
              <a:rPr lang="en-US" sz="1800" b="1" i="0" dirty="0">
                <a:solidFill>
                  <a:srgbClr val="FFFFFF"/>
                </a:solidFill>
                <a:latin typeface="Calibri"/>
              </a:rPr>
              <a:t>just </a:t>
            </a:r>
            <a:r>
              <a:rPr sz="1800" b="1" i="0" dirty="0">
                <a:solidFill>
                  <a:srgbClr val="FFFFFF"/>
                </a:solidFill>
                <a:latin typeface="Calibri"/>
              </a:rPr>
              <a:t>pictures.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3</a:t>
            </a:r>
          </a:p>
        </p:txBody>
      </p:sp>
      <p:pic>
        <p:nvPicPr>
          <p:cNvPr id="22" name="Picture 21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E1117B9-2BC2-EC57-14A0-04491592F6C0}"/>
              </a:ext>
            </a:extLst>
          </p:cNvPr>
          <p:cNvSpPr txBox="1"/>
          <p:nvPr/>
        </p:nvSpPr>
        <p:spPr>
          <a:xfrm>
            <a:off x="418011" y="3683726"/>
            <a:ext cx="45838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do these organizations have in common?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 fontScale="90000"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Degrees of semantic commitment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How much meaning does the representation carry?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What does this arrow mean?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103120" y="1371600"/>
            <a:ext cx="1188720" cy="685800"/>
          </a:xfrm>
          <a:prstGeom prst="rect">
            <a:avLst/>
          </a:prstGeom>
          <a:solidFill>
            <a:srgbClr val="F5F1E8"/>
          </a:solidFill>
          <a:ln w="19050">
            <a:solidFill>
              <a:srgbClr val="5C4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5C4826"/>
                </a:solidFill>
                <a:latin typeface="Calibri"/>
              </a:rPr>
              <a:t>A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0" y="1371600"/>
            <a:ext cx="1188720" cy="685800"/>
          </a:xfrm>
          <a:prstGeom prst="rect">
            <a:avLst/>
          </a:prstGeom>
          <a:solidFill>
            <a:srgbClr val="F5F1E8"/>
          </a:solidFill>
          <a:ln w="19050">
            <a:solidFill>
              <a:srgbClr val="5C4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5C4826"/>
                </a:solidFill>
                <a:latin typeface="Calibri"/>
              </a:rPr>
              <a:t>B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291840" y="1714500"/>
            <a:ext cx="2560320" cy="0"/>
          </a:xfrm>
          <a:prstGeom prst="line">
            <a:avLst/>
          </a:prstGeom>
          <a:ln w="3810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02920" y="2606040"/>
            <a:ext cx="96012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calls?</a:t>
            </a:r>
          </a:p>
        </p:txBody>
      </p:sp>
      <p:sp>
        <p:nvSpPr>
          <p:cNvPr id="8" name="Rectangle 7"/>
          <p:cNvSpPr/>
          <p:nvPr/>
        </p:nvSpPr>
        <p:spPr>
          <a:xfrm>
            <a:off x="1627632" y="2606040"/>
            <a:ext cx="123444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may call?</a:t>
            </a:r>
          </a:p>
        </p:txBody>
      </p:sp>
      <p:sp>
        <p:nvSpPr>
          <p:cNvPr id="9" name="Rectangle 8"/>
          <p:cNvSpPr/>
          <p:nvPr/>
        </p:nvSpPr>
        <p:spPr>
          <a:xfrm>
            <a:off x="3026664" y="2606040"/>
            <a:ext cx="141732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depends on?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08576" y="2606040"/>
            <a:ext cx="160020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sends data to?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2606040"/>
            <a:ext cx="2286000" cy="557784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was observed calling?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353638"/>
                </a:solidFill>
                <a:latin typeface="Calibri"/>
              </a:rPr>
              <a:t>Same marks. </a:t>
            </a:r>
            <a:r>
              <a:rPr sz="2000" b="0" i="0">
                <a:solidFill>
                  <a:srgbClr val="353638"/>
                </a:solidFill>
                <a:latin typeface="Calibri"/>
              </a:rPr>
              <a:t>Different engineering claims.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4069080"/>
            <a:ext cx="6766560" cy="15544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463040" y="4279392"/>
            <a:ext cx="6217920" cy="1239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5C4826"/>
                </a:solidFill>
                <a:latin typeface="Calibri"/>
              </a:rPr>
              <a:t>A diagram that permits five readings licenses none.</a:t>
            </a:r>
          </a:p>
          <a:p>
            <a:pPr algn="l">
              <a:lnSpc>
                <a:spcPct val="125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Whoever interprets the sketch — teammate or agent — supplies the meaning
the marks do not carry.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marks are the same; the meaning is supplied by the interpreter.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5</a:t>
            </a:r>
          </a:p>
        </p:txBody>
      </p:sp>
      <p:pic>
        <p:nvPicPr>
          <p:cNvPr id="17" name="Picture 16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Models carry different amounts of meaning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8046720" cy="868680"/>
          </a:xfrm>
          <a:prstGeom prst="rect">
            <a:avLst/>
          </a:prstGeom>
          <a:solidFill>
            <a:srgbClr val="F5F1E8"/>
          </a:solidFill>
          <a:ln w="15875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078992"/>
            <a:ext cx="7589520" cy="1014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8E6F3E"/>
                </a:solidFill>
                <a:latin typeface="Calibri"/>
              </a:rPr>
              <a:t>SEMANTIC COMMITMENT</a:t>
            </a:r>
          </a:p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5C4826"/>
                </a:solidFill>
                <a:latin typeface="Calibri"/>
              </a:rPr>
              <a:t>How much of a representation's meaning is carried explicitly by the representation itself,
rather than supplied by whoever — or whatever — interprets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148840"/>
            <a:ext cx="1691640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0" i="0">
                <a:solidFill>
                  <a:srgbClr val="5C4826"/>
                </a:solidFill>
                <a:latin typeface="Calibri"/>
              </a:rPr>
              <a:t>quick sketch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423160" y="2304288"/>
            <a:ext cx="274320" cy="182880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0" y="2148840"/>
            <a:ext cx="1691640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0" i="0">
                <a:solidFill>
                  <a:srgbClr val="5C4826"/>
                </a:solidFill>
                <a:latin typeface="Calibri"/>
              </a:rPr>
              <a:t>UML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480560" y="2304288"/>
            <a:ext cx="274320" cy="182880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800600" y="2148840"/>
            <a:ext cx="1691640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0" i="0">
                <a:solidFill>
                  <a:srgbClr val="5C4826"/>
                </a:solidFill>
                <a:latin typeface="Calibri"/>
              </a:rPr>
              <a:t>structured schemas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37960" y="2304288"/>
            <a:ext cx="274320" cy="182880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0" y="2148840"/>
            <a:ext cx="1691640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SysML v2 + KerML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743200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  <a:latin typeface="Calibri"/>
              </a:rPr>
              <a:t>examples along one axis — not maturity levels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154680"/>
            <a:ext cx="8046720" cy="8366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353638"/>
                </a:solidFill>
                <a:latin typeface="Calibri"/>
              </a:rPr>
              <a:t>A quick sketch may be exactly right when several engineers need to communicate an</a:t>
            </a:r>
          </a:p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353638"/>
                </a:solidFill>
                <a:latin typeface="Calibri"/>
              </a:rPr>
              <a:t>architectural idea to one another — or to an agent for a prototype.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77639"/>
            <a:ext cx="3931920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4133087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80">
                <a:solidFill>
                  <a:srgbClr val="8E6F3E"/>
                </a:solidFill>
                <a:latin typeface="Calibri"/>
              </a:rPr>
              <a:t>STRONGER SEMANTICS BUY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498848"/>
            <a:ext cx="347472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reliable interpretation · query ·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composition · analysis · validation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3977639"/>
            <a:ext cx="3931920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92040" y="4133087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80">
                <a:solidFill>
                  <a:srgbClr val="8E6F3E"/>
                </a:solidFill>
                <a:latin typeface="Calibri"/>
              </a:rPr>
              <a:t>AND THEY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4498848"/>
            <a:ext cx="347472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authoring effort · expertise · tooling ·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maintenance · sometimes human accessibility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engineering decision is not “maximize semantics.”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6</a:t>
            </a:r>
          </a:p>
        </p:txBody>
      </p:sp>
      <p:pic>
        <p:nvPicPr>
          <p:cNvPr id="23" name="Picture 22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Precision is not completeness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4" name="Connector 3"/>
          <p:cNvCxnSpPr/>
          <p:nvPr/>
        </p:nvCxnSpPr>
        <p:spPr>
          <a:xfrm flipV="1">
            <a:off x="1005840" y="1188720"/>
            <a:ext cx="0" cy="3291840"/>
          </a:xfrm>
          <a:prstGeom prst="line">
            <a:avLst/>
          </a:prstGeom>
          <a:ln w="2540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05840" y="4480560"/>
            <a:ext cx="3474720" cy="0"/>
          </a:xfrm>
          <a:prstGeom prst="line">
            <a:avLst/>
          </a:prstGeom>
          <a:ln w="2540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9601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80">
                <a:solidFill>
                  <a:srgbClr val="5C4826"/>
                </a:solidFill>
                <a:latin typeface="Calibri"/>
              </a:rPr>
              <a:t>AMOUNT SPECIFIED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4590288"/>
            <a:ext cx="2103120" cy="4297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80">
                <a:solidFill>
                  <a:srgbClr val="5C4826"/>
                </a:solidFill>
                <a:latin typeface="Calibri"/>
              </a:rPr>
              <a:t>PRECISION OF MEANING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5880" y="1554480"/>
            <a:ext cx="1737360" cy="11155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an enormous prose</a:t>
            </a:r>
          </a:p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spec — still</a:t>
            </a:r>
          </a:p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ambiguous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63240" y="3200400"/>
            <a:ext cx="1737360" cy="777240"/>
          </a:xfrm>
          <a:prstGeom prst="rect">
            <a:avLst/>
          </a:prstGeom>
          <a:solidFill>
            <a:srgbClr val="F5F1E8"/>
          </a:solidFill>
          <a:ln w="15875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a tiny model —</a:t>
            </a:r>
          </a:p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semantically</a:t>
            </a:r>
          </a:p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precise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74920"/>
            <a:ext cx="4114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The two axes are independent.</a:t>
            </a:r>
          </a:p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Neither corner implies the other.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83480" y="1188720"/>
            <a:ext cx="3657600" cy="3931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12080" y="1371600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 spc="60">
                <a:solidFill>
                  <a:srgbClr val="8E6F3E"/>
                </a:solidFill>
                <a:latin typeface="Calibri"/>
              </a:rPr>
              <a:t>DEGREES OF FREEDOM SURVIVE</a:t>
            </a:r>
          </a:p>
          <a:p>
            <a:pPr algn="l">
              <a:lnSpc>
                <a:spcPct val="110000"/>
              </a:lnSpc>
            </a:pPr>
            <a:r>
              <a:rPr sz="1800" b="1" i="0" spc="60">
                <a:solidFill>
                  <a:srgbClr val="8E6F3E"/>
                </a:solidFill>
                <a:latin typeface="Calibri"/>
              </a:rPr>
              <a:t>STRONGER SEMANTICS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057400"/>
            <a:ext cx="3200400" cy="1394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A model may precisely define memory,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allocation, units, and a resource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constraint 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154680"/>
            <a:ext cx="3200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— while saying nothing about data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structures, algorithms, task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decomposition, naming, or logging.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4572000"/>
            <a:ext cx="3200400" cy="557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1">
                <a:solidFill>
                  <a:srgbClr val="5C4826"/>
                </a:solidFill>
                <a:latin typeface="Calibri"/>
              </a:rPr>
              <a:t>Those are not gaps. They are</a:t>
            </a:r>
          </a:p>
          <a:p>
            <a:pPr algn="l">
              <a:lnSpc>
                <a:spcPct val="110000"/>
              </a:lnSpc>
            </a:pPr>
            <a:r>
              <a:rPr sz="1800" b="1" i="1">
                <a:solidFill>
                  <a:srgbClr val="5C4826"/>
                </a:solidFill>
                <a:latin typeface="Calibri"/>
              </a:rPr>
              <a:t>authorized freedom.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Precision about modeled decisions does not settle unmodeled decisions.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7</a:t>
            </a:r>
          </a:p>
        </p:txBody>
      </p:sp>
      <p:pic>
        <p:nvPicPr>
          <p:cNvPr id="18" name="Picture 17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Degrees of semantic commitment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173736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9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Example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2148840" y="960120"/>
            <a:ext cx="2194560" cy="539495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9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Meaning carried by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960120"/>
            <a:ext cx="2194560" cy="539495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9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Interpretation burden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7960" y="960120"/>
            <a:ext cx="219456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9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Enables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554480"/>
            <a:ext cx="1737360" cy="960120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l">
              <a:lnSpc>
                <a:spcPct val="92000"/>
              </a:lnSpc>
            </a:pPr>
            <a:r>
              <a:rPr sz="2000" b="1" i="0">
                <a:solidFill>
                  <a:srgbClr val="5C4826"/>
                </a:solidFill>
                <a:latin typeface="Calibri"/>
              </a:rPr>
              <a:t>Informal sketch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48840" y="1554480"/>
            <a:ext cx="2194560" cy="960120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l">
              <a:lnSpc>
                <a:spcPct val="92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Team context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554480"/>
            <a:ext cx="2194560" cy="960120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l">
              <a:lnSpc>
                <a:spcPct val="92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Low if context is shared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1554480"/>
            <a:ext cx="2194560" cy="960120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l">
              <a:lnSpc>
                <a:spcPct val="92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Fast communication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560320"/>
            <a:ext cx="1737360" cy="960120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l">
              <a:lnSpc>
                <a:spcPct val="92000"/>
              </a:lnSpc>
            </a:pPr>
            <a:r>
              <a:rPr sz="2000" b="1" i="0">
                <a:solidFill>
                  <a:srgbClr val="5C4826"/>
                </a:solidFill>
                <a:latin typeface="Calibri"/>
              </a:rPr>
              <a:t>UML 2.5.1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48840" y="2560320"/>
            <a:ext cx="2194560" cy="960120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l">
              <a:lnSpc>
                <a:spcPct val="92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Standardized elements + relations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560320"/>
            <a:ext cx="2194560" cy="960120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l">
              <a:lnSpc>
                <a:spcPct val="92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Notation + project context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37960" y="2560320"/>
            <a:ext cx="2194560" cy="960120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l">
              <a:lnSpc>
                <a:spcPct val="92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Shared interpretation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566160"/>
            <a:ext cx="1737360" cy="960120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l">
              <a:lnSpc>
                <a:spcPct val="92000"/>
              </a:lnSpc>
            </a:pPr>
            <a:r>
              <a:rPr sz="2000" b="1" i="0">
                <a:solidFill>
                  <a:srgbClr val="5C4826"/>
                </a:solidFill>
                <a:latin typeface="Calibri"/>
              </a:rPr>
              <a:t>OpenAPI / JSON Schema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48840" y="3566160"/>
            <a:ext cx="2194560" cy="960120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l">
              <a:lnSpc>
                <a:spcPct val="92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Machine-readable structure + constraints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3566160"/>
            <a:ext cx="2194560" cy="960120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l">
              <a:lnSpc>
                <a:spcPct val="92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Domain intent remains contextual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37960" y="3566160"/>
            <a:ext cx="2194560" cy="960120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l">
              <a:lnSpc>
                <a:spcPct val="92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Validation + transformation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4572000"/>
            <a:ext cx="1737360" cy="914400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l">
              <a:lnSpc>
                <a:spcPct val="92000"/>
              </a:lnSpc>
            </a:pPr>
            <a:r>
              <a:rPr sz="2000" b="1" i="0">
                <a:solidFill>
                  <a:srgbClr val="5C4826"/>
                </a:solidFill>
                <a:latin typeface="Calibri"/>
              </a:rPr>
              <a:t>SysML v2 + KerML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48840" y="4572000"/>
            <a:ext cx="2194560" cy="914400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l">
              <a:lnSpc>
                <a:spcPct val="92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Language-defined semantics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4572000"/>
            <a:ext cx="2194560" cy="914400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l">
              <a:lnSpc>
                <a:spcPct val="92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Language + tool knowledge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37960" y="4572000"/>
            <a:ext cx="2194560" cy="914400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l">
              <a:lnSpc>
                <a:spcPct val="92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Query + analysis + composition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5623560"/>
            <a:ext cx="8321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1">
                <a:solidFill>
                  <a:srgbClr val="5C4826"/>
                </a:solidFill>
                <a:latin typeface="Calibri"/>
              </a:rPr>
              <a:t>Semantic commitment does not determine realization freedom.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6007607"/>
            <a:ext cx="8503920" cy="55778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These are examples, not maturity levels. Semantic precision and amount specified are different dimensions.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8</a:t>
            </a:r>
          </a:p>
        </p:txBody>
      </p:sp>
      <p:pic>
        <p:nvPicPr>
          <p:cNvPr id="32" name="Picture 31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86D28-52C7-2868-C971-96E8B012E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>
            <a:extLst>
              <a:ext uri="{FF2B5EF4-FFF2-40B4-BE49-F238E27FC236}">
                <a16:creationId xmlns:a16="http://schemas.microsoft.com/office/drawing/2014/main" id="{50258CF4-7888-2BCF-AAAF-481A37A88DE1}"/>
              </a:ext>
            </a:extLst>
          </p:cNvPr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850D57-C430-D53D-578F-C13F71184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 fontScale="90000"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Engineering with Semantic Models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3C3F00F5-76EA-016A-8CA9-2B6E53A4BE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>
            <a:extLst>
              <a:ext uri="{FF2B5EF4-FFF2-40B4-BE49-F238E27FC236}">
                <a16:creationId xmlns:a16="http://schemas.microsoft.com/office/drawing/2014/main" id="{2AA87FCB-8D49-AC14-3216-7C7C497B32D6}"/>
              </a:ext>
            </a:extLst>
          </p:cNvPr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can we do because the model has meaning?</a:t>
            </a:r>
          </a:p>
        </p:txBody>
      </p:sp>
      <p:sp>
        <p:nvSpPr>
          <p:cNvPr id="103" name="Rule">
            <a:extLst>
              <a:ext uri="{FF2B5EF4-FFF2-40B4-BE49-F238E27FC236}">
                <a16:creationId xmlns:a16="http://schemas.microsoft.com/office/drawing/2014/main" id="{F2FE5A5C-1315-D099-741E-4E7639DE3760}"/>
              </a:ext>
            </a:extLst>
          </p:cNvPr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111876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What semantics buys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74321" y="2574036"/>
            <a:ext cx="1828800" cy="11887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SEMANTIC</a:t>
            </a:r>
          </a:p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3017520" y="1051560"/>
            <a:ext cx="1371600" cy="50292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5C4826"/>
                </a:solidFill>
                <a:latin typeface="Calibri"/>
              </a:rPr>
              <a:t>query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467478" y="960120"/>
            <a:ext cx="4617721" cy="685800"/>
          </a:xfrm>
          <a:prstGeom prst="rect">
            <a:avLst/>
          </a:prstGeom>
          <a:solidFill>
            <a:srgbClr val="FBF8F2"/>
          </a:solidFill>
          <a:ln w="9525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l">
              <a:lnSpc>
                <a:spcPct val="95000"/>
              </a:lnSpc>
            </a:pPr>
            <a:r>
              <a:rPr sz="2000" b="0" i="1" dirty="0">
                <a:solidFill>
                  <a:srgbClr val="353638"/>
                </a:solidFill>
                <a:latin typeface="Calibri"/>
              </a:rPr>
              <a:t>“Which buffers does the radio stack</a:t>
            </a:r>
            <a:r>
              <a:rPr lang="en-US" sz="2000" b="0" i="1" dirty="0">
                <a:solidFill>
                  <a:srgbClr val="353638"/>
                </a:solidFill>
                <a:latin typeface="Calibri"/>
              </a:rPr>
              <a:t> </a:t>
            </a:r>
            <a:r>
              <a:rPr sz="2000" b="0" i="1" dirty="0">
                <a:solidFill>
                  <a:srgbClr val="353638"/>
                </a:solidFill>
                <a:latin typeface="Calibri"/>
              </a:rPr>
              <a:t>own?”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984248"/>
            <a:ext cx="1371600" cy="50292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5C4826"/>
                </a:solidFill>
                <a:latin typeface="Calibri"/>
              </a:rPr>
              <a:t>compose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67478" y="1919587"/>
            <a:ext cx="4558919" cy="685800"/>
          </a:xfrm>
          <a:prstGeom prst="rect">
            <a:avLst/>
          </a:prstGeom>
          <a:solidFill>
            <a:srgbClr val="FBF8F2"/>
          </a:solidFill>
          <a:ln w="9525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l">
              <a:lnSpc>
                <a:spcPct val="95000"/>
              </a:lnSpc>
            </a:pPr>
            <a:r>
              <a:rPr sz="2000" b="0" i="1" dirty="0">
                <a:solidFill>
                  <a:srgbClr val="353638"/>
                </a:solidFill>
                <a:latin typeface="Calibri"/>
              </a:rPr>
              <a:t>“Does an optional component feed an essential one?”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916936"/>
            <a:ext cx="1371600" cy="50292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5C4826"/>
                </a:solidFill>
                <a:latin typeface="Calibri"/>
              </a:rPr>
              <a:t>analyze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67478" y="2837252"/>
            <a:ext cx="4558918" cy="685800"/>
          </a:xfrm>
          <a:prstGeom prst="rect">
            <a:avLst/>
          </a:prstGeom>
          <a:solidFill>
            <a:srgbClr val="FBF8F2"/>
          </a:solidFill>
          <a:ln w="9525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l">
              <a:lnSpc>
                <a:spcPct val="95000"/>
              </a:lnSpc>
            </a:pPr>
            <a:r>
              <a:rPr sz="2000" b="0" i="1" dirty="0">
                <a:solidFill>
                  <a:srgbClr val="353638"/>
                </a:solidFill>
                <a:latin typeface="Calibri"/>
              </a:rPr>
              <a:t>“Do allocations fit the 256 KiB budget?”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3849624"/>
            <a:ext cx="1371600" cy="50292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5C4826"/>
                </a:solidFill>
                <a:latin typeface="Calibri"/>
              </a:rPr>
              <a:t>validate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67478" y="3753612"/>
            <a:ext cx="4558918" cy="685800"/>
          </a:xfrm>
          <a:prstGeom prst="rect">
            <a:avLst/>
          </a:prstGeom>
          <a:solidFill>
            <a:srgbClr val="FBF8F2"/>
          </a:solidFill>
          <a:ln w="9525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l">
              <a:lnSpc>
                <a:spcPct val="95000"/>
              </a:lnSpc>
            </a:pPr>
            <a:r>
              <a:rPr sz="2000" b="0" i="1" dirty="0">
                <a:solidFill>
                  <a:srgbClr val="353638"/>
                </a:solidFill>
                <a:latin typeface="Calibri"/>
              </a:rPr>
              <a:t>“Is this comparison semantically valid?”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17520" y="4782312"/>
            <a:ext cx="1371600" cy="50292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5C4826"/>
                </a:solidFill>
                <a:latin typeface="Calibri"/>
              </a:rPr>
              <a:t>generate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67478" y="4690872"/>
            <a:ext cx="4558918" cy="685800"/>
          </a:xfrm>
          <a:prstGeom prst="rect">
            <a:avLst/>
          </a:prstGeom>
          <a:solidFill>
            <a:srgbClr val="FBF8F2"/>
          </a:solidFill>
          <a:ln w="9525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l">
              <a:lnSpc>
                <a:spcPct val="95000"/>
              </a:lnSpc>
            </a:pPr>
            <a:r>
              <a:rPr sz="2000" b="0" i="1">
                <a:solidFill>
                  <a:srgbClr val="353638"/>
                </a:solidFill>
                <a:latin typeface="Calibri"/>
              </a:rPr>
              <a:t>“Emit interface types from the schema.”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Selected meanings become machine-operable.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9</a:t>
            </a:r>
          </a:p>
        </p:txBody>
      </p:sp>
      <p:pic>
        <p:nvPicPr>
          <p:cNvPr id="23" name="Picture 22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6E885D22-077E-FAE3-B368-4EF985E56A1E}"/>
              </a:ext>
            </a:extLst>
          </p:cNvPr>
          <p:cNvCxnSpPr>
            <a:stCxn id="4" idx="3"/>
            <a:endCxn id="6" idx="1"/>
          </p:cNvCxnSpPr>
          <p:nvPr/>
        </p:nvCxnSpPr>
        <p:spPr>
          <a:xfrm flipV="1">
            <a:off x="2103121" y="1303020"/>
            <a:ext cx="914399" cy="1865376"/>
          </a:xfrm>
          <a:prstGeom prst="bentConnector3">
            <a:avLst/>
          </a:prstGeom>
          <a:ln>
            <a:solidFill>
              <a:schemeClr val="bg2">
                <a:lumMod val="50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B6AA5FE8-723C-BF3D-4809-7CF89E49B63E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2103121" y="2235708"/>
            <a:ext cx="914399" cy="932688"/>
          </a:xfrm>
          <a:prstGeom prst="bentConnector3">
            <a:avLst>
              <a:gd name="adj1" fmla="val 50000"/>
            </a:avLst>
          </a:prstGeom>
          <a:ln>
            <a:solidFill>
              <a:schemeClr val="bg2">
                <a:lumMod val="50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>
            <a:extLst>
              <a:ext uri="{FF2B5EF4-FFF2-40B4-BE49-F238E27FC236}">
                <a16:creationId xmlns:a16="http://schemas.microsoft.com/office/drawing/2014/main" id="{05479FA4-A0A6-1068-447E-5435D5C2B90D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2103121" y="3163824"/>
            <a:ext cx="914399" cy="4572"/>
          </a:xfrm>
          <a:prstGeom prst="bentConnector3">
            <a:avLst>
              <a:gd name="adj1" fmla="val 50000"/>
            </a:avLst>
          </a:prstGeom>
          <a:ln>
            <a:solidFill>
              <a:schemeClr val="bg2">
                <a:lumMod val="50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A53A2F16-3D1A-1036-A54B-40823BE5AA39}"/>
              </a:ext>
            </a:extLst>
          </p:cNvPr>
          <p:cNvCxnSpPr>
            <a:cxnSpLocks/>
            <a:stCxn id="4" idx="3"/>
            <a:endCxn id="15" idx="1"/>
          </p:cNvCxnSpPr>
          <p:nvPr/>
        </p:nvCxnSpPr>
        <p:spPr>
          <a:xfrm>
            <a:off x="2103121" y="3168396"/>
            <a:ext cx="914399" cy="932688"/>
          </a:xfrm>
          <a:prstGeom prst="bentConnector3">
            <a:avLst>
              <a:gd name="adj1" fmla="val 50000"/>
            </a:avLst>
          </a:prstGeom>
          <a:ln>
            <a:solidFill>
              <a:schemeClr val="bg2">
                <a:lumMod val="50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182DE1A3-A702-B10D-A823-EC9F9F3F3F99}"/>
              </a:ext>
            </a:extLst>
          </p:cNvPr>
          <p:cNvCxnSpPr>
            <a:cxnSpLocks/>
            <a:stCxn id="4" idx="3"/>
            <a:endCxn id="18" idx="1"/>
          </p:cNvCxnSpPr>
          <p:nvPr/>
        </p:nvCxnSpPr>
        <p:spPr>
          <a:xfrm>
            <a:off x="2103121" y="3168396"/>
            <a:ext cx="914399" cy="1865376"/>
          </a:xfrm>
          <a:prstGeom prst="bentConnector3">
            <a:avLst>
              <a:gd name="adj1" fmla="val 50000"/>
            </a:avLst>
          </a:prstGeom>
          <a:ln>
            <a:solidFill>
              <a:schemeClr val="bg2">
                <a:lumMod val="50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5334" y="215884"/>
            <a:ext cx="924197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 dirty="0">
                <a:solidFill>
                  <a:srgbClr val="353638"/>
                </a:solidFill>
                <a:latin typeface="Calibri"/>
              </a:rPr>
              <a:t>If machines understand the model, why not generate the code?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5C4826"/>
                </a:solidFill>
                <a:latin typeface="Calibri"/>
              </a:rPr>
              <a:t>Sometimes we should</a:t>
            </a:r>
            <a:r>
              <a:rPr lang="en-US" sz="2000" b="1" i="0" dirty="0">
                <a:solidFill>
                  <a:srgbClr val="5C4826"/>
                </a:solidFill>
                <a:latin typeface="Calibri"/>
              </a:rPr>
              <a:t> (and do)</a:t>
            </a:r>
            <a:endParaRPr sz="2000" b="1" i="0" dirty="0">
              <a:solidFill>
                <a:srgbClr val="5C4826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2112264"/>
            <a:ext cx="3886200" cy="2276855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11668"/>
            <a:ext cx="4630783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1" i="0" spc="50" dirty="0">
                <a:solidFill>
                  <a:srgbClr val="8E6F3E"/>
                </a:solidFill>
                <a:latin typeface="Calibri"/>
              </a:rPr>
              <a:t>Generate what the model determines</a:t>
            </a:r>
            <a:endParaRPr sz="1800" b="1" i="0" spc="50" dirty="0">
              <a:solidFill>
                <a:srgbClr val="8E6F3E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54380" y="1759421"/>
            <a:ext cx="3474720" cy="204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sz="2000" b="0" i="0" dirty="0">
                <a:solidFill>
                  <a:srgbClr val="353638"/>
                </a:solidFill>
                <a:latin typeface="Calibri"/>
              </a:rPr>
              <a:t>configuration</a:t>
            </a:r>
          </a:p>
          <a:p>
            <a:pPr marL="342900" indent="-342900" algn="l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sz="2000" b="0" i="0" dirty="0">
                <a:solidFill>
                  <a:srgbClr val="353638"/>
                </a:solidFill>
                <a:latin typeface="Calibri"/>
              </a:rPr>
              <a:t>interfaces and schemas</a:t>
            </a:r>
          </a:p>
          <a:p>
            <a:pPr marL="342900" indent="-342900" algn="l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sz="2000" b="0" i="0" dirty="0">
                <a:solidFill>
                  <a:srgbClr val="353638"/>
                </a:solidFill>
                <a:latin typeface="Calibri"/>
              </a:rPr>
              <a:t>state-machine fragments</a:t>
            </a:r>
          </a:p>
          <a:p>
            <a:pPr marL="342900" indent="-342900" algn="l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sz="2000" b="0" i="0" dirty="0">
                <a:solidFill>
                  <a:srgbClr val="353638"/>
                </a:solidFill>
                <a:latin typeface="Calibri"/>
              </a:rPr>
              <a:t>deployment artifacts</a:t>
            </a:r>
          </a:p>
          <a:p>
            <a:pPr marL="342900" indent="-342900" algn="l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353638"/>
                </a:solidFill>
                <a:latin typeface="Calibri"/>
              </a:rPr>
              <a:t>"</a:t>
            </a:r>
            <a:r>
              <a:rPr sz="2000" b="0" i="0" dirty="0">
                <a:solidFill>
                  <a:srgbClr val="353638"/>
                </a:solidFill>
                <a:latin typeface="Calibri"/>
              </a:rPr>
              <a:t>boilerplate</a:t>
            </a:r>
            <a:r>
              <a:rPr lang="en-US" sz="2000" b="0" i="0" dirty="0">
                <a:solidFill>
                  <a:srgbClr val="353638"/>
                </a:solidFill>
                <a:latin typeface="Calibri"/>
              </a:rPr>
              <a:t>"</a:t>
            </a:r>
            <a:endParaRPr sz="2000" b="0" i="0" dirty="0">
              <a:solidFill>
                <a:srgbClr val="353638"/>
              </a:solidFill>
              <a:latin typeface="Calibr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846320" y="1783080"/>
            <a:ext cx="3749039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0" i="0">
                <a:solidFill>
                  <a:srgbClr val="5C4826"/>
                </a:solidFill>
                <a:latin typeface="Calibri"/>
              </a:rPr>
              <a:t>Want the generator to decide less</a:t>
            </a:r>
          </a:p>
        </p:txBody>
      </p:sp>
      <p:sp>
        <p:nvSpPr>
          <p:cNvPr id="9" name="Down Arrow 8"/>
          <p:cNvSpPr/>
          <p:nvPr/>
        </p:nvSpPr>
        <p:spPr>
          <a:xfrm>
            <a:off x="6629400" y="2313432"/>
            <a:ext cx="182880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601399" y="2564893"/>
            <a:ext cx="4238879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0" i="0" dirty="0">
                <a:solidFill>
                  <a:srgbClr val="5C4826"/>
                </a:solidFill>
                <a:latin typeface="Calibri"/>
              </a:rPr>
              <a:t>The </a:t>
            </a:r>
            <a:r>
              <a:rPr lang="en-US" sz="1800" b="0" i="0" dirty="0">
                <a:solidFill>
                  <a:srgbClr val="5C4826"/>
                </a:solidFill>
                <a:latin typeface="Calibri"/>
              </a:rPr>
              <a:t>engineering </a:t>
            </a:r>
            <a:r>
              <a:rPr sz="1800" b="0" i="0" dirty="0">
                <a:solidFill>
                  <a:srgbClr val="5C4826"/>
                </a:solidFill>
                <a:latin typeface="Calibri"/>
              </a:rPr>
              <a:t>model must decide more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6629400" y="3108960"/>
            <a:ext cx="182880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846320" y="3374136"/>
            <a:ext cx="3749039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0" i="0">
                <a:solidFill>
                  <a:srgbClr val="5C4826"/>
                </a:solidFill>
                <a:latin typeface="Calibri"/>
              </a:rPr>
              <a:t>More realization encoded in the model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6629400" y="3904487"/>
            <a:ext cx="182880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846320" y="4169663"/>
            <a:ext cx="3749039" cy="83667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0000"/>
              </a:lnSpc>
            </a:pPr>
            <a:r>
              <a:rPr sz="1800" b="1" i="0" dirty="0">
                <a:solidFill>
                  <a:srgbClr val="FFFFFF"/>
                </a:solidFill>
                <a:latin typeface="Calibri"/>
              </a:rPr>
              <a:t>At the limit: you have built another</a:t>
            </a:r>
          </a:p>
          <a:p>
            <a:pPr algn="ctr">
              <a:lnSpc>
                <a:spcPct val="100000"/>
              </a:lnSpc>
            </a:pPr>
            <a:r>
              <a:rPr sz="1800" b="1" i="0" dirty="0">
                <a:solidFill>
                  <a:srgbClr val="FFFFFF"/>
                </a:solidFill>
                <a:latin typeface="Calibri"/>
              </a:rPr>
              <a:t>programming language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5366598"/>
            <a:ext cx="6309360" cy="9208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 dirty="0">
                <a:solidFill>
                  <a:srgbClr val="353638"/>
                </a:solidFill>
                <a:latin typeface="Calibri"/>
              </a:rPr>
              <a:t>Purposeful reduction says: </a:t>
            </a:r>
            <a:r>
              <a:rPr lang="en-US" sz="2000" b="1" i="0" dirty="0">
                <a:solidFill>
                  <a:srgbClr val="353638"/>
                </a:solidFill>
                <a:latin typeface="Calibri"/>
              </a:rPr>
              <a:t>T</a:t>
            </a:r>
            <a:r>
              <a:rPr sz="2000" b="1" i="0" dirty="0">
                <a:solidFill>
                  <a:srgbClr val="353638"/>
                </a:solidFill>
                <a:latin typeface="Calibri"/>
              </a:rPr>
              <a:t>hat may not be what we want.</a:t>
            </a:r>
            <a:endParaRPr lang="en-US" sz="2000" b="1" dirty="0">
              <a:solidFill>
                <a:srgbClr val="353638"/>
              </a:solidFill>
              <a:latin typeface="Calibri"/>
            </a:endParaRPr>
          </a:p>
          <a:p>
            <a:pPr algn="ctr">
              <a:lnSpc>
                <a:spcPct val="120000"/>
              </a:lnSpc>
            </a:pPr>
            <a:r>
              <a:rPr lang="en-US" sz="3200" i="0" dirty="0">
                <a:solidFill>
                  <a:srgbClr val="353638"/>
                </a:solidFill>
                <a:latin typeface="Calibri"/>
              </a:rPr>
              <a:t>Why not?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10</a:t>
            </a:r>
          </a:p>
        </p:txBody>
      </p:sp>
      <p:pic>
        <p:nvPicPr>
          <p:cNvPr id="18" name="Picture 17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DE28E8F-D519-1022-0A02-B7BC91FEE490}"/>
              </a:ext>
            </a:extLst>
          </p:cNvPr>
          <p:cNvSpPr txBox="1"/>
          <p:nvPr/>
        </p:nvSpPr>
        <p:spPr>
          <a:xfrm>
            <a:off x="5597434" y="1408289"/>
            <a:ext cx="242969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1" i="0" spc="50" dirty="0">
                <a:solidFill>
                  <a:srgbClr val="8E6F3E"/>
                </a:solidFill>
                <a:latin typeface="Calibri"/>
              </a:rPr>
              <a:t>And what it does not?</a:t>
            </a:r>
            <a:endParaRPr sz="1800" b="1" i="0" spc="50" dirty="0">
              <a:solidFill>
                <a:srgbClr val="8E6F3E"/>
              </a:solidFill>
              <a:latin typeface="Calibri"/>
            </a:endParaRPr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B250A4C1-5F83-8DBE-7C58-45A7F644A478}"/>
              </a:ext>
            </a:extLst>
          </p:cNvPr>
          <p:cNvSpPr/>
          <p:nvPr/>
        </p:nvSpPr>
        <p:spPr>
          <a:xfrm>
            <a:off x="3931921" y="3814354"/>
            <a:ext cx="705393" cy="1476103"/>
          </a:xfrm>
          <a:custGeom>
            <a:avLst/>
            <a:gdLst>
              <a:gd name="csX0" fmla="*/ 705393 w 705393"/>
              <a:gd name="csY0" fmla="*/ 0 h 1476103"/>
              <a:gd name="csX1" fmla="*/ 248193 w 705393"/>
              <a:gd name="csY1" fmla="*/ 169817 h 1476103"/>
              <a:gd name="csX2" fmla="*/ 26125 w 705393"/>
              <a:gd name="csY2" fmla="*/ 836023 h 1476103"/>
              <a:gd name="csX3" fmla="*/ 13062 w 705393"/>
              <a:gd name="csY3" fmla="*/ 1476103 h 14761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05393" h="1476103">
                <a:moveTo>
                  <a:pt x="705393" y="0"/>
                </a:moveTo>
                <a:cubicBezTo>
                  <a:pt x="533398" y="15240"/>
                  <a:pt x="361404" y="30480"/>
                  <a:pt x="248193" y="169817"/>
                </a:cubicBezTo>
                <a:cubicBezTo>
                  <a:pt x="134982" y="309154"/>
                  <a:pt x="65313" y="618309"/>
                  <a:pt x="26125" y="836023"/>
                </a:cubicBezTo>
                <a:cubicBezTo>
                  <a:pt x="-13063" y="1053737"/>
                  <a:pt x="-1" y="1264920"/>
                  <a:pt x="13062" y="1476103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/>
      <p:bldP spid="19" grpId="0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Generate, delegate, or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26517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purposeful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737360"/>
            <a:ext cx="2103120" cy="3108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  <a:latin typeface="Calibri"/>
              </a:rPr>
              <a:t>obligations + freedom</a:t>
            </a:r>
          </a:p>
        </p:txBody>
      </p:sp>
      <p:sp>
        <p:nvSpPr>
          <p:cNvPr id="6" name="Down Arrow 5"/>
          <p:cNvSpPr/>
          <p:nvPr/>
        </p:nvSpPr>
        <p:spPr>
          <a:xfrm>
            <a:off x="1783080" y="1691640"/>
            <a:ext cx="182880" cy="365760"/>
          </a:xfrm>
          <a:prstGeom prst="down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2651760" cy="548640"/>
          </a:xfrm>
          <a:prstGeom prst="rect">
            <a:avLst/>
          </a:prstGeom>
          <a:solidFill>
            <a:srgbClr val="F5F1E8"/>
          </a:solidFill>
          <a:ln w="15875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743200"/>
            <a:ext cx="2103120" cy="3108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  <a:latin typeface="Calibri"/>
              </a:rPr>
              <a:t>realization choices</a:t>
            </a:r>
          </a:p>
        </p:txBody>
      </p:sp>
      <p:sp>
        <p:nvSpPr>
          <p:cNvPr id="9" name="Down Arrow 8"/>
          <p:cNvSpPr/>
          <p:nvPr/>
        </p:nvSpPr>
        <p:spPr>
          <a:xfrm>
            <a:off x="1783080" y="2697480"/>
            <a:ext cx="182880" cy="365760"/>
          </a:xfrm>
          <a:prstGeom prst="down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3108960"/>
            <a:ext cx="2651760" cy="5486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353638"/>
                </a:solidFill>
                <a:latin typeface="Calibri"/>
              </a:rPr>
              <a:t>implementation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886200"/>
            <a:ext cx="3977639" cy="1191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 dirty="0"/>
              <a:t>Traditional generator</a:t>
            </a:r>
            <a:r>
              <a:rPr sz="1800" b="0" i="0" dirty="0"/>
              <a:t>: specify enough to determine the transformation.</a:t>
            </a:r>
          </a:p>
          <a:p>
            <a:r>
              <a:rPr sz="1800" b="1" i="0" dirty="0"/>
              <a:t>Agentic </a:t>
            </a:r>
            <a:r>
              <a:rPr lang="en-US" sz="1800" b="1" i="0" dirty="0"/>
              <a:t>generator</a:t>
            </a:r>
            <a:r>
              <a:rPr sz="1800" b="0" i="0" dirty="0"/>
              <a:t>: specify what matters; delegate the rest.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09160" y="1097280"/>
            <a:ext cx="2103120" cy="4572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Kind of decision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12280" y="1097280"/>
            <a:ext cx="1828800" cy="4572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Response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1554480"/>
            <a:ext cx="2103120" cy="65836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>
              <a:lnSpc>
                <a:spcPct val="95000"/>
              </a:lnSpc>
            </a:pPr>
            <a:r>
              <a:rPr sz="1800" b="0" i="0" dirty="0">
                <a:solidFill>
                  <a:srgbClr val="353638"/>
                </a:solidFill>
                <a:latin typeface="Calibri"/>
              </a:rPr>
              <a:t>Mechanically determined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12280" y="1554480"/>
            <a:ext cx="1828800" cy="65836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Generate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09160" y="2212848"/>
            <a:ext cx="2103120" cy="658368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>
              <a:lnSpc>
                <a:spcPct val="95000"/>
              </a:lnSpc>
            </a:pPr>
            <a:r>
              <a:rPr sz="1800" b="0" i="0" dirty="0">
                <a:solidFill>
                  <a:srgbClr val="353638"/>
                </a:solidFill>
                <a:latin typeface="Calibri"/>
              </a:rPr>
              <a:t>Open within modeled obligations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2212848"/>
            <a:ext cx="1828800" cy="658368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Delegate 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09160" y="2871215"/>
            <a:ext cx="2103120" cy="65836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>
              <a:lnSpc>
                <a:spcPct val="95000"/>
              </a:lnSpc>
            </a:pPr>
            <a:r>
              <a:rPr sz="1800" b="0" i="0" dirty="0">
                <a:solidFill>
                  <a:srgbClr val="353638"/>
                </a:solidFill>
                <a:latin typeface="Calibri"/>
              </a:rPr>
              <a:t>Recurring and consequential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12280" y="2871215"/>
            <a:ext cx="1828800" cy="65836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Consider modeling 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257800"/>
            <a:ext cx="804672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5376672"/>
            <a:ext cx="7498079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E6F3E"/>
                </a:solidFill>
              </a:rPr>
              <a:t>MODEL:</a:t>
            </a:r>
            <a:r>
              <a:rPr sz="1800" b="0"/>
              <a:t> what matters · obligations · properties</a:t>
            </a:r>
          </a:p>
          <a:p>
            <a:r>
              <a:rPr sz="1800" b="1">
                <a:solidFill>
                  <a:srgbClr val="8E6F3E"/>
                </a:solidFill>
              </a:rPr>
              <a:t>IMPLEMENTATION:</a:t>
            </a:r>
            <a:r>
              <a:rPr sz="1800" b="0"/>
              <a:t> one realization · many further decisions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model is not another implementation.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11</a:t>
            </a:r>
          </a:p>
        </p:txBody>
      </p:sp>
      <p:pic>
        <p:nvPicPr>
          <p:cNvPr id="25" name="Picture 24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91F22-F1C8-679F-4AC4-CE7453658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>
            <a:extLst>
              <a:ext uri="{FF2B5EF4-FFF2-40B4-BE49-F238E27FC236}">
                <a16:creationId xmlns:a16="http://schemas.microsoft.com/office/drawing/2014/main" id="{FD631580-CBAF-720B-62CE-F15C904DF9BA}"/>
              </a:ext>
            </a:extLst>
          </p:cNvPr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3 – Lab setup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4A5DE4-521B-045A-B6C2-FA8A41C18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Working with Semantic Models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AEE7A943-9774-526A-7882-AED3113BAA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>
            <a:extLst>
              <a:ext uri="{FF2B5EF4-FFF2-40B4-BE49-F238E27FC236}">
                <a16:creationId xmlns:a16="http://schemas.microsoft.com/office/drawing/2014/main" id="{C0020A40-032C-F7E5-1C56-F150FF7B9B7E}"/>
              </a:ext>
            </a:extLst>
          </p:cNvPr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is it like to engineer with one?</a:t>
            </a:r>
          </a:p>
        </p:txBody>
      </p:sp>
      <p:sp>
        <p:nvSpPr>
          <p:cNvPr id="103" name="Rule">
            <a:extLst>
              <a:ext uri="{FF2B5EF4-FFF2-40B4-BE49-F238E27FC236}">
                <a16:creationId xmlns:a16="http://schemas.microsoft.com/office/drawing/2014/main" id="{AC08E601-E9FB-82FE-948D-0DD060527481}"/>
              </a:ext>
            </a:extLst>
          </p:cNvPr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493298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The MAGE Workbench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4" name="Picture 3" descr="wb-slide12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914400"/>
            <a:ext cx="7863840" cy="4406208"/>
          </a:xfrm>
          <a:prstGeom prst="rect">
            <a:avLst/>
          </a:prstGeom>
          <a:ln w="12700">
            <a:solidFill>
              <a:srgbClr val="C9B991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40080" y="5577840"/>
            <a:ext cx="7863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8E6F3E"/>
                </a:solidFill>
                <a:latin typeface="Consolas"/>
              </a:rPr>
              <a:t>davisjam.github.io/model-based-agentic-software-engineering/workbench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6007607"/>
            <a:ext cx="8503920" cy="55778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Models · saved questions · evidence · an agent API — one-minute orientation, then we start from a question.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12</a:t>
            </a:r>
          </a:p>
        </p:txBody>
      </p:sp>
      <p:pic>
        <p:nvPicPr>
          <p:cNvPr id="8" name="Picture 7" descr="imag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Ask the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80467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1">
                <a:solidFill>
                  <a:srgbClr val="5C4826"/>
                </a:solidFill>
                <a:latin typeface="Calibri"/>
              </a:rPr>
              <a:t>Does this configuration fit within its memory budget?</a:t>
            </a:r>
          </a:p>
        </p:txBody>
      </p:sp>
      <p:pic>
        <p:nvPicPr>
          <p:cNvPr id="5" name="Picture 4" descr="wb-memtable-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5486400" cy="2670829"/>
          </a:xfrm>
          <a:prstGeom prst="rect">
            <a:avLst/>
          </a:prstGeom>
          <a:ln w="12700">
            <a:solidFill>
              <a:srgbClr val="C9B991"/>
            </a:solidFill>
          </a:ln>
        </p:spPr>
      </p:pic>
      <p:pic>
        <p:nvPicPr>
          <p:cNvPr id="6" name="Picture 5" descr="wb-evidence-p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371600"/>
            <a:ext cx="2240280" cy="3765577"/>
          </a:xfrm>
          <a:prstGeom prst="rect">
            <a:avLst/>
          </a:prstGeom>
          <a:ln w="12700">
            <a:solidFill>
              <a:srgbClr val="C9B99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48640" y="4160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  <a:latin typeface="Calibri"/>
              </a:rPr>
              <a:t>the saved question, run deterministically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5440680"/>
            <a:ext cx="22860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i="0"/>
              <a:t>the verdict carries its evidence:</a:t>
            </a:r>
          </a:p>
          <a:p>
            <a:r>
              <a:rPr sz="1800" i="0"/>
              <a:t>which models it derives from,</a:t>
            </a:r>
          </a:p>
          <a:p>
            <a:r>
              <a:rPr sz="1800" i="0"/>
              <a:t>what the analysis exhausts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709160"/>
            <a:ext cx="132588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model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920239" y="4846320"/>
            <a:ext cx="274320" cy="182880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240280" y="4709160"/>
            <a:ext cx="1828800" cy="55778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semantic machinery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4846320"/>
            <a:ext cx="274320" cy="182880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34840" y="4709160"/>
            <a:ext cx="132588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349240"/>
            <a:ext cx="5394960" cy="740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5C4826"/>
                </a:solidFill>
                <a:latin typeface="Calibri"/>
              </a:rPr>
              <a:t>No LLM required. </a:t>
            </a:r>
            <a:r>
              <a:rPr sz="1800" b="0" i="0">
                <a:solidFill>
                  <a:srgbClr val="353638"/>
                </a:solidFill>
                <a:latin typeface="Calibri"/>
              </a:rPr>
              <a:t>Elements, relations, and quantities have
declared semantics; the answer is computed, with provenance.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232 KB of 256 KB — 24 KB of margin. The answer arrives with its evidence.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13</a:t>
            </a:r>
          </a:p>
        </p:txBody>
      </p:sp>
      <p:pic>
        <p:nvPicPr>
          <p:cNvPr id="17" name="Picture 16" descr="imag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Ask through an agent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1">
                <a:solidFill>
                  <a:srgbClr val="5C4826"/>
                </a:solidFill>
                <a:latin typeface="Calibri"/>
              </a:rPr>
              <a:t>“What is consuming memory on the sensor node?”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905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i="0"/>
              <a:t>Interacting with models can be tedious: navigate the model, select the operation,</a:t>
            </a:r>
          </a:p>
          <a:p>
            <a:r>
              <a:rPr sz="1800" i="0"/>
              <a:t>formulate the query. An agent can mediate that interaction.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2331720"/>
            <a:ext cx="192024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Engineer</a:t>
            </a:r>
          </a:p>
        </p:txBody>
      </p:sp>
      <p:sp>
        <p:nvSpPr>
          <p:cNvPr id="7" name="Down Arrow 6"/>
          <p:cNvSpPr/>
          <p:nvPr/>
        </p:nvSpPr>
        <p:spPr>
          <a:xfrm>
            <a:off x="2057400" y="2807208"/>
            <a:ext cx="164592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331720" y="2843784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  <a:latin typeface="Calibri"/>
              </a:rPr>
              <a:t>question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3063239"/>
            <a:ext cx="192024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Agent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057400" y="3538727"/>
            <a:ext cx="164592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331720" y="3575303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  <a:latin typeface="Calibri"/>
              </a:rPr>
              <a:t>model operations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3794759"/>
            <a:ext cx="1920240" cy="4572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2057400" y="4270248"/>
            <a:ext cx="164592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331720" y="4306823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  <a:latin typeface="Calibri"/>
              </a:rPr>
              <a:t>semantic result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4526279"/>
            <a:ext cx="192024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Agent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057400" y="5001767"/>
            <a:ext cx="164592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31720" y="5038344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  <a:latin typeface="Calibri"/>
              </a:rPr>
              <a:t>explanation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88720" y="5257799"/>
            <a:ext cx="192024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Engineer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46320" y="2331720"/>
            <a:ext cx="3749039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74920" y="248716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60">
                <a:solidFill>
                  <a:srgbClr val="8E6F3E"/>
                </a:solidFill>
                <a:latin typeface="Calibri"/>
              </a:rPr>
              <a:t>THE AGENT SURFACE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816352"/>
            <a:ext cx="329184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C4826"/>
                </a:solidFill>
                <a:latin typeface="Consolas"/>
              </a:rPr>
              <a:t>window.mage</a:t>
            </a:r>
            <a:r>
              <a:rPr sz="1800" b="0" i="0">
                <a:solidFill>
                  <a:srgbClr val="353638"/>
                </a:solidFill>
                <a:latin typeface="Calibri"/>
              </a:rPr>
              <a:t> — the Workbench exposes
the model to agents: typed operations,
questions, evidence.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4069080"/>
            <a:ext cx="3749039" cy="1691640"/>
          </a:xfrm>
          <a:prstGeom prst="rect">
            <a:avLst/>
          </a:prstGeom>
          <a:solidFill>
            <a:srgbClr val="F5F1E8"/>
          </a:solidFill>
          <a:ln w="15875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74920" y="422452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60">
                <a:solidFill>
                  <a:srgbClr val="8E6F3E"/>
                </a:solidFill>
                <a:latin typeface="Calibri"/>
              </a:rPr>
              <a:t>THE KEY DISTINCTION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20" y="4572000"/>
            <a:ext cx="3291840" cy="1394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5C4826"/>
                </a:solidFill>
                <a:latin typeface="Calibri"/>
              </a:rPr>
              <a:t>The agent helps interpret the question</a:t>
            </a:r>
          </a:p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5C4826"/>
                </a:solidFill>
                <a:latin typeface="Calibri"/>
              </a:rPr>
              <a:t>and operate on the model.</a:t>
            </a:r>
          </a:p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5C4826"/>
                </a:solidFill>
                <a:latin typeface="Calibri"/>
              </a:rPr>
              <a:t>It need not invent the engineering facts.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Natural questions in — the model's semantics still produce the facts.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14</a:t>
            </a:r>
          </a:p>
        </p:txBody>
      </p:sp>
      <p:pic>
        <p:nvPicPr>
          <p:cNvPr id="27" name="Picture 26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Lab: model → query → revise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589520" y="201168"/>
            <a:ext cx="1234440" cy="43891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LAB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411480" cy="4114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51560"/>
            <a:ext cx="457200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353638"/>
                </a:solidFill>
                <a:latin typeface="Calibri"/>
              </a:rPr>
              <a:t>Determine current memory consumption and margin.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411480" cy="4114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60020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353638"/>
                </a:solidFill>
                <a:latin typeface="Calibri"/>
              </a:rPr>
              <a:t>Identify the largest consumers.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411480" cy="4114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4884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353638"/>
                </a:solidFill>
                <a:latin typeface="Calibri"/>
              </a:rPr>
              <a:t>Double the telemetry queue.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97480"/>
            <a:ext cx="411480" cy="4114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9748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353638"/>
                </a:solidFill>
                <a:latin typeface="Calibri"/>
              </a:rPr>
              <a:t>Re-evaluate the budget requirement.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46120"/>
            <a:ext cx="411480" cy="4114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24612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353638"/>
                </a:solidFill>
                <a:latin typeface="Calibri"/>
              </a:rPr>
              <a:t>Restore a margin of at least 20%.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77639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1">
                <a:solidFill>
                  <a:srgbClr val="5C4826"/>
                </a:solidFill>
                <a:latin typeface="Calibri"/>
              </a:rPr>
              <a:t>Tasks, not UI instructions.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343400"/>
            <a:ext cx="5029200" cy="1673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Use whichever surface you prefer: 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• run the saved questions and read the evidence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• edit in the workspace, or via the agent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• ask the agent — then check it against the model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23560" y="1051560"/>
            <a:ext cx="2971800" cy="4846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806440" y="1188720"/>
            <a:ext cx="2606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/>
              <a:t>WHAT THE MODEL DECLARES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1920240"/>
            <a:ext cx="2606040" cy="41696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 i="0"/>
              <a:t>budget: 256 KiB of SRAM</a:t>
            </a:r>
          </a:p>
          <a:p>
            <a:r>
              <a:rPr sz="1800" b="1" i="0"/>
              <a:t>total: 232 KB → 24 KB margin</a:t>
            </a:r>
          </a:p>
          <a:p>
            <a:r>
              <a:rPr sz="1800" b="1" i="0"/>
              <a:t>pinned: “fits in the 256 KiB SRAM budget”</a:t>
            </a:r>
          </a:p>
          <a:p>
            <a:endParaRPr sz="1800" b="1" i="0"/>
          </a:p>
          <a:p>
            <a:r>
              <a:rPr sz="1800" b="0" i="0"/>
              <a:t>doubling telemetry (32 → 64 KB) → 264 KB: fails by 8 KB</a:t>
            </a:r>
          </a:p>
          <a:p>
            <a:endParaRPr sz="1800" b="0" i="0"/>
          </a:p>
          <a:p>
            <a:r>
              <a:rPr sz="1800" b="0" i="0"/>
              <a:t>a ≥20% margin needs ≤ 204.8 KB — several changes achieve it, several near-misses do not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search is the design activity, not a lookup.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15</a:t>
            </a:r>
          </a:p>
        </p:txBody>
      </p:sp>
      <p:pic>
        <p:nvPicPr>
          <p:cNvPr id="22" name="Picture 21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What can’t the model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1">
                <a:solidFill>
                  <a:srgbClr val="5C4826"/>
                </a:solidFill>
                <a:latin typeface="Calibri"/>
              </a:rPr>
              <a:t>What is peak SRAM consumption?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8046720" cy="1965960"/>
          </a:xfrm>
          <a:prstGeom prst="rect">
            <a:avLst/>
          </a:prstGeom>
          <a:solidFill>
            <a:srgbClr val="F5F1E8"/>
          </a:solidFill>
          <a:ln w="15875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664208"/>
            <a:ext cx="7406640" cy="20299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1">
                <a:solidFill>
                  <a:srgbClr val="5C4826"/>
                </a:solidFill>
                <a:latin typeface="Calibri"/>
              </a:rPr>
              <a:t>“It answers ‘what if everything is live at once’, and it cannot answer ‘is everything live at once’. The second question needs operating modes — Sleeping, Sampling, Inferring, Transmitting — and resource lifetimes tied to them … That is the earned transition to Behavior, and it is deliberately not in this file.”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55960"/>
                </a:solidFill>
                <a:latin typeface="Calibri"/>
              </a:rPr>
              <a:t>— the shipped model's own header, embedded-sensor-node/system.mage.yaml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046720" cy="10881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5C4826"/>
                </a:solidFill>
                <a:latin typeface="Calibri"/>
              </a:rPr>
              <a:t>More prompting cannot create missing engineering knowledge. 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The agent can navigate, infer, or propose — but if the answer needs distinctions the purposeful
model does not preserve, stronger prompting does not repair the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92040"/>
            <a:ext cx="804672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8E6F3E"/>
                </a:solidFill>
                <a:latin typeface="Calibri"/>
              </a:rPr>
              <a:t>Lab closing question: </a:t>
            </a:r>
            <a:r>
              <a:rPr sz="1800" b="0" i="1">
                <a:solidFill>
                  <a:srgbClr val="353638"/>
                </a:solidFill>
                <a:latin typeface="Calibri"/>
              </a:rPr>
              <a:t>what would we need to add to make this question answerable?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55960"/>
                </a:solidFill>
                <a:latin typeface="Calibri"/>
              </a:rPr>
              <a:t>— exactly Lecture 1's judgment: which distinctions must the model preserve, and at what cost?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model states its own boundary — an omission declared on its purpose.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16</a:t>
            </a:r>
          </a:p>
        </p:txBody>
      </p:sp>
      <p:pic>
        <p:nvPicPr>
          <p:cNvPr id="11" name="Picture 10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9144000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7680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 spc="200">
                <a:solidFill>
                  <a:srgbClr val="555960"/>
                </a:solidFill>
                <a:latin typeface="Calibri"/>
              </a:rPr>
              <a:t>END OF THE CORE 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5C4826"/>
                </a:solidFill>
                <a:latin typeface="Calibri"/>
              </a:rPr>
              <a:t>Modeling makes knowledge explicit.</a:t>
            </a:r>
          </a:p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5C4826"/>
                </a:solidFill>
                <a:latin typeface="Calibri"/>
              </a:rPr>
              <a:t>Alignment gives it consequence.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14600"/>
            <a:ext cx="7680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1">
                <a:solidFill>
                  <a:srgbClr val="353638"/>
                </a:solidFill>
                <a:latin typeface="Calibri"/>
              </a:rPr>
              <a:t>The model says the margin stays above 20%.</a:t>
            </a:r>
          </a:p>
          <a:p>
            <a:pPr algn="ctr">
              <a:lnSpc>
                <a:spcPct val="115000"/>
              </a:lnSpc>
            </a:pPr>
            <a:r>
              <a:rPr sz="2000" b="0" i="1">
                <a:solidFill>
                  <a:srgbClr val="353638"/>
                </a:solidFill>
                <a:latin typeface="Calibri"/>
              </a:rPr>
              <a:t>Next lecture: what happens when reality disagrees?</a:t>
            </a:r>
          </a:p>
        </p:txBody>
      </p:sp>
      <p:sp>
        <p:nvSpPr>
          <p:cNvPr id="8" name="Rectangle 7"/>
          <p:cNvSpPr/>
          <p:nvPr/>
        </p:nvSpPr>
        <p:spPr>
          <a:xfrm>
            <a:off x="1463040" y="3383280"/>
            <a:ext cx="6217920" cy="3657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566160" y="3703320"/>
            <a:ext cx="201168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OPTIONAL · REFERENCE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7680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353638"/>
                </a:solidFill>
                <a:latin typeface="Calibri"/>
              </a:rPr>
              <a:t>Section 4 — Reasoning with SysML and KerML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983480"/>
            <a:ext cx="6949440" cy="1394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The sensor node named what it was missing: operating modes.</a:t>
            </a:r>
          </a:p>
          <a:p>
            <a:pPr algn="ctr">
              <a:lnSpc>
                <a:spcPct val="125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These six slides take a sibling system where modes, flow, and quantities are modeled —</a:t>
            </a:r>
          </a:p>
          <a:p>
            <a:pPr algn="ctr">
              <a:lnSpc>
                <a:spcPct val="125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and show what the stronger semantics let us derive. Not “SysML 101.”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41080" y="6419088"/>
            <a:ext cx="365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A sensing system — behavior and resources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5257800" cy="3931920"/>
          </a:xfrm>
          <a:prstGeom prst="rect">
            <a:avLst/>
          </a:prstGeom>
          <a:solidFill>
            <a:srgbClr val="2B2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207008"/>
            <a:ext cx="4892040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>
                <a:solidFill>
                  <a:srgbClr val="ECE2D0"/>
                </a:solidFill>
                <a:latin typeface="Consolas"/>
              </a:rPr>
              <a:t>part def SensorNode {</a:t>
            </a:r>
          </a:p>
          <a:p>
            <a:r>
              <a:rPr sz="1800">
                <a:solidFill>
                  <a:srgbClr val="ECE2D0"/>
                </a:solidFill>
                <a:latin typeface="Consolas"/>
              </a:rPr>
              <a:t>  attribute samplingPeriod = 5 [s];</a:t>
            </a:r>
          </a:p>
          <a:p>
            <a:r>
              <a:rPr sz="1800">
                <a:solidFill>
                  <a:srgbClr val="ECE2D0"/>
                </a:solidFill>
                <a:latin typeface="Consolas"/>
              </a:rPr>
              <a:t>  attribute sampleSize = 512 [B];</a:t>
            </a:r>
          </a:p>
          <a:p>
            <a:r>
              <a:rPr sz="1800">
                <a:solidFill>
                  <a:srgbClr val="ECE2D0"/>
                </a:solidFill>
                <a:latin typeface="Consolas"/>
              </a:rPr>
              <a:t>  attribute bufferCap = 4096 [B];</a:t>
            </a:r>
          </a:p>
          <a:p>
            <a:r>
              <a:rPr sz="1800">
                <a:solidFill>
                  <a:srgbClr val="ECE2D0"/>
                </a:solidFill>
                <a:latin typeface="Consolas"/>
              </a:rPr>
              <a:t>  attribute radioRate = 4096 [B/s];</a:t>
            </a:r>
          </a:p>
          <a:p>
            <a:r>
              <a:rPr sz="1800">
                <a:solidFill>
                  <a:srgbClr val="ECE2D0"/>
                </a:solidFill>
                <a:latin typeface="Consolas"/>
              </a:rPr>
              <a:t>  attribute txPeriod = 30 [s];</a:t>
            </a:r>
          </a:p>
          <a:p>
            <a:endParaRPr sz="1800">
              <a:solidFill>
                <a:srgbClr val="ECE2D0"/>
              </a:solidFill>
              <a:latin typeface="Consolas"/>
            </a:endParaRPr>
          </a:p>
          <a:p>
            <a:r>
              <a:rPr sz="1800">
                <a:solidFill>
                  <a:srgbClr val="ECE2D0"/>
                </a:solidFill>
                <a:latin typeface="Consolas"/>
              </a:rPr>
              <a:t>  state def Modes { … }</a:t>
            </a:r>
          </a:p>
          <a:p>
            <a:r>
              <a:rPr sz="1800">
                <a:solidFill>
                  <a:srgbClr val="ECE2D0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4297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/>
              <a:t>SysML v2 textual notation — excerpt, abridged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005840"/>
            <a:ext cx="2651760" cy="3931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26480" y="1170432"/>
            <a:ext cx="2331720" cy="3108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50">
                <a:solidFill>
                  <a:srgbClr val="8E6F3E"/>
                </a:solidFill>
                <a:latin typeface="Calibri"/>
              </a:rPr>
              <a:t>ONE RICHER EMBEDDED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536192"/>
            <a:ext cx="233172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/>
              <a:t>modes</a:t>
            </a:r>
          </a:p>
          <a:p>
            <a:r>
              <a:rPr sz="1800"/>
              <a:t>  Sleep / Sample / Transmit</a:t>
            </a:r>
          </a:p>
          <a:p>
            <a:r>
              <a:rPr sz="1800"/>
              <a:t>sampling  5 s</a:t>
            </a:r>
          </a:p>
          <a:p>
            <a:r>
              <a:rPr sz="1800"/>
              <a:t>sample  512 B</a:t>
            </a:r>
          </a:p>
          <a:p>
            <a:r>
              <a:rPr sz="1800"/>
              <a:t>buffer  4 KiB = 8</a:t>
            </a:r>
          </a:p>
          <a:p>
            <a:r>
              <a:rPr sz="1800"/>
              <a:t>radio  4 KiB/s</a:t>
            </a:r>
          </a:p>
          <a:p>
            <a:r>
              <a:rPr sz="1800"/>
              <a:t>tx timer  30 s</a:t>
            </a:r>
          </a:p>
          <a:p>
            <a:r>
              <a:rPr sz="1800"/>
              <a:t>power  0.1 / 5 / 60 mW</a:t>
            </a:r>
          </a:p>
          <a:p>
            <a:r>
              <a:rPr sz="1800"/>
              <a:t>avg power ≤ 2 mW</a:t>
            </a:r>
          </a:p>
          <a:p>
            <a:r>
              <a:rPr sz="1800"/>
              <a:t>no buffer overflow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9496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/>
              <a:t>Exactly the distinctions the sensor node declared as omissions:</a:t>
            </a:r>
          </a:p>
          <a:p>
            <a:r>
              <a:rPr sz="1800"/>
              <a:t>operating modes, and resource lifetimes tied to them.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6007607"/>
            <a:ext cx="8503920" cy="55778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Enough SysML to establish the actual model — the constructs earn their keep on the next slides.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18</a:t>
            </a:r>
          </a:p>
        </p:txBody>
      </p:sp>
      <p:pic>
        <p:nvPicPr>
          <p:cNvPr id="13" name="Picture 12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Can the buffer overflow?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804672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7498079" cy="8366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8E6F3E"/>
                </a:solidFill>
                <a:latin typeface="Calibri"/>
              </a:rPr>
              <a:t>Given:  </a:t>
            </a:r>
            <a:r>
              <a:rPr sz="1800" b="0" i="0">
                <a:solidFill>
                  <a:srgbClr val="353638"/>
                </a:solidFill>
                <a:latin typeface="Consolas"/>
              </a:rPr>
              <a:t>avg production rate (512 B / 5 s ≈ 102 B/s)  &lt;  radio throughput (4096 B/s)</a:t>
            </a:r>
          </a:p>
          <a:p>
            <a:pPr algn="l">
              <a:lnSpc>
                <a:spcPct val="135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Locally plausible: “then it cannot overflow.”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743200"/>
            <a:ext cx="1554480" cy="640080"/>
          </a:xfrm>
          <a:prstGeom prst="rect">
            <a:avLst/>
          </a:prstGeom>
          <a:solidFill>
            <a:srgbClr val="FBF8F2"/>
          </a:solidFill>
          <a:ln w="15875">
            <a:solidFill>
              <a:srgbClr val="5C4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5C4826"/>
                </a:solidFill>
                <a:latin typeface="Calibri"/>
              </a:rPr>
              <a:t>Sleep</a:t>
            </a:r>
          </a:p>
        </p:txBody>
      </p:sp>
      <p:sp>
        <p:nvSpPr>
          <p:cNvPr id="7" name="Rectangle 6"/>
          <p:cNvSpPr/>
          <p:nvPr/>
        </p:nvSpPr>
        <p:spPr>
          <a:xfrm>
            <a:off x="3749039" y="2743200"/>
            <a:ext cx="1554480" cy="640080"/>
          </a:xfrm>
          <a:prstGeom prst="rect">
            <a:avLst/>
          </a:prstGeom>
          <a:solidFill>
            <a:srgbClr val="FBF8F2"/>
          </a:solidFill>
          <a:ln w="15875">
            <a:solidFill>
              <a:srgbClr val="5C4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5C4826"/>
                </a:solidFill>
                <a:latin typeface="Calibri"/>
              </a:rPr>
              <a:t>Sample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0" y="2743200"/>
            <a:ext cx="155448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Transmit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77440" y="2926080"/>
            <a:ext cx="1371599" cy="0"/>
          </a:xfrm>
          <a:prstGeom prst="line">
            <a:avLst/>
          </a:prstGeom>
          <a:ln w="1905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68880" y="2670048"/>
            <a:ext cx="1280160" cy="557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  <a:latin typeface="Calibri"/>
              </a:rPr>
              <a:t>sample timer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377440" y="3246120"/>
            <a:ext cx="1371599" cy="0"/>
          </a:xfrm>
          <a:prstGeom prst="line">
            <a:avLst/>
          </a:prstGeom>
          <a:ln w="1905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468880" y="3310128"/>
            <a:ext cx="12801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  <a:latin typeface="Calibri"/>
              </a:rPr>
              <a:t>done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303520" y="2926080"/>
            <a:ext cx="1371600" cy="0"/>
          </a:xfrm>
          <a:prstGeom prst="line">
            <a:avLst/>
          </a:prstGeom>
          <a:ln w="25400">
            <a:solidFill>
              <a:srgbClr val="C810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349240" y="2670048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1">
                <a:solidFill>
                  <a:srgbClr val="C8102E"/>
                </a:solidFill>
                <a:latin typeface="Calibri"/>
              </a:rPr>
              <a:t>buffer full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00200" y="3401568"/>
            <a:ext cx="0" cy="393192"/>
          </a:xfrm>
          <a:prstGeom prst="line">
            <a:avLst/>
          </a:prstGeom>
          <a:ln w="19050">
            <a:solidFill>
              <a:srgbClr val="5C48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600200" y="3794760"/>
            <a:ext cx="5852160" cy="0"/>
          </a:xfrm>
          <a:prstGeom prst="line">
            <a:avLst/>
          </a:prstGeom>
          <a:ln w="19050">
            <a:solidFill>
              <a:srgbClr val="5C48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7452360" y="3419856"/>
            <a:ext cx="0" cy="374904"/>
          </a:xfrm>
          <a:prstGeom prst="line">
            <a:avLst/>
          </a:prstGeom>
          <a:ln w="1905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566160" y="384048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  <a:latin typeface="Calibri"/>
              </a:rPr>
              <a:t>tx timer (30 s)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7452360" y="2359152"/>
            <a:ext cx="0" cy="365760"/>
          </a:xfrm>
          <a:prstGeom prst="line">
            <a:avLst/>
          </a:prstGeom>
          <a:ln w="19050">
            <a:solidFill>
              <a:srgbClr val="5C48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1600200" y="2359152"/>
            <a:ext cx="5852160" cy="0"/>
          </a:xfrm>
          <a:prstGeom prst="line">
            <a:avLst/>
          </a:prstGeom>
          <a:ln w="19050">
            <a:solidFill>
              <a:srgbClr val="5C48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600200" y="2359152"/>
            <a:ext cx="0" cy="365760"/>
          </a:xfrm>
          <a:prstGeom prst="line">
            <a:avLst/>
          </a:prstGeom>
          <a:ln w="1905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66160" y="2121408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  <a:latin typeface="Calibri"/>
              </a:rPr>
              <a:t>tx done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160520"/>
            <a:ext cx="7772400" cy="5577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  <a:latin typeface="Calibri"/>
              </a:rPr>
              <a:t>Sample produces data. Transmit consumes it. Modes draw different power.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617720"/>
            <a:ext cx="8046720" cy="12344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4773168"/>
            <a:ext cx="7498079" cy="1316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5C4826"/>
                </a:solidFill>
                <a:latin typeface="Calibri"/>
              </a:rPr>
              <a:t>Comparing the two rates cannot answer the question. </a:t>
            </a:r>
            <a:r>
              <a:rPr sz="1800" b="0" i="0">
                <a:solidFill>
                  <a:srgbClr val="353638"/>
                </a:solidFill>
                <a:latin typeface="Calibri"/>
              </a:rPr>
              <a:t>The radio drains the buffer only while
Transmit is active — transmission availability depends on state behavior, batching, and timing.</a:t>
            </a:r>
          </a:p>
          <a:p>
            <a:pPr algn="l">
              <a:lnSpc>
                <a:spcPct val="125000"/>
              </a:lnSpc>
            </a:pPr>
            <a:r>
              <a:rPr sz="1800" b="0" i="1">
                <a:solidFill>
                  <a:srgbClr val="8E6F3E"/>
                </a:solidFill>
                <a:latin typeface="Calibri"/>
              </a:rPr>
              <a:t>The honest answer needs behavior, flow, and quantity composed. That is the next slide.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6007607"/>
            <a:ext cx="8503920" cy="55778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A locally plausible conclusion can be wrong — now the semantics do real work.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19</a:t>
            </a:r>
          </a:p>
        </p:txBody>
      </p:sp>
      <p:pic>
        <p:nvPicPr>
          <p:cNvPr id="28" name="Picture 27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Behavior, flow, and quantity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41732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95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state</a:t>
            </a:r>
          </a:p>
          <a:p>
            <a:pPr algn="ctr">
              <a:lnSpc>
                <a:spcPct val="95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occurrences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75104" y="1207008"/>
            <a:ext cx="2377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  <a:latin typeface="Calibri"/>
              </a:rPr>
              <a:t>+</a:t>
            </a:r>
          </a:p>
        </p:txBody>
      </p:sp>
      <p:sp>
        <p:nvSpPr>
          <p:cNvPr id="6" name="Rectangle 5"/>
          <p:cNvSpPr/>
          <p:nvPr/>
        </p:nvSpPr>
        <p:spPr>
          <a:xfrm>
            <a:off x="2203704" y="1051560"/>
            <a:ext cx="141732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95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sample</a:t>
            </a:r>
          </a:p>
          <a:p>
            <a:pPr algn="ctr">
              <a:lnSpc>
                <a:spcPct val="95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30168" y="1207008"/>
            <a:ext cx="2377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  <a:latin typeface="Calibri"/>
              </a:rPr>
              <a:t>+</a:t>
            </a:r>
          </a:p>
        </p:txBody>
      </p:sp>
      <p:sp>
        <p:nvSpPr>
          <p:cNvPr id="8" name="Rectangle 7"/>
          <p:cNvSpPr/>
          <p:nvPr/>
        </p:nvSpPr>
        <p:spPr>
          <a:xfrm>
            <a:off x="3858768" y="1051560"/>
            <a:ext cx="141732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95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buffer</a:t>
            </a:r>
          </a:p>
          <a:p>
            <a:pPr algn="ctr">
              <a:lnSpc>
                <a:spcPct val="95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capacity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5232" y="1207008"/>
            <a:ext cx="2377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  <a:latin typeface="Calibri"/>
              </a:rPr>
              <a:t>+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13832" y="1051560"/>
            <a:ext cx="141732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95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transmission</a:t>
            </a:r>
          </a:p>
          <a:p>
            <a:pPr algn="ctr">
              <a:lnSpc>
                <a:spcPct val="95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behavior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0296" y="1207008"/>
            <a:ext cx="2377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  <a:latin typeface="Calibri"/>
              </a:rPr>
              <a:t>+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68896" y="1051560"/>
            <a:ext cx="141732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95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quantities</a:t>
            </a:r>
          </a:p>
          <a:p>
            <a:pPr algn="ctr">
              <a:lnSpc>
                <a:spcPct val="95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+ units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4434840" y="1783080"/>
            <a:ext cx="219456" cy="310896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063240" y="2176272"/>
            <a:ext cx="301752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the buffer property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971800"/>
            <a:ext cx="8503920" cy="2331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3127248"/>
            <a:ext cx="8046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60">
                <a:solidFill>
                  <a:srgbClr val="8E6F3E"/>
                </a:solidFill>
                <a:latin typeface="Calibri"/>
              </a:rPr>
              <a:t>THE BASELINE, DERIVED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456432"/>
            <a:ext cx="8046720" cy="23550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1">
                <a:latin typeface="Calibri"/>
              </a:rPr>
              <a:t>samples per cycle:  </a:t>
            </a:r>
            <a:r>
              <a:rPr sz="1800" b="0">
                <a:latin typeface="Consolas"/>
              </a:rPr>
              <a:t>30 s ÷ 5 s = 6  ≤  capacity 8  →  no overflow</a:t>
            </a:r>
          </a:p>
          <a:p>
            <a:r>
              <a:rPr sz="1800" b="1">
                <a:latin typeface="Calibri"/>
              </a:rPr>
              <a:t>transmit time:  </a:t>
            </a:r>
            <a:r>
              <a:rPr sz="1800" b="0">
                <a:latin typeface="Consolas"/>
              </a:rPr>
              <a:t>6 × 512 B ÷ 4096 B/s = 0.75 s</a:t>
            </a:r>
          </a:p>
          <a:p>
            <a:r>
              <a:rPr sz="1800" b="1">
                <a:latin typeface="Calibri"/>
              </a:rPr>
              <a:t>average power:  </a:t>
            </a:r>
            <a:r>
              <a:rPr sz="1800" b="0">
                <a:latin typeface="Consolas"/>
              </a:rPr>
              <a:t>(60·0.75 + 5·6·0.05 + 0.1·29.0) mW·s / 30 s</a:t>
            </a:r>
          </a:p>
          <a:p>
            <a:r>
              <a:rPr sz="1800" b="0">
                <a:latin typeface="Consolas"/>
              </a:rPr>
              <a:t>                    ≈ 1.65 mW  ≤  2 mW  ✓</a:t>
            </a:r>
          </a:p>
          <a:p>
            <a:endParaRPr sz="1800" b="0">
              <a:latin typeface="Consolas"/>
            </a:endParaRPr>
          </a:p>
          <a:p>
            <a:r>
              <a:rPr sz="1800">
                <a:latin typeface="Calibri"/>
              </a:rPr>
              <a:t>Every step is licensed by a declared quantity, unit, or state occurrence.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532120"/>
            <a:ext cx="8046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/>
              <a:t>Derived by hand from the model. No tool computed this verdict.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6007607"/>
            <a:ext cx="8503920" cy="55778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This is where SysML/KerML earns its keep: one property composed across three views.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20</a:t>
            </a:r>
          </a:p>
        </p:txBody>
      </p:sp>
      <p:pic>
        <p:nvPicPr>
          <p:cNvPr id="21" name="Picture 20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Change the sampling rate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  <a:latin typeface="Calibri"/>
              </a:rPr>
              <a:t>Perturbation: </a:t>
            </a:r>
            <a:r>
              <a:rPr sz="2000" b="0" i="0">
                <a:solidFill>
                  <a:srgbClr val="353638"/>
                </a:solidFill>
                <a:latin typeface="Calibri"/>
              </a:rPr>
              <a:t>sampling period 5 s → 2.5 s. 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98448"/>
            <a:ext cx="8046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  <a:latin typeface="Calibri"/>
              </a:rPr>
              <a:t>What changed?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931920" cy="27432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60">
                <a:solidFill>
                  <a:srgbClr val="8E6F3E"/>
                </a:solidFill>
                <a:latin typeface="Calibri"/>
              </a:rPr>
              <a:t>THE BUFFER PROPERTY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347472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353638"/>
                </a:solidFill>
                <a:latin typeface="Consolas"/>
              </a:rPr>
              <a:t>12 samples per cycle  &gt;  capacity 8</a:t>
            </a:r>
          </a:p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353638"/>
                </a:solidFill>
                <a:latin typeface="Calibri"/>
              </a:rPr>
              <a:t>Overflow? </a:t>
            </a:r>
            <a:r>
              <a:rPr sz="1800" b="1" i="0">
                <a:solidFill>
                  <a:srgbClr val="5C4826"/>
                </a:solidFill>
                <a:latin typeface="Calibri"/>
              </a:rPr>
              <a:t>No.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At the 8th sample the buffer-full
transition fires and Transmit
drains early.</a:t>
            </a:r>
          </a:p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5C4826"/>
                </a:solidFill>
                <a:latin typeface="Calibri"/>
              </a:rPr>
              <a:t>STILL HOLDS — because of
behavior, not arithmetic.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783080"/>
            <a:ext cx="3931920" cy="2743200"/>
          </a:xfrm>
          <a:prstGeom prst="rect">
            <a:avLst/>
          </a:prstGeom>
          <a:solidFill>
            <a:srgbClr val="FBF8F2"/>
          </a:solidFill>
          <a:ln w="15875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92040" y="192024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60">
                <a:solidFill>
                  <a:srgbClr val="C8102E"/>
                </a:solidFill>
                <a:latin typeface="Calibri"/>
              </a:rPr>
              <a:t>THE POWER REQUIREMENT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2286000"/>
            <a:ext cx="3474720" cy="2459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353638"/>
                </a:solidFill>
                <a:latin typeface="Consolas"/>
              </a:rPr>
              <a:t>transmit: 12 × 512 ÷ 4096 = 1.5 s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353638"/>
                </a:solidFill>
                <a:latin typeface="Consolas"/>
              </a:rPr>
              <a:t>avg ≈ (90 + 3.0 + 2.79) mJ / 30 s</a:t>
            </a:r>
          </a:p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353638"/>
                </a:solidFill>
                <a:latin typeface="Consolas"/>
              </a:rPr>
              <a:t>    ≈ 3.2 mW  &gt;  2 mW budget</a:t>
            </a:r>
          </a:p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C8102E"/>
                </a:solidFill>
                <a:latin typeface="Calibri"/>
              </a:rPr>
              <a:t>NOW FAILS — the same change,
a different property, the opposite
verdict.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00600"/>
            <a:ext cx="804672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353638"/>
                </a:solidFill>
                <a:latin typeface="Calibri"/>
              </a:rPr>
              <a:t>One model modification propagates into multiple engineering properties. </a:t>
            </a:r>
          </a:p>
          <a:p>
            <a:pPr algn="l">
              <a:lnSpc>
                <a:spcPct val="120000"/>
              </a:lnSpc>
            </a:pPr>
            <a:r>
              <a:rPr sz="1800" b="0" i="1">
                <a:solidFill>
                  <a:srgbClr val="C8102E"/>
                </a:solidFill>
                <a:latin typeface="Calibri"/>
              </a:rPr>
              <a:t>All numbers hand-derived from the model's declared quantities — and the slide says so.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One change, two properties, two different verdicts.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21</a:t>
            </a:r>
          </a:p>
        </p:txBody>
      </p:sp>
      <p:pic>
        <p:nvPicPr>
          <p:cNvPr id="15" name="Picture 14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Why can the model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4160520" cy="4846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37490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50">
                <a:solidFill>
                  <a:srgbClr val="8E6F3E"/>
                </a:solidFill>
                <a:latin typeface="Calibri"/>
              </a:rPr>
              <a:t>WHAT THE SEMANTICS LICENSE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749039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 i="0"/>
              <a:t>typed features + units</a:t>
            </a:r>
          </a:p>
          <a:p>
            <a:r>
              <a:rPr sz="1800" b="0" i="0"/>
              <a:t>512 [B] ÷ 4096 [B/s] is well-defined</a:t>
            </a:r>
          </a:p>
          <a:p>
            <a:r>
              <a:rPr sz="1800" b="1" i="0"/>
              <a:t>state occurrences</a:t>
            </a:r>
          </a:p>
          <a:p>
            <a:r>
              <a:rPr sz="1800" b="0" i="0"/>
              <a:t>Transmit being active determines when the buffer drains</a:t>
            </a:r>
          </a:p>
          <a:p>
            <a:r>
              <a:rPr sz="1800" b="1" i="0"/>
              <a:t>expressions + constraints</a:t>
            </a:r>
          </a:p>
          <a:p>
            <a:r>
              <a:rPr sz="1800" b="0" i="0"/>
              <a:t>the requirement is a claim over model values, not a comment</a:t>
            </a:r>
          </a:p>
          <a:p>
            <a:endParaRPr sz="1800" b="0" i="0"/>
          </a:p>
          <a:p>
            <a:r>
              <a:rPr sz="1800" b="0" i="1"/>
              <a:t>SysML supplies the systems concepts; KerML the semantic foundation.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892040" y="960120"/>
            <a:ext cx="3703320" cy="4846320"/>
          </a:xfrm>
          <a:prstGeom prst="rect">
            <a:avLst/>
          </a:prstGeom>
          <a:solidFill>
            <a:srgbClr val="F5F1E8"/>
          </a:solidFill>
          <a:ln w="15875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20640" y="109728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50">
                <a:solidFill>
                  <a:srgbClr val="C8102E"/>
                </a:solidFill>
                <a:latin typeface="Calibri"/>
              </a:rPr>
              <a:t>MEASURED — OCTOBER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444752"/>
            <a:ext cx="3291840" cy="5577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1">
                <a:solidFill>
                  <a:srgbClr val="353638"/>
                </a:solidFill>
                <a:latin typeface="Calibri"/>
              </a:rPr>
              <a:t>SysML v2 Pilot Implementation</a:t>
            </a:r>
          </a:p>
          <a:p>
            <a:pPr algn="l">
              <a:lnSpc>
                <a:spcPct val="110000"/>
              </a:lnSpc>
            </a:pPr>
            <a:r>
              <a:rPr sz="1800" b="0" i="1">
                <a:solidFill>
                  <a:srgbClr val="353638"/>
                </a:solidFill>
                <a:latin typeface="Calibri"/>
              </a:rPr>
              <a:t>(release 2026-08, kernel 0.62.0):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057400"/>
            <a:ext cx="3291840" cy="3611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/>
              <a:t>✓  parses + validates these models</a:t>
            </a:r>
          </a:p>
          <a:p>
            <a:r>
              <a:rPr sz="1800" b="0" i="0"/>
              <a:t>✓  name resolution, typed structure</a:t>
            </a:r>
          </a:p>
          <a:p>
            <a:r>
              <a:rPr sz="1800" b="0" i="0"/>
              <a:t>✗  cannot execute state machines</a:t>
            </a:r>
          </a:p>
          <a:p>
            <a:r>
              <a:rPr sz="1800" b="0" i="0"/>
              <a:t>✗  cannot compute a verification verdict</a:t>
            </a:r>
          </a:p>
          <a:p>
            <a:r>
              <a:rPr sz="1800" b="0" i="0"/>
              <a:t>✗  quantity expressions stay unevaluated — it validates silently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6007607"/>
            <a:ext cx="8503920" cy="55778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“The semantics make it derivable” is a claim about the language — not about a tool run.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22</a:t>
            </a:r>
          </a:p>
        </p:txBody>
      </p:sp>
      <p:pic>
        <p:nvPicPr>
          <p:cNvPr id="14" name="Picture 13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What still can’t be known?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1">
                <a:solidFill>
                  <a:srgbClr val="5C4826"/>
                </a:solidFill>
                <a:latin typeface="Calibri"/>
              </a:rPr>
              <a:t>What is peak SRAM consumption?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8046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  <a:latin typeface="Calibri"/>
              </a:rPr>
              <a:t>Asked of the richer model this time — modes, flow, power, and all.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8046720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7498079" cy="1394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8E6F3E"/>
                </a:solidFill>
                <a:latin typeface="Calibri"/>
              </a:rPr>
              <a:t>Still missing: </a:t>
            </a:r>
            <a:r>
              <a:rPr sz="1800" b="0" i="0">
                <a:solidFill>
                  <a:srgbClr val="353638"/>
                </a:solidFill>
                <a:latin typeface="Calibri"/>
              </a:rPr>
              <a:t>stack depth under interrupt nesting · allocator fragmentation · DMA buffers
· which allocations are simultaneously resident within a mode</a:t>
            </a:r>
          </a:p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5C4826"/>
                </a:solidFill>
                <a:latin typeface="Calibri"/>
              </a:rPr>
              <a:t>Insufficient information — unless we model the distinctions that property requires.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520440"/>
            <a:ext cx="8046720" cy="14630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657600"/>
            <a:ext cx="7498079" cy="1545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i="0"/>
              <a:t>Section 3's model named operating modes as a missing distinction. Section 4 modeled them</a:t>
            </a:r>
          </a:p>
          <a:p>
            <a:r>
              <a:rPr sz="1800" i="0"/>
              <a:t>and still has a boundary. Every purposeful model does.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257800"/>
            <a:ext cx="8046720" cy="832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The optional section closes where the lecture began: on purposeful reduction and degrees of</a:t>
            </a:r>
          </a:p>
          <a:p>
            <a:pPr algn="l">
              <a:lnSpc>
                <a:spcPct val="120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semantic commitment — not on SysML syntax.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Stronger semantics sharpen the boundary; they do not remove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23</a:t>
            </a:r>
          </a:p>
        </p:txBody>
      </p:sp>
      <p:pic>
        <p:nvPicPr>
          <p:cNvPr id="13" name="Picture 12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BB41474-50AF-6E4D-A061-FCA8EB91F85E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f6384a8e-b03b-4fc0-a7fa-4e9432f7835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4162</Words>
  <Application>Microsoft Macintosh PowerPoint</Application>
  <PresentationFormat>On-screen Show (4:3)</PresentationFormat>
  <Paragraphs>484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Arial</vt:lpstr>
      <vt:lpstr>Calibri</vt:lpstr>
      <vt:lpstr>Consolas</vt:lpstr>
      <vt:lpstr>Times</vt:lpstr>
      <vt:lpstr>Office Theme</vt:lpstr>
      <vt:lpstr>Purdue1</vt:lpstr>
      <vt:lpstr>PowerPoint Presentation</vt:lpstr>
      <vt:lpstr>PowerPoint Presentation</vt:lpstr>
      <vt:lpstr>PowerPoint Presentation</vt:lpstr>
      <vt:lpstr>PowerPoint Presentation</vt:lpstr>
      <vt:lpstr>Degrees of semantic commitment</vt:lpstr>
      <vt:lpstr>PowerPoint Presentation</vt:lpstr>
      <vt:lpstr>PowerPoint Presentation</vt:lpstr>
      <vt:lpstr>PowerPoint Presentation</vt:lpstr>
      <vt:lpstr>PowerPoint Presentation</vt:lpstr>
      <vt:lpstr>Engineering with Semantic Models</vt:lpstr>
      <vt:lpstr>PowerPoint Presentation</vt:lpstr>
      <vt:lpstr>PowerPoint Presentation</vt:lpstr>
      <vt:lpstr>PowerPoint Presentation</vt:lpstr>
      <vt:lpstr>Working with Semantic Models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James C Davis</cp:lastModifiedBy>
  <cp:revision>83</cp:revision>
  <dcterms:created xsi:type="dcterms:W3CDTF">2013-01-27T09:14:16Z</dcterms:created>
  <dcterms:modified xsi:type="dcterms:W3CDTF">2026-10-06T01:09:17Z</dcterms:modified>
  <cp:category/>
</cp:coreProperties>
</file>