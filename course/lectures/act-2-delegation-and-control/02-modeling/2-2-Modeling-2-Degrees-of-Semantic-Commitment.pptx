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2 of the Modeling unit. Last time: one model, one question — purposeful reduction. Today: a second, independent axis — how much of its meaning a representation carries explicitly — and then we work with a semantically defined model in the MAGE Workbench.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Thirty-second callback. Bring back degrees of freedom explicitly — slide 7 needs them. The banner is deliberately half a sentence: slide 4 completes it (semantic commitment governs how much the model itself says about what it means).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Motivation, not technical argument — which is why this slide lives in the opening. Wording discipline: 'helped develop the standard', not 'use it in production'.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conceptual thesis of the lecture, plus the map. The arc: what does the representation mean → what can we do because it means that → what is it like to work with one. §4 is optional/reference.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Reused from the strongest material of the previous deck. Run the readings quickly; the point lands in one beat. This is the itch §1 scratches: where does the meaning live?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Folds the draft's cost slide in. No disparagement of informal modeling — the sketch is often the right engineering choice. The question is what the representation must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draft wanted this visually strong: the two-axis figure IS the slide. Folds degrees of freedom back in from Lecture 1. Sets up the table's non-monotonic realization-freedom column on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culmination of §1 — the Chapter 2 table (book §2.1.4, label semantic-commitment-spectrum), deck-condensed from six columns to five (row-label and Agentic-implication columns dropped; 'What it enables' added back per the author's deck sketch; cell wording from the landed chapter, including the renamed Interpretation-burden column). The burden column relocates interpretive work — it does not rank informal=human-friendly vs formal=machine-friendly. SysML/KerML appears only as the strongest-commitment row. The red cell is the point: the freedom column is NOT monotonically decreasing.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concrete example per operation, not five bare nouns. The examples are drawn from the embedded-sensor-node model students meet in §3 — deliberate foreshadowing.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honest answer to the skeptical question: sometimes we should — deterministic transformation for what the model genuinely determines. Then the tension: fully-generative modeling collapses into programming. Ties §2 back to purposeful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§2 synthesis: machine-operable semantics → generation challenge → the agentic answer. Agents can cross the realization gap a purposeful model deliberately leaves. Don't teach 'agents should extend the language' — teach promotion of recurring consequential knowledge into durable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screenshot: the Embedded Sensor Node example loaded, viewing the Sensor Firmware SRAM model. Orientation only: the models rail and saved properties (left), the drawn model and its declared purpose (center), inspector and actions (right). Don't tour controls — the next slide starts from an engineering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panels are real Workbench output for the shipped example. Surface honesty: the quantity question runs as a SAVED question ('The modeled firmware fits in the 256 KiB SRAM budget') — the composable ask surface covers graph questions. Provenance is displayed: DERIVED FROM both models, 'exhaustive over 1 configuration', plus an evaluation fingerprint.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agent from the friction, not as a feature checklist. The agent operates the model through window.mage; the semantic result comes from the model's machinery, and the agent explains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students into the activity. The numbers come from the shipped model: 9 allocations totalling 232 KB against 256 KiB; doubling telemetry-queue breaks the pinned requirement by 8 KB; restoring a 20% margin needs ≤204.8 KB. Largest single allocation: model-weights at 72 KB (31% of budget).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 payoff, and the lecture's punchline — quoted from the shipped artifact itself, not asserted. The model's purpose block lists 'operating modes' as its first declared omission. Students can try the agent first; the boundary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Alignment handoff closes the core lecture (kept from the previous deck). §4 is optional/reference. The frame: §3's model documented operating modes as its missing distinction; §4 works a sibling system where those distinctions are modeled — in SysML v2, the strongest-commitment row of slide 8's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system once, with the actual numbers; slides 19-21 reason over them. The excerpt is abridged notation, not a complete model. Power figures: Sleep 0.1 mW; Sample 5 mW for 50 ms per sample; Transmit 60 mW while draining at 4 KiB/s.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trap: average-rate reasoning. The machine: Sleep -sample timer-&gt; Sample -done-&gt; Sleep; Sleep -tx timer-&gt; Transmit -tx done-&gt; Sleep; Sample -buffer full-&gt; Transmit. Data is drained only in Transmit, so the buffer's fate depends on when Transmit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composition slowly. Honesty constraint: the derivation is hand-performed; the language's semantics license it (typed quantities, units, state occupancy), but no available tool executes it — foreshadow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are chosen so the answer is nontrivial and mechanically derivable BY HAND: the naive overflow prediction is wrong (behavior rescues it), and the passing power budget flips to failing. Arithmetic: 12 samples per 30 s; transmit 12x512/4096 = 1.5 s -&gt; 60 mW x 1.5 s = 90 mJ; sample 5 mW x 12 x 0.05 s = 3.0 mJ; sleep 0.1 mW x (30 - 1.5 - 0.6) = 0.1 x 27.9 = 2.79 mJ; total 95.79 mJ / 30 s = 3.19 = ~3.2 mW against a 2 mW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honesty slide. The derivations of slides 19-21 are licensed by the language's defined semantics and were carried out by hand. Measured ground truth (workbench differential-conformance design, Oct 2026): the Pilot parses/validates but cannot execute machines, produce verification verdicts, or normalize quantities; dimension conformance is unchecked at kernel 0.62.0. Express vs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Symmetry close: the same question that ended §3 ends §4. Even the strongest-commitment language leaves purposeful omissions; commitment buys precision about what IS modeled, never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1" spc="200">
                <a:solidFill>
                  <a:srgbClr val="353638"/>
                </a:solidFill>
                <a:latin typeface="Calibri"/>
              </a:rPr>
              <a:t>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 spc="160">
                <a:solidFill>
                  <a:srgbClr val="353638"/>
                </a:solidFill>
                <a:latin typeface="Calibri"/>
              </a:rPr>
              <a:t>ECE 30861 / CSCI 45000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0" b="0" i="0">
                <a:solidFill>
                  <a:srgbClr val="000000"/>
                </a:solidFill>
                <a:latin typeface="Calibri"/>
              </a:rPr>
              <a:t>Modeling: Degrees of Semantic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339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1">
                <a:solidFill>
                  <a:srgbClr val="8E6F3E"/>
                </a:solidFill>
                <a:latin typeface="Calibri"/>
              </a:rPr>
              <a:t>Models carry different amounts of their own meaning.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353638"/>
                </a:solidFill>
                <a:latin typeface="Calibri"/>
              </a:rPr>
              <a:t>Prof. James C. Davis</a:t>
            </a:r>
          </a:p>
          <a:p>
            <a:pPr algn="ctr"/>
            <a:r>
              <a:rPr sz="1300" b="0" i="1">
                <a:solidFill>
                  <a:srgbClr val="353638"/>
                </a:solidFill>
                <a:latin typeface="Calibri"/>
              </a:rPr>
              <a:t>Prof. Steve France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1828800" cy="5029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5C4826"/>
                </a:solidFill>
                <a:latin typeface="Calibri"/>
              </a:rPr>
              <a:t>quick sketch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77439" y="3401568"/>
            <a:ext cx="274320" cy="201168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3246120"/>
            <a:ext cx="1828800" cy="5029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5C4826"/>
                </a:solidFill>
                <a:latin typeface="Calibri"/>
              </a:rPr>
              <a:t>UML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17720" y="3401568"/>
            <a:ext cx="274320" cy="201168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3480" y="3246120"/>
            <a:ext cx="1828800" cy="5029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5C4826"/>
                </a:solidFill>
                <a:latin typeface="Calibri"/>
              </a:rPr>
              <a:t>structured schemas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58000" y="3401568"/>
            <a:ext cx="274320" cy="201168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3246120"/>
            <a:ext cx="1828800" cy="5029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5C4826"/>
                </a:solidFill>
                <a:latin typeface="Calibri"/>
              </a:rPr>
              <a:t>SysML v2 + KerML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960"/>
                </a:solidFill>
                <a:latin typeface="Calibri"/>
              </a:rPr>
              <a:t>the same marks can carry more — or less — of their own 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53638"/>
                </a:solidFill>
                <a:latin typeface="Calibri"/>
              </a:rPr>
              <a:t>Lecture 1: Purposeful reduction — what must the model preserve?</a:t>
            </a:r>
          </a:p>
          <a:p>
            <a:pPr algn="ctr"/>
            <a:r>
              <a:rPr sz="1300" b="0" i="0">
                <a:solidFill>
                  <a:srgbClr val="353638"/>
                </a:solidFill>
                <a:latin typeface="Calibri"/>
              </a:rPr>
              <a:t>Lecture 2 (today): Semantic commitment — and a modeling laboratory.</a:t>
            </a:r>
          </a:p>
        </p:txBody>
      </p:sp>
      <p:pic>
        <p:nvPicPr>
          <p:cNvPr id="18" name="Picture 17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5669280"/>
            <a:ext cx="4389120" cy="4698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1080" y="6419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Last time: purposeful reduction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</a:pPr>
            <a:r>
              <a:rPr sz="1600" b="0" i="1">
                <a:solidFill>
                  <a:srgbClr val="5C4826"/>
                </a:solidFill>
                <a:latin typeface="Calibri"/>
              </a:rPr>
              <a:t>An engineering model preserves the distinctions required by a question</a:t>
            </a:r>
          </a:p>
          <a:p>
            <a:pPr algn="ctr">
              <a:lnSpc>
                <a:spcPct val="110000"/>
              </a:lnSpc>
            </a:pPr>
            <a:r>
              <a:rPr sz="1600" b="0" i="1">
                <a:solidFill>
                  <a:srgbClr val="5C4826"/>
                </a:solidFill>
                <a:latin typeface="Calibri"/>
              </a:rPr>
              <a:t>and deliberately leaves other choices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148840"/>
            <a:ext cx="1417320" cy="54864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ENGINEERING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32888" y="2322576"/>
            <a:ext cx="274320" cy="201168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52928" y="2148840"/>
            <a:ext cx="1417320" cy="54864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34256" y="2322576"/>
            <a:ext cx="274320" cy="201168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54296" y="2148840"/>
            <a:ext cx="1417320" cy="54864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35624" y="2322576"/>
            <a:ext cx="274320" cy="201168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55664" y="2148840"/>
            <a:ext cx="1417320" cy="54864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960"/>
                </a:solidFill>
                <a:latin typeface="Calibri"/>
              </a:rPr>
              <a:t>the discipline from Lecture 1 — every model starts from a 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3931920" cy="1783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8E6F3E"/>
                </a:solidFill>
                <a:latin typeface="Calibri"/>
              </a:rPr>
              <a:t>WHAT THE MODEL PRESERVES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The distinctions the question requires: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states and forbidden transitions, typed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relations, quantities and bounds.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383280"/>
            <a:ext cx="3931920" cy="1783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5661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8E6F3E"/>
                </a:solidFill>
                <a:latin typeface="Calibri"/>
              </a:rPr>
              <a:t>WHAT STAYS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93192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Degrees of freedom — realization choices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the model deliberately does not settle: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algorithms, data structures, naming,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decomposition.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Purposeful reduction governs what the model says.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2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Who uses semantic models?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93192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1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80">
                <a:solidFill>
                  <a:srgbClr val="8E6F3E"/>
                </a:solidFill>
                <a:latin typeface="Calibri"/>
              </a:rPr>
              <a:t>AEROSPACE &amp;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Boeing · Airbus · Lockheed Martin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51560"/>
            <a:ext cx="393192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18871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80">
                <a:solidFill>
                  <a:srgbClr val="8E6F3E"/>
                </a:solidFill>
                <a:latin typeface="Calibri"/>
              </a:rPr>
              <a:t>AUTOMOTIVE &amp; INDUSTRIAL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50876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Siemens · peer industrial firms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393192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80">
                <a:solidFill>
                  <a:srgbClr val="8E6F3E"/>
                </a:solidFill>
                <a:latin typeface="Calibri"/>
              </a:rPr>
              <a:t>ENGINEERING-TOOL 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Dassault Systèmes · Ansys · PTC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377440"/>
            <a:ext cx="393192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80">
                <a:solidFill>
                  <a:srgbClr val="8E6F3E"/>
                </a:solidFill>
                <a:latin typeface="Calibri"/>
              </a:rPr>
              <a:t>GOVERNMENT &amp;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346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Space and defense agencies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· research laboratories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53638"/>
                </a:solidFill>
                <a:latin typeface="Calibri"/>
              </a:rPr>
              <a:t>These organizations helped develop SysML v2 </a:t>
            </a:r>
            <a:r>
              <a:rPr sz="1300" b="0" i="0">
                <a:solidFill>
                  <a:srgbClr val="353638"/>
                </a:solidFill>
                <a:latin typeface="Calibri"/>
              </a:rPr>
              <a:t>— the OMG contributor and signatory ecosystem.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33672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5960"/>
                </a:solidFill>
                <a:latin typeface="Calibri"/>
              </a:rPr>
              <a:t>That is the claim — not that every one of them runs SysML v2 in production today.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09160"/>
            <a:ext cx="8046720" cy="11430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64608"/>
            <a:ext cx="7589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C4826"/>
                </a:solidFill>
                <a:latin typeface="Calibri"/>
              </a:rPr>
              <a:t>The commonality: they engineer consequential systems where software meets physical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C4826"/>
                </a:solidFill>
                <a:latin typeface="Calibri"/>
              </a:rPr>
              <a:t>resources, timing, safety, power, hardware, organizations, requirements, and other systems.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They need models that support consequential engineering reasoning — not merely pictures.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3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Today: from meaning to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53638"/>
                </a:solidFill>
                <a:latin typeface="Calibri"/>
              </a:rPr>
              <a:t>Two independent questions about any model: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3931920" cy="13716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826"/>
                </a:solidFill>
                <a:latin typeface="Calibri"/>
              </a:rPr>
              <a:t>What distinctions does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826"/>
                </a:solidFill>
                <a:latin typeface="Calibri"/>
              </a:rPr>
              <a:t>the model preserve?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6F3E"/>
                </a:solidFill>
                <a:latin typeface="Calibri"/>
              </a:rPr>
              <a:t>purposeful reduction — Lecture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25880"/>
            <a:ext cx="3931920" cy="1371600"/>
          </a:xfrm>
          <a:prstGeom prst="rect">
            <a:avLst/>
          </a:prstGeom>
          <a:solidFill>
            <a:srgbClr val="F5F1E8"/>
          </a:solidFill>
          <a:ln w="19050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46304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826"/>
                </a:solidFill>
                <a:latin typeface="Calibri"/>
              </a:rPr>
              <a:t>How explicitly does the representation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826"/>
                </a:solidFill>
                <a:latin typeface="Calibri"/>
              </a:rPr>
              <a:t>define what those distinctions mean?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6F3E"/>
                </a:solidFill>
                <a:latin typeface="Calibri"/>
              </a:rPr>
              <a:t>semantic commitment —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0292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17520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53638"/>
                </a:solidFill>
                <a:latin typeface="Calibri"/>
              </a:rPr>
              <a:t>Degrees of Semantic Commitment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17520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What does the representation mean?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50292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§2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39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53638"/>
                </a:solidFill>
                <a:latin typeface="Calibri"/>
              </a:rPr>
              <a:t>Engineering with Semantic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74903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What can we do because it means that?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59"/>
            <a:ext cx="50292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§3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80559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53638"/>
                </a:solidFill>
                <a:latin typeface="Calibri"/>
              </a:rPr>
              <a:t>Working with Semantic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48055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What is it like to work with one?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→ the 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79"/>
            <a:ext cx="502920" cy="566928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5C4826"/>
                </a:solidFill>
                <a:latin typeface="Calibri"/>
              </a:rPr>
              <a:t>§4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212079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53638"/>
                </a:solidFill>
                <a:latin typeface="Calibri"/>
              </a:rPr>
              <a:t>Optional: Reasoning with</a:t>
            </a:r>
          </a:p>
          <a:p>
            <a:pPr algn="l"/>
            <a:r>
              <a:rPr sz="1400" b="1" i="0">
                <a:solidFill>
                  <a:srgbClr val="353638"/>
                </a:solidFill>
                <a:latin typeface="Calibri"/>
              </a:rPr>
              <a:t>SysML and KerML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212079"/>
            <a:ext cx="3291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reference — a worked example,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after the core lecture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Two models can preserve the same distinctions and carry their meaning very differently.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4</a:t>
            </a:r>
          </a:p>
        </p:txBody>
      </p:sp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What does this arrow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371600"/>
            <a:ext cx="1188720" cy="685800"/>
          </a:xfrm>
          <a:prstGeom prst="rect">
            <a:avLst/>
          </a:prstGeom>
          <a:solidFill>
            <a:srgbClr val="F5F1E8"/>
          </a:solidFill>
          <a:ln w="19050">
            <a:solidFill>
              <a:srgbClr val="5C4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 i="0">
                <a:solidFill>
                  <a:srgbClr val="5C4826"/>
                </a:solidFill>
                <a:latin typeface="Calibri"/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371600"/>
            <a:ext cx="1188720" cy="685800"/>
          </a:xfrm>
          <a:prstGeom prst="rect">
            <a:avLst/>
          </a:prstGeom>
          <a:solidFill>
            <a:srgbClr val="F5F1E8"/>
          </a:solidFill>
          <a:ln w="19050">
            <a:solidFill>
              <a:srgbClr val="5C4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 i="0">
                <a:solidFill>
                  <a:srgbClr val="5C4826"/>
                </a:solidFill>
                <a:latin typeface="Calibri"/>
              </a:rPr>
              <a:t>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1714500"/>
            <a:ext cx="2560320" cy="0"/>
          </a:xfrm>
          <a:prstGeom prst="line">
            <a:avLst/>
          </a:prstGeom>
          <a:ln w="38100">
            <a:solidFill>
              <a:srgbClr val="5C48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2606040"/>
            <a:ext cx="960120" cy="45720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5C4826"/>
                </a:solidFill>
                <a:latin typeface="Calibri"/>
              </a:rPr>
              <a:t>calls?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2606040"/>
            <a:ext cx="1234440" cy="45720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5C4826"/>
                </a:solidFill>
                <a:latin typeface="Calibri"/>
              </a:rPr>
              <a:t>may call?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6664" y="2606040"/>
            <a:ext cx="1417320" cy="45720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5C4826"/>
                </a:solidFill>
                <a:latin typeface="Calibri"/>
              </a:rPr>
              <a:t>depends 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8576" y="2606040"/>
            <a:ext cx="1600200" cy="45720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5C4826"/>
                </a:solidFill>
                <a:latin typeface="Calibri"/>
              </a:rPr>
              <a:t>sends data to?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2606040"/>
            <a:ext cx="2286000" cy="45720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5C4826"/>
                </a:solidFill>
                <a:latin typeface="Calibri"/>
              </a:rPr>
              <a:t>was observed calling?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53638"/>
                </a:solidFill>
                <a:latin typeface="Calibri"/>
              </a:rPr>
              <a:t>Same marks. </a:t>
            </a:r>
            <a:r>
              <a:rPr sz="1600" b="0" i="0">
                <a:solidFill>
                  <a:srgbClr val="353638"/>
                </a:solidFill>
                <a:latin typeface="Calibri"/>
              </a:rPr>
              <a:t>Different engineering claims.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4069080"/>
            <a:ext cx="6766560" cy="15544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279392"/>
            <a:ext cx="6217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5C4826"/>
                </a:solidFill>
                <a:latin typeface="Calibri"/>
              </a:rPr>
              <a:t>A diagram that permits five readings licenses none.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53638"/>
                </a:solidFill>
                <a:latin typeface="Calibri"/>
              </a:rPr>
              <a:t>Whoever interprets the sketch — teammate or agent — supplies the meaning
the marks do not carry.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marks are the same; the meaning is supplied by the interpreter.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5</a:t>
            </a:r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Models carry different amounts of meaning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868680"/>
          </a:xfrm>
          <a:prstGeom prst="rect">
            <a:avLst/>
          </a:prstGeom>
          <a:solidFill>
            <a:srgbClr val="F5F1E8"/>
          </a:solidFill>
          <a:ln w="15875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7589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8E6F3E"/>
                </a:solidFill>
                <a:latin typeface="Calibri"/>
              </a:rPr>
              <a:t>SEMANTIC COMMITMENT</a:t>
            </a:r>
          </a:p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5C4826"/>
                </a:solidFill>
                <a:latin typeface="Calibri"/>
              </a:rPr>
              <a:t>How much of a representation's meaning is carried explicitly by the representation itself,
rather than supplied by whoever — or whatever — interprets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1691640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5C4826"/>
                </a:solidFill>
                <a:latin typeface="Calibri"/>
              </a:rPr>
              <a:t>quick sketch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23160" y="2304288"/>
            <a:ext cx="274320" cy="182880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2148840"/>
            <a:ext cx="1691640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5C4826"/>
                </a:solidFill>
                <a:latin typeface="Calibri"/>
              </a:rPr>
              <a:t>UML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80560" y="2304288"/>
            <a:ext cx="274320" cy="182880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148840"/>
            <a:ext cx="1691640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 i="0">
                <a:solidFill>
                  <a:srgbClr val="5C4826"/>
                </a:solidFill>
                <a:latin typeface="Calibri"/>
              </a:rPr>
              <a:t>structured schemas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60" y="2304288"/>
            <a:ext cx="274320" cy="182880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2148840"/>
            <a:ext cx="1691640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5C4826"/>
                </a:solidFill>
                <a:latin typeface="Calibri"/>
              </a:rPr>
              <a:t>SysML v2 + KerML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960"/>
                </a:solidFill>
                <a:latin typeface="Calibri"/>
              </a:rPr>
              <a:t>examples along one axis — not maturity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53638"/>
                </a:solidFill>
                <a:latin typeface="Calibri"/>
              </a:rPr>
              <a:t>A quick sketch may be exactly right when several engineers need to communicate an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53638"/>
                </a:solidFill>
                <a:latin typeface="Calibri"/>
              </a:rPr>
              <a:t>architectural idea to one another — or to an agent for a prototype.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3931920" cy="14630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33087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80">
                <a:solidFill>
                  <a:srgbClr val="8E6F3E"/>
                </a:solidFill>
                <a:latin typeface="Calibri"/>
              </a:rPr>
              <a:t>STRONGER SEMANTICS 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98848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reliable interpretation · query ·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composition · analysis ·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977639"/>
            <a:ext cx="3931920" cy="14630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133087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80">
                <a:solidFill>
                  <a:srgbClr val="8E6F3E"/>
                </a:solidFill>
                <a:latin typeface="Calibri"/>
              </a:rPr>
              <a:t>AND THEY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498848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authoring effort · expertise · tooling ·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maintenance · sometimes human accessibility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engineering decision is not “maximize semantics.”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6</a:t>
            </a:r>
          </a:p>
        </p:txBody>
      </p:sp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Precision is not completeness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005840" y="1188720"/>
            <a:ext cx="0" cy="3291840"/>
          </a:xfrm>
          <a:prstGeom prst="line">
            <a:avLst/>
          </a:prstGeom>
          <a:ln w="25400">
            <a:solidFill>
              <a:srgbClr val="5C48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4480560"/>
            <a:ext cx="3474720" cy="0"/>
          </a:xfrm>
          <a:prstGeom prst="line">
            <a:avLst/>
          </a:prstGeom>
          <a:ln w="25400">
            <a:solidFill>
              <a:srgbClr val="5C48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9601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5C4826"/>
                </a:solidFill>
                <a:latin typeface="Calibri"/>
              </a:rPr>
              <a:t>AMOUNT SPECIFIED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459028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5C4826"/>
                </a:solidFill>
                <a:latin typeface="Calibri"/>
              </a:rPr>
              <a:t>PRECISION OF 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554480"/>
            <a:ext cx="173736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53638"/>
                </a:solidFill>
                <a:latin typeface="Calibri"/>
              </a:rPr>
              <a:t>an enormous prose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53638"/>
                </a:solidFill>
                <a:latin typeface="Calibri"/>
              </a:rPr>
              <a:t>spec — still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53638"/>
                </a:solidFill>
                <a:latin typeface="Calibri"/>
              </a:rPr>
              <a:t>ambiguous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3200400"/>
            <a:ext cx="1737360" cy="777240"/>
          </a:xfrm>
          <a:prstGeom prst="rect">
            <a:avLst/>
          </a:prstGeom>
          <a:solidFill>
            <a:srgbClr val="F5F1E8"/>
          </a:solidFill>
          <a:ln w="15875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C4826"/>
                </a:solidFill>
                <a:latin typeface="Calibri"/>
              </a:rPr>
              <a:t>a tiny model —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C4826"/>
                </a:solidFill>
                <a:latin typeface="Calibri"/>
              </a:rPr>
              <a:t>semantically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C4826"/>
                </a:solidFill>
                <a:latin typeface="Calibri"/>
              </a:rPr>
              <a:t>precise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The two axes are independent.</a:t>
            </a:r>
          </a:p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Neither corner implies the 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188720"/>
            <a:ext cx="3657600" cy="3931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716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60">
                <a:solidFill>
                  <a:srgbClr val="8E6F3E"/>
                </a:solidFill>
                <a:latin typeface="Calibri"/>
              </a:rPr>
              <a:t>DEGREES OF FREEDOM SURVIVE</a:t>
            </a:r>
          </a:p>
          <a:p>
            <a:pPr algn="l">
              <a:lnSpc>
                <a:spcPct val="110000"/>
              </a:lnSpc>
            </a:pPr>
            <a:r>
              <a:rPr sz="1200" b="1" i="0" spc="60">
                <a:solidFill>
                  <a:srgbClr val="8E6F3E"/>
                </a:solidFill>
                <a:latin typeface="Calibri"/>
              </a:rPr>
              <a:t>STRONGER SEMANTICS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5740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A model may precisely define memory,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allocation, units, and a resource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constraint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1546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— while saying nothing about data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structures, algorithms, task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53638"/>
                </a:solidFill>
                <a:latin typeface="Calibri"/>
              </a:rPr>
              <a:t>decomposition, naming, or logging.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5720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1">
                <a:solidFill>
                  <a:srgbClr val="5C4826"/>
                </a:solidFill>
                <a:latin typeface="Calibri"/>
              </a:rPr>
              <a:t>Those are not gaps. They are</a:t>
            </a:r>
          </a:p>
          <a:p>
            <a:pPr algn="l">
              <a:lnSpc>
                <a:spcPct val="110000"/>
              </a:lnSpc>
            </a:pPr>
            <a:r>
              <a:rPr sz="1200" b="1" i="1">
                <a:solidFill>
                  <a:srgbClr val="5C4826"/>
                </a:solidFill>
                <a:latin typeface="Calibri"/>
              </a:rPr>
              <a:t>authorized freedom.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Precision about modeled decisions does not settle unmodeled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7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Degrees of semantic commitment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37160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Concrete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3080" y="960120"/>
            <a:ext cx="182880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Where the meaning lives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960120"/>
            <a:ext cx="182880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Interpretation burden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80" y="960120"/>
            <a:ext cx="164592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960120"/>
            <a:ext cx="1645920" cy="56692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Remaining realization freedom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1371600" cy="987552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5C4826"/>
                </a:solidFill>
                <a:latin typeface="Calibri"/>
              </a:rPr>
              <a:t>Informal box-and-arrow sketch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527048"/>
            <a:ext cx="1828800" cy="987552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Almost none in the marks — the team supplies what boxes and arrows mean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527048"/>
            <a:ext cx="1828800" cy="987552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Low if you share the context; high if you do not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527048"/>
            <a:ext cx="1645920" cy="987552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Fast communication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527048"/>
            <a:ext cx="1645920" cy="987552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Very large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14600"/>
            <a:ext cx="1371600" cy="80467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5C4826"/>
                </a:solidFill>
                <a:latin typeface="Calibri"/>
              </a:rPr>
              <a:t>UML 2.5.1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514600"/>
            <a:ext cx="1828800" cy="80467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Standardized model elements and relationships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514600"/>
            <a:ext cx="1828800" cy="80467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Requires notation knowledge and project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2514600"/>
            <a:ext cx="1645920" cy="80467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More precise shared interpretation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514600"/>
            <a:ext cx="1645920" cy="80467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Large — describes selected aspects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19272"/>
            <a:ext cx="1371600" cy="93268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5C4826"/>
                </a:solidFill>
                <a:latin typeface="Calibri"/>
              </a:rPr>
              <a:t>OpenAPI 3.1 / JSON 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3319272"/>
            <a:ext cx="1828800" cy="93268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Explicit machine-readable types, fields, constraints, references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3319272"/>
            <a:ext cx="1828800" cy="93268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Structure explicit; domain intent remains contextual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3319272"/>
            <a:ext cx="1645920" cy="93268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Inspection, validation, transformation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3319272"/>
            <a:ext cx="1645920" cy="93268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Often still large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251960"/>
            <a:ext cx="1371600" cy="107899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5C4826"/>
                </a:solidFill>
                <a:latin typeface="Calibri"/>
              </a:rPr>
              <a:t>SysML v2 + KerML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4251960"/>
            <a:ext cx="1828800" cy="107899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Types, relationships, expressions, constraints defined as part of the language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4251960"/>
            <a:ext cx="1828800" cy="107899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Language and tool knowledge up front — less semantics to reconstruct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4251960"/>
            <a:ext cx="1645920" cy="107899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0" i="0">
                <a:solidFill>
                  <a:srgbClr val="353638"/>
                </a:solidFill>
                <a:latin typeface="Calibri"/>
              </a:rPr>
              <a:t>Query, composition, analysis, machine reasoning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4251960"/>
            <a:ext cx="1645920" cy="1078992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C8102E"/>
                </a:solidFill>
                <a:latin typeface="Calibri"/>
              </a:rPr>
              <a:t>Potentially very large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495544"/>
            <a:ext cx="8321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5C4826"/>
                </a:solidFill>
                <a:latin typeface="Calibri"/>
              </a:rPr>
              <a:t>Interpretation burden is relocated, not removed. </a:t>
            </a:r>
            <a:r>
              <a:rPr sz="1100" b="0" i="1">
                <a:solidFill>
                  <a:srgbClr val="555960"/>
                </a:solidFill>
                <a:latin typeface="Calibri"/>
              </a:rPr>
              <a:t>And realization freedom does not shrink as commitment grows — </a:t>
            </a:r>
            <a:r>
              <a:rPr sz="1100" b="1" i="1">
                <a:solidFill>
                  <a:srgbClr val="C8102E"/>
                </a:solidFill>
                <a:latin typeface="Calibri"/>
              </a:rPr>
              <a:t>precise semantics do not imply complete specification.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These are examples, not maturity levels. Semantic precision and amount specified are different dimensions.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8</a:t>
            </a:r>
          </a:p>
        </p:txBody>
      </p:sp>
      <p:pic>
        <p:nvPicPr>
          <p:cNvPr id="32" name="Picture 3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What semantics buys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1828800" cy="118872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SEMANTIC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377440" y="1435607"/>
            <a:ext cx="640080" cy="1719073"/>
          </a:xfrm>
          <a:prstGeom prst="line">
            <a:avLst/>
          </a:prstGeom>
          <a:ln w="15875">
            <a:solidFill>
              <a:srgbClr val="C9B9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017520" y="1051560"/>
            <a:ext cx="1371600" cy="50292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5C4826"/>
                </a:solidFill>
                <a:latin typeface="Calibri"/>
              </a:rPr>
              <a:t>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051560"/>
            <a:ext cx="4069080" cy="685800"/>
          </a:xfrm>
          <a:prstGeom prst="rect">
            <a:avLst/>
          </a:prstGeom>
          <a:solidFill>
            <a:srgbClr val="FBF8F2"/>
          </a:solidFill>
          <a:ln w="9525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“which buffers does the radio stack own?”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377440" y="2368296"/>
            <a:ext cx="640080" cy="786384"/>
          </a:xfrm>
          <a:prstGeom prst="line">
            <a:avLst/>
          </a:prstGeom>
          <a:ln w="15875">
            <a:solidFill>
              <a:srgbClr val="C9B9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17520" y="1984248"/>
            <a:ext cx="1371600" cy="50292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5C4826"/>
                </a:solidFill>
                <a:latin typeface="Calibri"/>
              </a:rPr>
              <a:t>compose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984248"/>
            <a:ext cx="4069080" cy="685800"/>
          </a:xfrm>
          <a:prstGeom prst="rect">
            <a:avLst/>
          </a:prstGeom>
          <a:solidFill>
            <a:srgbClr val="FBF8F2"/>
          </a:solidFill>
          <a:ln w="9525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join two models: “does an optional component feed an essential one?”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3154680"/>
            <a:ext cx="640080" cy="146304"/>
          </a:xfrm>
          <a:prstGeom prst="line">
            <a:avLst/>
          </a:prstGeom>
          <a:ln w="15875">
            <a:solidFill>
              <a:srgbClr val="C9B9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17520" y="2916936"/>
            <a:ext cx="1371600" cy="50292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5C4826"/>
                </a:solidFill>
                <a:latin typeface="Calibri"/>
              </a:rPr>
              <a:t>analyze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916936"/>
            <a:ext cx="4069080" cy="685800"/>
          </a:xfrm>
          <a:prstGeom prst="rect">
            <a:avLst/>
          </a:prstGeom>
          <a:solidFill>
            <a:srgbClr val="FBF8F2"/>
          </a:solidFill>
          <a:ln w="9525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“do the allocations fit the 256 KiB budget — with how much margin?”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3154680"/>
            <a:ext cx="640080" cy="1078992"/>
          </a:xfrm>
          <a:prstGeom prst="line">
            <a:avLst/>
          </a:prstGeom>
          <a:ln w="15875">
            <a:solidFill>
              <a:srgbClr val="C9B9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17520" y="3849624"/>
            <a:ext cx="1371600" cy="50292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5C4826"/>
                </a:solidFill>
                <a:latin typeface="Calibri"/>
              </a:rPr>
              <a:t>validate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849624"/>
            <a:ext cx="4069080" cy="685800"/>
          </a:xfrm>
          <a:prstGeom prst="rect">
            <a:avLst/>
          </a:prstGeom>
          <a:solidFill>
            <a:srgbClr val="FBF8F2"/>
          </a:solidFill>
          <a:ln w="9525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“is this comparison licensed by a declared ordered domain?”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3154680"/>
            <a:ext cx="640080" cy="2011680"/>
          </a:xfrm>
          <a:prstGeom prst="line">
            <a:avLst/>
          </a:prstGeom>
          <a:ln w="15875">
            <a:solidFill>
              <a:srgbClr val="C9B9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017520" y="4782312"/>
            <a:ext cx="1371600" cy="50292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5C4826"/>
                </a:solidFill>
                <a:latin typeface="Calibri"/>
              </a:rPr>
              <a:t>generate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4782312"/>
            <a:ext cx="4069080" cy="685800"/>
          </a:xfrm>
          <a:prstGeom prst="rect">
            <a:avLst/>
          </a:prstGeom>
          <a:solidFill>
            <a:srgbClr val="FBF8F2"/>
          </a:solidFill>
          <a:ln w="9525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“emit the interface types from the one declared schema”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76072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960"/>
                </a:solidFill>
                <a:latin typeface="Calibri"/>
              </a:rPr>
              <a:t>one concrete example each — the first four return as questions in §3's lab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Selected meanings become machine-operable.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9</a:t>
            </a:r>
          </a:p>
        </p:txBody>
      </p:sp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If machines understand the model, why not generate the code?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5C4826"/>
                </a:solidFill>
                <a:latin typeface="Calibri"/>
              </a:rPr>
              <a:t>Sometimes we should.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886200" cy="26974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50">
                <a:solidFill>
                  <a:srgbClr val="8E6F3E"/>
                </a:solidFill>
                <a:latin typeface="Calibri"/>
              </a:rPr>
              <a:t>GENERATE WHAT THE MODEL DETERMINES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474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53638"/>
                </a:solidFill>
                <a:latin typeface="Calibri"/>
              </a:rPr>
              <a:t>configuration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53638"/>
                </a:solidFill>
                <a:latin typeface="Calibri"/>
              </a:rPr>
              <a:t>interfaces and schemas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53638"/>
                </a:solidFill>
                <a:latin typeface="Calibri"/>
              </a:rPr>
              <a:t>state-machine fragments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53638"/>
                </a:solidFill>
                <a:latin typeface="Calibri"/>
              </a:rPr>
              <a:t>deployment artifacts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53638"/>
                </a:solidFill>
                <a:latin typeface="Calibri"/>
              </a:rPr>
              <a:t>boilerplate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783080"/>
            <a:ext cx="3749039" cy="5029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5C4826"/>
                </a:solidFill>
                <a:latin typeface="Calibri"/>
              </a:rPr>
              <a:t>Want the generator to decide less</a:t>
            </a:r>
          </a:p>
        </p:txBody>
      </p:sp>
      <p:sp>
        <p:nvSpPr>
          <p:cNvPr id="9" name="Down Arrow 8"/>
          <p:cNvSpPr/>
          <p:nvPr/>
        </p:nvSpPr>
        <p:spPr>
          <a:xfrm>
            <a:off x="6629400" y="2313432"/>
            <a:ext cx="182880" cy="237744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2578608"/>
            <a:ext cx="3749039" cy="5029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5C4826"/>
                </a:solidFill>
                <a:latin typeface="Calibri"/>
              </a:rPr>
              <a:t>The model must decide more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629400" y="3108960"/>
            <a:ext cx="182880" cy="237744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3374136"/>
            <a:ext cx="3749039" cy="5029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5C4826"/>
                </a:solidFill>
                <a:latin typeface="Calibri"/>
              </a:rPr>
              <a:t>More realization encoded in the model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629400" y="3904487"/>
            <a:ext cx="182880" cy="237744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4169663"/>
            <a:ext cx="3749039" cy="68580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At the limit: you have built another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programming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353638"/>
                </a:solidFill>
                <a:latin typeface="Calibri"/>
              </a:rPr>
              <a:t>Purposeful reduction says: that may not be what we want. </a:t>
            </a:r>
            <a:r>
              <a:rPr sz="1400" b="0" i="0">
                <a:solidFill>
                  <a:srgbClr val="353638"/>
                </a:solidFill>
                <a:latin typeface="Calibri"/>
              </a:rPr>
              <a:t>The decisions worth modeling are not
always the decisions needed to determine the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Generation needs the decision to be made.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10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Generate, delegate, or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651760" cy="54864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purposeful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7373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obligations + freedom</a:t>
            </a:r>
          </a:p>
        </p:txBody>
      </p:sp>
      <p:sp>
        <p:nvSpPr>
          <p:cNvPr id="6" name="Down Arrow 5"/>
          <p:cNvSpPr/>
          <p:nvPr/>
        </p:nvSpPr>
        <p:spPr>
          <a:xfrm>
            <a:off x="1783080" y="1691640"/>
            <a:ext cx="182880" cy="365760"/>
          </a:xfrm>
          <a:prstGeom prst="down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51760" cy="548640"/>
          </a:xfrm>
          <a:prstGeom prst="rect">
            <a:avLst/>
          </a:prstGeom>
          <a:solidFill>
            <a:srgbClr val="F5F1E8"/>
          </a:solidFill>
          <a:ln w="15875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5C4826"/>
                </a:solidFill>
                <a:latin typeface="Calibr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realization choices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1783080" y="2697480"/>
            <a:ext cx="182880" cy="365760"/>
          </a:xfrm>
          <a:prstGeom prst="down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651760" cy="5486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353638"/>
                </a:solidFill>
                <a:latin typeface="Calibri"/>
              </a:rP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353638"/>
                </a:solidFill>
                <a:latin typeface="Calibri"/>
              </a:rPr>
              <a:t>Traditional generator: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specify enough to
determine the transformation.</a:t>
            </a:r>
          </a:p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353638"/>
                </a:solidFill>
                <a:latin typeface="Calibri"/>
              </a:rPr>
              <a:t>Agentic implementation: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specify what
matters; delegate the remaining choices.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097280"/>
            <a:ext cx="2103120" cy="45720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Kind of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097280"/>
            <a:ext cx="1828800" cy="45720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554480"/>
            <a:ext cx="2103120" cy="65836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Mechanically determined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554480"/>
            <a:ext cx="1828800" cy="65836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5C4826"/>
                </a:solidFill>
                <a:latin typeface="Calibri"/>
              </a:rPr>
              <a:t>Generate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212848"/>
            <a:ext cx="2103120" cy="658368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Open within modeled obligations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212848"/>
            <a:ext cx="1828800" cy="658368"/>
          </a:xfrm>
          <a:prstGeom prst="rect">
            <a:avLst/>
          </a:prstGeom>
          <a:solidFill>
            <a:srgbClr val="FBF8F2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5C4826"/>
                </a:solidFill>
                <a:latin typeface="Calibri"/>
              </a:rPr>
              <a:t>Delegate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871215"/>
            <a:ext cx="2103120" cy="65836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Recurring and consequential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871215"/>
            <a:ext cx="1828800" cy="658368"/>
          </a:xfrm>
          <a:prstGeom prst="rect">
            <a:avLst/>
          </a:prstGeom>
          <a:solidFill>
            <a:srgbClr val="F5F1E8"/>
          </a:solidFill>
          <a:ln w="635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5C4826"/>
                </a:solidFill>
                <a:latin typeface="Calibri"/>
              </a:rPr>
              <a:t>Consider modeling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657600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55960"/>
                </a:solidFill>
                <a:latin typeface="Calibri"/>
              </a:rPr>
              <a:t>The third row is how recurring, consequential</a:t>
            </a:r>
          </a:p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55960"/>
                </a:solidFill>
                <a:latin typeface="Calibri"/>
              </a:rPr>
              <a:t>knowledge gets promoted into durable structure —</a:t>
            </a:r>
          </a:p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555960"/>
                </a:solidFill>
                <a:latin typeface="Calibri"/>
              </a:rPr>
              <a:t>a library, a domain extension.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92040"/>
            <a:ext cx="8046720" cy="10058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74980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8E6F3E"/>
                </a:solidFill>
                <a:latin typeface="Calibri"/>
              </a:rPr>
              <a:t>MODEL: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  what matters · obligations · properties        </a:t>
            </a:r>
            <a:r>
              <a:rPr sz="1250" b="1" i="0">
                <a:solidFill>
                  <a:srgbClr val="8E6F3E"/>
                </a:solidFill>
                <a:latin typeface="Calibri"/>
              </a:rPr>
              <a:t>IMPLEMENTATION: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  one realization · many further decisions</a:t>
            </a:r>
          </a:p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555960"/>
                </a:solidFill>
                <a:latin typeface="Calibri"/>
              </a:rPr>
              <a:t>Some relationships are generation, some delegation, some validation back against the model.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model is not another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11</a:t>
            </a:r>
          </a:p>
        </p:txBody>
      </p:sp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The MAGE Workbench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wb-slide12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7863840" cy="4406208"/>
          </a:xfrm>
          <a:prstGeom prst="rect">
            <a:avLst/>
          </a:prstGeom>
          <a:ln w="12700">
            <a:solidFill>
              <a:srgbClr val="C9B99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5778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E6F3E"/>
                </a:solidFill>
                <a:latin typeface="Consolas"/>
              </a:rPr>
              <a:t>davisjam.github.io/model-based-agentic-software-engineering/workbench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Models · saved questions · evidence · an agent API — one-minute orientation, then we start from a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Ask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8046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1">
                <a:solidFill>
                  <a:srgbClr val="5C4826"/>
                </a:solidFill>
                <a:latin typeface="Calibri"/>
              </a:rPr>
              <a:t>Does this configuration fit within its memory budget?</a:t>
            </a:r>
          </a:p>
        </p:txBody>
      </p:sp>
      <p:pic>
        <p:nvPicPr>
          <p:cNvPr id="5" name="Picture 4" descr="wb-memtable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2670829"/>
          </a:xfrm>
          <a:prstGeom prst="rect">
            <a:avLst/>
          </a:prstGeom>
          <a:ln w="12700">
            <a:solidFill>
              <a:srgbClr val="C9B991"/>
            </a:solidFill>
          </a:ln>
        </p:spPr>
      </p:pic>
      <p:pic>
        <p:nvPicPr>
          <p:cNvPr id="6" name="Picture 5" descr="wb-evidence-p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2240280" cy="3765577"/>
          </a:xfrm>
          <a:prstGeom prst="rect">
            <a:avLst/>
          </a:prstGeom>
          <a:ln w="12700">
            <a:solidFill>
              <a:srgbClr val="C9B99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the saved question, run deterministically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44068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55960"/>
                </a:solidFill>
                <a:latin typeface="Calibri"/>
              </a:rPr>
              <a:t>the verdict carries its evidence:</a:t>
            </a:r>
          </a:p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55960"/>
                </a:solidFill>
                <a:latin typeface="Calibri"/>
              </a:rPr>
              <a:t>derived from which models,</a:t>
            </a:r>
          </a:p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55960"/>
                </a:solidFill>
                <a:latin typeface="Calibri"/>
              </a:rPr>
              <a:t>exhaustive over what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1325880" cy="457200"/>
          </a:xfrm>
          <a:prstGeom prst="rect">
            <a:avLst/>
          </a:prstGeom>
          <a:solidFill>
            <a:srgbClr val="F5F1E8"/>
          </a:solidFill>
          <a:ln w="12700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5C4826"/>
                </a:solidFill>
                <a:latin typeface="Calibri"/>
              </a:rPr>
              <a:t>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0239" y="4846320"/>
            <a:ext cx="274320" cy="182880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80" y="4709160"/>
            <a:ext cx="1828800" cy="45720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semantic machinery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4846320"/>
            <a:ext cx="274320" cy="182880"/>
          </a:xfrm>
          <a:prstGeom prst="rightArrow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4709160"/>
            <a:ext cx="1325880" cy="457200"/>
          </a:xfrm>
          <a:prstGeom prst="rect">
            <a:avLst/>
          </a:prstGeom>
          <a:solidFill>
            <a:srgbClr val="F5F1E8"/>
          </a:solidFill>
          <a:ln w="12700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5C4826"/>
                </a:solidFill>
                <a:latin typeface="Calibri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No LLM required.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Elements, relations, and quantities have
declared semantics; the answer is computed, with provenance.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232 KB of 256 KB — 24 KB of margin. The answer arrives with its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13</a:t>
            </a:r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Ask through an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1">
                <a:solidFill>
                  <a:srgbClr val="5C4826"/>
                </a:solidFill>
                <a:latin typeface="Calibri"/>
              </a:rPr>
              <a:t>“What is consuming memory on the sensor node?”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Interacting with models can be tedious: navigate the model, find the right question form, formulate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the query. The Workbench's composable ask surface covers graph questions; the rest run as saved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331720"/>
            <a:ext cx="1920240" cy="457200"/>
          </a:xfrm>
          <a:prstGeom prst="rect">
            <a:avLst/>
          </a:prstGeom>
          <a:solidFill>
            <a:srgbClr val="F5F1E8"/>
          </a:solidFill>
          <a:ln w="12700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5C4826"/>
                </a:solidFill>
                <a:latin typeface="Calibri"/>
              </a:rPr>
              <a:t>Engineer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2057400" y="2807208"/>
            <a:ext cx="164592" cy="237744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28437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063239"/>
            <a:ext cx="1920240" cy="45720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5C4826"/>
                </a:solidFill>
                <a:latin typeface="Calibri"/>
              </a:rPr>
              <a:t>Agent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057400" y="3538727"/>
            <a:ext cx="164592" cy="237744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575303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model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794759"/>
            <a:ext cx="1920240" cy="45720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057400" y="4270248"/>
            <a:ext cx="164592" cy="237744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4306823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semantic 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4526279"/>
            <a:ext cx="1920240" cy="457200"/>
          </a:xfrm>
          <a:prstGeom prst="rect">
            <a:avLst/>
          </a:prstGeom>
          <a:solidFill>
            <a:srgbClr val="C9B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5C4826"/>
                </a:solidFill>
                <a:latin typeface="Calibri"/>
              </a:rPr>
              <a:t>Agent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057400" y="5001767"/>
            <a:ext cx="164592" cy="237744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503834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explanation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5257799"/>
            <a:ext cx="1920240" cy="457200"/>
          </a:xfrm>
          <a:prstGeom prst="rect">
            <a:avLst/>
          </a:prstGeom>
          <a:solidFill>
            <a:srgbClr val="F5F1E8"/>
          </a:solidFill>
          <a:ln w="12700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5C4826"/>
                </a:solidFill>
                <a:latin typeface="Calibri"/>
              </a:rPr>
              <a:t>Engineer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331720"/>
            <a:ext cx="3749039" cy="14630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4871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60">
                <a:solidFill>
                  <a:srgbClr val="8E6F3E"/>
                </a:solidFill>
                <a:latin typeface="Calibri"/>
              </a:rPr>
              <a:t>THE AGENT SURFACE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816352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C4826"/>
                </a:solidFill>
                <a:latin typeface="Consolas"/>
              </a:rPr>
              <a:t>window.mage</a:t>
            </a:r>
            <a:r>
              <a:rPr sz="1200" b="0" i="0">
                <a:solidFill>
                  <a:srgbClr val="353638"/>
                </a:solidFill>
                <a:latin typeface="Calibri"/>
              </a:rPr>
              <a:t> — the Workbench exposes
the model to agents: typed operations,
questions,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069080"/>
            <a:ext cx="3749039" cy="1691640"/>
          </a:xfrm>
          <a:prstGeom prst="rect">
            <a:avLst/>
          </a:prstGeom>
          <a:solidFill>
            <a:srgbClr val="F5F1E8"/>
          </a:solidFill>
          <a:ln w="15875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2245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60">
                <a:solidFill>
                  <a:srgbClr val="8E6F3E"/>
                </a:solidFill>
                <a:latin typeface="Calibri"/>
              </a:rPr>
              <a:t>THE KEY DISTINCTION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5720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5C4826"/>
                </a:solidFill>
                <a:latin typeface="Calibri"/>
              </a:rPr>
              <a:t>The agent helps interpret the question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5C4826"/>
                </a:solidFill>
                <a:latin typeface="Calibri"/>
              </a:rPr>
              <a:t>and operate on the model.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5C4826"/>
                </a:solidFill>
                <a:latin typeface="Calibri"/>
              </a:rPr>
              <a:t>It need not invent the engineering facts.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Natural questions in — the model's semantics still produce the facts.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14</a:t>
            </a:r>
          </a:p>
        </p:txBody>
      </p:sp>
      <p:pic>
        <p:nvPicPr>
          <p:cNvPr id="27" name="Picture 2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Lab: model → query → revise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89520" y="201168"/>
            <a:ext cx="1234440" cy="43891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411480" cy="41148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5156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53638"/>
                </a:solidFill>
                <a:latin typeface="Calibri"/>
              </a:rPr>
              <a:t>Determine current memory consumption and margin.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53638"/>
                </a:solidFill>
                <a:latin typeface="Calibri"/>
              </a:rPr>
              <a:t>Identify the largest consumers.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53638"/>
                </a:solidFill>
                <a:latin typeface="Calibri"/>
              </a:rPr>
              <a:t>Double the telemetry queue.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53638"/>
                </a:solidFill>
                <a:latin typeface="Calibri"/>
              </a:rPr>
              <a:t>Re-evaluate the budget requirement.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4612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53638"/>
                </a:solidFill>
                <a:latin typeface="Calibri"/>
              </a:rPr>
              <a:t>Restore a margin of at least 20%.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5C4826"/>
                </a:solidFill>
                <a:latin typeface="Calibri"/>
              </a:rPr>
              <a:t>Tasks, not UI instructions.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Use whichever surface you prefer: 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• run the saved questions and read the evidence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• edit through the workspace, or through the agent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• ask the agent — then check it against the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051560"/>
            <a:ext cx="2788920" cy="41605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188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50">
                <a:solidFill>
                  <a:srgbClr val="8E6F3E"/>
                </a:solidFill>
                <a:latin typeface="Calibri"/>
              </a:rPr>
              <a:t>WHAT THE MODEL DECLARES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536192"/>
            <a:ext cx="23774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353638"/>
                </a:solidFill>
                <a:latin typeface="Calibri"/>
              </a:rPr>
              <a:t>budget: </a:t>
            </a:r>
            <a:r>
              <a:rPr sz="1150" b="0" i="0">
                <a:solidFill>
                  <a:srgbClr val="353638"/>
                </a:solidFill>
                <a:latin typeface="Calibri"/>
              </a:rPr>
              <a:t>256 KiB of SRAM</a:t>
            </a:r>
          </a:p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353638"/>
                </a:solidFill>
                <a:latin typeface="Calibri"/>
              </a:rPr>
              <a:t>total: </a:t>
            </a:r>
            <a:r>
              <a:rPr sz="1150" b="0" i="0">
                <a:solidFill>
                  <a:srgbClr val="353638"/>
                </a:solidFill>
                <a:latin typeface="Calibri"/>
              </a:rPr>
              <a:t>232 KB → 24 KB margin (9.4%)</a:t>
            </a:r>
          </a:p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353638"/>
                </a:solidFill>
                <a:latin typeface="Calibri"/>
              </a:rPr>
              <a:t>pinned requirement: </a:t>
            </a:r>
          </a:p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353638"/>
                </a:solidFill>
                <a:latin typeface="Calibri"/>
              </a:rPr>
              <a:t>“the modeled firmware fits in the
256 KiB SRAM budget”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doubling the telemetry queue
(32 → 64 KB) takes the total to
264 KB — the requirement fails
by 8 KB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a ≥20% margin needs the total
at or under 204.8 KB — several
changes achieve it, several
near-misses do not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555960"/>
                </a:solidFill>
                <a:latin typeface="Calibri"/>
              </a:rPr>
              <a:t>the model's KB tokens are binary:
256 KB here is exactly 256 KiB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search is the design activity, not a lookup.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15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What can’t the model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1">
                <a:solidFill>
                  <a:srgbClr val="5C4826"/>
                </a:solidFill>
                <a:latin typeface="Calibri"/>
              </a:rPr>
              <a:t>What is peak SRAM consumption?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8046720" cy="1965960"/>
          </a:xfrm>
          <a:prstGeom prst="rect">
            <a:avLst/>
          </a:prstGeom>
          <a:solidFill>
            <a:srgbClr val="F5F1E8"/>
          </a:solidFill>
          <a:ln w="15875">
            <a:solidFill>
              <a:srgbClr val="8E6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74066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5C4826"/>
                </a:solidFill>
                <a:latin typeface="Calibri"/>
              </a:rPr>
              <a:t>“It answers ‘what if everything is live at once’, and it cannot answer ‘is everything live at once’. The second question needs operating modes — Sleeping, Sampling, Inferring, Transmitting — and resource lifetimes tied to them … That is the earned transition to Behavior, and it is deliberately not in this file.”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960"/>
                </a:solidFill>
                <a:latin typeface="Calibri"/>
              </a:rPr>
              <a:t>— the shipped model's own header, embedded-sensor-node/system.mage.yaml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C4826"/>
                </a:solidFill>
                <a:latin typeface="Calibri"/>
              </a:rPr>
              <a:t>More prompting cannot create missing engineering knowledge. 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53638"/>
                </a:solidFill>
                <a:latin typeface="Calibri"/>
              </a:rPr>
              <a:t>The agent can navigate, infer, or propose — but if the answer needs distinctions the purposeful
model does not preserve, stronger prompting does not repair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8E6F3E"/>
                </a:solidFill>
                <a:latin typeface="Calibri"/>
              </a:rPr>
              <a:t>Lab closing question: </a:t>
            </a:r>
            <a:r>
              <a:rPr sz="1350" b="0" i="1">
                <a:solidFill>
                  <a:srgbClr val="353638"/>
                </a:solidFill>
                <a:latin typeface="Calibri"/>
              </a:rPr>
              <a:t>what would we need to add to make this question answerable?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960"/>
                </a:solidFill>
                <a:latin typeface="Calibri"/>
              </a:rPr>
              <a:t>— exactly Lecture 1's judgment: which distinctions must the model preserve, and at what cost?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model states its own boundary — an omission declared on its purpose.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16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200">
                <a:solidFill>
                  <a:srgbClr val="555960"/>
                </a:solidFill>
                <a:latin typeface="Calibri"/>
              </a:rPr>
              <a:t>END OF THE CORE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 i="0">
                <a:solidFill>
                  <a:srgbClr val="5C4826"/>
                </a:solidFill>
                <a:latin typeface="Calibri"/>
              </a:rPr>
              <a:t>Modeling makes knowledge explicit.</a:t>
            </a:r>
          </a:p>
          <a:p>
            <a:pPr algn="ctr">
              <a:lnSpc>
                <a:spcPct val="115000"/>
              </a:lnSpc>
            </a:pPr>
            <a:r>
              <a:rPr sz="2300" b="1" i="0">
                <a:solidFill>
                  <a:srgbClr val="5C4826"/>
                </a:solidFill>
                <a:latin typeface="Calibri"/>
              </a:rPr>
              <a:t>Alignment gives it consequence.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353638"/>
                </a:solidFill>
                <a:latin typeface="Calibri"/>
              </a:rPr>
              <a:t>The model says the margin stays above 20%.</a:t>
            </a:r>
          </a:p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353638"/>
                </a:solidFill>
                <a:latin typeface="Calibri"/>
              </a:rPr>
              <a:t>Next lecture: what happens when reality disagrees?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383280"/>
            <a:ext cx="6217920" cy="36576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3703320"/>
            <a:ext cx="2011680" cy="50292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 ·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53638"/>
                </a:solidFill>
                <a:latin typeface="Calibri"/>
              </a:rPr>
              <a:t>§4 — Reasoning with SysML and KerML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1">
                <a:solidFill>
                  <a:srgbClr val="555960"/>
                </a:solidFill>
                <a:latin typeface="Calibri"/>
              </a:rPr>
              <a:t>The sensor node named what it was missing: operating modes.</a:t>
            </a:r>
          </a:p>
          <a:p>
            <a:pPr algn="ctr">
              <a:lnSpc>
                <a:spcPct val="125000"/>
              </a:lnSpc>
            </a:pPr>
            <a:r>
              <a:rPr sz="1350" b="0" i="1">
                <a:solidFill>
                  <a:srgbClr val="555960"/>
                </a:solidFill>
                <a:latin typeface="Calibri"/>
              </a:rPr>
              <a:t>These six slides take a sibling system where modes, flow, and quantities are modeled —</a:t>
            </a:r>
          </a:p>
          <a:p>
            <a:pPr algn="ctr">
              <a:lnSpc>
                <a:spcPct val="125000"/>
              </a:lnSpc>
            </a:pPr>
            <a:r>
              <a:rPr sz="1350" b="0" i="1">
                <a:solidFill>
                  <a:srgbClr val="555960"/>
                </a:solidFill>
                <a:latin typeface="Calibri"/>
              </a:rPr>
              <a:t>and show what the stronger semantics let us derive. Not “SysML 101.”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6419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A sensing system — behavior and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297680" cy="3931920"/>
          </a:xfrm>
          <a:prstGeom prst="rect">
            <a:avLst/>
          </a:prstGeom>
          <a:solidFill>
            <a:srgbClr val="2B2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39319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part def SensorNode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attribute samplingPeriod = 5 [s];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attribute sampleSize = 512 [B];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attribute bufferCap = 4096 [B];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attribute radioRate = 4096 [B/s];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attribute txPeriod = 30 [s];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state def Modes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  state Sleep;    // 0.1 mW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  state Sample;   // 5 mW, 50 ms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  state Transmit; // 60 mW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}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requirement avgPowerBudget {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  // average power &lt;= 2 [mW]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  }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CE2D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55960"/>
                </a:solidFill>
                <a:latin typeface="Calibri"/>
              </a:rPr>
              <a:t>SysML v2 textual notation — excerpt, abridged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005840"/>
            <a:ext cx="3520440" cy="3931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1704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50">
                <a:solidFill>
                  <a:srgbClr val="8E6F3E"/>
                </a:solidFill>
                <a:latin typeface="Calibri"/>
              </a:rPr>
              <a:t>ONE RICHER EMBEDDED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36192"/>
            <a:ext cx="3108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modes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Sleep / Sample / Transmit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sampling period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5 s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sample size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512 B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buffer capacity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4 KiB = 8 samples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radio throughput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4 KiB/s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transmit timer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every 30 s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mode power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0.1 / 5 / 60 mW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requirements  </a:t>
            </a:r>
            <a:r>
              <a:rPr sz="1250" b="0" i="0">
                <a:solidFill>
                  <a:srgbClr val="353638"/>
                </a:solidFill>
                <a:latin typeface="Calibri"/>
              </a:rPr>
              <a:t>average power ≤ 2 mW,
and the buffer must not overflow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8046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4826"/>
                </a:solidFill>
                <a:latin typeface="Calibri"/>
              </a:rPr>
              <a:t>Exactly the distinctions the sensor node declared as omissions: operating modes, and resource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4826"/>
                </a:solidFill>
                <a:latin typeface="Calibri"/>
              </a:rPr>
              <a:t>lifetimes tied to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Enough SysML to establish the actual model — the constructs earn their keep on the next slides.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18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Can the buffer overflow?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8686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E6F3E"/>
                </a:solidFill>
                <a:latin typeface="Calibri"/>
              </a:rPr>
              <a:t>Given:  </a:t>
            </a:r>
            <a:r>
              <a:rPr sz="1150" b="0" i="0">
                <a:solidFill>
                  <a:srgbClr val="353638"/>
                </a:solidFill>
                <a:latin typeface="Consolas"/>
              </a:rPr>
              <a:t>avg production rate (512 B / 5 s ≈ 102 B/s)  &lt;  radio throughput (4096 B/s)</a:t>
            </a:r>
          </a:p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555960"/>
                </a:solidFill>
                <a:latin typeface="Calibri"/>
              </a:rPr>
              <a:t>Locally plausible: “then it cannot overflow.”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1554480" cy="640080"/>
          </a:xfrm>
          <a:prstGeom prst="rect">
            <a:avLst/>
          </a:prstGeom>
          <a:solidFill>
            <a:srgbClr val="FBF8F2"/>
          </a:solidFill>
          <a:ln w="15875">
            <a:solidFill>
              <a:srgbClr val="5C4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5C4826"/>
                </a:solidFill>
                <a:latin typeface="Calibri"/>
              </a:rPr>
              <a:t>Sleep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2743200"/>
            <a:ext cx="1554480" cy="640080"/>
          </a:xfrm>
          <a:prstGeom prst="rect">
            <a:avLst/>
          </a:prstGeom>
          <a:solidFill>
            <a:srgbClr val="FBF8F2"/>
          </a:solidFill>
          <a:ln w="15875">
            <a:solidFill>
              <a:srgbClr val="5C4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5C4826"/>
                </a:solidFill>
                <a:latin typeface="Calibri"/>
              </a:rPr>
              <a:t>Sample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743200"/>
            <a:ext cx="1554480" cy="64008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Transmit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926080"/>
            <a:ext cx="1371599" cy="0"/>
          </a:xfrm>
          <a:prstGeom prst="line">
            <a:avLst/>
          </a:prstGeom>
          <a:ln w="19050">
            <a:solidFill>
              <a:srgbClr val="5C48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68880" y="2670048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555960"/>
                </a:solidFill>
                <a:latin typeface="Calibri"/>
              </a:rPr>
              <a:t>sample timer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77440" y="3246120"/>
            <a:ext cx="1371599" cy="0"/>
          </a:xfrm>
          <a:prstGeom prst="line">
            <a:avLst/>
          </a:prstGeom>
          <a:ln w="19050">
            <a:solidFill>
              <a:srgbClr val="5C48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68880" y="3310128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555960"/>
                </a:solidFill>
                <a:latin typeface="Calibri"/>
              </a:rPr>
              <a:t>done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0" y="2926080"/>
            <a:ext cx="1371600" cy="0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49240" y="267004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1">
                <a:solidFill>
                  <a:srgbClr val="C8102E"/>
                </a:solidFill>
                <a:latin typeface="Calibri"/>
              </a:rPr>
              <a:t>buffer full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3401568"/>
            <a:ext cx="0" cy="393192"/>
          </a:xfrm>
          <a:prstGeom prst="line">
            <a:avLst/>
          </a:prstGeom>
          <a:ln w="19050">
            <a:solidFill>
              <a:srgbClr val="5C48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00200" y="3794760"/>
            <a:ext cx="5852160" cy="0"/>
          </a:xfrm>
          <a:prstGeom prst="line">
            <a:avLst/>
          </a:prstGeom>
          <a:ln w="19050">
            <a:solidFill>
              <a:srgbClr val="5C48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52360" y="3419856"/>
            <a:ext cx="0" cy="374904"/>
          </a:xfrm>
          <a:prstGeom prst="line">
            <a:avLst/>
          </a:prstGeom>
          <a:ln w="19050">
            <a:solidFill>
              <a:srgbClr val="5C48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66160" y="384048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555960"/>
                </a:solidFill>
                <a:latin typeface="Calibri"/>
              </a:rPr>
              <a:t>tx timer (30 s)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452360" y="2359152"/>
            <a:ext cx="0" cy="365760"/>
          </a:xfrm>
          <a:prstGeom prst="line">
            <a:avLst/>
          </a:prstGeom>
          <a:ln w="19050">
            <a:solidFill>
              <a:srgbClr val="5C48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600200" y="2359152"/>
            <a:ext cx="5852160" cy="0"/>
          </a:xfrm>
          <a:prstGeom prst="line">
            <a:avLst/>
          </a:prstGeom>
          <a:ln w="19050">
            <a:solidFill>
              <a:srgbClr val="5C48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00200" y="2359152"/>
            <a:ext cx="0" cy="365760"/>
          </a:xfrm>
          <a:prstGeom prst="line">
            <a:avLst/>
          </a:prstGeom>
          <a:ln w="19050">
            <a:solidFill>
              <a:srgbClr val="5C48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66160" y="212140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555960"/>
                </a:solidFill>
                <a:latin typeface="Calibri"/>
              </a:rPr>
              <a:t>tx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60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55960"/>
                </a:solidFill>
                <a:latin typeface="Calibri"/>
              </a:rPr>
              <a:t>Sample produces data. Transmit consumes it. Modes draw different power.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8046720" cy="12344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7316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C4826"/>
                </a:solidFill>
                <a:latin typeface="Calibri"/>
              </a:rPr>
              <a:t>Comparing the two rates cannot answer the question. </a:t>
            </a:r>
            <a:r>
              <a:rPr sz="1300" b="0" i="0">
                <a:solidFill>
                  <a:srgbClr val="353638"/>
                </a:solidFill>
                <a:latin typeface="Calibri"/>
              </a:rPr>
              <a:t>The radio drains the buffer only while
Transmit is active — transmission availability depends on state behavior, batching, and timing.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E6F3E"/>
                </a:solidFill>
                <a:latin typeface="Calibri"/>
              </a:rPr>
              <a:t>The honest answer needs behavior, flow, and quantity composed. That is the next slide.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 locally plausible conclusion can be wrong — now the semantics do real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19</a:t>
            </a:r>
          </a:p>
        </p:txBody>
      </p:sp>
      <p:pic>
        <p:nvPicPr>
          <p:cNvPr id="28" name="Picture 2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Behavior, flow, and quantity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41732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state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occurrences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04" y="120700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8E6F3E"/>
                </a:solidFill>
                <a:latin typeface="Calibri"/>
              </a:rPr>
              <a:t>+</a:t>
            </a:r>
          </a:p>
        </p:txBody>
      </p:sp>
      <p:sp>
        <p:nvSpPr>
          <p:cNvPr id="6" name="Rectangle 5"/>
          <p:cNvSpPr/>
          <p:nvPr/>
        </p:nvSpPr>
        <p:spPr>
          <a:xfrm>
            <a:off x="2203704" y="1051560"/>
            <a:ext cx="141732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sample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0168" y="120700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8E6F3E"/>
                </a:solidFill>
                <a:latin typeface="Calibri"/>
              </a:rP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051560"/>
            <a:ext cx="141732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buffer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20700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8E6F3E"/>
                </a:solidFill>
                <a:latin typeface="Calibri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13832" y="1051560"/>
            <a:ext cx="141732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transmission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120700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8E6F3E"/>
                </a:solidFill>
                <a:latin typeface="Calibri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8896" y="1051560"/>
            <a:ext cx="141732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quantities</a:t>
            </a:r>
          </a:p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5C4826"/>
                </a:solidFill>
                <a:latin typeface="Calibri"/>
              </a:rPr>
              <a:t>+ units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34840" y="1783080"/>
            <a:ext cx="219456" cy="310896"/>
          </a:xfrm>
          <a:prstGeom prst="downArrow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2176272"/>
            <a:ext cx="3017520" cy="548640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buffer property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8046720" cy="21031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27248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60">
                <a:solidFill>
                  <a:srgbClr val="8E6F3E"/>
                </a:solidFill>
                <a:latin typeface="Calibri"/>
              </a:rPr>
              <a:t>THE BASELINE, DERIVED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2"/>
            <a:ext cx="74980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 i="0">
                <a:solidFill>
                  <a:srgbClr val="353638"/>
                </a:solidFill>
                <a:latin typeface="Calibri"/>
              </a:rPr>
              <a:t>samples per 30 s transmit cycle:   </a:t>
            </a:r>
            <a:r>
              <a:rPr sz="1200" b="0" i="0">
                <a:solidFill>
                  <a:srgbClr val="353638"/>
                </a:solidFill>
                <a:latin typeface="Consolas"/>
              </a:rPr>
              <a:t>30 s ÷ 5 s = 6  ≤  capacity 8  →  no overflow (6/8)</a:t>
            </a:r>
          </a:p>
          <a:p>
            <a:pPr algn="l">
              <a:lnSpc>
                <a:spcPct val="145000"/>
              </a:lnSpc>
            </a:pPr>
            <a:r>
              <a:rPr sz="1250" b="1" i="0">
                <a:solidFill>
                  <a:srgbClr val="353638"/>
                </a:solidFill>
                <a:latin typeface="Calibri"/>
              </a:rPr>
              <a:t>transmit time per cycle:   </a:t>
            </a:r>
            <a:r>
              <a:rPr sz="1200" b="0" i="0">
                <a:solidFill>
                  <a:srgbClr val="353638"/>
                </a:solidFill>
                <a:latin typeface="Consolas"/>
              </a:rPr>
              <a:t>6 × 512 B ÷ 4096 B/s = 0.75 s</a:t>
            </a:r>
          </a:p>
          <a:p>
            <a:pPr algn="l">
              <a:lnSpc>
                <a:spcPct val="145000"/>
              </a:lnSpc>
            </a:pPr>
            <a:r>
              <a:rPr sz="1250" b="1" i="0">
                <a:solidFill>
                  <a:srgbClr val="353638"/>
                </a:solidFill>
                <a:latin typeface="Calibri"/>
              </a:rPr>
              <a:t>average power:   </a:t>
            </a:r>
            <a:r>
              <a:rPr sz="1200" b="0" i="0">
                <a:solidFill>
                  <a:srgbClr val="353638"/>
                </a:solidFill>
                <a:latin typeface="Consolas"/>
              </a:rPr>
              <a:t>(60·0.75 + 5·6·0.05 + 0.1·29.0) mW·s / 30 s ≈ 1.65 mW  ≤  2 mW  ✓</a:t>
            </a:r>
          </a:p>
          <a:p>
            <a:pPr algn="l">
              <a:lnSpc>
                <a:spcPct val="145000"/>
              </a:lnSpc>
            </a:pPr>
            <a:r>
              <a:rPr sz="1150" b="0" i="1">
                <a:solidFill>
                  <a:srgbClr val="555960"/>
                </a:solidFill>
                <a:latin typeface="Calibri"/>
              </a:rPr>
              <a:t>every step is licensed by a declared quantity, unit, or state occurrence — nothing is folklore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Derived by hand from the model. </a:t>
            </a:r>
            <a:r>
              <a:rPr sz="1300" b="0" i="0">
                <a:solidFill>
                  <a:srgbClr val="353638"/>
                </a:solidFill>
                <a:latin typeface="Calibri"/>
              </a:rPr>
              <a:t>The semantics make each step well-defined; no tool computed
this verdict for us — slide 22 says exactly what tools can and cannot decide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This is where SysML/KerML earns its keep: one property composed across three views.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20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Change the sampling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E6F3E"/>
                </a:solidFill>
                <a:latin typeface="Calibri"/>
              </a:rPr>
              <a:t>Perturbation: </a:t>
            </a:r>
            <a:r>
              <a:rPr sz="1500" b="0" i="0">
                <a:solidFill>
                  <a:srgbClr val="353638"/>
                </a:solidFill>
                <a:latin typeface="Calibri"/>
              </a:rPr>
              <a:t>sampling period 5 s → 2.5 s.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960"/>
                </a:solidFill>
                <a:latin typeface="Calibri"/>
              </a:rPr>
              <a:t>What changed?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931920" cy="27432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8E6F3E"/>
                </a:solidFill>
                <a:latin typeface="Calibri"/>
              </a:rPr>
              <a:t>THE BUFFER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onsolas"/>
              </a:rPr>
              <a:t>12 samples per cycle  &gt;  capacity 8</a:t>
            </a:r>
          </a:p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353638"/>
                </a:solidFill>
                <a:latin typeface="Calibri"/>
              </a:rPr>
              <a:t>Overflow? </a:t>
            </a:r>
            <a:r>
              <a:rPr sz="1250" b="1" i="0">
                <a:solidFill>
                  <a:srgbClr val="5C4826"/>
                </a:solidFill>
                <a:latin typeface="Calibri"/>
              </a:rPr>
              <a:t>No.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53638"/>
                </a:solidFill>
                <a:latin typeface="Calibri"/>
              </a:rPr>
              <a:t>At the 8th sample the buffer-full
transition fires and Transmit
drains early.</a:t>
            </a:r>
          </a:p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5C4826"/>
                </a:solidFill>
                <a:latin typeface="Calibri"/>
              </a:rPr>
              <a:t>STILL HOLDS — because of
behavior, not arithmetic.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783080"/>
            <a:ext cx="3931920" cy="2743200"/>
          </a:xfrm>
          <a:prstGeom prst="rect">
            <a:avLst/>
          </a:prstGeom>
          <a:solidFill>
            <a:srgbClr val="FBF8F2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C8102E"/>
                </a:solidFill>
                <a:latin typeface="Calibri"/>
              </a:rPr>
              <a:t>THE POWER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286000"/>
            <a:ext cx="3474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onsolas"/>
              </a:rPr>
              <a:t>transmit: 12 × 512 ÷ 4096 = 1.5 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onsolas"/>
              </a:rPr>
              <a:t>avg ≈ (90 + 3.0 + 2.79) mJ / 30 s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353638"/>
                </a:solidFill>
                <a:latin typeface="Consolas"/>
              </a:rPr>
              <a:t>    ≈ 3.2 mW  &gt;  2 mW budget</a:t>
            </a:r>
          </a:p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C8102E"/>
                </a:solidFill>
                <a:latin typeface="Calibri"/>
              </a:rPr>
              <a:t>NOW FAILS — the same change,
a different property, the opposite
verdict.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353638"/>
                </a:solidFill>
                <a:latin typeface="Calibri"/>
              </a:rPr>
              <a:t>One model modification propagates into multiple engineering properties. 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C8102E"/>
                </a:solidFill>
                <a:latin typeface="Calibri"/>
              </a:rPr>
              <a:t>All numbers hand-derived from the model's declared quantities — and the slide says 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One change, two properties, two different verdicts.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21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Why can the model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160520" cy="33832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50">
                <a:solidFill>
                  <a:srgbClr val="8E6F3E"/>
                </a:solidFill>
                <a:latin typeface="Calibri"/>
              </a:rPr>
              <a:t>WHAT THE SEMANTICS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74903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5C4826"/>
                </a:solidFill>
                <a:latin typeface="Calibri"/>
              </a:rPr>
              <a:t>typed features + units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512 [B] ÷ 4096 [B/s] is well-defined;
a magnitude is a number with exactly
one unit of its dimension</a:t>
            </a:r>
          </a:p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5C4826"/>
                </a:solidFill>
                <a:latin typeface="Calibri"/>
              </a:rPr>
              <a:t>state occurrences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when Transmit is active determines
when the buffer drains</a:t>
            </a:r>
          </a:p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5C4826"/>
                </a:solidFill>
                <a:latin typeface="Calibri"/>
              </a:rPr>
              <a:t>expressions + constraints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53638"/>
                </a:solidFill>
                <a:latin typeface="Calibri"/>
              </a:rPr>
              <a:t>the requirement is a claim over model
values, not a comment</a:t>
            </a:r>
          </a:p>
          <a:p>
            <a:pPr algn="l">
              <a:lnSpc>
                <a:spcPct val="122000"/>
              </a:lnSpc>
            </a:pPr>
            <a:r>
              <a:rPr sz="1150" b="0" i="1">
                <a:solidFill>
                  <a:srgbClr val="555960"/>
                </a:solidFill>
                <a:latin typeface="Calibri"/>
              </a:rPr>
              <a:t>SysML supplies the systems concepts;
KerML, the semantic foundation beneath.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960120"/>
            <a:ext cx="3703320" cy="3383280"/>
          </a:xfrm>
          <a:prstGeom prst="rect">
            <a:avLst/>
          </a:prstGeom>
          <a:solidFill>
            <a:srgbClr val="F5F1E8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0972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50">
                <a:solidFill>
                  <a:srgbClr val="C8102E"/>
                </a:solidFill>
                <a:latin typeface="Calibri"/>
              </a:rPr>
              <a:t>MEASURED —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4475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353638"/>
                </a:solidFill>
                <a:latin typeface="Calibri"/>
              </a:rPr>
              <a:t>SysML v2 Pilot Implementation</a:t>
            </a:r>
          </a:p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353638"/>
                </a:solidFill>
                <a:latin typeface="Calibri"/>
              </a:rPr>
              <a:t>(release 2026-08, kernel 0.62.0):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5740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✓  parses + validates these models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✓  name resolution, typed structure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✗  cannot execute state machines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✗  cannot compute a verification
    verdict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✗  quantity expressions stay
    symbolic (d + e unevaluated)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53638"/>
                </a:solidFill>
                <a:latin typeface="Calibri"/>
              </a:rPr>
              <a:t>✗  2 [kg] assigned to a length
    validates silently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8046720" cy="658368"/>
          </a:xfrm>
          <a:prstGeom prst="rect">
            <a:avLst/>
          </a:prstGeom>
          <a:solidFill>
            <a:srgbClr val="5C4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50" b="0" i="1">
                <a:solidFill>
                  <a:srgbClr val="FFFFFF"/>
                </a:solidFill>
                <a:latin typeface="Calibri"/>
              </a:rPr>
              <a:t>“SysML v2 can express far more than its reference implementation can decide.”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“The semantics make it derivable” is a claim about the language — not about a tool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22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 i="0" spc="140">
                <a:solidFill>
                  <a:srgbClr val="353638"/>
                </a:solidFill>
                <a:latin typeface="Calibri"/>
              </a:rPr>
              <a:t>What still can’t be known?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31520"/>
            <a:ext cx="8503920" cy="41148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1">
                <a:solidFill>
                  <a:srgbClr val="5C4826"/>
                </a:solidFill>
                <a:latin typeface="Calibri"/>
              </a:rPr>
              <a:t>What is peak SRAM consumption?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55960"/>
                </a:solidFill>
                <a:latin typeface="Calibri"/>
              </a:rPr>
              <a:t>Asked of the richer model this time — modes, flow, power, and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8E6F3E"/>
                </a:solidFill>
                <a:latin typeface="Calibri"/>
              </a:rPr>
              <a:t>Still missing: </a:t>
            </a:r>
            <a:r>
              <a:rPr sz="1350" b="0" i="0">
                <a:solidFill>
                  <a:srgbClr val="353638"/>
                </a:solidFill>
                <a:latin typeface="Calibri"/>
              </a:rPr>
              <a:t>stack depth under interrupt nesting · allocator fragmentation · DMA buffers
· which allocations are simultaneously resident within a mode</a:t>
            </a:r>
          </a:p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C4826"/>
                </a:solidFill>
                <a:latin typeface="Calibri"/>
              </a:rPr>
              <a:t>Insufficient information — unless we model the distinctions that property requires.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8046720" cy="14630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5C4826"/>
                </a:solidFill>
                <a:latin typeface="Calibri"/>
              </a:rPr>
              <a:t>§3's model named its missing distinction — operating modes. §4 modeled them — and still
has a boundary. </a:t>
            </a:r>
            <a:r>
              <a:rPr sz="1350" b="1" i="0">
                <a:solidFill>
                  <a:srgbClr val="8E6F3E"/>
                </a:solidFill>
                <a:latin typeface="Calibri"/>
              </a:rPr>
              <a:t>Every purposeful model does.</a:t>
            </a:r>
          </a:p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353638"/>
                </a:solidFill>
                <a:latin typeface="Calibri"/>
              </a:rPr>
              <a:t>The question is never “is the model complete?” It is “does it preserve the distinctions this
question requires — and is adding more worth the cost?”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55960"/>
                </a:solidFill>
                <a:latin typeface="Calibri"/>
              </a:rPr>
              <a:t>The optional section closes where the lecture began: on purposeful reduction and degrees of</a:t>
            </a:r>
          </a:p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55960"/>
                </a:solidFill>
                <a:latin typeface="Calibri"/>
              </a:rPr>
              <a:t>semantic commitment — not on SysML syntax.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144768"/>
            <a:ext cx="8503920" cy="420624"/>
          </a:xfrm>
          <a:prstGeom prst="rect">
            <a:avLst/>
          </a:prstGeom>
          <a:solidFill>
            <a:srgbClr val="8E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Stronger semantics sharpen the boundary; they do not remove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6476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55960"/>
                </a:solidFill>
                <a:latin typeface="Calibri"/>
              </a:rPr>
              <a:t>23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638544"/>
            <a:ext cx="325247" cy="17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