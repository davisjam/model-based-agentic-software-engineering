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2"/>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17" autoAdjust="0"/>
    <p:restoredTop sz="81233"/>
  </p:normalViewPr>
  <p:slideViewPr>
    <p:cSldViewPr snapToGrid="0" snapToObjects="1">
      <p:cViewPr varScale="1">
        <p:scale>
          <a:sx n="97" d="100"/>
          <a:sy n="97" d="100"/>
        </p:scale>
        <p:origin x="2312" y="20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modSld">
      <pc:chgData name="Steve France" userId="b43bac2f-065f-4dab-8869-567f51c0338e" providerId="ADAL" clId="{32976B86-9A01-5E05-BDB2-234D6247B540}" dt="2026-10-15T14:20:40.611" v="129" actId="20577"/>
      <pc:docMkLst>
        <pc:docMk/>
      </pc:docMkLst>
      <pc:sldChg chg="modSp mod modAnim">
        <pc:chgData name="Steve France" userId="b43bac2f-065f-4dab-8869-567f51c0338e" providerId="ADAL" clId="{32976B86-9A01-5E05-BDB2-234D6247B540}" dt="2026-10-15T14:10:08.744" v="51"/>
        <pc:sldMkLst>
          <pc:docMk/>
          <pc:sldMk cId="0" sldId="275"/>
        </pc:sldMkLst>
        <pc:spChg chg="mod">
          <ac:chgData name="Steve France" userId="b43bac2f-065f-4dab-8869-567f51c0338e" providerId="ADAL" clId="{32976B86-9A01-5E05-BDB2-234D6247B540}" dt="2026-10-15T14:08:31.677" v="39" actId="14100"/>
          <ac:spMkLst>
            <pc:docMk/>
            <pc:sldMk cId="0" sldId="275"/>
            <ac:spMk id="2" creationId="{00000000-0000-0000-0000-000000000000}"/>
          </ac:spMkLst>
        </pc:spChg>
        <pc:spChg chg="mod">
          <ac:chgData name="Steve France" userId="b43bac2f-065f-4dab-8869-567f51c0338e" providerId="ADAL" clId="{32976B86-9A01-5E05-BDB2-234D6247B540}" dt="2026-10-15T14:09:42.940" v="47" actId="1076"/>
          <ac:spMkLst>
            <pc:docMk/>
            <pc:sldMk cId="0" sldId="275"/>
            <ac:spMk id="4"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7"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9"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3"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4" creationId="{00000000-0000-0000-0000-000000000000}"/>
          </ac:spMkLst>
        </pc:spChg>
        <pc:spChg chg="mod">
          <ac:chgData name="Steve France" userId="b43bac2f-065f-4dab-8869-567f51c0338e" providerId="ADAL" clId="{32976B86-9A01-5E05-BDB2-234D6247B540}" dt="2026-10-15T14:09:29.907" v="45" actId="14100"/>
          <ac:spMkLst>
            <pc:docMk/>
            <pc:sldMk cId="0" sldId="275"/>
            <ac:spMk id="930" creationId="{00000000-0000-0000-0000-000000000000}"/>
          </ac:spMkLst>
        </pc:spChg>
        <pc:cxnChg chg="mod">
          <ac:chgData name="Steve France" userId="b43bac2f-065f-4dab-8869-567f51c0338e" providerId="ADAL" clId="{32976B86-9A01-5E05-BDB2-234D6247B540}" dt="2026-10-15T14:09:53.165" v="49" actId="14100"/>
          <ac:cxnSpMkLst>
            <pc:docMk/>
            <pc:sldMk cId="0" sldId="275"/>
            <ac:cxnSpMk id="906" creationId="{00000000-0000-0000-0000-000000000000}"/>
          </ac:cxnSpMkLst>
        </pc:cxnChg>
        <pc:cxnChg chg="mod">
          <ac:chgData name="Steve France" userId="b43bac2f-065f-4dab-8869-567f51c0338e" providerId="ADAL" clId="{32976B86-9A01-5E05-BDB2-234D6247B540}" dt="2026-10-15T14:09:48.534" v="48" actId="1076"/>
          <ac:cxnSpMkLst>
            <pc:docMk/>
            <pc:sldMk cId="0" sldId="275"/>
            <ac:cxnSpMk id="908" creationId="{00000000-0000-0000-0000-000000000000}"/>
          </ac:cxnSpMkLst>
        </pc:cxnChg>
      </pc:sldChg>
      <pc:sldChg chg="modSp mod modAnim">
        <pc:chgData name="Steve France" userId="b43bac2f-065f-4dab-8869-567f51c0338e" providerId="ADAL" clId="{32976B86-9A01-5E05-BDB2-234D6247B540}" dt="2026-10-15T14:08:12.337" v="38"/>
        <pc:sldMkLst>
          <pc:docMk/>
          <pc:sldMk cId="0" sldId="276"/>
        </pc:sldMkLst>
        <pc:spChg chg="mod">
          <ac:chgData name="Steve France" userId="b43bac2f-065f-4dab-8869-567f51c0338e" providerId="ADAL" clId="{32976B86-9A01-5E05-BDB2-234D6247B540}" dt="2026-10-15T14:07:57.288" v="37" actId="20577"/>
          <ac:spMkLst>
            <pc:docMk/>
            <pc:sldMk cId="0" sldId="276"/>
            <ac:spMk id="2" creationId="{00000000-0000-0000-0000-000000000000}"/>
          </ac:spMkLst>
        </pc:spChg>
        <pc:spChg chg="mod">
          <ac:chgData name="Steve France" userId="b43bac2f-065f-4dab-8869-567f51c0338e" providerId="ADAL" clId="{32976B86-9A01-5E05-BDB2-234D6247B540}" dt="2026-10-15T14:07:48.828" v="35" actId="20577"/>
          <ac:spMkLst>
            <pc:docMk/>
            <pc:sldMk cId="0" sldId="276"/>
            <ac:spMk id="902" creationId="{00000000-0000-0000-0000-000000000000}"/>
          </ac:spMkLst>
        </pc:spChg>
        <pc:spChg chg="mod">
          <ac:chgData name="Steve France" userId="b43bac2f-065f-4dab-8869-567f51c0338e" providerId="ADAL" clId="{32976B86-9A01-5E05-BDB2-234D6247B540}" dt="2026-10-15T14:07:39.318" v="33" actId="20577"/>
          <ac:spMkLst>
            <pc:docMk/>
            <pc:sldMk cId="0" sldId="276"/>
            <ac:spMk id="904" creationId="{00000000-0000-0000-0000-000000000000}"/>
          </ac:spMkLst>
        </pc:spChg>
        <pc:spChg chg="mod">
          <ac:chgData name="Steve France" userId="b43bac2f-065f-4dab-8869-567f51c0338e" providerId="ADAL" clId="{32976B86-9A01-5E05-BDB2-234D6247B540}" dt="2026-10-15T14:07:16.270" v="27" actId="1076"/>
          <ac:spMkLst>
            <pc:docMk/>
            <pc:sldMk cId="0" sldId="276"/>
            <ac:spMk id="906" creationId="{00000000-0000-0000-0000-000000000000}"/>
          </ac:spMkLst>
        </pc:spChg>
        <pc:spChg chg="mod">
          <ac:chgData name="Steve France" userId="b43bac2f-065f-4dab-8869-567f51c0338e" providerId="ADAL" clId="{32976B86-9A01-5E05-BDB2-234D6247B540}" dt="2026-10-15T14:07:20.989" v="28" actId="1076"/>
          <ac:spMkLst>
            <pc:docMk/>
            <pc:sldMk cId="0" sldId="276"/>
            <ac:spMk id="908" creationId="{00000000-0000-0000-0000-000000000000}"/>
          </ac:spMkLst>
        </pc:spChg>
        <pc:cxnChg chg="mod">
          <ac:chgData name="Steve France" userId="b43bac2f-065f-4dab-8869-567f51c0338e" providerId="ADAL" clId="{32976B86-9A01-5E05-BDB2-234D6247B540}" dt="2026-10-15T14:07:33.589" v="32" actId="14100"/>
          <ac:cxnSpMkLst>
            <pc:docMk/>
            <pc:sldMk cId="0" sldId="276"/>
            <ac:cxnSpMk id="930" creationId="{00000000-0000-0000-0000-000000000000}"/>
          </ac:cxnSpMkLst>
        </pc:cxnChg>
        <pc:cxnChg chg="mod">
          <ac:chgData name="Steve France" userId="b43bac2f-065f-4dab-8869-567f51c0338e" providerId="ADAL" clId="{32976B86-9A01-5E05-BDB2-234D6247B540}" dt="2026-10-15T14:07:30.637" v="31" actId="14100"/>
          <ac:cxnSpMkLst>
            <pc:docMk/>
            <pc:sldMk cId="0" sldId="276"/>
            <ac:cxnSpMk id="931" creationId="{00000000-0000-0000-0000-000000000000}"/>
          </ac:cxnSpMkLst>
        </pc:cxnChg>
        <pc:cxnChg chg="mod">
          <ac:chgData name="Steve France" userId="b43bac2f-065f-4dab-8869-567f51c0338e" providerId="ADAL" clId="{32976B86-9A01-5E05-BDB2-234D6247B540}" dt="2026-10-15T14:07:27.453" v="30" actId="14100"/>
          <ac:cxnSpMkLst>
            <pc:docMk/>
            <pc:sldMk cId="0" sldId="276"/>
            <ac:cxnSpMk id="932" creationId="{00000000-0000-0000-0000-000000000000}"/>
          </ac:cxnSpMkLst>
        </pc:cxnChg>
        <pc:cxnChg chg="mod">
          <ac:chgData name="Steve France" userId="b43bac2f-065f-4dab-8869-567f51c0338e" providerId="ADAL" clId="{32976B86-9A01-5E05-BDB2-234D6247B540}" dt="2026-10-15T14:07:24.894" v="29" actId="14100"/>
          <ac:cxnSpMkLst>
            <pc:docMk/>
            <pc:sldMk cId="0" sldId="276"/>
            <ac:cxnSpMk id="933" creationId="{00000000-0000-0000-0000-000000000000}"/>
          </ac:cxnSpMkLst>
        </pc:cxnChg>
      </pc:sldChg>
      <pc:sldChg chg="modSp mod">
        <pc:chgData name="Steve France" userId="b43bac2f-065f-4dab-8869-567f51c0338e" providerId="ADAL" clId="{32976B86-9A01-5E05-BDB2-234D6247B540}" dt="2026-10-15T14:10:19.764" v="54" actId="20577"/>
        <pc:sldMkLst>
          <pc:docMk/>
          <pc:sldMk cId="0" sldId="280"/>
        </pc:sldMkLst>
        <pc:spChg chg="mod">
          <ac:chgData name="Steve France" userId="b43bac2f-065f-4dab-8869-567f51c0338e" providerId="ADAL" clId="{32976B86-9A01-5E05-BDB2-234D6247B540}" dt="2026-10-15T14:10:19.764" v="54" actId="20577"/>
          <ac:spMkLst>
            <pc:docMk/>
            <pc:sldMk cId="0" sldId="280"/>
            <ac:spMk id="902" creationId="{00000000-0000-0000-0000-000000000000}"/>
          </ac:spMkLst>
        </pc:spChg>
      </pc:sldChg>
      <pc:sldChg chg="modSp mod">
        <pc:chgData name="Steve France" userId="b43bac2f-065f-4dab-8869-567f51c0338e" providerId="ADAL" clId="{32976B86-9A01-5E05-BDB2-234D6247B540}" dt="2026-10-15T14:10:46.093" v="60" actId="1076"/>
        <pc:sldMkLst>
          <pc:docMk/>
          <pc:sldMk cId="0" sldId="282"/>
        </pc:sldMkLst>
        <pc:spChg chg="mod">
          <ac:chgData name="Steve France" userId="b43bac2f-065f-4dab-8869-567f51c0338e" providerId="ADAL" clId="{32976B86-9A01-5E05-BDB2-234D6247B540}" dt="2026-10-15T14:10:36.700" v="57" actId="1076"/>
          <ac:spMkLst>
            <pc:docMk/>
            <pc:sldMk cId="0" sldId="282"/>
            <ac:spMk id="901" creationId="{00000000-0000-0000-0000-000000000000}"/>
          </ac:spMkLst>
        </pc:spChg>
        <pc:spChg chg="mod">
          <ac:chgData name="Steve France" userId="b43bac2f-065f-4dab-8869-567f51c0338e" providerId="ADAL" clId="{32976B86-9A01-5E05-BDB2-234D6247B540}" dt="2026-10-15T14:10:46.093" v="60" actId="1076"/>
          <ac:spMkLst>
            <pc:docMk/>
            <pc:sldMk cId="0" sldId="282"/>
            <ac:spMk id="902" creationId="{00000000-0000-0000-0000-000000000000}"/>
          </ac:spMkLst>
        </pc:spChg>
      </pc:sldChg>
      <pc:sldChg chg="modSp mod">
        <pc:chgData name="Steve France" userId="b43bac2f-065f-4dab-8869-567f51c0338e" providerId="ADAL" clId="{32976B86-9A01-5E05-BDB2-234D6247B540}" dt="2026-10-15T14:11:15.733" v="69" actId="20577"/>
        <pc:sldMkLst>
          <pc:docMk/>
          <pc:sldMk cId="0" sldId="284"/>
        </pc:sldMkLst>
        <pc:spChg chg="mod">
          <ac:chgData name="Steve France" userId="b43bac2f-065f-4dab-8869-567f51c0338e" providerId="ADAL" clId="{32976B86-9A01-5E05-BDB2-234D6247B540}" dt="2026-10-15T14:11:09.597" v="66" actId="20577"/>
          <ac:spMkLst>
            <pc:docMk/>
            <pc:sldMk cId="0" sldId="284"/>
            <ac:spMk id="2" creationId="{00000000-0000-0000-0000-000000000000}"/>
          </ac:spMkLst>
        </pc:spChg>
        <pc:spChg chg="mod">
          <ac:chgData name="Steve France" userId="b43bac2f-065f-4dab-8869-567f51c0338e" providerId="ADAL" clId="{32976B86-9A01-5E05-BDB2-234D6247B540}" dt="2026-10-15T14:11:12.513" v="68" actId="20577"/>
          <ac:spMkLst>
            <pc:docMk/>
            <pc:sldMk cId="0" sldId="284"/>
            <ac:spMk id="4" creationId="{00000000-0000-0000-0000-000000000000}"/>
          </ac:spMkLst>
        </pc:spChg>
        <pc:spChg chg="mod">
          <ac:chgData name="Steve France" userId="b43bac2f-065f-4dab-8869-567f51c0338e" providerId="ADAL" clId="{32976B86-9A01-5E05-BDB2-234D6247B540}" dt="2026-10-15T14:11:02.397" v="62" actId="20577"/>
          <ac:spMkLst>
            <pc:docMk/>
            <pc:sldMk cId="0" sldId="284"/>
            <ac:spMk id="901" creationId="{00000000-0000-0000-0000-000000000000}"/>
          </ac:spMkLst>
        </pc:spChg>
        <pc:spChg chg="mod">
          <ac:chgData name="Steve France" userId="b43bac2f-065f-4dab-8869-567f51c0338e" providerId="ADAL" clId="{32976B86-9A01-5E05-BDB2-234D6247B540}" dt="2026-10-15T14:11:06.268" v="64" actId="20577"/>
          <ac:spMkLst>
            <pc:docMk/>
            <pc:sldMk cId="0" sldId="284"/>
            <ac:spMk id="902" creationId="{00000000-0000-0000-0000-000000000000}"/>
          </ac:spMkLst>
        </pc:spChg>
        <pc:spChg chg="mod">
          <ac:chgData name="Steve France" userId="b43bac2f-065f-4dab-8869-567f51c0338e" providerId="ADAL" clId="{32976B86-9A01-5E05-BDB2-234D6247B540}" dt="2026-10-15T14:11:15.733" v="69" actId="20577"/>
          <ac:spMkLst>
            <pc:docMk/>
            <pc:sldMk cId="0" sldId="284"/>
            <ac:spMk id="903" creationId="{00000000-0000-0000-0000-000000000000}"/>
          </ac:spMkLst>
        </pc:spChg>
      </pc:sldChg>
      <pc:sldChg chg="modSp mod">
        <pc:chgData name="Steve France" userId="b43bac2f-065f-4dab-8869-567f51c0338e" providerId="ADAL" clId="{32976B86-9A01-5E05-BDB2-234D6247B540}" dt="2026-10-15T14:14:01.356" v="88" actId="14100"/>
        <pc:sldMkLst>
          <pc:docMk/>
          <pc:sldMk cId="0" sldId="285"/>
        </pc:sldMkLst>
        <pc:spChg chg="mod">
          <ac:chgData name="Steve France" userId="b43bac2f-065f-4dab-8869-567f51c0338e" providerId="ADAL" clId="{32976B86-9A01-5E05-BDB2-234D6247B540}" dt="2026-10-15T14:13:48.440" v="86" actId="20577"/>
          <ac:spMkLst>
            <pc:docMk/>
            <pc:sldMk cId="0" sldId="285"/>
            <ac:spMk id="901" creationId="{00000000-0000-0000-0000-000000000000}"/>
          </ac:spMkLst>
        </pc:spChg>
        <pc:spChg chg="mod">
          <ac:chgData name="Steve France" userId="b43bac2f-065f-4dab-8869-567f51c0338e" providerId="ADAL" clId="{32976B86-9A01-5E05-BDB2-234D6247B540}" dt="2026-10-15T14:13:31.669" v="80" actId="113"/>
          <ac:spMkLst>
            <pc:docMk/>
            <pc:sldMk cId="0" sldId="285"/>
            <ac:spMk id="902" creationId="{00000000-0000-0000-0000-000000000000}"/>
          </ac:spMkLst>
        </pc:spChg>
        <pc:spChg chg="mod">
          <ac:chgData name="Steve France" userId="b43bac2f-065f-4dab-8869-567f51c0338e" providerId="ADAL" clId="{32976B86-9A01-5E05-BDB2-234D6247B540}" dt="2026-10-15T14:13:40.972" v="82" actId="113"/>
          <ac:spMkLst>
            <pc:docMk/>
            <pc:sldMk cId="0" sldId="285"/>
            <ac:spMk id="903" creationId="{00000000-0000-0000-0000-000000000000}"/>
          </ac:spMkLst>
        </pc:spChg>
        <pc:spChg chg="mod">
          <ac:chgData name="Steve France" userId="b43bac2f-065f-4dab-8869-567f51c0338e" providerId="ADAL" clId="{32976B86-9A01-5E05-BDB2-234D6247B540}" dt="2026-10-15T14:14:01.356" v="88" actId="14100"/>
          <ac:spMkLst>
            <pc:docMk/>
            <pc:sldMk cId="0" sldId="285"/>
            <ac:spMk id="907" creationId="{00000000-0000-0000-0000-000000000000}"/>
          </ac:spMkLst>
        </pc:spChg>
      </pc:sldChg>
      <pc:sldChg chg="modSp mod">
        <pc:chgData name="Steve France" userId="b43bac2f-065f-4dab-8869-567f51c0338e" providerId="ADAL" clId="{32976B86-9A01-5E05-BDB2-234D6247B540}" dt="2026-10-15T14:16:48.673" v="96" actId="20577"/>
        <pc:sldMkLst>
          <pc:docMk/>
          <pc:sldMk cId="0" sldId="286"/>
        </pc:sldMkLst>
        <pc:spChg chg="mod">
          <ac:chgData name="Steve France" userId="b43bac2f-065f-4dab-8869-567f51c0338e" providerId="ADAL" clId="{32976B86-9A01-5E05-BDB2-234D6247B540}" dt="2026-10-15T14:16:48.673" v="96" actId="20577"/>
          <ac:spMkLst>
            <pc:docMk/>
            <pc:sldMk cId="0" sldId="286"/>
            <ac:spMk id="902" creationId="{00000000-0000-0000-0000-000000000000}"/>
          </ac:spMkLst>
        </pc:spChg>
      </pc:sldChg>
      <pc:sldChg chg="addSp delSp modSp mod">
        <pc:chgData name="Steve France" userId="b43bac2f-065f-4dab-8869-567f51c0338e" providerId="ADAL" clId="{32976B86-9A01-5E05-BDB2-234D6247B540}" dt="2026-10-15T14:19:20.912" v="114" actId="478"/>
        <pc:sldMkLst>
          <pc:docMk/>
          <pc:sldMk cId="0" sldId="288"/>
        </pc:sldMkLst>
        <pc:spChg chg="add mod">
          <ac:chgData name="Steve France" userId="b43bac2f-065f-4dab-8869-567f51c0338e" providerId="ADAL" clId="{32976B86-9A01-5E05-BDB2-234D6247B540}" dt="2026-10-15T14:18:55.711" v="108"/>
          <ac:spMkLst>
            <pc:docMk/>
            <pc:sldMk cId="0" sldId="288"/>
            <ac:spMk id="9" creationId="{09908E59-84CC-9647-89B0-785360C06A87}"/>
          </ac:spMkLst>
        </pc:spChg>
        <pc:spChg chg="add mod">
          <ac:chgData name="Steve France" userId="b43bac2f-065f-4dab-8869-567f51c0338e" providerId="ADAL" clId="{32976B86-9A01-5E05-BDB2-234D6247B540}" dt="2026-10-15T14:19:17.510" v="113" actId="20577"/>
          <ac:spMkLst>
            <pc:docMk/>
            <pc:sldMk cId="0" sldId="288"/>
            <ac:spMk id="10" creationId="{59ACB01E-0DA3-4436-B112-9FD586B45DE7}"/>
          </ac:spMkLst>
        </pc:spChg>
        <pc:spChg chg="del mod">
          <ac:chgData name="Steve France" userId="b43bac2f-065f-4dab-8869-567f51c0338e" providerId="ADAL" clId="{32976B86-9A01-5E05-BDB2-234D6247B540}" dt="2026-10-15T14:19:20.912" v="114" actId="478"/>
          <ac:spMkLst>
            <pc:docMk/>
            <pc:sldMk cId="0" sldId="288"/>
            <ac:spMk id="913" creationId="{00000000-0000-0000-0000-000000000000}"/>
          </ac:spMkLst>
        </pc:spChg>
      </pc:sldChg>
      <pc:sldChg chg="addSp delSp modSp mod">
        <pc:chgData name="Steve France" userId="b43bac2f-065f-4dab-8869-567f51c0338e" providerId="ADAL" clId="{32976B86-9A01-5E05-BDB2-234D6247B540}" dt="2026-10-15T14:19:42.586" v="120" actId="14100"/>
        <pc:sldMkLst>
          <pc:docMk/>
          <pc:sldMk cId="0" sldId="289"/>
        </pc:sldMkLst>
        <pc:spChg chg="del mod">
          <ac:chgData name="Steve France" userId="b43bac2f-065f-4dab-8869-567f51c0338e" providerId="ADAL" clId="{32976B86-9A01-5E05-BDB2-234D6247B540}" dt="2026-10-15T14:19:38.855" v="119" actId="478"/>
          <ac:spMkLst>
            <pc:docMk/>
            <pc:sldMk cId="0" sldId="289"/>
            <ac:spMk id="2" creationId="{A01D4652-4B3B-10DE-B286-362A6003B509}"/>
          </ac:spMkLst>
        </pc:spChg>
        <pc:spChg chg="mod">
          <ac:chgData name="Steve France" userId="b43bac2f-065f-4dab-8869-567f51c0338e" providerId="ADAL" clId="{32976B86-9A01-5E05-BDB2-234D6247B540}" dt="2026-10-15T14:12:35.262" v="73" actId="122"/>
          <ac:spMkLst>
            <pc:docMk/>
            <pc:sldMk cId="0" sldId="289"/>
            <ac:spMk id="4" creationId="{00000000-0000-0000-0000-000000000000}"/>
          </ac:spMkLst>
        </pc:spChg>
        <pc:spChg chg="add mod">
          <ac:chgData name="Steve France" userId="b43bac2f-065f-4dab-8869-567f51c0338e" providerId="ADAL" clId="{32976B86-9A01-5E05-BDB2-234D6247B540}" dt="2026-10-15T14:19:42.586" v="120" actId="14100"/>
          <ac:spMkLst>
            <pc:docMk/>
            <pc:sldMk cId="0" sldId="289"/>
            <ac:spMk id="5" creationId="{91831ADA-8EDC-A3A7-6BAD-CC927399FDFC}"/>
          </ac:spMkLst>
        </pc:spChg>
      </pc:sldChg>
      <pc:sldChg chg="modSp mod modAnim">
        <pc:chgData name="Steve France" userId="b43bac2f-065f-4dab-8869-567f51c0338e" providerId="ADAL" clId="{32976B86-9A01-5E05-BDB2-234D6247B540}" dt="2026-10-15T14:06:47.552" v="21"/>
        <pc:sldMkLst>
          <pc:docMk/>
          <pc:sldMk cId="0" sldId="295"/>
        </pc:sldMkLst>
        <pc:spChg chg="mod">
          <ac:chgData name="Steve France" userId="b43bac2f-065f-4dab-8869-567f51c0338e" providerId="ADAL" clId="{32976B86-9A01-5E05-BDB2-234D6247B540}" dt="2026-10-15T14:05:45.973" v="12" actId="1076"/>
          <ac:spMkLst>
            <pc:docMk/>
            <pc:sldMk cId="0" sldId="295"/>
            <ac:spMk id="907" creationId="{00000000-0000-0000-0000-000000000000}"/>
          </ac:spMkLst>
        </pc:spChg>
        <pc:spChg chg="mod">
          <ac:chgData name="Steve France" userId="b43bac2f-065f-4dab-8869-567f51c0338e" providerId="ADAL" clId="{32976B86-9A01-5E05-BDB2-234D6247B540}" dt="2026-10-15T14:06:42.132" v="19" actId="1076"/>
          <ac:spMkLst>
            <pc:docMk/>
            <pc:sldMk cId="0" sldId="295"/>
            <ac:spMk id="908" creationId="{00000000-0000-0000-0000-000000000000}"/>
          </ac:spMkLst>
        </pc:spChg>
        <pc:spChg chg="mod">
          <ac:chgData name="Steve France" userId="b43bac2f-065f-4dab-8869-567f51c0338e" providerId="ADAL" clId="{32976B86-9A01-5E05-BDB2-234D6247B540}" dt="2026-10-15T14:06:24.798" v="14" actId="1076"/>
          <ac:spMkLst>
            <pc:docMk/>
            <pc:sldMk cId="0" sldId="295"/>
            <ac:spMk id="909" creationId="{00000000-0000-0000-0000-000000000000}"/>
          </ac:spMkLst>
        </pc:spChg>
        <pc:spChg chg="mod">
          <ac:chgData name="Steve France" userId="b43bac2f-065f-4dab-8869-567f51c0338e" providerId="ADAL" clId="{32976B86-9A01-5E05-BDB2-234D6247B540}" dt="2026-10-15T14:06:31.163" v="16" actId="1076"/>
          <ac:spMkLst>
            <pc:docMk/>
            <pc:sldMk cId="0" sldId="295"/>
            <ac:spMk id="910" creationId="{00000000-0000-0000-0000-000000000000}"/>
          </ac:spMkLst>
        </pc:spChg>
      </pc:sldChg>
      <pc:sldChg chg="addSp delSp modSp mod">
        <pc:chgData name="Steve France" userId="b43bac2f-065f-4dab-8869-567f51c0338e" providerId="ADAL" clId="{32976B86-9A01-5E05-BDB2-234D6247B540}" dt="2026-10-15T14:18:21.183" v="102" actId="478"/>
        <pc:sldMkLst>
          <pc:docMk/>
          <pc:sldMk cId="0" sldId="297"/>
        </pc:sldMkLst>
        <pc:spChg chg="add mod">
          <ac:chgData name="Steve France" userId="b43bac2f-065f-4dab-8869-567f51c0338e" providerId="ADAL" clId="{32976B86-9A01-5E05-BDB2-234D6247B540}" dt="2026-10-15T14:18:16.984" v="101" actId="20577"/>
          <ac:spMkLst>
            <pc:docMk/>
            <pc:sldMk cId="0" sldId="297"/>
            <ac:spMk id="2" creationId="{FD8455BC-70BE-F9BE-1EFA-EF74DBF9EA1F}"/>
          </ac:spMkLst>
        </pc:spChg>
        <pc:spChg chg="del mod">
          <ac:chgData name="Steve France" userId="b43bac2f-065f-4dab-8869-567f51c0338e" providerId="ADAL" clId="{32976B86-9A01-5E05-BDB2-234D6247B540}" dt="2026-10-15T14:18:21.183" v="102" actId="478"/>
          <ac:spMkLst>
            <pc:docMk/>
            <pc:sldMk cId="0" sldId="297"/>
            <ac:spMk id="913" creationId="{00000000-0000-0000-0000-000000000000}"/>
          </ac:spMkLst>
        </pc:spChg>
      </pc:sldChg>
      <pc:sldChg chg="addSp delSp modSp mod">
        <pc:chgData name="Steve France" userId="b43bac2f-065f-4dab-8869-567f51c0338e" providerId="ADAL" clId="{32976B86-9A01-5E05-BDB2-234D6247B540}" dt="2026-10-15T14:19:50.626" v="121" actId="14100"/>
        <pc:sldMkLst>
          <pc:docMk/>
          <pc:sldMk cId="0" sldId="298"/>
        </pc:sldMkLst>
        <pc:spChg chg="add mod">
          <ac:chgData name="Steve France" userId="b43bac2f-065f-4dab-8869-567f51c0338e" providerId="ADAL" clId="{32976B86-9A01-5E05-BDB2-234D6247B540}" dt="2026-10-15T14:19:50.626" v="121" actId="14100"/>
          <ac:spMkLst>
            <pc:docMk/>
            <pc:sldMk cId="0" sldId="298"/>
            <ac:spMk id="2" creationId="{70A60551-974B-6C1D-5520-F61391E9415F}"/>
          </ac:spMkLst>
        </pc:spChg>
        <pc:spChg chg="mod">
          <ac:chgData name="Steve France" userId="b43bac2f-065f-4dab-8869-567f51c0338e" providerId="ADAL" clId="{32976B86-9A01-5E05-BDB2-234D6247B540}" dt="2026-10-15T14:12:56.492" v="77" actId="20577"/>
          <ac:spMkLst>
            <pc:docMk/>
            <pc:sldMk cId="0" sldId="298"/>
            <ac:spMk id="903" creationId="{00000000-0000-0000-0000-000000000000}"/>
          </ac:spMkLst>
        </pc:spChg>
        <pc:spChg chg="mod">
          <ac:chgData name="Steve France" userId="b43bac2f-065f-4dab-8869-567f51c0338e" providerId="ADAL" clId="{32976B86-9A01-5E05-BDB2-234D6247B540}" dt="2026-10-15T14:12:51.661" v="76" actId="20577"/>
          <ac:spMkLst>
            <pc:docMk/>
            <pc:sldMk cId="0" sldId="298"/>
            <ac:spMk id="907" creationId="{00000000-0000-0000-0000-000000000000}"/>
          </ac:spMkLst>
        </pc:spChg>
        <pc:spChg chg="del mod">
          <ac:chgData name="Steve France" userId="b43bac2f-065f-4dab-8869-567f51c0338e" providerId="ADAL" clId="{32976B86-9A01-5E05-BDB2-234D6247B540}" dt="2026-10-15T14:18:50.508" v="107" actId="478"/>
          <ac:spMkLst>
            <pc:docMk/>
            <pc:sldMk cId="0" sldId="298"/>
            <ac:spMk id="913" creationId="{00000000-0000-0000-0000-000000000000}"/>
          </ac:spMkLst>
        </pc:spChg>
      </pc:sldChg>
      <pc:sldChg chg="modSp mod">
        <pc:chgData name="Steve France" userId="b43bac2f-065f-4dab-8869-567f51c0338e" providerId="ADAL" clId="{32976B86-9A01-5E05-BDB2-234D6247B540}" dt="2026-10-15T14:04:55.413" v="5" actId="1076"/>
        <pc:sldMkLst>
          <pc:docMk/>
          <pc:sldMk cId="0" sldId="300"/>
        </pc:sldMkLst>
        <pc:spChg chg="mod">
          <ac:chgData name="Steve France" userId="b43bac2f-065f-4dab-8869-567f51c0338e" providerId="ADAL" clId="{32976B86-9A01-5E05-BDB2-234D6247B540}" dt="2026-10-15T14:04:55.413" v="5" actId="1076"/>
          <ac:spMkLst>
            <pc:docMk/>
            <pc:sldMk cId="0" sldId="300"/>
            <ac:spMk id="901" creationId="{00000000-0000-0000-0000-000000000000}"/>
          </ac:spMkLst>
        </pc:spChg>
      </pc:sldChg>
      <pc:sldChg chg="modSp mod">
        <pc:chgData name="Steve France" userId="b43bac2f-065f-4dab-8869-567f51c0338e" providerId="ADAL" clId="{32976B86-9A01-5E05-BDB2-234D6247B540}" dt="2026-10-15T14:20:40.611" v="129" actId="20577"/>
        <pc:sldMkLst>
          <pc:docMk/>
          <pc:sldMk cId="0" sldId="301"/>
        </pc:sldMkLst>
        <pc:spChg chg="mod">
          <ac:chgData name="Steve France" userId="b43bac2f-065f-4dab-8869-567f51c0338e" providerId="ADAL" clId="{32976B86-9A01-5E05-BDB2-234D6247B540}" dt="2026-10-15T14:20:33.847" v="126" actId="20577"/>
          <ac:spMkLst>
            <pc:docMk/>
            <pc:sldMk cId="0" sldId="301"/>
            <ac:spMk id="2" creationId="{00000000-0000-0000-0000-000000000000}"/>
          </ac:spMkLst>
        </pc:spChg>
        <pc:spChg chg="mod">
          <ac:chgData name="Steve France" userId="b43bac2f-065f-4dab-8869-567f51c0338e" providerId="ADAL" clId="{32976B86-9A01-5E05-BDB2-234D6247B540}" dt="2026-10-15T14:20:29.689" v="125" actId="20577"/>
          <ac:spMkLst>
            <pc:docMk/>
            <pc:sldMk cId="0" sldId="301"/>
            <ac:spMk id="4" creationId="{00000000-0000-0000-0000-000000000000}"/>
          </ac:spMkLst>
        </pc:spChg>
        <pc:spChg chg="mod">
          <ac:chgData name="Steve France" userId="b43bac2f-065f-4dab-8869-567f51c0338e" providerId="ADAL" clId="{32976B86-9A01-5E05-BDB2-234D6247B540}" dt="2026-10-15T14:20:18.036" v="122" actId="20577"/>
          <ac:spMkLst>
            <pc:docMk/>
            <pc:sldMk cId="0" sldId="301"/>
            <ac:spMk id="909" creationId="{00000000-0000-0000-0000-000000000000}"/>
          </ac:spMkLst>
        </pc:spChg>
        <pc:spChg chg="mod">
          <ac:chgData name="Steve France" userId="b43bac2f-065f-4dab-8869-567f51c0338e" providerId="ADAL" clId="{32976B86-9A01-5E05-BDB2-234D6247B540}" dt="2026-10-15T14:20:40.611" v="129" actId="20577"/>
          <ac:spMkLst>
            <pc:docMk/>
            <pc:sldMk cId="0" sldId="301"/>
            <ac:spMk id="910" creationId="{00000000-0000-0000-0000-000000000000}"/>
          </ac:spMkLst>
        </pc:spChg>
        <pc:spChg chg="mod">
          <ac:chgData name="Steve France" userId="b43bac2f-065f-4dab-8869-567f51c0338e" providerId="ADAL" clId="{32976B86-9A01-5E05-BDB2-234D6247B540}" dt="2026-10-15T14:20:36.514" v="127" actId="20577"/>
          <ac:spMkLst>
            <pc:docMk/>
            <pc:sldMk cId="0" sldId="301"/>
            <ac:spMk id="911" creationId="{00000000-0000-0000-0000-000000000000}"/>
          </ac:spMkLst>
        </pc:spChg>
        <pc:spChg chg="mod">
          <ac:chgData name="Steve France" userId="b43bac2f-065f-4dab-8869-567f51c0338e" providerId="ADAL" clId="{32976B86-9A01-5E05-BDB2-234D6247B540}" dt="2026-10-15T14:20:37.654" v="128" actId="20577"/>
          <ac:spMkLst>
            <pc:docMk/>
            <pc:sldMk cId="0" sldId="301"/>
            <ac:spMk id="912" creationId="{00000000-0000-0000-0000-000000000000}"/>
          </ac:spMkLst>
        </pc:spChg>
        <pc:spChg chg="mod">
          <ac:chgData name="Steve France" userId="b43bac2f-065f-4dab-8869-567f51c0338e" providerId="ADAL" clId="{32976B86-9A01-5E05-BDB2-234D6247B540}" dt="2026-10-15T14:11:55.500" v="70" actId="20577"/>
          <ac:spMkLst>
            <pc:docMk/>
            <pc:sldMk cId="0" sldId="301"/>
            <ac:spMk id="91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10/22/26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COVER AND MODULE OUTLINE in one breath; the clock belongs to deployment.</a:t>
            </a:r>
          </a:p>
          <a:p>
            <a:r>
              <a:t>ORIENTATION, one sentence each: the Act III kickoff (its own short deck) introduced the engineering method and the running example, Campus Room Reservations: an HTTP API over reservation logic with in-memory state, three capabilities, and deliberately no persistent database, no authentication, no cloud deployment. It closed on the question this lecture answers: where does the application run?</a:t>
            </a:r>
          </a:p>
          <a:p>
            <a:r>
              <a:t>THE ENGINEERING QUESTION (the italic line): where does software execute, and how do we ensure it runs acceptably there? CI/CD and release management enter later as mechanisms for moving an implementation into an acceptable execution environment, not as the organizing idea.</a:t>
            </a:r>
          </a:p>
          <a:p>
            <a:r>
              <a:t>MODULE OUTLINE (the card): execution environments; deployment models and configuration; CI/CD; release management; a worked deployment of the reservation service.</a:t>
            </a:r>
          </a:p>
          <a:p>
            <a:r>
              <a:t>TRANSITION: start where the kickoff left off. What does this application require from whatever it runs 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CENTRAL MODEL OF THE SECTION — requirements vs. capabilities.</a:t>
            </a:r>
          </a:p>
          <a:p>
            <a:r>
              <a:t>DRAW THE DISTINCTION: the application REQUIRES (CPU and memory, an OS and runtime, storage, network and device interfaces); the environment SUPPLIES. Two lists, one acceptability condition — the footer states it.</a:t>
            </a:r>
          </a:p>
          <a:p>
            <a:r>
              <a:t>ASK: the reservation service "requires an OS" — which one? EXPECTED: nobody knows; the laptop's. That is the point: unstated requirements are still requirements, discovered at the worst time.</a:t>
            </a:r>
          </a:p>
          <a:p>
            <a:r>
              <a:t>ENGINEERING POINT: deployment failures are usually a requirement the environment silently does not satisfy — a missing runtime version, too little memory, no network route. The model makes the match checkable BEFORE the attempt (this is the Alignment arrow into Realize from the kickoff flowchart).</a:t>
            </a:r>
          </a:p>
          <a:p>
            <a:r>
              <a:t>NON-CLAIM: do not claim the list of four requirement classes is complete — e.g., clock accuracy, locale, GPUs. The model names the classes that matter for THIS service.</a:t>
            </a:r>
          </a:p>
          <a:p>
            <a:r>
              <a:t>TRANSITION: environments differ in what they supply — and in what they impose.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CLOUD IS ONE ROW, NOT THE HEADLINE.</a:t>
            </a:r>
          </a:p>
          <a:p>
            <a:r>
              <a:t>WALK TWO ROWS and let students read the rest: embedded (the environment is fixed at design time — you fit the hardware or you don't ship) and cloud (resources are elastic but everything rides on the network and on services you do not operate).</a:t>
            </a:r>
          </a:p>
          <a:p>
            <a:r>
              <a:t>ASK: is the cloud the default execution environment? EXPECTED: many students assume yes. Push back with the rows: a pacemaker, a point-of-sale terminal, a flight computer, a campus lab machine. Cloud is one execution environment among several — the requirements decide.</a:t>
            </a:r>
          </a:p>
          <a:p>
            <a:r>
              <a:t>NON-CLAIM (the italic line): the categories are not mutually exclusive. A mobile app leans on cloud services; embedded systems talk to remote servers. The table classifies CONSTRAINTS, not products.</a:t>
            </a:r>
          </a:p>
          <a:p>
            <a:r>
              <a:t>TRANSITION: within a host, there is a second question — what MECHANISM runs the code: a bare process, a container, a virtual machine?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 THE TECHNICAL CORE OF THE SECTION — get the kernel distinction right.</a:t>
            </a:r>
          </a:p>
          <a:p>
            <a:r>
              <a:t>WALK THE LAYERS left to right: a process executes under an operating system; a container isolates processes while SHARING the host kernel (the runtime provides namespaces and limits, not a second OS); a VM virtualizes a machine, so it carries its own guest OS above a hypervisor.</a:t>
            </a:r>
          </a:p>
          <a:p>
            <a:r>
              <a:t>ASK: is a container a small VM? EXPECTED: many say yes. The corrective is the middle column: there is exactly one kernel in it. Isolation is weaker than a VM's, startup is faster, images are smaller — all consequences of that one fact.</a:t>
            </a:r>
          </a:p>
          <a:p>
            <a:r>
              <a:t>SECOND DISTINCTION (the italic line): embedded and mobile are deployment TARGETS; containers and VMs are execution MECHANISMS. They occupy different dimensions of the deployment model — a server target can run any of the three mechanisms.</a:t>
            </a:r>
          </a:p>
          <a:p>
            <a:r>
              <a:t>NON-CLAIM: do not imply containers guarantee reproducibility — that claim is examined two sections from now. And this is not a Docker tutorial; no tooling today.</a:t>
            </a:r>
          </a:p>
          <a:p>
            <a:r>
              <a:t>TRANSITION: mechanism chosen or not, components must be ARRANGED somewhere. That arrangement is the topology.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A UML DEPLOYMENT DIAGRAM IN MINIATURE — without turning this into UML instruction.</a:t>
            </a:r>
          </a:p>
          <a:p>
            <a:r>
              <a:t>THE NOTATION (the legend row): a NODE is an execution host — a physical or virtual place where software runs; a COMPONENT is the software deployed onto it. Communication paths (HTTPS) cross environmental boundaries — the user's device is not ours.</a:t>
            </a:r>
          </a:p>
          <a:p>
            <a:r>
              <a:t>ASK: which of these boxes is hardware, and which is software? EXPECTED confusion between "app server" (a node — could be a VM, could be metal) and "reservation service" (a component). That confusion is exactly why the diagram distinguishes them.</a:t>
            </a:r>
          </a:p>
          <a:p>
            <a:r>
              <a:t>CANONICAL-EXAMPLE DISCIPLINE (the italic line): the storage node is dashed because it is the PROPOSED production shape. The service still keeps reservations in memory — no persistent database yet. Data Management (next lecture) earns that node; we do not silently add it today.</a:t>
            </a:r>
          </a:p>
          <a:p>
            <a:r>
              <a:t>TRANSITION: three nodes imply a choice someone must make — where does the middle one actually live?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A JUDGMENT SLIDE — the model distinguishes alternatives; requirements pick one.</a:t>
            </a:r>
          </a:p>
          <a:p>
            <a:r>
              <a:t>THE THREE OPTIONS for the reservation service: a local desktop application; a self-hosted server; a managed cloud service. The grid compares availability, who operates it, resource control, cost shape, and how updates reach users.</a:t>
            </a:r>
          </a:p>
          <a:p>
            <a:r>
              <a:t>ASK (the footer): which would you choose? Take two or three answers WITH their reasons. EXPECTED: most pick managed cloud; a good minority pick self-hosted for control or cost. Then change the requirements aloud: "the building loses internet during exam week" (local wins), "one department, forty users, existing server closet" (self-hosted is fine), "every campus in the state" (managed service).</a:t>
            </a:r>
          </a:p>
          <a:p>
            <a:r>
              <a:t>ENGINEERING POINT (the bold line): cloud hosting is not automatically preferable. The judgment is driven by requirements the model makes explicit — availability, operation, control, cost, updates.</a:t>
            </a:r>
          </a:p>
          <a:p>
            <a:r>
              <a:t>NON-CLAIM: this grid is qualitative. Real decisions also price migration risk and staff expertise — Act III returns to those.</a:t>
            </a:r>
          </a:p>
          <a:p>
            <a:r>
              <a:t>TRANSITION: whatever we choose, the choice rests on assumptions. Write them down — that is the deployment model.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 THE MODEL SLIDE OF THE LECTURE. This is the REVISED two-part deployment model, and the reason for the split belongs in your delivery: the left panel describes a system's deployed STATE (execution environment, resources, topology, configuration); the right panel describes the PROCESS that changes that state (build, validate, release, observe, recover). Keeping them separate prevents the classic conflation of a deployment diagram with a CI/CD workflow.</a:t>
            </a:r>
          </a:p>
          <a:p>
            <a:r>
              <a:t>WALK THE LEFT PANEL as the reservation service's initial assumptions, read off the kickoff: one Python process on one laptop; a small footprint; a browser talking to a service on a single node; no configuration at all, because every default is hard-coded.</a:t>
            </a:r>
          </a:p>
          <a:p>
            <a:r>
              <a:t>EXERCISE (2 of the 4 minutes): propose a production environment, say a managed server with 300 student users, and ask WHICH assumptions change and which survive. Expected: execution and topology change; the resource assumption mostly survives; the configuration assumption collapses first, which sets up the configuration slide.</a:t>
            </a:r>
          </a:p>
          <a:p>
            <a:r>
              <a:t>CONNECT TO ACT II: Modeling represents the intended deployed system (left). Alignment governs transitions into that state (right, with its gates). Failure-Aware Engineering improves both from what deployment teaches.</a:t>
            </a:r>
          </a:p>
          <a:p>
            <a:r>
              <a:t>TRANSITION: the process panel starts with BUILD, and build has its own environment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DISTINCTION CI/CD WILL DEPEND ON.</a:t>
            </a:r>
          </a:p>
          <a:p>
            <a:r>
              <a:t>WALK THE CHAIN: source enters a BUILD environment and leaves as a deployable artifact; the artifact later meets a RUNTIME environment. Two different environments, and the artifact silently carries assumptions from the first into the second.</a:t>
            </a:r>
          </a:p>
          <a:p>
            <a:r>
              <a:t>ASK: what exactly does "it builds on my machine" establish? EXPECTED: that the build environment satisfies the build-time requirements. It says nothing about the runtime environment.</a:t>
            </a:r>
          </a:p>
          <a:p>
            <a:r>
              <a:t>THE FAILURE LIST (left card): missing dependencies, a different runtime version, different configuration, absent resources. Each is a requirement the destination fails to supply; this is the slide-7 acceptability condition applied twice, once per environment.</a:t>
            </a:r>
          </a:p>
          <a:p>
            <a:r>
              <a:t>NON-CLAIM: do not say pinning the build environment fixes runtime mismatches. The two environments fail independently; reproducibility (two slides ahead) addresses variation, not equivalence.</a:t>
            </a:r>
          </a:p>
          <a:p>
            <a:r>
              <a:t>TRANSITION: one class of destination assumption is so common it gets its own slide: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CONFIGURATION COMPLETES THE DEPLOYED-SYSTEM MODEL.</a:t>
            </a:r>
          </a:p>
          <a:p>
            <a:r>
              <a:t>THE CONCRETE EXAMPLE (use it, it is the canonical one): when the reservation service gains a database, it needs a connection string. That string names ONE environment. Hard-code it and the artifact can only ever deploy there; supply it as deployment configuration and the same artifact deploys anywhere the model allows.</a:t>
            </a:r>
          </a:p>
          <a:p>
            <a:r>
              <a:t>WALK THE CARD: configuration values, environment variables, secrets, endpoints of external services. All are part of the deployed system's state; none are part of the artifact.</a:t>
            </a:r>
          </a:p>
          <a:p>
            <a:r>
              <a:t>ASK: same artifact plus different configuration: is that the same system? EXPECTED disagreement, which is the point. Behavior differs; the deployment model is what accounts for the difference.</a:t>
            </a:r>
          </a:p>
          <a:p>
            <a:r>
              <a:t>NON-CLAIM: configuration does not have to mean environment variables specifically; files, secret stores and platform services all serve. The engineering point is only that the model must include it.</a:t>
            </a:r>
          </a:p>
          <a:p>
            <a:r>
              <a:t>TRANSITION: if environments and configuration vary this much, what keeps two deployments alike at all? Reproducibility, engineered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ADAPTED from the CI/CD source deck's reproducibility slide (infrastructure as code and ephemeral clean environments); expanded with declared, pinned dependencies.</a:t>
            </a:r>
          </a:p>
          <a:p>
            <a:r>
              <a:t>WHY IT MATTERS: if a test fails on one machine and passes on another, you cannot tell whether the code broke or the environment drifted. Reproducibility is what makes a verdict attributable to the change.</a:t>
            </a:r>
          </a:p>
          <a:p>
            <a:r>
              <a:t>WALK THE THREE PRACTICES: declare the dependency set and pin versions so the build's inputs are explicit; rebuild in a fresh, ephemeral environment so yesterday's state cannot leak into today's verdict; express the infrastructure as code so the environment is versioned, diffed and reviewed like any other change.</a:t>
            </a:r>
          </a:p>
          <a:p>
            <a:r>
              <a:t>THE CAVEAT CARD IS THE HONEST HALF, read it aloud: external services still vary, dependencies mutate behind version ranges, and some builds are nondeterministic. These practices reduce variation between environments; they do not eliminate it.</a:t>
            </a:r>
          </a:p>
          <a:p>
            <a:r>
              <a:t>NON-CLAIM (the author checks this one): containers do not guarantee reproducibility either. An image pins much of the filesystem; it pins neither external services nor build-time nondeterminism.</a:t>
            </a:r>
          </a:p>
          <a:p>
            <a:r>
              <a:t>TRANSITION: reproducible builds and declared environments make automation trustworthy. That automation is CI/CD.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THREE TERMS STUDENTS CONFLATE; separate them once, cleanly. ADAPTED from the CI/CD source deck's core-concepts slides, with the continuous-delivery distinction added: the originals introduce CI and continuous deployment but never separate delivery as its own idea.</a:t>
            </a:r>
          </a:p>
          <a:p>
            <a:r>
              <a:t>WALK THE CARDS: continuous integration means integrating changes frequently and evaluating each one automatically; continuous delivery means the software is kept in a releasable state at all times; continuous deployment means qualifying changes deploy automatically.</a:t>
            </a:r>
          </a:p>
          <a:p>
            <a:r>
              <a:t>THE DISTINCTION LINE: delivery is a STATE (always releasable); deployment is an ACTION (this build goes out now). The italic line carries the consequence: a delivery-practicing team still chooses its deployment moments.</a:t>
            </a:r>
          </a:p>
          <a:p>
            <a:r>
              <a:t>ASK: which of the three does a medical-device team want? EXPECTED: CI certainly, delivery probably, automated deployment probably not. The release-management section builds on exactly this.</a:t>
            </a:r>
          </a:p>
          <a:p>
            <a:r>
              <a:t>TRANSITION: all three rest on one artifact, the pipeline. What kind of thing is a pipeline?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MODELING CONNECTION, made explicit. ADAPTED from the source deck's 'Declaring a workflow' slide; the annotated real-world YAML was too implementation-specific to carry the explanation, so the diagram leads and a minimal excerpt follows.</a:t>
            </a:r>
          </a:p>
          <a:p>
            <a:r>
              <a:t>WALK THE CHAIN first: commit, build, test, package, deploy. Each stage consumes the previous stage's output and emits evidence.</a:t>
            </a:r>
          </a:p>
          <a:p>
            <a:r>
              <a:t>THEN the excerpt: the pipeline is DECLARED in a file that lives in the repository. That makes it a process model in exactly the Act II sense: a representation that automation executes. It is versioned, reviewed, and diffed like any other model.</a:t>
            </a:r>
          </a:p>
          <a:p>
            <a:r>
              <a:t>ASK: what does putting the pipeline in the repository buy? EXPECTED: changes to the process are visible, reviewable, and attributable; the process cannot silently drift from what the file says, because the file IS the process.</a:t>
            </a:r>
          </a:p>
          <a:p>
            <a:r>
              <a:t>NON-CLAIM: do not present this as GitHub-specific. Every mainstream CI system has an equivalent declaration; the engineering idea is the declared, executable process, not the vendor syntax.</a:t>
            </a:r>
          </a:p>
          <a:p>
            <a:r>
              <a:t>TRANSITION: what the pipeline does with a proposed change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CONDENSED from the source deck's eight-slide pull-request walkthrough (the Travis-CI sequence, Vasilescu et al., ICSME 2014); the loop carries the same story in one figure.</a:t>
            </a:r>
          </a:p>
          <a:p>
            <a:r>
              <a:t>WALK THE LOOP: a proposed change triggers automated checks; the checks pass or they do not; passing changes merge; failing ones return for revision and re-enter the same checks. In real projects a change loops several times before it merges, and that is the system working, not failing.</a:t>
            </a:r>
          </a:p>
          <a:p>
            <a:r>
              <a:t>THE ALIGNMENT CONNECTION, stated plainly: the checks produce EVIDENCE; a required status check is an ADMISSION GATE. This is the kickoff flowchart's alignment box acting on a concrete pipeline: constraints on what may merge, sensors on what the change actually does.</a:t>
            </a:r>
          </a:p>
          <a:p>
            <a:r>
              <a:t>ASK: who decided what the checks are? EXPECTED: the team, earlier, in the pipeline definition. The admission decision was made once, as policy, rather than per change under deadline pressure.</a:t>
            </a:r>
          </a:p>
          <a:p>
            <a:r>
              <a:t>CITATION to keep in the deck's record: the pull-request cycle evidence is from Vasilescu, van Schuylenburg, Wulms, Serebrenik, and van den Brand, ICSME 2014.</a:t>
            </a:r>
          </a:p>
          <a:p>
            <a:r>
              <a:t>TRANSITION: what does a wall of green checks actually tell you?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RETAINED from the source deck's strongest slide, with the title revised from 'pipelines are for confidence, not speed' to the evidence form: pipelines also do speed work by removing manual coordination, so the old title overclaimed the contrast.</a:t>
            </a:r>
          </a:p>
          <a:p>
            <a:r>
              <a:t>WALK THE PANEL: a pull request with five checks, four green and one red. The red integration check blocks the merge; nobody has to argue about it in the moment.</a:t>
            </a:r>
          </a:p>
          <a:p>
            <a:r>
              <a:t>ENGINEERING POINT: confidence is built through automation of evidence. Every stage generates an artifact someone could inspect: a build log, a test report, a lint result. The admission decision consumes that evidence mechanically.</a:t>
            </a:r>
          </a:p>
          <a:p>
            <a:r>
              <a:t>ASK: the four green checks passed. What do they establish? EXPECTED: exactly the properties those checks test, in the pipeline's environment, and nothing more. This primes the next slide and the release-management section: green is evidence, not a verdict about production.</a:t>
            </a:r>
          </a:p>
          <a:p>
            <a:r>
              <a:t>TRANSITION: the pipeline itself is software. Software fails.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A SHORT TREATMENT by design; the deeper study of flaky tests belongs to the reliability unit, and the source deck's think-pair-share on them is deliberately not reproduced here.</a:t>
            </a:r>
          </a:p>
          <a:p>
            <a:r>
              <a:t>WALK THE CARDS briefly: flaky tests return different verdicts on the same code, and every flake spends some of the team's trust in the signal; environment drift lets the runner diverge from production until green stops meaning what it meant; unreliable dependencies make the network a silent stage of every pipeline run.</a:t>
            </a:r>
          </a:p>
          <a:p>
            <a:r>
              <a:t>ENGINEERING POINT (the closing line): the pipeline is itself software, running in its own execution environment, with its own dependencies. Everything this lecture said about environments applies to it.</a:t>
            </a:r>
          </a:p>
          <a:p>
            <a:r>
              <a:t>ASK, if time allows: when CI gives a wrong answer, which direction costs more, a false red or a false green? Take one answer each way; both are defensible, which is the discussion the reliability unit picks up.</a:t>
            </a:r>
          </a:p>
          <a:p>
            <a:r>
              <a:t>TRANSITION: suppose the pipeline is healthy and the run is green. Should you ship?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SECTION'S OPENING CLAIM, adapted from the release-management source deck's opening question and definition slides.</a:t>
            </a:r>
          </a:p>
          <a:p>
            <a:r>
              <a:t>ASK FIRST (the footer): the pipeline is green; should you ship? Let the room split before explaining.</a:t>
            </a:r>
          </a:p>
          <a:p>
            <a:r>
              <a:t>THEN THE DISTINCTION: a successful CI run establishes selected properties of the candidate artifact, in the pipeline's environment. It does not establish that every production condition is appropriate for deployment: traffic, timing, support staffing, regulatory state, concurrent incidents.</a:t>
            </a:r>
          </a:p>
          <a:p>
            <a:r>
              <a:t>THE TWO CARDS make both answers right: the startup ships twenty times a day because each change is small and reversible; the medical-device team releases quarterly under review because its failures are not reversible. Same green build, different release decisions, both correct for their requirements.</a:t>
            </a:r>
          </a:p>
          <a:p>
            <a:r>
              <a:t>DEFINITION (the grey line): release management decides what is released, when, to whom, and under which safeguards. It sits on top of CI/CD; it consumes the pipeline's evidence.</a:t>
            </a:r>
          </a:p>
          <a:p>
            <a:r>
              <a:t>NON-CLAIM (the author checks this): a passing CI run is not authorization to release. Authorization is a policy decision the next slides give mechanisms for.</a:t>
            </a:r>
          </a:p>
          <a:p>
            <a:r>
              <a:t>TRANSITION: the mechanisms share one idea: control how much of the world sees the change.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COMPARISON TABLE, retained from the source deck's summary slide; the three detail slides follow.</a:t>
            </a:r>
          </a:p>
          <a:p>
            <a:r>
              <a:t>WALK THE ROWS: blue-green controls WHICH ENVIRONMENT serves production traffic; canary controls WHICH FRACTION of traffic sees the new version; feature flags control WHICH FUNCTIONALITY is enabled inside a deployed artifact.</a:t>
            </a:r>
          </a:p>
          <a:p>
            <a:r>
              <a:t>THE INSIGHT: these are different DIMENSIONS of exposure, not competing brands of the same trick. Real systems combine them: a canary rollout of an artifact whose new feature is still flagged off.</a:t>
            </a:r>
          </a:p>
          <a:p>
            <a:r>
              <a:t>ASK: which dimension would you want for your bank's API? For a game's season launch? EXPECTED: the bank wants environment-level control and instant rollback (blue-green); the game wants fraction and feature control for a timed, partial reveal. There is no single right strategy.</a:t>
            </a:r>
          </a:p>
          <a:p>
            <a:r>
              <a:t>TRANSITION: one slide on each, starting with blue-green.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REDRAWN from the source deck's blue-green illustration in the current style.</a:t>
            </a:r>
          </a:p>
          <a:p>
            <a:r>
              <a:t>THE MECHANISM: two production-grade environments. Blue serves all traffic; the new version deploys to Green, is smoke-tested in place, and the router switches traffic when Green looks healthy. Rollback is the same switch, reversed.</a:t>
            </a:r>
          </a:p>
          <a:p>
            <a:r>
              <a:t>THE TRADEOFFS (the bottom card): you pay for two environments, and the switch is only as clean as the state the two versions share. A schema migration that only version 2 understands makes the 'instant rollback' story false.</a:t>
            </a:r>
          </a:p>
          <a:p>
            <a:r>
              <a:t>NON-CLAIM (the author checks this): blue-green does not make database rollback trivial. The router switch is instant; shared persistent state is the part that is not, and the Data Management lecture picks up schema migration.</a:t>
            </a:r>
          </a:p>
          <a:p>
            <a:r>
              <a:t>ASK: you switch traffic in one second. Did the database switch with you? EXPECTED: silence, then the realization that there is only ONE database. That is the slide's lesson.</a:t>
            </a:r>
          </a:p>
          <a:p>
            <a:r>
              <a:t>TRANSITION: blue-green moves everyone at once. The next strategy moves a fraction.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REDRAWN from the source deck's canary illustration.</a:t>
            </a:r>
          </a:p>
          <a:p>
            <a:r>
              <a:t>THE MECHANISM: both versions run in production; the router sends a small fraction, say 5%, to the new version. The canary population experiences the change under real conditions while 95% of users stay on the known version.</a:t>
            </a:r>
          </a:p>
          <a:p>
            <a:r>
              <a:t>THE ENGINEERING QUESTION, and the reason this slide exists: what evidence justifies increasing exposure? The bottom card names the measurements consulted between steps: error rates, latency, user reports. Each widening of the fraction is an admission decision backed by that evidence, the kickoff loop again at release granularity.</a:t>
            </a:r>
          </a:p>
          <a:p>
            <a:r>
              <a:t>ASK: what would send you from 5% back to 0%? EXPECTED: an error-rate delta against version 1, a latency regression, a support spike. Note the comparison is against the CONTROL population running version 1 at the same time, which is what makes canary evidence strong.</a:t>
            </a:r>
          </a:p>
          <a:p>
            <a:r>
              <a:t>SCOPE NOTE: the measurement machinery itself (dashboards, alerting, SLOs) belongs to Operations &amp; SRE; today we only need that the evidence exists.</a:t>
            </a:r>
          </a:p>
          <a:p>
            <a:r>
              <a:t>TRANSITION: both strategies so far switch artifacts. The third switches behavior inside one artifact.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SIMPLIFIED from the source deck's feature-flag slide; its three C implementations (compile-time flag, environment variable, flag service) are more detail than this lecture needs and live in the notes instead.</a:t>
            </a:r>
          </a:p>
          <a:p>
            <a:r>
              <a:t>THE MECHANISM: one artifact is deployed; a flag selects between behaviors at runtime. Deploying code and exposing functionality become separate decisions, so code can reach production dark and light up later, per user group if wanted.</a:t>
            </a:r>
          </a:p>
          <a:p>
            <a:r>
              <a:t>IMPLEMENTATION SPECTRUM, if asked: compile-time flags (cheap, need a rebuild to change), environment variables (change at restart), and flag services (change live, per cohort). The further right, the more operational machinery you are trusting.</a:t>
            </a:r>
          </a:p>
          <a:p>
            <a:r>
              <a:t>NON-CLAIM (the author checks this): feature flags do not automatically make changes safe. The flagged code is in production whether or not it runs; flag interactions multiply test states; and a flag whose two sides touch shared state differently is not safe to flip at runtime at all (the bottom card).</a:t>
            </a:r>
          </a:p>
          <a:p>
            <a:r>
              <a:t>ASK: the code is in production and no user can reach it. Is that deployed, or released? EXPECTED: deployed, not released, which is precisely the delivery/deployment distinction from the CI/CD section.</a:t>
            </a:r>
          </a:p>
          <a:p>
            <a:r>
              <a:t>TRANSITION: strategies control one release. Cadence is the pattern across releases.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ADAPTED from the source deck's cadence table, revised on the author's instruction: the original suggested frequent releases require less human engagement, which is too categorical. The honest comparison is along the five rows shown.</a:t>
            </a:r>
          </a:p>
          <a:p>
            <a:r>
              <a:t>WALK A ROW OR TWO: few large releases concentrate months of change, so verification is long and a failure is hard to attribute to a cause; many small releases spread the change, so gates can be automated and the suspect set for a failure is small. Reversal differs the same way: rolling back a quarter is surgery, rolling back a day is routine.</a:t>
            </a:r>
          </a:p>
          <a:p>
            <a:r>
              <a:t>THE JUDGMENT: cadence is chosen by requirements, exactly like the execution environment was. Regulated and safety-critical contexts legitimately choose slow cadences with heavy human coordination; that is engineering, not backwardness.</a:t>
            </a:r>
          </a:p>
          <a:p>
            <a:r>
              <a:t>DORA, briefly and by name only (the italic line): deployment frequency, lead time for changes, time to restore, change failure rate. Industry uses them as cadence-and-recovery baselines; their proper treatment belongs to Operations &amp; SRE and is deliberately not given here.</a:t>
            </a:r>
          </a:p>
          <a:p>
            <a:r>
              <a:t>ASK: what makes a release risky, its size or how fast you can undo it? EXPECTED: both views surface; the table says they trade against each other.</a:t>
            </a:r>
          </a:p>
          <a:p>
            <a:r>
              <a:t>TRANSITION: everything in the lecture now lands on one concrete decision for our service.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 minutes. THE DECISION EXERCISE; a discussion, not a programming demonstration.</a:t>
            </a:r>
          </a:p>
          <a:p>
            <a:r>
              <a:t>SETUP (half a minute): two candidate deployments for the reservation service. Option A, local installation on a university-managed workstation, updated by installing a new version at each machine. Option B, a managed service platform, reached by browser, updated centrally through the release gates this section built.</a:t>
            </a:r>
          </a:p>
          <a:p>
            <a:r>
              <a:t>RUN IT (three minutes): pairs or trios pick an option and defend it FROM THE MODEL: execution environment, resources, topology, configuration, plus the deployment process each option implies. Push on the two printed perturbations: no network access swings the argument to A; hundreds of simultaneous users swing it to B. The point is that the ANSWER MOVES when the requirements move, and the model is what lets you see it move.</a:t>
            </a:r>
          </a:p>
          <a:p>
            <a:r>
              <a:t>DEBRIEF (a minute and a half): collect one argument per side; name the assumption it rests on. If a group says 'B, obviously', change a requirement until they flinch.</a:t>
            </a:r>
          </a:p>
          <a:p>
            <a:r>
              <a:t>EXPECTED QUALITY BAR: answers that cite availability, operations burden, update mechanics, or configuration are engaging the model; answers that cite fashion are not.</a:t>
            </a:r>
          </a:p>
          <a:p>
            <a:r>
              <a:t>TRANSITION: close the loop on the whole lecture.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SYNTHESIS: the kickoff method, populated for deployment. The rows ARE the kickoff flowchart's steps in order, with Alignment in its own color exactly as the motif draws it; students should recognize the shape without re-explanation.</a:t>
            </a:r>
          </a:p>
          <a:p>
            <a:r>
              <a:t>WALK THE ROWS: the problem was that software must run acceptably outside development. The model is the deployed system: execution environment, resources, topology, configuration (the two-part model's state half). The judgment chose among local, self-hosted, and managed. Realization is the deployment process: build, validate, release. Evidence came from build, integration, deployment, and runtime checks. Alignment held throughout as declared configuration, CI gates, and release policies, constraining realization and judging its results.</a:t>
            </a:r>
          </a:p>
          <a:p>
            <a:r>
              <a:t>SAY ONCE, because it is the lecture's thesis: CI/CD and release management were not the subject; they are mechanisms for moving an implementation into an acceptable execution environment. The environment question organized everything.</a:t>
            </a:r>
          </a:p>
          <a:p>
            <a:r>
              <a:t>THE HANDOFF (the footer): the service now runs in a suitable environment, and every restart still destroys every reservation, because the state is in memory by declared assumption. What happens to its data when the process stops is the Data Management lecture.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Header"/>
          <p:cNvSpPr/>
          <p:nvPr/>
        </p:nvSpPr>
        <p:spPr>
          <a:xfrm>
            <a:off x="438912" y="384048"/>
            <a:ext cx="8266176"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000000"/>
                </a:solidFill>
              </a:rPr>
              <a:t>Software Engineering</a:t>
            </a:r>
          </a:p>
          <a:p>
            <a:pPr algn="ctr"/>
            <a:r>
              <a:rPr sz="2000" b="0" i="0" dirty="0">
                <a:solidFill>
                  <a:srgbClr val="000000"/>
                </a:solidFill>
              </a:rPr>
              <a:t>ECE 30861 / CSCI 45000</a:t>
            </a:r>
          </a:p>
        </p:txBody>
      </p:sp>
      <p:sp>
        <p:nvSpPr>
          <p:cNvPr id="1003" name="TitleBlock"/>
          <p:cNvSpPr txBox="1"/>
          <p:nvPr/>
        </p:nvSpPr>
        <p:spPr>
          <a:xfrm>
            <a:off x="219456" y="1417320"/>
            <a:ext cx="8695944" cy="2651760"/>
          </a:xfrm>
          <a:prstGeom prst="rect">
            <a:avLst/>
          </a:prstGeom>
          <a:noFill/>
        </p:spPr>
        <p:txBody>
          <a:bodyPr wrap="square" lIns="27432" tIns="22860" rIns="27432" bIns="22860" anchor="ctr">
            <a:spAutoFit/>
          </a:bodyPr>
          <a:lstStyle/>
          <a:p>
            <a:pPr algn="ctr"/>
            <a:r>
              <a:rPr sz="4000" b="1" i="0" dirty="0">
                <a:solidFill>
                  <a:srgbClr val="000000"/>
                </a:solidFill>
              </a:rPr>
              <a:t>Compute Environments &amp; Deployment</a:t>
            </a:r>
          </a:p>
          <a:p>
            <a:pPr algn="ctr">
              <a:spcBef>
                <a:spcPts val="1400"/>
              </a:spcBef>
            </a:pPr>
            <a:r>
              <a:rPr sz="2000" b="0" i="1" dirty="0">
                <a:solidFill>
                  <a:srgbClr val="000000"/>
                </a:solidFill>
              </a:rPr>
              <a:t>Where does software execute, and how do we ensure that it runs acceptably there?</a:t>
            </a:r>
          </a:p>
          <a:p>
            <a:pPr algn="ctr">
              <a:spcBef>
                <a:spcPts val="1400"/>
              </a:spcBef>
            </a:pPr>
            <a:r>
              <a:rPr sz="2000" b="0" i="0" dirty="0">
                <a:solidFill>
                  <a:srgbClr val="000000"/>
                </a:solidFill>
              </a:rPr>
              <a:t>Act III, Engineering Software Systems</a:t>
            </a:r>
          </a:p>
          <a:p>
            <a:pPr algn="ctr">
              <a:spcBef>
                <a:spcPts val="1000"/>
              </a:spcBef>
            </a:pPr>
            <a:r>
              <a:rPr sz="2000" b="0" i="0" dirty="0">
                <a:solidFill>
                  <a:srgbClr val="000000"/>
                </a:solidFill>
              </a:rPr>
              <a:t>Prof. James C. Davis · Prof. Steve France</a:t>
            </a:r>
          </a:p>
        </p:txBody>
      </p:sp>
      <p:sp>
        <p:nvSpPr>
          <p:cNvPr id="1004" name="OutlineCard"/>
          <p:cNvSpPr/>
          <p:nvPr/>
        </p:nvSpPr>
        <p:spPr>
          <a:xfrm>
            <a:off x="365760" y="4389120"/>
            <a:ext cx="8412480" cy="12344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Today</a:t>
            </a:r>
          </a:p>
          <a:p>
            <a:pPr algn="ctr">
              <a:spcBef>
                <a:spcPts val="600"/>
              </a:spcBef>
            </a:pPr>
            <a:r>
              <a:rPr sz="2000" b="0" i="0" dirty="0">
                <a:solidFill>
                  <a:srgbClr val="5C4826"/>
                </a:solidFill>
              </a:rPr>
              <a:t>execution environments · deployment models and configuration · CI/CD · release management · a worked deployment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An application depends on its environment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Slab"/>
          <p:cNvSpPr/>
          <p:nvPr/>
        </p:nvSpPr>
        <p:spPr>
          <a:xfrm>
            <a:off x="411480" y="1051560"/>
            <a:ext cx="8321040" cy="3977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3" name="Label"/>
          <p:cNvSpPr/>
          <p:nvPr/>
        </p:nvSpPr>
        <p:spPr>
          <a:xfrm>
            <a:off x="594360" y="1170432"/>
            <a:ext cx="35661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EXECUTION ENVIRONMENT</a:t>
            </a:r>
          </a:p>
        </p:txBody>
      </p:sp>
      <p:sp>
        <p:nvSpPr>
          <p:cNvPr id="1004" name="Label"/>
          <p:cNvSpPr/>
          <p:nvPr/>
        </p:nvSpPr>
        <p:spPr>
          <a:xfrm>
            <a:off x="4251960" y="1170432"/>
            <a:ext cx="33832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supplies capabilities</a:t>
            </a:r>
          </a:p>
        </p:txBody>
      </p:sp>
      <p:sp>
        <p:nvSpPr>
          <p:cNvPr id="1005" name="Block"/>
          <p:cNvSpPr/>
          <p:nvPr/>
        </p:nvSpPr>
        <p:spPr>
          <a:xfrm>
            <a:off x="868680" y="1691640"/>
            <a:ext cx="7406640" cy="1600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APPLICATION</a:t>
            </a:r>
          </a:p>
          <a:p>
            <a:pPr algn="ctr">
              <a:spcBef>
                <a:spcPts val="600"/>
              </a:spcBef>
            </a:pPr>
            <a:r>
              <a:rPr sz="2000" b="0" i="0" dirty="0">
                <a:solidFill>
                  <a:srgbClr val="FFFFFF"/>
                </a:solidFill>
              </a:rPr>
              <a:t>requires: CPU &amp; memory · OS &amp; runtime · storage · network &amp; devices</a:t>
            </a:r>
          </a:p>
        </p:txBody>
      </p:sp>
      <p:sp>
        <p:nvSpPr>
          <p:cNvPr id="1006" name="Card"/>
          <p:cNvSpPr/>
          <p:nvPr/>
        </p:nvSpPr>
        <p:spPr>
          <a:xfrm>
            <a:off x="868680" y="3703320"/>
            <a:ext cx="1691640" cy="868680"/>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cores &amp; RAM</a:t>
            </a:r>
          </a:p>
        </p:txBody>
      </p:sp>
      <p:cxnSp>
        <p:nvCxnSpPr>
          <p:cNvPr id="1007" name="Connector"/>
          <p:cNvCxnSpPr/>
          <p:nvPr/>
        </p:nvCxnSpPr>
        <p:spPr>
          <a:xfrm>
            <a:off x="1714500" y="3310128"/>
            <a:ext cx="0" cy="374904"/>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8" name="Card"/>
          <p:cNvSpPr/>
          <p:nvPr/>
        </p:nvSpPr>
        <p:spPr>
          <a:xfrm>
            <a:off x="2770632" y="3703320"/>
            <a:ext cx="1691640" cy="868680"/>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OS &amp; runtime</a:t>
            </a:r>
          </a:p>
        </p:txBody>
      </p:sp>
      <p:cxnSp>
        <p:nvCxnSpPr>
          <p:cNvPr id="1009" name="Connector"/>
          <p:cNvCxnSpPr/>
          <p:nvPr/>
        </p:nvCxnSpPr>
        <p:spPr>
          <a:xfrm>
            <a:off x="3616452" y="3310128"/>
            <a:ext cx="0" cy="374904"/>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0" name="Card"/>
          <p:cNvSpPr/>
          <p:nvPr/>
        </p:nvSpPr>
        <p:spPr>
          <a:xfrm>
            <a:off x="4672584" y="3703320"/>
            <a:ext cx="1691640" cy="868680"/>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disk &amp; files</a:t>
            </a:r>
          </a:p>
        </p:txBody>
      </p:sp>
      <p:cxnSp>
        <p:nvCxnSpPr>
          <p:cNvPr id="1011" name="Connector"/>
          <p:cNvCxnSpPr/>
          <p:nvPr/>
        </p:nvCxnSpPr>
        <p:spPr>
          <a:xfrm>
            <a:off x="5518404" y="3310128"/>
            <a:ext cx="0" cy="374904"/>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2" name="Card"/>
          <p:cNvSpPr/>
          <p:nvPr/>
        </p:nvSpPr>
        <p:spPr>
          <a:xfrm>
            <a:off x="6574536" y="3703320"/>
            <a:ext cx="1691640" cy="868680"/>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network &amp; devices</a:t>
            </a:r>
          </a:p>
        </p:txBody>
      </p:sp>
      <p:cxnSp>
        <p:nvCxnSpPr>
          <p:cNvPr id="1013" name="Connector"/>
          <p:cNvCxnSpPr/>
          <p:nvPr/>
        </p:nvCxnSpPr>
        <p:spPr>
          <a:xfrm>
            <a:off x="7420356" y="3310128"/>
            <a:ext cx="0" cy="374904"/>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4"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 deployment is acceptable only if the environment</a:t>
            </a:r>
          </a:p>
          <a:p>
            <a:pPr algn="ctr">
              <a:spcBef>
                <a:spcPts val="300"/>
              </a:spcBef>
            </a:pPr>
            <a:r>
              <a:rPr sz="2000" b="1" i="0" dirty="0">
                <a:solidFill>
                  <a:srgbClr val="FFFFFF"/>
                </a:solidFill>
              </a:rPr>
              <a:t>satisfies the application's requirements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Different environments, different constraints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365760" y="1051560"/>
            <a:ext cx="16916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EMBEDDED</a:t>
            </a:r>
          </a:p>
        </p:txBody>
      </p:sp>
      <p:sp>
        <p:nvSpPr>
          <p:cNvPr id="1003" name="Label"/>
          <p:cNvSpPr/>
          <p:nvPr/>
        </p:nvSpPr>
        <p:spPr>
          <a:xfrm>
            <a:off x="2240280" y="1069848"/>
            <a:ext cx="65836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fixed hardware, hard resource limits, real-time deadlines</a:t>
            </a:r>
          </a:p>
        </p:txBody>
      </p:sp>
      <p:sp>
        <p:nvSpPr>
          <p:cNvPr id="1004" name="Block"/>
          <p:cNvSpPr/>
          <p:nvPr/>
        </p:nvSpPr>
        <p:spPr>
          <a:xfrm>
            <a:off x="365760" y="1847088"/>
            <a:ext cx="16916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MOBILE</a:t>
            </a:r>
          </a:p>
        </p:txBody>
      </p:sp>
      <p:sp>
        <p:nvSpPr>
          <p:cNvPr id="1005" name="Label"/>
          <p:cNvSpPr/>
          <p:nvPr/>
        </p:nvSpPr>
        <p:spPr>
          <a:xfrm>
            <a:off x="2240280" y="1865376"/>
            <a:ext cx="65836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battery, intermittent connectivity, OS-managed lifecycle</a:t>
            </a:r>
          </a:p>
        </p:txBody>
      </p:sp>
      <p:sp>
        <p:nvSpPr>
          <p:cNvPr id="1006" name="Block"/>
          <p:cNvSpPr/>
          <p:nvPr/>
        </p:nvSpPr>
        <p:spPr>
          <a:xfrm>
            <a:off x="365760" y="2642616"/>
            <a:ext cx="16916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DESKTOP</a:t>
            </a:r>
          </a:p>
        </p:txBody>
      </p:sp>
      <p:sp>
        <p:nvSpPr>
          <p:cNvPr id="1007" name="Label"/>
          <p:cNvSpPr/>
          <p:nvPr/>
        </p:nvSpPr>
        <p:spPr>
          <a:xfrm>
            <a:off x="2240280" y="2660904"/>
            <a:ext cx="65836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local configuration, OS compatibility, user-run installation</a:t>
            </a:r>
          </a:p>
        </p:txBody>
      </p:sp>
      <p:sp>
        <p:nvSpPr>
          <p:cNvPr id="1008" name="Block"/>
          <p:cNvSpPr/>
          <p:nvPr/>
        </p:nvSpPr>
        <p:spPr>
          <a:xfrm>
            <a:off x="365760" y="3438144"/>
            <a:ext cx="16916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SERVER</a:t>
            </a:r>
          </a:p>
        </p:txBody>
      </p:sp>
      <p:sp>
        <p:nvSpPr>
          <p:cNvPr id="1009" name="Label"/>
          <p:cNvSpPr/>
          <p:nvPr/>
        </p:nvSpPr>
        <p:spPr>
          <a:xfrm>
            <a:off x="2240280" y="3456432"/>
            <a:ext cx="65836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availability, many concurrent users, remote administration</a:t>
            </a:r>
          </a:p>
        </p:txBody>
      </p:sp>
      <p:sp>
        <p:nvSpPr>
          <p:cNvPr id="1010" name="Block"/>
          <p:cNvSpPr/>
          <p:nvPr/>
        </p:nvSpPr>
        <p:spPr>
          <a:xfrm>
            <a:off x="365760" y="4233672"/>
            <a:ext cx="16916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CLOUD</a:t>
            </a:r>
          </a:p>
        </p:txBody>
      </p:sp>
      <p:sp>
        <p:nvSpPr>
          <p:cNvPr id="1011" name="Label"/>
          <p:cNvSpPr/>
          <p:nvPr/>
        </p:nvSpPr>
        <p:spPr>
          <a:xfrm>
            <a:off x="2240280" y="4251960"/>
            <a:ext cx="65836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elastic resources, managed services, network dependence</a:t>
            </a:r>
          </a:p>
        </p:txBody>
      </p:sp>
      <p:sp>
        <p:nvSpPr>
          <p:cNvPr id="1012" name="Label"/>
          <p:cNvSpPr/>
          <p:nvPr/>
        </p:nvSpPr>
        <p:spPr>
          <a:xfrm>
            <a:off x="365760" y="5047488"/>
            <a:ext cx="84124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The rows combine: a mobile app may lean on cloud services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Processes, containers, and virtual machines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Label"/>
          <p:cNvSpPr/>
          <p:nvPr/>
        </p:nvSpPr>
        <p:spPr>
          <a:xfrm>
            <a:off x="274320" y="1005840"/>
            <a:ext cx="274320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PROCESS</a:t>
            </a:r>
          </a:p>
        </p:txBody>
      </p:sp>
      <p:sp>
        <p:nvSpPr>
          <p:cNvPr id="1003" name="Label"/>
          <p:cNvSpPr/>
          <p:nvPr/>
        </p:nvSpPr>
        <p:spPr>
          <a:xfrm>
            <a:off x="3200400" y="1005840"/>
            <a:ext cx="274320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CONTAINER</a:t>
            </a:r>
          </a:p>
        </p:txBody>
      </p:sp>
      <p:sp>
        <p:nvSpPr>
          <p:cNvPr id="1004" name="Label"/>
          <p:cNvSpPr/>
          <p:nvPr/>
        </p:nvSpPr>
        <p:spPr>
          <a:xfrm>
            <a:off x="6126480" y="1005840"/>
            <a:ext cx="274320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VIRTUAL MACHINE</a:t>
            </a:r>
          </a:p>
        </p:txBody>
      </p:sp>
      <p:sp>
        <p:nvSpPr>
          <p:cNvPr id="1005" name="Block"/>
          <p:cNvSpPr/>
          <p:nvPr/>
        </p:nvSpPr>
        <p:spPr>
          <a:xfrm>
            <a:off x="411480" y="2148840"/>
            <a:ext cx="246888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 process</a:t>
            </a:r>
          </a:p>
        </p:txBody>
      </p:sp>
      <p:sp>
        <p:nvSpPr>
          <p:cNvPr id="1006" name="Card"/>
          <p:cNvSpPr/>
          <p:nvPr/>
        </p:nvSpPr>
        <p:spPr>
          <a:xfrm>
            <a:off x="411480" y="278892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host OS</a:t>
            </a:r>
          </a:p>
        </p:txBody>
      </p:sp>
      <p:sp>
        <p:nvSpPr>
          <p:cNvPr id="1007" name="Card"/>
          <p:cNvSpPr/>
          <p:nvPr/>
        </p:nvSpPr>
        <p:spPr>
          <a:xfrm>
            <a:off x="411480" y="342900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hardware</a:t>
            </a:r>
          </a:p>
        </p:txBody>
      </p:sp>
      <p:sp>
        <p:nvSpPr>
          <p:cNvPr id="1008" name="Block"/>
          <p:cNvSpPr/>
          <p:nvPr/>
        </p:nvSpPr>
        <p:spPr>
          <a:xfrm>
            <a:off x="3337560" y="1508760"/>
            <a:ext cx="1170432"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a:t>
            </a:r>
          </a:p>
        </p:txBody>
      </p:sp>
      <p:sp>
        <p:nvSpPr>
          <p:cNvPr id="1009" name="Block"/>
          <p:cNvSpPr/>
          <p:nvPr/>
        </p:nvSpPr>
        <p:spPr>
          <a:xfrm>
            <a:off x="4636008" y="1508760"/>
            <a:ext cx="1170432"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a:t>
            </a:r>
          </a:p>
        </p:txBody>
      </p:sp>
      <p:sp>
        <p:nvSpPr>
          <p:cNvPr id="1010" name="Card"/>
          <p:cNvSpPr/>
          <p:nvPr/>
        </p:nvSpPr>
        <p:spPr>
          <a:xfrm>
            <a:off x="3337560" y="214884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container runtime</a:t>
            </a:r>
          </a:p>
        </p:txBody>
      </p:sp>
      <p:sp>
        <p:nvSpPr>
          <p:cNvPr id="1011" name="Card"/>
          <p:cNvSpPr/>
          <p:nvPr/>
        </p:nvSpPr>
        <p:spPr>
          <a:xfrm>
            <a:off x="3337560" y="278892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shared kernel</a:t>
            </a:r>
          </a:p>
        </p:txBody>
      </p:sp>
      <p:sp>
        <p:nvSpPr>
          <p:cNvPr id="1012" name="Card"/>
          <p:cNvSpPr/>
          <p:nvPr/>
        </p:nvSpPr>
        <p:spPr>
          <a:xfrm>
            <a:off x="3337560" y="342900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hardware</a:t>
            </a:r>
          </a:p>
        </p:txBody>
      </p:sp>
      <p:sp>
        <p:nvSpPr>
          <p:cNvPr id="1013" name="Block"/>
          <p:cNvSpPr/>
          <p:nvPr/>
        </p:nvSpPr>
        <p:spPr>
          <a:xfrm>
            <a:off x="6263640" y="1508760"/>
            <a:ext cx="246888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 process</a:t>
            </a:r>
          </a:p>
        </p:txBody>
      </p:sp>
      <p:sp>
        <p:nvSpPr>
          <p:cNvPr id="1014" name="Card"/>
          <p:cNvSpPr/>
          <p:nvPr/>
        </p:nvSpPr>
        <p:spPr>
          <a:xfrm>
            <a:off x="6263640" y="214884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guest OS</a:t>
            </a:r>
          </a:p>
        </p:txBody>
      </p:sp>
      <p:sp>
        <p:nvSpPr>
          <p:cNvPr id="1015" name="Card"/>
          <p:cNvSpPr/>
          <p:nvPr/>
        </p:nvSpPr>
        <p:spPr>
          <a:xfrm>
            <a:off x="6263640" y="278892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hypervisor</a:t>
            </a:r>
          </a:p>
        </p:txBody>
      </p:sp>
      <p:sp>
        <p:nvSpPr>
          <p:cNvPr id="1016" name="Card"/>
          <p:cNvSpPr/>
          <p:nvPr/>
        </p:nvSpPr>
        <p:spPr>
          <a:xfrm>
            <a:off x="6263640" y="342900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hardware</a:t>
            </a:r>
          </a:p>
        </p:txBody>
      </p:sp>
      <p:sp>
        <p:nvSpPr>
          <p:cNvPr id="1017" name="Label"/>
          <p:cNvSpPr/>
          <p:nvPr/>
        </p:nvSpPr>
        <p:spPr>
          <a:xfrm>
            <a:off x="365760" y="411480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 container shares the host kernel. It is not a miniature VM.</a:t>
            </a:r>
          </a:p>
        </p:txBody>
      </p:sp>
      <p:sp>
        <p:nvSpPr>
          <p:cNvPr id="1018" name="Label"/>
          <p:cNvSpPr/>
          <p:nvPr/>
        </p:nvSpPr>
        <p:spPr>
          <a:xfrm>
            <a:off x="365760" y="4809744"/>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Targets (embedded, mobile, desktop, server, cloud) and mechanisms (process, container, VM) are different dimensions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Deployment topology for the reservation service</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Slab"/>
          <p:cNvSpPr/>
          <p:nvPr/>
        </p:nvSpPr>
        <p:spPr>
          <a:xfrm>
            <a:off x="411480" y="1737360"/>
            <a:ext cx="2377440" cy="1737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3" name="Label"/>
          <p:cNvSpPr/>
          <p:nvPr/>
        </p:nvSpPr>
        <p:spPr>
          <a:xfrm>
            <a:off x="457200" y="1828800"/>
            <a:ext cx="2286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USER DEVICE</a:t>
            </a:r>
          </a:p>
        </p:txBody>
      </p:sp>
      <p:sp>
        <p:nvSpPr>
          <p:cNvPr id="1004" name="Block"/>
          <p:cNvSpPr/>
          <p:nvPr/>
        </p:nvSpPr>
        <p:spPr>
          <a:xfrm>
            <a:off x="685800" y="2331720"/>
            <a:ext cx="182880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browser</a:t>
            </a:r>
          </a:p>
        </p:txBody>
      </p:sp>
      <p:sp>
        <p:nvSpPr>
          <p:cNvPr id="1005" name="Slab"/>
          <p:cNvSpPr/>
          <p:nvPr/>
        </p:nvSpPr>
        <p:spPr>
          <a:xfrm>
            <a:off x="3383280" y="1737360"/>
            <a:ext cx="2377440" cy="1737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6" name="Label"/>
          <p:cNvSpPr/>
          <p:nvPr/>
        </p:nvSpPr>
        <p:spPr>
          <a:xfrm>
            <a:off x="3429000" y="1828800"/>
            <a:ext cx="2286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APP SERVER</a:t>
            </a:r>
          </a:p>
        </p:txBody>
      </p:sp>
      <p:sp>
        <p:nvSpPr>
          <p:cNvPr id="1007" name="Block"/>
          <p:cNvSpPr/>
          <p:nvPr/>
        </p:nvSpPr>
        <p:spPr>
          <a:xfrm>
            <a:off x="3657600" y="2331720"/>
            <a:ext cx="182880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reservation service</a:t>
            </a:r>
          </a:p>
        </p:txBody>
      </p:sp>
      <p:sp>
        <p:nvSpPr>
          <p:cNvPr id="1008" name="Slab"/>
          <p:cNvSpPr/>
          <p:nvPr/>
        </p:nvSpPr>
        <p:spPr>
          <a:xfrm>
            <a:off x="6355080" y="1737360"/>
            <a:ext cx="2377440" cy="1737360"/>
          </a:xfrm>
          <a:prstGeom prst="rect">
            <a:avLst/>
          </a:prstGeom>
          <a:solidFill>
            <a:srgbClr val="F5F1E8"/>
          </a:solidFill>
          <a:ln w="12700">
            <a:solidFill>
              <a:srgbClr val="C9B991"/>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9" name="Label"/>
          <p:cNvSpPr/>
          <p:nvPr/>
        </p:nvSpPr>
        <p:spPr>
          <a:xfrm>
            <a:off x="6400800" y="1828800"/>
            <a:ext cx="2286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STORAGE NODE</a:t>
            </a:r>
          </a:p>
        </p:txBody>
      </p:sp>
      <p:sp>
        <p:nvSpPr>
          <p:cNvPr id="1010" name="Block"/>
          <p:cNvSpPr/>
          <p:nvPr/>
        </p:nvSpPr>
        <p:spPr>
          <a:xfrm>
            <a:off x="6629400" y="2331720"/>
            <a:ext cx="182880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database</a:t>
            </a:r>
          </a:p>
        </p:txBody>
      </p:sp>
      <p:cxnSp>
        <p:nvCxnSpPr>
          <p:cNvPr id="1011" name="Connector"/>
          <p:cNvCxnSpPr/>
          <p:nvPr/>
        </p:nvCxnSpPr>
        <p:spPr>
          <a:xfrm>
            <a:off x="2816352" y="2697480"/>
            <a:ext cx="5486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2" name="Connector"/>
          <p:cNvCxnSpPr/>
          <p:nvPr/>
        </p:nvCxnSpPr>
        <p:spPr>
          <a:xfrm>
            <a:off x="5788152" y="2697480"/>
            <a:ext cx="5486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3" name="Label"/>
          <p:cNvSpPr/>
          <p:nvPr/>
        </p:nvSpPr>
        <p:spPr>
          <a:xfrm>
            <a:off x="2523744" y="2816352"/>
            <a:ext cx="109728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55960"/>
                </a:solidFill>
              </a:rPr>
              <a:t>HTTPS</a:t>
            </a:r>
          </a:p>
        </p:txBody>
      </p:sp>
      <p:sp>
        <p:nvSpPr>
          <p:cNvPr id="1014" name="Card"/>
          <p:cNvSpPr/>
          <p:nvPr/>
        </p:nvSpPr>
        <p:spPr>
          <a:xfrm>
            <a:off x="411480" y="3977640"/>
            <a:ext cx="100584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node</a:t>
            </a:r>
          </a:p>
        </p:txBody>
      </p:sp>
      <p:sp>
        <p:nvSpPr>
          <p:cNvPr id="1015" name="Label"/>
          <p:cNvSpPr/>
          <p:nvPr/>
        </p:nvSpPr>
        <p:spPr>
          <a:xfrm>
            <a:off x="1554480" y="4023360"/>
            <a:ext cx="27432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where software runs</a:t>
            </a:r>
          </a:p>
        </p:txBody>
      </p:sp>
      <p:sp>
        <p:nvSpPr>
          <p:cNvPr id="1016" name="Block"/>
          <p:cNvSpPr/>
          <p:nvPr/>
        </p:nvSpPr>
        <p:spPr>
          <a:xfrm>
            <a:off x="4434840" y="3977640"/>
            <a:ext cx="155448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component</a:t>
            </a:r>
          </a:p>
        </p:txBody>
      </p:sp>
      <p:sp>
        <p:nvSpPr>
          <p:cNvPr id="1017" name="Label"/>
          <p:cNvSpPr/>
          <p:nvPr/>
        </p:nvSpPr>
        <p:spPr>
          <a:xfrm>
            <a:off x="6126480" y="4023360"/>
            <a:ext cx="26517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what runs there</a:t>
            </a:r>
          </a:p>
        </p:txBody>
      </p:sp>
      <p:sp>
        <p:nvSpPr>
          <p:cNvPr id="1018" name="Label"/>
          <p:cNvSpPr/>
          <p:nvPr/>
        </p:nvSpPr>
        <p:spPr>
          <a:xfrm>
            <a:off x="411480" y="4617720"/>
            <a:ext cx="832104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The storage node is proposed, not yet built. Today the service keeps reservations in memory.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Choosing an execution environment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2103120" y="100584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Local desktop app</a:t>
            </a:r>
          </a:p>
        </p:txBody>
      </p:sp>
      <p:sp>
        <p:nvSpPr>
          <p:cNvPr id="1003" name="Block"/>
          <p:cNvSpPr/>
          <p:nvPr/>
        </p:nvSpPr>
        <p:spPr>
          <a:xfrm>
            <a:off x="4389120" y="100584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Self-hosted server</a:t>
            </a:r>
          </a:p>
        </p:txBody>
      </p:sp>
      <p:sp>
        <p:nvSpPr>
          <p:cNvPr id="1004" name="Block"/>
          <p:cNvSpPr/>
          <p:nvPr/>
        </p:nvSpPr>
        <p:spPr>
          <a:xfrm>
            <a:off x="6675120" y="100584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Managed cloud service</a:t>
            </a:r>
          </a:p>
        </p:txBody>
      </p:sp>
      <p:sp>
        <p:nvSpPr>
          <p:cNvPr id="1005" name="Label"/>
          <p:cNvSpPr/>
          <p:nvPr/>
        </p:nvSpPr>
        <p:spPr>
          <a:xfrm>
            <a:off x="274320" y="1856232"/>
            <a:ext cx="17373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availability</a:t>
            </a:r>
          </a:p>
        </p:txBody>
      </p:sp>
      <p:sp>
        <p:nvSpPr>
          <p:cNvPr id="1006" name="Card"/>
          <p:cNvSpPr/>
          <p:nvPr/>
        </p:nvSpPr>
        <p:spPr>
          <a:xfrm>
            <a:off x="2103120" y="1828800"/>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one PC</a:t>
            </a:r>
          </a:p>
        </p:txBody>
      </p:sp>
      <p:sp>
        <p:nvSpPr>
          <p:cNvPr id="1007" name="Card"/>
          <p:cNvSpPr/>
          <p:nvPr/>
        </p:nvSpPr>
        <p:spPr>
          <a:xfrm>
            <a:off x="4389120" y="1828800"/>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your uptime</a:t>
            </a:r>
          </a:p>
        </p:txBody>
      </p:sp>
      <p:sp>
        <p:nvSpPr>
          <p:cNvPr id="1008" name="Card"/>
          <p:cNvSpPr/>
          <p:nvPr/>
        </p:nvSpPr>
        <p:spPr>
          <a:xfrm>
            <a:off x="6675120" y="1828800"/>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provider SLA</a:t>
            </a:r>
          </a:p>
        </p:txBody>
      </p:sp>
      <p:sp>
        <p:nvSpPr>
          <p:cNvPr id="1009" name="Label"/>
          <p:cNvSpPr/>
          <p:nvPr/>
        </p:nvSpPr>
        <p:spPr>
          <a:xfrm>
            <a:off x="274320" y="2478024"/>
            <a:ext cx="17373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operated by</a:t>
            </a:r>
          </a:p>
        </p:txBody>
      </p:sp>
      <p:sp>
        <p:nvSpPr>
          <p:cNvPr id="1010" name="Card"/>
          <p:cNvSpPr/>
          <p:nvPr/>
        </p:nvSpPr>
        <p:spPr>
          <a:xfrm>
            <a:off x="2103120" y="2450592"/>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each user</a:t>
            </a:r>
          </a:p>
        </p:txBody>
      </p:sp>
      <p:sp>
        <p:nvSpPr>
          <p:cNvPr id="1011" name="Card"/>
          <p:cNvSpPr/>
          <p:nvPr/>
        </p:nvSpPr>
        <p:spPr>
          <a:xfrm>
            <a:off x="4389120" y="2450592"/>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your team</a:t>
            </a:r>
          </a:p>
        </p:txBody>
      </p:sp>
      <p:sp>
        <p:nvSpPr>
          <p:cNvPr id="1012" name="Card"/>
          <p:cNvSpPr/>
          <p:nvPr/>
        </p:nvSpPr>
        <p:spPr>
          <a:xfrm>
            <a:off x="6675120" y="2450592"/>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provider + you</a:t>
            </a:r>
          </a:p>
        </p:txBody>
      </p:sp>
      <p:sp>
        <p:nvSpPr>
          <p:cNvPr id="1013" name="Label"/>
          <p:cNvSpPr/>
          <p:nvPr/>
        </p:nvSpPr>
        <p:spPr>
          <a:xfrm>
            <a:off x="274320" y="3099816"/>
            <a:ext cx="17373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control</a:t>
            </a:r>
          </a:p>
        </p:txBody>
      </p:sp>
      <p:sp>
        <p:nvSpPr>
          <p:cNvPr id="1014" name="Card"/>
          <p:cNvSpPr/>
          <p:nvPr/>
        </p:nvSpPr>
        <p:spPr>
          <a:xfrm>
            <a:off x="2103120" y="3072384"/>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full but fixed</a:t>
            </a:r>
          </a:p>
        </p:txBody>
      </p:sp>
      <p:sp>
        <p:nvSpPr>
          <p:cNvPr id="1015" name="Card"/>
          <p:cNvSpPr/>
          <p:nvPr/>
        </p:nvSpPr>
        <p:spPr>
          <a:xfrm>
            <a:off x="4389120" y="3072384"/>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full</a:t>
            </a:r>
          </a:p>
        </p:txBody>
      </p:sp>
      <p:sp>
        <p:nvSpPr>
          <p:cNvPr id="1016" name="Card"/>
          <p:cNvSpPr/>
          <p:nvPr/>
        </p:nvSpPr>
        <p:spPr>
          <a:xfrm>
            <a:off x="6675120" y="3072384"/>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limited</a:t>
            </a:r>
          </a:p>
        </p:txBody>
      </p:sp>
      <p:sp>
        <p:nvSpPr>
          <p:cNvPr id="1017" name="Label"/>
          <p:cNvSpPr/>
          <p:nvPr/>
        </p:nvSpPr>
        <p:spPr>
          <a:xfrm>
            <a:off x="274320" y="3721608"/>
            <a:ext cx="17373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cost</a:t>
            </a:r>
          </a:p>
        </p:txBody>
      </p:sp>
      <p:sp>
        <p:nvSpPr>
          <p:cNvPr id="1018" name="Card"/>
          <p:cNvSpPr/>
          <p:nvPr/>
        </p:nvSpPr>
        <p:spPr>
          <a:xfrm>
            <a:off x="2103120" y="3694176"/>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hardware once</a:t>
            </a:r>
          </a:p>
        </p:txBody>
      </p:sp>
      <p:sp>
        <p:nvSpPr>
          <p:cNvPr id="1019" name="Card"/>
          <p:cNvSpPr/>
          <p:nvPr/>
        </p:nvSpPr>
        <p:spPr>
          <a:xfrm>
            <a:off x="4389120" y="3694176"/>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ops staff</a:t>
            </a:r>
          </a:p>
        </p:txBody>
      </p:sp>
      <p:sp>
        <p:nvSpPr>
          <p:cNvPr id="1020" name="Card"/>
          <p:cNvSpPr/>
          <p:nvPr/>
        </p:nvSpPr>
        <p:spPr>
          <a:xfrm>
            <a:off x="6675120" y="3694176"/>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pay per use</a:t>
            </a:r>
          </a:p>
        </p:txBody>
      </p:sp>
      <p:sp>
        <p:nvSpPr>
          <p:cNvPr id="1021" name="Label"/>
          <p:cNvSpPr/>
          <p:nvPr/>
        </p:nvSpPr>
        <p:spPr>
          <a:xfrm>
            <a:off x="274320" y="4343400"/>
            <a:ext cx="17373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updates</a:t>
            </a:r>
          </a:p>
        </p:txBody>
      </p:sp>
      <p:sp>
        <p:nvSpPr>
          <p:cNvPr id="1022" name="Card"/>
          <p:cNvSpPr/>
          <p:nvPr/>
        </p:nvSpPr>
        <p:spPr>
          <a:xfrm>
            <a:off x="2103120" y="4315968"/>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user reinstalls</a:t>
            </a:r>
          </a:p>
        </p:txBody>
      </p:sp>
      <p:sp>
        <p:nvSpPr>
          <p:cNvPr id="1023" name="Card"/>
          <p:cNvSpPr/>
          <p:nvPr/>
        </p:nvSpPr>
        <p:spPr>
          <a:xfrm>
            <a:off x="4389120" y="4315968"/>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deploy yourself</a:t>
            </a:r>
          </a:p>
        </p:txBody>
      </p:sp>
      <p:sp>
        <p:nvSpPr>
          <p:cNvPr id="1024" name="Card"/>
          <p:cNvSpPr/>
          <p:nvPr/>
        </p:nvSpPr>
        <p:spPr>
          <a:xfrm>
            <a:off x="6675120" y="4315968"/>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central deploy</a:t>
            </a:r>
          </a:p>
        </p:txBody>
      </p:sp>
      <p:sp>
        <p:nvSpPr>
          <p:cNvPr id="1025" name="Label"/>
          <p:cNvSpPr/>
          <p:nvPr/>
        </p:nvSpPr>
        <p:spPr>
          <a:xfrm>
            <a:off x="365760" y="484632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Requirements decide. Cloud is not automatically preferable.</a:t>
            </a:r>
          </a:p>
        </p:txBody>
      </p:sp>
      <p:sp>
        <p:nvSpPr>
          <p:cNvPr id="1026"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would you choose for the reservation service?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A deployment model represents assumptions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320040" y="1005840"/>
            <a:ext cx="5440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THE DEPLOYED SYSTEM</a:t>
            </a:r>
            <a:r>
              <a:rPr sz="2000" b="0" i="1" dirty="0">
                <a:solidFill>
                  <a:srgbClr val="FFFFFF"/>
                </a:solidFill>
              </a:rPr>
              <a:t>  (a state)</a:t>
            </a:r>
          </a:p>
        </p:txBody>
      </p:sp>
      <p:sp>
        <p:nvSpPr>
          <p:cNvPr id="1003" name="Card"/>
          <p:cNvSpPr/>
          <p:nvPr/>
        </p:nvSpPr>
        <p:spPr>
          <a:xfrm>
            <a:off x="320040" y="1737360"/>
            <a:ext cx="196596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Execution</a:t>
            </a:r>
          </a:p>
        </p:txBody>
      </p:sp>
      <p:sp>
        <p:nvSpPr>
          <p:cNvPr id="1004" name="Label"/>
          <p:cNvSpPr/>
          <p:nvPr/>
        </p:nvSpPr>
        <p:spPr>
          <a:xfrm>
            <a:off x="2423160" y="1737360"/>
            <a:ext cx="33375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one Python process, one laptop</a:t>
            </a:r>
          </a:p>
        </p:txBody>
      </p:sp>
      <p:sp>
        <p:nvSpPr>
          <p:cNvPr id="1005" name="Card"/>
          <p:cNvSpPr/>
          <p:nvPr/>
        </p:nvSpPr>
        <p:spPr>
          <a:xfrm>
            <a:off x="320040" y="2487168"/>
            <a:ext cx="196596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Resources</a:t>
            </a:r>
          </a:p>
        </p:txBody>
      </p:sp>
      <p:sp>
        <p:nvSpPr>
          <p:cNvPr id="1006" name="Label"/>
          <p:cNvSpPr/>
          <p:nvPr/>
        </p:nvSpPr>
        <p:spPr>
          <a:xfrm>
            <a:off x="2423160" y="2487168"/>
            <a:ext cx="33375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small CPU and memory footprint</a:t>
            </a:r>
          </a:p>
        </p:txBody>
      </p:sp>
      <p:sp>
        <p:nvSpPr>
          <p:cNvPr id="1007" name="Card"/>
          <p:cNvSpPr/>
          <p:nvPr/>
        </p:nvSpPr>
        <p:spPr>
          <a:xfrm>
            <a:off x="320040" y="3236976"/>
            <a:ext cx="196596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Topology</a:t>
            </a:r>
          </a:p>
        </p:txBody>
      </p:sp>
      <p:sp>
        <p:nvSpPr>
          <p:cNvPr id="1008" name="Label"/>
          <p:cNvSpPr/>
          <p:nvPr/>
        </p:nvSpPr>
        <p:spPr>
          <a:xfrm>
            <a:off x="2423160" y="3236976"/>
            <a:ext cx="33375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browser to service, one node</a:t>
            </a:r>
          </a:p>
        </p:txBody>
      </p:sp>
      <p:sp>
        <p:nvSpPr>
          <p:cNvPr id="1009" name="Card"/>
          <p:cNvSpPr/>
          <p:nvPr/>
        </p:nvSpPr>
        <p:spPr>
          <a:xfrm>
            <a:off x="320040" y="3986784"/>
            <a:ext cx="196596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Configuration</a:t>
            </a:r>
          </a:p>
        </p:txBody>
      </p:sp>
      <p:sp>
        <p:nvSpPr>
          <p:cNvPr id="1010" name="Label"/>
          <p:cNvSpPr/>
          <p:nvPr/>
        </p:nvSpPr>
        <p:spPr>
          <a:xfrm>
            <a:off x="2423160" y="3986784"/>
            <a:ext cx="33375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none; defaults are hard-coded</a:t>
            </a:r>
          </a:p>
        </p:txBody>
      </p:sp>
      <p:sp>
        <p:nvSpPr>
          <p:cNvPr id="1011" name="Block"/>
          <p:cNvSpPr/>
          <p:nvPr/>
        </p:nvSpPr>
        <p:spPr>
          <a:xfrm>
            <a:off x="5989320" y="1005840"/>
            <a:ext cx="2880360" cy="9601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THE DEPLOYMENT PROCESS</a:t>
            </a:r>
          </a:p>
          <a:p>
            <a:pPr algn="ctr"/>
            <a:r>
              <a:rPr sz="2000" b="0" i="1" dirty="0">
                <a:solidFill>
                  <a:srgbClr val="FFFFFF"/>
                </a:solidFill>
              </a:rPr>
              <a:t>(a change)</a:t>
            </a:r>
          </a:p>
        </p:txBody>
      </p:sp>
      <p:sp>
        <p:nvSpPr>
          <p:cNvPr id="1012" name="Card"/>
          <p:cNvSpPr/>
          <p:nvPr/>
        </p:nvSpPr>
        <p:spPr>
          <a:xfrm>
            <a:off x="6355080" y="2148840"/>
            <a:ext cx="2148840" cy="43891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BUILD</a:t>
            </a:r>
          </a:p>
        </p:txBody>
      </p:sp>
      <p:sp>
        <p:nvSpPr>
          <p:cNvPr id="1013" name="Card"/>
          <p:cNvSpPr/>
          <p:nvPr/>
        </p:nvSpPr>
        <p:spPr>
          <a:xfrm>
            <a:off x="6355080" y="2752344"/>
            <a:ext cx="2148840" cy="43891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VALIDATE</a:t>
            </a:r>
          </a:p>
        </p:txBody>
      </p:sp>
      <p:cxnSp>
        <p:nvCxnSpPr>
          <p:cNvPr id="1014" name="Connector"/>
          <p:cNvCxnSpPr/>
          <p:nvPr/>
        </p:nvCxnSpPr>
        <p:spPr>
          <a:xfrm>
            <a:off x="7424928" y="2587752"/>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5" name="Card"/>
          <p:cNvSpPr/>
          <p:nvPr/>
        </p:nvSpPr>
        <p:spPr>
          <a:xfrm>
            <a:off x="6355080" y="3355848"/>
            <a:ext cx="2148840" cy="43891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RELEASE</a:t>
            </a:r>
          </a:p>
        </p:txBody>
      </p:sp>
      <p:cxnSp>
        <p:nvCxnSpPr>
          <p:cNvPr id="1016" name="Connector"/>
          <p:cNvCxnSpPr/>
          <p:nvPr/>
        </p:nvCxnSpPr>
        <p:spPr>
          <a:xfrm>
            <a:off x="7424928" y="3191256"/>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7" name="Card"/>
          <p:cNvSpPr/>
          <p:nvPr/>
        </p:nvSpPr>
        <p:spPr>
          <a:xfrm>
            <a:off x="6355080" y="3959352"/>
            <a:ext cx="2148840" cy="43891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OBSERVE</a:t>
            </a:r>
          </a:p>
        </p:txBody>
      </p:sp>
      <p:cxnSp>
        <p:nvCxnSpPr>
          <p:cNvPr id="1018" name="Connector"/>
          <p:cNvCxnSpPr/>
          <p:nvPr/>
        </p:nvCxnSpPr>
        <p:spPr>
          <a:xfrm>
            <a:off x="7424928" y="3794760"/>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9" name="Card"/>
          <p:cNvSpPr/>
          <p:nvPr/>
        </p:nvSpPr>
        <p:spPr>
          <a:xfrm>
            <a:off x="6355080" y="4562856"/>
            <a:ext cx="2148840" cy="43891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RECOVER</a:t>
            </a:r>
          </a:p>
        </p:txBody>
      </p:sp>
      <p:cxnSp>
        <p:nvCxnSpPr>
          <p:cNvPr id="1020" name="Connector"/>
          <p:cNvCxnSpPr/>
          <p:nvPr/>
        </p:nvCxnSpPr>
        <p:spPr>
          <a:xfrm>
            <a:off x="7424928" y="4398264"/>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21" name="Label"/>
          <p:cNvSpPr/>
          <p:nvPr/>
        </p:nvSpPr>
        <p:spPr>
          <a:xfrm>
            <a:off x="365760" y="5074920"/>
            <a:ext cx="84124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The system is a state; the process changes that state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Build environment versus runtime environment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384048" y="1371600"/>
            <a:ext cx="187452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SOURCE</a:t>
            </a:r>
          </a:p>
        </p:txBody>
      </p:sp>
      <p:sp>
        <p:nvSpPr>
          <p:cNvPr id="1003" name="Card"/>
          <p:cNvSpPr/>
          <p:nvPr/>
        </p:nvSpPr>
        <p:spPr>
          <a:xfrm>
            <a:off x="2551176" y="1371600"/>
            <a:ext cx="187452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BUILD ENVIRONMENT</a:t>
            </a:r>
          </a:p>
        </p:txBody>
      </p:sp>
      <p:cxnSp>
        <p:nvCxnSpPr>
          <p:cNvPr id="1004" name="Connector"/>
          <p:cNvCxnSpPr/>
          <p:nvPr/>
        </p:nvCxnSpPr>
        <p:spPr>
          <a:xfrm>
            <a:off x="2276856" y="1783080"/>
            <a:ext cx="25603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Block"/>
          <p:cNvSpPr/>
          <p:nvPr/>
        </p:nvSpPr>
        <p:spPr>
          <a:xfrm>
            <a:off x="4718304" y="1371600"/>
            <a:ext cx="187452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DEPLOYABLE ARTIFACT</a:t>
            </a:r>
          </a:p>
        </p:txBody>
      </p:sp>
      <p:cxnSp>
        <p:nvCxnSpPr>
          <p:cNvPr id="1006" name="Connector"/>
          <p:cNvCxnSpPr/>
          <p:nvPr/>
        </p:nvCxnSpPr>
        <p:spPr>
          <a:xfrm>
            <a:off x="4443984" y="1783080"/>
            <a:ext cx="25603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Card"/>
          <p:cNvSpPr/>
          <p:nvPr/>
        </p:nvSpPr>
        <p:spPr>
          <a:xfrm>
            <a:off x="6885432" y="1371600"/>
            <a:ext cx="187452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RUNTIME ENVIRONMENT</a:t>
            </a:r>
          </a:p>
        </p:txBody>
      </p:sp>
      <p:cxnSp>
        <p:nvCxnSpPr>
          <p:cNvPr id="1008" name="Connector"/>
          <p:cNvCxnSpPr/>
          <p:nvPr/>
        </p:nvCxnSpPr>
        <p:spPr>
          <a:xfrm>
            <a:off x="6611112" y="1783080"/>
            <a:ext cx="25603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9" name="Label"/>
          <p:cNvSpPr/>
          <p:nvPr/>
        </p:nvSpPr>
        <p:spPr>
          <a:xfrm>
            <a:off x="4206240" y="2331720"/>
            <a:ext cx="44805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the artifact carries assumptions about its destination</a:t>
            </a:r>
          </a:p>
        </p:txBody>
      </p:sp>
      <p:sp>
        <p:nvSpPr>
          <p:cNvPr id="1010" name="Card"/>
          <p:cNvSpPr/>
          <p:nvPr/>
        </p:nvSpPr>
        <p:spPr>
          <a:xfrm>
            <a:off x="384048" y="3200400"/>
            <a:ext cx="4526280" cy="1828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Why it fails over there</a:t>
            </a:r>
          </a:p>
          <a:p>
            <a:pPr algn="ctr">
              <a:spcBef>
                <a:spcPts val="600"/>
              </a:spcBef>
            </a:pPr>
            <a:r>
              <a:rPr sz="2000" b="0" i="0" dirty="0">
                <a:solidFill>
                  <a:srgbClr val="5C4826"/>
                </a:solidFill>
              </a:rPr>
              <a:t>missing dependencies</a:t>
            </a:r>
          </a:p>
          <a:p>
            <a:pPr algn="ctr">
              <a:spcBef>
                <a:spcPts val="200"/>
              </a:spcBef>
            </a:pPr>
            <a:r>
              <a:rPr sz="2000" b="0" i="0" dirty="0">
                <a:solidFill>
                  <a:srgbClr val="5C4826"/>
                </a:solidFill>
              </a:rPr>
              <a:t>different runtime version</a:t>
            </a:r>
          </a:p>
          <a:p>
            <a:pPr algn="ctr">
              <a:spcBef>
                <a:spcPts val="200"/>
              </a:spcBef>
            </a:pPr>
            <a:r>
              <a:rPr sz="2000" b="0" i="0" dirty="0">
                <a:solidFill>
                  <a:srgbClr val="5C4826"/>
                </a:solidFill>
              </a:rPr>
              <a:t>different configuration</a:t>
            </a:r>
          </a:p>
          <a:p>
            <a:pPr algn="ctr">
              <a:spcBef>
                <a:spcPts val="200"/>
              </a:spcBef>
            </a:pPr>
            <a:r>
              <a:rPr sz="2000" b="0" i="0" dirty="0">
                <a:solidFill>
                  <a:srgbClr val="5C4826"/>
                </a:solidFill>
              </a:rPr>
              <a:t>absent resources</a:t>
            </a:r>
          </a:p>
        </p:txBody>
      </p:sp>
      <p:sp>
        <p:nvSpPr>
          <p:cNvPr id="1011" name="Card"/>
          <p:cNvSpPr/>
          <p:nvPr/>
        </p:nvSpPr>
        <p:spPr>
          <a:xfrm>
            <a:off x="5212080" y="3200400"/>
            <a:ext cx="3611880" cy="1828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“Works on my machine”</a:t>
            </a:r>
          </a:p>
          <a:p>
            <a:pPr algn="ctr">
              <a:spcBef>
                <a:spcPts val="600"/>
              </a:spcBef>
            </a:pPr>
            <a:r>
              <a:rPr sz="2000" b="0" i="0" dirty="0">
                <a:solidFill>
                  <a:srgbClr val="5C4826"/>
                </a:solidFill>
              </a:rPr>
              <a:t>a claim about one environment,</a:t>
            </a:r>
          </a:p>
          <a:p>
            <a:pPr algn="ctr">
              <a:spcBef>
                <a:spcPts val="200"/>
              </a:spcBef>
            </a:pPr>
            <a:r>
              <a:rPr sz="2000" b="0" i="0" dirty="0">
                <a:solidFill>
                  <a:srgbClr val="5C4826"/>
                </a:solidFill>
              </a:rPr>
              <a:t>tested nowhere else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Configuration is part of deployment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457200" y="1920240"/>
            <a:ext cx="2560320" cy="10058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APPLICATION</a:t>
            </a:r>
          </a:p>
          <a:p>
            <a:pPr algn="ctr"/>
            <a:r>
              <a:rPr sz="2000" b="0" i="1" dirty="0">
                <a:solidFill>
                  <a:srgbClr val="FFFFFF"/>
                </a:solidFill>
              </a:rPr>
              <a:t>the same artifact</a:t>
            </a:r>
          </a:p>
        </p:txBody>
      </p:sp>
      <p:sp>
        <p:nvSpPr>
          <p:cNvPr id="1003" name="Card"/>
          <p:cNvSpPr/>
          <p:nvPr/>
        </p:nvSpPr>
        <p:spPr>
          <a:xfrm>
            <a:off x="3931920" y="1188720"/>
            <a:ext cx="4754880" cy="2148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CONFIGURATION, supplied at deployment</a:t>
            </a:r>
          </a:p>
          <a:p>
            <a:pPr algn="ctr">
              <a:spcBef>
                <a:spcPts val="600"/>
              </a:spcBef>
            </a:pPr>
            <a:r>
              <a:rPr sz="2000" b="0" i="0" dirty="0">
                <a:solidFill>
                  <a:srgbClr val="5C4826"/>
                </a:solidFill>
              </a:rPr>
              <a:t>database connection string</a:t>
            </a:r>
          </a:p>
          <a:p>
            <a:pPr algn="ctr">
              <a:spcBef>
                <a:spcPts val="200"/>
              </a:spcBef>
            </a:pPr>
            <a:r>
              <a:rPr sz="2000" b="0" i="0" dirty="0">
                <a:solidFill>
                  <a:srgbClr val="5C4826"/>
                </a:solidFill>
              </a:rPr>
              <a:t>secrets and API keys</a:t>
            </a:r>
          </a:p>
          <a:p>
            <a:pPr algn="ctr">
              <a:spcBef>
                <a:spcPts val="200"/>
              </a:spcBef>
            </a:pPr>
            <a:r>
              <a:rPr sz="2000" b="0" i="0" dirty="0">
                <a:solidFill>
                  <a:srgbClr val="5C4826"/>
                </a:solidFill>
              </a:rPr>
              <a:t>feature settings</a:t>
            </a:r>
          </a:p>
          <a:p>
            <a:pPr algn="ctr">
              <a:spcBef>
                <a:spcPts val="200"/>
              </a:spcBef>
            </a:pPr>
            <a:r>
              <a:rPr sz="2000" b="0" i="0" dirty="0">
                <a:solidFill>
                  <a:srgbClr val="5C4826"/>
                </a:solidFill>
              </a:rPr>
              <a:t>external service endpoints</a:t>
            </a:r>
          </a:p>
        </p:txBody>
      </p:sp>
      <p:cxnSp>
        <p:nvCxnSpPr>
          <p:cNvPr id="1004" name="Connector"/>
          <p:cNvCxnSpPr/>
          <p:nvPr/>
        </p:nvCxnSpPr>
        <p:spPr>
          <a:xfrm flipH="1">
            <a:off x="3035808" y="2423160"/>
            <a:ext cx="87782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Label"/>
          <p:cNvSpPr/>
          <p:nvPr/>
        </p:nvSpPr>
        <p:spPr>
          <a:xfrm>
            <a:off x="365760" y="3200400"/>
            <a:ext cx="3291840" cy="12984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hard-coding the connection string bakes one environment into the artifact</a:t>
            </a:r>
          </a:p>
        </p:txBody>
      </p:sp>
      <p:sp>
        <p:nvSpPr>
          <p:cNvPr id="1006" name="Label"/>
          <p:cNvSpPr/>
          <p:nvPr/>
        </p:nvSpPr>
        <p:spPr>
          <a:xfrm>
            <a:off x="365760" y="452628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 deployment model that omits configuration cannot reproduce the system's behavior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Reproducibility is an engineering property</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Card"/>
          <p:cNvSpPr/>
          <p:nvPr/>
        </p:nvSpPr>
        <p:spPr>
          <a:xfrm>
            <a:off x="365760" y="1188720"/>
            <a:ext cx="2651760" cy="1920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DECLARE</a:t>
            </a:r>
          </a:p>
          <a:p>
            <a:pPr algn="ctr">
              <a:spcBef>
                <a:spcPts val="600"/>
              </a:spcBef>
            </a:pPr>
            <a:r>
              <a:rPr sz="2000" b="0" i="0" dirty="0">
                <a:solidFill>
                  <a:srgbClr val="5C4826"/>
                </a:solidFill>
              </a:rPr>
              <a:t>dependencies and versions, pinned in the repository</a:t>
            </a:r>
          </a:p>
        </p:txBody>
      </p:sp>
      <p:sp>
        <p:nvSpPr>
          <p:cNvPr id="1003" name="Card"/>
          <p:cNvSpPr/>
          <p:nvPr/>
        </p:nvSpPr>
        <p:spPr>
          <a:xfrm>
            <a:off x="3246120" y="1188720"/>
            <a:ext cx="2651760" cy="1920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REBUILD CLEAN</a:t>
            </a:r>
          </a:p>
          <a:p>
            <a:pPr algn="ctr">
              <a:spcBef>
                <a:spcPts val="600"/>
              </a:spcBef>
            </a:pPr>
            <a:r>
              <a:rPr sz="2000" b="0" i="0" dirty="0">
                <a:solidFill>
                  <a:srgbClr val="5C4826"/>
                </a:solidFill>
              </a:rPr>
              <a:t>a fresh, ephemeral environment for every run</a:t>
            </a:r>
          </a:p>
        </p:txBody>
      </p:sp>
      <p:sp>
        <p:nvSpPr>
          <p:cNvPr id="1004" name="Card"/>
          <p:cNvSpPr/>
          <p:nvPr/>
        </p:nvSpPr>
        <p:spPr>
          <a:xfrm>
            <a:off x="6126480" y="1188720"/>
            <a:ext cx="2651760" cy="1920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INFRASTRUCTURE AS CODE</a:t>
            </a:r>
          </a:p>
          <a:p>
            <a:pPr algn="ctr">
              <a:spcBef>
                <a:spcPts val="600"/>
              </a:spcBef>
            </a:pPr>
            <a:r>
              <a:rPr sz="2000" b="0" i="0" dirty="0">
                <a:solidFill>
                  <a:srgbClr val="5C4826"/>
                </a:solidFill>
              </a:rPr>
              <a:t>the environment itself, versioned and reviewable</a:t>
            </a:r>
          </a:p>
        </p:txBody>
      </p:sp>
      <p:sp>
        <p:nvSpPr>
          <p:cNvPr id="1005" name="Label"/>
          <p:cNvSpPr/>
          <p:nvPr/>
        </p:nvSpPr>
        <p:spPr>
          <a:xfrm>
            <a:off x="365760" y="329184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55960"/>
                </a:solidFill>
              </a:rPr>
              <a:t>Given the same source and configuration, the pipeline should produce the same result</a:t>
            </a:r>
          </a:p>
        </p:txBody>
      </p:sp>
      <p:sp>
        <p:nvSpPr>
          <p:cNvPr id="1006" name="Card"/>
          <p:cNvSpPr/>
          <p:nvPr/>
        </p:nvSpPr>
        <p:spPr>
          <a:xfrm>
            <a:off x="365760" y="4114800"/>
            <a:ext cx="84582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Still not guaranteed:</a:t>
            </a:r>
          </a:p>
          <a:p>
            <a:pPr algn="ctr">
              <a:spcBef>
                <a:spcPts val="400"/>
              </a:spcBef>
            </a:pPr>
            <a:r>
              <a:rPr sz="2000" b="0" i="0" dirty="0">
                <a:solidFill>
                  <a:srgbClr val="5C4826"/>
                </a:solidFill>
              </a:rPr>
              <a:t>external services, mutable dependencies, nondeterministic builds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Continuous integration, delivery, and deployment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Card"/>
          <p:cNvSpPr/>
          <p:nvPr/>
        </p:nvSpPr>
        <p:spPr>
          <a:xfrm>
            <a:off x="365760" y="1280160"/>
            <a:ext cx="2651760" cy="2103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CONTINUOUS INTEGRATION</a:t>
            </a:r>
          </a:p>
          <a:p>
            <a:pPr algn="ctr">
              <a:spcBef>
                <a:spcPts val="800"/>
              </a:spcBef>
            </a:pPr>
            <a:r>
              <a:rPr sz="2000" b="0" i="0" dirty="0">
                <a:solidFill>
                  <a:srgbClr val="5C4826"/>
                </a:solidFill>
              </a:rPr>
              <a:t>integrate changes frequently;</a:t>
            </a:r>
          </a:p>
          <a:p>
            <a:pPr algn="ctr">
              <a:spcBef>
                <a:spcPts val="200"/>
              </a:spcBef>
            </a:pPr>
            <a:r>
              <a:rPr sz="2000" b="0" i="0" dirty="0">
                <a:solidFill>
                  <a:srgbClr val="5C4826"/>
                </a:solidFill>
              </a:rPr>
              <a:t>evaluate each one automatically</a:t>
            </a:r>
          </a:p>
        </p:txBody>
      </p:sp>
      <p:sp>
        <p:nvSpPr>
          <p:cNvPr id="1003" name="Card"/>
          <p:cNvSpPr/>
          <p:nvPr/>
        </p:nvSpPr>
        <p:spPr>
          <a:xfrm>
            <a:off x="3246120" y="1280160"/>
            <a:ext cx="2651760" cy="2103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CONTINUOUS DELIVERY</a:t>
            </a:r>
          </a:p>
          <a:p>
            <a:pPr algn="ctr">
              <a:spcBef>
                <a:spcPts val="800"/>
              </a:spcBef>
            </a:pPr>
            <a:r>
              <a:rPr sz="2000" b="0" i="0" dirty="0">
                <a:solidFill>
                  <a:srgbClr val="5C4826"/>
                </a:solidFill>
              </a:rPr>
              <a:t>keep the software releasable</a:t>
            </a:r>
          </a:p>
          <a:p>
            <a:pPr algn="ctr">
              <a:spcBef>
                <a:spcPts val="200"/>
              </a:spcBef>
            </a:pPr>
            <a:r>
              <a:rPr sz="2000" b="0" i="0" dirty="0">
                <a:solidFill>
                  <a:srgbClr val="5C4826"/>
                </a:solidFill>
              </a:rPr>
              <a:t>at every moment</a:t>
            </a:r>
          </a:p>
        </p:txBody>
      </p:sp>
      <p:sp>
        <p:nvSpPr>
          <p:cNvPr id="1004" name="Card"/>
          <p:cNvSpPr/>
          <p:nvPr/>
        </p:nvSpPr>
        <p:spPr>
          <a:xfrm>
            <a:off x="6126480" y="1280160"/>
            <a:ext cx="2651760" cy="2103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CONTINUOUS DEPLOYMENT</a:t>
            </a:r>
          </a:p>
          <a:p>
            <a:pPr algn="ctr">
              <a:spcBef>
                <a:spcPts val="800"/>
              </a:spcBef>
            </a:pPr>
            <a:r>
              <a:rPr sz="2000" b="0" i="0" dirty="0">
                <a:solidFill>
                  <a:srgbClr val="5C4826"/>
                </a:solidFill>
              </a:rPr>
              <a:t>automatically deploy changes</a:t>
            </a:r>
          </a:p>
          <a:p>
            <a:pPr algn="ctr">
              <a:spcBef>
                <a:spcPts val="200"/>
              </a:spcBef>
            </a:pPr>
            <a:r>
              <a:rPr sz="2000" b="0" i="0" dirty="0">
                <a:solidFill>
                  <a:srgbClr val="5C4826"/>
                </a:solidFill>
              </a:rPr>
              <a:t>that pass the gates</a:t>
            </a:r>
          </a:p>
        </p:txBody>
      </p:sp>
      <p:sp>
        <p:nvSpPr>
          <p:cNvPr id="1005" name="Label"/>
          <p:cNvSpPr/>
          <p:nvPr/>
        </p:nvSpPr>
        <p:spPr>
          <a:xfrm>
            <a:off x="365760" y="3657600"/>
            <a:ext cx="84124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Delivery is a state; deployment is an action</a:t>
            </a:r>
          </a:p>
        </p:txBody>
      </p:sp>
      <p:sp>
        <p:nvSpPr>
          <p:cNvPr id="1006" name="Label"/>
          <p:cNvSpPr/>
          <p:nvPr/>
        </p:nvSpPr>
        <p:spPr>
          <a:xfrm>
            <a:off x="365760" y="420624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A team can practice continuous delivery and still choose when each deployment happens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A pipeline is an executable process model</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411480" y="1188720"/>
            <a:ext cx="1481328"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COMMIT</a:t>
            </a:r>
          </a:p>
        </p:txBody>
      </p:sp>
      <p:sp>
        <p:nvSpPr>
          <p:cNvPr id="1003" name="Block"/>
          <p:cNvSpPr/>
          <p:nvPr/>
        </p:nvSpPr>
        <p:spPr>
          <a:xfrm>
            <a:off x="2130552" y="1188720"/>
            <a:ext cx="1481328"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BUILD</a:t>
            </a:r>
          </a:p>
        </p:txBody>
      </p:sp>
      <p:cxnSp>
        <p:nvCxnSpPr>
          <p:cNvPr id="1004" name="Connector"/>
          <p:cNvCxnSpPr/>
          <p:nvPr/>
        </p:nvCxnSpPr>
        <p:spPr>
          <a:xfrm>
            <a:off x="1911096" y="150876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Block"/>
          <p:cNvSpPr/>
          <p:nvPr/>
        </p:nvSpPr>
        <p:spPr>
          <a:xfrm>
            <a:off x="3849624" y="1188720"/>
            <a:ext cx="1481328"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TEST</a:t>
            </a:r>
          </a:p>
        </p:txBody>
      </p:sp>
      <p:cxnSp>
        <p:nvCxnSpPr>
          <p:cNvPr id="1006" name="Connector"/>
          <p:cNvCxnSpPr/>
          <p:nvPr/>
        </p:nvCxnSpPr>
        <p:spPr>
          <a:xfrm>
            <a:off x="3630168" y="150876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Block"/>
          <p:cNvSpPr/>
          <p:nvPr/>
        </p:nvSpPr>
        <p:spPr>
          <a:xfrm>
            <a:off x="5568696" y="1188720"/>
            <a:ext cx="1481328"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PACKAGE</a:t>
            </a:r>
          </a:p>
        </p:txBody>
      </p:sp>
      <p:cxnSp>
        <p:nvCxnSpPr>
          <p:cNvPr id="1008" name="Connector"/>
          <p:cNvCxnSpPr/>
          <p:nvPr/>
        </p:nvCxnSpPr>
        <p:spPr>
          <a:xfrm>
            <a:off x="5349240" y="150876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9" name="Block"/>
          <p:cNvSpPr/>
          <p:nvPr/>
        </p:nvSpPr>
        <p:spPr>
          <a:xfrm>
            <a:off x="7287768" y="1188720"/>
            <a:ext cx="1481328"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DEPLOY</a:t>
            </a:r>
          </a:p>
        </p:txBody>
      </p:sp>
      <p:cxnSp>
        <p:nvCxnSpPr>
          <p:cNvPr id="1010" name="Connector"/>
          <p:cNvCxnSpPr/>
          <p:nvPr/>
        </p:nvCxnSpPr>
        <p:spPr>
          <a:xfrm>
            <a:off x="7068312" y="150876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1" name="CodeCard"/>
          <p:cNvSpPr/>
          <p:nvPr/>
        </p:nvSpPr>
        <p:spPr>
          <a:xfrm>
            <a:off x="868680" y="2240280"/>
            <a:ext cx="4297680" cy="2788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l"/>
            <a:r>
              <a:rPr sz="2000" b="0" i="0" dirty="0">
                <a:solidFill>
                  <a:srgbClr val="5C4826"/>
                </a:solidFill>
                <a:latin typeface="Consolas"/>
              </a:rPr>
              <a:t>name: build-and-test</a:t>
            </a:r>
          </a:p>
          <a:p>
            <a:pPr algn="l">
              <a:spcBef>
                <a:spcPts val="200"/>
              </a:spcBef>
            </a:pPr>
            <a:r>
              <a:rPr sz="2000" b="0" i="0" dirty="0">
                <a:solidFill>
                  <a:srgbClr val="5C4826"/>
                </a:solidFill>
                <a:latin typeface="Consolas"/>
              </a:rPr>
              <a:t>on: pull_request</a:t>
            </a:r>
          </a:p>
          <a:p>
            <a:pPr algn="l">
              <a:spcBef>
                <a:spcPts val="200"/>
              </a:spcBef>
            </a:pPr>
            <a:r>
              <a:rPr sz="2000" b="0" i="0" dirty="0">
                <a:solidFill>
                  <a:srgbClr val="5C4826"/>
                </a:solidFill>
                <a:latin typeface="Consolas"/>
              </a:rPr>
              <a:t>jobs:</a:t>
            </a:r>
          </a:p>
          <a:p>
            <a:pPr algn="l">
              <a:spcBef>
                <a:spcPts val="200"/>
              </a:spcBef>
            </a:pPr>
            <a:r>
              <a:rPr sz="2000" b="0" i="0" dirty="0">
                <a:solidFill>
                  <a:srgbClr val="5C4826"/>
                </a:solidFill>
                <a:latin typeface="Consolas"/>
              </a:rPr>
              <a:t>  test:</a:t>
            </a:r>
          </a:p>
          <a:p>
            <a:pPr algn="l">
              <a:spcBef>
                <a:spcPts val="200"/>
              </a:spcBef>
            </a:pPr>
            <a:r>
              <a:rPr sz="2000" b="0" i="0" dirty="0">
                <a:solidFill>
                  <a:srgbClr val="5C4826"/>
                </a:solidFill>
                <a:latin typeface="Consolas"/>
              </a:rPr>
              <a:t>    steps:</a:t>
            </a:r>
          </a:p>
          <a:p>
            <a:pPr algn="l">
              <a:spcBef>
                <a:spcPts val="200"/>
              </a:spcBef>
            </a:pPr>
            <a:r>
              <a:rPr sz="2000" b="0" i="0" dirty="0">
                <a:solidFill>
                  <a:srgbClr val="5C4826"/>
                </a:solidFill>
                <a:latin typeface="Consolas"/>
              </a:rPr>
              <a:t>      - checkout</a:t>
            </a:r>
          </a:p>
          <a:p>
            <a:pPr algn="l">
              <a:spcBef>
                <a:spcPts val="200"/>
              </a:spcBef>
            </a:pPr>
            <a:r>
              <a:rPr sz="2000" b="0" i="0" dirty="0">
                <a:solidFill>
                  <a:srgbClr val="5C4826"/>
                </a:solidFill>
                <a:latin typeface="Consolas"/>
              </a:rPr>
              <a:t>      - build</a:t>
            </a:r>
          </a:p>
          <a:p>
            <a:pPr algn="l">
              <a:spcBef>
                <a:spcPts val="200"/>
              </a:spcBef>
            </a:pPr>
            <a:r>
              <a:rPr sz="2000" b="0" i="0" dirty="0">
                <a:solidFill>
                  <a:srgbClr val="5C4826"/>
                </a:solidFill>
                <a:latin typeface="Consolas"/>
              </a:rPr>
              <a:t>      - run tests</a:t>
            </a:r>
          </a:p>
        </p:txBody>
      </p:sp>
      <p:sp>
        <p:nvSpPr>
          <p:cNvPr id="1012" name="Label"/>
          <p:cNvSpPr/>
          <p:nvPr/>
        </p:nvSpPr>
        <p:spPr>
          <a:xfrm>
            <a:off x="5486400" y="2468880"/>
            <a:ext cx="3291840" cy="21031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The workflow file declares the process.</a:t>
            </a:r>
          </a:p>
          <a:p>
            <a:pPr algn="l">
              <a:spcBef>
                <a:spcPts val="800"/>
              </a:spcBef>
            </a:pPr>
            <a:r>
              <a:rPr sz="2000" b="0" i="0" dirty="0">
                <a:solidFill>
                  <a:srgbClr val="555960"/>
                </a:solidFill>
              </a:rPr>
              <a:t>The runner executes it, the same way, every time.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CI checks a proposed change before admission</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411480" y="1828800"/>
            <a:ext cx="201168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PROPOSED</a:t>
            </a:r>
          </a:p>
          <a:p>
            <a:pPr algn="ctr"/>
            <a:r>
              <a:rPr sz="2000" b="1" i="0" dirty="0">
                <a:solidFill>
                  <a:srgbClr val="FFFFFF"/>
                </a:solidFill>
              </a:rPr>
              <a:t>CHANGE</a:t>
            </a:r>
          </a:p>
        </p:txBody>
      </p:sp>
      <p:sp>
        <p:nvSpPr>
          <p:cNvPr id="1003" name="Block"/>
          <p:cNvSpPr/>
          <p:nvPr/>
        </p:nvSpPr>
        <p:spPr>
          <a:xfrm>
            <a:off x="3154680" y="1828800"/>
            <a:ext cx="201168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AUTOMATED</a:t>
            </a:r>
          </a:p>
          <a:p>
            <a:pPr algn="ctr"/>
            <a:r>
              <a:rPr sz="2000" b="1" i="0" dirty="0">
                <a:solidFill>
                  <a:srgbClr val="FFFFFF"/>
                </a:solidFill>
              </a:rPr>
              <a:t>CHECKS</a:t>
            </a:r>
          </a:p>
        </p:txBody>
      </p:sp>
      <p:sp>
        <p:nvSpPr>
          <p:cNvPr id="1004" name="Card"/>
          <p:cNvSpPr/>
          <p:nvPr/>
        </p:nvSpPr>
        <p:spPr>
          <a:xfrm>
            <a:off x="5897880" y="1828800"/>
            <a:ext cx="12801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pass?</a:t>
            </a:r>
          </a:p>
        </p:txBody>
      </p:sp>
      <p:sp>
        <p:nvSpPr>
          <p:cNvPr id="1005" name="Block"/>
          <p:cNvSpPr/>
          <p:nvPr/>
        </p:nvSpPr>
        <p:spPr>
          <a:xfrm>
            <a:off x="7635240" y="1828800"/>
            <a:ext cx="118872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MERGE</a:t>
            </a:r>
          </a:p>
        </p:txBody>
      </p:sp>
      <p:cxnSp>
        <p:nvCxnSpPr>
          <p:cNvPr id="1006" name="Connector"/>
          <p:cNvCxnSpPr/>
          <p:nvPr/>
        </p:nvCxnSpPr>
        <p:spPr>
          <a:xfrm>
            <a:off x="2441448" y="2240280"/>
            <a:ext cx="69494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7" name="Connector"/>
          <p:cNvCxnSpPr/>
          <p:nvPr/>
        </p:nvCxnSpPr>
        <p:spPr>
          <a:xfrm>
            <a:off x="5184648" y="2240280"/>
            <a:ext cx="69494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8" name="Connector"/>
          <p:cNvCxnSpPr/>
          <p:nvPr/>
        </p:nvCxnSpPr>
        <p:spPr>
          <a:xfrm>
            <a:off x="7196328" y="2240280"/>
            <a:ext cx="42062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9" name="Label"/>
          <p:cNvSpPr/>
          <p:nvPr/>
        </p:nvSpPr>
        <p:spPr>
          <a:xfrm>
            <a:off x="7196328" y="1847088"/>
            <a:ext cx="420624"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55960"/>
                </a:solidFill>
              </a:rPr>
              <a:t>yes</a:t>
            </a:r>
          </a:p>
        </p:txBody>
      </p:sp>
      <p:sp>
        <p:nvSpPr>
          <p:cNvPr id="1010" name="Card"/>
          <p:cNvSpPr/>
          <p:nvPr/>
        </p:nvSpPr>
        <p:spPr>
          <a:xfrm>
            <a:off x="3154680" y="365760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REVISE</a:t>
            </a:r>
          </a:p>
        </p:txBody>
      </p:sp>
      <p:cxnSp>
        <p:nvCxnSpPr>
          <p:cNvPr id="1011" name="Connector"/>
          <p:cNvCxnSpPr/>
          <p:nvPr/>
        </p:nvCxnSpPr>
        <p:spPr>
          <a:xfrm>
            <a:off x="6537960" y="2670048"/>
            <a:ext cx="0" cy="1353312"/>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12" name="Connector"/>
          <p:cNvCxnSpPr/>
          <p:nvPr/>
        </p:nvCxnSpPr>
        <p:spPr>
          <a:xfrm flipH="1">
            <a:off x="5184648" y="4023360"/>
            <a:ext cx="135331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3" name="Label"/>
          <p:cNvSpPr/>
          <p:nvPr/>
        </p:nvSpPr>
        <p:spPr>
          <a:xfrm>
            <a:off x="6675120" y="2788920"/>
            <a:ext cx="8229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no</a:t>
            </a:r>
          </a:p>
        </p:txBody>
      </p:sp>
      <p:cxnSp>
        <p:nvCxnSpPr>
          <p:cNvPr id="1014" name="Connector"/>
          <p:cNvCxnSpPr/>
          <p:nvPr/>
        </p:nvCxnSpPr>
        <p:spPr>
          <a:xfrm flipV="1">
            <a:off x="4160520" y="2670048"/>
            <a:ext cx="0" cy="969264"/>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CI/CD provides evidence before admission</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ChecksPanel"/>
          <p:cNvSpPr/>
          <p:nvPr/>
        </p:nvSpPr>
        <p:spPr>
          <a:xfrm>
            <a:off x="411480" y="1188720"/>
            <a:ext cx="4206240" cy="3017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l"/>
            <a:r>
              <a:rPr sz="2000" b="1" i="0" dirty="0">
                <a:solidFill>
                  <a:srgbClr val="5C4826"/>
                </a:solidFill>
              </a:rPr>
              <a:t>checks, pull request #214</a:t>
            </a:r>
          </a:p>
          <a:p>
            <a:pPr algn="l">
              <a:spcBef>
                <a:spcPts val="800"/>
              </a:spcBef>
            </a:pPr>
            <a:r>
              <a:rPr sz="2000" b="0" i="0" dirty="0">
                <a:solidFill>
                  <a:srgbClr val="5C4826"/>
                </a:solidFill>
              </a:rPr>
              <a:t>build</a:t>
            </a:r>
            <a:r>
              <a:rPr sz="2000" b="1" i="0" dirty="0">
                <a:solidFill>
                  <a:srgbClr val="5C4826"/>
                </a:solidFill>
              </a:rPr>
              <a:t>   pass</a:t>
            </a:r>
          </a:p>
          <a:p>
            <a:pPr algn="l">
              <a:spcBef>
                <a:spcPts val="400"/>
              </a:spcBef>
            </a:pPr>
            <a:r>
              <a:rPr sz="2000" b="0" i="0" dirty="0">
                <a:solidFill>
                  <a:srgbClr val="5C4826"/>
                </a:solidFill>
              </a:rPr>
              <a:t>unit tests</a:t>
            </a:r>
            <a:r>
              <a:rPr sz="2000" b="1" i="0" dirty="0">
                <a:solidFill>
                  <a:srgbClr val="5C4826"/>
                </a:solidFill>
              </a:rPr>
              <a:t>   pass</a:t>
            </a:r>
          </a:p>
          <a:p>
            <a:pPr algn="l">
              <a:spcBef>
                <a:spcPts val="400"/>
              </a:spcBef>
            </a:pPr>
            <a:r>
              <a:rPr sz="2000" b="0" i="0" dirty="0">
                <a:solidFill>
                  <a:srgbClr val="5C4826"/>
                </a:solidFill>
              </a:rPr>
              <a:t>lint</a:t>
            </a:r>
            <a:r>
              <a:rPr sz="2000" b="1" i="0" dirty="0">
                <a:solidFill>
                  <a:srgbClr val="5C4826"/>
                </a:solidFill>
              </a:rPr>
              <a:t>   pass</a:t>
            </a:r>
          </a:p>
          <a:p>
            <a:pPr algn="l">
              <a:spcBef>
                <a:spcPts val="400"/>
              </a:spcBef>
            </a:pPr>
            <a:r>
              <a:rPr sz="2000" b="0" i="0" dirty="0">
                <a:solidFill>
                  <a:srgbClr val="5C4826"/>
                </a:solidFill>
              </a:rPr>
              <a:t>integration</a:t>
            </a:r>
            <a:r>
              <a:rPr sz="2000" b="1" i="0" dirty="0">
                <a:solidFill>
                  <a:srgbClr val="C01B1B"/>
                </a:solidFill>
              </a:rPr>
              <a:t>   FAIL</a:t>
            </a:r>
          </a:p>
          <a:p>
            <a:pPr algn="l">
              <a:spcBef>
                <a:spcPts val="400"/>
              </a:spcBef>
            </a:pPr>
            <a:r>
              <a:rPr sz="2000" b="0" i="0" dirty="0">
                <a:solidFill>
                  <a:srgbClr val="5C4826"/>
                </a:solidFill>
              </a:rPr>
              <a:t>coverage</a:t>
            </a:r>
            <a:r>
              <a:rPr sz="2000" b="1" i="0" dirty="0">
                <a:solidFill>
                  <a:srgbClr val="5C4826"/>
                </a:solidFill>
              </a:rPr>
              <a:t>   pass</a:t>
            </a:r>
          </a:p>
          <a:p>
            <a:pPr algn="l">
              <a:spcBef>
                <a:spcPts val="1000"/>
              </a:spcBef>
            </a:pPr>
            <a:r>
              <a:rPr sz="2000" b="0" i="1" dirty="0">
                <a:solidFill>
                  <a:srgbClr val="C01B1B"/>
                </a:solidFill>
              </a:rPr>
              <a:t>merging is blocked</a:t>
            </a:r>
          </a:p>
        </p:txBody>
      </p:sp>
      <p:sp>
        <p:nvSpPr>
          <p:cNvPr id="1003" name="Label"/>
          <p:cNvSpPr/>
          <p:nvPr/>
        </p:nvSpPr>
        <p:spPr>
          <a:xfrm>
            <a:off x="5029200" y="1371600"/>
            <a:ext cx="3749040" cy="3108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Every stage emits evidence.</a:t>
            </a:r>
          </a:p>
          <a:p>
            <a:pPr algn="l">
              <a:spcBef>
                <a:spcPts val="1000"/>
              </a:spcBef>
            </a:pPr>
            <a:r>
              <a:rPr sz="2000" b="0" i="0" dirty="0">
                <a:solidFill>
                  <a:srgbClr val="555960"/>
                </a:solidFill>
              </a:rPr>
              <a:t>One red check stops admission.</a:t>
            </a:r>
          </a:p>
          <a:p>
            <a:pPr algn="l">
              <a:spcBef>
                <a:spcPts val="1000"/>
              </a:spcBef>
            </a:pPr>
            <a:r>
              <a:rPr sz="2000" b="0" i="0" dirty="0">
                <a:solidFill>
                  <a:srgbClr val="555960"/>
                </a:solidFill>
              </a:rPr>
              <a:t>Speed is a side effect; the goal is confidence in each change.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What can go wrong with CI/CD?</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Card"/>
          <p:cNvSpPr/>
          <p:nvPr/>
        </p:nvSpPr>
        <p:spPr>
          <a:xfrm>
            <a:off x="365760" y="1280160"/>
            <a:ext cx="2651760" cy="2103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FLAKY TESTS</a:t>
            </a:r>
          </a:p>
          <a:p>
            <a:pPr algn="ctr">
              <a:spcBef>
                <a:spcPts val="800"/>
              </a:spcBef>
            </a:pPr>
            <a:r>
              <a:rPr sz="2000" b="0" i="0" dirty="0">
                <a:solidFill>
                  <a:srgbClr val="5C4826"/>
                </a:solidFill>
              </a:rPr>
              <a:t>same code, different verdicts; trust erodes</a:t>
            </a:r>
          </a:p>
        </p:txBody>
      </p:sp>
      <p:sp>
        <p:nvSpPr>
          <p:cNvPr id="1003" name="Card"/>
          <p:cNvSpPr/>
          <p:nvPr/>
        </p:nvSpPr>
        <p:spPr>
          <a:xfrm>
            <a:off x="3246120" y="1280160"/>
            <a:ext cx="2651760" cy="2103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ENVIRONMENT DRIFT</a:t>
            </a:r>
          </a:p>
          <a:p>
            <a:pPr algn="ctr">
              <a:spcBef>
                <a:spcPts val="800"/>
              </a:spcBef>
            </a:pPr>
            <a:r>
              <a:rPr sz="2000" b="0" i="0" dirty="0">
                <a:solidFill>
                  <a:srgbClr val="5C4826"/>
                </a:solidFill>
              </a:rPr>
              <a:t>the runner slowly stops matching production</a:t>
            </a:r>
          </a:p>
        </p:txBody>
      </p:sp>
      <p:sp>
        <p:nvSpPr>
          <p:cNvPr id="1004" name="Card"/>
          <p:cNvSpPr/>
          <p:nvPr/>
        </p:nvSpPr>
        <p:spPr>
          <a:xfrm>
            <a:off x="6126480" y="1280160"/>
            <a:ext cx="2651760" cy="2103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UNRELIABLE DEPENDENCIES</a:t>
            </a:r>
          </a:p>
          <a:p>
            <a:pPr algn="ctr">
              <a:spcBef>
                <a:spcPts val="800"/>
              </a:spcBef>
            </a:pPr>
            <a:r>
              <a:rPr sz="2000" b="0" i="0" dirty="0">
                <a:solidFill>
                  <a:srgbClr val="5C4826"/>
                </a:solidFill>
              </a:rPr>
              <a:t>the network is part of your pipeline</a:t>
            </a:r>
          </a:p>
        </p:txBody>
      </p:sp>
      <p:sp>
        <p:nvSpPr>
          <p:cNvPr id="1005" name="Label"/>
          <p:cNvSpPr/>
          <p:nvPr/>
        </p:nvSpPr>
        <p:spPr>
          <a:xfrm>
            <a:off x="365760" y="3657600"/>
            <a:ext cx="84124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The pipeline is software too, and it fails like software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A passing build is not permission to deploy</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411480" y="1325880"/>
            <a:ext cx="210312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GREEN BUILD</a:t>
            </a:r>
          </a:p>
        </p:txBody>
      </p:sp>
      <p:sp>
        <p:nvSpPr>
          <p:cNvPr id="1003" name="GroupLabel"/>
          <p:cNvSpPr/>
          <p:nvPr/>
        </p:nvSpPr>
        <p:spPr>
          <a:xfrm>
            <a:off x="3246120" y="1188720"/>
            <a:ext cx="2651760" cy="1051560"/>
          </a:xfrm>
          <a:prstGeom prst="rect">
            <a:avLst/>
          </a:prstGeom>
          <a:solidFill>
            <a:srgbClr val="3E5C6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RELEASE</a:t>
            </a:r>
          </a:p>
          <a:p>
            <a:pPr algn="ctr"/>
            <a:r>
              <a:rPr sz="2000" b="1" i="0" dirty="0">
                <a:solidFill>
                  <a:srgbClr val="FFFFFF"/>
                </a:solidFill>
              </a:rPr>
              <a:t>DECISION</a:t>
            </a:r>
          </a:p>
        </p:txBody>
      </p:sp>
      <p:sp>
        <p:nvSpPr>
          <p:cNvPr id="1004" name="Block"/>
          <p:cNvSpPr/>
          <p:nvPr/>
        </p:nvSpPr>
        <p:spPr>
          <a:xfrm>
            <a:off x="6629400" y="1325880"/>
            <a:ext cx="210312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PRODUCTION</a:t>
            </a:r>
          </a:p>
        </p:txBody>
      </p:sp>
      <p:cxnSp>
        <p:nvCxnSpPr>
          <p:cNvPr id="1005" name="Connector"/>
          <p:cNvCxnSpPr/>
          <p:nvPr/>
        </p:nvCxnSpPr>
        <p:spPr>
          <a:xfrm>
            <a:off x="2532888" y="1714500"/>
            <a:ext cx="69494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6" name="Connector"/>
          <p:cNvCxnSpPr/>
          <p:nvPr/>
        </p:nvCxnSpPr>
        <p:spPr>
          <a:xfrm>
            <a:off x="5916168" y="1714500"/>
            <a:ext cx="69494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Label"/>
          <p:cNvSpPr/>
          <p:nvPr/>
        </p:nvSpPr>
        <p:spPr>
          <a:xfrm>
            <a:off x="411480" y="256032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55960"/>
                </a:solidFill>
              </a:rPr>
              <a:t>Release management decides what is released, when, to whom, and under which safeguards</a:t>
            </a:r>
          </a:p>
        </p:txBody>
      </p:sp>
      <p:sp>
        <p:nvSpPr>
          <p:cNvPr id="1008" name="Card"/>
          <p:cNvSpPr/>
          <p:nvPr/>
        </p:nvSpPr>
        <p:spPr>
          <a:xfrm>
            <a:off x="640080" y="3429000"/>
            <a:ext cx="3840480" cy="1554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 web startup</a:t>
            </a:r>
          </a:p>
          <a:p>
            <a:pPr algn="ctr">
              <a:spcBef>
                <a:spcPts val="600"/>
              </a:spcBef>
            </a:pPr>
            <a:r>
              <a:rPr sz="2000" b="0" i="0" dirty="0">
                <a:solidFill>
                  <a:srgbClr val="5C4826"/>
                </a:solidFill>
              </a:rPr>
              <a:t>twenty deploys a day,</a:t>
            </a:r>
          </a:p>
          <a:p>
            <a:pPr algn="ctr">
              <a:spcBef>
                <a:spcPts val="200"/>
              </a:spcBef>
            </a:pPr>
            <a:r>
              <a:rPr sz="2000" b="0" i="0" dirty="0">
                <a:solidFill>
                  <a:srgbClr val="5C4826"/>
                </a:solidFill>
              </a:rPr>
              <a:t>each small and reversible</a:t>
            </a:r>
          </a:p>
        </p:txBody>
      </p:sp>
      <p:sp>
        <p:nvSpPr>
          <p:cNvPr id="1009" name="Card"/>
          <p:cNvSpPr/>
          <p:nvPr/>
        </p:nvSpPr>
        <p:spPr>
          <a:xfrm>
            <a:off x="4800600" y="3429000"/>
            <a:ext cx="3840480" cy="1554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 medical-device team</a:t>
            </a:r>
          </a:p>
          <a:p>
            <a:pPr algn="ctr">
              <a:spcBef>
                <a:spcPts val="600"/>
              </a:spcBef>
            </a:pPr>
            <a:r>
              <a:rPr sz="2000" b="0" i="0" dirty="0">
                <a:solidFill>
                  <a:srgbClr val="5C4826"/>
                </a:solidFill>
              </a:rPr>
              <a:t>one release a quarter,</a:t>
            </a:r>
          </a:p>
          <a:p>
            <a:pPr algn="ctr">
              <a:spcBef>
                <a:spcPts val="200"/>
              </a:spcBef>
            </a:pPr>
            <a:r>
              <a:rPr sz="2000" b="0" i="0" dirty="0">
                <a:solidFill>
                  <a:srgbClr val="5C4826"/>
                </a:solidFill>
              </a:rPr>
              <a:t>under regulatory review</a:t>
            </a:r>
          </a:p>
        </p:txBody>
      </p:sp>
      <p:sp>
        <p:nvSpPr>
          <p:cNvPr id="1010"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The pipeline is green. Should you ship?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Release strategies control exposure</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Label"/>
          <p:cNvSpPr/>
          <p:nvPr/>
        </p:nvSpPr>
        <p:spPr>
          <a:xfrm>
            <a:off x="411480" y="1051560"/>
            <a:ext cx="21945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STRATEGY</a:t>
            </a:r>
          </a:p>
        </p:txBody>
      </p:sp>
      <p:sp>
        <p:nvSpPr>
          <p:cNvPr id="1003" name="Label"/>
          <p:cNvSpPr/>
          <p:nvPr/>
        </p:nvSpPr>
        <p:spPr>
          <a:xfrm>
            <a:off x="2880360" y="1051560"/>
            <a:ext cx="58521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WHAT THE ENGINEER CONTROLS</a:t>
            </a:r>
          </a:p>
        </p:txBody>
      </p:sp>
      <p:sp>
        <p:nvSpPr>
          <p:cNvPr id="1004" name="Block"/>
          <p:cNvSpPr/>
          <p:nvPr/>
        </p:nvSpPr>
        <p:spPr>
          <a:xfrm>
            <a:off x="411480" y="15544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BLUE-GREEN</a:t>
            </a:r>
          </a:p>
        </p:txBody>
      </p:sp>
      <p:sp>
        <p:nvSpPr>
          <p:cNvPr id="1005" name="Label"/>
          <p:cNvSpPr/>
          <p:nvPr/>
        </p:nvSpPr>
        <p:spPr>
          <a:xfrm>
            <a:off x="2880360" y="1572768"/>
            <a:ext cx="58521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which environment serves production traffic</a:t>
            </a:r>
          </a:p>
        </p:txBody>
      </p:sp>
      <p:sp>
        <p:nvSpPr>
          <p:cNvPr id="1006" name="Block"/>
          <p:cNvSpPr/>
          <p:nvPr/>
        </p:nvSpPr>
        <p:spPr>
          <a:xfrm>
            <a:off x="411480" y="242316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CANARY</a:t>
            </a:r>
          </a:p>
        </p:txBody>
      </p:sp>
      <p:sp>
        <p:nvSpPr>
          <p:cNvPr id="1007" name="Label"/>
          <p:cNvSpPr/>
          <p:nvPr/>
        </p:nvSpPr>
        <p:spPr>
          <a:xfrm>
            <a:off x="2880360" y="2441448"/>
            <a:ext cx="58521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which fraction of traffic sees the new version</a:t>
            </a:r>
          </a:p>
        </p:txBody>
      </p:sp>
      <p:sp>
        <p:nvSpPr>
          <p:cNvPr id="1008" name="Block"/>
          <p:cNvSpPr/>
          <p:nvPr/>
        </p:nvSpPr>
        <p:spPr>
          <a:xfrm>
            <a:off x="411480" y="329184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FEATURE FLAGS</a:t>
            </a:r>
          </a:p>
        </p:txBody>
      </p:sp>
      <p:sp>
        <p:nvSpPr>
          <p:cNvPr id="1009" name="Label"/>
          <p:cNvSpPr/>
          <p:nvPr/>
        </p:nvSpPr>
        <p:spPr>
          <a:xfrm>
            <a:off x="2880360" y="3310128"/>
            <a:ext cx="58521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which functionality is enabled</a:t>
            </a:r>
          </a:p>
        </p:txBody>
      </p:sp>
      <p:sp>
        <p:nvSpPr>
          <p:cNvPr id="1010" name="Label"/>
          <p:cNvSpPr/>
          <p:nvPr/>
        </p:nvSpPr>
        <p:spPr>
          <a:xfrm>
            <a:off x="411480" y="438912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Three strategies, three dimensions of exposure. None removes the risk; each puts a dial on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Blue-green deployment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3703320" y="1097280"/>
            <a:ext cx="173736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ROUTER</a:t>
            </a:r>
          </a:p>
        </p:txBody>
      </p:sp>
      <p:sp>
        <p:nvSpPr>
          <p:cNvPr id="1003" name="Slab"/>
          <p:cNvSpPr/>
          <p:nvPr/>
        </p:nvSpPr>
        <p:spPr>
          <a:xfrm>
            <a:off x="960120" y="2651760"/>
            <a:ext cx="2834640"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4" name="Label"/>
          <p:cNvSpPr/>
          <p:nvPr/>
        </p:nvSpPr>
        <p:spPr>
          <a:xfrm>
            <a:off x="1143000" y="2743200"/>
            <a:ext cx="24688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BLUE</a:t>
            </a:r>
          </a:p>
        </p:txBody>
      </p:sp>
      <p:sp>
        <p:nvSpPr>
          <p:cNvPr id="1005" name="Block"/>
          <p:cNvSpPr/>
          <p:nvPr/>
        </p:nvSpPr>
        <p:spPr>
          <a:xfrm>
            <a:off x="1325880" y="3246120"/>
            <a:ext cx="210312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version 1</a:t>
            </a:r>
          </a:p>
          <a:p>
            <a:pPr algn="ctr"/>
            <a:r>
              <a:rPr sz="2000" b="0" i="1" dirty="0">
                <a:solidFill>
                  <a:srgbClr val="FFFFFF"/>
                </a:solidFill>
              </a:rPr>
              <a:t>live</a:t>
            </a:r>
          </a:p>
        </p:txBody>
      </p:sp>
      <p:sp>
        <p:nvSpPr>
          <p:cNvPr id="1006" name="Slab"/>
          <p:cNvSpPr/>
          <p:nvPr/>
        </p:nvSpPr>
        <p:spPr>
          <a:xfrm>
            <a:off x="5349240" y="2651760"/>
            <a:ext cx="2834640" cy="1645920"/>
          </a:xfrm>
          <a:prstGeom prst="rect">
            <a:avLst/>
          </a:prstGeom>
          <a:solidFill>
            <a:srgbClr val="F5F1E8"/>
          </a:solidFill>
          <a:ln w="12700">
            <a:solidFill>
              <a:srgbClr val="C9B991"/>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7" name="Label"/>
          <p:cNvSpPr/>
          <p:nvPr/>
        </p:nvSpPr>
        <p:spPr>
          <a:xfrm>
            <a:off x="5532120" y="2743200"/>
            <a:ext cx="24688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GREEN</a:t>
            </a:r>
          </a:p>
        </p:txBody>
      </p:sp>
      <p:sp>
        <p:nvSpPr>
          <p:cNvPr id="1008" name="Block"/>
          <p:cNvSpPr/>
          <p:nvPr/>
        </p:nvSpPr>
        <p:spPr>
          <a:xfrm>
            <a:off x="5715000" y="3246120"/>
            <a:ext cx="210312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version 2</a:t>
            </a:r>
          </a:p>
          <a:p>
            <a:pPr algn="ctr"/>
            <a:r>
              <a:rPr sz="2000" b="0" i="1" dirty="0">
                <a:solidFill>
                  <a:srgbClr val="FFFFFF"/>
                </a:solidFill>
              </a:rPr>
              <a:t>idle, ready</a:t>
            </a:r>
          </a:p>
        </p:txBody>
      </p:sp>
      <p:cxnSp>
        <p:nvCxnSpPr>
          <p:cNvPr id="1009" name="Connector"/>
          <p:cNvCxnSpPr/>
          <p:nvPr/>
        </p:nvCxnSpPr>
        <p:spPr>
          <a:xfrm>
            <a:off x="2377440" y="1463040"/>
            <a:ext cx="0" cy="11704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0" name="Connector"/>
          <p:cNvCxnSpPr/>
          <p:nvPr/>
        </p:nvCxnSpPr>
        <p:spPr>
          <a:xfrm>
            <a:off x="2377440" y="1463040"/>
            <a:ext cx="1307592"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11" name="Connector"/>
          <p:cNvCxnSpPr/>
          <p:nvPr/>
        </p:nvCxnSpPr>
        <p:spPr>
          <a:xfrm>
            <a:off x="6766560" y="1463040"/>
            <a:ext cx="0" cy="1170432"/>
          </a:xfrm>
          <a:prstGeom prst="line">
            <a:avLst/>
          </a:prstGeom>
          <a:ln w="19050">
            <a:solidFill>
              <a:srgbClr val="8E6F3E"/>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1012" name="Connector"/>
          <p:cNvCxnSpPr/>
          <p:nvPr/>
        </p:nvCxnSpPr>
        <p:spPr>
          <a:xfrm>
            <a:off x="5458968" y="1463040"/>
            <a:ext cx="1307592" cy="0"/>
          </a:xfrm>
          <a:prstGeom prst="line">
            <a:avLst/>
          </a:prstGeom>
          <a:ln w="19050">
            <a:solidFill>
              <a:srgbClr val="8E6F3E"/>
            </a:solidFill>
            <a:prstDash val="dash"/>
          </a:ln>
        </p:spPr>
        <p:style>
          <a:lnRef idx="2">
            <a:schemeClr val="accent1"/>
          </a:lnRef>
          <a:fillRef idx="0">
            <a:schemeClr val="accent1"/>
          </a:fillRef>
          <a:effectRef idx="1">
            <a:schemeClr val="accent1"/>
          </a:effectRef>
          <a:fontRef idx="minor">
            <a:schemeClr val="tx1"/>
          </a:fontRef>
        </p:style>
      </p:cxnSp>
      <p:sp>
        <p:nvSpPr>
          <p:cNvPr id="1013" name="Label"/>
          <p:cNvSpPr/>
          <p:nvPr/>
        </p:nvSpPr>
        <p:spPr>
          <a:xfrm>
            <a:off x="548640" y="1920240"/>
            <a:ext cx="15544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100% now</a:t>
            </a:r>
          </a:p>
        </p:txBody>
      </p:sp>
      <p:sp>
        <p:nvSpPr>
          <p:cNvPr id="1014" name="Label"/>
          <p:cNvSpPr/>
          <p:nvPr/>
        </p:nvSpPr>
        <p:spPr>
          <a:xfrm>
            <a:off x="6949440" y="1920240"/>
            <a:ext cx="18288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after the switch</a:t>
            </a:r>
          </a:p>
        </p:txBody>
      </p:sp>
      <p:sp>
        <p:nvSpPr>
          <p:cNvPr id="1015" name="Card"/>
          <p:cNvSpPr/>
          <p:nvPr/>
        </p:nvSpPr>
        <p:spPr>
          <a:xfrm>
            <a:off x="960120" y="4572000"/>
            <a:ext cx="722376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Cost: two environments. Hazard: state the two versions share, such as the database schema.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Canary deployment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411480" y="1234440"/>
            <a:ext cx="182880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TRAFFIC</a:t>
            </a:r>
          </a:p>
        </p:txBody>
      </p:sp>
      <p:sp>
        <p:nvSpPr>
          <p:cNvPr id="1003" name="Card"/>
          <p:cNvSpPr/>
          <p:nvPr/>
        </p:nvSpPr>
        <p:spPr>
          <a:xfrm>
            <a:off x="3657600" y="914400"/>
            <a:ext cx="237744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version 1</a:t>
            </a:r>
            <a:r>
              <a:rPr sz="2000" b="0" i="0" dirty="0">
                <a:solidFill>
                  <a:srgbClr val="5C4826"/>
                </a:solidFill>
              </a:rPr>
              <a:t>   95%</a:t>
            </a:r>
          </a:p>
        </p:txBody>
      </p:sp>
      <p:sp>
        <p:nvSpPr>
          <p:cNvPr id="1004" name="Block"/>
          <p:cNvSpPr/>
          <p:nvPr/>
        </p:nvSpPr>
        <p:spPr>
          <a:xfrm>
            <a:off x="3657600" y="2057400"/>
            <a:ext cx="237744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version 2</a:t>
            </a:r>
            <a:r>
              <a:rPr sz="2000" b="0" i="0" dirty="0">
                <a:solidFill>
                  <a:srgbClr val="FFFFFF"/>
                </a:solidFill>
              </a:rPr>
              <a:t>   5%</a:t>
            </a:r>
          </a:p>
        </p:txBody>
      </p:sp>
      <p:cxnSp>
        <p:nvCxnSpPr>
          <p:cNvPr id="1005" name="Connector"/>
          <p:cNvCxnSpPr/>
          <p:nvPr/>
        </p:nvCxnSpPr>
        <p:spPr>
          <a:xfrm>
            <a:off x="2258568" y="1623060"/>
            <a:ext cx="64008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06" name="Connector"/>
          <p:cNvCxnSpPr/>
          <p:nvPr/>
        </p:nvCxnSpPr>
        <p:spPr>
          <a:xfrm flipV="1">
            <a:off x="2898648" y="1298448"/>
            <a:ext cx="0" cy="649224"/>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07" name="Connector"/>
          <p:cNvCxnSpPr/>
          <p:nvPr/>
        </p:nvCxnSpPr>
        <p:spPr>
          <a:xfrm>
            <a:off x="2898648" y="1298448"/>
            <a:ext cx="74066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8" name="Connector"/>
          <p:cNvCxnSpPr/>
          <p:nvPr/>
        </p:nvCxnSpPr>
        <p:spPr>
          <a:xfrm>
            <a:off x="2898648" y="1623060"/>
            <a:ext cx="0" cy="818388"/>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09" name="Connector"/>
          <p:cNvCxnSpPr/>
          <p:nvPr/>
        </p:nvCxnSpPr>
        <p:spPr>
          <a:xfrm>
            <a:off x="2898648" y="2441448"/>
            <a:ext cx="74066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0" name="Label"/>
          <p:cNvSpPr/>
          <p:nvPr/>
        </p:nvSpPr>
        <p:spPr>
          <a:xfrm>
            <a:off x="411480" y="3108960"/>
            <a:ext cx="84124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grow exposure only as the evidence supports it</a:t>
            </a:r>
          </a:p>
        </p:txBody>
      </p:sp>
      <p:sp>
        <p:nvSpPr>
          <p:cNvPr id="1011" name="Block"/>
          <p:cNvSpPr/>
          <p:nvPr/>
        </p:nvSpPr>
        <p:spPr>
          <a:xfrm>
            <a:off x="1234440" y="3657600"/>
            <a:ext cx="11887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5%</a:t>
            </a:r>
          </a:p>
        </p:txBody>
      </p:sp>
      <p:sp>
        <p:nvSpPr>
          <p:cNvPr id="1012" name="Block"/>
          <p:cNvSpPr/>
          <p:nvPr/>
        </p:nvSpPr>
        <p:spPr>
          <a:xfrm>
            <a:off x="3749040" y="3657600"/>
            <a:ext cx="11887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25%</a:t>
            </a:r>
          </a:p>
        </p:txBody>
      </p:sp>
      <p:cxnSp>
        <p:nvCxnSpPr>
          <p:cNvPr id="1013" name="Connector"/>
          <p:cNvCxnSpPr/>
          <p:nvPr/>
        </p:nvCxnSpPr>
        <p:spPr>
          <a:xfrm>
            <a:off x="2441448" y="3954780"/>
            <a:ext cx="128930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4" name="Block"/>
          <p:cNvSpPr/>
          <p:nvPr/>
        </p:nvSpPr>
        <p:spPr>
          <a:xfrm>
            <a:off x="6263640" y="3657600"/>
            <a:ext cx="11887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100%</a:t>
            </a:r>
          </a:p>
        </p:txBody>
      </p:sp>
      <p:cxnSp>
        <p:nvCxnSpPr>
          <p:cNvPr id="1015" name="Connector"/>
          <p:cNvCxnSpPr/>
          <p:nvPr/>
        </p:nvCxnSpPr>
        <p:spPr>
          <a:xfrm>
            <a:off x="4956048" y="3954780"/>
            <a:ext cx="128930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6" name="Card"/>
          <p:cNvSpPr/>
          <p:nvPr/>
        </p:nvSpPr>
        <p:spPr>
          <a:xfrm>
            <a:off x="1234440" y="4526280"/>
            <a:ext cx="626364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between steps: error rates, latency, user reports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Feature flags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Slab"/>
          <p:cNvSpPr/>
          <p:nvPr/>
        </p:nvSpPr>
        <p:spPr>
          <a:xfrm>
            <a:off x="548640" y="1188720"/>
            <a:ext cx="5120640" cy="3017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3" name="Label"/>
          <p:cNvSpPr/>
          <p:nvPr/>
        </p:nvSpPr>
        <p:spPr>
          <a:xfrm>
            <a:off x="731520" y="1298448"/>
            <a:ext cx="42062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ONE DEPLOYED APPLICATION</a:t>
            </a:r>
          </a:p>
        </p:txBody>
      </p:sp>
      <p:sp>
        <p:nvSpPr>
          <p:cNvPr id="1004" name="CodeCard"/>
          <p:cNvSpPr/>
          <p:nvPr/>
        </p:nvSpPr>
        <p:spPr>
          <a:xfrm>
            <a:off x="868680" y="1874520"/>
            <a:ext cx="210312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latin typeface="Consolas"/>
              </a:rPr>
              <a:t>flag:</a:t>
            </a:r>
            <a:r>
              <a:rPr sz="2000" b="1" i="0" dirty="0">
                <a:solidFill>
                  <a:srgbClr val="5C4826"/>
                </a:solidFill>
                <a:latin typeface="Consolas"/>
              </a:rPr>
              <a:t> new_search</a:t>
            </a:r>
          </a:p>
        </p:txBody>
      </p:sp>
      <p:sp>
        <p:nvSpPr>
          <p:cNvPr id="1005" name="Block"/>
          <p:cNvSpPr/>
          <p:nvPr/>
        </p:nvSpPr>
        <p:spPr>
          <a:xfrm>
            <a:off x="3474720" y="1783080"/>
            <a:ext cx="19202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behavior A</a:t>
            </a:r>
          </a:p>
          <a:p>
            <a:pPr algn="ctr"/>
            <a:r>
              <a:rPr sz="2000" b="0" i="1" dirty="0">
                <a:solidFill>
                  <a:srgbClr val="FFFFFF"/>
                </a:solidFill>
              </a:rPr>
              <a:t>flag off</a:t>
            </a:r>
          </a:p>
        </p:txBody>
      </p:sp>
      <p:sp>
        <p:nvSpPr>
          <p:cNvPr id="1006" name="Block"/>
          <p:cNvSpPr/>
          <p:nvPr/>
        </p:nvSpPr>
        <p:spPr>
          <a:xfrm>
            <a:off x="3474720" y="3154680"/>
            <a:ext cx="19202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behavior B</a:t>
            </a:r>
          </a:p>
          <a:p>
            <a:pPr algn="ctr"/>
            <a:r>
              <a:rPr sz="2000" b="0" i="1" dirty="0">
                <a:solidFill>
                  <a:srgbClr val="FFFFFF"/>
                </a:solidFill>
              </a:rPr>
              <a:t>flag on</a:t>
            </a:r>
          </a:p>
        </p:txBody>
      </p:sp>
      <p:cxnSp>
        <p:nvCxnSpPr>
          <p:cNvPr id="1007" name="Connector"/>
          <p:cNvCxnSpPr/>
          <p:nvPr/>
        </p:nvCxnSpPr>
        <p:spPr>
          <a:xfrm>
            <a:off x="2971800" y="2125980"/>
            <a:ext cx="0" cy="137160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08" name="Connector"/>
          <p:cNvCxnSpPr/>
          <p:nvPr/>
        </p:nvCxnSpPr>
        <p:spPr>
          <a:xfrm>
            <a:off x="2971800" y="2125980"/>
            <a:ext cx="48463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9" name="Connector"/>
          <p:cNvCxnSpPr/>
          <p:nvPr/>
        </p:nvCxnSpPr>
        <p:spPr>
          <a:xfrm>
            <a:off x="2971800" y="3497580"/>
            <a:ext cx="48463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0" name="Label"/>
          <p:cNvSpPr/>
          <p:nvPr/>
        </p:nvSpPr>
        <p:spPr>
          <a:xfrm>
            <a:off x="5943600" y="1463040"/>
            <a:ext cx="2834640" cy="2651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Deploying code and exposing functionality become separate decisions.</a:t>
            </a:r>
          </a:p>
          <a:p>
            <a:pPr algn="l">
              <a:spcBef>
                <a:spcPts val="1000"/>
              </a:spcBef>
            </a:pPr>
            <a:r>
              <a:rPr sz="2000" b="0" i="0" dirty="0">
                <a:solidFill>
                  <a:srgbClr val="555960"/>
                </a:solidFill>
              </a:rPr>
              <a:t>The flag flips without a deployment.</a:t>
            </a:r>
          </a:p>
        </p:txBody>
      </p:sp>
      <p:sp>
        <p:nvSpPr>
          <p:cNvPr id="1011" name="Card"/>
          <p:cNvSpPr/>
          <p:nvPr/>
        </p:nvSpPr>
        <p:spPr>
          <a:xfrm>
            <a:off x="548640" y="4480560"/>
            <a:ext cx="82296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A flag does not make the change safe by itself, and not every flag can safely flip at runtime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Release cadence and risk</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2377440" y="1005840"/>
            <a:ext cx="301752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FEW, LARGE</a:t>
            </a:r>
          </a:p>
        </p:txBody>
      </p:sp>
      <p:sp>
        <p:nvSpPr>
          <p:cNvPr id="1003" name="Block"/>
          <p:cNvSpPr/>
          <p:nvPr/>
        </p:nvSpPr>
        <p:spPr>
          <a:xfrm>
            <a:off x="5669280" y="1005840"/>
            <a:ext cx="301752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MANY, SMALL</a:t>
            </a:r>
          </a:p>
        </p:txBody>
      </p:sp>
      <p:sp>
        <p:nvSpPr>
          <p:cNvPr id="1004" name="Label"/>
          <p:cNvSpPr/>
          <p:nvPr/>
        </p:nvSpPr>
        <p:spPr>
          <a:xfrm>
            <a:off x="274320" y="1865376"/>
            <a:ext cx="19659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change per release</a:t>
            </a:r>
          </a:p>
        </p:txBody>
      </p:sp>
      <p:sp>
        <p:nvSpPr>
          <p:cNvPr id="1005" name="Card"/>
          <p:cNvSpPr/>
          <p:nvPr/>
        </p:nvSpPr>
        <p:spPr>
          <a:xfrm>
            <a:off x="2377440" y="1828800"/>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months of work</a:t>
            </a:r>
          </a:p>
        </p:txBody>
      </p:sp>
      <p:sp>
        <p:nvSpPr>
          <p:cNvPr id="1006" name="Card"/>
          <p:cNvSpPr/>
          <p:nvPr/>
        </p:nvSpPr>
        <p:spPr>
          <a:xfrm>
            <a:off x="5669280" y="1828800"/>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days of work</a:t>
            </a:r>
          </a:p>
        </p:txBody>
      </p:sp>
      <p:sp>
        <p:nvSpPr>
          <p:cNvPr id="1007" name="Label"/>
          <p:cNvSpPr/>
          <p:nvPr/>
        </p:nvSpPr>
        <p:spPr>
          <a:xfrm>
            <a:off x="274320" y="2487168"/>
            <a:ext cx="19659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verification cost</a:t>
            </a:r>
          </a:p>
        </p:txBody>
      </p:sp>
      <p:sp>
        <p:nvSpPr>
          <p:cNvPr id="1008" name="Card"/>
          <p:cNvSpPr/>
          <p:nvPr/>
        </p:nvSpPr>
        <p:spPr>
          <a:xfrm>
            <a:off x="2377440" y="2450592"/>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long test cycles</a:t>
            </a:r>
          </a:p>
        </p:txBody>
      </p:sp>
      <p:sp>
        <p:nvSpPr>
          <p:cNvPr id="1009" name="Card"/>
          <p:cNvSpPr/>
          <p:nvPr/>
        </p:nvSpPr>
        <p:spPr>
          <a:xfrm>
            <a:off x="5669280" y="2450592"/>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automated gates</a:t>
            </a:r>
          </a:p>
        </p:txBody>
      </p:sp>
      <p:sp>
        <p:nvSpPr>
          <p:cNvPr id="1010" name="Label"/>
          <p:cNvSpPr/>
          <p:nvPr/>
        </p:nvSpPr>
        <p:spPr>
          <a:xfrm>
            <a:off x="274320" y="3108960"/>
            <a:ext cx="19659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coordination</a:t>
            </a:r>
          </a:p>
        </p:txBody>
      </p:sp>
      <p:sp>
        <p:nvSpPr>
          <p:cNvPr id="1011" name="Card"/>
          <p:cNvSpPr/>
          <p:nvPr/>
        </p:nvSpPr>
        <p:spPr>
          <a:xfrm>
            <a:off x="2377440" y="3072384"/>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planned windows</a:t>
            </a:r>
          </a:p>
        </p:txBody>
      </p:sp>
      <p:sp>
        <p:nvSpPr>
          <p:cNvPr id="1012" name="Card"/>
          <p:cNvSpPr/>
          <p:nvPr/>
        </p:nvSpPr>
        <p:spPr>
          <a:xfrm>
            <a:off x="5669280" y="3072384"/>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routine</a:t>
            </a:r>
          </a:p>
        </p:txBody>
      </p:sp>
      <p:sp>
        <p:nvSpPr>
          <p:cNvPr id="1013" name="Label"/>
          <p:cNvSpPr/>
          <p:nvPr/>
        </p:nvSpPr>
        <p:spPr>
          <a:xfrm>
            <a:off x="274320" y="3730752"/>
            <a:ext cx="19659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detecting a failure</a:t>
            </a:r>
          </a:p>
        </p:txBody>
      </p:sp>
      <p:sp>
        <p:nvSpPr>
          <p:cNvPr id="1014" name="Card"/>
          <p:cNvSpPr/>
          <p:nvPr/>
        </p:nvSpPr>
        <p:spPr>
          <a:xfrm>
            <a:off x="2377440" y="3694176"/>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harder to attribute</a:t>
            </a:r>
          </a:p>
        </p:txBody>
      </p:sp>
      <p:sp>
        <p:nvSpPr>
          <p:cNvPr id="1015" name="Card"/>
          <p:cNvSpPr/>
          <p:nvPr/>
        </p:nvSpPr>
        <p:spPr>
          <a:xfrm>
            <a:off x="5669280" y="3694176"/>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small suspect set</a:t>
            </a:r>
          </a:p>
        </p:txBody>
      </p:sp>
      <p:sp>
        <p:nvSpPr>
          <p:cNvPr id="1016" name="Label"/>
          <p:cNvSpPr/>
          <p:nvPr/>
        </p:nvSpPr>
        <p:spPr>
          <a:xfrm>
            <a:off x="274320" y="4352544"/>
            <a:ext cx="19659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reversing a failure</a:t>
            </a:r>
          </a:p>
        </p:txBody>
      </p:sp>
      <p:sp>
        <p:nvSpPr>
          <p:cNvPr id="1017" name="Card"/>
          <p:cNvSpPr/>
          <p:nvPr/>
        </p:nvSpPr>
        <p:spPr>
          <a:xfrm>
            <a:off x="2377440" y="4315968"/>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big rollback</a:t>
            </a:r>
          </a:p>
        </p:txBody>
      </p:sp>
      <p:sp>
        <p:nvSpPr>
          <p:cNvPr id="1018" name="Card"/>
          <p:cNvSpPr/>
          <p:nvPr/>
        </p:nvSpPr>
        <p:spPr>
          <a:xfrm>
            <a:off x="5669280" y="4315968"/>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small rollback</a:t>
            </a:r>
          </a:p>
        </p:txBody>
      </p:sp>
      <p:sp>
        <p:nvSpPr>
          <p:cNvPr id="1019" name="Label"/>
          <p:cNvSpPr/>
          <p:nvPr/>
        </p:nvSpPr>
        <p:spPr>
          <a:xfrm>
            <a:off x="365760" y="502920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Industry baselines for these tradeoffs (the DORA metrics) return in Operations &amp; SRE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Deploy the reservation service</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Card"/>
          <p:cNvSpPr/>
          <p:nvPr/>
        </p:nvSpPr>
        <p:spPr>
          <a:xfrm>
            <a:off x="411480" y="1051560"/>
            <a:ext cx="4023360" cy="2514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OPTION A: LOCAL INSTALLATION</a:t>
            </a:r>
          </a:p>
          <a:p>
            <a:pPr algn="ctr">
              <a:spcBef>
                <a:spcPts val="800"/>
              </a:spcBef>
            </a:pPr>
            <a:r>
              <a:rPr sz="2000" b="0" i="0" dirty="0">
                <a:solidFill>
                  <a:srgbClr val="5C4826"/>
                </a:solidFill>
              </a:rPr>
              <a:t>runs on a university-managed</a:t>
            </a:r>
          </a:p>
          <a:p>
            <a:pPr algn="ctr">
              <a:spcBef>
                <a:spcPts val="200"/>
              </a:spcBef>
            </a:pPr>
            <a:r>
              <a:rPr sz="2000" b="0" i="0" dirty="0">
                <a:solidFill>
                  <a:srgbClr val="5C4826"/>
                </a:solidFill>
              </a:rPr>
              <a:t>workstation</a:t>
            </a:r>
          </a:p>
          <a:p>
            <a:pPr algn="ctr">
              <a:spcBef>
                <a:spcPts val="800"/>
              </a:spcBef>
            </a:pPr>
            <a:r>
              <a:rPr sz="2000" b="0" i="0" dirty="0">
                <a:solidFill>
                  <a:srgbClr val="5C4826"/>
                </a:solidFill>
              </a:rPr>
              <a:t>updates: install a new version</a:t>
            </a:r>
          </a:p>
          <a:p>
            <a:pPr algn="ctr">
              <a:spcBef>
                <a:spcPts val="200"/>
              </a:spcBef>
            </a:pPr>
            <a:r>
              <a:rPr sz="2000" b="0" i="0" dirty="0">
                <a:solidFill>
                  <a:srgbClr val="5C4826"/>
                </a:solidFill>
              </a:rPr>
              <a:t>at each machine</a:t>
            </a:r>
          </a:p>
        </p:txBody>
      </p:sp>
      <p:sp>
        <p:nvSpPr>
          <p:cNvPr id="1003" name="Card"/>
          <p:cNvSpPr/>
          <p:nvPr/>
        </p:nvSpPr>
        <p:spPr>
          <a:xfrm>
            <a:off x="4709160" y="1051560"/>
            <a:ext cx="4023360" cy="2514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OPTION B: MANAGED SERVICE</a:t>
            </a:r>
          </a:p>
          <a:p>
            <a:pPr algn="ctr">
              <a:spcBef>
                <a:spcPts val="800"/>
              </a:spcBef>
            </a:pPr>
            <a:r>
              <a:rPr sz="2000" b="0" i="0" dirty="0">
                <a:solidFill>
                  <a:srgbClr val="5C4826"/>
                </a:solidFill>
              </a:rPr>
              <a:t>runs on a managed platform;</a:t>
            </a:r>
          </a:p>
          <a:p>
            <a:pPr algn="ctr">
              <a:spcBef>
                <a:spcPts val="200"/>
              </a:spcBef>
            </a:pPr>
            <a:r>
              <a:rPr sz="2000" b="0" i="0" dirty="0">
                <a:solidFill>
                  <a:srgbClr val="5C4826"/>
                </a:solidFill>
              </a:rPr>
              <a:t>users reach it in a browser</a:t>
            </a:r>
          </a:p>
          <a:p>
            <a:pPr algn="ctr">
              <a:spcBef>
                <a:spcPts val="800"/>
              </a:spcBef>
            </a:pPr>
            <a:r>
              <a:rPr sz="2000" b="0" i="0" dirty="0">
                <a:solidFill>
                  <a:srgbClr val="5C4826"/>
                </a:solidFill>
              </a:rPr>
              <a:t>updates: deployed centrally,</a:t>
            </a:r>
          </a:p>
          <a:p>
            <a:pPr algn="ctr">
              <a:spcBef>
                <a:spcPts val="200"/>
              </a:spcBef>
            </a:pPr>
            <a:r>
              <a:rPr sz="2000" b="0" i="0" dirty="0">
                <a:solidFill>
                  <a:srgbClr val="5C4826"/>
                </a:solidFill>
              </a:rPr>
              <a:t>behind the release gates</a:t>
            </a:r>
          </a:p>
        </p:txBody>
      </p:sp>
      <p:sp>
        <p:nvSpPr>
          <p:cNvPr id="1004" name="Label"/>
          <p:cNvSpPr/>
          <p:nvPr/>
        </p:nvSpPr>
        <p:spPr>
          <a:xfrm>
            <a:off x="411480" y="3675888"/>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Argue from the model: environment, resources, topology, configuration</a:t>
            </a:r>
          </a:p>
        </p:txBody>
      </p:sp>
      <p:sp>
        <p:nvSpPr>
          <p:cNvPr id="1005" name="Label"/>
          <p:cNvSpPr/>
          <p:nvPr/>
        </p:nvSpPr>
        <p:spPr>
          <a:xfrm>
            <a:off x="411480" y="4434840"/>
            <a:ext cx="841248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What changes if it must keep working with no network access?</a:t>
            </a:r>
          </a:p>
          <a:p>
            <a:pPr algn="l">
              <a:spcBef>
                <a:spcPts val="600"/>
              </a:spcBef>
            </a:pPr>
            <a:r>
              <a:rPr sz="2000" b="0" i="0" dirty="0">
                <a:solidFill>
                  <a:srgbClr val="555960"/>
                </a:solidFill>
              </a:rPr>
              <a:t>What changes if hundreds of students reserve rooms at once?</a:t>
            </a:r>
          </a:p>
        </p:txBody>
      </p:sp>
      <p:sp>
        <p:nvSpPr>
          <p:cNvPr id="1006"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deployment, under which requirements? Defend your model.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Deployment decisions and their evidence</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Method PROBLEM"/>
          <p:cNvSpPr/>
          <p:nvPr/>
        </p:nvSpPr>
        <p:spPr>
          <a:xfrm>
            <a:off x="365760" y="1024128"/>
            <a:ext cx="1920240" cy="58521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PROBLEM</a:t>
            </a:r>
          </a:p>
        </p:txBody>
      </p:sp>
      <p:sp>
        <p:nvSpPr>
          <p:cNvPr id="1003" name="Label"/>
          <p:cNvSpPr/>
          <p:nvPr/>
        </p:nvSpPr>
        <p:spPr>
          <a:xfrm>
            <a:off x="2514600" y="987552"/>
            <a:ext cx="63093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software must run acceptably outside development</a:t>
            </a:r>
          </a:p>
        </p:txBody>
      </p:sp>
      <p:sp>
        <p:nvSpPr>
          <p:cNvPr id="1004" name="Method MODEL"/>
          <p:cNvSpPr/>
          <p:nvPr/>
        </p:nvSpPr>
        <p:spPr>
          <a:xfrm>
            <a:off x="365760" y="1719072"/>
            <a:ext cx="1920240" cy="58521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MODEL</a:t>
            </a:r>
          </a:p>
        </p:txBody>
      </p:sp>
      <p:sp>
        <p:nvSpPr>
          <p:cNvPr id="1005" name="Label"/>
          <p:cNvSpPr/>
          <p:nvPr/>
        </p:nvSpPr>
        <p:spPr>
          <a:xfrm>
            <a:off x="2514600" y="1682496"/>
            <a:ext cx="63093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the deployed system: environment, resources, topology, configuration</a:t>
            </a:r>
          </a:p>
        </p:txBody>
      </p:sp>
      <p:sp>
        <p:nvSpPr>
          <p:cNvPr id="1006" name="Method JUDGMENT"/>
          <p:cNvSpPr/>
          <p:nvPr/>
        </p:nvSpPr>
        <p:spPr>
          <a:xfrm>
            <a:off x="365760" y="2414016"/>
            <a:ext cx="1920240" cy="58521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JUDGMENT</a:t>
            </a:r>
          </a:p>
        </p:txBody>
      </p:sp>
      <p:sp>
        <p:nvSpPr>
          <p:cNvPr id="1007" name="Label"/>
          <p:cNvSpPr/>
          <p:nvPr/>
        </p:nvSpPr>
        <p:spPr>
          <a:xfrm>
            <a:off x="2514600" y="2377440"/>
            <a:ext cx="63093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local, self-hosted, or managed service</a:t>
            </a:r>
          </a:p>
        </p:txBody>
      </p:sp>
      <p:sp>
        <p:nvSpPr>
          <p:cNvPr id="1008" name="Method REALIZE"/>
          <p:cNvSpPr/>
          <p:nvPr/>
        </p:nvSpPr>
        <p:spPr>
          <a:xfrm>
            <a:off x="365760" y="3108960"/>
            <a:ext cx="1920240" cy="58521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REALIZE</a:t>
            </a:r>
          </a:p>
        </p:txBody>
      </p:sp>
      <p:sp>
        <p:nvSpPr>
          <p:cNvPr id="1009" name="Label"/>
          <p:cNvSpPr/>
          <p:nvPr/>
        </p:nvSpPr>
        <p:spPr>
          <a:xfrm>
            <a:off x="2514600" y="3072384"/>
            <a:ext cx="63093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the deployment process: build, validate, release</a:t>
            </a:r>
          </a:p>
        </p:txBody>
      </p:sp>
      <p:sp>
        <p:nvSpPr>
          <p:cNvPr id="1010" name="Method EVIDENCE"/>
          <p:cNvSpPr/>
          <p:nvPr/>
        </p:nvSpPr>
        <p:spPr>
          <a:xfrm>
            <a:off x="365760" y="3803904"/>
            <a:ext cx="1920240" cy="58521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EVIDENCE</a:t>
            </a:r>
          </a:p>
        </p:txBody>
      </p:sp>
      <p:sp>
        <p:nvSpPr>
          <p:cNvPr id="1011" name="Label"/>
          <p:cNvSpPr/>
          <p:nvPr/>
        </p:nvSpPr>
        <p:spPr>
          <a:xfrm>
            <a:off x="2514600" y="3767328"/>
            <a:ext cx="63093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build, integration, deployment, and runtime checks</a:t>
            </a:r>
          </a:p>
        </p:txBody>
      </p:sp>
      <p:sp>
        <p:nvSpPr>
          <p:cNvPr id="1012" name="Method ALIGNMENT"/>
          <p:cNvSpPr/>
          <p:nvPr/>
        </p:nvSpPr>
        <p:spPr>
          <a:xfrm>
            <a:off x="365760" y="4498848"/>
            <a:ext cx="1920240" cy="585216"/>
          </a:xfrm>
          <a:prstGeom prst="rect">
            <a:avLst/>
          </a:prstGeom>
          <a:solidFill>
            <a:srgbClr val="3E5C6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ALIGNMENT</a:t>
            </a:r>
          </a:p>
        </p:txBody>
      </p:sp>
      <p:sp>
        <p:nvSpPr>
          <p:cNvPr id="1013" name="Label"/>
          <p:cNvSpPr/>
          <p:nvPr/>
        </p:nvSpPr>
        <p:spPr>
          <a:xfrm>
            <a:off x="2514600" y="4462272"/>
            <a:ext cx="63093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declared configuration, CI gates, release policies</a:t>
            </a:r>
          </a:p>
        </p:txBody>
      </p:sp>
      <p:sp>
        <p:nvSpPr>
          <p:cNvPr id="1014"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The service now runs in a suitable environment.</a:t>
            </a:r>
          </a:p>
          <a:p>
            <a:pPr algn="ctr">
              <a:spcBef>
                <a:spcPts val="300"/>
              </a:spcBef>
            </a:pPr>
            <a:r>
              <a:rPr sz="2000" b="1" i="0" dirty="0">
                <a:solidFill>
                  <a:srgbClr val="FFFFFF"/>
                </a:solidFill>
              </a:rPr>
              <a:t>What happens to its data when the process stops?</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8643</TotalTime>
  <Words>13080</Words>
  <Application>Microsoft Macintosh PowerPoint</Application>
  <PresentationFormat>On-screen Show (4:3)</PresentationFormat>
  <Paragraphs>689</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Times</vt:lpstr>
      <vt:lpstr>Purdue1</vt:lpstr>
      <vt:lpstr>PowerPoint Presentation</vt:lpstr>
      <vt:lpstr>July 19, 2024</vt:lpstr>
      <vt:lpstr>A security update triggers system crashes</vt:lpstr>
      <vt:lpstr>Cause: a missing input causes an out-of-bounds read</vt:lpstr>
      <vt:lpstr>Explanation 1: A component-level failure</vt:lpstr>
      <vt:lpstr>What would you change?</vt:lpstr>
      <vt:lpstr>How did the update reach production?</vt:lpstr>
      <vt:lpstr>Explanation 2: The Swiss cheese model</vt:lpstr>
      <vt:lpstr>The investigation identifies weaknesses</vt:lpstr>
      <vt:lpstr>What should change?</vt:lpstr>
      <vt:lpstr>What does the evidence establish?</vt:lpstr>
      <vt:lpstr>One defective update. Many sectors.</vt:lpstr>
      <vt:lpstr>What system are we investigating?</vt:lpstr>
      <vt:lpstr>Explanation 3: Safety depends on control</vt:lpstr>
      <vt:lpstr>Who controlled the update?</vt:lpstr>
      <vt:lpstr>The vendor is not the whole system</vt:lpstr>
      <vt:lpstr>Many computers do not imply independent failure</vt:lpstr>
      <vt:lpstr>How can critical services survive a shared failure?</vt:lpstr>
      <vt:lpstr>Who can impose a system-wide constraint?</vt:lpstr>
      <vt:lpstr>What did each model let us change?</vt:lpstr>
      <vt:lpstr>A postmortem is an argument</vt:lpstr>
      <vt:lpstr>Reflection changes the engineer</vt:lpstr>
      <vt:lpstr>Where will the next engineer encounter the lesson?</vt:lpstr>
      <vt:lpstr>Different lessons require different authorities</vt:lpstr>
      <vt:lpstr>How would we know the system is safer?</vt:lpstr>
      <vt:lpstr>Could we have anticipated this failure?</vt:lpstr>
      <vt:lpstr>Apply FMEA to an unfamiliar system</vt:lpstr>
      <vt:lpstr>What actually happened? July 2, 2019</vt:lpstr>
      <vt:lpstr>Diagnose the Cloudflare outage</vt:lpstr>
      <vt:lpstr>Failure should change future engineering</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537</cp:revision>
  <dcterms:created xsi:type="dcterms:W3CDTF">2020-02-21T23:00:33Z</dcterms:created>
  <dcterms:modified xsi:type="dcterms:W3CDTF">2026-10-22T11:27:38Z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